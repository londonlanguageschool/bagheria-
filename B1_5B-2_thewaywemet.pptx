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mp3" ContentType="audio/mpeg"/>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5B PART 2 (60 min) · SB pp.52–53. Aims: relationships vocabulary – people and verb phrases (Vocabulary Bank Relationships p.158); abstract nouns with -ship; listen to a radio programme with five facts about friendship; present an opinion in a small group. Timing: cover 2 · revision 5 · people 6 · verb phrases 7 · interview 5 · -ship 3 · listening 9 · presenting an opinion 9 · noughts and crosses 6 · exit 3 = 55 min. Click 1: question – show of hands, yes or no? Click 2: the answer comes from today's listening (fact 4).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REVISION of 5B part 1 (5 min). VARIATION: memory game + memory disruption. 'This is Giulia ten years ago.' Students look at the six tiles for 40 seconds – no writing. Then press B (black screen in PowerPoint). Pairs write as many sentences as they remember: 'She used to play the violin.' 'She didn't use to like coffee.' (1.5 min). Press B again: check. Then click 1 to reveal how Giulia is NOW – pairs make contrast sentences: 'She used to play the violin, but now she plays the drums.' 'She used to cycle to school, but now she usually drives.' Point for every correct sentence with used to / didn't use to / usually. Watch the pronunciation /juːst/.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(6 min). SB 4a (1 min, the photos are on the slide): 'Match the words and photos' – a colleague · a friend · argue with somebody · discuss something with somebody · meet somebody (for the first time) · know somebody (for a long time). TG answers: 3 colleagues · 4 friends · 6 argue with somebody · 5 discuss something with somebody · 1 meet somebody (= see for the first time) · 2 know somebody (= you have met before). Italian trap: conoscere = meet (first time) AND know. Then Vocabulary Bank p.158, 1 People: students match, play 5.20 to check (definitions on the slide are from 5.20). Click 1 for all answers. TG vocabulary notes: mate can be added to other words – housemate, schoolmate, workmate; fiancé(e) is borrowed from French (one e = a man, two = a woman); American English: co-worker = colleague. Activation: cover the definitions and test each other. VARIATION: vocabulary branching (other -mate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(7 min). Vocabulary Bank p.158, 2 Verb phrases: students complete the story in the past simple (EXTRA SUPPORT: elicit the past tense of all the verbs first). Play 5.21 to check; click 1 for all answers (sentences shortened from audio 5.21): 1 met · 2 got to know · 3 became (… had a lot in common) · 4 went out together, fell in love · 5 were together, argued, broke up · 6 lost touch · 7 got in touch · 8 got on · 9 proposed · 10 got married. Drill: got to know, fell in love, broke up, lost touch – link the words. Activation (VB): students cover the text and retell Mark's story from the pictures in pairs (A sentences 1–5, B 6–10). Italian traps: get on WITH someone (andare d'accordo), propose TO someone, get married (✗ marry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(5 min). SB 4c: 'Think of one of your close friends. Ask and answer the questions with a partner.' – the nine questions on the slide are the book's. Pairs interview each other; monitor and help. Feedback from 2–3 students. VARIATION: personalisation with boundaries – it's about a FRIEND (not a partner), and anyone can choose a friend from a film or book if they prefer. Encourage reacting language on the yellow sticky (Practical English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(3 min). 4d: pairs find the four letters – ANSWER: -ship. Make sure they know the meaning of each noun. 4e: students complete the book's sentences 1–5 (on the slide; one click per answer) – TG ANSWERS: 1 relationship · 2 membership · 3 leadership · 4 partnership · 5 friendship. Bonus question (VARIATION: vocabulary branching, linking to 5A sport): another -ship word from sport? – championship; also scholarship, citizenship, ownership (accept any correct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(9 min). 5a (2 min): pairs guess the missing words in facts 1–5 in the book; elicit but don't confirm. VARIATION: prediction. 5b: play 5.22 once – click 1 for answers (TG / script): 1 Animals · 2 social media · 3 productive · 4 Love · 5 health. Show of hands: who got all five? (The slide facts are the book's wording.) 5c: 'Listen again and complete the chart' – play again, pausing after each fact; students note what the chart asks for (last row of the slide). TG ANSWERS: 1 chimpanzees, horses, elephants, dolphins and bats can form friendships for life (even with other species) · 2 with social media it's easier to stay in touch (in the past we lost touch because of distance or lack of time) · 3 if you have friends at work you're happier, which makes you work better – but don't be friends with your boss (colleagues may trust you less) · 4 when you're in love you spend less time with friends, so friendships deteriorate (anthropologist Robin Dunbar) · 5 people with a lot of friends are less stressed and live longer – 50% more likely to have a long life. 5d (whole class, 1 min) – book: 'From your experience, do you think these facts are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(9 min). SB 6a: 'Read sentences A–G. Tick (✓) the ones you agree with and cross (✗) the ones you don't agree with. Think about your reasons.' (sentences on the slide = book wording). 6b: in groups of three or four, each student chooses a DIFFERENT topic and prepares using the plan in the book: Topic · Do you (strongly) agree, (strongly) disagree, or both agree and disagree? · Reasons and examples (from your own experience or of people you know). 6c: 'Take turns to present your opinion. Use the language from the Presenting an opinion box. Listen to the other members of your group and then say if you agree or disagree, and why.' Box (yellow sticky): Introducing the topic – I'm going to talk about… · Giving reasons – I think the main (most important) reason is because / that… · Another reason is… · Giving examples – For example, I have a friend who I've known since I was five years old… · For instance, when I broke up with my ex-boyfriend,… Time: 3 min prep, 4–5 min presenting (about 1 minute each), 1 min feedback: which topic caused most disagreement? VARIATION: constraint challenge (exactly one minute – use a phone timer) + follow-up questions. Teens: topics E and G can be talked about from a friend's or a film's point of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 (6 min). VARIATION: competition + constraint challenge. Draw a 3×3 grid on the board matching the slide. Team X and team O take turns: they choose a square and must say a correct sentence (10 seconds) with the word in the PAST (got on with, lost touch…) – true or invented, about a friend, a famous person or a film character. Correct = write X / O in that square on the board. Three in a row wins. Click 1 only at the end to show the Italian (or use it to help weaker teams). Keep sentences light (friends, flatmates, famous couples).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(3 min). Students choose a face for each can-do. Homework: Workbook 5B 3a, 3b, 3c, 3d (relationships, -ship) + Vocabulary Bank Relationships p.158 (cover and test yourself) + the 5B-2 homework sheet (easier version available). Answers are in the teacher key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(7 min). VARIATION: perspective change (students become radio callers) + student-generated content. Uses the verb phrases from Vocabulary Bank p.158. The caller in 5.22 is Mandy from Didcot; her best friend is Annie ('I love her to bits'). Printed practice: Vocabulary photocopiable Relationships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(7 min). VARIATION: perspective change (students are the advice columnists) + mild controversy. Pairs choose two problems and agree on the best advice; then compare with another pair. Link to fact 4 (love can make you lose two friends). If I were you, I'd… is useful but not taught yet – just give it as a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(8 min) or HOMEWORK. Vocabulary photocopiable 5B 'Relationships' – print B1_5B_Photocopiables.pdf, page 4 (one per student). Students complete three texts with the past simple of the verbs in each list; check by eliciting the verbs onto the board. OFFICIAL ANSWERS (TG): My best friend at school: 1 met (example) · 2 felt · 3 became · 4 got on · 5 were · 6 lost touch · 7 left · 8 got in touch. My parents: 9 saw · 10 fell in love with · 11 got to know · 12 went out together · 13 proposed · 14 got married · 15 celebrated. My disastrous date: 16 introduced · 17 fancied · 18 asked · 19 gave · 20 asked (me) out · 21 didn't get on · 22 had. VARIATION: forced choice (happiest / saddest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jpg"/><Relationship Id="rId12" Type="http://schemas.openxmlformats.org/officeDocument/2006/relationships/audio" Target="../media/media-3-12.mp3"/><Relationship Id="rId13" Type="http://schemas.microsoft.com/office/2007/relationships/media" Target="../media/media-3-12.mp3"/><Relationship Id="rId14" Type="http://schemas.openxmlformats.org/officeDocument/2006/relationships/image" Target="../media/image-3-14.png"/><Relationship Id="rId15" Type="http://schemas.openxmlformats.org/officeDocument/2006/relationships/slideLayout" Target="../slideLayouts/slideLayout1.xml"/><Relationship Id="rId1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audio" Target="../media/media-7-3.mp3"/><Relationship Id="rId4" Type="http://schemas.microsoft.com/office/2007/relationships/media" Target="../media/media-7-3.mp3"/><Relationship Id="rId5" Type="http://schemas.openxmlformats.org/officeDocument/2006/relationships/image" Target="../media/image-7-5.png"/><Relationship Id="rId6" Type="http://schemas.openxmlformats.org/officeDocument/2006/relationships/image" Target="../media/image-7-6.jp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slideLayout" Target="../slideLayouts/slideLayout1.xml"/><Relationship Id="rId1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
          <p:cNvSpPr/>
          <p:nvPr/>
        </p:nvSpPr>
        <p:spPr>
          <a:xfrm>
            <a:off x="54864" y="54864"/>
            <a:ext cx="9034272" cy="5033772"/>
          </a:xfrm>
          <a:prstGeom prst="rect">
            <a:avLst/>
          </a:prstGeom>
          <a:ln w="114300">
            <a:solidFill>
              <a:srgbClr val="A8E6B4"/>
            </a:solidFill>
            <a:prstDash val="solid"/>
          </a:ln>
        </p:spPr>
      </p:sp>
      <p:sp>
        <p:nvSpPr>
          <p:cNvPr id="4" name="logoBack_2"/>
          <p:cNvSpPr/>
          <p:nvPr/>
        </p:nvSpPr>
        <p:spPr>
          <a:xfrm>
            <a:off x="8229600" y="155448"/>
            <a:ext cx="676656" cy="676656"/>
          </a:xfrm>
          <a:prstGeom prst="ellipse">
            <a:avLst/>
          </a:prstGeom>
          <a:solidFill>
            <a:srgbClr val="FFFFFF"/>
          </a:solidFill>
          <a:ln w="25400">
            <a:solidFill>
              <a:srgbClr val="A8E6B4"/>
            </a:solidFill>
            <a:prstDash val="solid"/>
          </a:ln>
        </p:spPr>
      </p:sp>
      <p:pic>
        <p:nvPicPr>
          <p:cNvPr id="5" name="logo_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6" name="footer_4"/>
          <p:cNvSpPr txBox="1"/>
          <p:nvPr/>
        </p:nvSpPr>
        <p:spPr>
          <a:xfrm>
            <a:off x="7132320" y="4818888"/>
            <a:ext cx="1737360" cy="219456"/>
          </a:xfrm>
          <a:prstGeom prst="rect">
            <a:avLst/>
          </a:prstGeom>
          <a:solidFill>
            <a:srgbClr val="204034"/>
          </a:solidFill>
          <a:ln/>
        </p:spPr>
        <p:txBody>
          <a:bodyPr wrap="square" lIns="0" tIns="0" rIns="0" bIns="0" rtlCol="0" anchor="ctr"/>
          <a:lstStyle/>
          <a:p>
            <a:pPr algn="ctr" indent="0" marL="0">
              <a:buNone/>
            </a:pPr>
            <a:r>
              <a:rPr lang="en-US" sz="1000" dirty="0">
                <a:solidFill>
                  <a:srgbClr val="E9E2FB"/>
                </a:solidFill>
                <a:latin typeface="Calibri" pitchFamily="34" charset="0"/>
                <a:ea typeface="Calibri" pitchFamily="34" charset="-122"/>
                <a:cs typeface="Calibri" pitchFamily="34" charset="-120"/>
              </a:rPr>
              <a:t>5B · Part 2</a:t>
            </a:r>
            <a:endParaRPr lang="en-US" sz="1000" dirty="0"/>
          </a:p>
        </p:txBody>
      </p:sp>
      <p:sp>
        <p:nvSpPr>
          <p:cNvPr id="7" name="unit_5"/>
          <p:cNvSpPr txBox="1"/>
          <p:nvPr/>
        </p:nvSpPr>
        <p:spPr>
          <a:xfrm>
            <a:off x="411480" y="320040"/>
            <a:ext cx="1737360" cy="914400"/>
          </a:xfrm>
          <a:prstGeom prst="rect">
            <a:avLst/>
          </a:prstGeom>
          <a:noFill/>
          <a:ln/>
        </p:spPr>
        <p:txBody>
          <a:bodyPr wrap="square" rtlCol="0" anchor="ctr">
            <a:normAutofit/>
          </a:bodyPr>
          <a:lstStyle/>
          <a:p>
            <a:pPr indent="0" marL="0">
              <a:buNone/>
            </a:pPr>
            <a:r>
              <a:rPr lang="en-US" sz="4600" dirty="0">
                <a:solidFill>
                  <a:srgbClr val="FFD84D"/>
                </a:solidFill>
                <a:latin typeface="Arial Black" pitchFamily="34" charset="0"/>
                <a:ea typeface="Arial Black" pitchFamily="34" charset="-122"/>
                <a:cs typeface="Arial Black" pitchFamily="34" charset="-120"/>
              </a:rPr>
              <a:t>5B</a:t>
            </a:r>
            <a:endParaRPr lang="en-US" sz="4600" dirty="0"/>
          </a:p>
        </p:txBody>
      </p:sp>
      <p:sp>
        <p:nvSpPr>
          <p:cNvPr id="8" name="course_6"/>
          <p:cNvSpPr txBox="1"/>
          <p:nvPr/>
        </p:nvSpPr>
        <p:spPr>
          <a:xfrm>
            <a:off x="2103120" y="566928"/>
            <a:ext cx="3840480" cy="365760"/>
          </a:xfrm>
          <a:prstGeom prst="rect">
            <a:avLst/>
          </a:prstGeom>
          <a:noFill/>
          <a:ln/>
        </p:spPr>
        <p:txBody>
          <a:bodyPr wrap="square" rtlCol="0" anchor="ctr"/>
          <a:lstStyle/>
          <a:p>
            <a:pPr indent="0" marL="0">
              <a:buNone/>
            </a:pPr>
            <a:r>
              <a:rPr lang="en-US" sz="1100" dirty="0">
                <a:solidFill>
                  <a:srgbClr val="E9E2FB"/>
                </a:solidFill>
                <a:latin typeface="Arial Black" pitchFamily="34" charset="0"/>
                <a:ea typeface="Arial Black" pitchFamily="34" charset="-122"/>
                <a:cs typeface="Arial Black" pitchFamily="34" charset="-120"/>
              </a:rPr>
              <a:t>ENGLISH FILE B1 · 5B · Part 2 · SB pp.52–53</a:t>
            </a:r>
            <a:endParaRPr lang="en-US" sz="1100" dirty="0"/>
          </a:p>
        </p:txBody>
      </p:sp>
      <p:sp>
        <p:nvSpPr>
          <p:cNvPr id="9" name="title_7"/>
          <p:cNvSpPr txBox="1"/>
          <p:nvPr/>
        </p:nvSpPr>
        <p:spPr>
          <a:xfrm rot="120000">
            <a:off x="411480" y="1325880"/>
            <a:ext cx="3602736" cy="777240"/>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52400" tIns="152400" rIns="152400" bIns="152400" rtlCol="0" anchor="ctr"/>
          <a:lstStyle/>
          <a:p>
            <a:pPr indent="0" marL="0">
              <a:buNone/>
            </a:pPr>
            <a:r>
              <a:rPr lang="en-US" sz="2650" dirty="0">
                <a:solidFill>
                  <a:srgbClr val="111111"/>
                </a:solidFill>
                <a:latin typeface="Arial Black" pitchFamily="34" charset="0"/>
                <a:ea typeface="Arial Black" pitchFamily="34" charset="-122"/>
                <a:cs typeface="Arial Black" pitchFamily="34" charset="-120"/>
              </a:rPr>
              <a:t>#THEWAYWEMET</a:t>
            </a:r>
            <a:endParaRPr lang="en-US" sz="2650" dirty="0"/>
          </a:p>
        </p:txBody>
      </p:sp>
      <p:sp>
        <p:nvSpPr>
          <p:cNvPr id="10" name="stamp_8"/>
          <p:cNvSpPr txBox="1"/>
          <p:nvPr/>
        </p:nvSpPr>
        <p:spPr>
          <a:xfrm>
            <a:off x="457200" y="2468880"/>
            <a:ext cx="3044952" cy="384048"/>
          </a:xfrm>
          <a:prstGeom prst="roundRect">
            <a:avLst>
              <a:gd name="adj" fmla="val 14286"/>
            </a:avLst>
          </a:prstGeom>
          <a:solidFill>
            <a:srgbClr val="204034"/>
          </a:solidFill>
          <a:ln w="38100">
            <a:solidFill>
              <a:srgbClr val="48BDF2"/>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VOCABULARY · relationships</a:t>
            </a:r>
            <a:endParaRPr lang="en-US" sz="1200" dirty="0"/>
          </a:p>
        </p:txBody>
      </p:sp>
      <p:sp>
        <p:nvSpPr>
          <p:cNvPr id="11" name="stamp_9"/>
          <p:cNvSpPr txBox="1"/>
          <p:nvPr/>
        </p:nvSpPr>
        <p:spPr>
          <a:xfrm>
            <a:off x="457200" y="2944368"/>
            <a:ext cx="4293108" cy="384048"/>
          </a:xfrm>
          <a:prstGeom prst="roundRect">
            <a:avLst>
              <a:gd name="adj" fmla="val 14286"/>
            </a:avLst>
          </a:prstGeom>
          <a:solidFill>
            <a:srgbClr val="204034"/>
          </a:solidFill>
          <a:ln w="38100">
            <a:solidFill>
              <a:srgbClr val="1FA463"/>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LISTENING · Five facts about friendship</a:t>
            </a:r>
            <a:endParaRPr lang="en-US" sz="1200" dirty="0"/>
          </a:p>
        </p:txBody>
      </p:sp>
      <p:sp>
        <p:nvSpPr>
          <p:cNvPr id="12" name="stamp_10"/>
          <p:cNvSpPr txBox="1"/>
          <p:nvPr/>
        </p:nvSpPr>
        <p:spPr>
          <a:xfrm>
            <a:off x="457200" y="3419856"/>
            <a:ext cx="3621024" cy="384048"/>
          </a:xfrm>
          <a:prstGeom prst="roundRect">
            <a:avLst>
              <a:gd name="adj" fmla="val 14286"/>
            </a:avLst>
          </a:prstGeom>
          <a:solidFill>
            <a:srgbClr val="204034"/>
          </a:solidFill>
          <a:ln w="38100">
            <a:solidFill>
              <a:srgbClr val="EF2F2F"/>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SPEAKING · Presenting an opinion</a:t>
            </a:r>
            <a:endParaRPr lang="en-US" sz="1200" dirty="0"/>
          </a:p>
        </p:txBody>
      </p:sp>
      <p:sp>
        <p:nvSpPr>
          <p:cNvPr id="13" name="iconBack_11"/>
          <p:cNvSpPr/>
          <p:nvPr/>
        </p:nvSpPr>
        <p:spPr>
          <a:xfrm>
            <a:off x="5669280" y="685800"/>
            <a:ext cx="1737360" cy="1737360"/>
          </a:xfrm>
          <a:prstGeom prst="ellipse">
            <a:avLst/>
          </a:prstGeom>
          <a:solidFill>
            <a:srgbClr val="FFD84D"/>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4" name="icon_12" descr="pi:PiHandshake">    </p:cNvPr>
          <p:cNvPicPr>
            <a:picLocks noChangeAspect="1"/>
          </p:cNvPicPr>
          <p:nvPr/>
        </p:nvPicPr>
        <p:blipFill>
          <a:blip r:embed="rId3"/>
          <a:stretch>
            <a:fillRect/>
          </a:stretch>
        </p:blipFill>
        <p:spPr>
          <a:xfrm>
            <a:off x="6016752" y="1033272"/>
            <a:ext cx="1042416" cy="1042416"/>
          </a:xfrm>
          <a:prstGeom prst="rect">
            <a:avLst/>
          </a:prstGeom>
        </p:spPr>
      </p:pic>
      <p:sp>
        <p:nvSpPr>
          <p:cNvPr id="15" name="iconBack_13"/>
          <p:cNvSpPr/>
          <p:nvPr/>
        </p:nvSpPr>
        <p:spPr>
          <a:xfrm>
            <a:off x="7315200" y="1508760"/>
            <a:ext cx="1097280" cy="109728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6" name="icon_14" descr="pi:PiUsersThree">    </p:cNvPr>
          <p:cNvPicPr>
            <a:picLocks noChangeAspect="1"/>
          </p:cNvPicPr>
          <p:nvPr/>
        </p:nvPicPr>
        <p:blipFill>
          <a:blip r:embed="rId4"/>
          <a:stretch>
            <a:fillRect/>
          </a:stretch>
        </p:blipFill>
        <p:spPr>
          <a:xfrm>
            <a:off x="7534656" y="1728216"/>
            <a:ext cx="658368" cy="658368"/>
          </a:xfrm>
          <a:prstGeom prst="rect">
            <a:avLst/>
          </a:prstGeom>
        </p:spPr>
      </p:pic>
      <p:sp>
        <p:nvSpPr>
          <p:cNvPr id="17" name="iconBack_15"/>
          <p:cNvSpPr/>
          <p:nvPr/>
        </p:nvSpPr>
        <p:spPr>
          <a:xfrm>
            <a:off x="5486400" y="2514600"/>
            <a:ext cx="960120" cy="960120"/>
          </a:xfrm>
          <a:prstGeom prst="ellipse">
            <a:avLst/>
          </a:prstGeom>
          <a:solidFill>
            <a:srgbClr val="A8E6B4"/>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8" name="icon_16" descr="pi:PiHeart">    </p:cNvPr>
          <p:cNvPicPr>
            <a:picLocks noChangeAspect="1"/>
          </p:cNvPicPr>
          <p:nvPr/>
        </p:nvPicPr>
        <p:blipFill>
          <a:blip r:embed="rId5"/>
          <a:stretch>
            <a:fillRect/>
          </a:stretch>
        </p:blipFill>
        <p:spPr>
          <a:xfrm>
            <a:off x="5678424" y="2706624"/>
            <a:ext cx="576072" cy="576072"/>
          </a:xfrm>
          <a:prstGeom prst="rect">
            <a:avLst/>
          </a:prstGeom>
        </p:spPr>
      </p:pic>
      <p:sp>
        <p:nvSpPr>
          <p:cNvPr id="19" name="R1_q"/>
          <p:cNvSpPr txBox="1"/>
          <p:nvPr/>
        </p:nvSpPr>
        <p:spPr>
          <a:xfrm>
            <a:off x="5120640" y="3337560"/>
            <a:ext cx="2377440" cy="777240"/>
          </a:xfrm>
          <a:prstGeom prst="wedgeRoundRectCallout">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400" b="1" dirty="0">
                <a:solidFill>
                  <a:srgbClr val="111111"/>
                </a:solidFill>
                <a:latin typeface="Calibri" pitchFamily="34" charset="0"/>
                <a:ea typeface="Calibri" pitchFamily="34" charset="-122"/>
                <a:cs typeface="Calibri" pitchFamily="34" charset="-120"/>
              </a:rPr>
              <a:t>Can love make you lose two friends?</a:t>
            </a:r>
            <a:endParaRPr lang="en-US" sz="1400" dirty="0"/>
          </a:p>
        </p:txBody>
      </p:sp>
      <p:sp>
        <p:nvSpPr>
          <p:cNvPr id="20" name="R2_a"/>
          <p:cNvSpPr txBox="1"/>
          <p:nvPr/>
        </p:nvSpPr>
        <p:spPr>
          <a:xfrm>
            <a:off x="6629400" y="4069080"/>
            <a:ext cx="2148840" cy="594360"/>
          </a:xfrm>
          <a:prstGeom prst="wedgeRoundRectCallou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dirty="0">
                <a:solidFill>
                  <a:srgbClr val="111111"/>
                </a:solidFill>
                <a:latin typeface="Calibri" pitchFamily="34" charset="0"/>
                <a:ea typeface="Calibri" pitchFamily="34" charset="-122"/>
                <a:cs typeface="Calibri" pitchFamily="34" charset="-120"/>
              </a:rPr>
              <a:t>Science says… yes!</a:t>
            </a:r>
            <a:endParaRPr lang="en-US" sz="1300" dirty="0"/>
          </a:p>
        </p:txBody>
      </p:sp>
      <p:sp>
        <p:nvSpPr>
          <p:cNvPr id="21" name="tnote_17"/>
          <p:cNvSpPr txBox="1"/>
          <p:nvPr/>
        </p:nvSpPr>
        <p:spPr>
          <a:xfrm>
            <a:off x="411480" y="4773168"/>
            <a:ext cx="5029200" cy="237744"/>
          </a:xfrm>
          <a:prstGeom prst="rect">
            <a:avLst/>
          </a:prstGeom>
          <a:noFill/>
          <a:ln/>
        </p:spPr>
        <p:txBody>
          <a:bodyPr wrap="square" rtlCol="0" anchor="ctr"/>
          <a:lstStyle/>
          <a:p>
            <a:pPr indent="0" marL="0">
              <a:buNone/>
            </a:pPr>
            <a:r>
              <a:rPr lang="en-US" sz="900" dirty="0">
                <a:solidFill>
                  <a:srgbClr val="E9E2FB"/>
                </a:solidFill>
                <a:latin typeface="Calibri" pitchFamily="34" charset="0"/>
                <a:ea typeface="Calibri" pitchFamily="34" charset="-122"/>
                <a:cs typeface="Calibri" pitchFamily="34" charset="-120"/>
              </a:rPr>
              <a:t>Teacher: timings, answers and tips are in the slide notes.</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8"/>
          <p:cNvSpPr/>
          <p:nvPr/>
        </p:nvSpPr>
        <p:spPr>
          <a:xfrm>
            <a:off x="54864" y="54864"/>
            <a:ext cx="9034272" cy="5033772"/>
          </a:xfrm>
          <a:prstGeom prst="rect">
            <a:avLst/>
          </a:prstGeom>
          <a:ln w="114300">
            <a:solidFill>
              <a:srgbClr val="A8E6B4"/>
            </a:solidFill>
            <a:prstDash val="solid"/>
          </a:ln>
        </p:spPr>
      </p:sp>
      <p:pic>
        <p:nvPicPr>
          <p:cNvPr id="4" name="logo_1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REVISION · 5B part 1 · used to / usually</a:t>
            </a:r>
            <a:endParaRPr lang="en-US" sz="900" dirty="0"/>
          </a:p>
        </p:txBody>
      </p:sp>
      <p:sp>
        <p:nvSpPr>
          <p:cNvPr id="6" name="timer_2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2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5B · Part 2</a:t>
            </a:r>
            <a:endParaRPr lang="en-US" sz="1000" dirty="0"/>
          </a:p>
        </p:txBody>
      </p:sp>
      <p:sp>
        <p:nvSpPr>
          <p:cNvPr id="8" name="title_23"/>
          <p:cNvSpPr txBox="1"/>
          <p:nvPr/>
        </p:nvSpPr>
        <p:spPr>
          <a:xfrm rot="90000">
            <a:off x="320040" y="676656"/>
            <a:ext cx="5020056"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Memory: Giulia, then &amp; now</a:t>
            </a:r>
            <a:endParaRPr lang="en-US" sz="1500" dirty="0"/>
          </a:p>
        </p:txBody>
      </p:sp>
      <p:sp>
        <p:nvSpPr>
          <p:cNvPr id="9" name="tape_24"/>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25"/>
          <p:cNvSpPr/>
          <p:nvPr/>
        </p:nvSpPr>
        <p:spPr>
          <a:xfrm rot="-720000">
            <a:off x="4773168" y="1069848"/>
            <a:ext cx="685800" cy="219456"/>
          </a:xfrm>
          <a:prstGeom prst="rect">
            <a:avLst/>
          </a:prstGeom>
          <a:solidFill>
            <a:srgbClr val="FFD84D">
              <a:alpha val="75000"/>
            </a:srgbClr>
          </a:solidFill>
          <a:ln w="6350">
            <a:solidFill>
              <a:srgbClr val="FFD84D"/>
            </a:solidFill>
            <a:prstDash val="solid"/>
          </a:ln>
        </p:spPr>
      </p:sp>
      <p:sp>
        <p:nvSpPr>
          <p:cNvPr id="11" name="post_26"/>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27"/>
          <p:cNvSpPr txBox="1"/>
          <p:nvPr/>
        </p:nvSpPr>
        <p:spPr>
          <a:xfrm rot="-180000">
            <a:off x="320040" y="1371600"/>
            <a:ext cx="2240280" cy="457200"/>
          </a:xfrm>
          <a:prstGeom prst="homePlate">
            <a:avLst/>
          </a:prstGeom>
          <a:solidFill>
            <a:srgbClr val="B45309"/>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250" b="1" dirty="0">
                <a:solidFill>
                  <a:srgbClr val="FFFFFF"/>
                </a:solidFill>
                <a:latin typeface="Arial Black" pitchFamily="34" charset="0"/>
                <a:ea typeface="Arial Black" pitchFamily="34" charset="-122"/>
                <a:cs typeface="Arial Black" pitchFamily="34" charset="-120"/>
              </a:rPr>
              <a:t>REMEMBER!</a:t>
            </a:r>
            <a:pPr indent="0" marL="0">
              <a:buNone/>
            </a:pPr>
            <a:r>
              <a:rPr lang="en-US" sz="900" dirty="0">
                <a:solidFill>
                  <a:srgbClr val="FFF3B0"/>
                </a:solidFill>
                <a:latin typeface="Arial Black" pitchFamily="34" charset="0"/>
                <a:ea typeface="Arial Black" pitchFamily="34" charset="-122"/>
                <a:cs typeface="Arial Black" pitchFamily="34" charset="-120"/>
              </a:rPr>
              <a:t>  RICORDA!</a:t>
            </a:r>
            <a:endParaRPr lang="en-US" sz="1500" dirty="0"/>
          </a:p>
        </p:txBody>
      </p:sp>
      <p:sp>
        <p:nvSpPr>
          <p:cNvPr id="13" name="signB_28"/>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Look for 40 seconds. Then the screen goes black. Remember!</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Guarda per 40 secondi. Poi lo schermo diventa nero. Ricorda!</a:t>
            </a:r>
            <a:endParaRPr lang="en-US" sz="1200" dirty="0"/>
          </a:p>
        </p:txBody>
      </p:sp>
      <p:sp>
        <p:nvSpPr>
          <p:cNvPr id="14" name="tile_29"/>
          <p:cNvSpPr/>
          <p:nvPr/>
        </p:nvSpPr>
        <p:spPr>
          <a:xfrm>
            <a:off x="2788920" y="1371600"/>
            <a:ext cx="1938528" cy="1143000"/>
          </a:xfrm>
          <a:prstGeom prst="roundRect">
            <a:avLst>
              <a:gd name="adj" fmla="val 6400"/>
            </a:avLst>
          </a:prstGeom>
          <a:solidFill>
            <a:srgbClr val="FFFFFF"/>
          </a:solidFill>
          <a:ln w="19050">
            <a:solidFill>
              <a:srgbClr val="111111"/>
            </a:solidFill>
            <a:prstDash val="solid"/>
          </a:ln>
        </p:spPr>
      </p:sp>
      <p:pic>
        <p:nvPicPr>
          <p:cNvPr id="15" name="ti_30" descr="played the violin">    </p:cNvPr>
          <p:cNvPicPr>
            <a:picLocks noChangeAspect="1"/>
          </p:cNvPicPr>
          <p:nvPr/>
        </p:nvPicPr>
        <p:blipFill>
          <a:blip r:embed="rId3"/>
          <a:stretch>
            <a:fillRect/>
          </a:stretch>
        </p:blipFill>
        <p:spPr>
          <a:xfrm>
            <a:off x="2862072" y="1568196"/>
            <a:ext cx="566928" cy="566928"/>
          </a:xfrm>
          <a:prstGeom prst="rect">
            <a:avLst/>
          </a:prstGeom>
        </p:spPr>
      </p:pic>
      <p:sp>
        <p:nvSpPr>
          <p:cNvPr id="16" name="tw_31"/>
          <p:cNvSpPr txBox="1"/>
          <p:nvPr/>
        </p:nvSpPr>
        <p:spPr>
          <a:xfrm>
            <a:off x="3447288" y="1417320"/>
            <a:ext cx="1243584" cy="571500"/>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played the violin</a:t>
            </a:r>
            <a:endParaRPr lang="en-US" sz="1300" dirty="0"/>
          </a:p>
        </p:txBody>
      </p:sp>
      <p:sp>
        <p:nvSpPr>
          <p:cNvPr id="17" name="R1_it0"/>
          <p:cNvSpPr txBox="1"/>
          <p:nvPr/>
        </p:nvSpPr>
        <p:spPr>
          <a:xfrm>
            <a:off x="3447288" y="1943100"/>
            <a:ext cx="1243584" cy="480060"/>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NOW: plays the drums</a:t>
            </a:r>
            <a:endParaRPr lang="en-US" sz="1150" dirty="0"/>
          </a:p>
        </p:txBody>
      </p:sp>
      <p:sp>
        <p:nvSpPr>
          <p:cNvPr id="18" name="tile_32"/>
          <p:cNvSpPr/>
          <p:nvPr/>
        </p:nvSpPr>
        <p:spPr>
          <a:xfrm>
            <a:off x="4837176" y="1371600"/>
            <a:ext cx="1938528" cy="1143000"/>
          </a:xfrm>
          <a:prstGeom prst="roundRect">
            <a:avLst>
              <a:gd name="adj" fmla="val 6400"/>
            </a:avLst>
          </a:prstGeom>
          <a:solidFill>
            <a:srgbClr val="FFFFFF"/>
          </a:solidFill>
          <a:ln w="19050">
            <a:solidFill>
              <a:srgbClr val="111111"/>
            </a:solidFill>
            <a:prstDash val="solid"/>
          </a:ln>
        </p:spPr>
      </p:sp>
      <p:pic>
        <p:nvPicPr>
          <p:cNvPr id="19" name="ti_33" descr="lived in Catania">    </p:cNvPr>
          <p:cNvPicPr>
            <a:picLocks noChangeAspect="1"/>
          </p:cNvPicPr>
          <p:nvPr/>
        </p:nvPicPr>
        <p:blipFill>
          <a:blip r:embed="rId4"/>
          <a:stretch>
            <a:fillRect/>
          </a:stretch>
        </p:blipFill>
        <p:spPr>
          <a:xfrm>
            <a:off x="4910328" y="1568196"/>
            <a:ext cx="566928" cy="566928"/>
          </a:xfrm>
          <a:prstGeom prst="rect">
            <a:avLst/>
          </a:prstGeom>
        </p:spPr>
      </p:pic>
      <p:sp>
        <p:nvSpPr>
          <p:cNvPr id="20" name="tw_34"/>
          <p:cNvSpPr txBox="1"/>
          <p:nvPr/>
        </p:nvSpPr>
        <p:spPr>
          <a:xfrm>
            <a:off x="5495544" y="1417320"/>
            <a:ext cx="1243584" cy="571500"/>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lived in Catania</a:t>
            </a:r>
            <a:endParaRPr lang="en-US" sz="1300" dirty="0"/>
          </a:p>
        </p:txBody>
      </p:sp>
      <p:sp>
        <p:nvSpPr>
          <p:cNvPr id="21" name="R1_it1"/>
          <p:cNvSpPr txBox="1"/>
          <p:nvPr/>
        </p:nvSpPr>
        <p:spPr>
          <a:xfrm>
            <a:off x="5495544" y="1943100"/>
            <a:ext cx="1243584" cy="480060"/>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NOW: lives in Bagheria</a:t>
            </a:r>
            <a:endParaRPr lang="en-US" sz="1150" dirty="0"/>
          </a:p>
        </p:txBody>
      </p:sp>
      <p:sp>
        <p:nvSpPr>
          <p:cNvPr id="22" name="tile_35"/>
          <p:cNvSpPr/>
          <p:nvPr/>
        </p:nvSpPr>
        <p:spPr>
          <a:xfrm>
            <a:off x="6885432" y="1371600"/>
            <a:ext cx="1938528" cy="1143000"/>
          </a:xfrm>
          <a:prstGeom prst="roundRect">
            <a:avLst>
              <a:gd name="adj" fmla="val 6400"/>
            </a:avLst>
          </a:prstGeom>
          <a:solidFill>
            <a:srgbClr val="FFFFFF"/>
          </a:solidFill>
          <a:ln w="19050">
            <a:solidFill>
              <a:srgbClr val="111111"/>
            </a:solidFill>
            <a:prstDash val="solid"/>
          </a:ln>
        </p:spPr>
      </p:sp>
      <p:pic>
        <p:nvPicPr>
          <p:cNvPr id="23" name="ti_36" descr="didn't like coffee">    </p:cNvPr>
          <p:cNvPicPr>
            <a:picLocks noChangeAspect="1"/>
          </p:cNvPicPr>
          <p:nvPr/>
        </p:nvPicPr>
        <p:blipFill>
          <a:blip r:embed="rId5"/>
          <a:stretch>
            <a:fillRect/>
          </a:stretch>
        </p:blipFill>
        <p:spPr>
          <a:xfrm>
            <a:off x="6958584" y="1568196"/>
            <a:ext cx="566928" cy="566928"/>
          </a:xfrm>
          <a:prstGeom prst="rect">
            <a:avLst/>
          </a:prstGeom>
        </p:spPr>
      </p:pic>
      <p:sp>
        <p:nvSpPr>
          <p:cNvPr id="24" name="tw_37"/>
          <p:cNvSpPr txBox="1"/>
          <p:nvPr/>
        </p:nvSpPr>
        <p:spPr>
          <a:xfrm>
            <a:off x="7543800" y="1417320"/>
            <a:ext cx="1243584" cy="571500"/>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didn't like coffee</a:t>
            </a:r>
            <a:endParaRPr lang="en-US" sz="1300" dirty="0"/>
          </a:p>
        </p:txBody>
      </p:sp>
      <p:sp>
        <p:nvSpPr>
          <p:cNvPr id="25" name="R1_it2"/>
          <p:cNvSpPr txBox="1"/>
          <p:nvPr/>
        </p:nvSpPr>
        <p:spPr>
          <a:xfrm>
            <a:off x="7543800" y="1943100"/>
            <a:ext cx="1243584" cy="480060"/>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NOW: 3 espressos a day</a:t>
            </a:r>
            <a:endParaRPr lang="en-US" sz="1150" dirty="0"/>
          </a:p>
        </p:txBody>
      </p:sp>
      <p:sp>
        <p:nvSpPr>
          <p:cNvPr id="26" name="tile_38"/>
          <p:cNvSpPr/>
          <p:nvPr/>
        </p:nvSpPr>
        <p:spPr>
          <a:xfrm>
            <a:off x="2788920" y="2624328"/>
            <a:ext cx="1938528" cy="1143000"/>
          </a:xfrm>
          <a:prstGeom prst="roundRect">
            <a:avLst>
              <a:gd name="adj" fmla="val 6400"/>
            </a:avLst>
          </a:prstGeom>
          <a:solidFill>
            <a:srgbClr val="FFFFFF"/>
          </a:solidFill>
          <a:ln w="19050">
            <a:solidFill>
              <a:srgbClr val="111111"/>
            </a:solidFill>
            <a:prstDash val="solid"/>
          </a:ln>
        </p:spPr>
      </p:sp>
      <p:pic>
        <p:nvPicPr>
          <p:cNvPr id="27" name="ti_39" descr="cycled to school">    </p:cNvPr>
          <p:cNvPicPr>
            <a:picLocks noChangeAspect="1"/>
          </p:cNvPicPr>
          <p:nvPr/>
        </p:nvPicPr>
        <p:blipFill>
          <a:blip r:embed="rId6"/>
          <a:stretch>
            <a:fillRect/>
          </a:stretch>
        </p:blipFill>
        <p:spPr>
          <a:xfrm>
            <a:off x="2862072" y="2820924"/>
            <a:ext cx="566928" cy="566928"/>
          </a:xfrm>
          <a:prstGeom prst="rect">
            <a:avLst/>
          </a:prstGeom>
        </p:spPr>
      </p:pic>
      <p:sp>
        <p:nvSpPr>
          <p:cNvPr id="28" name="tw_40"/>
          <p:cNvSpPr txBox="1"/>
          <p:nvPr/>
        </p:nvSpPr>
        <p:spPr>
          <a:xfrm>
            <a:off x="3447288" y="2670048"/>
            <a:ext cx="1243584" cy="571500"/>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cycled to school</a:t>
            </a:r>
            <a:endParaRPr lang="en-US" sz="1300" dirty="0"/>
          </a:p>
        </p:txBody>
      </p:sp>
      <p:sp>
        <p:nvSpPr>
          <p:cNvPr id="29" name="R1_it3"/>
          <p:cNvSpPr txBox="1"/>
          <p:nvPr/>
        </p:nvSpPr>
        <p:spPr>
          <a:xfrm>
            <a:off x="3447288" y="3195828"/>
            <a:ext cx="1243584" cy="480060"/>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NOW: usually drives</a:t>
            </a:r>
            <a:endParaRPr lang="en-US" sz="1150" dirty="0"/>
          </a:p>
        </p:txBody>
      </p:sp>
      <p:sp>
        <p:nvSpPr>
          <p:cNvPr id="30" name="tile_41"/>
          <p:cNvSpPr/>
          <p:nvPr/>
        </p:nvSpPr>
        <p:spPr>
          <a:xfrm>
            <a:off x="4837176" y="2624328"/>
            <a:ext cx="1938528" cy="1143000"/>
          </a:xfrm>
          <a:prstGeom prst="roundRect">
            <a:avLst>
              <a:gd name="adj" fmla="val 6400"/>
            </a:avLst>
          </a:prstGeom>
          <a:solidFill>
            <a:srgbClr val="FFFFFF"/>
          </a:solidFill>
          <a:ln w="19050">
            <a:solidFill>
              <a:srgbClr val="111111"/>
            </a:solidFill>
            <a:prstDash val="solid"/>
          </a:ln>
        </p:spPr>
      </p:sp>
      <p:pic>
        <p:nvPicPr>
          <p:cNvPr id="31" name="ti_42" descr="watched cartoons">    </p:cNvPr>
          <p:cNvPicPr>
            <a:picLocks noChangeAspect="1"/>
          </p:cNvPicPr>
          <p:nvPr/>
        </p:nvPicPr>
        <p:blipFill>
          <a:blip r:embed="rId7"/>
          <a:stretch>
            <a:fillRect/>
          </a:stretch>
        </p:blipFill>
        <p:spPr>
          <a:xfrm>
            <a:off x="4910328" y="2820924"/>
            <a:ext cx="566928" cy="566928"/>
          </a:xfrm>
          <a:prstGeom prst="rect">
            <a:avLst/>
          </a:prstGeom>
        </p:spPr>
      </p:pic>
      <p:sp>
        <p:nvSpPr>
          <p:cNvPr id="32" name="tw_43"/>
          <p:cNvSpPr txBox="1"/>
          <p:nvPr/>
        </p:nvSpPr>
        <p:spPr>
          <a:xfrm>
            <a:off x="5495544" y="2670048"/>
            <a:ext cx="1243584" cy="571500"/>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watched cartoons</a:t>
            </a:r>
            <a:endParaRPr lang="en-US" sz="1300" dirty="0"/>
          </a:p>
        </p:txBody>
      </p:sp>
      <p:sp>
        <p:nvSpPr>
          <p:cNvPr id="33" name="R1_it4"/>
          <p:cNvSpPr txBox="1"/>
          <p:nvPr/>
        </p:nvSpPr>
        <p:spPr>
          <a:xfrm>
            <a:off x="5495544" y="3195828"/>
            <a:ext cx="1243584" cy="480060"/>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NOW: watches the news</a:t>
            </a:r>
            <a:endParaRPr lang="en-US" sz="1150" dirty="0"/>
          </a:p>
        </p:txBody>
      </p:sp>
      <p:sp>
        <p:nvSpPr>
          <p:cNvPr id="34" name="tile_44"/>
          <p:cNvSpPr/>
          <p:nvPr/>
        </p:nvSpPr>
        <p:spPr>
          <a:xfrm>
            <a:off x="6885432" y="2624328"/>
            <a:ext cx="1938528" cy="1143000"/>
          </a:xfrm>
          <a:prstGeom prst="roundRect">
            <a:avLst>
              <a:gd name="adj" fmla="val 6400"/>
            </a:avLst>
          </a:prstGeom>
          <a:solidFill>
            <a:srgbClr val="FFFFFF"/>
          </a:solidFill>
          <a:ln w="19050">
            <a:solidFill>
              <a:srgbClr val="111111"/>
            </a:solidFill>
            <a:prstDash val="solid"/>
          </a:ln>
        </p:spPr>
      </p:sp>
      <p:pic>
        <p:nvPicPr>
          <p:cNvPr id="35" name="ti_45" descr="went to bed at 2 a.m.">    </p:cNvPr>
          <p:cNvPicPr>
            <a:picLocks noChangeAspect="1"/>
          </p:cNvPicPr>
          <p:nvPr/>
        </p:nvPicPr>
        <p:blipFill>
          <a:blip r:embed="rId8"/>
          <a:stretch>
            <a:fillRect/>
          </a:stretch>
        </p:blipFill>
        <p:spPr>
          <a:xfrm>
            <a:off x="6958584" y="2820924"/>
            <a:ext cx="566928" cy="566928"/>
          </a:xfrm>
          <a:prstGeom prst="rect">
            <a:avLst/>
          </a:prstGeom>
        </p:spPr>
      </p:pic>
      <p:sp>
        <p:nvSpPr>
          <p:cNvPr id="36" name="tw_46"/>
          <p:cNvSpPr txBox="1"/>
          <p:nvPr/>
        </p:nvSpPr>
        <p:spPr>
          <a:xfrm>
            <a:off x="7543800" y="2670048"/>
            <a:ext cx="1243584" cy="571500"/>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went to bed at 2 a.m.</a:t>
            </a:r>
            <a:endParaRPr lang="en-US" sz="1300" dirty="0"/>
          </a:p>
        </p:txBody>
      </p:sp>
      <p:sp>
        <p:nvSpPr>
          <p:cNvPr id="37" name="R1_it5"/>
          <p:cNvSpPr txBox="1"/>
          <p:nvPr/>
        </p:nvSpPr>
        <p:spPr>
          <a:xfrm>
            <a:off x="7543800" y="3195828"/>
            <a:ext cx="1243584" cy="480060"/>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NOW: usually at 10.30!</a:t>
            </a:r>
            <a:endParaRPr lang="en-US" sz="1150" dirty="0"/>
          </a:p>
        </p:txBody>
      </p:sp>
      <p:sp>
        <p:nvSpPr>
          <p:cNvPr id="38" name="pageTag_47"/>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revision of 5B pp.50–51 · Grammar Bank 5B p.141</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par>
                                <p:cTn id="11" presetID="10"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400"/>
                                        <p:tgtEl>
                                          <p:spTgt spid="25"/>
                                        </p:tgtEl>
                                      </p:cBhvr>
                                    </p:animEffect>
                                  </p:childTnLst>
                                </p:cTn>
                              </p:par>
                              <p:par>
                                <p:cTn id="14" presetID="10" presetClass="entr" presetSubtype="0" fill="hold"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400"/>
                                        <p:tgtEl>
                                          <p:spTgt spid="29"/>
                                        </p:tgtEl>
                                      </p:cBhvr>
                                    </p:animEffect>
                                  </p:childTnLst>
                                </p:cTn>
                              </p:par>
                              <p:par>
                                <p:cTn id="17" presetID="10" presetClass="entr" presetSubtype="0" fill="hold" nodeType="with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fade">
                                      <p:cBhvr>
                                        <p:cTn id="19" dur="400"/>
                                        <p:tgtEl>
                                          <p:spTgt spid="33"/>
                                        </p:tgtEl>
                                      </p:cBhvr>
                                    </p:animEffect>
                                  </p:childTnLst>
                                </p:cTn>
                              </p:par>
                              <p:par>
                                <p:cTn id="20" presetID="10" presetClass="entr" presetSubtype="0" fill="hold" nodeType="with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48"/>
          <p:cNvSpPr/>
          <p:nvPr/>
        </p:nvSpPr>
        <p:spPr>
          <a:xfrm>
            <a:off x="54864" y="54864"/>
            <a:ext cx="9034272" cy="5033772"/>
          </a:xfrm>
          <a:prstGeom prst="rect">
            <a:avLst/>
          </a:prstGeom>
          <a:ln w="114300">
            <a:solidFill>
              <a:srgbClr val="A8E6B4"/>
            </a:solidFill>
            <a:prstDash val="solid"/>
          </a:ln>
        </p:spPr>
      </p:sp>
      <p:pic>
        <p:nvPicPr>
          <p:cNvPr id="4" name="logo_4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5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VOCABULARY · Vocabulary Bank p.158 · People</a:t>
            </a:r>
            <a:endParaRPr lang="en-US" sz="900" dirty="0"/>
          </a:p>
        </p:txBody>
      </p:sp>
      <p:sp>
        <p:nvSpPr>
          <p:cNvPr id="6" name="timer_5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footer_5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5B · Part 2</a:t>
            </a:r>
            <a:endParaRPr lang="en-US" sz="1000" dirty="0"/>
          </a:p>
        </p:txBody>
      </p:sp>
      <p:sp>
        <p:nvSpPr>
          <p:cNvPr id="8" name="title_53"/>
          <p:cNvSpPr txBox="1"/>
          <p:nvPr/>
        </p:nvSpPr>
        <p:spPr>
          <a:xfrm rot="90000">
            <a:off x="320040" y="676656"/>
            <a:ext cx="2240280"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Who's who?</a:t>
            </a:r>
            <a:endParaRPr lang="en-US" sz="1500" dirty="0"/>
          </a:p>
        </p:txBody>
      </p:sp>
      <p:sp>
        <p:nvSpPr>
          <p:cNvPr id="9" name="tape_54"/>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55"/>
          <p:cNvSpPr/>
          <p:nvPr/>
        </p:nvSpPr>
        <p:spPr>
          <a:xfrm rot="-720000">
            <a:off x="1993392" y="1069848"/>
            <a:ext cx="685800" cy="219456"/>
          </a:xfrm>
          <a:prstGeom prst="rect">
            <a:avLst/>
          </a:prstGeom>
          <a:solidFill>
            <a:srgbClr val="FFD84D">
              <a:alpha val="75000"/>
            </a:srgbClr>
          </a:solidFill>
          <a:ln w="6350">
            <a:solidFill>
              <a:srgbClr val="FFD84D"/>
            </a:solidFill>
            <a:prstDash val="solid"/>
          </a:ln>
        </p:spPr>
      </p:sp>
      <p:sp>
        <p:nvSpPr>
          <p:cNvPr id="11" name="post_56"/>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57"/>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3" name="signB_58"/>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Read the definition. What's the word?</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Leggi la definizione. Qual è la parola?</a:t>
            </a:r>
            <a:endParaRPr lang="en-US" sz="1250" dirty="0"/>
          </a:p>
        </p:txBody>
      </p:sp>
      <p:sp>
        <p:nvSpPr>
          <p:cNvPr id="14" name="iconBack_59"/>
          <p:cNvSpPr/>
          <p:nvPr/>
        </p:nvSpPr>
        <p:spPr>
          <a:xfrm>
            <a:off x="2788920" y="1371600"/>
            <a:ext cx="349758" cy="349758"/>
          </a:xfrm>
          <a:prstGeom prst="ellipse">
            <a:avLst/>
          </a:prstGeom>
          <a:solidFill>
            <a:srgbClr val="FFFFFF"/>
          </a:solidFill>
          <a:ln w="15875">
            <a:solidFill>
              <a:srgbClr val="111111"/>
            </a:solidFill>
            <a:prstDash val="solid"/>
          </a:ln>
        </p:spPr>
      </p:sp>
      <p:pic>
        <p:nvPicPr>
          <p:cNvPr id="15" name="icon_60" descr="pi:PiHeart">    </p:cNvPr>
          <p:cNvPicPr>
            <a:picLocks noChangeAspect="1"/>
          </p:cNvPicPr>
          <p:nvPr/>
        </p:nvPicPr>
        <p:blipFill>
          <a:blip r:embed="rId3"/>
          <a:stretch>
            <a:fillRect/>
          </a:stretch>
        </p:blipFill>
        <p:spPr>
          <a:xfrm>
            <a:off x="2858872" y="1441552"/>
            <a:ext cx="209855" cy="209855"/>
          </a:xfrm>
          <a:prstGeom prst="rect">
            <a:avLst/>
          </a:prstGeom>
        </p:spPr>
      </p:pic>
      <p:sp>
        <p:nvSpPr>
          <p:cNvPr id="16" name="box_61"/>
          <p:cNvSpPr txBox="1"/>
          <p:nvPr/>
        </p:nvSpPr>
        <p:spPr>
          <a:xfrm>
            <a:off x="3193542" y="1371600"/>
            <a:ext cx="3699205" cy="34975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000" dirty="0">
                <a:solidFill>
                  <a:srgbClr val="111111"/>
                </a:solidFill>
                <a:latin typeface="Calibri" pitchFamily="34" charset="0"/>
                <a:ea typeface="Calibri" pitchFamily="34" charset="-122"/>
                <a:cs typeface="Calibri" pitchFamily="34" charset="-120"/>
              </a:rPr>
              <a:t>1  two people who are married or in a romantic relationship</a:t>
            </a:r>
            <a:endParaRPr lang="en-US" sz="1000" dirty="0"/>
          </a:p>
        </p:txBody>
      </p:sp>
      <p:sp>
        <p:nvSpPr>
          <p:cNvPr id="17" name="R1_m0"/>
          <p:cNvSpPr txBox="1"/>
          <p:nvPr/>
        </p:nvSpPr>
        <p:spPr>
          <a:xfrm>
            <a:off x="6965899" y="1389888"/>
            <a:ext cx="1858061"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couple</a:t>
            </a:r>
            <a:endParaRPr lang="en-US" sz="1300" dirty="0"/>
          </a:p>
        </p:txBody>
      </p:sp>
      <p:sp>
        <p:nvSpPr>
          <p:cNvPr id="18" name="iconBack_62"/>
          <p:cNvSpPr/>
          <p:nvPr/>
        </p:nvSpPr>
        <p:spPr>
          <a:xfrm>
            <a:off x="2788920" y="1794510"/>
            <a:ext cx="349758" cy="349758"/>
          </a:xfrm>
          <a:prstGeom prst="ellipse">
            <a:avLst/>
          </a:prstGeom>
          <a:solidFill>
            <a:srgbClr val="FFFFFF"/>
          </a:solidFill>
          <a:ln w="15875">
            <a:solidFill>
              <a:srgbClr val="111111"/>
            </a:solidFill>
            <a:prstDash val="solid"/>
          </a:ln>
        </p:spPr>
      </p:sp>
      <p:pic>
        <p:nvPicPr>
          <p:cNvPr id="19" name="icon_63" descr="pi:PiUsers">    </p:cNvPr>
          <p:cNvPicPr>
            <a:picLocks noChangeAspect="1"/>
          </p:cNvPicPr>
          <p:nvPr/>
        </p:nvPicPr>
        <p:blipFill>
          <a:blip r:embed="rId4"/>
          <a:stretch>
            <a:fillRect/>
          </a:stretch>
        </p:blipFill>
        <p:spPr>
          <a:xfrm>
            <a:off x="2858872" y="1864462"/>
            <a:ext cx="209855" cy="209855"/>
          </a:xfrm>
          <a:prstGeom prst="rect">
            <a:avLst/>
          </a:prstGeom>
        </p:spPr>
      </p:pic>
      <p:sp>
        <p:nvSpPr>
          <p:cNvPr id="20" name="box_64"/>
          <p:cNvSpPr txBox="1"/>
          <p:nvPr/>
        </p:nvSpPr>
        <p:spPr>
          <a:xfrm>
            <a:off x="3193542" y="1794510"/>
            <a:ext cx="3699205" cy="34975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2  your husband, wife, boyfriend or girlfriend</a:t>
            </a:r>
            <a:endParaRPr lang="en-US" sz="1200" dirty="0"/>
          </a:p>
        </p:txBody>
      </p:sp>
      <p:sp>
        <p:nvSpPr>
          <p:cNvPr id="21" name="R1_m1"/>
          <p:cNvSpPr txBox="1"/>
          <p:nvPr/>
        </p:nvSpPr>
        <p:spPr>
          <a:xfrm>
            <a:off x="6965899" y="1812798"/>
            <a:ext cx="1858061"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partner</a:t>
            </a:r>
            <a:endParaRPr lang="en-US" sz="1300" dirty="0"/>
          </a:p>
        </p:txBody>
      </p:sp>
      <p:sp>
        <p:nvSpPr>
          <p:cNvPr id="22" name="iconBack_65"/>
          <p:cNvSpPr/>
          <p:nvPr/>
        </p:nvSpPr>
        <p:spPr>
          <a:xfrm>
            <a:off x="2788920" y="2217420"/>
            <a:ext cx="349758" cy="349758"/>
          </a:xfrm>
          <a:prstGeom prst="ellipse">
            <a:avLst/>
          </a:prstGeom>
          <a:solidFill>
            <a:srgbClr val="FFFFFF"/>
          </a:solidFill>
          <a:ln w="15875">
            <a:solidFill>
              <a:srgbClr val="111111"/>
            </a:solidFill>
            <a:prstDash val="solid"/>
          </a:ln>
        </p:spPr>
      </p:sp>
      <p:pic>
        <p:nvPicPr>
          <p:cNvPr id="23" name="icon_66" descr="gi:GiEngagementRing">    </p:cNvPr>
          <p:cNvPicPr>
            <a:picLocks noChangeAspect="1"/>
          </p:cNvPicPr>
          <p:nvPr/>
        </p:nvPicPr>
        <p:blipFill>
          <a:blip r:embed="rId5"/>
          <a:stretch>
            <a:fillRect/>
          </a:stretch>
        </p:blipFill>
        <p:spPr>
          <a:xfrm>
            <a:off x="2858872" y="2287372"/>
            <a:ext cx="209855" cy="209855"/>
          </a:xfrm>
          <a:prstGeom prst="rect">
            <a:avLst/>
          </a:prstGeom>
        </p:spPr>
      </p:pic>
      <p:sp>
        <p:nvSpPr>
          <p:cNvPr id="24" name="box_67"/>
          <p:cNvSpPr txBox="1"/>
          <p:nvPr/>
        </p:nvSpPr>
        <p:spPr>
          <a:xfrm>
            <a:off x="3193542" y="2217420"/>
            <a:ext cx="3699205" cy="34975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3  the person you're engaged to be married to</a:t>
            </a:r>
            <a:endParaRPr lang="en-US" sz="1200" dirty="0"/>
          </a:p>
        </p:txBody>
      </p:sp>
      <p:sp>
        <p:nvSpPr>
          <p:cNvPr id="25" name="R1_m2"/>
          <p:cNvSpPr txBox="1"/>
          <p:nvPr/>
        </p:nvSpPr>
        <p:spPr>
          <a:xfrm>
            <a:off x="6965899" y="2235708"/>
            <a:ext cx="1858061"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fiancé(e) /fiˈɒnseɪ/</a:t>
            </a:r>
            <a:endParaRPr lang="en-US" sz="1300" dirty="0"/>
          </a:p>
        </p:txBody>
      </p:sp>
      <p:sp>
        <p:nvSpPr>
          <p:cNvPr id="26" name="iconBack_68"/>
          <p:cNvSpPr/>
          <p:nvPr/>
        </p:nvSpPr>
        <p:spPr>
          <a:xfrm>
            <a:off x="2788920" y="2640330"/>
            <a:ext cx="349758" cy="349758"/>
          </a:xfrm>
          <a:prstGeom prst="ellipse">
            <a:avLst/>
          </a:prstGeom>
          <a:solidFill>
            <a:srgbClr val="FFFFFF"/>
          </a:solidFill>
          <a:ln w="15875">
            <a:solidFill>
              <a:srgbClr val="111111"/>
            </a:solidFill>
            <a:prstDash val="solid"/>
          </a:ln>
        </p:spPr>
      </p:sp>
      <p:pic>
        <p:nvPicPr>
          <p:cNvPr id="27" name="icon_69" descr="pi:PiHouseLine">    </p:cNvPr>
          <p:cNvPicPr>
            <a:picLocks noChangeAspect="1"/>
          </p:cNvPicPr>
          <p:nvPr/>
        </p:nvPicPr>
        <p:blipFill>
          <a:blip r:embed="rId6"/>
          <a:stretch>
            <a:fillRect/>
          </a:stretch>
        </p:blipFill>
        <p:spPr>
          <a:xfrm>
            <a:off x="2858872" y="2710282"/>
            <a:ext cx="209855" cy="209855"/>
          </a:xfrm>
          <a:prstGeom prst="rect">
            <a:avLst/>
          </a:prstGeom>
        </p:spPr>
      </p:pic>
      <p:sp>
        <p:nvSpPr>
          <p:cNvPr id="28" name="box_70"/>
          <p:cNvSpPr txBox="1"/>
          <p:nvPr/>
        </p:nvSpPr>
        <p:spPr>
          <a:xfrm>
            <a:off x="3193542" y="2640330"/>
            <a:ext cx="3699205" cy="34975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4  a person you share a flat with</a:t>
            </a:r>
            <a:endParaRPr lang="en-US" sz="1200" dirty="0"/>
          </a:p>
        </p:txBody>
      </p:sp>
      <p:sp>
        <p:nvSpPr>
          <p:cNvPr id="29" name="R1_m3"/>
          <p:cNvSpPr txBox="1"/>
          <p:nvPr/>
        </p:nvSpPr>
        <p:spPr>
          <a:xfrm>
            <a:off x="6965899" y="2658618"/>
            <a:ext cx="1858061"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flatmate</a:t>
            </a:r>
            <a:endParaRPr lang="en-US" sz="1300" dirty="0"/>
          </a:p>
        </p:txBody>
      </p:sp>
      <p:sp>
        <p:nvSpPr>
          <p:cNvPr id="30" name="iconBack_71"/>
          <p:cNvSpPr/>
          <p:nvPr/>
        </p:nvSpPr>
        <p:spPr>
          <a:xfrm>
            <a:off x="2788920" y="3063240"/>
            <a:ext cx="349758" cy="349758"/>
          </a:xfrm>
          <a:prstGeom prst="ellipse">
            <a:avLst/>
          </a:prstGeom>
          <a:solidFill>
            <a:srgbClr val="FFFFFF"/>
          </a:solidFill>
          <a:ln w="15875">
            <a:solidFill>
              <a:srgbClr val="111111"/>
            </a:solidFill>
            <a:prstDash val="solid"/>
          </a:ln>
        </p:spPr>
      </p:sp>
      <p:pic>
        <p:nvPicPr>
          <p:cNvPr id="31" name="icon_72" descr="pi:PiBuildings">    </p:cNvPr>
          <p:cNvPicPr>
            <a:picLocks noChangeAspect="1"/>
          </p:cNvPicPr>
          <p:nvPr/>
        </p:nvPicPr>
        <p:blipFill>
          <a:blip r:embed="rId7"/>
          <a:stretch>
            <a:fillRect/>
          </a:stretch>
        </p:blipFill>
        <p:spPr>
          <a:xfrm>
            <a:off x="2858872" y="3133192"/>
            <a:ext cx="209855" cy="209855"/>
          </a:xfrm>
          <a:prstGeom prst="rect">
            <a:avLst/>
          </a:prstGeom>
        </p:spPr>
      </p:pic>
      <p:sp>
        <p:nvSpPr>
          <p:cNvPr id="32" name="box_73"/>
          <p:cNvSpPr txBox="1"/>
          <p:nvPr/>
        </p:nvSpPr>
        <p:spPr>
          <a:xfrm>
            <a:off x="3193542" y="3063240"/>
            <a:ext cx="3699205" cy="349758"/>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5  a person you work with</a:t>
            </a:r>
            <a:endParaRPr lang="en-US" sz="1200" dirty="0"/>
          </a:p>
        </p:txBody>
      </p:sp>
      <p:sp>
        <p:nvSpPr>
          <p:cNvPr id="33" name="R1_m4"/>
          <p:cNvSpPr txBox="1"/>
          <p:nvPr/>
        </p:nvSpPr>
        <p:spPr>
          <a:xfrm>
            <a:off x="6965899" y="3081528"/>
            <a:ext cx="1858061"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colleague /ˈkɒliːɡ/</a:t>
            </a:r>
            <a:endParaRPr lang="en-US" sz="1300" dirty="0"/>
          </a:p>
        </p:txBody>
      </p:sp>
      <p:sp>
        <p:nvSpPr>
          <p:cNvPr id="34" name="iconBack_74"/>
          <p:cNvSpPr/>
          <p:nvPr/>
        </p:nvSpPr>
        <p:spPr>
          <a:xfrm>
            <a:off x="2788920" y="3486150"/>
            <a:ext cx="349758" cy="349758"/>
          </a:xfrm>
          <a:prstGeom prst="ellipse">
            <a:avLst/>
          </a:prstGeom>
          <a:solidFill>
            <a:srgbClr val="FFFFFF"/>
          </a:solidFill>
          <a:ln w="15875">
            <a:solidFill>
              <a:srgbClr val="111111"/>
            </a:solidFill>
            <a:prstDash val="solid"/>
          </a:ln>
        </p:spPr>
      </p:sp>
      <p:pic>
        <p:nvPicPr>
          <p:cNvPr id="35" name="icon_75" descr="pi:PiHeartBreak">    </p:cNvPr>
          <p:cNvPicPr>
            <a:picLocks noChangeAspect="1"/>
          </p:cNvPicPr>
          <p:nvPr/>
        </p:nvPicPr>
        <p:blipFill>
          <a:blip r:embed="rId8"/>
          <a:stretch>
            <a:fillRect/>
          </a:stretch>
        </p:blipFill>
        <p:spPr>
          <a:xfrm>
            <a:off x="2858872" y="3556102"/>
            <a:ext cx="209855" cy="209855"/>
          </a:xfrm>
          <a:prstGeom prst="rect">
            <a:avLst/>
          </a:prstGeom>
        </p:spPr>
      </p:pic>
      <p:sp>
        <p:nvSpPr>
          <p:cNvPr id="36" name="box_76"/>
          <p:cNvSpPr txBox="1"/>
          <p:nvPr/>
        </p:nvSpPr>
        <p:spPr>
          <a:xfrm>
            <a:off x="3193542" y="3486150"/>
            <a:ext cx="3699205" cy="349758"/>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6  a person you used to have a relationship with</a:t>
            </a:r>
            <a:endParaRPr lang="en-US" sz="1200" dirty="0"/>
          </a:p>
        </p:txBody>
      </p:sp>
      <p:sp>
        <p:nvSpPr>
          <p:cNvPr id="37" name="R1_m5"/>
          <p:cNvSpPr txBox="1"/>
          <p:nvPr/>
        </p:nvSpPr>
        <p:spPr>
          <a:xfrm>
            <a:off x="6965899" y="3504438"/>
            <a:ext cx="1858061"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ex</a:t>
            </a:r>
            <a:endParaRPr lang="en-US" sz="1300" dirty="0"/>
          </a:p>
        </p:txBody>
      </p:sp>
      <p:sp>
        <p:nvSpPr>
          <p:cNvPr id="38" name="iconBack_77"/>
          <p:cNvSpPr/>
          <p:nvPr/>
        </p:nvSpPr>
        <p:spPr>
          <a:xfrm>
            <a:off x="2788920" y="3909060"/>
            <a:ext cx="349758" cy="349758"/>
          </a:xfrm>
          <a:prstGeom prst="ellipse">
            <a:avLst/>
          </a:prstGeom>
          <a:solidFill>
            <a:srgbClr val="FFFFFF"/>
          </a:solidFill>
          <a:ln w="15875">
            <a:solidFill>
              <a:srgbClr val="111111"/>
            </a:solidFill>
            <a:prstDash val="solid"/>
          </a:ln>
        </p:spPr>
      </p:sp>
      <p:pic>
        <p:nvPicPr>
          <p:cNvPr id="39" name="icon_78" descr="pi:PiChatsCircle">    </p:cNvPr>
          <p:cNvPicPr>
            <a:picLocks noChangeAspect="1"/>
          </p:cNvPicPr>
          <p:nvPr/>
        </p:nvPicPr>
        <p:blipFill>
          <a:blip r:embed="rId9"/>
          <a:stretch>
            <a:fillRect/>
          </a:stretch>
        </p:blipFill>
        <p:spPr>
          <a:xfrm>
            <a:off x="2858872" y="3979012"/>
            <a:ext cx="209855" cy="209855"/>
          </a:xfrm>
          <a:prstGeom prst="rect">
            <a:avLst/>
          </a:prstGeom>
        </p:spPr>
      </p:pic>
      <p:sp>
        <p:nvSpPr>
          <p:cNvPr id="40" name="box_79"/>
          <p:cNvSpPr txBox="1"/>
          <p:nvPr/>
        </p:nvSpPr>
        <p:spPr>
          <a:xfrm>
            <a:off x="3193542" y="3909060"/>
            <a:ext cx="3699205" cy="34975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7  a very good friend you can talk to about anything</a:t>
            </a:r>
            <a:endParaRPr lang="en-US" sz="1150" dirty="0"/>
          </a:p>
        </p:txBody>
      </p:sp>
      <p:sp>
        <p:nvSpPr>
          <p:cNvPr id="41" name="R1_m6"/>
          <p:cNvSpPr txBox="1"/>
          <p:nvPr/>
        </p:nvSpPr>
        <p:spPr>
          <a:xfrm>
            <a:off x="6965899" y="3927348"/>
            <a:ext cx="1858061"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close friend</a:t>
            </a:r>
            <a:endParaRPr lang="en-US" sz="1300" dirty="0"/>
          </a:p>
        </p:txBody>
      </p:sp>
      <p:sp>
        <p:nvSpPr>
          <p:cNvPr id="42" name="iconBack_80"/>
          <p:cNvSpPr/>
          <p:nvPr/>
        </p:nvSpPr>
        <p:spPr>
          <a:xfrm>
            <a:off x="2788920" y="4331970"/>
            <a:ext cx="349758" cy="349758"/>
          </a:xfrm>
          <a:prstGeom prst="ellipse">
            <a:avLst/>
          </a:prstGeom>
          <a:solidFill>
            <a:srgbClr val="FFFFFF"/>
          </a:solidFill>
          <a:ln w="15875">
            <a:solidFill>
              <a:srgbClr val="111111"/>
            </a:solidFill>
            <a:prstDash val="solid"/>
          </a:ln>
        </p:spPr>
      </p:sp>
      <p:pic>
        <p:nvPicPr>
          <p:cNvPr id="43" name="icon_81" descr="pi:PiChalkboardTeacher">    </p:cNvPr>
          <p:cNvPicPr>
            <a:picLocks noChangeAspect="1"/>
          </p:cNvPicPr>
          <p:nvPr/>
        </p:nvPicPr>
        <p:blipFill>
          <a:blip r:embed="rId10"/>
          <a:stretch>
            <a:fillRect/>
          </a:stretch>
        </p:blipFill>
        <p:spPr>
          <a:xfrm>
            <a:off x="2858872" y="4401922"/>
            <a:ext cx="209855" cy="209855"/>
          </a:xfrm>
          <a:prstGeom prst="rect">
            <a:avLst/>
          </a:prstGeom>
        </p:spPr>
      </p:pic>
      <p:sp>
        <p:nvSpPr>
          <p:cNvPr id="44" name="box_82"/>
          <p:cNvSpPr txBox="1"/>
          <p:nvPr/>
        </p:nvSpPr>
        <p:spPr>
          <a:xfrm>
            <a:off x="3193542" y="4331970"/>
            <a:ext cx="3699205" cy="34975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8  a person in the same class as you</a:t>
            </a:r>
            <a:endParaRPr lang="en-US" sz="1200" dirty="0"/>
          </a:p>
        </p:txBody>
      </p:sp>
      <p:sp>
        <p:nvSpPr>
          <p:cNvPr id="45" name="R1_m7"/>
          <p:cNvSpPr txBox="1"/>
          <p:nvPr/>
        </p:nvSpPr>
        <p:spPr>
          <a:xfrm>
            <a:off x="6965899" y="4350258"/>
            <a:ext cx="1858061"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classmate</a:t>
            </a:r>
            <a:endParaRPr lang="en-US" sz="1300" dirty="0"/>
          </a:p>
        </p:txBody>
      </p:sp>
      <p:sp>
        <p:nvSpPr>
          <p:cNvPr id="46" name="pageTag_83"/>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p.52 · 4a · Vocabulary Bank Relationships p.158 · 1 People · audio 5.20</a:t>
            </a:r>
            <a:endParaRPr lang="en-US" sz="1050" dirty="0"/>
          </a:p>
        </p:txBody>
      </p:sp>
      <p:sp>
        <p:nvSpPr>
          <p:cNvPr id="47" name="pframe_84"/>
          <p:cNvSpPr/>
          <p:nvPr/>
        </p:nvSpPr>
        <p:spPr>
          <a:xfrm rot="-120000">
            <a:off x="548640" y="3154680"/>
            <a:ext cx="1600200" cy="1472184"/>
          </a:xfrm>
          <a:prstGeom prst="rect">
            <a:avLst/>
          </a:prstGeom>
          <a:solidFill>
            <a:srgbClr val="FFFFFF"/>
          </a:solidFill>
          <a:ln w="19050">
            <a:solidFill>
              <a:srgbClr val="111111"/>
            </a:solidFill>
            <a:prstDash val="solid"/>
          </a:ln>
          <a:effectLst>
            <a:outerShdw sx="100000" sy="100000" kx="0" ky="0" algn="bl" rotWithShape="0" blurRad="101600" dist="38100" dir="2700000">
              <a:srgbClr val="000000">
                <a:alpha val="35000"/>
              </a:srgbClr>
            </a:outerShdw>
          </a:effectLst>
        </p:spPr>
      </p:sp>
      <p:pic>
        <p:nvPicPr>
          <p:cNvPr id="48" name="pimg_85" descr="picture">    </p:cNvPr>
          <p:cNvPicPr>
            <a:picLocks noChangeAspect="1"/>
          </p:cNvPicPr>
          <p:nvPr/>
        </p:nvPicPr>
        <p:blipFill>
          <a:blip r:embed="rId11"/>
          <a:srcRect l="0" r="0" t="0" b="0"/>
          <a:stretch/>
        </p:blipFill>
        <p:spPr>
          <a:xfrm rot="-120000">
            <a:off x="621792" y="3227832"/>
            <a:ext cx="1453896" cy="1252728"/>
          </a:xfrm>
          <a:prstGeom prst="rect">
            <a:avLst/>
          </a:prstGeom>
        </p:spPr>
      </p:pic>
      <p:pic>
        <p:nvPicPr>
          <p:cNvPr id="49" name="Media 0">
            <a:hlinkClick r:id="" action="ppaction://media"/>
          </p:cNvPr>
          <p:cNvPicPr>
            <a:picLocks noChangeAspect="1"/>
          </p:cNvPicPr>
          <p:nvPr>
            <a:audioFile r:link="rId12"/>
            <p:extLst>
              <p:ext uri="{DAA4B4D4-6D71-4841-9C94-3DE7FCFB9230}">
                <p14:media xmlns:p14="http://schemas.microsoft.com/office/powerpoint/2010/main" r:embed="rId13"/>
              </p:ext>
            </p:extLst>
          </p:nvPr>
        </p:nvPicPr>
        <p:blipFill>
          <a:blip r:embed="rId14"/>
          <a:stretch>
            <a:fillRect/>
          </a:stretch>
        </p:blipFill>
        <p:spPr>
          <a:xfrm>
            <a:off x="5166360" y="155448"/>
            <a:ext cx="384048" cy="384048"/>
          </a:xfrm>
          <a:prstGeom prst="rect">
            <a:avLst/>
          </a:prstGeom>
        </p:spPr>
      </p:pic>
      <p:sp>
        <p:nvSpPr>
          <p:cNvPr id="50" name="atr_86"/>
          <p:cNvSpPr txBox="1"/>
          <p:nvPr/>
        </p:nvSpPr>
        <p:spPr>
          <a:xfrm>
            <a:off x="5120640"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5.20</a:t>
            </a:r>
            <a:endParaRPr lang="en-US" sz="8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par>
                                <p:cTn id="11" presetID="10"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400"/>
                                        <p:tgtEl>
                                          <p:spTgt spid="25"/>
                                        </p:tgtEl>
                                      </p:cBhvr>
                                    </p:animEffect>
                                  </p:childTnLst>
                                </p:cTn>
                              </p:par>
                              <p:par>
                                <p:cTn id="14" presetID="10" presetClass="entr" presetSubtype="0" fill="hold"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400"/>
                                        <p:tgtEl>
                                          <p:spTgt spid="29"/>
                                        </p:tgtEl>
                                      </p:cBhvr>
                                    </p:animEffect>
                                  </p:childTnLst>
                                </p:cTn>
                              </p:par>
                              <p:par>
                                <p:cTn id="17" presetID="10" presetClass="entr" presetSubtype="0" fill="hold" nodeType="with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fade">
                                      <p:cBhvr>
                                        <p:cTn id="19" dur="400"/>
                                        <p:tgtEl>
                                          <p:spTgt spid="33"/>
                                        </p:tgtEl>
                                      </p:cBhvr>
                                    </p:animEffect>
                                  </p:childTnLst>
                                </p:cTn>
                              </p:par>
                              <p:par>
                                <p:cTn id="20" presetID="10" presetClass="entr" presetSubtype="0" fill="hold" nodeType="with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400"/>
                                        <p:tgtEl>
                                          <p:spTgt spid="37"/>
                                        </p:tgtEl>
                                      </p:cBhvr>
                                    </p:animEffect>
                                  </p:childTnLst>
                                </p:cTn>
                              </p:par>
                              <p:par>
                                <p:cTn id="23" presetID="10" presetClass="entr" presetSubtype="0" fill="hold" nodeType="with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fade">
                                      <p:cBhvr>
                                        <p:cTn id="25" dur="400"/>
                                        <p:tgtEl>
                                          <p:spTgt spid="41"/>
                                        </p:tgtEl>
                                      </p:cBhvr>
                                    </p:animEffect>
                                  </p:childTnLst>
                                </p:cTn>
                              </p:par>
                              <p:par>
                                <p:cTn id="26" presetID="10" presetClass="entr" presetSubtype="0" fill="hold" nodeType="withEffect">
                                  <p:stCondLst>
                                    <p:cond delay="0"/>
                                  </p:stCondLst>
                                  <p:childTnLst>
                                    <p:set>
                                      <p:cBhvr>
                                        <p:cTn id="27" dur="1" fill="hold">
                                          <p:stCondLst>
                                            <p:cond delay="0"/>
                                          </p:stCondLst>
                                        </p:cTn>
                                        <p:tgtEl>
                                          <p:spTgt spid="45"/>
                                        </p:tgtEl>
                                        <p:attrNameLst>
                                          <p:attrName>style.visibility</p:attrName>
                                        </p:attrNameLst>
                                      </p:cBhvr>
                                      <p:to>
                                        <p:strVal val="visible"/>
                                      </p:to>
                                    </p:set>
                                    <p:animEffect transition="in" filter="fade">
                                      <p:cBhvr>
                                        <p:cTn id="28"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9" restart="whenNotActive" fill="hold" evtFilter="cancelBubble" nodeType="interactiveSeq">
                <p:stCondLst>
                  <p:cond evt="onClick" delay="0">
                    <p:tgtEl>
                      <p:spTgt spid="49"/>
                    </p:tgtEl>
                  </p:cond>
                </p:stCondLst>
                <p:endSync evt="end" delay="0">
                  <p:rtn val="all"/>
                </p:endSync>
                <p:childTnLst>
                  <p:par>
                    <p:cTn id="30" fill="hold">
                      <p:stCondLst>
                        <p:cond delay="0"/>
                      </p:stCondLst>
                      <p:childTnLst>
                        <p:par>
                          <p:cTn id="31" fill="hold">
                            <p:stCondLst>
                              <p:cond delay="0"/>
                            </p:stCondLst>
                            <p:childTnLst>
                              <p:par>
                                <p:cTn id="32" presetID="2" presetClass="mediacall" presetSubtype="0" fill="hold" nodeType="clickEffect">
                                  <p:stCondLst>
                                    <p:cond delay="0"/>
                                  </p:stCondLst>
                                  <p:childTnLst>
                                    <p:cmd type="call" cmd="togglePause">
                                      <p:cBhvr>
                                        <p:cTn id="33" dur="1" fill="hold"/>
                                        <p:tgtEl>
                                          <p:spTgt spid="49"/>
                                        </p:tgtEl>
                                      </p:cBhvr>
                                    </p:cmd>
                                  </p:childTnLst>
                                </p:cTn>
                              </p:par>
                            </p:childTnLst>
                          </p:cTn>
                        </p:par>
                      </p:childTnLst>
                    </p:cTn>
                  </p:par>
                </p:childTnLst>
              </p:cTn>
              <p:nextCondLst>
                <p:cond evt="onClick" delay="0">
                  <p:tgtEl>
                    <p:spTgt spid="49"/>
                  </p:tgtEl>
                </p:cond>
              </p:nextCondLst>
            </p:seq>
            <p:audio>
              <p:cMediaNode vol="80000">
                <p:cTn id="34" fill="hold" display="0">
                  <p:stCondLst>
                    <p:cond delay="indefinite"/>
                  </p:stCondLst>
                  <p:endCondLst>
                    <p:cond evt="onStopAudio" delay="0">
                      <p:tgtEl>
                        <p:sldTgt/>
                      </p:tgtEl>
                    </p:cond>
                  </p:endCondLst>
                </p:cTn>
                <p:tgtEl>
                  <p:spTgt spid="49"/>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87"/>
          <p:cNvSpPr/>
          <p:nvPr/>
        </p:nvSpPr>
        <p:spPr>
          <a:xfrm>
            <a:off x="54864" y="54864"/>
            <a:ext cx="9034272" cy="5033772"/>
          </a:xfrm>
          <a:prstGeom prst="rect">
            <a:avLst/>
          </a:prstGeom>
          <a:ln w="114300">
            <a:solidFill>
              <a:srgbClr val="A8E6B4"/>
            </a:solidFill>
            <a:prstDash val="solid"/>
          </a:ln>
        </p:spPr>
      </p:sp>
      <p:pic>
        <p:nvPicPr>
          <p:cNvPr id="4" name="logo_8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8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VOCABULARY · Verb phrases · audio 5.21</a:t>
            </a:r>
            <a:endParaRPr lang="en-US" sz="900" dirty="0"/>
          </a:p>
        </p:txBody>
      </p:sp>
      <p:sp>
        <p:nvSpPr>
          <p:cNvPr id="6" name="timer_90"/>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7 min</a:t>
            </a:r>
            <a:endParaRPr lang="en-US" sz="1200" dirty="0"/>
          </a:p>
        </p:txBody>
      </p:sp>
      <p:sp>
        <p:nvSpPr>
          <p:cNvPr id="7" name="footer_91"/>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5B · Part 2</a:t>
            </a:r>
            <a:endParaRPr lang="en-US" sz="1000" dirty="0"/>
          </a:p>
        </p:txBody>
      </p:sp>
      <p:sp>
        <p:nvSpPr>
          <p:cNvPr id="8" name="title_92"/>
          <p:cNvSpPr txBox="1"/>
          <p:nvPr/>
        </p:nvSpPr>
        <p:spPr>
          <a:xfrm rot="90000">
            <a:off x="320040" y="676656"/>
            <a:ext cx="2587752"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Mark's story</a:t>
            </a:r>
            <a:endParaRPr lang="en-US" sz="1500" dirty="0"/>
          </a:p>
        </p:txBody>
      </p:sp>
      <p:sp>
        <p:nvSpPr>
          <p:cNvPr id="9" name="tape_93"/>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94"/>
          <p:cNvSpPr/>
          <p:nvPr/>
        </p:nvSpPr>
        <p:spPr>
          <a:xfrm rot="-720000">
            <a:off x="2340864" y="1069848"/>
            <a:ext cx="685800" cy="219456"/>
          </a:xfrm>
          <a:prstGeom prst="rect">
            <a:avLst/>
          </a:prstGeom>
          <a:solidFill>
            <a:srgbClr val="FFD84D">
              <a:alpha val="75000"/>
            </a:srgbClr>
          </a:solidFill>
          <a:ln w="6350">
            <a:solidFill>
              <a:srgbClr val="FFD84D"/>
            </a:solidFill>
            <a:prstDash val="solid"/>
          </a:ln>
        </p:spPr>
      </p:sp>
      <p:sp>
        <p:nvSpPr>
          <p:cNvPr id="11" name="post_95"/>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96"/>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3" name="signB_97"/>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Complete the story with the verb phrases in the past.</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Completa la storia con le espressioni al passato.</a:t>
            </a:r>
            <a:endParaRPr lang="en-US" sz="1250" dirty="0"/>
          </a:p>
        </p:txBody>
      </p:sp>
      <p:sp>
        <p:nvSpPr>
          <p:cNvPr id="14" name="box_98"/>
          <p:cNvSpPr txBox="1"/>
          <p:nvPr/>
        </p:nvSpPr>
        <p:spPr>
          <a:xfrm>
            <a:off x="2788920" y="1371600"/>
            <a:ext cx="2126529" cy="55595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1  I ___ Mark when I was studying at York University.</a:t>
            </a:r>
            <a:endParaRPr lang="en-US" sz="1100" dirty="0"/>
          </a:p>
        </p:txBody>
      </p:sp>
      <p:sp>
        <p:nvSpPr>
          <p:cNvPr id="15" name="R1_a0"/>
          <p:cNvSpPr txBox="1"/>
          <p:nvPr/>
        </p:nvSpPr>
        <p:spPr>
          <a:xfrm>
            <a:off x="4970313" y="1408176"/>
            <a:ext cx="772119"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met</a:t>
            </a:r>
            <a:endParaRPr lang="en-US" sz="1100" dirty="0"/>
          </a:p>
        </p:txBody>
      </p:sp>
      <p:sp>
        <p:nvSpPr>
          <p:cNvPr id="16" name="box_99"/>
          <p:cNvSpPr txBox="1"/>
          <p:nvPr/>
        </p:nvSpPr>
        <p:spPr>
          <a:xfrm>
            <a:off x="5870448" y="1371600"/>
            <a:ext cx="2126529" cy="555955"/>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2  We ___ each other quickly – same classes.</a:t>
            </a:r>
            <a:endParaRPr lang="en-US" sz="1100" dirty="0"/>
          </a:p>
        </p:txBody>
      </p:sp>
      <p:sp>
        <p:nvSpPr>
          <p:cNvPr id="17" name="R1_a1"/>
          <p:cNvSpPr txBox="1"/>
          <p:nvPr/>
        </p:nvSpPr>
        <p:spPr>
          <a:xfrm>
            <a:off x="8051841" y="1408176"/>
            <a:ext cx="772119"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got to know</a:t>
            </a:r>
            <a:endParaRPr lang="en-US" sz="1100" dirty="0"/>
          </a:p>
        </p:txBody>
      </p:sp>
      <p:sp>
        <p:nvSpPr>
          <p:cNvPr id="18" name="box_100"/>
          <p:cNvSpPr txBox="1"/>
          <p:nvPr/>
        </p:nvSpPr>
        <p:spPr>
          <a:xfrm>
            <a:off x="2788920" y="2055571"/>
            <a:ext cx="2126529" cy="555955"/>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3  We soon ___ friends – we both liked art and music.</a:t>
            </a:r>
            <a:endParaRPr lang="en-US" sz="1100" dirty="0"/>
          </a:p>
        </p:txBody>
      </p:sp>
      <p:sp>
        <p:nvSpPr>
          <p:cNvPr id="19" name="R1_a2"/>
          <p:cNvSpPr txBox="1"/>
          <p:nvPr/>
        </p:nvSpPr>
        <p:spPr>
          <a:xfrm>
            <a:off x="4970313" y="2092147"/>
            <a:ext cx="772119"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became</a:t>
            </a:r>
            <a:endParaRPr lang="en-US" sz="1100" dirty="0"/>
          </a:p>
        </p:txBody>
      </p:sp>
      <p:sp>
        <p:nvSpPr>
          <p:cNvPr id="20" name="box_101"/>
          <p:cNvSpPr txBox="1"/>
          <p:nvPr/>
        </p:nvSpPr>
        <p:spPr>
          <a:xfrm>
            <a:off x="5870448" y="2055571"/>
            <a:ext cx="2126529" cy="555955"/>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4  We went out together and ___ in love.</a:t>
            </a:r>
            <a:endParaRPr lang="en-US" sz="1100" dirty="0"/>
          </a:p>
        </p:txBody>
      </p:sp>
      <p:sp>
        <p:nvSpPr>
          <p:cNvPr id="21" name="R1_a3"/>
          <p:cNvSpPr txBox="1"/>
          <p:nvPr/>
        </p:nvSpPr>
        <p:spPr>
          <a:xfrm>
            <a:off x="8051841" y="2092147"/>
            <a:ext cx="772119"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fell</a:t>
            </a:r>
            <a:endParaRPr lang="en-US" sz="1100" dirty="0"/>
          </a:p>
        </p:txBody>
      </p:sp>
      <p:sp>
        <p:nvSpPr>
          <p:cNvPr id="22" name="box_102"/>
          <p:cNvSpPr txBox="1"/>
          <p:nvPr/>
        </p:nvSpPr>
        <p:spPr>
          <a:xfrm>
            <a:off x="2788920" y="2739542"/>
            <a:ext cx="2126529" cy="555955"/>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5  We argued a lot and in our last term we ___ .</a:t>
            </a:r>
            <a:endParaRPr lang="en-US" sz="1100" dirty="0"/>
          </a:p>
        </p:txBody>
      </p:sp>
      <p:sp>
        <p:nvSpPr>
          <p:cNvPr id="23" name="R1_a4"/>
          <p:cNvSpPr txBox="1"/>
          <p:nvPr/>
        </p:nvSpPr>
        <p:spPr>
          <a:xfrm>
            <a:off x="4970313" y="2776118"/>
            <a:ext cx="772119"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broke up</a:t>
            </a:r>
            <a:endParaRPr lang="en-US" sz="1100" dirty="0"/>
          </a:p>
        </p:txBody>
      </p:sp>
      <p:sp>
        <p:nvSpPr>
          <p:cNvPr id="24" name="box_103"/>
          <p:cNvSpPr txBox="1"/>
          <p:nvPr/>
        </p:nvSpPr>
        <p:spPr>
          <a:xfrm>
            <a:off x="5870448" y="2739542"/>
            <a:ext cx="2126529" cy="555955"/>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6  I moved to London, he stayed in York: we ___ touch.</a:t>
            </a:r>
            <a:endParaRPr lang="en-US" sz="1100" dirty="0"/>
          </a:p>
        </p:txBody>
      </p:sp>
      <p:sp>
        <p:nvSpPr>
          <p:cNvPr id="25" name="R1_a5"/>
          <p:cNvSpPr txBox="1"/>
          <p:nvPr/>
        </p:nvSpPr>
        <p:spPr>
          <a:xfrm>
            <a:off x="8051841" y="2776118"/>
            <a:ext cx="772119"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lost</a:t>
            </a:r>
            <a:endParaRPr lang="en-US" sz="1100" dirty="0"/>
          </a:p>
        </p:txBody>
      </p:sp>
      <p:sp>
        <p:nvSpPr>
          <p:cNvPr id="26" name="box_104"/>
          <p:cNvSpPr txBox="1"/>
          <p:nvPr/>
        </p:nvSpPr>
        <p:spPr>
          <a:xfrm>
            <a:off x="2788920" y="3423514"/>
            <a:ext cx="2126529" cy="55595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7  Five years later we ___ in touch again on Facebook.</a:t>
            </a:r>
            <a:endParaRPr lang="en-US" sz="1100" dirty="0"/>
          </a:p>
        </p:txBody>
      </p:sp>
      <p:sp>
        <p:nvSpPr>
          <p:cNvPr id="27" name="R1_a6"/>
          <p:cNvSpPr txBox="1"/>
          <p:nvPr/>
        </p:nvSpPr>
        <p:spPr>
          <a:xfrm>
            <a:off x="4970313" y="3460090"/>
            <a:ext cx="772119"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got</a:t>
            </a:r>
            <a:endParaRPr lang="en-US" sz="1100" dirty="0"/>
          </a:p>
        </p:txBody>
      </p:sp>
      <p:sp>
        <p:nvSpPr>
          <p:cNvPr id="28" name="box_105"/>
          <p:cNvSpPr txBox="1"/>
          <p:nvPr/>
        </p:nvSpPr>
        <p:spPr>
          <a:xfrm>
            <a:off x="5870448" y="3423514"/>
            <a:ext cx="2126529" cy="555955"/>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8  This time we ___ better than before.</a:t>
            </a:r>
            <a:endParaRPr lang="en-US" sz="1100" dirty="0"/>
          </a:p>
        </p:txBody>
      </p:sp>
      <p:sp>
        <p:nvSpPr>
          <p:cNvPr id="29" name="R1_a7"/>
          <p:cNvSpPr txBox="1"/>
          <p:nvPr/>
        </p:nvSpPr>
        <p:spPr>
          <a:xfrm>
            <a:off x="8051841" y="3460090"/>
            <a:ext cx="772119"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got on</a:t>
            </a:r>
            <a:endParaRPr lang="en-US" sz="1100" dirty="0"/>
          </a:p>
        </p:txBody>
      </p:sp>
      <p:sp>
        <p:nvSpPr>
          <p:cNvPr id="30" name="box_106"/>
          <p:cNvSpPr txBox="1"/>
          <p:nvPr/>
        </p:nvSpPr>
        <p:spPr>
          <a:xfrm>
            <a:off x="2788920" y="4107485"/>
            <a:ext cx="2126529" cy="555955"/>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9  After two months Mark ___ and I accepted.</a:t>
            </a:r>
            <a:endParaRPr lang="en-US" sz="1100" dirty="0"/>
          </a:p>
        </p:txBody>
      </p:sp>
      <p:sp>
        <p:nvSpPr>
          <p:cNvPr id="31" name="R1_a8"/>
          <p:cNvSpPr txBox="1"/>
          <p:nvPr/>
        </p:nvSpPr>
        <p:spPr>
          <a:xfrm>
            <a:off x="4970313" y="4144061"/>
            <a:ext cx="772119"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proposed</a:t>
            </a:r>
            <a:endParaRPr lang="en-US" sz="1100" dirty="0"/>
          </a:p>
        </p:txBody>
      </p:sp>
      <p:sp>
        <p:nvSpPr>
          <p:cNvPr id="32" name="box_107"/>
          <p:cNvSpPr txBox="1"/>
          <p:nvPr/>
        </p:nvSpPr>
        <p:spPr>
          <a:xfrm>
            <a:off x="5870448" y="4107485"/>
            <a:ext cx="2126529" cy="555955"/>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10  We ___ married last summer!</a:t>
            </a:r>
            <a:endParaRPr lang="en-US" sz="1100" dirty="0"/>
          </a:p>
        </p:txBody>
      </p:sp>
      <p:sp>
        <p:nvSpPr>
          <p:cNvPr id="33" name="R1_a9"/>
          <p:cNvSpPr txBox="1"/>
          <p:nvPr/>
        </p:nvSpPr>
        <p:spPr>
          <a:xfrm>
            <a:off x="8051841" y="4144061"/>
            <a:ext cx="772119"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got</a:t>
            </a:r>
            <a:endParaRPr lang="en-US" sz="1100" dirty="0"/>
          </a:p>
        </p:txBody>
      </p:sp>
      <p:sp>
        <p:nvSpPr>
          <p:cNvPr id="34" name="pageTag_108"/>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Vocabulary Bank Relationships p.158 · 2 Verb phrases · audio 5.21</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400"/>
                                        <p:tgtEl>
                                          <p:spTgt spid="19"/>
                                        </p:tgtEl>
                                      </p:cBhvr>
                                    </p:animEffect>
                                  </p:childTnLst>
                                </p:cTn>
                              </p:par>
                              <p:par>
                                <p:cTn id="14" presetID="10" presetClass="entr" presetSubtype="0"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400"/>
                                        <p:tgtEl>
                                          <p:spTgt spid="21"/>
                                        </p:tgtEl>
                                      </p:cBhvr>
                                    </p:animEffect>
                                  </p:childTnLst>
                                </p:cTn>
                              </p:par>
                              <p:par>
                                <p:cTn id="17" presetID="10"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par>
                                <p:cTn id="20" presetID="10" presetClass="entr" presetSubtype="0" fill="hold"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par>
                                <p:cTn id="23" presetID="10" presetClass="entr" presetSubtype="0"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400"/>
                                        <p:tgtEl>
                                          <p:spTgt spid="27"/>
                                        </p:tgtEl>
                                      </p:cBhvr>
                                    </p:animEffect>
                                  </p:childTnLst>
                                </p:cTn>
                              </p:par>
                              <p:par>
                                <p:cTn id="26" presetID="10" presetClass="entr" presetSubtype="0" fill="hold"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400"/>
                                        <p:tgtEl>
                                          <p:spTgt spid="29"/>
                                        </p:tgtEl>
                                      </p:cBhvr>
                                    </p:animEffect>
                                  </p:childTnLst>
                                </p:cTn>
                              </p:par>
                              <p:par>
                                <p:cTn id="29" presetID="10" presetClass="entr" presetSubtype="0" fill="hold" nodeType="with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fade">
                                      <p:cBhvr>
                                        <p:cTn id="31" dur="400"/>
                                        <p:tgtEl>
                                          <p:spTgt spid="31"/>
                                        </p:tgtEl>
                                      </p:cBhvr>
                                    </p:animEffect>
                                  </p:childTnLst>
                                </p:cTn>
                              </p:par>
                              <p:par>
                                <p:cTn id="32" presetID="10" presetClass="entr" presetSubtype="0" fill="hold" nodeType="with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fade">
                                      <p:cBhvr>
                                        <p:cTn id="34"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09"/>
          <p:cNvSpPr/>
          <p:nvPr/>
        </p:nvSpPr>
        <p:spPr>
          <a:xfrm>
            <a:off x="54864" y="54864"/>
            <a:ext cx="9034272" cy="5033772"/>
          </a:xfrm>
          <a:prstGeom prst="rect">
            <a:avLst/>
          </a:prstGeom>
          <a:ln w="114300">
            <a:solidFill>
              <a:srgbClr val="A8E6B4"/>
            </a:solidFill>
            <a:prstDash val="solid"/>
          </a:ln>
        </p:spPr>
      </p:sp>
      <p:pic>
        <p:nvPicPr>
          <p:cNvPr id="4" name="logo_110"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11"/>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SPEAKING · A close friend</a:t>
            </a:r>
            <a:endParaRPr lang="en-US" sz="900" dirty="0"/>
          </a:p>
        </p:txBody>
      </p:sp>
      <p:sp>
        <p:nvSpPr>
          <p:cNvPr id="6" name="timer_112"/>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11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5B · Part 2</a:t>
            </a:r>
            <a:endParaRPr lang="en-US" sz="1000" dirty="0"/>
          </a:p>
        </p:txBody>
      </p:sp>
      <p:sp>
        <p:nvSpPr>
          <p:cNvPr id="8" name="title_114"/>
          <p:cNvSpPr txBox="1"/>
          <p:nvPr/>
        </p:nvSpPr>
        <p:spPr>
          <a:xfrm rot="90000">
            <a:off x="320040" y="676656"/>
            <a:ext cx="4846320"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Tell me about your friend</a:t>
            </a:r>
            <a:endParaRPr lang="en-US" sz="1500" dirty="0"/>
          </a:p>
        </p:txBody>
      </p:sp>
      <p:sp>
        <p:nvSpPr>
          <p:cNvPr id="9" name="tape_115"/>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116"/>
          <p:cNvSpPr/>
          <p:nvPr/>
        </p:nvSpPr>
        <p:spPr>
          <a:xfrm rot="-720000">
            <a:off x="4599432" y="1069848"/>
            <a:ext cx="685800" cy="219456"/>
          </a:xfrm>
          <a:prstGeom prst="rect">
            <a:avLst/>
          </a:prstGeom>
          <a:solidFill>
            <a:srgbClr val="FFD84D">
              <a:alpha val="75000"/>
            </a:srgbClr>
          </a:solidFill>
          <a:ln w="6350">
            <a:solidFill>
              <a:srgbClr val="FFD84D"/>
            </a:solidFill>
            <a:prstDash val="solid"/>
          </a:ln>
        </p:spPr>
      </p:sp>
      <p:sp>
        <p:nvSpPr>
          <p:cNvPr id="11" name="post_117"/>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118"/>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3" name="signB_119"/>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Think of a close friend. Your partner asks the questions.</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Pensa a un amico intimo. Il compagno ti fa le domande.</a:t>
            </a:r>
            <a:endParaRPr lang="en-US" sz="1250" dirty="0"/>
          </a:p>
        </p:txBody>
      </p:sp>
      <p:sp>
        <p:nvSpPr>
          <p:cNvPr id="14" name="box_120"/>
          <p:cNvSpPr txBox="1"/>
          <p:nvPr/>
        </p:nvSpPr>
        <p:spPr>
          <a:xfrm>
            <a:off x="2788920" y="1371600"/>
            <a:ext cx="2953512" cy="55595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1  How long have you known him / her?</a:t>
            </a:r>
            <a:endParaRPr lang="en-US" sz="1250" dirty="0"/>
          </a:p>
        </p:txBody>
      </p:sp>
      <p:sp>
        <p:nvSpPr>
          <p:cNvPr id="15" name="box_121"/>
          <p:cNvSpPr txBox="1"/>
          <p:nvPr/>
        </p:nvSpPr>
        <p:spPr>
          <a:xfrm>
            <a:off x="5870448" y="1371600"/>
            <a:ext cx="2953512" cy="555955"/>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2  Where did you meet?</a:t>
            </a:r>
            <a:endParaRPr lang="en-US" sz="1250" dirty="0"/>
          </a:p>
        </p:txBody>
      </p:sp>
      <p:sp>
        <p:nvSpPr>
          <p:cNvPr id="16" name="box_122"/>
          <p:cNvSpPr txBox="1"/>
          <p:nvPr/>
        </p:nvSpPr>
        <p:spPr>
          <a:xfrm>
            <a:off x="2788920" y="2055571"/>
            <a:ext cx="2953512" cy="555955"/>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3  Why do you get on well?</a:t>
            </a:r>
            <a:endParaRPr lang="en-US" sz="1250" dirty="0"/>
          </a:p>
        </p:txBody>
      </p:sp>
      <p:sp>
        <p:nvSpPr>
          <p:cNvPr id="17" name="box_123"/>
          <p:cNvSpPr txBox="1"/>
          <p:nvPr/>
        </p:nvSpPr>
        <p:spPr>
          <a:xfrm>
            <a:off x="5870448" y="2055571"/>
            <a:ext cx="2953512" cy="555955"/>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4  What do you have in common?</a:t>
            </a:r>
            <a:endParaRPr lang="en-US" sz="1250" dirty="0"/>
          </a:p>
        </p:txBody>
      </p:sp>
      <p:sp>
        <p:nvSpPr>
          <p:cNvPr id="18" name="box_124"/>
          <p:cNvSpPr txBox="1"/>
          <p:nvPr/>
        </p:nvSpPr>
        <p:spPr>
          <a:xfrm>
            <a:off x="2788920" y="2739542"/>
            <a:ext cx="2953512" cy="555955"/>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5  Do you ever argue? What about?</a:t>
            </a:r>
            <a:endParaRPr lang="en-US" sz="1250" dirty="0"/>
          </a:p>
        </p:txBody>
      </p:sp>
      <p:sp>
        <p:nvSpPr>
          <p:cNvPr id="19" name="box_125"/>
          <p:cNvSpPr txBox="1"/>
          <p:nvPr/>
        </p:nvSpPr>
        <p:spPr>
          <a:xfrm>
            <a:off x="5870448" y="2739542"/>
            <a:ext cx="2953512" cy="555955"/>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6  How often do you see each other?</a:t>
            </a:r>
            <a:endParaRPr lang="en-US" sz="1250" dirty="0"/>
          </a:p>
        </p:txBody>
      </p:sp>
      <p:sp>
        <p:nvSpPr>
          <p:cNvPr id="20" name="box_126"/>
          <p:cNvSpPr txBox="1"/>
          <p:nvPr/>
        </p:nvSpPr>
        <p:spPr>
          <a:xfrm>
            <a:off x="2788920" y="3423514"/>
            <a:ext cx="2953512" cy="55595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7  How do you keep in touch?</a:t>
            </a:r>
            <a:endParaRPr lang="en-US" sz="1250" dirty="0"/>
          </a:p>
        </p:txBody>
      </p:sp>
      <p:sp>
        <p:nvSpPr>
          <p:cNvPr id="21" name="box_127"/>
          <p:cNvSpPr txBox="1"/>
          <p:nvPr/>
        </p:nvSpPr>
        <p:spPr>
          <a:xfrm>
            <a:off x="5870448" y="3423514"/>
            <a:ext cx="2953512" cy="555955"/>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8  Have you ever lost touch? Why? When?</a:t>
            </a:r>
            <a:endParaRPr lang="en-US" sz="1250" dirty="0"/>
          </a:p>
        </p:txBody>
      </p:sp>
      <p:sp>
        <p:nvSpPr>
          <p:cNvPr id="22" name="box_128"/>
          <p:cNvSpPr txBox="1"/>
          <p:nvPr/>
        </p:nvSpPr>
        <p:spPr>
          <a:xfrm>
            <a:off x="2788920" y="4107485"/>
            <a:ext cx="2953512" cy="555955"/>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9  Do you think you'll stay friends?</a:t>
            </a:r>
            <a:endParaRPr lang="en-US" sz="1250" dirty="0"/>
          </a:p>
        </p:txBody>
      </p:sp>
      <p:sp>
        <p:nvSpPr>
          <p:cNvPr id="23" name="sticky_129"/>
          <p:cNvSpPr txBox="1"/>
          <p:nvPr/>
        </p:nvSpPr>
        <p:spPr>
          <a:xfrm rot="-120000">
            <a:off x="411480" y="4023360"/>
            <a:ext cx="2194560" cy="640080"/>
          </a:xfrm>
          <a:prstGeom prst="rect">
            <a:avLst/>
          </a:prstGeom>
          <a:solidFill>
            <a:srgbClr val="FFD84D"/>
          </a:solidFill>
          <a:ln w="12700">
            <a:solidFill>
              <a:srgbClr val="B7950B"/>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50" b="1" dirty="0">
                <a:solidFill>
                  <a:srgbClr val="111111"/>
                </a:solidFill>
                <a:latin typeface="Calibri" pitchFamily="34" charset="0"/>
                <a:ea typeface="Calibri" pitchFamily="34" charset="-122"/>
                <a:cs typeface="Calibri" pitchFamily="34" charset="-120"/>
              </a:rPr>
              <a:t>Really? · Me too! · How funny! · So what happened?</a:t>
            </a:r>
            <a:endParaRPr lang="en-US" sz="1150" dirty="0"/>
          </a:p>
        </p:txBody>
      </p:sp>
      <p:sp>
        <p:nvSpPr>
          <p:cNvPr id="24" name="pageTag_130"/>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p.52 · 4c</a:t>
            </a:r>
            <a:endParaRPr lang="en-US" sz="1050" dirty="0"/>
          </a:p>
        </p:txBody>
      </p:sp>
    </p:spTree>
  </p:cSld>
  <p:clrMapOvr>
    <a:masterClrMapping/>
  </p:clrMapOvr>
  <p:transition spd="med">
    <p:push dir="l"/>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31"/>
          <p:cNvSpPr/>
          <p:nvPr/>
        </p:nvSpPr>
        <p:spPr>
          <a:xfrm>
            <a:off x="54864" y="54864"/>
            <a:ext cx="9034272" cy="5033772"/>
          </a:xfrm>
          <a:prstGeom prst="rect">
            <a:avLst/>
          </a:prstGeom>
          <a:ln w="114300">
            <a:solidFill>
              <a:srgbClr val="A8E6B4"/>
            </a:solidFill>
            <a:prstDash val="solid"/>
          </a:ln>
        </p:spPr>
      </p:sp>
      <p:pic>
        <p:nvPicPr>
          <p:cNvPr id="4" name="logo_132"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33"/>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VOCABULARY · Abstract nouns · -ship</a:t>
            </a:r>
            <a:endParaRPr lang="en-US" sz="900" dirty="0"/>
          </a:p>
        </p:txBody>
      </p:sp>
      <p:sp>
        <p:nvSpPr>
          <p:cNvPr id="6" name="timer_134"/>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3 min</a:t>
            </a:r>
            <a:endParaRPr lang="en-US" sz="1200" dirty="0"/>
          </a:p>
        </p:txBody>
      </p:sp>
      <p:sp>
        <p:nvSpPr>
          <p:cNvPr id="7" name="footer_13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5B · Part 2</a:t>
            </a:r>
            <a:endParaRPr lang="en-US" sz="1000" dirty="0"/>
          </a:p>
        </p:txBody>
      </p:sp>
      <p:sp>
        <p:nvSpPr>
          <p:cNvPr id="8" name="title_136"/>
          <p:cNvSpPr txBox="1"/>
          <p:nvPr/>
        </p:nvSpPr>
        <p:spPr>
          <a:xfrm rot="90000">
            <a:off x="320040" y="676656"/>
            <a:ext cx="3630168"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Four magic letters</a:t>
            </a:r>
            <a:endParaRPr lang="en-US" sz="1500" dirty="0"/>
          </a:p>
        </p:txBody>
      </p:sp>
      <p:sp>
        <p:nvSpPr>
          <p:cNvPr id="9" name="tape_137"/>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138"/>
          <p:cNvSpPr/>
          <p:nvPr/>
        </p:nvSpPr>
        <p:spPr>
          <a:xfrm rot="-720000">
            <a:off x="3383280" y="1069848"/>
            <a:ext cx="685800" cy="219456"/>
          </a:xfrm>
          <a:prstGeom prst="rect">
            <a:avLst/>
          </a:prstGeom>
          <a:solidFill>
            <a:srgbClr val="FFD84D">
              <a:alpha val="75000"/>
            </a:srgbClr>
          </a:solidFill>
          <a:ln w="6350">
            <a:solidFill>
              <a:srgbClr val="FFD84D"/>
            </a:solidFill>
            <a:prstDash val="solid"/>
          </a:ln>
        </p:spPr>
      </p:sp>
      <p:sp>
        <p:nvSpPr>
          <p:cNvPr id="11" name="post_139"/>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140"/>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3" name="signB_141"/>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Which 4 letters make these 'people' words abstract nouns?</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Quali 4 lettere trasformano queste parole in nomi astratti?</a:t>
            </a:r>
            <a:endParaRPr lang="en-US" sz="1200" dirty="0"/>
          </a:p>
        </p:txBody>
      </p:sp>
      <p:sp>
        <p:nvSpPr>
          <p:cNvPr id="14" name="box_142"/>
          <p:cNvSpPr txBox="1"/>
          <p:nvPr/>
        </p:nvSpPr>
        <p:spPr>
          <a:xfrm>
            <a:off x="2788920" y="1371600"/>
            <a:ext cx="4345229" cy="4419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1  friend · leader · member · partner · relation + ????</a:t>
            </a:r>
            <a:endParaRPr lang="en-US" sz="1150" dirty="0"/>
          </a:p>
        </p:txBody>
      </p:sp>
      <p:sp>
        <p:nvSpPr>
          <p:cNvPr id="15" name="R1_a0"/>
          <p:cNvSpPr txBox="1"/>
          <p:nvPr/>
        </p:nvSpPr>
        <p:spPr>
          <a:xfrm>
            <a:off x="7189013" y="1408176"/>
            <a:ext cx="1634947"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-ship!</a:t>
            </a:r>
            <a:endParaRPr lang="en-US" sz="1200" dirty="0"/>
          </a:p>
        </p:txBody>
      </p:sp>
      <p:sp>
        <p:nvSpPr>
          <p:cNvPr id="16" name="box_143"/>
          <p:cNvSpPr txBox="1"/>
          <p:nvPr/>
        </p:nvSpPr>
        <p:spPr>
          <a:xfrm>
            <a:off x="2788920" y="1941576"/>
            <a:ext cx="4345229" cy="4419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2  My sister and I have a very good ___ . We get on really well.</a:t>
            </a:r>
            <a:endParaRPr lang="en-US" sz="1150" dirty="0"/>
          </a:p>
        </p:txBody>
      </p:sp>
      <p:sp>
        <p:nvSpPr>
          <p:cNvPr id="17" name="R2_a1"/>
          <p:cNvSpPr txBox="1"/>
          <p:nvPr/>
        </p:nvSpPr>
        <p:spPr>
          <a:xfrm>
            <a:off x="7189013" y="1978152"/>
            <a:ext cx="1634947"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relationship</a:t>
            </a:r>
            <a:endParaRPr lang="en-US" sz="1200" dirty="0"/>
          </a:p>
        </p:txBody>
      </p:sp>
      <p:sp>
        <p:nvSpPr>
          <p:cNvPr id="18" name="box_144"/>
          <p:cNvSpPr txBox="1"/>
          <p:nvPr/>
        </p:nvSpPr>
        <p:spPr>
          <a:xfrm>
            <a:off x="2788920" y="2511552"/>
            <a:ext cx="4345229" cy="4419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3  My gym ___ expires at the end of the month. I'll need to renew it.</a:t>
            </a:r>
            <a:endParaRPr lang="en-US" sz="1050" dirty="0"/>
          </a:p>
        </p:txBody>
      </p:sp>
      <p:sp>
        <p:nvSpPr>
          <p:cNvPr id="19" name="R3_a2"/>
          <p:cNvSpPr txBox="1"/>
          <p:nvPr/>
        </p:nvSpPr>
        <p:spPr>
          <a:xfrm>
            <a:off x="7189013" y="2548128"/>
            <a:ext cx="1634947"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membership</a:t>
            </a:r>
            <a:endParaRPr lang="en-US" sz="1200" dirty="0"/>
          </a:p>
        </p:txBody>
      </p:sp>
      <p:sp>
        <p:nvSpPr>
          <p:cNvPr id="20" name="box_145"/>
          <p:cNvSpPr txBox="1"/>
          <p:nvPr/>
        </p:nvSpPr>
        <p:spPr>
          <a:xfrm>
            <a:off x="2788920" y="3081528"/>
            <a:ext cx="4345229" cy="4419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4  One of the qualities a boss needs the most is good ___ skills.</a:t>
            </a:r>
            <a:endParaRPr lang="en-US" sz="1100" dirty="0"/>
          </a:p>
        </p:txBody>
      </p:sp>
      <p:sp>
        <p:nvSpPr>
          <p:cNvPr id="21" name="R4_a3"/>
          <p:cNvSpPr txBox="1"/>
          <p:nvPr/>
        </p:nvSpPr>
        <p:spPr>
          <a:xfrm>
            <a:off x="7189013" y="3118104"/>
            <a:ext cx="1634947"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leadership</a:t>
            </a:r>
            <a:endParaRPr lang="en-US" sz="1200" dirty="0"/>
          </a:p>
        </p:txBody>
      </p:sp>
      <p:sp>
        <p:nvSpPr>
          <p:cNvPr id="22" name="box_146"/>
          <p:cNvSpPr txBox="1"/>
          <p:nvPr/>
        </p:nvSpPr>
        <p:spPr>
          <a:xfrm>
            <a:off x="2788920" y="3651504"/>
            <a:ext cx="4345229" cy="4419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5  Marriage should be an equal ___ .</a:t>
            </a:r>
            <a:endParaRPr lang="en-US" sz="1150" dirty="0"/>
          </a:p>
        </p:txBody>
      </p:sp>
      <p:sp>
        <p:nvSpPr>
          <p:cNvPr id="23" name="R5_a4"/>
          <p:cNvSpPr txBox="1"/>
          <p:nvPr/>
        </p:nvSpPr>
        <p:spPr>
          <a:xfrm>
            <a:off x="7189013" y="3688080"/>
            <a:ext cx="1634947"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partnership</a:t>
            </a:r>
            <a:endParaRPr lang="en-US" sz="1200" dirty="0"/>
          </a:p>
        </p:txBody>
      </p:sp>
      <p:sp>
        <p:nvSpPr>
          <p:cNvPr id="24" name="box_147"/>
          <p:cNvSpPr txBox="1"/>
          <p:nvPr/>
        </p:nvSpPr>
        <p:spPr>
          <a:xfrm>
            <a:off x="2788920" y="4221480"/>
            <a:ext cx="4345229" cy="44196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900" dirty="0">
                <a:solidFill>
                  <a:srgbClr val="111111"/>
                </a:solidFill>
                <a:latin typeface="Calibri" pitchFamily="34" charset="0"/>
                <a:ea typeface="Calibri" pitchFamily="34" charset="-122"/>
                <a:cs typeface="Calibri" pitchFamily="34" charset="-120"/>
              </a:rPr>
              <a:t>6  Elena Ferrante's Neapolitan Novels are about the ___ between two young girls, Lila and Elena.</a:t>
            </a:r>
            <a:endParaRPr lang="en-US" sz="900" dirty="0"/>
          </a:p>
        </p:txBody>
      </p:sp>
      <p:sp>
        <p:nvSpPr>
          <p:cNvPr id="25" name="R6_a5"/>
          <p:cNvSpPr txBox="1"/>
          <p:nvPr/>
        </p:nvSpPr>
        <p:spPr>
          <a:xfrm>
            <a:off x="7189013" y="4258056"/>
            <a:ext cx="1634947"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friendship</a:t>
            </a:r>
            <a:endParaRPr lang="en-US" sz="1200" dirty="0"/>
          </a:p>
        </p:txBody>
      </p:sp>
      <p:sp>
        <p:nvSpPr>
          <p:cNvPr id="26" name="pageTag_148"/>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p.52 · 4d, 4e</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4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49"/>
          <p:cNvSpPr/>
          <p:nvPr/>
        </p:nvSpPr>
        <p:spPr>
          <a:xfrm>
            <a:off x="54864" y="54864"/>
            <a:ext cx="9034272" cy="5033772"/>
          </a:xfrm>
          <a:prstGeom prst="rect">
            <a:avLst/>
          </a:prstGeom>
          <a:ln w="114300">
            <a:solidFill>
              <a:srgbClr val="A8E6B4"/>
            </a:solidFill>
            <a:prstDash val="solid"/>
          </a:ln>
        </p:spPr>
      </p:sp>
      <p:pic>
        <p:nvPicPr>
          <p:cNvPr id="4" name="logo_150"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51"/>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LISTENING · Friendship Day · audio 5.22</a:t>
            </a:r>
            <a:endParaRPr lang="en-US" sz="900" dirty="0"/>
          </a:p>
        </p:txBody>
      </p:sp>
      <p:sp>
        <p:nvSpPr>
          <p:cNvPr id="6" name="timer_152"/>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9 min</a:t>
            </a:r>
            <a:endParaRPr lang="en-US" sz="1200" dirty="0"/>
          </a:p>
        </p:txBody>
      </p:sp>
      <p:sp>
        <p:nvSpPr>
          <p:cNvPr id="7" name="footer_15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5B · Part 2</a:t>
            </a:r>
            <a:endParaRPr lang="en-US" sz="1000" dirty="0"/>
          </a:p>
        </p:txBody>
      </p:sp>
      <p:sp>
        <p:nvSpPr>
          <p:cNvPr id="8" name="title_154"/>
          <p:cNvSpPr txBox="1"/>
          <p:nvPr/>
        </p:nvSpPr>
        <p:spPr>
          <a:xfrm rot="90000">
            <a:off x="320040" y="676656"/>
            <a:ext cx="6236208"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Surprising facts about friendship</a:t>
            </a:r>
            <a:endParaRPr lang="en-US" sz="1500" dirty="0"/>
          </a:p>
        </p:txBody>
      </p:sp>
      <p:sp>
        <p:nvSpPr>
          <p:cNvPr id="9" name="tape_155"/>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156"/>
          <p:cNvSpPr/>
          <p:nvPr/>
        </p:nvSpPr>
        <p:spPr>
          <a:xfrm rot="-720000">
            <a:off x="5989320" y="1069848"/>
            <a:ext cx="685800" cy="219456"/>
          </a:xfrm>
          <a:prstGeom prst="rect">
            <a:avLst/>
          </a:prstGeom>
          <a:solidFill>
            <a:srgbClr val="FFD84D">
              <a:alpha val="75000"/>
            </a:srgbClr>
          </a:solidFill>
          <a:ln w="6350">
            <a:solidFill>
              <a:srgbClr val="FFD84D"/>
            </a:solidFill>
            <a:prstDash val="solid"/>
          </a:ln>
        </p:spPr>
      </p:sp>
      <p:sp>
        <p:nvSpPr>
          <p:cNvPr id="11" name="post_157"/>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158"/>
          <p:cNvSpPr txBox="1"/>
          <p:nvPr/>
        </p:nvSpPr>
        <p:spPr>
          <a:xfrm rot="-180000">
            <a:off x="320040" y="1371600"/>
            <a:ext cx="2240280" cy="457200"/>
          </a:xfrm>
          <a:prstGeom prst="homePlate">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LISTEN!</a:t>
            </a:r>
            <a:pPr indent="0" marL="0">
              <a:buNone/>
            </a:pPr>
            <a:r>
              <a:rPr lang="en-US" sz="1000" dirty="0">
                <a:solidFill>
                  <a:srgbClr val="FFF3B0"/>
                </a:solidFill>
                <a:latin typeface="Arial Black" pitchFamily="34" charset="0"/>
                <a:ea typeface="Arial Black" pitchFamily="34" charset="-122"/>
                <a:cs typeface="Arial Black" pitchFamily="34" charset="-120"/>
              </a:rPr>
              <a:t>  ASCOLTA!</a:t>
            </a:r>
            <a:endParaRPr lang="en-US" sz="1500" dirty="0"/>
          </a:p>
        </p:txBody>
      </p:sp>
      <p:sp>
        <p:nvSpPr>
          <p:cNvPr id="13" name="signB_159"/>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Guess the missing words with a partner. Then listen!</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Indovina le parole mancanti con un compagno. Poi ascolta!</a:t>
            </a:r>
            <a:endParaRPr lang="en-US" sz="1250" dirty="0"/>
          </a:p>
        </p:txBody>
      </p:sp>
      <p:pic>
        <p:nvPicPr>
          <p:cNvPr id="14" name="Media 0">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2788920" y="1371600"/>
            <a:ext cx="640080" cy="640080"/>
          </a:xfrm>
          <a:prstGeom prst="rect">
            <a:avLst/>
          </a:prstGeom>
        </p:spPr>
      </p:pic>
      <p:sp>
        <p:nvSpPr>
          <p:cNvPr id="15" name="tr_160"/>
          <p:cNvSpPr txBox="1"/>
          <p:nvPr/>
        </p:nvSpPr>
        <p:spPr>
          <a:xfrm>
            <a:off x="3474720" y="1371600"/>
            <a:ext cx="822960" cy="640080"/>
          </a:xfrm>
          <a:prstGeom prst="rect">
            <a:avLst/>
          </a:prstGeom>
          <a:noFill/>
          <a:ln/>
        </p:spPr>
        <p:txBody>
          <a:bodyPr wrap="square" rtlCol="0" anchor="ctr"/>
          <a:lstStyle/>
          <a:p>
            <a:pPr indent="0" marL="0">
              <a:buNone/>
            </a:pPr>
            <a:r>
              <a:rPr lang="en-US" sz="1300" dirty="0">
                <a:solidFill>
                  <a:srgbClr val="062F67"/>
                </a:solidFill>
                <a:latin typeface="Arial Black" pitchFamily="34" charset="0"/>
                <a:ea typeface="Arial Black" pitchFamily="34" charset="-122"/>
                <a:cs typeface="Arial Black" pitchFamily="34" charset="-120"/>
              </a:rPr>
              <a:t>🎧 5.22</a:t>
            </a:r>
            <a:endParaRPr lang="en-US" sz="1300" dirty="0"/>
          </a:p>
        </p:txBody>
      </p:sp>
      <p:sp>
        <p:nvSpPr>
          <p:cNvPr id="16" name="box_161"/>
          <p:cNvSpPr txBox="1"/>
          <p:nvPr/>
        </p:nvSpPr>
        <p:spPr>
          <a:xfrm>
            <a:off x="2788920" y="2103120"/>
            <a:ext cx="3983126" cy="3657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1  ___ have friends too!</a:t>
            </a:r>
            <a:endParaRPr lang="en-US" sz="1150" dirty="0"/>
          </a:p>
        </p:txBody>
      </p:sp>
      <p:sp>
        <p:nvSpPr>
          <p:cNvPr id="17" name="R1_la0"/>
          <p:cNvSpPr txBox="1"/>
          <p:nvPr/>
        </p:nvSpPr>
        <p:spPr>
          <a:xfrm>
            <a:off x="6826910" y="2130552"/>
            <a:ext cx="1997050"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Animals</a:t>
            </a:r>
            <a:endParaRPr lang="en-US" sz="1300" dirty="0"/>
          </a:p>
        </p:txBody>
      </p:sp>
      <p:sp>
        <p:nvSpPr>
          <p:cNvPr id="18" name="box_162"/>
          <p:cNvSpPr txBox="1"/>
          <p:nvPr/>
        </p:nvSpPr>
        <p:spPr>
          <a:xfrm>
            <a:off x="2788920" y="2542032"/>
            <a:ext cx="3983126" cy="3657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2  We have more real friends thanks to ___ ___ !</a:t>
            </a:r>
            <a:endParaRPr lang="en-US" sz="1150" dirty="0"/>
          </a:p>
        </p:txBody>
      </p:sp>
      <p:sp>
        <p:nvSpPr>
          <p:cNvPr id="19" name="R1_la1"/>
          <p:cNvSpPr txBox="1"/>
          <p:nvPr/>
        </p:nvSpPr>
        <p:spPr>
          <a:xfrm>
            <a:off x="6826910" y="2569464"/>
            <a:ext cx="1997050"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social media</a:t>
            </a:r>
            <a:endParaRPr lang="en-US" sz="1300" dirty="0"/>
          </a:p>
        </p:txBody>
      </p:sp>
      <p:sp>
        <p:nvSpPr>
          <p:cNvPr id="20" name="box_163"/>
          <p:cNvSpPr txBox="1"/>
          <p:nvPr/>
        </p:nvSpPr>
        <p:spPr>
          <a:xfrm>
            <a:off x="2788920" y="2980944"/>
            <a:ext cx="3983126" cy="3657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3  Having friends at work makes you more ___ .</a:t>
            </a:r>
            <a:endParaRPr lang="en-US" sz="1150" dirty="0"/>
          </a:p>
        </p:txBody>
      </p:sp>
      <p:sp>
        <p:nvSpPr>
          <p:cNvPr id="21" name="R1_la2"/>
          <p:cNvSpPr txBox="1"/>
          <p:nvPr/>
        </p:nvSpPr>
        <p:spPr>
          <a:xfrm>
            <a:off x="6826910" y="3008376"/>
            <a:ext cx="1997050"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productive</a:t>
            </a:r>
            <a:endParaRPr lang="en-US" sz="1300" dirty="0"/>
          </a:p>
        </p:txBody>
      </p:sp>
      <p:sp>
        <p:nvSpPr>
          <p:cNvPr id="22" name="box_164"/>
          <p:cNvSpPr txBox="1"/>
          <p:nvPr/>
        </p:nvSpPr>
        <p:spPr>
          <a:xfrm>
            <a:off x="2788920" y="3419856"/>
            <a:ext cx="3983126" cy="3657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4  ___ can make you lose two friends.</a:t>
            </a:r>
            <a:endParaRPr lang="en-US" sz="1150" dirty="0"/>
          </a:p>
        </p:txBody>
      </p:sp>
      <p:sp>
        <p:nvSpPr>
          <p:cNvPr id="23" name="R1_la3"/>
          <p:cNvSpPr txBox="1"/>
          <p:nvPr/>
        </p:nvSpPr>
        <p:spPr>
          <a:xfrm>
            <a:off x="6826910" y="3447288"/>
            <a:ext cx="1997050"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Love</a:t>
            </a:r>
            <a:endParaRPr lang="en-US" sz="1300" dirty="0"/>
          </a:p>
        </p:txBody>
      </p:sp>
      <p:sp>
        <p:nvSpPr>
          <p:cNvPr id="24" name="box_165"/>
          <p:cNvSpPr txBox="1"/>
          <p:nvPr/>
        </p:nvSpPr>
        <p:spPr>
          <a:xfrm>
            <a:off x="2788920" y="3858768"/>
            <a:ext cx="3983126" cy="3657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5  Friendship is good for your ___ .</a:t>
            </a:r>
            <a:endParaRPr lang="en-US" sz="1150" dirty="0"/>
          </a:p>
        </p:txBody>
      </p:sp>
      <p:sp>
        <p:nvSpPr>
          <p:cNvPr id="25" name="R1_la4"/>
          <p:cNvSpPr txBox="1"/>
          <p:nvPr/>
        </p:nvSpPr>
        <p:spPr>
          <a:xfrm>
            <a:off x="6826910" y="3886200"/>
            <a:ext cx="1997050"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health</a:t>
            </a:r>
            <a:endParaRPr lang="en-US" sz="1300" dirty="0"/>
          </a:p>
        </p:txBody>
      </p:sp>
      <p:sp>
        <p:nvSpPr>
          <p:cNvPr id="26" name="box_166"/>
          <p:cNvSpPr txBox="1"/>
          <p:nvPr/>
        </p:nvSpPr>
        <p:spPr>
          <a:xfrm>
            <a:off x="2788920" y="4297680"/>
            <a:ext cx="6035040" cy="36576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750" dirty="0">
                <a:solidFill>
                  <a:srgbClr val="111111"/>
                </a:solidFill>
                <a:latin typeface="Calibri" pitchFamily="34" charset="0"/>
                <a:ea typeface="Calibri" pitchFamily="34" charset="-122"/>
                <a:cs typeface="Calibri" pitchFamily="34" charset="-120"/>
              </a:rPr>
              <a:t>6  Listen again: Fact 1 some examples · 2 the reason · 3 the reason, and the exception · 4 the reason · 5 the reason, and a statistic</a:t>
            </a:r>
            <a:endParaRPr lang="en-US" sz="750" dirty="0"/>
          </a:p>
        </p:txBody>
      </p:sp>
      <p:sp>
        <p:nvSpPr>
          <p:cNvPr id="27" name="pageTag_167"/>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p.52 · 5a, 5b, 5c, 5d · audio 5.22</a:t>
            </a:r>
            <a:endParaRPr lang="en-US" sz="1050" dirty="0"/>
          </a:p>
        </p:txBody>
      </p:sp>
      <p:sp>
        <p:nvSpPr>
          <p:cNvPr id="28" name="pframe_168"/>
          <p:cNvSpPr/>
          <p:nvPr/>
        </p:nvSpPr>
        <p:spPr>
          <a:xfrm rot="-120000">
            <a:off x="457200" y="3520440"/>
            <a:ext cx="1920240" cy="1014984"/>
          </a:xfrm>
          <a:prstGeom prst="rect">
            <a:avLst/>
          </a:prstGeom>
          <a:solidFill>
            <a:srgbClr val="FFFFFF"/>
          </a:solidFill>
          <a:ln w="19050">
            <a:solidFill>
              <a:srgbClr val="111111"/>
            </a:solidFill>
            <a:prstDash val="solid"/>
          </a:ln>
          <a:effectLst>
            <a:outerShdw sx="100000" sy="100000" kx="0" ky="0" algn="bl" rotWithShape="0" blurRad="101600" dist="38100" dir="2700000">
              <a:srgbClr val="000000">
                <a:alpha val="35000"/>
              </a:srgbClr>
            </a:outerShdw>
          </a:effectLst>
        </p:spPr>
      </p:sp>
      <p:pic>
        <p:nvPicPr>
          <p:cNvPr id="29" name="pimg_169" descr="picture">    </p:cNvPr>
          <p:cNvPicPr>
            <a:picLocks noChangeAspect="1"/>
          </p:cNvPicPr>
          <p:nvPr/>
        </p:nvPicPr>
        <p:blipFill>
          <a:blip r:embed="rId6"/>
          <a:srcRect l="0" r="0" t="0" b="0"/>
          <a:stretch/>
        </p:blipFill>
        <p:spPr>
          <a:xfrm rot="-120000">
            <a:off x="530352" y="3593592"/>
            <a:ext cx="1773936" cy="795528"/>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par>
                                <p:cTn id="11" presetID="10"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00"/>
                                        <p:tgtEl>
                                          <p:spTgt spid="21"/>
                                        </p:tgtEl>
                                      </p:cBhvr>
                                    </p:animEffect>
                                  </p:childTnLst>
                                </p:cTn>
                              </p:par>
                              <p:par>
                                <p:cTn id="14" presetID="10" presetClass="entr" presetSubtype="0" fill="hold"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400"/>
                                        <p:tgtEl>
                                          <p:spTgt spid="23"/>
                                        </p:tgtEl>
                                      </p:cBhvr>
                                    </p:animEffect>
                                  </p:childTnLst>
                                </p:cTn>
                              </p:par>
                              <p:par>
                                <p:cTn id="17" presetID="10" presetClass="entr" presetSubtype="0"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0" restart="whenNotActive" fill="hold" evtFilter="cancelBubble" nodeType="interactiveSeq">
                <p:stCondLst>
                  <p:cond evt="onClick" delay="0">
                    <p:tgtEl>
                      <p:spTgt spid="14"/>
                    </p:tgtEl>
                  </p:cond>
                </p:stCondLst>
                <p:endSync evt="end" delay="0">
                  <p:rtn val="all"/>
                </p:endSync>
                <p:childTnLst>
                  <p:par>
                    <p:cTn id="21" fill="hold">
                      <p:stCondLst>
                        <p:cond delay="0"/>
                      </p:stCondLst>
                      <p:childTnLst>
                        <p:par>
                          <p:cTn id="22" fill="hold">
                            <p:stCondLst>
                              <p:cond delay="0"/>
                            </p:stCondLst>
                            <p:childTnLst>
                              <p:par>
                                <p:cTn id="23" presetID="2" presetClass="mediacall" presetSubtype="0" fill="hold" nodeType="clickEffect">
                                  <p:stCondLst>
                                    <p:cond delay="0"/>
                                  </p:stCondLst>
                                  <p:childTnLst>
                                    <p:cmd type="call" cmd="togglePause">
                                      <p:cBhvr>
                                        <p:cTn id="24" dur="1" fill="hold"/>
                                        <p:tgtEl>
                                          <p:spTgt spid="14"/>
                                        </p:tgtEl>
                                      </p:cBhvr>
                                    </p:cmd>
                                  </p:childTnLst>
                                </p:cTn>
                              </p:par>
                            </p:childTnLst>
                          </p:cTn>
                        </p:par>
                      </p:childTnLst>
                    </p:cTn>
                  </p:par>
                </p:childTnLst>
              </p:cTn>
              <p:nextCondLst>
                <p:cond evt="onClick" delay="0">
                  <p:tgtEl>
                    <p:spTgt spid="14"/>
                  </p:tgtEl>
                </p:cond>
              </p:nextCondLst>
            </p:seq>
            <p:audio>
              <p:cMediaNode vol="80000">
                <p:cTn id="25" fill="hold" display="0">
                  <p:stCondLst>
                    <p:cond delay="indefinite"/>
                  </p:stCondLst>
                  <p:endCondLst>
                    <p:cond evt="onStopAudio" delay="0">
                      <p:tgtEl>
                        <p:sldTgt/>
                      </p:tgtEl>
                    </p:cond>
                  </p:endCondLst>
                </p:cTn>
                <p:tgtEl>
                  <p:spTgt spid="14"/>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70"/>
          <p:cNvSpPr/>
          <p:nvPr/>
        </p:nvSpPr>
        <p:spPr>
          <a:xfrm>
            <a:off x="54864" y="54864"/>
            <a:ext cx="9034272" cy="5033772"/>
          </a:xfrm>
          <a:prstGeom prst="rect">
            <a:avLst/>
          </a:prstGeom>
          <a:ln w="114300">
            <a:solidFill>
              <a:srgbClr val="A8E6B4"/>
            </a:solidFill>
            <a:prstDash val="solid"/>
          </a:ln>
        </p:spPr>
      </p:sp>
      <p:pic>
        <p:nvPicPr>
          <p:cNvPr id="4" name="logo_171"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72"/>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SPEAKING · Presenting an opinion</a:t>
            </a:r>
            <a:endParaRPr lang="en-US" sz="900" dirty="0"/>
          </a:p>
        </p:txBody>
      </p:sp>
      <p:sp>
        <p:nvSpPr>
          <p:cNvPr id="6" name="timer_173"/>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9 min</a:t>
            </a:r>
            <a:endParaRPr lang="en-US" sz="1200" dirty="0"/>
          </a:p>
        </p:txBody>
      </p:sp>
      <p:sp>
        <p:nvSpPr>
          <p:cNvPr id="7" name="footer_174"/>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5B · Part 2</a:t>
            </a:r>
            <a:endParaRPr lang="en-US" sz="1000" dirty="0"/>
          </a:p>
        </p:txBody>
      </p:sp>
      <p:sp>
        <p:nvSpPr>
          <p:cNvPr id="8" name="title_175"/>
          <p:cNvSpPr txBox="1"/>
          <p:nvPr/>
        </p:nvSpPr>
        <p:spPr>
          <a:xfrm rot="90000">
            <a:off x="320040" y="676656"/>
            <a:ext cx="4498848"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One minute, one opinion</a:t>
            </a:r>
            <a:endParaRPr lang="en-US" sz="1500" dirty="0"/>
          </a:p>
        </p:txBody>
      </p:sp>
      <p:sp>
        <p:nvSpPr>
          <p:cNvPr id="9" name="tape_176"/>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177"/>
          <p:cNvSpPr/>
          <p:nvPr/>
        </p:nvSpPr>
        <p:spPr>
          <a:xfrm rot="-720000">
            <a:off x="4251960" y="1069848"/>
            <a:ext cx="685800" cy="219456"/>
          </a:xfrm>
          <a:prstGeom prst="rect">
            <a:avLst/>
          </a:prstGeom>
          <a:solidFill>
            <a:srgbClr val="FFD84D">
              <a:alpha val="75000"/>
            </a:srgbClr>
          </a:solidFill>
          <a:ln w="6350">
            <a:solidFill>
              <a:srgbClr val="FFD84D"/>
            </a:solidFill>
            <a:prstDash val="solid"/>
          </a:ln>
        </p:spPr>
      </p:sp>
      <p:sp>
        <p:nvSpPr>
          <p:cNvPr id="11" name="post_178"/>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179"/>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3" name="signB_180"/>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100" dirty="0">
                <a:solidFill>
                  <a:srgbClr val="111111"/>
                </a:solidFill>
                <a:latin typeface="Calibri" pitchFamily="34" charset="0"/>
                <a:ea typeface="Calibri" pitchFamily="34" charset="-122"/>
                <a:cs typeface="Calibri" pitchFamily="34" charset="-120"/>
              </a:rPr>
              <a:t>Tick ✓ or cross ✗ A–G. Then choose ONE and present your opinion!</a:t>
            </a:r>
            <a:endParaRPr lang="en-US" sz="1100" dirty="0"/>
          </a:p>
          <a:p>
            <a:pPr indent="0" marL="0">
              <a:buNone/>
            </a:pPr>
            <a:r>
              <a:rPr lang="en-US" sz="1000" i="1" dirty="0">
                <a:solidFill>
                  <a:srgbClr val="334155"/>
                </a:solidFill>
                <a:latin typeface="Calibri" pitchFamily="34" charset="0"/>
                <a:ea typeface="Calibri" pitchFamily="34" charset="-122"/>
                <a:cs typeface="Calibri" pitchFamily="34" charset="-120"/>
              </a:rPr>
              <a:t>Segna ✓ o ✗ A–G. Poi scegline UNA e presenta la tua opinione!</a:t>
            </a:r>
            <a:endParaRPr lang="en-US" sz="1100" dirty="0"/>
          </a:p>
        </p:txBody>
      </p:sp>
      <p:sp>
        <p:nvSpPr>
          <p:cNvPr id="14" name="box_181"/>
          <p:cNvSpPr txBox="1"/>
          <p:nvPr/>
        </p:nvSpPr>
        <p:spPr>
          <a:xfrm>
            <a:off x="2788920" y="1371600"/>
            <a:ext cx="6035040" cy="36053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A  You can only have two or three close friends.</a:t>
            </a:r>
            <a:endParaRPr lang="en-US" sz="1150" dirty="0"/>
          </a:p>
        </p:txBody>
      </p:sp>
      <p:sp>
        <p:nvSpPr>
          <p:cNvPr id="15" name="box_182"/>
          <p:cNvSpPr txBox="1"/>
          <p:nvPr/>
        </p:nvSpPr>
        <p:spPr>
          <a:xfrm>
            <a:off x="2788920" y="1860151"/>
            <a:ext cx="6035040" cy="360535"/>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B  Going on holiday with friends can end the friendship.</a:t>
            </a:r>
            <a:endParaRPr lang="en-US" sz="1150" dirty="0"/>
          </a:p>
        </p:txBody>
      </p:sp>
      <p:sp>
        <p:nvSpPr>
          <p:cNvPr id="16" name="box_183"/>
          <p:cNvSpPr txBox="1"/>
          <p:nvPr/>
        </p:nvSpPr>
        <p:spPr>
          <a:xfrm>
            <a:off x="2788920" y="2348702"/>
            <a:ext cx="6035040" cy="360535"/>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C  Men keep their friends longer than women.</a:t>
            </a:r>
            <a:endParaRPr lang="en-US" sz="1150" dirty="0"/>
          </a:p>
        </p:txBody>
      </p:sp>
      <p:sp>
        <p:nvSpPr>
          <p:cNvPr id="17" name="box_184"/>
          <p:cNvSpPr txBox="1"/>
          <p:nvPr/>
        </p:nvSpPr>
        <p:spPr>
          <a:xfrm>
            <a:off x="2788920" y="2837253"/>
            <a:ext cx="6035040" cy="360535"/>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D  You should never criticize your friends' partners.</a:t>
            </a:r>
            <a:endParaRPr lang="en-US" sz="1150" dirty="0"/>
          </a:p>
        </p:txBody>
      </p:sp>
      <p:sp>
        <p:nvSpPr>
          <p:cNvPr id="18" name="box_185"/>
          <p:cNvSpPr txBox="1"/>
          <p:nvPr/>
        </p:nvSpPr>
        <p:spPr>
          <a:xfrm>
            <a:off x="2788920" y="3325803"/>
            <a:ext cx="6035040" cy="360535"/>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E  It's impossible to stay good friends with an ex-partner.</a:t>
            </a:r>
            <a:endParaRPr lang="en-US" sz="1150" dirty="0"/>
          </a:p>
        </p:txBody>
      </p:sp>
      <p:sp>
        <p:nvSpPr>
          <p:cNvPr id="19" name="box_186"/>
          <p:cNvSpPr txBox="1"/>
          <p:nvPr/>
        </p:nvSpPr>
        <p:spPr>
          <a:xfrm>
            <a:off x="2788920" y="3814354"/>
            <a:ext cx="6035040" cy="360535"/>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F  It's impossible to be real friends with someone who's much older or much younger than you.</a:t>
            </a:r>
            <a:endParaRPr lang="en-US" sz="1050" dirty="0"/>
          </a:p>
        </p:txBody>
      </p:sp>
      <p:sp>
        <p:nvSpPr>
          <p:cNvPr id="20" name="box_187"/>
          <p:cNvSpPr txBox="1"/>
          <p:nvPr/>
        </p:nvSpPr>
        <p:spPr>
          <a:xfrm>
            <a:off x="2788920" y="4302905"/>
            <a:ext cx="6035040" cy="36053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G  Parents should never try to be friends with their children.</a:t>
            </a:r>
            <a:endParaRPr lang="en-US" sz="1150" dirty="0"/>
          </a:p>
        </p:txBody>
      </p:sp>
      <p:sp>
        <p:nvSpPr>
          <p:cNvPr id="21" name="sticky_188"/>
          <p:cNvSpPr txBox="1"/>
          <p:nvPr/>
        </p:nvSpPr>
        <p:spPr>
          <a:xfrm rot="-120000">
            <a:off x="411480" y="3611880"/>
            <a:ext cx="2194560" cy="1051560"/>
          </a:xfrm>
          <a:prstGeom prst="rect">
            <a:avLst/>
          </a:prstGeom>
          <a:solidFill>
            <a:srgbClr val="FFD84D"/>
          </a:solidFill>
          <a:ln w="12700">
            <a:solidFill>
              <a:srgbClr val="B7950B"/>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50" b="1" dirty="0">
                <a:solidFill>
                  <a:srgbClr val="111111"/>
                </a:solidFill>
                <a:latin typeface="Calibri" pitchFamily="34" charset="0"/>
                <a:ea typeface="Calibri" pitchFamily="34" charset="-122"/>
                <a:cs typeface="Calibri" pitchFamily="34" charset="-120"/>
              </a:rPr>
              <a:t>I'm going to talk about… · I think the main reason is… · Another reason is… · For example,… · For instance,…</a:t>
            </a:r>
            <a:endParaRPr lang="en-US" sz="1150" dirty="0"/>
          </a:p>
        </p:txBody>
      </p:sp>
      <p:sp>
        <p:nvSpPr>
          <p:cNvPr id="22" name="pageTag_189"/>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p.53 · 6a, 6b, 6c · Presenting an opinion</a:t>
            </a:r>
            <a:endParaRPr lang="en-US" sz="1050" dirty="0"/>
          </a:p>
        </p:txBody>
      </p:sp>
    </p:spTree>
  </p:cSld>
  <p:clrMapOvr>
    <a:masterClrMapping/>
  </p:clrMapOvr>
  <p:transition spd="med">
    <p:push dir="l"/>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90"/>
          <p:cNvSpPr/>
          <p:nvPr/>
        </p:nvSpPr>
        <p:spPr>
          <a:xfrm>
            <a:off x="54864" y="54864"/>
            <a:ext cx="9034272" cy="5033772"/>
          </a:xfrm>
          <a:prstGeom prst="rect">
            <a:avLst/>
          </a:prstGeom>
          <a:ln w="114300">
            <a:solidFill>
              <a:srgbClr val="A8E6B4"/>
            </a:solidFill>
            <a:prstDash val="solid"/>
          </a:ln>
        </p:spPr>
      </p:sp>
      <p:pic>
        <p:nvPicPr>
          <p:cNvPr id="4" name="logo_191"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92"/>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Relationships</a:t>
            </a:r>
            <a:endParaRPr lang="en-US" sz="900" dirty="0"/>
          </a:p>
        </p:txBody>
      </p:sp>
      <p:sp>
        <p:nvSpPr>
          <p:cNvPr id="6" name="timer_193"/>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footer_194"/>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5B · Part 2</a:t>
            </a:r>
            <a:endParaRPr lang="en-US" sz="1000" dirty="0"/>
          </a:p>
        </p:txBody>
      </p:sp>
      <p:sp>
        <p:nvSpPr>
          <p:cNvPr id="8" name="title_195"/>
          <p:cNvSpPr txBox="1"/>
          <p:nvPr/>
        </p:nvSpPr>
        <p:spPr>
          <a:xfrm rot="90000">
            <a:off x="320040" y="676656"/>
            <a:ext cx="3803904"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Noughts and crosses</a:t>
            </a:r>
            <a:endParaRPr lang="en-US" sz="1500" dirty="0"/>
          </a:p>
        </p:txBody>
      </p:sp>
      <p:sp>
        <p:nvSpPr>
          <p:cNvPr id="9" name="tape_196"/>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197"/>
          <p:cNvSpPr/>
          <p:nvPr/>
        </p:nvSpPr>
        <p:spPr>
          <a:xfrm rot="-720000">
            <a:off x="3557016" y="1069848"/>
            <a:ext cx="685800" cy="219456"/>
          </a:xfrm>
          <a:prstGeom prst="rect">
            <a:avLst/>
          </a:prstGeom>
          <a:solidFill>
            <a:srgbClr val="FFD84D">
              <a:alpha val="75000"/>
            </a:srgbClr>
          </a:solidFill>
          <a:ln w="6350">
            <a:solidFill>
              <a:srgbClr val="FFD84D"/>
            </a:solidFill>
            <a:prstDash val="solid"/>
          </a:ln>
        </p:spPr>
      </p:sp>
      <p:sp>
        <p:nvSpPr>
          <p:cNvPr id="11" name="post_198"/>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199"/>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3" name="signB_200"/>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Choose a square. Make a correct sentence = it's yours!</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Scegli un quadrato. Frase corretta = è tuo!</a:t>
            </a:r>
            <a:endParaRPr lang="en-US" sz="1250" dirty="0"/>
          </a:p>
        </p:txBody>
      </p:sp>
      <p:sp>
        <p:nvSpPr>
          <p:cNvPr id="14" name="tile_201"/>
          <p:cNvSpPr/>
          <p:nvPr/>
        </p:nvSpPr>
        <p:spPr>
          <a:xfrm>
            <a:off x="2788920" y="1371600"/>
            <a:ext cx="1938528" cy="1030224"/>
          </a:xfrm>
          <a:prstGeom prst="roundRect">
            <a:avLst>
              <a:gd name="adj" fmla="val 7101"/>
            </a:avLst>
          </a:prstGeom>
          <a:solidFill>
            <a:srgbClr val="FFFFFF"/>
          </a:solidFill>
          <a:ln w="19050">
            <a:solidFill>
              <a:srgbClr val="111111"/>
            </a:solidFill>
            <a:prstDash val="solid"/>
          </a:ln>
        </p:spPr>
      </p:sp>
      <p:pic>
        <p:nvPicPr>
          <p:cNvPr id="15" name="ti_202" descr="get on with">    </p:cNvPr>
          <p:cNvPicPr>
            <a:picLocks noChangeAspect="1"/>
          </p:cNvPicPr>
          <p:nvPr/>
        </p:nvPicPr>
        <p:blipFill>
          <a:blip r:embed="rId3"/>
          <a:stretch>
            <a:fillRect/>
          </a:stretch>
        </p:blipFill>
        <p:spPr>
          <a:xfrm>
            <a:off x="2862072" y="1511960"/>
            <a:ext cx="566623" cy="566623"/>
          </a:xfrm>
          <a:prstGeom prst="rect">
            <a:avLst/>
          </a:prstGeom>
        </p:spPr>
      </p:pic>
      <p:sp>
        <p:nvSpPr>
          <p:cNvPr id="16" name="tw_203"/>
          <p:cNvSpPr txBox="1"/>
          <p:nvPr/>
        </p:nvSpPr>
        <p:spPr>
          <a:xfrm>
            <a:off x="3446983" y="1417320"/>
            <a:ext cx="1243889" cy="515112"/>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get on with</a:t>
            </a:r>
            <a:endParaRPr lang="en-US" sz="1300" dirty="0"/>
          </a:p>
        </p:txBody>
      </p:sp>
      <p:sp>
        <p:nvSpPr>
          <p:cNvPr id="17" name="R1_it0"/>
          <p:cNvSpPr txBox="1"/>
          <p:nvPr/>
        </p:nvSpPr>
        <p:spPr>
          <a:xfrm>
            <a:off x="3446983" y="1886712"/>
            <a:ext cx="1243889" cy="432694"/>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andare d'accordo</a:t>
            </a:r>
            <a:endParaRPr lang="en-US" sz="1150" dirty="0"/>
          </a:p>
        </p:txBody>
      </p:sp>
      <p:sp>
        <p:nvSpPr>
          <p:cNvPr id="18" name="tile_204"/>
          <p:cNvSpPr/>
          <p:nvPr/>
        </p:nvSpPr>
        <p:spPr>
          <a:xfrm>
            <a:off x="4837176" y="1371600"/>
            <a:ext cx="1938528" cy="1030224"/>
          </a:xfrm>
          <a:prstGeom prst="roundRect">
            <a:avLst>
              <a:gd name="adj" fmla="val 7101"/>
            </a:avLst>
          </a:prstGeom>
          <a:solidFill>
            <a:srgbClr val="FFFFFF"/>
          </a:solidFill>
          <a:ln w="19050">
            <a:solidFill>
              <a:srgbClr val="111111"/>
            </a:solidFill>
            <a:prstDash val="solid"/>
          </a:ln>
        </p:spPr>
      </p:sp>
      <p:pic>
        <p:nvPicPr>
          <p:cNvPr id="19" name="ti_205" descr="lose touch">    </p:cNvPr>
          <p:cNvPicPr>
            <a:picLocks noChangeAspect="1"/>
          </p:cNvPicPr>
          <p:nvPr/>
        </p:nvPicPr>
        <p:blipFill>
          <a:blip r:embed="rId4"/>
          <a:stretch>
            <a:fillRect/>
          </a:stretch>
        </p:blipFill>
        <p:spPr>
          <a:xfrm>
            <a:off x="4910328" y="1511960"/>
            <a:ext cx="566623" cy="566623"/>
          </a:xfrm>
          <a:prstGeom prst="rect">
            <a:avLst/>
          </a:prstGeom>
        </p:spPr>
      </p:pic>
      <p:sp>
        <p:nvSpPr>
          <p:cNvPr id="20" name="tw_206"/>
          <p:cNvSpPr txBox="1"/>
          <p:nvPr/>
        </p:nvSpPr>
        <p:spPr>
          <a:xfrm>
            <a:off x="5495239" y="1417320"/>
            <a:ext cx="1243889" cy="515112"/>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lose touch</a:t>
            </a:r>
            <a:endParaRPr lang="en-US" sz="1300" dirty="0"/>
          </a:p>
        </p:txBody>
      </p:sp>
      <p:sp>
        <p:nvSpPr>
          <p:cNvPr id="21" name="R1_it1"/>
          <p:cNvSpPr txBox="1"/>
          <p:nvPr/>
        </p:nvSpPr>
        <p:spPr>
          <a:xfrm>
            <a:off x="5495239" y="1886712"/>
            <a:ext cx="1243889" cy="432694"/>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perdersi di vista</a:t>
            </a:r>
            <a:endParaRPr lang="en-US" sz="1150" dirty="0"/>
          </a:p>
        </p:txBody>
      </p:sp>
      <p:sp>
        <p:nvSpPr>
          <p:cNvPr id="22" name="tile_207"/>
          <p:cNvSpPr/>
          <p:nvPr/>
        </p:nvSpPr>
        <p:spPr>
          <a:xfrm>
            <a:off x="6885432" y="1371600"/>
            <a:ext cx="1938528" cy="1030224"/>
          </a:xfrm>
          <a:prstGeom prst="roundRect">
            <a:avLst>
              <a:gd name="adj" fmla="val 7101"/>
            </a:avLst>
          </a:prstGeom>
          <a:solidFill>
            <a:srgbClr val="FFFFFF"/>
          </a:solidFill>
          <a:ln w="19050">
            <a:solidFill>
              <a:srgbClr val="111111"/>
            </a:solidFill>
            <a:prstDash val="solid"/>
          </a:ln>
        </p:spPr>
      </p:sp>
      <p:pic>
        <p:nvPicPr>
          <p:cNvPr id="23" name="ti_208" descr="have a lot in common">    </p:cNvPr>
          <p:cNvPicPr>
            <a:picLocks noChangeAspect="1"/>
          </p:cNvPicPr>
          <p:nvPr/>
        </p:nvPicPr>
        <p:blipFill>
          <a:blip r:embed="rId5"/>
          <a:stretch>
            <a:fillRect/>
          </a:stretch>
        </p:blipFill>
        <p:spPr>
          <a:xfrm>
            <a:off x="6958584" y="1511960"/>
            <a:ext cx="566623" cy="566623"/>
          </a:xfrm>
          <a:prstGeom prst="rect">
            <a:avLst/>
          </a:prstGeom>
        </p:spPr>
      </p:pic>
      <p:sp>
        <p:nvSpPr>
          <p:cNvPr id="24" name="tw_209"/>
          <p:cNvSpPr txBox="1"/>
          <p:nvPr/>
        </p:nvSpPr>
        <p:spPr>
          <a:xfrm>
            <a:off x="7543495" y="1417320"/>
            <a:ext cx="1243889" cy="515112"/>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have a lot in common</a:t>
            </a:r>
            <a:endParaRPr lang="en-US" sz="1300" dirty="0"/>
          </a:p>
        </p:txBody>
      </p:sp>
      <p:sp>
        <p:nvSpPr>
          <p:cNvPr id="25" name="R1_it2"/>
          <p:cNvSpPr txBox="1"/>
          <p:nvPr/>
        </p:nvSpPr>
        <p:spPr>
          <a:xfrm>
            <a:off x="7543495" y="1886712"/>
            <a:ext cx="1243889" cy="432694"/>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avere molto in comune</a:t>
            </a:r>
            <a:endParaRPr lang="en-US" sz="1150" dirty="0"/>
          </a:p>
        </p:txBody>
      </p:sp>
      <p:sp>
        <p:nvSpPr>
          <p:cNvPr id="26" name="tile_210"/>
          <p:cNvSpPr/>
          <p:nvPr/>
        </p:nvSpPr>
        <p:spPr>
          <a:xfrm>
            <a:off x="2788920" y="2511552"/>
            <a:ext cx="1938528" cy="1030224"/>
          </a:xfrm>
          <a:prstGeom prst="roundRect">
            <a:avLst>
              <a:gd name="adj" fmla="val 7101"/>
            </a:avLst>
          </a:prstGeom>
          <a:solidFill>
            <a:srgbClr val="FFFFFF"/>
          </a:solidFill>
          <a:ln w="19050">
            <a:solidFill>
              <a:srgbClr val="111111"/>
            </a:solidFill>
            <a:prstDash val="solid"/>
          </a:ln>
        </p:spPr>
      </p:sp>
      <p:pic>
        <p:nvPicPr>
          <p:cNvPr id="27" name="ti_211" descr="break up">    </p:cNvPr>
          <p:cNvPicPr>
            <a:picLocks noChangeAspect="1"/>
          </p:cNvPicPr>
          <p:nvPr/>
        </p:nvPicPr>
        <p:blipFill>
          <a:blip r:embed="rId6"/>
          <a:stretch>
            <a:fillRect/>
          </a:stretch>
        </p:blipFill>
        <p:spPr>
          <a:xfrm>
            <a:off x="2862072" y="2651912"/>
            <a:ext cx="566623" cy="566623"/>
          </a:xfrm>
          <a:prstGeom prst="rect">
            <a:avLst/>
          </a:prstGeom>
        </p:spPr>
      </p:pic>
      <p:sp>
        <p:nvSpPr>
          <p:cNvPr id="28" name="tw_212"/>
          <p:cNvSpPr txBox="1"/>
          <p:nvPr/>
        </p:nvSpPr>
        <p:spPr>
          <a:xfrm>
            <a:off x="3446983" y="2557272"/>
            <a:ext cx="1243889" cy="515112"/>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break up</a:t>
            </a:r>
            <a:endParaRPr lang="en-US" sz="1300" dirty="0"/>
          </a:p>
        </p:txBody>
      </p:sp>
      <p:sp>
        <p:nvSpPr>
          <p:cNvPr id="29" name="R1_it3"/>
          <p:cNvSpPr txBox="1"/>
          <p:nvPr/>
        </p:nvSpPr>
        <p:spPr>
          <a:xfrm>
            <a:off x="3446983" y="3026664"/>
            <a:ext cx="1243889" cy="432694"/>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lasciarsi</a:t>
            </a:r>
            <a:endParaRPr lang="en-US" sz="1150" dirty="0"/>
          </a:p>
        </p:txBody>
      </p:sp>
      <p:sp>
        <p:nvSpPr>
          <p:cNvPr id="30" name="tile_213"/>
          <p:cNvSpPr/>
          <p:nvPr/>
        </p:nvSpPr>
        <p:spPr>
          <a:xfrm>
            <a:off x="4837176" y="2511552"/>
            <a:ext cx="1938528" cy="1030224"/>
          </a:xfrm>
          <a:prstGeom prst="roundRect">
            <a:avLst>
              <a:gd name="adj" fmla="val 7101"/>
            </a:avLst>
          </a:prstGeom>
          <a:solidFill>
            <a:srgbClr val="FFFFFF"/>
          </a:solidFill>
          <a:ln w="19050">
            <a:solidFill>
              <a:srgbClr val="111111"/>
            </a:solidFill>
            <a:prstDash val="solid"/>
          </a:ln>
        </p:spPr>
      </p:sp>
      <p:pic>
        <p:nvPicPr>
          <p:cNvPr id="31" name="ti_214" descr="flatmate">    </p:cNvPr>
          <p:cNvPicPr>
            <a:picLocks noChangeAspect="1"/>
          </p:cNvPicPr>
          <p:nvPr/>
        </p:nvPicPr>
        <p:blipFill>
          <a:blip r:embed="rId7"/>
          <a:stretch>
            <a:fillRect/>
          </a:stretch>
        </p:blipFill>
        <p:spPr>
          <a:xfrm>
            <a:off x="4910328" y="2651912"/>
            <a:ext cx="566623" cy="566623"/>
          </a:xfrm>
          <a:prstGeom prst="rect">
            <a:avLst/>
          </a:prstGeom>
        </p:spPr>
      </p:pic>
      <p:sp>
        <p:nvSpPr>
          <p:cNvPr id="32" name="tw_215"/>
          <p:cNvSpPr txBox="1"/>
          <p:nvPr/>
        </p:nvSpPr>
        <p:spPr>
          <a:xfrm>
            <a:off x="5495239" y="2557272"/>
            <a:ext cx="1243889" cy="515112"/>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flatmate</a:t>
            </a:r>
            <a:endParaRPr lang="en-US" sz="1300" dirty="0"/>
          </a:p>
        </p:txBody>
      </p:sp>
      <p:sp>
        <p:nvSpPr>
          <p:cNvPr id="33" name="R1_it4"/>
          <p:cNvSpPr txBox="1"/>
          <p:nvPr/>
        </p:nvSpPr>
        <p:spPr>
          <a:xfrm>
            <a:off x="5495239" y="3026664"/>
            <a:ext cx="1243889" cy="432694"/>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coinquilino</a:t>
            </a:r>
            <a:endParaRPr lang="en-US" sz="1150" dirty="0"/>
          </a:p>
        </p:txBody>
      </p:sp>
      <p:sp>
        <p:nvSpPr>
          <p:cNvPr id="34" name="tile_216"/>
          <p:cNvSpPr/>
          <p:nvPr/>
        </p:nvSpPr>
        <p:spPr>
          <a:xfrm>
            <a:off x="6885432" y="2511552"/>
            <a:ext cx="1938528" cy="1030224"/>
          </a:xfrm>
          <a:prstGeom prst="roundRect">
            <a:avLst>
              <a:gd name="adj" fmla="val 7101"/>
            </a:avLst>
          </a:prstGeom>
          <a:solidFill>
            <a:srgbClr val="FFFFFF"/>
          </a:solidFill>
          <a:ln w="19050">
            <a:solidFill>
              <a:srgbClr val="111111"/>
            </a:solidFill>
            <a:prstDash val="solid"/>
          </a:ln>
        </p:spPr>
      </p:sp>
      <p:pic>
        <p:nvPicPr>
          <p:cNvPr id="35" name="ti_217" descr="get to know">    </p:cNvPr>
          <p:cNvPicPr>
            <a:picLocks noChangeAspect="1"/>
          </p:cNvPicPr>
          <p:nvPr/>
        </p:nvPicPr>
        <p:blipFill>
          <a:blip r:embed="rId8"/>
          <a:stretch>
            <a:fillRect/>
          </a:stretch>
        </p:blipFill>
        <p:spPr>
          <a:xfrm>
            <a:off x="6958584" y="2651912"/>
            <a:ext cx="566623" cy="566623"/>
          </a:xfrm>
          <a:prstGeom prst="rect">
            <a:avLst/>
          </a:prstGeom>
        </p:spPr>
      </p:pic>
      <p:sp>
        <p:nvSpPr>
          <p:cNvPr id="36" name="tw_218"/>
          <p:cNvSpPr txBox="1"/>
          <p:nvPr/>
        </p:nvSpPr>
        <p:spPr>
          <a:xfrm>
            <a:off x="7543495" y="2557272"/>
            <a:ext cx="1243889" cy="515112"/>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get to know</a:t>
            </a:r>
            <a:endParaRPr lang="en-US" sz="1300" dirty="0"/>
          </a:p>
        </p:txBody>
      </p:sp>
      <p:sp>
        <p:nvSpPr>
          <p:cNvPr id="37" name="R1_it5"/>
          <p:cNvSpPr txBox="1"/>
          <p:nvPr/>
        </p:nvSpPr>
        <p:spPr>
          <a:xfrm>
            <a:off x="7543495" y="3026664"/>
            <a:ext cx="1243889" cy="432694"/>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conoscere (meglio)</a:t>
            </a:r>
            <a:endParaRPr lang="en-US" sz="1150" dirty="0"/>
          </a:p>
        </p:txBody>
      </p:sp>
      <p:sp>
        <p:nvSpPr>
          <p:cNvPr id="38" name="tile_219"/>
          <p:cNvSpPr/>
          <p:nvPr/>
        </p:nvSpPr>
        <p:spPr>
          <a:xfrm>
            <a:off x="2788920" y="3651504"/>
            <a:ext cx="1938528" cy="1030224"/>
          </a:xfrm>
          <a:prstGeom prst="roundRect">
            <a:avLst>
              <a:gd name="adj" fmla="val 7101"/>
            </a:avLst>
          </a:prstGeom>
          <a:solidFill>
            <a:srgbClr val="FFFFFF"/>
          </a:solidFill>
          <a:ln w="19050">
            <a:solidFill>
              <a:srgbClr val="111111"/>
            </a:solidFill>
            <a:prstDash val="solid"/>
          </a:ln>
        </p:spPr>
      </p:sp>
      <p:pic>
        <p:nvPicPr>
          <p:cNvPr id="39" name="ti_220" descr="colleague">    </p:cNvPr>
          <p:cNvPicPr>
            <a:picLocks noChangeAspect="1"/>
          </p:cNvPicPr>
          <p:nvPr/>
        </p:nvPicPr>
        <p:blipFill>
          <a:blip r:embed="rId9"/>
          <a:stretch>
            <a:fillRect/>
          </a:stretch>
        </p:blipFill>
        <p:spPr>
          <a:xfrm>
            <a:off x="2862072" y="3791864"/>
            <a:ext cx="566623" cy="566623"/>
          </a:xfrm>
          <a:prstGeom prst="rect">
            <a:avLst/>
          </a:prstGeom>
        </p:spPr>
      </p:pic>
      <p:sp>
        <p:nvSpPr>
          <p:cNvPr id="40" name="tw_221"/>
          <p:cNvSpPr txBox="1"/>
          <p:nvPr/>
        </p:nvSpPr>
        <p:spPr>
          <a:xfrm>
            <a:off x="3446983" y="3697224"/>
            <a:ext cx="1243889" cy="515112"/>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colleague</a:t>
            </a:r>
            <a:endParaRPr lang="en-US" sz="1300" dirty="0"/>
          </a:p>
        </p:txBody>
      </p:sp>
      <p:sp>
        <p:nvSpPr>
          <p:cNvPr id="41" name="R1_it6"/>
          <p:cNvSpPr txBox="1"/>
          <p:nvPr/>
        </p:nvSpPr>
        <p:spPr>
          <a:xfrm>
            <a:off x="3446983" y="4166616"/>
            <a:ext cx="1243889" cy="432694"/>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collega</a:t>
            </a:r>
            <a:endParaRPr lang="en-US" sz="1150" dirty="0"/>
          </a:p>
        </p:txBody>
      </p:sp>
      <p:sp>
        <p:nvSpPr>
          <p:cNvPr id="42" name="tile_222"/>
          <p:cNvSpPr/>
          <p:nvPr/>
        </p:nvSpPr>
        <p:spPr>
          <a:xfrm>
            <a:off x="4837176" y="3651504"/>
            <a:ext cx="1938528" cy="1030224"/>
          </a:xfrm>
          <a:prstGeom prst="roundRect">
            <a:avLst>
              <a:gd name="adj" fmla="val 7101"/>
            </a:avLst>
          </a:prstGeom>
          <a:solidFill>
            <a:srgbClr val="FFFFFF"/>
          </a:solidFill>
          <a:ln w="19050">
            <a:solidFill>
              <a:srgbClr val="111111"/>
            </a:solidFill>
            <a:prstDash val="solid"/>
          </a:ln>
        </p:spPr>
      </p:sp>
      <p:pic>
        <p:nvPicPr>
          <p:cNvPr id="43" name="ti_223" descr="close friend">    </p:cNvPr>
          <p:cNvPicPr>
            <a:picLocks noChangeAspect="1"/>
          </p:cNvPicPr>
          <p:nvPr/>
        </p:nvPicPr>
        <p:blipFill>
          <a:blip r:embed="rId10"/>
          <a:stretch>
            <a:fillRect/>
          </a:stretch>
        </p:blipFill>
        <p:spPr>
          <a:xfrm>
            <a:off x="4910328" y="3791864"/>
            <a:ext cx="566623" cy="566623"/>
          </a:xfrm>
          <a:prstGeom prst="rect">
            <a:avLst/>
          </a:prstGeom>
        </p:spPr>
      </p:pic>
      <p:sp>
        <p:nvSpPr>
          <p:cNvPr id="44" name="tw_224"/>
          <p:cNvSpPr txBox="1"/>
          <p:nvPr/>
        </p:nvSpPr>
        <p:spPr>
          <a:xfrm>
            <a:off x="5495239" y="3697224"/>
            <a:ext cx="1243889" cy="515112"/>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close friend</a:t>
            </a:r>
            <a:endParaRPr lang="en-US" sz="1300" dirty="0"/>
          </a:p>
        </p:txBody>
      </p:sp>
      <p:sp>
        <p:nvSpPr>
          <p:cNvPr id="45" name="R1_it7"/>
          <p:cNvSpPr txBox="1"/>
          <p:nvPr/>
        </p:nvSpPr>
        <p:spPr>
          <a:xfrm>
            <a:off x="5495239" y="4166616"/>
            <a:ext cx="1243889" cy="432694"/>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amico intimo</a:t>
            </a:r>
            <a:endParaRPr lang="en-US" sz="1150" dirty="0"/>
          </a:p>
        </p:txBody>
      </p:sp>
      <p:sp>
        <p:nvSpPr>
          <p:cNvPr id="46" name="tile_225"/>
          <p:cNvSpPr/>
          <p:nvPr/>
        </p:nvSpPr>
        <p:spPr>
          <a:xfrm>
            <a:off x="6885432" y="3651504"/>
            <a:ext cx="1938528" cy="1030224"/>
          </a:xfrm>
          <a:prstGeom prst="roundRect">
            <a:avLst>
              <a:gd name="adj" fmla="val 7101"/>
            </a:avLst>
          </a:prstGeom>
          <a:solidFill>
            <a:srgbClr val="FFFFFF"/>
          </a:solidFill>
          <a:ln w="19050">
            <a:solidFill>
              <a:srgbClr val="111111"/>
            </a:solidFill>
            <a:prstDash val="solid"/>
          </a:ln>
        </p:spPr>
      </p:sp>
      <p:pic>
        <p:nvPicPr>
          <p:cNvPr id="47" name="ti_226" descr="get in touch">    </p:cNvPr>
          <p:cNvPicPr>
            <a:picLocks noChangeAspect="1"/>
          </p:cNvPicPr>
          <p:nvPr/>
        </p:nvPicPr>
        <p:blipFill>
          <a:blip r:embed="rId11"/>
          <a:stretch>
            <a:fillRect/>
          </a:stretch>
        </p:blipFill>
        <p:spPr>
          <a:xfrm>
            <a:off x="6958584" y="3791864"/>
            <a:ext cx="566623" cy="566623"/>
          </a:xfrm>
          <a:prstGeom prst="rect">
            <a:avLst/>
          </a:prstGeom>
        </p:spPr>
      </p:pic>
      <p:sp>
        <p:nvSpPr>
          <p:cNvPr id="48" name="tw_227"/>
          <p:cNvSpPr txBox="1"/>
          <p:nvPr/>
        </p:nvSpPr>
        <p:spPr>
          <a:xfrm>
            <a:off x="7543495" y="3697224"/>
            <a:ext cx="1243889" cy="515112"/>
          </a:xfrm>
          <a:prstGeom prst="rect">
            <a:avLst/>
          </a:prstGeom>
          <a:noFill/>
          <a:ln/>
        </p:spPr>
        <p:txBody>
          <a:bodyPr wrap="square" lIns="0" tIns="0" rIns="0" bIns="0" rtlCol="0" anchor="ctr"/>
          <a:lstStyle/>
          <a:p>
            <a:pPr indent="0" marL="0">
              <a:buNone/>
            </a:pPr>
            <a:r>
              <a:rPr lang="en-US" sz="1300" b="1" dirty="0">
                <a:solidFill>
                  <a:srgbClr val="111111"/>
                </a:solidFill>
                <a:latin typeface="Calibri" pitchFamily="34" charset="0"/>
                <a:ea typeface="Calibri" pitchFamily="34" charset="-122"/>
                <a:cs typeface="Calibri" pitchFamily="34" charset="-120"/>
              </a:rPr>
              <a:t>get in touch</a:t>
            </a:r>
            <a:endParaRPr lang="en-US" sz="1300" dirty="0"/>
          </a:p>
        </p:txBody>
      </p:sp>
      <p:sp>
        <p:nvSpPr>
          <p:cNvPr id="49" name="R1_it8"/>
          <p:cNvSpPr txBox="1"/>
          <p:nvPr/>
        </p:nvSpPr>
        <p:spPr>
          <a:xfrm>
            <a:off x="7543495" y="4166616"/>
            <a:ext cx="1243889" cy="432694"/>
          </a:xfrm>
          <a:prstGeom prst="rect">
            <a:avLst/>
          </a:prstGeom>
          <a:noFill/>
          <a:ln/>
        </p:spPr>
        <p:txBody>
          <a:bodyPr wrap="square" lIns="0" tIns="0" rIns="0" bIns="0" rtlCol="0" anchor="ctr"/>
          <a:lstStyle/>
          <a:p>
            <a:pPr indent="0" marL="0">
              <a:buNone/>
            </a:pPr>
            <a:r>
              <a:rPr lang="en-US" sz="1150" i="1" dirty="0">
                <a:solidFill>
                  <a:srgbClr val="6D3FC0"/>
                </a:solidFill>
                <a:latin typeface="Calibri" pitchFamily="34" charset="0"/>
                <a:ea typeface="Calibri" pitchFamily="34" charset="-122"/>
                <a:cs typeface="Calibri" pitchFamily="34" charset="-120"/>
              </a:rPr>
              <a:t>mettersi in contatto</a:t>
            </a:r>
            <a:endParaRPr lang="en-US" sz="1150" dirty="0"/>
          </a:p>
        </p:txBody>
      </p:sp>
      <p:sp>
        <p:nvSpPr>
          <p:cNvPr id="50" name="pageTag_228"/>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revision of Vocabulary Bank Relationships p.158</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par>
                                <p:cTn id="11" presetID="10"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400"/>
                                        <p:tgtEl>
                                          <p:spTgt spid="25"/>
                                        </p:tgtEl>
                                      </p:cBhvr>
                                    </p:animEffect>
                                  </p:childTnLst>
                                </p:cTn>
                              </p:par>
                              <p:par>
                                <p:cTn id="14" presetID="10" presetClass="entr" presetSubtype="0" fill="hold"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400"/>
                                        <p:tgtEl>
                                          <p:spTgt spid="29"/>
                                        </p:tgtEl>
                                      </p:cBhvr>
                                    </p:animEffect>
                                  </p:childTnLst>
                                </p:cTn>
                              </p:par>
                              <p:par>
                                <p:cTn id="17" presetID="10" presetClass="entr" presetSubtype="0" fill="hold" nodeType="with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fade">
                                      <p:cBhvr>
                                        <p:cTn id="19" dur="400"/>
                                        <p:tgtEl>
                                          <p:spTgt spid="33"/>
                                        </p:tgtEl>
                                      </p:cBhvr>
                                    </p:animEffect>
                                  </p:childTnLst>
                                </p:cTn>
                              </p:par>
                              <p:par>
                                <p:cTn id="20" presetID="10" presetClass="entr" presetSubtype="0" fill="hold" nodeType="with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400"/>
                                        <p:tgtEl>
                                          <p:spTgt spid="37"/>
                                        </p:tgtEl>
                                      </p:cBhvr>
                                    </p:animEffect>
                                  </p:childTnLst>
                                </p:cTn>
                              </p:par>
                              <p:par>
                                <p:cTn id="23" presetID="10" presetClass="entr" presetSubtype="0" fill="hold" nodeType="with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fade">
                                      <p:cBhvr>
                                        <p:cTn id="25" dur="400"/>
                                        <p:tgtEl>
                                          <p:spTgt spid="41"/>
                                        </p:tgtEl>
                                      </p:cBhvr>
                                    </p:animEffect>
                                  </p:childTnLst>
                                </p:cTn>
                              </p:par>
                              <p:par>
                                <p:cTn id="26" presetID="10" presetClass="entr" presetSubtype="0" fill="hold" nodeType="withEffect">
                                  <p:stCondLst>
                                    <p:cond delay="0"/>
                                  </p:stCondLst>
                                  <p:childTnLst>
                                    <p:set>
                                      <p:cBhvr>
                                        <p:cTn id="27" dur="1" fill="hold">
                                          <p:stCondLst>
                                            <p:cond delay="0"/>
                                          </p:stCondLst>
                                        </p:cTn>
                                        <p:tgtEl>
                                          <p:spTgt spid="45"/>
                                        </p:tgtEl>
                                        <p:attrNameLst>
                                          <p:attrName>style.visibility</p:attrName>
                                        </p:attrNameLst>
                                      </p:cBhvr>
                                      <p:to>
                                        <p:strVal val="visible"/>
                                      </p:to>
                                    </p:set>
                                    <p:animEffect transition="in" filter="fade">
                                      <p:cBhvr>
                                        <p:cTn id="28" dur="400"/>
                                        <p:tgtEl>
                                          <p:spTgt spid="45"/>
                                        </p:tgtEl>
                                      </p:cBhvr>
                                    </p:animEffect>
                                  </p:childTnLst>
                                </p:cTn>
                              </p:par>
                              <p:par>
                                <p:cTn id="29" presetID="10" presetClass="entr" presetSubtype="0" fill="hold" nodeType="withEffect">
                                  <p:stCondLst>
                                    <p:cond delay="0"/>
                                  </p:stCondLst>
                                  <p:childTnLst>
                                    <p:set>
                                      <p:cBhvr>
                                        <p:cTn id="30" dur="1" fill="hold">
                                          <p:stCondLst>
                                            <p:cond delay="0"/>
                                          </p:stCondLst>
                                        </p:cTn>
                                        <p:tgtEl>
                                          <p:spTgt spid="49"/>
                                        </p:tgtEl>
                                        <p:attrNameLst>
                                          <p:attrName>style.visibility</p:attrName>
                                        </p:attrNameLst>
                                      </p:cBhvr>
                                      <p:to>
                                        <p:strVal val="visible"/>
                                      </p:to>
                                    </p:set>
                                    <p:animEffect transition="in" filter="fade">
                                      <p:cBhvr>
                                        <p:cTn id="31" dur="4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29"/>
          <p:cNvSpPr/>
          <p:nvPr/>
        </p:nvSpPr>
        <p:spPr>
          <a:xfrm>
            <a:off x="54864" y="54864"/>
            <a:ext cx="9034272" cy="5033772"/>
          </a:xfrm>
          <a:prstGeom prst="rect">
            <a:avLst/>
          </a:prstGeom>
          <a:ln w="114300">
            <a:solidFill>
              <a:srgbClr val="A8E6B4"/>
            </a:solidFill>
            <a:prstDash val="solid"/>
          </a:ln>
        </p:spPr>
      </p:sp>
      <p:pic>
        <p:nvPicPr>
          <p:cNvPr id="4" name="logo_230"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footer_231"/>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5B · Part 2</a:t>
            </a:r>
            <a:endParaRPr lang="en-US" sz="1000" dirty="0"/>
          </a:p>
        </p:txBody>
      </p:sp>
      <p:sp>
        <p:nvSpPr>
          <p:cNvPr id="6" name="title_232"/>
          <p:cNvSpPr txBox="1"/>
          <p:nvPr/>
        </p:nvSpPr>
        <p:spPr>
          <a:xfrm rot="90000">
            <a:off x="320040" y="676656"/>
            <a:ext cx="4151376"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Look what you can do!</a:t>
            </a:r>
            <a:endParaRPr lang="en-US" sz="1500" dirty="0"/>
          </a:p>
        </p:txBody>
      </p:sp>
      <p:sp>
        <p:nvSpPr>
          <p:cNvPr id="7" name="tape_233"/>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8" name="tape_234"/>
          <p:cNvSpPr/>
          <p:nvPr/>
        </p:nvSpPr>
        <p:spPr>
          <a:xfrm rot="-720000">
            <a:off x="3904488" y="1069848"/>
            <a:ext cx="685800" cy="219456"/>
          </a:xfrm>
          <a:prstGeom prst="rect">
            <a:avLst/>
          </a:prstGeom>
          <a:solidFill>
            <a:srgbClr val="FFD84D">
              <a:alpha val="75000"/>
            </a:srgbClr>
          </a:solidFill>
          <a:ln w="6350">
            <a:solidFill>
              <a:srgbClr val="FFD84D"/>
            </a:solidFill>
            <a:prstDash val="solid"/>
          </a:ln>
        </p:spPr>
      </p:sp>
      <p:sp>
        <p:nvSpPr>
          <p:cNvPr id="9" name="sub_235"/>
          <p:cNvSpPr txBox="1"/>
          <p:nvPr/>
        </p:nvSpPr>
        <p:spPr>
          <a:xfrm>
            <a:off x="365760" y="1234440"/>
            <a:ext cx="3657600" cy="274320"/>
          </a:xfrm>
          <a:prstGeom prst="rect">
            <a:avLst/>
          </a:prstGeom>
          <a:noFill/>
          <a:ln/>
        </p:spPr>
        <p:txBody>
          <a:bodyPr wrap="square"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Guarda cosa sai fare adesso!</a:t>
            </a:r>
            <a:endParaRPr lang="en-US" sz="1200" dirty="0"/>
          </a:p>
        </p:txBody>
      </p:sp>
      <p:sp>
        <p:nvSpPr>
          <p:cNvPr id="10" name="box_236"/>
          <p:cNvSpPr txBox="1"/>
          <p:nvPr/>
        </p:nvSpPr>
        <p:spPr>
          <a:xfrm>
            <a:off x="365760" y="1600200"/>
            <a:ext cx="4846320" cy="54864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talk about people and relationships.</a:t>
            </a:r>
            <a:endParaRPr lang="en-US" sz="1350" dirty="0"/>
          </a:p>
        </p:txBody>
      </p:sp>
      <p:sp>
        <p:nvSpPr>
          <p:cNvPr id="11" name="faces_237"/>
          <p:cNvSpPr txBox="1"/>
          <p:nvPr/>
        </p:nvSpPr>
        <p:spPr>
          <a:xfrm>
            <a:off x="5230368" y="160020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2" name="box_238"/>
          <p:cNvSpPr txBox="1"/>
          <p:nvPr/>
        </p:nvSpPr>
        <p:spPr>
          <a:xfrm>
            <a:off x="365760" y="2240280"/>
            <a:ext cx="4846320" cy="54864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00" b="1" dirty="0">
                <a:solidFill>
                  <a:srgbClr val="111111"/>
                </a:solidFill>
                <a:latin typeface="Calibri" pitchFamily="34" charset="0"/>
                <a:ea typeface="Calibri" pitchFamily="34" charset="-122"/>
                <a:cs typeface="Calibri" pitchFamily="34" charset="-120"/>
              </a:rPr>
              <a:t>✓  I can understand a radio programme about friendship.</a:t>
            </a:r>
            <a:endParaRPr lang="en-US" sz="1300" dirty="0"/>
          </a:p>
        </p:txBody>
      </p:sp>
      <p:sp>
        <p:nvSpPr>
          <p:cNvPr id="13" name="faces_239"/>
          <p:cNvSpPr txBox="1"/>
          <p:nvPr/>
        </p:nvSpPr>
        <p:spPr>
          <a:xfrm>
            <a:off x="5230368" y="224028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4" name="box_240"/>
          <p:cNvSpPr txBox="1"/>
          <p:nvPr/>
        </p:nvSpPr>
        <p:spPr>
          <a:xfrm>
            <a:off x="365760" y="2880360"/>
            <a:ext cx="4846320" cy="54864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present my opinion for one minute.</a:t>
            </a:r>
            <a:endParaRPr lang="en-US" sz="1350" dirty="0"/>
          </a:p>
        </p:txBody>
      </p:sp>
      <p:sp>
        <p:nvSpPr>
          <p:cNvPr id="15" name="faces_241"/>
          <p:cNvSpPr txBox="1"/>
          <p:nvPr/>
        </p:nvSpPr>
        <p:spPr>
          <a:xfrm>
            <a:off x="5230368" y="288036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6" name="hw_242"/>
          <p:cNvSpPr txBox="1"/>
          <p:nvPr/>
        </p:nvSpPr>
        <p:spPr>
          <a:xfrm rot="90000">
            <a:off x="6446520" y="1325880"/>
            <a:ext cx="2377440" cy="2651760"/>
          </a:xfrm>
          <a:prstGeom prst="rect">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114300" tIns="114300" rIns="114300" bIns="114300" rtlCol="0" anchor="t"/>
          <a:lstStyle/>
          <a:p>
            <a:pPr indent="0" marL="0">
              <a:spcAft>
                <a:spcPts val="500"/>
              </a:spcAft>
              <a:buNone/>
            </a:pPr>
            <a:r>
              <a:rPr lang="en-US" sz="1200" b="1" dirty="0">
                <a:solidFill>
                  <a:srgbClr val="FFD84D"/>
                </a:solidFill>
                <a:latin typeface="Arial Black" pitchFamily="34" charset="0"/>
                <a:ea typeface="Arial Black" pitchFamily="34" charset="-122"/>
                <a:cs typeface="Arial Black" pitchFamily="34" charset="-120"/>
              </a:rPr>
              <a:t>HOMEWORK · COMPITI</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Workbook 5B: 3a, 3b, 3c, 3d</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Vocabulary Bank p.158: test yourself</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Homework sheet 5B-2</a:t>
            </a:r>
            <a:endParaRPr lang="en-US" sz="1250" dirty="0"/>
          </a:p>
          <a:p>
            <a:pPr indent="0" marL="0">
              <a:spcAft>
                <a:spcPts val="500"/>
              </a:spcAft>
              <a:buNone/>
            </a:pPr>
            <a:r>
              <a:rPr lang="en-US" sz="1050" i="1" dirty="0">
                <a:solidFill>
                  <a:srgbClr val="C7D2FE"/>
                </a:solidFill>
                <a:latin typeface="Calibri" pitchFamily="34" charset="0"/>
                <a:ea typeface="Calibri" pitchFamily="34" charset="-122"/>
                <a:cs typeface="Calibri" pitchFamily="34" charset="-120"/>
              </a:rPr>
              <a:t>📷 Hand it in on the LLS app · Consegna nell'app LLS</a:t>
            </a:r>
            <a:endParaRPr lang="en-US" sz="1250" dirty="0"/>
          </a:p>
        </p:txBody>
      </p:sp>
      <p:sp>
        <p:nvSpPr>
          <p:cNvPr id="17" name="stamp_243"/>
          <p:cNvSpPr txBox="1"/>
          <p:nvPr/>
        </p:nvSpPr>
        <p:spPr>
          <a:xfrm>
            <a:off x="365760" y="3657600"/>
            <a:ext cx="4663440" cy="384048"/>
          </a:xfrm>
          <a:prstGeom prst="roundRect">
            <a:avLst>
              <a:gd name="adj" fmla="val 14286"/>
            </a:avLst>
          </a:prstGeom>
          <a:solidFill>
            <a:srgbClr val="FFFFFF"/>
          </a:solidFill>
          <a:ln w="38100">
            <a:solidFill>
              <a:srgbClr val="6D3FC0"/>
            </a:solidFill>
          </a:ln>
        </p:spPr>
        <p:txBody>
          <a:bodyPr wrap="square" lIns="25400" tIns="25400" rIns="25400" bIns="25400" rtlCol="0" anchor="ctr"/>
          <a:lstStyle/>
          <a:p>
            <a:pPr algn="ctr" indent="0" marL="0">
              <a:buNone/>
            </a:pPr>
            <a:r>
              <a:rPr lang="en-US" sz="1200" dirty="0">
                <a:solidFill>
                  <a:srgbClr val="6D3FC0"/>
                </a:solidFill>
                <a:latin typeface="Calibri" pitchFamily="34" charset="0"/>
                <a:ea typeface="Calibri" pitchFamily="34" charset="-122"/>
                <a:cs typeface="Calibri" pitchFamily="34" charset="-120"/>
              </a:rPr>
              <a:t>Next lesson: Practical English 3 · Old friends</a:t>
            </a:r>
            <a:endParaRPr lang="en-US" sz="1200" dirty="0"/>
          </a:p>
        </p:txBody>
      </p:sp>
    </p:spTree>
  </p:cSld>
  <p:clrMapOvr>
    <a:masterClrMapping/>
  </p:clrMapOvr>
  <p:transition spd="med">
    <p:push dir="l"/>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44"/>
          <p:cNvSpPr/>
          <p:nvPr/>
        </p:nvSpPr>
        <p:spPr>
          <a:xfrm>
            <a:off x="54864" y="54864"/>
            <a:ext cx="9034272" cy="5033772"/>
          </a:xfrm>
          <a:prstGeom prst="rect">
            <a:avLst/>
          </a:prstGeom>
          <a:ln w="114300">
            <a:solidFill>
              <a:srgbClr val="A8E6B4"/>
            </a:solidFill>
            <a:prstDash val="solid"/>
          </a:ln>
        </p:spPr>
      </p:sp>
      <p:pic>
        <p:nvPicPr>
          <p:cNvPr id="4" name="logo_245"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46"/>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Writing · Radio dedication</a:t>
            </a:r>
            <a:endParaRPr lang="en-US" sz="900" dirty="0"/>
          </a:p>
        </p:txBody>
      </p:sp>
      <p:sp>
        <p:nvSpPr>
          <p:cNvPr id="6" name="timer_247"/>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7 min</a:t>
            </a:r>
            <a:endParaRPr lang="en-US" sz="1200" dirty="0"/>
          </a:p>
        </p:txBody>
      </p:sp>
      <p:sp>
        <p:nvSpPr>
          <p:cNvPr id="7" name="extra_248"/>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249"/>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5B · Part 2</a:t>
            </a:r>
            <a:endParaRPr lang="en-US" sz="1000" dirty="0"/>
          </a:p>
        </p:txBody>
      </p:sp>
      <p:sp>
        <p:nvSpPr>
          <p:cNvPr id="9" name="title_250"/>
          <p:cNvSpPr txBox="1"/>
          <p:nvPr/>
        </p:nvSpPr>
        <p:spPr>
          <a:xfrm rot="90000">
            <a:off x="320040" y="676656"/>
            <a:ext cx="3803904"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A song for a friend</a:t>
            </a:r>
            <a:endParaRPr lang="en-US" sz="1500" dirty="0"/>
          </a:p>
        </p:txBody>
      </p:sp>
      <p:sp>
        <p:nvSpPr>
          <p:cNvPr id="10" name="tape_251"/>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1" name="tape_252"/>
          <p:cNvSpPr/>
          <p:nvPr/>
        </p:nvSpPr>
        <p:spPr>
          <a:xfrm rot="-720000">
            <a:off x="3557016" y="1069848"/>
            <a:ext cx="685800" cy="219456"/>
          </a:xfrm>
          <a:prstGeom prst="rect">
            <a:avLst/>
          </a:prstGeom>
          <a:solidFill>
            <a:srgbClr val="FFD84D">
              <a:alpha val="75000"/>
            </a:srgbClr>
          </a:solidFill>
          <a:ln w="6350">
            <a:solidFill>
              <a:srgbClr val="FFD84D"/>
            </a:solidFill>
            <a:prstDash val="solid"/>
          </a:ln>
        </p:spPr>
      </p:sp>
      <p:sp>
        <p:nvSpPr>
          <p:cNvPr id="12" name="post_253"/>
          <p:cNvSpPr/>
          <p:nvPr/>
        </p:nvSpPr>
        <p:spPr>
          <a:xfrm>
            <a:off x="429768" y="1554480"/>
            <a:ext cx="128016" cy="2194560"/>
          </a:xfrm>
          <a:prstGeom prst="rect">
            <a:avLst/>
          </a:prstGeom>
          <a:solidFill>
            <a:srgbClr val="8B5A2B"/>
          </a:solidFill>
          <a:ln w="31750">
            <a:solidFill>
              <a:srgbClr val="111111"/>
            </a:solidFill>
            <a:prstDash val="solid"/>
          </a:ln>
        </p:spPr>
      </p:sp>
      <p:sp>
        <p:nvSpPr>
          <p:cNvPr id="13" name="signA_254"/>
          <p:cNvSpPr txBox="1"/>
          <p:nvPr/>
        </p:nvSpPr>
        <p:spPr>
          <a:xfrm rot="-180000">
            <a:off x="320040" y="1371600"/>
            <a:ext cx="2240280" cy="457200"/>
          </a:xfrm>
          <a:prstGeom prst="homePlate">
            <a:avLst/>
          </a:prstGeom>
          <a:solidFill>
            <a:srgbClr val="6D3FC0"/>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WRITE!</a:t>
            </a:r>
            <a:pPr indent="0" marL="0">
              <a:buNone/>
            </a:pPr>
            <a:r>
              <a:rPr lang="en-US" sz="1000" dirty="0">
                <a:solidFill>
                  <a:srgbClr val="FFF3B0"/>
                </a:solidFill>
                <a:latin typeface="Arial Black" pitchFamily="34" charset="0"/>
                <a:ea typeface="Arial Black" pitchFamily="34" charset="-122"/>
                <a:cs typeface="Arial Black" pitchFamily="34" charset="-120"/>
              </a:rPr>
              <a:t>  SCRIVI!</a:t>
            </a:r>
            <a:endParaRPr lang="en-US" sz="1500" dirty="0"/>
          </a:p>
        </p:txBody>
      </p:sp>
      <p:sp>
        <p:nvSpPr>
          <p:cNvPr id="14" name="signB_255"/>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Write a radio dedication for a friend (40–50 words).</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Scrivi una dedica radiofonica per un amico (40–50 parole).</a:t>
            </a:r>
            <a:endParaRPr lang="en-US" sz="1250" dirty="0"/>
          </a:p>
        </p:txBody>
      </p:sp>
      <p:sp>
        <p:nvSpPr>
          <p:cNvPr id="15" name="iconBack_256"/>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6" name="icon_257" descr="pi:PiMusicNotes">    </p:cNvPr>
          <p:cNvPicPr>
            <a:picLocks noChangeAspect="1"/>
          </p:cNvPicPr>
          <p:nvPr/>
        </p:nvPicPr>
        <p:blipFill>
          <a:blip r:embed="rId3"/>
          <a:stretch>
            <a:fillRect/>
          </a:stretch>
        </p:blipFill>
        <p:spPr>
          <a:xfrm>
            <a:off x="914400" y="3474720"/>
            <a:ext cx="685800" cy="685800"/>
          </a:xfrm>
          <a:prstGeom prst="rect">
            <a:avLst/>
          </a:prstGeom>
        </p:spPr>
      </p:pic>
      <p:sp>
        <p:nvSpPr>
          <p:cNvPr id="17" name="num_258"/>
          <p:cNvSpPr txBox="1"/>
          <p:nvPr/>
        </p:nvSpPr>
        <p:spPr>
          <a:xfrm>
            <a:off x="2788920" y="1482471"/>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8" name="box_259"/>
          <p:cNvSpPr txBox="1"/>
          <p:nvPr/>
        </p:nvSpPr>
        <p:spPr>
          <a:xfrm>
            <a:off x="3264408" y="137160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Remember the end of the radio programme? Mandy asked for 'I'll be there for you' for her best friend Annie.</a:t>
            </a:r>
            <a:endParaRPr lang="en-US" sz="1300" dirty="0"/>
          </a:p>
        </p:txBody>
      </p:sp>
      <p:sp>
        <p:nvSpPr>
          <p:cNvPr id="19" name="num_260"/>
          <p:cNvSpPr txBox="1"/>
          <p:nvPr/>
        </p:nvSpPr>
        <p:spPr>
          <a:xfrm>
            <a:off x="2788920" y="2179701"/>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20" name="box_261"/>
          <p:cNvSpPr txBox="1"/>
          <p:nvPr/>
        </p:nvSpPr>
        <p:spPr>
          <a:xfrm>
            <a:off x="3264408" y="206883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Choose a friend (real or from a film / book) and a song.</a:t>
            </a:r>
            <a:endParaRPr lang="en-US" sz="1300" dirty="0"/>
          </a:p>
        </p:txBody>
      </p:sp>
      <p:sp>
        <p:nvSpPr>
          <p:cNvPr id="21" name="num_262"/>
          <p:cNvSpPr txBox="1"/>
          <p:nvPr/>
        </p:nvSpPr>
        <p:spPr>
          <a:xfrm>
            <a:off x="2788920" y="2876931"/>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22" name="box_263"/>
          <p:cNvSpPr txBox="1"/>
          <p:nvPr/>
        </p:nvSpPr>
        <p:spPr>
          <a:xfrm>
            <a:off x="3264408" y="276606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Write: how you met, what you have in common, why you chose the song.</a:t>
            </a:r>
            <a:endParaRPr lang="en-US" sz="1300" dirty="0"/>
          </a:p>
        </p:txBody>
      </p:sp>
      <p:sp>
        <p:nvSpPr>
          <p:cNvPr id="23" name="num_264"/>
          <p:cNvSpPr txBox="1"/>
          <p:nvPr/>
        </p:nvSpPr>
        <p:spPr>
          <a:xfrm>
            <a:off x="2788920" y="3574161"/>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4" name="box_265"/>
          <p:cNvSpPr txBox="1"/>
          <p:nvPr/>
        </p:nvSpPr>
        <p:spPr>
          <a:xfrm>
            <a:off x="3264408" y="346329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Read it out like a radio caller. The class guesses the song!</a:t>
            </a:r>
            <a:endParaRPr lang="en-US" sz="1300" dirty="0"/>
          </a:p>
        </p:txBody>
      </p:sp>
      <p:sp>
        <p:nvSpPr>
          <p:cNvPr id="25" name="bubble_266"/>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00" b="1" i="1" dirty="0">
                <a:solidFill>
                  <a:srgbClr val="111111"/>
                </a:solidFill>
                <a:latin typeface="Calibri" pitchFamily="34" charset="0"/>
                <a:ea typeface="Calibri" pitchFamily="34" charset="-122"/>
                <a:cs typeface="Calibri" pitchFamily="34" charset="-120"/>
              </a:rPr>
              <a:t>Hi! Can you play… for my friend Luca? We got to know each other at football training…</a:t>
            </a:r>
            <a:endParaRPr lang="en-US" sz="1100" dirty="0"/>
          </a:p>
        </p:txBody>
      </p:sp>
    </p:spTree>
  </p:cSld>
  <p:clrMapOvr>
    <a:masterClrMapping/>
  </p:clrMapOvr>
  <p:transition spd="med">
    <p:push dir="l"/>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67"/>
          <p:cNvSpPr/>
          <p:nvPr/>
        </p:nvSpPr>
        <p:spPr>
          <a:xfrm>
            <a:off x="54864" y="54864"/>
            <a:ext cx="9034272" cy="5033772"/>
          </a:xfrm>
          <a:prstGeom prst="rect">
            <a:avLst/>
          </a:prstGeom>
          <a:ln w="114300">
            <a:solidFill>
              <a:srgbClr val="A8E6B4"/>
            </a:solidFill>
            <a:prstDash val="solid"/>
          </a:ln>
        </p:spPr>
      </p:sp>
      <p:pic>
        <p:nvPicPr>
          <p:cNvPr id="4" name="logo_26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6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Speaking · Problem page</a:t>
            </a:r>
            <a:endParaRPr lang="en-US" sz="900" dirty="0"/>
          </a:p>
        </p:txBody>
      </p:sp>
      <p:sp>
        <p:nvSpPr>
          <p:cNvPr id="6" name="timer_270"/>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7 min</a:t>
            </a:r>
            <a:endParaRPr lang="en-US" sz="1200" dirty="0"/>
          </a:p>
        </p:txBody>
      </p:sp>
      <p:sp>
        <p:nvSpPr>
          <p:cNvPr id="7" name="extra_271"/>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27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5B · Part 2</a:t>
            </a:r>
            <a:endParaRPr lang="en-US" sz="1000" dirty="0"/>
          </a:p>
        </p:txBody>
      </p:sp>
      <p:sp>
        <p:nvSpPr>
          <p:cNvPr id="9" name="title_273"/>
          <p:cNvSpPr txBox="1"/>
          <p:nvPr/>
        </p:nvSpPr>
        <p:spPr>
          <a:xfrm rot="90000">
            <a:off x="320040" y="676656"/>
            <a:ext cx="3108960"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Ask Aunt Agatha</a:t>
            </a:r>
            <a:endParaRPr lang="en-US" sz="1500" dirty="0"/>
          </a:p>
        </p:txBody>
      </p:sp>
      <p:sp>
        <p:nvSpPr>
          <p:cNvPr id="10" name="tape_274"/>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1" name="tape_275"/>
          <p:cNvSpPr/>
          <p:nvPr/>
        </p:nvSpPr>
        <p:spPr>
          <a:xfrm rot="-720000">
            <a:off x="2862072" y="1069848"/>
            <a:ext cx="685800" cy="219456"/>
          </a:xfrm>
          <a:prstGeom prst="rect">
            <a:avLst/>
          </a:prstGeom>
          <a:solidFill>
            <a:srgbClr val="FFD84D">
              <a:alpha val="75000"/>
            </a:srgbClr>
          </a:solidFill>
          <a:ln w="6350">
            <a:solidFill>
              <a:srgbClr val="FFD84D"/>
            </a:solidFill>
            <a:prstDash val="solid"/>
          </a:ln>
        </p:spPr>
      </p:sp>
      <p:sp>
        <p:nvSpPr>
          <p:cNvPr id="12" name="post_276"/>
          <p:cNvSpPr/>
          <p:nvPr/>
        </p:nvSpPr>
        <p:spPr>
          <a:xfrm>
            <a:off x="429768" y="1554480"/>
            <a:ext cx="128016" cy="2194560"/>
          </a:xfrm>
          <a:prstGeom prst="rect">
            <a:avLst/>
          </a:prstGeom>
          <a:solidFill>
            <a:srgbClr val="8B5A2B"/>
          </a:solidFill>
          <a:ln w="31750">
            <a:solidFill>
              <a:srgbClr val="111111"/>
            </a:solidFill>
            <a:prstDash val="solid"/>
          </a:ln>
        </p:spPr>
      </p:sp>
      <p:sp>
        <p:nvSpPr>
          <p:cNvPr id="13" name="signA_277"/>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4" name="signB_278"/>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Read the problem. Give advice with a partner.</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Leggi il problema. Date un consiglio in coppia.</a:t>
            </a:r>
            <a:endParaRPr lang="en-US" sz="1250" dirty="0"/>
          </a:p>
        </p:txBody>
      </p:sp>
      <p:sp>
        <p:nvSpPr>
          <p:cNvPr id="15" name="box_279"/>
          <p:cNvSpPr txBox="1"/>
          <p:nvPr/>
        </p:nvSpPr>
        <p:spPr>
          <a:xfrm>
            <a:off x="2788920" y="1371600"/>
            <a:ext cx="6035040" cy="72694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1  "My best friend has a new boyfriend and I never see her any more."</a:t>
            </a:r>
            <a:endParaRPr lang="en-US" sz="1300" dirty="0"/>
          </a:p>
        </p:txBody>
      </p:sp>
      <p:sp>
        <p:nvSpPr>
          <p:cNvPr id="16" name="box_280"/>
          <p:cNvSpPr txBox="1"/>
          <p:nvPr/>
        </p:nvSpPr>
        <p:spPr>
          <a:xfrm>
            <a:off x="2788920" y="2226564"/>
            <a:ext cx="6035040" cy="72694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2  "My flatmate never does the washing-up."</a:t>
            </a:r>
            <a:endParaRPr lang="en-US" sz="1300" dirty="0"/>
          </a:p>
        </p:txBody>
      </p:sp>
      <p:sp>
        <p:nvSpPr>
          <p:cNvPr id="17" name="box_281"/>
          <p:cNvSpPr txBox="1"/>
          <p:nvPr/>
        </p:nvSpPr>
        <p:spPr>
          <a:xfrm>
            <a:off x="2788920" y="3081528"/>
            <a:ext cx="6035040" cy="72694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3  "I lost touch with my best friend from primary school. Should I contact her?"</a:t>
            </a:r>
            <a:endParaRPr lang="en-US" sz="1300" dirty="0"/>
          </a:p>
        </p:txBody>
      </p:sp>
      <p:sp>
        <p:nvSpPr>
          <p:cNvPr id="18" name="box_282"/>
          <p:cNvSpPr txBox="1"/>
          <p:nvPr/>
        </p:nvSpPr>
        <p:spPr>
          <a:xfrm>
            <a:off x="2788920" y="3936492"/>
            <a:ext cx="6035040" cy="72694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4  "My classmate copies my homework every week."</a:t>
            </a:r>
            <a:endParaRPr lang="en-US" sz="1300" dirty="0"/>
          </a:p>
        </p:txBody>
      </p:sp>
      <p:sp>
        <p:nvSpPr>
          <p:cNvPr id="19" name="sticky_283"/>
          <p:cNvSpPr txBox="1"/>
          <p:nvPr/>
        </p:nvSpPr>
        <p:spPr>
          <a:xfrm rot="-120000">
            <a:off x="411480" y="4023360"/>
            <a:ext cx="2194560" cy="640080"/>
          </a:xfrm>
          <a:prstGeom prst="rect">
            <a:avLst/>
          </a:prstGeom>
          <a:solidFill>
            <a:srgbClr val="FFD84D"/>
          </a:solidFill>
          <a:ln w="12700">
            <a:solidFill>
              <a:srgbClr val="B7950B"/>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50" b="1" dirty="0">
                <a:solidFill>
                  <a:srgbClr val="111111"/>
                </a:solidFill>
                <a:latin typeface="Calibri" pitchFamily="34" charset="0"/>
                <a:ea typeface="Calibri" pitchFamily="34" charset="-122"/>
                <a:cs typeface="Calibri" pitchFamily="34" charset="-120"/>
              </a:rPr>
              <a:t>You should… · Why don't you…? · If I were you, I'd…</a:t>
            </a:r>
            <a:endParaRPr lang="en-US" sz="1150" dirty="0"/>
          </a:p>
        </p:txBody>
      </p:sp>
    </p:spTree>
  </p:cSld>
  <p:clrMapOvr>
    <a:masterClrMapping/>
  </p:clrMapOvr>
  <p:transition spd="med">
    <p:push dir="l"/>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84"/>
          <p:cNvSpPr/>
          <p:nvPr/>
        </p:nvSpPr>
        <p:spPr>
          <a:xfrm>
            <a:off x="54864" y="54864"/>
            <a:ext cx="9034272" cy="5033772"/>
          </a:xfrm>
          <a:prstGeom prst="rect">
            <a:avLst/>
          </a:prstGeom>
          <a:ln w="114300">
            <a:solidFill>
              <a:srgbClr val="A8E6B4"/>
            </a:solidFill>
            <a:prstDash val="solid"/>
          </a:ln>
        </p:spPr>
      </p:sp>
      <p:pic>
        <p:nvPicPr>
          <p:cNvPr id="4" name="logo_285"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86"/>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Vocabulary photocopiable · Relationships</a:t>
            </a:r>
            <a:endParaRPr lang="en-US" sz="900" dirty="0"/>
          </a:p>
        </p:txBody>
      </p:sp>
      <p:sp>
        <p:nvSpPr>
          <p:cNvPr id="6" name="timer_287"/>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8 min</a:t>
            </a:r>
            <a:endParaRPr lang="en-US" sz="1200" dirty="0"/>
          </a:p>
        </p:txBody>
      </p:sp>
      <p:sp>
        <p:nvSpPr>
          <p:cNvPr id="7" name="extra_288"/>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289"/>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5B · Part 2</a:t>
            </a:r>
            <a:endParaRPr lang="en-US" sz="1000" dirty="0"/>
          </a:p>
        </p:txBody>
      </p:sp>
      <p:sp>
        <p:nvSpPr>
          <p:cNvPr id="9" name="title_290"/>
          <p:cNvSpPr txBox="1"/>
          <p:nvPr/>
        </p:nvSpPr>
        <p:spPr>
          <a:xfrm rot="90000">
            <a:off x="320040" y="676656"/>
            <a:ext cx="3630168"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Three love stories</a:t>
            </a:r>
            <a:endParaRPr lang="en-US" sz="1500" dirty="0"/>
          </a:p>
        </p:txBody>
      </p:sp>
      <p:sp>
        <p:nvSpPr>
          <p:cNvPr id="10" name="tape_291"/>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1" name="tape_292"/>
          <p:cNvSpPr/>
          <p:nvPr/>
        </p:nvSpPr>
        <p:spPr>
          <a:xfrm rot="-720000">
            <a:off x="3383280" y="1069848"/>
            <a:ext cx="685800" cy="219456"/>
          </a:xfrm>
          <a:prstGeom prst="rect">
            <a:avLst/>
          </a:prstGeom>
          <a:solidFill>
            <a:srgbClr val="FFD84D">
              <a:alpha val="75000"/>
            </a:srgbClr>
          </a:solidFill>
          <a:ln w="6350">
            <a:solidFill>
              <a:srgbClr val="FFD84D"/>
            </a:solidFill>
            <a:prstDash val="solid"/>
          </a:ln>
        </p:spPr>
      </p:sp>
      <p:sp>
        <p:nvSpPr>
          <p:cNvPr id="12" name="post_293"/>
          <p:cNvSpPr/>
          <p:nvPr/>
        </p:nvSpPr>
        <p:spPr>
          <a:xfrm>
            <a:off x="429768" y="1554480"/>
            <a:ext cx="128016" cy="2194560"/>
          </a:xfrm>
          <a:prstGeom prst="rect">
            <a:avLst/>
          </a:prstGeom>
          <a:solidFill>
            <a:srgbClr val="8B5A2B"/>
          </a:solidFill>
          <a:ln w="31750">
            <a:solidFill>
              <a:srgbClr val="111111"/>
            </a:solidFill>
            <a:prstDash val="solid"/>
          </a:ln>
        </p:spPr>
      </p:sp>
      <p:sp>
        <p:nvSpPr>
          <p:cNvPr id="13" name="signA_294"/>
          <p:cNvSpPr txBox="1"/>
          <p:nvPr/>
        </p:nvSpPr>
        <p:spPr>
          <a:xfrm rot="-180000">
            <a:off x="320040" y="1371600"/>
            <a:ext cx="2240280" cy="457200"/>
          </a:xfrm>
          <a:prstGeom prst="homePlate">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READ!</a:t>
            </a:r>
            <a:pPr indent="0" marL="0">
              <a:buNone/>
            </a:pPr>
            <a:r>
              <a:rPr lang="en-US" sz="1000" dirty="0">
                <a:solidFill>
                  <a:srgbClr val="FFF3B0"/>
                </a:solidFill>
                <a:latin typeface="Arial Black" pitchFamily="34" charset="0"/>
                <a:ea typeface="Arial Black" pitchFamily="34" charset="-122"/>
                <a:cs typeface="Arial Black" pitchFamily="34" charset="-120"/>
              </a:rPr>
              <a:t>  LEGGI!</a:t>
            </a:r>
            <a:endParaRPr lang="en-US" sz="1500" dirty="0"/>
          </a:p>
        </p:txBody>
      </p:sp>
      <p:sp>
        <p:nvSpPr>
          <p:cNvPr id="14" name="signB_295"/>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Read the three stories. Complete them with the verbs (past simple).</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Leggi le tre storie. Completale con i verbi (past simple).</a:t>
            </a:r>
            <a:endParaRPr lang="en-US" sz="1200" dirty="0"/>
          </a:p>
        </p:txBody>
      </p:sp>
      <p:sp>
        <p:nvSpPr>
          <p:cNvPr id="15" name="iconBack_296"/>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6" name="icon_297" descr="pi:PiPrinter">    </p:cNvPr>
          <p:cNvPicPr>
            <a:picLocks noChangeAspect="1"/>
          </p:cNvPicPr>
          <p:nvPr/>
        </p:nvPicPr>
        <p:blipFill>
          <a:blip r:embed="rId3"/>
          <a:stretch>
            <a:fillRect/>
          </a:stretch>
        </p:blipFill>
        <p:spPr>
          <a:xfrm>
            <a:off x="914400" y="3474720"/>
            <a:ext cx="685800" cy="685800"/>
          </a:xfrm>
          <a:prstGeom prst="rect">
            <a:avLst/>
          </a:prstGeom>
        </p:spPr>
      </p:pic>
      <p:sp>
        <p:nvSpPr>
          <p:cNvPr id="17" name="num_298"/>
          <p:cNvSpPr txBox="1"/>
          <p:nvPr/>
        </p:nvSpPr>
        <p:spPr>
          <a:xfrm>
            <a:off x="2788920" y="1482471"/>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8" name="box_299"/>
          <p:cNvSpPr txBox="1"/>
          <p:nvPr/>
        </p:nvSpPr>
        <p:spPr>
          <a:xfrm>
            <a:off x="3264408" y="137160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Read: 'My best friend at school', 'My parents', 'My disastrous date'.</a:t>
            </a:r>
            <a:endParaRPr lang="en-US" sz="1300" dirty="0"/>
          </a:p>
        </p:txBody>
      </p:sp>
      <p:sp>
        <p:nvSpPr>
          <p:cNvPr id="19" name="num_300"/>
          <p:cNvSpPr txBox="1"/>
          <p:nvPr/>
        </p:nvSpPr>
        <p:spPr>
          <a:xfrm>
            <a:off x="2788920" y="2179701"/>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20" name="box_301"/>
          <p:cNvSpPr txBox="1"/>
          <p:nvPr/>
        </p:nvSpPr>
        <p:spPr>
          <a:xfrm>
            <a:off x="3264408" y="206883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Complete the gaps with the verbs from the lists – past simple!</a:t>
            </a:r>
            <a:endParaRPr lang="en-US" sz="1300" dirty="0"/>
          </a:p>
        </p:txBody>
      </p:sp>
      <p:sp>
        <p:nvSpPr>
          <p:cNvPr id="21" name="num_302"/>
          <p:cNvSpPr txBox="1"/>
          <p:nvPr/>
        </p:nvSpPr>
        <p:spPr>
          <a:xfrm>
            <a:off x="2788920" y="2876931"/>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22" name="box_303"/>
          <p:cNvSpPr txBox="1"/>
          <p:nvPr/>
        </p:nvSpPr>
        <p:spPr>
          <a:xfrm>
            <a:off x="3264408" y="276606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Compare with a partner. Then check.</a:t>
            </a:r>
            <a:endParaRPr lang="en-US" sz="1300" dirty="0"/>
          </a:p>
        </p:txBody>
      </p:sp>
      <p:sp>
        <p:nvSpPr>
          <p:cNvPr id="23" name="num_304"/>
          <p:cNvSpPr txBox="1"/>
          <p:nvPr/>
        </p:nvSpPr>
        <p:spPr>
          <a:xfrm>
            <a:off x="2788920" y="3574161"/>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4" name="box_305"/>
          <p:cNvSpPr txBox="1"/>
          <p:nvPr/>
        </p:nvSpPr>
        <p:spPr>
          <a:xfrm>
            <a:off x="3264408" y="346329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Which story is the happiest? The saddest?</a:t>
            </a:r>
            <a:endParaRPr lang="en-US" sz="1300" dirty="0"/>
          </a:p>
        </p:txBody>
      </p:sp>
      <p:sp>
        <p:nvSpPr>
          <p:cNvPr id="25" name="bubble_306"/>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i="1" dirty="0">
                <a:solidFill>
                  <a:srgbClr val="111111"/>
                </a:solidFill>
                <a:latin typeface="Calibri" pitchFamily="34" charset="0"/>
                <a:ea typeface="Calibri" pitchFamily="34" charset="-122"/>
                <a:cs typeface="Calibri" pitchFamily="34" charset="-120"/>
              </a:rPr>
              <a:t>📄 Print: B1_5B_Photocopiables.pdf, page 4</a:t>
            </a:r>
            <a:endParaRPr lang="en-US" sz="1300" dirty="0"/>
          </a:p>
        </p:txBody>
      </p:sp>
      <p:sp>
        <p:nvSpPr>
          <p:cNvPr id="26" name="pageTag_307"/>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Vocabulary photocopiable 5B Relationships (TG p.210)</a:t>
            </a:r>
            <a:endParaRPr lang="en-US" sz="1050" dirty="0"/>
          </a:p>
        </p:txBody>
      </p:sp>
    </p:spTree>
  </p:cSld>
  <p:clrMapOvr>
    <a:masterClrMapping/>
  </p:clrMapOvr>
  <p:transition spd="med">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London Language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B1 5B-2 #thewaywemet</dc:title>
  <dc:subject>PptxGenJS Presentation</dc:subject>
  <dc:creator>London Language School</dc:creator>
  <cp:lastModifiedBy>London Language School</cp:lastModifiedBy>
  <cp:revision>1</cp:revision>
  <dcterms:created xsi:type="dcterms:W3CDTF">2026-10-05T09:39:30Z</dcterms:created>
  <dcterms:modified xsi:type="dcterms:W3CDTF">2026-10-05T09:39:30Z</dcterms:modified>
</cp:coreProperties>
</file>