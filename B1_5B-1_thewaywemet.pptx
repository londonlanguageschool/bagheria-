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mp3" ContentType="audio/mpeg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5B PART 1 (60 min) · SB pp.50–51. Aims: read two Instagram #thewaywemet stories and predict the end (Communication The way we met); listen to a man describing how he met his wife; used to / didn't use to for past habits and states vs usually + present simple (Grammar Bank 5B p.141); pronunciation of the letter s and used to; Communicative photocopiable 'Past and present' p.187 (board game). Timing: cover 2 · revision 5 · ranking 4 · reading 6 · Communication 7 · listening 7 · rule 6 · practice 5 · pronunciation 5 · board game 7 · exit 3 = 57 min. Click 1: question; let them guess the story before click 2.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REVISION of 5A part 2 (5 min). VARIATION: backwards recall (reverse the obvious – the ending first). Items 1–3: pairs invent what had happened before, with the past perfect (any logical answer is fine – click to show an example). Items 4–6: recall from the last lesson (Brownlee article p.48 and the referee interview 5.9): Jonny hadn't drunk enough in the hot conditions and felt ill · Henri Schoeman had been behind them until then and ran past them both · at 16 he was attacked and injured by the players of the home team and by the spectators (that's why). Extra point for a pair that adds a past continuous background ('It was raining and the players were getting tired…').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LEAD-IN (4 min). SB 1a: 'How do you think people usually meet friends and partners nowadays? Number the phrases 1–5 (1 = the most popular). Then compare with a partner. Do you agree?' – the slide shows the book's phrases A–E. Teach partner (= husband / wife, boyfriend / girlfriend). Pairs compare and agree on an order. VARIATION: ranking + forced choice (they must agree on ONE order). Feedback: what's number 1 for the class? Optional TG lead-in (books closed): three meanings of meet – I met my best friend at primary school (= see for the first time) · Where shall we meet? (= go to a place and wait) · I met an old school friend in town (= by chance). Keep it neutral: friends OR partners.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(6 min). 1b: students read the beginning of the two stories on p.50 – where did the women meet their partners? (TG: Tiffany – in a supermarket car park; Kristina – in an acupuncture clinic). 1c: 'Read the stories again. Write T (Tiffany) or K (Kristina).' – the slide has the book's six statements; click 1 – TG ANSWERS: 1 T · 2 T · 3 K · 4 K · 5 K · 6 T. Ask students to justify each answer with words from the text. Details for checking – Tiffany: a guy was standing beside her white Jeep with the door open; she thought he was trying to steal it or rob her; he was unloading his shopping; she pressed the lock button to prove it was her car and 'his face turned white'. Kristina: she came to New York to do a Master's degree in Creative Writing; Matt was a personal trainer, studying for a doctorate in Chinese medicine; she used to do a lot of running – she'd run two marathons – and got really bad back pain; doctors said different things; acupuncture was 'a last resort'; Matt was the acupuncturist and 'the moment we looked into each other's eyes, we connected'; he didn't ask her out; he wasn't going to celebrate his 29th birthday because he had to study. Notice for the grammar later: 'At the time, I used to do a lot of running'. Vocabulary: unload, rob, acupuncture, as a last resort.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COMMUNICATION / INFORMATION GAP (7 min). 1d: elicit ideas for both endings first (VARIATION: prediction + curiosity gap). Then A reads about Tiffany (p.107), B about Kristina (p.112); they close their books and tell the end, first eliciting their partner's guess (TG EXTRA IDEA). ANSWERS – the coincidences (TG): Tiffany and her partner own exactly the same car · Kristina was studying Creative Writing and her partner's surname is Tolstoy (like the great Russian novelist). ⚠ The endings are only in the Student's Book – check p.107 / p.112 before the lesson. 1e (if time) – book: 'Think of a couple you know well, e.g. your parents or friends. How did they meet? Do you know any couples who met in unusual circumstances?' (optional – no personal pressure; teens can talk about how they met their best friend).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LISTENING (3 min + 4 min on the next slide). 2a: books closed; play 5.15 once – where did they meet, and was it romantic? (TG: in a school corridor; it wasn't romantic). 2b: play again – students mark sentences 1–8 T / F (next slide, with the answers). Also in the script: he used to be a teacher; they became friends and sometimes used to have tea or a beer together; after three years they got together, then got engaged and married. 2c: three extracts from the listening – 'I used to be a teacher…' · 'She didn't use to be very punctual…' · 'We sometimes used to have tea or a beer together…' – 1 When do we use used to? How do we make questions? 2 Are these things probably true now? ANSWERS: 1 used to = things that were true over a period of time in the past; questions: Did + person + use to + infinitive · 2 No (we can't use used to for the present). VARIATION: prediction ('love at first sight?').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LISTENING 2b (4 min). The book's sentences 1–8. Students mark T / F while listening the second time (play 5.15 from the previous slide), then compare and correct the F sentences. Click once per sentence. TG ANSWERS: 1 T · 2 F (She was a student at the school, but not in his classes.) · 3 F (She wasn't usually very punctual.) · 4 T · 5 T · 6 F (She ran off, laughing.) · 7 T · 8 F (They've been married for 12 years.). VARIATION: prediction – before the second listening, pairs guess T or F from what they remember.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(6 min). Students open Grammar Bank 5B p.141; play 5.16 to listen and repeat (copy the rhythm) – the slide examples are from 5.16. Go through the rules and the information box. TG grammar notes: used to is revision from Pre-intermediate; it's a 'late assimilation' structure (students can say the same with past simple + time expression), so using it correctly shows a higher level. It only exists in the past – unlike Italian (solevo / di solito) – so for present habits we use usually / normally + present simple. Don't repeat the main verb with any more / any longer: I used to like cartoons, but I don't any more. Typical mistakes (TG): ✗ I use to go to bed about 11.00 · spelling ✗ We didn't used to wear a uniform. Also: never used to = didn't use to. Quick check: 'Tell me one thing you used to do at primary school and one thing you usually do now.'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PRACTICE (5 min). Students do Grammar Bank 5B a 1–5 (right or wrong? correct the wrong ones) and b 1–4. Click 1 for all answers (TG key, ✓ = correct): a 1 ✗ didn't use to like · 2 ✓ · 3 ✗ never used to want · 4 ✗ did you use to keep in touch · 5 ✗ usually go. b 1 We used to have a lot in common, but now we're completely different. · 2 We usually go to bed early during the week because we have to get up at 6.00 a.m. · 3 I didn't use to watch TV on my phone, but now I often do. · 4 Do you usually play football on Sunday mornings? The slide prompts are made from the key (⚠ check exact prompts in the book). Homework: a 6–9, b 5–10. VARIATION: student as teacher – partners explain why each wrong sentence is wrong. EXTRA SUPPORT: Grammar photocopiable p.158 (⚠ not in our files).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PRONUNCIATION (5 min). 3a: elicit the picture words snake, zebra, shower, television. Play 5.17 once; pairs write the words (yellow sticky) in the right column. 3b: play 5.18 to check – click once per sound (answers from the audio script). 3c (TG): 1 at the beginning of a word, s is usually /s/ – exceptions sure and sugar /ʃ/ · 2 at the end of a word, s can be /s/ or /z/ · 3 vowel + -sion = /ʒ/. Double s is always /s/. Click 5 (TG pronunciation notes): used to = /juːst/; used as a main verb = /juːzd/. Italian speakers often say /s/ in music, busy, lose – push the buzzing /z/. 3d dictation (5.19), play twice: 1 I'm sure you used to take sugar in your tea. 2 She didn't use to like classical music, but now she loves it. 3 We used to stay with my parents' friends in the summer holidays. 4 Did you use to use your car more? 5 The singer usually practises for six hours a day. Then pairs say them. VARIATION: phonological branching.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BOARD GAME (7 min). Print the Communicative photocopiable 5B 'Past and present' (TG p.187): B1_5B_Photocopiables.pdf, page 2 (page 3 is the same board in a different layout) – one board per group of 3–4, one coin per group and one counter per student. OFFICIAL RULES (TG p.172): each player puts their counter on START; students take turns to throw the coin and move one square for heads and two for tails; they answer the question in the circle and must give more information; play until time runs out – the first player to reach FINISH wins; if a group finishes very quickly, they go round the board again. Squares 1–18 mix past (Did you use to…? What used to be your favourite thing to eat as a child? Are there any films you used to love, but don't like any more?) and present habits (Who do you usually phone when you have a problem? How often do you usually see your extended family?); square 'Have another go!' = throw again. It replaces SB 3e (talk about two of the topics) – if you have no copies, do SB 3e in pairs instead: 'In pairs, tell each other about TWO of the following.' When you were young,… what did you use to have for breakfast? What do you usually have now? · what music did you use to listen to a lot? What do you usually listen to nowadays? · what books or comics did you use to read? What do you read now? · where did you use to spend your summer holidays? What do you usually do in the summer? Is there… a friend you used to be really close to, but don't see any more? · a TV programme you used to be addicted to? What kind of programmes do you usually watch now? · a machine or device you used to use a lot, but don't use any more? What apps or devices do you usually use now to communicate with your friends? · a sport or game you used to play a lot, but which you've given up? What exercise do you do nowadays? Monitor and correct used to / usually and the pronunciation /juːst/. VARIATION: follow-up questions (the turn only counts if someone asks a follow-up). Personalisation with boundaries: a player may say 'Pass!'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(3 min). Students choose a face for each can-do. Homework: Workbook 5B 1a, 1b, 1c (used to / usually) and 2a (pronunciation; 2b is audio – optional at home) + Grammar Bank 5B a 6–9, b 5–10 + the 5B-1 homework sheet (easier version available). Answers are in the teacher key 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(7 min). VARIATION: perspective change (the past from parents' / grandparents' point of view) + mild controversy (was life better then?). Pairs make two sentences for each topic: 'People used to buy CDs, but now they usually stream music.' Then vote: three things that were better 30 years ago. Homework idea: interview an older relative with 3 'Did you use to…?'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(8 min). VARIATION: student-generated content + curiosity gap (the story stops before the end). Good for a class that enjoyed the reading. Display the best stories on the class noticeboard (no real names).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(7 min) or HOMEWORK. Grammar photocopiable 5B 'past and present habits and states' – print B1_5B_Photocopiables.pdf, page 1. Example: 1 They used to be university students, but now he's a photographer and she's a journalist. OFFICIAL ANSWERS (TG): 2 They used to live in Paris, but now they live in Chicago. · 3 They used to eat takeaway food, but now they (usually) eat home-made food. · 4 They used to live in a house with friends, but now they live in a penthouse flat with their dog. · 5 They used to go camping, but now they (usually) stay in five-star hotels. · 6 They didn't use to play sport. Now, they both cycle at the weekend and Thomas often plays golf. · 7 They used to ride bikes, but now they drive a sports car. · 8 They used to wear second-hand clothes, but now they (usually) wear designer clothes. · 9 They used to get up late and go out at night with friends. Now, they (usually) stay in, cook, and watch TV. · 10 They used to have lots of friends, but now they have just a few close ones. ACTIVATION: cover the sentences, look at the chart and make three sentences with used to and three with usually. VARIATION: memory (activation).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audio" Target="../media/media-2-4.mp3"/><Relationship Id="rId5" Type="http://schemas.microsoft.com/office/2007/relationships/media" Target="../media/media-2-4.mp3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audio" Target="../media/media-6-3.mp3"/><Relationship Id="rId4" Type="http://schemas.microsoft.com/office/2007/relationships/media" Target="../media/media-6-3.mp3"/><Relationship Id="rId5" Type="http://schemas.openxmlformats.org/officeDocument/2006/relationships/image" Target="../media/image-6-5.png"/><Relationship Id="rId6" Type="http://schemas.openxmlformats.org/officeDocument/2006/relationships/image" Target="../media/image-6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audio" Target="../media/media-7-4.mp3"/><Relationship Id="rId5" Type="http://schemas.microsoft.com/office/2007/relationships/media" Target="../media/media-7-4.mp3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audio" Target="../media/media-8-3.mp3"/><Relationship Id="rId4" Type="http://schemas.microsoft.com/office/2007/relationships/media" Target="../media/media-8-3.mp3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audio" Target="../media/media-10-3.mp3"/><Relationship Id="rId4" Type="http://schemas.microsoft.com/office/2007/relationships/media" Target="../media/media-10-3.mp3"/><Relationship Id="rId5" Type="http://schemas.openxmlformats.org/officeDocument/2006/relationships/image" Target="../media/image-10-5.png"/><Relationship Id="rId6" Type="http://schemas.openxmlformats.org/officeDocument/2006/relationships/audio" Target="../media/media-10-6.mp3"/><Relationship Id="rId7" Type="http://schemas.microsoft.com/office/2007/relationships/media" Target="../media/media-10-6.mp3"/><Relationship Id="rId8" Type="http://schemas.openxmlformats.org/officeDocument/2006/relationships/image" Target="../media/image-10-8.png"/><Relationship Id="rId9" Type="http://schemas.openxmlformats.org/officeDocument/2006/relationships/audio" Target="../media/media-10-9.mp3"/><Relationship Id="rId10" Type="http://schemas.microsoft.com/office/2007/relationships/media" Target="../media/media-10-9.mp3"/><Relationship Id="rId11" Type="http://schemas.openxmlformats.org/officeDocument/2006/relationships/image" Target="../media/image-10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sp>
        <p:nvSpPr>
          <p:cNvPr id="4" name="logoBack_2"/>
          <p:cNvSpPr/>
          <p:nvPr/>
        </p:nvSpPr>
        <p:spPr>
          <a:xfrm>
            <a:off x="8229600" y="155448"/>
            <a:ext cx="676656" cy="6766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A8E6B4"/>
            </a:solidFill>
            <a:prstDash val="solid"/>
          </a:ln>
        </p:spPr>
      </p:sp>
      <p:pic>
        <p:nvPicPr>
          <p:cNvPr id="5" name="logo_3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6" name="footer_4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062F6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E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5B · Part 1</a:t>
            </a:r>
            <a:endParaRPr lang="en-US" sz="1000" dirty="0"/>
          </a:p>
        </p:txBody>
      </p:sp>
      <p:sp>
        <p:nvSpPr>
          <p:cNvPr id="7" name="unit_5"/>
          <p:cNvSpPr txBox="1"/>
          <p:nvPr/>
        </p:nvSpPr>
        <p:spPr>
          <a:xfrm>
            <a:off x="411480" y="3200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600" dirty="0">
                <a:solidFill>
                  <a:srgbClr val="FFD8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5B</a:t>
            </a:r>
            <a:endParaRPr lang="en-US" sz="4600" dirty="0"/>
          </a:p>
        </p:txBody>
      </p:sp>
      <p:sp>
        <p:nvSpPr>
          <p:cNvPr id="8" name="course_6"/>
          <p:cNvSpPr txBox="1"/>
          <p:nvPr/>
        </p:nvSpPr>
        <p:spPr>
          <a:xfrm>
            <a:off x="2103120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E2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ENGLISH FILE B1 · 5B · Part 1 · SB pp.50–51</a:t>
            </a:r>
            <a:endParaRPr lang="en-US" sz="1100" dirty="0"/>
          </a:p>
        </p:txBody>
      </p:sp>
      <p:sp>
        <p:nvSpPr>
          <p:cNvPr id="9" name="title_7"/>
          <p:cNvSpPr txBox="1"/>
          <p:nvPr/>
        </p:nvSpPr>
        <p:spPr>
          <a:xfrm rot="-180000">
            <a:off x="411480" y="1325880"/>
            <a:ext cx="3602736" cy="777240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265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#THEWAYWEMET</a:t>
            </a:r>
            <a:endParaRPr lang="en-US" sz="2650" dirty="0"/>
          </a:p>
        </p:txBody>
      </p:sp>
      <p:sp>
        <p:nvSpPr>
          <p:cNvPr id="10" name="stamp_8"/>
          <p:cNvSpPr txBox="1"/>
          <p:nvPr/>
        </p:nvSpPr>
        <p:spPr>
          <a:xfrm>
            <a:off x="457200" y="2468880"/>
            <a:ext cx="4005072" cy="384048"/>
          </a:xfrm>
          <a:prstGeom prst="roundRect">
            <a:avLst>
              <a:gd name="adj" fmla="val 14286"/>
            </a:avLst>
          </a:prstGeom>
          <a:solidFill>
            <a:srgbClr val="062F67"/>
          </a:solidFill>
          <a:ln w="38100">
            <a:solidFill>
              <a:srgbClr val="48BDF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READING &amp; LISTENING · The way we met</a:t>
            </a:r>
            <a:endParaRPr lang="en-US" sz="1200" dirty="0"/>
          </a:p>
        </p:txBody>
      </p:sp>
      <p:sp>
        <p:nvSpPr>
          <p:cNvPr id="11" name="stamp_9"/>
          <p:cNvSpPr txBox="1"/>
          <p:nvPr/>
        </p:nvSpPr>
        <p:spPr>
          <a:xfrm>
            <a:off x="457200" y="2944368"/>
            <a:ext cx="3140964" cy="384048"/>
          </a:xfrm>
          <a:prstGeom prst="roundRect">
            <a:avLst>
              <a:gd name="adj" fmla="val 14286"/>
            </a:avLst>
          </a:prstGeom>
          <a:solidFill>
            <a:srgbClr val="062F67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used to / usually</a:t>
            </a:r>
            <a:endParaRPr lang="en-US" sz="1200" dirty="0"/>
          </a:p>
        </p:txBody>
      </p:sp>
      <p:sp>
        <p:nvSpPr>
          <p:cNvPr id="12" name="stamp_10"/>
          <p:cNvSpPr txBox="1"/>
          <p:nvPr/>
        </p:nvSpPr>
        <p:spPr>
          <a:xfrm>
            <a:off x="457200" y="3419856"/>
            <a:ext cx="4101084" cy="384048"/>
          </a:xfrm>
          <a:prstGeom prst="roundRect">
            <a:avLst>
              <a:gd name="adj" fmla="val 14286"/>
            </a:avLst>
          </a:prstGeom>
          <a:solidFill>
            <a:srgbClr val="062F67"/>
          </a:solidFill>
          <a:ln w="38100">
            <a:solidFill>
              <a:srgbClr val="EF2F2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PRONUNCIATION · the letter s, used to</a:t>
            </a:r>
            <a:endParaRPr lang="en-US" sz="1200" dirty="0"/>
          </a:p>
        </p:txBody>
      </p:sp>
      <p:sp>
        <p:nvSpPr>
          <p:cNvPr id="13" name="iconBack_11"/>
          <p:cNvSpPr/>
          <p:nvPr/>
        </p:nvSpPr>
        <p:spPr>
          <a:xfrm>
            <a:off x="5669280" y="685800"/>
            <a:ext cx="1737360" cy="1737360"/>
          </a:xfrm>
          <a:prstGeom prst="ellipse">
            <a:avLst/>
          </a:prstGeom>
          <a:solidFill>
            <a:srgbClr val="FFD84D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4" name="icon_12" descr="pi:PiHear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1033272"/>
            <a:ext cx="1042416" cy="1042416"/>
          </a:xfrm>
          <a:prstGeom prst="rect">
            <a:avLst/>
          </a:prstGeom>
        </p:spPr>
      </p:pic>
      <p:sp>
        <p:nvSpPr>
          <p:cNvPr id="15" name="iconBack_13"/>
          <p:cNvSpPr/>
          <p:nvPr/>
        </p:nvSpPr>
        <p:spPr>
          <a:xfrm>
            <a:off x="7315200" y="1508760"/>
            <a:ext cx="1097280" cy="10972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6" name="icon_14" descr="pi:PiShoppingCar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656" y="1728216"/>
            <a:ext cx="658368" cy="658368"/>
          </a:xfrm>
          <a:prstGeom prst="rect">
            <a:avLst/>
          </a:prstGeom>
        </p:spPr>
      </p:pic>
      <p:sp>
        <p:nvSpPr>
          <p:cNvPr id="17" name="iconBack_15"/>
          <p:cNvSpPr/>
          <p:nvPr/>
        </p:nvSpPr>
        <p:spPr>
          <a:xfrm>
            <a:off x="5486400" y="2514600"/>
            <a:ext cx="960120" cy="960120"/>
          </a:xfrm>
          <a:prstGeom prst="ellipse">
            <a:avLst/>
          </a:prstGeom>
          <a:solidFill>
            <a:srgbClr val="A8E6B4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8" name="icon_16" descr="pi:PiCa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8424" y="2706624"/>
            <a:ext cx="576072" cy="576072"/>
          </a:xfrm>
          <a:prstGeom prst="rect">
            <a:avLst/>
          </a:prstGeom>
        </p:spPr>
      </p:pic>
      <p:sp>
        <p:nvSpPr>
          <p:cNvPr id="19" name="R1_q"/>
          <p:cNvSpPr txBox="1"/>
          <p:nvPr/>
        </p:nvSpPr>
        <p:spPr>
          <a:xfrm>
            <a:off x="5120640" y="3337560"/>
            <a:ext cx="2377440" cy="777240"/>
          </a:xfrm>
          <a:prstGeom prst="wedgeRoundRectCallout">
            <a:avLst/>
          </a:prstGeom>
          <a:solidFill>
            <a:srgbClr val="48BDF2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supermarket car park. Two identical cars…</a:t>
            </a:r>
            <a:endParaRPr lang="en-US" sz="1400" dirty="0"/>
          </a:p>
        </p:txBody>
      </p:sp>
      <p:sp>
        <p:nvSpPr>
          <p:cNvPr id="20" name="R2_a"/>
          <p:cNvSpPr txBox="1"/>
          <p:nvPr/>
        </p:nvSpPr>
        <p:spPr>
          <a:xfrm>
            <a:off x="6629400" y="4069080"/>
            <a:ext cx="2148840" cy="594360"/>
          </a:xfrm>
          <a:prstGeom prst="wedgeRoundRectCallou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…and that's the way we met!</a:t>
            </a:r>
            <a:endParaRPr lang="en-US" sz="1300" dirty="0"/>
          </a:p>
        </p:txBody>
      </p:sp>
      <p:sp>
        <p:nvSpPr>
          <p:cNvPr id="21" name="tnote_17"/>
          <p:cNvSpPr txBox="1"/>
          <p:nvPr/>
        </p:nvSpPr>
        <p:spPr>
          <a:xfrm>
            <a:off x="411480" y="4773168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E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timings, answers and tips are in the slide notes.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8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19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0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REVISION · 5A part 2 · Narrative tenses</a:t>
            </a:r>
            <a:endParaRPr lang="en-US" sz="900" dirty="0"/>
          </a:p>
        </p:txBody>
      </p:sp>
      <p:sp>
        <p:nvSpPr>
          <p:cNvPr id="6" name="timer_21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7" name="footer_22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5B · Part 1</a:t>
            </a:r>
            <a:endParaRPr lang="en-US" sz="1000" dirty="0"/>
          </a:p>
        </p:txBody>
      </p:sp>
      <p:sp>
        <p:nvSpPr>
          <p:cNvPr id="8" name="title_23"/>
          <p:cNvSpPr txBox="1"/>
          <p:nvPr/>
        </p:nvSpPr>
        <p:spPr>
          <a:xfrm rot="-120000">
            <a:off x="320040" y="676656"/>
            <a:ext cx="3456432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Backwards stories</a:t>
            </a:r>
            <a:endParaRPr lang="en-US" sz="1500" dirty="0"/>
          </a:p>
        </p:txBody>
      </p:sp>
      <p:sp>
        <p:nvSpPr>
          <p:cNvPr id="9" name="post_24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25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PENSA!</a:t>
            </a:r>
            <a:endParaRPr lang="en-US" sz="1500" dirty="0"/>
          </a:p>
        </p:txBody>
      </p:sp>
      <p:sp>
        <p:nvSpPr>
          <p:cNvPr id="11" name="signB_26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the END. What had happened before?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Ecco la FINE. Cosa era successo prima?</a:t>
            </a:r>
            <a:endParaRPr lang="en-US" sz="1250" dirty="0"/>
          </a:p>
        </p:txBody>
      </p:sp>
      <p:sp>
        <p:nvSpPr>
          <p:cNvPr id="12" name="iconBack_27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3" name="icon_28" descr="pi:PiRewin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4" name="box_29"/>
          <p:cNvSpPr txBox="1"/>
          <p:nvPr/>
        </p:nvSpPr>
        <p:spPr>
          <a:xfrm>
            <a:off x="2788920" y="1371600"/>
            <a:ext cx="3319272" cy="44196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…so the referee sent him off.</a:t>
            </a:r>
            <a:endParaRPr lang="en-US" sz="1200" dirty="0"/>
          </a:p>
        </p:txBody>
      </p:sp>
      <p:sp>
        <p:nvSpPr>
          <p:cNvPr id="15" name="R1_a0"/>
          <p:cNvSpPr txBox="1"/>
          <p:nvPr/>
        </p:nvSpPr>
        <p:spPr>
          <a:xfrm>
            <a:off x="6163056" y="1408176"/>
            <a:ext cx="2660904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He had kicked another player.</a:t>
            </a:r>
            <a:endParaRPr lang="en-US" sz="1150" dirty="0"/>
          </a:p>
        </p:txBody>
      </p:sp>
      <p:sp>
        <p:nvSpPr>
          <p:cNvPr id="16" name="box_30"/>
          <p:cNvSpPr txBox="1"/>
          <p:nvPr/>
        </p:nvSpPr>
        <p:spPr>
          <a:xfrm>
            <a:off x="2788920" y="1941576"/>
            <a:ext cx="3319272" cy="44196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…so we couldn't get into the stadium.</a:t>
            </a:r>
            <a:endParaRPr lang="en-US" sz="1200" dirty="0"/>
          </a:p>
        </p:txBody>
      </p:sp>
      <p:sp>
        <p:nvSpPr>
          <p:cNvPr id="17" name="R2_a1"/>
          <p:cNvSpPr txBox="1"/>
          <p:nvPr/>
        </p:nvSpPr>
        <p:spPr>
          <a:xfrm>
            <a:off x="6163056" y="1978152"/>
            <a:ext cx="2660904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We had forgotten our tickets.</a:t>
            </a:r>
            <a:endParaRPr lang="en-US" sz="1150" dirty="0"/>
          </a:p>
        </p:txBody>
      </p:sp>
      <p:sp>
        <p:nvSpPr>
          <p:cNvPr id="18" name="box_31"/>
          <p:cNvSpPr txBox="1"/>
          <p:nvPr/>
        </p:nvSpPr>
        <p:spPr>
          <a:xfrm>
            <a:off x="2788920" y="2511552"/>
            <a:ext cx="3319272" cy="44196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…and she cried with happiness.</a:t>
            </a:r>
            <a:endParaRPr lang="en-US" sz="1200" dirty="0"/>
          </a:p>
        </p:txBody>
      </p:sp>
      <p:sp>
        <p:nvSpPr>
          <p:cNvPr id="19" name="R3_a2"/>
          <p:cNvSpPr txBox="1"/>
          <p:nvPr/>
        </p:nvSpPr>
        <p:spPr>
          <a:xfrm>
            <a:off x="6163056" y="2548128"/>
            <a:ext cx="2660904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Her team had just won the cup.</a:t>
            </a:r>
            <a:endParaRPr lang="en-US" sz="1150" dirty="0"/>
          </a:p>
        </p:txBody>
      </p:sp>
      <p:sp>
        <p:nvSpPr>
          <p:cNvPr id="20" name="box_32"/>
          <p:cNvSpPr txBox="1"/>
          <p:nvPr/>
        </p:nvSpPr>
        <p:spPr>
          <a:xfrm>
            <a:off x="2788920" y="3081528"/>
            <a:ext cx="3319272" cy="44196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Jonny Brownlee stopped at the side of the road. Why?</a:t>
            </a:r>
            <a:endParaRPr lang="en-US" sz="950" dirty="0"/>
          </a:p>
        </p:txBody>
      </p:sp>
      <p:sp>
        <p:nvSpPr>
          <p:cNvPr id="21" name="R4_a3"/>
          <p:cNvSpPr txBox="1"/>
          <p:nvPr/>
        </p:nvSpPr>
        <p:spPr>
          <a:xfrm>
            <a:off x="6163056" y="3118104"/>
            <a:ext cx="2660904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hadn't drunk enough – he felt ill.</a:t>
            </a:r>
            <a:endParaRPr lang="en-US" sz="1150" dirty="0"/>
          </a:p>
        </p:txBody>
      </p:sp>
      <p:sp>
        <p:nvSpPr>
          <p:cNvPr id="22" name="box_33"/>
          <p:cNvSpPr txBox="1"/>
          <p:nvPr/>
        </p:nvSpPr>
        <p:spPr>
          <a:xfrm>
            <a:off x="2788920" y="3651504"/>
            <a:ext cx="3319272" cy="44196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Henri Schoeman won the gold medal. How?</a:t>
            </a:r>
            <a:endParaRPr lang="en-US" sz="1150" dirty="0"/>
          </a:p>
        </p:txBody>
      </p:sp>
      <p:sp>
        <p:nvSpPr>
          <p:cNvPr id="23" name="R5_a4"/>
          <p:cNvSpPr txBox="1"/>
          <p:nvPr/>
        </p:nvSpPr>
        <p:spPr>
          <a:xfrm>
            <a:off x="6163056" y="3688080"/>
            <a:ext cx="2660904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had been behind them – he ran past.</a:t>
            </a:r>
            <a:endParaRPr lang="en-US" sz="1100" dirty="0"/>
          </a:p>
        </p:txBody>
      </p:sp>
      <p:sp>
        <p:nvSpPr>
          <p:cNvPr id="24" name="box_34"/>
          <p:cNvSpPr txBox="1"/>
          <p:nvPr/>
        </p:nvSpPr>
        <p:spPr>
          <a:xfrm>
            <a:off x="2788920" y="4221480"/>
            <a:ext cx="3319272" cy="44196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Juan Antonio nearly stopped being a referee. Why?</a:t>
            </a:r>
            <a:endParaRPr lang="en-US" sz="950" dirty="0"/>
          </a:p>
        </p:txBody>
      </p:sp>
      <p:sp>
        <p:nvSpPr>
          <p:cNvPr id="25" name="R6_a5"/>
          <p:cNvSpPr txBox="1"/>
          <p:nvPr/>
        </p:nvSpPr>
        <p:spPr>
          <a:xfrm>
            <a:off x="6163056" y="4258056"/>
            <a:ext cx="2660904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He'd been attacked by players and spectators.</a:t>
            </a:r>
            <a:endParaRPr lang="en-US" sz="1000" dirty="0"/>
          </a:p>
        </p:txBody>
      </p:sp>
      <p:sp>
        <p:nvSpPr>
          <p:cNvPr id="26" name="pageTag_35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revision of 5A pp.48–49 · Grammar Bank 5A p.140 · audio 5.9</a:t>
            </a:r>
            <a:endParaRPr lang="en-US" sz="1050" dirty="0"/>
          </a:p>
        </p:txBody>
      </p:sp>
      <p:pic>
        <p:nvPicPr>
          <p:cNvPr id="27" name="Media 0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166360" y="155448"/>
            <a:ext cx="384048" cy="384048"/>
          </a:xfrm>
          <a:prstGeom prst="rect">
            <a:avLst/>
          </a:prstGeom>
        </p:spPr>
      </p:pic>
      <p:sp>
        <p:nvSpPr>
          <p:cNvPr id="28" name="atr_36"/>
          <p:cNvSpPr txBox="1"/>
          <p:nvPr/>
        </p:nvSpPr>
        <p:spPr>
          <a:xfrm>
            <a:off x="5120640" y="53035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2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5.9</a:t>
            </a:r>
            <a:endParaRPr lang="en-US" sz="8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7" dur="1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audio>
              <p:cMediaNode vol="80000">
                <p:cTn id="3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7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37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38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39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READING · Lead-in</a:t>
            </a:r>
            <a:endParaRPr lang="en-US" sz="900" dirty="0"/>
          </a:p>
        </p:txBody>
      </p:sp>
      <p:sp>
        <p:nvSpPr>
          <p:cNvPr id="6" name="timer_40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4 min</a:t>
            </a:r>
            <a:endParaRPr lang="en-US" sz="1200" dirty="0"/>
          </a:p>
        </p:txBody>
      </p:sp>
      <p:sp>
        <p:nvSpPr>
          <p:cNvPr id="7" name="footer_41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5B · Part 1</a:t>
            </a:r>
            <a:endParaRPr lang="en-US" sz="1000" dirty="0"/>
          </a:p>
        </p:txBody>
      </p:sp>
      <p:sp>
        <p:nvSpPr>
          <p:cNvPr id="8" name="title_42"/>
          <p:cNvSpPr txBox="1"/>
          <p:nvPr/>
        </p:nvSpPr>
        <p:spPr>
          <a:xfrm rot="-120000">
            <a:off x="320040" y="676656"/>
            <a:ext cx="4151376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Where do people meet?</a:t>
            </a:r>
            <a:endParaRPr lang="en-US" sz="1500" dirty="0"/>
          </a:p>
        </p:txBody>
      </p:sp>
      <p:sp>
        <p:nvSpPr>
          <p:cNvPr id="9" name="post_43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44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1" name="signB_45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people usually meet friends and partners nowadays? 1 = most popular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si conoscono di solito amici e partner oggi? 1 = il più comune</a:t>
            </a:r>
            <a:endParaRPr lang="en-US" sz="1200" dirty="0"/>
          </a:p>
        </p:txBody>
      </p:sp>
      <p:sp>
        <p:nvSpPr>
          <p:cNvPr id="12" name="rt_46"/>
          <p:cNvSpPr txBox="1"/>
          <p:nvPr/>
        </p:nvSpPr>
        <p:spPr>
          <a:xfrm>
            <a:off x="2788920" y="1325880"/>
            <a:ext cx="1828800" cy="365760"/>
          </a:xfrm>
          <a:prstGeom prst="rect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MOST LIKELY</a:t>
            </a:r>
            <a:endParaRPr lang="en-US" sz="1100" dirty="0"/>
          </a:p>
        </p:txBody>
      </p:sp>
      <p:sp>
        <p:nvSpPr>
          <p:cNvPr id="13" name="rb_47"/>
          <p:cNvSpPr txBox="1"/>
          <p:nvPr/>
        </p:nvSpPr>
        <p:spPr>
          <a:xfrm>
            <a:off x="2788920" y="4297680"/>
            <a:ext cx="1828800" cy="365760"/>
          </a:xfrm>
          <a:prstGeom prst="rect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LEAST LIKELY</a:t>
            </a:r>
            <a:endParaRPr lang="en-US" sz="1100" dirty="0"/>
          </a:p>
        </p:txBody>
      </p:sp>
      <p:sp>
        <p:nvSpPr>
          <p:cNvPr id="14" name="arrow_48"/>
          <p:cNvSpPr/>
          <p:nvPr/>
        </p:nvSpPr>
        <p:spPr>
          <a:xfrm>
            <a:off x="3474720" y="1783080"/>
            <a:ext cx="457200" cy="2423160"/>
          </a:xfrm>
          <a:prstGeom prst="upArrow">
            <a:avLst/>
          </a:prstGeom>
          <a:solidFill>
            <a:srgbClr val="A8E6B4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5" name="slot_49"/>
          <p:cNvSpPr txBox="1"/>
          <p:nvPr/>
        </p:nvSpPr>
        <p:spPr>
          <a:xfrm>
            <a:off x="4800600" y="1325880"/>
            <a:ext cx="411480" cy="594360"/>
          </a:xfrm>
          <a:prstGeom prst="rect">
            <a:avLst/>
          </a:prstGeom>
          <a:solidFill>
            <a:srgbClr val="FFFFFF"/>
          </a:solidFill>
          <a:ln w="25400">
            <a:solidFill>
              <a:srgbClr val="6D3FC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3F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400" dirty="0"/>
          </a:p>
        </p:txBody>
      </p:sp>
      <p:pic>
        <p:nvPicPr>
          <p:cNvPr id="16" name="ri_50" descr="A  at wor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417320"/>
            <a:ext cx="411480" cy="411480"/>
          </a:xfrm>
          <a:prstGeom prst="rect">
            <a:avLst/>
          </a:prstGeom>
        </p:spPr>
      </p:pic>
      <p:sp>
        <p:nvSpPr>
          <p:cNvPr id="17" name="box_51"/>
          <p:cNvSpPr txBox="1"/>
          <p:nvPr/>
        </p:nvSpPr>
        <p:spPr>
          <a:xfrm>
            <a:off x="5788152" y="1325880"/>
            <a:ext cx="3035808" cy="59436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at work</a:t>
            </a:r>
            <a:endParaRPr lang="en-US" sz="1300" dirty="0"/>
          </a:p>
        </p:txBody>
      </p:sp>
      <p:sp>
        <p:nvSpPr>
          <p:cNvPr id="18" name="slot_52"/>
          <p:cNvSpPr txBox="1"/>
          <p:nvPr/>
        </p:nvSpPr>
        <p:spPr>
          <a:xfrm>
            <a:off x="4800600" y="2011680"/>
            <a:ext cx="411480" cy="594360"/>
          </a:xfrm>
          <a:prstGeom prst="rect">
            <a:avLst/>
          </a:prstGeom>
          <a:solidFill>
            <a:srgbClr val="FFFFFF"/>
          </a:solidFill>
          <a:ln w="25400">
            <a:solidFill>
              <a:srgbClr val="6D3FC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3F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400" dirty="0"/>
          </a:p>
        </p:txBody>
      </p:sp>
      <p:pic>
        <p:nvPicPr>
          <p:cNvPr id="19" name="ri_53" descr="B  at school or universit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2103120"/>
            <a:ext cx="411480" cy="411480"/>
          </a:xfrm>
          <a:prstGeom prst="rect">
            <a:avLst/>
          </a:prstGeom>
        </p:spPr>
      </p:pic>
      <p:sp>
        <p:nvSpPr>
          <p:cNvPr id="20" name="box_54"/>
          <p:cNvSpPr txBox="1"/>
          <p:nvPr/>
        </p:nvSpPr>
        <p:spPr>
          <a:xfrm>
            <a:off x="5788152" y="2011680"/>
            <a:ext cx="3035808" cy="59436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at school or university</a:t>
            </a:r>
            <a:endParaRPr lang="en-US" sz="1300" dirty="0"/>
          </a:p>
        </p:txBody>
      </p:sp>
      <p:sp>
        <p:nvSpPr>
          <p:cNvPr id="21" name="slot_55"/>
          <p:cNvSpPr txBox="1"/>
          <p:nvPr/>
        </p:nvSpPr>
        <p:spPr>
          <a:xfrm>
            <a:off x="4800600" y="2697480"/>
            <a:ext cx="411480" cy="594360"/>
          </a:xfrm>
          <a:prstGeom prst="rect">
            <a:avLst/>
          </a:prstGeom>
          <a:solidFill>
            <a:srgbClr val="FFFFFF"/>
          </a:solidFill>
          <a:ln w="25400">
            <a:solidFill>
              <a:srgbClr val="6D3FC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3F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400" dirty="0"/>
          </a:p>
        </p:txBody>
      </p:sp>
      <p:pic>
        <p:nvPicPr>
          <p:cNvPr id="22" name="ri_56" descr="C  online (e.g. on forums, social networking sites, etc.)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2788920"/>
            <a:ext cx="411480" cy="411480"/>
          </a:xfrm>
          <a:prstGeom prst="rect">
            <a:avLst/>
          </a:prstGeom>
        </p:spPr>
      </p:pic>
      <p:sp>
        <p:nvSpPr>
          <p:cNvPr id="23" name="box_57"/>
          <p:cNvSpPr txBox="1"/>
          <p:nvPr/>
        </p:nvSpPr>
        <p:spPr>
          <a:xfrm>
            <a:off x="5788152" y="2697480"/>
            <a:ext cx="3035808" cy="59436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online (e.g. on forums, social networking sites, etc.)</a:t>
            </a:r>
            <a:endParaRPr lang="en-US" sz="1300" dirty="0"/>
          </a:p>
        </p:txBody>
      </p:sp>
      <p:sp>
        <p:nvSpPr>
          <p:cNvPr id="24" name="slot_58"/>
          <p:cNvSpPr txBox="1"/>
          <p:nvPr/>
        </p:nvSpPr>
        <p:spPr>
          <a:xfrm>
            <a:off x="4800600" y="3383280"/>
            <a:ext cx="411480" cy="594360"/>
          </a:xfrm>
          <a:prstGeom prst="rect">
            <a:avLst/>
          </a:prstGeom>
          <a:solidFill>
            <a:srgbClr val="FFFFFF"/>
          </a:solidFill>
          <a:ln w="25400">
            <a:solidFill>
              <a:srgbClr val="6D3FC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3F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400" dirty="0"/>
          </a:p>
        </p:txBody>
      </p:sp>
      <p:pic>
        <p:nvPicPr>
          <p:cNvPr id="25" name="ri_59" descr="D  in a bar, club, etc.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0" y="3474720"/>
            <a:ext cx="411480" cy="411480"/>
          </a:xfrm>
          <a:prstGeom prst="rect">
            <a:avLst/>
          </a:prstGeom>
        </p:spPr>
      </p:pic>
      <p:sp>
        <p:nvSpPr>
          <p:cNvPr id="26" name="box_60"/>
          <p:cNvSpPr txBox="1"/>
          <p:nvPr/>
        </p:nvSpPr>
        <p:spPr>
          <a:xfrm>
            <a:off x="5788152" y="3383280"/>
            <a:ext cx="3035808" cy="59436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in a bar, club, etc.</a:t>
            </a:r>
            <a:endParaRPr lang="en-US" sz="1300" dirty="0"/>
          </a:p>
        </p:txBody>
      </p:sp>
      <p:sp>
        <p:nvSpPr>
          <p:cNvPr id="27" name="slot_61"/>
          <p:cNvSpPr txBox="1"/>
          <p:nvPr/>
        </p:nvSpPr>
        <p:spPr>
          <a:xfrm>
            <a:off x="4800600" y="4069080"/>
            <a:ext cx="411480" cy="594360"/>
          </a:xfrm>
          <a:prstGeom prst="rect">
            <a:avLst/>
          </a:prstGeom>
          <a:solidFill>
            <a:srgbClr val="FFFFFF"/>
          </a:solidFill>
          <a:ln w="25400">
            <a:solidFill>
              <a:srgbClr val="6D3FC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3F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400" dirty="0"/>
          </a:p>
        </p:txBody>
      </p:sp>
      <p:pic>
        <p:nvPicPr>
          <p:cNvPr id="28" name="ri_62" descr="E  through friend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0" y="4160520"/>
            <a:ext cx="411480" cy="411480"/>
          </a:xfrm>
          <a:prstGeom prst="rect">
            <a:avLst/>
          </a:prstGeom>
        </p:spPr>
      </p:pic>
      <p:sp>
        <p:nvSpPr>
          <p:cNvPr id="29" name="box_63"/>
          <p:cNvSpPr txBox="1"/>
          <p:nvPr/>
        </p:nvSpPr>
        <p:spPr>
          <a:xfrm>
            <a:off x="5788152" y="4069080"/>
            <a:ext cx="3035808" cy="59436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 through friends</a:t>
            </a:r>
            <a:endParaRPr lang="en-US" sz="1300" dirty="0"/>
          </a:p>
        </p:txBody>
      </p:sp>
      <p:sp>
        <p:nvSpPr>
          <p:cNvPr id="30" name="R1_ans"/>
          <p:cNvSpPr txBox="1"/>
          <p:nvPr/>
        </p:nvSpPr>
        <p:spPr>
          <a:xfrm rot="-120000">
            <a:off x="411480" y="3886200"/>
            <a:ext cx="2240280" cy="777240"/>
          </a:xfrm>
          <a:prstGeom prst="rect">
            <a:avLst/>
          </a:prstGeom>
          <a:solidFill>
            <a:srgbClr val="FFD84D"/>
          </a:solidFill>
          <a:ln w="12700">
            <a:solidFill>
              <a:srgbClr val="B7950B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right answer – compare and agree!</a:t>
            </a:r>
            <a:endParaRPr lang="en-US" sz="1100" dirty="0"/>
          </a:p>
        </p:txBody>
      </p:sp>
      <p:sp>
        <p:nvSpPr>
          <p:cNvPr id="31" name="pageTag_64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p.50 · 1a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65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66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67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READING · #thewaywemet · SB p.50</a:t>
            </a:r>
            <a:endParaRPr lang="en-US" sz="900" dirty="0"/>
          </a:p>
        </p:txBody>
      </p:sp>
      <p:sp>
        <p:nvSpPr>
          <p:cNvPr id="6" name="timer_68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7" name="footer_69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5B · Part 1</a:t>
            </a:r>
            <a:endParaRPr lang="en-US" sz="1000" dirty="0"/>
          </a:p>
        </p:txBody>
      </p:sp>
      <p:sp>
        <p:nvSpPr>
          <p:cNvPr id="8" name="title_70"/>
          <p:cNvSpPr txBox="1"/>
          <p:nvPr/>
        </p:nvSpPr>
        <p:spPr>
          <a:xfrm rot="-120000">
            <a:off x="320040" y="676656"/>
            <a:ext cx="3977640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Tiffany or Kristina?</a:t>
            </a:r>
            <a:endParaRPr lang="en-US" sz="1500" dirty="0"/>
          </a:p>
        </p:txBody>
      </p:sp>
      <p:sp>
        <p:nvSpPr>
          <p:cNvPr id="9" name="post_71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72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48BDF2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LEGGI!</a:t>
            </a:r>
            <a:endParaRPr lang="en-US" sz="1500" dirty="0"/>
          </a:p>
        </p:txBody>
      </p:sp>
      <p:sp>
        <p:nvSpPr>
          <p:cNvPr id="11" name="signB_73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did they meet? Read again: T (Tiffany) or K (Kristina)?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Dove si sono conosciuti? Rileggi: T (Tiffany) o K (Kristina)?</a:t>
            </a:r>
            <a:endParaRPr lang="en-US" sz="1200" dirty="0"/>
          </a:p>
        </p:txBody>
      </p:sp>
      <p:sp>
        <p:nvSpPr>
          <p:cNvPr id="12" name="iconBack_74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3" name="icon_75" descr="pi:PiBookOpe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4" name="box_76"/>
          <p:cNvSpPr txBox="1"/>
          <p:nvPr/>
        </p:nvSpPr>
        <p:spPr>
          <a:xfrm>
            <a:off x="2788920" y="1371600"/>
            <a:ext cx="4345229" cy="44196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time she met her partner, she…  1  saw him from a distance.</a:t>
            </a:r>
            <a:endParaRPr lang="en-US" sz="1000" dirty="0"/>
          </a:p>
        </p:txBody>
      </p:sp>
      <p:sp>
        <p:nvSpPr>
          <p:cNvPr id="15" name="R1_a0"/>
          <p:cNvSpPr txBox="1"/>
          <p:nvPr/>
        </p:nvSpPr>
        <p:spPr>
          <a:xfrm>
            <a:off x="7189013" y="1408176"/>
            <a:ext cx="1634947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400" dirty="0"/>
          </a:p>
        </p:txBody>
      </p:sp>
      <p:sp>
        <p:nvSpPr>
          <p:cNvPr id="16" name="box_77"/>
          <p:cNvSpPr txBox="1"/>
          <p:nvPr/>
        </p:nvSpPr>
        <p:spPr>
          <a:xfrm>
            <a:off x="2788920" y="1941576"/>
            <a:ext cx="4345229" cy="44196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felt a bit frightened.</a:t>
            </a:r>
            <a:endParaRPr lang="en-US" sz="1250" dirty="0"/>
          </a:p>
        </p:txBody>
      </p:sp>
      <p:sp>
        <p:nvSpPr>
          <p:cNvPr id="17" name="R1_a1"/>
          <p:cNvSpPr txBox="1"/>
          <p:nvPr/>
        </p:nvSpPr>
        <p:spPr>
          <a:xfrm>
            <a:off x="7189013" y="1978152"/>
            <a:ext cx="1634947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400" dirty="0"/>
          </a:p>
        </p:txBody>
      </p:sp>
      <p:sp>
        <p:nvSpPr>
          <p:cNvPr id="18" name="box_78"/>
          <p:cNvSpPr txBox="1"/>
          <p:nvPr/>
        </p:nvSpPr>
        <p:spPr>
          <a:xfrm>
            <a:off x="2788920" y="2511552"/>
            <a:ext cx="4345229" cy="44196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had moved away from her hometown.</a:t>
            </a:r>
            <a:endParaRPr lang="en-US" sz="1250" dirty="0"/>
          </a:p>
        </p:txBody>
      </p:sp>
      <p:sp>
        <p:nvSpPr>
          <p:cNvPr id="19" name="R1_a2"/>
          <p:cNvSpPr txBox="1"/>
          <p:nvPr/>
        </p:nvSpPr>
        <p:spPr>
          <a:xfrm>
            <a:off x="7189013" y="2548128"/>
            <a:ext cx="1634947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400" dirty="0"/>
          </a:p>
        </p:txBody>
      </p:sp>
      <p:sp>
        <p:nvSpPr>
          <p:cNvPr id="20" name="box_79"/>
          <p:cNvSpPr txBox="1"/>
          <p:nvPr/>
        </p:nvSpPr>
        <p:spPr>
          <a:xfrm>
            <a:off x="2788920" y="3081528"/>
            <a:ext cx="4345229" cy="44196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had a problem with her health.</a:t>
            </a:r>
            <a:endParaRPr lang="en-US" sz="1250" dirty="0"/>
          </a:p>
        </p:txBody>
      </p:sp>
      <p:sp>
        <p:nvSpPr>
          <p:cNvPr id="21" name="R1_a3"/>
          <p:cNvSpPr txBox="1"/>
          <p:nvPr/>
        </p:nvSpPr>
        <p:spPr>
          <a:xfrm>
            <a:off x="7189013" y="3118104"/>
            <a:ext cx="1634947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400" dirty="0"/>
          </a:p>
        </p:txBody>
      </p:sp>
      <p:sp>
        <p:nvSpPr>
          <p:cNvPr id="22" name="box_80"/>
          <p:cNvSpPr txBox="1"/>
          <p:nvPr/>
        </p:nvSpPr>
        <p:spPr>
          <a:xfrm>
            <a:off x="2788920" y="3651504"/>
            <a:ext cx="4345229" cy="44196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was immediately attracted to him.</a:t>
            </a:r>
            <a:endParaRPr lang="en-US" sz="1250" dirty="0"/>
          </a:p>
        </p:txBody>
      </p:sp>
      <p:sp>
        <p:nvSpPr>
          <p:cNvPr id="23" name="R1_a4"/>
          <p:cNvSpPr txBox="1"/>
          <p:nvPr/>
        </p:nvSpPr>
        <p:spPr>
          <a:xfrm>
            <a:off x="7189013" y="3688080"/>
            <a:ext cx="1634947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400" dirty="0"/>
          </a:p>
        </p:txBody>
      </p:sp>
      <p:sp>
        <p:nvSpPr>
          <p:cNvPr id="24" name="box_81"/>
          <p:cNvSpPr txBox="1"/>
          <p:nvPr/>
        </p:nvSpPr>
        <p:spPr>
          <a:xfrm>
            <a:off x="2788920" y="4221480"/>
            <a:ext cx="4345229" cy="44196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felt that he didn't understand her.</a:t>
            </a:r>
            <a:endParaRPr lang="en-US" sz="1250" dirty="0"/>
          </a:p>
        </p:txBody>
      </p:sp>
      <p:sp>
        <p:nvSpPr>
          <p:cNvPr id="25" name="R1_a5"/>
          <p:cNvSpPr txBox="1"/>
          <p:nvPr/>
        </p:nvSpPr>
        <p:spPr>
          <a:xfrm>
            <a:off x="7189013" y="4258056"/>
            <a:ext cx="1634947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400" dirty="0"/>
          </a:p>
        </p:txBody>
      </p:sp>
      <p:sp>
        <p:nvSpPr>
          <p:cNvPr id="26" name="pageTag_82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p.50 · 1b, 1c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83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84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85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SPEAKING · Communication p.107 / p.112</a:t>
            </a:r>
            <a:endParaRPr lang="en-US" sz="900" dirty="0"/>
          </a:p>
        </p:txBody>
      </p:sp>
      <p:sp>
        <p:nvSpPr>
          <p:cNvPr id="6" name="timer_86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7 min</a:t>
            </a:r>
            <a:endParaRPr lang="en-US" sz="1200" dirty="0"/>
          </a:p>
        </p:txBody>
      </p:sp>
      <p:sp>
        <p:nvSpPr>
          <p:cNvPr id="7" name="footer_87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5B · Part 1</a:t>
            </a:r>
            <a:endParaRPr lang="en-US" sz="1000" dirty="0"/>
          </a:p>
        </p:txBody>
      </p:sp>
      <p:sp>
        <p:nvSpPr>
          <p:cNvPr id="8" name="title_88"/>
          <p:cNvSpPr txBox="1"/>
          <p:nvPr/>
        </p:nvSpPr>
        <p:spPr>
          <a:xfrm rot="-120000">
            <a:off x="320040" y="676656"/>
            <a:ext cx="3108960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did it end?</a:t>
            </a:r>
            <a:endParaRPr lang="en-US" sz="1500" dirty="0"/>
          </a:p>
        </p:txBody>
      </p:sp>
      <p:sp>
        <p:nvSpPr>
          <p:cNvPr id="9" name="post_89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90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1" name="signB_91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 the end. Then read it and tell your partner!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Indovina il finale. Poi leggilo e raccontalo al compagno!</a:t>
            </a:r>
            <a:endParaRPr lang="en-US" sz="1250" dirty="0"/>
          </a:p>
        </p:txBody>
      </p:sp>
      <p:sp>
        <p:nvSpPr>
          <p:cNvPr id="12" name="iconBack_92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3" name="icon_93" descr="pi:PiHear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4" name="num_94"/>
          <p:cNvSpPr txBox="1"/>
          <p:nvPr/>
        </p:nvSpPr>
        <p:spPr>
          <a:xfrm>
            <a:off x="2788920" y="1412748"/>
            <a:ext cx="384048" cy="384048"/>
          </a:xfrm>
          <a:prstGeom prst="ellipse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box_95"/>
          <p:cNvSpPr txBox="1"/>
          <p:nvPr/>
        </p:nvSpPr>
        <p:spPr>
          <a:xfrm>
            <a:off x="3264408" y="1371600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Pairs: how do you think the two stories end? Guess!</a:t>
            </a:r>
            <a:endParaRPr lang="en-US" sz="1250" dirty="0"/>
          </a:p>
        </p:txBody>
      </p:sp>
      <p:sp>
        <p:nvSpPr>
          <p:cNvPr id="16" name="num_96"/>
          <p:cNvSpPr txBox="1"/>
          <p:nvPr/>
        </p:nvSpPr>
        <p:spPr>
          <a:xfrm>
            <a:off x="2788920" y="1970532"/>
            <a:ext cx="384048" cy="384048"/>
          </a:xfrm>
          <a:prstGeom prst="ellipse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box_97"/>
          <p:cNvSpPr txBox="1"/>
          <p:nvPr/>
        </p:nvSpPr>
        <p:spPr>
          <a:xfrm>
            <a:off x="3264408" y="1929384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A: go to p.107 – the end of Tiffany's story. Student B: go to p.112 – the end of Kristina's story.</a:t>
            </a:r>
            <a:endParaRPr lang="en-US" sz="950" dirty="0"/>
          </a:p>
        </p:txBody>
      </p:sp>
      <p:sp>
        <p:nvSpPr>
          <p:cNvPr id="18" name="num_98"/>
          <p:cNvSpPr txBox="1"/>
          <p:nvPr/>
        </p:nvSpPr>
        <p:spPr>
          <a:xfrm>
            <a:off x="2788920" y="2528316"/>
            <a:ext cx="384048" cy="384048"/>
          </a:xfrm>
          <a:prstGeom prst="ellipse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box_99"/>
          <p:cNvSpPr txBox="1"/>
          <p:nvPr/>
        </p:nvSpPr>
        <p:spPr>
          <a:xfrm>
            <a:off x="3264408" y="2487168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Read, then close your book. Before you tell the end, ask your partner: 'What do you think happened?'</a:t>
            </a:r>
            <a:endParaRPr lang="en-US" sz="950" dirty="0"/>
          </a:p>
        </p:txBody>
      </p:sp>
      <p:sp>
        <p:nvSpPr>
          <p:cNvPr id="20" name="num_100"/>
          <p:cNvSpPr txBox="1"/>
          <p:nvPr/>
        </p:nvSpPr>
        <p:spPr>
          <a:xfrm>
            <a:off x="2788920" y="3086100"/>
            <a:ext cx="384048" cy="384048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box_101"/>
          <p:cNvSpPr txBox="1"/>
          <p:nvPr/>
        </p:nvSpPr>
        <p:spPr>
          <a:xfrm>
            <a:off x="3264408" y="3044952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your partner the end of your story.</a:t>
            </a:r>
            <a:endParaRPr lang="en-US" sz="1250" dirty="0"/>
          </a:p>
        </p:txBody>
      </p:sp>
      <p:sp>
        <p:nvSpPr>
          <p:cNvPr id="22" name="num_102"/>
          <p:cNvSpPr txBox="1"/>
          <p:nvPr/>
        </p:nvSpPr>
        <p:spPr>
          <a:xfrm>
            <a:off x="2788920" y="3643884"/>
            <a:ext cx="384048" cy="384048"/>
          </a:xfrm>
          <a:prstGeom prst="ellipse">
            <a:avLst/>
          </a:prstGeom>
          <a:solidFill>
            <a:srgbClr val="6D3FC0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box_103"/>
          <p:cNvSpPr txBox="1"/>
          <p:nvPr/>
        </p:nvSpPr>
        <p:spPr>
          <a:xfrm>
            <a:off x="3264408" y="3602736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Together: what is the coincidence in each story?</a:t>
            </a:r>
            <a:endParaRPr lang="en-US" sz="1250" dirty="0"/>
          </a:p>
        </p:txBody>
      </p:sp>
      <p:sp>
        <p:nvSpPr>
          <p:cNvPr id="24" name="bubble_104"/>
          <p:cNvSpPr txBox="1"/>
          <p:nvPr/>
        </p:nvSpPr>
        <p:spPr>
          <a:xfrm>
            <a:off x="3246120" y="4160520"/>
            <a:ext cx="5577840" cy="502920"/>
          </a:xfrm>
          <a:prstGeom prst="round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end, it turned out that… · And the funny thing was…</a:t>
            </a:r>
            <a:endParaRPr lang="en-US" sz="1300" dirty="0"/>
          </a:p>
        </p:txBody>
      </p:sp>
      <p:sp>
        <p:nvSpPr>
          <p:cNvPr id="25" name="pageTag_105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p.50 · 1d, 1e · Communication The way we met A p.107, B p.112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06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107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08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Presentation · audio 5.15</a:t>
            </a:r>
            <a:endParaRPr lang="en-US" sz="900" dirty="0"/>
          </a:p>
        </p:txBody>
      </p:sp>
      <p:sp>
        <p:nvSpPr>
          <p:cNvPr id="6" name="timer_109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3 min</a:t>
            </a:r>
            <a:endParaRPr lang="en-US" sz="1200" dirty="0"/>
          </a:p>
        </p:txBody>
      </p:sp>
      <p:sp>
        <p:nvSpPr>
          <p:cNvPr id="7" name="footer_110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5B · Part 1</a:t>
            </a:r>
            <a:endParaRPr lang="en-US" sz="1000" dirty="0"/>
          </a:p>
        </p:txBody>
      </p:sp>
      <p:sp>
        <p:nvSpPr>
          <p:cNvPr id="8" name="title_111"/>
          <p:cNvSpPr txBox="1"/>
          <p:nvPr/>
        </p:nvSpPr>
        <p:spPr>
          <a:xfrm rot="-120000">
            <a:off x="320040" y="676656"/>
            <a:ext cx="3977640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Love at first sight?</a:t>
            </a:r>
            <a:endParaRPr lang="en-US" sz="1500" dirty="0"/>
          </a:p>
        </p:txBody>
      </p:sp>
      <p:sp>
        <p:nvSpPr>
          <p:cNvPr id="9" name="post_112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113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48BDF2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ASCOLTA!</a:t>
            </a:r>
            <a:endParaRPr lang="en-US" sz="1500" dirty="0"/>
          </a:p>
        </p:txBody>
      </p:sp>
      <p:sp>
        <p:nvSpPr>
          <p:cNvPr id="11" name="signB_114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did John meet his partner? Was it romantic?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Dove ha conosciuto la sua compagna John? È stato romantico?</a:t>
            </a:r>
            <a:endParaRPr lang="en-US" sz="1250" dirty="0"/>
          </a:p>
        </p:txBody>
      </p:sp>
      <p:pic>
        <p:nvPicPr>
          <p:cNvPr id="12" name="Media 0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788920" y="1371600"/>
            <a:ext cx="640080" cy="640080"/>
          </a:xfrm>
          <a:prstGeom prst="rect">
            <a:avLst/>
          </a:prstGeom>
        </p:spPr>
      </p:pic>
      <p:sp>
        <p:nvSpPr>
          <p:cNvPr id="13" name="tr_115"/>
          <p:cNvSpPr txBox="1"/>
          <p:nvPr/>
        </p:nvSpPr>
        <p:spPr>
          <a:xfrm>
            <a:off x="3474720" y="137160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2F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🎧 5.15</a:t>
            </a:r>
            <a:endParaRPr lang="en-US" sz="1300" dirty="0"/>
          </a:p>
        </p:txBody>
      </p:sp>
      <p:sp>
        <p:nvSpPr>
          <p:cNvPr id="14" name="box_116"/>
          <p:cNvSpPr txBox="1"/>
          <p:nvPr/>
        </p:nvSpPr>
        <p:spPr>
          <a:xfrm>
            <a:off x="2788920" y="2103120"/>
            <a:ext cx="3621024" cy="566928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Where did they meet?</a:t>
            </a:r>
            <a:endParaRPr lang="en-US" sz="1300" dirty="0"/>
          </a:p>
        </p:txBody>
      </p:sp>
      <p:sp>
        <p:nvSpPr>
          <p:cNvPr id="15" name="R1_la0"/>
          <p:cNvSpPr txBox="1"/>
          <p:nvPr/>
        </p:nvSpPr>
        <p:spPr>
          <a:xfrm>
            <a:off x="6464808" y="2130552"/>
            <a:ext cx="2359152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school corridor (in Indonesia)</a:t>
            </a:r>
            <a:endParaRPr lang="en-US" sz="1200" dirty="0"/>
          </a:p>
        </p:txBody>
      </p:sp>
      <p:sp>
        <p:nvSpPr>
          <p:cNvPr id="16" name="box_117"/>
          <p:cNvSpPr txBox="1"/>
          <p:nvPr/>
        </p:nvSpPr>
        <p:spPr>
          <a:xfrm>
            <a:off x="2788920" y="2743200"/>
            <a:ext cx="3621024" cy="566928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Was it a romantic meeting?</a:t>
            </a:r>
            <a:endParaRPr lang="en-US" sz="1300" dirty="0"/>
          </a:p>
        </p:txBody>
      </p:sp>
      <p:sp>
        <p:nvSpPr>
          <p:cNvPr id="17" name="R2_la1"/>
          <p:cNvSpPr txBox="1"/>
          <p:nvPr/>
        </p:nvSpPr>
        <p:spPr>
          <a:xfrm>
            <a:off x="6464808" y="2770632"/>
            <a:ext cx="2359152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No!</a:t>
            </a:r>
            <a:endParaRPr lang="en-US" sz="1200" dirty="0"/>
          </a:p>
        </p:txBody>
      </p:sp>
      <p:sp>
        <p:nvSpPr>
          <p:cNvPr id="18" name="box_118"/>
          <p:cNvSpPr txBox="1"/>
          <p:nvPr/>
        </p:nvSpPr>
        <p:spPr>
          <a:xfrm>
            <a:off x="2788920" y="3383280"/>
            <a:ext cx="3621024" cy="566928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Listen again: sentences 1–8, T or F?</a:t>
            </a:r>
            <a:endParaRPr lang="en-US" sz="1300" dirty="0"/>
          </a:p>
        </p:txBody>
      </p:sp>
      <p:sp>
        <p:nvSpPr>
          <p:cNvPr id="19" name="R3_la2"/>
          <p:cNvSpPr txBox="1"/>
          <p:nvPr/>
        </p:nvSpPr>
        <p:spPr>
          <a:xfrm>
            <a:off x="6464808" y="3410712"/>
            <a:ext cx="2359152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 slide</a:t>
            </a:r>
            <a:endParaRPr lang="en-US" sz="1200" dirty="0"/>
          </a:p>
        </p:txBody>
      </p:sp>
      <p:sp>
        <p:nvSpPr>
          <p:cNvPr id="20" name="pageTag_119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p.51 · 2a, 2b, 2c · audio 5.15</a:t>
            </a:r>
            <a:endParaRPr lang="en-US" sz="1050" dirty="0"/>
          </a:p>
        </p:txBody>
      </p:sp>
      <p:sp>
        <p:nvSpPr>
          <p:cNvPr id="21" name="pframe_120"/>
          <p:cNvSpPr/>
          <p:nvPr/>
        </p:nvSpPr>
        <p:spPr>
          <a:xfrm rot="-120000">
            <a:off x="548640" y="3246120"/>
            <a:ext cx="1600200" cy="12435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22" name="pimg_121" descr="picture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 rot="-120000">
            <a:off x="621792" y="3319272"/>
            <a:ext cx="1453896" cy="1024128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audio>
              <p:cMediaNode vol="8000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22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123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24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Presentation · audio 5.15</a:t>
            </a:r>
            <a:endParaRPr lang="en-US" sz="900" dirty="0"/>
          </a:p>
        </p:txBody>
      </p:sp>
      <p:sp>
        <p:nvSpPr>
          <p:cNvPr id="6" name="timer_125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4 min</a:t>
            </a:r>
            <a:endParaRPr lang="en-US" sz="1200" dirty="0"/>
          </a:p>
        </p:txBody>
      </p:sp>
      <p:sp>
        <p:nvSpPr>
          <p:cNvPr id="7" name="footer_126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5B · Part 1</a:t>
            </a:r>
            <a:endParaRPr lang="en-US" sz="1000" dirty="0"/>
          </a:p>
        </p:txBody>
      </p:sp>
      <p:sp>
        <p:nvSpPr>
          <p:cNvPr id="8" name="title_127"/>
          <p:cNvSpPr txBox="1"/>
          <p:nvPr/>
        </p:nvSpPr>
        <p:spPr>
          <a:xfrm rot="-120000">
            <a:off x="320040" y="676656"/>
            <a:ext cx="4151376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John's story: T or F?</a:t>
            </a:r>
            <a:endParaRPr lang="en-US" sz="1500" dirty="0"/>
          </a:p>
        </p:txBody>
      </p:sp>
      <p:sp>
        <p:nvSpPr>
          <p:cNvPr id="9" name="post_128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129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48BDF2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ASCOLTA!</a:t>
            </a:r>
            <a:endParaRPr lang="en-US" sz="1500" dirty="0"/>
          </a:p>
        </p:txBody>
      </p:sp>
      <p:sp>
        <p:nvSpPr>
          <p:cNvPr id="11" name="signB_130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or F? Correct the F sentences.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Vero o falso? Correggi le frasi false.</a:t>
            </a:r>
            <a:endParaRPr lang="en-US" sz="1250" dirty="0"/>
          </a:p>
        </p:txBody>
      </p:sp>
      <p:sp>
        <p:nvSpPr>
          <p:cNvPr id="12" name="iconBack_131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3" name="icon_132" descr="pi:PiHeadphon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4" name="box_133"/>
          <p:cNvSpPr txBox="1"/>
          <p:nvPr/>
        </p:nvSpPr>
        <p:spPr>
          <a:xfrm>
            <a:off x="2788920" y="1371600"/>
            <a:ext cx="1831177" cy="726948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John was teaching English in Indonesia.</a:t>
            </a:r>
            <a:endParaRPr lang="en-US" sz="1150" dirty="0"/>
          </a:p>
        </p:txBody>
      </p:sp>
      <p:sp>
        <p:nvSpPr>
          <p:cNvPr id="15" name="R1_a0"/>
          <p:cNvSpPr txBox="1"/>
          <p:nvPr/>
        </p:nvSpPr>
        <p:spPr>
          <a:xfrm>
            <a:off x="4674961" y="1408176"/>
            <a:ext cx="1067471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050" dirty="0"/>
          </a:p>
        </p:txBody>
      </p:sp>
      <p:sp>
        <p:nvSpPr>
          <p:cNvPr id="16" name="box_134"/>
          <p:cNvSpPr txBox="1"/>
          <p:nvPr/>
        </p:nvSpPr>
        <p:spPr>
          <a:xfrm>
            <a:off x="5870448" y="1371600"/>
            <a:ext cx="1831177" cy="726948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His future wife was one of his students.</a:t>
            </a:r>
            <a:endParaRPr lang="en-US" sz="1150" dirty="0"/>
          </a:p>
        </p:txBody>
      </p:sp>
      <p:sp>
        <p:nvSpPr>
          <p:cNvPr id="17" name="R2_a1"/>
          <p:cNvSpPr txBox="1"/>
          <p:nvPr/>
        </p:nvSpPr>
        <p:spPr>
          <a:xfrm>
            <a:off x="7756489" y="1408176"/>
            <a:ext cx="1067471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– not in his classes</a:t>
            </a:r>
            <a:endParaRPr lang="en-US" sz="1050" dirty="0"/>
          </a:p>
        </p:txBody>
      </p:sp>
      <p:sp>
        <p:nvSpPr>
          <p:cNvPr id="18" name="box_135"/>
          <p:cNvSpPr txBox="1"/>
          <p:nvPr/>
        </p:nvSpPr>
        <p:spPr>
          <a:xfrm>
            <a:off x="2788920" y="2226564"/>
            <a:ext cx="1831177" cy="726948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She usually arrived for her classes on time.</a:t>
            </a:r>
            <a:endParaRPr lang="en-US" sz="1150" dirty="0"/>
          </a:p>
        </p:txBody>
      </p:sp>
      <p:sp>
        <p:nvSpPr>
          <p:cNvPr id="19" name="R3_a2"/>
          <p:cNvSpPr txBox="1"/>
          <p:nvPr/>
        </p:nvSpPr>
        <p:spPr>
          <a:xfrm>
            <a:off x="4674961" y="2263140"/>
            <a:ext cx="1067471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– not usually punctual</a:t>
            </a:r>
            <a:endParaRPr lang="en-US" sz="1050" dirty="0"/>
          </a:p>
        </p:txBody>
      </p:sp>
      <p:sp>
        <p:nvSpPr>
          <p:cNvPr id="20" name="box_136"/>
          <p:cNvSpPr txBox="1"/>
          <p:nvPr/>
        </p:nvSpPr>
        <p:spPr>
          <a:xfrm>
            <a:off x="5870448" y="2226564"/>
            <a:ext cx="1831177" cy="726948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John was carrying a lot of things to class.</a:t>
            </a:r>
            <a:endParaRPr lang="en-US" sz="1150" dirty="0"/>
          </a:p>
        </p:txBody>
      </p:sp>
      <p:sp>
        <p:nvSpPr>
          <p:cNvPr id="21" name="R4_a3"/>
          <p:cNvSpPr txBox="1"/>
          <p:nvPr/>
        </p:nvSpPr>
        <p:spPr>
          <a:xfrm>
            <a:off x="7756489" y="2263140"/>
            <a:ext cx="1067471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050" dirty="0"/>
          </a:p>
        </p:txBody>
      </p:sp>
      <p:sp>
        <p:nvSpPr>
          <p:cNvPr id="22" name="box_137"/>
          <p:cNvSpPr txBox="1"/>
          <p:nvPr/>
        </p:nvSpPr>
        <p:spPr>
          <a:xfrm>
            <a:off x="2788920" y="3081528"/>
            <a:ext cx="1831177" cy="726948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She made him drop them.</a:t>
            </a:r>
            <a:endParaRPr lang="en-US" sz="1150" dirty="0"/>
          </a:p>
        </p:txBody>
      </p:sp>
      <p:sp>
        <p:nvSpPr>
          <p:cNvPr id="23" name="R5_a4"/>
          <p:cNvSpPr txBox="1"/>
          <p:nvPr/>
        </p:nvSpPr>
        <p:spPr>
          <a:xfrm>
            <a:off x="4674961" y="3118104"/>
            <a:ext cx="1067471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050" dirty="0"/>
          </a:p>
        </p:txBody>
      </p:sp>
      <p:sp>
        <p:nvSpPr>
          <p:cNvPr id="24" name="box_138"/>
          <p:cNvSpPr txBox="1"/>
          <p:nvPr/>
        </p:nvSpPr>
        <p:spPr>
          <a:xfrm>
            <a:off x="5870448" y="3081528"/>
            <a:ext cx="1831177" cy="726948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She helped him to pick them up.</a:t>
            </a:r>
            <a:endParaRPr lang="en-US" sz="1150" dirty="0"/>
          </a:p>
        </p:txBody>
      </p:sp>
      <p:sp>
        <p:nvSpPr>
          <p:cNvPr id="25" name="R6_a5"/>
          <p:cNvSpPr txBox="1"/>
          <p:nvPr/>
        </p:nvSpPr>
        <p:spPr>
          <a:xfrm>
            <a:off x="7756489" y="3118104"/>
            <a:ext cx="1067471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– she ran off, laughing</a:t>
            </a:r>
            <a:endParaRPr lang="en-US" sz="1050" dirty="0"/>
          </a:p>
        </p:txBody>
      </p:sp>
      <p:sp>
        <p:nvSpPr>
          <p:cNvPr id="26" name="box_139"/>
          <p:cNvSpPr txBox="1"/>
          <p:nvPr/>
        </p:nvSpPr>
        <p:spPr>
          <a:xfrm>
            <a:off x="2788920" y="3936492"/>
            <a:ext cx="1831177" cy="726948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They were friends for a long time before going out together.</a:t>
            </a:r>
            <a:endParaRPr lang="en-US" sz="1150" dirty="0"/>
          </a:p>
        </p:txBody>
      </p:sp>
      <p:sp>
        <p:nvSpPr>
          <p:cNvPr id="27" name="R7_a6"/>
          <p:cNvSpPr txBox="1"/>
          <p:nvPr/>
        </p:nvSpPr>
        <p:spPr>
          <a:xfrm>
            <a:off x="4674961" y="3973068"/>
            <a:ext cx="1067471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050" dirty="0"/>
          </a:p>
        </p:txBody>
      </p:sp>
      <p:sp>
        <p:nvSpPr>
          <p:cNvPr id="28" name="box_140"/>
          <p:cNvSpPr txBox="1"/>
          <p:nvPr/>
        </p:nvSpPr>
        <p:spPr>
          <a:xfrm>
            <a:off x="5870448" y="3936492"/>
            <a:ext cx="1831177" cy="726948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They've been married for ten years.</a:t>
            </a:r>
            <a:endParaRPr lang="en-US" sz="1150" dirty="0"/>
          </a:p>
        </p:txBody>
      </p:sp>
      <p:sp>
        <p:nvSpPr>
          <p:cNvPr id="29" name="R8_a7"/>
          <p:cNvSpPr txBox="1"/>
          <p:nvPr/>
        </p:nvSpPr>
        <p:spPr>
          <a:xfrm>
            <a:off x="7756489" y="3973068"/>
            <a:ext cx="1067471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– for 12 years</a:t>
            </a:r>
            <a:endParaRPr lang="en-US" sz="1050" dirty="0"/>
          </a:p>
        </p:txBody>
      </p:sp>
      <p:sp>
        <p:nvSpPr>
          <p:cNvPr id="30" name="pageTag_141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p.51 · 2b · audio 5.15 (play it on the previous slide)</a:t>
            </a:r>
            <a:endParaRPr lang="en-US" sz="1050" dirty="0"/>
          </a:p>
        </p:txBody>
      </p:sp>
      <p:pic>
        <p:nvPicPr>
          <p:cNvPr id="31" name="Media 0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166360" y="155448"/>
            <a:ext cx="384048" cy="384048"/>
          </a:xfrm>
          <a:prstGeom prst="rect">
            <a:avLst/>
          </a:prstGeom>
        </p:spPr>
      </p:pic>
      <p:sp>
        <p:nvSpPr>
          <p:cNvPr id="32" name="atr_142"/>
          <p:cNvSpPr txBox="1"/>
          <p:nvPr/>
        </p:nvSpPr>
        <p:spPr>
          <a:xfrm>
            <a:off x="5120640" y="53035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2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5.15</a:t>
            </a:r>
            <a:endParaRPr lang="en-US" sz="8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7" dur="1" fill="hold"/>
                                        <p:tgtEl>
                                          <p:spTgt spid="3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audio>
              <p:cMediaNode vol="80000">
                <p:cTn id="4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1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43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144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45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Grammar Bank 5B p.141</a:t>
            </a:r>
            <a:endParaRPr lang="en-US" sz="900" dirty="0"/>
          </a:p>
        </p:txBody>
      </p:sp>
      <p:sp>
        <p:nvSpPr>
          <p:cNvPr id="6" name="timer_146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7" name="footer_147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5B · Part 1</a:t>
            </a:r>
            <a:endParaRPr lang="en-US" sz="1000" dirty="0"/>
          </a:p>
        </p:txBody>
      </p:sp>
      <p:sp>
        <p:nvSpPr>
          <p:cNvPr id="8" name="title_148"/>
          <p:cNvSpPr txBox="1"/>
          <p:nvPr/>
        </p:nvSpPr>
        <p:spPr>
          <a:xfrm rot="-120000">
            <a:off x="320040" y="676656"/>
            <a:ext cx="3456432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used to / usually</a:t>
            </a:r>
            <a:endParaRPr lang="en-US" sz="1500" dirty="0"/>
          </a:p>
        </p:txBody>
      </p:sp>
      <p:sp>
        <p:nvSpPr>
          <p:cNvPr id="9" name="rh_149"/>
          <p:cNvSpPr txBox="1"/>
          <p:nvPr/>
        </p:nvSpPr>
        <p:spPr>
          <a:xfrm>
            <a:off x="320040" y="1371600"/>
            <a:ext cx="4187952" cy="384048"/>
          </a:xfrm>
          <a:prstGeom prst="rect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used to + infinitive (past)</a:t>
            </a:r>
            <a:endParaRPr lang="en-US" sz="1300" dirty="0"/>
          </a:p>
        </p:txBody>
      </p:sp>
      <p:sp>
        <p:nvSpPr>
          <p:cNvPr id="10" name="rb_150"/>
          <p:cNvSpPr txBox="1"/>
          <p:nvPr/>
        </p:nvSpPr>
        <p:spPr>
          <a:xfrm>
            <a:off x="320040" y="1810512"/>
            <a:ext cx="4187952" cy="21579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used to teach English when I was living abroad.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didn't use to do any exercise, but now he runs marathons.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used to be close friends, but we don't talk to each other any more.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they use to live in the city centre?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habits and states that are NOT true now</a:t>
            </a:r>
            <a:endParaRPr lang="en-US" sz="1300" dirty="0"/>
          </a:p>
        </p:txBody>
      </p:sp>
      <p:sp>
        <p:nvSpPr>
          <p:cNvPr id="11" name="rh_151"/>
          <p:cNvSpPr txBox="1"/>
          <p:nvPr/>
        </p:nvSpPr>
        <p:spPr>
          <a:xfrm>
            <a:off x="4636008" y="1371600"/>
            <a:ext cx="4187952" cy="384048"/>
          </a:xfrm>
          <a:prstGeom prst="rect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usually + present simple (now)</a:t>
            </a:r>
            <a:endParaRPr lang="en-US" sz="1300" dirty="0"/>
          </a:p>
        </p:txBody>
      </p:sp>
      <p:sp>
        <p:nvSpPr>
          <p:cNvPr id="12" name="rb_152"/>
          <p:cNvSpPr txBox="1"/>
          <p:nvPr/>
        </p:nvSpPr>
        <p:spPr>
          <a:xfrm>
            <a:off x="4636008" y="1810512"/>
            <a:ext cx="4187952" cy="21579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usually meet my friends at weekends.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don't normally go out during the week.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normally walk to work?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habits: usually / normally (NOT use to)</a:t>
            </a:r>
            <a:endParaRPr lang="en-US" sz="1300" dirty="0"/>
          </a:p>
        </p:txBody>
      </p:sp>
      <p:sp>
        <p:nvSpPr>
          <p:cNvPr id="13" name="watch_153"/>
          <p:cNvSpPr txBox="1"/>
          <p:nvPr/>
        </p:nvSpPr>
        <p:spPr>
          <a:xfrm>
            <a:off x="320040" y="4133088"/>
            <a:ext cx="8503920" cy="530352"/>
          </a:xfrm>
          <a:prstGeom prst="rect">
            <a:avLst/>
          </a:prstGeom>
          <a:solidFill>
            <a:srgbClr val="FFE4E6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out!  </a:t>
            </a:r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I use to go to bed at 11 → ✓ I usually go to bed at 11.   ✗ didn't used to → ✓ didn't use to.   I used to like cartoons, but I don't any more.</a:t>
            </a:r>
            <a:endParaRPr lang="en-US" sz="1000" dirty="0"/>
          </a:p>
        </p:txBody>
      </p:sp>
      <p:sp>
        <p:nvSpPr>
          <p:cNvPr id="14" name="pageTag_154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Grammar Bank 5B p.141 · audio 5.16</a:t>
            </a:r>
            <a:endParaRPr lang="en-US" sz="1050" dirty="0"/>
          </a:p>
        </p:txBody>
      </p:sp>
      <p:pic>
        <p:nvPicPr>
          <p:cNvPr id="15" name="Media 0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166360" y="155448"/>
            <a:ext cx="384048" cy="384048"/>
          </a:xfrm>
          <a:prstGeom prst="rect">
            <a:avLst/>
          </a:prstGeom>
        </p:spPr>
      </p:pic>
      <p:sp>
        <p:nvSpPr>
          <p:cNvPr id="16" name="atr_155"/>
          <p:cNvSpPr txBox="1"/>
          <p:nvPr/>
        </p:nvSpPr>
        <p:spPr>
          <a:xfrm>
            <a:off x="5120640" y="53035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2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5.16</a:t>
            </a:r>
            <a:endParaRPr lang="en-US" sz="8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7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audio>
              <p:cMediaNode vol="80000">
                <p:cTn id="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56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157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58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Grammar Bank 5B · practice</a:t>
            </a:r>
            <a:endParaRPr lang="en-US" sz="900" dirty="0"/>
          </a:p>
        </p:txBody>
      </p:sp>
      <p:sp>
        <p:nvSpPr>
          <p:cNvPr id="6" name="timer_159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7" name="footer_160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5B · Part 1</a:t>
            </a:r>
            <a:endParaRPr lang="en-US" sz="1000" dirty="0"/>
          </a:p>
        </p:txBody>
      </p:sp>
      <p:sp>
        <p:nvSpPr>
          <p:cNvPr id="8" name="title_161"/>
          <p:cNvSpPr txBox="1"/>
          <p:nvPr/>
        </p:nvSpPr>
        <p:spPr>
          <a:xfrm rot="-120000">
            <a:off x="320040" y="676656"/>
            <a:ext cx="2587752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Then or now?</a:t>
            </a:r>
            <a:endParaRPr lang="en-US" sz="1500" dirty="0"/>
          </a:p>
        </p:txBody>
      </p:sp>
      <p:sp>
        <p:nvSpPr>
          <p:cNvPr id="9" name="post_162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163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6D3FC0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WRITE!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SCRIVI!</a:t>
            </a:r>
            <a:endParaRPr lang="en-US" sz="1500" dirty="0"/>
          </a:p>
        </p:txBody>
      </p:sp>
      <p:sp>
        <p:nvSpPr>
          <p:cNvPr id="11" name="signB_164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Bank 5B: a 1–5 and b 1–4. Then check!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Bank 5B: a 1–5 e b 1–4. Poi controlla!</a:t>
            </a:r>
            <a:endParaRPr lang="en-US" sz="1250" dirty="0"/>
          </a:p>
        </p:txBody>
      </p:sp>
      <p:sp>
        <p:nvSpPr>
          <p:cNvPr id="12" name="iconBack_165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3" name="icon_166" descr="pi:PiPencilSimp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4" name="box_167"/>
          <p:cNvSpPr txBox="1"/>
          <p:nvPr/>
        </p:nvSpPr>
        <p:spPr>
          <a:xfrm>
            <a:off x="2788920" y="1371600"/>
            <a:ext cx="3741725" cy="44196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1–3  Right ✓ or wrong ✗? (in your book, p.141)</a:t>
            </a:r>
            <a:endParaRPr lang="en-US" sz="1150" dirty="0"/>
          </a:p>
        </p:txBody>
      </p:sp>
      <p:sp>
        <p:nvSpPr>
          <p:cNvPr id="15" name="R1_a0"/>
          <p:cNvSpPr txBox="1"/>
          <p:nvPr/>
        </p:nvSpPr>
        <p:spPr>
          <a:xfrm>
            <a:off x="6585509" y="1408176"/>
            <a:ext cx="2238451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✗ didn't use to like · 2 ✓ · 3 ✗ never used to want</a:t>
            </a:r>
            <a:endParaRPr lang="en-US" sz="1000" dirty="0"/>
          </a:p>
        </p:txBody>
      </p:sp>
      <p:sp>
        <p:nvSpPr>
          <p:cNvPr id="16" name="box_168"/>
          <p:cNvSpPr txBox="1"/>
          <p:nvPr/>
        </p:nvSpPr>
        <p:spPr>
          <a:xfrm>
            <a:off x="2788920" y="1941576"/>
            <a:ext cx="3741725" cy="44196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4–5</a:t>
            </a:r>
            <a:endParaRPr lang="en-US" sz="1200" dirty="0"/>
          </a:p>
        </p:txBody>
      </p:sp>
      <p:sp>
        <p:nvSpPr>
          <p:cNvPr id="17" name="R1_a1"/>
          <p:cNvSpPr txBox="1"/>
          <p:nvPr/>
        </p:nvSpPr>
        <p:spPr>
          <a:xfrm>
            <a:off x="6585509" y="1978152"/>
            <a:ext cx="2238451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✗ did you use to keep in touch · 5 ✗ usually go</a:t>
            </a:r>
            <a:endParaRPr lang="en-US" sz="1000" dirty="0"/>
          </a:p>
        </p:txBody>
      </p:sp>
      <p:sp>
        <p:nvSpPr>
          <p:cNvPr id="18" name="box_169"/>
          <p:cNvSpPr txBox="1"/>
          <p:nvPr/>
        </p:nvSpPr>
        <p:spPr>
          <a:xfrm>
            <a:off x="2788920" y="2511552"/>
            <a:ext cx="3741725" cy="44196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 We ___ a lot in common, but now we're completely different. (have)</a:t>
            </a:r>
            <a:endParaRPr lang="en-US" sz="900" dirty="0"/>
          </a:p>
        </p:txBody>
      </p:sp>
      <p:sp>
        <p:nvSpPr>
          <p:cNvPr id="19" name="R1_a2"/>
          <p:cNvSpPr txBox="1"/>
          <p:nvPr/>
        </p:nvSpPr>
        <p:spPr>
          <a:xfrm>
            <a:off x="6585509" y="2548128"/>
            <a:ext cx="2238451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have</a:t>
            </a:r>
            <a:endParaRPr lang="en-US" sz="1150" dirty="0"/>
          </a:p>
        </p:txBody>
      </p:sp>
      <p:sp>
        <p:nvSpPr>
          <p:cNvPr id="20" name="box_170"/>
          <p:cNvSpPr txBox="1"/>
          <p:nvPr/>
        </p:nvSpPr>
        <p:spPr>
          <a:xfrm>
            <a:off x="2788920" y="3081528"/>
            <a:ext cx="3741725" cy="44196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  We ___ to bed early during the week. (go)</a:t>
            </a:r>
            <a:endParaRPr lang="en-US" sz="1200" dirty="0"/>
          </a:p>
        </p:txBody>
      </p:sp>
      <p:sp>
        <p:nvSpPr>
          <p:cNvPr id="21" name="R1_a3"/>
          <p:cNvSpPr txBox="1"/>
          <p:nvPr/>
        </p:nvSpPr>
        <p:spPr>
          <a:xfrm>
            <a:off x="6585509" y="3118104"/>
            <a:ext cx="2238451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go</a:t>
            </a:r>
            <a:endParaRPr lang="en-US" sz="1150" dirty="0"/>
          </a:p>
        </p:txBody>
      </p:sp>
      <p:sp>
        <p:nvSpPr>
          <p:cNvPr id="22" name="box_171"/>
          <p:cNvSpPr txBox="1"/>
          <p:nvPr/>
        </p:nvSpPr>
        <p:spPr>
          <a:xfrm>
            <a:off x="2788920" y="3651504"/>
            <a:ext cx="3741725" cy="44196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  I ___ TV on my phone, but now I often do. (not watch)</a:t>
            </a:r>
            <a:endParaRPr lang="en-US" sz="1050" dirty="0"/>
          </a:p>
        </p:txBody>
      </p:sp>
      <p:sp>
        <p:nvSpPr>
          <p:cNvPr id="23" name="R1_a4"/>
          <p:cNvSpPr txBox="1"/>
          <p:nvPr/>
        </p:nvSpPr>
        <p:spPr>
          <a:xfrm>
            <a:off x="6585509" y="3688080"/>
            <a:ext cx="2238451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didn't use to watch</a:t>
            </a:r>
            <a:endParaRPr lang="en-US" sz="1150" dirty="0"/>
          </a:p>
        </p:txBody>
      </p:sp>
      <p:sp>
        <p:nvSpPr>
          <p:cNvPr id="24" name="box_172"/>
          <p:cNvSpPr txBox="1"/>
          <p:nvPr/>
        </p:nvSpPr>
        <p:spPr>
          <a:xfrm>
            <a:off x="2788920" y="4221480"/>
            <a:ext cx="3741725" cy="44196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  ___ football on Sunday mornings? (you / play)</a:t>
            </a:r>
            <a:endParaRPr lang="en-US" sz="1200" dirty="0"/>
          </a:p>
        </p:txBody>
      </p:sp>
      <p:sp>
        <p:nvSpPr>
          <p:cNvPr id="25" name="R1_a5"/>
          <p:cNvSpPr txBox="1"/>
          <p:nvPr/>
        </p:nvSpPr>
        <p:spPr>
          <a:xfrm>
            <a:off x="6585509" y="4258056"/>
            <a:ext cx="2238451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usually play</a:t>
            </a:r>
            <a:endParaRPr lang="en-US" sz="1150" dirty="0"/>
          </a:p>
        </p:txBody>
      </p:sp>
      <p:sp>
        <p:nvSpPr>
          <p:cNvPr id="26" name="pageTag_173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Grammar Bank 5B p.141 · a 1–5, b 1–4 (a 6–9, b 5–10 = homework)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74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175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76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PRONUNCIATION · The letter s · audio 5.17–5.19</a:t>
            </a:r>
            <a:endParaRPr lang="en-US" sz="900" dirty="0"/>
          </a:p>
        </p:txBody>
      </p:sp>
      <p:sp>
        <p:nvSpPr>
          <p:cNvPr id="6" name="timer_177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7" name="footer_178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5B · Part 1</a:t>
            </a:r>
            <a:endParaRPr lang="en-US" sz="1000" dirty="0"/>
          </a:p>
        </p:txBody>
      </p:sp>
      <p:sp>
        <p:nvSpPr>
          <p:cNvPr id="8" name="title_179"/>
          <p:cNvSpPr txBox="1"/>
          <p:nvPr/>
        </p:nvSpPr>
        <p:spPr>
          <a:xfrm rot="-120000">
            <a:off x="320040" y="676656"/>
            <a:ext cx="4151376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Snake, zebra, shower…</a:t>
            </a:r>
            <a:endParaRPr lang="en-US" sz="1500" dirty="0"/>
          </a:p>
        </p:txBody>
      </p:sp>
      <p:sp>
        <p:nvSpPr>
          <p:cNvPr id="9" name="post_180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181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PENSA!</a:t>
            </a:r>
            <a:endParaRPr lang="en-US" sz="1500" dirty="0"/>
          </a:p>
        </p:txBody>
      </p:sp>
      <p:sp>
        <p:nvSpPr>
          <p:cNvPr id="11" name="signB_182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 words. Which sound is the s?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Di' le parole. Che suono ha la s?</a:t>
            </a:r>
            <a:endParaRPr lang="en-US" sz="1250" dirty="0"/>
          </a:p>
        </p:txBody>
      </p:sp>
      <p:sp>
        <p:nvSpPr>
          <p:cNvPr id="12" name="box_183"/>
          <p:cNvSpPr txBox="1"/>
          <p:nvPr/>
        </p:nvSpPr>
        <p:spPr>
          <a:xfrm>
            <a:off x="2788920" y="1371600"/>
            <a:ext cx="2051914" cy="555955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snake  /s/</a:t>
            </a:r>
            <a:endParaRPr lang="en-US" sz="1300" dirty="0"/>
          </a:p>
        </p:txBody>
      </p:sp>
      <p:sp>
        <p:nvSpPr>
          <p:cNvPr id="13" name="R1_a0"/>
          <p:cNvSpPr txBox="1"/>
          <p:nvPr/>
        </p:nvSpPr>
        <p:spPr>
          <a:xfrm>
            <a:off x="4895698" y="1408176"/>
            <a:ext cx="3928262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· parents · practise · singer · sport · summer · supermarket</a:t>
            </a:r>
            <a:endParaRPr lang="en-US" sz="1200" dirty="0"/>
          </a:p>
        </p:txBody>
      </p:sp>
      <p:sp>
        <p:nvSpPr>
          <p:cNvPr id="14" name="box_184"/>
          <p:cNvSpPr txBox="1"/>
          <p:nvPr/>
        </p:nvSpPr>
        <p:spPr>
          <a:xfrm>
            <a:off x="2788920" y="2055571"/>
            <a:ext cx="2051914" cy="555955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zebra  /z/</a:t>
            </a:r>
            <a:endParaRPr lang="en-US" sz="1300" dirty="0"/>
          </a:p>
        </p:txBody>
      </p:sp>
      <p:sp>
        <p:nvSpPr>
          <p:cNvPr id="15" name="R2_a1"/>
          <p:cNvSpPr txBox="1"/>
          <p:nvPr/>
        </p:nvSpPr>
        <p:spPr>
          <a:xfrm>
            <a:off x="4895698" y="2092147"/>
            <a:ext cx="3928262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· busy · friends · holidays · lose · music</a:t>
            </a:r>
            <a:endParaRPr lang="en-US" sz="1200" dirty="0"/>
          </a:p>
        </p:txBody>
      </p:sp>
      <p:sp>
        <p:nvSpPr>
          <p:cNvPr id="16" name="box_185"/>
          <p:cNvSpPr txBox="1"/>
          <p:nvPr/>
        </p:nvSpPr>
        <p:spPr>
          <a:xfrm>
            <a:off x="2788920" y="2739542"/>
            <a:ext cx="2051914" cy="555955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shower  /ʃ/</a:t>
            </a:r>
            <a:endParaRPr lang="en-US" sz="1300" dirty="0"/>
          </a:p>
        </p:txBody>
      </p:sp>
      <p:sp>
        <p:nvSpPr>
          <p:cNvPr id="17" name="R3_a2"/>
          <p:cNvSpPr txBox="1"/>
          <p:nvPr/>
        </p:nvSpPr>
        <p:spPr>
          <a:xfrm>
            <a:off x="4895698" y="2776118"/>
            <a:ext cx="3928262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 · sure</a:t>
            </a:r>
            <a:endParaRPr lang="en-US" sz="1200" dirty="0"/>
          </a:p>
        </p:txBody>
      </p:sp>
      <p:sp>
        <p:nvSpPr>
          <p:cNvPr id="18" name="box_186"/>
          <p:cNvSpPr txBox="1"/>
          <p:nvPr/>
        </p:nvSpPr>
        <p:spPr>
          <a:xfrm>
            <a:off x="2788920" y="3423514"/>
            <a:ext cx="2051914" cy="555955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television  /ʒ/</a:t>
            </a:r>
            <a:endParaRPr lang="en-US" sz="1300" dirty="0"/>
          </a:p>
        </p:txBody>
      </p:sp>
      <p:sp>
        <p:nvSpPr>
          <p:cNvPr id="19" name="R4_a3"/>
          <p:cNvSpPr txBox="1"/>
          <p:nvPr/>
        </p:nvSpPr>
        <p:spPr>
          <a:xfrm>
            <a:off x="4895698" y="3460090"/>
            <a:ext cx="3928262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· decision · occasion · unusual</a:t>
            </a:r>
            <a:endParaRPr lang="en-US" sz="1200" dirty="0"/>
          </a:p>
        </p:txBody>
      </p:sp>
      <p:sp>
        <p:nvSpPr>
          <p:cNvPr id="20" name="box_187"/>
          <p:cNvSpPr txBox="1"/>
          <p:nvPr/>
        </p:nvSpPr>
        <p:spPr>
          <a:xfrm>
            <a:off x="2788920" y="4107485"/>
            <a:ext cx="2051914" cy="555955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used to  /juːst/</a:t>
            </a:r>
            <a:endParaRPr lang="en-US" sz="1300" dirty="0"/>
          </a:p>
        </p:txBody>
      </p:sp>
      <p:sp>
        <p:nvSpPr>
          <p:cNvPr id="21" name="R5_a4"/>
          <p:cNvSpPr txBox="1"/>
          <p:nvPr/>
        </p:nvSpPr>
        <p:spPr>
          <a:xfrm>
            <a:off x="4895698" y="4144061"/>
            <a:ext cx="3928262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used to live… ≠ I used (/juːzd/) Google Maps</a:t>
            </a:r>
            <a:endParaRPr lang="en-US" sz="1200" dirty="0"/>
          </a:p>
        </p:txBody>
      </p:sp>
      <p:sp>
        <p:nvSpPr>
          <p:cNvPr id="22" name="sticky_188"/>
          <p:cNvSpPr txBox="1"/>
          <p:nvPr/>
        </p:nvSpPr>
        <p:spPr>
          <a:xfrm rot="-120000">
            <a:off x="411480" y="3566160"/>
            <a:ext cx="2194560" cy="1143000"/>
          </a:xfrm>
          <a:prstGeom prst="rect">
            <a:avLst/>
          </a:prstGeom>
          <a:solidFill>
            <a:srgbClr val="FFD84D"/>
          </a:solidFill>
          <a:ln w="12700">
            <a:solidFill>
              <a:srgbClr val="B7950B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· usually · use · busy · decision · friends · holidays · lose · music · occasion · parents · practise · singer · sport · sugar · summer · supermarket · sure · unusual</a:t>
            </a:r>
            <a:endParaRPr lang="en-US" sz="1050" dirty="0"/>
          </a:p>
        </p:txBody>
      </p:sp>
      <p:sp>
        <p:nvSpPr>
          <p:cNvPr id="23" name="pageTag_189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p.51 · 3a–3d · audio 5.17, 5.18, 5.19</a:t>
            </a:r>
            <a:endParaRPr lang="en-US" sz="1050" dirty="0"/>
          </a:p>
        </p:txBody>
      </p:sp>
      <p:pic>
        <p:nvPicPr>
          <p:cNvPr id="24" name="Media 0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166360" y="155448"/>
            <a:ext cx="384048" cy="384048"/>
          </a:xfrm>
          <a:prstGeom prst="rect">
            <a:avLst/>
          </a:prstGeom>
        </p:spPr>
      </p:pic>
      <p:sp>
        <p:nvSpPr>
          <p:cNvPr id="25" name="atr_190"/>
          <p:cNvSpPr txBox="1"/>
          <p:nvPr/>
        </p:nvSpPr>
        <p:spPr>
          <a:xfrm>
            <a:off x="5120640" y="53035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2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5.17</a:t>
            </a:r>
            <a:endParaRPr lang="en-US" sz="800" dirty="0"/>
          </a:p>
        </p:txBody>
      </p:sp>
      <p:pic>
        <p:nvPicPr>
          <p:cNvPr id="26" name="Media 1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5641848" y="155448"/>
            <a:ext cx="384048" cy="384048"/>
          </a:xfrm>
          <a:prstGeom prst="rect">
            <a:avLst/>
          </a:prstGeom>
        </p:spPr>
      </p:pic>
      <p:sp>
        <p:nvSpPr>
          <p:cNvPr id="27" name="atr_191"/>
          <p:cNvSpPr txBox="1"/>
          <p:nvPr/>
        </p:nvSpPr>
        <p:spPr>
          <a:xfrm>
            <a:off x="5596128" y="53035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2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5.18</a:t>
            </a:r>
            <a:endParaRPr lang="en-US" sz="800" dirty="0"/>
          </a:p>
        </p:txBody>
      </p:sp>
      <p:pic>
        <p:nvPicPr>
          <p:cNvPr id="28" name="Media 2">
            <a:hlinkClick r:id="" action="ppaction://media"/>
          </p:cNvPr>
          <p:cNvPicPr>
            <a:picLocks noChangeAspect="1"/>
          </p:cNvPicPr>
          <p:nvPr>
            <a:audioFile r:link="rId9"/>
            <p:extLst>
              <p:ext uri="{DAA4B4D4-6D71-4841-9C94-3DE7FCFB9230}">
                <p14:media xmlns:p14="http://schemas.microsoft.com/office/powerpoint/2010/main" r:embed="rId10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6117336" y="155448"/>
            <a:ext cx="384048" cy="384048"/>
          </a:xfrm>
          <a:prstGeom prst="rect">
            <a:avLst/>
          </a:prstGeom>
        </p:spPr>
      </p:pic>
      <p:sp>
        <p:nvSpPr>
          <p:cNvPr id="29" name="atr_192"/>
          <p:cNvSpPr txBox="1"/>
          <p:nvPr/>
        </p:nvSpPr>
        <p:spPr>
          <a:xfrm>
            <a:off x="6071616" y="53035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2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5.19</a:t>
            </a:r>
            <a:endParaRPr lang="en-US" sz="8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2" dur="1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7" dur="1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2" dur="1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audio>
              <p:cMediaNode vol="80000">
                <p:cTn id="4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4"/>
                </p:tgtEl>
              </p:cMediaNode>
            </p:audio>
            <p:audio>
              <p:cMediaNode vol="80000">
                <p:cTn id="4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6"/>
                </p:tgtEl>
              </p:cMediaNode>
            </p:audio>
            <p:audio>
              <p:cMediaNode vol="80000">
                <p:cTn id="4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8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93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194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95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SPEAKING · Communicative photocopiable 5B · board game</a:t>
            </a:r>
            <a:endParaRPr lang="en-US" sz="900" dirty="0"/>
          </a:p>
        </p:txBody>
      </p:sp>
      <p:sp>
        <p:nvSpPr>
          <p:cNvPr id="6" name="timer_196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7 min</a:t>
            </a:r>
            <a:endParaRPr lang="en-US" sz="1200" dirty="0"/>
          </a:p>
        </p:txBody>
      </p:sp>
      <p:sp>
        <p:nvSpPr>
          <p:cNvPr id="7" name="footer_197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5B · Part 1</a:t>
            </a:r>
            <a:endParaRPr lang="en-US" sz="1000" dirty="0"/>
          </a:p>
        </p:txBody>
      </p:sp>
      <p:sp>
        <p:nvSpPr>
          <p:cNvPr id="8" name="title_198"/>
          <p:cNvSpPr txBox="1"/>
          <p:nvPr/>
        </p:nvSpPr>
        <p:spPr>
          <a:xfrm rot="-120000">
            <a:off x="320040" y="676656"/>
            <a:ext cx="3282696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Past and present</a:t>
            </a:r>
            <a:endParaRPr lang="en-US" sz="1500" dirty="0"/>
          </a:p>
        </p:txBody>
      </p:sp>
      <p:sp>
        <p:nvSpPr>
          <p:cNvPr id="9" name="post_199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200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1FA463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GIOCA!</a:t>
            </a:r>
            <a:endParaRPr lang="en-US" sz="1500" dirty="0"/>
          </a:p>
        </p:txBody>
      </p:sp>
      <p:sp>
        <p:nvSpPr>
          <p:cNvPr id="11" name="signB_201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 the coin, move, answer the question!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Lancia la moneta, muoviti, rispondi alla domanda!</a:t>
            </a:r>
            <a:endParaRPr lang="en-US" sz="1250" dirty="0"/>
          </a:p>
        </p:txBody>
      </p:sp>
      <p:sp>
        <p:nvSpPr>
          <p:cNvPr id="12" name="num_202"/>
          <p:cNvSpPr txBox="1"/>
          <p:nvPr/>
        </p:nvSpPr>
        <p:spPr>
          <a:xfrm>
            <a:off x="2788920" y="1412748"/>
            <a:ext cx="384048" cy="384048"/>
          </a:xfrm>
          <a:prstGeom prst="ellipse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box_203"/>
          <p:cNvSpPr txBox="1"/>
          <p:nvPr/>
        </p:nvSpPr>
        <p:spPr>
          <a:xfrm>
            <a:off x="3264408" y="1371600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Print: B1_5B_Photocopiables.pdf, page 2 – one board per group of 3–4.</a:t>
            </a:r>
            <a:endParaRPr lang="en-US" sz="1200" dirty="0"/>
          </a:p>
        </p:txBody>
      </p:sp>
      <p:sp>
        <p:nvSpPr>
          <p:cNvPr id="14" name="num_204"/>
          <p:cNvSpPr txBox="1"/>
          <p:nvPr/>
        </p:nvSpPr>
        <p:spPr>
          <a:xfrm>
            <a:off x="2788920" y="1970532"/>
            <a:ext cx="384048" cy="384048"/>
          </a:xfrm>
          <a:prstGeom prst="ellipse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box_205"/>
          <p:cNvSpPr txBox="1"/>
          <p:nvPr/>
        </p:nvSpPr>
        <p:spPr>
          <a:xfrm>
            <a:off x="3264408" y="1929384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 a coin: heads = move 1, tails = move 2. Answer the question – with used to or usually!</a:t>
            </a:r>
            <a:endParaRPr lang="en-US" sz="1000" dirty="0"/>
          </a:p>
        </p:txBody>
      </p:sp>
      <p:sp>
        <p:nvSpPr>
          <p:cNvPr id="16" name="num_206"/>
          <p:cNvSpPr txBox="1"/>
          <p:nvPr/>
        </p:nvSpPr>
        <p:spPr>
          <a:xfrm>
            <a:off x="2788920" y="2528316"/>
            <a:ext cx="384048" cy="384048"/>
          </a:xfrm>
          <a:prstGeom prst="ellipse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box_207"/>
          <p:cNvSpPr txBox="1"/>
          <p:nvPr/>
        </p:nvSpPr>
        <p:spPr>
          <a:xfrm>
            <a:off x="3264408" y="2487168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more information. The others ask you ONE follow-up question.</a:t>
            </a:r>
            <a:endParaRPr lang="en-US" sz="1250" dirty="0"/>
          </a:p>
        </p:txBody>
      </p:sp>
      <p:sp>
        <p:nvSpPr>
          <p:cNvPr id="18" name="num_208"/>
          <p:cNvSpPr txBox="1"/>
          <p:nvPr/>
        </p:nvSpPr>
        <p:spPr>
          <a:xfrm>
            <a:off x="2788920" y="3086100"/>
            <a:ext cx="384048" cy="384048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box_209"/>
          <p:cNvSpPr txBox="1"/>
          <p:nvPr/>
        </p:nvSpPr>
        <p:spPr>
          <a:xfrm>
            <a:off x="3264408" y="3044952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'Have another go!' = throw again.</a:t>
            </a:r>
            <a:endParaRPr lang="en-US" sz="1250" dirty="0"/>
          </a:p>
        </p:txBody>
      </p:sp>
      <p:sp>
        <p:nvSpPr>
          <p:cNvPr id="20" name="num_210"/>
          <p:cNvSpPr txBox="1"/>
          <p:nvPr/>
        </p:nvSpPr>
        <p:spPr>
          <a:xfrm>
            <a:off x="2788920" y="3643884"/>
            <a:ext cx="384048" cy="384048"/>
          </a:xfrm>
          <a:prstGeom prst="ellipse">
            <a:avLst/>
          </a:prstGeom>
          <a:solidFill>
            <a:srgbClr val="6D3FC0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box_211"/>
          <p:cNvSpPr txBox="1"/>
          <p:nvPr/>
        </p:nvSpPr>
        <p:spPr>
          <a:xfrm>
            <a:off x="3264408" y="3602736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player to reach FINISH wins.</a:t>
            </a:r>
            <a:endParaRPr lang="en-US" sz="1250" dirty="0"/>
          </a:p>
        </p:txBody>
      </p:sp>
      <p:sp>
        <p:nvSpPr>
          <p:cNvPr id="22" name="bubble_212"/>
          <p:cNvSpPr txBox="1"/>
          <p:nvPr/>
        </p:nvSpPr>
        <p:spPr>
          <a:xfrm>
            <a:off x="3246120" y="4160520"/>
            <a:ext cx="5577840" cy="502920"/>
          </a:xfrm>
          <a:prstGeom prst="round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you use to get on with your cousins? – Yes, I used to see them every Sunday, but now I usually…</a:t>
            </a:r>
            <a:endParaRPr lang="en-US" sz="1100" dirty="0"/>
          </a:p>
        </p:txBody>
      </p:sp>
      <p:sp>
        <p:nvSpPr>
          <p:cNvPr id="23" name="pageTag_213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Communicative photocopiable 5B 'Past and present' p.187 · SB p.51 · 3e</a:t>
            </a:r>
            <a:endParaRPr lang="en-US" sz="1050" dirty="0"/>
          </a:p>
        </p:txBody>
      </p:sp>
      <p:sp>
        <p:nvSpPr>
          <p:cNvPr id="24" name="pframe_214"/>
          <p:cNvSpPr/>
          <p:nvPr/>
        </p:nvSpPr>
        <p:spPr>
          <a:xfrm rot="-120000">
            <a:off x="502920" y="3383280"/>
            <a:ext cx="182880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25" name="pimg_215" descr="When you were young…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 rot="-120000">
            <a:off x="576072" y="3456432"/>
            <a:ext cx="1682496" cy="841248"/>
          </a:xfrm>
          <a:prstGeom prst="rect">
            <a:avLst/>
          </a:prstGeom>
        </p:spPr>
      </p:pic>
      <p:sp>
        <p:nvSpPr>
          <p:cNvPr id="26" name="pcap_216"/>
          <p:cNvSpPr txBox="1"/>
          <p:nvPr/>
        </p:nvSpPr>
        <p:spPr>
          <a:xfrm rot="-120000">
            <a:off x="502920" y="43068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were young…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17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218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footer_219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5B · Part 1</a:t>
            </a:r>
            <a:endParaRPr lang="en-US" sz="1000" dirty="0"/>
          </a:p>
        </p:txBody>
      </p:sp>
      <p:sp>
        <p:nvSpPr>
          <p:cNvPr id="6" name="title_220"/>
          <p:cNvSpPr txBox="1"/>
          <p:nvPr/>
        </p:nvSpPr>
        <p:spPr>
          <a:xfrm rot="-120000">
            <a:off x="320040" y="676656"/>
            <a:ext cx="4151376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Look what you can do!</a:t>
            </a:r>
            <a:endParaRPr lang="en-US" sz="1500" dirty="0"/>
          </a:p>
        </p:txBody>
      </p:sp>
      <p:sp>
        <p:nvSpPr>
          <p:cNvPr id="7" name="sub_221"/>
          <p:cNvSpPr txBox="1"/>
          <p:nvPr/>
        </p:nvSpPr>
        <p:spPr>
          <a:xfrm>
            <a:off x="36576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cosa sai fare adesso!</a:t>
            </a:r>
            <a:endParaRPr lang="en-US" sz="1200" dirty="0"/>
          </a:p>
        </p:txBody>
      </p:sp>
      <p:sp>
        <p:nvSpPr>
          <p:cNvPr id="8" name="box_222"/>
          <p:cNvSpPr txBox="1"/>
          <p:nvPr/>
        </p:nvSpPr>
        <p:spPr>
          <a:xfrm>
            <a:off x="365760" y="1600200"/>
            <a:ext cx="4846320" cy="54864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understand stories about how people met.</a:t>
            </a:r>
            <a:endParaRPr lang="en-US" sz="1350" dirty="0"/>
          </a:p>
        </p:txBody>
      </p:sp>
      <p:sp>
        <p:nvSpPr>
          <p:cNvPr id="9" name="faces_223"/>
          <p:cNvSpPr txBox="1"/>
          <p:nvPr/>
        </p:nvSpPr>
        <p:spPr>
          <a:xfrm>
            <a:off x="5230368" y="16002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0" name="box_224"/>
          <p:cNvSpPr txBox="1"/>
          <p:nvPr/>
        </p:nvSpPr>
        <p:spPr>
          <a:xfrm>
            <a:off x="365760" y="2240280"/>
            <a:ext cx="4846320" cy="54864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talk about past and present habits with used to and usually.</a:t>
            </a:r>
            <a:endParaRPr lang="en-US" sz="1200" dirty="0"/>
          </a:p>
        </p:txBody>
      </p:sp>
      <p:sp>
        <p:nvSpPr>
          <p:cNvPr id="11" name="faces_225"/>
          <p:cNvSpPr txBox="1"/>
          <p:nvPr/>
        </p:nvSpPr>
        <p:spPr>
          <a:xfrm>
            <a:off x="5230368" y="22402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2" name="box_226"/>
          <p:cNvSpPr txBox="1"/>
          <p:nvPr/>
        </p:nvSpPr>
        <p:spPr>
          <a:xfrm>
            <a:off x="365760" y="2880360"/>
            <a:ext cx="4846320" cy="54864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pronounce the letter s and used to correctly.</a:t>
            </a:r>
            <a:endParaRPr lang="en-US" sz="1350" dirty="0"/>
          </a:p>
        </p:txBody>
      </p:sp>
      <p:sp>
        <p:nvSpPr>
          <p:cNvPr id="13" name="faces_227"/>
          <p:cNvSpPr txBox="1"/>
          <p:nvPr/>
        </p:nvSpPr>
        <p:spPr>
          <a:xfrm>
            <a:off x="5230368" y="288036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4" name="hw_228"/>
          <p:cNvSpPr txBox="1"/>
          <p:nvPr/>
        </p:nvSpPr>
        <p:spPr>
          <a:xfrm rot="90000">
            <a:off x="6446520" y="1325880"/>
            <a:ext cx="2377440" cy="2651760"/>
          </a:xfrm>
          <a:prstGeom prst="rect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14300" tIns="114300" rIns="114300" bIns="1143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FFD8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HOMEWORK · COMPITI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Workbook 5B: 1a, 1b, 1c, 2a (audio: Online Practice)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Grammar Bank 5B: a 6–9, b 5–10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Homework sheet 5B-1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Hand it in on the LLS app · Consegna nell'app LLS</a:t>
            </a:r>
            <a:endParaRPr lang="en-US" sz="1250" dirty="0"/>
          </a:p>
        </p:txBody>
      </p:sp>
      <p:sp>
        <p:nvSpPr>
          <p:cNvPr id="15" name="stamp_229"/>
          <p:cNvSpPr txBox="1"/>
          <p:nvPr/>
        </p:nvSpPr>
        <p:spPr>
          <a:xfrm>
            <a:off x="365760" y="3657600"/>
            <a:ext cx="56692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38100">
            <a:solidFill>
              <a:srgbClr val="6D3FC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lesson: 5B part 2 · Relationships · Friendship facts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30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231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32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Speaking · Then and now</a:t>
            </a:r>
            <a:endParaRPr lang="en-US" sz="900" dirty="0"/>
          </a:p>
        </p:txBody>
      </p:sp>
      <p:sp>
        <p:nvSpPr>
          <p:cNvPr id="6" name="timer_233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7 min</a:t>
            </a:r>
            <a:endParaRPr lang="en-US" sz="1200" dirty="0"/>
          </a:p>
        </p:txBody>
      </p:sp>
      <p:sp>
        <p:nvSpPr>
          <p:cNvPr id="7" name="extra_234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8" name="footer_235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5B · Part 1</a:t>
            </a:r>
            <a:endParaRPr lang="en-US" sz="1000" dirty="0"/>
          </a:p>
        </p:txBody>
      </p:sp>
      <p:sp>
        <p:nvSpPr>
          <p:cNvPr id="9" name="title_236"/>
          <p:cNvSpPr txBox="1"/>
          <p:nvPr/>
        </p:nvSpPr>
        <p:spPr>
          <a:xfrm rot="-120000">
            <a:off x="320040" y="676656"/>
            <a:ext cx="3456432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Life 30 years ago</a:t>
            </a:r>
            <a:endParaRPr lang="en-US" sz="1500" dirty="0"/>
          </a:p>
        </p:txBody>
      </p:sp>
      <p:sp>
        <p:nvSpPr>
          <p:cNvPr id="10" name="post_237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1" name="signA_238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2" name="signB_239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was life different? Use used to / didn't use to.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Com'era diversa la vita? Usa used to / didn't use to.</a:t>
            </a:r>
            <a:endParaRPr lang="en-US" sz="1250" dirty="0"/>
          </a:p>
        </p:txBody>
      </p:sp>
      <p:sp>
        <p:nvSpPr>
          <p:cNvPr id="13" name="box_240"/>
          <p:cNvSpPr txBox="1"/>
          <p:nvPr/>
        </p:nvSpPr>
        <p:spPr>
          <a:xfrm>
            <a:off x="2788920" y="1371600"/>
            <a:ext cx="2953512" cy="86868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phones and music</a:t>
            </a:r>
            <a:endParaRPr lang="en-US" sz="1250" dirty="0"/>
          </a:p>
        </p:txBody>
      </p:sp>
      <p:sp>
        <p:nvSpPr>
          <p:cNvPr id="14" name="box_241"/>
          <p:cNvSpPr txBox="1"/>
          <p:nvPr/>
        </p:nvSpPr>
        <p:spPr>
          <a:xfrm>
            <a:off x="5870448" y="1371600"/>
            <a:ext cx="2953512" cy="86868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school and homework</a:t>
            </a:r>
            <a:endParaRPr lang="en-US" sz="1250" dirty="0"/>
          </a:p>
        </p:txBody>
      </p:sp>
      <p:sp>
        <p:nvSpPr>
          <p:cNvPr id="15" name="box_242"/>
          <p:cNvSpPr txBox="1"/>
          <p:nvPr/>
        </p:nvSpPr>
        <p:spPr>
          <a:xfrm>
            <a:off x="2788920" y="2368296"/>
            <a:ext cx="2953512" cy="86868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shopping in Bagheria</a:t>
            </a:r>
            <a:endParaRPr lang="en-US" sz="1250" dirty="0"/>
          </a:p>
        </p:txBody>
      </p:sp>
      <p:sp>
        <p:nvSpPr>
          <p:cNvPr id="16" name="box_243"/>
          <p:cNvSpPr txBox="1"/>
          <p:nvPr/>
        </p:nvSpPr>
        <p:spPr>
          <a:xfrm>
            <a:off x="5870448" y="2368296"/>
            <a:ext cx="2953512" cy="86868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free time at the weekend</a:t>
            </a:r>
            <a:endParaRPr lang="en-US" sz="1250" dirty="0"/>
          </a:p>
        </p:txBody>
      </p:sp>
      <p:sp>
        <p:nvSpPr>
          <p:cNvPr id="17" name="box_244"/>
          <p:cNvSpPr txBox="1"/>
          <p:nvPr/>
        </p:nvSpPr>
        <p:spPr>
          <a:xfrm>
            <a:off x="2788920" y="3364992"/>
            <a:ext cx="2953512" cy="86868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TV and films</a:t>
            </a:r>
            <a:endParaRPr lang="en-US" sz="1250" dirty="0"/>
          </a:p>
        </p:txBody>
      </p:sp>
      <p:sp>
        <p:nvSpPr>
          <p:cNvPr id="18" name="box_245"/>
          <p:cNvSpPr txBox="1"/>
          <p:nvPr/>
        </p:nvSpPr>
        <p:spPr>
          <a:xfrm>
            <a:off x="5870448" y="3364992"/>
            <a:ext cx="2953512" cy="86868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getting in touch with friends</a:t>
            </a:r>
            <a:endParaRPr lang="en-US" sz="1250" dirty="0"/>
          </a:p>
        </p:txBody>
      </p:sp>
      <p:sp>
        <p:nvSpPr>
          <p:cNvPr id="19" name="sticky_246"/>
          <p:cNvSpPr txBox="1"/>
          <p:nvPr/>
        </p:nvSpPr>
        <p:spPr>
          <a:xfrm rot="-120000">
            <a:off x="411480" y="4023360"/>
            <a:ext cx="2194560" cy="640080"/>
          </a:xfrm>
          <a:prstGeom prst="rect">
            <a:avLst/>
          </a:prstGeom>
          <a:solidFill>
            <a:srgbClr val="FFD84D"/>
          </a:solidFill>
          <a:ln w="12700">
            <a:solidFill>
              <a:srgbClr val="B7950B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used to… but now they usually…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47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248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49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Writing · Instagram story</a:t>
            </a:r>
            <a:endParaRPr lang="en-US" sz="900" dirty="0"/>
          </a:p>
        </p:txBody>
      </p:sp>
      <p:sp>
        <p:nvSpPr>
          <p:cNvPr id="6" name="timer_250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8 min</a:t>
            </a:r>
            <a:endParaRPr lang="en-US" sz="1200" dirty="0"/>
          </a:p>
        </p:txBody>
      </p:sp>
      <p:sp>
        <p:nvSpPr>
          <p:cNvPr id="7" name="extra_251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8" name="footer_252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5B · Part 1</a:t>
            </a:r>
            <a:endParaRPr lang="en-US" sz="1000" dirty="0"/>
          </a:p>
        </p:txBody>
      </p:sp>
      <p:sp>
        <p:nvSpPr>
          <p:cNvPr id="9" name="title_253"/>
          <p:cNvSpPr txBox="1"/>
          <p:nvPr/>
        </p:nvSpPr>
        <p:spPr>
          <a:xfrm rot="-120000">
            <a:off x="320040" y="676656"/>
            <a:ext cx="5020056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#thewaywemet – our version</a:t>
            </a:r>
            <a:endParaRPr lang="en-US" sz="1500" dirty="0"/>
          </a:p>
        </p:txBody>
      </p:sp>
      <p:sp>
        <p:nvSpPr>
          <p:cNvPr id="10" name="post_254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1" name="signA_255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6D3FC0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WRITE!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SCRIVI!</a:t>
            </a:r>
            <a:endParaRPr lang="en-US" sz="1500" dirty="0"/>
          </a:p>
        </p:txBody>
      </p:sp>
      <p:sp>
        <p:nvSpPr>
          <p:cNvPr id="12" name="signB_256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short #thewaywemet story – true or invented!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Scrivi una breve storia #thewaywemet – vera o inventata!</a:t>
            </a:r>
            <a:endParaRPr lang="en-US" sz="1250" dirty="0"/>
          </a:p>
        </p:txBody>
      </p:sp>
      <p:sp>
        <p:nvSpPr>
          <p:cNvPr id="13" name="iconBack_257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4" name="icon_258" descr="pi:PiPencilSimp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5" name="num_259"/>
          <p:cNvSpPr txBox="1"/>
          <p:nvPr/>
        </p:nvSpPr>
        <p:spPr>
          <a:xfrm>
            <a:off x="2788920" y="1482471"/>
            <a:ext cx="384048" cy="384048"/>
          </a:xfrm>
          <a:prstGeom prst="ellipse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box_260"/>
          <p:cNvSpPr txBox="1"/>
          <p:nvPr/>
        </p:nvSpPr>
        <p:spPr>
          <a:xfrm>
            <a:off x="3264408" y="1371600"/>
            <a:ext cx="5559552" cy="60579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Pairs: invent how two people met – two friends, two flatmates or a couple. Make it funny or strange!</a:t>
            </a:r>
            <a:endParaRPr lang="en-US" sz="1300" dirty="0"/>
          </a:p>
        </p:txBody>
      </p:sp>
      <p:sp>
        <p:nvSpPr>
          <p:cNvPr id="17" name="num_261"/>
          <p:cNvSpPr txBox="1"/>
          <p:nvPr/>
        </p:nvSpPr>
        <p:spPr>
          <a:xfrm>
            <a:off x="2788920" y="2179701"/>
            <a:ext cx="384048" cy="384048"/>
          </a:xfrm>
          <a:prstGeom prst="ellipse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box_262"/>
          <p:cNvSpPr txBox="1"/>
          <p:nvPr/>
        </p:nvSpPr>
        <p:spPr>
          <a:xfrm>
            <a:off x="3264408" y="2068830"/>
            <a:ext cx="5559552" cy="60579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60–80 words: where, when, what was happening, what happened.</a:t>
            </a:r>
            <a:endParaRPr lang="en-US" sz="1300" dirty="0"/>
          </a:p>
        </p:txBody>
      </p:sp>
      <p:sp>
        <p:nvSpPr>
          <p:cNvPr id="19" name="num_263"/>
          <p:cNvSpPr txBox="1"/>
          <p:nvPr/>
        </p:nvSpPr>
        <p:spPr>
          <a:xfrm>
            <a:off x="2788920" y="2876931"/>
            <a:ext cx="384048" cy="384048"/>
          </a:xfrm>
          <a:prstGeom prst="ellipse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box_264"/>
          <p:cNvSpPr txBox="1"/>
          <p:nvPr/>
        </p:nvSpPr>
        <p:spPr>
          <a:xfrm>
            <a:off x="3264408" y="2766060"/>
            <a:ext cx="5559552" cy="60579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one used to and one past perfect.</a:t>
            </a:r>
            <a:endParaRPr lang="en-US" sz="1300" dirty="0"/>
          </a:p>
        </p:txBody>
      </p:sp>
      <p:sp>
        <p:nvSpPr>
          <p:cNvPr id="21" name="num_265"/>
          <p:cNvSpPr txBox="1"/>
          <p:nvPr/>
        </p:nvSpPr>
        <p:spPr>
          <a:xfrm>
            <a:off x="2788920" y="3574161"/>
            <a:ext cx="384048" cy="384048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box_266"/>
          <p:cNvSpPr txBox="1"/>
          <p:nvPr/>
        </p:nvSpPr>
        <p:spPr>
          <a:xfrm>
            <a:off x="3264408" y="3463290"/>
            <a:ext cx="5559552" cy="60579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before the end! Other pairs guess how it ended.</a:t>
            </a:r>
            <a:endParaRPr lang="en-US" sz="1300" dirty="0"/>
          </a:p>
        </p:txBody>
      </p:sp>
      <p:sp>
        <p:nvSpPr>
          <p:cNvPr id="23" name="bubble_267"/>
          <p:cNvSpPr txBox="1"/>
          <p:nvPr/>
        </p:nvSpPr>
        <p:spPr>
          <a:xfrm>
            <a:off x="3246120" y="4160520"/>
            <a:ext cx="5577840" cy="502920"/>
          </a:xfrm>
          <a:prstGeom prst="round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used to take the same bus every morning. One day, a woman was sitting in 'my' seat…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68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269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70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Grammar photocopiable · used to / usually</a:t>
            </a:r>
            <a:endParaRPr lang="en-US" sz="900" dirty="0"/>
          </a:p>
        </p:txBody>
      </p:sp>
      <p:sp>
        <p:nvSpPr>
          <p:cNvPr id="6" name="timer_271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7 min</a:t>
            </a:r>
            <a:endParaRPr lang="en-US" sz="1200" dirty="0"/>
          </a:p>
        </p:txBody>
      </p:sp>
      <p:sp>
        <p:nvSpPr>
          <p:cNvPr id="7" name="extra_272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8" name="footer_273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5B · Part 1</a:t>
            </a:r>
            <a:endParaRPr lang="en-US" sz="1000" dirty="0"/>
          </a:p>
        </p:txBody>
      </p:sp>
      <p:sp>
        <p:nvSpPr>
          <p:cNvPr id="9" name="title_274"/>
          <p:cNvSpPr txBox="1"/>
          <p:nvPr/>
        </p:nvSpPr>
        <p:spPr>
          <a:xfrm rot="-120000">
            <a:off x="320040" y="676656"/>
            <a:ext cx="5715000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Thomas and Lucie: then and now</a:t>
            </a:r>
            <a:endParaRPr lang="en-US" sz="1500" dirty="0"/>
          </a:p>
        </p:txBody>
      </p:sp>
      <p:sp>
        <p:nvSpPr>
          <p:cNvPr id="10" name="post_275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1" name="signA_276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6D3FC0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WRITE!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SCRIVI!</a:t>
            </a:r>
            <a:endParaRPr lang="en-US" sz="1500" dirty="0"/>
          </a:p>
        </p:txBody>
      </p:sp>
      <p:sp>
        <p:nvSpPr>
          <p:cNvPr id="12" name="signB_277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chart. Write sentences with used to or usually.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la tabella. Scrivi frasi con used to o usually.</a:t>
            </a:r>
            <a:endParaRPr lang="en-US" sz="1200" dirty="0"/>
          </a:p>
        </p:txBody>
      </p:sp>
      <p:sp>
        <p:nvSpPr>
          <p:cNvPr id="13" name="iconBack_278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4" name="icon_279" descr="pi:PiPrint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5" name="num_280"/>
          <p:cNvSpPr txBox="1"/>
          <p:nvPr/>
        </p:nvSpPr>
        <p:spPr>
          <a:xfrm>
            <a:off x="2788920" y="1482471"/>
            <a:ext cx="384048" cy="384048"/>
          </a:xfrm>
          <a:prstGeom prst="ellipse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box_281"/>
          <p:cNvSpPr txBox="1"/>
          <p:nvPr/>
        </p:nvSpPr>
        <p:spPr>
          <a:xfrm>
            <a:off x="3264408" y="1371600"/>
            <a:ext cx="5559552" cy="60579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chart: Thomas and Lucie then and now.</a:t>
            </a:r>
            <a:endParaRPr lang="en-US" sz="1300" dirty="0"/>
          </a:p>
        </p:txBody>
      </p:sp>
      <p:sp>
        <p:nvSpPr>
          <p:cNvPr id="17" name="num_282"/>
          <p:cNvSpPr txBox="1"/>
          <p:nvPr/>
        </p:nvSpPr>
        <p:spPr>
          <a:xfrm>
            <a:off x="2788920" y="2179701"/>
            <a:ext cx="384048" cy="384048"/>
          </a:xfrm>
          <a:prstGeom prst="ellipse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box_283"/>
          <p:cNvSpPr txBox="1"/>
          <p:nvPr/>
        </p:nvSpPr>
        <p:spPr>
          <a:xfrm>
            <a:off x="3264408" y="2068830"/>
            <a:ext cx="5559552" cy="60579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sentences 2–10 with used to / didn't use to or the present simple (+ usually).</a:t>
            </a:r>
            <a:endParaRPr lang="en-US" sz="1300" dirty="0"/>
          </a:p>
        </p:txBody>
      </p:sp>
      <p:sp>
        <p:nvSpPr>
          <p:cNvPr id="19" name="num_284"/>
          <p:cNvSpPr txBox="1"/>
          <p:nvPr/>
        </p:nvSpPr>
        <p:spPr>
          <a:xfrm>
            <a:off x="2788920" y="2876931"/>
            <a:ext cx="384048" cy="384048"/>
          </a:xfrm>
          <a:prstGeom prst="ellipse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box_285"/>
          <p:cNvSpPr txBox="1"/>
          <p:nvPr/>
        </p:nvSpPr>
        <p:spPr>
          <a:xfrm>
            <a:off x="3264408" y="2766060"/>
            <a:ext cx="5559552" cy="60579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a partner. Then check.</a:t>
            </a:r>
            <a:endParaRPr lang="en-US" sz="1300" dirty="0"/>
          </a:p>
        </p:txBody>
      </p:sp>
      <p:sp>
        <p:nvSpPr>
          <p:cNvPr id="21" name="num_286"/>
          <p:cNvSpPr txBox="1"/>
          <p:nvPr/>
        </p:nvSpPr>
        <p:spPr>
          <a:xfrm>
            <a:off x="2788920" y="3574161"/>
            <a:ext cx="384048" cy="384048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box_287"/>
          <p:cNvSpPr txBox="1"/>
          <p:nvPr/>
        </p:nvSpPr>
        <p:spPr>
          <a:xfrm>
            <a:off x="3264408" y="3463290"/>
            <a:ext cx="5559552" cy="60579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the sentences: say 3 with used to and 3 with usually.</a:t>
            </a:r>
            <a:endParaRPr lang="en-US" sz="1300" dirty="0"/>
          </a:p>
        </p:txBody>
      </p:sp>
      <p:sp>
        <p:nvSpPr>
          <p:cNvPr id="23" name="bubble_288"/>
          <p:cNvSpPr txBox="1"/>
          <p:nvPr/>
        </p:nvSpPr>
        <p:spPr>
          <a:xfrm>
            <a:off x="3246120" y="4160520"/>
            <a:ext cx="5577840" cy="502920"/>
          </a:xfrm>
          <a:prstGeom prst="round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Print: B1_5B_Photocopiables.pdf, page 1</a:t>
            </a:r>
            <a:endParaRPr lang="en-US" sz="1300" dirty="0"/>
          </a:p>
        </p:txBody>
      </p:sp>
      <p:sp>
        <p:nvSpPr>
          <p:cNvPr id="24" name="pageTag_289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Grammar photocopiable 5B past and present habits and states (TG p.158)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London Language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B1 5B-1 #thewaywemet</dc:title>
  <dc:subject>PptxGenJS Presentation</dc:subject>
  <dc:creator>London Language School</dc:creator>
  <cp:lastModifiedBy>London Language School</cp:lastModifiedBy>
  <cp:revision>1</cp:revision>
  <dcterms:created xsi:type="dcterms:W3CDTF">2026-10-05T09:53:19Z</dcterms:created>
  <dcterms:modified xsi:type="dcterms:W3CDTF">2026-10-05T09:53:19Z</dcterms:modified>
</cp:coreProperties>
</file>