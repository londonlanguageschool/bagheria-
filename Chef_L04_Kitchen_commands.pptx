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4 (60 min). Aims: cutting verbs, imperatives (+, –, polite), understanding a real chef on video.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VARIATION: constraint challenge — exactly five words makes them build full answers with some/any/much/many. Partner counts on their fingers.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They match orally, click 1. Then teacher says a verb, they mime; then they say a verb + food (Slice the bread!) and the teacher mimes — deliberately wrong sometimes so they correct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UPGRADE THE LANGUAGE (6 min). VARIATION: upgrade + vocabulary branching (finely, thinly, roughly). Many answers possible — click 1 for examples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(6 min). Click 1. Collocations: wash the salad, drain the pasta, pour the sauce, squeeze a lemon, spread butter, sprinkle parmesan, wrap it in cling film, label the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Note: in a busy kitchen short imperatives are normal and not rude — but 'please' and 'Could you…' are for calmer moments and for front of 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PRACTICE (5 min). VARIATION: spot the error / student as teacher.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Then: how do YOU make bruschetta? What's different? (mild controversy — garlic or no garlic?)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(8 min). Preview first (link checked October 2026; it is not an official channel and could be removed). Watch twice: 1) general, 2) write commands. Then each chef teaches the partner how they chop an onion, using imperatives.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ROLE-PLAY (10 min). VARIATION: opposites — B does the wrong thing, A gives negative + positive imperatives. Then use the real prep list from their restaurant.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L4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(6 min). VARIATION: change the energy. Speed up; add negative commands: Chef says: don't touch the knife!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Funny and precise — forces sequencing words (first, then) for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wGBt3V0yvc" TargetMode="External"/><Relationship Id="rId4" Type="http://schemas.openxmlformats.org/officeDocument/2006/relationships/hyperlink" Target="https://www.youtube.com/watch?v=TwGBt3V0yvc" TargetMode="Externa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B24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4 of 10</a:t>
            </a:r>
            <a:endParaRPr lang="en-US" sz="12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590288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COMMANDS</a:t>
            </a:r>
            <a:endParaRPr lang="en-US" sz="25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044952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cutting verbs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imperatives: do / don't / please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2852928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the prep list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garli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clip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head chef say all day?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Chop! Slice! Faster! Don't touch that!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3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words only!</a:t>
            </a:r>
            <a:endParaRPr lang="en-US" sz="1500" dirty="0"/>
          </a:p>
        </p:txBody>
      </p:sp>
      <p:sp>
        <p:nvSpPr>
          <p:cNvPr id="9" name="tape_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25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EXACTLY five words. Count them!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Rispondi con ESATTAMENTE cinque parole. Contale!</a:t>
            </a:r>
            <a:endParaRPr lang="en-US" sz="1250" dirty="0"/>
          </a:p>
        </p:txBody>
      </p:sp>
      <p:sp>
        <p:nvSpPr>
          <p:cNvPr id="14" name="box_29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How many eggs are in a carbonara for four?</a:t>
            </a:r>
            <a:endParaRPr lang="en-US" sz="1400" dirty="0"/>
          </a:p>
        </p:txBody>
      </p:sp>
      <p:sp>
        <p:nvSpPr>
          <p:cNvPr id="15" name="box_30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much salt do you put in pasta water?</a:t>
            </a:r>
            <a:endParaRPr lang="en-US" sz="1400" dirty="0"/>
          </a:p>
        </p:txBody>
      </p:sp>
      <p:sp>
        <p:nvSpPr>
          <p:cNvPr id="16" name="box_31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Have we got any cream?</a:t>
            </a:r>
            <a:endParaRPr lang="en-US" sz="1400" dirty="0"/>
          </a:p>
        </p:txBody>
      </p:sp>
      <p:sp>
        <p:nvSpPr>
          <p:cNvPr id="17" name="box_32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have you run out of this week?</a:t>
            </a:r>
            <a:endParaRPr lang="en-US" sz="1400" dirty="0"/>
          </a:p>
        </p:txBody>
      </p:sp>
      <p:sp>
        <p:nvSpPr>
          <p:cNvPr id="18" name="box_33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How much flour is in your pizza dough?</a:t>
            </a:r>
            <a:endParaRPr lang="en-US" sz="1400" dirty="0"/>
          </a:p>
        </p:txBody>
      </p:sp>
      <p:sp>
        <p:nvSpPr>
          <p:cNvPr id="19" name="sticky_34"/>
          <p:cNvSpPr txBox="1"/>
          <p:nvPr/>
        </p:nvSpPr>
        <p:spPr>
          <a:xfrm rot="-120000">
            <a:off x="411480" y="402336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four eggs, Chef. = 5 ✓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3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Cutting verbs</a:t>
            </a:r>
            <a:endParaRPr lang="en-US" sz="900" dirty="0"/>
          </a:p>
        </p:txBody>
      </p:sp>
      <p:sp>
        <p:nvSpPr>
          <p:cNvPr id="6" name="timer_3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3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40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Chop, slice, dice…</a:t>
            </a:r>
            <a:endParaRPr lang="en-US" sz="1500" dirty="0"/>
          </a:p>
        </p:txBody>
      </p:sp>
      <p:sp>
        <p:nvSpPr>
          <p:cNvPr id="9" name="tape_4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42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 Then mime each verb!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Abbina. Poi mima ogni verbo!</a:t>
            </a:r>
            <a:endParaRPr lang="en-US" sz="1250" dirty="0"/>
          </a:p>
        </p:txBody>
      </p:sp>
      <p:sp>
        <p:nvSpPr>
          <p:cNvPr id="14" name="iconBack_46"/>
          <p:cNvSpPr/>
          <p:nvPr/>
        </p:nvSpPr>
        <p:spPr>
          <a:xfrm>
            <a:off x="2788920" y="137160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5" name="icon_47" descr="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72" y="1441552"/>
            <a:ext cx="209855" cy="209855"/>
          </a:xfrm>
          <a:prstGeom prst="rect">
            <a:avLst/>
          </a:prstGeom>
        </p:spPr>
      </p:pic>
      <p:sp>
        <p:nvSpPr>
          <p:cNvPr id="16" name="box_48"/>
          <p:cNvSpPr txBox="1"/>
          <p:nvPr/>
        </p:nvSpPr>
        <p:spPr>
          <a:xfrm>
            <a:off x="3193542" y="1371600"/>
            <a:ext cx="2311146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chop</a:t>
            </a:r>
            <a:endParaRPr lang="en-US" sz="1250" dirty="0"/>
          </a:p>
        </p:txBody>
      </p:sp>
      <p:sp>
        <p:nvSpPr>
          <p:cNvPr id="17" name="R1_m0"/>
          <p:cNvSpPr txBox="1"/>
          <p:nvPr/>
        </p:nvSpPr>
        <p:spPr>
          <a:xfrm>
            <a:off x="5577840" y="1389888"/>
            <a:ext cx="3246120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tritare / tagliare a pezzi</a:t>
            </a:r>
            <a:endParaRPr lang="en-US" sz="1150" dirty="0"/>
          </a:p>
        </p:txBody>
      </p:sp>
      <p:sp>
        <p:nvSpPr>
          <p:cNvPr id="18" name="iconBack_49"/>
          <p:cNvSpPr/>
          <p:nvPr/>
        </p:nvSpPr>
        <p:spPr>
          <a:xfrm>
            <a:off x="2788920" y="179451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9" name="icon_50" descr="bre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872" y="1864462"/>
            <a:ext cx="209855" cy="209855"/>
          </a:xfrm>
          <a:prstGeom prst="rect">
            <a:avLst/>
          </a:prstGeom>
        </p:spPr>
      </p:pic>
      <p:sp>
        <p:nvSpPr>
          <p:cNvPr id="20" name="box_51"/>
          <p:cNvSpPr txBox="1"/>
          <p:nvPr/>
        </p:nvSpPr>
        <p:spPr>
          <a:xfrm>
            <a:off x="3193542" y="1794510"/>
            <a:ext cx="2311146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slice</a:t>
            </a:r>
            <a:endParaRPr lang="en-US" sz="1250" dirty="0"/>
          </a:p>
        </p:txBody>
      </p:sp>
      <p:sp>
        <p:nvSpPr>
          <p:cNvPr id="21" name="R1_m1"/>
          <p:cNvSpPr txBox="1"/>
          <p:nvPr/>
        </p:nvSpPr>
        <p:spPr>
          <a:xfrm>
            <a:off x="5577840" y="1812798"/>
            <a:ext cx="3246120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tagliare a fette</a:t>
            </a:r>
            <a:endParaRPr lang="en-US" sz="1150" dirty="0"/>
          </a:p>
        </p:txBody>
      </p:sp>
      <p:sp>
        <p:nvSpPr>
          <p:cNvPr id="22" name="iconBack_52"/>
          <p:cNvSpPr/>
          <p:nvPr/>
        </p:nvSpPr>
        <p:spPr>
          <a:xfrm>
            <a:off x="2788920" y="221742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3" name="icon_53" descr="pota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872" y="2287372"/>
            <a:ext cx="209855" cy="209855"/>
          </a:xfrm>
          <a:prstGeom prst="rect">
            <a:avLst/>
          </a:prstGeom>
        </p:spPr>
      </p:pic>
      <p:sp>
        <p:nvSpPr>
          <p:cNvPr id="24" name="box_54"/>
          <p:cNvSpPr txBox="1"/>
          <p:nvPr/>
        </p:nvSpPr>
        <p:spPr>
          <a:xfrm>
            <a:off x="3193542" y="2217420"/>
            <a:ext cx="2311146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dice</a:t>
            </a:r>
            <a:endParaRPr lang="en-US" sz="1250" dirty="0"/>
          </a:p>
        </p:txBody>
      </p:sp>
      <p:sp>
        <p:nvSpPr>
          <p:cNvPr id="25" name="R1_m2"/>
          <p:cNvSpPr txBox="1"/>
          <p:nvPr/>
        </p:nvSpPr>
        <p:spPr>
          <a:xfrm>
            <a:off x="5577840" y="2235708"/>
            <a:ext cx="3246120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tagliare a cubetti</a:t>
            </a:r>
            <a:endParaRPr lang="en-US" sz="1150" dirty="0"/>
          </a:p>
        </p:txBody>
      </p:sp>
      <p:sp>
        <p:nvSpPr>
          <p:cNvPr id="26" name="iconBack_55"/>
          <p:cNvSpPr/>
          <p:nvPr/>
        </p:nvSpPr>
        <p:spPr>
          <a:xfrm>
            <a:off x="2788920" y="264033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7" name="icon_56" descr="carr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872" y="2710282"/>
            <a:ext cx="209855" cy="209855"/>
          </a:xfrm>
          <a:prstGeom prst="rect">
            <a:avLst/>
          </a:prstGeom>
        </p:spPr>
      </p:pic>
      <p:sp>
        <p:nvSpPr>
          <p:cNvPr id="28" name="box_57"/>
          <p:cNvSpPr txBox="1"/>
          <p:nvPr/>
        </p:nvSpPr>
        <p:spPr>
          <a:xfrm>
            <a:off x="3193542" y="2640330"/>
            <a:ext cx="2311146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peel</a:t>
            </a:r>
            <a:endParaRPr lang="en-US" sz="1250" dirty="0"/>
          </a:p>
        </p:txBody>
      </p:sp>
      <p:sp>
        <p:nvSpPr>
          <p:cNvPr id="29" name="R1_m3"/>
          <p:cNvSpPr txBox="1"/>
          <p:nvPr/>
        </p:nvSpPr>
        <p:spPr>
          <a:xfrm>
            <a:off x="5577840" y="2658618"/>
            <a:ext cx="3246120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pelare / sbucciare</a:t>
            </a:r>
            <a:endParaRPr lang="en-US" sz="1150" dirty="0"/>
          </a:p>
        </p:txBody>
      </p:sp>
      <p:sp>
        <p:nvSpPr>
          <p:cNvPr id="30" name="iconBack_58"/>
          <p:cNvSpPr/>
          <p:nvPr/>
        </p:nvSpPr>
        <p:spPr>
          <a:xfrm>
            <a:off x="2788920" y="306324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1" name="icon_59" descr="chee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8872" y="3133192"/>
            <a:ext cx="209855" cy="209855"/>
          </a:xfrm>
          <a:prstGeom prst="rect">
            <a:avLst/>
          </a:prstGeom>
        </p:spPr>
      </p:pic>
      <p:sp>
        <p:nvSpPr>
          <p:cNvPr id="32" name="box_60"/>
          <p:cNvSpPr txBox="1"/>
          <p:nvPr/>
        </p:nvSpPr>
        <p:spPr>
          <a:xfrm>
            <a:off x="3193542" y="3063240"/>
            <a:ext cx="2311146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grate</a:t>
            </a:r>
            <a:endParaRPr lang="en-US" sz="1250" dirty="0"/>
          </a:p>
        </p:txBody>
      </p:sp>
      <p:sp>
        <p:nvSpPr>
          <p:cNvPr id="33" name="R1_m4"/>
          <p:cNvSpPr txBox="1"/>
          <p:nvPr/>
        </p:nvSpPr>
        <p:spPr>
          <a:xfrm>
            <a:off x="5577840" y="3081528"/>
            <a:ext cx="3246120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grattugiare</a:t>
            </a:r>
            <a:endParaRPr lang="en-US" sz="1150" dirty="0"/>
          </a:p>
        </p:txBody>
      </p:sp>
      <p:sp>
        <p:nvSpPr>
          <p:cNvPr id="34" name="iconBack_61"/>
          <p:cNvSpPr/>
          <p:nvPr/>
        </p:nvSpPr>
        <p:spPr>
          <a:xfrm>
            <a:off x="2788920" y="348615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5" name="icon_62" descr="garlic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8872" y="3556102"/>
            <a:ext cx="209855" cy="209855"/>
          </a:xfrm>
          <a:prstGeom prst="rect">
            <a:avLst/>
          </a:prstGeom>
        </p:spPr>
      </p:pic>
      <p:sp>
        <p:nvSpPr>
          <p:cNvPr id="36" name="box_63"/>
          <p:cNvSpPr txBox="1"/>
          <p:nvPr/>
        </p:nvSpPr>
        <p:spPr>
          <a:xfrm>
            <a:off x="3193542" y="3486150"/>
            <a:ext cx="2311146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crush</a:t>
            </a:r>
            <a:endParaRPr lang="en-US" sz="1250" dirty="0"/>
          </a:p>
        </p:txBody>
      </p:sp>
      <p:sp>
        <p:nvSpPr>
          <p:cNvPr id="37" name="R1_m5"/>
          <p:cNvSpPr txBox="1"/>
          <p:nvPr/>
        </p:nvSpPr>
        <p:spPr>
          <a:xfrm>
            <a:off x="5577840" y="3504438"/>
            <a:ext cx="3246120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schiacciare (aglio)</a:t>
            </a:r>
            <a:endParaRPr lang="en-US" sz="1150" dirty="0"/>
          </a:p>
        </p:txBody>
      </p:sp>
      <p:sp>
        <p:nvSpPr>
          <p:cNvPr id="38" name="iconBack_64"/>
          <p:cNvSpPr/>
          <p:nvPr/>
        </p:nvSpPr>
        <p:spPr>
          <a:xfrm>
            <a:off x="2788920" y="390906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9" name="icon_65" descr="stea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8872" y="3979012"/>
            <a:ext cx="209855" cy="209855"/>
          </a:xfrm>
          <a:prstGeom prst="rect">
            <a:avLst/>
          </a:prstGeom>
        </p:spPr>
      </p:pic>
      <p:sp>
        <p:nvSpPr>
          <p:cNvPr id="40" name="box_66"/>
          <p:cNvSpPr txBox="1"/>
          <p:nvPr/>
        </p:nvSpPr>
        <p:spPr>
          <a:xfrm>
            <a:off x="3193542" y="3909060"/>
            <a:ext cx="2311146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mince</a:t>
            </a:r>
            <a:endParaRPr lang="en-US" sz="1250" dirty="0"/>
          </a:p>
        </p:txBody>
      </p:sp>
      <p:sp>
        <p:nvSpPr>
          <p:cNvPr id="41" name="R1_m6"/>
          <p:cNvSpPr txBox="1"/>
          <p:nvPr/>
        </p:nvSpPr>
        <p:spPr>
          <a:xfrm>
            <a:off x="5577840" y="3927348"/>
            <a:ext cx="3246120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macinare (carne)</a:t>
            </a:r>
            <a:endParaRPr lang="en-US" sz="1150" dirty="0"/>
          </a:p>
        </p:txBody>
      </p:sp>
      <p:sp>
        <p:nvSpPr>
          <p:cNvPr id="42" name="iconBack_67"/>
          <p:cNvSpPr/>
          <p:nvPr/>
        </p:nvSpPr>
        <p:spPr>
          <a:xfrm>
            <a:off x="2788920" y="4331970"/>
            <a:ext cx="349758" cy="34975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43" name="icon_68" descr="fis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8872" y="4401922"/>
            <a:ext cx="209855" cy="209855"/>
          </a:xfrm>
          <a:prstGeom prst="rect">
            <a:avLst/>
          </a:prstGeom>
        </p:spPr>
      </p:pic>
      <p:sp>
        <p:nvSpPr>
          <p:cNvPr id="44" name="box_69"/>
          <p:cNvSpPr txBox="1"/>
          <p:nvPr/>
        </p:nvSpPr>
        <p:spPr>
          <a:xfrm>
            <a:off x="3193542" y="4331970"/>
            <a:ext cx="2311146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fillet</a:t>
            </a:r>
            <a:endParaRPr lang="en-US" sz="1250" dirty="0"/>
          </a:p>
        </p:txBody>
      </p:sp>
      <p:sp>
        <p:nvSpPr>
          <p:cNvPr id="45" name="R1_m7"/>
          <p:cNvSpPr txBox="1"/>
          <p:nvPr/>
        </p:nvSpPr>
        <p:spPr>
          <a:xfrm>
            <a:off x="5577840" y="4350258"/>
            <a:ext cx="3246120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sfilettare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7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Upgrade</a:t>
            </a:r>
            <a:endParaRPr lang="en-US" sz="900" dirty="0"/>
          </a:p>
        </p:txBody>
      </p:sp>
      <p:sp>
        <p:nvSpPr>
          <p:cNvPr id="6" name="timer_7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7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75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a chef</a:t>
            </a:r>
            <a:endParaRPr lang="en-US" sz="1500" dirty="0"/>
          </a:p>
        </p:txBody>
      </p:sp>
      <p:sp>
        <p:nvSpPr>
          <p:cNvPr id="9" name="tape_7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77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7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7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8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more precise. 'Cut' is boring!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Rendila più precisa. 'Cut' è noioso!</a:t>
            </a:r>
            <a:endParaRPr lang="en-US" sz="1250" dirty="0"/>
          </a:p>
        </p:txBody>
      </p:sp>
      <p:sp>
        <p:nvSpPr>
          <p:cNvPr id="14" name="box_81"/>
          <p:cNvSpPr txBox="1"/>
          <p:nvPr/>
        </p:nvSpPr>
        <p:spPr>
          <a:xfrm>
            <a:off x="2788920" y="1371600"/>
            <a:ext cx="2534717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Cut the onion.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5378501" y="1408176"/>
            <a:ext cx="344545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Finely dice the onion.</a:t>
            </a:r>
            <a:endParaRPr lang="en-US" sz="1200" dirty="0"/>
          </a:p>
        </p:txBody>
      </p:sp>
      <p:sp>
        <p:nvSpPr>
          <p:cNvPr id="16" name="box_82"/>
          <p:cNvSpPr txBox="1"/>
          <p:nvPr/>
        </p:nvSpPr>
        <p:spPr>
          <a:xfrm>
            <a:off x="2788920" y="2055571"/>
            <a:ext cx="2534717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Cut the bread.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5378501" y="2092147"/>
            <a:ext cx="344545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the bread thinly.</a:t>
            </a:r>
            <a:endParaRPr lang="en-US" sz="1200" dirty="0"/>
          </a:p>
        </p:txBody>
      </p:sp>
      <p:sp>
        <p:nvSpPr>
          <p:cNvPr id="18" name="box_83"/>
          <p:cNvSpPr txBox="1"/>
          <p:nvPr/>
        </p:nvSpPr>
        <p:spPr>
          <a:xfrm>
            <a:off x="2788920" y="2739542"/>
            <a:ext cx="2534717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Cut the garlic.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5378501" y="2776118"/>
            <a:ext cx="344545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and crush the garlic.</a:t>
            </a:r>
            <a:endParaRPr lang="en-US" sz="1200" dirty="0"/>
          </a:p>
        </p:txBody>
      </p:sp>
      <p:sp>
        <p:nvSpPr>
          <p:cNvPr id="20" name="box_84"/>
          <p:cNvSpPr txBox="1"/>
          <p:nvPr/>
        </p:nvSpPr>
        <p:spPr>
          <a:xfrm>
            <a:off x="2788920" y="3423514"/>
            <a:ext cx="2534717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Cut the cheese.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5378501" y="3460090"/>
            <a:ext cx="344545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 the parmesan.</a:t>
            </a:r>
            <a:endParaRPr lang="en-US" sz="1200" dirty="0"/>
          </a:p>
        </p:txBody>
      </p:sp>
      <p:sp>
        <p:nvSpPr>
          <p:cNvPr id="22" name="box_85"/>
          <p:cNvSpPr txBox="1"/>
          <p:nvPr/>
        </p:nvSpPr>
        <p:spPr>
          <a:xfrm>
            <a:off x="2788920" y="4107485"/>
            <a:ext cx="2534717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Cut the fish.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5378501" y="4144061"/>
            <a:ext cx="3445459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the sea bass.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8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More prep verbs</a:t>
            </a:r>
            <a:endParaRPr lang="en-US" sz="900" dirty="0"/>
          </a:p>
        </p:txBody>
      </p:sp>
      <p:sp>
        <p:nvSpPr>
          <p:cNvPr id="6" name="timer_8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9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91"/>
          <p:cNvSpPr txBox="1"/>
          <p:nvPr/>
        </p:nvSpPr>
        <p:spPr>
          <a:xfrm rot="90000">
            <a:off x="320040" y="676656"/>
            <a:ext cx="363016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Wash, drain, pour…</a:t>
            </a:r>
            <a:endParaRPr lang="en-US" sz="1500" dirty="0"/>
          </a:p>
        </p:txBody>
      </p:sp>
      <p:sp>
        <p:nvSpPr>
          <p:cNvPr id="9" name="tape_9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93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9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9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9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verbs. Then mime one – your partner says the command!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Abbina. Poi mima un verbo – il collega dà il comando!</a:t>
            </a:r>
            <a:endParaRPr lang="en-US" sz="1200" dirty="0"/>
          </a:p>
        </p:txBody>
      </p:sp>
      <p:sp>
        <p:nvSpPr>
          <p:cNvPr id="14" name="box_97"/>
          <p:cNvSpPr txBox="1"/>
          <p:nvPr/>
        </p:nvSpPr>
        <p:spPr>
          <a:xfrm>
            <a:off x="2788920" y="1371600"/>
            <a:ext cx="2534717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wash</a:t>
            </a:r>
            <a:endParaRPr lang="en-US" sz="1250" dirty="0"/>
          </a:p>
        </p:txBody>
      </p:sp>
      <p:sp>
        <p:nvSpPr>
          <p:cNvPr id="15" name="R1_m0"/>
          <p:cNvSpPr txBox="1"/>
          <p:nvPr/>
        </p:nvSpPr>
        <p:spPr>
          <a:xfrm>
            <a:off x="5396789" y="138988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lavare</a:t>
            </a:r>
            <a:endParaRPr lang="en-US" sz="1150" dirty="0"/>
          </a:p>
        </p:txBody>
      </p:sp>
      <p:sp>
        <p:nvSpPr>
          <p:cNvPr id="16" name="box_98"/>
          <p:cNvSpPr txBox="1"/>
          <p:nvPr/>
        </p:nvSpPr>
        <p:spPr>
          <a:xfrm>
            <a:off x="2788920" y="1794510"/>
            <a:ext cx="2534717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drain</a:t>
            </a:r>
            <a:endParaRPr lang="en-US" sz="1250" dirty="0"/>
          </a:p>
        </p:txBody>
      </p:sp>
      <p:sp>
        <p:nvSpPr>
          <p:cNvPr id="17" name="R1_m1"/>
          <p:cNvSpPr txBox="1"/>
          <p:nvPr/>
        </p:nvSpPr>
        <p:spPr>
          <a:xfrm>
            <a:off x="5396789" y="181279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scolare</a:t>
            </a:r>
            <a:endParaRPr lang="en-US" sz="1150" dirty="0"/>
          </a:p>
        </p:txBody>
      </p:sp>
      <p:sp>
        <p:nvSpPr>
          <p:cNvPr id="18" name="box_99"/>
          <p:cNvSpPr txBox="1"/>
          <p:nvPr/>
        </p:nvSpPr>
        <p:spPr>
          <a:xfrm>
            <a:off x="2788920" y="2217420"/>
            <a:ext cx="2534717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pour</a:t>
            </a:r>
            <a:endParaRPr lang="en-US" sz="1250" dirty="0"/>
          </a:p>
        </p:txBody>
      </p:sp>
      <p:sp>
        <p:nvSpPr>
          <p:cNvPr id="19" name="R1_m2"/>
          <p:cNvSpPr txBox="1"/>
          <p:nvPr/>
        </p:nvSpPr>
        <p:spPr>
          <a:xfrm>
            <a:off x="5396789" y="223570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versare</a:t>
            </a:r>
            <a:endParaRPr lang="en-US" sz="1150" dirty="0"/>
          </a:p>
        </p:txBody>
      </p:sp>
      <p:sp>
        <p:nvSpPr>
          <p:cNvPr id="20" name="box_100"/>
          <p:cNvSpPr txBox="1"/>
          <p:nvPr/>
        </p:nvSpPr>
        <p:spPr>
          <a:xfrm>
            <a:off x="2788920" y="2640330"/>
            <a:ext cx="2534717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squeeze</a:t>
            </a:r>
            <a:endParaRPr lang="en-US" sz="1250" dirty="0"/>
          </a:p>
        </p:txBody>
      </p:sp>
      <p:sp>
        <p:nvSpPr>
          <p:cNvPr id="21" name="R1_m3"/>
          <p:cNvSpPr txBox="1"/>
          <p:nvPr/>
        </p:nvSpPr>
        <p:spPr>
          <a:xfrm>
            <a:off x="5396789" y="265861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spremere</a:t>
            </a:r>
            <a:endParaRPr lang="en-US" sz="1150" dirty="0"/>
          </a:p>
        </p:txBody>
      </p:sp>
      <p:sp>
        <p:nvSpPr>
          <p:cNvPr id="22" name="box_101"/>
          <p:cNvSpPr txBox="1"/>
          <p:nvPr/>
        </p:nvSpPr>
        <p:spPr>
          <a:xfrm>
            <a:off x="2788920" y="3063240"/>
            <a:ext cx="2534717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spread</a:t>
            </a:r>
            <a:endParaRPr lang="en-US" sz="1250" dirty="0"/>
          </a:p>
        </p:txBody>
      </p:sp>
      <p:sp>
        <p:nvSpPr>
          <p:cNvPr id="23" name="R1_m4"/>
          <p:cNvSpPr txBox="1"/>
          <p:nvPr/>
        </p:nvSpPr>
        <p:spPr>
          <a:xfrm>
            <a:off x="5396789" y="308152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spalmare</a:t>
            </a:r>
            <a:endParaRPr lang="en-US" sz="1150" dirty="0"/>
          </a:p>
        </p:txBody>
      </p:sp>
      <p:sp>
        <p:nvSpPr>
          <p:cNvPr id="24" name="box_102"/>
          <p:cNvSpPr txBox="1"/>
          <p:nvPr/>
        </p:nvSpPr>
        <p:spPr>
          <a:xfrm>
            <a:off x="2788920" y="3486150"/>
            <a:ext cx="2534717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sprinkle</a:t>
            </a:r>
            <a:endParaRPr lang="en-US" sz="1250" dirty="0"/>
          </a:p>
        </p:txBody>
      </p:sp>
      <p:sp>
        <p:nvSpPr>
          <p:cNvPr id="25" name="R1_m5"/>
          <p:cNvSpPr txBox="1"/>
          <p:nvPr/>
        </p:nvSpPr>
        <p:spPr>
          <a:xfrm>
            <a:off x="5396789" y="350443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cospargere</a:t>
            </a:r>
            <a:endParaRPr lang="en-US" sz="1150" dirty="0"/>
          </a:p>
        </p:txBody>
      </p:sp>
      <p:sp>
        <p:nvSpPr>
          <p:cNvPr id="26" name="box_103"/>
          <p:cNvSpPr txBox="1"/>
          <p:nvPr/>
        </p:nvSpPr>
        <p:spPr>
          <a:xfrm>
            <a:off x="2788920" y="3909060"/>
            <a:ext cx="2534717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wrap</a:t>
            </a:r>
            <a:endParaRPr lang="en-US" sz="1250" dirty="0"/>
          </a:p>
        </p:txBody>
      </p:sp>
      <p:sp>
        <p:nvSpPr>
          <p:cNvPr id="27" name="R1_m6"/>
          <p:cNvSpPr txBox="1"/>
          <p:nvPr/>
        </p:nvSpPr>
        <p:spPr>
          <a:xfrm>
            <a:off x="5396789" y="392734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avvolgere (pellicola)</a:t>
            </a:r>
            <a:endParaRPr lang="en-US" sz="1150" dirty="0"/>
          </a:p>
        </p:txBody>
      </p:sp>
      <p:sp>
        <p:nvSpPr>
          <p:cNvPr id="28" name="box_104"/>
          <p:cNvSpPr txBox="1"/>
          <p:nvPr/>
        </p:nvSpPr>
        <p:spPr>
          <a:xfrm>
            <a:off x="2788920" y="4331970"/>
            <a:ext cx="2534717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label</a:t>
            </a:r>
            <a:endParaRPr lang="en-US" sz="1250" dirty="0"/>
          </a:p>
        </p:txBody>
      </p:sp>
      <p:sp>
        <p:nvSpPr>
          <p:cNvPr id="29" name="R1_m7"/>
          <p:cNvSpPr txBox="1"/>
          <p:nvPr/>
        </p:nvSpPr>
        <p:spPr>
          <a:xfrm>
            <a:off x="5396789" y="4350258"/>
            <a:ext cx="3427171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etichettare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0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Imperatives</a:t>
            </a:r>
            <a:endParaRPr lang="en-US" sz="900" dirty="0"/>
          </a:p>
        </p:txBody>
      </p:sp>
      <p:sp>
        <p:nvSpPr>
          <p:cNvPr id="6" name="timer_10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110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it! Don't do it!</a:t>
            </a:r>
            <a:endParaRPr lang="en-US" sz="1500" dirty="0"/>
          </a:p>
        </p:txBody>
      </p:sp>
      <p:sp>
        <p:nvSpPr>
          <p:cNvPr id="9" name="tape_11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12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rh_113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Do it!</a:t>
            </a:r>
            <a:endParaRPr lang="en-US" sz="1300" dirty="0"/>
          </a:p>
        </p:txBody>
      </p:sp>
      <p:sp>
        <p:nvSpPr>
          <p:cNvPr id="12" name="rb_114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– no subject!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the onions.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oven.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the potatoes.</a:t>
            </a:r>
            <a:endParaRPr lang="en-US" sz="1350" dirty="0"/>
          </a:p>
        </p:txBody>
      </p:sp>
      <p:sp>
        <p:nvSpPr>
          <p:cNvPr id="13" name="rh_115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 Don't!</a:t>
            </a:r>
            <a:endParaRPr lang="en-US" sz="1300" dirty="0"/>
          </a:p>
        </p:txBody>
      </p:sp>
      <p:sp>
        <p:nvSpPr>
          <p:cNvPr id="14" name="rb_116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+ verb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touch that – it's hot!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the red board for fish.</a:t>
            </a:r>
            <a:endParaRPr lang="en-US" sz="1350" dirty="0"/>
          </a:p>
        </p:txBody>
      </p:sp>
      <p:sp>
        <p:nvSpPr>
          <p:cNvPr id="15" name="rh_117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Polite</a:t>
            </a:r>
            <a:endParaRPr lang="en-US" sz="1300" dirty="0"/>
          </a:p>
        </p:txBody>
      </p:sp>
      <p:sp>
        <p:nvSpPr>
          <p:cNvPr id="16" name="rb_118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+ verb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slice the bread, please?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Yes, Chef! / Heard!</a:t>
            </a:r>
            <a:endParaRPr lang="en-US" sz="1350" dirty="0"/>
          </a:p>
        </p:txBody>
      </p:sp>
      <p:sp>
        <p:nvSpPr>
          <p:cNvPr id="17" name="watch_119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You chop the onions! (rude) → ✓ Chop the onions, please.     ✗ No touch! → ✓ Don't touch!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2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Be the teacher</a:t>
            </a:r>
            <a:endParaRPr lang="en-US" sz="900" dirty="0"/>
          </a:p>
        </p:txBody>
      </p:sp>
      <p:sp>
        <p:nvSpPr>
          <p:cNvPr id="6" name="timer_12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2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125"/>
          <p:cNvSpPr txBox="1"/>
          <p:nvPr/>
        </p:nvSpPr>
        <p:spPr>
          <a:xfrm rot="90000">
            <a:off x="320040" y="676656"/>
            <a:ext cx="484632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the commis's commands</a:t>
            </a:r>
            <a:endParaRPr lang="en-US" sz="1500" dirty="0"/>
          </a:p>
        </p:txBody>
      </p:sp>
      <p:sp>
        <p:nvSpPr>
          <p:cNvPr id="9" name="tape_12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27"/>
          <p:cNvSpPr/>
          <p:nvPr/>
        </p:nvSpPr>
        <p:spPr>
          <a:xfrm rot="-720000">
            <a:off x="459943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3" name="signB_1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command has a mistake. Correct it!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comando ha un errore. Correggilo!</a:t>
            </a:r>
            <a:endParaRPr lang="en-US" sz="1250" dirty="0"/>
          </a:p>
        </p:txBody>
      </p:sp>
      <p:sp>
        <p:nvSpPr>
          <p:cNvPr id="14" name="box_131"/>
          <p:cNvSpPr txBox="1"/>
          <p:nvPr/>
        </p:nvSpPr>
        <p:spPr>
          <a:xfrm>
            <a:off x="2788920" y="1371600"/>
            <a:ext cx="301752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chop the onions!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5861304" y="1408176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the onions, please.</a:t>
            </a:r>
            <a:endParaRPr lang="en-US" sz="1200" dirty="0"/>
          </a:p>
        </p:txBody>
      </p:sp>
      <p:sp>
        <p:nvSpPr>
          <p:cNvPr id="16" name="box_132"/>
          <p:cNvSpPr txBox="1"/>
          <p:nvPr/>
        </p:nvSpPr>
        <p:spPr>
          <a:xfrm>
            <a:off x="2788920" y="2055571"/>
            <a:ext cx="301752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No touch the oven!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5861304" y="2092147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touch the oven!</a:t>
            </a:r>
            <a:endParaRPr lang="en-US" sz="1200" dirty="0"/>
          </a:p>
        </p:txBody>
      </p:sp>
      <p:sp>
        <p:nvSpPr>
          <p:cNvPr id="18" name="box_133"/>
          <p:cNvSpPr txBox="1"/>
          <p:nvPr/>
        </p:nvSpPr>
        <p:spPr>
          <a:xfrm>
            <a:off x="2788920" y="2739542"/>
            <a:ext cx="301752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Don't to use the red board.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5861304" y="2776118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the red board.</a:t>
            </a:r>
            <a:endParaRPr lang="en-US" sz="1200" dirty="0"/>
          </a:p>
        </p:txBody>
      </p:sp>
      <p:sp>
        <p:nvSpPr>
          <p:cNvPr id="20" name="box_134"/>
          <p:cNvSpPr txBox="1"/>
          <p:nvPr/>
        </p:nvSpPr>
        <p:spPr>
          <a:xfrm>
            <a:off x="2788920" y="3423514"/>
            <a:ext cx="301752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Please you wash the pans.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5861304" y="3460090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wash the pans.</a:t>
            </a:r>
            <a:endParaRPr lang="en-US" sz="1200" dirty="0"/>
          </a:p>
        </p:txBody>
      </p:sp>
      <p:sp>
        <p:nvSpPr>
          <p:cNvPr id="22" name="box_135"/>
          <p:cNvSpPr txBox="1"/>
          <p:nvPr/>
        </p:nvSpPr>
        <p:spPr>
          <a:xfrm>
            <a:off x="2788920" y="4107485"/>
            <a:ext cx="301752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Not forget the labels!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5861304" y="4144061"/>
            <a:ext cx="296265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the labels!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3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3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recipe card</a:t>
            </a:r>
            <a:endParaRPr lang="en-US" sz="900" dirty="0"/>
          </a:p>
        </p:txBody>
      </p:sp>
      <p:sp>
        <p:nvSpPr>
          <p:cNvPr id="6" name="timer_13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4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141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Bruschetta in 6 steps</a:t>
            </a:r>
            <a:endParaRPr lang="en-US" sz="1500" dirty="0"/>
          </a:p>
        </p:txBody>
      </p:sp>
      <p:sp>
        <p:nvSpPr>
          <p:cNvPr id="9" name="tape_14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43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rsign_144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recipe card. Answer the questions.  </a:t>
            </a:r>
            <a:pPr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la ricetta e rispondi.</a:t>
            </a:r>
            <a:endParaRPr lang="en-US" sz="1000" dirty="0"/>
          </a:p>
        </p:txBody>
      </p:sp>
      <p:sp>
        <p:nvSpPr>
          <p:cNvPr id="12" name="rtext_145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 Bruschetta (for 4)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Slice the bread – not too thin!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Toast it on the grill for two minutes.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Peel a clove of garlic and rub it on the hot bread.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Dice four ripe tomatoes. Don't use the hard centre.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Mix the tomatoes with salt, basil and olive oil.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Spread the mix on the bread. Serve immediately – don't wait, or the bread gets soft!</a:t>
            </a:r>
            <a:endParaRPr lang="en-US" sz="1300" dirty="0"/>
          </a:p>
        </p:txBody>
      </p:sp>
      <p:sp>
        <p:nvSpPr>
          <p:cNvPr id="13" name="box_146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How do you cook the bread?</a:t>
            </a:r>
            <a:endParaRPr lang="en-US" sz="1150" dirty="0"/>
          </a:p>
        </p:txBody>
      </p:sp>
      <p:sp>
        <p:nvSpPr>
          <p:cNvPr id="14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grill, 2 min</a:t>
            </a:r>
            <a:endParaRPr lang="en-US" sz="1050" dirty="0"/>
          </a:p>
        </p:txBody>
      </p:sp>
      <p:sp>
        <p:nvSpPr>
          <p:cNvPr id="15" name="box_147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do you do with the garlic?</a:t>
            </a:r>
            <a:endParaRPr lang="en-US" sz="1150" dirty="0"/>
          </a:p>
        </p:txBody>
      </p:sp>
      <p:sp>
        <p:nvSpPr>
          <p:cNvPr id="16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it, rub it on the bread</a:t>
            </a:r>
            <a:endParaRPr lang="en-US" sz="1050" dirty="0"/>
          </a:p>
        </p:txBody>
      </p:sp>
      <p:sp>
        <p:nvSpPr>
          <p:cNvPr id="17" name="box_148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Which part of the tomato don't you use?</a:t>
            </a:r>
            <a:endParaRPr lang="en-US" sz="1150" dirty="0"/>
          </a:p>
        </p:txBody>
      </p:sp>
      <p:sp>
        <p:nvSpPr>
          <p:cNvPr id="18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centre</a:t>
            </a:r>
            <a:endParaRPr lang="en-US" sz="1050" dirty="0"/>
          </a:p>
        </p:txBody>
      </p:sp>
      <p:sp>
        <p:nvSpPr>
          <p:cNvPr id="19" name="box_149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Find 2 negative commands.</a:t>
            </a:r>
            <a:endParaRPr lang="en-US" sz="1150" dirty="0"/>
          </a:p>
        </p:txBody>
      </p:sp>
      <p:sp>
        <p:nvSpPr>
          <p:cNvPr id="20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use… / don't wait</a:t>
            </a:r>
            <a:endParaRPr lang="en-US" sz="1050" dirty="0"/>
          </a:p>
        </p:txBody>
      </p:sp>
      <p:sp>
        <p:nvSpPr>
          <p:cNvPr id="21" name="box_150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Why serve it immediately?</a:t>
            </a:r>
            <a:endParaRPr lang="en-US" sz="1150" dirty="0"/>
          </a:p>
        </p:txBody>
      </p:sp>
      <p:sp>
        <p:nvSpPr>
          <p:cNvPr id="22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bread gets soft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5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A real chef</a:t>
            </a:r>
            <a:endParaRPr lang="en-US" sz="900" dirty="0"/>
          </a:p>
        </p:txBody>
      </p:sp>
      <p:sp>
        <p:nvSpPr>
          <p:cNvPr id="6" name="timer_15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5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156"/>
          <p:cNvSpPr txBox="1"/>
          <p:nvPr/>
        </p:nvSpPr>
        <p:spPr>
          <a:xfrm rot="90000">
            <a:off x="320040" y="676656"/>
            <a:ext cx="397764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chop an onion</a:t>
            </a:r>
            <a:endParaRPr lang="en-US" sz="1500" dirty="0"/>
          </a:p>
        </p:txBody>
      </p:sp>
      <p:sp>
        <p:nvSpPr>
          <p:cNvPr id="9" name="tape_157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58"/>
          <p:cNvSpPr/>
          <p:nvPr/>
        </p:nvSpPr>
        <p:spPr>
          <a:xfrm rot="-720000">
            <a:off x="373075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5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6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3" name="signB_16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Write the commands you hear.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Guarda. Scrivi i comandi che senti.</a:t>
            </a:r>
            <a:endParaRPr lang="en-US" sz="1250" dirty="0"/>
          </a:p>
        </p:txBody>
      </p:sp>
      <p:sp>
        <p:nvSpPr>
          <p:cNvPr id="14" name="screen_162"/>
          <p:cNvSpPr/>
          <p:nvPr/>
        </p:nvSpPr>
        <p:spPr>
          <a:xfrm>
            <a:off x="2788920" y="13716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1F163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play_163">
            <a:hlinkClick r:id="rId3" tooltip="Gordon Ramsay: How to Chop an Onion"/>
          </p:cNvPr>
          <p:cNvSpPr txBox="1"/>
          <p:nvPr/>
        </p:nvSpPr>
        <p:spPr>
          <a:xfrm>
            <a:off x="3749040" y="1874520"/>
            <a:ext cx="822960" cy="822960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Gordon Ramsay: How to Chop an On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600" dirty="0"/>
          </a:p>
        </p:txBody>
      </p:sp>
      <p:sp>
        <p:nvSpPr>
          <p:cNvPr id="16" name="vt_164"/>
          <p:cNvSpPr txBox="1"/>
          <p:nvPr/>
        </p:nvSpPr>
        <p:spPr>
          <a:xfrm>
            <a:off x="2788920" y="3310128"/>
            <a:ext cx="27432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Gordon Ramsay: How to Chop an Onion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about 2 min · click ▶ to open</a:t>
            </a:r>
            <a:endParaRPr lang="en-US" sz="1100" dirty="0"/>
          </a:p>
        </p:txBody>
      </p:sp>
      <p:sp>
        <p:nvSpPr>
          <p:cNvPr id="17" name="wyw_165"/>
          <p:cNvSpPr txBox="1"/>
          <p:nvPr/>
        </p:nvSpPr>
        <p:spPr>
          <a:xfrm>
            <a:off x="5669280" y="1371600"/>
            <a:ext cx="315468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8" name="box_166"/>
          <p:cNvSpPr txBox="1"/>
          <p:nvPr/>
        </p:nvSpPr>
        <p:spPr>
          <a:xfrm>
            <a:off x="5669280" y="1810512"/>
            <a:ext cx="3154680" cy="71323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Write 3 imperatives you hear: Cut…, Keep…, Don't…</a:t>
            </a:r>
            <a:endParaRPr lang="en-US" sz="1250" dirty="0"/>
          </a:p>
        </p:txBody>
      </p:sp>
      <p:sp>
        <p:nvSpPr>
          <p:cNvPr id="19" name="box_167"/>
          <p:cNvSpPr txBox="1"/>
          <p:nvPr/>
        </p:nvSpPr>
        <p:spPr>
          <a:xfrm>
            <a:off x="5669280" y="2615184"/>
            <a:ext cx="3154680" cy="71323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Which cutting verbs does he use?</a:t>
            </a:r>
            <a:endParaRPr lang="en-US" sz="1250" dirty="0"/>
          </a:p>
        </p:txBody>
      </p:sp>
      <p:sp>
        <p:nvSpPr>
          <p:cNvPr id="20" name="box_168"/>
          <p:cNvSpPr txBox="1"/>
          <p:nvPr/>
        </p:nvSpPr>
        <p:spPr>
          <a:xfrm>
            <a:off x="5669280" y="3419856"/>
            <a:ext cx="3154680" cy="713232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Is his way the same as yours? What's different?</a:t>
            </a:r>
            <a:endParaRPr lang="en-US" sz="1250" dirty="0"/>
          </a:p>
        </p:txBody>
      </p:sp>
      <p:sp>
        <p:nvSpPr>
          <p:cNvPr id="21" name="bubble_169"/>
          <p:cNvSpPr txBox="1"/>
          <p:nvPr/>
        </p:nvSpPr>
        <p:spPr>
          <a:xfrm>
            <a:off x="2788920" y="4069080"/>
            <a:ext cx="2743200" cy="603504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teach your partner in English!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7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Role-play</a:t>
            </a:r>
            <a:endParaRPr lang="en-US" sz="900" dirty="0"/>
          </a:p>
        </p:txBody>
      </p:sp>
      <p:sp>
        <p:nvSpPr>
          <p:cNvPr id="6" name="timer_17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7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8" name="title_175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terrible commis</a:t>
            </a:r>
            <a:endParaRPr lang="en-US" sz="1500" dirty="0"/>
          </a:p>
        </p:txBody>
      </p:sp>
      <p:sp>
        <p:nvSpPr>
          <p:cNvPr id="9" name="tape_17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77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7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7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8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a terrible commis. A corrects him / her. Then swap!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è un pessimo commis. A lo corregge. Poi scambiatevi!</a:t>
            </a:r>
            <a:endParaRPr lang="en-US" sz="1200" dirty="0"/>
          </a:p>
        </p:txBody>
      </p:sp>
      <p:sp>
        <p:nvSpPr>
          <p:cNvPr id="14" name="line_181"/>
          <p:cNvSpPr txBox="1"/>
          <p:nvPr/>
        </p:nvSpPr>
        <p:spPr>
          <a:xfrm>
            <a:off x="2788920" y="13716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the carrots, please.</a:t>
            </a:r>
            <a:endParaRPr lang="en-US" sz="1250" dirty="0"/>
          </a:p>
        </p:txBody>
      </p:sp>
      <p:sp>
        <p:nvSpPr>
          <p:cNvPr id="15" name="line_182"/>
          <p:cNvSpPr txBox="1"/>
          <p:nvPr/>
        </p:nvSpPr>
        <p:spPr>
          <a:xfrm>
            <a:off x="3108960" y="193548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Chef! (starts eating a carrot)</a:t>
            </a:r>
            <a:endParaRPr lang="en-US" sz="1250" dirty="0"/>
          </a:p>
        </p:txBody>
      </p:sp>
      <p:sp>
        <p:nvSpPr>
          <p:cNvPr id="16" name="line_183"/>
          <p:cNvSpPr txBox="1"/>
          <p:nvPr/>
        </p:nvSpPr>
        <p:spPr>
          <a:xfrm>
            <a:off x="2788920" y="249936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eat them! Peel them!</a:t>
            </a:r>
            <a:endParaRPr lang="en-US" sz="1250" dirty="0"/>
          </a:p>
        </p:txBody>
      </p:sp>
      <p:sp>
        <p:nvSpPr>
          <p:cNvPr id="17" name="line_184"/>
          <p:cNvSpPr txBox="1"/>
          <p:nvPr/>
        </p:nvSpPr>
        <p:spPr>
          <a:xfrm>
            <a:off x="3108960" y="306324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Chef. Do I slice the mushrooms now?</a:t>
            </a:r>
            <a:endParaRPr lang="en-US" sz="1250" dirty="0"/>
          </a:p>
        </p:txBody>
      </p:sp>
      <p:sp>
        <p:nvSpPr>
          <p:cNvPr id="18" name="line_185"/>
          <p:cNvSpPr txBox="1"/>
          <p:nvPr/>
        </p:nvSpPr>
        <p:spPr>
          <a:xfrm>
            <a:off x="2788920" y="362712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Don't slice them – wash them first.</a:t>
            </a:r>
            <a:endParaRPr lang="en-US" sz="1250" dirty="0"/>
          </a:p>
        </p:txBody>
      </p:sp>
      <p:sp>
        <p:nvSpPr>
          <p:cNvPr id="19" name="line_186"/>
          <p:cNvSpPr txBox="1"/>
          <p:nvPr/>
        </p:nvSpPr>
        <p:spPr>
          <a:xfrm>
            <a:off x="3108960" y="41910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Heard, Chef!</a:t>
            </a:r>
            <a:endParaRPr lang="en-US" sz="1250" dirty="0"/>
          </a:p>
        </p:txBody>
      </p:sp>
      <p:sp>
        <p:nvSpPr>
          <p:cNvPr id="20" name="phrases_187"/>
          <p:cNvSpPr txBox="1"/>
          <p:nvPr/>
        </p:nvSpPr>
        <p:spPr>
          <a:xfrm rot="90000">
            <a:off x="6858000" y="1371600"/>
            <a:ext cx="1965960" cy="3310128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phrases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Don't…!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like that – like this.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again, please.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Faster!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Chef. / Heard!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8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9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6" name="title_191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tape_19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8" name="tape_193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sub_194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10" name="box_195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cutting verbs: chop, slice, dice…</a:t>
            </a:r>
            <a:endParaRPr lang="en-US" sz="1350" dirty="0"/>
          </a:p>
        </p:txBody>
      </p:sp>
      <p:sp>
        <p:nvSpPr>
          <p:cNvPr id="11" name="faces_196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197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give and understand commands.</a:t>
            </a:r>
            <a:endParaRPr lang="en-US" sz="1350" dirty="0"/>
          </a:p>
        </p:txBody>
      </p:sp>
      <p:sp>
        <p:nvSpPr>
          <p:cNvPr id="13" name="faces_198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box_199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follow a real chef's video.</a:t>
            </a:r>
            <a:endParaRPr lang="en-US" sz="1350" dirty="0"/>
          </a:p>
        </p:txBody>
      </p:sp>
      <p:sp>
        <p:nvSpPr>
          <p:cNvPr id="15" name="faces_200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6" name="hw_201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prep list for tomorrow with 8 commands: Dice 5 kilos of onions…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7" name="stamp_202"/>
          <p:cNvSpPr txBox="1"/>
          <p:nvPr/>
        </p:nvSpPr>
        <p:spPr>
          <a:xfrm>
            <a:off x="365760" y="365760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L5 · Cooking methods &amp; recipes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0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Listen and act</a:t>
            </a:r>
            <a:endParaRPr lang="en-US" sz="900" dirty="0"/>
          </a:p>
        </p:txBody>
      </p:sp>
      <p:sp>
        <p:nvSpPr>
          <p:cNvPr id="6" name="timer_20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0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0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9" name="title_209"/>
          <p:cNvSpPr txBox="1"/>
          <p:nvPr/>
        </p:nvSpPr>
        <p:spPr>
          <a:xfrm rot="90000">
            <a:off x="320040" y="676656"/>
            <a:ext cx="224028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Chef says…</a:t>
            </a:r>
            <a:endParaRPr lang="en-US" sz="1500" dirty="0"/>
          </a:p>
        </p:txBody>
      </p:sp>
      <p:sp>
        <p:nvSpPr>
          <p:cNvPr id="10" name="tape_210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tape_211"/>
          <p:cNvSpPr/>
          <p:nvPr/>
        </p:nvSpPr>
        <p:spPr>
          <a:xfrm rot="-720000">
            <a:off x="199339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2" name="post_21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1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4" name="signB_21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action only if I say 'Chef says'!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 il gesto solo se dico 'Chef says'!</a:t>
            </a:r>
            <a:endParaRPr lang="en-US" sz="1250" dirty="0"/>
          </a:p>
        </p:txBody>
      </p:sp>
      <p:sp>
        <p:nvSpPr>
          <p:cNvPr id="15" name="iconBack_21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16" descr="to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num_217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ox_218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says: chop the carrots! → mime it.</a:t>
            </a:r>
            <a:endParaRPr lang="en-US" sz="1300" dirty="0"/>
          </a:p>
        </p:txBody>
      </p:sp>
      <p:sp>
        <p:nvSpPr>
          <p:cNvPr id="19" name="num_219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box_220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the potatoes! (no 'Chef says') → don't move!</a:t>
            </a:r>
            <a:endParaRPr lang="en-US" sz="1300" dirty="0"/>
          </a:p>
        </p:txBody>
      </p:sp>
      <p:sp>
        <p:nvSpPr>
          <p:cNvPr id="21" name="num_221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222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'Yes, Chef!' every time.</a:t>
            </a:r>
            <a:endParaRPr lang="en-US" sz="1300" dirty="0"/>
          </a:p>
        </p:txBody>
      </p:sp>
      <p:sp>
        <p:nvSpPr>
          <p:cNvPr id="23" name="num_223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box_224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chefs give the commands to the teacher!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2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exact instructions</a:t>
            </a:r>
            <a:endParaRPr lang="en-US" sz="900" dirty="0"/>
          </a:p>
        </p:txBody>
      </p:sp>
      <p:sp>
        <p:nvSpPr>
          <p:cNvPr id="6" name="timer_22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2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3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L4</a:t>
            </a:r>
            <a:endParaRPr lang="en-US" sz="1000" dirty="0"/>
          </a:p>
        </p:txBody>
      </p:sp>
      <p:sp>
        <p:nvSpPr>
          <p:cNvPr id="9" name="title_231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robot chef</a:t>
            </a:r>
            <a:endParaRPr lang="en-US" sz="1500" dirty="0"/>
          </a:p>
        </p:txBody>
      </p:sp>
      <p:sp>
        <p:nvSpPr>
          <p:cNvPr id="10" name="tape_23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tape_233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2" name="post_23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3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4" name="signB_23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does EXACTLY what you say. Nothing more!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robot fa ESATTAMENTE ciò che dici!</a:t>
            </a:r>
            <a:endParaRPr lang="en-US" sz="1250" dirty="0"/>
          </a:p>
        </p:txBody>
      </p:sp>
      <p:sp>
        <p:nvSpPr>
          <p:cNvPr id="15" name="iconBack_23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38" descr="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num_239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ox_240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(then a chef) is a robot.</a:t>
            </a:r>
            <a:endParaRPr lang="en-US" sz="1300" dirty="0"/>
          </a:p>
        </p:txBody>
      </p:sp>
      <p:sp>
        <p:nvSpPr>
          <p:cNvPr id="19" name="num_241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box_242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commands to make a sandwich or a coffee.</a:t>
            </a:r>
            <a:endParaRPr lang="en-US" sz="1300" dirty="0"/>
          </a:p>
        </p:txBody>
      </p:sp>
      <p:sp>
        <p:nvSpPr>
          <p:cNvPr id="21" name="num_243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244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does exactly what you say: Open the bread. → the robot can't! Which bread? How?</a:t>
            </a:r>
            <a:endParaRPr lang="en-US" sz="1300" dirty="0"/>
          </a:p>
        </p:txBody>
      </p:sp>
      <p:sp>
        <p:nvSpPr>
          <p:cNvPr id="23" name="num_245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box_246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job with clear imperatives. Then swap.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L4 Kitchen commands</dc:title>
  <dc:subject>PptxGenJS Presentation</dc:subject>
  <dc:creator>London Language School</dc:creator>
  <cp:lastModifiedBy>London Language School</cp:lastModifiedBy>
  <cp:revision>1</cp:revision>
  <dcterms:created xsi:type="dcterms:W3CDTF">2026-10-05T06:50:56Z</dcterms:created>
  <dcterms:modified xsi:type="dcterms:W3CDTF">2026-10-05T06:50:56Z</dcterms:modified>
</cp:coreProperties>
</file>