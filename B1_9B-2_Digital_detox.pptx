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9B PART 2 (60 min) · SB pp.92–93. Aims: quantifiers (Grammar Bank 9B: a lot of, plenty of, a few, very little, too much, not enough, none…); the sounds of ough / augh; read '11 ways to tidy up your digital life' and the prefix un-. The Writing (p.123, an article: advantages and disadvantages) is homework. Timing: cover 2 · revision 5 · listening 9.14 5 · rule 6 · practice 6 · True or not? 6 · ough/augh 5 · reading 8 · un- 4 · auction 6 · exit 3 = 56 min. Click 1: the question; click 2: the answer already uses today's grammar ('too many', 'not enough').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9B part 1 (5 min). VARIATION: answers first ('Jeopardy' style – reverse the obvious). Pairs see the answer and write a question that fits it (content from the listening 9.13, the phrasal verbs 9.10 and the devices 9.9). Click once per line to show a model question – any correct, logical question gets the point (+1 for a perfect question form: auxiliary + subject!). Quick follow-up (30 seconds): 'What was Anna's other new rule?' (technology-free Saturdays).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PRESENTATION (5 min). 3a: pairs guess the missing words in sentences 1–6 (TG: don't write anything yet). VARIATION: prediction. 3b: play 9.14; students complete; compare; click 1 for answers (audio script): 1 a lot · 2 enough money · 3 too much · 4 a few · 5 big enough · 6 too expensive. Drill enough /ɪˈnʌf/. Ask: which word goes BEFORE the noun and AFTER the adjective? (enough money / big enough). 3d (in the rule slide or at the end): pairs say if sentences 1–6 are true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Grammar Bank 9B p.149: play 9.15–9.18; students listen and repeat, copying the rhythm. All examples on the slide are from those audio tracks. Rules (TG grammar notes): large quantities — a lot of / lots of (colloquial) / loads of (very colloquial); plenty of = more than enough (Italian learners sometimes confuse plenty of with full of); much / many mainly in negatives and questions. Small quantities — a little + uncountable, a few + plural countable; very little / very few are much more negative (= almost nothing); less + uncountable, fewer + plural. More or less than you need — too + adjective / adverb; too much + uncountable; too many + plural; enough before a noun but after an adjective / adverb. Zero — no + noun; not … any; none = pronoun, used alone. Typical mistakes (TG): too much + adjective; position of enough; pronunciation of enough /ɪˈnʌf/. Quick check: 'Bagheria — too much or not enough…?' (traffic, parks, parking spaces).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(6 min). Students do Grammar Bank 9B a 1–5 and b 1–5 in the book, then compare. Click 1 for all answers (TG key; ✓ = the sentence is already right, ✗ = wrong + correction): a 1 a few · 2 much · 3 ✓ · 4 very few · 5 ✓; b 1 ✗ A lot! · 2 ✓ · 3 ✗ There isn't enough time / There's no time · 4 ✗ too loud · 5 ✓ (⚠ the exercise sentences are only in the Student's Book; the TG prints ✓ / ✗ as the letters f / g). Lines 3–6 are our extra sentences built on the typical mistakes listed in the TG grammar notes. VARIATION: student as teacher — the pair that finishes first explains the rule for one of the mistakes to the class. EXTRA SUPPORT: Grammar photocopiable 9B p.166 = the EXTRA slide 'Circle the quantifier' after the exit (📄 B1_9B_Photocopiables.pdf, page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(6 min) = Communicative photocopiable 9B 'True or not?' (TG p.195, notes p.175). 📄 Print: B1_9B_Photocopiables.pdf, page 2 – one copy per pair (page 3 = the editable version with blank spaces – print it only if you want to write your own sentences). The sentences are printed round the page and all contain quantifiers (I usually drink plenty of water · I have lots of apps on my phone that I never use · I only have a few really close friends · I should probably spend less time on my phone · I take lots of selfies · I always eat plenty of fruit and vegetables · very little time outdoors…). Official procedure (TG): put Sts in pairs and give out the worksheets; they read the sentences and say if they are true for them or not, giving extra information. Demonstrate first: read out the first sentence, I usually drink plenty of water, say if it's true for you and add information (e.g. I don't really drink water because I prefer other drinks, like tea). Monitor and encourage more information; get feedback from various pairs. Our twist (the steps on the slide, optional): students choose 6 sentences and say them all as if they were true – the partner asks two follow-up questions and guesses true or not. This replaces / extends SB 3d (are sentences 1–6 in 3a true for you?). VARIATION: spot the lie + follow-up questions. Personalisation with boundaries: students choose which sentences to use. Monitor for quantifier errors and write 3–4 on the board for a 1-minute correction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(5 min). 4a: go through the ough and augh box (the same letters have six different pronunciations). Elicit the picture words and sounds: horse /ɔː/, up /ʌ/, phone /əʊ/, car /ɑː/, boot /uː/, clock /ɒ/. Pairs put the words (yellow sticky) in the columns, saying them aloud. 4b: play 9.19 — click once per group (answers from the audio script). Ask: Which is the most common sound? → /ɔː/, especially when there's a t after ough / augh (bought, brought, caught, taught, thought). Which four words finish with /f/? → enough, tough, laugh, cough. 4c: play 9.20 – the five sentences: 1 I bought a new iPhone, although I thought it was very expensive. 2 My daughter's caught a bad cold. 3 We've been through some tough times. 4 I didn't laugh! It was a cough. 5 You haven't brought enough wine! Pairs practise, then individuals. VARIATION: phonological branching — can they add one more word to a group? (taught → /ɔː/; rough → /ʌ/ ⚠ not in the book: accept any correct word).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(8 min). 5a (2 min): pairs ask and answer the questions in the book about their own digital life – who has a more organized digital life? (How many photos do you have on your phone? Are they organized into albums? · Do you have any apps on your phone that you never use? · How many email accounts do you have? · How many songs…? · How many friends do you have on Facebook? How many are real friends? · How many people in your contacts have you not contacted in the last year? · How many different passwords do you have? · What's the wallpaper on your phone or computer screen? · How many digital devices do you have that you never use?) (TG: teach wallpaper = the background picture on your screen — and its other meaning, paper for covering the walls of a room); who has the more organized digital life? 5b (1 min): read only the 11 headings (= the slide) and tick the ones THEY need to tidy up; compare. 5c (4 min): read the article and complete each gap with a verb from the list. Click 1 for answers (TG): 1 answer · 2 make · 3 find · 4 Delete · 5 keep · 6 Update · 7 forget · 8 click · 9 set up · 10 Choose · 11 recycle. Useful context (from the article): answer an email at once if it takes less than two minutes; a password manager means you'll never forget a password; just click on 'unsubscribe'; never set up more than two email accounts; recycle old devices properly. VARIATION: personalisation + curiosity gap (they decide what they need BEFORE reading).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(4 min). 5d: students find five words with the prefix un- in tips 1, 2, 5 and 8; 5e: complete sentences 1–8 with un- and a word from the list (clear · comfortable · do · friend · helpful · known · lock · read). The slide = the book's sentences (6 and 7 slightly shortened). Click 1 for all answers (TG): Tip 1 unopened, unanswered · Tip 2 Uninstall · Tip 5 unfollow · Tip 8 unsubscribe · 5e 1 unread · 2 undo · 3 unfriend · 4 unlock · 5 unhelpful · 6 unknown · 7 unclear · 8 uncomfortable (Ctrl = Control). Point out (TG): un- is the most common negative prefix in English and is used for new 'technology' verbs (unfriend, unfollow). Drill the stress: unSUBscribe, unFOLLow, unINstall. 5f (Which of the tips would be most useful for you? Choose your top three and discuss in small groups) = the EXTRA ranking slide. VARIATION: vocabulary branching.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(6 min). VARIATION: risk + spot the error. Teams of 3–4; each team starts with €100. The teacher is the auctioneer: read sentence 1; teams bid (minimum €10). The highest bidder 'buys' the sentence. Click → the answer for that sentence appears (one per click). If the bought sentence is correct, the team doubles its money; if it's wrong, it loses the money — but it can win it back by correcting it perfectly. Teams that think a sentence is wrong just don't bid. Winner = most money after 8 sentences. Keep a quick score table on the board. All the mistakes are the typical ones from the TG grammar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Homework: Workbook 9B 2a, 2b, 2c (quantifiers) and 3c (ough / augh; 3d is audio – optional) + Grammar Bank 9B a 6–10, b 6–10 + Writing p.123 (6a–b read the Wikipedia article, answer the questions, correct the 10 mistakes; then c–f write 'Smartphones – essential for modern life?' in three paragraphs: introduction + advantages + disadvantages + conclusion, ~150 words; students may write about an app or website instead) + the 9B-2 homework sheet. Answers are in the teacher key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(7 min) or HOMEWORK = Grammar photocopiable 9B 'quantifiers' (TG p.166). 📄 Print: B1_9B_Photocopiables.pdf, page 1 – one copy per student. Students circle the correct answers (20 gaps in six short conversations; 1 too is the example). Pairs compare; the slide summarises the six conversations – click once per conversation. Official answers (TG PCM key): 1 too (example) · 2 much · 3 loud enough · 4 a few · 5 any · 6 less · 7 loads of · 8 early enough · 9 too · 10 plenty of · 11 very little · 12 lots of · 13 many · 14 a lot · 15 many · 16 none · 17 fewer · 18 too · 19 a few · 20 no. ACTIVATION (on the sheet): cover the right-hand column, look at the conversations and try to remember the missing words. Then pairs read the conversations aloud. VARIATION: memory disruption (the Activation).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(5 min) = SB 5f. VARIATION: ranking + forced choice — pairs must agree on ONE order, then join another pair and defend their number 1. Follow-up: Which tip will you actually do tonight? All six come from the article on p.93.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 — start the homework writing in class. TG: title on the board SMARTPHONES – ESSENTIAL FOR MODERN LIFE?; three paragraphs following the chart; use the useful language box. If you do the whole writing in class, allow 15–20 minutes. VARIATION: perspective change — write the disadvantages from the point of view of a parent, the advantages from the point of view of a teenager.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Based on audio 9.17 (I don't like this city. It's too big… There aren't enough parks…). VARIATION: local personalisation + mild controversy: groups agree on the ONE thing Bagheria needs most and present it to the class ('There aren't enough… so the council should…').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9B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9B · Part 2 · SB pp.92–93</a:t>
            </a:r>
            <a:endParaRPr lang="en-US" sz="1100" dirty="0"/>
          </a:p>
        </p:txBody>
      </p:sp>
      <p:sp>
        <p:nvSpPr>
          <p:cNvPr id="9" name="title_7"/>
          <p:cNvSpPr txBox="1"/>
          <p:nvPr/>
        </p:nvSpPr>
        <p:spPr>
          <a:xfrm rot="120000">
            <a:off x="411480" y="1325880"/>
            <a:ext cx="3849624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DETOX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2564892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quantifiers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332988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ough and augh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90906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Tidy up your digital life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pi:PiBro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Tra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EnvelopeSimp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unread emails have you got?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many! Not enough time!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9B part 1 · Devices &amp; detox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Answers first!</a:t>
            </a:r>
            <a:endParaRPr lang="en-US" sz="1500" dirty="0"/>
          </a:p>
        </p:txBody>
      </p:sp>
      <p:sp>
        <p:nvSpPr>
          <p:cNvPr id="9" name="tape_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25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ANSWER. What's the question?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Ecco la RISPOSTA. Qual è la domanda?</a:t>
            </a:r>
            <a:endParaRPr lang="en-US" sz="1250" dirty="0"/>
          </a:p>
        </p:txBody>
      </p:sp>
      <p:sp>
        <p:nvSpPr>
          <p:cNvPr id="14" name="iconBack_29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30" descr="pi:PiPl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box_31"/>
          <p:cNvSpPr txBox="1"/>
          <p:nvPr/>
        </p:nvSpPr>
        <p:spPr>
          <a:xfrm>
            <a:off x="2788920" y="1371600"/>
            <a:ext cx="2414016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 an old country house in Dorset.</a:t>
            </a:r>
            <a:endParaRPr lang="en-US" sz="950" dirty="0"/>
          </a:p>
        </p:txBody>
      </p:sp>
      <p:sp>
        <p:nvSpPr>
          <p:cNvPr id="17" name="R1_a0"/>
          <p:cNvSpPr txBox="1"/>
          <p:nvPr/>
        </p:nvSpPr>
        <p:spPr>
          <a:xfrm>
            <a:off x="5257800" y="1408176"/>
            <a:ext cx="35661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was Anna's detox?</a:t>
            </a:r>
            <a:endParaRPr lang="en-US" sz="1150" dirty="0"/>
          </a:p>
        </p:txBody>
      </p:sp>
      <p:sp>
        <p:nvSpPr>
          <p:cNvPr id="18" name="box_32"/>
          <p:cNvSpPr txBox="1"/>
          <p:nvPr/>
        </p:nvSpPr>
        <p:spPr>
          <a:xfrm>
            <a:off x="2788920" y="1941576"/>
            <a:ext cx="2414016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For three days.</a:t>
            </a:r>
            <a:endParaRPr lang="en-US" sz="1300" dirty="0"/>
          </a:p>
        </p:txBody>
      </p:sp>
      <p:sp>
        <p:nvSpPr>
          <p:cNvPr id="19" name="R2_a1"/>
          <p:cNvSpPr txBox="1"/>
          <p:nvPr/>
        </p:nvSpPr>
        <p:spPr>
          <a:xfrm>
            <a:off x="5257800" y="1978152"/>
            <a:ext cx="35661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the detox last?</a:t>
            </a:r>
            <a:endParaRPr lang="en-US" sz="1150" dirty="0"/>
          </a:p>
        </p:txBody>
      </p:sp>
      <p:sp>
        <p:nvSpPr>
          <p:cNvPr id="20" name="box_33"/>
          <p:cNvSpPr txBox="1"/>
          <p:nvPr/>
        </p:nvSpPr>
        <p:spPr>
          <a:xfrm>
            <a:off x="2788920" y="2511552"/>
            <a:ext cx="2414016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She burst into tears during yoga.</a:t>
            </a:r>
            <a:endParaRPr lang="en-US" sz="950" dirty="0"/>
          </a:p>
        </p:txBody>
      </p:sp>
      <p:sp>
        <p:nvSpPr>
          <p:cNvPr id="21" name="R3_a2"/>
          <p:cNvSpPr txBox="1"/>
          <p:nvPr/>
        </p:nvSpPr>
        <p:spPr>
          <a:xfrm>
            <a:off x="5257800" y="2548128"/>
            <a:ext cx="35661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on the second evening?</a:t>
            </a:r>
            <a:endParaRPr lang="en-US" sz="1150" dirty="0"/>
          </a:p>
        </p:txBody>
      </p:sp>
      <p:sp>
        <p:nvSpPr>
          <p:cNvPr id="22" name="box_34"/>
          <p:cNvSpPr txBox="1"/>
          <p:nvPr/>
        </p:nvSpPr>
        <p:spPr>
          <a:xfrm>
            <a:off x="2788920" y="3081528"/>
            <a:ext cx="2414016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 turned it down.</a:t>
            </a:r>
            <a:endParaRPr lang="en-US" sz="1300" dirty="0"/>
          </a:p>
        </p:txBody>
      </p:sp>
      <p:sp>
        <p:nvSpPr>
          <p:cNvPr id="23" name="R4_a3"/>
          <p:cNvSpPr txBox="1"/>
          <p:nvPr/>
        </p:nvSpPr>
        <p:spPr>
          <a:xfrm>
            <a:off x="5257800" y="3118104"/>
            <a:ext cx="35661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 the heating / the volume?</a:t>
            </a:r>
            <a:endParaRPr lang="en-US" sz="1150" dirty="0"/>
          </a:p>
        </p:txBody>
      </p:sp>
      <p:sp>
        <p:nvSpPr>
          <p:cNvPr id="24" name="box_35"/>
          <p:cNvSpPr txBox="1"/>
          <p:nvPr/>
        </p:nvSpPr>
        <p:spPr>
          <a:xfrm>
            <a:off x="2788920" y="3651504"/>
            <a:ext cx="2414016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Into a socket.</a:t>
            </a:r>
            <a:endParaRPr lang="en-US" sz="1300" dirty="0"/>
          </a:p>
        </p:txBody>
      </p:sp>
      <p:sp>
        <p:nvSpPr>
          <p:cNvPr id="25" name="R5_a4"/>
          <p:cNvSpPr txBox="1"/>
          <p:nvPr/>
        </p:nvSpPr>
        <p:spPr>
          <a:xfrm>
            <a:off x="5257800" y="3688080"/>
            <a:ext cx="35661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put a plug?</a:t>
            </a:r>
            <a:endParaRPr lang="en-US" sz="1150" dirty="0"/>
          </a:p>
        </p:txBody>
      </p:sp>
      <p:sp>
        <p:nvSpPr>
          <p:cNvPr id="26" name="box_36"/>
          <p:cNvSpPr txBox="1"/>
          <p:nvPr/>
        </p:nvSpPr>
        <p:spPr>
          <a:xfrm>
            <a:off x="2788920" y="4221480"/>
            <a:ext cx="2414016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No email after 8 p.m.</a:t>
            </a:r>
            <a:endParaRPr lang="en-US" sz="1300" dirty="0"/>
          </a:p>
        </p:txBody>
      </p:sp>
      <p:sp>
        <p:nvSpPr>
          <p:cNvPr id="27" name="R6_a5"/>
          <p:cNvSpPr txBox="1"/>
          <p:nvPr/>
        </p:nvSpPr>
        <p:spPr>
          <a:xfrm>
            <a:off x="5257800" y="4258056"/>
            <a:ext cx="35661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of Anna's new rules?</a:t>
            </a:r>
            <a:endParaRPr lang="en-US" sz="1150" dirty="0"/>
          </a:p>
        </p:txBody>
      </p:sp>
      <p:sp>
        <p:nvSpPr>
          <p:cNvPr id="28" name="pageTag_37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9B pp.90–91 · audio 9.9–9.13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4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Presentation · audio 9.14</a:t>
            </a:r>
            <a:endParaRPr lang="en-US" sz="900" dirty="0"/>
          </a:p>
        </p:txBody>
      </p:sp>
      <p:sp>
        <p:nvSpPr>
          <p:cNvPr id="6" name="timer_4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4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8" name="title_43"/>
          <p:cNvSpPr txBox="1"/>
          <p:nvPr/>
        </p:nvSpPr>
        <p:spPr>
          <a:xfrm rot="90000">
            <a:off x="320040" y="676656"/>
            <a:ext cx="449884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Guess the missing words</a:t>
            </a:r>
            <a:endParaRPr lang="en-US" sz="1500" dirty="0"/>
          </a:p>
        </p:txBody>
      </p:sp>
      <p:sp>
        <p:nvSpPr>
          <p:cNvPr id="9" name="tape_4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45"/>
          <p:cNvSpPr/>
          <p:nvPr/>
        </p:nvSpPr>
        <p:spPr>
          <a:xfrm rot="-720000">
            <a:off x="425196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4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4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3" name="signB_4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first – don't write! Then listen and complete.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indovina – non scrivere! Poi ascolta e completa.</a:t>
            </a:r>
            <a:endParaRPr lang="en-US" sz="1250" dirty="0"/>
          </a:p>
        </p:txBody>
      </p:sp>
      <p:sp>
        <p:nvSpPr>
          <p:cNvPr id="14" name="tr_49"/>
          <p:cNvSpPr txBox="1"/>
          <p:nvPr/>
        </p:nvSpPr>
        <p:spPr>
          <a:xfrm>
            <a:off x="2788920" y="137160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🎧 9.14</a:t>
            </a:r>
            <a:endParaRPr lang="en-US" sz="1400" dirty="0"/>
          </a:p>
        </p:txBody>
      </p:sp>
      <p:sp>
        <p:nvSpPr>
          <p:cNvPr id="15" name="box_50"/>
          <p:cNvSpPr txBox="1"/>
          <p:nvPr/>
        </p:nvSpPr>
        <p:spPr>
          <a:xfrm>
            <a:off x="2788920" y="2103120"/>
            <a:ext cx="4465930" cy="3657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 used to have ___ ___ of different gadgets, but now I use my phone for almost everything.</a:t>
            </a:r>
            <a:endParaRPr lang="en-US" sz="800" dirty="0"/>
          </a:p>
        </p:txBody>
      </p:sp>
      <p:sp>
        <p:nvSpPr>
          <p:cNvPr id="16" name="R1_la0"/>
          <p:cNvSpPr txBox="1"/>
          <p:nvPr/>
        </p:nvSpPr>
        <p:spPr>
          <a:xfrm>
            <a:off x="7309714" y="2130552"/>
            <a:ext cx="151424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</a:t>
            </a:r>
            <a:endParaRPr lang="en-US" sz="1150" dirty="0"/>
          </a:p>
        </p:txBody>
      </p:sp>
      <p:sp>
        <p:nvSpPr>
          <p:cNvPr id="17" name="box_51"/>
          <p:cNvSpPr txBox="1"/>
          <p:nvPr/>
        </p:nvSpPr>
        <p:spPr>
          <a:xfrm>
            <a:off x="2788920" y="2542032"/>
            <a:ext cx="4465930" cy="3657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I'd like to have a better computer, but I don't have ___ ___ to buy one right now.</a:t>
            </a:r>
            <a:endParaRPr lang="en-US" sz="900" dirty="0"/>
          </a:p>
        </p:txBody>
      </p:sp>
      <p:sp>
        <p:nvSpPr>
          <p:cNvPr id="18" name="R1_la1"/>
          <p:cNvSpPr txBox="1"/>
          <p:nvPr/>
        </p:nvSpPr>
        <p:spPr>
          <a:xfrm>
            <a:off x="7309714" y="2569464"/>
            <a:ext cx="151424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money</a:t>
            </a:r>
            <a:endParaRPr lang="en-US" sz="1150" dirty="0"/>
          </a:p>
        </p:txBody>
      </p:sp>
      <p:sp>
        <p:nvSpPr>
          <p:cNvPr id="19" name="box_52"/>
          <p:cNvSpPr txBox="1"/>
          <p:nvPr/>
        </p:nvSpPr>
        <p:spPr>
          <a:xfrm>
            <a:off x="2788920" y="2980944"/>
            <a:ext cx="4465930" cy="3657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 spend ___ ___ time online. I think I need a digital detox.</a:t>
            </a:r>
            <a:endParaRPr lang="en-US" sz="1050" dirty="0"/>
          </a:p>
        </p:txBody>
      </p:sp>
      <p:sp>
        <p:nvSpPr>
          <p:cNvPr id="20" name="R1_la2"/>
          <p:cNvSpPr txBox="1"/>
          <p:nvPr/>
        </p:nvSpPr>
        <p:spPr>
          <a:xfrm>
            <a:off x="7309714" y="3008376"/>
            <a:ext cx="151424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1150" dirty="0"/>
          </a:p>
        </p:txBody>
      </p:sp>
      <p:sp>
        <p:nvSpPr>
          <p:cNvPr id="21" name="box_53"/>
          <p:cNvSpPr txBox="1"/>
          <p:nvPr/>
        </p:nvSpPr>
        <p:spPr>
          <a:xfrm>
            <a:off x="2788920" y="3419856"/>
            <a:ext cx="4465930" cy="3657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 have a lot of friends on Facebook, but only ___ ___ of them are close friends.</a:t>
            </a:r>
            <a:endParaRPr lang="en-US" sz="900" dirty="0"/>
          </a:p>
        </p:txBody>
      </p:sp>
      <p:sp>
        <p:nvSpPr>
          <p:cNvPr id="22" name="R1_la3"/>
          <p:cNvSpPr txBox="1"/>
          <p:nvPr/>
        </p:nvSpPr>
        <p:spPr>
          <a:xfrm>
            <a:off x="7309714" y="3447288"/>
            <a:ext cx="151424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</a:t>
            </a:r>
            <a:endParaRPr lang="en-US" sz="1150" dirty="0"/>
          </a:p>
        </p:txBody>
      </p:sp>
      <p:sp>
        <p:nvSpPr>
          <p:cNvPr id="23" name="box_54"/>
          <p:cNvSpPr txBox="1"/>
          <p:nvPr/>
        </p:nvSpPr>
        <p:spPr>
          <a:xfrm>
            <a:off x="2788920" y="3858768"/>
            <a:ext cx="4465930" cy="3657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 never watch TV or films on my phone, because the screen isn't ___ ___.</a:t>
            </a:r>
            <a:endParaRPr lang="en-US" sz="950" dirty="0"/>
          </a:p>
        </p:txBody>
      </p:sp>
      <p:sp>
        <p:nvSpPr>
          <p:cNvPr id="24" name="R1_la4"/>
          <p:cNvSpPr txBox="1"/>
          <p:nvPr/>
        </p:nvSpPr>
        <p:spPr>
          <a:xfrm>
            <a:off x="7309714" y="3886200"/>
            <a:ext cx="151424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enough</a:t>
            </a:r>
            <a:endParaRPr lang="en-US" sz="1150" dirty="0"/>
          </a:p>
        </p:txBody>
      </p:sp>
      <p:sp>
        <p:nvSpPr>
          <p:cNvPr id="25" name="box_55"/>
          <p:cNvSpPr txBox="1"/>
          <p:nvPr/>
        </p:nvSpPr>
        <p:spPr>
          <a:xfrm>
            <a:off x="2788920" y="4297680"/>
            <a:ext cx="4465930" cy="3657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 like Apple products, but I can't afford them – I think they're ___ ___.</a:t>
            </a:r>
            <a:endParaRPr lang="en-US" sz="1000" dirty="0"/>
          </a:p>
        </p:txBody>
      </p:sp>
      <p:sp>
        <p:nvSpPr>
          <p:cNvPr id="26" name="R1_la5"/>
          <p:cNvSpPr txBox="1"/>
          <p:nvPr/>
        </p:nvSpPr>
        <p:spPr>
          <a:xfrm>
            <a:off x="7309714" y="4325112"/>
            <a:ext cx="151424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150" dirty="0"/>
          </a:p>
        </p:txBody>
      </p:sp>
      <p:sp>
        <p:nvSpPr>
          <p:cNvPr id="27" name="pageTag_5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p.92 · 3a, 3b · audio 9.14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5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5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5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9B p.149</a:t>
            </a:r>
            <a:endParaRPr lang="en-US" sz="900" dirty="0"/>
          </a:p>
        </p:txBody>
      </p:sp>
      <p:sp>
        <p:nvSpPr>
          <p:cNvPr id="6" name="timer_6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6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8" name="title_62"/>
          <p:cNvSpPr txBox="1"/>
          <p:nvPr/>
        </p:nvSpPr>
        <p:spPr>
          <a:xfrm rot="90000">
            <a:off x="320040" y="676656"/>
            <a:ext cx="241401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Quantifiers</a:t>
            </a:r>
            <a:endParaRPr lang="en-US" sz="1500" dirty="0"/>
          </a:p>
        </p:txBody>
      </p:sp>
      <p:sp>
        <p:nvSpPr>
          <p:cNvPr id="9" name="tape_63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64"/>
          <p:cNvSpPr/>
          <p:nvPr/>
        </p:nvSpPr>
        <p:spPr>
          <a:xfrm rot="-720000">
            <a:off x="216712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rh_65"/>
          <p:cNvSpPr txBox="1"/>
          <p:nvPr/>
        </p:nvSpPr>
        <p:spPr>
          <a:xfrm>
            <a:off x="320040" y="1371600"/>
            <a:ext cx="2029968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lot</a:t>
            </a:r>
            <a:endParaRPr lang="en-US" sz="1300" dirty="0"/>
          </a:p>
        </p:txBody>
      </p:sp>
      <p:sp>
        <p:nvSpPr>
          <p:cNvPr id="12" name="rb_66"/>
          <p:cNvSpPr txBox="1"/>
          <p:nvPr/>
        </p:nvSpPr>
        <p:spPr>
          <a:xfrm>
            <a:off x="320040" y="1810512"/>
            <a:ext cx="2029968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daughter has a lot of / lots of apps.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there loads of times.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plenty of time. (= more than enough)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watch much TV? There aren't many cafés.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 lots of</a:t>
            </a:r>
            <a:endParaRPr lang="en-US" sz="1150" dirty="0"/>
          </a:p>
        </p:txBody>
      </p:sp>
      <p:sp>
        <p:nvSpPr>
          <p:cNvPr id="13" name="rh_67"/>
          <p:cNvSpPr txBox="1"/>
          <p:nvPr/>
        </p:nvSpPr>
        <p:spPr>
          <a:xfrm>
            <a:off x="2478024" y="1371600"/>
            <a:ext cx="2029968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little</a:t>
            </a:r>
            <a:endParaRPr lang="en-US" sz="1300" dirty="0"/>
          </a:p>
        </p:txBody>
      </p:sp>
      <p:sp>
        <p:nvSpPr>
          <p:cNvPr id="14" name="rb_68"/>
          <p:cNvSpPr txBox="1"/>
          <p:nvPr/>
        </p:nvSpPr>
        <p:spPr>
          <a:xfrm>
            <a:off x="2478024" y="1810512"/>
            <a:ext cx="2029968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little. (+ uncountable)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few cinemas (+ plural)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time · very few friends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free time · fewer flights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= quasi niente (negativo)</a:t>
            </a:r>
            <a:endParaRPr lang="en-US" sz="1150" dirty="0"/>
          </a:p>
        </p:txBody>
      </p:sp>
      <p:sp>
        <p:nvSpPr>
          <p:cNvPr id="15" name="rh_69"/>
          <p:cNvSpPr txBox="1"/>
          <p:nvPr/>
        </p:nvSpPr>
        <p:spPr>
          <a:xfrm>
            <a:off x="4636008" y="1371600"/>
            <a:ext cx="2029968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 / enough</a:t>
            </a:r>
            <a:endParaRPr lang="en-US" sz="1300" dirty="0"/>
          </a:p>
        </p:txBody>
      </p:sp>
      <p:sp>
        <p:nvSpPr>
          <p:cNvPr id="16" name="rb_70"/>
          <p:cNvSpPr txBox="1"/>
          <p:nvPr/>
        </p:nvSpPr>
        <p:spPr>
          <a:xfrm>
            <a:off x="4636008" y="1810512"/>
            <a:ext cx="2029968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too big. You're speaking too quietly.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traffic · too many tourists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aren't enough parks.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buses aren't frequent enough.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PRIMA del nome, DOPO l'aggettivo</a:t>
            </a:r>
            <a:endParaRPr lang="en-US" sz="1150" dirty="0"/>
          </a:p>
        </p:txBody>
      </p:sp>
      <p:sp>
        <p:nvSpPr>
          <p:cNvPr id="17" name="rh_71"/>
          <p:cNvSpPr txBox="1"/>
          <p:nvPr/>
        </p:nvSpPr>
        <p:spPr>
          <a:xfrm>
            <a:off x="6793992" y="1371600"/>
            <a:ext cx="2029968" cy="384048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1300" dirty="0"/>
          </a:p>
        </p:txBody>
      </p:sp>
      <p:sp>
        <p:nvSpPr>
          <p:cNvPr id="18" name="rb_72"/>
          <p:cNvSpPr txBox="1"/>
          <p:nvPr/>
        </p:nvSpPr>
        <p:spPr>
          <a:xfrm>
            <a:off x="6793992" y="1810512"/>
            <a:ext cx="2029968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milk. (no + noun)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have any eggs.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eggs? – None. (alone)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= nessuno (da solo)</a:t>
            </a:r>
            <a:endParaRPr lang="en-US" sz="1150" dirty="0"/>
          </a:p>
        </p:txBody>
      </p:sp>
      <p:sp>
        <p:nvSpPr>
          <p:cNvPr id="19" name="watch_73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I'm too much busy → ✓ too busy   ✗ not enough tall → ✓ not tall enough   ✗ There's none milk → ✓ There's no milk</a:t>
            </a:r>
            <a:endParaRPr lang="en-US" sz="1000" dirty="0"/>
          </a:p>
        </p:txBody>
      </p:sp>
      <p:sp>
        <p:nvSpPr>
          <p:cNvPr id="20" name="pageTag_7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9B p.149 · audio 9.15, 9.16, 9.17, 9.18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7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7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9B · practice</a:t>
            </a:r>
            <a:endParaRPr lang="en-US" sz="900" dirty="0"/>
          </a:p>
        </p:txBody>
      </p:sp>
      <p:sp>
        <p:nvSpPr>
          <p:cNvPr id="6" name="timer_7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7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8" name="title_80"/>
          <p:cNvSpPr txBox="1"/>
          <p:nvPr/>
        </p:nvSpPr>
        <p:spPr>
          <a:xfrm rot="90000">
            <a:off x="320040" y="676656"/>
            <a:ext cx="31089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or wrong?</a:t>
            </a:r>
            <a:endParaRPr lang="en-US" sz="1500" dirty="0"/>
          </a:p>
        </p:txBody>
      </p:sp>
      <p:sp>
        <p:nvSpPr>
          <p:cNvPr id="9" name="tape_8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82"/>
          <p:cNvSpPr/>
          <p:nvPr/>
        </p:nvSpPr>
        <p:spPr>
          <a:xfrm rot="-720000">
            <a:off x="286207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8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8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3" name="signB_8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9B: a 1–5, b 1–5. Then fix our 4 sentences!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9B: a 1–5, b 1–5. Poi correggi le nostre 4 frasi!</a:t>
            </a:r>
            <a:endParaRPr lang="en-US" sz="1200" dirty="0"/>
          </a:p>
        </p:txBody>
      </p:sp>
      <p:sp>
        <p:nvSpPr>
          <p:cNvPr id="14" name="iconBack_86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87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box_88"/>
          <p:cNvSpPr txBox="1"/>
          <p:nvPr/>
        </p:nvSpPr>
        <p:spPr>
          <a:xfrm>
            <a:off x="2788920" y="1371600"/>
            <a:ext cx="3017520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1–5  (in your book, p.149)</a:t>
            </a:r>
            <a:endParaRPr lang="en-US" sz="1200" dirty="0"/>
          </a:p>
        </p:txBody>
      </p:sp>
      <p:sp>
        <p:nvSpPr>
          <p:cNvPr id="17" name="R1_a0"/>
          <p:cNvSpPr txBox="1"/>
          <p:nvPr/>
        </p:nvSpPr>
        <p:spPr>
          <a:xfrm>
            <a:off x="5861304" y="1408176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few · 2 much · 3 ✓ · 4 very few · 5 ✓</a:t>
            </a:r>
            <a:endParaRPr lang="en-US" sz="1100" dirty="0"/>
          </a:p>
        </p:txBody>
      </p:sp>
      <p:sp>
        <p:nvSpPr>
          <p:cNvPr id="18" name="box_89"/>
          <p:cNvSpPr txBox="1"/>
          <p:nvPr/>
        </p:nvSpPr>
        <p:spPr>
          <a:xfrm>
            <a:off x="2788920" y="1941576"/>
            <a:ext cx="3017520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1–5  (in your book, p.149)</a:t>
            </a:r>
            <a:endParaRPr lang="en-US" sz="1200" dirty="0"/>
          </a:p>
        </p:txBody>
      </p:sp>
      <p:sp>
        <p:nvSpPr>
          <p:cNvPr id="19" name="R1_a1"/>
          <p:cNvSpPr txBox="1"/>
          <p:nvPr/>
        </p:nvSpPr>
        <p:spPr>
          <a:xfrm>
            <a:off x="5861304" y="1978152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✗ A lot! · 2 ✓ · 3 ✗ not enough / no time · 4 ✗ too loud · 5 ✓</a:t>
            </a:r>
            <a:endParaRPr lang="en-US" sz="1000" dirty="0"/>
          </a:p>
        </p:txBody>
      </p:sp>
      <p:sp>
        <p:nvSpPr>
          <p:cNvPr id="20" name="box_90"/>
          <p:cNvSpPr txBox="1"/>
          <p:nvPr/>
        </p:nvSpPr>
        <p:spPr>
          <a:xfrm>
            <a:off x="2788920" y="2511552"/>
            <a:ext cx="3017520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too much tired to go out.</a:t>
            </a:r>
            <a:endParaRPr lang="en-US" sz="1200" dirty="0"/>
          </a:p>
        </p:txBody>
      </p:sp>
      <p:sp>
        <p:nvSpPr>
          <p:cNvPr id="21" name="R1_a2"/>
          <p:cNvSpPr txBox="1"/>
          <p:nvPr/>
        </p:nvSpPr>
        <p:spPr>
          <a:xfrm>
            <a:off x="5861304" y="2548128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tired</a:t>
            </a:r>
            <a:endParaRPr lang="en-US" sz="1100" dirty="0"/>
          </a:p>
        </p:txBody>
      </p:sp>
      <p:sp>
        <p:nvSpPr>
          <p:cNvPr id="22" name="box_91"/>
          <p:cNvSpPr txBox="1"/>
          <p:nvPr/>
        </p:nvSpPr>
        <p:spPr>
          <a:xfrm>
            <a:off x="2788920" y="3081528"/>
            <a:ext cx="3017520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isn't enough big for films.</a:t>
            </a:r>
            <a:endParaRPr lang="en-US" sz="1200" dirty="0"/>
          </a:p>
        </p:txBody>
      </p:sp>
      <p:sp>
        <p:nvSpPr>
          <p:cNvPr id="23" name="R1_a3"/>
          <p:cNvSpPr txBox="1"/>
          <p:nvPr/>
        </p:nvSpPr>
        <p:spPr>
          <a:xfrm>
            <a:off x="5861304" y="3118104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big enough</a:t>
            </a:r>
            <a:endParaRPr lang="en-US" sz="1100" dirty="0"/>
          </a:p>
        </p:txBody>
      </p:sp>
      <p:sp>
        <p:nvSpPr>
          <p:cNvPr id="24" name="box_92"/>
          <p:cNvSpPr txBox="1"/>
          <p:nvPr/>
        </p:nvSpPr>
        <p:spPr>
          <a:xfrm>
            <a:off x="2788920" y="3651504"/>
            <a:ext cx="3017520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very few time for myself.</a:t>
            </a:r>
            <a:endParaRPr lang="en-US" sz="1200" dirty="0"/>
          </a:p>
        </p:txBody>
      </p:sp>
      <p:sp>
        <p:nvSpPr>
          <p:cNvPr id="25" name="R1_a4"/>
          <p:cNvSpPr txBox="1"/>
          <p:nvPr/>
        </p:nvSpPr>
        <p:spPr>
          <a:xfrm>
            <a:off x="5861304" y="3688080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time</a:t>
            </a:r>
            <a:endParaRPr lang="en-US" sz="1100" dirty="0"/>
          </a:p>
        </p:txBody>
      </p:sp>
      <p:sp>
        <p:nvSpPr>
          <p:cNvPr id="26" name="box_93"/>
          <p:cNvSpPr txBox="1"/>
          <p:nvPr/>
        </p:nvSpPr>
        <p:spPr>
          <a:xfrm>
            <a:off x="2788920" y="4221480"/>
            <a:ext cx="3017520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'Any milk?' 'No, there's no.'</a:t>
            </a:r>
            <a:endParaRPr lang="en-US" sz="1200" dirty="0"/>
          </a:p>
        </p:txBody>
      </p:sp>
      <p:sp>
        <p:nvSpPr>
          <p:cNvPr id="27" name="R1_a5"/>
          <p:cNvSpPr txBox="1"/>
          <p:nvPr/>
        </p:nvSpPr>
        <p:spPr>
          <a:xfrm>
            <a:off x="5861304" y="4258056"/>
            <a:ext cx="296265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none</a:t>
            </a:r>
            <a:endParaRPr lang="en-US" sz="1100" dirty="0"/>
          </a:p>
        </p:txBody>
      </p:sp>
      <p:sp>
        <p:nvSpPr>
          <p:cNvPr id="28" name="pageTag_9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9B p.149 · a 1–5, b 1–5 (a 6–10, b 6–10 = homework)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9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Communicative photocopiable 9B</a:t>
            </a:r>
            <a:endParaRPr lang="en-US" sz="900" dirty="0"/>
          </a:p>
        </p:txBody>
      </p:sp>
      <p:sp>
        <p:nvSpPr>
          <p:cNvPr id="6" name="timer_9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9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8" name="title_100"/>
          <p:cNvSpPr txBox="1"/>
          <p:nvPr/>
        </p:nvSpPr>
        <p:spPr>
          <a:xfrm rot="90000">
            <a:off x="320040" y="676656"/>
            <a:ext cx="2587752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 or not?</a:t>
            </a:r>
            <a:endParaRPr lang="en-US" sz="1500" dirty="0"/>
          </a:p>
        </p:txBody>
      </p:sp>
      <p:sp>
        <p:nvSpPr>
          <p:cNvPr id="9" name="tape_10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02"/>
          <p:cNvSpPr/>
          <p:nvPr/>
        </p:nvSpPr>
        <p:spPr>
          <a:xfrm rot="-720000">
            <a:off x="2340864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0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0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0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6 sentences from the sheet. Some true, some NOT. Your partner guesses!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6 frasi del foglio. Alcune vere, altre NO. Il compagno indovina!</a:t>
            </a:r>
            <a:endParaRPr lang="en-US" sz="1200" dirty="0"/>
          </a:p>
        </p:txBody>
      </p:sp>
      <p:sp>
        <p:nvSpPr>
          <p:cNvPr id="14" name="iconBack_106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07" descr="pi:PiChats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108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109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sheet. Choose 6 sentences: some are true for you, some are NOT.</a:t>
            </a:r>
            <a:endParaRPr lang="en-US" sz="1200" dirty="0"/>
          </a:p>
        </p:txBody>
      </p:sp>
      <p:sp>
        <p:nvSpPr>
          <p:cNvPr id="18" name="num_110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111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them to your partner as if they were ALL true: I post loads of photos on social media.</a:t>
            </a:r>
            <a:endParaRPr lang="en-US" sz="1050" dirty="0"/>
          </a:p>
        </p:txBody>
      </p:sp>
      <p:sp>
        <p:nvSpPr>
          <p:cNvPr id="20" name="num_112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113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two follow-up questions: Really? What kind of photos?</a:t>
            </a:r>
            <a:endParaRPr lang="en-US" sz="1250" dirty="0"/>
          </a:p>
        </p:txBody>
      </p:sp>
      <p:sp>
        <p:nvSpPr>
          <p:cNvPr id="22" name="num_114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115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your partner guesses: True or not? 1 point for each correct guess.</a:t>
            </a:r>
            <a:endParaRPr lang="en-US" sz="1250" dirty="0"/>
          </a:p>
        </p:txBody>
      </p:sp>
      <p:sp>
        <p:nvSpPr>
          <p:cNvPr id="24" name="num_116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box_117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Swap. Who's the best liar – and the best detective?</a:t>
            </a:r>
            <a:endParaRPr lang="en-US" sz="1250" dirty="0"/>
          </a:p>
        </p:txBody>
      </p:sp>
      <p:sp>
        <p:nvSpPr>
          <p:cNvPr id="26" name="bubble_118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spend very little time outdoors. – Really? What do you do at the weekend?</a:t>
            </a:r>
            <a:endParaRPr lang="en-US" sz="1100" dirty="0"/>
          </a:p>
        </p:txBody>
      </p:sp>
      <p:sp>
        <p:nvSpPr>
          <p:cNvPr id="27" name="pageTag_11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📄 Print: B1_9B_Photocopiables.pdf, page 2 · Teacher: Communicative photocopiable 9B p.195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2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ough &amp; augh · audio 9.19, 9.20</a:t>
            </a:r>
            <a:endParaRPr lang="en-US" sz="900" dirty="0"/>
          </a:p>
        </p:txBody>
      </p:sp>
      <p:sp>
        <p:nvSpPr>
          <p:cNvPr id="6" name="timer_12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2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8" name="title_125"/>
          <p:cNvSpPr txBox="1"/>
          <p:nvPr/>
        </p:nvSpPr>
        <p:spPr>
          <a:xfrm rot="90000">
            <a:off x="320040" y="676656"/>
            <a:ext cx="449884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Tough, though, through!</a:t>
            </a:r>
            <a:endParaRPr lang="en-US" sz="1500" dirty="0"/>
          </a:p>
        </p:txBody>
      </p:sp>
      <p:sp>
        <p:nvSpPr>
          <p:cNvPr id="9" name="tape_12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27"/>
          <p:cNvSpPr/>
          <p:nvPr/>
        </p:nvSpPr>
        <p:spPr>
          <a:xfrm rot="-720000">
            <a:off x="425196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2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2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13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words in the right group. Say them aloud!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le parole nel gruppo giusto. Dille ad alta voce!</a:t>
            </a:r>
            <a:endParaRPr lang="en-US" sz="1250" dirty="0"/>
          </a:p>
        </p:txBody>
      </p:sp>
      <p:sp>
        <p:nvSpPr>
          <p:cNvPr id="14" name="box_131"/>
          <p:cNvSpPr txBox="1"/>
          <p:nvPr/>
        </p:nvSpPr>
        <p:spPr>
          <a:xfrm>
            <a:off x="2788920" y="1371600"/>
            <a:ext cx="2051914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horse  /ɔː/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4895698" y="1408176"/>
            <a:ext cx="392826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· brought · caught · daughter · thought</a:t>
            </a:r>
            <a:endParaRPr lang="en-US" sz="1250" dirty="0"/>
          </a:p>
        </p:txBody>
      </p:sp>
      <p:sp>
        <p:nvSpPr>
          <p:cNvPr id="16" name="box_132"/>
          <p:cNvSpPr txBox="1"/>
          <p:nvPr/>
        </p:nvSpPr>
        <p:spPr>
          <a:xfrm>
            <a:off x="2788920" y="1941576"/>
            <a:ext cx="2051914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up  /ʌ/</a:t>
            </a:r>
            <a:endParaRPr lang="en-US" sz="1350" dirty="0"/>
          </a:p>
        </p:txBody>
      </p:sp>
      <p:sp>
        <p:nvSpPr>
          <p:cNvPr id="17" name="R2_a1"/>
          <p:cNvSpPr txBox="1"/>
          <p:nvPr/>
        </p:nvSpPr>
        <p:spPr>
          <a:xfrm>
            <a:off x="4895698" y="1978152"/>
            <a:ext cx="392826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· tough</a:t>
            </a:r>
            <a:endParaRPr lang="en-US" sz="1250" dirty="0"/>
          </a:p>
        </p:txBody>
      </p:sp>
      <p:sp>
        <p:nvSpPr>
          <p:cNvPr id="18" name="box_133"/>
          <p:cNvSpPr txBox="1"/>
          <p:nvPr/>
        </p:nvSpPr>
        <p:spPr>
          <a:xfrm>
            <a:off x="2788920" y="2511552"/>
            <a:ext cx="2051914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phone  /əʊ/</a:t>
            </a:r>
            <a:endParaRPr lang="en-US" sz="1350" dirty="0"/>
          </a:p>
        </p:txBody>
      </p:sp>
      <p:sp>
        <p:nvSpPr>
          <p:cNvPr id="19" name="R3_a2"/>
          <p:cNvSpPr txBox="1"/>
          <p:nvPr/>
        </p:nvSpPr>
        <p:spPr>
          <a:xfrm>
            <a:off x="4895698" y="2548128"/>
            <a:ext cx="392826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</a:t>
            </a:r>
            <a:endParaRPr lang="en-US" sz="1250" dirty="0"/>
          </a:p>
        </p:txBody>
      </p:sp>
      <p:sp>
        <p:nvSpPr>
          <p:cNvPr id="20" name="box_134"/>
          <p:cNvSpPr txBox="1"/>
          <p:nvPr/>
        </p:nvSpPr>
        <p:spPr>
          <a:xfrm>
            <a:off x="2788920" y="3081528"/>
            <a:ext cx="2051914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car  /ɑː/</a:t>
            </a:r>
            <a:endParaRPr lang="en-US" sz="1350" dirty="0"/>
          </a:p>
        </p:txBody>
      </p:sp>
      <p:sp>
        <p:nvSpPr>
          <p:cNvPr id="21" name="R4_a3"/>
          <p:cNvSpPr txBox="1"/>
          <p:nvPr/>
        </p:nvSpPr>
        <p:spPr>
          <a:xfrm>
            <a:off x="4895698" y="3118104"/>
            <a:ext cx="392826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laugh</a:t>
            </a:r>
            <a:endParaRPr lang="en-US" sz="1250" dirty="0"/>
          </a:p>
        </p:txBody>
      </p:sp>
      <p:sp>
        <p:nvSpPr>
          <p:cNvPr id="22" name="box_135"/>
          <p:cNvSpPr txBox="1"/>
          <p:nvPr/>
        </p:nvSpPr>
        <p:spPr>
          <a:xfrm>
            <a:off x="2788920" y="3651504"/>
            <a:ext cx="2051914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boot  /uː/</a:t>
            </a:r>
            <a:endParaRPr lang="en-US" sz="1350" dirty="0"/>
          </a:p>
        </p:txBody>
      </p:sp>
      <p:sp>
        <p:nvSpPr>
          <p:cNvPr id="23" name="R5_a4"/>
          <p:cNvSpPr txBox="1"/>
          <p:nvPr/>
        </p:nvSpPr>
        <p:spPr>
          <a:xfrm>
            <a:off x="4895698" y="3688080"/>
            <a:ext cx="392826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</a:t>
            </a:r>
            <a:endParaRPr lang="en-US" sz="1250" dirty="0"/>
          </a:p>
        </p:txBody>
      </p:sp>
      <p:sp>
        <p:nvSpPr>
          <p:cNvPr id="24" name="box_136"/>
          <p:cNvSpPr txBox="1"/>
          <p:nvPr/>
        </p:nvSpPr>
        <p:spPr>
          <a:xfrm>
            <a:off x="2788920" y="4221480"/>
            <a:ext cx="2051914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clock  /ɒ/</a:t>
            </a:r>
            <a:endParaRPr lang="en-US" sz="1350" dirty="0"/>
          </a:p>
        </p:txBody>
      </p:sp>
      <p:sp>
        <p:nvSpPr>
          <p:cNvPr id="25" name="R6_a5"/>
          <p:cNvSpPr txBox="1"/>
          <p:nvPr/>
        </p:nvSpPr>
        <p:spPr>
          <a:xfrm>
            <a:off x="4895698" y="4258056"/>
            <a:ext cx="392826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</a:t>
            </a:r>
            <a:endParaRPr lang="en-US" sz="1250" dirty="0"/>
          </a:p>
        </p:txBody>
      </p:sp>
      <p:sp>
        <p:nvSpPr>
          <p:cNvPr id="26" name="sticky_137"/>
          <p:cNvSpPr txBox="1"/>
          <p:nvPr/>
        </p:nvSpPr>
        <p:spPr>
          <a:xfrm rot="-120000">
            <a:off x="411480" y="3794760"/>
            <a:ext cx="2194560" cy="8686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· bought · brought · caught · cough · daughter · enough · laugh · thought · through · tough</a:t>
            </a:r>
            <a:endParaRPr lang="en-US" sz="1150" dirty="0"/>
          </a:p>
        </p:txBody>
      </p:sp>
      <p:sp>
        <p:nvSpPr>
          <p:cNvPr id="27" name="pageTag_138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p.92 · 4a, 4b, 4c · audio 9.19, 9.20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11 ways to tidy up your digital life</a:t>
            </a:r>
            <a:endParaRPr lang="en-US" sz="900" dirty="0"/>
          </a:p>
        </p:txBody>
      </p:sp>
      <p:sp>
        <p:nvSpPr>
          <p:cNvPr id="6" name="timer_1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14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8" name="title_144"/>
          <p:cNvSpPr txBox="1"/>
          <p:nvPr/>
        </p:nvSpPr>
        <p:spPr>
          <a:xfrm rot="90000">
            <a:off x="320040" y="676656"/>
            <a:ext cx="484632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Tidy up your digital life</a:t>
            </a:r>
            <a:endParaRPr lang="en-US" sz="1500" dirty="0"/>
          </a:p>
        </p:txBody>
      </p:sp>
      <p:sp>
        <p:nvSpPr>
          <p:cNvPr id="9" name="tape_14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46"/>
          <p:cNvSpPr/>
          <p:nvPr/>
        </p:nvSpPr>
        <p:spPr>
          <a:xfrm rot="-720000">
            <a:off x="459943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4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4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3" name="signB_14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tips YOU need. Then read p.93 and complete with a verb.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Spunta i consigli che TI servono. Poi leggi p.93 e completa con un verbo.</a:t>
            </a:r>
            <a:endParaRPr lang="en-US" sz="1050" dirty="0"/>
          </a:p>
        </p:txBody>
      </p:sp>
      <p:sp>
        <p:nvSpPr>
          <p:cNvPr id="14" name="box_150"/>
          <p:cNvSpPr txBox="1"/>
          <p:nvPr/>
        </p:nvSpPr>
        <p:spPr>
          <a:xfrm>
            <a:off x="2788920" y="1371600"/>
            <a:ext cx="2008388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Inbox messages</a:t>
            </a:r>
            <a:endParaRPr lang="en-US" sz="1100" dirty="0"/>
          </a:p>
        </p:txBody>
      </p:sp>
      <p:sp>
        <p:nvSpPr>
          <p:cNvPr id="15" name="R1_a0"/>
          <p:cNvSpPr txBox="1"/>
          <p:nvPr/>
        </p:nvSpPr>
        <p:spPr>
          <a:xfrm>
            <a:off x="4852172" y="1408176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/>
          </a:p>
        </p:txBody>
      </p:sp>
      <p:sp>
        <p:nvSpPr>
          <p:cNvPr id="16" name="box_151"/>
          <p:cNvSpPr txBox="1"/>
          <p:nvPr/>
        </p:nvSpPr>
        <p:spPr>
          <a:xfrm>
            <a:off x="5870448" y="1371600"/>
            <a:ext cx="2008388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Old software or apps</a:t>
            </a:r>
            <a:endParaRPr lang="en-US" sz="1100" dirty="0"/>
          </a:p>
        </p:txBody>
      </p:sp>
      <p:sp>
        <p:nvSpPr>
          <p:cNvPr id="17" name="R1_a1"/>
          <p:cNvSpPr txBox="1"/>
          <p:nvPr/>
        </p:nvSpPr>
        <p:spPr>
          <a:xfrm>
            <a:off x="7933700" y="1408176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150" dirty="0"/>
          </a:p>
        </p:txBody>
      </p:sp>
      <p:sp>
        <p:nvSpPr>
          <p:cNvPr id="18" name="box_152"/>
          <p:cNvSpPr txBox="1"/>
          <p:nvPr/>
        </p:nvSpPr>
        <p:spPr>
          <a:xfrm>
            <a:off x="2788920" y="1941576"/>
            <a:ext cx="2008388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Photos</a:t>
            </a:r>
            <a:endParaRPr lang="en-US" sz="1100" dirty="0"/>
          </a:p>
        </p:txBody>
      </p:sp>
      <p:sp>
        <p:nvSpPr>
          <p:cNvPr id="19" name="R1_a2"/>
          <p:cNvSpPr txBox="1"/>
          <p:nvPr/>
        </p:nvSpPr>
        <p:spPr>
          <a:xfrm>
            <a:off x="4852172" y="1978152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150" dirty="0"/>
          </a:p>
        </p:txBody>
      </p:sp>
      <p:sp>
        <p:nvSpPr>
          <p:cNvPr id="20" name="box_153"/>
          <p:cNvSpPr txBox="1"/>
          <p:nvPr/>
        </p:nvSpPr>
        <p:spPr>
          <a:xfrm>
            <a:off x="5870448" y="1941576"/>
            <a:ext cx="2008388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Music and movies</a:t>
            </a:r>
            <a:endParaRPr lang="en-US" sz="1100" dirty="0"/>
          </a:p>
        </p:txBody>
      </p:sp>
      <p:sp>
        <p:nvSpPr>
          <p:cNvPr id="21" name="R1_a3"/>
          <p:cNvSpPr txBox="1"/>
          <p:nvPr/>
        </p:nvSpPr>
        <p:spPr>
          <a:xfrm>
            <a:off x="7933700" y="1978152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  <p:sp>
        <p:nvSpPr>
          <p:cNvPr id="22" name="box_154"/>
          <p:cNvSpPr txBox="1"/>
          <p:nvPr/>
        </p:nvSpPr>
        <p:spPr>
          <a:xfrm>
            <a:off x="2788920" y="2511552"/>
            <a:ext cx="2008388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Facebook friends</a:t>
            </a:r>
            <a:endParaRPr lang="en-US" sz="1100" dirty="0"/>
          </a:p>
        </p:txBody>
      </p:sp>
      <p:sp>
        <p:nvSpPr>
          <p:cNvPr id="23" name="R1_a4"/>
          <p:cNvSpPr txBox="1"/>
          <p:nvPr/>
        </p:nvSpPr>
        <p:spPr>
          <a:xfrm>
            <a:off x="4852172" y="2548128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150" dirty="0"/>
          </a:p>
        </p:txBody>
      </p:sp>
      <p:sp>
        <p:nvSpPr>
          <p:cNvPr id="24" name="box_155"/>
          <p:cNvSpPr txBox="1"/>
          <p:nvPr/>
        </p:nvSpPr>
        <p:spPr>
          <a:xfrm>
            <a:off x="5870448" y="2511552"/>
            <a:ext cx="2008388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Old contact information</a:t>
            </a:r>
            <a:endParaRPr lang="en-US" sz="1100" dirty="0"/>
          </a:p>
        </p:txBody>
      </p:sp>
      <p:sp>
        <p:nvSpPr>
          <p:cNvPr id="25" name="R1_a5"/>
          <p:cNvSpPr txBox="1"/>
          <p:nvPr/>
        </p:nvSpPr>
        <p:spPr>
          <a:xfrm>
            <a:off x="7933700" y="2548128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50" dirty="0"/>
          </a:p>
        </p:txBody>
      </p:sp>
      <p:sp>
        <p:nvSpPr>
          <p:cNvPr id="26" name="box_156"/>
          <p:cNvSpPr txBox="1"/>
          <p:nvPr/>
        </p:nvSpPr>
        <p:spPr>
          <a:xfrm>
            <a:off x="2788920" y="3081528"/>
            <a:ext cx="2008388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Passwords</a:t>
            </a:r>
            <a:endParaRPr lang="en-US" sz="1100" dirty="0"/>
          </a:p>
        </p:txBody>
      </p:sp>
      <p:sp>
        <p:nvSpPr>
          <p:cNvPr id="27" name="R1_a6"/>
          <p:cNvSpPr txBox="1"/>
          <p:nvPr/>
        </p:nvSpPr>
        <p:spPr>
          <a:xfrm>
            <a:off x="4852172" y="3118104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1150" dirty="0"/>
          </a:p>
        </p:txBody>
      </p:sp>
      <p:sp>
        <p:nvSpPr>
          <p:cNvPr id="28" name="box_157"/>
          <p:cNvSpPr txBox="1"/>
          <p:nvPr/>
        </p:nvSpPr>
        <p:spPr>
          <a:xfrm>
            <a:off x="5870448" y="3081528"/>
            <a:ext cx="2008388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Email marketing</a:t>
            </a:r>
            <a:endParaRPr lang="en-US" sz="1100" dirty="0"/>
          </a:p>
        </p:txBody>
      </p:sp>
      <p:sp>
        <p:nvSpPr>
          <p:cNvPr id="29" name="R1_a7"/>
          <p:cNvSpPr txBox="1"/>
          <p:nvPr/>
        </p:nvSpPr>
        <p:spPr>
          <a:xfrm>
            <a:off x="7933700" y="3118104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150" dirty="0"/>
          </a:p>
        </p:txBody>
      </p:sp>
      <p:sp>
        <p:nvSpPr>
          <p:cNvPr id="30" name="box_158"/>
          <p:cNvSpPr txBox="1"/>
          <p:nvPr/>
        </p:nvSpPr>
        <p:spPr>
          <a:xfrm>
            <a:off x="2788920" y="3651504"/>
            <a:ext cx="2008388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Email accounts</a:t>
            </a:r>
            <a:endParaRPr lang="en-US" sz="1100" dirty="0"/>
          </a:p>
        </p:txBody>
      </p:sp>
      <p:sp>
        <p:nvSpPr>
          <p:cNvPr id="31" name="R1_a8"/>
          <p:cNvSpPr txBox="1"/>
          <p:nvPr/>
        </p:nvSpPr>
        <p:spPr>
          <a:xfrm>
            <a:off x="4852172" y="3688080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1150" dirty="0"/>
          </a:p>
        </p:txBody>
      </p:sp>
      <p:sp>
        <p:nvSpPr>
          <p:cNvPr id="32" name="box_159"/>
          <p:cNvSpPr txBox="1"/>
          <p:nvPr/>
        </p:nvSpPr>
        <p:spPr>
          <a:xfrm>
            <a:off x="5870448" y="3651504"/>
            <a:ext cx="2008388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Desktop background</a:t>
            </a:r>
            <a:endParaRPr lang="en-US" sz="1100" dirty="0"/>
          </a:p>
        </p:txBody>
      </p:sp>
      <p:sp>
        <p:nvSpPr>
          <p:cNvPr id="33" name="R1_a9"/>
          <p:cNvSpPr txBox="1"/>
          <p:nvPr/>
        </p:nvSpPr>
        <p:spPr>
          <a:xfrm>
            <a:off x="7933700" y="3688080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50" dirty="0"/>
          </a:p>
        </p:txBody>
      </p:sp>
      <p:sp>
        <p:nvSpPr>
          <p:cNvPr id="34" name="box_160"/>
          <p:cNvSpPr txBox="1"/>
          <p:nvPr/>
        </p:nvSpPr>
        <p:spPr>
          <a:xfrm>
            <a:off x="2788920" y="4221480"/>
            <a:ext cx="2008388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Old digital devices</a:t>
            </a:r>
            <a:endParaRPr lang="en-US" sz="1100" dirty="0"/>
          </a:p>
        </p:txBody>
      </p:sp>
      <p:sp>
        <p:nvSpPr>
          <p:cNvPr id="35" name="R1_a10"/>
          <p:cNvSpPr txBox="1"/>
          <p:nvPr/>
        </p:nvSpPr>
        <p:spPr>
          <a:xfrm>
            <a:off x="4852172" y="4258056"/>
            <a:ext cx="89026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</a:t>
            </a:r>
            <a:endParaRPr lang="en-US" sz="1150" dirty="0"/>
          </a:p>
        </p:txBody>
      </p:sp>
      <p:sp>
        <p:nvSpPr>
          <p:cNvPr id="36" name="pageTag_16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p.93 · 5a, 5b, 5c</a:t>
            </a:r>
            <a:endParaRPr lang="en-US" sz="1050" dirty="0"/>
          </a:p>
        </p:txBody>
      </p:sp>
      <p:sp>
        <p:nvSpPr>
          <p:cNvPr id="37" name="pframe_162"/>
          <p:cNvSpPr/>
          <p:nvPr/>
        </p:nvSpPr>
        <p:spPr>
          <a:xfrm rot="-120000">
            <a:off x="502920" y="3090672"/>
            <a:ext cx="1417320" cy="17007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8" name="pimg_163" descr="pictur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20000">
            <a:off x="576072" y="3163824"/>
            <a:ext cx="1271016" cy="148132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6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6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The prefix un- · 5d, 5e</a:t>
            </a:r>
            <a:endParaRPr lang="en-US" sz="900" dirty="0"/>
          </a:p>
        </p:txBody>
      </p:sp>
      <p:sp>
        <p:nvSpPr>
          <p:cNvPr id="6" name="timer_16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6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8" name="title_169"/>
          <p:cNvSpPr txBox="1"/>
          <p:nvPr/>
        </p:nvSpPr>
        <p:spPr>
          <a:xfrm rot="90000">
            <a:off x="320040" y="676656"/>
            <a:ext cx="206654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Un-do it!</a:t>
            </a:r>
            <a:endParaRPr lang="en-US" sz="1500" dirty="0"/>
          </a:p>
        </p:txBody>
      </p:sp>
      <p:sp>
        <p:nvSpPr>
          <p:cNvPr id="9" name="tape_170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71"/>
          <p:cNvSpPr/>
          <p:nvPr/>
        </p:nvSpPr>
        <p:spPr>
          <a:xfrm rot="-720000">
            <a:off x="1819656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7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7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3" name="signB_17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un- words in the article. Then complete 5e.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le parole con un- nell'articolo. Poi completa il 5e.</a:t>
            </a:r>
            <a:endParaRPr lang="en-US" sz="1250" dirty="0"/>
          </a:p>
        </p:txBody>
      </p:sp>
      <p:sp>
        <p:nvSpPr>
          <p:cNvPr id="14" name="box_175"/>
          <p:cNvSpPr txBox="1"/>
          <p:nvPr/>
        </p:nvSpPr>
        <p:spPr>
          <a:xfrm>
            <a:off x="2788920" y="1371600"/>
            <a:ext cx="1949318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1: hundreds of un___ or un___ emails</a:t>
            </a:r>
            <a:endParaRPr lang="en-US" sz="900" dirty="0"/>
          </a:p>
        </p:txBody>
      </p:sp>
      <p:sp>
        <p:nvSpPr>
          <p:cNvPr id="15" name="R1_a0"/>
          <p:cNvSpPr txBox="1"/>
          <p:nvPr/>
        </p:nvSpPr>
        <p:spPr>
          <a:xfrm>
            <a:off x="4793102" y="1408176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unopened, unanswered</a:t>
            </a:r>
            <a:endParaRPr lang="en-US" sz="1000" dirty="0"/>
          </a:p>
        </p:txBody>
      </p:sp>
      <p:sp>
        <p:nvSpPr>
          <p:cNvPr id="16" name="box_176"/>
          <p:cNvSpPr txBox="1"/>
          <p:nvPr/>
        </p:nvSpPr>
        <p:spPr>
          <a:xfrm>
            <a:off x="5870448" y="1371600"/>
            <a:ext cx="1949318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2: Un___ software or apps that you don't use.</a:t>
            </a:r>
            <a:endParaRPr lang="en-US" sz="900" dirty="0"/>
          </a:p>
        </p:txBody>
      </p:sp>
      <p:sp>
        <p:nvSpPr>
          <p:cNvPr id="17" name="R1_a1"/>
          <p:cNvSpPr txBox="1"/>
          <p:nvPr/>
        </p:nvSpPr>
        <p:spPr>
          <a:xfrm>
            <a:off x="7874630" y="1408176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</a:t>
            </a:r>
            <a:endParaRPr lang="en-US" sz="1050" dirty="0"/>
          </a:p>
        </p:txBody>
      </p:sp>
      <p:sp>
        <p:nvSpPr>
          <p:cNvPr id="18" name="box_177"/>
          <p:cNvSpPr txBox="1"/>
          <p:nvPr/>
        </p:nvSpPr>
        <p:spPr>
          <a:xfrm>
            <a:off x="2788920" y="1941576"/>
            <a:ext cx="1949318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5: You can 'un___' Facebook friends without them knowing.</a:t>
            </a:r>
            <a:endParaRPr lang="en-US" sz="900" dirty="0"/>
          </a:p>
        </p:txBody>
      </p:sp>
      <p:sp>
        <p:nvSpPr>
          <p:cNvPr id="19" name="R1_a2"/>
          <p:cNvSpPr txBox="1"/>
          <p:nvPr/>
        </p:nvSpPr>
        <p:spPr>
          <a:xfrm>
            <a:off x="4793102" y="1978152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unfollow</a:t>
            </a:r>
            <a:endParaRPr lang="en-US" sz="1050" dirty="0"/>
          </a:p>
        </p:txBody>
      </p:sp>
      <p:sp>
        <p:nvSpPr>
          <p:cNvPr id="20" name="box_178"/>
          <p:cNvSpPr txBox="1"/>
          <p:nvPr/>
        </p:nvSpPr>
        <p:spPr>
          <a:xfrm>
            <a:off x="5870448" y="1941576"/>
            <a:ext cx="1949318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8: Click on the 'un___' link.</a:t>
            </a:r>
            <a:endParaRPr lang="en-US" sz="1000" dirty="0"/>
          </a:p>
        </p:txBody>
      </p:sp>
      <p:sp>
        <p:nvSpPr>
          <p:cNvPr id="21" name="R1_a3"/>
          <p:cNvSpPr txBox="1"/>
          <p:nvPr/>
        </p:nvSpPr>
        <p:spPr>
          <a:xfrm>
            <a:off x="7874630" y="1978152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</a:t>
            </a:r>
            <a:endParaRPr lang="en-US" sz="1050" dirty="0"/>
          </a:p>
        </p:txBody>
      </p:sp>
      <p:sp>
        <p:nvSpPr>
          <p:cNvPr id="22" name="box_179"/>
          <p:cNvSpPr txBox="1"/>
          <p:nvPr/>
        </p:nvSpPr>
        <p:spPr>
          <a:xfrm>
            <a:off x="2788920" y="2511552"/>
            <a:ext cx="1949318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Why do you have over 100 ___ emails?</a:t>
            </a:r>
            <a:endParaRPr lang="en-US" sz="900" dirty="0"/>
          </a:p>
        </p:txBody>
      </p:sp>
      <p:sp>
        <p:nvSpPr>
          <p:cNvPr id="23" name="R1_a4"/>
          <p:cNvSpPr txBox="1"/>
          <p:nvPr/>
        </p:nvSpPr>
        <p:spPr>
          <a:xfrm>
            <a:off x="4793102" y="2548128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</a:t>
            </a:r>
            <a:endParaRPr lang="en-US" sz="1050" dirty="0"/>
          </a:p>
        </p:txBody>
      </p:sp>
      <p:sp>
        <p:nvSpPr>
          <p:cNvPr id="24" name="box_180"/>
          <p:cNvSpPr txBox="1"/>
          <p:nvPr/>
        </p:nvSpPr>
        <p:spPr>
          <a:xfrm>
            <a:off x="5870448" y="2511552"/>
            <a:ext cx="1949318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If you want to ___ what you've done, press Ctrl+Z.</a:t>
            </a:r>
            <a:endParaRPr lang="en-US" sz="900" dirty="0"/>
          </a:p>
        </p:txBody>
      </p:sp>
      <p:sp>
        <p:nvSpPr>
          <p:cNvPr id="25" name="R1_a5"/>
          <p:cNvSpPr txBox="1"/>
          <p:nvPr/>
        </p:nvSpPr>
        <p:spPr>
          <a:xfrm>
            <a:off x="7874630" y="2548128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050" dirty="0"/>
          </a:p>
        </p:txBody>
      </p:sp>
      <p:sp>
        <p:nvSpPr>
          <p:cNvPr id="26" name="box_181"/>
          <p:cNvSpPr txBox="1"/>
          <p:nvPr/>
        </p:nvSpPr>
        <p:spPr>
          <a:xfrm>
            <a:off x="2788920" y="3081528"/>
            <a:ext cx="1949318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What's the difference between to unfollow and to ___ somebody?</a:t>
            </a:r>
            <a:endParaRPr lang="en-US" sz="900" dirty="0"/>
          </a:p>
        </p:txBody>
      </p:sp>
      <p:sp>
        <p:nvSpPr>
          <p:cNvPr id="27" name="R1_a6"/>
          <p:cNvSpPr txBox="1"/>
          <p:nvPr/>
        </p:nvSpPr>
        <p:spPr>
          <a:xfrm>
            <a:off x="4793102" y="3118104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unfriend</a:t>
            </a:r>
            <a:endParaRPr lang="en-US" sz="1050" dirty="0"/>
          </a:p>
        </p:txBody>
      </p:sp>
      <p:sp>
        <p:nvSpPr>
          <p:cNvPr id="28" name="box_182"/>
          <p:cNvSpPr txBox="1"/>
          <p:nvPr/>
        </p:nvSpPr>
        <p:spPr>
          <a:xfrm>
            <a:off x="5870448" y="3081528"/>
            <a:ext cx="1949318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 can't ___ my phone – I've forgotten the password.</a:t>
            </a:r>
            <a:endParaRPr lang="en-US" sz="900" dirty="0"/>
          </a:p>
        </p:txBody>
      </p:sp>
      <p:sp>
        <p:nvSpPr>
          <p:cNvPr id="29" name="R1_a7"/>
          <p:cNvSpPr txBox="1"/>
          <p:nvPr/>
        </p:nvSpPr>
        <p:spPr>
          <a:xfrm>
            <a:off x="7874630" y="3118104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</a:t>
            </a:r>
            <a:endParaRPr lang="en-US" sz="1050" dirty="0"/>
          </a:p>
        </p:txBody>
      </p:sp>
      <p:sp>
        <p:nvSpPr>
          <p:cNvPr id="30" name="box_183"/>
          <p:cNvSpPr txBox="1"/>
          <p:nvPr/>
        </p:nvSpPr>
        <p:spPr>
          <a:xfrm>
            <a:off x="2788920" y="3651504"/>
            <a:ext cx="1949318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The IT Support person was very ___. I still can't print.</a:t>
            </a:r>
            <a:endParaRPr lang="en-US" sz="900" dirty="0"/>
          </a:p>
        </p:txBody>
      </p:sp>
      <p:sp>
        <p:nvSpPr>
          <p:cNvPr id="31" name="R1_a8"/>
          <p:cNvSpPr txBox="1"/>
          <p:nvPr/>
        </p:nvSpPr>
        <p:spPr>
          <a:xfrm>
            <a:off x="4793102" y="3688080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unhelpful</a:t>
            </a:r>
            <a:endParaRPr lang="en-US" sz="1050" dirty="0"/>
          </a:p>
        </p:txBody>
      </p:sp>
      <p:sp>
        <p:nvSpPr>
          <p:cNvPr id="32" name="box_184"/>
          <p:cNvSpPr txBox="1"/>
          <p:nvPr/>
        </p:nvSpPr>
        <p:spPr>
          <a:xfrm>
            <a:off x="5870448" y="3651504"/>
            <a:ext cx="1949318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 didn't answer, because it said 'caller ___'.</a:t>
            </a:r>
            <a:endParaRPr lang="en-US" sz="900" dirty="0"/>
          </a:p>
        </p:txBody>
      </p:sp>
      <p:sp>
        <p:nvSpPr>
          <p:cNvPr id="33" name="R1_a9"/>
          <p:cNvSpPr txBox="1"/>
          <p:nvPr/>
        </p:nvSpPr>
        <p:spPr>
          <a:xfrm>
            <a:off x="7874630" y="3688080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50" dirty="0"/>
          </a:p>
        </p:txBody>
      </p:sp>
      <p:sp>
        <p:nvSpPr>
          <p:cNvPr id="34" name="box_185"/>
          <p:cNvSpPr txBox="1"/>
          <p:nvPr/>
        </p:nvSpPr>
        <p:spPr>
          <a:xfrm>
            <a:off x="2788920" y="4221480"/>
            <a:ext cx="1949318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 can't set up the new router – the instructions are really ___.</a:t>
            </a:r>
            <a:endParaRPr lang="en-US" sz="900" dirty="0"/>
          </a:p>
        </p:txBody>
      </p:sp>
      <p:sp>
        <p:nvSpPr>
          <p:cNvPr id="35" name="R1_a10"/>
          <p:cNvSpPr txBox="1"/>
          <p:nvPr/>
        </p:nvSpPr>
        <p:spPr>
          <a:xfrm>
            <a:off x="4793102" y="4258056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050" dirty="0"/>
          </a:p>
        </p:txBody>
      </p:sp>
      <p:sp>
        <p:nvSpPr>
          <p:cNvPr id="36" name="box_186"/>
          <p:cNvSpPr txBox="1"/>
          <p:nvPr/>
        </p:nvSpPr>
        <p:spPr>
          <a:xfrm>
            <a:off x="5870448" y="4221480"/>
            <a:ext cx="1949318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 hate earphones – I find them really ___.</a:t>
            </a:r>
            <a:endParaRPr lang="en-US" sz="900" dirty="0"/>
          </a:p>
        </p:txBody>
      </p:sp>
      <p:sp>
        <p:nvSpPr>
          <p:cNvPr id="37" name="R1_a11"/>
          <p:cNvSpPr txBox="1"/>
          <p:nvPr/>
        </p:nvSpPr>
        <p:spPr>
          <a:xfrm>
            <a:off x="7874630" y="4258056"/>
            <a:ext cx="949330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uncomfortable</a:t>
            </a:r>
            <a:endParaRPr lang="en-US" sz="1050" dirty="0"/>
          </a:p>
        </p:txBody>
      </p:sp>
      <p:sp>
        <p:nvSpPr>
          <p:cNvPr id="38" name="pageTag_187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p.93 · 5d, 5e, 5f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8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9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Grammar auction</a:t>
            </a:r>
            <a:endParaRPr lang="en-US" sz="900" dirty="0"/>
          </a:p>
        </p:txBody>
      </p:sp>
      <p:sp>
        <p:nvSpPr>
          <p:cNvPr id="6" name="timer_19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9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8" name="title_193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Sentence auction</a:t>
            </a:r>
            <a:endParaRPr lang="en-US" sz="1500" dirty="0"/>
          </a:p>
        </p:txBody>
      </p:sp>
      <p:sp>
        <p:nvSpPr>
          <p:cNvPr id="9" name="tape_19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0" name="tape_195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post_19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9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19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has €100. Buy the CORRECT sentences only!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squadra ha 100 €. Comprate solo le frasi GIUSTE!</a:t>
            </a:r>
            <a:endParaRPr lang="en-US" sz="1200" dirty="0"/>
          </a:p>
        </p:txBody>
      </p:sp>
      <p:sp>
        <p:nvSpPr>
          <p:cNvPr id="14" name="box_199"/>
          <p:cNvSpPr txBox="1"/>
          <p:nvPr/>
        </p:nvSpPr>
        <p:spPr>
          <a:xfrm>
            <a:off x="2788920" y="1371600"/>
            <a:ext cx="1831177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 don't have enough money to buy a new laptop.</a:t>
            </a:r>
            <a:endParaRPr lang="en-US" sz="1100" dirty="0"/>
          </a:p>
        </p:txBody>
      </p:sp>
      <p:sp>
        <p:nvSpPr>
          <p:cNvPr id="15" name="R1_a0"/>
          <p:cNvSpPr txBox="1"/>
          <p:nvPr/>
        </p:nvSpPr>
        <p:spPr>
          <a:xfrm>
            <a:off x="4674961" y="1408176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1100" dirty="0"/>
          </a:p>
        </p:txBody>
      </p:sp>
      <p:sp>
        <p:nvSpPr>
          <p:cNvPr id="16" name="box_200"/>
          <p:cNvSpPr txBox="1"/>
          <p:nvPr/>
        </p:nvSpPr>
        <p:spPr>
          <a:xfrm>
            <a:off x="5870448" y="1371600"/>
            <a:ext cx="1831177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There are too much apps on my phone.</a:t>
            </a:r>
            <a:endParaRPr lang="en-US" sz="1100" dirty="0"/>
          </a:p>
        </p:txBody>
      </p:sp>
      <p:sp>
        <p:nvSpPr>
          <p:cNvPr id="17" name="R2_a1"/>
          <p:cNvSpPr txBox="1"/>
          <p:nvPr/>
        </p:nvSpPr>
        <p:spPr>
          <a:xfrm>
            <a:off x="7756489" y="1408176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too many apps</a:t>
            </a:r>
            <a:endParaRPr lang="en-US" sz="1100" dirty="0"/>
          </a:p>
        </p:txBody>
      </p:sp>
      <p:sp>
        <p:nvSpPr>
          <p:cNvPr id="18" name="box_201"/>
          <p:cNvSpPr txBox="1"/>
          <p:nvPr/>
        </p:nvSpPr>
        <p:spPr>
          <a:xfrm>
            <a:off x="2788920" y="2226564"/>
            <a:ext cx="1831177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My phone isn't enough fast.</a:t>
            </a:r>
            <a:endParaRPr lang="en-US" sz="1100" dirty="0"/>
          </a:p>
        </p:txBody>
      </p:sp>
      <p:sp>
        <p:nvSpPr>
          <p:cNvPr id="19" name="R3_a2"/>
          <p:cNvSpPr txBox="1"/>
          <p:nvPr/>
        </p:nvSpPr>
        <p:spPr>
          <a:xfrm>
            <a:off x="4674961" y="2263140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isn't fast enough</a:t>
            </a:r>
            <a:endParaRPr lang="en-US" sz="1100" dirty="0"/>
          </a:p>
        </p:txBody>
      </p:sp>
      <p:sp>
        <p:nvSpPr>
          <p:cNvPr id="20" name="box_202"/>
          <p:cNvSpPr txBox="1"/>
          <p:nvPr/>
        </p:nvSpPr>
        <p:spPr>
          <a:xfrm>
            <a:off x="5870448" y="2226564"/>
            <a:ext cx="1831177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I've got loads of friends online, but very few close friends.</a:t>
            </a:r>
            <a:endParaRPr lang="en-US" sz="1100" dirty="0"/>
          </a:p>
        </p:txBody>
      </p:sp>
      <p:sp>
        <p:nvSpPr>
          <p:cNvPr id="21" name="R4_a3"/>
          <p:cNvSpPr txBox="1"/>
          <p:nvPr/>
        </p:nvSpPr>
        <p:spPr>
          <a:xfrm>
            <a:off x="7756489" y="2263140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1100" dirty="0"/>
          </a:p>
        </p:txBody>
      </p:sp>
      <p:sp>
        <p:nvSpPr>
          <p:cNvPr id="22" name="box_203"/>
          <p:cNvSpPr txBox="1"/>
          <p:nvPr/>
        </p:nvSpPr>
        <p:spPr>
          <a:xfrm>
            <a:off x="2788920" y="3081528"/>
            <a:ext cx="1831177" cy="72694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'Is there any coffee?' 'No, there's none.'</a:t>
            </a:r>
            <a:endParaRPr lang="en-US" sz="1100" dirty="0"/>
          </a:p>
        </p:txBody>
      </p:sp>
      <p:sp>
        <p:nvSpPr>
          <p:cNvPr id="23" name="R5_a4"/>
          <p:cNvSpPr txBox="1"/>
          <p:nvPr/>
        </p:nvSpPr>
        <p:spPr>
          <a:xfrm>
            <a:off x="4674961" y="3118104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1100" dirty="0"/>
          </a:p>
        </p:txBody>
      </p:sp>
      <p:sp>
        <p:nvSpPr>
          <p:cNvPr id="24" name="box_204"/>
          <p:cNvSpPr txBox="1"/>
          <p:nvPr/>
        </p:nvSpPr>
        <p:spPr>
          <a:xfrm>
            <a:off x="5870448" y="3081528"/>
            <a:ext cx="1831177" cy="72694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 spend a lots of time on YouTube.</a:t>
            </a:r>
            <a:endParaRPr lang="en-US" sz="1100" dirty="0"/>
          </a:p>
        </p:txBody>
      </p:sp>
      <p:sp>
        <p:nvSpPr>
          <p:cNvPr id="25" name="R6_a5"/>
          <p:cNvSpPr txBox="1"/>
          <p:nvPr/>
        </p:nvSpPr>
        <p:spPr>
          <a:xfrm>
            <a:off x="7756489" y="3118104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 lot of / lots of</a:t>
            </a:r>
            <a:endParaRPr lang="en-US" sz="1100" dirty="0"/>
          </a:p>
        </p:txBody>
      </p:sp>
      <p:sp>
        <p:nvSpPr>
          <p:cNvPr id="26" name="box_205"/>
          <p:cNvSpPr txBox="1"/>
          <p:nvPr/>
        </p:nvSpPr>
        <p:spPr>
          <a:xfrm>
            <a:off x="2788920" y="3936492"/>
            <a:ext cx="1831177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We've got plenty time – don't run!</a:t>
            </a:r>
            <a:endParaRPr lang="en-US" sz="1100" dirty="0"/>
          </a:p>
        </p:txBody>
      </p:sp>
      <p:sp>
        <p:nvSpPr>
          <p:cNvPr id="27" name="R7_a6"/>
          <p:cNvSpPr txBox="1"/>
          <p:nvPr/>
        </p:nvSpPr>
        <p:spPr>
          <a:xfrm>
            <a:off x="4674961" y="3973068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plenty of time</a:t>
            </a:r>
            <a:endParaRPr lang="en-US" sz="1100" dirty="0"/>
          </a:p>
        </p:txBody>
      </p:sp>
      <p:sp>
        <p:nvSpPr>
          <p:cNvPr id="28" name="box_206"/>
          <p:cNvSpPr txBox="1"/>
          <p:nvPr/>
        </p:nvSpPr>
        <p:spPr>
          <a:xfrm>
            <a:off x="5870448" y="3936492"/>
            <a:ext cx="1831177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He has very little friends.</a:t>
            </a:r>
            <a:endParaRPr lang="en-US" sz="1100" dirty="0"/>
          </a:p>
        </p:txBody>
      </p:sp>
      <p:sp>
        <p:nvSpPr>
          <p:cNvPr id="29" name="R8_a7"/>
          <p:cNvSpPr txBox="1"/>
          <p:nvPr/>
        </p:nvSpPr>
        <p:spPr>
          <a:xfrm>
            <a:off x="7756489" y="3973068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very few friends</a:t>
            </a:r>
            <a:endParaRPr lang="en-US" sz="1100" dirty="0"/>
          </a:p>
        </p:txBody>
      </p:sp>
      <p:sp>
        <p:nvSpPr>
          <p:cNvPr id="30" name="pageTag_207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extra practice of Grammar Bank 9B (quantifiers)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1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6" name="title_211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tape_21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8" name="tape_213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9" name="sub_214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10" name="box_215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quantifiers: too much, not enough, plenty of…</a:t>
            </a:r>
            <a:endParaRPr lang="en-US" sz="1200" dirty="0"/>
          </a:p>
        </p:txBody>
      </p:sp>
      <p:sp>
        <p:nvSpPr>
          <p:cNvPr id="11" name="faces_216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17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say ough / augh words: bought, enough, though…</a:t>
            </a:r>
            <a:endParaRPr lang="en-US" sz="1200" dirty="0"/>
          </a:p>
        </p:txBody>
      </p:sp>
      <p:sp>
        <p:nvSpPr>
          <p:cNvPr id="13" name="faces_218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box_219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tips about tidying up my digital life.</a:t>
            </a:r>
            <a:endParaRPr lang="en-US" sz="1300" dirty="0"/>
          </a:p>
        </p:txBody>
      </p:sp>
      <p:sp>
        <p:nvSpPr>
          <p:cNvPr id="15" name="faces_220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6" name="hw_221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9B: 2a, 2b, 2c, 3c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Grammar Bank 9B: a 6–10, b 6–10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Writing p.123: an article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9B-2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7" name="stamp_222"/>
          <p:cNvSpPr txBox="1"/>
          <p:nvPr/>
        </p:nvSpPr>
        <p:spPr>
          <a:xfrm>
            <a:off x="365760" y="3657600"/>
            <a:ext cx="5212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Practical English 5 · Unexpected events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2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Grammar photocopiable 9B</a:t>
            </a:r>
            <a:endParaRPr lang="en-US" sz="900" dirty="0"/>
          </a:p>
        </p:txBody>
      </p:sp>
      <p:sp>
        <p:nvSpPr>
          <p:cNvPr id="6" name="timer_22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extra_227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2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9" name="title_229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Circle the quantifier</a:t>
            </a:r>
            <a:endParaRPr lang="en-US" sz="1500" dirty="0"/>
          </a:p>
        </p:txBody>
      </p:sp>
      <p:sp>
        <p:nvSpPr>
          <p:cNvPr id="10" name="tape_230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31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3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3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4" name="signB_23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Handout: circle the correct answers in the six conversations.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Scheda: cerchia le risposte giuste nelle sei conversazioni.</a:t>
            </a:r>
            <a:endParaRPr lang="en-US" sz="1200" dirty="0"/>
          </a:p>
        </p:txBody>
      </p:sp>
      <p:sp>
        <p:nvSpPr>
          <p:cNvPr id="15" name="iconBack_23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36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box_237"/>
          <p:cNvSpPr txBox="1"/>
          <p:nvPr/>
        </p:nvSpPr>
        <p:spPr>
          <a:xfrm>
            <a:off x="2788920" y="1371600"/>
            <a:ext cx="4465930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You're being (too / too much) noisy. – I'm not making (much / many) noise. Turn the TV up if it isn't (enough loud / loud enough).</a:t>
            </a:r>
            <a:endParaRPr lang="en-US" sz="900" dirty="0"/>
          </a:p>
        </p:txBody>
      </p:sp>
      <p:sp>
        <p:nvSpPr>
          <p:cNvPr id="18" name="R1_a0"/>
          <p:cNvSpPr txBox="1"/>
          <p:nvPr/>
        </p:nvSpPr>
        <p:spPr>
          <a:xfrm>
            <a:off x="7309714" y="1408176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· much · loud enough</a:t>
            </a:r>
            <a:endParaRPr lang="en-US" sz="1000" dirty="0"/>
          </a:p>
        </p:txBody>
      </p:sp>
      <p:sp>
        <p:nvSpPr>
          <p:cNvPr id="19" name="box_238"/>
          <p:cNvSpPr txBox="1"/>
          <p:nvPr/>
        </p:nvSpPr>
        <p:spPr>
          <a:xfrm>
            <a:off x="2788920" y="1941576"/>
            <a:ext cx="4465930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 only got back (a few / a little) hours ago. – Why didn't you post (no / any) photos? – I spent (fewer / less) time on social media, but I took (a lot / loads of) photos!</a:t>
            </a:r>
            <a:endParaRPr lang="en-US" sz="850" dirty="0"/>
          </a:p>
        </p:txBody>
      </p:sp>
      <p:sp>
        <p:nvSpPr>
          <p:cNvPr id="20" name="R2_a1"/>
          <p:cNvSpPr txBox="1"/>
          <p:nvPr/>
        </p:nvSpPr>
        <p:spPr>
          <a:xfrm>
            <a:off x="7309714" y="1978152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· any · less · loads of</a:t>
            </a:r>
            <a:endParaRPr lang="en-US" sz="1000" dirty="0"/>
          </a:p>
        </p:txBody>
      </p:sp>
      <p:sp>
        <p:nvSpPr>
          <p:cNvPr id="21" name="box_239"/>
          <p:cNvSpPr txBox="1"/>
          <p:nvPr/>
        </p:nvSpPr>
        <p:spPr>
          <a:xfrm>
            <a:off x="2788920" y="2511552"/>
            <a:ext cx="4465930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Is 5.30 a.m. (enough early / early enough)? – It's (too / too much) early! 6.00 gives us (many / plenty of) time. There should be (very little / very few) traffic.</a:t>
            </a:r>
            <a:endParaRPr lang="en-US" sz="900" dirty="0"/>
          </a:p>
        </p:txBody>
      </p:sp>
      <p:sp>
        <p:nvSpPr>
          <p:cNvPr id="22" name="R3_a2"/>
          <p:cNvSpPr txBox="1"/>
          <p:nvPr/>
        </p:nvSpPr>
        <p:spPr>
          <a:xfrm>
            <a:off x="7309714" y="2548128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enough · too · plenty of · very little</a:t>
            </a:r>
            <a:endParaRPr lang="en-US" sz="1000" dirty="0"/>
          </a:p>
        </p:txBody>
      </p:sp>
      <p:sp>
        <p:nvSpPr>
          <p:cNvPr id="23" name="box_240"/>
          <p:cNvSpPr txBox="1"/>
          <p:nvPr/>
        </p:nvSpPr>
        <p:spPr>
          <a:xfrm>
            <a:off x="2788920" y="3081528"/>
            <a:ext cx="4465930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have (lots of / loads) memory sticks. – It doesn't have (many / any) files on it.</a:t>
            </a:r>
            <a:endParaRPr lang="en-US" sz="900" dirty="0"/>
          </a:p>
        </p:txBody>
      </p:sp>
      <p:sp>
        <p:nvSpPr>
          <p:cNvPr id="24" name="R4_a3"/>
          <p:cNvSpPr txBox="1"/>
          <p:nvPr/>
        </p:nvSpPr>
        <p:spPr>
          <a:xfrm>
            <a:off x="7309714" y="3118104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· many</a:t>
            </a:r>
            <a:endParaRPr lang="en-US" sz="1100" dirty="0"/>
          </a:p>
        </p:txBody>
      </p:sp>
      <p:sp>
        <p:nvSpPr>
          <p:cNvPr id="25" name="box_241"/>
          <p:cNvSpPr txBox="1"/>
          <p:nvPr/>
        </p:nvSpPr>
        <p:spPr>
          <a:xfrm>
            <a:off x="2788920" y="3651504"/>
            <a:ext cx="4465930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Do you use it (a lot / a lot of)? – Don't (much / many) of your friends use it? – No, (any / none). – (Fewer / Less) young people use it nowadays.</a:t>
            </a:r>
            <a:endParaRPr lang="en-US" sz="900" dirty="0"/>
          </a:p>
        </p:txBody>
      </p:sp>
      <p:sp>
        <p:nvSpPr>
          <p:cNvPr id="26" name="R5_a4"/>
          <p:cNvSpPr txBox="1"/>
          <p:nvPr/>
        </p:nvSpPr>
        <p:spPr>
          <a:xfrm>
            <a:off x="7309714" y="3688080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· many · none · Fewer</a:t>
            </a:r>
            <a:endParaRPr lang="en-US" sz="1000" dirty="0"/>
          </a:p>
        </p:txBody>
      </p:sp>
      <p:sp>
        <p:nvSpPr>
          <p:cNvPr id="27" name="box_242"/>
          <p:cNvSpPr txBox="1"/>
          <p:nvPr/>
        </p:nvSpPr>
        <p:spPr>
          <a:xfrm>
            <a:off x="2788920" y="4221480"/>
            <a:ext cx="4465930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It's (too / too many) expensive. – If you wait (a little / a few) months, it'll be cheaper. – I have (no / none) patience!</a:t>
            </a:r>
            <a:endParaRPr lang="en-US" sz="900" dirty="0"/>
          </a:p>
        </p:txBody>
      </p:sp>
      <p:sp>
        <p:nvSpPr>
          <p:cNvPr id="28" name="R6_a5"/>
          <p:cNvSpPr txBox="1"/>
          <p:nvPr/>
        </p:nvSpPr>
        <p:spPr>
          <a:xfrm>
            <a:off x="7309714" y="4258056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· a few · no</a:t>
            </a:r>
            <a:endParaRPr lang="en-US" sz="1100" dirty="0"/>
          </a:p>
        </p:txBody>
      </p:sp>
      <p:sp>
        <p:nvSpPr>
          <p:cNvPr id="29" name="pageTag_24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📄 Print: B1_9B_Photocopiables.pdf, page 1 · Teacher: Grammar photocopiable 9B p.166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Ranking</a:t>
            </a:r>
            <a:endParaRPr lang="en-US" sz="900" dirty="0"/>
          </a:p>
        </p:txBody>
      </p:sp>
      <p:sp>
        <p:nvSpPr>
          <p:cNvPr id="6" name="timer_24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extra_248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4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9" name="title_250"/>
          <p:cNvSpPr txBox="1"/>
          <p:nvPr/>
        </p:nvSpPr>
        <p:spPr>
          <a:xfrm rot="90000">
            <a:off x="320040" y="676656"/>
            <a:ext cx="31089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top 3 tips</a:t>
            </a:r>
            <a:endParaRPr lang="en-US" sz="1500" dirty="0"/>
          </a:p>
        </p:txBody>
      </p:sp>
      <p:sp>
        <p:nvSpPr>
          <p:cNvPr id="10" name="tape_25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52"/>
          <p:cNvSpPr/>
          <p:nvPr/>
        </p:nvSpPr>
        <p:spPr>
          <a:xfrm rot="-720000">
            <a:off x="2862072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5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5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4" name="signB_25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tips are most useful for YOU? Agree on an order.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consigli sono più utili per TE? Mettetevi d'accordo.</a:t>
            </a:r>
            <a:endParaRPr lang="en-US" sz="1250" dirty="0"/>
          </a:p>
        </p:txBody>
      </p:sp>
      <p:sp>
        <p:nvSpPr>
          <p:cNvPr id="15" name="rt_256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USEFUL</a:t>
            </a:r>
            <a:endParaRPr lang="en-US" sz="1100" dirty="0"/>
          </a:p>
        </p:txBody>
      </p:sp>
      <p:sp>
        <p:nvSpPr>
          <p:cNvPr id="16" name="rb_257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LEAST USEFUL</a:t>
            </a:r>
            <a:endParaRPr lang="en-US" sz="1100" dirty="0"/>
          </a:p>
        </p:txBody>
      </p:sp>
      <p:sp>
        <p:nvSpPr>
          <p:cNvPr id="17" name="arrow_258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A8E6B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slot_259"/>
          <p:cNvSpPr txBox="1"/>
          <p:nvPr/>
        </p:nvSpPr>
        <p:spPr>
          <a:xfrm>
            <a:off x="4800600" y="1325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9" name="ri_260" descr="Answer short emails immediately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60170"/>
            <a:ext cx="411480" cy="411480"/>
          </a:xfrm>
          <a:prstGeom prst="rect">
            <a:avLst/>
          </a:prstGeom>
        </p:spPr>
      </p:pic>
      <p:sp>
        <p:nvSpPr>
          <p:cNvPr id="20" name="box_261"/>
          <p:cNvSpPr txBox="1"/>
          <p:nvPr/>
        </p:nvSpPr>
        <p:spPr>
          <a:xfrm>
            <a:off x="5788152" y="1325880"/>
            <a:ext cx="3035808" cy="4800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short emails immediately.</a:t>
            </a:r>
            <a:endParaRPr lang="en-US" sz="1300" dirty="0"/>
          </a:p>
        </p:txBody>
      </p:sp>
      <p:sp>
        <p:nvSpPr>
          <p:cNvPr id="21" name="slot_262"/>
          <p:cNvSpPr txBox="1"/>
          <p:nvPr/>
        </p:nvSpPr>
        <p:spPr>
          <a:xfrm>
            <a:off x="4800600" y="1897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2" name="ri_263" descr="Uninstall apps you never use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31670"/>
            <a:ext cx="411480" cy="411480"/>
          </a:xfrm>
          <a:prstGeom prst="rect">
            <a:avLst/>
          </a:prstGeom>
        </p:spPr>
      </p:pic>
      <p:sp>
        <p:nvSpPr>
          <p:cNvPr id="23" name="box_264"/>
          <p:cNvSpPr txBox="1"/>
          <p:nvPr/>
        </p:nvSpPr>
        <p:spPr>
          <a:xfrm>
            <a:off x="5788152" y="1897380"/>
            <a:ext cx="3035808" cy="4800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 apps you never use.</a:t>
            </a:r>
            <a:endParaRPr lang="en-US" sz="1300" dirty="0"/>
          </a:p>
        </p:txBody>
      </p:sp>
      <p:sp>
        <p:nvSpPr>
          <p:cNvPr id="24" name="slot_265"/>
          <p:cNvSpPr txBox="1"/>
          <p:nvPr/>
        </p:nvSpPr>
        <p:spPr>
          <a:xfrm>
            <a:off x="4800600" y="2468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5" name="ri_266" descr="Delete bad photos.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503170"/>
            <a:ext cx="411480" cy="411480"/>
          </a:xfrm>
          <a:prstGeom prst="rect">
            <a:avLst/>
          </a:prstGeom>
        </p:spPr>
      </p:pic>
      <p:sp>
        <p:nvSpPr>
          <p:cNvPr id="26" name="box_267"/>
          <p:cNvSpPr txBox="1"/>
          <p:nvPr/>
        </p:nvSpPr>
        <p:spPr>
          <a:xfrm>
            <a:off x="5788152" y="2468880"/>
            <a:ext cx="3035808" cy="4800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bad photos.</a:t>
            </a:r>
            <a:endParaRPr lang="en-US" sz="1300" dirty="0"/>
          </a:p>
        </p:txBody>
      </p:sp>
      <p:sp>
        <p:nvSpPr>
          <p:cNvPr id="27" name="slot_268"/>
          <p:cNvSpPr txBox="1"/>
          <p:nvPr/>
        </p:nvSpPr>
        <p:spPr>
          <a:xfrm>
            <a:off x="4800600" y="3040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8" name="ri_269" descr="Unfollow people you don't care about.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074670"/>
            <a:ext cx="411480" cy="411480"/>
          </a:xfrm>
          <a:prstGeom prst="rect">
            <a:avLst/>
          </a:prstGeom>
        </p:spPr>
      </p:pic>
      <p:sp>
        <p:nvSpPr>
          <p:cNvPr id="29" name="box_270"/>
          <p:cNvSpPr txBox="1"/>
          <p:nvPr/>
        </p:nvSpPr>
        <p:spPr>
          <a:xfrm>
            <a:off x="5788152" y="3040380"/>
            <a:ext cx="3035808" cy="4800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Unfollow people you don't care about.</a:t>
            </a:r>
            <a:endParaRPr lang="en-US" sz="1150" dirty="0"/>
          </a:p>
        </p:txBody>
      </p:sp>
      <p:sp>
        <p:nvSpPr>
          <p:cNvPr id="30" name="slot_271"/>
          <p:cNvSpPr txBox="1"/>
          <p:nvPr/>
        </p:nvSpPr>
        <p:spPr>
          <a:xfrm>
            <a:off x="4800600" y="3611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1" name="ri_272" descr="Use a password manager.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646170"/>
            <a:ext cx="411480" cy="411480"/>
          </a:xfrm>
          <a:prstGeom prst="rect">
            <a:avLst/>
          </a:prstGeom>
        </p:spPr>
      </p:pic>
      <p:sp>
        <p:nvSpPr>
          <p:cNvPr id="32" name="box_273"/>
          <p:cNvSpPr txBox="1"/>
          <p:nvPr/>
        </p:nvSpPr>
        <p:spPr>
          <a:xfrm>
            <a:off x="5788152" y="3611880"/>
            <a:ext cx="3035808" cy="4800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manager.</a:t>
            </a:r>
            <a:endParaRPr lang="en-US" sz="1300" dirty="0"/>
          </a:p>
        </p:txBody>
      </p:sp>
      <p:sp>
        <p:nvSpPr>
          <p:cNvPr id="33" name="slot_274"/>
          <p:cNvSpPr txBox="1"/>
          <p:nvPr/>
        </p:nvSpPr>
        <p:spPr>
          <a:xfrm>
            <a:off x="4800600" y="4183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4" name="ri_275" descr="Unsubscribe from marketing emails.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4217670"/>
            <a:ext cx="411480" cy="411480"/>
          </a:xfrm>
          <a:prstGeom prst="rect">
            <a:avLst/>
          </a:prstGeom>
        </p:spPr>
      </p:pic>
      <p:sp>
        <p:nvSpPr>
          <p:cNvPr id="35" name="box_276"/>
          <p:cNvSpPr txBox="1"/>
          <p:nvPr/>
        </p:nvSpPr>
        <p:spPr>
          <a:xfrm>
            <a:off x="5788152" y="4183380"/>
            <a:ext cx="3035808" cy="4800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 from marketing emails.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7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7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7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Writing prep · p.123</a:t>
            </a:r>
            <a:endParaRPr lang="en-US" sz="900" dirty="0"/>
          </a:p>
        </p:txBody>
      </p:sp>
      <p:sp>
        <p:nvSpPr>
          <p:cNvPr id="6" name="timer_28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81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8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9" name="title_283"/>
          <p:cNvSpPr txBox="1"/>
          <p:nvPr/>
        </p:nvSpPr>
        <p:spPr>
          <a:xfrm rot="90000">
            <a:off x="320040" y="676656"/>
            <a:ext cx="5367528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Smartphones: for or against?</a:t>
            </a:r>
            <a:endParaRPr lang="en-US" sz="1500" dirty="0"/>
          </a:p>
        </p:txBody>
      </p:sp>
      <p:sp>
        <p:nvSpPr>
          <p:cNvPr id="10" name="tape_28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285"/>
          <p:cNvSpPr/>
          <p:nvPr/>
        </p:nvSpPr>
        <p:spPr>
          <a:xfrm rot="-720000">
            <a:off x="5120640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28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28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4" name="signB_28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partner: 3 advantages and 3 disadvantages. Then number them.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compagno: 3 vantaggi e 3 svantaggi. Poi numerali.</a:t>
            </a:r>
            <a:endParaRPr lang="en-US" sz="1200" dirty="0"/>
          </a:p>
        </p:txBody>
      </p:sp>
      <p:sp>
        <p:nvSpPr>
          <p:cNvPr id="15" name="iconBack_289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290" descr="pi:PiDeviceMob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num_291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box_292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write 3 advantages and 3 disadvantages of smartphones.</a:t>
            </a:r>
            <a:endParaRPr lang="en-US" sz="1300" dirty="0"/>
          </a:p>
        </p:txBody>
      </p:sp>
      <p:sp>
        <p:nvSpPr>
          <p:cNvPr id="19" name="num_293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box_294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Alone: number them 1–3 (1 = the most important).</a:t>
            </a:r>
            <a:endParaRPr lang="en-US" sz="1300" dirty="0"/>
          </a:p>
        </p:txBody>
      </p:sp>
      <p:sp>
        <p:nvSpPr>
          <p:cNvPr id="21" name="num_295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box_296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'Writing about advantages and disadvantages' box on p.123.</a:t>
            </a:r>
            <a:endParaRPr lang="en-US" sz="1300" dirty="0"/>
          </a:p>
        </p:txBody>
      </p:sp>
      <p:sp>
        <p:nvSpPr>
          <p:cNvPr id="23" name="num_297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box_298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first sentence of each paragraph together: One advantage is that… / Another disadvantage is…</a:t>
            </a:r>
            <a:endParaRPr lang="en-US" sz="950" dirty="0"/>
          </a:p>
        </p:txBody>
      </p:sp>
      <p:sp>
        <p:nvSpPr>
          <p:cNvPr id="25" name="num_299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box_300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article at home (homework).</a:t>
            </a:r>
            <a:endParaRPr lang="en-US" sz="1300" dirty="0"/>
          </a:p>
        </p:txBody>
      </p:sp>
      <p:sp>
        <p:nvSpPr>
          <p:cNvPr id="27" name="bubble_301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biggest advantages is that you can find information anywhere. However…</a:t>
            </a:r>
            <a:endParaRPr lang="en-US" sz="1100" dirty="0"/>
          </a:p>
        </p:txBody>
      </p:sp>
      <p:sp>
        <p:nvSpPr>
          <p:cNvPr id="28" name="pageTag_30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p.123 · Writing 6c, 6d, 6e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0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0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0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My town</a:t>
            </a:r>
            <a:endParaRPr lang="en-US" sz="900" dirty="0"/>
          </a:p>
        </p:txBody>
      </p:sp>
      <p:sp>
        <p:nvSpPr>
          <p:cNvPr id="6" name="timer_30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307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30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2</a:t>
            </a:r>
            <a:endParaRPr lang="en-US" sz="1000" dirty="0"/>
          </a:p>
        </p:txBody>
      </p:sp>
      <p:sp>
        <p:nvSpPr>
          <p:cNvPr id="9" name="title_309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 much, not enough?</a:t>
            </a:r>
            <a:endParaRPr lang="en-US" sz="1500" dirty="0"/>
          </a:p>
        </p:txBody>
      </p:sp>
      <p:sp>
        <p:nvSpPr>
          <p:cNvPr id="10" name="tape_310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1" name="tape_311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FFD84D">
              <a:alpha val="75000"/>
            </a:srgbClr>
          </a:solidFill>
          <a:ln w="6350">
            <a:solidFill>
              <a:srgbClr val="FFD84D"/>
            </a:solidFill>
            <a:prstDash val="solid"/>
          </a:ln>
        </p:spPr>
      </p:sp>
      <p:sp>
        <p:nvSpPr>
          <p:cNvPr id="12" name="post_31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31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4" name="signB_31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Bagheria. Use a quantifier in every answer!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 di Bagheria. Usa un quantificatore in ogni risposta!</a:t>
            </a:r>
            <a:endParaRPr lang="en-US" sz="1250" dirty="0"/>
          </a:p>
        </p:txBody>
      </p:sp>
      <p:sp>
        <p:nvSpPr>
          <p:cNvPr id="15" name="box_315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traffic and parking in the centre</a:t>
            </a:r>
            <a:endParaRPr lang="en-US" sz="1300" dirty="0"/>
          </a:p>
        </p:txBody>
      </p:sp>
      <p:sp>
        <p:nvSpPr>
          <p:cNvPr id="16" name="box_316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parks, trees and green spaces</a:t>
            </a:r>
            <a:endParaRPr lang="en-US" sz="1300" dirty="0"/>
          </a:p>
        </p:txBody>
      </p:sp>
      <p:sp>
        <p:nvSpPr>
          <p:cNvPr id="17" name="box_317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things to do for young people in the evening</a:t>
            </a:r>
            <a:endParaRPr lang="en-US" sz="1300" dirty="0"/>
          </a:p>
        </p:txBody>
      </p:sp>
      <p:sp>
        <p:nvSpPr>
          <p:cNvPr id="18" name="box_318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tourists in summer</a:t>
            </a:r>
            <a:endParaRPr lang="en-US" sz="1300" dirty="0"/>
          </a:p>
        </p:txBody>
      </p:sp>
      <p:sp>
        <p:nvSpPr>
          <p:cNvPr id="19" name="box_319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buses and trains to Palermo</a:t>
            </a:r>
            <a:endParaRPr lang="en-US" sz="1300" dirty="0"/>
          </a:p>
        </p:txBody>
      </p:sp>
      <p:sp>
        <p:nvSpPr>
          <p:cNvPr id="20" name="sticky_320"/>
          <p:cNvSpPr txBox="1"/>
          <p:nvPr/>
        </p:nvSpPr>
        <p:spPr>
          <a:xfrm rot="-120000">
            <a:off x="411480" y="402336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/ too many · not enough · plenty of · very few · no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9B-2 Digital detox</dc:title>
  <dc:subject>PptxGenJS Presentation</dc:subject>
  <dc:creator>London Language School</dc:creator>
  <cp:lastModifiedBy>London Language School</cp:lastModifiedBy>
  <cp:revision>1</cp:revision>
  <dcterms:created xsi:type="dcterms:W3CDTF">2026-10-05T09:39:33Z</dcterms:created>
  <dcterms:modified xsi:type="dcterms:W3CDTF">2026-10-05T09:39:33Z</dcterms:modified>
</cp:coreProperties>
</file>