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(1 min). Last lesson of Unit 1: exam practice (A1 Movers Speaking Part 1) and Mission presentations. Charts on the desks!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A tennis ball and the three categories.
TEACHER: Two teams face each other. Call the category and 'serve' (point to Team A).
STUDENTS: Teams take turns to say a word from the category, like hitting a tennis ball. One learner per turn (go along the line so everyone plays).
GROUPING: Two teams.
SCORE / WIN: A team that repeats a word or takes more than 5 seconds loses the point. First to 5 points wins the round.
TIME: 4 min (3 rounds).
LANGUAGE: Unit 1 vocabulary: countryside, routines, planet words, poem words (race, fast, last, win).
REVEAL: Teacher keeps score on the board. ⭐ Weaker learners may 'pass' once to a teammate.
AIM: Spaced retrieval of the whole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(3 min) from the TB: farmer, have a picnic, sandwich(es). Picture first – 'Who's this?' Remember: HAVE a picnic (not 'make/do' – like have breakfast in Lesson 3). TPR: Drive your tractor and feed the animals! 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(3 min) from the TB: farmer, have a picnic, sandwich(es). Picture first – 'Who's this?' Remember: HAVE a picnic (not 'make/do' – like have breakfast in Lesson 3). TPR: Sit on the grass and eat! Yum! 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 (3 min) from the TB: farmer, have a picnic, sandwich(es). Picture first – 'Who's this?' Remember: HAVE a picnic (not 'make/do' – like have breakfast in Lesson 3). TPR: Make a sandwich – bread, cheese, bread! 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The examiner's questions + answer starters.
TEACHER: MODEL: say your name in a quiet, unclear voice: 'Is that good for an exam?' (No) Say it clearly, smile, eye contact: 'Is this good?' (Yes). Role play with a learner: walk them to the 'examiner's table', greet, ask the questions.
STUDENTS: Pairs: one is the examiner (serious voice!), one the candidate. Swap.
GROUPING: Pairs.
SCORE / WIN: Partner gives a ⭐ for: clear voice, eye contact, full answer.
TIME: 5 min.
LANGUAGE: What's your name? How old are you? (Recycle the Starter trap: I'm nine – BZZZ for 'I have nine years'.)
REVEAL: —
AIM: PB ex 1: exam format,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2 (5 min). MODEL: say 2 sentences yourself ('I can see a farmer. She's washing her hands.'). SUPPORTED: pairs say 5 things using the ⭐ starters – count on fingers. Then ask the questions on the slide; pairs whisper, click to REVEAL. KEY (TB, possible answers): There's a farmer. She's washing her hands under a tap. She's got two children, a boy and a girl. They're having a picnic. There are sandwiches, orange juice and apples. There's an orange fish in the river. There's a lizard on a rock. There are three cows.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ITALIAN TRAP + PRONUNCIATION (3 min). Learners mix up there is / there are, and say 'dere' (no TH). Robot voice reads each wrong sentence; pairs whisper the correction; click. Pronunciation: put your tongue between your teeth for THere (show me your tongue!). The plural -s in cows, sandwiches, leaves sounds like a bee: zzz – Italians often drop it. Whisper → normal → monster voice: 'There are four COWZZZ!'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3 (3 min). Pairs look carefully at picture B and correct the sentences (write them). REVEAL one per click. KEY (TB): 1 In picture B, there are four cows in the field. 2 In picture B, there are no leaves on the grass / there aren't (any) leaves on the grass. Note: in the real exam the pictures aren't labelled A and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4 (3 min). Do the first one together, then pairs finish the others (whisper), then click. Extra support: all three as a class. KEY (TB): 1 water 2 her boots 3 a duck. Monkey tip (PB): 'You can say Here, there's / there are … and There isn't / aren't.'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The two kitchen pictures side by side (AB p.16).
TEACHER: 'You have 60 seconds. Find 4 differences – don't say them, write the number!' Then play 🎧 4.12 (AB audio) to check.
STUDENTS: Pairs find differences; then they SAY them in exam style: 'In picture 1 there are mountains. Here, there's a lake.'
GROUPING: Pairs.
SCORE / WIN: 1 point for each difference said with a correct sentence.
TIME: 5 min.
LANGUAGE: There's / there are / Here, there's … / isn't / aren't.
REVEAL: ⚠ The TB gives no key for this page – check with 🎧 4.12. Differences we can see (⚠ check): the view out of the window (mountains → a lake/boat); the clock on the wall (picture 1 only); the fruit in the bowl (oranges → apples); the cat's toy (red → green).
AIM: Exam Part 1 practice (AB p.16 ex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IN ACTION (15 min). MODEL: present your own example chart, stage by stage: 1 'Hello. I'm … and this is my daily routine chart.' 2 'I get up at seven o'clock.' 3 Point to a Think bubble: 'I turn off the tap when I clean my teeth.' 4 Answer questions ('What time do you have lunch?' – 'I have lunch at one o'clock.'). SUPPORTED: pairs rehearse (3 min) with the starters on the slide; you ask prep questions ('Do you have a shower or a bath?'). INDEPENDENT: learners present to the class or in groups of 4 (faster); listeners must ask ONE question each. Spread over two lessons if needed. Charts go home – fold up each flap after doing the activity. Self-assessment (TB): Did you like our Mission? cheer / smile / shrug. Next Mission: 'Plan a fun activities timetable for two friends'.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The AB p.17 board (START top-left → FINISH bottom-left of the 2nd half).
TEACHER: Groups of 4 with a die and counters. Model one turn: roll, move, read the square, answer.
STUDENTS: Answer the square's question: 'What's this? – It's a toothbrush.' 'What are these? – They're puppies.' 'What's she doing? – She's washing her hands.'
GROUPING: Groups of 4.
SCORE / WIN: Wrong answer = go back one square (the group decides, the teacher is the judge). HAVE ANOTHER TURN / MISS A TURN squares. First to FINISH wins. 🔥 Add a colour or a second sentence.
TIME: 8 min.
LANGUAGE: Unit 1 vocabulary + It's / They're / present continuous.
REVEAL: Groups check each other; teacher monitors.
AIM: Unit review (AB p.17).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EXIT CHALLENGE: show picture B for 10 seconds, hide it – 'Tell me one thing in picture B!' (There are four cows…). AB p.6 (TB): smiley for the final stage; read the sunflower 'can do' statements and colour each leaf green (very confident) or orange (need more practice); word stack: write 5 new unit words. Tick the completion stage on the Mission poster; give a sticker: 'You have finished your Mission! Well done!'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Wolf + clock.
TEACHER: Clear a space or go to the playground. Stand at one end with your back to the class: 'I'm Mr Wolf. I want to eat you!' (TB p.17 extension).
STUDENTS: Ask 'What time is it, Mr Wolf?' and take that number of steps. Variation: 'It's eight o'clock – have breakfast!' – mime while stepping.
GROUPING: Whole class.
SCORE / WIN: On 'It's dinner time!' the wolf turns and chases; the learner caught becomes Mr Wolf.
TIME: 6 min.
LANGUAGE: What time is it? It's … o'clock + routines.
REVEAL: —
AIM: Recycle o'clock times with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8 labelled unit pictures.
TEACHER: Model: 'It's big. It's grey and white. You can climb it.' (mountain).
STUDENTS: Each learner chooses and describes one card (TB p.16 ending); others guess.
GROUPING: Groups of 4.
SCORE / WIN: Guessed after 1 clue = 3 points, 2 clues = 2, 3 clues = 1 (for the describer AND the guesser).
TIME: 5 min.
LANGUAGE: It's … / It's in the … / You can … / He's …ing.
REVEAL: The describer shows the card.
AIM: Unit 1 vocabulary in descriptions.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1 · LESSON 6</a:t>
            </a:r>
            <a:endParaRPr lang="en-US" sz="160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in action!</a:t>
            </a:r>
            <a:endParaRPr lang="en-US" sz="27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Movers Speaking practice + show your routine chart! 🗣️⭐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pratica Speaking Movers + presenta la tua tabella!</a:t>
            </a:r>
            <a:endParaRPr lang="en-US" sz="110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for the Movers exam.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Esercitati per l'esame Movers.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differences!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Trova le differenze!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your routine chart.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la tua tabella.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u1-p16-pic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073065"/>
            <a:ext cx="3246120" cy="1660311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fc/farm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e-u1-picn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us your chart!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Mostraci la tua tabella!</a:t>
            </a:r>
            <a:endParaRPr lang="en-US" sz="150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412394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pp.16–17 · Activity Book pp.16–17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REMEMBER?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tennis!</a:t>
            </a:r>
            <a:endParaRPr lang="en-US" sz="2700" dirty="0"/>
          </a:p>
        </p:txBody>
      </p:sp>
      <p:sp>
        <p:nvSpPr>
          <p:cNvPr id="5" name="in_26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a word – then it's the other team's turn! Don't stop!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Di' una parola – tocca all'altra squadra! Non fermarti!</a:t>
            </a:r>
            <a:endParaRPr lang="en-US" sz="120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2 TEAMS · ⏱ 4 MIN</a:t>
            </a:r>
            <a:endParaRPr lang="en-US" sz="1000" dirty="0"/>
          </a:p>
        </p:txBody>
      </p:sp>
      <p:sp>
        <p:nvSpPr>
          <p:cNvPr id="7" name="diff_28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Look at the board!</a:t>
            </a:r>
            <a:endParaRPr lang="en-US" sz="950" dirty="0"/>
          </a:p>
        </p:txBody>
      </p:sp>
      <p:sp>
        <p:nvSpPr>
          <p:cNvPr id="8" name="st_29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30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31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1" name="se_32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COUNTRYSIDE!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L'insegnante: CAMPAGNA!</a:t>
            </a:r>
            <a:endParaRPr lang="en-US" sz="1050" dirty="0"/>
          </a:p>
        </p:txBody>
      </p:sp>
      <p:sp>
        <p:nvSpPr>
          <p:cNvPr id="12" name="st_33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34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35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5" name="se_36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A: river! Team B: lake! …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Squadra A: river! B: lake! …</a:t>
            </a:r>
            <a:endParaRPr lang="en-US" sz="1050" dirty="0"/>
          </a:p>
        </p:txBody>
      </p:sp>
      <p:sp>
        <p:nvSpPr>
          <p:cNvPr id="16" name="st_37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38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39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9" name="se_40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seconds – no word? Point lost!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secondi – niente parola? Punto perso!</a:t>
            </a:r>
            <a:endParaRPr lang="en-US" sz="1050" dirty="0"/>
          </a:p>
        </p:txBody>
      </p:sp>
      <p:sp>
        <p:nvSpPr>
          <p:cNvPr id="20" name="cd_41"/>
          <p:cNvSpPr/>
          <p:nvPr/>
        </p:nvSpPr>
        <p:spPr>
          <a:xfrm>
            <a:off x="3108960" y="132588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42" descr="/home/claude/movers/img/e-u1-tenn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362456" cy="1362456"/>
          </a:xfrm>
          <a:prstGeom prst="rect">
            <a:avLst/>
          </a:prstGeom>
        </p:spPr>
      </p:pic>
      <p:sp>
        <p:nvSpPr>
          <p:cNvPr id="22" name="gl_43"/>
          <p:cNvSpPr/>
          <p:nvPr/>
        </p:nvSpPr>
        <p:spPr>
          <a:xfrm>
            <a:off x="3108960" y="3657600"/>
            <a:ext cx="5715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Round 1: countryside 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Round 2: my morning 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Round 3: the poem / the planet 🌍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45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words</a:t>
            </a:r>
            <a:endParaRPr lang="en-US" sz="3200" dirty="0"/>
          </a:p>
        </p:txBody>
      </p:sp>
      <p:sp>
        <p:nvSpPr>
          <p:cNvPr id="5" name="in_4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47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48" descr="/home/claude/movers/img/fc/far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464" y="1234440"/>
            <a:ext cx="1971072" cy="2651760"/>
          </a:xfrm>
          <a:prstGeom prst="rect">
            <a:avLst/>
          </a:prstGeom>
        </p:spPr>
      </p:pic>
      <p:sp>
        <p:nvSpPr>
          <p:cNvPr id="8" name="R1_w49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</a:t>
            </a:r>
            <a:endParaRPr lang="en-US" sz="3600" dirty="0"/>
          </a:p>
        </p:txBody>
      </p:sp>
      <p:sp>
        <p:nvSpPr>
          <p:cNvPr id="9" name="R2_it50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contadino / agricoltore</a:t>
            </a:r>
            <a:endParaRPr lang="en-US" sz="1600" dirty="0"/>
          </a:p>
        </p:txBody>
      </p:sp>
      <p:sp>
        <p:nvSpPr>
          <p:cNvPr id="10" name="R3_tpr51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Drive your tractor and feed the animals! 🚜</a:t>
            </a:r>
            <a:endParaRPr lang="en-US" sz="1300" dirty="0"/>
          </a:p>
        </p:txBody>
      </p:sp>
      <p:sp>
        <p:nvSpPr>
          <p:cNvPr id="11" name="n_52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/ 3</a:t>
            </a:r>
            <a:endParaRPr lang="en-US" sz="1200" dirty="0"/>
          </a:p>
        </p:txBody>
      </p:sp>
      <p:sp>
        <p:nvSpPr>
          <p:cNvPr id="12" name="bk_53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55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words</a:t>
            </a:r>
            <a:endParaRPr lang="en-US" sz="3200" dirty="0"/>
          </a:p>
        </p:txBody>
      </p:sp>
      <p:sp>
        <p:nvSpPr>
          <p:cNvPr id="5" name="in_5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57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58" descr="/home/claude/movers/img/e-u1-picn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51760" cy="2651760"/>
          </a:xfrm>
          <a:prstGeom prst="rect">
            <a:avLst/>
          </a:prstGeom>
        </p:spPr>
      </p:pic>
      <p:sp>
        <p:nvSpPr>
          <p:cNvPr id="8" name="R1_w59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have a picnic</a:t>
            </a:r>
            <a:endParaRPr lang="en-US" sz="3600" dirty="0"/>
          </a:p>
        </p:txBody>
      </p:sp>
      <p:sp>
        <p:nvSpPr>
          <p:cNvPr id="9" name="R2_it60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 un picnic</a:t>
            </a:r>
            <a:endParaRPr lang="en-US" sz="1600" dirty="0"/>
          </a:p>
        </p:txBody>
      </p:sp>
      <p:sp>
        <p:nvSpPr>
          <p:cNvPr id="10" name="R3_tpr61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Sit on the grass and eat! Yum! 🧺</a:t>
            </a:r>
            <a:endParaRPr lang="en-US" sz="1300" dirty="0"/>
          </a:p>
        </p:txBody>
      </p:sp>
      <p:sp>
        <p:nvSpPr>
          <p:cNvPr id="11" name="n_62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/ 3</a:t>
            </a:r>
            <a:endParaRPr lang="en-US" sz="1200" dirty="0"/>
          </a:p>
        </p:txBody>
      </p:sp>
      <p:sp>
        <p:nvSpPr>
          <p:cNvPr id="12" name="bk_63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6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65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words</a:t>
            </a:r>
            <a:endParaRPr lang="en-US" sz="3200" dirty="0"/>
          </a:p>
        </p:txBody>
      </p:sp>
      <p:sp>
        <p:nvSpPr>
          <p:cNvPr id="5" name="in_6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67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68" descr="/home/claude/movers/img/e-u1-sandwi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2651760" cy="2651760"/>
          </a:xfrm>
          <a:prstGeom prst="rect">
            <a:avLst/>
          </a:prstGeom>
        </p:spPr>
      </p:pic>
      <p:sp>
        <p:nvSpPr>
          <p:cNvPr id="8" name="R1_w69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sandwich(es)</a:t>
            </a:r>
            <a:endParaRPr lang="en-US" sz="3600" dirty="0"/>
          </a:p>
        </p:txBody>
      </p:sp>
      <p:sp>
        <p:nvSpPr>
          <p:cNvPr id="9" name="R2_it70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panino · panini</a:t>
            </a:r>
            <a:endParaRPr lang="en-US" sz="1600" dirty="0"/>
          </a:p>
        </p:txBody>
      </p:sp>
      <p:sp>
        <p:nvSpPr>
          <p:cNvPr id="10" name="R3_tpr71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Make a sandwich – bread, cheese, bread! 🥪</a:t>
            </a:r>
            <a:endParaRPr lang="en-US" sz="1300" dirty="0"/>
          </a:p>
        </p:txBody>
      </p:sp>
      <p:sp>
        <p:nvSpPr>
          <p:cNvPr id="11" name="n_72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3</a:t>
            </a:r>
            <a:endParaRPr lang="en-US" sz="1200" dirty="0"/>
          </a:p>
        </p:txBody>
      </p:sp>
      <p:sp>
        <p:nvSpPr>
          <p:cNvPr id="12" name="bk_73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7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 1</a:t>
            </a:r>
            <a:endParaRPr lang="en-US" sz="1600" dirty="0"/>
          </a:p>
        </p:txBody>
      </p:sp>
      <p:sp>
        <p:nvSpPr>
          <p:cNvPr id="4" name="bm_75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2F9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examiner!</a:t>
            </a:r>
            <a:endParaRPr lang="en-US" sz="2700" dirty="0"/>
          </a:p>
        </p:txBody>
      </p:sp>
      <p:sp>
        <p:nvSpPr>
          <p:cNvPr id="5" name="in_76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Practise with a friend. Speak clearly!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Esercitati con un compagno. Parla chiaramente!</a:t>
            </a:r>
            <a:endParaRPr lang="en-US" sz="1400" dirty="0"/>
          </a:p>
        </p:txBody>
      </p:sp>
      <p:sp>
        <p:nvSpPr>
          <p:cNvPr id="6" name="mode_7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5 MIN</a:t>
            </a:r>
            <a:endParaRPr lang="en-US" sz="1000" dirty="0"/>
          </a:p>
        </p:txBody>
      </p:sp>
      <p:sp>
        <p:nvSpPr>
          <p:cNvPr id="7" name="diff_78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My name's … I'm …</a:t>
            </a:r>
            <a:endParaRPr lang="en-US" sz="950" dirty="0"/>
          </a:p>
        </p:txBody>
      </p:sp>
      <p:sp>
        <p:nvSpPr>
          <p:cNvPr id="8" name="diff_79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Add: I live in …</a:t>
            </a:r>
            <a:endParaRPr lang="en-US" sz="950" dirty="0"/>
          </a:p>
        </p:txBody>
      </p:sp>
      <p:sp>
        <p:nvSpPr>
          <p:cNvPr id="9" name="st_80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n_81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k_82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2" name="se_83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Examiner: What's your name?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Esaminatore: Come ti chiami?</a:t>
            </a:r>
            <a:endParaRPr lang="en-US" sz="1050" dirty="0"/>
          </a:p>
        </p:txBody>
      </p:sp>
      <p:sp>
        <p:nvSpPr>
          <p:cNvPr id="13" name="st_84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n_85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k_86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6" name="se_87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clearly. Look at the examiner!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Rispondi chiaro. Guarda l'esaminatore!</a:t>
            </a:r>
            <a:endParaRPr lang="en-US" sz="1050" dirty="0"/>
          </a:p>
        </p:txBody>
      </p:sp>
      <p:sp>
        <p:nvSpPr>
          <p:cNvPr id="17" name="st_88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n_89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k_90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20" name="se_91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Swap: you are the examiner!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Scambiatevi!</a:t>
            </a:r>
            <a:endParaRPr lang="en-US" sz="1050" dirty="0"/>
          </a:p>
        </p:txBody>
      </p:sp>
      <p:sp>
        <p:nvSpPr>
          <p:cNvPr id="21" name="gl_92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Examiner: Hello. What's your name?  →  My name's 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Examiner: How old are you?  →  I'm … (NOT I have!)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Examiner: Thank you. Goodbye!  →  Goodbye!</a:t>
            </a:r>
            <a:endParaRPr lang="en-US" sz="1400" dirty="0"/>
          </a:p>
        </p:txBody>
      </p:sp>
      <p:sp>
        <p:nvSpPr>
          <p:cNvPr id="22" name="bk_93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9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 2</a:t>
            </a:r>
            <a:endParaRPr lang="en-US" sz="1600" dirty="0"/>
          </a:p>
        </p:txBody>
      </p:sp>
      <p:sp>
        <p:nvSpPr>
          <p:cNvPr id="4" name="bm_95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can you see?</a:t>
            </a:r>
            <a:endParaRPr lang="en-US" sz="2700" dirty="0"/>
          </a:p>
        </p:txBody>
      </p:sp>
      <p:sp>
        <p:nvSpPr>
          <p:cNvPr id="5" name="in_96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 at picture A. Tell your partner 5 things!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l'immagine A. Di' 5 cose al compagno!</a:t>
            </a:r>
            <a:endParaRPr lang="en-US" sz="1400" dirty="0"/>
          </a:p>
        </p:txBody>
      </p:sp>
      <p:sp>
        <p:nvSpPr>
          <p:cNvPr id="6" name="mode_9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5 MIN</a:t>
            </a:r>
            <a:endParaRPr lang="en-US" sz="1000" dirty="0"/>
          </a:p>
        </p:txBody>
      </p:sp>
      <p:sp>
        <p:nvSpPr>
          <p:cNvPr id="7" name="diff_98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 can see … · There's … · There are …</a:t>
            </a:r>
            <a:endParaRPr lang="en-US" sz="750" dirty="0"/>
          </a:p>
        </p:txBody>
      </p:sp>
      <p:sp>
        <p:nvSpPr>
          <p:cNvPr id="8" name="diff_99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Say what they're doing!</a:t>
            </a:r>
            <a:endParaRPr lang="en-US" sz="950" dirty="0"/>
          </a:p>
        </p:txBody>
      </p:sp>
      <p:sp>
        <p:nvSpPr>
          <p:cNvPr id="9" name="pf_100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101" descr="/home/claude/movers/img/crop/u1-p16-pic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39399"/>
            <a:ext cx="5120640" cy="2619081"/>
          </a:xfrm>
          <a:prstGeom prst="rect">
            <a:avLst/>
          </a:prstGeom>
        </p:spPr>
      </p:pic>
      <p:sp>
        <p:nvSpPr>
          <p:cNvPr id="11" name="q_102"/>
          <p:cNvSpPr/>
          <p:nvPr/>
        </p:nvSpPr>
        <p:spPr>
          <a:xfrm>
            <a:off x="5760720" y="1325880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this? What's she doing?</a:t>
            </a:r>
            <a:endParaRPr lang="en-US" sz="1250" dirty="0"/>
          </a:p>
        </p:txBody>
      </p:sp>
      <p:sp>
        <p:nvSpPr>
          <p:cNvPr id="12" name="R1_a103"/>
          <p:cNvSpPr/>
          <p:nvPr/>
        </p:nvSpPr>
        <p:spPr>
          <a:xfrm>
            <a:off x="5989320" y="1668231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farmer. She's washing her hands.</a:t>
            </a:r>
            <a:endParaRPr lang="en-US" sz="1200" dirty="0"/>
          </a:p>
        </p:txBody>
      </p:sp>
      <p:sp>
        <p:nvSpPr>
          <p:cNvPr id="13" name="q_104"/>
          <p:cNvSpPr/>
          <p:nvPr/>
        </p:nvSpPr>
        <p:spPr>
          <a:xfrm>
            <a:off x="5760720" y="1984248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are the children doing?</a:t>
            </a:r>
            <a:endParaRPr lang="en-US" sz="1250" dirty="0"/>
          </a:p>
        </p:txBody>
      </p:sp>
      <p:sp>
        <p:nvSpPr>
          <p:cNvPr id="14" name="R2_a105"/>
          <p:cNvSpPr/>
          <p:nvPr/>
        </p:nvSpPr>
        <p:spPr>
          <a:xfrm>
            <a:off x="5989320" y="2326599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They're having a picnic.</a:t>
            </a:r>
            <a:endParaRPr lang="en-US" sz="1250" dirty="0"/>
          </a:p>
        </p:txBody>
      </p:sp>
      <p:sp>
        <p:nvSpPr>
          <p:cNvPr id="15" name="q_106"/>
          <p:cNvSpPr/>
          <p:nvPr/>
        </p:nvSpPr>
        <p:spPr>
          <a:xfrm>
            <a:off x="5760720" y="2642616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food can you see?</a:t>
            </a:r>
            <a:endParaRPr lang="en-US" sz="1250" dirty="0"/>
          </a:p>
        </p:txBody>
      </p:sp>
      <p:sp>
        <p:nvSpPr>
          <p:cNvPr id="16" name="R3_a107"/>
          <p:cNvSpPr/>
          <p:nvPr/>
        </p:nvSpPr>
        <p:spPr>
          <a:xfrm>
            <a:off x="5989320" y="2984967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Sandwiches, orange juice, apples.</a:t>
            </a:r>
            <a:endParaRPr lang="en-US" sz="1250" dirty="0"/>
          </a:p>
        </p:txBody>
      </p:sp>
      <p:sp>
        <p:nvSpPr>
          <p:cNvPr id="17" name="q_108"/>
          <p:cNvSpPr/>
          <p:nvPr/>
        </p:nvSpPr>
        <p:spPr>
          <a:xfrm>
            <a:off x="5760720" y="3300984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on the rock?</a:t>
            </a:r>
            <a:endParaRPr lang="en-US" sz="1250" dirty="0"/>
          </a:p>
        </p:txBody>
      </p:sp>
      <p:sp>
        <p:nvSpPr>
          <p:cNvPr id="18" name="R4_a109"/>
          <p:cNvSpPr/>
          <p:nvPr/>
        </p:nvSpPr>
        <p:spPr>
          <a:xfrm>
            <a:off x="5989320" y="3643335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lizard. 🦎</a:t>
            </a:r>
            <a:endParaRPr lang="en-US" sz="1250" dirty="0"/>
          </a:p>
        </p:txBody>
      </p:sp>
      <p:sp>
        <p:nvSpPr>
          <p:cNvPr id="19" name="q_110"/>
          <p:cNvSpPr/>
          <p:nvPr/>
        </p:nvSpPr>
        <p:spPr>
          <a:xfrm>
            <a:off x="5760720" y="3959352"/>
            <a:ext cx="30175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many cows are there?</a:t>
            </a:r>
            <a:endParaRPr lang="en-US" sz="1250" dirty="0"/>
          </a:p>
        </p:txBody>
      </p:sp>
      <p:sp>
        <p:nvSpPr>
          <p:cNvPr id="20" name="R5_a111"/>
          <p:cNvSpPr/>
          <p:nvPr/>
        </p:nvSpPr>
        <p:spPr>
          <a:xfrm>
            <a:off x="5989320" y="4301703"/>
            <a:ext cx="2788920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Three. 🐄</a:t>
            </a:r>
            <a:endParaRPr lang="en-US" sz="1250" dirty="0"/>
          </a:p>
        </p:txBody>
      </p:sp>
      <p:sp>
        <p:nvSpPr>
          <p:cNvPr id="21" name="bk_112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1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OUT 🇮🇹</a:t>
            </a:r>
            <a:endParaRPr lang="en-US" sz="1600" dirty="0"/>
          </a:p>
        </p:txBody>
      </p:sp>
      <p:sp>
        <p:nvSpPr>
          <p:cNvPr id="4" name="bm_114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There's or there are?</a:t>
            </a:r>
            <a:endParaRPr lang="en-US" sz="2400" dirty="0"/>
          </a:p>
        </p:txBody>
      </p:sp>
      <p:sp>
        <p:nvSpPr>
          <p:cNvPr id="5" name="in_115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C'è / ci sono. Which one? Think, then click!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C'è / ci sono. Quale? Pensa, poi clicca!</a:t>
            </a:r>
            <a:endParaRPr lang="en-US" sz="1400" dirty="0"/>
          </a:p>
        </p:txBody>
      </p:sp>
      <p:sp>
        <p:nvSpPr>
          <p:cNvPr id="6" name="mode_116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3 MIN</a:t>
            </a:r>
            <a:endParaRPr lang="en-US" sz="1000" dirty="0"/>
          </a:p>
        </p:txBody>
      </p:sp>
      <p:sp>
        <p:nvSpPr>
          <p:cNvPr id="7" name="gb_117"/>
          <p:cNvSpPr/>
          <p:nvPr/>
        </p:nvSpPr>
        <p:spPr>
          <a:xfrm>
            <a:off x="320040" y="1280160"/>
            <a:ext cx="8503920" cy="841248"/>
          </a:xfrm>
          <a:prstGeom prst="roundRect">
            <a:avLst>
              <a:gd name="adj" fmla="val 13043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8" name="gl_118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There's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a duck.  (1)   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There are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four cows.  (2, 3, 4…)</a:t>
            </a:r>
            <a:endParaRPr lang="en-US" sz="1500" dirty="0"/>
          </a:p>
        </p:txBody>
      </p:sp>
      <p:sp>
        <p:nvSpPr>
          <p:cNvPr id="9" name="pq_119"/>
          <p:cNvSpPr/>
          <p:nvPr/>
        </p:nvSpPr>
        <p:spPr>
          <a:xfrm>
            <a:off x="365760" y="22585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🤖 There is four cows.</a:t>
            </a:r>
            <a:endParaRPr lang="en-US" sz="1300" dirty="0"/>
          </a:p>
        </p:txBody>
      </p:sp>
      <p:sp>
        <p:nvSpPr>
          <p:cNvPr id="10" name="R1_pa120"/>
          <p:cNvSpPr/>
          <p:nvPr/>
        </p:nvSpPr>
        <p:spPr>
          <a:xfrm>
            <a:off x="6126480" y="2258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There are four cows.</a:t>
            </a:r>
            <a:endParaRPr lang="en-US" sz="1300" dirty="0"/>
          </a:p>
        </p:txBody>
      </p:sp>
      <p:sp>
        <p:nvSpPr>
          <p:cNvPr id="11" name="pq_121"/>
          <p:cNvSpPr/>
          <p:nvPr/>
        </p:nvSpPr>
        <p:spPr>
          <a:xfrm>
            <a:off x="365760" y="27157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🤖 There are a lizard.</a:t>
            </a:r>
            <a:endParaRPr lang="en-US" sz="1300" dirty="0"/>
          </a:p>
        </p:txBody>
      </p:sp>
      <p:sp>
        <p:nvSpPr>
          <p:cNvPr id="12" name="R2_pa122"/>
          <p:cNvSpPr/>
          <p:nvPr/>
        </p:nvSpPr>
        <p:spPr>
          <a:xfrm>
            <a:off x="6126480" y="2715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There's a lizard.</a:t>
            </a:r>
            <a:endParaRPr lang="en-US" sz="1300" dirty="0"/>
          </a:p>
        </p:txBody>
      </p:sp>
      <p:sp>
        <p:nvSpPr>
          <p:cNvPr id="13" name="pq_123"/>
          <p:cNvSpPr/>
          <p:nvPr/>
        </p:nvSpPr>
        <p:spPr>
          <a:xfrm>
            <a:off x="365760" y="31729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🤖 There aren't some leaves.</a:t>
            </a:r>
            <a:endParaRPr lang="en-US" sz="1300" dirty="0"/>
          </a:p>
        </p:txBody>
      </p:sp>
      <p:sp>
        <p:nvSpPr>
          <p:cNvPr id="14" name="R3_pa124"/>
          <p:cNvSpPr/>
          <p:nvPr/>
        </p:nvSpPr>
        <p:spPr>
          <a:xfrm>
            <a:off x="6126480" y="3172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There aren't any leaves.</a:t>
            </a:r>
            <a:endParaRPr lang="en-US" sz="1300" dirty="0"/>
          </a:p>
        </p:txBody>
      </p:sp>
      <p:sp>
        <p:nvSpPr>
          <p:cNvPr id="15" name="pq_125"/>
          <p:cNvSpPr/>
          <p:nvPr/>
        </p:nvSpPr>
        <p:spPr>
          <a:xfrm>
            <a:off x="365760" y="36301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it: 'Dere are' ✗ – cow / cows</a:t>
            </a:r>
            <a:endParaRPr lang="en-US" sz="1300" dirty="0"/>
          </a:p>
        </p:txBody>
      </p:sp>
      <p:sp>
        <p:nvSpPr>
          <p:cNvPr id="16" name="R4_pa126"/>
          <p:cNvSpPr/>
          <p:nvPr/>
        </p:nvSpPr>
        <p:spPr>
          <a:xfrm>
            <a:off x="6126480" y="3630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THere are – tongue out! cowZ 🐄🐄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2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3</a:t>
            </a:r>
            <a:endParaRPr lang="en-US" sz="1600" dirty="0"/>
          </a:p>
        </p:txBody>
      </p:sp>
      <p:sp>
        <p:nvSpPr>
          <p:cNvPr id="4" name="bm_12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and correct</a:t>
            </a:r>
            <a:endParaRPr lang="en-US" sz="2700" dirty="0"/>
          </a:p>
        </p:txBody>
      </p:sp>
      <p:sp>
        <p:nvSpPr>
          <p:cNvPr id="5" name="in_12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 at picture B. The sentences are wrong. Fix them!</a:t>
            </a:r>
            <a:endParaRPr lang="en-US" sz="13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l'immagine B. Le frasi sono sbagliate. Correggile!</a:t>
            </a:r>
            <a:endParaRPr lang="en-US" sz="1350" dirty="0"/>
          </a:p>
        </p:txBody>
      </p:sp>
      <p:sp>
        <p:nvSpPr>
          <p:cNvPr id="6" name="mode_13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3 MIN</a:t>
            </a:r>
            <a:endParaRPr lang="en-US" sz="1000" dirty="0"/>
          </a:p>
        </p:txBody>
      </p:sp>
      <p:sp>
        <p:nvSpPr>
          <p:cNvPr id="7" name="pf_131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32" descr="/home/claude/movers/img/crop/u1-p16-pic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00704"/>
            <a:ext cx="5120640" cy="1696472"/>
          </a:xfrm>
          <a:prstGeom prst="rect">
            <a:avLst/>
          </a:prstGeom>
        </p:spPr>
      </p:pic>
      <p:sp>
        <p:nvSpPr>
          <p:cNvPr id="9" name="q_133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 picture B, there are four sheep in the field. ✗</a:t>
            </a:r>
            <a:endParaRPr lang="en-US" sz="1250" dirty="0"/>
          </a:p>
        </p:txBody>
      </p:sp>
      <p:sp>
        <p:nvSpPr>
          <p:cNvPr id="10" name="R1_a134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There are four cows in the field.</a:t>
            </a:r>
            <a:endParaRPr lang="en-US" sz="1250" dirty="0"/>
          </a:p>
        </p:txBody>
      </p:sp>
      <p:sp>
        <p:nvSpPr>
          <p:cNvPr id="11" name="q_135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 picture B, there are some leaves on the grass. ✗</a:t>
            </a:r>
            <a:endParaRPr lang="en-US" sz="1250" dirty="0"/>
          </a:p>
        </p:txBody>
      </p:sp>
      <p:sp>
        <p:nvSpPr>
          <p:cNvPr id="12" name="R2_a136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There aren't any leaves on the grass.</a:t>
            </a:r>
            <a:endParaRPr lang="en-US" sz="1250" dirty="0"/>
          </a:p>
        </p:txBody>
      </p:sp>
      <p:sp>
        <p:nvSpPr>
          <p:cNvPr id="13" name="bk_137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3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 4</a:t>
            </a:r>
            <a:endParaRPr lang="en-US" sz="1600" dirty="0"/>
          </a:p>
        </p:txBody>
      </p:sp>
      <p:sp>
        <p:nvSpPr>
          <p:cNvPr id="4" name="bm_13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and say</a:t>
            </a:r>
            <a:endParaRPr lang="en-US" sz="3200" dirty="0"/>
          </a:p>
        </p:txBody>
      </p:sp>
      <p:sp>
        <p:nvSpPr>
          <p:cNvPr id="5" name="in_14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Compare A and B. Finish the sentences.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Confronta A e B. Completa le frasi.</a:t>
            </a:r>
            <a:endParaRPr lang="en-US" sz="1400" dirty="0"/>
          </a:p>
        </p:txBody>
      </p:sp>
      <p:sp>
        <p:nvSpPr>
          <p:cNvPr id="6" name="mode_14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3 MIN</a:t>
            </a:r>
            <a:endParaRPr lang="en-US" sz="1000" dirty="0"/>
          </a:p>
        </p:txBody>
      </p:sp>
      <p:sp>
        <p:nvSpPr>
          <p:cNvPr id="7" name="diff_142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Here, there's …</a:t>
            </a:r>
            <a:endParaRPr lang="en-US" sz="950" dirty="0"/>
          </a:p>
        </p:txBody>
      </p:sp>
      <p:sp>
        <p:nvSpPr>
          <p:cNvPr id="8" name="pf_143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144" descr="/home/claude/movers/img/u1-p16-A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2275"/>
            <a:ext cx="5120640" cy="1333330"/>
          </a:xfrm>
          <a:prstGeom prst="rect">
            <a:avLst/>
          </a:prstGeom>
        </p:spPr>
      </p:pic>
      <p:sp>
        <p:nvSpPr>
          <p:cNvPr id="10" name="q_145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Orange juice in picture A. Here, it's …</a:t>
            </a:r>
            <a:endParaRPr lang="en-US" sz="1250" dirty="0"/>
          </a:p>
        </p:txBody>
      </p:sp>
      <p:sp>
        <p:nvSpPr>
          <p:cNvPr id="11" name="R1_a146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water 💧</a:t>
            </a:r>
            <a:endParaRPr lang="en-US" sz="1250" dirty="0"/>
          </a:p>
        </p:txBody>
      </p:sp>
      <p:sp>
        <p:nvSpPr>
          <p:cNvPr id="12" name="q_147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 A, she's washing her hands. Here, she's washing …</a:t>
            </a:r>
            <a:endParaRPr lang="en-US" sz="1250" dirty="0"/>
          </a:p>
        </p:txBody>
      </p:sp>
      <p:sp>
        <p:nvSpPr>
          <p:cNvPr id="13" name="R2_a148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her boots 👢</a:t>
            </a:r>
            <a:endParaRPr lang="en-US" sz="1250" dirty="0"/>
          </a:p>
        </p:txBody>
      </p:sp>
      <p:sp>
        <p:nvSpPr>
          <p:cNvPr id="14" name="q_149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lizard on the rock in A. In picture B, there's …</a:t>
            </a:r>
            <a:endParaRPr lang="en-US" sz="1250" dirty="0"/>
          </a:p>
        </p:txBody>
      </p:sp>
      <p:sp>
        <p:nvSpPr>
          <p:cNvPr id="15" name="R3_a150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duck 🦆</a:t>
            </a:r>
            <a:endParaRPr lang="en-US" sz="1250" dirty="0"/>
          </a:p>
        </p:txBody>
      </p:sp>
      <p:sp>
        <p:nvSpPr>
          <p:cNvPr id="16" name="bk_151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5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</a:t>
            </a:r>
            <a:endParaRPr lang="en-US" sz="1600" dirty="0"/>
          </a:p>
        </p:txBody>
      </p:sp>
      <p:sp>
        <p:nvSpPr>
          <p:cNvPr id="4" name="bm_153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 the difference!</a:t>
            </a:r>
            <a:endParaRPr lang="en-US" sz="2400" dirty="0"/>
          </a:p>
        </p:txBody>
      </p:sp>
      <p:sp>
        <p:nvSpPr>
          <p:cNvPr id="5" name="in_154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Find 4 differences. Race your partner!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Trova 4 differenze. Sfida il compagno!</a:t>
            </a:r>
            <a:endParaRPr lang="en-US" sz="1400" dirty="0"/>
          </a:p>
        </p:txBody>
      </p:sp>
      <p:sp>
        <p:nvSpPr>
          <p:cNvPr id="6" name="mode_15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5 MIN</a:t>
            </a:r>
            <a:endParaRPr lang="en-US" sz="1000" dirty="0"/>
          </a:p>
        </p:txBody>
      </p:sp>
      <p:sp>
        <p:nvSpPr>
          <p:cNvPr id="7" name="diff_156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In picture 1 … Here, there's …</a:t>
            </a:r>
            <a:endParaRPr lang="en-US" sz="950" dirty="0"/>
          </a:p>
        </p:txBody>
      </p:sp>
      <p:sp>
        <p:nvSpPr>
          <p:cNvPr id="8" name="pf_157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158" descr="/home/claude/movers/img/u1-ab16-diff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41967"/>
            <a:ext cx="8412480" cy="2413946"/>
          </a:xfrm>
          <a:prstGeom prst="rect">
            <a:avLst/>
          </a:prstGeom>
        </p:spPr>
      </p:pic>
      <p:sp>
        <p:nvSpPr>
          <p:cNvPr id="10" name="bk_159"/>
          <p:cNvSpPr/>
          <p:nvPr/>
        </p:nvSpPr>
        <p:spPr>
          <a:xfrm>
            <a:off x="228600" y="4681728"/>
            <a:ext cx="272491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Activity Book p.16 · 🎧 4.12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6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1600" dirty="0"/>
          </a:p>
        </p:txBody>
      </p:sp>
      <p:sp>
        <p:nvSpPr>
          <p:cNvPr id="4" name="bm_161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in action!</a:t>
            </a:r>
            <a:endParaRPr lang="en-US" sz="2700" dirty="0"/>
          </a:p>
        </p:txBody>
      </p:sp>
      <p:sp>
        <p:nvSpPr>
          <p:cNvPr id="5" name="in_162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your daily routine chart to the class.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Presenta alla classe la tua tabella della routine.</a:t>
            </a:r>
            <a:endParaRPr lang="en-US" sz="1400" dirty="0"/>
          </a:p>
        </p:txBody>
      </p:sp>
      <p:sp>
        <p:nvSpPr>
          <p:cNvPr id="6" name="mode_16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PRESENT · ⏱ 15 MIN</a:t>
            </a:r>
            <a:endParaRPr lang="en-US" sz="1000" dirty="0"/>
          </a:p>
        </p:txBody>
      </p:sp>
      <p:sp>
        <p:nvSpPr>
          <p:cNvPr id="7" name="diff_164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Hello. I'm … This is my chart.</a:t>
            </a:r>
            <a:endParaRPr lang="en-US" sz="950" dirty="0"/>
          </a:p>
        </p:txBody>
      </p:sp>
      <p:sp>
        <p:nvSpPr>
          <p:cNvPr id="8" name="diff_165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Answer 2 questions!</a:t>
            </a:r>
            <a:endParaRPr lang="en-US" sz="950" dirty="0"/>
          </a:p>
        </p:txBody>
      </p:sp>
      <p:sp>
        <p:nvSpPr>
          <p:cNvPr id="9" name="pf_166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167" descr="/home/claude/movers/img/crop/u1-p17-miss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086" y="1325880"/>
            <a:ext cx="4083828" cy="3246120"/>
          </a:xfrm>
          <a:prstGeom prst="rect">
            <a:avLst/>
          </a:prstGeom>
        </p:spPr>
      </p:pic>
      <p:sp>
        <p:nvSpPr>
          <p:cNvPr id="11" name="bk_168"/>
          <p:cNvSpPr/>
          <p:nvPr/>
        </p:nvSpPr>
        <p:spPr>
          <a:xfrm>
            <a:off x="228600" y="4681728"/>
            <a:ext cx="342442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p.17 · Activity Book p.6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6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170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 the game!</a:t>
            </a:r>
            <a:endParaRPr lang="en-US" sz="2700" dirty="0"/>
          </a:p>
        </p:txBody>
      </p:sp>
      <p:sp>
        <p:nvSpPr>
          <p:cNvPr id="5" name="in_17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Roll the dice. Move. Answer the question!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Lancia il dado. Muovi. Rispondi!</a:t>
            </a:r>
            <a:endParaRPr lang="en-US" sz="1400" dirty="0"/>
          </a:p>
        </p:txBody>
      </p:sp>
      <p:sp>
        <p:nvSpPr>
          <p:cNvPr id="6" name="mode_172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GROUPS OF 4 · ⏱ 8 MIN</a:t>
            </a:r>
            <a:endParaRPr lang="en-US" sz="1000" dirty="0"/>
          </a:p>
        </p:txBody>
      </p:sp>
      <p:sp>
        <p:nvSpPr>
          <p:cNvPr id="7" name="diff_173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It's a … · They're … · She's …ing</a:t>
            </a:r>
            <a:endParaRPr lang="en-US" sz="950" dirty="0"/>
          </a:p>
        </p:txBody>
      </p:sp>
      <p:sp>
        <p:nvSpPr>
          <p:cNvPr id="8" name="pf_174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9" name="pic_175" descr="/home/claude/movers/img/u1-ab17-boar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68649"/>
            <a:ext cx="8412480" cy="2160582"/>
          </a:xfrm>
          <a:prstGeom prst="rect">
            <a:avLst/>
          </a:prstGeom>
        </p:spPr>
      </p:pic>
      <p:sp>
        <p:nvSpPr>
          <p:cNvPr id="10" name="bk_176"/>
          <p:cNvSpPr/>
          <p:nvPr/>
        </p:nvSpPr>
        <p:spPr>
          <a:xfrm>
            <a:off x="228600" y="4681728"/>
            <a:ext cx="334670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Activity Book p.17 · dice + counters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7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17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17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180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talk about two pictures and find differences.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parlare di due immagini e trovare le differenze.</a:t>
            </a:r>
            <a:endParaRPr lang="en-US" sz="1300" dirty="0"/>
          </a:p>
        </p:txBody>
      </p:sp>
      <p:sp>
        <p:nvSpPr>
          <p:cNvPr id="7" name="can_181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show my daily routine chart.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presentare la mia tabella.</a:t>
            </a:r>
            <a:endParaRPr lang="en-US" sz="1300" dirty="0"/>
          </a:p>
        </p:txBody>
      </p:sp>
      <p:sp>
        <p:nvSpPr>
          <p:cNvPr id="8" name="can_182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say: There's a duck. There are four cows.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usare there's / there are.</a:t>
            </a:r>
            <a:endParaRPr lang="en-US" sz="1300" dirty="0"/>
          </a:p>
        </p:txBody>
      </p:sp>
      <p:sp>
        <p:nvSpPr>
          <p:cNvPr id="9" name="hw_183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sheet: Unit 1 review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p.6: colour the sunflower leaves</a:t>
            </a:r>
            <a:endParaRPr lang="en-US" sz="1250" dirty="0"/>
          </a:p>
        </p:txBody>
      </p:sp>
      <p:sp>
        <p:nvSpPr>
          <p:cNvPr id="10" name="nx_184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Unit 2! New Mission: a fun activities timetable 📅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8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600" dirty="0"/>
          </a:p>
        </p:txBody>
      </p:sp>
      <p:sp>
        <p:nvSpPr>
          <p:cNvPr id="4" name="bm_186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254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the time, Mr Wolf?</a:t>
            </a:r>
            <a:endParaRPr lang="en-US" sz="2400" dirty="0"/>
          </a:p>
        </p:txBody>
      </p:sp>
      <p:sp>
        <p:nvSpPr>
          <p:cNvPr id="5" name="in_187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Ask Mr Wolf the time. DINNER TIME – run!</a:t>
            </a:r>
            <a:endParaRPr lang="en-US" sz="13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Chiedi l'ora al signor Lupo. ORA DI CENA – scappa!</a:t>
            </a:r>
            <a:endParaRPr lang="en-US" sz="1350" dirty="0"/>
          </a:p>
        </p:txBody>
      </p:sp>
      <p:sp>
        <p:nvSpPr>
          <p:cNvPr id="6" name="mode_18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WHOLE CLASS · ⏱ 6 MIN</a:t>
            </a:r>
            <a:endParaRPr lang="en-US" sz="1000" dirty="0"/>
          </a:p>
        </p:txBody>
      </p:sp>
      <p:sp>
        <p:nvSpPr>
          <p:cNvPr id="7" name="st_189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190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191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0" name="se_192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Class: What time is it, Mr Wolf?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 Che ore sono, signor Lupo?</a:t>
            </a:r>
            <a:endParaRPr lang="en-US" sz="1050" dirty="0"/>
          </a:p>
        </p:txBody>
      </p:sp>
      <p:sp>
        <p:nvSpPr>
          <p:cNvPr id="11" name="st_193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194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195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4" name="se_196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Wolf: It's three o'clock! → 3 steps.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Lupo: Sono le tre! → 3 passi.</a:t>
            </a:r>
            <a:endParaRPr lang="en-US" sz="1050" dirty="0"/>
          </a:p>
        </p:txBody>
      </p:sp>
      <p:sp>
        <p:nvSpPr>
          <p:cNvPr id="15" name="st_197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198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199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8" name="se_200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Wolf: It's dinner time! → run back!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Lupo: Ora di cena! → scappa!</a:t>
            </a:r>
            <a:endParaRPr lang="en-US" sz="1050" dirty="0"/>
          </a:p>
        </p:txBody>
      </p:sp>
      <p:sp>
        <p:nvSpPr>
          <p:cNvPr id="19" name="cd_201"/>
          <p:cNvSpPr/>
          <p:nvPr/>
        </p:nvSpPr>
        <p:spPr>
          <a:xfrm>
            <a:off x="3108960" y="132588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202" descr="/home/claude/movers/img/e-u1-wol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362456" cy="1362456"/>
          </a:xfrm>
          <a:prstGeom prst="rect">
            <a:avLst/>
          </a:prstGeom>
        </p:spPr>
      </p:pic>
      <p:sp>
        <p:nvSpPr>
          <p:cNvPr id="21" name="cd_203"/>
          <p:cNvSpPr/>
          <p:nvPr/>
        </p:nvSpPr>
        <p:spPr>
          <a:xfrm>
            <a:off x="4754880" y="132588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204" descr="/home/claude/movers/img/e-u1-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399032"/>
            <a:ext cx="1362456" cy="136245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0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600" dirty="0"/>
          </a:p>
        </p:txBody>
      </p:sp>
      <p:sp>
        <p:nvSpPr>
          <p:cNvPr id="4" name="bm_206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8E5B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Describe it!</a:t>
            </a:r>
            <a:endParaRPr lang="en-US" sz="2400" dirty="0"/>
          </a:p>
        </p:txBody>
      </p:sp>
      <p:sp>
        <p:nvSpPr>
          <p:cNvPr id="5" name="in_207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Choose a card. Describe it. Your group guesses!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Scegli una carta. Descrivila. Il gruppo indovina!</a:t>
            </a:r>
            <a:endParaRPr lang="en-US" sz="1400" dirty="0"/>
          </a:p>
        </p:txBody>
      </p:sp>
      <p:sp>
        <p:nvSpPr>
          <p:cNvPr id="6" name="mode_20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GROUPS OF 4 · ⏱ 5 MIN</a:t>
            </a:r>
            <a:endParaRPr lang="en-US" sz="1000" dirty="0"/>
          </a:p>
        </p:txBody>
      </p:sp>
      <p:sp>
        <p:nvSpPr>
          <p:cNvPr id="7" name="diff_209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It's … · It's in …</a:t>
            </a:r>
            <a:endParaRPr lang="en-US" sz="950" dirty="0"/>
          </a:p>
        </p:txBody>
      </p:sp>
      <p:sp>
        <p:nvSpPr>
          <p:cNvPr id="8" name="st_210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211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212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1" name="se_213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card – secret!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 una carta – segreta!</a:t>
            </a:r>
            <a:endParaRPr lang="en-US" sz="1050" dirty="0"/>
          </a:p>
        </p:txBody>
      </p:sp>
      <p:sp>
        <p:nvSpPr>
          <p:cNvPr id="12" name="st_214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215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216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5" name="se_217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green. Cows eat it.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verde. Le mucche la mangiano.</a:t>
            </a:r>
            <a:endParaRPr lang="en-US" sz="1050" dirty="0"/>
          </a:p>
        </p:txBody>
      </p:sp>
      <p:sp>
        <p:nvSpPr>
          <p:cNvPr id="16" name="st_218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219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220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9" name="se_221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grass? – Yes!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l'erba? – Sì!</a:t>
            </a:r>
            <a:endParaRPr lang="en-US" sz="1050" dirty="0"/>
          </a:p>
        </p:txBody>
      </p:sp>
      <p:sp>
        <p:nvSpPr>
          <p:cNvPr id="20" name="cd_222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223" descr="/home/claude/movers/img/fc/gr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476" y="1399032"/>
            <a:ext cx="834847" cy="834847"/>
          </a:xfrm>
          <a:prstGeom prst="rect">
            <a:avLst/>
          </a:prstGeom>
        </p:spPr>
      </p:pic>
      <p:sp>
        <p:nvSpPr>
          <p:cNvPr id="22" name="lb_224"/>
          <p:cNvSpPr/>
          <p:nvPr/>
        </p:nvSpPr>
        <p:spPr>
          <a:xfrm>
            <a:off x="314553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grass</a:t>
            </a:r>
            <a:endParaRPr lang="en-US" sz="1100" dirty="0"/>
          </a:p>
        </p:txBody>
      </p:sp>
      <p:sp>
        <p:nvSpPr>
          <p:cNvPr id="23" name="cd_225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226" descr="/home/claude/movers/img/fc/trac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516" y="1399032"/>
            <a:ext cx="834847" cy="834847"/>
          </a:xfrm>
          <a:prstGeom prst="rect">
            <a:avLst/>
          </a:prstGeom>
        </p:spPr>
      </p:pic>
      <p:sp>
        <p:nvSpPr>
          <p:cNvPr id="25" name="lb_227"/>
          <p:cNvSpPr/>
          <p:nvPr/>
        </p:nvSpPr>
        <p:spPr>
          <a:xfrm>
            <a:off x="460857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tractor</a:t>
            </a:r>
            <a:endParaRPr lang="en-US" sz="1100" dirty="0"/>
          </a:p>
        </p:txBody>
      </p:sp>
      <p:sp>
        <p:nvSpPr>
          <p:cNvPr id="26" name="cd_228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7" name="ci_229" descr="/home/claude/movers/img/fc/ri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556" y="1399032"/>
            <a:ext cx="834847" cy="834847"/>
          </a:xfrm>
          <a:prstGeom prst="rect">
            <a:avLst/>
          </a:prstGeom>
        </p:spPr>
      </p:pic>
      <p:sp>
        <p:nvSpPr>
          <p:cNvPr id="28" name="lb_230"/>
          <p:cNvSpPr/>
          <p:nvPr/>
        </p:nvSpPr>
        <p:spPr>
          <a:xfrm>
            <a:off x="607161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river</a:t>
            </a:r>
            <a:endParaRPr lang="en-US" sz="1100" dirty="0"/>
          </a:p>
        </p:txBody>
      </p:sp>
      <p:sp>
        <p:nvSpPr>
          <p:cNvPr id="29" name="cd_231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0" name="ci_232" descr="/home/claude/movers/img/fc/tow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596" y="1399032"/>
            <a:ext cx="834847" cy="834847"/>
          </a:xfrm>
          <a:prstGeom prst="rect">
            <a:avLst/>
          </a:prstGeom>
        </p:spPr>
      </p:pic>
      <p:sp>
        <p:nvSpPr>
          <p:cNvPr id="31" name="lb_233"/>
          <p:cNvSpPr/>
          <p:nvPr/>
        </p:nvSpPr>
        <p:spPr>
          <a:xfrm>
            <a:off x="753465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towel</a:t>
            </a:r>
            <a:endParaRPr lang="en-US" sz="1100" dirty="0"/>
          </a:p>
        </p:txBody>
      </p:sp>
      <p:sp>
        <p:nvSpPr>
          <p:cNvPr id="32" name="cd_234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3" name="ci_235" descr="/home/claude/movers/img/fc/toothbru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4476" y="2834640"/>
            <a:ext cx="834847" cy="834847"/>
          </a:xfrm>
          <a:prstGeom prst="rect">
            <a:avLst/>
          </a:prstGeom>
        </p:spPr>
      </p:pic>
      <p:sp>
        <p:nvSpPr>
          <p:cNvPr id="34" name="lb_236"/>
          <p:cNvSpPr/>
          <p:nvPr/>
        </p:nvSpPr>
        <p:spPr>
          <a:xfrm>
            <a:off x="314553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toothbrush</a:t>
            </a:r>
            <a:endParaRPr lang="en-US" sz="1100" dirty="0"/>
          </a:p>
        </p:txBody>
      </p:sp>
      <p:sp>
        <p:nvSpPr>
          <p:cNvPr id="35" name="cd_237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6" name="ci_238" descr="/home/claude/movers/img/fc/mountai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7516" y="2834640"/>
            <a:ext cx="834847" cy="834847"/>
          </a:xfrm>
          <a:prstGeom prst="rect">
            <a:avLst/>
          </a:prstGeom>
        </p:spPr>
      </p:pic>
      <p:sp>
        <p:nvSpPr>
          <p:cNvPr id="37" name="lb_239"/>
          <p:cNvSpPr/>
          <p:nvPr/>
        </p:nvSpPr>
        <p:spPr>
          <a:xfrm>
            <a:off x="460857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mountain</a:t>
            </a:r>
            <a:endParaRPr lang="en-US" sz="1100" dirty="0"/>
          </a:p>
        </p:txBody>
      </p:sp>
      <p:sp>
        <p:nvSpPr>
          <p:cNvPr id="38" name="cd_240"/>
          <p:cNvSpPr/>
          <p:nvPr/>
        </p:nvSpPr>
        <p:spPr>
          <a:xfrm>
            <a:off x="603504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9" name="ci_241" descr="/home/claude/movers/img/fc/farm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0556" y="2834640"/>
            <a:ext cx="834847" cy="834847"/>
          </a:xfrm>
          <a:prstGeom prst="rect">
            <a:avLst/>
          </a:prstGeom>
        </p:spPr>
      </p:pic>
      <p:sp>
        <p:nvSpPr>
          <p:cNvPr id="40" name="lb_242"/>
          <p:cNvSpPr/>
          <p:nvPr/>
        </p:nvSpPr>
        <p:spPr>
          <a:xfrm>
            <a:off x="607161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farmer</a:t>
            </a:r>
            <a:endParaRPr lang="en-US" sz="1100" dirty="0"/>
          </a:p>
        </p:txBody>
      </p:sp>
      <p:sp>
        <p:nvSpPr>
          <p:cNvPr id="41" name="cd_243"/>
          <p:cNvSpPr/>
          <p:nvPr/>
        </p:nvSpPr>
        <p:spPr>
          <a:xfrm>
            <a:off x="749808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42" name="ci_244" descr="/home/claude/movers/img/fc/have-breakfa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3596" y="2834640"/>
            <a:ext cx="834847" cy="834847"/>
          </a:xfrm>
          <a:prstGeom prst="rect">
            <a:avLst/>
          </a:prstGeom>
        </p:spPr>
      </p:pic>
      <p:sp>
        <p:nvSpPr>
          <p:cNvPr id="43" name="lb_245"/>
          <p:cNvSpPr/>
          <p:nvPr/>
        </p:nvSpPr>
        <p:spPr>
          <a:xfrm>
            <a:off x="753465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have breakfast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UNIT 1 · LESSON 6 · Mission in action!</dc:title>
  <dc:subject>PptxGenJS Presentation</dc:subject>
  <dc:creator>PptxGenJS</dc:creator>
  <cp:lastModifiedBy>PptxGenJS</cp:lastModifiedBy>
  <cp:revision>1</cp:revision>
  <dcterms:created xsi:type="dcterms:W3CDTF">2026-10-06T10:51:22Z</dcterms:created>
  <dcterms:modified xsi:type="dcterms:W3CDTF">2026-10-06T10:51:22Z</dcterms:modified>
</cp:coreProperties>
</file>