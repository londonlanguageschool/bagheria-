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 (60 min). Aims: cooking methods, recipe language, sequencing, for / until.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VARIATION: memory + upgrade. Revises chop, slice, dice, peel, grate, crush, mince, fillet and the 'upgrade' adverbs (finely, thinly, roughly).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Contrast bake vs roast (bake bread/cakes, roast meat/vegetables) and boil vs simmer.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(5 min). VARIATION: phonological branching — sort by sound, not spelling. /ɪd/ only after t or d. Students add 2 more menu words for each sound.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PRACTICE (5 min).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Answer: F C E A D B. Click 1. Note: F and C can swap (heat the oil first, then slice the garlic) — accept it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Menus use past participles: grilled, steamed, roast(ed), baked, pan-fried. Last question: personalisation + justify.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(8 min). VARIATION: mild controversy — Italian chefs love judging British-made 'Italian' food. Preview first (link checked October 2026). Push them to justify: It isn't Italian because…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+ SPEAKING (10 min). VARIATION: constraint challenge (no Italian). The partner must ask at least 2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L5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min). VARIATION: opposites — 'the worst way' always gets laughs and longer answers. Ask: Who disagrees?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opposites + student-generated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WaBh-r2ZP0" TargetMode="External"/><Relationship Id="rId4" Type="http://schemas.openxmlformats.org/officeDocument/2006/relationships/hyperlink" Target="https://www.youtube.com/watch?v=lWaBh-r2ZP0" TargetMode="Externa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5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34340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COOKING METHODS</a:t>
            </a:r>
            <a:endParaRPr lang="en-US" sz="25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23697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cooking methods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first, then, finally · for / until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429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your signature dish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ste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roa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signature dish?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My… First, I…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4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Mime it, say it!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a cutting verb + food. Your partner gives the command!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 un verbo + cibo. Il collega dà il comando!</a:t>
            </a:r>
            <a:endParaRPr lang="en-US" sz="120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2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3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mimes: grating cheese.</a:t>
            </a:r>
            <a:endParaRPr lang="en-US" sz="1300" dirty="0"/>
          </a:p>
        </p:txBody>
      </p:sp>
      <p:sp>
        <p:nvSpPr>
          <p:cNvPr id="16" name="num_3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3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B says the command: Grate the cheese!</a:t>
            </a:r>
            <a:endParaRPr lang="en-US" sz="1300" dirty="0"/>
          </a:p>
        </p:txBody>
      </p:sp>
      <p:sp>
        <p:nvSpPr>
          <p:cNvPr id="18" name="num_3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3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it: Finely grate the parmesan, please! = 2 points</a:t>
            </a:r>
            <a:endParaRPr lang="en-US" sz="1300" dirty="0"/>
          </a:p>
        </p:txBody>
      </p:sp>
      <p:sp>
        <p:nvSpPr>
          <p:cNvPr id="20" name="num_3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3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mimes each. Highest score wins.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3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Cooking methods</a:t>
            </a:r>
            <a:endParaRPr lang="en-US" sz="900" dirty="0"/>
          </a:p>
        </p:txBody>
      </p:sp>
      <p:sp>
        <p:nvSpPr>
          <p:cNvPr id="6" name="timer_4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4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42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 you cook it?</a:t>
            </a:r>
            <a:endParaRPr lang="en-US" sz="1500" dirty="0"/>
          </a:p>
        </p:txBody>
      </p:sp>
      <p:sp>
        <p:nvSpPr>
          <p:cNvPr id="9" name="post_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verb. Click to check the Italian.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il verbo. Clicca per l'italiano.</a:t>
            </a:r>
            <a:endParaRPr lang="en-US" sz="1250" dirty="0"/>
          </a:p>
        </p:txBody>
      </p:sp>
      <p:sp>
        <p:nvSpPr>
          <p:cNvPr id="12" name="tile_46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47" descr="bo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4" name="tw_48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</a:t>
            </a:r>
            <a:endParaRPr lang="en-US" sz="1250" dirty="0"/>
          </a:p>
        </p:txBody>
      </p:sp>
      <p:sp>
        <p:nvSpPr>
          <p:cNvPr id="15" name="R1_it0"/>
          <p:cNvSpPr txBox="1"/>
          <p:nvPr/>
        </p:nvSpPr>
        <p:spPr>
          <a:xfrm>
            <a:off x="2825496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bollire</a:t>
            </a:r>
            <a:endParaRPr lang="en-US" sz="1050" dirty="0"/>
          </a:p>
        </p:txBody>
      </p:sp>
      <p:sp>
        <p:nvSpPr>
          <p:cNvPr id="16" name="tile_49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ti_50" descr="simm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18" name="tw_51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simmer</a:t>
            </a:r>
            <a:endParaRPr lang="en-US" sz="1250" dirty="0"/>
          </a:p>
        </p:txBody>
      </p:sp>
      <p:sp>
        <p:nvSpPr>
          <p:cNvPr id="19" name="R1_it1"/>
          <p:cNvSpPr txBox="1"/>
          <p:nvPr/>
        </p:nvSpPr>
        <p:spPr>
          <a:xfrm>
            <a:off x="4361688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 fuoco lento</a:t>
            </a:r>
            <a:endParaRPr lang="en-US" sz="1050" dirty="0"/>
          </a:p>
        </p:txBody>
      </p:sp>
      <p:sp>
        <p:nvSpPr>
          <p:cNvPr id="20" name="tile_52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53" descr="stea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22" name="tw_54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50" dirty="0"/>
          </a:p>
        </p:txBody>
      </p:sp>
      <p:sp>
        <p:nvSpPr>
          <p:cNvPr id="23" name="R1_it2"/>
          <p:cNvSpPr txBox="1"/>
          <p:nvPr/>
        </p:nvSpPr>
        <p:spPr>
          <a:xfrm>
            <a:off x="5897880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al vapore</a:t>
            </a:r>
            <a:endParaRPr lang="en-US" sz="1050" dirty="0"/>
          </a:p>
        </p:txBody>
      </p:sp>
      <p:sp>
        <p:nvSpPr>
          <p:cNvPr id="24" name="tile_55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56" descr="b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6" name="tw_57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</a:t>
            </a:r>
            <a:endParaRPr lang="en-US" sz="1250" dirty="0"/>
          </a:p>
        </p:txBody>
      </p:sp>
      <p:sp>
        <p:nvSpPr>
          <p:cNvPr id="27" name="R1_it3"/>
          <p:cNvSpPr txBox="1"/>
          <p:nvPr/>
        </p:nvSpPr>
        <p:spPr>
          <a:xfrm>
            <a:off x="7434072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al forno (pane, dolci)</a:t>
            </a:r>
            <a:endParaRPr lang="en-US" sz="900" dirty="0"/>
          </a:p>
        </p:txBody>
      </p:sp>
      <p:sp>
        <p:nvSpPr>
          <p:cNvPr id="28" name="tile_58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59" descr="roas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30" name="tw_60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</a:t>
            </a:r>
            <a:endParaRPr lang="en-US" sz="1250" dirty="0"/>
          </a:p>
        </p:txBody>
      </p:sp>
      <p:sp>
        <p:nvSpPr>
          <p:cNvPr id="31" name="R1_it4"/>
          <p:cNvSpPr txBox="1"/>
          <p:nvPr/>
        </p:nvSpPr>
        <p:spPr>
          <a:xfrm>
            <a:off x="2825496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arrostire</a:t>
            </a:r>
            <a:endParaRPr lang="en-US" sz="1050" dirty="0"/>
          </a:p>
        </p:txBody>
      </p:sp>
      <p:sp>
        <p:nvSpPr>
          <p:cNvPr id="32" name="tile_61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62" descr="gri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34" name="tw_63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1250" dirty="0"/>
          </a:p>
        </p:txBody>
      </p:sp>
      <p:sp>
        <p:nvSpPr>
          <p:cNvPr id="35" name="R1_it5"/>
          <p:cNvSpPr txBox="1"/>
          <p:nvPr/>
        </p:nvSpPr>
        <p:spPr>
          <a:xfrm>
            <a:off x="4361688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grigliare</a:t>
            </a:r>
            <a:endParaRPr lang="en-US" sz="1050" dirty="0"/>
          </a:p>
        </p:txBody>
      </p:sp>
      <p:sp>
        <p:nvSpPr>
          <p:cNvPr id="36" name="tile_64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7" name="ti_65" descr="fr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38" name="tw_66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</a:t>
            </a:r>
            <a:endParaRPr lang="en-US" sz="1250" dirty="0"/>
          </a:p>
        </p:txBody>
      </p:sp>
      <p:sp>
        <p:nvSpPr>
          <p:cNvPr id="39" name="R1_it6"/>
          <p:cNvSpPr txBox="1"/>
          <p:nvPr/>
        </p:nvSpPr>
        <p:spPr>
          <a:xfrm>
            <a:off x="5897880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friggere / saltare</a:t>
            </a:r>
            <a:endParaRPr lang="en-US" sz="1050" dirty="0"/>
          </a:p>
        </p:txBody>
      </p:sp>
      <p:sp>
        <p:nvSpPr>
          <p:cNvPr id="40" name="tile_67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1" name="ti_68" descr="deep-fr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42" name="tw_69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deep-fry</a:t>
            </a:r>
            <a:endParaRPr lang="en-US" sz="1250" dirty="0"/>
          </a:p>
        </p:txBody>
      </p:sp>
      <p:sp>
        <p:nvSpPr>
          <p:cNvPr id="43" name="R1_it7"/>
          <p:cNvSpPr txBox="1"/>
          <p:nvPr/>
        </p:nvSpPr>
        <p:spPr>
          <a:xfrm>
            <a:off x="7434072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friggere in abbondante olio</a:t>
            </a:r>
            <a:endParaRPr lang="en-US" sz="900" dirty="0"/>
          </a:p>
        </p:txBody>
      </p:sp>
      <p:sp>
        <p:nvSpPr>
          <p:cNvPr id="44" name="tile_70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ti_71" descr="sti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46" name="tw_72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</a:t>
            </a:r>
            <a:endParaRPr lang="en-US" sz="1250" dirty="0"/>
          </a:p>
        </p:txBody>
      </p:sp>
      <p:sp>
        <p:nvSpPr>
          <p:cNvPr id="47" name="R1_it8"/>
          <p:cNvSpPr txBox="1"/>
          <p:nvPr/>
        </p:nvSpPr>
        <p:spPr>
          <a:xfrm>
            <a:off x="2825496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mescolare</a:t>
            </a:r>
            <a:endParaRPr lang="en-US" sz="1050" dirty="0"/>
          </a:p>
        </p:txBody>
      </p:sp>
      <p:sp>
        <p:nvSpPr>
          <p:cNvPr id="48" name="tile_73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9" name="ti_74" descr="whisk / mix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50" name="tw_75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/ mix</a:t>
            </a:r>
            <a:endParaRPr lang="en-US" sz="1250" dirty="0"/>
          </a:p>
        </p:txBody>
      </p:sp>
      <p:sp>
        <p:nvSpPr>
          <p:cNvPr id="51" name="R1_it9"/>
          <p:cNvSpPr txBox="1"/>
          <p:nvPr/>
        </p:nvSpPr>
        <p:spPr>
          <a:xfrm>
            <a:off x="4361688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sbattere / mescolare</a:t>
            </a:r>
            <a:endParaRPr lang="en-US" sz="1050" dirty="0"/>
          </a:p>
        </p:txBody>
      </p:sp>
      <p:sp>
        <p:nvSpPr>
          <p:cNvPr id="52" name="tile_76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3" name="ti_77" descr="seas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54" name="tw_78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250" dirty="0"/>
          </a:p>
        </p:txBody>
      </p:sp>
      <p:sp>
        <p:nvSpPr>
          <p:cNvPr id="55" name="R1_it10"/>
          <p:cNvSpPr txBox="1"/>
          <p:nvPr/>
        </p:nvSpPr>
        <p:spPr>
          <a:xfrm>
            <a:off x="5897880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condire / salare</a:t>
            </a:r>
            <a:endParaRPr lang="en-US" sz="1050" dirty="0"/>
          </a:p>
        </p:txBody>
      </p:sp>
      <p:sp>
        <p:nvSpPr>
          <p:cNvPr id="56" name="tile_79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7" name="ti_80" descr="microwav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58" name="tw_81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</a:t>
            </a:r>
            <a:endParaRPr lang="en-US" sz="1250" dirty="0"/>
          </a:p>
        </p:txBody>
      </p:sp>
      <p:sp>
        <p:nvSpPr>
          <p:cNvPr id="59" name="R1_it11"/>
          <p:cNvSpPr txBox="1"/>
          <p:nvPr/>
        </p:nvSpPr>
        <p:spPr>
          <a:xfrm>
            <a:off x="7434072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al microonde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8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Menu words</a:t>
            </a:r>
            <a:endParaRPr lang="en-US" sz="900" dirty="0"/>
          </a:p>
        </p:txBody>
      </p:sp>
      <p:sp>
        <p:nvSpPr>
          <p:cNvPr id="6" name="timer_8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8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87"/>
          <p:cNvSpPr txBox="1"/>
          <p:nvPr/>
        </p:nvSpPr>
        <p:spPr>
          <a:xfrm rot="-120000">
            <a:off x="320040" y="676656"/>
            <a:ext cx="449884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Grilled, baked, roasted</a:t>
            </a:r>
            <a:endParaRPr lang="en-US" sz="1500" dirty="0"/>
          </a:p>
        </p:txBody>
      </p:sp>
      <p:sp>
        <p:nvSpPr>
          <p:cNvPr id="9" name="post_8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8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9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menu word. Is the -ed /d/, /t/ or /ɪd/?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Pronuncia. La -ed è /d/, /t/ o /ɪd/?</a:t>
            </a:r>
            <a:endParaRPr lang="en-US" sz="1250" dirty="0"/>
          </a:p>
        </p:txBody>
      </p:sp>
      <p:sp>
        <p:nvSpPr>
          <p:cNvPr id="12" name="box_91"/>
          <p:cNvSpPr txBox="1"/>
          <p:nvPr/>
        </p:nvSpPr>
        <p:spPr>
          <a:xfrm>
            <a:off x="2788920" y="1371600"/>
            <a:ext cx="301752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grilled sea bass</a:t>
            </a:r>
            <a:endParaRPr lang="en-US" sz="1250" dirty="0"/>
          </a:p>
        </p:txBody>
      </p:sp>
      <p:sp>
        <p:nvSpPr>
          <p:cNvPr id="13" name="R1_m0"/>
          <p:cNvSpPr txBox="1"/>
          <p:nvPr/>
        </p:nvSpPr>
        <p:spPr>
          <a:xfrm>
            <a:off x="5879592" y="138988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</a:t>
            </a:r>
            <a:endParaRPr lang="en-US" sz="1150" dirty="0"/>
          </a:p>
        </p:txBody>
      </p:sp>
      <p:sp>
        <p:nvSpPr>
          <p:cNvPr id="14" name="box_92"/>
          <p:cNvSpPr txBox="1"/>
          <p:nvPr/>
        </p:nvSpPr>
        <p:spPr>
          <a:xfrm>
            <a:off x="2788920" y="1794510"/>
            <a:ext cx="301752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baked potatoes</a:t>
            </a:r>
            <a:endParaRPr lang="en-US" sz="1250" dirty="0"/>
          </a:p>
        </p:txBody>
      </p:sp>
      <p:sp>
        <p:nvSpPr>
          <p:cNvPr id="15" name="R1_m1"/>
          <p:cNvSpPr txBox="1"/>
          <p:nvPr/>
        </p:nvSpPr>
        <p:spPr>
          <a:xfrm>
            <a:off x="5879592" y="181279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</a:t>
            </a:r>
            <a:endParaRPr lang="en-US" sz="1150" dirty="0"/>
          </a:p>
        </p:txBody>
      </p:sp>
      <p:sp>
        <p:nvSpPr>
          <p:cNvPr id="16" name="box_93"/>
          <p:cNvSpPr txBox="1"/>
          <p:nvPr/>
        </p:nvSpPr>
        <p:spPr>
          <a:xfrm>
            <a:off x="2788920" y="2217420"/>
            <a:ext cx="3017520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roasted peppers</a:t>
            </a:r>
            <a:endParaRPr lang="en-US" sz="1250" dirty="0"/>
          </a:p>
        </p:txBody>
      </p:sp>
      <p:sp>
        <p:nvSpPr>
          <p:cNvPr id="17" name="R1_m2"/>
          <p:cNvSpPr txBox="1"/>
          <p:nvPr/>
        </p:nvSpPr>
        <p:spPr>
          <a:xfrm>
            <a:off x="5879592" y="223570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/ɪd/</a:t>
            </a:r>
            <a:endParaRPr lang="en-US" sz="1150" dirty="0"/>
          </a:p>
        </p:txBody>
      </p:sp>
      <p:sp>
        <p:nvSpPr>
          <p:cNvPr id="18" name="box_94"/>
          <p:cNvSpPr txBox="1"/>
          <p:nvPr/>
        </p:nvSpPr>
        <p:spPr>
          <a:xfrm>
            <a:off x="2788920" y="2640330"/>
            <a:ext cx="3017520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steamed mussels</a:t>
            </a:r>
            <a:endParaRPr lang="en-US" sz="1250" dirty="0"/>
          </a:p>
        </p:txBody>
      </p:sp>
      <p:sp>
        <p:nvSpPr>
          <p:cNvPr id="19" name="R1_m3"/>
          <p:cNvSpPr txBox="1"/>
          <p:nvPr/>
        </p:nvSpPr>
        <p:spPr>
          <a:xfrm>
            <a:off x="5879592" y="265861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</a:t>
            </a:r>
            <a:endParaRPr lang="en-US" sz="1150" dirty="0"/>
          </a:p>
        </p:txBody>
      </p:sp>
      <p:sp>
        <p:nvSpPr>
          <p:cNvPr id="20" name="box_95"/>
          <p:cNvSpPr txBox="1"/>
          <p:nvPr/>
        </p:nvSpPr>
        <p:spPr>
          <a:xfrm>
            <a:off x="2788920" y="3063240"/>
            <a:ext cx="3017520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mashed potatoes</a:t>
            </a:r>
            <a:endParaRPr lang="en-US" sz="1250" dirty="0"/>
          </a:p>
        </p:txBody>
      </p:sp>
      <p:sp>
        <p:nvSpPr>
          <p:cNvPr id="21" name="R1_m4"/>
          <p:cNvSpPr txBox="1"/>
          <p:nvPr/>
        </p:nvSpPr>
        <p:spPr>
          <a:xfrm>
            <a:off x="5879592" y="308152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</a:t>
            </a:r>
            <a:endParaRPr lang="en-US" sz="1150" dirty="0"/>
          </a:p>
        </p:txBody>
      </p:sp>
      <p:sp>
        <p:nvSpPr>
          <p:cNvPr id="22" name="box_96"/>
          <p:cNvSpPr txBox="1"/>
          <p:nvPr/>
        </p:nvSpPr>
        <p:spPr>
          <a:xfrm>
            <a:off x="2788920" y="3486150"/>
            <a:ext cx="3017520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toasted bread</a:t>
            </a:r>
            <a:endParaRPr lang="en-US" sz="1250" dirty="0"/>
          </a:p>
        </p:txBody>
      </p:sp>
      <p:sp>
        <p:nvSpPr>
          <p:cNvPr id="23" name="R1_m5"/>
          <p:cNvSpPr txBox="1"/>
          <p:nvPr/>
        </p:nvSpPr>
        <p:spPr>
          <a:xfrm>
            <a:off x="5879592" y="350443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/ɪd/</a:t>
            </a:r>
            <a:endParaRPr lang="en-US" sz="1150" dirty="0"/>
          </a:p>
        </p:txBody>
      </p:sp>
      <p:sp>
        <p:nvSpPr>
          <p:cNvPr id="24" name="box_97"/>
          <p:cNvSpPr txBox="1"/>
          <p:nvPr/>
        </p:nvSpPr>
        <p:spPr>
          <a:xfrm>
            <a:off x="2788920" y="3909060"/>
            <a:ext cx="301752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fried calamari</a:t>
            </a:r>
            <a:endParaRPr lang="en-US" sz="1250" dirty="0"/>
          </a:p>
        </p:txBody>
      </p:sp>
      <p:sp>
        <p:nvSpPr>
          <p:cNvPr id="25" name="R1_m6"/>
          <p:cNvSpPr txBox="1"/>
          <p:nvPr/>
        </p:nvSpPr>
        <p:spPr>
          <a:xfrm>
            <a:off x="5879592" y="392734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</a:t>
            </a:r>
            <a:endParaRPr lang="en-US" sz="1150" dirty="0"/>
          </a:p>
        </p:txBody>
      </p:sp>
      <p:sp>
        <p:nvSpPr>
          <p:cNvPr id="26" name="box_98"/>
          <p:cNvSpPr txBox="1"/>
          <p:nvPr/>
        </p:nvSpPr>
        <p:spPr>
          <a:xfrm>
            <a:off x="2788920" y="4331970"/>
            <a:ext cx="301752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whipped cream</a:t>
            </a:r>
            <a:endParaRPr lang="en-US" sz="1250" dirty="0"/>
          </a:p>
        </p:txBody>
      </p:sp>
      <p:sp>
        <p:nvSpPr>
          <p:cNvPr id="27" name="R1_m7"/>
          <p:cNvSpPr txBox="1"/>
          <p:nvPr/>
        </p:nvSpPr>
        <p:spPr>
          <a:xfrm>
            <a:off x="5879592" y="435025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0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Telling a recipe</a:t>
            </a:r>
            <a:endParaRPr lang="en-US" sz="900" dirty="0"/>
          </a:p>
        </p:txBody>
      </p:sp>
      <p:sp>
        <p:nvSpPr>
          <p:cNvPr id="6" name="timer_10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0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104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First, heat the oil…</a:t>
            </a:r>
            <a:endParaRPr lang="en-US" sz="1500" dirty="0"/>
          </a:p>
        </p:txBody>
      </p:sp>
      <p:sp>
        <p:nvSpPr>
          <p:cNvPr id="9" name="rh_10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</a:t>
            </a:r>
            <a:endParaRPr lang="en-US" sz="1300" dirty="0"/>
          </a:p>
        </p:txBody>
      </p:sp>
      <p:sp>
        <p:nvSpPr>
          <p:cNvPr id="10" name="rb_10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Finally,…</a:t>
            </a:r>
            <a:endParaRPr lang="en-US" sz="1350" dirty="0"/>
          </a:p>
        </p:txBody>
      </p:sp>
      <p:sp>
        <p:nvSpPr>
          <p:cNvPr id="11" name="rh_10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Imperatives</a:t>
            </a:r>
            <a:endParaRPr lang="en-US" sz="1300" dirty="0"/>
          </a:p>
        </p:txBody>
      </p:sp>
      <p:sp>
        <p:nvSpPr>
          <p:cNvPr id="12" name="rb_10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the oil.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garlic.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with salt and pepper.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at 180°C.</a:t>
            </a:r>
            <a:endParaRPr lang="en-US" sz="1350" dirty="0"/>
          </a:p>
        </p:txBody>
      </p:sp>
      <p:sp>
        <p:nvSpPr>
          <p:cNvPr id="13" name="rh_10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/ until</a:t>
            </a:r>
            <a:endParaRPr lang="en-US" sz="1300" dirty="0"/>
          </a:p>
        </p:txBody>
      </p:sp>
      <p:sp>
        <p:nvSpPr>
          <p:cNvPr id="14" name="rb_11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Simmer for 20 minutes. (per)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until golden. (finché)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+ time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+ result</a:t>
            </a:r>
            <a:endParaRPr lang="en-US" sz="1350" dirty="0"/>
          </a:p>
        </p:txBody>
      </p:sp>
      <p:sp>
        <p:nvSpPr>
          <p:cNvPr id="15" name="watch_11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Cook for golden → ✓ Cook until golden.     ✗ Simmer until 20 minutes → ✓ Simmer for 20 minutes.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1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900" dirty="0"/>
          </a:p>
        </p:txBody>
      </p:sp>
      <p:sp>
        <p:nvSpPr>
          <p:cNvPr id="6" name="timer_11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1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117"/>
          <p:cNvSpPr txBox="1"/>
          <p:nvPr/>
        </p:nvSpPr>
        <p:spPr>
          <a:xfrm rot="-120000">
            <a:off x="320040" y="676656"/>
            <a:ext cx="519379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for, until, first, finally?</a:t>
            </a:r>
            <a:endParaRPr lang="en-US" sz="1500" dirty="0"/>
          </a:p>
        </p:txBody>
      </p:sp>
      <p:sp>
        <p:nvSpPr>
          <p:cNvPr id="9" name="post_11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2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for · until · First · Finally.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for / until / First / Finally.</a:t>
            </a:r>
            <a:endParaRPr lang="en-US" sz="1250" dirty="0"/>
          </a:p>
        </p:txBody>
      </p:sp>
      <p:sp>
        <p:nvSpPr>
          <p:cNvPr id="12" name="box_121"/>
          <p:cNvSpPr txBox="1"/>
          <p:nvPr/>
        </p:nvSpPr>
        <p:spPr>
          <a:xfrm>
            <a:off x="2788920" y="1371600"/>
            <a:ext cx="2067458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Boil the pasta ___ 10 minutes.</a:t>
            </a:r>
            <a:endParaRPr lang="en-US" sz="1350" dirty="0"/>
          </a:p>
        </p:txBody>
      </p:sp>
      <p:sp>
        <p:nvSpPr>
          <p:cNvPr id="13" name="R1_a0"/>
          <p:cNvSpPr txBox="1"/>
          <p:nvPr/>
        </p:nvSpPr>
        <p:spPr>
          <a:xfrm>
            <a:off x="4911242" y="1408176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200" dirty="0"/>
          </a:p>
        </p:txBody>
      </p:sp>
      <p:sp>
        <p:nvSpPr>
          <p:cNvPr id="14" name="box_122"/>
          <p:cNvSpPr txBox="1"/>
          <p:nvPr/>
        </p:nvSpPr>
        <p:spPr>
          <a:xfrm>
            <a:off x="5870448" y="1371600"/>
            <a:ext cx="2067458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Cook the onions ___ they're soft.</a:t>
            </a:r>
            <a:endParaRPr lang="en-US" sz="1350" dirty="0"/>
          </a:p>
        </p:txBody>
      </p:sp>
      <p:sp>
        <p:nvSpPr>
          <p:cNvPr id="15" name="R1_a1"/>
          <p:cNvSpPr txBox="1"/>
          <p:nvPr/>
        </p:nvSpPr>
        <p:spPr>
          <a:xfrm>
            <a:off x="7992770" y="1408176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200" dirty="0"/>
          </a:p>
        </p:txBody>
      </p:sp>
      <p:sp>
        <p:nvSpPr>
          <p:cNvPr id="16" name="box_123"/>
          <p:cNvSpPr txBox="1"/>
          <p:nvPr/>
        </p:nvSpPr>
        <p:spPr>
          <a:xfrm>
            <a:off x="2788920" y="2368296"/>
            <a:ext cx="2067458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___, heat the oil.</a:t>
            </a:r>
            <a:endParaRPr lang="en-US" sz="1350" dirty="0"/>
          </a:p>
        </p:txBody>
      </p:sp>
      <p:sp>
        <p:nvSpPr>
          <p:cNvPr id="17" name="R1_a2"/>
          <p:cNvSpPr txBox="1"/>
          <p:nvPr/>
        </p:nvSpPr>
        <p:spPr>
          <a:xfrm>
            <a:off x="4911242" y="2404872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200" dirty="0"/>
          </a:p>
        </p:txBody>
      </p:sp>
      <p:sp>
        <p:nvSpPr>
          <p:cNvPr id="18" name="box_124"/>
          <p:cNvSpPr txBox="1"/>
          <p:nvPr/>
        </p:nvSpPr>
        <p:spPr>
          <a:xfrm>
            <a:off x="5870448" y="2368296"/>
            <a:ext cx="2067458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Bake ___ golden.</a:t>
            </a:r>
            <a:endParaRPr lang="en-US" sz="1350" dirty="0"/>
          </a:p>
        </p:txBody>
      </p:sp>
      <p:sp>
        <p:nvSpPr>
          <p:cNvPr id="19" name="R1_a3"/>
          <p:cNvSpPr txBox="1"/>
          <p:nvPr/>
        </p:nvSpPr>
        <p:spPr>
          <a:xfrm>
            <a:off x="7992770" y="2404872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200" dirty="0"/>
          </a:p>
        </p:txBody>
      </p:sp>
      <p:sp>
        <p:nvSpPr>
          <p:cNvPr id="20" name="box_125"/>
          <p:cNvSpPr txBox="1"/>
          <p:nvPr/>
        </p:nvSpPr>
        <p:spPr>
          <a:xfrm>
            <a:off x="2788920" y="3364992"/>
            <a:ext cx="2067458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___, serve with basil.</a:t>
            </a:r>
            <a:endParaRPr lang="en-US" sz="1350" dirty="0"/>
          </a:p>
        </p:txBody>
      </p:sp>
      <p:sp>
        <p:nvSpPr>
          <p:cNvPr id="21" name="R1_a4"/>
          <p:cNvSpPr txBox="1"/>
          <p:nvPr/>
        </p:nvSpPr>
        <p:spPr>
          <a:xfrm>
            <a:off x="4911242" y="3401568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200" dirty="0"/>
          </a:p>
        </p:txBody>
      </p:sp>
      <p:sp>
        <p:nvSpPr>
          <p:cNvPr id="22" name="box_126"/>
          <p:cNvSpPr txBox="1"/>
          <p:nvPr/>
        </p:nvSpPr>
        <p:spPr>
          <a:xfrm>
            <a:off x="5870448" y="3364992"/>
            <a:ext cx="2067458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Chill it ___ two hours.</a:t>
            </a:r>
            <a:endParaRPr lang="en-US" sz="1350" dirty="0"/>
          </a:p>
        </p:txBody>
      </p:sp>
      <p:sp>
        <p:nvSpPr>
          <p:cNvPr id="23" name="R1_a5"/>
          <p:cNvSpPr txBox="1"/>
          <p:nvPr/>
        </p:nvSpPr>
        <p:spPr>
          <a:xfrm>
            <a:off x="7992770" y="3401568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2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recipe</a:t>
            </a:r>
            <a:endParaRPr lang="en-US" sz="900" dirty="0"/>
          </a:p>
        </p:txBody>
      </p:sp>
      <p:sp>
        <p:nvSpPr>
          <p:cNvPr id="6" name="timer_13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3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132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 tomato sauce</a:t>
            </a:r>
            <a:endParaRPr lang="en-US" sz="1500" dirty="0"/>
          </a:p>
        </p:txBody>
      </p:sp>
      <p:sp>
        <p:nvSpPr>
          <p:cNvPr id="9" name="post_13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3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13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steps in the correct order.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 passaggi nell'ordine giusto.</a:t>
            </a:r>
            <a:endParaRPr lang="en-US" sz="1250" dirty="0"/>
          </a:p>
        </p:txBody>
      </p:sp>
      <p:sp>
        <p:nvSpPr>
          <p:cNvPr id="12" name="box_136"/>
          <p:cNvSpPr txBox="1"/>
          <p:nvPr/>
        </p:nvSpPr>
        <p:spPr>
          <a:xfrm>
            <a:off x="2788920" y="1371600"/>
            <a:ext cx="4948733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Add the tinned tomatoes and a pinch of salt.</a:t>
            </a:r>
            <a:endParaRPr lang="en-US" sz="1350" dirty="0"/>
          </a:p>
        </p:txBody>
      </p:sp>
      <p:sp>
        <p:nvSpPr>
          <p:cNvPr id="13" name="R1_a0"/>
          <p:cNvSpPr txBox="1"/>
          <p:nvPr/>
        </p:nvSpPr>
        <p:spPr>
          <a:xfrm>
            <a:off x="7792517" y="1408176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box_137"/>
          <p:cNvSpPr txBox="1"/>
          <p:nvPr/>
        </p:nvSpPr>
        <p:spPr>
          <a:xfrm>
            <a:off x="2788920" y="1941576"/>
            <a:ext cx="4948733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Finally, add fresh basil and serve with pasta.</a:t>
            </a:r>
            <a:endParaRPr lang="en-US" sz="1350" dirty="0"/>
          </a:p>
        </p:txBody>
      </p:sp>
      <p:sp>
        <p:nvSpPr>
          <p:cNvPr id="15" name="R1_a1"/>
          <p:cNvSpPr txBox="1"/>
          <p:nvPr/>
        </p:nvSpPr>
        <p:spPr>
          <a:xfrm>
            <a:off x="7792517" y="1978152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box_138"/>
          <p:cNvSpPr txBox="1"/>
          <p:nvPr/>
        </p:nvSpPr>
        <p:spPr>
          <a:xfrm>
            <a:off x="2788920" y="2511552"/>
            <a:ext cx="4948733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Next, heat some olive oil in a saucepan.</a:t>
            </a:r>
            <a:endParaRPr lang="en-US" sz="1350" dirty="0"/>
          </a:p>
        </p:txBody>
      </p:sp>
      <p:sp>
        <p:nvSpPr>
          <p:cNvPr id="17" name="R1_a2"/>
          <p:cNvSpPr txBox="1"/>
          <p:nvPr/>
        </p:nvSpPr>
        <p:spPr>
          <a:xfrm>
            <a:off x="7792517" y="2548128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139"/>
          <p:cNvSpPr txBox="1"/>
          <p:nvPr/>
        </p:nvSpPr>
        <p:spPr>
          <a:xfrm>
            <a:off x="2788920" y="3081528"/>
            <a:ext cx="4948733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Simmer for 20 minutes. Stir from time to time.</a:t>
            </a:r>
            <a:endParaRPr lang="en-US" sz="1350" dirty="0"/>
          </a:p>
        </p:txBody>
      </p:sp>
      <p:sp>
        <p:nvSpPr>
          <p:cNvPr id="19" name="R1_a3"/>
          <p:cNvSpPr txBox="1"/>
          <p:nvPr/>
        </p:nvSpPr>
        <p:spPr>
          <a:xfrm>
            <a:off x="7792517" y="3118104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box_140"/>
          <p:cNvSpPr txBox="1"/>
          <p:nvPr/>
        </p:nvSpPr>
        <p:spPr>
          <a:xfrm>
            <a:off x="2788920" y="3651504"/>
            <a:ext cx="4948733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Then add the garlic and fry for one minute – don't burn it!</a:t>
            </a:r>
            <a:endParaRPr lang="en-US" sz="1350" dirty="0"/>
          </a:p>
        </p:txBody>
      </p:sp>
      <p:sp>
        <p:nvSpPr>
          <p:cNvPr id="21" name="R1_a4"/>
          <p:cNvSpPr txBox="1"/>
          <p:nvPr/>
        </p:nvSpPr>
        <p:spPr>
          <a:xfrm>
            <a:off x="7792517" y="3688080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141"/>
          <p:cNvSpPr txBox="1"/>
          <p:nvPr/>
        </p:nvSpPr>
        <p:spPr>
          <a:xfrm>
            <a:off x="2788920" y="4221480"/>
            <a:ext cx="4948733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Peel and slice two cloves of garlic.</a:t>
            </a:r>
            <a:endParaRPr lang="en-US" sz="1350" dirty="0"/>
          </a:p>
        </p:txBody>
      </p:sp>
      <p:sp>
        <p:nvSpPr>
          <p:cNvPr id="23" name="R1_a5"/>
          <p:cNvSpPr txBox="1"/>
          <p:nvPr/>
        </p:nvSpPr>
        <p:spPr>
          <a:xfrm>
            <a:off x="7792517" y="4258056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4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menu</a:t>
            </a:r>
            <a:endParaRPr lang="en-US" sz="900" dirty="0"/>
          </a:p>
        </p:txBody>
      </p:sp>
      <p:sp>
        <p:nvSpPr>
          <p:cNvPr id="6" name="timer_14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4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147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menu</a:t>
            </a:r>
            <a:endParaRPr lang="en-US" sz="1500" dirty="0"/>
          </a:p>
        </p:txBody>
      </p:sp>
      <p:sp>
        <p:nvSpPr>
          <p:cNvPr id="9" name="rsign_148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menu. Answer the questions.  </a:t>
            </a:r>
            <a:pPr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menù e rispondi.</a:t>
            </a:r>
            <a:endParaRPr lang="en-US" sz="1000" dirty="0"/>
          </a:p>
        </p:txBody>
      </p:sp>
      <p:sp>
        <p:nvSpPr>
          <p:cNvPr id="10" name="rtext_149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 Trattoria Aspra – today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vegetables with goat's cheese  €8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Steamed mussels in white wine  €10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chicken with baked potatoes  €14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Pan-fried sea bass with lemon  €16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 with fresh tomato sauce (V)  €9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cheesecake  €6 · Fresh fruit (VG)  €5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(V) vegetarian · (VG) vegan</a:t>
            </a:r>
            <a:endParaRPr lang="en-US" sz="1300" dirty="0"/>
          </a:p>
        </p:txBody>
      </p:sp>
      <p:sp>
        <p:nvSpPr>
          <p:cNvPr id="11" name="box_150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Which dishes are cooked in the oven?</a:t>
            </a:r>
            <a:endParaRPr lang="en-US" sz="1150" dirty="0"/>
          </a:p>
        </p:txBody>
      </p:sp>
      <p:sp>
        <p:nvSpPr>
          <p:cNvPr id="12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chicken, baked potatoes, cheesecake</a:t>
            </a:r>
            <a:endParaRPr lang="en-US" sz="1050" dirty="0"/>
          </a:p>
        </p:txBody>
      </p:sp>
      <p:sp>
        <p:nvSpPr>
          <p:cNvPr id="13" name="box_151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are the mussels cooked?</a:t>
            </a:r>
            <a:endParaRPr lang="en-US" sz="1150" dirty="0"/>
          </a:p>
        </p:txBody>
      </p:sp>
      <p:sp>
        <p:nvSpPr>
          <p:cNvPr id="14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steamed</a:t>
            </a:r>
            <a:endParaRPr lang="en-US" sz="1050" dirty="0"/>
          </a:p>
        </p:txBody>
      </p:sp>
      <p:sp>
        <p:nvSpPr>
          <p:cNvPr id="15" name="box_152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What's the cheapest main?</a:t>
            </a:r>
            <a:endParaRPr lang="en-US" sz="1150" dirty="0"/>
          </a:p>
        </p:txBody>
      </p:sp>
      <p:sp>
        <p:nvSpPr>
          <p:cNvPr id="16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spaghetti, €9</a:t>
            </a:r>
            <a:endParaRPr lang="en-US" sz="1050" dirty="0"/>
          </a:p>
        </p:txBody>
      </p:sp>
      <p:sp>
        <p:nvSpPr>
          <p:cNvPr id="17" name="box_153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can a vegan eat?</a:t>
            </a:r>
            <a:endParaRPr lang="en-US" sz="1150" dirty="0"/>
          </a:p>
        </p:txBody>
      </p:sp>
      <p:sp>
        <p:nvSpPr>
          <p:cNvPr id="18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</a:t>
            </a:r>
            <a:endParaRPr lang="en-US" sz="1050" dirty="0"/>
          </a:p>
        </p:txBody>
      </p:sp>
      <p:sp>
        <p:nvSpPr>
          <p:cNvPr id="19" name="box_154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Which dish would you change? Why?</a:t>
            </a:r>
            <a:endParaRPr lang="en-US" sz="1150" dirty="0"/>
          </a:p>
        </p:txBody>
      </p:sp>
      <p:sp>
        <p:nvSpPr>
          <p:cNvPr id="20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answers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5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A famous recipe</a:t>
            </a:r>
            <a:endParaRPr lang="en-US" sz="900" dirty="0"/>
          </a:p>
        </p:txBody>
      </p:sp>
      <p:sp>
        <p:nvSpPr>
          <p:cNvPr id="6" name="timer_15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5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160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an Italian sauce?</a:t>
            </a:r>
            <a:endParaRPr lang="en-US" sz="1500" dirty="0"/>
          </a:p>
        </p:txBody>
      </p:sp>
      <p:sp>
        <p:nvSpPr>
          <p:cNvPr id="9" name="post_16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1" name="signB_16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Then judge the recipe!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Guarda. Poi giudica la ricetta!</a:t>
            </a:r>
            <a:endParaRPr lang="en-US" sz="1250" dirty="0"/>
          </a:p>
        </p:txBody>
      </p:sp>
      <p:sp>
        <p:nvSpPr>
          <p:cNvPr id="12" name="screen_164"/>
          <p:cNvSpPr/>
          <p:nvPr/>
        </p:nvSpPr>
        <p:spPr>
          <a:xfrm>
            <a:off x="2788920" y="13716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1F163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play_165">
            <a:hlinkClick r:id="rId3" tooltip="3 Minute Tomato Pasta Sauce"/>
          </p:cNvPr>
          <p:cNvSpPr txBox="1"/>
          <p:nvPr/>
        </p:nvSpPr>
        <p:spPr>
          <a:xfrm>
            <a:off x="3749040" y="1874520"/>
            <a:ext cx="822960" cy="822960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3 Minute Tomato Pasta Sau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600" dirty="0"/>
          </a:p>
        </p:txBody>
      </p:sp>
      <p:sp>
        <p:nvSpPr>
          <p:cNvPr id="14" name="vt_166"/>
          <p:cNvSpPr txBox="1"/>
          <p:nvPr/>
        </p:nvSpPr>
        <p:spPr>
          <a:xfrm>
            <a:off x="2788920" y="3310128"/>
            <a:ext cx="27432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Minute Tomato Pasta Sauce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Jamie Oliver (YouTube) · short · click ▶ to open</a:t>
            </a:r>
            <a:endParaRPr lang="en-US" sz="1200" dirty="0"/>
          </a:p>
        </p:txBody>
      </p:sp>
      <p:sp>
        <p:nvSpPr>
          <p:cNvPr id="15" name="wyw_167"/>
          <p:cNvSpPr txBox="1"/>
          <p:nvPr/>
        </p:nvSpPr>
        <p:spPr>
          <a:xfrm>
            <a:off x="5669280" y="1371600"/>
            <a:ext cx="315468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6" name="box_168"/>
          <p:cNvSpPr txBox="1"/>
          <p:nvPr/>
        </p:nvSpPr>
        <p:spPr>
          <a:xfrm>
            <a:off x="5669280" y="1810512"/>
            <a:ext cx="3154680" cy="7132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Which ingredients does he use?</a:t>
            </a:r>
            <a:endParaRPr lang="en-US" sz="1250" dirty="0"/>
          </a:p>
        </p:txBody>
      </p:sp>
      <p:sp>
        <p:nvSpPr>
          <p:cNvPr id="17" name="box_169"/>
          <p:cNvSpPr txBox="1"/>
          <p:nvPr/>
        </p:nvSpPr>
        <p:spPr>
          <a:xfrm>
            <a:off x="5669280" y="2615184"/>
            <a:ext cx="3154680" cy="7132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Which cooking verbs do you hear?</a:t>
            </a:r>
            <a:endParaRPr lang="en-US" sz="1250" dirty="0"/>
          </a:p>
        </p:txBody>
      </p:sp>
      <p:sp>
        <p:nvSpPr>
          <p:cNvPr id="18" name="box_170"/>
          <p:cNvSpPr txBox="1"/>
          <p:nvPr/>
        </p:nvSpPr>
        <p:spPr>
          <a:xfrm>
            <a:off x="5669280" y="3419856"/>
            <a:ext cx="3154680" cy="71323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Write the recipe in 5 steps with first, then, finally.</a:t>
            </a:r>
            <a:endParaRPr lang="en-US" sz="1250" dirty="0"/>
          </a:p>
        </p:txBody>
      </p:sp>
      <p:sp>
        <p:nvSpPr>
          <p:cNvPr id="19" name="bubble_171"/>
          <p:cNvSpPr txBox="1"/>
          <p:nvPr/>
        </p:nvSpPr>
        <p:spPr>
          <a:xfrm>
            <a:off x="2788920" y="4069080"/>
            <a:ext cx="2743200" cy="603504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Italian? What would YOU change? Convince me!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7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Your recipe</a:t>
            </a:r>
            <a:endParaRPr lang="en-US" sz="900" dirty="0"/>
          </a:p>
        </p:txBody>
      </p:sp>
      <p:sp>
        <p:nvSpPr>
          <p:cNvPr id="6" name="timer_17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7" name="footer_17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177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signature dish</a:t>
            </a:r>
            <a:endParaRPr lang="en-US" sz="1500" dirty="0"/>
          </a:p>
        </p:txBody>
      </p:sp>
      <p:sp>
        <p:nvSpPr>
          <p:cNvPr id="9" name="post_17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7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8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recipe. Then teach it to your partner!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la tua ricetta. Poi insegnala al collega!</a:t>
            </a:r>
            <a:endParaRPr lang="en-US" sz="1250" dirty="0"/>
          </a:p>
        </p:txBody>
      </p:sp>
      <p:sp>
        <p:nvSpPr>
          <p:cNvPr id="12" name="iconBack_18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82" descr="p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83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84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dish + ingredients with quantities.</a:t>
            </a:r>
            <a:endParaRPr lang="en-US" sz="1300" dirty="0"/>
          </a:p>
        </p:txBody>
      </p:sp>
      <p:sp>
        <p:nvSpPr>
          <p:cNvPr id="16" name="num_185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86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5–6 steps: First,… Then,… After that,… Finally, serve with…</a:t>
            </a:r>
            <a:endParaRPr lang="en-US" sz="1300" dirty="0"/>
          </a:p>
        </p:txBody>
      </p:sp>
      <p:sp>
        <p:nvSpPr>
          <p:cNvPr id="18" name="num_187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188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to your partner. RULE: no Italian words except the name of the dish!</a:t>
            </a:r>
            <a:endParaRPr lang="en-US" sz="1300" dirty="0"/>
          </a:p>
        </p:txBody>
      </p:sp>
      <p:sp>
        <p:nvSpPr>
          <p:cNvPr id="20" name="num_189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90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asks: How long…? What temperature? Until when?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9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6" name="title_194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195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196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cooking methods.</a:t>
            </a:r>
            <a:endParaRPr lang="en-US" sz="1350" dirty="0"/>
          </a:p>
        </p:txBody>
      </p:sp>
      <p:sp>
        <p:nvSpPr>
          <p:cNvPr id="9" name="faces_197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198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follow a simple recipe in English.</a:t>
            </a:r>
            <a:endParaRPr lang="en-US" sz="1350" dirty="0"/>
          </a:p>
        </p:txBody>
      </p:sp>
      <p:sp>
        <p:nvSpPr>
          <p:cNvPr id="11" name="faces_199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00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my recipe step by step.</a:t>
            </a:r>
            <a:endParaRPr lang="en-US" sz="1350" dirty="0"/>
          </a:p>
        </p:txBody>
      </p:sp>
      <p:sp>
        <p:nvSpPr>
          <p:cNvPr id="13" name="faces_201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02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recipe of one dish from your menu in English (6–8 steps).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5" name="stamp_203"/>
          <p:cNvSpPr txBox="1"/>
          <p:nvPr/>
        </p:nvSpPr>
        <p:spPr>
          <a:xfrm>
            <a:off x="365760" y="3657600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L6 · Numbers, quantities &amp; time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0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Best and worst</a:t>
            </a:r>
            <a:endParaRPr lang="en-US" sz="900" dirty="0"/>
          </a:p>
        </p:txBody>
      </p:sp>
      <p:sp>
        <p:nvSpPr>
          <p:cNvPr id="6" name="timer_20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08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9" name="title_210"/>
          <p:cNvSpPr txBox="1"/>
          <p:nvPr/>
        </p:nvSpPr>
        <p:spPr>
          <a:xfrm rot="-120000">
            <a:off x="320040" y="676656"/>
            <a:ext cx="588873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best way… and the WORST way</a:t>
            </a:r>
            <a:endParaRPr lang="en-US" sz="1500" dirty="0"/>
          </a:p>
        </p:txBody>
      </p:sp>
      <p:sp>
        <p:nvSpPr>
          <p:cNvPr id="10" name="post_21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1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1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best way to cook it. Then the worst way!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modo migliore per cucinarlo. Poi il peggiore!</a:t>
            </a:r>
            <a:endParaRPr lang="en-US" sz="1250" dirty="0"/>
          </a:p>
        </p:txBody>
      </p:sp>
      <p:sp>
        <p:nvSpPr>
          <p:cNvPr id="13" name="box_214"/>
          <p:cNvSpPr txBox="1"/>
          <p:nvPr/>
        </p:nvSpPr>
        <p:spPr>
          <a:xfrm>
            <a:off x="2788920" y="1371600"/>
            <a:ext cx="2953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potato</a:t>
            </a:r>
            <a:endParaRPr lang="en-US" sz="1400" dirty="0"/>
          </a:p>
        </p:txBody>
      </p:sp>
      <p:sp>
        <p:nvSpPr>
          <p:cNvPr id="14" name="box_215"/>
          <p:cNvSpPr txBox="1"/>
          <p:nvPr/>
        </p:nvSpPr>
        <p:spPr>
          <a:xfrm>
            <a:off x="5870448" y="1371600"/>
            <a:ext cx="2953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an egg</a:t>
            </a:r>
            <a:endParaRPr lang="en-US" sz="1400" dirty="0"/>
          </a:p>
        </p:txBody>
      </p:sp>
      <p:sp>
        <p:nvSpPr>
          <p:cNvPr id="15" name="box_216"/>
          <p:cNvSpPr txBox="1"/>
          <p:nvPr/>
        </p:nvSpPr>
        <p:spPr>
          <a:xfrm>
            <a:off x="2788920" y="2368296"/>
            <a:ext cx="2953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sea bass</a:t>
            </a:r>
            <a:endParaRPr lang="en-US" sz="1400" dirty="0"/>
          </a:p>
        </p:txBody>
      </p:sp>
      <p:sp>
        <p:nvSpPr>
          <p:cNvPr id="16" name="box_217"/>
          <p:cNvSpPr txBox="1"/>
          <p:nvPr/>
        </p:nvSpPr>
        <p:spPr>
          <a:xfrm>
            <a:off x="5870448" y="2368296"/>
            <a:ext cx="295351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steak</a:t>
            </a:r>
            <a:endParaRPr lang="en-US" sz="1400" dirty="0"/>
          </a:p>
        </p:txBody>
      </p:sp>
      <p:sp>
        <p:nvSpPr>
          <p:cNvPr id="17" name="box_218"/>
          <p:cNvSpPr txBox="1"/>
          <p:nvPr/>
        </p:nvSpPr>
        <p:spPr>
          <a:xfrm>
            <a:off x="2788920" y="3364992"/>
            <a:ext cx="295351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an aubergine</a:t>
            </a:r>
            <a:endParaRPr lang="en-US" sz="1400" dirty="0"/>
          </a:p>
        </p:txBody>
      </p:sp>
      <p:sp>
        <p:nvSpPr>
          <p:cNvPr id="18" name="box_219"/>
          <p:cNvSpPr txBox="1"/>
          <p:nvPr/>
        </p:nvSpPr>
        <p:spPr>
          <a:xfrm>
            <a:off x="5870448" y="3364992"/>
            <a:ext cx="295351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cake</a:t>
            </a:r>
            <a:endParaRPr lang="en-US" sz="1400" dirty="0"/>
          </a:p>
        </p:txBody>
      </p:sp>
      <p:sp>
        <p:nvSpPr>
          <p:cNvPr id="19" name="sticky_220"/>
          <p:cNvSpPr txBox="1"/>
          <p:nvPr/>
        </p:nvSpPr>
        <p:spPr>
          <a:xfrm rot="-120000">
            <a:off x="411480" y="3931920"/>
            <a:ext cx="228600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cook a steak is to grill it. The worst way is to boil it!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22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· fun</a:t>
            </a:r>
            <a:endParaRPr lang="en-US" sz="900" dirty="0"/>
          </a:p>
        </p:txBody>
      </p:sp>
      <p:sp>
        <p:nvSpPr>
          <p:cNvPr id="6" name="timer_22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2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2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9" name="title_227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disaster recipe</a:t>
            </a:r>
            <a:endParaRPr lang="en-US" sz="1500" dirty="0"/>
          </a:p>
        </p:txBody>
      </p:sp>
      <p:sp>
        <p:nvSpPr>
          <p:cNvPr id="10" name="post_2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2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WORST recipe in the world. Your partner fixes it!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la ricetta PEGGIORE. Il collega la corregge!</a:t>
            </a:r>
            <a:endParaRPr lang="en-US" sz="1200" dirty="0"/>
          </a:p>
        </p:txBody>
      </p:sp>
      <p:sp>
        <p:nvSpPr>
          <p:cNvPr id="13" name="iconBack_23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32" descr="w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33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34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famous dish: carbonara, pizza margherita, arancine…</a:t>
            </a:r>
            <a:endParaRPr lang="en-US" sz="1300" dirty="0"/>
          </a:p>
        </p:txBody>
      </p:sp>
      <p:sp>
        <p:nvSpPr>
          <p:cNvPr id="17" name="num_235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36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terrible steps: First, boil the pizza for 2 hours…</a:t>
            </a:r>
            <a:endParaRPr lang="en-US" sz="1300" dirty="0"/>
          </a:p>
        </p:txBody>
      </p:sp>
      <p:sp>
        <p:nvSpPr>
          <p:cNvPr id="19" name="num_237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38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Swap. Your partner corrects it: Don't boil it! Bake it at 250°C for…</a:t>
            </a:r>
            <a:endParaRPr lang="en-US" sz="1300" dirty="0"/>
          </a:p>
        </p:txBody>
      </p:sp>
      <p:sp>
        <p:nvSpPr>
          <p:cNvPr id="21" name="num_239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40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best 'disaster' aloud.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L5 Cooking methods</dc:title>
  <dc:subject>PptxGenJS Presentation</dc:subject>
  <dc:creator>London Language School</dc:creator>
  <cp:lastModifiedBy>London Language School</cp:lastModifiedBy>
  <cp:revision>1</cp:revision>
  <dcterms:created xsi:type="dcterms:W3CDTF">2026-10-05T06:50:56Z</dcterms:created>
  <dcterms:modified xsi:type="dcterms:W3CDTF">2026-10-05T06:50:56Z</dcterms:modified>
</cp:coreProperties>
</file>