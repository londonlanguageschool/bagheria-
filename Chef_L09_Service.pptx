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 (60 min). Aims: calls on the pass, steak cooking, present continuous, a service simulation.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(5 min). VARIATION: micro-challenge against the clock. Teacher is the waiter and fires the questions; chefs answer about their own menu. Round 2: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LEXICON (8 min). Click 1. Practise shouting them with the right energy. '86' = eighty-six.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(4 min). Click 1. Italian: al sangue = rare; ben cotta = well done. Ask: How do YOU like your steak? Which is the worst way to cook a good steak?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(5 min). Click 1. Model: First I warm the plate, then I stack the potatoes, add the fish, drizzle some oil, garnish with parsley and wipe the 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 Quick drill: 'Freeze!' — the teacher mimes, they say what you're doing (You're stirring the sauce!).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PRACTICE (5 min). Click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(6 min). Then students describe THEIR kitchen at 9 p.m. on a Saturday in the present continuous.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(8 min). VARIATION: perspective change — each side thinks the other is the problem. Round 2: swap roles and add one new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(12 min). Add problems: 86 the salmon! Re-fire table 3! Table 4 has a nut allergy!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Homework sheet L9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VIDEO (10 min). Full episode — preview and choose 3–5 minutes before the lesson. Contains bleeped language. Links to L7 health &amp;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cXaT9J5RX5A" TargetMode="External"/><Relationship Id="rId4" Type="http://schemas.openxmlformats.org/officeDocument/2006/relationships/hyperlink" Target="https://www.youtube.com/watch?v=cXaT9J5RX5A" TargetMode="External"/><Relationship Id="rId1" Type="http://schemas.openxmlformats.org/officeDocument/2006/relationships/image" Target="../media/Slide-12-image-1.png"/><Relationship Id="rId2" Type="http://schemas.openxmlformats.org/officeDocument/2006/relationships/image" Target="../media/image-12-2.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C9B3F0"/>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C9B3F0"/>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204034"/>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Kitchen English · L9</a:t>
            </a:r>
            <a:endParaRPr lang="en-US" sz="1000" dirty="0"/>
          </a:p>
        </p:txBody>
      </p:sp>
      <p:sp>
        <p:nvSpPr>
          <p:cNvPr id="7" name="unit_5"/>
          <p:cNvSpPr txBox="1"/>
          <p:nvPr/>
        </p:nvSpPr>
        <p:spPr>
          <a:xfrm>
            <a:off x="411480" y="320040"/>
            <a:ext cx="1463040" cy="914400"/>
          </a:xfrm>
          <a:prstGeom prst="rect">
            <a:avLst/>
          </a:prstGeom>
          <a:noFill/>
          <a:ln/>
        </p:spPr>
        <p:txBody>
          <a:bodyPr wrap="square" rtlCol="0" anchor="ctr"/>
          <a:lstStyle/>
          <a:p>
            <a:pPr indent="0" marL="0">
              <a:buNone/>
            </a:pPr>
            <a:r>
              <a:rPr lang="en-US" sz="4600" dirty="0">
                <a:solidFill>
                  <a:srgbClr val="FFD84D"/>
                </a:solidFill>
                <a:latin typeface="Arial Black" pitchFamily="34" charset="0"/>
                <a:ea typeface="Arial Black" pitchFamily="34" charset="-122"/>
                <a:cs typeface="Arial Black" pitchFamily="34" charset="-120"/>
              </a:rPr>
              <a:t>L9</a:t>
            </a:r>
            <a:endParaRPr lang="en-US" sz="4600" dirty="0"/>
          </a:p>
        </p:txBody>
      </p:sp>
      <p:sp>
        <p:nvSpPr>
          <p:cNvPr id="8" name="course_6"/>
          <p:cNvSpPr txBox="1"/>
          <p:nvPr/>
        </p:nvSpPr>
        <p:spPr>
          <a:xfrm>
            <a:off x="1828800" y="566928"/>
            <a:ext cx="3840480" cy="365760"/>
          </a:xfrm>
          <a:prstGeom prst="rect">
            <a:avLst/>
          </a:prstGeom>
          <a:noFill/>
          <a:ln/>
        </p:spPr>
        <p:txBody>
          <a:bodyPr wrap="square" rtlCol="0" anchor="ctr"/>
          <a:lstStyle/>
          <a:p>
            <a:pPr indent="0" marL="0">
              <a:buNone/>
            </a:pPr>
            <a:r>
              <a:rPr lang="en-US" sz="1200" dirty="0">
                <a:solidFill>
                  <a:srgbClr val="E9E2FB"/>
                </a:solidFill>
                <a:latin typeface="Arial Black" pitchFamily="34" charset="0"/>
                <a:ea typeface="Arial Black" pitchFamily="34" charset="-122"/>
                <a:cs typeface="Arial Black" pitchFamily="34" charset="-120"/>
              </a:rPr>
              <a:t>KITCHEN ENGLISH · Lesson 9 of 10</a:t>
            </a:r>
            <a:endParaRPr lang="en-US" sz="1200" dirty="0"/>
          </a:p>
        </p:txBody>
      </p:sp>
      <p:sp>
        <p:nvSpPr>
          <p:cNvPr id="9" name="title_7"/>
          <p:cNvSpPr txBox="1"/>
          <p:nvPr/>
        </p:nvSpPr>
        <p:spPr>
          <a:xfrm rot="-180000">
            <a:off x="411480" y="1325880"/>
            <a:ext cx="2615184"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SERVICE!</a:t>
            </a:r>
            <a:endParaRPr lang="en-US" sz="2650" dirty="0"/>
          </a:p>
        </p:txBody>
      </p:sp>
      <p:sp>
        <p:nvSpPr>
          <p:cNvPr id="10" name="stamp_8"/>
          <p:cNvSpPr txBox="1"/>
          <p:nvPr/>
        </p:nvSpPr>
        <p:spPr>
          <a:xfrm>
            <a:off x="457200" y="2468880"/>
            <a:ext cx="3140964" cy="384048"/>
          </a:xfrm>
          <a:prstGeom prst="roundRect">
            <a:avLst>
              <a:gd name="adj" fmla="val 14286"/>
            </a:avLst>
          </a:prstGeom>
          <a:solidFill>
            <a:srgbClr val="204034"/>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LEXICON · calls on the pass</a:t>
            </a:r>
            <a:endParaRPr lang="en-US" sz="1200" dirty="0"/>
          </a:p>
        </p:txBody>
      </p:sp>
      <p:sp>
        <p:nvSpPr>
          <p:cNvPr id="11" name="stamp_9"/>
          <p:cNvSpPr txBox="1"/>
          <p:nvPr/>
        </p:nvSpPr>
        <p:spPr>
          <a:xfrm>
            <a:off x="457200" y="2944368"/>
            <a:ext cx="3236976" cy="384048"/>
          </a:xfrm>
          <a:prstGeom prst="roundRect">
            <a:avLst>
              <a:gd name="adj" fmla="val 14286"/>
            </a:avLst>
          </a:prstGeom>
          <a:solidFill>
            <a:srgbClr val="204034"/>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present continuous</a:t>
            </a:r>
            <a:endParaRPr lang="en-US" sz="1200" dirty="0"/>
          </a:p>
        </p:txBody>
      </p:sp>
      <p:sp>
        <p:nvSpPr>
          <p:cNvPr id="12" name="stamp_10"/>
          <p:cNvSpPr txBox="1"/>
          <p:nvPr/>
        </p:nvSpPr>
        <p:spPr>
          <a:xfrm>
            <a:off x="457200" y="3419856"/>
            <a:ext cx="2948940" cy="384048"/>
          </a:xfrm>
          <a:prstGeom prst="roundRect">
            <a:avLst>
              <a:gd name="adj" fmla="val 14286"/>
            </a:avLst>
          </a:prstGeom>
          <a:solidFill>
            <a:srgbClr val="204034"/>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a busy service</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bell">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ticket">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C9B3F0"/>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steak">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How long on table 6?</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Two minutes, Chef!</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C9B3F0"/>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Lesson 8</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8" name="title_23"/>
          <p:cNvSpPr txBox="1"/>
          <p:nvPr/>
        </p:nvSpPr>
        <p:spPr>
          <a:xfrm rot="-120000">
            <a:off x="320040" y="676656"/>
            <a:ext cx="519379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Beat the clock: 60 seconds!</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waiter asks. Answer in full – you have 60 seconds!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Il cameriere chiede. Rispondi per intero – 60 secondi!</a:t>
            </a:r>
            <a:endParaRPr lang="en-US" sz="1250" dirty="0"/>
          </a:p>
        </p:txBody>
      </p:sp>
      <p:sp>
        <p:nvSpPr>
          <p:cNvPr id="12" name="box_27"/>
          <p:cNvSpPr txBox="1"/>
          <p:nvPr/>
        </p:nvSpPr>
        <p:spPr>
          <a:xfrm>
            <a:off x="2788920" y="1371600"/>
            <a:ext cx="2953512"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Is the soup vegan?</a:t>
            </a:r>
            <a:endParaRPr lang="en-US" sz="1350" dirty="0"/>
          </a:p>
        </p:txBody>
      </p:sp>
      <p:sp>
        <p:nvSpPr>
          <p:cNvPr id="13" name="box_28"/>
          <p:cNvSpPr txBox="1"/>
          <p:nvPr/>
        </p:nvSpPr>
        <p:spPr>
          <a:xfrm>
            <a:off x="5870448" y="1371600"/>
            <a:ext cx="2953512"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Does the cake contain nuts?</a:t>
            </a:r>
            <a:endParaRPr lang="en-US" sz="1350" dirty="0"/>
          </a:p>
        </p:txBody>
      </p:sp>
      <p:sp>
        <p:nvSpPr>
          <p:cNvPr id="14" name="box_29"/>
          <p:cNvSpPr txBox="1"/>
          <p:nvPr/>
        </p:nvSpPr>
        <p:spPr>
          <a:xfrm>
            <a:off x="2788920" y="2368296"/>
            <a:ext cx="2953512"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Is the pasta gluten-free?</a:t>
            </a:r>
            <a:endParaRPr lang="en-US" sz="1350" dirty="0"/>
          </a:p>
        </p:txBody>
      </p:sp>
      <p:sp>
        <p:nvSpPr>
          <p:cNvPr id="15" name="box_30"/>
          <p:cNvSpPr txBox="1"/>
          <p:nvPr/>
        </p:nvSpPr>
        <p:spPr>
          <a:xfrm>
            <a:off x="5870448" y="2368296"/>
            <a:ext cx="2953512"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Can you make it without cheese?</a:t>
            </a:r>
            <a:endParaRPr lang="en-US" sz="1350" dirty="0"/>
          </a:p>
        </p:txBody>
      </p:sp>
      <p:sp>
        <p:nvSpPr>
          <p:cNvPr id="16" name="box_31"/>
          <p:cNvSpPr txBox="1"/>
          <p:nvPr/>
        </p:nvSpPr>
        <p:spPr>
          <a:xfrm>
            <a:off x="2788920" y="3364992"/>
            <a:ext cx="2953512"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What's in the sauce?</a:t>
            </a:r>
            <a:endParaRPr lang="en-US" sz="1350" dirty="0"/>
          </a:p>
        </p:txBody>
      </p:sp>
      <p:sp>
        <p:nvSpPr>
          <p:cNvPr id="17" name="box_32"/>
          <p:cNvSpPr txBox="1"/>
          <p:nvPr/>
        </p:nvSpPr>
        <p:spPr>
          <a:xfrm>
            <a:off x="5870448" y="3364992"/>
            <a:ext cx="2953512"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Does the fish come with prawns?</a:t>
            </a:r>
            <a:endParaRPr lang="en-US" sz="13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3"/>
          <p:cNvSpPr/>
          <p:nvPr/>
        </p:nvSpPr>
        <p:spPr>
          <a:xfrm>
            <a:off x="54864" y="54864"/>
            <a:ext cx="9034272" cy="5033772"/>
          </a:xfrm>
          <a:prstGeom prst="rect">
            <a:avLst/>
          </a:prstGeom>
          <a:ln w="114300">
            <a:solidFill>
              <a:srgbClr val="C9B3F0"/>
            </a:solidFill>
            <a:prstDash val="solid"/>
          </a:ln>
        </p:spPr>
      </p:sp>
      <p:pic>
        <p:nvPicPr>
          <p:cNvPr id="4" name="logo_3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LEXICON · Calls on the pass</a:t>
            </a:r>
            <a:endParaRPr lang="en-US" sz="900" dirty="0"/>
          </a:p>
        </p:txBody>
      </p:sp>
      <p:sp>
        <p:nvSpPr>
          <p:cNvPr id="6" name="timer_3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3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8" name="title_38"/>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Calls on the pass</a:t>
            </a:r>
            <a:endParaRPr lang="en-US" sz="1500" dirty="0"/>
          </a:p>
        </p:txBody>
      </p:sp>
      <p:sp>
        <p:nvSpPr>
          <p:cNvPr id="9" name="post_3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0"/>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4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What does it mean? Match.</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Cosa significa? Abbina.</a:t>
            </a:r>
            <a:endParaRPr lang="en-US" sz="1250" dirty="0"/>
          </a:p>
        </p:txBody>
      </p:sp>
      <p:sp>
        <p:nvSpPr>
          <p:cNvPr id="12" name="box_42"/>
          <p:cNvSpPr txBox="1"/>
          <p:nvPr/>
        </p:nvSpPr>
        <p:spPr>
          <a:xfrm>
            <a:off x="2788920" y="1371600"/>
            <a:ext cx="2896819" cy="41017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Order in! / Check on!</a:t>
            </a:r>
            <a:endParaRPr lang="en-US" sz="1250" dirty="0"/>
          </a:p>
        </p:txBody>
      </p:sp>
      <p:sp>
        <p:nvSpPr>
          <p:cNvPr id="13" name="R1_m0"/>
          <p:cNvSpPr txBox="1"/>
          <p:nvPr/>
        </p:nvSpPr>
        <p:spPr>
          <a:xfrm>
            <a:off x="5758891" y="1389888"/>
            <a:ext cx="3065069"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 new order has arrived</a:t>
            </a:r>
            <a:endParaRPr lang="en-US" sz="1150" dirty="0"/>
          </a:p>
        </p:txBody>
      </p:sp>
      <p:sp>
        <p:nvSpPr>
          <p:cNvPr id="14" name="box_43"/>
          <p:cNvSpPr txBox="1"/>
          <p:nvPr/>
        </p:nvSpPr>
        <p:spPr>
          <a:xfrm>
            <a:off x="2788920" y="1854926"/>
            <a:ext cx="2896819" cy="41017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Service, please! / Away!</a:t>
            </a:r>
            <a:endParaRPr lang="en-US" sz="1250" dirty="0"/>
          </a:p>
        </p:txBody>
      </p:sp>
      <p:sp>
        <p:nvSpPr>
          <p:cNvPr id="15" name="R1_m1"/>
          <p:cNvSpPr txBox="1"/>
          <p:nvPr/>
        </p:nvSpPr>
        <p:spPr>
          <a:xfrm>
            <a:off x="5758891" y="1873214"/>
            <a:ext cx="3065069"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the food is ready – take it!</a:t>
            </a:r>
            <a:endParaRPr lang="en-US" sz="1150" dirty="0"/>
          </a:p>
        </p:txBody>
      </p:sp>
      <p:sp>
        <p:nvSpPr>
          <p:cNvPr id="16" name="box_44"/>
          <p:cNvSpPr txBox="1"/>
          <p:nvPr/>
        </p:nvSpPr>
        <p:spPr>
          <a:xfrm>
            <a:off x="2788920" y="2338251"/>
            <a:ext cx="2896819" cy="41017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86 the salmon.</a:t>
            </a:r>
            <a:endParaRPr lang="en-US" sz="1250" dirty="0"/>
          </a:p>
        </p:txBody>
      </p:sp>
      <p:sp>
        <p:nvSpPr>
          <p:cNvPr id="17" name="R1_m2"/>
          <p:cNvSpPr txBox="1"/>
          <p:nvPr/>
        </p:nvSpPr>
        <p:spPr>
          <a:xfrm>
            <a:off x="5758891" y="2356539"/>
            <a:ext cx="3065069"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there's no more salmon</a:t>
            </a:r>
            <a:endParaRPr lang="en-US" sz="1150" dirty="0"/>
          </a:p>
        </p:txBody>
      </p:sp>
      <p:sp>
        <p:nvSpPr>
          <p:cNvPr id="18" name="box_45"/>
          <p:cNvSpPr txBox="1"/>
          <p:nvPr/>
        </p:nvSpPr>
        <p:spPr>
          <a:xfrm>
            <a:off x="2788920" y="2821577"/>
            <a:ext cx="2896819" cy="41017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How long on table 6?</a:t>
            </a:r>
            <a:endParaRPr lang="en-US" sz="1250" dirty="0"/>
          </a:p>
        </p:txBody>
      </p:sp>
      <p:sp>
        <p:nvSpPr>
          <p:cNvPr id="19" name="R1_m3"/>
          <p:cNvSpPr txBox="1"/>
          <p:nvPr/>
        </p:nvSpPr>
        <p:spPr>
          <a:xfrm>
            <a:off x="5758891" y="2839865"/>
            <a:ext cx="3065069"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how much time do you need?</a:t>
            </a:r>
            <a:endParaRPr lang="en-US" sz="1150" dirty="0"/>
          </a:p>
        </p:txBody>
      </p:sp>
      <p:sp>
        <p:nvSpPr>
          <p:cNvPr id="20" name="box_46"/>
          <p:cNvSpPr txBox="1"/>
          <p:nvPr/>
        </p:nvSpPr>
        <p:spPr>
          <a:xfrm>
            <a:off x="2788920" y="3304903"/>
            <a:ext cx="2896819" cy="41017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Heard, Chef!</a:t>
            </a:r>
            <a:endParaRPr lang="en-US" sz="1250" dirty="0"/>
          </a:p>
        </p:txBody>
      </p:sp>
      <p:sp>
        <p:nvSpPr>
          <p:cNvPr id="21" name="R1_m4"/>
          <p:cNvSpPr txBox="1"/>
          <p:nvPr/>
        </p:nvSpPr>
        <p:spPr>
          <a:xfrm>
            <a:off x="5758891" y="3323191"/>
            <a:ext cx="3065069"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 understand</a:t>
            </a:r>
            <a:endParaRPr lang="en-US" sz="1150" dirty="0"/>
          </a:p>
        </p:txBody>
      </p:sp>
      <p:sp>
        <p:nvSpPr>
          <p:cNvPr id="22" name="box_47"/>
          <p:cNvSpPr txBox="1"/>
          <p:nvPr/>
        </p:nvSpPr>
        <p:spPr>
          <a:xfrm>
            <a:off x="2788920" y="3788229"/>
            <a:ext cx="2896819" cy="410174"/>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Two minutes, Chef!</a:t>
            </a:r>
            <a:endParaRPr lang="en-US" sz="1250" dirty="0"/>
          </a:p>
        </p:txBody>
      </p:sp>
      <p:sp>
        <p:nvSpPr>
          <p:cNvPr id="23" name="R1_m5"/>
          <p:cNvSpPr txBox="1"/>
          <p:nvPr/>
        </p:nvSpPr>
        <p:spPr>
          <a:xfrm>
            <a:off x="5758891" y="3806517"/>
            <a:ext cx="3065069"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 need two more minutes</a:t>
            </a:r>
            <a:endParaRPr lang="en-US" sz="1150" dirty="0"/>
          </a:p>
        </p:txBody>
      </p:sp>
      <p:sp>
        <p:nvSpPr>
          <p:cNvPr id="24" name="box_48"/>
          <p:cNvSpPr txBox="1"/>
          <p:nvPr/>
        </p:nvSpPr>
        <p:spPr>
          <a:xfrm>
            <a:off x="2788920" y="4271554"/>
            <a:ext cx="2896819" cy="41017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7  Re-fire table 3.</a:t>
            </a:r>
            <a:endParaRPr lang="en-US" sz="1250" dirty="0"/>
          </a:p>
        </p:txBody>
      </p:sp>
      <p:sp>
        <p:nvSpPr>
          <p:cNvPr id="25" name="R1_m6"/>
          <p:cNvSpPr txBox="1"/>
          <p:nvPr/>
        </p:nvSpPr>
        <p:spPr>
          <a:xfrm>
            <a:off x="5758891" y="4289842"/>
            <a:ext cx="3065069"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cook the dish again</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49"/>
          <p:cNvSpPr/>
          <p:nvPr/>
        </p:nvSpPr>
        <p:spPr>
          <a:xfrm>
            <a:off x="54864" y="54864"/>
            <a:ext cx="9034272" cy="5033772"/>
          </a:xfrm>
          <a:prstGeom prst="rect">
            <a:avLst/>
          </a:prstGeom>
          <a:ln w="114300">
            <a:solidFill>
              <a:srgbClr val="C9B3F0"/>
            </a:solidFill>
            <a:prstDash val="solid"/>
          </a:ln>
        </p:spPr>
      </p:sp>
      <p:pic>
        <p:nvPicPr>
          <p:cNvPr id="4" name="logo_5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5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Steak</a:t>
            </a:r>
            <a:endParaRPr lang="en-US" sz="900" dirty="0"/>
          </a:p>
        </p:txBody>
      </p:sp>
      <p:sp>
        <p:nvSpPr>
          <p:cNvPr id="6" name="timer_5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5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8" name="title_54"/>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How would you like it?</a:t>
            </a:r>
            <a:endParaRPr lang="en-US" sz="1500" dirty="0"/>
          </a:p>
        </p:txBody>
      </p:sp>
      <p:sp>
        <p:nvSpPr>
          <p:cNvPr id="9" name="post_5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56"/>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5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Put them in order: least cooked → most cooked.</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ordine: dal meno cotto al più cotto.</a:t>
            </a:r>
            <a:endParaRPr lang="en-US" sz="1250" dirty="0"/>
          </a:p>
        </p:txBody>
      </p:sp>
      <p:sp>
        <p:nvSpPr>
          <p:cNvPr id="12" name="rt_58"/>
          <p:cNvSpPr txBox="1"/>
          <p:nvPr/>
        </p:nvSpPr>
        <p:spPr>
          <a:xfrm>
            <a:off x="2788920" y="1325880"/>
            <a:ext cx="1828800" cy="365760"/>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LEAST COOKED</a:t>
            </a:r>
            <a:endParaRPr lang="en-US" sz="1100" dirty="0"/>
          </a:p>
        </p:txBody>
      </p:sp>
      <p:sp>
        <p:nvSpPr>
          <p:cNvPr id="13" name="rb_59"/>
          <p:cNvSpPr txBox="1"/>
          <p:nvPr/>
        </p:nvSpPr>
        <p:spPr>
          <a:xfrm>
            <a:off x="2788920" y="4297680"/>
            <a:ext cx="1828800" cy="365760"/>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MOST COOKED</a:t>
            </a:r>
            <a:endParaRPr lang="en-US" sz="1100" dirty="0"/>
          </a:p>
        </p:txBody>
      </p:sp>
      <p:sp>
        <p:nvSpPr>
          <p:cNvPr id="14" name="arrow_60"/>
          <p:cNvSpPr/>
          <p:nvPr/>
        </p:nvSpPr>
        <p:spPr>
          <a:xfrm>
            <a:off x="3474720" y="1783080"/>
            <a:ext cx="457200" cy="2423160"/>
          </a:xfrm>
          <a:prstGeom prst="upArrow">
            <a:avLst/>
          </a:prstGeom>
          <a:solidFill>
            <a:srgbClr val="C9B3F0"/>
          </a:solidFill>
          <a:ln w="19050">
            <a:solidFill>
              <a:srgbClr val="111111"/>
            </a:solidFill>
            <a:prstDash val="solid"/>
          </a:ln>
        </p:spPr>
      </p:sp>
      <p:sp>
        <p:nvSpPr>
          <p:cNvPr id="15" name="slot_61"/>
          <p:cNvSpPr txBox="1"/>
          <p:nvPr/>
        </p:nvSpPr>
        <p:spPr>
          <a:xfrm>
            <a:off x="4800600" y="1325880"/>
            <a:ext cx="411480" cy="480060"/>
          </a:xfrm>
          <a:prstGeom prst="rect">
            <a:avLst/>
          </a:prstGeom>
          <a:solidFill>
            <a:srgbClr val="FFFFFF"/>
          </a:solidFill>
          <a:ln w="25400">
            <a:solidFill>
              <a:srgbClr val="6D3FC0"/>
            </a:solidFill>
            <a:prstDash val="dash"/>
          </a:ln>
        </p:spPr>
        <p:txBody>
          <a:bodyPr wrap="square" lIns="0" tIns="0" rIns="0" bIns="0" rtlCol="0" anchor="ctr"/>
          <a:lstStyle/>
          <a:p>
            <a:pPr algn="ctr" indent="0" marL="0">
              <a:buNone/>
            </a:pPr>
            <a:r>
              <a:rPr lang="en-US" sz="1400" dirty="0">
                <a:solidFill>
                  <a:srgbClr val="6D3FC0"/>
                </a:solidFill>
                <a:latin typeface="Arial Black" pitchFamily="34" charset="0"/>
                <a:ea typeface="Arial Black" pitchFamily="34" charset="-122"/>
                <a:cs typeface="Arial Black" pitchFamily="34" charset="-120"/>
              </a:rPr>
              <a:t>?</a:t>
            </a:r>
            <a:endParaRPr lang="en-US" sz="1400" dirty="0"/>
          </a:p>
        </p:txBody>
      </p:sp>
      <p:sp>
        <p:nvSpPr>
          <p:cNvPr id="16" name="box_62"/>
          <p:cNvSpPr txBox="1"/>
          <p:nvPr/>
        </p:nvSpPr>
        <p:spPr>
          <a:xfrm>
            <a:off x="5303520" y="1325880"/>
            <a:ext cx="3520440" cy="4800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medium</a:t>
            </a:r>
            <a:endParaRPr lang="en-US" sz="1300" dirty="0"/>
          </a:p>
        </p:txBody>
      </p:sp>
      <p:sp>
        <p:nvSpPr>
          <p:cNvPr id="17" name="slot_63"/>
          <p:cNvSpPr txBox="1"/>
          <p:nvPr/>
        </p:nvSpPr>
        <p:spPr>
          <a:xfrm>
            <a:off x="4800600" y="1897380"/>
            <a:ext cx="411480" cy="480060"/>
          </a:xfrm>
          <a:prstGeom prst="rect">
            <a:avLst/>
          </a:prstGeom>
          <a:solidFill>
            <a:srgbClr val="FFFFFF"/>
          </a:solidFill>
          <a:ln w="25400">
            <a:solidFill>
              <a:srgbClr val="6D3FC0"/>
            </a:solidFill>
            <a:prstDash val="dash"/>
          </a:ln>
        </p:spPr>
        <p:txBody>
          <a:bodyPr wrap="square" lIns="0" tIns="0" rIns="0" bIns="0" rtlCol="0" anchor="ctr"/>
          <a:lstStyle/>
          <a:p>
            <a:pPr algn="ctr" indent="0" marL="0">
              <a:buNone/>
            </a:pPr>
            <a:r>
              <a:rPr lang="en-US" sz="1400" dirty="0">
                <a:solidFill>
                  <a:srgbClr val="6D3FC0"/>
                </a:solidFill>
                <a:latin typeface="Arial Black" pitchFamily="34" charset="0"/>
                <a:ea typeface="Arial Black" pitchFamily="34" charset="-122"/>
                <a:cs typeface="Arial Black" pitchFamily="34" charset="-120"/>
              </a:rPr>
              <a:t>?</a:t>
            </a:r>
            <a:endParaRPr lang="en-US" sz="1400" dirty="0"/>
          </a:p>
        </p:txBody>
      </p:sp>
      <p:sp>
        <p:nvSpPr>
          <p:cNvPr id="18" name="box_64"/>
          <p:cNvSpPr txBox="1"/>
          <p:nvPr/>
        </p:nvSpPr>
        <p:spPr>
          <a:xfrm>
            <a:off x="5303520" y="1897380"/>
            <a:ext cx="3520440" cy="4800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well done</a:t>
            </a:r>
            <a:endParaRPr lang="en-US" sz="1300" dirty="0"/>
          </a:p>
        </p:txBody>
      </p:sp>
      <p:sp>
        <p:nvSpPr>
          <p:cNvPr id="19" name="slot_65"/>
          <p:cNvSpPr txBox="1"/>
          <p:nvPr/>
        </p:nvSpPr>
        <p:spPr>
          <a:xfrm>
            <a:off x="4800600" y="2468880"/>
            <a:ext cx="411480" cy="480060"/>
          </a:xfrm>
          <a:prstGeom prst="rect">
            <a:avLst/>
          </a:prstGeom>
          <a:solidFill>
            <a:srgbClr val="FFFFFF"/>
          </a:solidFill>
          <a:ln w="25400">
            <a:solidFill>
              <a:srgbClr val="6D3FC0"/>
            </a:solidFill>
            <a:prstDash val="dash"/>
          </a:ln>
        </p:spPr>
        <p:txBody>
          <a:bodyPr wrap="square" lIns="0" tIns="0" rIns="0" bIns="0" rtlCol="0" anchor="ctr"/>
          <a:lstStyle/>
          <a:p>
            <a:pPr algn="ctr" indent="0" marL="0">
              <a:buNone/>
            </a:pPr>
            <a:r>
              <a:rPr lang="en-US" sz="1400" dirty="0">
                <a:solidFill>
                  <a:srgbClr val="6D3FC0"/>
                </a:solidFill>
                <a:latin typeface="Arial Black" pitchFamily="34" charset="0"/>
                <a:ea typeface="Arial Black" pitchFamily="34" charset="-122"/>
                <a:cs typeface="Arial Black" pitchFamily="34" charset="-120"/>
              </a:rPr>
              <a:t>?</a:t>
            </a:r>
            <a:endParaRPr lang="en-US" sz="1400" dirty="0"/>
          </a:p>
        </p:txBody>
      </p:sp>
      <p:sp>
        <p:nvSpPr>
          <p:cNvPr id="20" name="box_66"/>
          <p:cNvSpPr txBox="1"/>
          <p:nvPr/>
        </p:nvSpPr>
        <p:spPr>
          <a:xfrm>
            <a:off x="5303520" y="2468880"/>
            <a:ext cx="3520440" cy="4800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blue</a:t>
            </a:r>
            <a:endParaRPr lang="en-US" sz="1300" dirty="0"/>
          </a:p>
        </p:txBody>
      </p:sp>
      <p:sp>
        <p:nvSpPr>
          <p:cNvPr id="21" name="slot_67"/>
          <p:cNvSpPr txBox="1"/>
          <p:nvPr/>
        </p:nvSpPr>
        <p:spPr>
          <a:xfrm>
            <a:off x="4800600" y="3040380"/>
            <a:ext cx="411480" cy="480060"/>
          </a:xfrm>
          <a:prstGeom prst="rect">
            <a:avLst/>
          </a:prstGeom>
          <a:solidFill>
            <a:srgbClr val="FFFFFF"/>
          </a:solidFill>
          <a:ln w="25400">
            <a:solidFill>
              <a:srgbClr val="6D3FC0"/>
            </a:solidFill>
            <a:prstDash val="dash"/>
          </a:ln>
        </p:spPr>
        <p:txBody>
          <a:bodyPr wrap="square" lIns="0" tIns="0" rIns="0" bIns="0" rtlCol="0" anchor="ctr"/>
          <a:lstStyle/>
          <a:p>
            <a:pPr algn="ctr" indent="0" marL="0">
              <a:buNone/>
            </a:pPr>
            <a:r>
              <a:rPr lang="en-US" sz="1400" dirty="0">
                <a:solidFill>
                  <a:srgbClr val="6D3FC0"/>
                </a:solidFill>
                <a:latin typeface="Arial Black" pitchFamily="34" charset="0"/>
                <a:ea typeface="Arial Black" pitchFamily="34" charset="-122"/>
                <a:cs typeface="Arial Black" pitchFamily="34" charset="-120"/>
              </a:rPr>
              <a:t>?</a:t>
            </a:r>
            <a:endParaRPr lang="en-US" sz="1400" dirty="0"/>
          </a:p>
        </p:txBody>
      </p:sp>
      <p:sp>
        <p:nvSpPr>
          <p:cNvPr id="22" name="box_68"/>
          <p:cNvSpPr txBox="1"/>
          <p:nvPr/>
        </p:nvSpPr>
        <p:spPr>
          <a:xfrm>
            <a:off x="5303520" y="3040380"/>
            <a:ext cx="3520440" cy="4800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medium rare</a:t>
            </a:r>
            <a:endParaRPr lang="en-US" sz="1300" dirty="0"/>
          </a:p>
        </p:txBody>
      </p:sp>
      <p:sp>
        <p:nvSpPr>
          <p:cNvPr id="23" name="slot_69"/>
          <p:cNvSpPr txBox="1"/>
          <p:nvPr/>
        </p:nvSpPr>
        <p:spPr>
          <a:xfrm>
            <a:off x="4800600" y="3611880"/>
            <a:ext cx="411480" cy="480060"/>
          </a:xfrm>
          <a:prstGeom prst="rect">
            <a:avLst/>
          </a:prstGeom>
          <a:solidFill>
            <a:srgbClr val="FFFFFF"/>
          </a:solidFill>
          <a:ln w="25400">
            <a:solidFill>
              <a:srgbClr val="6D3FC0"/>
            </a:solidFill>
            <a:prstDash val="dash"/>
          </a:ln>
        </p:spPr>
        <p:txBody>
          <a:bodyPr wrap="square" lIns="0" tIns="0" rIns="0" bIns="0" rtlCol="0" anchor="ctr"/>
          <a:lstStyle/>
          <a:p>
            <a:pPr algn="ctr" indent="0" marL="0">
              <a:buNone/>
            </a:pPr>
            <a:r>
              <a:rPr lang="en-US" sz="1400" dirty="0">
                <a:solidFill>
                  <a:srgbClr val="6D3FC0"/>
                </a:solidFill>
                <a:latin typeface="Arial Black" pitchFamily="34" charset="0"/>
                <a:ea typeface="Arial Black" pitchFamily="34" charset="-122"/>
                <a:cs typeface="Arial Black" pitchFamily="34" charset="-120"/>
              </a:rPr>
              <a:t>?</a:t>
            </a:r>
            <a:endParaRPr lang="en-US" sz="1400" dirty="0"/>
          </a:p>
        </p:txBody>
      </p:sp>
      <p:sp>
        <p:nvSpPr>
          <p:cNvPr id="24" name="box_70"/>
          <p:cNvSpPr txBox="1"/>
          <p:nvPr/>
        </p:nvSpPr>
        <p:spPr>
          <a:xfrm>
            <a:off x="5303520" y="3611880"/>
            <a:ext cx="3520440" cy="4800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rare</a:t>
            </a:r>
            <a:endParaRPr lang="en-US" sz="1300" dirty="0"/>
          </a:p>
        </p:txBody>
      </p:sp>
      <p:sp>
        <p:nvSpPr>
          <p:cNvPr id="25" name="slot_71"/>
          <p:cNvSpPr txBox="1"/>
          <p:nvPr/>
        </p:nvSpPr>
        <p:spPr>
          <a:xfrm>
            <a:off x="4800600" y="4183380"/>
            <a:ext cx="411480" cy="480060"/>
          </a:xfrm>
          <a:prstGeom prst="rect">
            <a:avLst/>
          </a:prstGeom>
          <a:solidFill>
            <a:srgbClr val="FFFFFF"/>
          </a:solidFill>
          <a:ln w="25400">
            <a:solidFill>
              <a:srgbClr val="6D3FC0"/>
            </a:solidFill>
            <a:prstDash val="dash"/>
          </a:ln>
        </p:spPr>
        <p:txBody>
          <a:bodyPr wrap="square" lIns="0" tIns="0" rIns="0" bIns="0" rtlCol="0" anchor="ctr"/>
          <a:lstStyle/>
          <a:p>
            <a:pPr algn="ctr" indent="0" marL="0">
              <a:buNone/>
            </a:pPr>
            <a:r>
              <a:rPr lang="en-US" sz="1400" dirty="0">
                <a:solidFill>
                  <a:srgbClr val="6D3FC0"/>
                </a:solidFill>
                <a:latin typeface="Arial Black" pitchFamily="34" charset="0"/>
                <a:ea typeface="Arial Black" pitchFamily="34" charset="-122"/>
                <a:cs typeface="Arial Black" pitchFamily="34" charset="-120"/>
              </a:rPr>
              <a:t>?</a:t>
            </a:r>
            <a:endParaRPr lang="en-US" sz="1400" dirty="0"/>
          </a:p>
        </p:txBody>
      </p:sp>
      <p:sp>
        <p:nvSpPr>
          <p:cNvPr id="26" name="box_72"/>
          <p:cNvSpPr txBox="1"/>
          <p:nvPr/>
        </p:nvSpPr>
        <p:spPr>
          <a:xfrm>
            <a:off x="5303520" y="4183380"/>
            <a:ext cx="3520440" cy="4800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medium well</a:t>
            </a:r>
            <a:endParaRPr lang="en-US" sz="1300" dirty="0"/>
          </a:p>
        </p:txBody>
      </p:sp>
      <p:sp>
        <p:nvSpPr>
          <p:cNvPr id="27" name="R1_ans"/>
          <p:cNvSpPr txBox="1"/>
          <p:nvPr/>
        </p:nvSpPr>
        <p:spPr>
          <a:xfrm rot="-120000">
            <a:off x="411480" y="3886200"/>
            <a:ext cx="2240280" cy="77724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blue → rare → medium rare → medium → medium well → well done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3"/>
          <p:cNvSpPr/>
          <p:nvPr/>
        </p:nvSpPr>
        <p:spPr>
          <a:xfrm>
            <a:off x="54864" y="54864"/>
            <a:ext cx="9034272" cy="5033772"/>
          </a:xfrm>
          <a:prstGeom prst="rect">
            <a:avLst/>
          </a:prstGeom>
          <a:ln w="114300">
            <a:solidFill>
              <a:srgbClr val="C9B3F0"/>
            </a:solidFill>
            <a:prstDash val="solid"/>
          </a:ln>
        </p:spPr>
      </p:sp>
      <p:pic>
        <p:nvPicPr>
          <p:cNvPr id="4" name="logo_7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Plating</a:t>
            </a:r>
            <a:endParaRPr lang="en-US" sz="900" dirty="0"/>
          </a:p>
        </p:txBody>
      </p:sp>
      <p:sp>
        <p:nvSpPr>
          <p:cNvPr id="6" name="timer_7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7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8" name="title_78"/>
          <p:cNvSpPr txBox="1"/>
          <p:nvPr/>
        </p:nvSpPr>
        <p:spPr>
          <a:xfrm rot="-120000">
            <a:off x="320040" y="676656"/>
            <a:ext cx="206654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Plate up!</a:t>
            </a:r>
            <a:endParaRPr lang="en-US" sz="1500" dirty="0"/>
          </a:p>
        </p:txBody>
      </p:sp>
      <p:sp>
        <p:nvSpPr>
          <p:cNvPr id="9" name="post_7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80"/>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8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Match. Then describe how you plate your best dish.</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Abbina. Poi descrivi come impiatti il tuo piatto migliore.</a:t>
            </a:r>
            <a:endParaRPr lang="en-US" sz="1250" dirty="0"/>
          </a:p>
        </p:txBody>
      </p:sp>
      <p:sp>
        <p:nvSpPr>
          <p:cNvPr id="12" name="box_82"/>
          <p:cNvSpPr txBox="1"/>
          <p:nvPr/>
        </p:nvSpPr>
        <p:spPr>
          <a:xfrm>
            <a:off x="2788920" y="1371600"/>
            <a:ext cx="2715768" cy="45720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plate up</a:t>
            </a:r>
            <a:endParaRPr lang="en-US" sz="1250" dirty="0"/>
          </a:p>
        </p:txBody>
      </p:sp>
      <p:sp>
        <p:nvSpPr>
          <p:cNvPr id="13" name="R1_m0"/>
          <p:cNvSpPr txBox="1"/>
          <p:nvPr/>
        </p:nvSpPr>
        <p:spPr>
          <a:xfrm>
            <a:off x="5577840" y="1389888"/>
            <a:ext cx="3246120"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impiattare</a:t>
            </a:r>
            <a:endParaRPr lang="en-US" sz="1150" dirty="0"/>
          </a:p>
        </p:txBody>
      </p:sp>
      <p:sp>
        <p:nvSpPr>
          <p:cNvPr id="14" name="box_83"/>
          <p:cNvSpPr txBox="1"/>
          <p:nvPr/>
        </p:nvSpPr>
        <p:spPr>
          <a:xfrm>
            <a:off x="2788920" y="1901952"/>
            <a:ext cx="2715768" cy="45720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garnish</a:t>
            </a:r>
            <a:endParaRPr lang="en-US" sz="1250" dirty="0"/>
          </a:p>
        </p:txBody>
      </p:sp>
      <p:sp>
        <p:nvSpPr>
          <p:cNvPr id="15" name="R1_m1"/>
          <p:cNvSpPr txBox="1"/>
          <p:nvPr/>
        </p:nvSpPr>
        <p:spPr>
          <a:xfrm>
            <a:off x="5577840" y="1920240"/>
            <a:ext cx="3246120"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guarnire</a:t>
            </a:r>
            <a:endParaRPr lang="en-US" sz="1150" dirty="0"/>
          </a:p>
        </p:txBody>
      </p:sp>
      <p:sp>
        <p:nvSpPr>
          <p:cNvPr id="16" name="box_84"/>
          <p:cNvSpPr txBox="1"/>
          <p:nvPr/>
        </p:nvSpPr>
        <p:spPr>
          <a:xfrm>
            <a:off x="2788920" y="2432304"/>
            <a:ext cx="2715768" cy="45720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drizzle (oil)</a:t>
            </a:r>
            <a:endParaRPr lang="en-US" sz="1250" dirty="0"/>
          </a:p>
        </p:txBody>
      </p:sp>
      <p:sp>
        <p:nvSpPr>
          <p:cNvPr id="17" name="R1_m2"/>
          <p:cNvSpPr txBox="1"/>
          <p:nvPr/>
        </p:nvSpPr>
        <p:spPr>
          <a:xfrm>
            <a:off x="5577840" y="2450592"/>
            <a:ext cx="3246120"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un filo d'olio</a:t>
            </a:r>
            <a:endParaRPr lang="en-US" sz="1150" dirty="0"/>
          </a:p>
        </p:txBody>
      </p:sp>
      <p:sp>
        <p:nvSpPr>
          <p:cNvPr id="18" name="box_85"/>
          <p:cNvSpPr txBox="1"/>
          <p:nvPr/>
        </p:nvSpPr>
        <p:spPr>
          <a:xfrm>
            <a:off x="2788920" y="2962656"/>
            <a:ext cx="2715768" cy="45720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wipe the rim</a:t>
            </a:r>
            <a:endParaRPr lang="en-US" sz="1250" dirty="0"/>
          </a:p>
        </p:txBody>
      </p:sp>
      <p:sp>
        <p:nvSpPr>
          <p:cNvPr id="19" name="R1_m3"/>
          <p:cNvSpPr txBox="1"/>
          <p:nvPr/>
        </p:nvSpPr>
        <p:spPr>
          <a:xfrm>
            <a:off x="5577840" y="2980944"/>
            <a:ext cx="3246120"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pulire il bordo</a:t>
            </a:r>
            <a:endParaRPr lang="en-US" sz="1150" dirty="0"/>
          </a:p>
        </p:txBody>
      </p:sp>
      <p:sp>
        <p:nvSpPr>
          <p:cNvPr id="20" name="box_86"/>
          <p:cNvSpPr txBox="1"/>
          <p:nvPr/>
        </p:nvSpPr>
        <p:spPr>
          <a:xfrm>
            <a:off x="2788920" y="3493008"/>
            <a:ext cx="2715768" cy="45720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warm the plates</a:t>
            </a:r>
            <a:endParaRPr lang="en-US" sz="1250" dirty="0"/>
          </a:p>
        </p:txBody>
      </p:sp>
      <p:sp>
        <p:nvSpPr>
          <p:cNvPr id="21" name="R1_m4"/>
          <p:cNvSpPr txBox="1"/>
          <p:nvPr/>
        </p:nvSpPr>
        <p:spPr>
          <a:xfrm>
            <a:off x="5577840" y="3511296"/>
            <a:ext cx="3246120"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scaldare i piatti</a:t>
            </a:r>
            <a:endParaRPr lang="en-US" sz="1150" dirty="0"/>
          </a:p>
        </p:txBody>
      </p:sp>
      <p:sp>
        <p:nvSpPr>
          <p:cNvPr id="22" name="box_87"/>
          <p:cNvSpPr txBox="1"/>
          <p:nvPr/>
        </p:nvSpPr>
        <p:spPr>
          <a:xfrm>
            <a:off x="2788920" y="4023360"/>
            <a:ext cx="2715768" cy="45720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stack</a:t>
            </a:r>
            <a:endParaRPr lang="en-US" sz="1250" dirty="0"/>
          </a:p>
        </p:txBody>
      </p:sp>
      <p:sp>
        <p:nvSpPr>
          <p:cNvPr id="23" name="R1_m5"/>
          <p:cNvSpPr txBox="1"/>
          <p:nvPr/>
        </p:nvSpPr>
        <p:spPr>
          <a:xfrm>
            <a:off x="5577840" y="4041648"/>
            <a:ext cx="3246120"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impilare</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8"/>
          <p:cNvSpPr/>
          <p:nvPr/>
        </p:nvSpPr>
        <p:spPr>
          <a:xfrm>
            <a:off x="54864" y="54864"/>
            <a:ext cx="9034272" cy="5033772"/>
          </a:xfrm>
          <a:prstGeom prst="rect">
            <a:avLst/>
          </a:prstGeom>
          <a:ln w="114300">
            <a:solidFill>
              <a:srgbClr val="C9B3F0"/>
            </a:solidFill>
            <a:prstDash val="solid"/>
          </a:ln>
        </p:spPr>
      </p:sp>
      <p:pic>
        <p:nvPicPr>
          <p:cNvPr id="4" name="logo_8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Present continuous</a:t>
            </a:r>
            <a:endParaRPr lang="en-US" sz="900" dirty="0"/>
          </a:p>
        </p:txBody>
      </p:sp>
      <p:sp>
        <p:nvSpPr>
          <p:cNvPr id="6" name="timer_9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9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8" name="title_93"/>
          <p:cNvSpPr txBox="1"/>
          <p:nvPr/>
        </p:nvSpPr>
        <p:spPr>
          <a:xfrm rot="-120000">
            <a:off x="320040" y="676656"/>
            <a:ext cx="397764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I'm plating table 4!</a:t>
            </a:r>
            <a:endParaRPr lang="en-US" sz="1500" dirty="0"/>
          </a:p>
        </p:txBody>
      </p:sp>
      <p:sp>
        <p:nvSpPr>
          <p:cNvPr id="9" name="rh_94"/>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Now!</a:t>
            </a:r>
            <a:endParaRPr lang="en-US" sz="1300" dirty="0"/>
          </a:p>
        </p:txBody>
      </p:sp>
      <p:sp>
        <p:nvSpPr>
          <p:cNvPr id="10" name="rb_95"/>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am / is / are + -ing</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I'm plating table 4.</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He's cooking the steaks.</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We're waiting for the fish.</a:t>
            </a:r>
            <a:endParaRPr lang="en-US" sz="1350" dirty="0"/>
          </a:p>
        </p:txBody>
      </p:sp>
      <p:sp>
        <p:nvSpPr>
          <p:cNvPr id="11" name="rh_96"/>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Questions</a:t>
            </a:r>
            <a:endParaRPr lang="en-US" sz="1300" dirty="0"/>
          </a:p>
        </p:txBody>
      </p:sp>
      <p:sp>
        <p:nvSpPr>
          <p:cNvPr id="12" name="rb_97"/>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What are you doing?</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Is the risotto cooking?</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Are you ready?</a:t>
            </a:r>
            <a:endParaRPr lang="en-US" sz="1350" dirty="0"/>
          </a:p>
        </p:txBody>
      </p:sp>
      <p:sp>
        <p:nvSpPr>
          <p:cNvPr id="13" name="rh_98"/>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Answers</a:t>
            </a:r>
            <a:endParaRPr lang="en-US" sz="1300" dirty="0"/>
          </a:p>
        </p:txBody>
      </p:sp>
      <p:sp>
        <p:nvSpPr>
          <p:cNvPr id="14" name="rb_99"/>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I'm finishing the sauce, Chef.</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No, I'm still waiting.</a:t>
            </a:r>
            <a:endParaRPr lang="en-US" sz="135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Nearly there – one minute!</a:t>
            </a:r>
            <a:endParaRPr lang="en-US" sz="1350" dirty="0"/>
          </a:p>
        </p:txBody>
      </p:sp>
      <p:sp>
        <p:nvSpPr>
          <p:cNvPr id="15" name="watch_100"/>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Watch out!  </a:t>
            </a:r>
            <a:pPr indent="0" marL="0">
              <a:buNone/>
            </a:pPr>
            <a:r>
              <a:rPr lang="en-US" sz="1250" dirty="0">
                <a:solidFill>
                  <a:srgbClr val="111111"/>
                </a:solidFill>
                <a:latin typeface="Calibri" pitchFamily="34" charset="0"/>
                <a:ea typeface="Calibri" pitchFamily="34" charset="-122"/>
                <a:cs typeface="Calibri" pitchFamily="34" charset="-120"/>
              </a:rPr>
              <a:t>✗ I plate now → ✓ I'm plating now.     ✗ What you are doing? → ✓ What are you doing?</a:t>
            </a:r>
            <a:endParaRPr lang="en-US" sz="125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01"/>
          <p:cNvSpPr/>
          <p:nvPr/>
        </p:nvSpPr>
        <p:spPr>
          <a:xfrm>
            <a:off x="54864" y="54864"/>
            <a:ext cx="9034272" cy="5033772"/>
          </a:xfrm>
          <a:prstGeom prst="rect">
            <a:avLst/>
          </a:prstGeom>
          <a:ln w="114300">
            <a:solidFill>
              <a:srgbClr val="C9B3F0"/>
            </a:solidFill>
            <a:prstDash val="solid"/>
          </a:ln>
        </p:spPr>
      </p:sp>
      <p:pic>
        <p:nvPicPr>
          <p:cNvPr id="4" name="logo_10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0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Practice</a:t>
            </a:r>
            <a:endParaRPr lang="en-US" sz="900" dirty="0"/>
          </a:p>
        </p:txBody>
      </p:sp>
      <p:sp>
        <p:nvSpPr>
          <p:cNvPr id="6" name="timer_10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0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8" name="title_106"/>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What's happening?</a:t>
            </a:r>
            <a:endParaRPr lang="en-US" sz="1500" dirty="0"/>
          </a:p>
        </p:txBody>
      </p:sp>
      <p:sp>
        <p:nvSpPr>
          <p:cNvPr id="9" name="post_10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08"/>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10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Put the verbs in the present continuous.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Metti i verbi al present continuous.</a:t>
            </a:r>
            <a:endParaRPr lang="en-US" sz="1250" dirty="0"/>
          </a:p>
        </p:txBody>
      </p:sp>
      <p:sp>
        <p:nvSpPr>
          <p:cNvPr id="12" name="box_110"/>
          <p:cNvSpPr txBox="1"/>
          <p:nvPr/>
        </p:nvSpPr>
        <p:spPr>
          <a:xfrm>
            <a:off x="2788920" y="1371600"/>
            <a:ext cx="1831177"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Marco ___ (cook) the fish.</a:t>
            </a:r>
            <a:endParaRPr lang="en-US" sz="1350" dirty="0"/>
          </a:p>
        </p:txBody>
      </p:sp>
      <p:sp>
        <p:nvSpPr>
          <p:cNvPr id="13" name="R1_a0"/>
          <p:cNvSpPr txBox="1"/>
          <p:nvPr/>
        </p:nvSpPr>
        <p:spPr>
          <a:xfrm>
            <a:off x="4674961" y="1408176"/>
            <a:ext cx="106747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is cooking</a:t>
            </a:r>
            <a:endParaRPr lang="en-US" sz="1200" dirty="0"/>
          </a:p>
        </p:txBody>
      </p:sp>
      <p:sp>
        <p:nvSpPr>
          <p:cNvPr id="14" name="box_111"/>
          <p:cNvSpPr txBox="1"/>
          <p:nvPr/>
        </p:nvSpPr>
        <p:spPr>
          <a:xfrm>
            <a:off x="5870448" y="1371600"/>
            <a:ext cx="1831177"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What ___ you ___ (do)?</a:t>
            </a:r>
            <a:endParaRPr lang="en-US" sz="1350" dirty="0"/>
          </a:p>
        </p:txBody>
      </p:sp>
      <p:sp>
        <p:nvSpPr>
          <p:cNvPr id="15" name="R1_a1"/>
          <p:cNvSpPr txBox="1"/>
          <p:nvPr/>
        </p:nvSpPr>
        <p:spPr>
          <a:xfrm>
            <a:off x="7756489" y="1408176"/>
            <a:ext cx="106747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are … doing</a:t>
            </a:r>
            <a:endParaRPr lang="en-US" sz="1200" dirty="0"/>
          </a:p>
        </p:txBody>
      </p:sp>
      <p:sp>
        <p:nvSpPr>
          <p:cNvPr id="16" name="box_112"/>
          <p:cNvSpPr txBox="1"/>
          <p:nvPr/>
        </p:nvSpPr>
        <p:spPr>
          <a:xfrm>
            <a:off x="2788920" y="2368296"/>
            <a:ext cx="1831177"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We ___ (not wait) for it.</a:t>
            </a:r>
            <a:endParaRPr lang="en-US" sz="1350" dirty="0"/>
          </a:p>
        </p:txBody>
      </p:sp>
      <p:sp>
        <p:nvSpPr>
          <p:cNvPr id="17" name="R1_a2"/>
          <p:cNvSpPr txBox="1"/>
          <p:nvPr/>
        </p:nvSpPr>
        <p:spPr>
          <a:xfrm>
            <a:off x="4674961" y="2404872"/>
            <a:ext cx="106747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aren't waiting</a:t>
            </a:r>
            <a:endParaRPr lang="en-US" sz="1200" dirty="0"/>
          </a:p>
        </p:txBody>
      </p:sp>
      <p:sp>
        <p:nvSpPr>
          <p:cNvPr id="18" name="box_113"/>
          <p:cNvSpPr txBox="1"/>
          <p:nvPr/>
        </p:nvSpPr>
        <p:spPr>
          <a:xfrm>
            <a:off x="5870448" y="2368296"/>
            <a:ext cx="1831177"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___ the soup ___ (boil)?</a:t>
            </a:r>
            <a:endParaRPr lang="en-US" sz="1350" dirty="0"/>
          </a:p>
        </p:txBody>
      </p:sp>
      <p:sp>
        <p:nvSpPr>
          <p:cNvPr id="19" name="R1_a3"/>
          <p:cNvSpPr txBox="1"/>
          <p:nvPr/>
        </p:nvSpPr>
        <p:spPr>
          <a:xfrm>
            <a:off x="7756489" y="2404872"/>
            <a:ext cx="106747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Is … boiling</a:t>
            </a:r>
            <a:endParaRPr lang="en-US" sz="1200" dirty="0"/>
          </a:p>
        </p:txBody>
      </p:sp>
      <p:sp>
        <p:nvSpPr>
          <p:cNvPr id="20" name="box_114"/>
          <p:cNvSpPr txBox="1"/>
          <p:nvPr/>
        </p:nvSpPr>
        <p:spPr>
          <a:xfrm>
            <a:off x="2788920" y="3364992"/>
            <a:ext cx="1831177"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I ___ (plate) table 6!</a:t>
            </a:r>
            <a:endParaRPr lang="en-US" sz="1350" dirty="0"/>
          </a:p>
        </p:txBody>
      </p:sp>
      <p:sp>
        <p:nvSpPr>
          <p:cNvPr id="21" name="R1_a4"/>
          <p:cNvSpPr txBox="1"/>
          <p:nvPr/>
        </p:nvSpPr>
        <p:spPr>
          <a:xfrm>
            <a:off x="4674961" y="3401568"/>
            <a:ext cx="106747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 plating</a:t>
            </a:r>
            <a:endParaRPr lang="en-US" sz="1200" dirty="0"/>
          </a:p>
        </p:txBody>
      </p:sp>
      <p:sp>
        <p:nvSpPr>
          <p:cNvPr id="22" name="box_115"/>
          <p:cNvSpPr txBox="1"/>
          <p:nvPr/>
        </p:nvSpPr>
        <p:spPr>
          <a:xfrm>
            <a:off x="5870448" y="3364992"/>
            <a:ext cx="1831177"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They ___ (eat) dessert.</a:t>
            </a:r>
            <a:endParaRPr lang="en-US" sz="1350" dirty="0"/>
          </a:p>
        </p:txBody>
      </p:sp>
      <p:sp>
        <p:nvSpPr>
          <p:cNvPr id="23" name="R1_a5"/>
          <p:cNvSpPr txBox="1"/>
          <p:nvPr/>
        </p:nvSpPr>
        <p:spPr>
          <a:xfrm>
            <a:off x="7756489" y="3401568"/>
            <a:ext cx="106747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are eating</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6"/>
          <p:cNvSpPr/>
          <p:nvPr/>
        </p:nvSpPr>
        <p:spPr>
          <a:xfrm>
            <a:off x="54864" y="54864"/>
            <a:ext cx="9034272" cy="5033772"/>
          </a:xfrm>
          <a:prstGeom prst="rect">
            <a:avLst/>
          </a:prstGeom>
          <a:ln w="114300">
            <a:solidFill>
              <a:srgbClr val="C9B3F0"/>
            </a:solidFill>
            <a:prstDash val="solid"/>
          </a:ln>
        </p:spPr>
      </p:sp>
      <p:pic>
        <p:nvPicPr>
          <p:cNvPr id="4" name="logo_11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A busy night</a:t>
            </a:r>
            <a:endParaRPr lang="en-US" sz="900" dirty="0"/>
          </a:p>
        </p:txBody>
      </p:sp>
      <p:sp>
        <p:nvSpPr>
          <p:cNvPr id="6" name="timer_11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2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8" name="title_121"/>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Saturday, 9 p.m.</a:t>
            </a:r>
            <a:endParaRPr lang="en-US" sz="1500" dirty="0"/>
          </a:p>
        </p:txBody>
      </p:sp>
      <p:sp>
        <p:nvSpPr>
          <p:cNvPr id="9" name="rsign_122"/>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READ! LEGGI!  </a:t>
            </a:r>
            <a:pPr indent="0" marL="0">
              <a:buNone/>
            </a:pPr>
            <a:r>
              <a:rPr lang="en-US" sz="1000" dirty="0">
                <a:solidFill>
                  <a:srgbClr val="FFFFFF"/>
                </a:solidFill>
                <a:latin typeface="Calibri" pitchFamily="34" charset="0"/>
                <a:ea typeface="Calibri" pitchFamily="34" charset="-122"/>
                <a:cs typeface="Calibri" pitchFamily="34" charset="-120"/>
              </a:rPr>
              <a:t>Read. What's happening in the kitchen?  </a:t>
            </a:r>
            <a:pPr indent="0" marL="0">
              <a:buNone/>
            </a:pPr>
            <a:r>
              <a:rPr lang="en-US" sz="950" i="1" dirty="0">
                <a:solidFill>
                  <a:srgbClr val="E2E8F0"/>
                </a:solidFill>
                <a:latin typeface="Calibri" pitchFamily="34" charset="0"/>
                <a:ea typeface="Calibri" pitchFamily="34" charset="-122"/>
                <a:cs typeface="Calibri" pitchFamily="34" charset="-120"/>
              </a:rPr>
              <a:t>Leggi. Cosa succede in cucina?</a:t>
            </a:r>
            <a:endParaRPr lang="en-US" sz="1000" dirty="0"/>
          </a:p>
        </p:txBody>
      </p:sp>
      <p:sp>
        <p:nvSpPr>
          <p:cNvPr id="10" name="rtext_123"/>
          <p:cNvSpPr txBox="1"/>
          <p:nvPr/>
        </p:nvSpPr>
        <p:spPr>
          <a:xfrm rot="-30000">
            <a:off x="320040" y="1810512"/>
            <a:ext cx="434340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 Saturday night</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It's 9 p.m. and the restaurant is full. Marco is cooking six steaks on the grill and Anna is plating the starters for table 12. The KP is washing glasses as fast as he can. Table 4 is waiting for their mains – they're getting angry. The head chef is shouting 'How long on table 4?' and Marco answers 'Two minutes, Chef!' Outside, it's raining and more customers are arriving.</a:t>
            </a:r>
            <a:endParaRPr lang="en-US" sz="1300" dirty="0"/>
          </a:p>
        </p:txBody>
      </p:sp>
      <p:sp>
        <p:nvSpPr>
          <p:cNvPr id="11" name="box_124"/>
          <p:cNvSpPr txBox="1"/>
          <p:nvPr/>
        </p:nvSpPr>
        <p:spPr>
          <a:xfrm>
            <a:off x="4828032" y="1810512"/>
            <a:ext cx="2317638" cy="51755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What's Marco doing?</a:t>
            </a:r>
            <a:endParaRPr lang="en-US" sz="1150" dirty="0"/>
          </a:p>
        </p:txBody>
      </p:sp>
      <p:sp>
        <p:nvSpPr>
          <p:cNvPr id="12" name="R1_ra0"/>
          <p:cNvSpPr txBox="1"/>
          <p:nvPr/>
        </p:nvSpPr>
        <p:spPr>
          <a:xfrm>
            <a:off x="7191390" y="1837944"/>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cooking six steaks</a:t>
            </a:r>
            <a:endParaRPr lang="en-US" sz="1050" dirty="0"/>
          </a:p>
        </p:txBody>
      </p:sp>
      <p:sp>
        <p:nvSpPr>
          <p:cNvPr id="13" name="box_125"/>
          <p:cNvSpPr txBox="1"/>
          <p:nvPr/>
        </p:nvSpPr>
        <p:spPr>
          <a:xfrm>
            <a:off x="4828032" y="2401214"/>
            <a:ext cx="2317638" cy="51755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Who's plating the starters?</a:t>
            </a:r>
            <a:endParaRPr lang="en-US" sz="1150" dirty="0"/>
          </a:p>
        </p:txBody>
      </p:sp>
      <p:sp>
        <p:nvSpPr>
          <p:cNvPr id="14" name="R1_ra1"/>
          <p:cNvSpPr txBox="1"/>
          <p:nvPr/>
        </p:nvSpPr>
        <p:spPr>
          <a:xfrm>
            <a:off x="7191390" y="2428646"/>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Anna</a:t>
            </a:r>
            <a:endParaRPr lang="en-US" sz="1050" dirty="0"/>
          </a:p>
        </p:txBody>
      </p:sp>
      <p:sp>
        <p:nvSpPr>
          <p:cNvPr id="15" name="box_126"/>
          <p:cNvSpPr txBox="1"/>
          <p:nvPr/>
        </p:nvSpPr>
        <p:spPr>
          <a:xfrm>
            <a:off x="4828032" y="2991917"/>
            <a:ext cx="2317638" cy="51755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Why is table 4 angry?</a:t>
            </a:r>
            <a:endParaRPr lang="en-US" sz="1150" dirty="0"/>
          </a:p>
        </p:txBody>
      </p:sp>
      <p:sp>
        <p:nvSpPr>
          <p:cNvPr id="16" name="R1_ra2"/>
          <p:cNvSpPr txBox="1"/>
          <p:nvPr/>
        </p:nvSpPr>
        <p:spPr>
          <a:xfrm>
            <a:off x="7191390" y="3019349"/>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waiting for their mains</a:t>
            </a:r>
            <a:endParaRPr lang="en-US" sz="1050" dirty="0"/>
          </a:p>
        </p:txBody>
      </p:sp>
      <p:sp>
        <p:nvSpPr>
          <p:cNvPr id="17" name="box_127"/>
          <p:cNvSpPr txBox="1"/>
          <p:nvPr/>
        </p:nvSpPr>
        <p:spPr>
          <a:xfrm>
            <a:off x="4828032" y="3582619"/>
            <a:ext cx="2317638" cy="51755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What's the weather like?</a:t>
            </a:r>
            <a:endParaRPr lang="en-US" sz="1150" dirty="0"/>
          </a:p>
        </p:txBody>
      </p:sp>
      <p:sp>
        <p:nvSpPr>
          <p:cNvPr id="18" name="R1_ra3"/>
          <p:cNvSpPr txBox="1"/>
          <p:nvPr/>
        </p:nvSpPr>
        <p:spPr>
          <a:xfrm>
            <a:off x="7191390" y="3610051"/>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it's raining</a:t>
            </a:r>
            <a:endParaRPr lang="en-US" sz="1050" dirty="0"/>
          </a:p>
        </p:txBody>
      </p:sp>
      <p:sp>
        <p:nvSpPr>
          <p:cNvPr id="19" name="box_128"/>
          <p:cNvSpPr txBox="1"/>
          <p:nvPr/>
        </p:nvSpPr>
        <p:spPr>
          <a:xfrm>
            <a:off x="4828032" y="4173322"/>
            <a:ext cx="2317638" cy="51755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Is the restaurant quiet?</a:t>
            </a:r>
            <a:endParaRPr lang="en-US" sz="1150" dirty="0"/>
          </a:p>
        </p:txBody>
      </p:sp>
      <p:sp>
        <p:nvSpPr>
          <p:cNvPr id="20" name="R1_ra4"/>
          <p:cNvSpPr txBox="1"/>
          <p:nvPr/>
        </p:nvSpPr>
        <p:spPr>
          <a:xfrm>
            <a:off x="7191390" y="4200754"/>
            <a:ext cx="1632570"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No – it's full</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9"/>
          <p:cNvSpPr/>
          <p:nvPr/>
        </p:nvSpPr>
        <p:spPr>
          <a:xfrm>
            <a:off x="54864" y="54864"/>
            <a:ext cx="9034272" cy="5033772"/>
          </a:xfrm>
          <a:prstGeom prst="rect">
            <a:avLst/>
          </a:prstGeom>
          <a:ln w="114300">
            <a:solidFill>
              <a:srgbClr val="C9B3F0"/>
            </a:solidFill>
            <a:prstDash val="solid"/>
          </a:ln>
        </p:spPr>
      </p:sp>
      <p:pic>
        <p:nvPicPr>
          <p:cNvPr id="4" name="logo_13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Two perspectives</a:t>
            </a:r>
            <a:endParaRPr lang="en-US" sz="900" dirty="0"/>
          </a:p>
        </p:txBody>
      </p:sp>
      <p:sp>
        <p:nvSpPr>
          <p:cNvPr id="6" name="timer_13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13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8" name="title_134"/>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Chef v waiter</a:t>
            </a:r>
            <a:endParaRPr lang="en-US" sz="1500" dirty="0"/>
          </a:p>
        </p:txBody>
      </p:sp>
      <p:sp>
        <p:nvSpPr>
          <p:cNvPr id="9" name="post_13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3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3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Read. Then do it again – the waiter is angry, the chef is busy!</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Leggete. Poi rifatelo – cameriere arrabbiato, chef impegnato!</a:t>
            </a:r>
            <a:endParaRPr lang="en-US" sz="1200" dirty="0"/>
          </a:p>
        </p:txBody>
      </p:sp>
      <p:sp>
        <p:nvSpPr>
          <p:cNvPr id="12" name="line_138"/>
          <p:cNvSpPr txBox="1"/>
          <p:nvPr/>
        </p:nvSpPr>
        <p:spPr>
          <a:xfrm>
            <a:off x="2788920" y="137160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050" b="1" dirty="0">
                <a:solidFill>
                  <a:srgbClr val="EF2F2F"/>
                </a:solidFill>
                <a:latin typeface="Calibri" pitchFamily="34" charset="0"/>
                <a:ea typeface="Calibri" pitchFamily="34" charset="-122"/>
                <a:cs typeface="Calibri" pitchFamily="34" charset="-120"/>
              </a:rPr>
              <a:t>Waiter: </a:t>
            </a:r>
            <a:pPr indent="0" marL="0">
              <a:buNone/>
            </a:pPr>
            <a:r>
              <a:rPr lang="en-US" sz="1050" dirty="0">
                <a:solidFill>
                  <a:srgbClr val="111111"/>
                </a:solidFill>
                <a:latin typeface="Calibri" pitchFamily="34" charset="0"/>
                <a:ea typeface="Calibri" pitchFamily="34" charset="-122"/>
                <a:cs typeface="Calibri" pitchFamily="34" charset="-120"/>
              </a:rPr>
              <a:t>Chef, table 7 is waiting. They're getting angry!</a:t>
            </a:r>
            <a:endParaRPr lang="en-US" sz="1050" dirty="0"/>
          </a:p>
        </p:txBody>
      </p:sp>
      <p:sp>
        <p:nvSpPr>
          <p:cNvPr id="13" name="line_139"/>
          <p:cNvSpPr txBox="1"/>
          <p:nvPr/>
        </p:nvSpPr>
        <p:spPr>
          <a:xfrm>
            <a:off x="3108960" y="193548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250" b="1" dirty="0">
                <a:solidFill>
                  <a:srgbClr val="062F67"/>
                </a:solidFill>
                <a:latin typeface="Calibri" pitchFamily="34" charset="0"/>
                <a:ea typeface="Calibri" pitchFamily="34" charset="-122"/>
                <a:cs typeface="Calibri" pitchFamily="34" charset="-120"/>
              </a:rPr>
              <a:t>Chef: </a:t>
            </a:r>
            <a:pPr indent="0" marL="0">
              <a:buNone/>
            </a:pPr>
            <a:r>
              <a:rPr lang="en-US" sz="1250" dirty="0">
                <a:solidFill>
                  <a:srgbClr val="111111"/>
                </a:solidFill>
                <a:latin typeface="Calibri" pitchFamily="34" charset="0"/>
                <a:ea typeface="Calibri" pitchFamily="34" charset="-122"/>
                <a:cs typeface="Calibri" pitchFamily="34" charset="-120"/>
              </a:rPr>
              <a:t>I know! I'm cooking their steaks now.</a:t>
            </a:r>
            <a:endParaRPr lang="en-US" sz="1250" dirty="0"/>
          </a:p>
        </p:txBody>
      </p:sp>
      <p:sp>
        <p:nvSpPr>
          <p:cNvPr id="14" name="line_140"/>
          <p:cNvSpPr txBox="1"/>
          <p:nvPr/>
        </p:nvSpPr>
        <p:spPr>
          <a:xfrm>
            <a:off x="2788920" y="249936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Waiter: </a:t>
            </a:r>
            <a:pPr indent="0" marL="0">
              <a:buNone/>
            </a:pPr>
            <a:r>
              <a:rPr lang="en-US" sz="1250" dirty="0">
                <a:solidFill>
                  <a:srgbClr val="111111"/>
                </a:solidFill>
                <a:latin typeface="Calibri" pitchFamily="34" charset="0"/>
                <a:ea typeface="Calibri" pitchFamily="34" charset="-122"/>
                <a:cs typeface="Calibri" pitchFamily="34" charset="-120"/>
              </a:rPr>
              <a:t>How long?</a:t>
            </a:r>
            <a:endParaRPr lang="en-US" sz="1250" dirty="0"/>
          </a:p>
        </p:txBody>
      </p:sp>
      <p:sp>
        <p:nvSpPr>
          <p:cNvPr id="15" name="line_141"/>
          <p:cNvSpPr txBox="1"/>
          <p:nvPr/>
        </p:nvSpPr>
        <p:spPr>
          <a:xfrm>
            <a:off x="3108960" y="306324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100" b="1" dirty="0">
                <a:solidFill>
                  <a:srgbClr val="062F67"/>
                </a:solidFill>
                <a:latin typeface="Calibri" pitchFamily="34" charset="0"/>
                <a:ea typeface="Calibri" pitchFamily="34" charset="-122"/>
                <a:cs typeface="Calibri" pitchFamily="34" charset="-120"/>
              </a:rPr>
              <a:t>Chef: </a:t>
            </a:r>
            <a:pPr indent="0" marL="0">
              <a:buNone/>
            </a:pPr>
            <a:r>
              <a:rPr lang="en-US" sz="1100" dirty="0">
                <a:solidFill>
                  <a:srgbClr val="111111"/>
                </a:solidFill>
                <a:latin typeface="Calibri" pitchFamily="34" charset="0"/>
                <a:ea typeface="Calibri" pitchFamily="34" charset="-122"/>
                <a:cs typeface="Calibri" pitchFamily="34" charset="-120"/>
              </a:rPr>
              <a:t>Three minutes. Is table 7 having dessert too?</a:t>
            </a:r>
            <a:endParaRPr lang="en-US" sz="1100" dirty="0"/>
          </a:p>
        </p:txBody>
      </p:sp>
      <p:sp>
        <p:nvSpPr>
          <p:cNvPr id="16" name="line_142"/>
          <p:cNvSpPr txBox="1"/>
          <p:nvPr/>
        </p:nvSpPr>
        <p:spPr>
          <a:xfrm>
            <a:off x="2788920" y="362712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100" b="1" dirty="0">
                <a:solidFill>
                  <a:srgbClr val="EF2F2F"/>
                </a:solidFill>
                <a:latin typeface="Calibri" pitchFamily="34" charset="0"/>
                <a:ea typeface="Calibri" pitchFamily="34" charset="-122"/>
                <a:cs typeface="Calibri" pitchFamily="34" charset="-120"/>
              </a:rPr>
              <a:t>Waiter: </a:t>
            </a:r>
            <a:pPr indent="0" marL="0">
              <a:buNone/>
            </a:pPr>
            <a:r>
              <a:rPr lang="en-US" sz="1100" dirty="0">
                <a:solidFill>
                  <a:srgbClr val="111111"/>
                </a:solidFill>
                <a:latin typeface="Calibri" pitchFamily="34" charset="0"/>
                <a:ea typeface="Calibri" pitchFamily="34" charset="-122"/>
                <a:cs typeface="Calibri" pitchFamily="34" charset="-120"/>
              </a:rPr>
              <a:t>Yes. And table 2 is asking for more bread.</a:t>
            </a:r>
            <a:endParaRPr lang="en-US" sz="1100" dirty="0"/>
          </a:p>
        </p:txBody>
      </p:sp>
      <p:sp>
        <p:nvSpPr>
          <p:cNvPr id="17" name="line_143"/>
          <p:cNvSpPr txBox="1"/>
          <p:nvPr/>
        </p:nvSpPr>
        <p:spPr>
          <a:xfrm>
            <a:off x="3108960" y="419100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250" b="1" dirty="0">
                <a:solidFill>
                  <a:srgbClr val="062F67"/>
                </a:solidFill>
                <a:latin typeface="Calibri" pitchFamily="34" charset="0"/>
                <a:ea typeface="Calibri" pitchFamily="34" charset="-122"/>
                <a:cs typeface="Calibri" pitchFamily="34" charset="-120"/>
              </a:rPr>
              <a:t>Chef: </a:t>
            </a:r>
            <a:pPr indent="0" marL="0">
              <a:buNone/>
            </a:pPr>
            <a:r>
              <a:rPr lang="en-US" sz="1250" dirty="0">
                <a:solidFill>
                  <a:srgbClr val="111111"/>
                </a:solidFill>
                <a:latin typeface="Calibri" pitchFamily="34" charset="0"/>
                <a:ea typeface="Calibri" pitchFamily="34" charset="-122"/>
                <a:cs typeface="Calibri" pitchFamily="34" charset="-120"/>
              </a:rPr>
              <a:t>Heard. Marco's cutting it now.</a:t>
            </a:r>
            <a:endParaRPr lang="en-US" sz="1250" dirty="0"/>
          </a:p>
        </p:txBody>
      </p:sp>
      <p:sp>
        <p:nvSpPr>
          <p:cNvPr id="18" name="phrases_144"/>
          <p:cNvSpPr txBox="1"/>
          <p:nvPr/>
        </p:nvSpPr>
        <p:spPr>
          <a:xfrm rot="90000">
            <a:off x="6858000" y="1371600"/>
            <a:ext cx="1965960" cy="3310128"/>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101600" tIns="101600" rIns="101600" bIns="101600" rtlCol="0" anchor="t"/>
          <a:lstStyle/>
          <a:p>
            <a:pPr indent="0" marL="0">
              <a:spcAft>
                <a:spcPts val="300"/>
              </a:spcAft>
              <a:buNone/>
            </a:pPr>
            <a:r>
              <a:rPr lang="en-US" sz="1200" b="1" dirty="0">
                <a:solidFill>
                  <a:srgbClr val="6D3FC0"/>
                </a:solidFill>
                <a:latin typeface="Calibri" pitchFamily="34" charset="0"/>
                <a:ea typeface="Calibri" pitchFamily="34" charset="-122"/>
                <a:cs typeface="Calibri" pitchFamily="34" charset="-120"/>
              </a:rPr>
              <a:t>Useful phrases</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They're waiting for…</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I'm doing it now!</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Nearly there!</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Calm down, please.</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Sorry about the wait.</a:t>
            </a:r>
            <a:endParaRPr lang="en-US" sz="120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5"/>
          <p:cNvSpPr/>
          <p:nvPr/>
        </p:nvSpPr>
        <p:spPr>
          <a:xfrm>
            <a:off x="54864" y="54864"/>
            <a:ext cx="9034272" cy="5033772"/>
          </a:xfrm>
          <a:prstGeom prst="rect">
            <a:avLst/>
          </a:prstGeom>
          <a:ln w="114300">
            <a:solidFill>
              <a:srgbClr val="C9B3F0"/>
            </a:solidFill>
            <a:prstDash val="solid"/>
          </a:ln>
        </p:spPr>
      </p:sp>
      <p:pic>
        <p:nvPicPr>
          <p:cNvPr id="4" name="logo_14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Simulation</a:t>
            </a:r>
            <a:endParaRPr lang="en-US" sz="900" dirty="0"/>
          </a:p>
        </p:txBody>
      </p:sp>
      <p:sp>
        <p:nvSpPr>
          <p:cNvPr id="6" name="timer_14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footer_14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8" name="title_150"/>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Service simulation</a:t>
            </a:r>
            <a:endParaRPr lang="en-US" sz="1500" dirty="0"/>
          </a:p>
        </p:txBody>
      </p:sp>
      <p:sp>
        <p:nvSpPr>
          <p:cNvPr id="9" name="post_15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52"/>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15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teacher calls the orders. Chefs respond!</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L'insegnante chiama gli ordini. Gli chef rispondono!</a:t>
            </a:r>
            <a:endParaRPr lang="en-US" sz="1250" dirty="0"/>
          </a:p>
        </p:txBody>
      </p:sp>
      <p:sp>
        <p:nvSpPr>
          <p:cNvPr id="12" name="iconBack_15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55" descr="bell">    </p:cNvPr>
          <p:cNvPicPr>
            <a:picLocks noChangeAspect="1"/>
          </p:cNvPicPr>
          <p:nvPr/>
        </p:nvPicPr>
        <p:blipFill>
          <a:blip r:embed="rId3"/>
          <a:stretch>
            <a:fillRect/>
          </a:stretch>
        </p:blipFill>
        <p:spPr>
          <a:xfrm>
            <a:off x="914400" y="3474720"/>
            <a:ext cx="685800" cy="685800"/>
          </a:xfrm>
          <a:prstGeom prst="rect">
            <a:avLst/>
          </a:prstGeom>
        </p:spPr>
      </p:pic>
      <p:sp>
        <p:nvSpPr>
          <p:cNvPr id="14" name="num_156"/>
          <p:cNvSpPr txBox="1"/>
          <p:nvPr/>
        </p:nvSpPr>
        <p:spPr>
          <a:xfrm>
            <a:off x="2788920" y="1490472"/>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57"/>
          <p:cNvSpPr txBox="1"/>
          <p:nvPr/>
        </p:nvSpPr>
        <p:spPr>
          <a:xfrm>
            <a:off x="3264408" y="1371600"/>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Teacher (head chef): Order in! Table 5: two risotto, one steak medium rare!</a:t>
            </a:r>
            <a:endParaRPr lang="en-US" sz="1300" dirty="0"/>
          </a:p>
        </p:txBody>
      </p:sp>
      <p:sp>
        <p:nvSpPr>
          <p:cNvPr id="16" name="num_158"/>
          <p:cNvSpPr txBox="1"/>
          <p:nvPr/>
        </p:nvSpPr>
        <p:spPr>
          <a:xfrm>
            <a:off x="2788920" y="2203704"/>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59"/>
          <p:cNvSpPr txBox="1"/>
          <p:nvPr/>
        </p:nvSpPr>
        <p:spPr>
          <a:xfrm>
            <a:off x="3264408" y="2084832"/>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Chefs: Heard, Chef! – then say what they are doing: I'm cooking the steak.</a:t>
            </a:r>
            <a:endParaRPr lang="en-US" sz="1300" dirty="0"/>
          </a:p>
        </p:txBody>
      </p:sp>
      <p:sp>
        <p:nvSpPr>
          <p:cNvPr id="18" name="num_160"/>
          <p:cNvSpPr txBox="1"/>
          <p:nvPr/>
        </p:nvSpPr>
        <p:spPr>
          <a:xfrm>
            <a:off x="2788920" y="291693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61"/>
          <p:cNvSpPr txBox="1"/>
          <p:nvPr/>
        </p:nvSpPr>
        <p:spPr>
          <a:xfrm>
            <a:off x="3264408" y="2798064"/>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Teacher: How long on table 5? – Three minutes, Chef!</a:t>
            </a:r>
            <a:endParaRPr lang="en-US" sz="1300" dirty="0"/>
          </a:p>
        </p:txBody>
      </p:sp>
      <p:sp>
        <p:nvSpPr>
          <p:cNvPr id="20" name="num_162"/>
          <p:cNvSpPr txBox="1"/>
          <p:nvPr/>
        </p:nvSpPr>
        <p:spPr>
          <a:xfrm>
            <a:off x="2788920" y="3630168"/>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63"/>
          <p:cNvSpPr txBox="1"/>
          <p:nvPr/>
        </p:nvSpPr>
        <p:spPr>
          <a:xfrm>
            <a:off x="3264408" y="3511296"/>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Service, please! – Away! Faster every round. Then a chef is the head chef!</a:t>
            </a:r>
            <a:endParaRPr lang="en-US" sz="13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4"/>
          <p:cNvSpPr/>
          <p:nvPr/>
        </p:nvSpPr>
        <p:spPr>
          <a:xfrm>
            <a:off x="54864" y="54864"/>
            <a:ext cx="9034272" cy="5033772"/>
          </a:xfrm>
          <a:prstGeom prst="rect">
            <a:avLst/>
          </a:prstGeom>
          <a:ln w="114300">
            <a:solidFill>
              <a:srgbClr val="C9B3F0"/>
            </a:solidFill>
            <a:prstDash val="solid"/>
          </a:ln>
        </p:spPr>
      </p:sp>
      <p:pic>
        <p:nvPicPr>
          <p:cNvPr id="4" name="logo_16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16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6" name="title_167"/>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168"/>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169"/>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and use calls during service.</a:t>
            </a:r>
            <a:endParaRPr lang="en-US" sz="1350" dirty="0"/>
          </a:p>
        </p:txBody>
      </p:sp>
      <p:sp>
        <p:nvSpPr>
          <p:cNvPr id="9" name="faces_170"/>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171"/>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use the present continuous: I'm plating…</a:t>
            </a:r>
            <a:endParaRPr lang="en-US" sz="1350" dirty="0"/>
          </a:p>
        </p:txBody>
      </p:sp>
      <p:sp>
        <p:nvSpPr>
          <p:cNvPr id="11" name="faces_172"/>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173"/>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talk about how steak is cooked.</a:t>
            </a:r>
            <a:endParaRPr lang="en-US" sz="1350" dirty="0"/>
          </a:p>
        </p:txBody>
      </p:sp>
      <p:sp>
        <p:nvSpPr>
          <p:cNvPr id="13" name="faces_174"/>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175"/>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Write the calls for a busy service at your restaurant: 8 calls with answers.</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Your teacher can attach the homework sheet in the portal.</a:t>
            </a:r>
            <a:endParaRPr lang="en-US" sz="1250" dirty="0"/>
          </a:p>
        </p:txBody>
      </p:sp>
      <p:sp>
        <p:nvSpPr>
          <p:cNvPr id="15" name="stamp_176"/>
          <p:cNvSpPr txBox="1"/>
          <p:nvPr/>
        </p:nvSpPr>
        <p:spPr>
          <a:xfrm>
            <a:off x="365760" y="3657600"/>
            <a:ext cx="457200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L10 · Problems &amp; the final shift</a:t>
            </a:r>
            <a:endParaRPr lang="en-US" sz="12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7"/>
          <p:cNvSpPr/>
          <p:nvPr/>
        </p:nvSpPr>
        <p:spPr>
          <a:xfrm>
            <a:off x="54864" y="54864"/>
            <a:ext cx="9034272" cy="5033772"/>
          </a:xfrm>
          <a:prstGeom prst="rect">
            <a:avLst/>
          </a:prstGeom>
          <a:ln w="114300">
            <a:solidFill>
              <a:srgbClr val="C9B3F0"/>
            </a:solidFill>
            <a:prstDash val="solid"/>
          </a:ln>
        </p:spPr>
      </p:sp>
      <p:pic>
        <p:nvPicPr>
          <p:cNvPr id="4" name="logo_17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Video · real TV</a:t>
            </a:r>
            <a:endParaRPr lang="en-US" sz="900" dirty="0"/>
          </a:p>
        </p:txBody>
      </p:sp>
      <p:sp>
        <p:nvSpPr>
          <p:cNvPr id="6" name="timer_18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extra_18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18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Kitchen English · L9</a:t>
            </a:r>
            <a:endParaRPr lang="en-US" sz="1000" dirty="0"/>
          </a:p>
        </p:txBody>
      </p:sp>
      <p:sp>
        <p:nvSpPr>
          <p:cNvPr id="9" name="title_183"/>
          <p:cNvSpPr txBox="1"/>
          <p:nvPr/>
        </p:nvSpPr>
        <p:spPr>
          <a:xfrm rot="-120000">
            <a:off x="320040" y="676656"/>
            <a:ext cx="484632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 busy service goes wrong</a:t>
            </a:r>
            <a:endParaRPr lang="en-US" sz="1500" dirty="0"/>
          </a:p>
        </p:txBody>
      </p:sp>
      <p:sp>
        <p:nvSpPr>
          <p:cNvPr id="10" name="post_184"/>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185"/>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2" name="signB_18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Watch a short part. What is going wrong?</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una parte. Cosa va storto?</a:t>
            </a:r>
            <a:endParaRPr lang="en-US" sz="1250" dirty="0"/>
          </a:p>
        </p:txBody>
      </p:sp>
      <p:sp>
        <p:nvSpPr>
          <p:cNvPr id="13" name="screen_187"/>
          <p:cNvSpPr/>
          <p:nvPr/>
        </p:nvSpPr>
        <p:spPr>
          <a:xfrm>
            <a:off x="2788920" y="1371600"/>
            <a:ext cx="2743200" cy="1874520"/>
          </a:xfrm>
          <a:prstGeom prst="roundRect">
            <a:avLst>
              <a:gd name="adj" fmla="val 4878"/>
            </a:avLst>
          </a:prstGeom>
          <a:solidFill>
            <a:srgbClr val="1F1630"/>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4" name="play_188">
            <a:hlinkClick r:id="rId3" tooltip="Gordon Ramsay Catches A Possibly Lethal Mistake"/>
          </p:cNvPr>
          <p:cNvSpPr txBox="1"/>
          <p:nvPr/>
        </p:nvSpPr>
        <p:spPr>
          <a:xfrm>
            <a:off x="3749040" y="1874520"/>
            <a:ext cx="822960" cy="822960"/>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2600" u="sng" dirty="0">
                <a:solidFill>
                  <a:srgbClr val="FFFFFF"/>
                </a:solidFill>
                <a:latin typeface="Calibri" pitchFamily="34" charset="0"/>
                <a:ea typeface="Calibri" pitchFamily="34" charset="-122"/>
                <a:cs typeface="Calibri" pitchFamily="34" charset="-120"/>
                <a:hlinkClick r:id="rId3" invalidUrl="" action="" tgtFrame="" tooltip="Gordon Ramsay Catches A Possibly Lethal Mistake" history="1" highlightClick="0" endSnd="0">
                  <a:extLst>
                    <a:ext uri="{A12FA001-AC4F-418D-AE19-62706E023703}">
                      <ahyp:hlinkClr xmlns:ahyp="http://schemas.microsoft.com/office/drawing/2018/hyperlinkcolor" val="tx"/>
                    </a:ext>
                  </a:extLst>
                </a:hlinkClick>
              </a:rPr>
              <a:t>▶</a:t>
            </a:r>
            <a:endParaRPr lang="en-US" sz="2600" dirty="0"/>
          </a:p>
        </p:txBody>
      </p:sp>
      <p:sp>
        <p:nvSpPr>
          <p:cNvPr id="15" name="vt_189"/>
          <p:cNvSpPr txBox="1"/>
          <p:nvPr/>
        </p:nvSpPr>
        <p:spPr>
          <a:xfrm>
            <a:off x="2788920" y="3310128"/>
            <a:ext cx="2743200" cy="658368"/>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900" b="1" u="sng" dirty="0">
                <a:solidFill>
                  <a:srgbClr val="11111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Gordon Ramsay Catches A Possibly Lethal Mistake</a:t>
            </a:r>
            <a:endParaRPr lang="en-US" sz="900" dirty="0"/>
          </a:p>
          <a:p>
            <a:pPr indent="0" marL="0">
              <a:buNone/>
            </a:pPr>
            <a:r>
              <a:rPr lang="en-US" sz="800" dirty="0">
                <a:solidFill>
                  <a:srgbClr val="475569"/>
                </a:solidFill>
                <a:latin typeface="Calibri" pitchFamily="34" charset="0"/>
                <a:ea typeface="Calibri" pitchFamily="34" charset="-122"/>
                <a:cs typeface="Calibri" pitchFamily="34" charset="-120"/>
              </a:rPr>
              <a:t>Kitchen Nightmares · choose 3–5 min · click ▶ to open</a:t>
            </a:r>
            <a:endParaRPr lang="en-US" sz="900" dirty="0"/>
          </a:p>
        </p:txBody>
      </p:sp>
      <p:sp>
        <p:nvSpPr>
          <p:cNvPr id="16" name="wyw_190"/>
          <p:cNvSpPr txBox="1"/>
          <p:nvPr/>
        </p:nvSpPr>
        <p:spPr>
          <a:xfrm>
            <a:off x="5669280" y="1371600"/>
            <a:ext cx="315468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7" name="box_191"/>
          <p:cNvSpPr txBox="1"/>
          <p:nvPr/>
        </p:nvSpPr>
        <p:spPr>
          <a:xfrm>
            <a:off x="5669280" y="1810512"/>
            <a:ext cx="3154680" cy="713232"/>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What is the problem?</a:t>
            </a:r>
            <a:endParaRPr lang="en-US" sz="1250" dirty="0"/>
          </a:p>
        </p:txBody>
      </p:sp>
      <p:sp>
        <p:nvSpPr>
          <p:cNvPr id="18" name="box_192"/>
          <p:cNvSpPr txBox="1"/>
          <p:nvPr/>
        </p:nvSpPr>
        <p:spPr>
          <a:xfrm>
            <a:off x="5669280" y="2615184"/>
            <a:ext cx="3154680" cy="713232"/>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What are the chefs doing wrong?</a:t>
            </a:r>
            <a:endParaRPr lang="en-US" sz="1250" dirty="0"/>
          </a:p>
        </p:txBody>
      </p:sp>
      <p:sp>
        <p:nvSpPr>
          <p:cNvPr id="19" name="box_193"/>
          <p:cNvSpPr txBox="1"/>
          <p:nvPr/>
        </p:nvSpPr>
        <p:spPr>
          <a:xfrm>
            <a:off x="5669280" y="3419856"/>
            <a:ext cx="3154680" cy="713232"/>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What should they do? Use must / mustn't.</a:t>
            </a:r>
            <a:endParaRPr lang="en-US" sz="1250" dirty="0"/>
          </a:p>
        </p:txBody>
      </p:sp>
      <p:sp>
        <p:nvSpPr>
          <p:cNvPr id="20" name="bubble_194"/>
          <p:cNvSpPr txBox="1"/>
          <p:nvPr/>
        </p:nvSpPr>
        <p:spPr>
          <a:xfrm>
            <a:off x="2788920" y="4069080"/>
            <a:ext cx="2743200" cy="603504"/>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Has this happened in your kitchen?</a:t>
            </a:r>
            <a:endParaRPr lang="en-US" sz="12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Kitchen English L9 Service!</dc:title>
  <dc:subject>PptxGenJS Presentation</dc:subject>
  <dc:creator>London Language School</dc:creator>
  <cp:lastModifiedBy>London Language School</cp:lastModifiedBy>
  <cp:revision>1</cp:revision>
  <dcterms:created xsi:type="dcterms:W3CDTF">2026-10-05T06:50:57Z</dcterms:created>
  <dcterms:modified xsi:type="dcterms:W3CDTF">2026-10-05T06:50:57Z</dcterms:modified>
</cp:coreProperties>
</file>