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(2 min, TB36). Stick the doctor, dentist and nurse flashcards together on the board: 'What's the same about these people?' (They all help people.) 'Let's find out more about people who help us.'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LESSON 3 – TRUE? JUMP! (4 min). SEE: 8 appearance pictures, no words. TEACHER: point to a card and say a sentence, e.g. 'He's got a moustache' (pointing at beard = FALSE), 'She's got curly hair' (curly = TRUE), 'He's short' (tall = FALSE), 'She's got long, blonde hair' (blonde = TRUE), 'He's thin' (fat = FALSE). STUDENTS: everyone stands; TRUE = jump and say 'Yes!'; FALSE = sit down and someone corrects: 'No! He's got a beard!'. GROUPING: whole class (then a child takes the teacher's role). SCORE: a correct correction = 1 point for that child's team. LANGUAGE: He's/She's + adjective; He's/She's got + hair words (Lesson 3), word order 'long, blonde hair'. REVEAL: the teacher confirms TRUE/FALSE after everyone has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(5 min, TB36). 'Let's watch the video about people who help us.' Play the Power Up cross-curricular video for Unit 3 (from the book's digital resources) and answer the questions at the end. If not available, use the YouTube search link for a short community helpers video. External resources are suggestions only: the teacher must preview and check all links, videos, adverts and content before using them with children. Always have the PowerPoint/classroom alternative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(6 min, TB36). 'What does a firefighter do?' (Fights fires, rescues people, helps people when there's bad weather.) 'What does a police officer do?' (Keeps us safe, catches criminals.) 'Is anyone in your family a firefighter / police officer?' Note (TB): 'firefighter' can be one or two words in YLE exams. 'Surgery' = the place where a dentist or doctor works (UK). TPR: Hold the hose: spray the water! Shhhh! 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(6 min, TB36). 'What does a firefighter do?' (Fights fires, rescues people, helps people when there's bad weather.) 'What does a police officer do?' (Keeps us safe, catches criminals.) 'Is anyone in your family a firefighter / police officer?' Note (TB): 'firefighter' can be one or two words in YLE exams. 'Surgery' = the place where a dentist or doctor works (UK). TPR: Hand up: STOP! Blow your whistle! 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(6 min, TB36). 'What does a firefighter do?' (Fights fires, rescues people, helps people when there's bad weather.) 'What does a police officer do?' (Keeps us safe, catches criminals.) 'Is anyone in your family a firefighter / police officer?' Note (TB): 'firefighter' can be one or two words in YLE exams. 'Surgery' = the place where a dentist or doctor works (UK). TPR: Slide down the pole! Nee-naw! 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(6 min, TB36). 'What does a firefighter do?' (Fights fires, rescues people, helps people when there's bad weather.) 'What does a police officer do?' (Keeps us safe, catches criminals.) 'Is anyone in your family a firefighter / police officer?' Note (TB): 'firefighter' can be one or two words in YLE exams. 'Surgery' = the place where a dentist or doctor works (UK). TPR: Drive the police car! 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(6 min, TB36). 'What does a firefighter do?' (Fights fires, rescues people, helps people when there's bad weather.) 'What does a police officer do?' (Keeps us safe, catches criminals.) 'Is anyone in your family a firefighter / police officer?' Note (TB): 'firefighter' can be one or two words in YLE exams. 'Surgery' = the place where a dentist or doctor works (UK). TPR: Lie down in bed: 'I'm sick!' 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(6 min, TB36). 'What does a firefighter do?' (Fights fires, rescues people, helps people when there's bad weather.) 'What does a police officer do?' (Keeps us safe, catches criminals.) 'Is anyone in your family a firefighter / police officer?' Note (TB): 'firefighter' can be one or two words in YLE exams. 'Surgery' = the place where a dentist or doctor works (UK). TPR: Sit in the dentist's chair: 'Aaah!' 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+ ITALIAN TRAPS (4 min). SEE: the words, answers hidden. TEACHER: say each word; teams hold up 1, 2 or 3 fingers to show the BIG syllable (commit), then click. Clap it: big clap on the strong part. Italian 'ospedale/polizia' push stress to the wrong place – CATCH IT: say 'hos-PI-tal', 'PO-lice' on purpose; first team to shout 'NO!' and say it right wins a point. Final consonants: 'hospitaL', 'surgerY' – no extra vowel. TRAPS: (5) no article in Italian, 'a' in English: 'She's a nurse'. (6) 'all'ospedale/a scuola' → 'in a hospital / at school'. Teams translate quickly for 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 THEY WORK? (6 min, TB36). Point to the firefighter, then the places: 'Where does she work?' Students point to the fire station – number 1 is the example. Pairs number the rest. Play 1.47 to check. KEY (TB36): a teacher – 3, a firefighter – 1, a dentist – 5, a doctor / a nurse – 2, a police officer – 4. Then pairs: one points to a person and asks 'Where does he/she work?', the other points to the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CAN HELP? (4 min, TB36). Say: 'Listen. Which picture? He's fallen off his bike. Ouch!' Students point. Point to picture 1: 'Who can help?' (A dentist.) Pairs ask and answer, then write the words under the pictures. KEY (TB36): 1 a dentist 2 a firefighter 3 a doctor or a nurse.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– HELP! HELP! (4 min). SEE: 6 helpers; actions appear on click (click all first, saying them). TEACHER: shout a PROBLEM, not the job: 'Help! There's a fire!' (firefighter), 'Help! My tooth!' (dentist), 'Help! I can't do my homework!' (teacher), 'Help! Lots of cars!' (police officer), 'Ouch, my arm!' (nurse), 'I'm ill!' (doctor). STUDENTS: do the helper's action and shout the job: 'Firefighter!'. GROUPING: whole class. SCORE: last one to start the right action sits out for ONE round only. LANGUAGE: jobs (retrieval from a problem = meaning, not just the word). Speed up each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(4 min, TB37). Read the jobs in the box together (students say them – retrieval). Students read and match ALONE (write 1–6 + job), then compare in pairs; click to check. KEY (TB37): 1 a police officer 2 a doctor 3 a firefighter 4 a cook 5 a teacher 6 a farmer. Follow up: 'Who stops fires? Who works in a restaurant?'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(big text). Play 1.48 while students follow on the screen. Then go to the questions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READ (6 min, TB37). Read the questions together, check 'scary' (che fa paura). Play 1.48. Students read and answer in pairs. KEY (TB37): 1 She's a teacher. 2 She works in a school. 3 No, she doesn't. 4 No, it isn't. 5 Yes, she does. (She loves it!) EXTENSION: What's her surname? (Green) Where's the school? (Near her house) When does she start/finish work? (Nine / four o'clock) Why does she love her job? (Because she likes helping children).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I DO? (6 min, TB36 Ending). SEE: 3 example clue sets (the answers in brackets are for the teacher – read the clues, cover the screen or skip to the next slide when playing for real). TEACHER: say one sentence at a time about a secret job. STUDENTS: teams confer and may guess after each sentence ('You're a farmer!'). GROUPING: 2–3 teams. SCORE: guess after clue 1 = 5 points, clue 2 = 4, clue 3 = 3; a wrong guess = team waits until the next clue. LANGUAGE: present simple 'I work… I help… I wear…' (input) and 'You're a …' (output). REVEAL: the teacher says 'Yes, I'm a …!' Then volunteers give 3 clues about a job of their choice (support on the board: I work in… I help… I wear…).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STAGE 3 (10 min, TB37). Groups look at their four characters (Stages 1–2), choose a setting (school, street, park, home) and a problem (someone falls off their bike, there's a fire, someone can't find their little brother…). They write the lines of their scene and a title. Each child must have something to say. Encourage Why…? Because…. Extra support: useful lines on the board. AB p.30: smiley for stage 3. Give a completion sticker.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Self-assessment (TB36): thumbs for each 'I can'. Keep the Mission scenes safe for Lesson 6!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– FIND SOMEONE WHO (6 min). SEE: 5 lines (copy onto paper or a mini worksheet). TEACHER: model one question with a strong student first ('Do you want to be a doctor?' – 'Yes, I do!'). STUDENTS: walk around and ask Yes/No questions; write a classmate's name next to a line when the answer is 'Yes'. Different name on each line. GROUPING: whole class, mingle. SCORE: first to complete all 5 lines shouts 'Finished!' – then they report: 'Luca wants to be a doctor.' LANGUAGE: Do you want to be…? Have you got…? Do you know…? / He wants to be… (3rd person -s!). REVEAL: report back as a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(10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EXTRA – WHAT'S MISSING? (3 min). Cards without words: students say the words first. Click 1: one card covered. Click 2: answer (fire station).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people+who+help+us+for+kids+community+helpers" TargetMode="External"/><Relationship Id="rId4" Type="http://schemas.openxmlformats.org/officeDocument/2006/relationships/hyperlink" Target="https://www.youtube.com/results?search_query=community+helpers+song+for+kids" TargetMode="Externa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3 · LESSON 4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 who help us</a:t>
            </a:r>
            <a:endParaRPr lang="en-US" sz="27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who helps us? 🚒🏥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chi ci aiuta?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2545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2545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WATCH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 video about people who help us.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un video su chi ci aiuta.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READ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about jobs. Who is it?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 dei mestieri. Chi è?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WRITE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write a helping scene!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Missione: scrivi una scena di aiuto!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3-p36-ex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21331"/>
            <a:ext cx="3246120" cy="1963779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e-u3firefigh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e-u3pol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can help?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Chi può aiutare?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1239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p.36–37 · 🎬 video · 🎧 1.47–1.48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True? Jump!</a:t>
            </a:r>
            <a:endParaRPr lang="en-US" sz="3200" dirty="0"/>
          </a:p>
        </p:txBody>
      </p:sp>
      <p:sp>
        <p:nvSpPr>
          <p:cNvPr id="5" name="in_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 = JUMP! False = SIT and correct it!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Vero = SALTA! Falso = SIEDITI e correggi!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CLASS · ⏱ 4 MIN</a:t>
            </a:r>
            <a:endParaRPr lang="en-US" sz="1000" dirty="0"/>
          </a:p>
        </p:txBody>
      </p:sp>
      <p:sp>
        <p:nvSpPr>
          <p:cNvPr id="7" name="diff_2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No! He's got …</a:t>
            </a:r>
            <a:endParaRPr lang="en-US" sz="950" dirty="0"/>
          </a:p>
        </p:txBody>
      </p:sp>
      <p:sp>
        <p:nvSpPr>
          <p:cNvPr id="8" name="diff_2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Correct it with 2 words!</a:t>
            </a:r>
            <a:endParaRPr lang="en-US" sz="950" dirty="0"/>
          </a:p>
        </p:txBody>
      </p:sp>
      <p:sp>
        <p:nvSpPr>
          <p:cNvPr id="9" name="st_3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3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3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2" name="se_3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picture.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l'immagine.</a:t>
            </a:r>
            <a:endParaRPr lang="en-US" sz="1050" dirty="0"/>
          </a:p>
        </p:txBody>
      </p:sp>
      <p:sp>
        <p:nvSpPr>
          <p:cNvPr id="13" name="st_3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3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3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6" name="se_3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sentence.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la frase.</a:t>
            </a:r>
            <a:endParaRPr lang="en-US" sz="1050" dirty="0"/>
          </a:p>
        </p:txBody>
      </p:sp>
      <p:sp>
        <p:nvSpPr>
          <p:cNvPr id="17" name="st_3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3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4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20" name="se_4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True: jump! False: sit down!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Vero: salta! Falso: siediti!</a:t>
            </a:r>
            <a:endParaRPr lang="en-US" sz="1050" dirty="0"/>
          </a:p>
        </p:txBody>
      </p:sp>
      <p:sp>
        <p:nvSpPr>
          <p:cNvPr id="21" name="cd_42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43" descr="/home/claude/movers/img/fc/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3" name="cd_44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45" descr="/home/claude/movers/img/fc/cur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5" name="cd_46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47" descr="/home/claude/movers/img/fc/be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7" name="cd_48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49" descr="/home/claude/movers/img/fc/moustach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9" name="cd_50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0" name="ci_51" descr="/home/claude/movers/img/fc/blon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834640"/>
            <a:ext cx="1179576" cy="1179576"/>
          </a:xfrm>
          <a:prstGeom prst="rect">
            <a:avLst/>
          </a:prstGeom>
        </p:spPr>
      </p:pic>
      <p:sp>
        <p:nvSpPr>
          <p:cNvPr id="31" name="cd_52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53" descr="/home/claude/movers/img/fc/f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834640"/>
            <a:ext cx="1179576" cy="1179576"/>
          </a:xfrm>
          <a:prstGeom prst="rect">
            <a:avLst/>
          </a:prstGeom>
        </p:spPr>
      </p:pic>
      <p:sp>
        <p:nvSpPr>
          <p:cNvPr id="33" name="cd_54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55" descr="/home/claude/movers/img/fc/th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834640"/>
            <a:ext cx="1179576" cy="1179576"/>
          </a:xfrm>
          <a:prstGeom prst="rect">
            <a:avLst/>
          </a:prstGeom>
        </p:spPr>
      </p:pic>
      <p:sp>
        <p:nvSpPr>
          <p:cNvPr id="35" name="cd_56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6" name="ci_57" descr="/home/claude/movers/img/fc/stra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2834640"/>
            <a:ext cx="1179576" cy="11795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</a:t>
            </a:r>
            <a:endParaRPr lang="en-US" sz="1600" dirty="0"/>
          </a:p>
        </p:txBody>
      </p:sp>
      <p:sp>
        <p:nvSpPr>
          <p:cNvPr id="4" name="bm_5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5D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the video!</a:t>
            </a:r>
            <a:endParaRPr lang="en-US" sz="2700" dirty="0"/>
          </a:p>
        </p:txBody>
      </p:sp>
      <p:sp>
        <p:nvSpPr>
          <p:cNvPr id="5" name="in_6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Watch. Who helps us? Answer the questions at the end.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Guarda. Chi ci aiuta? Rispondi alle domande alla fine.</a:t>
            </a:r>
            <a:endParaRPr lang="en-US" sz="1400" dirty="0"/>
          </a:p>
        </p:txBody>
      </p:sp>
      <p:sp>
        <p:nvSpPr>
          <p:cNvPr id="6" name="mode_6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WATCH · ⏱ 5 MIN</a:t>
            </a:r>
            <a:endParaRPr lang="en-US" sz="1000" dirty="0"/>
          </a:p>
        </p:txBody>
      </p:sp>
      <p:sp>
        <p:nvSpPr>
          <p:cNvPr id="7" name="pf_62"/>
          <p:cNvSpPr/>
          <p:nvPr/>
        </p:nvSpPr>
        <p:spPr>
          <a:xfrm>
            <a:off x="310896" y="1271016"/>
            <a:ext cx="4041648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63" descr="/home/claude/movers/img/crop/u3-p36-tit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88870"/>
            <a:ext cx="3931920" cy="982980"/>
          </a:xfrm>
          <a:prstGeom prst="rect">
            <a:avLst/>
          </a:prstGeom>
        </p:spPr>
      </p:pic>
      <p:sp>
        <p:nvSpPr>
          <p:cNvPr id="9" name="lk_64"/>
          <p:cNvSpPr/>
          <p:nvPr/>
        </p:nvSpPr>
        <p:spPr>
          <a:xfrm>
            <a:off x="4572000" y="1371600"/>
            <a:ext cx="42976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31750">
            <a:solidFill>
              <a:srgbClr val="F2545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  <a:hlinkClick r:id="rId3" invalidUrl="" action="" tgtFrame="" tooltip="https://www.youtube.com/results?search_query=people+who+help+us+for+kids+community+helper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People who help us video (YouTube search)</a:t>
            </a:r>
            <a:endParaRPr lang="en-US" sz="1300" dirty="0"/>
          </a:p>
        </p:txBody>
      </p:sp>
      <p:sp>
        <p:nvSpPr>
          <p:cNvPr id="10" name="lk_65"/>
          <p:cNvSpPr/>
          <p:nvPr/>
        </p:nvSpPr>
        <p:spPr>
          <a:xfrm>
            <a:off x="4572000" y="1938528"/>
            <a:ext cx="42976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31750">
            <a:solidFill>
              <a:srgbClr val="F2545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  <a:hlinkClick r:id="rId4" invalidUrl="" action="" tgtFrame="" tooltip="https://www.youtube.com/results?search_query=community+helpers+song+for+kid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Community helpers song (YouTube search)</a:t>
            </a:r>
            <a:endParaRPr lang="en-US" sz="1300" dirty="0"/>
          </a:p>
        </p:txBody>
      </p:sp>
      <p:sp>
        <p:nvSpPr>
          <p:cNvPr id="11" name="vl_66"/>
          <p:cNvSpPr/>
          <p:nvPr/>
        </p:nvSpPr>
        <p:spPr>
          <a:xfrm>
            <a:off x="4572000" y="2596896"/>
            <a:ext cx="42976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helps us? · Chi ci aiuta?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 do they work? · Dove lavorano?</a:t>
            </a:r>
            <a:endParaRPr lang="en-US" sz="1300" dirty="0"/>
          </a:p>
        </p:txBody>
      </p:sp>
      <p:sp>
        <p:nvSpPr>
          <p:cNvPr id="12" name="disc_67"/>
          <p:cNvSpPr/>
          <p:nvPr/>
        </p:nvSpPr>
        <p:spPr>
          <a:xfrm>
            <a:off x="4572000" y="4251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preview every link before class (ads, content). The lesson works without it. · Controllare i link prima della lezione.</a:t>
            </a:r>
            <a:endParaRPr lang="en-US" sz="900" dirty="0"/>
          </a:p>
        </p:txBody>
      </p:sp>
      <p:sp>
        <p:nvSpPr>
          <p:cNvPr id="13" name="bk_68"/>
          <p:cNvSpPr/>
          <p:nvPr/>
        </p:nvSpPr>
        <p:spPr>
          <a:xfrm>
            <a:off x="228600" y="4681728"/>
            <a:ext cx="326898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 · 🎬 video (ex.1)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0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words!</a:t>
            </a:r>
            <a:endParaRPr lang="en-US" sz="3200" dirty="0"/>
          </a:p>
        </p:txBody>
      </p:sp>
      <p:sp>
        <p:nvSpPr>
          <p:cNvPr id="5" name="in_7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2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3" descr="/home/claude/movers/img/e-u3firefigh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74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firefighter</a:t>
            </a:r>
            <a:endParaRPr lang="en-US" sz="3600" dirty="0"/>
          </a:p>
        </p:txBody>
      </p:sp>
      <p:sp>
        <p:nvSpPr>
          <p:cNvPr id="9" name="R2_it75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vigile del fuoco / pompiere</a:t>
            </a:r>
            <a:endParaRPr lang="en-US" sz="1450" dirty="0"/>
          </a:p>
        </p:txBody>
      </p:sp>
      <p:sp>
        <p:nvSpPr>
          <p:cNvPr id="10" name="R3_tpr76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Hold the hose: spray the water! Shhhh! 💦</a:t>
            </a:r>
            <a:endParaRPr lang="en-US" sz="1300" dirty="0"/>
          </a:p>
        </p:txBody>
      </p:sp>
      <p:sp>
        <p:nvSpPr>
          <p:cNvPr id="11" name="n_77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6</a:t>
            </a:r>
            <a:endParaRPr lang="en-US" sz="1200" dirty="0"/>
          </a:p>
        </p:txBody>
      </p:sp>
      <p:sp>
        <p:nvSpPr>
          <p:cNvPr id="12" name="bk_7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 · 🎧 1.47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0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words!</a:t>
            </a:r>
            <a:endParaRPr lang="en-US" sz="3200" dirty="0"/>
          </a:p>
        </p:txBody>
      </p:sp>
      <p:sp>
        <p:nvSpPr>
          <p:cNvPr id="5" name="in_8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2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3" descr="/home/claude/movers/img/e-u3pol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84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police officer</a:t>
            </a:r>
            <a:endParaRPr lang="en-US" sz="3600" dirty="0"/>
          </a:p>
        </p:txBody>
      </p:sp>
      <p:sp>
        <p:nvSpPr>
          <p:cNvPr id="9" name="R2_it85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poliziotto / poliziotta</a:t>
            </a:r>
            <a:endParaRPr lang="en-US" sz="1600" dirty="0"/>
          </a:p>
        </p:txBody>
      </p:sp>
      <p:sp>
        <p:nvSpPr>
          <p:cNvPr id="10" name="R3_tpr86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Hand up: STOP! Blow your whistle! 🛑</a:t>
            </a:r>
            <a:endParaRPr lang="en-US" sz="1300" dirty="0"/>
          </a:p>
        </p:txBody>
      </p:sp>
      <p:sp>
        <p:nvSpPr>
          <p:cNvPr id="11" name="n_87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6</a:t>
            </a:r>
            <a:endParaRPr lang="en-US" sz="1200" dirty="0"/>
          </a:p>
        </p:txBody>
      </p:sp>
      <p:sp>
        <p:nvSpPr>
          <p:cNvPr id="12" name="bk_8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 · 🎧 1.47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0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words!</a:t>
            </a:r>
            <a:endParaRPr lang="en-US" sz="3200" dirty="0"/>
          </a:p>
        </p:txBody>
      </p:sp>
      <p:sp>
        <p:nvSpPr>
          <p:cNvPr id="5" name="in_9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2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3" descr="/home/claude/movers/img/e-u3fire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94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 station</a:t>
            </a:r>
            <a:endParaRPr lang="en-US" sz="3600" dirty="0"/>
          </a:p>
        </p:txBody>
      </p:sp>
      <p:sp>
        <p:nvSpPr>
          <p:cNvPr id="9" name="R2_it95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caserma dei pompieri</a:t>
            </a:r>
            <a:endParaRPr lang="en-US" sz="1600" dirty="0"/>
          </a:p>
        </p:txBody>
      </p:sp>
      <p:sp>
        <p:nvSpPr>
          <p:cNvPr id="10" name="R3_tpr96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Slide down the pole! Nee-naw! 🚒</a:t>
            </a:r>
            <a:endParaRPr lang="en-US" sz="1300" dirty="0"/>
          </a:p>
        </p:txBody>
      </p:sp>
      <p:sp>
        <p:nvSpPr>
          <p:cNvPr id="11" name="n_97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6</a:t>
            </a:r>
            <a:endParaRPr lang="en-US" sz="1200" dirty="0"/>
          </a:p>
        </p:txBody>
      </p:sp>
      <p:sp>
        <p:nvSpPr>
          <p:cNvPr id="12" name="bk_9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 · 🎧 1.47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0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words!</a:t>
            </a:r>
            <a:endParaRPr lang="en-US" sz="3200" dirty="0"/>
          </a:p>
        </p:txBody>
      </p:sp>
      <p:sp>
        <p:nvSpPr>
          <p:cNvPr id="5" name="in_10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2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3" descr="/home/claude/movers/img/e-u3police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104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police station</a:t>
            </a:r>
            <a:endParaRPr lang="en-US" sz="3600" dirty="0"/>
          </a:p>
        </p:txBody>
      </p:sp>
      <p:sp>
        <p:nvSpPr>
          <p:cNvPr id="9" name="R2_it105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commissariato / stazione di polizia</a:t>
            </a:r>
            <a:endParaRPr lang="en-US" sz="1300" dirty="0"/>
          </a:p>
        </p:txBody>
      </p:sp>
      <p:sp>
        <p:nvSpPr>
          <p:cNvPr id="10" name="R3_tpr106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Drive the police car! 🚓</a:t>
            </a:r>
            <a:endParaRPr lang="en-US" sz="1300" dirty="0"/>
          </a:p>
        </p:txBody>
      </p:sp>
      <p:sp>
        <p:nvSpPr>
          <p:cNvPr id="11" name="n_107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6</a:t>
            </a:r>
            <a:endParaRPr lang="en-US" sz="1200" dirty="0"/>
          </a:p>
        </p:txBody>
      </p:sp>
      <p:sp>
        <p:nvSpPr>
          <p:cNvPr id="12" name="bk_10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 · 🎧 1.47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10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words!</a:t>
            </a:r>
            <a:endParaRPr lang="en-US" sz="3200" dirty="0"/>
          </a:p>
        </p:txBody>
      </p:sp>
      <p:sp>
        <p:nvSpPr>
          <p:cNvPr id="5" name="in_11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12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3" descr="/home/claude/movers/img/e-u3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114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hospital</a:t>
            </a:r>
            <a:endParaRPr lang="en-US" sz="3600" dirty="0"/>
          </a:p>
        </p:txBody>
      </p:sp>
      <p:sp>
        <p:nvSpPr>
          <p:cNvPr id="9" name="R2_it115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ospedale</a:t>
            </a:r>
            <a:endParaRPr lang="en-US" sz="1600" dirty="0"/>
          </a:p>
        </p:txBody>
      </p:sp>
      <p:sp>
        <p:nvSpPr>
          <p:cNvPr id="10" name="R3_tpr116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Lie down in bed: 'I'm sick!' 🤒</a:t>
            </a:r>
            <a:endParaRPr lang="en-US" sz="1300" dirty="0"/>
          </a:p>
        </p:txBody>
      </p:sp>
      <p:sp>
        <p:nvSpPr>
          <p:cNvPr id="11" name="n_117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6</a:t>
            </a:r>
            <a:endParaRPr lang="en-US" sz="1200" dirty="0"/>
          </a:p>
        </p:txBody>
      </p:sp>
      <p:sp>
        <p:nvSpPr>
          <p:cNvPr id="12" name="bk_11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 · 🎧 1.47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20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words!</a:t>
            </a:r>
            <a:endParaRPr lang="en-US" sz="3200" dirty="0"/>
          </a:p>
        </p:txBody>
      </p:sp>
      <p:sp>
        <p:nvSpPr>
          <p:cNvPr id="5" name="in_12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22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23" descr="/home/claude/movers/img/e-u3surg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124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surgery</a:t>
            </a:r>
            <a:endParaRPr lang="en-US" sz="3600" dirty="0"/>
          </a:p>
        </p:txBody>
      </p:sp>
      <p:sp>
        <p:nvSpPr>
          <p:cNvPr id="9" name="R2_it125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(del dentista / medico)</a:t>
            </a:r>
            <a:endParaRPr lang="en-US" sz="1300" dirty="0"/>
          </a:p>
        </p:txBody>
      </p:sp>
      <p:sp>
        <p:nvSpPr>
          <p:cNvPr id="10" name="R3_tpr126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Sit in the dentist's chair: 'Aaah!' 🦷</a:t>
            </a:r>
            <a:endParaRPr lang="en-US" sz="1300" dirty="0"/>
          </a:p>
        </p:txBody>
      </p:sp>
      <p:sp>
        <p:nvSpPr>
          <p:cNvPr id="11" name="n_127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6</a:t>
            </a:r>
            <a:endParaRPr lang="en-US" sz="1200" dirty="0"/>
          </a:p>
        </p:txBody>
      </p:sp>
      <p:sp>
        <p:nvSpPr>
          <p:cNvPr id="12" name="bk_12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 · 🎧 1.47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IT!</a:t>
            </a:r>
            <a:endParaRPr lang="en-US" sz="1600" dirty="0"/>
          </a:p>
        </p:txBody>
      </p:sp>
      <p:sp>
        <p:nvSpPr>
          <p:cNvPr id="4" name="bm_130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Stress detectives!</a:t>
            </a:r>
            <a:endParaRPr lang="en-US" sz="2700" dirty="0"/>
          </a:p>
        </p:txBody>
      </p:sp>
      <p:sp>
        <p:nvSpPr>
          <p:cNvPr id="5" name="in_131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Clap the word. Where's the BIG part?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Batti le mani. Dov'è la parte FORTE?</a:t>
            </a:r>
            <a:endParaRPr lang="en-US" sz="1400" dirty="0"/>
          </a:p>
        </p:txBody>
      </p:sp>
      <p:sp>
        <p:nvSpPr>
          <p:cNvPr id="6" name="mode_13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4 MIN</a:t>
            </a:r>
            <a:endParaRPr lang="en-US" sz="1000" dirty="0"/>
          </a:p>
        </p:txBody>
      </p:sp>
      <p:sp>
        <p:nvSpPr>
          <p:cNvPr id="7" name="diff_133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BIG = ● · small = •</a:t>
            </a:r>
            <a:endParaRPr lang="en-US" sz="950" dirty="0"/>
          </a:p>
        </p:txBody>
      </p:sp>
      <p:sp>
        <p:nvSpPr>
          <p:cNvPr id="8" name="pf_134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35" descr="/home/claude/movers/img/e-u3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325880"/>
            <a:ext cx="3246120" cy="3246120"/>
          </a:xfrm>
          <a:prstGeom prst="rect">
            <a:avLst/>
          </a:prstGeom>
        </p:spPr>
      </p:pic>
      <p:sp>
        <p:nvSpPr>
          <p:cNvPr id="10" name="q_136"/>
          <p:cNvSpPr/>
          <p:nvPr/>
        </p:nvSpPr>
        <p:spPr>
          <a:xfrm>
            <a:off x="5760720" y="13258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hospital</a:t>
            </a:r>
            <a:endParaRPr lang="en-US" sz="1100" dirty="0"/>
          </a:p>
        </p:txBody>
      </p:sp>
      <p:sp>
        <p:nvSpPr>
          <p:cNvPr id="11" name="R1_a137"/>
          <p:cNvSpPr/>
          <p:nvPr/>
        </p:nvSpPr>
        <p:spPr>
          <a:xfrm>
            <a:off x="5989320" y="16111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HOS-pi-tal  ● • •</a:t>
            </a:r>
            <a:endParaRPr lang="en-US" sz="1100" dirty="0"/>
          </a:p>
        </p:txBody>
      </p:sp>
      <p:sp>
        <p:nvSpPr>
          <p:cNvPr id="12" name="q_138"/>
          <p:cNvSpPr/>
          <p:nvPr/>
        </p:nvSpPr>
        <p:spPr>
          <a:xfrm>
            <a:off x="5760720" y="187452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police</a:t>
            </a:r>
            <a:endParaRPr lang="en-US" sz="1100" dirty="0"/>
          </a:p>
        </p:txBody>
      </p:sp>
      <p:sp>
        <p:nvSpPr>
          <p:cNvPr id="13" name="R2_a139"/>
          <p:cNvSpPr/>
          <p:nvPr/>
        </p:nvSpPr>
        <p:spPr>
          <a:xfrm>
            <a:off x="5989320" y="215981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po-LICE  • ●  (not PO-lice!)</a:t>
            </a:r>
            <a:endParaRPr lang="en-US" sz="1100" dirty="0"/>
          </a:p>
        </p:txBody>
      </p:sp>
      <p:sp>
        <p:nvSpPr>
          <p:cNvPr id="14" name="q_140"/>
          <p:cNvSpPr/>
          <p:nvPr/>
        </p:nvSpPr>
        <p:spPr>
          <a:xfrm>
            <a:off x="5760720" y="242316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firefighter</a:t>
            </a:r>
            <a:endParaRPr lang="en-US" sz="1100" dirty="0"/>
          </a:p>
        </p:txBody>
      </p:sp>
      <p:sp>
        <p:nvSpPr>
          <p:cNvPr id="15" name="R3_a141"/>
          <p:cNvSpPr/>
          <p:nvPr/>
        </p:nvSpPr>
        <p:spPr>
          <a:xfrm>
            <a:off x="5989320" y="270845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FIRE-figh-ter  ● • •</a:t>
            </a:r>
            <a:endParaRPr lang="en-US" sz="1100" dirty="0"/>
          </a:p>
        </p:txBody>
      </p:sp>
      <p:sp>
        <p:nvSpPr>
          <p:cNvPr id="16" name="q_142"/>
          <p:cNvSpPr/>
          <p:nvPr/>
        </p:nvSpPr>
        <p:spPr>
          <a:xfrm>
            <a:off x="5760720" y="297180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surgery</a:t>
            </a:r>
            <a:endParaRPr lang="en-US" sz="1100" dirty="0"/>
          </a:p>
        </p:txBody>
      </p:sp>
      <p:sp>
        <p:nvSpPr>
          <p:cNvPr id="17" name="R4_a143"/>
          <p:cNvSpPr/>
          <p:nvPr/>
        </p:nvSpPr>
        <p:spPr>
          <a:xfrm>
            <a:off x="5989320" y="325709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SUR-ge-ry  ● • •</a:t>
            </a:r>
            <a:endParaRPr lang="en-US" sz="1100" dirty="0"/>
          </a:p>
        </p:txBody>
      </p:sp>
      <p:sp>
        <p:nvSpPr>
          <p:cNvPr id="18" name="q_144"/>
          <p:cNvSpPr/>
          <p:nvPr/>
        </p:nvSpPr>
        <p:spPr>
          <a:xfrm>
            <a:off x="5760720" y="352044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Mia mamma è infermiera. → ?</a:t>
            </a:r>
            <a:endParaRPr lang="en-US" sz="1100" dirty="0"/>
          </a:p>
        </p:txBody>
      </p:sp>
      <p:sp>
        <p:nvSpPr>
          <p:cNvPr id="19" name="R5_a145"/>
          <p:cNvSpPr/>
          <p:nvPr/>
        </p:nvSpPr>
        <p:spPr>
          <a:xfrm>
            <a:off x="5989320" y="380573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My mum's A nurse.</a:t>
            </a:r>
            <a:endParaRPr lang="en-US" sz="1100" dirty="0"/>
          </a:p>
        </p:txBody>
      </p:sp>
      <p:sp>
        <p:nvSpPr>
          <p:cNvPr id="20" name="q_146"/>
          <p:cNvSpPr/>
          <p:nvPr/>
        </p:nvSpPr>
        <p:spPr>
          <a:xfrm>
            <a:off x="5760720" y="40690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Lavora all'ospedale. → ?</a:t>
            </a:r>
            <a:endParaRPr lang="en-US" sz="1100" dirty="0"/>
          </a:p>
        </p:txBody>
      </p:sp>
      <p:sp>
        <p:nvSpPr>
          <p:cNvPr id="21" name="R6_a147"/>
          <p:cNvSpPr/>
          <p:nvPr/>
        </p:nvSpPr>
        <p:spPr>
          <a:xfrm>
            <a:off x="5989320" y="43543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 works IN a hospital.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14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do they work?</a:t>
            </a:r>
            <a:endParaRPr lang="en-US" sz="2400" dirty="0"/>
          </a:p>
        </p:txBody>
      </p:sp>
      <p:sp>
        <p:nvSpPr>
          <p:cNvPr id="5" name="in_15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and write the number. Then listen and check.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scrivi il numero. Poi ascolta e controlla.</a:t>
            </a:r>
            <a:endParaRPr lang="en-US" sz="1350" dirty="0"/>
          </a:p>
        </p:txBody>
      </p:sp>
      <p:sp>
        <p:nvSpPr>
          <p:cNvPr id="6" name="mode_15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✍ WRITE</a:t>
            </a:r>
            <a:endParaRPr lang="en-US" sz="1000" dirty="0"/>
          </a:p>
        </p:txBody>
      </p:sp>
      <p:sp>
        <p:nvSpPr>
          <p:cNvPr id="7" name="diff_152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He / She works in a …</a:t>
            </a:r>
            <a:endParaRPr lang="en-US" sz="950" dirty="0"/>
          </a:p>
        </p:txBody>
      </p:sp>
      <p:sp>
        <p:nvSpPr>
          <p:cNvPr id="8" name="pf_153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54" descr="/home/claude/movers/img/crop/u3-p36-ex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00044"/>
            <a:ext cx="5120640" cy="3097792"/>
          </a:xfrm>
          <a:prstGeom prst="rect">
            <a:avLst/>
          </a:prstGeom>
        </p:spPr>
      </p:pic>
      <p:sp>
        <p:nvSpPr>
          <p:cNvPr id="10" name="q_155"/>
          <p:cNvSpPr/>
          <p:nvPr/>
        </p:nvSpPr>
        <p:spPr>
          <a:xfrm>
            <a:off x="5760720" y="1325880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teacher</a:t>
            </a:r>
            <a:endParaRPr lang="en-US" sz="1250" dirty="0"/>
          </a:p>
        </p:txBody>
      </p:sp>
      <p:sp>
        <p:nvSpPr>
          <p:cNvPr id="11" name="R1_a156"/>
          <p:cNvSpPr/>
          <p:nvPr/>
        </p:nvSpPr>
        <p:spPr>
          <a:xfrm>
            <a:off x="5989320" y="1668231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(school)</a:t>
            </a:r>
            <a:endParaRPr lang="en-US" sz="1250" dirty="0"/>
          </a:p>
        </p:txBody>
      </p:sp>
      <p:sp>
        <p:nvSpPr>
          <p:cNvPr id="12" name="q_157"/>
          <p:cNvSpPr/>
          <p:nvPr/>
        </p:nvSpPr>
        <p:spPr>
          <a:xfrm>
            <a:off x="5760720" y="1984248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firefighter</a:t>
            </a:r>
            <a:endParaRPr lang="en-US" sz="1250" dirty="0"/>
          </a:p>
        </p:txBody>
      </p:sp>
      <p:sp>
        <p:nvSpPr>
          <p:cNvPr id="13" name="R2_a158"/>
          <p:cNvSpPr/>
          <p:nvPr/>
        </p:nvSpPr>
        <p:spPr>
          <a:xfrm>
            <a:off x="5989320" y="2326599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(fire station) – example</a:t>
            </a:r>
            <a:endParaRPr lang="en-US" sz="1250" dirty="0"/>
          </a:p>
        </p:txBody>
      </p:sp>
      <p:sp>
        <p:nvSpPr>
          <p:cNvPr id="14" name="q_159"/>
          <p:cNvSpPr/>
          <p:nvPr/>
        </p:nvSpPr>
        <p:spPr>
          <a:xfrm>
            <a:off x="5760720" y="2642616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dentist</a:t>
            </a:r>
            <a:endParaRPr lang="en-US" sz="1250" dirty="0"/>
          </a:p>
        </p:txBody>
      </p:sp>
      <p:sp>
        <p:nvSpPr>
          <p:cNvPr id="15" name="R3_a160"/>
          <p:cNvSpPr/>
          <p:nvPr/>
        </p:nvSpPr>
        <p:spPr>
          <a:xfrm>
            <a:off x="5989320" y="2984967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(surgery)</a:t>
            </a:r>
            <a:endParaRPr lang="en-US" sz="1250" dirty="0"/>
          </a:p>
        </p:txBody>
      </p:sp>
      <p:sp>
        <p:nvSpPr>
          <p:cNvPr id="16" name="q_161"/>
          <p:cNvSpPr/>
          <p:nvPr/>
        </p:nvSpPr>
        <p:spPr>
          <a:xfrm>
            <a:off x="5760720" y="3300984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doctor / a nurse</a:t>
            </a:r>
            <a:endParaRPr lang="en-US" sz="1250" dirty="0"/>
          </a:p>
        </p:txBody>
      </p:sp>
      <p:sp>
        <p:nvSpPr>
          <p:cNvPr id="17" name="R4_a162"/>
          <p:cNvSpPr/>
          <p:nvPr/>
        </p:nvSpPr>
        <p:spPr>
          <a:xfrm>
            <a:off x="5989320" y="3643335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(hospital)</a:t>
            </a:r>
            <a:endParaRPr lang="en-US" sz="1250" dirty="0"/>
          </a:p>
        </p:txBody>
      </p:sp>
      <p:sp>
        <p:nvSpPr>
          <p:cNvPr id="18" name="q_163"/>
          <p:cNvSpPr/>
          <p:nvPr/>
        </p:nvSpPr>
        <p:spPr>
          <a:xfrm>
            <a:off x="5760720" y="3959352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police officer</a:t>
            </a:r>
            <a:endParaRPr lang="en-US" sz="1250" dirty="0"/>
          </a:p>
        </p:txBody>
      </p:sp>
      <p:sp>
        <p:nvSpPr>
          <p:cNvPr id="19" name="R5_a164"/>
          <p:cNvSpPr/>
          <p:nvPr/>
        </p:nvSpPr>
        <p:spPr>
          <a:xfrm>
            <a:off x="5989320" y="4301703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(police station)</a:t>
            </a:r>
            <a:endParaRPr lang="en-US" sz="1250" dirty="0"/>
          </a:p>
        </p:txBody>
      </p:sp>
      <p:sp>
        <p:nvSpPr>
          <p:cNvPr id="20" name="bk_165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 · 🎧 1.47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</a:t>
            </a:r>
            <a:endParaRPr lang="en-US" sz="1600" dirty="0"/>
          </a:p>
        </p:txBody>
      </p:sp>
      <p:sp>
        <p:nvSpPr>
          <p:cNvPr id="4" name="bm_16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can help?</a:t>
            </a:r>
            <a:endParaRPr lang="en-US" sz="2700" dirty="0"/>
          </a:p>
        </p:txBody>
      </p:sp>
      <p:sp>
        <p:nvSpPr>
          <p:cNvPr id="5" name="in_16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at the pictures. Who can help?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le immagini. Chi può aiutare?</a:t>
            </a:r>
            <a:endParaRPr lang="en-US" sz="1400" dirty="0"/>
          </a:p>
        </p:txBody>
      </p:sp>
      <p:sp>
        <p:nvSpPr>
          <p:cNvPr id="6" name="mode_16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diff_170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A … can help!</a:t>
            </a:r>
            <a:endParaRPr lang="en-US" sz="950" dirty="0"/>
          </a:p>
        </p:txBody>
      </p:sp>
      <p:sp>
        <p:nvSpPr>
          <p:cNvPr id="8" name="diff_171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Say why: Because…</a:t>
            </a:r>
            <a:endParaRPr lang="en-US" sz="950" dirty="0"/>
          </a:p>
        </p:txBody>
      </p:sp>
      <p:sp>
        <p:nvSpPr>
          <p:cNvPr id="9" name="pf_17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173" descr="/home/claude/movers/img/crop/u3-p36-ex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40124"/>
            <a:ext cx="5120640" cy="1817632"/>
          </a:xfrm>
          <a:prstGeom prst="rect">
            <a:avLst/>
          </a:prstGeom>
        </p:spPr>
      </p:pic>
      <p:sp>
        <p:nvSpPr>
          <p:cNvPr id="11" name="q_174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1: She's got a toothache! 😣</a:t>
            </a:r>
            <a:endParaRPr lang="en-US" sz="1250" dirty="0"/>
          </a:p>
        </p:txBody>
      </p:sp>
      <p:sp>
        <p:nvSpPr>
          <p:cNvPr id="12" name="R1_a175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dentist</a:t>
            </a:r>
            <a:endParaRPr lang="en-US" sz="1250" dirty="0"/>
          </a:p>
        </p:txBody>
      </p:sp>
      <p:sp>
        <p:nvSpPr>
          <p:cNvPr id="13" name="q_176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2: There's a fire! 🔥</a:t>
            </a:r>
            <a:endParaRPr lang="en-US" sz="1250" dirty="0"/>
          </a:p>
        </p:txBody>
      </p:sp>
      <p:sp>
        <p:nvSpPr>
          <p:cNvPr id="14" name="R2_a177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firefighter</a:t>
            </a:r>
            <a:endParaRPr lang="en-US" sz="1250" dirty="0"/>
          </a:p>
        </p:txBody>
      </p:sp>
      <p:sp>
        <p:nvSpPr>
          <p:cNvPr id="15" name="q_178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3: He's fallen off his bike. Ouch!</a:t>
            </a:r>
            <a:endParaRPr lang="en-US" sz="1250" dirty="0"/>
          </a:p>
        </p:txBody>
      </p:sp>
      <p:sp>
        <p:nvSpPr>
          <p:cNvPr id="16" name="R3_a179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doctor or a nurse</a:t>
            </a:r>
            <a:endParaRPr lang="en-US" sz="1250" dirty="0"/>
          </a:p>
        </p:txBody>
      </p:sp>
      <p:sp>
        <p:nvSpPr>
          <p:cNvPr id="17" name="bk_180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8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Help! Help!</a:t>
            </a:r>
            <a:endParaRPr lang="en-US" sz="3200" dirty="0"/>
          </a:p>
        </p:txBody>
      </p:sp>
      <p:sp>
        <p:nvSpPr>
          <p:cNvPr id="5" name="in_18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 shouts 'Help!' – be the right helper!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L'insegnante grida 'Aiuto!' – fai l'aiutante giusto!</a:t>
            </a:r>
            <a:endParaRPr lang="en-US" sz="1400" dirty="0"/>
          </a:p>
        </p:txBody>
      </p:sp>
      <p:sp>
        <p:nvSpPr>
          <p:cNvPr id="6" name="mode_18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CLASS · ⏱ 4 MIN</a:t>
            </a:r>
            <a:endParaRPr lang="en-US" sz="1000" dirty="0"/>
          </a:p>
        </p:txBody>
      </p:sp>
      <p:sp>
        <p:nvSpPr>
          <p:cNvPr id="7" name="cd_185"/>
          <p:cNvSpPr/>
          <p:nvPr/>
        </p:nvSpPr>
        <p:spPr>
          <a:xfrm>
            <a:off x="27432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186" descr="/home/claude/movers/img/e-u3firefigh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1133856" cy="1133856"/>
          </a:xfrm>
          <a:prstGeom prst="rect">
            <a:avLst/>
          </a:prstGeom>
        </p:spPr>
      </p:pic>
      <p:sp>
        <p:nvSpPr>
          <p:cNvPr id="9" name="R1_a187"/>
          <p:cNvSpPr/>
          <p:nvPr/>
        </p:nvSpPr>
        <p:spPr>
          <a:xfrm>
            <a:off x="162763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Fire! Spray the water! 💦</a:t>
            </a:r>
            <a:endParaRPr lang="en-US" sz="1250" dirty="0"/>
          </a:p>
        </p:txBody>
      </p:sp>
      <p:sp>
        <p:nvSpPr>
          <p:cNvPr id="10" name="cd_188"/>
          <p:cNvSpPr/>
          <p:nvPr/>
        </p:nvSpPr>
        <p:spPr>
          <a:xfrm>
            <a:off x="313944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189" descr="/home/claude/movers/img/e-u3pol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592" y="1399032"/>
            <a:ext cx="1133856" cy="1133856"/>
          </a:xfrm>
          <a:prstGeom prst="rect">
            <a:avLst/>
          </a:prstGeom>
        </p:spPr>
      </p:pic>
      <p:sp>
        <p:nvSpPr>
          <p:cNvPr id="12" name="R2_a190"/>
          <p:cNvSpPr/>
          <p:nvPr/>
        </p:nvSpPr>
        <p:spPr>
          <a:xfrm>
            <a:off x="449275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Stop the cars! Whistle! 🛑</a:t>
            </a:r>
            <a:endParaRPr lang="en-US" sz="1250" dirty="0"/>
          </a:p>
        </p:txBody>
      </p:sp>
      <p:sp>
        <p:nvSpPr>
          <p:cNvPr id="13" name="cd_191"/>
          <p:cNvSpPr/>
          <p:nvPr/>
        </p:nvSpPr>
        <p:spPr>
          <a:xfrm>
            <a:off x="600456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192" descr="/home/claude/movers/img/fc/do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2" y="1399032"/>
            <a:ext cx="1133856" cy="1133856"/>
          </a:xfrm>
          <a:prstGeom prst="rect">
            <a:avLst/>
          </a:prstGeom>
        </p:spPr>
      </p:pic>
      <p:sp>
        <p:nvSpPr>
          <p:cNvPr id="15" name="R3_a193"/>
          <p:cNvSpPr/>
          <p:nvPr/>
        </p:nvSpPr>
        <p:spPr>
          <a:xfrm>
            <a:off x="735787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to the heart! 🩺</a:t>
            </a:r>
            <a:endParaRPr lang="en-US" sz="1250" dirty="0"/>
          </a:p>
        </p:txBody>
      </p:sp>
      <p:sp>
        <p:nvSpPr>
          <p:cNvPr id="16" name="cd_194"/>
          <p:cNvSpPr/>
          <p:nvPr/>
        </p:nvSpPr>
        <p:spPr>
          <a:xfrm>
            <a:off x="27432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195" descr="/home/claude/movers/img/fc/dent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99232"/>
            <a:ext cx="1133856" cy="1133856"/>
          </a:xfrm>
          <a:prstGeom prst="rect">
            <a:avLst/>
          </a:prstGeom>
        </p:spPr>
      </p:pic>
      <p:sp>
        <p:nvSpPr>
          <p:cNvPr id="18" name="R4_a196"/>
          <p:cNvSpPr/>
          <p:nvPr/>
        </p:nvSpPr>
        <p:spPr>
          <a:xfrm>
            <a:off x="162763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 the teeth! 🦷</a:t>
            </a:r>
            <a:endParaRPr lang="en-US" sz="1250" dirty="0"/>
          </a:p>
        </p:txBody>
      </p:sp>
      <p:sp>
        <p:nvSpPr>
          <p:cNvPr id="19" name="cd_197"/>
          <p:cNvSpPr/>
          <p:nvPr/>
        </p:nvSpPr>
        <p:spPr>
          <a:xfrm>
            <a:off x="313944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198" descr="/home/claude/movers/img/fc/nur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92" y="2999232"/>
            <a:ext cx="1133856" cy="1133856"/>
          </a:xfrm>
          <a:prstGeom prst="rect">
            <a:avLst/>
          </a:prstGeom>
        </p:spPr>
      </p:pic>
      <p:sp>
        <p:nvSpPr>
          <p:cNvPr id="21" name="R5_a199"/>
          <p:cNvSpPr/>
          <p:nvPr/>
        </p:nvSpPr>
        <p:spPr>
          <a:xfrm>
            <a:off x="449275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Put on a plaster! 🩹</a:t>
            </a:r>
            <a:endParaRPr lang="en-US" sz="1250" dirty="0"/>
          </a:p>
        </p:txBody>
      </p:sp>
      <p:sp>
        <p:nvSpPr>
          <p:cNvPr id="22" name="cd_200"/>
          <p:cNvSpPr/>
          <p:nvPr/>
        </p:nvSpPr>
        <p:spPr>
          <a:xfrm>
            <a:off x="600456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01" descr="/home/claude/movers/img/e-u3teach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712" y="2999232"/>
            <a:ext cx="1133856" cy="1133856"/>
          </a:xfrm>
          <a:prstGeom prst="rect">
            <a:avLst/>
          </a:prstGeom>
        </p:spPr>
      </p:pic>
      <p:sp>
        <p:nvSpPr>
          <p:cNvPr id="24" name="R6_a202"/>
          <p:cNvSpPr/>
          <p:nvPr/>
        </p:nvSpPr>
        <p:spPr>
          <a:xfrm>
            <a:off x="735787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 on the board! ✍️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</a:t>
            </a:r>
            <a:endParaRPr lang="en-US" sz="1600" dirty="0"/>
          </a:p>
        </p:txBody>
      </p:sp>
      <p:sp>
        <p:nvSpPr>
          <p:cNvPr id="4" name="bm_20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it?</a:t>
            </a:r>
            <a:endParaRPr lang="en-US" sz="3200" dirty="0"/>
          </a:p>
        </p:txBody>
      </p:sp>
      <p:sp>
        <p:nvSpPr>
          <p:cNvPr id="5" name="in_20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 the sentences. Who is it?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Leggi le frasi. Chi è?</a:t>
            </a:r>
            <a:endParaRPr lang="en-US" sz="1400" dirty="0"/>
          </a:p>
        </p:txBody>
      </p:sp>
      <p:sp>
        <p:nvSpPr>
          <p:cNvPr id="6" name="mode_20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⏱ 4 MIN</a:t>
            </a:r>
            <a:endParaRPr lang="en-US" sz="1000" dirty="0"/>
          </a:p>
        </p:txBody>
      </p:sp>
      <p:sp>
        <p:nvSpPr>
          <p:cNvPr id="7" name="pf_207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08" descr="/home/claude/movers/img/crop/u3-p37-ex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58841"/>
            <a:ext cx="5120640" cy="1580198"/>
          </a:xfrm>
          <a:prstGeom prst="rect">
            <a:avLst/>
          </a:prstGeom>
        </p:spPr>
      </p:pic>
      <p:sp>
        <p:nvSpPr>
          <p:cNvPr id="9" name="q_209"/>
          <p:cNvSpPr/>
          <p:nvPr/>
        </p:nvSpPr>
        <p:spPr>
          <a:xfrm>
            <a:off x="5760720" y="13258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9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This person tells people what to do in the street. We must listen.</a:t>
            </a:r>
            <a:endParaRPr lang="en-US" sz="900" dirty="0"/>
          </a:p>
        </p:txBody>
      </p:sp>
      <p:sp>
        <p:nvSpPr>
          <p:cNvPr id="10" name="R1_a210"/>
          <p:cNvSpPr/>
          <p:nvPr/>
        </p:nvSpPr>
        <p:spPr>
          <a:xfrm>
            <a:off x="5989320" y="16111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police officer</a:t>
            </a:r>
            <a:endParaRPr lang="en-US" sz="1100" dirty="0"/>
          </a:p>
        </p:txBody>
      </p:sp>
      <p:sp>
        <p:nvSpPr>
          <p:cNvPr id="11" name="q_211"/>
          <p:cNvSpPr/>
          <p:nvPr/>
        </p:nvSpPr>
        <p:spPr>
          <a:xfrm>
            <a:off x="5760720" y="187452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This person works in a hospital.</a:t>
            </a:r>
            <a:endParaRPr lang="en-US" sz="1100" dirty="0"/>
          </a:p>
        </p:txBody>
      </p:sp>
      <p:sp>
        <p:nvSpPr>
          <p:cNvPr id="12" name="R2_a212"/>
          <p:cNvSpPr/>
          <p:nvPr/>
        </p:nvSpPr>
        <p:spPr>
          <a:xfrm>
            <a:off x="5989320" y="215981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doctor</a:t>
            </a:r>
            <a:endParaRPr lang="en-US" sz="1100" dirty="0"/>
          </a:p>
        </p:txBody>
      </p:sp>
      <p:sp>
        <p:nvSpPr>
          <p:cNvPr id="13" name="q_213"/>
          <p:cNvSpPr/>
          <p:nvPr/>
        </p:nvSpPr>
        <p:spPr>
          <a:xfrm>
            <a:off x="5760720" y="242316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This person stops fires.</a:t>
            </a:r>
            <a:endParaRPr lang="en-US" sz="1100" dirty="0"/>
          </a:p>
        </p:txBody>
      </p:sp>
      <p:sp>
        <p:nvSpPr>
          <p:cNvPr id="14" name="R3_a214"/>
          <p:cNvSpPr/>
          <p:nvPr/>
        </p:nvSpPr>
        <p:spPr>
          <a:xfrm>
            <a:off x="5989320" y="270845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firefighter</a:t>
            </a:r>
            <a:endParaRPr lang="en-US" sz="1100" dirty="0"/>
          </a:p>
        </p:txBody>
      </p:sp>
      <p:sp>
        <p:nvSpPr>
          <p:cNvPr id="15" name="q_215"/>
          <p:cNvSpPr/>
          <p:nvPr/>
        </p:nvSpPr>
        <p:spPr>
          <a:xfrm>
            <a:off x="5760720" y="297180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9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This person works in a school kitchen or in a restaurant.</a:t>
            </a:r>
            <a:endParaRPr lang="en-US" sz="900" dirty="0"/>
          </a:p>
        </p:txBody>
      </p:sp>
      <p:sp>
        <p:nvSpPr>
          <p:cNvPr id="16" name="R4_a216"/>
          <p:cNvSpPr/>
          <p:nvPr/>
        </p:nvSpPr>
        <p:spPr>
          <a:xfrm>
            <a:off x="5989320" y="325709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cook</a:t>
            </a:r>
            <a:endParaRPr lang="en-US" sz="1100" dirty="0"/>
          </a:p>
        </p:txBody>
      </p:sp>
      <p:sp>
        <p:nvSpPr>
          <p:cNvPr id="17" name="q_217"/>
          <p:cNvSpPr/>
          <p:nvPr/>
        </p:nvSpPr>
        <p:spPr>
          <a:xfrm>
            <a:off x="5760720" y="352044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This person teaches children.</a:t>
            </a:r>
            <a:endParaRPr lang="en-US" sz="1100" dirty="0"/>
          </a:p>
        </p:txBody>
      </p:sp>
      <p:sp>
        <p:nvSpPr>
          <p:cNvPr id="18" name="R5_a218"/>
          <p:cNvSpPr/>
          <p:nvPr/>
        </p:nvSpPr>
        <p:spPr>
          <a:xfrm>
            <a:off x="5989320" y="380573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teacher</a:t>
            </a:r>
            <a:endParaRPr lang="en-US" sz="1100" dirty="0"/>
          </a:p>
        </p:txBody>
      </p:sp>
      <p:sp>
        <p:nvSpPr>
          <p:cNvPr id="19" name="q_219"/>
          <p:cNvSpPr/>
          <p:nvPr/>
        </p:nvSpPr>
        <p:spPr>
          <a:xfrm>
            <a:off x="5760720" y="40690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 </a:t>
            </a:r>
            <a:pPr indent="0" marL="0">
              <a:buNone/>
            </a:pPr>
            <a:r>
              <a:rPr lang="en-US" sz="10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This person works with animals and plants.</a:t>
            </a:r>
            <a:endParaRPr lang="en-US" sz="1000" dirty="0"/>
          </a:p>
        </p:txBody>
      </p:sp>
      <p:sp>
        <p:nvSpPr>
          <p:cNvPr id="20" name="R6_a220"/>
          <p:cNvSpPr/>
          <p:nvPr/>
        </p:nvSpPr>
        <p:spPr>
          <a:xfrm>
            <a:off x="5989320" y="43543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farmer</a:t>
            </a:r>
            <a:endParaRPr lang="en-US" sz="1100" dirty="0"/>
          </a:p>
        </p:txBody>
      </p:sp>
      <p:sp>
        <p:nvSpPr>
          <p:cNvPr id="21" name="bk_221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2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</a:t>
            </a:r>
            <a:endParaRPr lang="en-US" sz="1600" dirty="0"/>
          </a:p>
        </p:txBody>
      </p:sp>
      <p:sp>
        <p:nvSpPr>
          <p:cNvPr id="4" name="bm_22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Sally Green!</a:t>
            </a:r>
            <a:endParaRPr lang="en-US" sz="2700" dirty="0"/>
          </a:p>
        </p:txBody>
      </p:sp>
      <p:sp>
        <p:nvSpPr>
          <p:cNvPr id="5" name="in_22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What's her job?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Che lavoro fa?</a:t>
            </a:r>
            <a:endParaRPr lang="en-US" sz="1400" dirty="0"/>
          </a:p>
        </p:txBody>
      </p:sp>
      <p:sp>
        <p:nvSpPr>
          <p:cNvPr id="6" name="mode_22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📖 READ</a:t>
            </a:r>
            <a:endParaRPr lang="en-US" sz="1000" dirty="0"/>
          </a:p>
        </p:txBody>
      </p:sp>
      <p:sp>
        <p:nvSpPr>
          <p:cNvPr id="7" name="pf_226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27" descr="/home/claude/movers/img/crop/u3-p37-sal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66732"/>
            <a:ext cx="8412480" cy="1764415"/>
          </a:xfrm>
          <a:prstGeom prst="rect">
            <a:avLst/>
          </a:prstGeom>
        </p:spPr>
      </p:pic>
      <p:sp>
        <p:nvSpPr>
          <p:cNvPr id="9" name="bk_228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p.37 · 🎧 1.48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2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3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Sally Green</a:t>
            </a:r>
            <a:endParaRPr lang="en-US" sz="3200" dirty="0"/>
          </a:p>
        </p:txBody>
      </p:sp>
      <p:sp>
        <p:nvSpPr>
          <p:cNvPr id="5" name="in_23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Answer the questions.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Rispondi alle domande.</a:t>
            </a:r>
            <a:endParaRPr lang="en-US" sz="1400" dirty="0"/>
          </a:p>
        </p:txBody>
      </p:sp>
      <p:sp>
        <p:nvSpPr>
          <p:cNvPr id="6" name="mode_23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4 MIN</a:t>
            </a:r>
            <a:endParaRPr lang="en-US" sz="1000" dirty="0"/>
          </a:p>
        </p:txBody>
      </p:sp>
      <p:sp>
        <p:nvSpPr>
          <p:cNvPr id="7" name="diff_233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When does she start?</a:t>
            </a:r>
            <a:endParaRPr lang="en-US" sz="950" dirty="0"/>
          </a:p>
        </p:txBody>
      </p:sp>
      <p:sp>
        <p:nvSpPr>
          <p:cNvPr id="8" name="pf_234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235" descr="/home/claude/movers/img/crop/u3-p37-ex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2608"/>
            <a:ext cx="5120640" cy="2452665"/>
          </a:xfrm>
          <a:prstGeom prst="rect">
            <a:avLst/>
          </a:prstGeom>
        </p:spPr>
      </p:pic>
      <p:sp>
        <p:nvSpPr>
          <p:cNvPr id="10" name="q_236"/>
          <p:cNvSpPr/>
          <p:nvPr/>
        </p:nvSpPr>
        <p:spPr>
          <a:xfrm>
            <a:off x="5760720" y="1325880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her job?</a:t>
            </a:r>
            <a:endParaRPr lang="en-US" sz="1250" dirty="0"/>
          </a:p>
        </p:txBody>
      </p:sp>
      <p:sp>
        <p:nvSpPr>
          <p:cNvPr id="11" name="R1_a237"/>
          <p:cNvSpPr/>
          <p:nvPr/>
        </p:nvSpPr>
        <p:spPr>
          <a:xfrm>
            <a:off x="5989320" y="1668231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She's a teacher.</a:t>
            </a:r>
            <a:endParaRPr lang="en-US" sz="1250" dirty="0"/>
          </a:p>
        </p:txBody>
      </p:sp>
      <p:sp>
        <p:nvSpPr>
          <p:cNvPr id="12" name="q_238"/>
          <p:cNvSpPr/>
          <p:nvPr/>
        </p:nvSpPr>
        <p:spPr>
          <a:xfrm>
            <a:off x="5760720" y="1984248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 does she work?</a:t>
            </a:r>
            <a:endParaRPr lang="en-US" sz="1250" dirty="0"/>
          </a:p>
        </p:txBody>
      </p:sp>
      <p:sp>
        <p:nvSpPr>
          <p:cNvPr id="13" name="R2_a239"/>
          <p:cNvSpPr/>
          <p:nvPr/>
        </p:nvSpPr>
        <p:spPr>
          <a:xfrm>
            <a:off x="5989320" y="2326599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 works in a school.</a:t>
            </a:r>
            <a:endParaRPr lang="en-US" sz="1250" dirty="0"/>
          </a:p>
        </p:txBody>
      </p:sp>
      <p:sp>
        <p:nvSpPr>
          <p:cNvPr id="14" name="q_240"/>
          <p:cNvSpPr/>
          <p:nvPr/>
        </p:nvSpPr>
        <p:spPr>
          <a:xfrm>
            <a:off x="5760720" y="2642616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Does she work at the weekends?</a:t>
            </a:r>
            <a:endParaRPr lang="en-US" sz="1250" dirty="0"/>
          </a:p>
        </p:txBody>
      </p:sp>
      <p:sp>
        <p:nvSpPr>
          <p:cNvPr id="15" name="R3_a241"/>
          <p:cNvSpPr/>
          <p:nvPr/>
        </p:nvSpPr>
        <p:spPr>
          <a:xfrm>
            <a:off x="5989320" y="2984967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No, she doesn't.</a:t>
            </a:r>
            <a:endParaRPr lang="en-US" sz="1250" dirty="0"/>
          </a:p>
        </p:txBody>
      </p:sp>
      <p:sp>
        <p:nvSpPr>
          <p:cNvPr id="16" name="q_242"/>
          <p:cNvSpPr/>
          <p:nvPr/>
        </p:nvSpPr>
        <p:spPr>
          <a:xfrm>
            <a:off x="5760720" y="3300984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her job scary?</a:t>
            </a:r>
            <a:endParaRPr lang="en-US" sz="1250" dirty="0"/>
          </a:p>
        </p:txBody>
      </p:sp>
      <p:sp>
        <p:nvSpPr>
          <p:cNvPr id="17" name="R4_a243"/>
          <p:cNvSpPr/>
          <p:nvPr/>
        </p:nvSpPr>
        <p:spPr>
          <a:xfrm>
            <a:off x="5989320" y="3643335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No, it isn't.</a:t>
            </a:r>
            <a:endParaRPr lang="en-US" sz="1250" dirty="0"/>
          </a:p>
        </p:txBody>
      </p:sp>
      <p:sp>
        <p:nvSpPr>
          <p:cNvPr id="18" name="q_244"/>
          <p:cNvSpPr/>
          <p:nvPr/>
        </p:nvSpPr>
        <p:spPr>
          <a:xfrm>
            <a:off x="5760720" y="3959352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Does she like her job?</a:t>
            </a:r>
            <a:endParaRPr lang="en-US" sz="1250" dirty="0"/>
          </a:p>
        </p:txBody>
      </p:sp>
      <p:sp>
        <p:nvSpPr>
          <p:cNvPr id="19" name="R5_a245"/>
          <p:cNvSpPr/>
          <p:nvPr/>
        </p:nvSpPr>
        <p:spPr>
          <a:xfrm>
            <a:off x="5989320" y="4301703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Yes, she does. (She loves it.)</a:t>
            </a:r>
            <a:endParaRPr lang="en-US" sz="1250" dirty="0"/>
          </a:p>
        </p:txBody>
      </p:sp>
      <p:sp>
        <p:nvSpPr>
          <p:cNvPr id="20" name="bk_24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p.37 · 🎧 1.48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4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 I do?</a:t>
            </a:r>
            <a:endParaRPr lang="en-US" sz="2700" dirty="0"/>
          </a:p>
        </p:txBody>
      </p:sp>
      <p:sp>
        <p:nvSpPr>
          <p:cNvPr id="5" name="in_24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to the clues. Guess the job fast = more points!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gli indizi. Indovina subito = più punti!</a:t>
            </a:r>
            <a:endParaRPr lang="en-US" sz="1400" dirty="0"/>
          </a:p>
        </p:txBody>
      </p:sp>
      <p:sp>
        <p:nvSpPr>
          <p:cNvPr id="6" name="mode_25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6 MIN</a:t>
            </a:r>
            <a:endParaRPr lang="en-US" sz="1000" dirty="0"/>
          </a:p>
        </p:txBody>
      </p:sp>
      <p:sp>
        <p:nvSpPr>
          <p:cNvPr id="7" name="diff_251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You're a …!</a:t>
            </a:r>
            <a:endParaRPr lang="en-US" sz="950" dirty="0"/>
          </a:p>
        </p:txBody>
      </p:sp>
      <p:sp>
        <p:nvSpPr>
          <p:cNvPr id="8" name="st_252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253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254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1" name="se_255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clue 1… 2… 3…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l'indizio 1… 2… 3…</a:t>
            </a:r>
            <a:endParaRPr lang="en-US" sz="1050" dirty="0"/>
          </a:p>
        </p:txBody>
      </p:sp>
      <p:sp>
        <p:nvSpPr>
          <p:cNvPr id="12" name="st_256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257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258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259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Guess! 'You're a pop star!'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Indovina! 'You're a pop star!'</a:t>
            </a:r>
            <a:endParaRPr lang="en-US" sz="1050" dirty="0"/>
          </a:p>
        </p:txBody>
      </p:sp>
      <p:sp>
        <p:nvSpPr>
          <p:cNvPr id="16" name="st_260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261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262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9" name="se_263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 1 = 5 points · clue 2 = 4 · clue 3 = 3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Indizio 1 = 5 punti · 2 = 4 · 3 = 3</a:t>
            </a:r>
            <a:endParaRPr lang="en-US" sz="1050" dirty="0"/>
          </a:p>
        </p:txBody>
      </p:sp>
      <p:sp>
        <p:nvSpPr>
          <p:cNvPr id="20" name="gl_264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don't help people. I can work in a theatre or on TV. I love music. I wear beautiful costumes. (pop star)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work in a hospital. I wear a uniform. I help sick people. (nurse / doctor)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start work very early. I've got a tractor. I feed the cows. (farmer)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6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26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3: Write it!</a:t>
            </a:r>
            <a:endParaRPr lang="en-US" sz="2700" dirty="0"/>
          </a:p>
        </p:txBody>
      </p:sp>
      <p:sp>
        <p:nvSpPr>
          <p:cNvPr id="5" name="in_26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groups, think of a scene. How can someone help?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gruppi, pensate a una scena. Come può aiutare qualcuno?</a:t>
            </a:r>
            <a:endParaRPr lang="en-US" sz="1100" dirty="0"/>
          </a:p>
        </p:txBody>
      </p:sp>
      <p:sp>
        <p:nvSpPr>
          <p:cNvPr id="6" name="mode_26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· ✍ · ⏱ 10 MIN</a:t>
            </a:r>
            <a:endParaRPr lang="en-US" sz="1000" dirty="0"/>
          </a:p>
        </p:txBody>
      </p:sp>
      <p:sp>
        <p:nvSpPr>
          <p:cNvPr id="7" name="diff_269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Help! · Can I help you?</a:t>
            </a:r>
            <a:endParaRPr lang="en-US" sz="950" dirty="0"/>
          </a:p>
        </p:txBody>
      </p:sp>
      <p:sp>
        <p:nvSpPr>
          <p:cNvPr id="8" name="diff_270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Add a Why…? Because…</a:t>
            </a:r>
            <a:endParaRPr lang="en-US" sz="950" dirty="0"/>
          </a:p>
        </p:txBody>
      </p:sp>
      <p:sp>
        <p:nvSpPr>
          <p:cNvPr id="9" name="pf_27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272" descr="/home/claude/movers/img/crop/u3-p37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8452"/>
            <a:ext cx="5120640" cy="2200977"/>
          </a:xfrm>
          <a:prstGeom prst="rect">
            <a:avLst/>
          </a:prstGeom>
        </p:spPr>
      </p:pic>
      <p:sp>
        <p:nvSpPr>
          <p:cNvPr id="11" name="q_273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happening?</a:t>
            </a:r>
            <a:endParaRPr lang="en-US" sz="1250" dirty="0"/>
          </a:p>
        </p:txBody>
      </p:sp>
      <p:sp>
        <p:nvSpPr>
          <p:cNvPr id="12" name="R1_a274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Oh no! Look at the clown's leg!</a:t>
            </a:r>
            <a:endParaRPr lang="en-US" sz="1250" dirty="0"/>
          </a:p>
        </p:txBody>
      </p:sp>
      <p:sp>
        <p:nvSpPr>
          <p:cNvPr id="13" name="q_275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can help?</a:t>
            </a:r>
            <a:endParaRPr lang="en-US" sz="1250" dirty="0"/>
          </a:p>
        </p:txBody>
      </p:sp>
      <p:sp>
        <p:nvSpPr>
          <p:cNvPr id="14" name="R2_a276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help because I'm a doctor!</a:t>
            </a:r>
            <a:endParaRPr lang="en-US" sz="1250" dirty="0"/>
          </a:p>
        </p:txBody>
      </p:sp>
      <p:sp>
        <p:nvSpPr>
          <p:cNvPr id="15" name="q_277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lines</a:t>
            </a:r>
            <a:endParaRPr lang="en-US" sz="1250" dirty="0"/>
          </a:p>
        </p:txBody>
      </p:sp>
      <p:sp>
        <p:nvSpPr>
          <p:cNvPr id="16" name="R3_a278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Help! · What's the problem? · Can I help you? · Thank you very much!</a:t>
            </a:r>
            <a:endParaRPr lang="en-US" sz="1200" dirty="0"/>
          </a:p>
        </p:txBody>
      </p:sp>
      <p:sp>
        <p:nvSpPr>
          <p:cNvPr id="17" name="bk_279"/>
          <p:cNvSpPr/>
          <p:nvPr/>
        </p:nvSpPr>
        <p:spPr>
          <a:xfrm>
            <a:off x="228600" y="4681728"/>
            <a:ext cx="350215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p.37 · Activity Book p.30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8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28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28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283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where people work.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dove lavorano le persone.</a:t>
            </a:r>
            <a:endParaRPr lang="en-US" sz="1300" dirty="0"/>
          </a:p>
        </p:txBody>
      </p:sp>
      <p:sp>
        <p:nvSpPr>
          <p:cNvPr id="7" name="can_284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read about jobs and answer questions.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leggere dei mestieri e rispondere.</a:t>
            </a:r>
            <a:endParaRPr lang="en-US" sz="1300" dirty="0"/>
          </a:p>
        </p:txBody>
      </p:sp>
      <p:sp>
        <p:nvSpPr>
          <p:cNvPr id="8" name="can_285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write a scene with my group.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scrivere una scena con il mio gruppo.</a:t>
            </a:r>
            <a:endParaRPr lang="en-US" sz="1300" dirty="0"/>
          </a:p>
        </p:txBody>
      </p:sp>
      <p:sp>
        <p:nvSpPr>
          <p:cNvPr id="9" name="hw_286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p.36: ex.1–2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p.37: ex.3–4</a:t>
            </a:r>
            <a:endParaRPr lang="en-US" sz="1250" dirty="0"/>
          </a:p>
        </p:txBody>
      </p:sp>
      <p:sp>
        <p:nvSpPr>
          <p:cNvPr id="10" name="nx_287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a story – The costume party!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8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8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Find a friend!</a:t>
            </a:r>
            <a:endParaRPr lang="en-US" sz="2400" dirty="0"/>
          </a:p>
        </p:txBody>
      </p:sp>
      <p:sp>
        <p:nvSpPr>
          <p:cNvPr id="5" name="in_29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Walk and ask. Find a friend for each line!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Cammina e chiedi. Trova un compagno per ogni frase!</a:t>
            </a:r>
            <a:endParaRPr lang="en-US" sz="1400" dirty="0"/>
          </a:p>
        </p:txBody>
      </p:sp>
      <p:sp>
        <p:nvSpPr>
          <p:cNvPr id="6" name="mode_29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CLASS · ⏱ 6 MIN</a:t>
            </a:r>
            <a:endParaRPr lang="en-US" sz="1000" dirty="0"/>
          </a:p>
        </p:txBody>
      </p:sp>
      <p:sp>
        <p:nvSpPr>
          <p:cNvPr id="7" name="diff_292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Do you want to be …?</a:t>
            </a:r>
            <a:endParaRPr lang="en-US" sz="950" dirty="0"/>
          </a:p>
        </p:txBody>
      </p:sp>
      <p:sp>
        <p:nvSpPr>
          <p:cNvPr id="8" name="st_293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294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295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1" name="se_296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around the class.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Gira per la classe.</a:t>
            </a:r>
            <a:endParaRPr lang="en-US" sz="1050" dirty="0"/>
          </a:p>
        </p:txBody>
      </p:sp>
      <p:sp>
        <p:nvSpPr>
          <p:cNvPr id="12" name="st_297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298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299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300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'Do you want to be a doctor?'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Chiedi: 'Do you want to be a doctor?'</a:t>
            </a:r>
            <a:endParaRPr lang="en-US" sz="1050" dirty="0"/>
          </a:p>
        </p:txBody>
      </p:sp>
      <p:sp>
        <p:nvSpPr>
          <p:cNvPr id="16" name="st_301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302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303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WRITE</a:t>
            </a:r>
            <a:endParaRPr lang="en-US" sz="1300" dirty="0"/>
          </a:p>
        </p:txBody>
      </p:sp>
      <p:sp>
        <p:nvSpPr>
          <p:cNvPr id="19" name="se_304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'Yes, I do!' → write the name.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'Yes, I do!' → scrivi il nome.</a:t>
            </a:r>
            <a:endParaRPr lang="en-US" sz="1050" dirty="0"/>
          </a:p>
        </p:txBody>
      </p:sp>
      <p:sp>
        <p:nvSpPr>
          <p:cNvPr id="20" name="gl_305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 wants to be a doctor or a nurse.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 has got a teacher in the family.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 sometimes goes to the dentist.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 wants to be a pop star or a film star.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 knows a police officer or a firefighter.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0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07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308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10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309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10" descr="/home/claude/movers/img/e-u3firefigh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53312"/>
            <a:ext cx="1408176" cy="1408176"/>
          </a:xfrm>
          <a:prstGeom prst="rect">
            <a:avLst/>
          </a:prstGeom>
        </p:spPr>
      </p:pic>
      <p:sp>
        <p:nvSpPr>
          <p:cNvPr id="8" name="cd_311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ci_312" descr="/home/claude/movers/img/e-u3pol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1353312"/>
            <a:ext cx="1408176" cy="1408176"/>
          </a:xfrm>
          <a:prstGeom prst="rect">
            <a:avLst/>
          </a:prstGeom>
        </p:spPr>
      </p:pic>
      <p:sp>
        <p:nvSpPr>
          <p:cNvPr id="10" name="cd_313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314" descr="/home/claude/movers/img/e-u3hospi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1353312"/>
            <a:ext cx="1408176" cy="1408176"/>
          </a:xfrm>
          <a:prstGeom prst="rect">
            <a:avLst/>
          </a:prstGeom>
        </p:spPr>
      </p:pic>
      <p:sp>
        <p:nvSpPr>
          <p:cNvPr id="12" name="cd_315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16" descr="/home/claude/movers/img/e-u3firest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272" y="1353312"/>
            <a:ext cx="1408176" cy="1408176"/>
          </a:xfrm>
          <a:prstGeom prst="rect">
            <a:avLst/>
          </a:prstGeom>
        </p:spPr>
      </p:pic>
      <p:sp>
        <p:nvSpPr>
          <p:cNvPr id="14" name="cd_317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5" name="ci_318" descr="/home/claude/movers/img/e-u3policest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1353312"/>
            <a:ext cx="1408176" cy="1408176"/>
          </a:xfrm>
          <a:prstGeom prst="rect">
            <a:avLst/>
          </a:prstGeom>
        </p:spPr>
      </p:pic>
      <p:sp>
        <p:nvSpPr>
          <p:cNvPr id="16" name="cd_319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320" descr="/home/claude/movers/img/e-u3surge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3017520"/>
            <a:ext cx="1408176" cy="1408176"/>
          </a:xfrm>
          <a:prstGeom prst="rect">
            <a:avLst/>
          </a:prstGeom>
        </p:spPr>
      </p:pic>
      <p:sp>
        <p:nvSpPr>
          <p:cNvPr id="18" name="cd_321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322" descr="/home/claude/movers/img/fc/doc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0552" y="3017520"/>
            <a:ext cx="1408176" cy="1408176"/>
          </a:xfrm>
          <a:prstGeom prst="rect">
            <a:avLst/>
          </a:prstGeom>
        </p:spPr>
      </p:pic>
      <p:sp>
        <p:nvSpPr>
          <p:cNvPr id="20" name="cd_323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324" descr="/home/claude/movers/img/fc/nurs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7912" y="3017520"/>
            <a:ext cx="1408176" cy="1408176"/>
          </a:xfrm>
          <a:prstGeom prst="rect">
            <a:avLst/>
          </a:prstGeom>
        </p:spPr>
      </p:pic>
      <p:sp>
        <p:nvSpPr>
          <p:cNvPr id="22" name="cd_325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26" descr="/home/claude/movers/img/fc/dentis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5272" y="3017520"/>
            <a:ext cx="1408176" cy="1408176"/>
          </a:xfrm>
          <a:prstGeom prst="rect">
            <a:avLst/>
          </a:prstGeom>
        </p:spPr>
      </p:pic>
      <p:sp>
        <p:nvSpPr>
          <p:cNvPr id="24" name="cd_327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328" descr="/home/claude/movers/img/fc/coo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632" y="3017520"/>
            <a:ext cx="1408176" cy="14081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2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3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33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your eyes! What's missing? Write it or whisper it to your partner.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Apri gli occhi! Cosa manca? Scrivilo o dillo al compagno.</a:t>
            </a:r>
            <a:endParaRPr lang="en-US" sz="1350" dirty="0"/>
          </a:p>
        </p:txBody>
      </p:sp>
      <p:sp>
        <p:nvSpPr>
          <p:cNvPr id="6" name="cd_332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33" descr="/home/claude/movers/img/e-u3firefigh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53312"/>
            <a:ext cx="1408176" cy="1408176"/>
          </a:xfrm>
          <a:prstGeom prst="rect">
            <a:avLst/>
          </a:prstGeom>
        </p:spPr>
      </p:pic>
      <p:sp>
        <p:nvSpPr>
          <p:cNvPr id="8" name="cd_334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ci_335" descr="/home/claude/movers/img/e-u3pol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1353312"/>
            <a:ext cx="1408176" cy="1408176"/>
          </a:xfrm>
          <a:prstGeom prst="rect">
            <a:avLst/>
          </a:prstGeom>
        </p:spPr>
      </p:pic>
      <p:sp>
        <p:nvSpPr>
          <p:cNvPr id="10" name="cd_336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337" descr="/home/claude/movers/img/e-u3hospi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1353312"/>
            <a:ext cx="1408176" cy="1408176"/>
          </a:xfrm>
          <a:prstGeom prst="rect">
            <a:avLst/>
          </a:prstGeom>
        </p:spPr>
      </p:pic>
      <p:sp>
        <p:nvSpPr>
          <p:cNvPr id="12" name="q_338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13" name="cd_339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340" descr="/home/claude/movers/img/e-u3policest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353312"/>
            <a:ext cx="1408176" cy="1408176"/>
          </a:xfrm>
          <a:prstGeom prst="rect">
            <a:avLst/>
          </a:prstGeom>
        </p:spPr>
      </p:pic>
      <p:sp>
        <p:nvSpPr>
          <p:cNvPr id="15" name="cd_341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42" descr="/home/claude/movers/img/e-u3surge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017520"/>
            <a:ext cx="1408176" cy="1408176"/>
          </a:xfrm>
          <a:prstGeom prst="rect">
            <a:avLst/>
          </a:prstGeom>
        </p:spPr>
      </p:pic>
      <p:sp>
        <p:nvSpPr>
          <p:cNvPr id="17" name="cd_343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8" name="ci_344" descr="/home/claude/movers/img/fc/docto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0552" y="3017520"/>
            <a:ext cx="1408176" cy="1408176"/>
          </a:xfrm>
          <a:prstGeom prst="rect">
            <a:avLst/>
          </a:prstGeom>
        </p:spPr>
      </p:pic>
      <p:sp>
        <p:nvSpPr>
          <p:cNvPr id="19" name="cd_345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46" descr="/home/claude/movers/img/fc/nur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7912" y="3017520"/>
            <a:ext cx="1408176" cy="1408176"/>
          </a:xfrm>
          <a:prstGeom prst="rect">
            <a:avLst/>
          </a:prstGeom>
        </p:spPr>
      </p:pic>
      <p:sp>
        <p:nvSpPr>
          <p:cNvPr id="21" name="cd_347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48" descr="/home/claude/movers/img/fc/denti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5272" y="3017520"/>
            <a:ext cx="1408176" cy="1408176"/>
          </a:xfrm>
          <a:prstGeom prst="rect">
            <a:avLst/>
          </a:prstGeom>
        </p:spPr>
      </p:pic>
      <p:sp>
        <p:nvSpPr>
          <p:cNvPr id="23" name="cd_349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350" descr="/home/claude/movers/img/fc/coo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2632" y="3017520"/>
            <a:ext cx="1408176" cy="14081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5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35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35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Fire station!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È la caserma dei pompieri!</a:t>
            </a:r>
            <a:endParaRPr lang="en-US" sz="1400" dirty="0"/>
          </a:p>
        </p:txBody>
      </p:sp>
      <p:sp>
        <p:nvSpPr>
          <p:cNvPr id="6" name="cd_354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55" descr="/home/claude/movers/img/e-u3firefigh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53312"/>
            <a:ext cx="1408176" cy="1408176"/>
          </a:xfrm>
          <a:prstGeom prst="rect">
            <a:avLst/>
          </a:prstGeom>
        </p:spPr>
      </p:pic>
      <p:sp>
        <p:nvSpPr>
          <p:cNvPr id="8" name="cd_356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ci_357" descr="/home/claude/movers/img/e-u3pol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1353312"/>
            <a:ext cx="1408176" cy="1408176"/>
          </a:xfrm>
          <a:prstGeom prst="rect">
            <a:avLst/>
          </a:prstGeom>
        </p:spPr>
      </p:pic>
      <p:sp>
        <p:nvSpPr>
          <p:cNvPr id="10" name="cd_358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359" descr="/home/claude/movers/img/e-u3hospi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1353312"/>
            <a:ext cx="1408176" cy="1408176"/>
          </a:xfrm>
          <a:prstGeom prst="rect">
            <a:avLst/>
          </a:prstGeom>
        </p:spPr>
      </p:pic>
      <p:sp>
        <p:nvSpPr>
          <p:cNvPr id="12" name="cd_360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61" descr="/home/claude/movers/img/e-u3firest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272" y="1353312"/>
            <a:ext cx="1408176" cy="1408176"/>
          </a:xfrm>
          <a:prstGeom prst="rect">
            <a:avLst/>
          </a:prstGeom>
        </p:spPr>
      </p:pic>
      <p:sp>
        <p:nvSpPr>
          <p:cNvPr id="14" name="hl_362"/>
          <p:cNvSpPr/>
          <p:nvPr/>
        </p:nvSpPr>
        <p:spPr>
          <a:xfrm>
            <a:off x="5477256" y="1225296"/>
            <a:ext cx="1664208" cy="1664208"/>
          </a:xfrm>
          <a:prstGeom prst="roundRect">
            <a:avLst>
              <a:gd name="adj" fmla="val 6593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15" name="cd_363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64" descr="/home/claude/movers/img/e-u3policest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1353312"/>
            <a:ext cx="1408176" cy="1408176"/>
          </a:xfrm>
          <a:prstGeom prst="rect">
            <a:avLst/>
          </a:prstGeom>
        </p:spPr>
      </p:pic>
      <p:sp>
        <p:nvSpPr>
          <p:cNvPr id="17" name="cd_365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8" name="ci_366" descr="/home/claude/movers/img/e-u3surge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3017520"/>
            <a:ext cx="1408176" cy="1408176"/>
          </a:xfrm>
          <a:prstGeom prst="rect">
            <a:avLst/>
          </a:prstGeom>
        </p:spPr>
      </p:pic>
      <p:sp>
        <p:nvSpPr>
          <p:cNvPr id="19" name="cd_367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68" descr="/home/claude/movers/img/fc/doc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0552" y="3017520"/>
            <a:ext cx="1408176" cy="1408176"/>
          </a:xfrm>
          <a:prstGeom prst="rect">
            <a:avLst/>
          </a:prstGeom>
        </p:spPr>
      </p:pic>
      <p:sp>
        <p:nvSpPr>
          <p:cNvPr id="21" name="cd_369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70" descr="/home/claude/movers/img/fc/nurs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7912" y="3017520"/>
            <a:ext cx="1408176" cy="1408176"/>
          </a:xfrm>
          <a:prstGeom prst="rect">
            <a:avLst/>
          </a:prstGeom>
        </p:spPr>
      </p:pic>
      <p:sp>
        <p:nvSpPr>
          <p:cNvPr id="23" name="cd_371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372" descr="/home/claude/movers/img/fc/dentis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5272" y="3017520"/>
            <a:ext cx="1408176" cy="1408176"/>
          </a:xfrm>
          <a:prstGeom prst="rect">
            <a:avLst/>
          </a:prstGeom>
        </p:spPr>
      </p:pic>
      <p:sp>
        <p:nvSpPr>
          <p:cNvPr id="25" name="cd_373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74" descr="/home/claude/movers/img/fc/coo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632" y="3017520"/>
            <a:ext cx="1408176" cy="14081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3 · LESSON 4 · People who help us</dc:title>
  <dc:subject>PptxGenJS Presentation</dc:subject>
  <dc:creator>PptxGenJS</dc:creator>
  <cp:lastModifiedBy>PptxGenJS</cp:lastModifiedBy>
  <cp:revision>1</cp:revision>
  <dcterms:created xsi:type="dcterms:W3CDTF">2026-10-06T10:51:38Z</dcterms:created>
  <dcterms:modified xsi:type="dcterms:W3CDTF">2026-10-06T10:51:38Z</dcterms:modified>
</cp:coreProperties>
</file>