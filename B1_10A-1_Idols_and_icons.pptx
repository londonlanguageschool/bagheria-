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10A PART 1 (60 min) · SB pp.96–97 + Writing p.124. Aims: read short texts about nine icons who died in 2016; relative clauses, defining and non-defining (Grammar Bank 10A); a relative-clauses quiz (Communicative photocopiable p.196); add extra information to a biography of Umberto Eco. Timing: cover 2 · revision 5 · lead-in 4 · reading 8 · extracts 4 · rule 6 · practice 6 · mini quiz 3 · photocopiable quiz 9 · Umberto Eco 6 · exit 3 = 56 min. Click 1: the question (it's already a relative clause!) — who knows?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Practical English 5 (5 min). VARIATION: memory + change the energy — pairs decide who said each line (all quotes from the audio scripts 9.21, 9.22, 9.25); click once per line. Bonus point if a student says the line with the right emotion (Paul: mocking; Jenny: upset; Rob: nervous / romantic; Don: busy boss). Final 1-minute challenge: make Don's question direct (What did you decide at the last meeting?) and make two more indirect questions to Rob (Could you tell me why…? Do you know if…?).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LEAD-IN (4 min). 1a: read the introduction; teach icon (= a famous person that people see as a symbol of an idea, a way of life, etc.). Pairs look at the photos on p.96 and say who they recognize; then go to Communication p.110 to check, and write the names in the gaps in the text headings. This slide is a clue version (clues from the texts): pairs guess, click 1 shows all nine names. VARIATION: curiosity gap. Ask: Which of them did you know? Who had you never heard of? (1b). Nobody has to know them all — the point is the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(8 min). 1b (3 min): students read the nine texts; which people did they already know most about? 1c (4 min): students read questions 1–9 (the book's, on the slide) and find the answers in the texts – write the initials of the person. Click 1 for answers (TG): 1 P (Prince, aged 57) · 2 JC (Johan Cruyff – player, then coach) · 3 CF (Carrie Fisher – daughter of Debbie Reynolds and Eddie Fisher, dated Paul Simon, friend of James Blunt) · 4 ZH (Zaha Hadid – the Aquatic Centre, London 2012) · 5 MA (Muhammad Ali, born Cassius Clay, 'The Greatest') · 6 AR (Alan Rickman – 41 in Die Hard) · 7 HL (Harper Lee – retreated from public life) · 8 LC (Leonard Cohen – Buddhist monk for five years) · 9 DB (David Bowie – Blackstar, released two days before he died, won five Grammys). Ask for the evidence in the text each time. 1d (whole class, 1 min): Do you particularly admire any of these people? What other famous people do you admire? VARIATION: forced choice – which ONE would you most like to have met?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PRESENTATION (4 min). 2a: students cover the texts and complete extracts 1–5 with a relative pronoun from the list; then say who each extract is about. Click 1 for answers (TG): 1 which (Harper Lee) · 2 where, who (Leonard Cohen) · 3 which (Carrie Fisher) · 4 who (Muhammad Ali) · 5 whose (Zaha Hadid). The extracts on the slide are the book's (2 slightly shortened). EXTRA CHALLENGE (TG): Which two clauses give ESSENTIAL information? → 2 (who he lived with on the Greek island of Hydra) and 3 (which made her famous). In which clause is the pronoun not necessary? → 2: the Norwegian woman (who) he lived with on Hydra. Point out the commas round the extra-information clauses. VARIATION: memory challenge (texts covered).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Grammar Bank 10A p.150: play 10.1 (defining) and 10.2 (non-defining); students listen and repeat. All examples on the slide are from these audio tracks. Rules (TG grammar notes): defining clauses give essential information (Alan Rickman is the actor who played Snape); non-defining clauses give extra information which can be left out and the sentence still makes sense (Alan Rickman, who died in 2016, is…); in writing non-defining clauses go between commas. That is a common alternative to who / which in defining clauses but is NOT possible in non-defining clauses. In defining clauses we can leave out who / which / that when it is the object of the verb (the girl I met on the flight to Paris). Whom = formal object form (the man to whom I spoke) — recognise only. Typical mistakes (TG): who / which confusion; adding a personal pronoun (✗ the man who he works…); that in non-defining clauses. Italian: che = who / which / that, cui = which / who after a preposition, il cui = whose. Quick check: point at things / people in the class: 'Who's the student who…?'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(6 min). Students do Grammar Bank 10A a 1–6 in the book; the slide shows the key sentences (TG) with the relative pronoun gapped — click 1 for answers. ⚠ The exact instruction for a (complete / join the sentences) is only in the Student's Book; students can use the slide version if they don't have the book open. Then b (TG key): the sentences in a where you can use that are 3, 4, 6 and 11; the pronoun can be left out in 3 (which), 6 (which) and 11 (who) — because it's the object. (⚠ b's instruction is inferred from the key — check p.150.) Homework: a 7–12 and c. VARIATION: student as teacher — the fastest pair explains WHY 2 and 5 have commas. EXTRA SUPPORT: Grammar photocopiable 10A p.167 = the EXTRA slide 'Join the sentences' after the exit (📄 B1_10A_Photocopiables.pdf, page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(3 min). 3a: students answer the five quiz questions individually, then compare. Click 1 for answers (TG): 1 an extra · 2 a zebra crossing · 3 your tongue · 4 the roof · 5 her fiancé. The definitions on the slide are the book's quiz 'What do you call…?' (p.97). Drill fiancé /fiˈɒnseɪ/. Show of hands: who got all five? Now they write their own questions (next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(9 min) = Communicative photocopiable 10A 'Relative clauses quiz' (TG p.196, notes p.175). 📄 Print: B1_10A_Photocopiables.pdf, page 2 – one copy per pair, cut into A and B (page 3 = the editable version with blank options – print it only if you want to write your own questions). It has the same aim as SB 3b (Communication 'Relative clauses quiz' A p.110, B p.114 — use the book instead if you have no copies). Official procedure (TG): put Sts in pairs, A and B, and give out the worksheets. a: Sts complete the questions with a relative pronoun; check answers orally or by writing the pronouns on the board. Official answers (TG): A · Sport 1 which, 2 which · Art and literature 1 who, 2 whose · Film and TV 1 who, 2 where · Geography 1 which, 2 where · Technology 1 whose, 2 where. B · Sport 1 where, 2 whose · Art and literature 1 whose, 2 who · Film and TV 1 where, 2 who · Geography 1 where, 2 which · Technology 1 where, 2 which (that is also possible for who / which in these defining clauses). b: Sts sit face to face; they ask their partner the question (Can you tell me…?) WITHOUT giving the three alternatives – correct = 3 points; if wrong, they give the three alternatives – correct option = 1 point. The correct option is in bold on the sheet (A: tennis, puck, Bob Dylan, Leonardo da Vinci, Mark Hamill, Los Angeles, Asia, Rome, Apple, Harvard; B: Rio de Janeiro, Nike, Andy Warhol, Ian Fleming, Krypton, Penélope Cruz, Amsterdam, Germany and Belgium, South Korea, batteries and solar panels) – partners must not see each other's half. At the end, ask each pair who got more points. Nice link to PE5: every question starts with Can you tell me…? (indirect question). VARIATION: constraint challenge +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(6 min). Students go to Writing A biography p.124. 4a: who is Umberto Eco? (Italian students will know more than the book!) Read the biography. 4b: rewrite it adding the extra information in sentences 2–7 as non-defining relative clauses (in order; they may need to change or delete some words). Click 1 for answers (TG): 2 After he graduated, he worked for Radiotelevisione Italiana, where he became friends with artists, painters, musicians, and writers. 3 In September 1962, he married Renate Ramge, who was a German art teacher. 4 They lived in an apartment in Milan, where Eco had a library of 30,000 books. 5 Eco is best known for his novel The Name of the Rose, which was published in 1980 and made into a film six years later. 6 The book, which sold 15 million copies and made him an international literary star, is a murder mystery set in a 14th-century Italian monastery. 7 Eco, who had been diagnosed with cancer, died in Milan in 2016. Remind them: commas! 4c (homework): a 3–5 paragraph biography of an interesting or successful person they know enough about, using relative clauses. VARIATION: perspective change — an Italian icon seen through English eyes.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Homework: Workbook 10A 1a–1d (relative clauses) + Grammar Bank 10A a 7–12 and c + Writing p.124 4c–d (a biography, 3–5 paragraphs, with relative clauses; check for mistakes before handing in) + the 10A-1 homework sheet (easier version available). Workbook 10A 2 and 3 (compound nouns) go with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GAME (6 min). VARIATION: constraint challenge — the definition MUST contain who, which, where or whose (It's a person who… / It's a thing which… / It's a place where…). Recycles vocabulary from Files 9–10 (devices; crime words are pre-taught for 10B). IMPORTANT: guessers must not see the screen. Check they have turned round BEFORE you click each card. Every card is on its own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1.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2.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3.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4.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5.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6.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(7 min) or HOMEWORK = Grammar photocopiable 10A 'relative clauses: defining and non-defining' (TG p.167). 📄 Print: B1_10A_Photocopiables.pdf, page 1 – one copy per student. a: complete the article (Elena's favourite things) with who, which, where or whose (1 where is the example). b: in which sentences could you also use that? In which could you leave out who or which? c: combine the two sentences with a non-defining relative clause (1 is the example) – the slide shows c 2–6, one answer per click. Official answers (TG PCM key): a 2 which · 3 which · 4 which · 5 which · 6 who · 7 which · 8 whose · 9 who · 10 which · 11 where · 12 which. b that: 2, 3, 4, 5, 7, 9, 10, 12 · leave out who / which: 2, 3, 4, 5, 10. c 2 which many people think is the capital of Australia · 3 where my grandmother used to work · 4 whose best known painting is Guernica · 5 which hit the city of New Orleans · 6 who died when he was 35. ACTIVATION (on the sheet): read the article again and write a paragraph about your favourite things in life (good homework). VARIATION: student-generated content (the Activation).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 = SB 2c / TG EXTRA IDEA. VARIATION: memory disruption + peer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10A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10A · Part 1 · SB pp.96–97</a:t>
            </a:r>
            <a:endParaRPr lang="en-US" sz="105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34340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IDOLS AND ICONS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813048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The year our heroes died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relative clauses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WRITING · a biography (p.124)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MicrophoneSt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FilmSla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 actor who played Severus Snape?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Rickman – a real icon!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Practical English 5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said it?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Rob, Jenny, Paul or Don? Then say it like them!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Rob, Jenny, Paul o Don? Poi dillo come loro!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Quo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9"/>
          <p:cNvSpPr txBox="1"/>
          <p:nvPr/>
        </p:nvSpPr>
        <p:spPr>
          <a:xfrm>
            <a:off x="2788920" y="1371600"/>
            <a:ext cx="4103827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"It's not like you want to marry her."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6947611" y="1408176"/>
            <a:ext cx="1876349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</a:t>
            </a:r>
            <a:endParaRPr lang="en-US" sz="1300" dirty="0"/>
          </a:p>
        </p:txBody>
      </p:sp>
      <p:sp>
        <p:nvSpPr>
          <p:cNvPr id="16" name="box_30"/>
          <p:cNvSpPr txBox="1"/>
          <p:nvPr/>
        </p:nvSpPr>
        <p:spPr>
          <a:xfrm>
            <a:off x="2788920" y="1941576"/>
            <a:ext cx="4103827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"I'll even buy the ticket."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6947611" y="1978152"/>
            <a:ext cx="1876349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</a:t>
            </a:r>
            <a:endParaRPr lang="en-US" sz="130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511552"/>
            <a:ext cx="4103827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"I don't know if this is going to work out."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6947611" y="2548128"/>
            <a:ext cx="1876349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</a:t>
            </a:r>
            <a:endParaRPr lang="en-US" sz="1300" dirty="0"/>
          </a:p>
        </p:txBody>
      </p:sp>
      <p:sp>
        <p:nvSpPr>
          <p:cNvPr id="20" name="box_32"/>
          <p:cNvSpPr txBox="1"/>
          <p:nvPr/>
        </p:nvSpPr>
        <p:spPr>
          <a:xfrm>
            <a:off x="2788920" y="3081528"/>
            <a:ext cx="4103827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"Can you tell me what you decided at the last meeting?"</a:t>
            </a:r>
            <a:endParaRPr lang="en-US" sz="1100" dirty="0"/>
          </a:p>
        </p:txBody>
      </p:sp>
      <p:sp>
        <p:nvSpPr>
          <p:cNvPr id="21" name="R4_a3"/>
          <p:cNvSpPr txBox="1"/>
          <p:nvPr/>
        </p:nvSpPr>
        <p:spPr>
          <a:xfrm>
            <a:off x="6947611" y="3118104"/>
            <a:ext cx="1876349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</a:t>
            </a:r>
            <a:endParaRPr lang="en-US" sz="130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651504"/>
            <a:ext cx="4103827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"Well, that's a start, I guess."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6947611" y="3688080"/>
            <a:ext cx="1876349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</a:t>
            </a:r>
            <a:endParaRPr lang="en-US" sz="1300" dirty="0"/>
          </a:p>
        </p:txBody>
      </p:sp>
      <p:sp>
        <p:nvSpPr>
          <p:cNvPr id="24" name="box_34"/>
          <p:cNvSpPr txBox="1"/>
          <p:nvPr/>
        </p:nvSpPr>
        <p:spPr>
          <a:xfrm>
            <a:off x="2788920" y="4221480"/>
            <a:ext cx="4103827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"What if I proposed to you?"</a:t>
            </a:r>
            <a:endParaRPr lang="en-US" sz="1300" dirty="0"/>
          </a:p>
        </p:txBody>
      </p:sp>
      <p:sp>
        <p:nvSpPr>
          <p:cNvPr id="25" name="R6_a5"/>
          <p:cNvSpPr txBox="1"/>
          <p:nvPr/>
        </p:nvSpPr>
        <p:spPr>
          <a:xfrm>
            <a:off x="6947611" y="4258056"/>
            <a:ext cx="1876349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</a:t>
            </a:r>
            <a:endParaRPr lang="en-US" sz="1300" dirty="0"/>
          </a:p>
        </p:txBody>
      </p:sp>
      <p:sp>
        <p:nvSpPr>
          <p:cNvPr id="26" name="pageTag_3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Practical English 5 pp.94–95 · audio 9.21–9.26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Lead-in</a:t>
            </a:r>
            <a:endParaRPr lang="en-US" sz="900" dirty="0"/>
          </a:p>
        </p:txBody>
      </p:sp>
      <p:sp>
        <p:nvSpPr>
          <p:cNvPr id="6" name="timer_3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41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2016: who were they?</a:t>
            </a:r>
            <a:endParaRPr lang="en-US" sz="1500" dirty="0"/>
          </a:p>
        </p:txBody>
      </p:sp>
      <p:sp>
        <p:nvSpPr>
          <p:cNvPr id="9" name="post_4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4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these icons? Guess – then click!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sono queste icone? Indovina – poi clicca!</a:t>
            </a:r>
            <a:endParaRPr lang="en-US" sz="1250" dirty="0"/>
          </a:p>
        </p:txBody>
      </p:sp>
      <p:sp>
        <p:nvSpPr>
          <p:cNvPr id="12" name="tile_45"/>
          <p:cNvSpPr/>
          <p:nvPr/>
        </p:nvSpPr>
        <p:spPr>
          <a:xfrm>
            <a:off x="2788920" y="1371600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46" descr="rock star · album Black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1511960"/>
            <a:ext cx="566623" cy="566623"/>
          </a:xfrm>
          <a:prstGeom prst="rect">
            <a:avLst/>
          </a:prstGeom>
        </p:spPr>
      </p:pic>
      <p:sp>
        <p:nvSpPr>
          <p:cNvPr id="14" name="tw_47"/>
          <p:cNvSpPr txBox="1"/>
          <p:nvPr/>
        </p:nvSpPr>
        <p:spPr>
          <a:xfrm>
            <a:off x="3446983" y="1417320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star · album Blackstar</a:t>
            </a:r>
            <a:endParaRPr lang="en-US" sz="1200" dirty="0"/>
          </a:p>
        </p:txBody>
      </p:sp>
      <p:sp>
        <p:nvSpPr>
          <p:cNvPr id="15" name="R1_it0"/>
          <p:cNvSpPr txBox="1"/>
          <p:nvPr/>
        </p:nvSpPr>
        <p:spPr>
          <a:xfrm>
            <a:off x="3446983" y="1886712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Bowie</a:t>
            </a:r>
            <a:endParaRPr lang="en-US" sz="1150" dirty="0"/>
          </a:p>
        </p:txBody>
      </p:sp>
      <p:sp>
        <p:nvSpPr>
          <p:cNvPr id="16" name="tile_48"/>
          <p:cNvSpPr/>
          <p:nvPr/>
        </p:nvSpPr>
        <p:spPr>
          <a:xfrm>
            <a:off x="4837176" y="1371600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49" descr="actor · Severus Sna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11960"/>
            <a:ext cx="566623" cy="566623"/>
          </a:xfrm>
          <a:prstGeom prst="rect">
            <a:avLst/>
          </a:prstGeom>
        </p:spPr>
      </p:pic>
      <p:sp>
        <p:nvSpPr>
          <p:cNvPr id="18" name="tw_50"/>
          <p:cNvSpPr txBox="1"/>
          <p:nvPr/>
        </p:nvSpPr>
        <p:spPr>
          <a:xfrm>
            <a:off x="5495239" y="1417320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· Severus Snape</a:t>
            </a:r>
            <a:endParaRPr lang="en-US" sz="1200" dirty="0"/>
          </a:p>
        </p:txBody>
      </p:sp>
      <p:sp>
        <p:nvSpPr>
          <p:cNvPr id="19" name="R1_it1"/>
          <p:cNvSpPr txBox="1"/>
          <p:nvPr/>
        </p:nvSpPr>
        <p:spPr>
          <a:xfrm>
            <a:off x="5495239" y="1886712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Rickman</a:t>
            </a:r>
            <a:endParaRPr lang="en-US" sz="1150" dirty="0"/>
          </a:p>
        </p:txBody>
      </p:sp>
      <p:sp>
        <p:nvSpPr>
          <p:cNvPr id="20" name="tile_51"/>
          <p:cNvSpPr/>
          <p:nvPr/>
        </p:nvSpPr>
        <p:spPr>
          <a:xfrm>
            <a:off x="6885432" y="1371600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52" descr="writer · To Kill a Mockingbi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1511960"/>
            <a:ext cx="566623" cy="566623"/>
          </a:xfrm>
          <a:prstGeom prst="rect">
            <a:avLst/>
          </a:prstGeom>
        </p:spPr>
      </p:pic>
      <p:sp>
        <p:nvSpPr>
          <p:cNvPr id="22" name="tw_53"/>
          <p:cNvSpPr txBox="1"/>
          <p:nvPr/>
        </p:nvSpPr>
        <p:spPr>
          <a:xfrm>
            <a:off x="7543495" y="1417320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· To Kill a Mockingbird</a:t>
            </a:r>
            <a:endParaRPr lang="en-US" sz="1200" dirty="0"/>
          </a:p>
        </p:txBody>
      </p:sp>
      <p:sp>
        <p:nvSpPr>
          <p:cNvPr id="23" name="R1_it2"/>
          <p:cNvSpPr txBox="1"/>
          <p:nvPr/>
        </p:nvSpPr>
        <p:spPr>
          <a:xfrm>
            <a:off x="7543495" y="1886712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 Lee</a:t>
            </a:r>
            <a:endParaRPr lang="en-US" sz="1150" dirty="0"/>
          </a:p>
        </p:txBody>
      </p:sp>
      <p:sp>
        <p:nvSpPr>
          <p:cNvPr id="24" name="tile_54"/>
          <p:cNvSpPr/>
          <p:nvPr/>
        </p:nvSpPr>
        <p:spPr>
          <a:xfrm>
            <a:off x="2788920" y="2511552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55" descr="footballer · Ajax &amp; Barcelon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651912"/>
            <a:ext cx="566623" cy="566623"/>
          </a:xfrm>
          <a:prstGeom prst="rect">
            <a:avLst/>
          </a:prstGeom>
        </p:spPr>
      </p:pic>
      <p:sp>
        <p:nvSpPr>
          <p:cNvPr id="26" name="tw_56"/>
          <p:cNvSpPr txBox="1"/>
          <p:nvPr/>
        </p:nvSpPr>
        <p:spPr>
          <a:xfrm>
            <a:off x="3446983" y="2557272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footballer · Ajax &amp; Barcelona</a:t>
            </a:r>
            <a:endParaRPr lang="en-US" sz="1200" dirty="0"/>
          </a:p>
        </p:txBody>
      </p:sp>
      <p:sp>
        <p:nvSpPr>
          <p:cNvPr id="27" name="R1_it3"/>
          <p:cNvSpPr txBox="1"/>
          <p:nvPr/>
        </p:nvSpPr>
        <p:spPr>
          <a:xfrm>
            <a:off x="3446983" y="3026664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Cruyff</a:t>
            </a:r>
            <a:endParaRPr lang="en-US" sz="1150" dirty="0"/>
          </a:p>
        </p:txBody>
      </p:sp>
      <p:sp>
        <p:nvSpPr>
          <p:cNvPr id="28" name="tile_57"/>
          <p:cNvSpPr/>
          <p:nvPr/>
        </p:nvSpPr>
        <p:spPr>
          <a:xfrm>
            <a:off x="4837176" y="2511552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58" descr="architect · born in Iraq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651912"/>
            <a:ext cx="566623" cy="566623"/>
          </a:xfrm>
          <a:prstGeom prst="rect">
            <a:avLst/>
          </a:prstGeom>
        </p:spPr>
      </p:pic>
      <p:sp>
        <p:nvSpPr>
          <p:cNvPr id="30" name="tw_59"/>
          <p:cNvSpPr txBox="1"/>
          <p:nvPr/>
        </p:nvSpPr>
        <p:spPr>
          <a:xfrm>
            <a:off x="5495239" y="2557272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· born in Iraq</a:t>
            </a:r>
            <a:endParaRPr lang="en-US" sz="1200" dirty="0"/>
          </a:p>
        </p:txBody>
      </p:sp>
      <p:sp>
        <p:nvSpPr>
          <p:cNvPr id="31" name="R1_it4"/>
          <p:cNvSpPr txBox="1"/>
          <p:nvPr/>
        </p:nvSpPr>
        <p:spPr>
          <a:xfrm>
            <a:off x="5495239" y="3026664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Zaha Hadid</a:t>
            </a:r>
            <a:endParaRPr lang="en-US" sz="1150" dirty="0"/>
          </a:p>
        </p:txBody>
      </p:sp>
      <p:sp>
        <p:nvSpPr>
          <p:cNvPr id="32" name="tile_60"/>
          <p:cNvSpPr/>
          <p:nvPr/>
        </p:nvSpPr>
        <p:spPr>
          <a:xfrm>
            <a:off x="6885432" y="2511552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61" descr="child prodigy · Purple Rai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584" y="2651912"/>
            <a:ext cx="566623" cy="566623"/>
          </a:xfrm>
          <a:prstGeom prst="rect">
            <a:avLst/>
          </a:prstGeom>
        </p:spPr>
      </p:pic>
      <p:sp>
        <p:nvSpPr>
          <p:cNvPr id="34" name="tw_62"/>
          <p:cNvSpPr txBox="1"/>
          <p:nvPr/>
        </p:nvSpPr>
        <p:spPr>
          <a:xfrm>
            <a:off x="7543495" y="2557272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prodigy · Purple Rain</a:t>
            </a:r>
            <a:endParaRPr lang="en-US" sz="1200" dirty="0"/>
          </a:p>
        </p:txBody>
      </p:sp>
      <p:sp>
        <p:nvSpPr>
          <p:cNvPr id="35" name="R1_it5"/>
          <p:cNvSpPr txBox="1"/>
          <p:nvPr/>
        </p:nvSpPr>
        <p:spPr>
          <a:xfrm>
            <a:off x="7543495" y="3026664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</a:t>
            </a:r>
            <a:endParaRPr lang="en-US" sz="1150" dirty="0"/>
          </a:p>
        </p:txBody>
      </p:sp>
      <p:sp>
        <p:nvSpPr>
          <p:cNvPr id="36" name="tile_63"/>
          <p:cNvSpPr/>
          <p:nvPr/>
        </p:nvSpPr>
        <p:spPr>
          <a:xfrm>
            <a:off x="2788920" y="3651504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64" descr="boxer · 'The Greatest'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3791864"/>
            <a:ext cx="566623" cy="566623"/>
          </a:xfrm>
          <a:prstGeom prst="rect">
            <a:avLst/>
          </a:prstGeom>
        </p:spPr>
      </p:pic>
      <p:sp>
        <p:nvSpPr>
          <p:cNvPr id="38" name="tw_65"/>
          <p:cNvSpPr txBox="1"/>
          <p:nvPr/>
        </p:nvSpPr>
        <p:spPr>
          <a:xfrm>
            <a:off x="3446983" y="3697224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boxer · 'The Greatest'</a:t>
            </a:r>
            <a:endParaRPr lang="en-US" sz="1200" dirty="0"/>
          </a:p>
        </p:txBody>
      </p:sp>
      <p:sp>
        <p:nvSpPr>
          <p:cNvPr id="39" name="R1_it6"/>
          <p:cNvSpPr txBox="1"/>
          <p:nvPr/>
        </p:nvSpPr>
        <p:spPr>
          <a:xfrm>
            <a:off x="3446983" y="4166616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</a:t>
            </a:r>
            <a:endParaRPr lang="en-US" sz="1150" dirty="0"/>
          </a:p>
        </p:txBody>
      </p:sp>
      <p:sp>
        <p:nvSpPr>
          <p:cNvPr id="40" name="tile_66"/>
          <p:cNvSpPr/>
          <p:nvPr/>
        </p:nvSpPr>
        <p:spPr>
          <a:xfrm>
            <a:off x="4837176" y="3651504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67" descr="singer-songwriter · Halleluja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3791864"/>
            <a:ext cx="566623" cy="566623"/>
          </a:xfrm>
          <a:prstGeom prst="rect">
            <a:avLst/>
          </a:prstGeom>
        </p:spPr>
      </p:pic>
      <p:sp>
        <p:nvSpPr>
          <p:cNvPr id="42" name="tw_68"/>
          <p:cNvSpPr txBox="1"/>
          <p:nvPr/>
        </p:nvSpPr>
        <p:spPr>
          <a:xfrm>
            <a:off x="5495239" y="3697224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singer-songwriter · Hallelujah</a:t>
            </a:r>
            <a:endParaRPr lang="en-US" sz="1200" dirty="0"/>
          </a:p>
        </p:txBody>
      </p:sp>
      <p:sp>
        <p:nvSpPr>
          <p:cNvPr id="43" name="R1_it7"/>
          <p:cNvSpPr txBox="1"/>
          <p:nvPr/>
        </p:nvSpPr>
        <p:spPr>
          <a:xfrm>
            <a:off x="5495239" y="4166616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 Cohen</a:t>
            </a:r>
            <a:endParaRPr lang="en-US" sz="1150" dirty="0"/>
          </a:p>
        </p:txBody>
      </p:sp>
      <p:sp>
        <p:nvSpPr>
          <p:cNvPr id="44" name="tile_69"/>
          <p:cNvSpPr/>
          <p:nvPr/>
        </p:nvSpPr>
        <p:spPr>
          <a:xfrm>
            <a:off x="6885432" y="3651504"/>
            <a:ext cx="1938528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70" descr="actress · Princess Lei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8584" y="3791864"/>
            <a:ext cx="566623" cy="566623"/>
          </a:xfrm>
          <a:prstGeom prst="rect">
            <a:avLst/>
          </a:prstGeom>
        </p:spPr>
      </p:pic>
      <p:sp>
        <p:nvSpPr>
          <p:cNvPr id="46" name="tw_71"/>
          <p:cNvSpPr txBox="1"/>
          <p:nvPr/>
        </p:nvSpPr>
        <p:spPr>
          <a:xfrm>
            <a:off x="7543495" y="3697224"/>
            <a:ext cx="1243889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actress · Princess Leia</a:t>
            </a:r>
            <a:endParaRPr lang="en-US" sz="1200" dirty="0"/>
          </a:p>
        </p:txBody>
      </p:sp>
      <p:sp>
        <p:nvSpPr>
          <p:cNvPr id="47" name="R1_it8"/>
          <p:cNvSpPr txBox="1"/>
          <p:nvPr/>
        </p:nvSpPr>
        <p:spPr>
          <a:xfrm>
            <a:off x="7543495" y="4166616"/>
            <a:ext cx="1243889" cy="432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 Fisher</a:t>
            </a:r>
            <a:endParaRPr lang="en-US" sz="1150" dirty="0"/>
          </a:p>
        </p:txBody>
      </p:sp>
      <p:sp>
        <p:nvSpPr>
          <p:cNvPr id="48" name="pageTag_7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p.96 · 1a · Communication 'The year our heroes died' p.110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7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The year our heroes died · 1c</a:t>
            </a:r>
            <a:endParaRPr lang="en-US" sz="900" dirty="0"/>
          </a:p>
        </p:txBody>
      </p:sp>
      <p:sp>
        <p:nvSpPr>
          <p:cNvPr id="6" name="timer_7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7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78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According to the texts, who…?</a:t>
            </a:r>
            <a:endParaRPr lang="en-US" sz="1500" dirty="0"/>
          </a:p>
        </p:txBody>
      </p:sp>
      <p:sp>
        <p:nvSpPr>
          <p:cNvPr id="9" name="post_7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8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8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texts on pp.96–97. Who…? Answer with the initials!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 testi a pp.96–97. Chi…? Rispondi con le iniziali!</a:t>
            </a:r>
            <a:endParaRPr lang="en-US" sz="1200" dirty="0"/>
          </a:p>
        </p:txBody>
      </p:sp>
      <p:sp>
        <p:nvSpPr>
          <p:cNvPr id="12" name="box_82"/>
          <p:cNvSpPr txBox="1"/>
          <p:nvPr/>
        </p:nvSpPr>
        <p:spPr>
          <a:xfrm>
            <a:off x="2788920" y="1371600"/>
            <a:ext cx="2303739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was the youngest when he / she died</a:t>
            </a:r>
            <a:endParaRPr lang="en-US" sz="1050" dirty="0"/>
          </a:p>
        </p:txBody>
      </p:sp>
      <p:sp>
        <p:nvSpPr>
          <p:cNvPr id="13" name="R1_a0"/>
          <p:cNvSpPr txBox="1"/>
          <p:nvPr/>
        </p:nvSpPr>
        <p:spPr>
          <a:xfrm>
            <a:off x="5147523" y="1408176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4" name="box_83"/>
          <p:cNvSpPr txBox="1"/>
          <p:nvPr/>
        </p:nvSpPr>
        <p:spPr>
          <a:xfrm>
            <a:off x="5870448" y="1371600"/>
            <a:ext cx="2303739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changed jobs but did equally well in both</a:t>
            </a:r>
            <a:endParaRPr lang="en-US" sz="1050" dirty="0"/>
          </a:p>
        </p:txBody>
      </p:sp>
      <p:sp>
        <p:nvSpPr>
          <p:cNvPr id="15" name="R1_a1"/>
          <p:cNvSpPr txBox="1"/>
          <p:nvPr/>
        </p:nvSpPr>
        <p:spPr>
          <a:xfrm>
            <a:off x="8229051" y="1408176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</a:t>
            </a:r>
            <a:endParaRPr lang="en-US" sz="1200" dirty="0"/>
          </a:p>
        </p:txBody>
      </p:sp>
      <p:sp>
        <p:nvSpPr>
          <p:cNvPr id="16" name="box_84"/>
          <p:cNvSpPr txBox="1"/>
          <p:nvPr/>
        </p:nvSpPr>
        <p:spPr>
          <a:xfrm>
            <a:off x="2788920" y="2055571"/>
            <a:ext cx="2303739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was child, friend, and partner of famous singers</a:t>
            </a:r>
            <a:endParaRPr lang="en-US" sz="1050" dirty="0"/>
          </a:p>
        </p:txBody>
      </p:sp>
      <p:sp>
        <p:nvSpPr>
          <p:cNvPr id="17" name="R1_a2"/>
          <p:cNvSpPr txBox="1"/>
          <p:nvPr/>
        </p:nvSpPr>
        <p:spPr>
          <a:xfrm>
            <a:off x="5147523" y="2092147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</a:t>
            </a:r>
            <a:endParaRPr lang="en-US" sz="1200" dirty="0"/>
          </a:p>
        </p:txBody>
      </p:sp>
      <p:sp>
        <p:nvSpPr>
          <p:cNvPr id="18" name="box_85"/>
          <p:cNvSpPr txBox="1"/>
          <p:nvPr/>
        </p:nvSpPr>
        <p:spPr>
          <a:xfrm>
            <a:off x="5870448" y="2055571"/>
            <a:ext cx="2303739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had a connection with the Olympic Games</a:t>
            </a:r>
            <a:endParaRPr lang="en-US" sz="1050" dirty="0"/>
          </a:p>
        </p:txBody>
      </p:sp>
      <p:sp>
        <p:nvSpPr>
          <p:cNvPr id="19" name="R1_a3"/>
          <p:cNvSpPr txBox="1"/>
          <p:nvPr/>
        </p:nvSpPr>
        <p:spPr>
          <a:xfrm>
            <a:off x="8229051" y="2092147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</a:t>
            </a:r>
            <a:endParaRPr lang="en-US" sz="1200" dirty="0"/>
          </a:p>
        </p:txBody>
      </p:sp>
      <p:sp>
        <p:nvSpPr>
          <p:cNvPr id="20" name="box_86"/>
          <p:cNvSpPr txBox="1"/>
          <p:nvPr/>
        </p:nvSpPr>
        <p:spPr>
          <a:xfrm>
            <a:off x="2788920" y="2739542"/>
            <a:ext cx="2303739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changed his / her name completely, and had a famous nickname</a:t>
            </a:r>
            <a:endParaRPr lang="en-US" sz="950" dirty="0"/>
          </a:p>
        </p:txBody>
      </p:sp>
      <p:sp>
        <p:nvSpPr>
          <p:cNvPr id="21" name="R1_a4"/>
          <p:cNvSpPr txBox="1"/>
          <p:nvPr/>
        </p:nvSpPr>
        <p:spPr>
          <a:xfrm>
            <a:off x="5147523" y="2776118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200" dirty="0"/>
          </a:p>
        </p:txBody>
      </p:sp>
      <p:sp>
        <p:nvSpPr>
          <p:cNvPr id="22" name="box_87"/>
          <p:cNvSpPr txBox="1"/>
          <p:nvPr/>
        </p:nvSpPr>
        <p:spPr>
          <a:xfrm>
            <a:off x="5870448" y="2739542"/>
            <a:ext cx="2303739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became famous for the first time when he / she was middle-aged</a:t>
            </a:r>
            <a:endParaRPr lang="en-US" sz="1050" dirty="0"/>
          </a:p>
        </p:txBody>
      </p:sp>
      <p:sp>
        <p:nvSpPr>
          <p:cNvPr id="23" name="R1_a5"/>
          <p:cNvSpPr txBox="1"/>
          <p:nvPr/>
        </p:nvSpPr>
        <p:spPr>
          <a:xfrm>
            <a:off x="8229051" y="2776118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24" name="box_88"/>
          <p:cNvSpPr txBox="1"/>
          <p:nvPr/>
        </p:nvSpPr>
        <p:spPr>
          <a:xfrm>
            <a:off x="2788920" y="3423514"/>
            <a:ext cx="2303739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did not want any publicity or recognition in later life</a:t>
            </a:r>
            <a:endParaRPr lang="en-US" sz="1050" dirty="0"/>
          </a:p>
        </p:txBody>
      </p:sp>
      <p:sp>
        <p:nvSpPr>
          <p:cNvPr id="25" name="R1_a6"/>
          <p:cNvSpPr txBox="1"/>
          <p:nvPr/>
        </p:nvSpPr>
        <p:spPr>
          <a:xfrm>
            <a:off x="5147523" y="3460090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1200" dirty="0"/>
          </a:p>
        </p:txBody>
      </p:sp>
      <p:sp>
        <p:nvSpPr>
          <p:cNvPr id="26" name="box_89"/>
          <p:cNvSpPr txBox="1"/>
          <p:nvPr/>
        </p:nvSpPr>
        <p:spPr>
          <a:xfrm>
            <a:off x="5870448" y="3423514"/>
            <a:ext cx="2303739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spent time following a particular religion</a:t>
            </a:r>
            <a:endParaRPr lang="en-US" sz="1050" dirty="0"/>
          </a:p>
        </p:txBody>
      </p:sp>
      <p:sp>
        <p:nvSpPr>
          <p:cNvPr id="27" name="R1_a7"/>
          <p:cNvSpPr txBox="1"/>
          <p:nvPr/>
        </p:nvSpPr>
        <p:spPr>
          <a:xfrm>
            <a:off x="8229051" y="3460090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1200" dirty="0"/>
          </a:p>
        </p:txBody>
      </p:sp>
      <p:sp>
        <p:nvSpPr>
          <p:cNvPr id="28" name="box_90"/>
          <p:cNvSpPr txBox="1"/>
          <p:nvPr/>
        </p:nvSpPr>
        <p:spPr>
          <a:xfrm>
            <a:off x="2788920" y="4107485"/>
            <a:ext cx="2303739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was awarded prizes for something he / she did shortly before dying</a:t>
            </a:r>
            <a:endParaRPr lang="en-US" sz="1000" dirty="0"/>
          </a:p>
        </p:txBody>
      </p:sp>
      <p:sp>
        <p:nvSpPr>
          <p:cNvPr id="29" name="R1_a8"/>
          <p:cNvSpPr txBox="1"/>
          <p:nvPr/>
        </p:nvSpPr>
        <p:spPr>
          <a:xfrm>
            <a:off x="5147523" y="4144061"/>
            <a:ext cx="59490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30" name="pageTag_9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pp.96–97 · 1b, 1c, 1d</a:t>
            </a:r>
            <a:endParaRPr lang="en-US" sz="1050" dirty="0"/>
          </a:p>
        </p:txBody>
      </p:sp>
      <p:sp>
        <p:nvSpPr>
          <p:cNvPr id="31" name="pframe_92"/>
          <p:cNvSpPr/>
          <p:nvPr/>
        </p:nvSpPr>
        <p:spPr>
          <a:xfrm rot="-120000">
            <a:off x="502920" y="3090672"/>
            <a:ext cx="1600200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2" name="pimg_93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576072" y="3163824"/>
            <a:ext cx="1453896" cy="148132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Presentation</a:t>
            </a:r>
            <a:endParaRPr lang="en-US" sz="900" dirty="0"/>
          </a:p>
        </p:txBody>
      </p:sp>
      <p:sp>
        <p:nvSpPr>
          <p:cNvPr id="6" name="timer_9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9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99"/>
          <p:cNvSpPr txBox="1"/>
          <p:nvPr/>
        </p:nvSpPr>
        <p:spPr>
          <a:xfrm rot="-120000">
            <a:off x="320040" y="676656"/>
            <a:ext cx="467258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Who, which, where, whose</a:t>
            </a:r>
            <a:endParaRPr lang="en-US" sz="1500" dirty="0"/>
          </a:p>
        </p:txBody>
      </p:sp>
      <p:sp>
        <p:nvSpPr>
          <p:cNvPr id="9" name="post_10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0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0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texts! Complete with a relative pronoun. Who is it about?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Copri i testi! Completa con un pronome relativo. Di chi si parla?</a:t>
            </a:r>
            <a:endParaRPr lang="en-US" sz="1200" dirty="0"/>
          </a:p>
        </p:txBody>
      </p:sp>
      <p:sp>
        <p:nvSpPr>
          <p:cNvPr id="12" name="box_103"/>
          <p:cNvSpPr txBox="1"/>
          <p:nvPr/>
        </p:nvSpPr>
        <p:spPr>
          <a:xfrm>
            <a:off x="2788920" y="1371600"/>
            <a:ext cx="44659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She wrote To Kill a Mockingbird, ___ is considered a classic of modern literature.</a:t>
            </a:r>
            <a:endParaRPr lang="en-US" sz="1200" dirty="0"/>
          </a:p>
        </p:txBody>
      </p:sp>
      <p:sp>
        <p:nvSpPr>
          <p:cNvPr id="13" name="R1_a0"/>
          <p:cNvSpPr txBox="1"/>
          <p:nvPr/>
        </p:nvSpPr>
        <p:spPr>
          <a:xfrm>
            <a:off x="7309714" y="1408176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· HL</a:t>
            </a:r>
            <a:endParaRPr lang="en-US" sz="1200" dirty="0"/>
          </a:p>
        </p:txBody>
      </p:sp>
      <p:sp>
        <p:nvSpPr>
          <p:cNvPr id="14" name="box_104"/>
          <p:cNvSpPr txBox="1"/>
          <p:nvPr/>
        </p:nvSpPr>
        <p:spPr>
          <a:xfrm>
            <a:off x="2788920" y="2055571"/>
            <a:ext cx="44659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At 60, he moved to California, ___ he lived as a Buddhist monk… the Norwegian woman ___ he lived with on the Greek island of Hydra.</a:t>
            </a:r>
            <a:endParaRPr lang="en-US" sz="1000" dirty="0"/>
          </a:p>
        </p:txBody>
      </p:sp>
      <p:sp>
        <p:nvSpPr>
          <p:cNvPr id="15" name="R1_a1"/>
          <p:cNvSpPr txBox="1"/>
          <p:nvPr/>
        </p:nvSpPr>
        <p:spPr>
          <a:xfrm>
            <a:off x="7309714" y="2092147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who · LC</a:t>
            </a:r>
            <a:endParaRPr lang="en-US" sz="1200" dirty="0"/>
          </a:p>
        </p:txBody>
      </p:sp>
      <p:sp>
        <p:nvSpPr>
          <p:cNvPr id="16" name="box_105"/>
          <p:cNvSpPr txBox="1"/>
          <p:nvPr/>
        </p:nvSpPr>
        <p:spPr>
          <a:xfrm>
            <a:off x="2788920" y="2739542"/>
            <a:ext cx="44659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It was the role of Princess Leia in the first Star Wars film ___ made her famous.</a:t>
            </a:r>
            <a:endParaRPr lang="en-US" sz="1200" dirty="0"/>
          </a:p>
        </p:txBody>
      </p:sp>
      <p:sp>
        <p:nvSpPr>
          <p:cNvPr id="17" name="R1_a2"/>
          <p:cNvSpPr txBox="1"/>
          <p:nvPr/>
        </p:nvSpPr>
        <p:spPr>
          <a:xfrm>
            <a:off x="7309714" y="2776118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· CF</a:t>
            </a:r>
            <a:endParaRPr lang="en-US" sz="1200" dirty="0"/>
          </a:p>
        </p:txBody>
      </p:sp>
      <p:sp>
        <p:nvSpPr>
          <p:cNvPr id="18" name="box_106"/>
          <p:cNvSpPr txBox="1"/>
          <p:nvPr/>
        </p:nvSpPr>
        <p:spPr>
          <a:xfrm>
            <a:off x="2788920" y="3423514"/>
            <a:ext cx="44659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He also became a prominent civil rights figure, ___ campaigned for black equality.</a:t>
            </a:r>
            <a:endParaRPr lang="en-US" sz="1200" dirty="0"/>
          </a:p>
        </p:txBody>
      </p:sp>
      <p:sp>
        <p:nvSpPr>
          <p:cNvPr id="19" name="R1_a3"/>
          <p:cNvSpPr txBox="1"/>
          <p:nvPr/>
        </p:nvSpPr>
        <p:spPr>
          <a:xfrm>
            <a:off x="7309714" y="3460090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MA</a:t>
            </a:r>
            <a:endParaRPr lang="en-US" sz="1200" dirty="0"/>
          </a:p>
        </p:txBody>
      </p:sp>
      <p:sp>
        <p:nvSpPr>
          <p:cNvPr id="20" name="box_107"/>
          <p:cNvSpPr txBox="1"/>
          <p:nvPr/>
        </p:nvSpPr>
        <p:spPr>
          <a:xfrm>
            <a:off x="2788920" y="4107485"/>
            <a:ext cx="44659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She was a world-famous architect, ___ Aquatic Centre at the 2012 London Olympics was probably her best-known work in the UK.</a:t>
            </a:r>
            <a:endParaRPr lang="en-US" sz="1050" dirty="0"/>
          </a:p>
        </p:txBody>
      </p:sp>
      <p:sp>
        <p:nvSpPr>
          <p:cNvPr id="21" name="R1_a4"/>
          <p:cNvSpPr txBox="1"/>
          <p:nvPr/>
        </p:nvSpPr>
        <p:spPr>
          <a:xfrm>
            <a:off x="7309714" y="4144061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· ZH</a:t>
            </a:r>
            <a:endParaRPr lang="en-US" sz="1200" dirty="0"/>
          </a:p>
        </p:txBody>
      </p:sp>
      <p:sp>
        <p:nvSpPr>
          <p:cNvPr id="22" name="pageTag_10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p.97 · 2a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10A p.150</a:t>
            </a:r>
            <a:endParaRPr lang="en-US" sz="900" dirty="0"/>
          </a:p>
        </p:txBody>
      </p:sp>
      <p:sp>
        <p:nvSpPr>
          <p:cNvPr id="6" name="timer_11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1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114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Relative clauses</a:t>
            </a:r>
            <a:endParaRPr lang="en-US" sz="1500" dirty="0"/>
          </a:p>
        </p:txBody>
      </p:sp>
      <p:sp>
        <p:nvSpPr>
          <p:cNvPr id="9" name="rh_11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Defining</a:t>
            </a:r>
            <a:endParaRPr lang="en-US" sz="1300" dirty="0"/>
          </a:p>
        </p:txBody>
      </p:sp>
      <p:sp>
        <p:nvSpPr>
          <p:cNvPr id="10" name="rb_11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 Lee is the woman who wrote To Kill a Mockingbird.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house where I was born.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Frank the man whose brother plays for Man United?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phone (that) I bought yesterday.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informazione essenziale · that ✓ · niente virgole</a:t>
            </a:r>
            <a:endParaRPr lang="en-US" sz="1150" dirty="0"/>
          </a:p>
        </p:txBody>
      </p:sp>
      <p:sp>
        <p:nvSpPr>
          <p:cNvPr id="11" name="rh_11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Non-defining</a:t>
            </a:r>
            <a:endParaRPr lang="en-US" sz="1300" dirty="0"/>
          </a:p>
        </p:txBody>
      </p:sp>
      <p:sp>
        <p:nvSpPr>
          <p:cNvPr id="12" name="rb_11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painting, which was painted in 1860, is worth millions.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I visited my aunt Jane, who's nearly 90.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neighbour, whose son goes to my son's school, has just remarried.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informazione in più · tra virgole · that ✗</a:t>
            </a:r>
            <a:endParaRPr lang="en-US" sz="1150" dirty="0"/>
          </a:p>
        </p:txBody>
      </p:sp>
      <p:sp>
        <p:nvSpPr>
          <p:cNvPr id="13" name="rh_11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Pronouns</a:t>
            </a:r>
            <a:endParaRPr lang="en-US" sz="1300" dirty="0"/>
          </a:p>
        </p:txBody>
      </p:sp>
      <p:sp>
        <p:nvSpPr>
          <p:cNvPr id="14" name="rb_12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= people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= things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= places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= possession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out who / which / that when it's the OBJECT: the girl (who) I met</a:t>
            </a:r>
            <a:endParaRPr lang="en-US" sz="1150" dirty="0"/>
          </a:p>
        </p:txBody>
      </p:sp>
      <p:sp>
        <p:nvSpPr>
          <p:cNvPr id="15" name="watch_12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 friend which lives near me → ✓ who   ✗ the man who he works with my father → ✓ who works   ✗ The film, that won an Oscar, … → ✓ which</a:t>
            </a:r>
            <a:endParaRPr lang="en-US" sz="1000" dirty="0"/>
          </a:p>
        </p:txBody>
      </p:sp>
      <p:sp>
        <p:nvSpPr>
          <p:cNvPr id="16" name="pageTag_12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10A p.150 · audio 10.1, 10.2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10A · practice</a:t>
            </a:r>
            <a:endParaRPr lang="en-US" sz="900" dirty="0"/>
          </a:p>
        </p:txBody>
      </p:sp>
      <p:sp>
        <p:nvSpPr>
          <p:cNvPr id="6" name="timer_12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2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128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and check</a:t>
            </a:r>
            <a:endParaRPr lang="en-US" sz="1500" dirty="0"/>
          </a:p>
        </p:txBody>
      </p:sp>
      <p:sp>
        <p:nvSpPr>
          <p:cNvPr id="9" name="post_12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3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3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10A: a 1–6. Then b: where can you use that?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10A: a 1–6. Poi b: dove puoi usare that?</a:t>
            </a:r>
            <a:endParaRPr lang="en-US" sz="1200" dirty="0"/>
          </a:p>
        </p:txBody>
      </p:sp>
      <p:sp>
        <p:nvSpPr>
          <p:cNvPr id="12" name="iconBack_13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33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34"/>
          <p:cNvSpPr txBox="1"/>
          <p:nvPr/>
        </p:nvSpPr>
        <p:spPr>
          <a:xfrm>
            <a:off x="2788920" y="1371600"/>
            <a:ext cx="446593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Rob and Corinna, ___ have twins, often need a babysitter.</a:t>
            </a:r>
            <a:endParaRPr lang="en-US" sz="1150" dirty="0"/>
          </a:p>
        </p:txBody>
      </p:sp>
      <p:sp>
        <p:nvSpPr>
          <p:cNvPr id="15" name="R1_a0"/>
          <p:cNvSpPr txBox="1"/>
          <p:nvPr/>
        </p:nvSpPr>
        <p:spPr>
          <a:xfrm>
            <a:off x="7309714" y="1408176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50" dirty="0"/>
          </a:p>
        </p:txBody>
      </p:sp>
      <p:sp>
        <p:nvSpPr>
          <p:cNvPr id="16" name="box_135"/>
          <p:cNvSpPr txBox="1"/>
          <p:nvPr/>
        </p:nvSpPr>
        <p:spPr>
          <a:xfrm>
            <a:off x="2788920" y="1941576"/>
            <a:ext cx="446593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Downing Street, ___ the British Prime Minister lives, is in central London.</a:t>
            </a:r>
            <a:endParaRPr lang="en-US" sz="950" dirty="0"/>
          </a:p>
        </p:txBody>
      </p:sp>
      <p:sp>
        <p:nvSpPr>
          <p:cNvPr id="17" name="R1_a1"/>
          <p:cNvSpPr txBox="1"/>
          <p:nvPr/>
        </p:nvSpPr>
        <p:spPr>
          <a:xfrm>
            <a:off x="7309714" y="1978152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50" dirty="0"/>
          </a:p>
        </p:txBody>
      </p:sp>
      <p:sp>
        <p:nvSpPr>
          <p:cNvPr id="18" name="box_136"/>
          <p:cNvSpPr txBox="1"/>
          <p:nvPr/>
        </p:nvSpPr>
        <p:spPr>
          <a:xfrm>
            <a:off x="2788920" y="2511552"/>
            <a:ext cx="446593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sandwich ___ you made me for lunch was delicious.</a:t>
            </a:r>
            <a:endParaRPr lang="en-US" sz="1150" dirty="0"/>
          </a:p>
        </p:txBody>
      </p:sp>
      <p:sp>
        <p:nvSpPr>
          <p:cNvPr id="19" name="R1_a2"/>
          <p:cNvSpPr txBox="1"/>
          <p:nvPr/>
        </p:nvSpPr>
        <p:spPr>
          <a:xfrm>
            <a:off x="7309714" y="2548128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(that / –)</a:t>
            </a:r>
            <a:endParaRPr lang="en-US" sz="1150" dirty="0"/>
          </a:p>
        </p:txBody>
      </p:sp>
      <p:sp>
        <p:nvSpPr>
          <p:cNvPr id="20" name="box_137"/>
          <p:cNvSpPr txBox="1"/>
          <p:nvPr/>
        </p:nvSpPr>
        <p:spPr>
          <a:xfrm>
            <a:off x="2788920" y="3081528"/>
            <a:ext cx="446593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woman ___ lived here before us was a writer.</a:t>
            </a:r>
            <a:endParaRPr lang="en-US" sz="1150" dirty="0"/>
          </a:p>
        </p:txBody>
      </p:sp>
      <p:sp>
        <p:nvSpPr>
          <p:cNvPr id="21" name="R1_a3"/>
          <p:cNvSpPr txBox="1"/>
          <p:nvPr/>
        </p:nvSpPr>
        <p:spPr>
          <a:xfrm>
            <a:off x="7309714" y="3118104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(that)</a:t>
            </a:r>
            <a:endParaRPr lang="en-US" sz="1150" dirty="0"/>
          </a:p>
        </p:txBody>
      </p:sp>
      <p:sp>
        <p:nvSpPr>
          <p:cNvPr id="22" name="box_138"/>
          <p:cNvSpPr txBox="1"/>
          <p:nvPr/>
        </p:nvSpPr>
        <p:spPr>
          <a:xfrm>
            <a:off x="2788920" y="3651504"/>
            <a:ext cx="446593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David Bowie, ___ songs inspired us for nearly 50 years, died in 2016.</a:t>
            </a:r>
            <a:endParaRPr lang="en-US" sz="1000" dirty="0"/>
          </a:p>
        </p:txBody>
      </p:sp>
      <p:sp>
        <p:nvSpPr>
          <p:cNvPr id="23" name="R1_a4"/>
          <p:cNvSpPr txBox="1"/>
          <p:nvPr/>
        </p:nvSpPr>
        <p:spPr>
          <a:xfrm>
            <a:off x="7309714" y="3688080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</a:t>
            </a:r>
            <a:endParaRPr lang="en-US" sz="1150" dirty="0"/>
          </a:p>
        </p:txBody>
      </p:sp>
      <p:sp>
        <p:nvSpPr>
          <p:cNvPr id="24" name="box_139"/>
          <p:cNvSpPr txBox="1"/>
          <p:nvPr/>
        </p:nvSpPr>
        <p:spPr>
          <a:xfrm>
            <a:off x="2788920" y="4221480"/>
            <a:ext cx="446593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My computer is a lot faster than the one ___ I used to have.</a:t>
            </a:r>
            <a:endParaRPr lang="en-US" sz="1150" dirty="0"/>
          </a:p>
        </p:txBody>
      </p:sp>
      <p:sp>
        <p:nvSpPr>
          <p:cNvPr id="25" name="R1_a5"/>
          <p:cNvSpPr txBox="1"/>
          <p:nvPr/>
        </p:nvSpPr>
        <p:spPr>
          <a:xfrm>
            <a:off x="7309714" y="4258056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(that / –)</a:t>
            </a:r>
            <a:endParaRPr lang="en-US" sz="1150" dirty="0"/>
          </a:p>
        </p:txBody>
      </p:sp>
      <p:sp>
        <p:nvSpPr>
          <p:cNvPr id="26" name="pageTag_14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10A p.150 · a 1–6, b (a 7–12, c = homework)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Quiz · revision vocabulary</a:t>
            </a:r>
            <a:endParaRPr lang="en-US" sz="900" dirty="0"/>
          </a:p>
        </p:txBody>
      </p:sp>
      <p:sp>
        <p:nvSpPr>
          <p:cNvPr id="6" name="timer_14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14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146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you call…?</a:t>
            </a:r>
            <a:endParaRPr lang="en-US" sz="1500" dirty="0"/>
          </a:p>
        </p:txBody>
      </p:sp>
      <p:sp>
        <p:nvSpPr>
          <p:cNvPr id="9" name="post_1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quiz. Every answer is a word from the course!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Rispondi al quiz. Ogni risposta è una parola del corso!</a:t>
            </a:r>
            <a:endParaRPr lang="en-US" sz="1200" dirty="0"/>
          </a:p>
        </p:txBody>
      </p:sp>
      <p:sp>
        <p:nvSpPr>
          <p:cNvPr id="12" name="box_150"/>
          <p:cNvSpPr txBox="1"/>
          <p:nvPr/>
        </p:nvSpPr>
        <p:spPr>
          <a:xfrm>
            <a:off x="2788920" y="1371600"/>
            <a:ext cx="4345229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person who appears in crowd scenes in films</a:t>
            </a:r>
            <a:endParaRPr lang="en-US" sz="1250" dirty="0"/>
          </a:p>
        </p:txBody>
      </p:sp>
      <p:sp>
        <p:nvSpPr>
          <p:cNvPr id="13" name="R1_a0"/>
          <p:cNvSpPr txBox="1"/>
          <p:nvPr/>
        </p:nvSpPr>
        <p:spPr>
          <a:xfrm>
            <a:off x="7189013" y="1408176"/>
            <a:ext cx="163494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</a:t>
            </a:r>
            <a:endParaRPr lang="en-US" sz="1250" dirty="0"/>
          </a:p>
        </p:txBody>
      </p:sp>
      <p:sp>
        <p:nvSpPr>
          <p:cNvPr id="14" name="box_151"/>
          <p:cNvSpPr txBox="1"/>
          <p:nvPr/>
        </p:nvSpPr>
        <p:spPr>
          <a:xfrm>
            <a:off x="2788920" y="2055571"/>
            <a:ext cx="4345229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place with black and white stripes where you cross the road</a:t>
            </a:r>
            <a:endParaRPr lang="en-US" sz="1250" dirty="0"/>
          </a:p>
        </p:txBody>
      </p:sp>
      <p:sp>
        <p:nvSpPr>
          <p:cNvPr id="15" name="R1_a1"/>
          <p:cNvSpPr txBox="1"/>
          <p:nvPr/>
        </p:nvSpPr>
        <p:spPr>
          <a:xfrm>
            <a:off x="7189013" y="2092147"/>
            <a:ext cx="163494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zebra crossing</a:t>
            </a:r>
            <a:endParaRPr lang="en-US" sz="1250" dirty="0"/>
          </a:p>
        </p:txBody>
      </p:sp>
      <p:sp>
        <p:nvSpPr>
          <p:cNvPr id="16" name="box_152"/>
          <p:cNvSpPr txBox="1"/>
          <p:nvPr/>
        </p:nvSpPr>
        <p:spPr>
          <a:xfrm>
            <a:off x="2788920" y="2739542"/>
            <a:ext cx="4345229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part of the body you use to taste</a:t>
            </a:r>
            <a:endParaRPr lang="en-US" sz="1250" dirty="0"/>
          </a:p>
        </p:txBody>
      </p:sp>
      <p:sp>
        <p:nvSpPr>
          <p:cNvPr id="17" name="R1_a2"/>
          <p:cNvSpPr txBox="1"/>
          <p:nvPr/>
        </p:nvSpPr>
        <p:spPr>
          <a:xfrm>
            <a:off x="7189013" y="2776118"/>
            <a:ext cx="163494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tongue</a:t>
            </a:r>
            <a:endParaRPr lang="en-US" sz="1250" dirty="0"/>
          </a:p>
        </p:txBody>
      </p:sp>
      <p:sp>
        <p:nvSpPr>
          <p:cNvPr id="18" name="box_153"/>
          <p:cNvSpPr txBox="1"/>
          <p:nvPr/>
        </p:nvSpPr>
        <p:spPr>
          <a:xfrm>
            <a:off x="2788920" y="3423514"/>
            <a:ext cx="4345229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thing which covers the top of a house</a:t>
            </a:r>
            <a:endParaRPr lang="en-US" sz="1250" dirty="0"/>
          </a:p>
        </p:txBody>
      </p:sp>
      <p:sp>
        <p:nvSpPr>
          <p:cNvPr id="19" name="R1_a3"/>
          <p:cNvSpPr txBox="1"/>
          <p:nvPr/>
        </p:nvSpPr>
        <p:spPr>
          <a:xfrm>
            <a:off x="7189013" y="3460090"/>
            <a:ext cx="163494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roof</a:t>
            </a:r>
            <a:endParaRPr lang="en-US" sz="1250" dirty="0"/>
          </a:p>
        </p:txBody>
      </p:sp>
      <p:sp>
        <p:nvSpPr>
          <p:cNvPr id="20" name="box_154"/>
          <p:cNvSpPr txBox="1"/>
          <p:nvPr/>
        </p:nvSpPr>
        <p:spPr>
          <a:xfrm>
            <a:off x="2788920" y="4107485"/>
            <a:ext cx="4345229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man who a woman is going to marry</a:t>
            </a:r>
            <a:endParaRPr lang="en-US" sz="1250" dirty="0"/>
          </a:p>
        </p:txBody>
      </p:sp>
      <p:sp>
        <p:nvSpPr>
          <p:cNvPr id="21" name="R1_a4"/>
          <p:cNvSpPr txBox="1"/>
          <p:nvPr/>
        </p:nvSpPr>
        <p:spPr>
          <a:xfrm>
            <a:off x="7189013" y="4144061"/>
            <a:ext cx="163494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fiancé</a:t>
            </a:r>
            <a:endParaRPr lang="en-US" sz="1250" dirty="0"/>
          </a:p>
        </p:txBody>
      </p:sp>
      <p:sp>
        <p:nvSpPr>
          <p:cNvPr id="22" name="pageTag_15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p.97 · 3a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Communicative photocopiable 10A</a:t>
            </a:r>
            <a:endParaRPr lang="en-US" sz="900" dirty="0"/>
          </a:p>
        </p:txBody>
      </p:sp>
      <p:sp>
        <p:nvSpPr>
          <p:cNvPr id="6" name="timer_1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16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161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Relative clauses quiz</a:t>
            </a:r>
            <a:endParaRPr lang="en-US" sz="1500" dirty="0"/>
          </a:p>
        </p:txBody>
      </p:sp>
      <p:sp>
        <p:nvSpPr>
          <p:cNvPr id="9" name="post_16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16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B: complete your questions. Then quiz your partner!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B: completate le domande. Poi fate il quiz al compagno!</a:t>
            </a:r>
            <a:endParaRPr lang="en-US" sz="1200" dirty="0"/>
          </a:p>
        </p:txBody>
      </p:sp>
      <p:sp>
        <p:nvSpPr>
          <p:cNvPr id="12" name="iconBack_16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66" descr="pi:Pi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67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68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half of the sheet (A or B). Don't show it to your partner!</a:t>
            </a:r>
            <a:endParaRPr lang="en-US" sz="1250" dirty="0"/>
          </a:p>
        </p:txBody>
      </p:sp>
      <p:sp>
        <p:nvSpPr>
          <p:cNvPr id="16" name="num_169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70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question with who, which, where or whose.</a:t>
            </a:r>
            <a:endParaRPr lang="en-US" sz="1250" dirty="0"/>
          </a:p>
        </p:txBody>
      </p:sp>
      <p:sp>
        <p:nvSpPr>
          <p:cNvPr id="18" name="num_171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72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Can you tell me the sport which is played at Wimbledon?</a:t>
            </a:r>
            <a:endParaRPr lang="en-US" sz="1250" dirty="0"/>
          </a:p>
        </p:txBody>
      </p:sp>
      <p:sp>
        <p:nvSpPr>
          <p:cNvPr id="20" name="num_173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74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with no help = 3 points. Wrong? Give the three options: correct now = 1 point.</a:t>
            </a:r>
            <a:endParaRPr lang="en-US" sz="1000" dirty="0"/>
          </a:p>
        </p:txBody>
      </p:sp>
      <p:sp>
        <p:nvSpPr>
          <p:cNvPr id="22" name="num_175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176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Swap: B asks A. Who wins?</a:t>
            </a:r>
            <a:endParaRPr lang="en-US" sz="1250" dirty="0"/>
          </a:p>
        </p:txBody>
      </p:sp>
      <p:sp>
        <p:nvSpPr>
          <p:cNvPr id="24" name="bubble_17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tell me the name of the artist whose most famous work was the Mona Lisa?</a:t>
            </a:r>
            <a:endParaRPr lang="en-US" sz="1100" dirty="0"/>
          </a:p>
        </p:txBody>
      </p:sp>
      <p:sp>
        <p:nvSpPr>
          <p:cNvPr id="25" name="pageTag_17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📄 Print: B1_10A_Photocopiables.pdf, page 2 · Teacher: Communicative photocopiable 10A p.196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WRITING · A biography · p.124</a:t>
            </a:r>
            <a:endParaRPr lang="en-US" sz="900" dirty="0"/>
          </a:p>
        </p:txBody>
      </p:sp>
      <p:sp>
        <p:nvSpPr>
          <p:cNvPr id="6" name="timer_18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8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title_184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Umberto Eco: add the info</a:t>
            </a:r>
            <a:endParaRPr lang="en-US" sz="1500" dirty="0"/>
          </a:p>
        </p:txBody>
      </p:sp>
      <p:sp>
        <p:nvSpPr>
          <p:cNvPr id="9" name="post_18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8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8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biography on p.124. Add the extra information (2–7).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la biografia a p.124. Aggiungi le informazioni (2–7).</a:t>
            </a:r>
            <a:endParaRPr lang="en-US" sz="1200" dirty="0"/>
          </a:p>
        </p:txBody>
      </p:sp>
      <p:sp>
        <p:nvSpPr>
          <p:cNvPr id="12" name="iconBack_18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89" descr="pi:PiPenNi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90"/>
          <p:cNvSpPr txBox="1"/>
          <p:nvPr/>
        </p:nvSpPr>
        <p:spPr>
          <a:xfrm>
            <a:off x="2788920" y="1371600"/>
            <a:ext cx="301752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After he graduated, he worked for RAI, …</a:t>
            </a:r>
            <a:endParaRPr lang="en-US" sz="1100" dirty="0"/>
          </a:p>
        </p:txBody>
      </p:sp>
      <p:sp>
        <p:nvSpPr>
          <p:cNvPr id="15" name="R1_a0"/>
          <p:cNvSpPr txBox="1"/>
          <p:nvPr/>
        </p:nvSpPr>
        <p:spPr>
          <a:xfrm>
            <a:off x="5861304" y="140817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 became friends with artists, painters, musicians, and writers</a:t>
            </a:r>
            <a:endParaRPr lang="en-US" sz="1000" dirty="0"/>
          </a:p>
        </p:txBody>
      </p:sp>
      <p:sp>
        <p:nvSpPr>
          <p:cNvPr id="16" name="box_191"/>
          <p:cNvSpPr txBox="1"/>
          <p:nvPr/>
        </p:nvSpPr>
        <p:spPr>
          <a:xfrm>
            <a:off x="2788920" y="1941576"/>
            <a:ext cx="301752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 September 1962, he married Renate Ramge, …</a:t>
            </a:r>
            <a:endParaRPr lang="en-US" sz="950" dirty="0"/>
          </a:p>
        </p:txBody>
      </p:sp>
      <p:sp>
        <p:nvSpPr>
          <p:cNvPr id="17" name="R1_a1"/>
          <p:cNvSpPr txBox="1"/>
          <p:nvPr/>
        </p:nvSpPr>
        <p:spPr>
          <a:xfrm>
            <a:off x="5861304" y="1978152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 German art teacher</a:t>
            </a:r>
            <a:endParaRPr lang="en-US" sz="1050" dirty="0"/>
          </a:p>
        </p:txBody>
      </p:sp>
      <p:sp>
        <p:nvSpPr>
          <p:cNvPr id="18" name="box_192"/>
          <p:cNvSpPr txBox="1"/>
          <p:nvPr/>
        </p:nvSpPr>
        <p:spPr>
          <a:xfrm>
            <a:off x="2788920" y="2511552"/>
            <a:ext cx="301752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They lived in an apartment in Milan, …</a:t>
            </a:r>
            <a:endParaRPr lang="en-US" sz="1100" dirty="0"/>
          </a:p>
        </p:txBody>
      </p:sp>
      <p:sp>
        <p:nvSpPr>
          <p:cNvPr id="19" name="R1_a2"/>
          <p:cNvSpPr txBox="1"/>
          <p:nvPr/>
        </p:nvSpPr>
        <p:spPr>
          <a:xfrm>
            <a:off x="5861304" y="2548128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Eco had a library of 30,000 books</a:t>
            </a:r>
            <a:endParaRPr lang="en-US" sz="1050" dirty="0"/>
          </a:p>
        </p:txBody>
      </p:sp>
      <p:sp>
        <p:nvSpPr>
          <p:cNvPr id="20" name="box_193"/>
          <p:cNvSpPr txBox="1"/>
          <p:nvPr/>
        </p:nvSpPr>
        <p:spPr>
          <a:xfrm>
            <a:off x="2788920" y="3081528"/>
            <a:ext cx="301752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Eco is best known for his novel The Name of the Rose, …</a:t>
            </a:r>
            <a:endParaRPr lang="en-US" sz="900" dirty="0"/>
          </a:p>
        </p:txBody>
      </p:sp>
      <p:sp>
        <p:nvSpPr>
          <p:cNvPr id="21" name="R1_a3"/>
          <p:cNvSpPr txBox="1"/>
          <p:nvPr/>
        </p:nvSpPr>
        <p:spPr>
          <a:xfrm>
            <a:off x="5861304" y="3118104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was published in 1980 and made into a film six years later</a:t>
            </a:r>
            <a:endParaRPr lang="en-US" sz="1000" dirty="0"/>
          </a:p>
        </p:txBody>
      </p:sp>
      <p:sp>
        <p:nvSpPr>
          <p:cNvPr id="22" name="box_194"/>
          <p:cNvSpPr txBox="1"/>
          <p:nvPr/>
        </p:nvSpPr>
        <p:spPr>
          <a:xfrm>
            <a:off x="2788920" y="3651504"/>
            <a:ext cx="301752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 book, …, is a murder mystery set in a 14th-century monastery.</a:t>
            </a:r>
            <a:endParaRPr lang="en-US" sz="900" dirty="0"/>
          </a:p>
        </p:txBody>
      </p:sp>
      <p:sp>
        <p:nvSpPr>
          <p:cNvPr id="23" name="R1_a4"/>
          <p:cNvSpPr txBox="1"/>
          <p:nvPr/>
        </p:nvSpPr>
        <p:spPr>
          <a:xfrm>
            <a:off x="5861304" y="3688080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sold 15 million copies and made him a literary star</a:t>
            </a:r>
            <a:endParaRPr lang="en-US" sz="1000" dirty="0"/>
          </a:p>
        </p:txBody>
      </p:sp>
      <p:sp>
        <p:nvSpPr>
          <p:cNvPr id="24" name="box_195"/>
          <p:cNvSpPr txBox="1"/>
          <p:nvPr/>
        </p:nvSpPr>
        <p:spPr>
          <a:xfrm>
            <a:off x="2788920" y="4221480"/>
            <a:ext cx="301752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Eco, …, died in Milan in 2016.</a:t>
            </a:r>
            <a:endParaRPr lang="en-US" sz="1100" dirty="0"/>
          </a:p>
        </p:txBody>
      </p:sp>
      <p:sp>
        <p:nvSpPr>
          <p:cNvPr id="25" name="R1_a5"/>
          <p:cNvSpPr txBox="1"/>
          <p:nvPr/>
        </p:nvSpPr>
        <p:spPr>
          <a:xfrm>
            <a:off x="5861304" y="425805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had been diagnosed with cancer</a:t>
            </a:r>
            <a:endParaRPr lang="en-US" sz="1050" dirty="0"/>
          </a:p>
        </p:txBody>
      </p:sp>
      <p:sp>
        <p:nvSpPr>
          <p:cNvPr id="26" name="pageTag_19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p.124 · Writing A biography · 4a, 4b (4c = homework)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9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6" name="title_20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01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02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short biographies of famous people.</a:t>
            </a:r>
            <a:endParaRPr lang="en-US" sz="1300" dirty="0"/>
          </a:p>
        </p:txBody>
      </p:sp>
      <p:sp>
        <p:nvSpPr>
          <p:cNvPr id="9" name="faces_203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04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defining and non-defining relative clauses.</a:t>
            </a:r>
            <a:endParaRPr lang="en-US" sz="1300" dirty="0"/>
          </a:p>
        </p:txBody>
      </p:sp>
      <p:sp>
        <p:nvSpPr>
          <p:cNvPr id="11" name="faces_205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06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add extra information to a biography.</a:t>
            </a:r>
            <a:endParaRPr lang="en-US" sz="1350" dirty="0"/>
          </a:p>
        </p:txBody>
      </p:sp>
      <p:sp>
        <p:nvSpPr>
          <p:cNvPr id="13" name="faces_207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08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10A: 1a, 1b, 1c, 1d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Grammar Bank 10A: a 7–12, c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Writing p.124: a biography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10A-1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09"/>
          <p:cNvSpPr txBox="1"/>
          <p:nvPr/>
        </p:nvSpPr>
        <p:spPr>
          <a:xfrm>
            <a:off x="365760" y="3657600"/>
            <a:ext cx="5486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10A part 2 · Design icons · Compound nouns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1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</a:t>
            </a:r>
            <a:endParaRPr lang="en-US" sz="900" dirty="0"/>
          </a:p>
        </p:txBody>
      </p:sp>
      <p:sp>
        <p:nvSpPr>
          <p:cNvPr id="6" name="timer_21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1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1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9" name="title_216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it – who, which, where</a:t>
            </a:r>
            <a:endParaRPr lang="en-US" sz="1500" dirty="0"/>
          </a:p>
        </p:txBody>
      </p:sp>
      <p:sp>
        <p:nvSpPr>
          <p:cNvPr id="10" name="post_21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1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1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word: who, which, where!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Definisci la parola: who, which, where!</a:t>
            </a:r>
            <a:endParaRPr lang="en-US" sz="1250" dirty="0"/>
          </a:p>
        </p:txBody>
      </p:sp>
      <p:sp>
        <p:nvSpPr>
          <p:cNvPr id="13" name="n_220"/>
          <p:cNvSpPr txBox="1"/>
          <p:nvPr/>
        </p:nvSpPr>
        <p:spPr>
          <a:xfrm>
            <a:off x="2834640" y="139903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t_221"/>
          <p:cNvSpPr txBox="1"/>
          <p:nvPr/>
        </p:nvSpPr>
        <p:spPr>
          <a:xfrm>
            <a:off x="3310128" y="1325880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DEFINER stands facing the screen, back to the class.</a:t>
            </a:r>
            <a:endParaRPr lang="en-US" sz="1400" dirty="0"/>
          </a:p>
        </p:txBody>
      </p:sp>
      <p:sp>
        <p:nvSpPr>
          <p:cNvPr id="15" name="n_222"/>
          <p:cNvSpPr txBox="1"/>
          <p:nvPr/>
        </p:nvSpPr>
        <p:spPr>
          <a:xfrm>
            <a:off x="2834640" y="202082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t_223"/>
          <p:cNvSpPr txBox="1"/>
          <p:nvPr/>
        </p:nvSpPr>
        <p:spPr>
          <a:xfrm>
            <a:off x="3310128" y="1947672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else: you must NOT see the screen – turn round or close your eyes!</a:t>
            </a:r>
            <a:endParaRPr lang="en-US" sz="1250" dirty="0"/>
          </a:p>
        </p:txBody>
      </p:sp>
      <p:sp>
        <p:nvSpPr>
          <p:cNvPr id="17" name="n_224"/>
          <p:cNvSpPr txBox="1"/>
          <p:nvPr/>
        </p:nvSpPr>
        <p:spPr>
          <a:xfrm>
            <a:off x="2834640" y="26426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t_225"/>
          <p:cNvSpPr txBox="1"/>
          <p:nvPr/>
        </p:nvSpPr>
        <p:spPr>
          <a:xfrm>
            <a:off x="3310128" y="2569464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clicks → a secret word. Define it with a relative clause: It's a place where…</a:t>
            </a:r>
            <a:endParaRPr lang="en-US" sz="1250" dirty="0"/>
          </a:p>
        </p:txBody>
      </p:sp>
      <p:sp>
        <p:nvSpPr>
          <p:cNvPr id="19" name="n_226"/>
          <p:cNvSpPr txBox="1"/>
          <p:nvPr/>
        </p:nvSpPr>
        <p:spPr>
          <a:xfrm>
            <a:off x="2834640" y="326440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t_227"/>
          <p:cNvSpPr txBox="1"/>
          <p:nvPr/>
        </p:nvSpPr>
        <p:spPr>
          <a:xfrm>
            <a:off x="3310128" y="3191256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definer's team guesses. Correct = 1 point. A red word = 0.</a:t>
            </a:r>
            <a:endParaRPr lang="en-US" sz="1400" dirty="0"/>
          </a:p>
        </p:txBody>
      </p:sp>
      <p:sp>
        <p:nvSpPr>
          <p:cNvPr id="21" name="n_228"/>
          <p:cNvSpPr txBox="1"/>
          <p:nvPr/>
        </p:nvSpPr>
        <p:spPr>
          <a:xfrm>
            <a:off x="2834640" y="3886200"/>
            <a:ext cx="384048" cy="384048"/>
          </a:xfrm>
          <a:prstGeom prst="ellipse">
            <a:avLst/>
          </a:prstGeom>
          <a:solidFill>
            <a:srgbClr val="062F67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t_229"/>
          <p:cNvSpPr txBox="1"/>
          <p:nvPr/>
        </p:nvSpPr>
        <p:spPr>
          <a:xfrm>
            <a:off x="3310128" y="3813048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card = the other team.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 · card 1 of 6</a:t>
            </a:r>
            <a:endParaRPr lang="en-US" sz="900" dirty="0"/>
          </a:p>
        </p:txBody>
      </p:sp>
      <p:sp>
        <p:nvSpPr>
          <p:cNvPr id="6" name="extra_23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3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warn_235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DENTIST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 · doctor · mouth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 · card 2 of 6</a:t>
            </a:r>
            <a:endParaRPr lang="en-US" sz="900" dirty="0"/>
          </a:p>
        </p:txBody>
      </p:sp>
      <p:sp>
        <p:nvSpPr>
          <p:cNvPr id="6" name="extra_23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warn_241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LIBRARY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· read · borrow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 · card 3 of 6</a:t>
            </a:r>
            <a:endParaRPr lang="en-US" sz="900" dirty="0"/>
          </a:p>
        </p:txBody>
      </p:sp>
      <p:sp>
        <p:nvSpPr>
          <p:cNvPr id="6" name="extra_24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4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warn_247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REMOTE CONTROL</a:t>
            </a:r>
            <a:endParaRPr lang="en-US" sz="3200" dirty="0"/>
          </a:p>
        </p:txBody>
      </p:sp>
      <p:sp>
        <p:nvSpPr>
          <p:cNvPr id="11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· channel · change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 · card 4 of 6</a:t>
            </a:r>
            <a:endParaRPr lang="en-US" sz="900" dirty="0"/>
          </a:p>
        </p:txBody>
      </p:sp>
      <p:sp>
        <p:nvSpPr>
          <p:cNvPr id="6" name="extra_251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5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warn_253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AIRPORT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· fly · travel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5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 · card 5 of 6</a:t>
            </a:r>
            <a:endParaRPr lang="en-US" sz="900" dirty="0"/>
          </a:p>
        </p:txBody>
      </p:sp>
      <p:sp>
        <p:nvSpPr>
          <p:cNvPr id="6" name="extra_25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5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warn_259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WITNESS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· crime · police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Define it! · card 6 of 6</a:t>
            </a:r>
            <a:endParaRPr lang="en-US" sz="900" dirty="0"/>
          </a:p>
        </p:txBody>
      </p:sp>
      <p:sp>
        <p:nvSpPr>
          <p:cNvPr id="6" name="extra_26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6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8" name="warn_265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CHARGER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battery · plug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Grammar photocopiable 10A</a:t>
            </a:r>
            <a:endParaRPr lang="en-US" sz="900" dirty="0"/>
          </a:p>
        </p:txBody>
      </p:sp>
      <p:sp>
        <p:nvSpPr>
          <p:cNvPr id="6" name="timer_26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extra_27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7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9" name="title_272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sentences</a:t>
            </a:r>
            <a:endParaRPr lang="en-US" sz="1500" dirty="0"/>
          </a:p>
        </p:txBody>
      </p:sp>
      <p:sp>
        <p:nvSpPr>
          <p:cNvPr id="10" name="post_27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7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Handout: a – who, which, where, whose? · c – join the sentences.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Scheda: a – who, which, where, whose? · c – unisci le frasi.</a:t>
            </a:r>
            <a:endParaRPr lang="en-US" sz="1200" dirty="0"/>
          </a:p>
        </p:txBody>
      </p:sp>
      <p:sp>
        <p:nvSpPr>
          <p:cNvPr id="13" name="iconBack_27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77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78"/>
          <p:cNvSpPr txBox="1"/>
          <p:nvPr/>
        </p:nvSpPr>
        <p:spPr>
          <a:xfrm>
            <a:off x="2788920" y="1371600"/>
            <a:ext cx="301752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Sydney, …, is well known for its Opera House and Harbour Bridge. (Many people think it's the capital of Australia.)</a:t>
            </a:r>
            <a:endParaRPr lang="en-US" sz="800" dirty="0"/>
          </a:p>
        </p:txBody>
      </p:sp>
      <p:sp>
        <p:nvSpPr>
          <p:cNvPr id="16" name="R1_a0"/>
          <p:cNvSpPr txBox="1"/>
          <p:nvPr/>
        </p:nvSpPr>
        <p:spPr>
          <a:xfrm>
            <a:off x="5861304" y="1408176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many people think is the capital of Australia</a:t>
            </a:r>
            <a:endParaRPr lang="en-US" sz="1050" dirty="0"/>
          </a:p>
        </p:txBody>
      </p:sp>
      <p:sp>
        <p:nvSpPr>
          <p:cNvPr id="17" name="box_279"/>
          <p:cNvSpPr txBox="1"/>
          <p:nvPr/>
        </p:nvSpPr>
        <p:spPr>
          <a:xfrm>
            <a:off x="2788920" y="2055571"/>
            <a:ext cx="301752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Our local post office, …, has closed down. (My grandmother used to work there.)</a:t>
            </a:r>
            <a:endParaRPr lang="en-US" sz="1100" dirty="0"/>
          </a:p>
        </p:txBody>
      </p:sp>
      <p:sp>
        <p:nvSpPr>
          <p:cNvPr id="18" name="R2_a1"/>
          <p:cNvSpPr txBox="1"/>
          <p:nvPr/>
        </p:nvSpPr>
        <p:spPr>
          <a:xfrm>
            <a:off x="5861304" y="2092147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my grandmother used to work</a:t>
            </a:r>
            <a:endParaRPr lang="en-US" sz="1050" dirty="0"/>
          </a:p>
        </p:txBody>
      </p:sp>
      <p:sp>
        <p:nvSpPr>
          <p:cNvPr id="19" name="box_280"/>
          <p:cNvSpPr txBox="1"/>
          <p:nvPr/>
        </p:nvSpPr>
        <p:spPr>
          <a:xfrm>
            <a:off x="2788920" y="2739542"/>
            <a:ext cx="301752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Pablo Picasso, …, was one of the world's most famous artists. (His best-known painting is Guernica.)</a:t>
            </a:r>
            <a:endParaRPr lang="en-US" sz="900" dirty="0"/>
          </a:p>
        </p:txBody>
      </p:sp>
      <p:sp>
        <p:nvSpPr>
          <p:cNvPr id="20" name="R3_a2"/>
          <p:cNvSpPr txBox="1"/>
          <p:nvPr/>
        </p:nvSpPr>
        <p:spPr>
          <a:xfrm>
            <a:off x="5861304" y="2776118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best-known painting is Guernica</a:t>
            </a:r>
            <a:endParaRPr lang="en-US" sz="1050" dirty="0"/>
          </a:p>
        </p:txBody>
      </p:sp>
      <p:sp>
        <p:nvSpPr>
          <p:cNvPr id="21" name="box_281"/>
          <p:cNvSpPr txBox="1"/>
          <p:nvPr/>
        </p:nvSpPr>
        <p:spPr>
          <a:xfrm>
            <a:off x="2788920" y="3423514"/>
            <a:ext cx="301752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hurricane, …, was the worst storm for over a century. (It hit the city of New Orleans.)</a:t>
            </a:r>
            <a:endParaRPr lang="en-US" sz="1050" dirty="0"/>
          </a:p>
        </p:txBody>
      </p:sp>
      <p:sp>
        <p:nvSpPr>
          <p:cNvPr id="22" name="R4_a3"/>
          <p:cNvSpPr txBox="1"/>
          <p:nvPr/>
        </p:nvSpPr>
        <p:spPr>
          <a:xfrm>
            <a:off x="5861304" y="3460090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hit the city of New Orleans</a:t>
            </a:r>
            <a:endParaRPr lang="en-US" sz="1050" dirty="0"/>
          </a:p>
        </p:txBody>
      </p:sp>
      <p:sp>
        <p:nvSpPr>
          <p:cNvPr id="23" name="box_282"/>
          <p:cNvSpPr txBox="1"/>
          <p:nvPr/>
        </p:nvSpPr>
        <p:spPr>
          <a:xfrm>
            <a:off x="2788920" y="4107485"/>
            <a:ext cx="301752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Mozart, …, was an extremely talented composer. (He died when he was 35.)</a:t>
            </a:r>
            <a:endParaRPr lang="en-US" sz="1100" dirty="0"/>
          </a:p>
        </p:txBody>
      </p:sp>
      <p:sp>
        <p:nvSpPr>
          <p:cNvPr id="24" name="R5_a4"/>
          <p:cNvSpPr txBox="1"/>
          <p:nvPr/>
        </p:nvSpPr>
        <p:spPr>
          <a:xfrm>
            <a:off x="5861304" y="4144061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died when he was 35</a:t>
            </a:r>
            <a:endParaRPr lang="en-US" sz="1050" dirty="0"/>
          </a:p>
        </p:txBody>
      </p:sp>
      <p:sp>
        <p:nvSpPr>
          <p:cNvPr id="25" name="pageTag_28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📄 Print: B1_10A_Photocopiables.pdf, page 1 · Teacher: Grammar photocopiable 10A p.167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8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8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8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Memory</a:t>
            </a:r>
            <a:endParaRPr lang="en-US" sz="900" dirty="0"/>
          </a:p>
        </p:txBody>
      </p:sp>
      <p:sp>
        <p:nvSpPr>
          <p:cNvPr id="6" name="timer_28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88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8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· Part 1</a:t>
            </a:r>
            <a:endParaRPr lang="en-US" sz="1000" dirty="0"/>
          </a:p>
        </p:txBody>
      </p:sp>
      <p:sp>
        <p:nvSpPr>
          <p:cNvPr id="9" name="title_29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you remember?</a:t>
            </a:r>
            <a:endParaRPr lang="en-US" sz="1500" dirty="0"/>
          </a:p>
        </p:txBody>
      </p:sp>
      <p:sp>
        <p:nvSpPr>
          <p:cNvPr id="10" name="post_29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9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9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texts covered. B: texts open. A says everything about 1–5!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testi coperti. B: testi aperti. A dice tutto su 1–5!</a:t>
            </a:r>
            <a:endParaRPr lang="en-US" sz="1200" dirty="0"/>
          </a:p>
        </p:txBody>
      </p:sp>
      <p:sp>
        <p:nvSpPr>
          <p:cNvPr id="13" name="iconBack_29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95" descr="pi:Pi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96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97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Pairs. A covers the texts and looks only at the photos on pp.96–97.</a:t>
            </a:r>
            <a:endParaRPr lang="en-US" sz="1300" dirty="0"/>
          </a:p>
        </p:txBody>
      </p:sp>
      <p:sp>
        <p:nvSpPr>
          <p:cNvPr id="17" name="num_298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99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says one sentence with a relative clause about person 1: Bowie was the singer who…</a:t>
            </a:r>
            <a:endParaRPr lang="en-US" sz="1300" dirty="0"/>
          </a:p>
        </p:txBody>
      </p:sp>
      <p:sp>
        <p:nvSpPr>
          <p:cNvPr id="19" name="num_300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301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(texts open) helps and adds information.</a:t>
            </a:r>
            <a:endParaRPr lang="en-US" sz="1300" dirty="0"/>
          </a:p>
        </p:txBody>
      </p:sp>
      <p:sp>
        <p:nvSpPr>
          <p:cNvPr id="21" name="num_302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303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people 1–5, then swap roles for 6–9.</a:t>
            </a:r>
            <a:endParaRPr lang="en-US" sz="1300" dirty="0"/>
          </a:p>
        </p:txBody>
      </p:sp>
      <p:sp>
        <p:nvSpPr>
          <p:cNvPr id="23" name="bubble_304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Zaha Hadid was the architect whose Aquatic Centre was built for the 2012 Olympics.</a:t>
            </a:r>
            <a:endParaRPr lang="en-US" sz="1100" dirty="0"/>
          </a:p>
        </p:txBody>
      </p:sp>
      <p:sp>
        <p:nvSpPr>
          <p:cNvPr id="24" name="pageTag_30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p.97 · 2c + TG Extra idea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10A-1 Idols and icons</dc:title>
  <dc:subject>PptxGenJS Presentation</dc:subject>
  <dc:creator>London Language School</dc:creator>
  <cp:lastModifiedBy>London Language School</cp:lastModifiedBy>
  <cp:revision>1</cp:revision>
  <dcterms:created xsi:type="dcterms:W3CDTF">2026-10-05T09:39:24Z</dcterms:created>
  <dcterms:modified xsi:type="dcterms:W3CDTF">2026-10-05T09:39:24Z</dcterms:modified>
</cp:coreProperties>
</file>