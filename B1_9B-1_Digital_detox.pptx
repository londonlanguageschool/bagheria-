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9B PART 1 (60 min) · SB pp.90–91. Aims: electronic devices (1b) and phrasal verbs for using them (switch it on, turn it down…); linking + -ed endings; listen to journalist Anna Magee's three-day digital detox; discuss whether we could live without the internet. Timing: cover 2 · revision 5 · devices 7 · phrasal verbs 6 · linking 4 · tech habits 4 · detox article 4 · listening 9.12 3 · listening 9.13 9 · debate 4 · game 6 · exit 3 = 57 min. Click 1: the question; take two or three quick answers (hands up: Could you? Yes / No / Maybe) before click 2.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9A part 2 (5 min). VARIATION: odd one out (with a phonological item and a content item). Pairs; 40 seconds per line; they must give a REASON — no reason, no point. Click once per line to show its answer (one per click). 1 comfortable is an adjective; luckily, carefully, patiently are adverbs. 2 all four are negative, but careless uses the suffix -less; the others use the prefixes un- / im-. 3 stress: LUCKy, COMfortable (only 3 syllables: /ˈkʌmftəbl/), CAREful, imPAtient. 4 and 5 recall Richard Wiseman's article (SB pp.88–89): lucky people are relaxed, listen to their intuition, keep going and learn from their mistakes; unlucky people give up before they have begun. His research showed luck is NOT a magical ability or random chance, and people are not born lucky or unlucky — they create their luck by the way they think and behave. Fast finishers: make the adverb from each adjective in line 3 (luckily, comfortably, carefully, impatiently). (Unit 9 revision formats: 9A-1 number memory · 9A-2 beat the clock · 9B-1 odd one out · 9B-2 answers first – no repeats.)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(7 min). 1a (1 min): elicit device /dɪˈvaɪs/, plural devices /dɪˈvaɪsɪz/; whole class: Which device do you use most? 1b (2 min): pairs match the words and the photos on p.90 (a memory stick is done as the example). 1c: play 9.9 to check (answers in the key: 1 a memory stick · 2 an adaptor · 3 a router · 4 a charger · 5 a keyboard · 6 a plug · 7 a switch · 8 a printer · 9 a speaker · 10 a remote control · 11 a socket · 12 a USB cable · 13 a mouse). Play again for repetition. This slide = the same 13 words (order as in the audio). Click 1 shows the Italian. Pronunciation: router /ˈruːtə/ (the book's phonetics, British; Italians often say /ˈraʊtər/ – the American pronunciation), adaptor stressed on the 2nd syllable /əˈdæptə/, socket /ˈsɒkɪt/. Watch out: plug (spina) ≠ socket (presa). VARIATION: memory disruption (TG optional lead-in) — after the drill, pairs look at the slide for 20 seconds, then the teacher switches the projector off (or covers the screen): How many devices can you write in 1 minute? Then pairs test each other covering the words in the book. EXTRA CHALLENGE (TG): other tech words — a screen, a joystick, hardware,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PHRASAL VERBS (6 min). 1d (3 min): students match 1–10 with A–J on p.90, then compare with a partner. 1e: play 9.10 to check. The slide shows the book's sentences 1–10 and, on click 1, the answers (from audio 9.10): book key 1 H · 2 F · 3 D · 4 A · 5 G · 6 I · 7 J · 8 C · 9 E · 10 B. Vocabulary notes (TG): switch on / off = turn on / off (same meaning today), but only TURN up / down for volume, heating, etc. VARIATION: reverse the obvious — after checking, the teacher says the phrasal verb (I unplugged it!) and pairs race to say the situation; then a student takes the teacher's role. Point out the object pronoun in the middle: switch it on ✓ — switch on it ✗ (this is the Separable phrasal verbs box, next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(4 min). 1f: go through the Separable phrasal verbs box: with a pronoun, the pronoun goes between the verb and the particle (switch it on, NOT switch on it); with a noun both orders are possible (switch on the TV / switch the TV on). Play 9.11 (sentences A–J): students listen and notice the linking; after each phrase elicit /t/, /d/ or /ɪd/ (TG) — click once per group to check. Pronunciation notes (TG): it + particle are linked, and the linking helps you hear the -ed; in turned it down, it and down are linked because the sounds /t/ and /d/ are very similar. Play again: listen and repeat; then individuals. Finally (TG): students cover A–J, look at 1–10 and say A–J from memory. VARIATION: change the energy — whisper it, shout it, say it sadly (I deleted it…).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(4 min). 1g: go through questions 1–5 (the book's); pairs ask and answer and give reasons (TG). VARIATION: forced choice – for questions 1 and 2 'both' and 'it depends' are banned. Then the teacher asks 2–3 students: 'Who in your house always turns the heating up?' Q4 culture point: Italian plugs have 2 or 3 round pins (type F / L), British plugs 3 rectangular pins – so yes, you need a travel adaptor in the UK! Listen for the separable phrasal verbs with it (I turn it up / I switch it off…).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(4 min). 2a (1 min, line 1 = the book's question): teach to be addicted to something (= unable to stop using or doing something as a habit). Pairs or whole class. 2b (2 min): students read the short article 'Less time online: millions of Britons take digital detox' on p.91 and answer questions 1–3 in pairs (lines 2–4; 3 is shortened – the book adds: Do you enjoy life more when you're 'unplugged'?). Article facts: phone stacking = friends put their phones in the middle of the table when they go out for a coffee or a meal and agree not to look at them – the first person who looks pays the bill! · 34% of internet users have taken a break from their devices in the last 12 months · the under-25s are most likely to 'unplug'; 33% said they got more done and 21% enjoyed life more; only 8% found it 'stressful' (study by Ofcom). Click 1 for the answers from the TG: 1 a digital detox = taking a break from technology, e.g. switching off or not using digital devices · 2 opinion · 3 unplug = 'disconnect from technology'. Last line = PREDICTION for the listening: each pair writes one positive and one negative thing that might happen to someone with no phone for three days. Keep them on the board. VARIATION: prediction + personalisation with boundaries (nobody has to say how many hours a day they use their phone).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(3 min). 2c: Australian journalist Anna Magee went on a three-day digital detox course run by the organization Time to Log Off (the photos on p.91). Play 9.12 once (five things she said). Students decide positive or negative — listen to her TONE, not only the words. Compare, click 1 for answers (TG / audio script): 1 negative · 2 positive · 3 positive · 4 negative · 5 positive. Check: cut off = isolated; panicky = very anxious. Did any of the class's predictions come up?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(9 min). 2d: play 9.13 once – on the whole, did she feel it was a positive or negative experience? (TG: positive). 2e: students read sentences 1–8 (the book's, on the slide), then listen again and mark T / F, correcting the false ones (pause if necessary). Click 1 for all answers. TG answers: 1 F (one in three UK adults checks their phone in the middle of the night) · 2 T · 3 T · 4 F (the second evening she felt very disconnected and lonely and burst into tears during yoga) · 5 T · 6 F (she didn't check her phone on the train) · 7 F (she's technology-free on Saturdays and doesn't do email after 8 p.m.) · 8 T. Also in the script: the detox was in an old country house in Dorset; no mobile coverage, so she couldn't cheat; nine people handed in their devices at 6 p.m.; activities: yoga, walks, picking fruit, real conversations (no lectures); by day 3 she could read for nearly half an hour without losing concentration, and she was eating more slowly. Now she feels 'more present' with friends. EXTRA SUPPORT: listen a last time with the script on pp.130–131. VARIATION: curiosity gap – compare with the class predictions from the earlier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(4 min). 2f: pairs discuss the three questions (the book's), then feedback (TG). VARIATION: mild controversy + forced choice – for question 2, the class votes GOOD IDEA or STUPID IDEA (stand up / stay seated), then two volunteers from each side give their best reason. Follow-up questions: What would you do instead? Would you pay for a detox course? Keep it light and non-judgemental: nobody has to reveal their screen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(6 min). VARIATION: curiosity gap + constraint challenge (only yes / no questions; the phrasal verbs from today are the most useful questions: Do you switch it on? Can you turn it up? Do you plug it in?). Two teams take turns to ask; the team that guesses gets 3 points if it took fewer than 6 questions, 2 points for 6–12, 1 point after that. Model card 1 yourself as the 'box'. A new 'box' student for each card. IMPORTANT: guessers must not see the screen. Check they have turned round BEFORE you click each card. Every card is on its own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1.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2.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3.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4.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5.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6.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7. Check the guessers can't see the screen, THEN click to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choose a face for each can-do. Homework: Workbook 9B 1a, 1b, 1c (devices + phrasal verbs) and 3a (linking: switched it on…; 3b is audio – optional at home) + test yourself on the devices on p.90 + the 9B-1 homework sheet (easier version available). Workbook 2 (quantifiers) and 3c (ough / augh) go with part 2.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 — the TG's optional lead-in for 9B (books closed). Good as a warmer for part 2 too. VARIATION: memory disruption — while they write, take one object away secretly: who notices what's missing?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(6 min). VARIATION: ranking + perspective change — rank for yourself, then rank again for a grandparent or a 10-year-old: what changes? Recycle: I couldn't live without it because I use it to… / I'd unplug it tomorrow!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student-generated content + local personalisation. Each group presents in 1 minute; the class asks follow-up questions. Encourage future forms and the device vocabulary (We'll switch off the router / unplug the TV).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062F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9B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9B · Part 1 · SB pp.90–91</a:t>
            </a:r>
            <a:endParaRPr lang="en-US" sz="11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3849624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 DETOX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525012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electronic devices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4485132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PHRASAL VERBS · switch it on, turn it up…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2756916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linking</a:t>
            </a:r>
            <a:endParaRPr lang="en-US" sz="1200" dirty="0"/>
          </a:p>
        </p:txBody>
      </p:sp>
      <p:sp>
        <p:nvSpPr>
          <p:cNvPr id="13" name="stamp_11"/>
          <p:cNvSpPr txBox="1"/>
          <p:nvPr/>
        </p:nvSpPr>
        <p:spPr>
          <a:xfrm>
            <a:off x="457200" y="3895344"/>
            <a:ext cx="3140964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F59E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A digital detox</a:t>
            </a:r>
            <a:endParaRPr lang="en-US" sz="1200" dirty="0"/>
          </a:p>
        </p:txBody>
      </p:sp>
      <p:sp>
        <p:nvSpPr>
          <p:cNvPr id="14" name="iconBack_12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3" descr="pi:PiDeviceMobileSlas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6" name="iconBack_14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5" descr="pi:Pi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8" name="iconBack_16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9" name="icon_17" descr="pi:PiTre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20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days. No phone. No Wi-Fi. Could you do it?</a:t>
            </a:r>
            <a:endParaRPr lang="en-US" sz="1350" dirty="0"/>
          </a:p>
        </p:txBody>
      </p:sp>
      <p:sp>
        <p:nvSpPr>
          <p:cNvPr id="21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it off… if you dare!</a:t>
            </a:r>
            <a:endParaRPr lang="en-US" sz="1300" dirty="0"/>
          </a:p>
        </p:txBody>
      </p:sp>
      <p:sp>
        <p:nvSpPr>
          <p:cNvPr id="22" name="tnote_18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9A part 2 · Luck &amp; word building</a:t>
            </a:r>
            <a:endParaRPr lang="en-US" sz="900" dirty="0"/>
          </a:p>
        </p:txBody>
      </p:sp>
      <p:sp>
        <p:nvSpPr>
          <p:cNvPr id="6" name="timer_2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24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Odd one out!</a:t>
            </a:r>
            <a:endParaRPr lang="en-US" sz="1500" dirty="0"/>
          </a:p>
        </p:txBody>
      </p:sp>
      <p:sp>
        <p:nvSpPr>
          <p:cNvPr id="9" name="post_2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2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odd one out. Say WHY!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l'intruso. Spiega PERCHÉ!</a:t>
            </a:r>
            <a:endParaRPr lang="en-US" sz="1250" dirty="0"/>
          </a:p>
        </p:txBody>
      </p:sp>
      <p:sp>
        <p:nvSpPr>
          <p:cNvPr id="12" name="iconBack_28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9" descr="pi:PiClo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30"/>
          <p:cNvSpPr txBox="1"/>
          <p:nvPr/>
        </p:nvSpPr>
        <p:spPr>
          <a:xfrm>
            <a:off x="2788920" y="1371600"/>
            <a:ext cx="3741725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luckily · carefully · patiently · comfortable</a:t>
            </a:r>
            <a:endParaRPr lang="en-US" sz="1200" dirty="0"/>
          </a:p>
        </p:txBody>
      </p:sp>
      <p:sp>
        <p:nvSpPr>
          <p:cNvPr id="15" name="R1_a0"/>
          <p:cNvSpPr txBox="1"/>
          <p:nvPr/>
        </p:nvSpPr>
        <p:spPr>
          <a:xfrm>
            <a:off x="6585509" y="1408176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– adjective (the others are adverbs)</a:t>
            </a:r>
            <a:endParaRPr lang="en-US" sz="1100" dirty="0"/>
          </a:p>
        </p:txBody>
      </p:sp>
      <p:sp>
        <p:nvSpPr>
          <p:cNvPr id="16" name="box_31"/>
          <p:cNvSpPr txBox="1"/>
          <p:nvPr/>
        </p:nvSpPr>
        <p:spPr>
          <a:xfrm>
            <a:off x="2788920" y="2055571"/>
            <a:ext cx="3741725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unlucky · impatient · uncomfortable · careless</a:t>
            </a:r>
            <a:endParaRPr lang="en-US" sz="1200" dirty="0"/>
          </a:p>
        </p:txBody>
      </p:sp>
      <p:sp>
        <p:nvSpPr>
          <p:cNvPr id="17" name="R2_a1"/>
          <p:cNvSpPr txBox="1"/>
          <p:nvPr/>
        </p:nvSpPr>
        <p:spPr>
          <a:xfrm>
            <a:off x="6585509" y="2092147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careless – suffix -less, not a prefix</a:t>
            </a:r>
            <a:endParaRPr lang="en-US" sz="1100" dirty="0"/>
          </a:p>
        </p:txBody>
      </p:sp>
      <p:sp>
        <p:nvSpPr>
          <p:cNvPr id="18" name="box_32"/>
          <p:cNvSpPr txBox="1"/>
          <p:nvPr/>
        </p:nvSpPr>
        <p:spPr>
          <a:xfrm>
            <a:off x="2788920" y="2739542"/>
            <a:ext cx="3741725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lucky · comfortable · careful · impatient  (stress!)</a:t>
            </a:r>
            <a:endParaRPr lang="en-US" sz="1200" dirty="0"/>
          </a:p>
        </p:txBody>
      </p:sp>
      <p:sp>
        <p:nvSpPr>
          <p:cNvPr id="19" name="R3_a2"/>
          <p:cNvSpPr txBox="1"/>
          <p:nvPr/>
        </p:nvSpPr>
        <p:spPr>
          <a:xfrm>
            <a:off x="6585509" y="2776118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impatient – stress on the 2nd syllable: imPAtient</a:t>
            </a:r>
            <a:endParaRPr lang="en-US" sz="1100" dirty="0"/>
          </a:p>
        </p:txBody>
      </p:sp>
      <p:sp>
        <p:nvSpPr>
          <p:cNvPr id="20" name="box_33"/>
          <p:cNvSpPr txBox="1"/>
          <p:nvPr/>
        </p:nvSpPr>
        <p:spPr>
          <a:xfrm>
            <a:off x="2788920" y="3423514"/>
            <a:ext cx="3741725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Lucky people: are relaxed · trust intuition · give up quickly · learn from mistakes</a:t>
            </a:r>
            <a:endParaRPr lang="en-US" sz="1200" dirty="0"/>
          </a:p>
        </p:txBody>
      </p:sp>
      <p:sp>
        <p:nvSpPr>
          <p:cNvPr id="21" name="R4_a3"/>
          <p:cNvSpPr txBox="1"/>
          <p:nvPr/>
        </p:nvSpPr>
        <p:spPr>
          <a:xfrm>
            <a:off x="6585509" y="3460090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up quickly – that's unlucky people</a:t>
            </a:r>
            <a:endParaRPr lang="en-US" sz="1100" dirty="0"/>
          </a:p>
        </p:txBody>
      </p:sp>
      <p:sp>
        <p:nvSpPr>
          <p:cNvPr id="22" name="box_34"/>
          <p:cNvSpPr txBox="1"/>
          <p:nvPr/>
        </p:nvSpPr>
        <p:spPr>
          <a:xfrm>
            <a:off x="2788920" y="4107485"/>
            <a:ext cx="3741725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Luck is… magic · chance · something you're born with · how you think and act</a:t>
            </a:r>
            <a:endParaRPr lang="en-US" sz="1200" dirty="0"/>
          </a:p>
        </p:txBody>
      </p:sp>
      <p:sp>
        <p:nvSpPr>
          <p:cNvPr id="23" name="R5_a4"/>
          <p:cNvSpPr txBox="1"/>
          <p:nvPr/>
        </p:nvSpPr>
        <p:spPr>
          <a:xfrm>
            <a:off x="6585509" y="4144061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think and act – the only TRUE one</a:t>
            </a:r>
            <a:endParaRPr lang="en-US" sz="1100" dirty="0"/>
          </a:p>
        </p:txBody>
      </p:sp>
      <p:sp>
        <p:nvSpPr>
          <p:cNvPr id="24" name="pageTag_3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9A pp.88–89 · Vocabulary Bank Word-building p.164 · audio 9.7, 9.8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Electronic devices · audio 9.9</a:t>
            </a:r>
            <a:endParaRPr lang="en-US" sz="900" dirty="0"/>
          </a:p>
        </p:txBody>
      </p:sp>
      <p:sp>
        <p:nvSpPr>
          <p:cNvPr id="6" name="timer_3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4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41"/>
          <p:cNvSpPr txBox="1"/>
          <p:nvPr/>
        </p:nvSpPr>
        <p:spPr>
          <a:xfrm rot="-120000">
            <a:off x="320040" y="676656"/>
            <a:ext cx="241401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 it in!</a:t>
            </a:r>
            <a:endParaRPr lang="en-US" sz="1500" dirty="0"/>
          </a:p>
        </p:txBody>
      </p:sp>
      <p:sp>
        <p:nvSpPr>
          <p:cNvPr id="9" name="post_4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4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words. Which ones are on your desk now?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le parole. Quali hai sulla scrivania adesso?</a:t>
            </a:r>
            <a:endParaRPr lang="en-US" sz="1250" dirty="0"/>
          </a:p>
        </p:txBody>
      </p:sp>
      <p:sp>
        <p:nvSpPr>
          <p:cNvPr id="12" name="tile_45"/>
          <p:cNvSpPr/>
          <p:nvPr/>
        </p:nvSpPr>
        <p:spPr>
          <a:xfrm>
            <a:off x="2788920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3" name="ti_46" descr="a memory sti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105" y="1426464"/>
            <a:ext cx="298094" cy="298094"/>
          </a:xfrm>
          <a:prstGeom prst="rect">
            <a:avLst/>
          </a:prstGeom>
        </p:spPr>
      </p:pic>
      <p:sp>
        <p:nvSpPr>
          <p:cNvPr id="14" name="tw_47"/>
          <p:cNvSpPr txBox="1"/>
          <p:nvPr/>
        </p:nvSpPr>
        <p:spPr>
          <a:xfrm>
            <a:off x="2825496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stick</a:t>
            </a:r>
            <a:endParaRPr lang="en-US" sz="1200" dirty="0"/>
          </a:p>
        </p:txBody>
      </p:sp>
      <p:sp>
        <p:nvSpPr>
          <p:cNvPr id="15" name="R1_it0"/>
          <p:cNvSpPr txBox="1"/>
          <p:nvPr/>
        </p:nvSpPr>
        <p:spPr>
          <a:xfrm>
            <a:off x="2825496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chiavetta USB</a:t>
            </a:r>
            <a:endParaRPr lang="en-US" sz="1050" dirty="0"/>
          </a:p>
        </p:txBody>
      </p:sp>
      <p:sp>
        <p:nvSpPr>
          <p:cNvPr id="16" name="tile_48"/>
          <p:cNvSpPr/>
          <p:nvPr/>
        </p:nvSpPr>
        <p:spPr>
          <a:xfrm>
            <a:off x="4325112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7" name="ti_49" descr="an adap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1426464"/>
            <a:ext cx="298094" cy="298094"/>
          </a:xfrm>
          <a:prstGeom prst="rect">
            <a:avLst/>
          </a:prstGeom>
        </p:spPr>
      </p:pic>
      <p:sp>
        <p:nvSpPr>
          <p:cNvPr id="18" name="tw_50"/>
          <p:cNvSpPr txBox="1"/>
          <p:nvPr/>
        </p:nvSpPr>
        <p:spPr>
          <a:xfrm>
            <a:off x="4361688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adaptor</a:t>
            </a:r>
            <a:endParaRPr lang="en-US" sz="1200" dirty="0"/>
          </a:p>
        </p:txBody>
      </p:sp>
      <p:sp>
        <p:nvSpPr>
          <p:cNvPr id="19" name="R1_it1"/>
          <p:cNvSpPr txBox="1"/>
          <p:nvPr/>
        </p:nvSpPr>
        <p:spPr>
          <a:xfrm>
            <a:off x="4361688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adattatore</a:t>
            </a:r>
            <a:endParaRPr lang="en-US" sz="1050" dirty="0"/>
          </a:p>
        </p:txBody>
      </p:sp>
      <p:sp>
        <p:nvSpPr>
          <p:cNvPr id="20" name="tile_51"/>
          <p:cNvSpPr/>
          <p:nvPr/>
        </p:nvSpPr>
        <p:spPr>
          <a:xfrm>
            <a:off x="5861304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1" name="ti_52" descr="a router /ˈruːtə/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489" y="1426464"/>
            <a:ext cx="298094" cy="298094"/>
          </a:xfrm>
          <a:prstGeom prst="rect">
            <a:avLst/>
          </a:prstGeom>
        </p:spPr>
      </p:pic>
      <p:sp>
        <p:nvSpPr>
          <p:cNvPr id="22" name="tw_53"/>
          <p:cNvSpPr txBox="1"/>
          <p:nvPr/>
        </p:nvSpPr>
        <p:spPr>
          <a:xfrm>
            <a:off x="5897880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/ˈruːtə/</a:t>
            </a:r>
            <a:endParaRPr lang="en-US" sz="1200" dirty="0"/>
          </a:p>
        </p:txBody>
      </p:sp>
      <p:sp>
        <p:nvSpPr>
          <p:cNvPr id="23" name="R1_it2"/>
          <p:cNvSpPr txBox="1"/>
          <p:nvPr/>
        </p:nvSpPr>
        <p:spPr>
          <a:xfrm>
            <a:off x="5897880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router</a:t>
            </a:r>
            <a:endParaRPr lang="en-US" sz="1050" dirty="0"/>
          </a:p>
        </p:txBody>
      </p:sp>
      <p:sp>
        <p:nvSpPr>
          <p:cNvPr id="24" name="tile_54"/>
          <p:cNvSpPr/>
          <p:nvPr/>
        </p:nvSpPr>
        <p:spPr>
          <a:xfrm>
            <a:off x="7397496" y="1371600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5" name="ti_55" descr="a charg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1681" y="1426464"/>
            <a:ext cx="298094" cy="298094"/>
          </a:xfrm>
          <a:prstGeom prst="rect">
            <a:avLst/>
          </a:prstGeom>
        </p:spPr>
      </p:pic>
      <p:sp>
        <p:nvSpPr>
          <p:cNvPr id="26" name="tw_56"/>
          <p:cNvSpPr txBox="1"/>
          <p:nvPr/>
        </p:nvSpPr>
        <p:spPr>
          <a:xfrm>
            <a:off x="7434072" y="17428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charger</a:t>
            </a:r>
            <a:endParaRPr lang="en-US" sz="1200" dirty="0"/>
          </a:p>
        </p:txBody>
      </p:sp>
      <p:sp>
        <p:nvSpPr>
          <p:cNvPr id="27" name="R1_it3"/>
          <p:cNvSpPr txBox="1"/>
          <p:nvPr/>
        </p:nvSpPr>
        <p:spPr>
          <a:xfrm>
            <a:off x="7434072" y="197144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caricabatterie</a:t>
            </a:r>
            <a:endParaRPr lang="en-US" sz="1050" dirty="0"/>
          </a:p>
        </p:txBody>
      </p:sp>
      <p:sp>
        <p:nvSpPr>
          <p:cNvPr id="28" name="tile_57"/>
          <p:cNvSpPr/>
          <p:nvPr/>
        </p:nvSpPr>
        <p:spPr>
          <a:xfrm>
            <a:off x="2788920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9" name="ti_58" descr="a keyboar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3105" y="2281428"/>
            <a:ext cx="298094" cy="298094"/>
          </a:xfrm>
          <a:prstGeom prst="rect">
            <a:avLst/>
          </a:prstGeom>
        </p:spPr>
      </p:pic>
      <p:sp>
        <p:nvSpPr>
          <p:cNvPr id="30" name="tw_59"/>
          <p:cNvSpPr txBox="1"/>
          <p:nvPr/>
        </p:nvSpPr>
        <p:spPr>
          <a:xfrm>
            <a:off x="2825496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keyboard</a:t>
            </a:r>
            <a:endParaRPr lang="en-US" sz="1200" dirty="0"/>
          </a:p>
        </p:txBody>
      </p:sp>
      <p:sp>
        <p:nvSpPr>
          <p:cNvPr id="31" name="R1_it4"/>
          <p:cNvSpPr txBox="1"/>
          <p:nvPr/>
        </p:nvSpPr>
        <p:spPr>
          <a:xfrm>
            <a:off x="2825496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tastiera</a:t>
            </a:r>
            <a:endParaRPr lang="en-US" sz="1050" dirty="0"/>
          </a:p>
        </p:txBody>
      </p:sp>
      <p:sp>
        <p:nvSpPr>
          <p:cNvPr id="32" name="tile_60"/>
          <p:cNvSpPr/>
          <p:nvPr/>
        </p:nvSpPr>
        <p:spPr>
          <a:xfrm>
            <a:off x="4325112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3" name="ti_61" descr="a plu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9297" y="2281428"/>
            <a:ext cx="298094" cy="298094"/>
          </a:xfrm>
          <a:prstGeom prst="rect">
            <a:avLst/>
          </a:prstGeom>
        </p:spPr>
      </p:pic>
      <p:sp>
        <p:nvSpPr>
          <p:cNvPr id="34" name="tw_62"/>
          <p:cNvSpPr txBox="1"/>
          <p:nvPr/>
        </p:nvSpPr>
        <p:spPr>
          <a:xfrm>
            <a:off x="4361688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</a:t>
            </a:r>
            <a:endParaRPr lang="en-US" sz="1200" dirty="0"/>
          </a:p>
        </p:txBody>
      </p:sp>
      <p:sp>
        <p:nvSpPr>
          <p:cNvPr id="35" name="R1_it5"/>
          <p:cNvSpPr txBox="1"/>
          <p:nvPr/>
        </p:nvSpPr>
        <p:spPr>
          <a:xfrm>
            <a:off x="4361688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spina</a:t>
            </a:r>
            <a:endParaRPr lang="en-US" sz="1050" dirty="0"/>
          </a:p>
        </p:txBody>
      </p:sp>
      <p:sp>
        <p:nvSpPr>
          <p:cNvPr id="36" name="tile_63"/>
          <p:cNvSpPr/>
          <p:nvPr/>
        </p:nvSpPr>
        <p:spPr>
          <a:xfrm>
            <a:off x="5861304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7" name="ti_64" descr="a switc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5489" y="2281428"/>
            <a:ext cx="298094" cy="298094"/>
          </a:xfrm>
          <a:prstGeom prst="rect">
            <a:avLst/>
          </a:prstGeom>
        </p:spPr>
      </p:pic>
      <p:sp>
        <p:nvSpPr>
          <p:cNvPr id="38" name="tw_65"/>
          <p:cNvSpPr txBox="1"/>
          <p:nvPr/>
        </p:nvSpPr>
        <p:spPr>
          <a:xfrm>
            <a:off x="5897880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</a:t>
            </a:r>
            <a:endParaRPr lang="en-US" sz="1200" dirty="0"/>
          </a:p>
        </p:txBody>
      </p:sp>
      <p:sp>
        <p:nvSpPr>
          <p:cNvPr id="39" name="R1_it6"/>
          <p:cNvSpPr txBox="1"/>
          <p:nvPr/>
        </p:nvSpPr>
        <p:spPr>
          <a:xfrm>
            <a:off x="5897880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interruttore</a:t>
            </a:r>
            <a:endParaRPr lang="en-US" sz="1050" dirty="0"/>
          </a:p>
        </p:txBody>
      </p:sp>
      <p:sp>
        <p:nvSpPr>
          <p:cNvPr id="40" name="tile_66"/>
          <p:cNvSpPr/>
          <p:nvPr/>
        </p:nvSpPr>
        <p:spPr>
          <a:xfrm>
            <a:off x="7397496" y="2226564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1" name="ti_67" descr="a printer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1681" y="2281428"/>
            <a:ext cx="298094" cy="298094"/>
          </a:xfrm>
          <a:prstGeom prst="rect">
            <a:avLst/>
          </a:prstGeom>
        </p:spPr>
      </p:pic>
      <p:sp>
        <p:nvSpPr>
          <p:cNvPr id="42" name="tw_68"/>
          <p:cNvSpPr txBox="1"/>
          <p:nvPr/>
        </p:nvSpPr>
        <p:spPr>
          <a:xfrm>
            <a:off x="7434072" y="2597810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printer</a:t>
            </a:r>
            <a:endParaRPr lang="en-US" sz="1200" dirty="0"/>
          </a:p>
        </p:txBody>
      </p:sp>
      <p:sp>
        <p:nvSpPr>
          <p:cNvPr id="43" name="R1_it7"/>
          <p:cNvSpPr txBox="1"/>
          <p:nvPr/>
        </p:nvSpPr>
        <p:spPr>
          <a:xfrm>
            <a:off x="7434072" y="282641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stampante</a:t>
            </a:r>
            <a:endParaRPr lang="en-US" sz="1050" dirty="0"/>
          </a:p>
        </p:txBody>
      </p:sp>
      <p:sp>
        <p:nvSpPr>
          <p:cNvPr id="44" name="tile_69"/>
          <p:cNvSpPr/>
          <p:nvPr/>
        </p:nvSpPr>
        <p:spPr>
          <a:xfrm>
            <a:off x="2788920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ti_70" descr="a speak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3105" y="3136392"/>
            <a:ext cx="298094" cy="298094"/>
          </a:xfrm>
          <a:prstGeom prst="rect">
            <a:avLst/>
          </a:prstGeom>
        </p:spPr>
      </p:pic>
      <p:sp>
        <p:nvSpPr>
          <p:cNvPr id="46" name="tw_71"/>
          <p:cNvSpPr txBox="1"/>
          <p:nvPr/>
        </p:nvSpPr>
        <p:spPr>
          <a:xfrm>
            <a:off x="2825496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speaker</a:t>
            </a:r>
            <a:endParaRPr lang="en-US" sz="1200" dirty="0"/>
          </a:p>
        </p:txBody>
      </p:sp>
      <p:sp>
        <p:nvSpPr>
          <p:cNvPr id="47" name="R1_it8"/>
          <p:cNvSpPr txBox="1"/>
          <p:nvPr/>
        </p:nvSpPr>
        <p:spPr>
          <a:xfrm>
            <a:off x="2825496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cassa (audio)</a:t>
            </a:r>
            <a:endParaRPr lang="en-US" sz="1050" dirty="0"/>
          </a:p>
        </p:txBody>
      </p:sp>
      <p:sp>
        <p:nvSpPr>
          <p:cNvPr id="48" name="tile_72"/>
          <p:cNvSpPr/>
          <p:nvPr/>
        </p:nvSpPr>
        <p:spPr>
          <a:xfrm>
            <a:off x="4325112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9" name="ti_73" descr="a remote contro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9297" y="3136392"/>
            <a:ext cx="298094" cy="298094"/>
          </a:xfrm>
          <a:prstGeom prst="rect">
            <a:avLst/>
          </a:prstGeom>
        </p:spPr>
      </p:pic>
      <p:sp>
        <p:nvSpPr>
          <p:cNvPr id="50" name="tw_74"/>
          <p:cNvSpPr txBox="1"/>
          <p:nvPr/>
        </p:nvSpPr>
        <p:spPr>
          <a:xfrm>
            <a:off x="4361688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remote control</a:t>
            </a:r>
            <a:endParaRPr lang="en-US" sz="1200" dirty="0"/>
          </a:p>
        </p:txBody>
      </p:sp>
      <p:sp>
        <p:nvSpPr>
          <p:cNvPr id="51" name="R1_it9"/>
          <p:cNvSpPr txBox="1"/>
          <p:nvPr/>
        </p:nvSpPr>
        <p:spPr>
          <a:xfrm>
            <a:off x="4361688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telecomando</a:t>
            </a:r>
            <a:endParaRPr lang="en-US" sz="1050" dirty="0"/>
          </a:p>
        </p:txBody>
      </p:sp>
      <p:sp>
        <p:nvSpPr>
          <p:cNvPr id="52" name="tile_75"/>
          <p:cNvSpPr/>
          <p:nvPr/>
        </p:nvSpPr>
        <p:spPr>
          <a:xfrm>
            <a:off x="5861304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3" name="ti_76" descr="a socke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5489" y="3136392"/>
            <a:ext cx="298094" cy="298094"/>
          </a:xfrm>
          <a:prstGeom prst="rect">
            <a:avLst/>
          </a:prstGeom>
        </p:spPr>
      </p:pic>
      <p:sp>
        <p:nvSpPr>
          <p:cNvPr id="54" name="tw_77"/>
          <p:cNvSpPr txBox="1"/>
          <p:nvPr/>
        </p:nvSpPr>
        <p:spPr>
          <a:xfrm>
            <a:off x="5897880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socket</a:t>
            </a:r>
            <a:endParaRPr lang="en-US" sz="1200" dirty="0"/>
          </a:p>
        </p:txBody>
      </p:sp>
      <p:sp>
        <p:nvSpPr>
          <p:cNvPr id="55" name="R1_it10"/>
          <p:cNvSpPr txBox="1"/>
          <p:nvPr/>
        </p:nvSpPr>
        <p:spPr>
          <a:xfrm>
            <a:off x="5897880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presa</a:t>
            </a:r>
            <a:endParaRPr lang="en-US" sz="1050" dirty="0"/>
          </a:p>
        </p:txBody>
      </p:sp>
      <p:sp>
        <p:nvSpPr>
          <p:cNvPr id="56" name="tile_78"/>
          <p:cNvSpPr/>
          <p:nvPr/>
        </p:nvSpPr>
        <p:spPr>
          <a:xfrm>
            <a:off x="7397496" y="3081528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7" name="ti_79" descr="a USB cabl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61681" y="3136392"/>
            <a:ext cx="298094" cy="298094"/>
          </a:xfrm>
          <a:prstGeom prst="rect">
            <a:avLst/>
          </a:prstGeom>
        </p:spPr>
      </p:pic>
      <p:sp>
        <p:nvSpPr>
          <p:cNvPr id="58" name="tw_80"/>
          <p:cNvSpPr txBox="1"/>
          <p:nvPr/>
        </p:nvSpPr>
        <p:spPr>
          <a:xfrm>
            <a:off x="7434072" y="345277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USB cable</a:t>
            </a:r>
            <a:endParaRPr lang="en-US" sz="1200" dirty="0"/>
          </a:p>
        </p:txBody>
      </p:sp>
      <p:sp>
        <p:nvSpPr>
          <p:cNvPr id="59" name="R1_it11"/>
          <p:cNvSpPr txBox="1"/>
          <p:nvPr/>
        </p:nvSpPr>
        <p:spPr>
          <a:xfrm>
            <a:off x="7434072" y="368137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cavo USB</a:t>
            </a:r>
            <a:endParaRPr lang="en-US" sz="1050" dirty="0"/>
          </a:p>
        </p:txBody>
      </p:sp>
      <p:sp>
        <p:nvSpPr>
          <p:cNvPr id="60" name="tile_81"/>
          <p:cNvSpPr/>
          <p:nvPr/>
        </p:nvSpPr>
        <p:spPr>
          <a:xfrm>
            <a:off x="2788920" y="3936492"/>
            <a:ext cx="1426464" cy="745236"/>
          </a:xfrm>
          <a:prstGeom prst="roundRect">
            <a:avLst>
              <a:gd name="adj" fmla="val 981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1" name="ti_82" descr="a mous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3105" y="3991356"/>
            <a:ext cx="298094" cy="298094"/>
          </a:xfrm>
          <a:prstGeom prst="rect">
            <a:avLst/>
          </a:prstGeom>
        </p:spPr>
      </p:pic>
      <p:sp>
        <p:nvSpPr>
          <p:cNvPr id="62" name="tw_83"/>
          <p:cNvSpPr txBox="1"/>
          <p:nvPr/>
        </p:nvSpPr>
        <p:spPr>
          <a:xfrm>
            <a:off x="2825496" y="430773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mouse</a:t>
            </a:r>
            <a:endParaRPr lang="en-US" sz="1200" dirty="0"/>
          </a:p>
        </p:txBody>
      </p:sp>
      <p:sp>
        <p:nvSpPr>
          <p:cNvPr id="63" name="R1_it12"/>
          <p:cNvSpPr txBox="1"/>
          <p:nvPr/>
        </p:nvSpPr>
        <p:spPr>
          <a:xfrm>
            <a:off x="2825496" y="453633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mouse</a:t>
            </a:r>
            <a:endParaRPr lang="en-US" sz="1050" dirty="0"/>
          </a:p>
        </p:txBody>
      </p:sp>
      <p:sp>
        <p:nvSpPr>
          <p:cNvPr id="64" name="pageTag_8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p.90 · 1a, 1b, 1c · audio 9.9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8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Phrasal verbs · audio 9.10</a:t>
            </a:r>
            <a:endParaRPr lang="en-US" sz="900" dirty="0"/>
          </a:p>
        </p:txBody>
      </p:sp>
      <p:sp>
        <p:nvSpPr>
          <p:cNvPr id="6" name="timer_8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8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90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did I do?</a:t>
            </a:r>
            <a:endParaRPr lang="en-US" sz="1500" dirty="0"/>
          </a:p>
        </p:txBody>
      </p:sp>
      <p:sp>
        <p:nvSpPr>
          <p:cNvPr id="9" name="post_9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9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9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action and the phrasal verb. Then listen and check.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 l'azione al phrasal verb. Poi ascolta e controlla.</a:t>
            </a:r>
            <a:endParaRPr lang="en-US" sz="1200" dirty="0"/>
          </a:p>
        </p:txBody>
      </p:sp>
      <p:sp>
        <p:nvSpPr>
          <p:cNvPr id="12" name="box_94"/>
          <p:cNvSpPr txBox="1"/>
          <p:nvPr/>
        </p:nvSpPr>
        <p:spPr>
          <a:xfrm>
            <a:off x="2788920" y="1371600"/>
            <a:ext cx="1772107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changed the heating from 20° to 18°.</a:t>
            </a:r>
            <a:endParaRPr lang="en-US" sz="1100" dirty="0"/>
          </a:p>
        </p:txBody>
      </p:sp>
      <p:sp>
        <p:nvSpPr>
          <p:cNvPr id="13" name="R1_a0"/>
          <p:cNvSpPr txBox="1"/>
          <p:nvPr/>
        </p:nvSpPr>
        <p:spPr>
          <a:xfrm>
            <a:off x="4615891" y="1408176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turned it down.</a:t>
            </a:r>
            <a:endParaRPr lang="en-US" sz="1100" dirty="0"/>
          </a:p>
        </p:txBody>
      </p:sp>
      <p:sp>
        <p:nvSpPr>
          <p:cNvPr id="14" name="box_95"/>
          <p:cNvSpPr txBox="1"/>
          <p:nvPr/>
        </p:nvSpPr>
        <p:spPr>
          <a:xfrm>
            <a:off x="5870448" y="1371600"/>
            <a:ext cx="1772107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 disconnected my printer from the computer.</a:t>
            </a:r>
            <a:endParaRPr lang="en-US" sz="1050" dirty="0"/>
          </a:p>
        </p:txBody>
      </p:sp>
      <p:sp>
        <p:nvSpPr>
          <p:cNvPr id="15" name="R1_a1"/>
          <p:cNvSpPr txBox="1"/>
          <p:nvPr/>
        </p:nvSpPr>
        <p:spPr>
          <a:xfrm>
            <a:off x="7697419" y="1408176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unplugged it.</a:t>
            </a:r>
            <a:endParaRPr lang="en-US" sz="1100" dirty="0"/>
          </a:p>
        </p:txBody>
      </p:sp>
      <p:sp>
        <p:nvSpPr>
          <p:cNvPr id="16" name="box_96"/>
          <p:cNvSpPr txBox="1"/>
          <p:nvPr/>
        </p:nvSpPr>
        <p:spPr>
          <a:xfrm>
            <a:off x="2788920" y="2055571"/>
            <a:ext cx="1772107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made the volume on the TV louder.</a:t>
            </a:r>
            <a:endParaRPr lang="en-US" sz="1100" dirty="0"/>
          </a:p>
        </p:txBody>
      </p:sp>
      <p:sp>
        <p:nvSpPr>
          <p:cNvPr id="17" name="R1_a2"/>
          <p:cNvSpPr txBox="1"/>
          <p:nvPr/>
        </p:nvSpPr>
        <p:spPr>
          <a:xfrm>
            <a:off x="4615891" y="2092147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turned it up.</a:t>
            </a:r>
            <a:endParaRPr lang="en-US" sz="1100" dirty="0"/>
          </a:p>
        </p:txBody>
      </p:sp>
      <p:sp>
        <p:nvSpPr>
          <p:cNvPr id="18" name="box_97"/>
          <p:cNvSpPr txBox="1"/>
          <p:nvPr/>
        </p:nvSpPr>
        <p:spPr>
          <a:xfrm>
            <a:off x="5870448" y="2055571"/>
            <a:ext cx="1772107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pressed the 'off' button on the TV.</a:t>
            </a:r>
            <a:endParaRPr lang="en-US" sz="1100" dirty="0"/>
          </a:p>
        </p:txBody>
      </p:sp>
      <p:sp>
        <p:nvSpPr>
          <p:cNvPr id="19" name="R1_a3"/>
          <p:cNvSpPr txBox="1"/>
          <p:nvPr/>
        </p:nvSpPr>
        <p:spPr>
          <a:xfrm>
            <a:off x="7697419" y="2092147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switched it off.</a:t>
            </a:r>
            <a:endParaRPr lang="en-US" sz="1100" dirty="0"/>
          </a:p>
        </p:txBody>
      </p:sp>
      <p:sp>
        <p:nvSpPr>
          <p:cNvPr id="20" name="box_98"/>
          <p:cNvSpPr txBox="1"/>
          <p:nvPr/>
        </p:nvSpPr>
        <p:spPr>
          <a:xfrm>
            <a:off x="2788920" y="2739542"/>
            <a:ext cx="1772107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 programmed the alarm on my phone for 7.30.</a:t>
            </a:r>
            <a:endParaRPr lang="en-US" sz="1050" dirty="0"/>
          </a:p>
        </p:txBody>
      </p:sp>
      <p:sp>
        <p:nvSpPr>
          <p:cNvPr id="21" name="R1_a4"/>
          <p:cNvSpPr txBox="1"/>
          <p:nvPr/>
        </p:nvSpPr>
        <p:spPr>
          <a:xfrm>
            <a:off x="4615891" y="2776118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set it.</a:t>
            </a:r>
            <a:endParaRPr lang="en-US" sz="1100" dirty="0"/>
          </a:p>
        </p:txBody>
      </p:sp>
      <p:sp>
        <p:nvSpPr>
          <p:cNvPr id="22" name="box_99"/>
          <p:cNvSpPr txBox="1"/>
          <p:nvPr/>
        </p:nvSpPr>
        <p:spPr>
          <a:xfrm>
            <a:off x="5870448" y="2739542"/>
            <a:ext cx="1772107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I put my phone charger into a socket.</a:t>
            </a:r>
            <a:endParaRPr lang="en-US" sz="1100" dirty="0"/>
          </a:p>
        </p:txBody>
      </p:sp>
      <p:sp>
        <p:nvSpPr>
          <p:cNvPr id="23" name="R1_a5"/>
          <p:cNvSpPr txBox="1"/>
          <p:nvPr/>
        </p:nvSpPr>
        <p:spPr>
          <a:xfrm>
            <a:off x="7697419" y="2776118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plugged it in.</a:t>
            </a:r>
            <a:endParaRPr lang="en-US" sz="1100" dirty="0"/>
          </a:p>
        </p:txBody>
      </p:sp>
      <p:sp>
        <p:nvSpPr>
          <p:cNvPr id="24" name="box_100"/>
          <p:cNvSpPr txBox="1"/>
          <p:nvPr/>
        </p:nvSpPr>
        <p:spPr>
          <a:xfrm>
            <a:off x="2788920" y="3423514"/>
            <a:ext cx="1772107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I pressed the 'on' button on my laptop.</a:t>
            </a:r>
            <a:endParaRPr lang="en-US" sz="1100" dirty="0"/>
          </a:p>
        </p:txBody>
      </p:sp>
      <p:sp>
        <p:nvSpPr>
          <p:cNvPr id="25" name="R1_a6"/>
          <p:cNvSpPr txBox="1"/>
          <p:nvPr/>
        </p:nvSpPr>
        <p:spPr>
          <a:xfrm>
            <a:off x="4615891" y="3460090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switched it on.</a:t>
            </a:r>
            <a:endParaRPr lang="en-US" sz="1100" dirty="0"/>
          </a:p>
        </p:txBody>
      </p:sp>
      <p:sp>
        <p:nvSpPr>
          <p:cNvPr id="26" name="box_101"/>
          <p:cNvSpPr txBox="1"/>
          <p:nvPr/>
        </p:nvSpPr>
        <p:spPr>
          <a:xfrm>
            <a:off x="5870448" y="3423514"/>
            <a:ext cx="1772107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I got the latest version of an app.</a:t>
            </a:r>
            <a:endParaRPr lang="en-US" sz="1100" dirty="0"/>
          </a:p>
        </p:txBody>
      </p:sp>
      <p:sp>
        <p:nvSpPr>
          <p:cNvPr id="27" name="R1_a7"/>
          <p:cNvSpPr txBox="1"/>
          <p:nvPr/>
        </p:nvSpPr>
        <p:spPr>
          <a:xfrm>
            <a:off x="7697419" y="3460090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updated it.</a:t>
            </a:r>
            <a:endParaRPr lang="en-US" sz="1100" dirty="0"/>
          </a:p>
        </p:txBody>
      </p:sp>
      <p:sp>
        <p:nvSpPr>
          <p:cNvPr id="28" name="box_102"/>
          <p:cNvSpPr txBox="1"/>
          <p:nvPr/>
        </p:nvSpPr>
        <p:spPr>
          <a:xfrm>
            <a:off x="2788920" y="4107485"/>
            <a:ext cx="1772107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I put antivirus software on my computer.</a:t>
            </a:r>
            <a:endParaRPr lang="en-US" sz="1100" dirty="0"/>
          </a:p>
        </p:txBody>
      </p:sp>
      <p:sp>
        <p:nvSpPr>
          <p:cNvPr id="29" name="R1_a8"/>
          <p:cNvSpPr txBox="1"/>
          <p:nvPr/>
        </p:nvSpPr>
        <p:spPr>
          <a:xfrm>
            <a:off x="4615891" y="4144061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installed it.</a:t>
            </a:r>
            <a:endParaRPr lang="en-US" sz="1100" dirty="0"/>
          </a:p>
        </p:txBody>
      </p:sp>
      <p:sp>
        <p:nvSpPr>
          <p:cNvPr id="30" name="box_103"/>
          <p:cNvSpPr txBox="1"/>
          <p:nvPr/>
        </p:nvSpPr>
        <p:spPr>
          <a:xfrm>
            <a:off x="5870448" y="4107485"/>
            <a:ext cx="1772107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I removed a photo I didn't like.</a:t>
            </a:r>
            <a:endParaRPr lang="en-US" sz="1100" dirty="0"/>
          </a:p>
        </p:txBody>
      </p:sp>
      <p:sp>
        <p:nvSpPr>
          <p:cNvPr id="31" name="R1_a9"/>
          <p:cNvSpPr txBox="1"/>
          <p:nvPr/>
        </p:nvSpPr>
        <p:spPr>
          <a:xfrm>
            <a:off x="7697419" y="4144061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deleted it.</a:t>
            </a:r>
            <a:endParaRPr lang="en-US" sz="1100" dirty="0"/>
          </a:p>
        </p:txBody>
      </p:sp>
      <p:sp>
        <p:nvSpPr>
          <p:cNvPr id="32" name="pageTag_10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p.90 · 1d, 1e · audio 9.10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0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Linking · audio 9.11</a:t>
            </a:r>
            <a:endParaRPr lang="en-US" sz="900" dirty="0"/>
          </a:p>
        </p:txBody>
      </p:sp>
      <p:sp>
        <p:nvSpPr>
          <p:cNvPr id="6" name="timer_10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110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Switched‿it‿off</a:t>
            </a:r>
            <a:endParaRPr lang="en-US" sz="1500" dirty="0"/>
          </a:p>
        </p:txBody>
      </p:sp>
      <p:sp>
        <p:nvSpPr>
          <p:cNvPr id="9" name="post_11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1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1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Listen. Put the phrases in the right group. Say them as ONE word!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Ascolta. Metti le frasi nel gruppo giusto. Dille come UNA parola!</a:t>
            </a:r>
            <a:endParaRPr lang="en-US" sz="1200" dirty="0"/>
          </a:p>
        </p:txBody>
      </p:sp>
      <p:sp>
        <p:nvSpPr>
          <p:cNvPr id="12" name="box_114"/>
          <p:cNvSpPr txBox="1"/>
          <p:nvPr/>
        </p:nvSpPr>
        <p:spPr>
          <a:xfrm>
            <a:off x="2788920" y="1371600"/>
            <a:ext cx="2172614" cy="72694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-ed = /t/</a:t>
            </a:r>
            <a:endParaRPr lang="en-US" sz="1400" dirty="0"/>
          </a:p>
        </p:txBody>
      </p:sp>
      <p:sp>
        <p:nvSpPr>
          <p:cNvPr id="13" name="R1_a0"/>
          <p:cNvSpPr txBox="1"/>
          <p:nvPr/>
        </p:nvSpPr>
        <p:spPr>
          <a:xfrm>
            <a:off x="5016398" y="1408176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switched‿it‿off · switched‿it‿on</a:t>
            </a:r>
            <a:endParaRPr lang="en-US" sz="1250" dirty="0"/>
          </a:p>
        </p:txBody>
      </p:sp>
      <p:sp>
        <p:nvSpPr>
          <p:cNvPr id="14" name="box_115"/>
          <p:cNvSpPr txBox="1"/>
          <p:nvPr/>
        </p:nvSpPr>
        <p:spPr>
          <a:xfrm>
            <a:off x="2788920" y="2226564"/>
            <a:ext cx="2172614" cy="72694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-ed = /d/</a:t>
            </a:r>
            <a:endParaRPr lang="en-US" sz="1400" dirty="0"/>
          </a:p>
        </p:txBody>
      </p:sp>
      <p:sp>
        <p:nvSpPr>
          <p:cNvPr id="15" name="R2_a1"/>
          <p:cNvSpPr txBox="1"/>
          <p:nvPr/>
        </p:nvSpPr>
        <p:spPr>
          <a:xfrm>
            <a:off x="5016398" y="2263140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turned‿it‿up · turned‿it‿down · installed‿it · unplugged‿it · plugged‿it‿in</a:t>
            </a:r>
            <a:endParaRPr lang="en-US" sz="1250" dirty="0"/>
          </a:p>
        </p:txBody>
      </p:sp>
      <p:sp>
        <p:nvSpPr>
          <p:cNvPr id="16" name="box_116"/>
          <p:cNvSpPr txBox="1"/>
          <p:nvPr/>
        </p:nvSpPr>
        <p:spPr>
          <a:xfrm>
            <a:off x="2788920" y="3081528"/>
            <a:ext cx="2172614" cy="72694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-ed = /ɪd/</a:t>
            </a:r>
            <a:endParaRPr lang="en-US" sz="1400" dirty="0"/>
          </a:p>
        </p:txBody>
      </p:sp>
      <p:sp>
        <p:nvSpPr>
          <p:cNvPr id="17" name="R3_a2"/>
          <p:cNvSpPr txBox="1"/>
          <p:nvPr/>
        </p:nvSpPr>
        <p:spPr>
          <a:xfrm>
            <a:off x="5016398" y="3118104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deleted‿it · updated‿it</a:t>
            </a:r>
            <a:endParaRPr lang="en-US" sz="1250" dirty="0"/>
          </a:p>
        </p:txBody>
      </p:sp>
      <p:sp>
        <p:nvSpPr>
          <p:cNvPr id="18" name="box_117"/>
          <p:cNvSpPr txBox="1"/>
          <p:nvPr/>
        </p:nvSpPr>
        <p:spPr>
          <a:xfrm>
            <a:off x="2788920" y="3936492"/>
            <a:ext cx="2172614" cy="72694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no -ed!</a:t>
            </a:r>
            <a:endParaRPr lang="en-US" sz="1400" dirty="0"/>
          </a:p>
        </p:txBody>
      </p:sp>
      <p:sp>
        <p:nvSpPr>
          <p:cNvPr id="19" name="R4_a3"/>
          <p:cNvSpPr txBox="1"/>
          <p:nvPr/>
        </p:nvSpPr>
        <p:spPr>
          <a:xfrm>
            <a:off x="5016398" y="3973068"/>
            <a:ext cx="3807562" cy="653796"/>
          </a:xfrm>
          <a:prstGeom prst="roundRect">
            <a:avLst>
              <a:gd name="adj" fmla="val 8392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set‿it (set – set – set)</a:t>
            </a:r>
            <a:endParaRPr lang="en-US" sz="1250" dirty="0"/>
          </a:p>
        </p:txBody>
      </p:sp>
      <p:sp>
        <p:nvSpPr>
          <p:cNvPr id="20" name="sticky_118"/>
          <p:cNvSpPr txBox="1"/>
          <p:nvPr/>
        </p:nvSpPr>
        <p:spPr>
          <a:xfrm rot="-120000">
            <a:off x="411480" y="3977640"/>
            <a:ext cx="2194560" cy="68580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Separable: switch it on ✓  switch on it ✗</a:t>
            </a:r>
            <a:endParaRPr lang="en-US" sz="1150" dirty="0"/>
          </a:p>
        </p:txBody>
      </p:sp>
      <p:sp>
        <p:nvSpPr>
          <p:cNvPr id="21" name="pageTag_119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p.90 · 1f · audio 9.11 · Separable phrasal verbs box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2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1g</a:t>
            </a:r>
            <a:endParaRPr lang="en-US" sz="900" dirty="0"/>
          </a:p>
        </p:txBody>
      </p:sp>
      <p:sp>
        <p:nvSpPr>
          <p:cNvPr id="6" name="timer_12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2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125"/>
          <p:cNvSpPr txBox="1"/>
          <p:nvPr/>
        </p:nvSpPr>
        <p:spPr>
          <a:xfrm rot="-120000">
            <a:off x="320040" y="676656"/>
            <a:ext cx="276148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Give reasons!</a:t>
            </a:r>
            <a:endParaRPr lang="en-US" sz="1500" dirty="0"/>
          </a:p>
        </p:txBody>
      </p:sp>
      <p:sp>
        <p:nvSpPr>
          <p:cNvPr id="9" name="post_1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questions with a partner. Give reasons.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Rispondi alle domande con un compagno. Spiega perché.</a:t>
            </a:r>
            <a:endParaRPr lang="en-US" sz="1250" dirty="0"/>
          </a:p>
        </p:txBody>
      </p:sp>
      <p:sp>
        <p:nvSpPr>
          <p:cNvPr id="12" name="iconBack_129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30" descr="pi:PiDeviceMob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31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 you prefer to use a keyboard with or without a mouse? Do you prefer a wireless mouse?</a:t>
            </a:r>
            <a:endParaRPr lang="en-US" sz="1200" dirty="0"/>
          </a:p>
        </p:txBody>
      </p:sp>
      <p:sp>
        <p:nvSpPr>
          <p:cNvPr id="15" name="box_132"/>
          <p:cNvSpPr txBox="1"/>
          <p:nvPr/>
        </p:nvSpPr>
        <p:spPr>
          <a:xfrm>
            <a:off x="2788920" y="2055571"/>
            <a:ext cx="603504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 you normally listen to music with headphones or with a speaker?</a:t>
            </a:r>
            <a:endParaRPr lang="en-US" sz="1200" dirty="0"/>
          </a:p>
        </p:txBody>
      </p:sp>
      <p:sp>
        <p:nvSpPr>
          <p:cNvPr id="16" name="box_133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How many remote controls do you have? Do you think you have too many?</a:t>
            </a:r>
            <a:endParaRPr lang="en-US" sz="1200" dirty="0"/>
          </a:p>
        </p:txBody>
      </p:sp>
      <p:sp>
        <p:nvSpPr>
          <p:cNvPr id="17" name="box_134"/>
          <p:cNvSpPr txBox="1"/>
          <p:nvPr/>
        </p:nvSpPr>
        <p:spPr>
          <a:xfrm>
            <a:off x="2788920" y="3423514"/>
            <a:ext cx="603504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many pins do plugs in your country have? Do you need a travel adaptor if you go abroad?</a:t>
            </a:r>
            <a:endParaRPr lang="en-US" sz="1200" dirty="0"/>
          </a:p>
        </p:txBody>
      </p:sp>
      <p:sp>
        <p:nvSpPr>
          <p:cNvPr id="18" name="box_135"/>
          <p:cNvSpPr txBox="1"/>
          <p:nvPr/>
        </p:nvSpPr>
        <p:spPr>
          <a:xfrm>
            <a:off x="2788920" y="4107485"/>
            <a:ext cx="603504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In your house, do you usually agree about what the temperature should be, or is someone always turning the heating or air conditioning up and down?</a:t>
            </a:r>
            <a:endParaRPr lang="en-US" sz="1200" dirty="0"/>
          </a:p>
        </p:txBody>
      </p:sp>
      <p:sp>
        <p:nvSpPr>
          <p:cNvPr id="19" name="pageTag_13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p.90 · 1g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3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3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Digital detox · 2a, 2b</a:t>
            </a:r>
            <a:endParaRPr lang="en-US" sz="900" dirty="0"/>
          </a:p>
        </p:txBody>
      </p:sp>
      <p:sp>
        <p:nvSpPr>
          <p:cNvPr id="6" name="timer_14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4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142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you addicted?</a:t>
            </a:r>
            <a:endParaRPr lang="en-US" sz="1500" dirty="0"/>
          </a:p>
        </p:txBody>
      </p:sp>
      <p:sp>
        <p:nvSpPr>
          <p:cNvPr id="9" name="post_1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1" name="signB_1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short article on p.91. Answer with a partner.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breve articolo a p.91. Rispondi con un compagno.</a:t>
            </a:r>
            <a:endParaRPr lang="en-US" sz="1250" dirty="0"/>
          </a:p>
        </p:txBody>
      </p:sp>
      <p:sp>
        <p:nvSpPr>
          <p:cNvPr id="12" name="box_146"/>
          <p:cNvSpPr txBox="1"/>
          <p:nvPr/>
        </p:nvSpPr>
        <p:spPr>
          <a:xfrm>
            <a:off x="2788920" y="1371600"/>
            <a:ext cx="603504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 you think you're addicted to your phone? How many times an hour do you look at it? What for?</a:t>
            </a:r>
            <a:endParaRPr lang="en-US" sz="1150" dirty="0"/>
          </a:p>
        </p:txBody>
      </p:sp>
      <p:sp>
        <p:nvSpPr>
          <p:cNvPr id="13" name="box_147"/>
          <p:cNvSpPr txBox="1"/>
          <p:nvPr/>
        </p:nvSpPr>
        <p:spPr>
          <a:xfrm>
            <a:off x="2788920" y="2055571"/>
            <a:ext cx="3741725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does digital detox mean?</a:t>
            </a:r>
            <a:endParaRPr lang="en-US" sz="1150" dirty="0"/>
          </a:p>
        </p:txBody>
      </p:sp>
      <p:sp>
        <p:nvSpPr>
          <p:cNvPr id="14" name="R1_a1"/>
          <p:cNvSpPr txBox="1"/>
          <p:nvPr/>
        </p:nvSpPr>
        <p:spPr>
          <a:xfrm>
            <a:off x="6585509" y="2092147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break from technology – switching off / not using devices</a:t>
            </a:r>
            <a:endParaRPr lang="en-US" sz="1100" dirty="0"/>
          </a:p>
        </p:txBody>
      </p:sp>
      <p:sp>
        <p:nvSpPr>
          <p:cNvPr id="15" name="box_148"/>
          <p:cNvSpPr txBox="1"/>
          <p:nvPr/>
        </p:nvSpPr>
        <p:spPr>
          <a:xfrm>
            <a:off x="2788920" y="2739542"/>
            <a:ext cx="603504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Do you think phone stacking is a good idea? Do you and your friends ever do it?</a:t>
            </a:r>
            <a:endParaRPr lang="en-US" sz="1150" dirty="0"/>
          </a:p>
        </p:txBody>
      </p:sp>
      <p:sp>
        <p:nvSpPr>
          <p:cNvPr id="16" name="box_149"/>
          <p:cNvSpPr txBox="1"/>
          <p:nvPr/>
        </p:nvSpPr>
        <p:spPr>
          <a:xfrm>
            <a:off x="2788920" y="3423514"/>
            <a:ext cx="3741725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does unplug mean in the third paragraph? Do you have periods when you 'unplug'?</a:t>
            </a:r>
            <a:endParaRPr lang="en-US" sz="1150" dirty="0"/>
          </a:p>
        </p:txBody>
      </p:sp>
      <p:sp>
        <p:nvSpPr>
          <p:cNvPr id="17" name="R1_a3"/>
          <p:cNvSpPr txBox="1"/>
          <p:nvPr/>
        </p:nvSpPr>
        <p:spPr>
          <a:xfrm>
            <a:off x="6585509" y="3460090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unplug = disconnect from technology</a:t>
            </a:r>
            <a:endParaRPr lang="en-US" sz="1100" dirty="0"/>
          </a:p>
        </p:txBody>
      </p:sp>
      <p:sp>
        <p:nvSpPr>
          <p:cNvPr id="18" name="box_150"/>
          <p:cNvSpPr txBox="1"/>
          <p:nvPr/>
        </p:nvSpPr>
        <p:spPr>
          <a:xfrm>
            <a:off x="2788920" y="4107485"/>
            <a:ext cx="3741725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PREDICT: Anna does a 3-day detox. One good thing? One bad thing?</a:t>
            </a:r>
            <a:endParaRPr lang="en-US" sz="1150" dirty="0"/>
          </a:p>
        </p:txBody>
      </p:sp>
      <p:sp>
        <p:nvSpPr>
          <p:cNvPr id="19" name="R1_a4"/>
          <p:cNvSpPr txBox="1"/>
          <p:nvPr/>
        </p:nvSpPr>
        <p:spPr>
          <a:xfrm>
            <a:off x="6585509" y="4144061"/>
            <a:ext cx="223845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check!</a:t>
            </a:r>
            <a:endParaRPr lang="en-US" sz="1100" dirty="0"/>
          </a:p>
        </p:txBody>
      </p:sp>
      <p:sp>
        <p:nvSpPr>
          <p:cNvPr id="20" name="pageTag_15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p.91 · 2a, 2b</a:t>
            </a:r>
            <a:endParaRPr lang="en-US" sz="1050" dirty="0"/>
          </a:p>
        </p:txBody>
      </p:sp>
      <p:sp>
        <p:nvSpPr>
          <p:cNvPr id="21" name="pframe_152"/>
          <p:cNvSpPr/>
          <p:nvPr/>
        </p:nvSpPr>
        <p:spPr>
          <a:xfrm rot="-120000">
            <a:off x="457200" y="3108960"/>
            <a:ext cx="1691640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2" name="pimg_153" descr="phone stack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530352" y="3182112"/>
            <a:ext cx="1545336" cy="1143000"/>
          </a:xfrm>
          <a:prstGeom prst="rect">
            <a:avLst/>
          </a:prstGeom>
        </p:spPr>
      </p:pic>
      <p:sp>
        <p:nvSpPr>
          <p:cNvPr id="23" name="pcap_154"/>
          <p:cNvSpPr txBox="1"/>
          <p:nvPr/>
        </p:nvSpPr>
        <p:spPr>
          <a:xfrm rot="-120000">
            <a:off x="457200" y="433425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stacking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5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5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5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Understanding attitude · audio 9.12</a:t>
            </a:r>
            <a:endParaRPr lang="en-US" sz="900" dirty="0"/>
          </a:p>
        </p:txBody>
      </p:sp>
      <p:sp>
        <p:nvSpPr>
          <p:cNvPr id="6" name="timer_15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15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160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Positive or negative?</a:t>
            </a:r>
            <a:endParaRPr lang="en-US" sz="1500" dirty="0"/>
          </a:p>
        </p:txBody>
      </p:sp>
      <p:sp>
        <p:nvSpPr>
          <p:cNvPr id="9" name="post_16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6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6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Anna feel? Positive 🙂 or negative 🙁?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sente Anna? Positiva 🙂 o negativa 🙁?</a:t>
            </a:r>
            <a:endParaRPr lang="en-US" sz="1200" dirty="0"/>
          </a:p>
        </p:txBody>
      </p:sp>
      <p:sp>
        <p:nvSpPr>
          <p:cNvPr id="12" name="tr_164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9.12</a:t>
            </a:r>
            <a:endParaRPr lang="en-US" sz="1400" dirty="0"/>
          </a:p>
        </p:txBody>
      </p:sp>
      <p:sp>
        <p:nvSpPr>
          <p:cNvPr id="13" name="box_165"/>
          <p:cNvSpPr txBox="1"/>
          <p:nvPr/>
        </p:nvSpPr>
        <p:spPr>
          <a:xfrm>
            <a:off x="2788920" y="2103120"/>
            <a:ext cx="3862426" cy="45354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Suddenly I felt cut off and panicky.</a:t>
            </a:r>
            <a:endParaRPr lang="en-US" sz="1250" dirty="0"/>
          </a:p>
        </p:txBody>
      </p:sp>
      <p:sp>
        <p:nvSpPr>
          <p:cNvPr id="14" name="R1_la0"/>
          <p:cNvSpPr txBox="1"/>
          <p:nvPr/>
        </p:nvSpPr>
        <p:spPr>
          <a:xfrm>
            <a:off x="6706210" y="2130552"/>
            <a:ext cx="2117750" cy="398678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🙁 negative</a:t>
            </a:r>
            <a:endParaRPr lang="en-US" sz="1200" dirty="0"/>
          </a:p>
        </p:txBody>
      </p:sp>
      <p:sp>
        <p:nvSpPr>
          <p:cNvPr id="15" name="box_166"/>
          <p:cNvSpPr txBox="1"/>
          <p:nvPr/>
        </p:nvSpPr>
        <p:spPr>
          <a:xfrm>
            <a:off x="2788920" y="2629814"/>
            <a:ext cx="3862426" cy="45354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We had lots of conversations with real-life humans.</a:t>
            </a:r>
            <a:endParaRPr lang="en-US" sz="1100" dirty="0"/>
          </a:p>
        </p:txBody>
      </p:sp>
      <p:sp>
        <p:nvSpPr>
          <p:cNvPr id="16" name="R1_la1"/>
          <p:cNvSpPr txBox="1"/>
          <p:nvPr/>
        </p:nvSpPr>
        <p:spPr>
          <a:xfrm>
            <a:off x="6706210" y="2657246"/>
            <a:ext cx="2117750" cy="398678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positive</a:t>
            </a:r>
            <a:endParaRPr lang="en-US" sz="1200" dirty="0"/>
          </a:p>
        </p:txBody>
      </p:sp>
      <p:sp>
        <p:nvSpPr>
          <p:cNvPr id="17" name="box_167"/>
          <p:cNvSpPr txBox="1"/>
          <p:nvPr/>
        </p:nvSpPr>
        <p:spPr>
          <a:xfrm>
            <a:off x="2788920" y="3156509"/>
            <a:ext cx="3862426" cy="45354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 slept really well, for the first time in months.</a:t>
            </a:r>
            <a:endParaRPr lang="en-US" sz="1250" dirty="0"/>
          </a:p>
        </p:txBody>
      </p:sp>
      <p:sp>
        <p:nvSpPr>
          <p:cNvPr id="18" name="R1_la2"/>
          <p:cNvSpPr txBox="1"/>
          <p:nvPr/>
        </p:nvSpPr>
        <p:spPr>
          <a:xfrm>
            <a:off x="6706210" y="3183941"/>
            <a:ext cx="2117750" cy="398678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positive</a:t>
            </a:r>
            <a:endParaRPr lang="en-US" sz="1200" dirty="0"/>
          </a:p>
        </p:txBody>
      </p:sp>
      <p:sp>
        <p:nvSpPr>
          <p:cNvPr id="19" name="box_168"/>
          <p:cNvSpPr txBox="1"/>
          <p:nvPr/>
        </p:nvSpPr>
        <p:spPr>
          <a:xfrm>
            <a:off x="2788920" y="3683203"/>
            <a:ext cx="3862426" cy="453542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felt really disconnected and lonely.</a:t>
            </a:r>
            <a:endParaRPr lang="en-US" sz="1250" dirty="0"/>
          </a:p>
        </p:txBody>
      </p:sp>
      <p:sp>
        <p:nvSpPr>
          <p:cNvPr id="20" name="R1_la3"/>
          <p:cNvSpPr txBox="1"/>
          <p:nvPr/>
        </p:nvSpPr>
        <p:spPr>
          <a:xfrm>
            <a:off x="6706210" y="3710635"/>
            <a:ext cx="2117750" cy="398678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🙁 negative</a:t>
            </a:r>
            <a:endParaRPr lang="en-US" sz="1200" dirty="0"/>
          </a:p>
        </p:txBody>
      </p:sp>
      <p:sp>
        <p:nvSpPr>
          <p:cNvPr id="21" name="box_169"/>
          <p:cNvSpPr txBox="1"/>
          <p:nvPr/>
        </p:nvSpPr>
        <p:spPr>
          <a:xfrm>
            <a:off x="2788920" y="4209898"/>
            <a:ext cx="3862426" cy="453542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I really noticed the beauty of the countryside.</a:t>
            </a:r>
            <a:endParaRPr lang="en-US" sz="1250" dirty="0"/>
          </a:p>
        </p:txBody>
      </p:sp>
      <p:sp>
        <p:nvSpPr>
          <p:cNvPr id="22" name="R1_la4"/>
          <p:cNvSpPr txBox="1"/>
          <p:nvPr/>
        </p:nvSpPr>
        <p:spPr>
          <a:xfrm>
            <a:off x="6706210" y="4237330"/>
            <a:ext cx="2117750" cy="398678"/>
          </a:xfrm>
          <a:prstGeom prst="roundRect">
            <a:avLst>
              <a:gd name="adj" fmla="val 13761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🙂 positive</a:t>
            </a:r>
            <a:endParaRPr lang="en-US" sz="1200" dirty="0"/>
          </a:p>
        </p:txBody>
      </p:sp>
      <p:sp>
        <p:nvSpPr>
          <p:cNvPr id="23" name="pageTag_170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p.91 · 2c · audio 9.12</a:t>
            </a:r>
            <a:endParaRPr lang="en-US" sz="1050" dirty="0"/>
          </a:p>
        </p:txBody>
      </p:sp>
      <p:sp>
        <p:nvSpPr>
          <p:cNvPr id="24" name="pframe_171"/>
          <p:cNvSpPr/>
          <p:nvPr/>
        </p:nvSpPr>
        <p:spPr>
          <a:xfrm rot="-120000">
            <a:off x="457200" y="3108960"/>
            <a:ext cx="1828800" cy="1563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5" name="pimg_172" descr="Anna's detox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 rot="-120000">
            <a:off x="530352" y="3182112"/>
            <a:ext cx="1682496" cy="1143000"/>
          </a:xfrm>
          <a:prstGeom prst="rect">
            <a:avLst/>
          </a:prstGeom>
        </p:spPr>
      </p:pic>
      <p:sp>
        <p:nvSpPr>
          <p:cNvPr id="26" name="pcap_173"/>
          <p:cNvSpPr txBox="1"/>
          <p:nvPr/>
        </p:nvSpPr>
        <p:spPr>
          <a:xfrm rot="-120000">
            <a:off x="457200" y="4334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Anna's detox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7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audio 9.13</a:t>
            </a:r>
            <a:endParaRPr lang="en-US" sz="900" dirty="0"/>
          </a:p>
        </p:txBody>
      </p:sp>
      <p:sp>
        <p:nvSpPr>
          <p:cNvPr id="6" name="timer_17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7" name="footer_17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179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 or false?</a:t>
            </a:r>
            <a:endParaRPr lang="en-US" sz="1500" dirty="0"/>
          </a:p>
        </p:txBody>
      </p:sp>
      <p:sp>
        <p:nvSpPr>
          <p:cNvPr id="9" name="post_18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8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18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or negative experience? Listen again: T or F?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Esperienza positiva o negativa? Riascolta: vero o falso?</a:t>
            </a:r>
            <a:endParaRPr lang="en-US" sz="1200" dirty="0"/>
          </a:p>
        </p:txBody>
      </p:sp>
      <p:sp>
        <p:nvSpPr>
          <p:cNvPr id="12" name="tr_183"/>
          <p:cNvSpPr txBox="1"/>
          <p:nvPr/>
        </p:nvSpPr>
        <p:spPr>
          <a:xfrm>
            <a:off x="2788920" y="1371600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🎧 9.13</a:t>
            </a:r>
            <a:endParaRPr lang="en-US" sz="1400" dirty="0"/>
          </a:p>
        </p:txBody>
      </p:sp>
      <p:sp>
        <p:nvSpPr>
          <p:cNvPr id="13" name="box_184"/>
          <p:cNvSpPr txBox="1"/>
          <p:nvPr/>
        </p:nvSpPr>
        <p:spPr>
          <a:xfrm>
            <a:off x="2788920" y="2103120"/>
            <a:ext cx="3983126" cy="2560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quarter of UK adults check their phones in the middle of the night.</a:t>
            </a:r>
            <a:endParaRPr lang="en-US" sz="700" dirty="0"/>
          </a:p>
        </p:txBody>
      </p:sp>
      <p:sp>
        <p:nvSpPr>
          <p:cNvPr id="14" name="R1_la0"/>
          <p:cNvSpPr txBox="1"/>
          <p:nvPr/>
        </p:nvSpPr>
        <p:spPr>
          <a:xfrm>
            <a:off x="6826910" y="2130552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one in three</a:t>
            </a:r>
            <a:endParaRPr lang="en-US" sz="950" dirty="0"/>
          </a:p>
        </p:txBody>
      </p:sp>
      <p:sp>
        <p:nvSpPr>
          <p:cNvPr id="15" name="box_185"/>
          <p:cNvSpPr txBox="1"/>
          <p:nvPr/>
        </p:nvSpPr>
        <p:spPr>
          <a:xfrm>
            <a:off x="2788920" y="2432304"/>
            <a:ext cx="3983126" cy="2560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When Anna arrived at the house in Dorset, she felt very nervous.</a:t>
            </a:r>
            <a:endParaRPr lang="en-US" sz="700" dirty="0"/>
          </a:p>
        </p:txBody>
      </p:sp>
      <p:sp>
        <p:nvSpPr>
          <p:cNvPr id="16" name="R1_la1"/>
          <p:cNvSpPr txBox="1"/>
          <p:nvPr/>
        </p:nvSpPr>
        <p:spPr>
          <a:xfrm>
            <a:off x="6826910" y="2459736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17" name="box_186"/>
          <p:cNvSpPr txBox="1"/>
          <p:nvPr/>
        </p:nvSpPr>
        <p:spPr>
          <a:xfrm>
            <a:off x="2788920" y="2761488"/>
            <a:ext cx="3983126" cy="25603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activities were not exactly what she was expecting.</a:t>
            </a:r>
            <a:endParaRPr lang="en-US" sz="700" dirty="0"/>
          </a:p>
        </p:txBody>
      </p:sp>
      <p:sp>
        <p:nvSpPr>
          <p:cNvPr id="18" name="R1_la2"/>
          <p:cNvSpPr txBox="1"/>
          <p:nvPr/>
        </p:nvSpPr>
        <p:spPr>
          <a:xfrm>
            <a:off x="6826910" y="2788920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19" name="box_187"/>
          <p:cNvSpPr txBox="1"/>
          <p:nvPr/>
        </p:nvSpPr>
        <p:spPr>
          <a:xfrm>
            <a:off x="2788920" y="3090672"/>
            <a:ext cx="3983126" cy="256032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second day of the detox was easier than the first.</a:t>
            </a:r>
            <a:endParaRPr lang="en-US" sz="700" dirty="0"/>
          </a:p>
        </p:txBody>
      </p:sp>
      <p:sp>
        <p:nvSpPr>
          <p:cNvPr id="20" name="R1_la3"/>
          <p:cNvSpPr txBox="1"/>
          <p:nvPr/>
        </p:nvSpPr>
        <p:spPr>
          <a:xfrm>
            <a:off x="6826910" y="3118104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lonely, she cried</a:t>
            </a:r>
            <a:endParaRPr lang="en-US" sz="950" dirty="0"/>
          </a:p>
        </p:txBody>
      </p:sp>
      <p:sp>
        <p:nvSpPr>
          <p:cNvPr id="21" name="box_188"/>
          <p:cNvSpPr txBox="1"/>
          <p:nvPr/>
        </p:nvSpPr>
        <p:spPr>
          <a:xfrm>
            <a:off x="2788920" y="3419856"/>
            <a:ext cx="3983126" cy="256032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By the third day, her ability to concentrate had improved.</a:t>
            </a:r>
            <a:endParaRPr lang="en-US" sz="700" dirty="0"/>
          </a:p>
        </p:txBody>
      </p:sp>
      <p:sp>
        <p:nvSpPr>
          <p:cNvPr id="22" name="R1_la4"/>
          <p:cNvSpPr txBox="1"/>
          <p:nvPr/>
        </p:nvSpPr>
        <p:spPr>
          <a:xfrm>
            <a:off x="6826910" y="3447288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23" name="box_189"/>
          <p:cNvSpPr txBox="1"/>
          <p:nvPr/>
        </p:nvSpPr>
        <p:spPr>
          <a:xfrm>
            <a:off x="2788920" y="3749040"/>
            <a:ext cx="3983126" cy="256032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On her train journey home, she spent the time checking her phone.</a:t>
            </a:r>
            <a:endParaRPr lang="en-US" sz="700" dirty="0"/>
          </a:p>
        </p:txBody>
      </p:sp>
      <p:sp>
        <p:nvSpPr>
          <p:cNvPr id="24" name="R1_la5"/>
          <p:cNvSpPr txBox="1"/>
          <p:nvPr/>
        </p:nvSpPr>
        <p:spPr>
          <a:xfrm>
            <a:off x="6826910" y="3776472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she didn't check it</a:t>
            </a:r>
            <a:endParaRPr lang="en-US" sz="950" dirty="0"/>
          </a:p>
        </p:txBody>
      </p:sp>
      <p:sp>
        <p:nvSpPr>
          <p:cNvPr id="25" name="box_190"/>
          <p:cNvSpPr txBox="1"/>
          <p:nvPr/>
        </p:nvSpPr>
        <p:spPr>
          <a:xfrm>
            <a:off x="2788920" y="4078224"/>
            <a:ext cx="3983126" cy="2560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Since the detox, her weekends and evenings are technology-free.</a:t>
            </a:r>
            <a:endParaRPr lang="en-US" sz="700" dirty="0"/>
          </a:p>
        </p:txBody>
      </p:sp>
      <p:sp>
        <p:nvSpPr>
          <p:cNvPr id="26" name="R1_la6"/>
          <p:cNvSpPr txBox="1"/>
          <p:nvPr/>
        </p:nvSpPr>
        <p:spPr>
          <a:xfrm>
            <a:off x="6826910" y="4105656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Saturdays; no email after 8</a:t>
            </a:r>
            <a:endParaRPr lang="en-US" sz="950" dirty="0"/>
          </a:p>
        </p:txBody>
      </p:sp>
      <p:sp>
        <p:nvSpPr>
          <p:cNvPr id="27" name="box_191"/>
          <p:cNvSpPr txBox="1"/>
          <p:nvPr/>
        </p:nvSpPr>
        <p:spPr>
          <a:xfrm>
            <a:off x="2788920" y="4407408"/>
            <a:ext cx="3983126" cy="2560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She enjoys her friends' company more than she used to.</a:t>
            </a:r>
            <a:endParaRPr lang="en-US" sz="700" dirty="0"/>
          </a:p>
        </p:txBody>
      </p:sp>
      <p:sp>
        <p:nvSpPr>
          <p:cNvPr id="28" name="R1_la7"/>
          <p:cNvSpPr txBox="1"/>
          <p:nvPr/>
        </p:nvSpPr>
        <p:spPr>
          <a:xfrm>
            <a:off x="6826910" y="4434840"/>
            <a:ext cx="1997050" cy="201168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50" dirty="0"/>
          </a:p>
        </p:txBody>
      </p:sp>
      <p:sp>
        <p:nvSpPr>
          <p:cNvPr id="29" name="pageTag_19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p.91 · 2d, 2e · audio 9.13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9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9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2f</a:t>
            </a:r>
            <a:endParaRPr lang="en-US" sz="900" dirty="0"/>
          </a:p>
        </p:txBody>
      </p:sp>
      <p:sp>
        <p:nvSpPr>
          <p:cNvPr id="6" name="timer_19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9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198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Could you cope?</a:t>
            </a:r>
            <a:endParaRPr lang="en-US" sz="1500" dirty="0"/>
          </a:p>
        </p:txBody>
      </p:sp>
      <p:sp>
        <p:nvSpPr>
          <p:cNvPr id="9" name="post_19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0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0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questions with a partner.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Discuti le domande con un compagno.</a:t>
            </a:r>
            <a:endParaRPr lang="en-US" sz="1250" dirty="0"/>
          </a:p>
        </p:txBody>
      </p:sp>
      <p:sp>
        <p:nvSpPr>
          <p:cNvPr id="12" name="box_202"/>
          <p:cNvSpPr txBox="1"/>
          <p:nvPr/>
        </p:nvSpPr>
        <p:spPr>
          <a:xfrm>
            <a:off x="2788920" y="1371600"/>
            <a:ext cx="6035040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If you went on a digital detox course, what do you think you would miss the most? How would you feel?</a:t>
            </a:r>
            <a:endParaRPr lang="en-US" sz="1250" dirty="0"/>
          </a:p>
        </p:txBody>
      </p:sp>
      <p:sp>
        <p:nvSpPr>
          <p:cNvPr id="13" name="box_203"/>
          <p:cNvSpPr txBox="1"/>
          <p:nvPr/>
        </p:nvSpPr>
        <p:spPr>
          <a:xfrm>
            <a:off x="2788920" y="2368296"/>
            <a:ext cx="6035040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 you think digital detoxes are a good idea or a stupid idea? Do you think it's really necessary to take a break from technology?</a:t>
            </a:r>
            <a:endParaRPr lang="en-US" sz="1250" dirty="0"/>
          </a:p>
        </p:txBody>
      </p:sp>
      <p:sp>
        <p:nvSpPr>
          <p:cNvPr id="14" name="box_204"/>
          <p:cNvSpPr txBox="1"/>
          <p:nvPr/>
        </p:nvSpPr>
        <p:spPr>
          <a:xfrm>
            <a:off x="2788920" y="3364992"/>
            <a:ext cx="6035040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Have you been without the internet (or phone coverage) recently? Why? Did you miss it?</a:t>
            </a:r>
            <a:endParaRPr lang="en-US" sz="1250" dirty="0"/>
          </a:p>
        </p:txBody>
      </p:sp>
      <p:sp>
        <p:nvSpPr>
          <p:cNvPr id="15" name="sticky_205"/>
          <p:cNvSpPr txBox="1"/>
          <p:nvPr/>
        </p:nvSpPr>
        <p:spPr>
          <a:xfrm rot="-120000">
            <a:off x="411480" y="4224528"/>
            <a:ext cx="2194560" cy="45720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idea or stupid idea? Vote!</a:t>
            </a:r>
            <a:endParaRPr lang="en-US" sz="1000" dirty="0"/>
          </a:p>
        </p:txBody>
      </p:sp>
      <p:sp>
        <p:nvSpPr>
          <p:cNvPr id="16" name="pageTag_20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p.91 · 2f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</a:t>
            </a:r>
            <a:endParaRPr lang="en-US" sz="900" dirty="0"/>
          </a:p>
        </p:txBody>
      </p:sp>
      <p:sp>
        <p:nvSpPr>
          <p:cNvPr id="6" name="timer_21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21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8" name="title_212"/>
          <p:cNvSpPr txBox="1"/>
          <p:nvPr/>
        </p:nvSpPr>
        <p:spPr>
          <a:xfrm rot="-120000">
            <a:off x="320040" y="676656"/>
            <a:ext cx="363016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in the box?</a:t>
            </a:r>
            <a:endParaRPr lang="en-US" sz="1500" dirty="0"/>
          </a:p>
        </p:txBody>
      </p:sp>
      <p:sp>
        <p:nvSpPr>
          <p:cNvPr id="9" name="post_21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1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1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secret device. Ask only yes / no questions!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il dispositivo segreto. Solo domande sì / no!</a:t>
            </a:r>
            <a:endParaRPr lang="en-US" sz="1250" dirty="0"/>
          </a:p>
        </p:txBody>
      </p:sp>
      <p:sp>
        <p:nvSpPr>
          <p:cNvPr id="12" name="n_216"/>
          <p:cNvSpPr txBox="1"/>
          <p:nvPr/>
        </p:nvSpPr>
        <p:spPr>
          <a:xfrm>
            <a:off x="2834640" y="139903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t_217"/>
          <p:cNvSpPr txBox="1"/>
          <p:nvPr/>
        </p:nvSpPr>
        <p:spPr>
          <a:xfrm>
            <a:off x="3310128" y="1325880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(the 'box') stands next to the screen, looking at it.</a:t>
            </a:r>
            <a:endParaRPr lang="en-US" sz="1400" dirty="0"/>
          </a:p>
        </p:txBody>
      </p:sp>
      <p:sp>
        <p:nvSpPr>
          <p:cNvPr id="14" name="n_218"/>
          <p:cNvSpPr txBox="1"/>
          <p:nvPr/>
        </p:nvSpPr>
        <p:spPr>
          <a:xfrm>
            <a:off x="2834640" y="202082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t_219"/>
          <p:cNvSpPr txBox="1"/>
          <p:nvPr/>
        </p:nvSpPr>
        <p:spPr>
          <a:xfrm>
            <a:off x="3310128" y="1947672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else: you must NOT see the screen – turn round or close your eyes!</a:t>
            </a:r>
            <a:endParaRPr lang="en-US" sz="1250" dirty="0"/>
          </a:p>
        </p:txBody>
      </p:sp>
      <p:sp>
        <p:nvSpPr>
          <p:cNvPr id="16" name="n_220"/>
          <p:cNvSpPr txBox="1"/>
          <p:nvPr/>
        </p:nvSpPr>
        <p:spPr>
          <a:xfrm>
            <a:off x="2834640" y="26426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t_221"/>
          <p:cNvSpPr txBox="1"/>
          <p:nvPr/>
        </p:nvSpPr>
        <p:spPr>
          <a:xfrm>
            <a:off x="3310128" y="2569464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clicks → a secret device. The class asks yes / no questions: Do you plug it in? Is it smaller than a phone?</a:t>
            </a:r>
            <a:endParaRPr lang="en-US" sz="1250" dirty="0"/>
          </a:p>
        </p:txBody>
      </p:sp>
      <p:sp>
        <p:nvSpPr>
          <p:cNvPr id="18" name="n_222"/>
          <p:cNvSpPr txBox="1"/>
          <p:nvPr/>
        </p:nvSpPr>
        <p:spPr>
          <a:xfrm>
            <a:off x="2834640" y="326440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t_223"/>
          <p:cNvSpPr txBox="1"/>
          <p:nvPr/>
        </p:nvSpPr>
        <p:spPr>
          <a:xfrm>
            <a:off x="3310128" y="3191256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'box' answers ONLY yes / no / sometimes. Max 20 questions!</a:t>
            </a:r>
            <a:endParaRPr lang="en-US" sz="1400" dirty="0"/>
          </a:p>
        </p:txBody>
      </p:sp>
      <p:sp>
        <p:nvSpPr>
          <p:cNvPr id="20" name="n_224"/>
          <p:cNvSpPr txBox="1"/>
          <p:nvPr/>
        </p:nvSpPr>
        <p:spPr>
          <a:xfrm>
            <a:off x="2834640" y="3886200"/>
            <a:ext cx="384048" cy="384048"/>
          </a:xfrm>
          <a:prstGeom prst="ellipse">
            <a:avLst/>
          </a:prstGeom>
          <a:solidFill>
            <a:srgbClr val="062F67"/>
          </a:solidFill>
          <a:ln w="190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st_225"/>
          <p:cNvSpPr txBox="1"/>
          <p:nvPr/>
        </p:nvSpPr>
        <p:spPr>
          <a:xfrm>
            <a:off x="3310128" y="3813048"/>
            <a:ext cx="548640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with a full sentence: It's a router! Fewer questions = more points for your team.</a:t>
            </a:r>
            <a:endParaRPr lang="en-US" sz="1250" dirty="0"/>
          </a:p>
        </p:txBody>
      </p:sp>
      <p:sp>
        <p:nvSpPr>
          <p:cNvPr id="22" name="pageTag_226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recycles SB p.90 devices + phrasal verbs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2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2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 · card 1 of 7</a:t>
            </a:r>
            <a:endParaRPr lang="en-US" sz="900" dirty="0"/>
          </a:p>
        </p:txBody>
      </p:sp>
      <p:sp>
        <p:nvSpPr>
          <p:cNvPr id="6" name="footer_23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warn_231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8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ROUTER</a:t>
            </a:r>
            <a:endParaRPr lang="en-US" sz="4000" dirty="0"/>
          </a:p>
        </p:txBody>
      </p:sp>
      <p:sp>
        <p:nvSpPr>
          <p:cNvPr id="10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</a:t>
            </a:r>
            <a:endParaRPr lang="en-US" sz="1600" dirty="0"/>
          </a:p>
        </p:txBody>
      </p:sp>
      <p:sp>
        <p:nvSpPr>
          <p:cNvPr id="11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no · sometimes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 · card 2 of 7</a:t>
            </a:r>
            <a:endParaRPr lang="en-US" sz="900" dirty="0"/>
          </a:p>
        </p:txBody>
      </p:sp>
      <p:sp>
        <p:nvSpPr>
          <p:cNvPr id="6" name="footer_23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warn_236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8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REMOTE CONTROL</a:t>
            </a:r>
            <a:endParaRPr lang="en-US" sz="3600" dirty="0"/>
          </a:p>
        </p:txBody>
      </p:sp>
      <p:sp>
        <p:nvSpPr>
          <p:cNvPr id="10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</a:t>
            </a:r>
            <a:endParaRPr lang="en-US" sz="1600" dirty="0"/>
          </a:p>
        </p:txBody>
      </p:sp>
      <p:sp>
        <p:nvSpPr>
          <p:cNvPr id="11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no · sometimes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3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3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 · card 3 of 7</a:t>
            </a:r>
            <a:endParaRPr lang="en-US" sz="900" dirty="0"/>
          </a:p>
        </p:txBody>
      </p:sp>
      <p:sp>
        <p:nvSpPr>
          <p:cNvPr id="6" name="footer_24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warn_241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8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CHARGER</a:t>
            </a:r>
            <a:endParaRPr lang="en-US" sz="4000" dirty="0"/>
          </a:p>
        </p:txBody>
      </p:sp>
      <p:sp>
        <p:nvSpPr>
          <p:cNvPr id="10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</a:t>
            </a:r>
            <a:endParaRPr lang="en-US" sz="1600" dirty="0"/>
          </a:p>
        </p:txBody>
      </p:sp>
      <p:sp>
        <p:nvSpPr>
          <p:cNvPr id="11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no · sometimes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 · card 4 of 7</a:t>
            </a:r>
            <a:endParaRPr lang="en-US" sz="900" dirty="0"/>
          </a:p>
        </p:txBody>
      </p:sp>
      <p:sp>
        <p:nvSpPr>
          <p:cNvPr id="6" name="footer_24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warn_246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8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PRINTER</a:t>
            </a:r>
            <a:endParaRPr lang="en-US" sz="4000" dirty="0"/>
          </a:p>
        </p:txBody>
      </p:sp>
      <p:sp>
        <p:nvSpPr>
          <p:cNvPr id="10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</a:t>
            </a:r>
            <a:endParaRPr lang="en-US" sz="1600" dirty="0"/>
          </a:p>
        </p:txBody>
      </p:sp>
      <p:sp>
        <p:nvSpPr>
          <p:cNvPr id="11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no · sometimes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4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 · card 5 of 7</a:t>
            </a:r>
            <a:endParaRPr lang="en-US" sz="900" dirty="0"/>
          </a:p>
        </p:txBody>
      </p:sp>
      <p:sp>
        <p:nvSpPr>
          <p:cNvPr id="6" name="footer_25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warn_251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8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MEMORY STICK</a:t>
            </a:r>
            <a:endParaRPr lang="en-US" sz="4000" dirty="0"/>
          </a:p>
        </p:txBody>
      </p:sp>
      <p:sp>
        <p:nvSpPr>
          <p:cNvPr id="10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</a:t>
            </a:r>
            <a:endParaRPr lang="en-US" sz="1600" dirty="0"/>
          </a:p>
        </p:txBody>
      </p:sp>
      <p:sp>
        <p:nvSpPr>
          <p:cNvPr id="11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no · sometimes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5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 · card 6 of 7</a:t>
            </a:r>
            <a:endParaRPr lang="en-US" sz="900" dirty="0"/>
          </a:p>
        </p:txBody>
      </p:sp>
      <p:sp>
        <p:nvSpPr>
          <p:cNvPr id="6" name="footer_25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warn_256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8" name="R1_card"/>
          <p:cNvSpPr/>
          <p:nvPr/>
        </p:nvSpPr>
        <p:spPr>
          <a:xfrm rot="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word"/>
          <p:cNvSpPr txBox="1"/>
          <p:nvPr/>
        </p:nvSpPr>
        <p:spPr>
          <a:xfrm rot="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SPEAKER</a:t>
            </a:r>
            <a:endParaRPr lang="en-US" sz="4000" dirty="0"/>
          </a:p>
        </p:txBody>
      </p:sp>
      <p:sp>
        <p:nvSpPr>
          <p:cNvPr id="10" name="R1_dont"/>
          <p:cNvSpPr txBox="1"/>
          <p:nvPr/>
        </p:nvSpPr>
        <p:spPr>
          <a:xfrm rot="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</a:t>
            </a:r>
            <a:endParaRPr lang="en-US" sz="1600" dirty="0"/>
          </a:p>
        </p:txBody>
      </p:sp>
      <p:sp>
        <p:nvSpPr>
          <p:cNvPr id="11" name="R1_ban"/>
          <p:cNvSpPr txBox="1"/>
          <p:nvPr/>
        </p:nvSpPr>
        <p:spPr>
          <a:xfrm rot="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no · sometimes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5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Twenty questions · card 7 of 7</a:t>
            </a:r>
            <a:endParaRPr lang="en-US" sz="900" dirty="0"/>
          </a:p>
        </p:txBody>
      </p:sp>
      <p:sp>
        <p:nvSpPr>
          <p:cNvPr id="6" name="footer_26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7" name="warn_261"/>
          <p:cNvSpPr txBox="1"/>
          <p:nvPr/>
        </p:nvSpPr>
        <p:spPr>
          <a:xfrm>
            <a:off x="365760" y="731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Guessers: don't look!  ·  Non guardate!</a:t>
            </a:r>
            <a:endParaRPr lang="en-US" sz="1600" dirty="0"/>
          </a:p>
        </p:txBody>
      </p:sp>
      <p:sp>
        <p:nvSpPr>
          <p:cNvPr id="8" name="R1_card"/>
          <p:cNvSpPr/>
          <p:nvPr/>
        </p:nvSpPr>
        <p:spPr>
          <a:xfrm rot="-90000">
            <a:off x="1828800" y="132588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R1_word"/>
          <p:cNvSpPr txBox="1"/>
          <p:nvPr/>
        </p:nvSpPr>
        <p:spPr>
          <a:xfrm rot="-90000">
            <a:off x="182880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2F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ADAPTOR</a:t>
            </a:r>
            <a:endParaRPr lang="en-US" sz="4000" dirty="0"/>
          </a:p>
        </p:txBody>
      </p:sp>
      <p:sp>
        <p:nvSpPr>
          <p:cNvPr id="10" name="R1_dont"/>
          <p:cNvSpPr txBox="1"/>
          <p:nvPr/>
        </p:nvSpPr>
        <p:spPr>
          <a:xfrm rot="-90000"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</a:t>
            </a:r>
            <a:endParaRPr lang="en-US" sz="1600" dirty="0"/>
          </a:p>
        </p:txBody>
      </p:sp>
      <p:sp>
        <p:nvSpPr>
          <p:cNvPr id="11" name="R1_ban"/>
          <p:cNvSpPr txBox="1"/>
          <p:nvPr/>
        </p:nvSpPr>
        <p:spPr>
          <a:xfrm rot="-90000">
            <a:off x="2011680" y="31089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· no · sometimes</a:t>
            </a:r>
            <a:endParaRPr lang="en-US" sz="26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6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6" name="title_265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66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67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electronic devices: a charger, a socket…</a:t>
            </a:r>
            <a:endParaRPr lang="en-US" sz="1300" dirty="0"/>
          </a:p>
        </p:txBody>
      </p:sp>
      <p:sp>
        <p:nvSpPr>
          <p:cNvPr id="9" name="faces_268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69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phrasal verbs: switch it on, turn it down…</a:t>
            </a:r>
            <a:endParaRPr lang="en-US" sz="1300" dirty="0"/>
          </a:p>
        </p:txBody>
      </p:sp>
      <p:sp>
        <p:nvSpPr>
          <p:cNvPr id="11" name="faces_270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71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a radio programme about a digital detox.</a:t>
            </a:r>
            <a:endParaRPr lang="en-US" sz="1200" dirty="0"/>
          </a:p>
        </p:txBody>
      </p:sp>
      <p:sp>
        <p:nvSpPr>
          <p:cNvPr id="13" name="faces_272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73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9B: 1a, 1b, 1c, 3a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SB p.90 1b: cover &amp; test yourself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9B-1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74"/>
          <p:cNvSpPr txBox="1"/>
          <p:nvPr/>
        </p:nvSpPr>
        <p:spPr>
          <a:xfrm>
            <a:off x="365760" y="3657600"/>
            <a:ext cx="50292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9B part 2 · Quantifiers · ough &amp; augh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7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7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7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Warmer · Memory</a:t>
            </a:r>
            <a:endParaRPr lang="en-US" sz="900" dirty="0"/>
          </a:p>
        </p:txBody>
      </p:sp>
      <p:sp>
        <p:nvSpPr>
          <p:cNvPr id="6" name="timer_27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27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8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9" name="title_281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Kim's game: the table</a:t>
            </a:r>
            <a:endParaRPr lang="en-US" sz="1500" dirty="0"/>
          </a:p>
        </p:txBody>
      </p:sp>
      <p:sp>
        <p:nvSpPr>
          <p:cNvPr id="10" name="post_28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8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2" name="signB_28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1 minute. Then write all the objects you remember!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per 1 minuto. Poi scrivi tutti gli oggetti che ricordi!</a:t>
            </a:r>
            <a:endParaRPr lang="en-US" sz="1200" dirty="0"/>
          </a:p>
        </p:txBody>
      </p:sp>
      <p:sp>
        <p:nvSpPr>
          <p:cNvPr id="13" name="iconBack_28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86" descr="pi:PiPlu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87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88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puts real objects on a table: an adaptor, a charger, a plug, a mouse, a speaker, a USB cable…</a:t>
            </a:r>
            <a:endParaRPr lang="en-US" sz="1300" dirty="0"/>
          </a:p>
        </p:txBody>
      </p:sp>
      <p:sp>
        <p:nvSpPr>
          <p:cNvPr id="17" name="num_289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90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come and look for ONE minute – no photos!</a:t>
            </a:r>
            <a:endParaRPr lang="en-US" sz="1300" dirty="0"/>
          </a:p>
        </p:txBody>
      </p:sp>
      <p:sp>
        <p:nvSpPr>
          <p:cNvPr id="19" name="num_291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92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pairs: write down every object you remember, in English, with a / an.</a:t>
            </a:r>
            <a:endParaRPr lang="en-US" sz="1300" dirty="0"/>
          </a:p>
        </p:txBody>
      </p:sp>
      <p:sp>
        <p:nvSpPr>
          <p:cNvPr id="21" name="num_293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94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takes the objects out one by one. 1 point per object, +1 for perfect pronunciation.</a:t>
            </a:r>
            <a:endParaRPr lang="en-US" sz="1300" dirty="0"/>
          </a:p>
        </p:txBody>
      </p:sp>
      <p:sp>
        <p:nvSpPr>
          <p:cNvPr id="23" name="bubble_295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remember a charger, an adaptor and a USB cable!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9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9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9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Ranking</a:t>
            </a:r>
            <a:endParaRPr lang="en-US" sz="900" dirty="0"/>
          </a:p>
        </p:txBody>
      </p:sp>
      <p:sp>
        <p:nvSpPr>
          <p:cNvPr id="6" name="timer_29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extra_300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30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9" name="title_302"/>
          <p:cNvSpPr txBox="1"/>
          <p:nvPr/>
        </p:nvSpPr>
        <p:spPr>
          <a:xfrm rot="-120000">
            <a:off x="320040" y="676656"/>
            <a:ext cx="554126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could you live without?</a:t>
            </a:r>
            <a:endParaRPr lang="en-US" sz="1500" dirty="0"/>
          </a:p>
        </p:txBody>
      </p:sp>
      <p:sp>
        <p:nvSpPr>
          <p:cNvPr id="10" name="post_30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30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30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an order with a partner. Explain your choices!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Mettetevi d'accordo sull'ordine. Spiegate le scelte!</a:t>
            </a:r>
            <a:endParaRPr lang="en-US" sz="1200" dirty="0"/>
          </a:p>
        </p:txBody>
      </p:sp>
      <p:sp>
        <p:nvSpPr>
          <p:cNvPr id="13" name="rt_306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CAN'T LIVE WITHOUT</a:t>
            </a:r>
            <a:endParaRPr lang="en-US" sz="1050" dirty="0"/>
          </a:p>
        </p:txBody>
      </p:sp>
      <p:sp>
        <p:nvSpPr>
          <p:cNvPr id="14" name="rb_307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WOULDN'T MISS IT</a:t>
            </a:r>
            <a:endParaRPr lang="en-US" sz="1100" dirty="0"/>
          </a:p>
        </p:txBody>
      </p:sp>
      <p:sp>
        <p:nvSpPr>
          <p:cNvPr id="15" name="arrow_308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A8E6B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6" name="slot_309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7" name="ri_310" descr="my ph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18" name="box_311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phone</a:t>
            </a:r>
            <a:endParaRPr lang="en-US" sz="1300" dirty="0"/>
          </a:p>
        </p:txBody>
      </p:sp>
      <p:sp>
        <p:nvSpPr>
          <p:cNvPr id="19" name="slot_312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0" name="ri_313" descr="the Wi-Fi rou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21" name="box_314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Wi-Fi router</a:t>
            </a:r>
            <a:endParaRPr lang="en-US" sz="1300" dirty="0"/>
          </a:p>
        </p:txBody>
      </p:sp>
      <p:sp>
        <p:nvSpPr>
          <p:cNvPr id="22" name="slot_315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3" name="ri_316" descr="the TV remote contro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4" name="box_317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TV remote control</a:t>
            </a:r>
            <a:endParaRPr lang="en-US" sz="1300" dirty="0"/>
          </a:p>
        </p:txBody>
      </p:sp>
      <p:sp>
        <p:nvSpPr>
          <p:cNvPr id="25" name="slot_318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6" name="ri_319" descr="my speaker / headphon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7" name="box_320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speaker / headphones</a:t>
            </a:r>
            <a:endParaRPr lang="en-US" sz="1300" dirty="0"/>
          </a:p>
        </p:txBody>
      </p:sp>
      <p:sp>
        <p:nvSpPr>
          <p:cNvPr id="28" name="slot_321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9" name="ri_322" descr="my laptop / compu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30" name="box_323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laptop / computer</a:t>
            </a:r>
            <a:endParaRPr lang="en-US" sz="1300" dirty="0"/>
          </a:p>
        </p:txBody>
      </p:sp>
      <p:sp>
        <p:nvSpPr>
          <p:cNvPr id="31" name="slot_324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2" name="ri_325" descr="the print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3" name="box_326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printer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2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2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2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Group task</a:t>
            </a:r>
            <a:endParaRPr lang="en-US" sz="900" dirty="0"/>
          </a:p>
        </p:txBody>
      </p:sp>
      <p:sp>
        <p:nvSpPr>
          <p:cNvPr id="6" name="timer_33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331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33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 · Part 1</a:t>
            </a:r>
            <a:endParaRPr lang="en-US" sz="1000" dirty="0"/>
          </a:p>
        </p:txBody>
      </p:sp>
      <p:sp>
        <p:nvSpPr>
          <p:cNvPr id="9" name="title_333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a detox weekend</a:t>
            </a:r>
            <a:endParaRPr lang="en-US" sz="1500" dirty="0"/>
          </a:p>
        </p:txBody>
      </p:sp>
      <p:sp>
        <p:nvSpPr>
          <p:cNvPr id="10" name="post_33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33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33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groups: plan a phone-free weekend for your class.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gruppo: organizzate un weekend senza telefono per la classe.</a:t>
            </a:r>
            <a:endParaRPr lang="en-US" sz="1250" dirty="0"/>
          </a:p>
        </p:txBody>
      </p:sp>
      <p:sp>
        <p:nvSpPr>
          <p:cNvPr id="13" name="iconBack_33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338" descr="pi:PiT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339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340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 Choose a place near Bagheria (the sea, the mountains, a farm…).</a:t>
            </a:r>
            <a:endParaRPr lang="en-US" sz="1250" dirty="0"/>
          </a:p>
        </p:txBody>
      </p:sp>
      <p:sp>
        <p:nvSpPr>
          <p:cNvPr id="17" name="num_341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342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what devices are allowed? When do you hand them in?</a:t>
            </a:r>
            <a:endParaRPr lang="en-US" sz="1300" dirty="0"/>
          </a:p>
        </p:txBody>
      </p:sp>
      <p:sp>
        <p:nvSpPr>
          <p:cNvPr id="19" name="num_343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344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4 activities instead of screens (Anna did yoga, walks, picking fruit…).</a:t>
            </a:r>
            <a:endParaRPr lang="en-US" sz="1250" dirty="0"/>
          </a:p>
        </p:txBody>
      </p:sp>
      <p:sp>
        <p:nvSpPr>
          <p:cNvPr id="21" name="num_345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346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emergency: how can families contact you?</a:t>
            </a:r>
            <a:endParaRPr lang="en-US" sz="1300" dirty="0"/>
          </a:p>
        </p:txBody>
      </p:sp>
      <p:sp>
        <p:nvSpPr>
          <p:cNvPr id="23" name="num_347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box_348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weekend. The class votes: which one would you go on?</a:t>
            </a:r>
            <a:endParaRPr lang="en-US" sz="1300" dirty="0"/>
          </a:p>
        </p:txBody>
      </p:sp>
      <p:sp>
        <p:nvSpPr>
          <p:cNvPr id="25" name="bubble_349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Saturday morning everybody hands in their phones and we go for a walk on Monte Catalfano!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9B-1 Digital detox</dc:title>
  <dc:subject>PptxGenJS Presentation</dc:subject>
  <dc:creator>London Language School</dc:creator>
  <cp:lastModifiedBy>London Language School</cp:lastModifiedBy>
  <cp:revision>1</cp:revision>
  <dcterms:created xsi:type="dcterms:W3CDTF">2026-10-05T09:39:33Z</dcterms:created>
  <dcterms:modified xsi:type="dcterms:W3CDTF">2026-10-05T09:39:33Z</dcterms:modified>
</cp:coreProperties>
</file>