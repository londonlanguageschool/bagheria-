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(2 min, TB38). 'Who helps you?' Students say people who help them and share short stories of when someone helped them. 'We're going to read a story about someone who needs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OF LESSONS 1 + 4 – WORD TENNIS (4 min). SEE: 8 helpers (pictures only). TEACHER: mime a tennis serve to Team A. STUDENTS: Team A says a job ('A dentist!'), Team B 'hits it back' within 3 seconds with the place ('…works in a surgery!'), then Team B serves a new job. Each turn a DIFFERENT child speaks (go along the row). GROUPING: 2 teams facing each other. SCORE: a point when the other team is too slow, wrong, or repeats a job. LANGUAGE: jobs + work in a hospital / school / surgery / fire station / police station / restaurant / on a farm. Round 2 (challenge): serve a PROBLEM ('There's a fire!') – return the job ('A firefighter can help!'). REVEAL: teacher is the umpire – confirms or corrects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EX.1 (4 min, TB38). MODEL first: show a photo of yourself in fancy dress (or describe one): 'I'm wearing my favourite costume. I'm a cat! I've got a long tail and black ears.' Then pairs talk using the support frame. Answers on click are MODELS, not 'correct answers'. VARIATION questions: 'Which costume would your mum choose? Which would an alien choose? Which costume would you NEVER wear?' Write famous superheroes on the board. (TB38 spelling warm-up moved to EXTRA: Spelling bee.)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(3 min). New language (TB38): have an idea, laugh, superhero, be good at …ing, What about …? Do the TPR for each word. TPR: Superhero pose! Fly!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(3 min). New language (TB38): have an idea, laugh, superhero, be good at …ing, What about …? Do the TPR for each word. TPR: Finger up: 'I've got an idea!'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(3 min). New language (TB38): have an idea, laugh, superhero, be good at …ing, What about …? Do the TPR for each word. TPR: Laugh! Ha ha ha!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 ITALIAN TRAPS (3 min, before the story so the words are easy to hear). SEE: two options per word, answers hidden. TEACHER: say option 1 and option 2 aloud; students hold up 1 or 2 fingers (commit), then click. Whisper → normal → monster voice for each word. Italians read 'laugh' as it's written – 'gh' here sounds like /f/ (also 'enough'). 'Superhero': Italian 'supereroe' has stress on E – English stresses SU. TRAPS: 'She has' (not 'have') with he/she/it; 'good AT + -ing' (Italian 'bravo A' + infinitive). Challenge: 'enough', 'cough', 'tough'.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PART 1 (TB38). Also ask: What's the boy's name? (Matt) Why can't he wear a superhero costume? (Because Harry wants to be a superhero.) Why can't he be a pirate? (Because Dan and Zoe have got pirate costumes.) First look at the pictures: Picture 1 – Is the boy happy? (No) What's on the walls of his bedroom? (Posters of superheroes) Who's the woman? (The boy's mum). Picture 2 – What does the picture in the 'Think' bubble mean? (She has an idea.) Play the audio, pause after 'superhero costume' and after 'pirate costumes!' Ask the questions; answers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PART 2 (TB38). Play the next part, pause after 'has an idea!'. Check 'silly' (sciocco). 'What do you think Mum's idea is?' – students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3 (TB38): 'Where's the boy? (At a party.) Is he happy? (Yes.) Which costumes can you see?' (A pirate, a pop star, a dentist, a superhero, a farmer, a clown, a nurse, a police officer.) Point and say: 'She's a pop star. He's a police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PART 3 (TB38). Play the rest of the story while students read on the screen. Explain 'good at' (bravo a). EXTENSION: play the whole story again without pauses; students just listen and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PART 3 (TB38): What's Emily wearing? (A pop star costume) What's she doing? (Singing) What is Matt's costume? (A superhero pirate clown) Why is everyone laughing? (Because his costume is funny) What is Matt's mum good at? (Helping)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EX.2 (4 min, TB39). Check 'choose' (scegliere). Pairs think and talk, then check. KEY (TB39): 1 No, he doesn't. 2 His mum has the idea. 3 Yes, he does. 4 Because he's very happy at the end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TPR – ACT OUT THE STORY (4 min, TB39 extra support). SEE: 6 pictures, actions on click. TEACHER: tell the story sentence by sentence and mime: 'There's a costume party for Emily's birthday. Matt's thinking (mime thinking). He wants to be a superhero (flying pose). But Harry's got a superhero costume. Matt can be a pirate (sword fight). But Dan and Zoe have got pirate costumes. Emily's a pop star (sing). Julia's a farmer (drive a tractor). Ludo's a sheep (baa!). Matt's sad. Then his mum has an idea! (finger up)'. STUDENTS: act with you; second time you stop before the key word and they say it ('He wants to be a…' – 'SUPERHERO!'). GROUPING: whole class. LANGUAGE: story retelling (gap-fill orally).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DETECTIVES (4 min, TB39 warm-up). SEE: the party picture + 6 sentences, answers hidden. TEACHER: read sentence 1. STUDENTS: teams have 10 seconds to write the NAME on a mini whiteboard / paper and hold it up together ('Show me!') – commit before reveal. GROUPING: 3–4 teams. SCORE: 1 point per correct name, +1 for a correct spelling. LANGUAGE: reading/listening for detail; character names. REVEAL: click after all boards are up. KEY (TB39): Emily, Matt, Dan and Zoe, Ludo, Harry, Matt's mum. Bonus question: 'What is Matt's costume at the end?' (Superhero pirate clown).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AND EMOTIONAL SKILL: ASKING FOR AND OFFERING HELP (6 min, TB39). 'Matt asks his mother for help. Why does he need help? (He needs a costume.) Does his mother help him? (Yes.)' Ask what their parents do for them. Point out it's good to do things ourselves, but sometimes we need to ask for help – also in class (when I can't do my homework, when I can't find something…). Write the list; students copy it on A4 paper, decorate it and role-play in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EX.3 (4 min, TB39). Read the speech bubbles. Pairs talk about helping. Extra support: prompts on the board – wash the car, do the shopping, clean my bedroom, look after my brother. Model answers on click (students' own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ROLE-PLAY (5 min). SEE: 5 problem lines + support. TEACHER: MODEL with a strong student first (teacher has the problem, student offers help); then a supported pair at the front. STUDENTS: pairs – A picks a problem and says it with feeling, B offers help ('Can I help you? / I can help! / What about a …?'), A says 'Thank you very much!'; swap. GROUPING: pairs, then 2 volunteer pairs perform. SCORE: no points – the class gives a 'best actors' clap. LANGUAGE: Can I help you? Can you help me? Thank you very much! What about…? Good practice for the Mission scene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TB38). Ask 'How does your family help you?' Make a list of ways. Pairs write sentences ('My parents cook every day. My dad takes me to football.'). Self-assessment on the story (TB39).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 SPELLING BEE (5 min, TB38 warm-up). Two teams at the front with their backs to the board. Ask one child: 'How do you spell pirate?' Correct = 1 point. Children swap so everyone gets a turn. Stronger: police officer, firefighter,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 RUNNING DICTATION (8 min). Stick the 5 sentences (mixed order) on the wall outside / far from the teams. Runners change each sentence. When all 5 are written, the team puts them in the story order. Check spelling. Order: as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UNIT 3 · LESSON 5</a:t>
            </a:r>
            <a:endParaRPr lang="en-US" sz="1600" dirty="0"/>
          </a:p>
        </p:txBody>
      </p:sp>
      <p:sp>
        <p:nvSpPr>
          <p:cNvPr id="4" name="bm_2"/>
          <p:cNvSpPr/>
          <p:nvPr/>
        </p:nvSpPr>
        <p:spPr>
          <a:xfrm rot="-120000">
            <a:off x="228600" y="493776"/>
            <a:ext cx="48463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The costume party</a:t>
            </a:r>
            <a:endParaRPr lang="en-US" sz="2700" dirty="0"/>
          </a:p>
        </p:txBody>
      </p:sp>
      <p:sp>
        <p:nvSpPr>
          <p:cNvPr id="5" name="in_3"/>
          <p:cNvSpPr/>
          <p:nvPr/>
        </p:nvSpPr>
        <p:spPr>
          <a:xfrm>
            <a:off x="5212080" y="182880"/>
            <a:ext cx="370332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a story about helping 💡</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Oggi: una storia sull'aiutare</a:t>
            </a:r>
            <a:endParaRPr lang="en-US" sz="1400" dirty="0"/>
          </a:p>
        </p:txBody>
      </p:sp>
      <p:sp>
        <p:nvSpPr>
          <p:cNvPr id="6" name="st_4"/>
          <p:cNvSpPr/>
          <p:nvPr/>
        </p:nvSpPr>
        <p:spPr>
          <a:xfrm>
            <a:off x="228600" y="1371600"/>
            <a:ext cx="2743200" cy="914400"/>
          </a:xfrm>
          <a:prstGeom prst="roundRect">
            <a:avLst>
              <a:gd name="adj" fmla="val 1200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7" name="sn_5"/>
          <p:cNvSpPr/>
          <p:nvPr/>
        </p:nvSpPr>
        <p:spPr>
          <a:xfrm>
            <a:off x="118872" y="126187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sk_6"/>
          <p:cNvSpPr/>
          <p:nvPr/>
        </p:nvSpPr>
        <p:spPr>
          <a:xfrm>
            <a:off x="521208" y="140817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9" name="se_7"/>
          <p:cNvSpPr/>
          <p:nvPr/>
        </p:nvSpPr>
        <p:spPr>
          <a:xfrm>
            <a:off x="338328" y="170078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Talk about costume parties.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Parla delle feste in maschera.</a:t>
            </a:r>
            <a:endParaRPr lang="en-US" sz="1050" dirty="0"/>
          </a:p>
        </p:txBody>
      </p:sp>
      <p:sp>
        <p:nvSpPr>
          <p:cNvPr id="10" name="st_8"/>
          <p:cNvSpPr/>
          <p:nvPr/>
        </p:nvSpPr>
        <p:spPr>
          <a:xfrm>
            <a:off x="228600" y="2377440"/>
            <a:ext cx="2743200" cy="914400"/>
          </a:xfrm>
          <a:prstGeom prst="roundRect">
            <a:avLst>
              <a:gd name="adj" fmla="val 1200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11" name="sn_9"/>
          <p:cNvSpPr/>
          <p:nvPr/>
        </p:nvSpPr>
        <p:spPr>
          <a:xfrm>
            <a:off x="118872" y="226771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sk_10"/>
          <p:cNvSpPr/>
          <p:nvPr/>
        </p:nvSpPr>
        <p:spPr>
          <a:xfrm>
            <a:off x="521208" y="241401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READ</a:t>
            </a:r>
            <a:endParaRPr lang="en-US" sz="1300" dirty="0"/>
          </a:p>
        </p:txBody>
      </p:sp>
      <p:sp>
        <p:nvSpPr>
          <p:cNvPr id="13" name="se_11"/>
          <p:cNvSpPr/>
          <p:nvPr/>
        </p:nvSpPr>
        <p:spPr>
          <a:xfrm>
            <a:off x="338328" y="270662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Read the story: The costume party.</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Leggi la storia: La festa in maschera.</a:t>
            </a:r>
            <a:endParaRPr lang="en-US" sz="1050" dirty="0"/>
          </a:p>
        </p:txBody>
      </p:sp>
      <p:sp>
        <p:nvSpPr>
          <p:cNvPr id="14" name="st_12"/>
          <p:cNvSpPr/>
          <p:nvPr/>
        </p:nvSpPr>
        <p:spPr>
          <a:xfrm>
            <a:off x="228600" y="3383280"/>
            <a:ext cx="2743200" cy="914400"/>
          </a:xfrm>
          <a:prstGeom prst="roundRect">
            <a:avLst>
              <a:gd name="adj" fmla="val 1200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5" name="sn_13"/>
          <p:cNvSpPr/>
          <p:nvPr/>
        </p:nvSpPr>
        <p:spPr>
          <a:xfrm>
            <a:off x="118872" y="32735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6" name="sk_14"/>
          <p:cNvSpPr/>
          <p:nvPr/>
        </p:nvSpPr>
        <p:spPr>
          <a:xfrm>
            <a:off x="521208" y="341985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7" name="se_15"/>
          <p:cNvSpPr/>
          <p:nvPr/>
        </p:nvSpPr>
        <p:spPr>
          <a:xfrm>
            <a:off x="338328" y="371246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Ask for help and offer help!</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Chiedi aiuto e offri aiuto!</a:t>
            </a:r>
            <a:endParaRPr lang="en-US" sz="1050" dirty="0"/>
          </a:p>
        </p:txBody>
      </p:sp>
      <p:sp>
        <p:nvSpPr>
          <p:cNvPr id="18" name="pf_16"/>
          <p:cNvSpPr/>
          <p:nvPr/>
        </p:nvSpPr>
        <p:spPr>
          <a:xfrm>
            <a:off x="3191256" y="1271016"/>
            <a:ext cx="3355848" cy="3264408"/>
          </a:xfrm>
          <a:prstGeom prst="roundRect">
            <a:avLst>
              <a:gd name="adj" fmla="val 280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pic_17" descr="/home/claude/movers/img/crop/u3-p39-party.jpg">    </p:cNvPr>
          <p:cNvPicPr>
            <a:picLocks noChangeAspect="1"/>
          </p:cNvPicPr>
          <p:nvPr/>
        </p:nvPicPr>
        <p:blipFill>
          <a:blip r:embed="rId2"/>
          <a:stretch>
            <a:fillRect/>
          </a:stretch>
        </p:blipFill>
        <p:spPr>
          <a:xfrm>
            <a:off x="3246120" y="1837700"/>
            <a:ext cx="3246120" cy="2131041"/>
          </a:xfrm>
          <a:prstGeom prst="rect">
            <a:avLst/>
          </a:prstGeom>
        </p:spPr>
      </p:pic>
      <p:sp>
        <p:nvSpPr>
          <p:cNvPr id="20" name="cd_18"/>
          <p:cNvSpPr/>
          <p:nvPr/>
        </p:nvSpPr>
        <p:spPr>
          <a:xfrm>
            <a:off x="6720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9" descr="/home/claude/movers/img/fc/pop-star.png">    </p:cNvPr>
          <p:cNvPicPr>
            <a:picLocks noChangeAspect="1"/>
          </p:cNvPicPr>
          <p:nvPr/>
        </p:nvPicPr>
        <p:blipFill>
          <a:blip r:embed="rId3"/>
          <a:stretch>
            <a:fillRect/>
          </a:stretch>
        </p:blipFill>
        <p:spPr>
          <a:xfrm>
            <a:off x="6793992" y="3090672"/>
            <a:ext cx="905256" cy="905256"/>
          </a:xfrm>
          <a:prstGeom prst="rect">
            <a:avLst/>
          </a:prstGeom>
        </p:spPr>
      </p:pic>
      <p:sp>
        <p:nvSpPr>
          <p:cNvPr id="22" name="cd_20"/>
          <p:cNvSpPr/>
          <p:nvPr/>
        </p:nvSpPr>
        <p:spPr>
          <a:xfrm>
            <a:off x="7863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1" descr="/home/claude/movers/img/fc/pirate.png">    </p:cNvPr>
          <p:cNvPicPr>
            <a:picLocks noChangeAspect="1"/>
          </p:cNvPicPr>
          <p:nvPr/>
        </p:nvPicPr>
        <p:blipFill>
          <a:blip r:embed="rId4"/>
          <a:stretch>
            <a:fillRect/>
          </a:stretch>
        </p:blipFill>
        <p:spPr>
          <a:xfrm>
            <a:off x="7936992" y="3090672"/>
            <a:ext cx="905256" cy="905256"/>
          </a:xfrm>
          <a:prstGeom prst="rect">
            <a:avLst/>
          </a:prstGeom>
        </p:spPr>
      </p:pic>
      <p:sp>
        <p:nvSpPr>
          <p:cNvPr id="24" name="bb_22"/>
          <p:cNvSpPr/>
          <p:nvPr/>
        </p:nvSpPr>
        <p:spPr>
          <a:xfrm>
            <a:off x="6675120" y="1874520"/>
            <a:ext cx="2240280" cy="822960"/>
          </a:xfrm>
          <a:prstGeom prst="rect">
            <a:avLst/>
          </a:prstGeom>
          <a:solidFill>
            <a:srgbClr val="FFFFFF"/>
          </a:solidFill>
          <a:ln w="25400">
            <a:solidFill>
              <a:srgbClr val="1E2A5A"/>
            </a:solidFill>
          </a:ln>
        </p:spPr>
        <p:txBody>
          <a:bodyPr wrap="square" lIns="50800" tIns="50800" rIns="50800" bIns="50800" rtlCol="0" anchor="ctr"/>
          <a:lstStyle/>
          <a:p>
            <a:pPr algn="ctr" indent="0" marL="0">
              <a:buNone/>
            </a:pPr>
            <a:r>
              <a:rPr lang="en-US" sz="1500" b="1" dirty="0">
                <a:solidFill>
                  <a:srgbClr val="1E2A5A"/>
                </a:solidFill>
                <a:latin typeface="Arial Rounded MT Bold" pitchFamily="34" charset="0"/>
                <a:ea typeface="Arial Rounded MT Bold" pitchFamily="34" charset="-122"/>
                <a:cs typeface="Arial Rounded MT Bold" pitchFamily="34" charset="-120"/>
              </a:rPr>
              <a:t>Can you help me?</a:t>
            </a:r>
            <a:endParaRPr lang="en-US" sz="1500" dirty="0"/>
          </a:p>
          <a:p>
            <a:pPr algn="ct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Mi puoi aiutare?</a:t>
            </a:r>
            <a:endParaRPr lang="en-US" sz="1500" dirty="0"/>
          </a:p>
        </p:txBody>
      </p:sp>
      <p:sp>
        <p:nvSpPr>
          <p:cNvPr id="25" name="bk_23"/>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p.38–39 · 🎧 1.49</a:t>
            </a:r>
            <a:endParaRPr lang="en-US" sz="11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REMEMBER?</a:t>
            </a:r>
            <a:endParaRPr lang="en-US" sz="1600" dirty="0"/>
          </a:p>
        </p:txBody>
      </p:sp>
      <p:sp>
        <p:nvSpPr>
          <p:cNvPr id="4" name="bm_2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6CCB3B"/>
                </a:solidFill>
                <a:latin typeface="Arial Black" pitchFamily="34" charset="0"/>
                <a:ea typeface="Arial Black" pitchFamily="34" charset="-122"/>
                <a:cs typeface="Arial Black" pitchFamily="34" charset="-120"/>
              </a:rPr>
              <a:t>Word tennis!</a:t>
            </a:r>
            <a:endParaRPr lang="en-US" sz="3200" dirty="0"/>
          </a:p>
        </p:txBody>
      </p:sp>
      <p:sp>
        <p:nvSpPr>
          <p:cNvPr id="5" name="in_2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Say a job and where they work. Hit it back!</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Di' un mestiere e dove lavora. Rimanda la palla!</a:t>
            </a:r>
            <a:endParaRPr lang="en-US" sz="1400" dirty="0"/>
          </a:p>
        </p:txBody>
      </p:sp>
      <p:sp>
        <p:nvSpPr>
          <p:cNvPr id="6" name="mode_2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4 MIN</a:t>
            </a:r>
            <a:endParaRPr lang="en-US" sz="1000" dirty="0"/>
          </a:p>
        </p:txBody>
      </p:sp>
      <p:sp>
        <p:nvSpPr>
          <p:cNvPr id="7" name="diff_28"/>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A … works in a …</a:t>
            </a:r>
            <a:endParaRPr lang="en-US" sz="950" dirty="0"/>
          </a:p>
        </p:txBody>
      </p:sp>
      <p:sp>
        <p:nvSpPr>
          <p:cNvPr id="8" name="diff_29"/>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No repeats! 3 seconds!</a:t>
            </a:r>
            <a:endParaRPr lang="en-US" sz="950" dirty="0"/>
          </a:p>
        </p:txBody>
      </p:sp>
      <p:sp>
        <p:nvSpPr>
          <p:cNvPr id="9" name="st_30"/>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0" name="sn_31"/>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sk_32"/>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2" name="se_33"/>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Team A: 'A nurse!'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Squadra A: 'A nurse!'</a:t>
            </a:r>
            <a:endParaRPr lang="en-US" sz="1050" dirty="0"/>
          </a:p>
        </p:txBody>
      </p:sp>
      <p:sp>
        <p:nvSpPr>
          <p:cNvPr id="13" name="st_34"/>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4" name="sn_35"/>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sk_36"/>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6" name="se_37"/>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Team B: '…works in a hospital!'</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Squadra B: '…lavora in ospedale!'</a:t>
            </a:r>
            <a:endParaRPr lang="en-US" sz="1050" dirty="0"/>
          </a:p>
        </p:txBody>
      </p:sp>
      <p:sp>
        <p:nvSpPr>
          <p:cNvPr id="17" name="st_38"/>
          <p:cNvSpPr/>
          <p:nvPr/>
        </p:nvSpPr>
        <p:spPr>
          <a:xfrm>
            <a:off x="228600" y="34594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8" name="sn_39"/>
          <p:cNvSpPr/>
          <p:nvPr/>
        </p:nvSpPr>
        <p:spPr>
          <a:xfrm>
            <a:off x="118872" y="33497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9" name="sk_40"/>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PLAY</a:t>
            </a:r>
            <a:endParaRPr lang="en-US" sz="1300" dirty="0"/>
          </a:p>
        </p:txBody>
      </p:sp>
      <p:sp>
        <p:nvSpPr>
          <p:cNvPr id="20" name="se_41"/>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Too slow? Point to the other team!</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Troppo lenti? Punto all'altra squadra!</a:t>
            </a:r>
            <a:endParaRPr lang="en-US" sz="1050" dirty="0"/>
          </a:p>
        </p:txBody>
      </p:sp>
      <p:sp>
        <p:nvSpPr>
          <p:cNvPr id="21" name="cd_42"/>
          <p:cNvSpPr/>
          <p:nvPr/>
        </p:nvSpPr>
        <p:spPr>
          <a:xfrm>
            <a:off x="310896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43" descr="/home/claude/movers/img/fc/doctor.png">    </p:cNvPr>
          <p:cNvPicPr>
            <a:picLocks noChangeAspect="1"/>
          </p:cNvPicPr>
          <p:nvPr/>
        </p:nvPicPr>
        <p:blipFill>
          <a:blip r:embed="rId2"/>
          <a:stretch>
            <a:fillRect/>
          </a:stretch>
        </p:blipFill>
        <p:spPr>
          <a:xfrm>
            <a:off x="3182112" y="1399032"/>
            <a:ext cx="1179576" cy="1179576"/>
          </a:xfrm>
          <a:prstGeom prst="rect">
            <a:avLst/>
          </a:prstGeom>
        </p:spPr>
      </p:pic>
      <p:sp>
        <p:nvSpPr>
          <p:cNvPr id="23" name="cd_44"/>
          <p:cNvSpPr/>
          <p:nvPr/>
        </p:nvSpPr>
        <p:spPr>
          <a:xfrm>
            <a:off x="457200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4" name="ci_45" descr="/home/claude/movers/img/fc/nurse.png">    </p:cNvPr>
          <p:cNvPicPr>
            <a:picLocks noChangeAspect="1"/>
          </p:cNvPicPr>
          <p:nvPr/>
        </p:nvPicPr>
        <p:blipFill>
          <a:blip r:embed="rId3"/>
          <a:stretch>
            <a:fillRect/>
          </a:stretch>
        </p:blipFill>
        <p:spPr>
          <a:xfrm>
            <a:off x="4645152" y="1399032"/>
            <a:ext cx="1179576" cy="1179576"/>
          </a:xfrm>
          <a:prstGeom prst="rect">
            <a:avLst/>
          </a:prstGeom>
        </p:spPr>
      </p:pic>
      <p:sp>
        <p:nvSpPr>
          <p:cNvPr id="25" name="cd_46"/>
          <p:cNvSpPr/>
          <p:nvPr/>
        </p:nvSpPr>
        <p:spPr>
          <a:xfrm>
            <a:off x="603504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47" descr="/home/claude/movers/img/fc/dentist.png">    </p:cNvPr>
          <p:cNvPicPr>
            <a:picLocks noChangeAspect="1"/>
          </p:cNvPicPr>
          <p:nvPr/>
        </p:nvPicPr>
        <p:blipFill>
          <a:blip r:embed="rId4"/>
          <a:stretch>
            <a:fillRect/>
          </a:stretch>
        </p:blipFill>
        <p:spPr>
          <a:xfrm>
            <a:off x="6108192" y="1399032"/>
            <a:ext cx="1179576" cy="1179576"/>
          </a:xfrm>
          <a:prstGeom prst="rect">
            <a:avLst/>
          </a:prstGeom>
        </p:spPr>
      </p:pic>
      <p:sp>
        <p:nvSpPr>
          <p:cNvPr id="27" name="cd_48"/>
          <p:cNvSpPr/>
          <p:nvPr/>
        </p:nvSpPr>
        <p:spPr>
          <a:xfrm>
            <a:off x="749808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8" name="ci_49" descr="/home/claude/movers/img/e-u3firefighter.png">    </p:cNvPr>
          <p:cNvPicPr>
            <a:picLocks noChangeAspect="1"/>
          </p:cNvPicPr>
          <p:nvPr/>
        </p:nvPicPr>
        <p:blipFill>
          <a:blip r:embed="rId5"/>
          <a:stretch>
            <a:fillRect/>
          </a:stretch>
        </p:blipFill>
        <p:spPr>
          <a:xfrm>
            <a:off x="7571232" y="1399032"/>
            <a:ext cx="1179576" cy="1179576"/>
          </a:xfrm>
          <a:prstGeom prst="rect">
            <a:avLst/>
          </a:prstGeom>
        </p:spPr>
      </p:pic>
      <p:sp>
        <p:nvSpPr>
          <p:cNvPr id="29" name="cd_50"/>
          <p:cNvSpPr/>
          <p:nvPr/>
        </p:nvSpPr>
        <p:spPr>
          <a:xfrm>
            <a:off x="310896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0" name="ci_51" descr="/home/claude/movers/img/e-u3police.png">    </p:cNvPr>
          <p:cNvPicPr>
            <a:picLocks noChangeAspect="1"/>
          </p:cNvPicPr>
          <p:nvPr/>
        </p:nvPicPr>
        <p:blipFill>
          <a:blip r:embed="rId6"/>
          <a:stretch>
            <a:fillRect/>
          </a:stretch>
        </p:blipFill>
        <p:spPr>
          <a:xfrm>
            <a:off x="3182112" y="2834640"/>
            <a:ext cx="1179576" cy="1179576"/>
          </a:xfrm>
          <a:prstGeom prst="rect">
            <a:avLst/>
          </a:prstGeom>
        </p:spPr>
      </p:pic>
      <p:sp>
        <p:nvSpPr>
          <p:cNvPr id="31" name="cd_52"/>
          <p:cNvSpPr/>
          <p:nvPr/>
        </p:nvSpPr>
        <p:spPr>
          <a:xfrm>
            <a:off x="457200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2" name="ci_53" descr="/home/claude/movers/img/fc/cook.png">    </p:cNvPr>
          <p:cNvPicPr>
            <a:picLocks noChangeAspect="1"/>
          </p:cNvPicPr>
          <p:nvPr/>
        </p:nvPicPr>
        <p:blipFill>
          <a:blip r:embed="rId7"/>
          <a:stretch>
            <a:fillRect/>
          </a:stretch>
        </p:blipFill>
        <p:spPr>
          <a:xfrm>
            <a:off x="4645152" y="2834640"/>
            <a:ext cx="1179576" cy="1179576"/>
          </a:xfrm>
          <a:prstGeom prst="rect">
            <a:avLst/>
          </a:prstGeom>
        </p:spPr>
      </p:pic>
      <p:sp>
        <p:nvSpPr>
          <p:cNvPr id="33" name="cd_54"/>
          <p:cNvSpPr/>
          <p:nvPr/>
        </p:nvSpPr>
        <p:spPr>
          <a:xfrm>
            <a:off x="603504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4" name="ci_55" descr="/home/claude/movers/img/fc/farmer.png">    </p:cNvPr>
          <p:cNvPicPr>
            <a:picLocks noChangeAspect="1"/>
          </p:cNvPicPr>
          <p:nvPr/>
        </p:nvPicPr>
        <p:blipFill>
          <a:blip r:embed="rId8"/>
          <a:stretch>
            <a:fillRect/>
          </a:stretch>
        </p:blipFill>
        <p:spPr>
          <a:xfrm>
            <a:off x="6108192" y="2834640"/>
            <a:ext cx="1179576" cy="1179576"/>
          </a:xfrm>
          <a:prstGeom prst="rect">
            <a:avLst/>
          </a:prstGeom>
        </p:spPr>
      </p:pic>
      <p:sp>
        <p:nvSpPr>
          <p:cNvPr id="35" name="cd_56"/>
          <p:cNvSpPr/>
          <p:nvPr/>
        </p:nvSpPr>
        <p:spPr>
          <a:xfrm>
            <a:off x="749808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6" name="ci_57" descr="/home/claude/movers/img/e-u3teacher.png">    </p:cNvPr>
          <p:cNvPicPr>
            <a:picLocks noChangeAspect="1"/>
          </p:cNvPicPr>
          <p:nvPr/>
        </p:nvPicPr>
        <p:blipFill>
          <a:blip r:embed="rId9"/>
          <a:stretch>
            <a:fillRect/>
          </a:stretch>
        </p:blipFill>
        <p:spPr>
          <a:xfrm>
            <a:off x="7571232" y="2834640"/>
            <a:ext cx="1179576" cy="1179576"/>
          </a:xfrm>
          <a:prstGeom prst="rect">
            <a:avLst/>
          </a:prstGeom>
        </p:spPr>
      </p:pic>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58"/>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a:t>
            </a:r>
            <a:endParaRPr lang="en-US" sz="1600" dirty="0"/>
          </a:p>
        </p:txBody>
      </p:sp>
      <p:sp>
        <p:nvSpPr>
          <p:cNvPr id="4" name="bm_59"/>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Costume parties!</a:t>
            </a:r>
            <a:endParaRPr lang="en-US" sz="2700" dirty="0"/>
          </a:p>
        </p:txBody>
      </p:sp>
      <p:sp>
        <p:nvSpPr>
          <p:cNvPr id="5" name="in_60"/>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Do you like costume parties? Talk about your favourite costumes.</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Ti piacciono le feste in maschera? Parla dei tuoi costumi preferiti.</a:t>
            </a:r>
            <a:endParaRPr lang="en-US" sz="1100" dirty="0"/>
          </a:p>
        </p:txBody>
      </p:sp>
      <p:sp>
        <p:nvSpPr>
          <p:cNvPr id="6" name="mode_61"/>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4 MIN</a:t>
            </a:r>
            <a:endParaRPr lang="en-US" sz="1000" dirty="0"/>
          </a:p>
        </p:txBody>
      </p:sp>
      <p:sp>
        <p:nvSpPr>
          <p:cNvPr id="7" name="diff_62"/>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I'm a … I've got …</a:t>
            </a:r>
            <a:endParaRPr lang="en-US" sz="950" dirty="0"/>
          </a:p>
        </p:txBody>
      </p:sp>
      <p:sp>
        <p:nvSpPr>
          <p:cNvPr id="8" name="diff_63"/>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00" dirty="0">
                <a:solidFill>
                  <a:srgbClr val="1E2A5A"/>
                </a:solidFill>
                <a:latin typeface="Arial Rounded MT Bold" pitchFamily="34" charset="0"/>
                <a:ea typeface="Arial Rounded MT Bold" pitchFamily="34" charset="-122"/>
                <a:cs typeface="Arial Rounded MT Bold" pitchFamily="34" charset="-120"/>
              </a:rPr>
              <a:t>🔥 Which would an alien choose?</a:t>
            </a:r>
            <a:endParaRPr lang="en-US" sz="900" dirty="0"/>
          </a:p>
        </p:txBody>
      </p:sp>
      <p:sp>
        <p:nvSpPr>
          <p:cNvPr id="9" name="pf_64"/>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pic_65" descr="/home/claude/movers/img/crop/u3-p38-title.jpg">    </p:cNvPr>
          <p:cNvPicPr>
            <a:picLocks noChangeAspect="1"/>
          </p:cNvPicPr>
          <p:nvPr/>
        </p:nvPicPr>
        <p:blipFill>
          <a:blip r:embed="rId2"/>
          <a:stretch>
            <a:fillRect/>
          </a:stretch>
        </p:blipFill>
        <p:spPr>
          <a:xfrm>
            <a:off x="365760" y="2330196"/>
            <a:ext cx="5120640" cy="1237488"/>
          </a:xfrm>
          <a:prstGeom prst="rect">
            <a:avLst/>
          </a:prstGeom>
        </p:spPr>
      </p:pic>
      <p:sp>
        <p:nvSpPr>
          <p:cNvPr id="11" name="q_66"/>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Do you like costume parties?</a:t>
            </a:r>
            <a:endParaRPr lang="en-US" sz="1250" dirty="0"/>
          </a:p>
        </p:txBody>
      </p:sp>
      <p:sp>
        <p:nvSpPr>
          <p:cNvPr id="12" name="R1_a67"/>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Yes, I do! / No, I don't.</a:t>
            </a:r>
            <a:endParaRPr lang="en-US" sz="1250" dirty="0"/>
          </a:p>
        </p:txBody>
      </p:sp>
      <p:sp>
        <p:nvSpPr>
          <p:cNvPr id="13" name="q_68"/>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your favourite costume?</a:t>
            </a:r>
            <a:endParaRPr lang="en-US" sz="1250" dirty="0"/>
          </a:p>
        </p:txBody>
      </p:sp>
      <p:sp>
        <p:nvSpPr>
          <p:cNvPr id="14" name="R2_a69"/>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I'm wearing… I'm a cat! I've got a long tail.</a:t>
            </a:r>
            <a:endParaRPr lang="en-US" sz="1250" dirty="0"/>
          </a:p>
        </p:txBody>
      </p:sp>
      <p:sp>
        <p:nvSpPr>
          <p:cNvPr id="15" name="q_70"/>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Does anyone dress up as a superhero?</a:t>
            </a:r>
            <a:endParaRPr lang="en-US" sz="1250" dirty="0"/>
          </a:p>
        </p:txBody>
      </p:sp>
      <p:sp>
        <p:nvSpPr>
          <p:cNvPr id="16" name="R3_a71"/>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Yes! Spider-Man, Superman, Wonder Woman…</a:t>
            </a:r>
            <a:endParaRPr lang="en-US" sz="1250" dirty="0"/>
          </a:p>
        </p:txBody>
      </p:sp>
      <p:sp>
        <p:nvSpPr>
          <p:cNvPr id="17" name="bk_72"/>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 · ex.1</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7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7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7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7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77" descr="/home/claude/movers/img/e-u3superhero.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7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superhero</a:t>
            </a:r>
            <a:endParaRPr lang="en-US" sz="3600" dirty="0"/>
          </a:p>
        </p:txBody>
      </p:sp>
      <p:sp>
        <p:nvSpPr>
          <p:cNvPr id="9" name="R2_it7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supereroe</a:t>
            </a:r>
            <a:endParaRPr lang="en-US" sz="1600" dirty="0"/>
          </a:p>
        </p:txBody>
      </p:sp>
      <p:sp>
        <p:nvSpPr>
          <p:cNvPr id="10" name="R3_tpr8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Superhero pose! Fly! 🦸</a:t>
            </a:r>
            <a:endParaRPr lang="en-US" sz="1300" dirty="0"/>
          </a:p>
        </p:txBody>
      </p:sp>
      <p:sp>
        <p:nvSpPr>
          <p:cNvPr id="11" name="n_8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1 / 3</a:t>
            </a:r>
            <a:endParaRPr lang="en-US" sz="1200" dirty="0"/>
          </a:p>
        </p:txBody>
      </p:sp>
      <p:sp>
        <p:nvSpPr>
          <p:cNvPr id="12" name="bk_82"/>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p.38–39 · 🎧 1.49</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8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8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8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8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87" descr="/home/claude/movers/img/e-u3idea.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8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have an idea</a:t>
            </a:r>
            <a:endParaRPr lang="en-US" sz="3600" dirty="0"/>
          </a:p>
        </p:txBody>
      </p:sp>
      <p:sp>
        <p:nvSpPr>
          <p:cNvPr id="9" name="R2_it8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avere un'idea</a:t>
            </a:r>
            <a:endParaRPr lang="en-US" sz="1600" dirty="0"/>
          </a:p>
        </p:txBody>
      </p:sp>
      <p:sp>
        <p:nvSpPr>
          <p:cNvPr id="10" name="R3_tpr9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Finger up: 'I've got an idea!' 💡</a:t>
            </a:r>
            <a:endParaRPr lang="en-US" sz="1300" dirty="0"/>
          </a:p>
        </p:txBody>
      </p:sp>
      <p:sp>
        <p:nvSpPr>
          <p:cNvPr id="11" name="n_9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2 / 3</a:t>
            </a:r>
            <a:endParaRPr lang="en-US" sz="1200" dirty="0"/>
          </a:p>
        </p:txBody>
      </p:sp>
      <p:sp>
        <p:nvSpPr>
          <p:cNvPr id="12" name="bk_92"/>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p.38–39 · 🎧 1.49</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9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9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9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9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97" descr="/home/claude/movers/img/e-u3laugh.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9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laugh</a:t>
            </a:r>
            <a:endParaRPr lang="en-US" sz="3600" dirty="0"/>
          </a:p>
        </p:txBody>
      </p:sp>
      <p:sp>
        <p:nvSpPr>
          <p:cNvPr id="9" name="R2_it9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ridere</a:t>
            </a:r>
            <a:endParaRPr lang="en-US" sz="1600" dirty="0"/>
          </a:p>
        </p:txBody>
      </p:sp>
      <p:sp>
        <p:nvSpPr>
          <p:cNvPr id="10" name="R3_tpr10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Laugh! Ha ha ha! 😂</a:t>
            </a:r>
            <a:endParaRPr lang="en-US" sz="1300" dirty="0"/>
          </a:p>
        </p:txBody>
      </p:sp>
      <p:sp>
        <p:nvSpPr>
          <p:cNvPr id="11" name="n_10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3 / 3</a:t>
            </a:r>
            <a:endParaRPr lang="en-US" sz="1200" dirty="0"/>
          </a:p>
        </p:txBody>
      </p:sp>
      <p:sp>
        <p:nvSpPr>
          <p:cNvPr id="12" name="bk_102"/>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p.38–39 · 🎧 1.49</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0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SAY IT!</a:t>
            </a:r>
            <a:endParaRPr lang="en-US" sz="1600" dirty="0"/>
          </a:p>
        </p:txBody>
      </p:sp>
      <p:sp>
        <p:nvSpPr>
          <p:cNvPr id="4" name="bm_104"/>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Tricky words!</a:t>
            </a:r>
            <a:endParaRPr lang="en-US" sz="2700" dirty="0"/>
          </a:p>
        </p:txBody>
      </p:sp>
      <p:sp>
        <p:nvSpPr>
          <p:cNvPr id="5" name="in_10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How do we say it? Show me 1 or 2!</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Come si dice? Mostra 1 o 2!</a:t>
            </a:r>
            <a:endParaRPr lang="en-US" sz="1400" dirty="0"/>
          </a:p>
        </p:txBody>
      </p:sp>
      <p:sp>
        <p:nvSpPr>
          <p:cNvPr id="6" name="mode_106"/>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CLASS · ⏱ 3 MIN</a:t>
            </a:r>
            <a:endParaRPr lang="en-US" sz="1000" dirty="0"/>
          </a:p>
        </p:txBody>
      </p:sp>
      <p:sp>
        <p:nvSpPr>
          <p:cNvPr id="7" name="diff_107"/>
          <p:cNvSpPr/>
          <p:nvPr/>
        </p:nvSpPr>
        <p:spPr>
          <a:xfrm>
            <a:off x="4343400" y="4681728"/>
            <a:ext cx="457200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Find more 'gh = f' words!</a:t>
            </a:r>
            <a:endParaRPr lang="en-US" sz="950" dirty="0"/>
          </a:p>
        </p:txBody>
      </p:sp>
      <p:sp>
        <p:nvSpPr>
          <p:cNvPr id="8" name="pf_108"/>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109" descr="/home/claude/movers/img/e-u3ear.png">    </p:cNvPr>
          <p:cNvPicPr>
            <a:picLocks noChangeAspect="1"/>
          </p:cNvPicPr>
          <p:nvPr/>
        </p:nvPicPr>
        <p:blipFill>
          <a:blip r:embed="rId2"/>
          <a:stretch>
            <a:fillRect/>
          </a:stretch>
        </p:blipFill>
        <p:spPr>
          <a:xfrm>
            <a:off x="1303020" y="1325880"/>
            <a:ext cx="3246120" cy="3246120"/>
          </a:xfrm>
          <a:prstGeom prst="rect">
            <a:avLst/>
          </a:prstGeom>
        </p:spPr>
      </p:pic>
      <p:sp>
        <p:nvSpPr>
          <p:cNvPr id="10" name="q_110"/>
          <p:cNvSpPr/>
          <p:nvPr/>
        </p:nvSpPr>
        <p:spPr>
          <a:xfrm>
            <a:off x="5760720" y="1325880"/>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laugh: 1 'lau-gh' or 2 'laaf'?</a:t>
            </a:r>
            <a:endParaRPr lang="en-US" sz="1250" dirty="0"/>
          </a:p>
        </p:txBody>
      </p:sp>
      <p:sp>
        <p:nvSpPr>
          <p:cNvPr id="11" name="R1_a111"/>
          <p:cNvSpPr/>
          <p:nvPr/>
        </p:nvSpPr>
        <p:spPr>
          <a:xfrm>
            <a:off x="5989320" y="1668231"/>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2 – laugh = /lɑːf/ (gh = f!)</a:t>
            </a:r>
            <a:endParaRPr lang="en-US" sz="1250" dirty="0"/>
          </a:p>
        </p:txBody>
      </p:sp>
      <p:sp>
        <p:nvSpPr>
          <p:cNvPr id="12" name="q_112"/>
          <p:cNvSpPr/>
          <p:nvPr/>
        </p:nvSpPr>
        <p:spPr>
          <a:xfrm>
            <a:off x="5760720" y="1984248"/>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idea: 1 I-dea or 2 i-DEA?</a:t>
            </a:r>
            <a:endParaRPr lang="en-US" sz="1250" dirty="0"/>
          </a:p>
        </p:txBody>
      </p:sp>
      <p:sp>
        <p:nvSpPr>
          <p:cNvPr id="13" name="R2_a113"/>
          <p:cNvSpPr/>
          <p:nvPr/>
        </p:nvSpPr>
        <p:spPr>
          <a:xfrm>
            <a:off x="5989320" y="2326599"/>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2 – i-DEA ● big in the middle</a:t>
            </a:r>
            <a:endParaRPr lang="en-US" sz="1250" dirty="0"/>
          </a:p>
        </p:txBody>
      </p:sp>
      <p:sp>
        <p:nvSpPr>
          <p:cNvPr id="14" name="q_114"/>
          <p:cNvSpPr/>
          <p:nvPr/>
        </p:nvSpPr>
        <p:spPr>
          <a:xfrm>
            <a:off x="5760720" y="2642616"/>
            <a:ext cx="3017520" cy="342351"/>
          </a:xfrm>
          <a:prstGeom prst="rect">
            <a:avLst/>
          </a:prstGeom>
          <a:noFill/>
          <a:ln/>
        </p:spPr>
        <p:txBody>
          <a:bodyPr wrap="square" lIns="0" tIns="0" rIns="0" bIns="0" rtlCol="0" anchor="b"/>
          <a:lstStyle/>
          <a:p>
            <a:pPr indent="0" marL="0">
              <a:buNone/>
            </a:pPr>
            <a:r>
              <a:rPr lang="en-US" sz="10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050" dirty="0">
                <a:solidFill>
                  <a:srgbClr val="1E2A5A"/>
                </a:solidFill>
                <a:latin typeface="Arial Rounded MT Bold" pitchFamily="34" charset="0"/>
                <a:ea typeface="Arial Rounded MT Bold" pitchFamily="34" charset="-122"/>
                <a:cs typeface="Arial Rounded MT Bold" pitchFamily="34" charset="-120"/>
              </a:rPr>
              <a:t>superhero: 1 su-per-HE-ro or 2 SU-per-he-ro?</a:t>
            </a:r>
            <a:endParaRPr lang="en-US" sz="1050" dirty="0"/>
          </a:p>
        </p:txBody>
      </p:sp>
      <p:sp>
        <p:nvSpPr>
          <p:cNvPr id="15" name="R3_a115"/>
          <p:cNvSpPr/>
          <p:nvPr/>
        </p:nvSpPr>
        <p:spPr>
          <a:xfrm>
            <a:off x="5989320" y="2984967"/>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2 – SU-per-he-ro</a:t>
            </a:r>
            <a:endParaRPr lang="en-US" sz="1250" dirty="0"/>
          </a:p>
        </p:txBody>
      </p:sp>
      <p:sp>
        <p:nvSpPr>
          <p:cNvPr id="16" name="q_116"/>
          <p:cNvSpPr/>
          <p:nvPr/>
        </p:nvSpPr>
        <p:spPr>
          <a:xfrm>
            <a:off x="5760720" y="3300984"/>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Ha un'idea! → ?</a:t>
            </a:r>
            <a:endParaRPr lang="en-US" sz="1250" dirty="0"/>
          </a:p>
        </p:txBody>
      </p:sp>
      <p:sp>
        <p:nvSpPr>
          <p:cNvPr id="17" name="R4_a117"/>
          <p:cNvSpPr/>
          <p:nvPr/>
        </p:nvSpPr>
        <p:spPr>
          <a:xfrm>
            <a:off x="5989320" y="3643335"/>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 HAS an idea! (not 'She have')</a:t>
            </a:r>
            <a:endParaRPr lang="en-US" sz="1250" dirty="0"/>
          </a:p>
        </p:txBody>
      </p:sp>
      <p:sp>
        <p:nvSpPr>
          <p:cNvPr id="18" name="q_118"/>
          <p:cNvSpPr/>
          <p:nvPr/>
        </p:nvSpPr>
        <p:spPr>
          <a:xfrm>
            <a:off x="5760720" y="3959352"/>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È brava ad aiutare. → ?</a:t>
            </a:r>
            <a:endParaRPr lang="en-US" sz="1250" dirty="0"/>
          </a:p>
        </p:txBody>
      </p:sp>
      <p:sp>
        <p:nvSpPr>
          <p:cNvPr id="19" name="R5_a119"/>
          <p:cNvSpPr/>
          <p:nvPr/>
        </p:nvSpPr>
        <p:spPr>
          <a:xfrm>
            <a:off x="5989320" y="4301703"/>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She's good AT helping!</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2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21"/>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costume party 1</a:t>
            </a:r>
            <a:endParaRPr lang="en-US" sz="2400" dirty="0"/>
          </a:p>
        </p:txBody>
      </p:sp>
      <p:sp>
        <p:nvSpPr>
          <p:cNvPr id="5" name="in_122"/>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What costume does Matt want?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Che costume vuole Matt?</a:t>
            </a:r>
            <a:endParaRPr lang="en-US" sz="1400" dirty="0"/>
          </a:p>
        </p:txBody>
      </p:sp>
      <p:sp>
        <p:nvSpPr>
          <p:cNvPr id="6" name="mode_12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READ</a:t>
            </a:r>
            <a:endParaRPr lang="en-US" sz="1000" dirty="0"/>
          </a:p>
        </p:txBody>
      </p:sp>
      <p:sp>
        <p:nvSpPr>
          <p:cNvPr id="7" name="pf_124"/>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25" descr="/home/claude/movers/img/crop/u3-p38-text1.jpg">    </p:cNvPr>
          <p:cNvPicPr>
            <a:picLocks noChangeAspect="1"/>
          </p:cNvPicPr>
          <p:nvPr/>
        </p:nvPicPr>
        <p:blipFill>
          <a:blip r:embed="rId2"/>
          <a:stretch>
            <a:fillRect/>
          </a:stretch>
        </p:blipFill>
        <p:spPr>
          <a:xfrm>
            <a:off x="1202417" y="1325880"/>
            <a:ext cx="3447326" cy="3246120"/>
          </a:xfrm>
          <a:prstGeom prst="rect">
            <a:avLst/>
          </a:prstGeom>
        </p:spPr>
      </p:pic>
      <p:sp>
        <p:nvSpPr>
          <p:cNvPr id="9" name="q_126"/>
          <p:cNvSpPr/>
          <p:nvPr/>
        </p:nvSpPr>
        <p:spPr>
          <a:xfrm>
            <a:off x="5760720" y="1325880"/>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Whose birthday is it?</a:t>
            </a:r>
            <a:endParaRPr lang="en-US" sz="1250" dirty="0"/>
          </a:p>
        </p:txBody>
      </p:sp>
      <p:sp>
        <p:nvSpPr>
          <p:cNvPr id="10" name="R1_a127"/>
          <p:cNvSpPr/>
          <p:nvPr/>
        </p:nvSpPr>
        <p:spPr>
          <a:xfrm>
            <a:off x="5989320" y="1668231"/>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Emily's</a:t>
            </a:r>
            <a:endParaRPr lang="en-US" sz="1250" dirty="0"/>
          </a:p>
        </p:txBody>
      </p:sp>
      <p:sp>
        <p:nvSpPr>
          <p:cNvPr id="11" name="q_128"/>
          <p:cNvSpPr/>
          <p:nvPr/>
        </p:nvSpPr>
        <p:spPr>
          <a:xfrm>
            <a:off x="5760720" y="1984248"/>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does Matt want to be?</a:t>
            </a:r>
            <a:endParaRPr lang="en-US" sz="1250" dirty="0"/>
          </a:p>
        </p:txBody>
      </p:sp>
      <p:sp>
        <p:nvSpPr>
          <p:cNvPr id="12" name="R2_a129"/>
          <p:cNvSpPr/>
          <p:nvPr/>
        </p:nvSpPr>
        <p:spPr>
          <a:xfrm>
            <a:off x="5989320" y="2326599"/>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 superhero</a:t>
            </a:r>
            <a:endParaRPr lang="en-US" sz="1250" dirty="0"/>
          </a:p>
        </p:txBody>
      </p:sp>
      <p:sp>
        <p:nvSpPr>
          <p:cNvPr id="13" name="q_130"/>
          <p:cNvSpPr/>
          <p:nvPr/>
        </p:nvSpPr>
        <p:spPr>
          <a:xfrm>
            <a:off x="5760720" y="2642616"/>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Why can't he?</a:t>
            </a:r>
            <a:endParaRPr lang="en-US" sz="1250" dirty="0"/>
          </a:p>
        </p:txBody>
      </p:sp>
      <p:sp>
        <p:nvSpPr>
          <p:cNvPr id="14" name="R3_a131"/>
          <p:cNvSpPr/>
          <p:nvPr/>
        </p:nvSpPr>
        <p:spPr>
          <a:xfrm>
            <a:off x="5989320" y="2984967"/>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Harry wants to be a superhero.</a:t>
            </a:r>
            <a:endParaRPr lang="en-US" sz="1250" dirty="0"/>
          </a:p>
        </p:txBody>
      </p:sp>
      <p:sp>
        <p:nvSpPr>
          <p:cNvPr id="15" name="q_132"/>
          <p:cNvSpPr/>
          <p:nvPr/>
        </p:nvSpPr>
        <p:spPr>
          <a:xfrm>
            <a:off x="5760720" y="3300984"/>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can Matt make?</a:t>
            </a:r>
            <a:endParaRPr lang="en-US" sz="1250" dirty="0"/>
          </a:p>
        </p:txBody>
      </p:sp>
      <p:sp>
        <p:nvSpPr>
          <p:cNvPr id="16" name="R4_a133"/>
          <p:cNvSpPr/>
          <p:nvPr/>
        </p:nvSpPr>
        <p:spPr>
          <a:xfrm>
            <a:off x="5989320" y="3643335"/>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 beard and a moustache</a:t>
            </a:r>
            <a:endParaRPr lang="en-US" sz="1250" dirty="0"/>
          </a:p>
        </p:txBody>
      </p:sp>
      <p:sp>
        <p:nvSpPr>
          <p:cNvPr id="17" name="q_134"/>
          <p:cNvSpPr/>
          <p:nvPr/>
        </p:nvSpPr>
        <p:spPr>
          <a:xfrm>
            <a:off x="5760720" y="3959352"/>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Why can't he be a pirate?</a:t>
            </a:r>
            <a:endParaRPr lang="en-US" sz="1250" dirty="0"/>
          </a:p>
        </p:txBody>
      </p:sp>
      <p:sp>
        <p:nvSpPr>
          <p:cNvPr id="18" name="R5_a135"/>
          <p:cNvSpPr/>
          <p:nvPr/>
        </p:nvSpPr>
        <p:spPr>
          <a:xfrm>
            <a:off x="5989320" y="4301703"/>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Dan and Zoe are pirates.</a:t>
            </a:r>
            <a:endParaRPr lang="en-US" sz="1250" dirty="0"/>
          </a:p>
        </p:txBody>
      </p:sp>
      <p:sp>
        <p:nvSpPr>
          <p:cNvPr id="19" name="bk_136"/>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 · 🎧 1.49</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3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38"/>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costume party 2</a:t>
            </a:r>
            <a:endParaRPr lang="en-US" sz="2400" dirty="0"/>
          </a:p>
        </p:txBody>
      </p:sp>
      <p:sp>
        <p:nvSpPr>
          <p:cNvPr id="5" name="in_139"/>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Who hasn't got a costume?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Chi non ha un costume?</a:t>
            </a:r>
            <a:endParaRPr lang="en-US" sz="1400" dirty="0"/>
          </a:p>
        </p:txBody>
      </p:sp>
      <p:sp>
        <p:nvSpPr>
          <p:cNvPr id="6" name="mode_14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READ</a:t>
            </a:r>
            <a:endParaRPr lang="en-US" sz="1000" dirty="0"/>
          </a:p>
        </p:txBody>
      </p:sp>
      <p:sp>
        <p:nvSpPr>
          <p:cNvPr id="7" name="pf_141"/>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42" descr="/home/claude/movers/img/crop/u3-p38-text2.jpg">    </p:cNvPr>
          <p:cNvPicPr>
            <a:picLocks noChangeAspect="1"/>
          </p:cNvPicPr>
          <p:nvPr/>
        </p:nvPicPr>
        <p:blipFill>
          <a:blip r:embed="rId2"/>
          <a:stretch>
            <a:fillRect/>
          </a:stretch>
        </p:blipFill>
        <p:spPr>
          <a:xfrm>
            <a:off x="1216545" y="1325880"/>
            <a:ext cx="3419069" cy="3246120"/>
          </a:xfrm>
          <a:prstGeom prst="rect">
            <a:avLst/>
          </a:prstGeom>
        </p:spPr>
      </p:pic>
      <p:sp>
        <p:nvSpPr>
          <p:cNvPr id="9" name="q_143"/>
          <p:cNvSpPr/>
          <p:nvPr/>
        </p:nvSpPr>
        <p:spPr>
          <a:xfrm>
            <a:off x="5760720" y="1325880"/>
            <a:ext cx="3017520" cy="285293"/>
          </a:xfrm>
          <a:prstGeom prst="rect">
            <a:avLst/>
          </a:prstGeom>
          <a:noFill/>
          <a:ln/>
        </p:spPr>
        <p:txBody>
          <a:bodyPr wrap="square" lIns="0" tIns="0" rIns="0" bIns="0" rtlCol="0" anchor="b"/>
          <a:lstStyle/>
          <a:p>
            <a:pPr indent="0" marL="0">
              <a:buNone/>
            </a:pPr>
            <a:r>
              <a:rPr lang="en-US" sz="10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050" dirty="0">
                <a:solidFill>
                  <a:srgbClr val="1E2A5A"/>
                </a:solidFill>
                <a:latin typeface="Arial Rounded MT Bold" pitchFamily="34" charset="0"/>
                <a:ea typeface="Arial Rounded MT Bold" pitchFamily="34" charset="-122"/>
                <a:cs typeface="Arial Rounded MT Bold" pitchFamily="34" charset="-120"/>
              </a:rPr>
              <a:t>What's everyone talking about at school?</a:t>
            </a:r>
            <a:endParaRPr lang="en-US" sz="1050" dirty="0"/>
          </a:p>
        </p:txBody>
      </p:sp>
      <p:sp>
        <p:nvSpPr>
          <p:cNvPr id="10" name="R1_a144"/>
          <p:cNvSpPr/>
          <p:nvPr/>
        </p:nvSpPr>
        <p:spPr>
          <a:xfrm>
            <a:off x="5989320" y="16111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their costumes</a:t>
            </a:r>
            <a:endParaRPr lang="en-US" sz="1100" dirty="0"/>
          </a:p>
        </p:txBody>
      </p:sp>
      <p:sp>
        <p:nvSpPr>
          <p:cNvPr id="11" name="q_145"/>
          <p:cNvSpPr/>
          <p:nvPr/>
        </p:nvSpPr>
        <p:spPr>
          <a:xfrm>
            <a:off x="5760720" y="187452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Who's got a farmer costume?</a:t>
            </a:r>
            <a:endParaRPr lang="en-US" sz="1100" dirty="0"/>
          </a:p>
        </p:txBody>
      </p:sp>
      <p:sp>
        <p:nvSpPr>
          <p:cNvPr id="12" name="R2_a146"/>
          <p:cNvSpPr/>
          <p:nvPr/>
        </p:nvSpPr>
        <p:spPr>
          <a:xfrm>
            <a:off x="5989320" y="215981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Julia</a:t>
            </a:r>
            <a:endParaRPr lang="en-US" sz="1100" dirty="0"/>
          </a:p>
        </p:txBody>
      </p:sp>
      <p:sp>
        <p:nvSpPr>
          <p:cNvPr id="13" name="q_147"/>
          <p:cNvSpPr/>
          <p:nvPr/>
        </p:nvSpPr>
        <p:spPr>
          <a:xfrm>
            <a:off x="5760720" y="242316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What kind of animal is Ludo?</a:t>
            </a:r>
            <a:endParaRPr lang="en-US" sz="1100" dirty="0"/>
          </a:p>
        </p:txBody>
      </p:sp>
      <p:sp>
        <p:nvSpPr>
          <p:cNvPr id="14" name="R3_a148"/>
          <p:cNvSpPr/>
          <p:nvPr/>
        </p:nvSpPr>
        <p:spPr>
          <a:xfrm>
            <a:off x="5989320" y="270845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a dog 🐶</a:t>
            </a:r>
            <a:endParaRPr lang="en-US" sz="1100" dirty="0"/>
          </a:p>
        </p:txBody>
      </p:sp>
      <p:sp>
        <p:nvSpPr>
          <p:cNvPr id="15" name="q_149"/>
          <p:cNvSpPr/>
          <p:nvPr/>
        </p:nvSpPr>
        <p:spPr>
          <a:xfrm>
            <a:off x="5760720" y="297180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Is Ludo a dog at the costume party?</a:t>
            </a:r>
            <a:endParaRPr lang="en-US" sz="1100" dirty="0"/>
          </a:p>
        </p:txBody>
      </p:sp>
      <p:sp>
        <p:nvSpPr>
          <p:cNvPr id="16" name="R4_a150"/>
          <p:cNvSpPr/>
          <p:nvPr/>
        </p:nvSpPr>
        <p:spPr>
          <a:xfrm>
            <a:off x="5989320" y="325709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No, a sheep! 🐑</a:t>
            </a:r>
            <a:endParaRPr lang="en-US" sz="1100" dirty="0"/>
          </a:p>
        </p:txBody>
      </p:sp>
      <p:sp>
        <p:nvSpPr>
          <p:cNvPr id="17" name="q_151"/>
          <p:cNvSpPr/>
          <p:nvPr/>
        </p:nvSpPr>
        <p:spPr>
          <a:xfrm>
            <a:off x="5760720" y="352044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Who hasn't got a costume?</a:t>
            </a:r>
            <a:endParaRPr lang="en-US" sz="1100" dirty="0"/>
          </a:p>
        </p:txBody>
      </p:sp>
      <p:sp>
        <p:nvSpPr>
          <p:cNvPr id="18" name="R5_a152"/>
          <p:cNvSpPr/>
          <p:nvPr/>
        </p:nvSpPr>
        <p:spPr>
          <a:xfrm>
            <a:off x="5989320" y="380573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Matt</a:t>
            </a:r>
            <a:endParaRPr lang="en-US" sz="1100" dirty="0"/>
          </a:p>
        </p:txBody>
      </p:sp>
      <p:sp>
        <p:nvSpPr>
          <p:cNvPr id="19" name="q_153"/>
          <p:cNvSpPr/>
          <p:nvPr/>
        </p:nvSpPr>
        <p:spPr>
          <a:xfrm>
            <a:off x="5760720" y="406908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6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Why doesn't Matt want to be a clown?</a:t>
            </a:r>
            <a:endParaRPr lang="en-US" sz="1100" dirty="0"/>
          </a:p>
        </p:txBody>
      </p:sp>
      <p:sp>
        <p:nvSpPr>
          <p:cNvPr id="20" name="R6_a154"/>
          <p:cNvSpPr/>
          <p:nvPr/>
        </p:nvSpPr>
        <p:spPr>
          <a:xfrm>
            <a:off x="5989320" y="43543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Because he thinks it's silly.</a:t>
            </a:r>
            <a:endParaRPr lang="en-US" sz="1100" dirty="0"/>
          </a:p>
        </p:txBody>
      </p:sp>
      <p:sp>
        <p:nvSpPr>
          <p:cNvPr id="21" name="bk_155"/>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 · 🎧 1.49</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5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57"/>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The party!</a:t>
            </a:r>
            <a:endParaRPr lang="en-US" sz="3200" dirty="0"/>
          </a:p>
        </p:txBody>
      </p:sp>
      <p:sp>
        <p:nvSpPr>
          <p:cNvPr id="5" name="in_158"/>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Who can you see at the party?</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Chi vedi alla festa?</a:t>
            </a:r>
            <a:endParaRPr lang="en-US" sz="1400" dirty="0"/>
          </a:p>
        </p:txBody>
      </p:sp>
      <p:sp>
        <p:nvSpPr>
          <p:cNvPr id="6" name="pf_159"/>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60" descr="/home/claude/movers/img/crop/u3-p39-party.jpg">    </p:cNvPr>
          <p:cNvPicPr>
            <a:picLocks noChangeAspect="1"/>
          </p:cNvPicPr>
          <p:nvPr/>
        </p:nvPicPr>
        <p:blipFill>
          <a:blip r:embed="rId2"/>
          <a:stretch>
            <a:fillRect/>
          </a:stretch>
        </p:blipFill>
        <p:spPr>
          <a:xfrm>
            <a:off x="2099664" y="1325880"/>
            <a:ext cx="4944671" cy="3246120"/>
          </a:xfrm>
          <a:prstGeom prst="rect">
            <a:avLst/>
          </a:prstGeom>
        </p:spPr>
      </p:pic>
      <p:sp>
        <p:nvSpPr>
          <p:cNvPr id="8" name="bk_161"/>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p.39 · 🎧 1.49</a:t>
            </a:r>
            <a:endParaRPr lang="en-US" sz="11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6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63"/>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The costume party 3</a:t>
            </a:r>
            <a:endParaRPr lang="en-US" sz="2400" dirty="0"/>
          </a:p>
        </p:txBody>
      </p:sp>
      <p:sp>
        <p:nvSpPr>
          <p:cNvPr id="5" name="in_164"/>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What's Matt's costume?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Qual è il costume di Matt?</a:t>
            </a:r>
            <a:endParaRPr lang="en-US" sz="1400" dirty="0"/>
          </a:p>
        </p:txBody>
      </p:sp>
      <p:sp>
        <p:nvSpPr>
          <p:cNvPr id="6" name="pf_165"/>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66" descr="/home/claude/movers/img/crop/u3-p39-text.jpg">    </p:cNvPr>
          <p:cNvPicPr>
            <a:picLocks noChangeAspect="1"/>
          </p:cNvPicPr>
          <p:nvPr/>
        </p:nvPicPr>
        <p:blipFill>
          <a:blip r:embed="rId2"/>
          <a:stretch>
            <a:fillRect/>
          </a:stretch>
        </p:blipFill>
        <p:spPr>
          <a:xfrm>
            <a:off x="365760" y="2028329"/>
            <a:ext cx="8412480" cy="1841222"/>
          </a:xfrm>
          <a:prstGeom prst="rect">
            <a:avLst/>
          </a:prstGeom>
        </p:spPr>
      </p:pic>
      <p:sp>
        <p:nvSpPr>
          <p:cNvPr id="8" name="bk_167"/>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p.39 · 🎧 1.49</a:t>
            </a:r>
            <a:endParaRPr lang="en-US" sz="11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68"/>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69"/>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Everyone is laughing!</a:t>
            </a:r>
            <a:endParaRPr lang="en-US" sz="2400" dirty="0"/>
          </a:p>
        </p:txBody>
      </p:sp>
      <p:sp>
        <p:nvSpPr>
          <p:cNvPr id="5" name="in_170"/>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Answer the questions about the party.</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Rispondi alle domande sulla festa.</a:t>
            </a:r>
            <a:endParaRPr lang="en-US" sz="1400" dirty="0"/>
          </a:p>
        </p:txBody>
      </p:sp>
      <p:sp>
        <p:nvSpPr>
          <p:cNvPr id="6" name="pf_171"/>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72" descr="/home/claude/movers/img/crop/u3-p39-party.jpg">    </p:cNvPr>
          <p:cNvPicPr>
            <a:picLocks noChangeAspect="1"/>
          </p:cNvPicPr>
          <p:nvPr/>
        </p:nvPicPr>
        <p:blipFill>
          <a:blip r:embed="rId2"/>
          <a:stretch>
            <a:fillRect/>
          </a:stretch>
        </p:blipFill>
        <p:spPr>
          <a:xfrm>
            <a:off x="453744" y="1325880"/>
            <a:ext cx="4944671" cy="3246120"/>
          </a:xfrm>
          <a:prstGeom prst="rect">
            <a:avLst/>
          </a:prstGeom>
        </p:spPr>
      </p:pic>
      <p:sp>
        <p:nvSpPr>
          <p:cNvPr id="8" name="q_173"/>
          <p:cNvSpPr/>
          <p:nvPr/>
        </p:nvSpPr>
        <p:spPr>
          <a:xfrm>
            <a:off x="5760720" y="1325880"/>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Emily wearing?</a:t>
            </a:r>
            <a:endParaRPr lang="en-US" sz="1250" dirty="0"/>
          </a:p>
        </p:txBody>
      </p:sp>
      <p:sp>
        <p:nvSpPr>
          <p:cNvPr id="9" name="R1_a174"/>
          <p:cNvSpPr/>
          <p:nvPr/>
        </p:nvSpPr>
        <p:spPr>
          <a:xfrm>
            <a:off x="5989320" y="1668231"/>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 pop star costume</a:t>
            </a:r>
            <a:endParaRPr lang="en-US" sz="1250" dirty="0"/>
          </a:p>
        </p:txBody>
      </p:sp>
      <p:sp>
        <p:nvSpPr>
          <p:cNvPr id="10" name="q_175"/>
          <p:cNvSpPr/>
          <p:nvPr/>
        </p:nvSpPr>
        <p:spPr>
          <a:xfrm>
            <a:off x="5760720" y="1984248"/>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she doing?</a:t>
            </a:r>
            <a:endParaRPr lang="en-US" sz="1250" dirty="0"/>
          </a:p>
        </p:txBody>
      </p:sp>
      <p:sp>
        <p:nvSpPr>
          <p:cNvPr id="11" name="R2_a176"/>
          <p:cNvSpPr/>
          <p:nvPr/>
        </p:nvSpPr>
        <p:spPr>
          <a:xfrm>
            <a:off x="5989320" y="2326599"/>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She's singing. 🎤</a:t>
            </a:r>
            <a:endParaRPr lang="en-US" sz="1250" dirty="0"/>
          </a:p>
        </p:txBody>
      </p:sp>
      <p:sp>
        <p:nvSpPr>
          <p:cNvPr id="12" name="q_177"/>
          <p:cNvSpPr/>
          <p:nvPr/>
        </p:nvSpPr>
        <p:spPr>
          <a:xfrm>
            <a:off x="5760720" y="2642616"/>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Matt's costume?</a:t>
            </a:r>
            <a:endParaRPr lang="en-US" sz="1250" dirty="0"/>
          </a:p>
        </p:txBody>
      </p:sp>
      <p:sp>
        <p:nvSpPr>
          <p:cNvPr id="13" name="R3_a178"/>
          <p:cNvSpPr/>
          <p:nvPr/>
        </p:nvSpPr>
        <p:spPr>
          <a:xfrm>
            <a:off x="5989320" y="2984967"/>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 superhero pirate clown!</a:t>
            </a:r>
            <a:endParaRPr lang="en-US" sz="1250" dirty="0"/>
          </a:p>
        </p:txBody>
      </p:sp>
      <p:sp>
        <p:nvSpPr>
          <p:cNvPr id="14" name="q_179"/>
          <p:cNvSpPr/>
          <p:nvPr/>
        </p:nvSpPr>
        <p:spPr>
          <a:xfrm>
            <a:off x="5760720" y="3300984"/>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Why is everyone laughing?</a:t>
            </a:r>
            <a:endParaRPr lang="en-US" sz="1250" dirty="0"/>
          </a:p>
        </p:txBody>
      </p:sp>
      <p:sp>
        <p:nvSpPr>
          <p:cNvPr id="15" name="R4_a180"/>
          <p:cNvSpPr/>
          <p:nvPr/>
        </p:nvSpPr>
        <p:spPr>
          <a:xfrm>
            <a:off x="5989320" y="3643335"/>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Because his costume is funny.</a:t>
            </a:r>
            <a:endParaRPr lang="en-US" sz="1250" dirty="0"/>
          </a:p>
        </p:txBody>
      </p:sp>
      <p:sp>
        <p:nvSpPr>
          <p:cNvPr id="16" name="q_181"/>
          <p:cNvSpPr/>
          <p:nvPr/>
        </p:nvSpPr>
        <p:spPr>
          <a:xfrm>
            <a:off x="5760720" y="3959352"/>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is Matt's mum good at?</a:t>
            </a:r>
            <a:endParaRPr lang="en-US" sz="1250" dirty="0"/>
          </a:p>
        </p:txBody>
      </p:sp>
      <p:sp>
        <p:nvSpPr>
          <p:cNvPr id="17" name="R5_a182"/>
          <p:cNvSpPr/>
          <p:nvPr/>
        </p:nvSpPr>
        <p:spPr>
          <a:xfrm>
            <a:off x="5989320" y="4301703"/>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helping!</a:t>
            </a:r>
            <a:endParaRPr lang="en-US" sz="1250" dirty="0"/>
          </a:p>
        </p:txBody>
      </p:sp>
      <p:sp>
        <p:nvSpPr>
          <p:cNvPr id="18" name="bk_183"/>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p.39 · 🎧 1.49</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8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READ</a:t>
            </a:r>
            <a:endParaRPr lang="en-US" sz="1600" dirty="0"/>
          </a:p>
        </p:txBody>
      </p:sp>
      <p:sp>
        <p:nvSpPr>
          <p:cNvPr id="4" name="bm_18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Answer the questions</a:t>
            </a:r>
            <a:endParaRPr lang="en-US" sz="2400" dirty="0"/>
          </a:p>
        </p:txBody>
      </p:sp>
      <p:sp>
        <p:nvSpPr>
          <p:cNvPr id="5" name="in_18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Answer the questions.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Rispondi alle domande.</a:t>
            </a:r>
            <a:endParaRPr lang="en-US" sz="1400" dirty="0"/>
          </a:p>
        </p:txBody>
      </p:sp>
      <p:sp>
        <p:nvSpPr>
          <p:cNvPr id="6" name="mode_18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4 MIN</a:t>
            </a:r>
            <a:endParaRPr lang="en-US" sz="1000" dirty="0"/>
          </a:p>
        </p:txBody>
      </p:sp>
      <p:sp>
        <p:nvSpPr>
          <p:cNvPr id="7" name="diff_188"/>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Yes, he does. / No, he doesn't.</a:t>
            </a:r>
            <a:endParaRPr lang="en-US" sz="950" dirty="0"/>
          </a:p>
        </p:txBody>
      </p:sp>
      <p:sp>
        <p:nvSpPr>
          <p:cNvPr id="8" name="pf_189"/>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190" descr="/home/claude/movers/img/crop/u3-p39-ex2.jpg">    </p:cNvPr>
          <p:cNvPicPr>
            <a:picLocks noChangeAspect="1"/>
          </p:cNvPicPr>
          <p:nvPr/>
        </p:nvPicPr>
        <p:blipFill>
          <a:blip r:embed="rId2"/>
          <a:stretch>
            <a:fillRect/>
          </a:stretch>
        </p:blipFill>
        <p:spPr>
          <a:xfrm>
            <a:off x="365760" y="2572138"/>
            <a:ext cx="5120640" cy="753604"/>
          </a:xfrm>
          <a:prstGeom prst="rect">
            <a:avLst/>
          </a:prstGeom>
        </p:spPr>
      </p:pic>
      <p:sp>
        <p:nvSpPr>
          <p:cNvPr id="10" name="q_191"/>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Does Matt choose his costume?</a:t>
            </a:r>
            <a:endParaRPr lang="en-US" sz="1250" dirty="0"/>
          </a:p>
        </p:txBody>
      </p:sp>
      <p:sp>
        <p:nvSpPr>
          <p:cNvPr id="11" name="R1_a192"/>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he doesn't.</a:t>
            </a:r>
            <a:endParaRPr lang="en-US" sz="1250" dirty="0"/>
          </a:p>
        </p:txBody>
      </p:sp>
      <p:sp>
        <p:nvSpPr>
          <p:cNvPr id="12" name="q_193"/>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 has the idea for his costume?</a:t>
            </a:r>
            <a:endParaRPr lang="en-US" sz="1250" dirty="0"/>
          </a:p>
        </p:txBody>
      </p:sp>
      <p:sp>
        <p:nvSpPr>
          <p:cNvPr id="13" name="R2_a194"/>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His mum has the idea.</a:t>
            </a:r>
            <a:endParaRPr lang="en-US" sz="1250" dirty="0"/>
          </a:p>
        </p:txBody>
      </p:sp>
      <p:sp>
        <p:nvSpPr>
          <p:cNvPr id="14" name="q_195"/>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Does Matt like the idea?</a:t>
            </a:r>
            <a:endParaRPr lang="en-US" sz="1250" dirty="0"/>
          </a:p>
        </p:txBody>
      </p:sp>
      <p:sp>
        <p:nvSpPr>
          <p:cNvPr id="15" name="R3_a196"/>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Yes, he does.</a:t>
            </a:r>
            <a:endParaRPr lang="en-US" sz="1250" dirty="0"/>
          </a:p>
        </p:txBody>
      </p:sp>
      <p:sp>
        <p:nvSpPr>
          <p:cNvPr id="16" name="q_197"/>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do you know?</a:t>
            </a:r>
            <a:endParaRPr lang="en-US" sz="1250" dirty="0"/>
          </a:p>
        </p:txBody>
      </p:sp>
      <p:sp>
        <p:nvSpPr>
          <p:cNvPr id="17" name="R4_a198"/>
          <p:cNvSpPr/>
          <p:nvPr/>
        </p:nvSpPr>
        <p:spPr>
          <a:xfrm>
            <a:off x="5989320" y="4222699"/>
            <a:ext cx="2788920" cy="378562"/>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Because he's very happy at the end of the story.</a:t>
            </a:r>
            <a:endParaRPr lang="en-US" sz="1200" dirty="0"/>
          </a:p>
        </p:txBody>
      </p:sp>
      <p:sp>
        <p:nvSpPr>
          <p:cNvPr id="18" name="bk_199"/>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p.39 · ex.2</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0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01"/>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Act the story!</a:t>
            </a:r>
            <a:endParaRPr lang="en-US" sz="2700" dirty="0"/>
          </a:p>
        </p:txBody>
      </p:sp>
      <p:sp>
        <p:nvSpPr>
          <p:cNvPr id="5" name="in_20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to the story and mime it!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la storia e mimala!</a:t>
            </a:r>
            <a:endParaRPr lang="en-US" sz="1400" dirty="0"/>
          </a:p>
        </p:txBody>
      </p:sp>
      <p:sp>
        <p:nvSpPr>
          <p:cNvPr id="6" name="mode_20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CLASS · ⏱ 4 MIN</a:t>
            </a:r>
            <a:endParaRPr lang="en-US" sz="1000" dirty="0"/>
          </a:p>
        </p:txBody>
      </p:sp>
      <p:sp>
        <p:nvSpPr>
          <p:cNvPr id="7" name="cd_204"/>
          <p:cNvSpPr/>
          <p:nvPr/>
        </p:nvSpPr>
        <p:spPr>
          <a:xfrm>
            <a:off x="27432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205" descr="/home/claude/movers/img/e-u3superhero.png">    </p:cNvPr>
          <p:cNvPicPr>
            <a:picLocks noChangeAspect="1"/>
          </p:cNvPicPr>
          <p:nvPr/>
        </p:nvPicPr>
        <p:blipFill>
          <a:blip r:embed="rId2"/>
          <a:stretch>
            <a:fillRect/>
          </a:stretch>
        </p:blipFill>
        <p:spPr>
          <a:xfrm>
            <a:off x="347472" y="1399032"/>
            <a:ext cx="1133856" cy="1133856"/>
          </a:xfrm>
          <a:prstGeom prst="rect">
            <a:avLst/>
          </a:prstGeom>
        </p:spPr>
      </p:pic>
      <p:sp>
        <p:nvSpPr>
          <p:cNvPr id="9" name="R1_a206"/>
          <p:cNvSpPr/>
          <p:nvPr/>
        </p:nvSpPr>
        <p:spPr>
          <a:xfrm>
            <a:off x="162763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Superhero flying pose! 🦸</a:t>
            </a:r>
            <a:endParaRPr lang="en-US" sz="1250" dirty="0"/>
          </a:p>
        </p:txBody>
      </p:sp>
      <p:sp>
        <p:nvSpPr>
          <p:cNvPr id="10" name="cd_207"/>
          <p:cNvSpPr/>
          <p:nvPr/>
        </p:nvSpPr>
        <p:spPr>
          <a:xfrm>
            <a:off x="313944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208" descr="/home/claude/movers/img/fc/pirate.png">    </p:cNvPr>
          <p:cNvPicPr>
            <a:picLocks noChangeAspect="1"/>
          </p:cNvPicPr>
          <p:nvPr/>
        </p:nvPicPr>
        <p:blipFill>
          <a:blip r:embed="rId3"/>
          <a:stretch>
            <a:fillRect/>
          </a:stretch>
        </p:blipFill>
        <p:spPr>
          <a:xfrm>
            <a:off x="3212592" y="1399032"/>
            <a:ext cx="1133856" cy="1133856"/>
          </a:xfrm>
          <a:prstGeom prst="rect">
            <a:avLst/>
          </a:prstGeom>
        </p:spPr>
      </p:pic>
      <p:sp>
        <p:nvSpPr>
          <p:cNvPr id="12" name="R2_a209"/>
          <p:cNvSpPr/>
          <p:nvPr/>
        </p:nvSpPr>
        <p:spPr>
          <a:xfrm>
            <a:off x="449275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Sword fight! ⚔️</a:t>
            </a:r>
            <a:endParaRPr lang="en-US" sz="1250" dirty="0"/>
          </a:p>
        </p:txBody>
      </p:sp>
      <p:sp>
        <p:nvSpPr>
          <p:cNvPr id="13" name="cd_210"/>
          <p:cNvSpPr/>
          <p:nvPr/>
        </p:nvSpPr>
        <p:spPr>
          <a:xfrm>
            <a:off x="600456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211" descr="/home/claude/movers/img/fc/pop-star.png">    </p:cNvPr>
          <p:cNvPicPr>
            <a:picLocks noChangeAspect="1"/>
          </p:cNvPicPr>
          <p:nvPr/>
        </p:nvPicPr>
        <p:blipFill>
          <a:blip r:embed="rId4"/>
          <a:stretch>
            <a:fillRect/>
          </a:stretch>
        </p:blipFill>
        <p:spPr>
          <a:xfrm>
            <a:off x="6077712" y="1399032"/>
            <a:ext cx="1133856" cy="1133856"/>
          </a:xfrm>
          <a:prstGeom prst="rect">
            <a:avLst/>
          </a:prstGeom>
        </p:spPr>
      </p:pic>
      <p:sp>
        <p:nvSpPr>
          <p:cNvPr id="15" name="R3_a212"/>
          <p:cNvSpPr/>
          <p:nvPr/>
        </p:nvSpPr>
        <p:spPr>
          <a:xfrm>
            <a:off x="735787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Sing into a microphone! 🎤</a:t>
            </a:r>
            <a:endParaRPr lang="en-US" sz="1250" dirty="0"/>
          </a:p>
        </p:txBody>
      </p:sp>
      <p:sp>
        <p:nvSpPr>
          <p:cNvPr id="16" name="cd_213"/>
          <p:cNvSpPr/>
          <p:nvPr/>
        </p:nvSpPr>
        <p:spPr>
          <a:xfrm>
            <a:off x="27432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214" descr="/home/claude/movers/img/fc/farmer.png">    </p:cNvPr>
          <p:cNvPicPr>
            <a:picLocks noChangeAspect="1"/>
          </p:cNvPicPr>
          <p:nvPr/>
        </p:nvPicPr>
        <p:blipFill>
          <a:blip r:embed="rId5"/>
          <a:stretch>
            <a:fillRect/>
          </a:stretch>
        </p:blipFill>
        <p:spPr>
          <a:xfrm>
            <a:off x="347472" y="2999232"/>
            <a:ext cx="1133856" cy="1133856"/>
          </a:xfrm>
          <a:prstGeom prst="rect">
            <a:avLst/>
          </a:prstGeom>
        </p:spPr>
      </p:pic>
      <p:sp>
        <p:nvSpPr>
          <p:cNvPr id="18" name="R4_a215"/>
          <p:cNvSpPr/>
          <p:nvPr/>
        </p:nvSpPr>
        <p:spPr>
          <a:xfrm>
            <a:off x="162763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Drive a tractor! 🚜</a:t>
            </a:r>
            <a:endParaRPr lang="en-US" sz="1250" dirty="0"/>
          </a:p>
        </p:txBody>
      </p:sp>
      <p:sp>
        <p:nvSpPr>
          <p:cNvPr id="19" name="cd_216"/>
          <p:cNvSpPr/>
          <p:nvPr/>
        </p:nvSpPr>
        <p:spPr>
          <a:xfrm>
            <a:off x="313944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217" descr="/home/claude/movers/img/e-u3sheep.png">    </p:cNvPr>
          <p:cNvPicPr>
            <a:picLocks noChangeAspect="1"/>
          </p:cNvPicPr>
          <p:nvPr/>
        </p:nvPicPr>
        <p:blipFill>
          <a:blip r:embed="rId6"/>
          <a:stretch>
            <a:fillRect/>
          </a:stretch>
        </p:blipFill>
        <p:spPr>
          <a:xfrm>
            <a:off x="3212592" y="2999232"/>
            <a:ext cx="1133856" cy="1133856"/>
          </a:xfrm>
          <a:prstGeom prst="rect">
            <a:avLst/>
          </a:prstGeom>
        </p:spPr>
      </p:pic>
      <p:sp>
        <p:nvSpPr>
          <p:cNvPr id="21" name="R5_a218"/>
          <p:cNvSpPr/>
          <p:nvPr/>
        </p:nvSpPr>
        <p:spPr>
          <a:xfrm>
            <a:off x="449275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Be a sheep! Baaa! 🐑</a:t>
            </a:r>
            <a:endParaRPr lang="en-US" sz="1250" dirty="0"/>
          </a:p>
        </p:txBody>
      </p:sp>
      <p:sp>
        <p:nvSpPr>
          <p:cNvPr id="22" name="cd_219"/>
          <p:cNvSpPr/>
          <p:nvPr/>
        </p:nvSpPr>
        <p:spPr>
          <a:xfrm>
            <a:off x="600456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20" descr="/home/claude/movers/img/e-u3idea.png">    </p:cNvPr>
          <p:cNvPicPr>
            <a:picLocks noChangeAspect="1"/>
          </p:cNvPicPr>
          <p:nvPr/>
        </p:nvPicPr>
        <p:blipFill>
          <a:blip r:embed="rId7"/>
          <a:stretch>
            <a:fillRect/>
          </a:stretch>
        </p:blipFill>
        <p:spPr>
          <a:xfrm>
            <a:off x="6077712" y="2999232"/>
            <a:ext cx="1133856" cy="1133856"/>
          </a:xfrm>
          <a:prstGeom prst="rect">
            <a:avLst/>
          </a:prstGeom>
        </p:spPr>
      </p:pic>
      <p:sp>
        <p:nvSpPr>
          <p:cNvPr id="24" name="R6_a221"/>
          <p:cNvSpPr/>
          <p:nvPr/>
        </p:nvSpPr>
        <p:spPr>
          <a:xfrm>
            <a:off x="735787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Mum has an idea! 💡</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2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23"/>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Story detectives!</a:t>
            </a:r>
            <a:endParaRPr lang="en-US" sz="2700" dirty="0"/>
          </a:p>
        </p:txBody>
      </p:sp>
      <p:sp>
        <p:nvSpPr>
          <p:cNvPr id="5" name="in_224"/>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Who is it? Write the name. Show me!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Chi è? Scrivi il nome. Mostralo!</a:t>
            </a:r>
            <a:endParaRPr lang="en-US" sz="1400" dirty="0"/>
          </a:p>
        </p:txBody>
      </p:sp>
      <p:sp>
        <p:nvSpPr>
          <p:cNvPr id="6" name="mode_22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 ⏱ 4 MIN</a:t>
            </a:r>
            <a:endParaRPr lang="en-US" sz="1000" dirty="0"/>
          </a:p>
        </p:txBody>
      </p:sp>
      <p:sp>
        <p:nvSpPr>
          <p:cNvPr id="7" name="diff_226"/>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Matt · Emily · Ludo · Harry…</a:t>
            </a:r>
            <a:endParaRPr lang="en-US" sz="950" dirty="0"/>
          </a:p>
        </p:txBody>
      </p:sp>
      <p:sp>
        <p:nvSpPr>
          <p:cNvPr id="8" name="pf_227"/>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228" descr="/home/claude/movers/img/crop/u3-p39-party.jpg">    </p:cNvPr>
          <p:cNvPicPr>
            <a:picLocks noChangeAspect="1"/>
          </p:cNvPicPr>
          <p:nvPr/>
        </p:nvPicPr>
        <p:blipFill>
          <a:blip r:embed="rId2"/>
          <a:stretch>
            <a:fillRect/>
          </a:stretch>
        </p:blipFill>
        <p:spPr>
          <a:xfrm>
            <a:off x="453744" y="1325880"/>
            <a:ext cx="4944671" cy="3246120"/>
          </a:xfrm>
          <a:prstGeom prst="rect">
            <a:avLst/>
          </a:prstGeom>
        </p:spPr>
      </p:pic>
      <p:sp>
        <p:nvSpPr>
          <p:cNvPr id="10" name="q_229"/>
          <p:cNvSpPr/>
          <p:nvPr/>
        </p:nvSpPr>
        <p:spPr>
          <a:xfrm>
            <a:off x="5760720" y="132588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It's her birthday.</a:t>
            </a:r>
            <a:endParaRPr lang="en-US" sz="1100" dirty="0"/>
          </a:p>
        </p:txBody>
      </p:sp>
      <p:sp>
        <p:nvSpPr>
          <p:cNvPr id="11" name="R1_a230"/>
          <p:cNvSpPr/>
          <p:nvPr/>
        </p:nvSpPr>
        <p:spPr>
          <a:xfrm>
            <a:off x="5989320" y="16111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Emily</a:t>
            </a:r>
            <a:endParaRPr lang="en-US" sz="1100" dirty="0"/>
          </a:p>
        </p:txBody>
      </p:sp>
      <p:sp>
        <p:nvSpPr>
          <p:cNvPr id="12" name="q_231"/>
          <p:cNvSpPr/>
          <p:nvPr/>
        </p:nvSpPr>
        <p:spPr>
          <a:xfrm>
            <a:off x="5760720" y="187452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He needs a great costume.</a:t>
            </a:r>
            <a:endParaRPr lang="en-US" sz="1100" dirty="0"/>
          </a:p>
        </p:txBody>
      </p:sp>
      <p:sp>
        <p:nvSpPr>
          <p:cNvPr id="13" name="R2_a232"/>
          <p:cNvSpPr/>
          <p:nvPr/>
        </p:nvSpPr>
        <p:spPr>
          <a:xfrm>
            <a:off x="5989320" y="215981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Matt</a:t>
            </a:r>
            <a:endParaRPr lang="en-US" sz="1100" dirty="0"/>
          </a:p>
        </p:txBody>
      </p:sp>
      <p:sp>
        <p:nvSpPr>
          <p:cNvPr id="14" name="q_233"/>
          <p:cNvSpPr/>
          <p:nvPr/>
        </p:nvSpPr>
        <p:spPr>
          <a:xfrm>
            <a:off x="5760720" y="242316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They've got pirate costumes.</a:t>
            </a:r>
            <a:endParaRPr lang="en-US" sz="1100" dirty="0"/>
          </a:p>
        </p:txBody>
      </p:sp>
      <p:sp>
        <p:nvSpPr>
          <p:cNvPr id="15" name="R3_a234"/>
          <p:cNvSpPr/>
          <p:nvPr/>
        </p:nvSpPr>
        <p:spPr>
          <a:xfrm>
            <a:off x="5989320" y="270845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Dan and Zoe</a:t>
            </a:r>
            <a:endParaRPr lang="en-US" sz="1100" dirty="0"/>
          </a:p>
        </p:txBody>
      </p:sp>
      <p:sp>
        <p:nvSpPr>
          <p:cNvPr id="16" name="q_235"/>
          <p:cNvSpPr/>
          <p:nvPr/>
        </p:nvSpPr>
        <p:spPr>
          <a:xfrm>
            <a:off x="5760720" y="2971800"/>
            <a:ext cx="3017520" cy="285293"/>
          </a:xfrm>
          <a:prstGeom prst="rect">
            <a:avLst/>
          </a:prstGeom>
          <a:noFill/>
          <a:ln/>
        </p:spPr>
        <p:txBody>
          <a:bodyPr wrap="square" lIns="0" tIns="0" rIns="0" bIns="0" rtlCol="0" anchor="b"/>
          <a:lstStyle/>
          <a:p>
            <a:pPr indent="0" marL="0">
              <a:buNone/>
            </a:pPr>
            <a:r>
              <a:rPr lang="en-US" sz="10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050" dirty="0">
                <a:solidFill>
                  <a:srgbClr val="1E2A5A"/>
                </a:solidFill>
                <a:latin typeface="Arial Rounded MT Bold" pitchFamily="34" charset="0"/>
                <a:ea typeface="Arial Rounded MT Bold" pitchFamily="34" charset="-122"/>
                <a:cs typeface="Arial Rounded MT Bold" pitchFamily="34" charset="-120"/>
              </a:rPr>
              <a:t>He's a dog, but he's a sheep at the party.</a:t>
            </a:r>
            <a:endParaRPr lang="en-US" sz="1050" dirty="0"/>
          </a:p>
        </p:txBody>
      </p:sp>
      <p:sp>
        <p:nvSpPr>
          <p:cNvPr id="17" name="R4_a236"/>
          <p:cNvSpPr/>
          <p:nvPr/>
        </p:nvSpPr>
        <p:spPr>
          <a:xfrm>
            <a:off x="5989320" y="325709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Ludo</a:t>
            </a:r>
            <a:endParaRPr lang="en-US" sz="1100" dirty="0"/>
          </a:p>
        </p:txBody>
      </p:sp>
      <p:sp>
        <p:nvSpPr>
          <p:cNvPr id="18" name="q_237"/>
          <p:cNvSpPr/>
          <p:nvPr/>
        </p:nvSpPr>
        <p:spPr>
          <a:xfrm>
            <a:off x="5760720" y="352044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He's got a superhero costume.</a:t>
            </a:r>
            <a:endParaRPr lang="en-US" sz="1100" dirty="0"/>
          </a:p>
        </p:txBody>
      </p:sp>
      <p:sp>
        <p:nvSpPr>
          <p:cNvPr id="19" name="R5_a238"/>
          <p:cNvSpPr/>
          <p:nvPr/>
        </p:nvSpPr>
        <p:spPr>
          <a:xfrm>
            <a:off x="5989320" y="380573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Harry</a:t>
            </a:r>
            <a:endParaRPr lang="en-US" sz="1100" dirty="0"/>
          </a:p>
        </p:txBody>
      </p:sp>
      <p:sp>
        <p:nvSpPr>
          <p:cNvPr id="20" name="q_239"/>
          <p:cNvSpPr/>
          <p:nvPr/>
        </p:nvSpPr>
        <p:spPr>
          <a:xfrm>
            <a:off x="5760720" y="406908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6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She has a good idea.</a:t>
            </a:r>
            <a:endParaRPr lang="en-US" sz="1100" dirty="0"/>
          </a:p>
        </p:txBody>
      </p:sp>
      <p:sp>
        <p:nvSpPr>
          <p:cNvPr id="21" name="R6_a240"/>
          <p:cNvSpPr/>
          <p:nvPr/>
        </p:nvSpPr>
        <p:spPr>
          <a:xfrm>
            <a:off x="5989320" y="43543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Matt's mum</a:t>
            </a:r>
            <a:endParaRPr lang="en-US" sz="1100" dirty="0"/>
          </a:p>
        </p:txBody>
      </p:sp>
      <p:sp>
        <p:nvSpPr>
          <p:cNvPr id="22" name="bk_241"/>
          <p:cNvSpPr/>
          <p:nvPr/>
        </p:nvSpPr>
        <p:spPr>
          <a:xfrm>
            <a:off x="228600" y="4681728"/>
            <a:ext cx="210312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p.38–39</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a:t>
            </a:r>
            <a:endParaRPr lang="en-US" sz="1600" dirty="0"/>
          </a:p>
        </p:txBody>
      </p:sp>
      <p:sp>
        <p:nvSpPr>
          <p:cNvPr id="4" name="bm_24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Can you help me?</a:t>
            </a:r>
            <a:endParaRPr lang="en-US" sz="2700" dirty="0"/>
          </a:p>
        </p:txBody>
      </p:sp>
      <p:sp>
        <p:nvSpPr>
          <p:cNvPr id="5" name="in_24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It's OK to ask for help! Use these in class.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È giusto chiedere aiuto! Usale in classe.</a:t>
            </a:r>
            <a:endParaRPr lang="en-US" sz="1400" dirty="0"/>
          </a:p>
        </p:txBody>
      </p:sp>
      <p:sp>
        <p:nvSpPr>
          <p:cNvPr id="6" name="mode_24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5 MIN</a:t>
            </a:r>
            <a:endParaRPr lang="en-US" sz="1000" dirty="0"/>
          </a:p>
        </p:txBody>
      </p:sp>
      <p:sp>
        <p:nvSpPr>
          <p:cNvPr id="7" name="st_246"/>
          <p:cNvSpPr/>
          <p:nvPr/>
        </p:nvSpPr>
        <p:spPr>
          <a:xfrm>
            <a:off x="228600" y="13258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8" name="sn_247"/>
          <p:cNvSpPr/>
          <p:nvPr/>
        </p:nvSpPr>
        <p:spPr>
          <a:xfrm>
            <a:off x="118872" y="12161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248"/>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0" name="se_249"/>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Ask the teacher or a friend.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Chiedi all'insegnante o a un compagno.</a:t>
            </a:r>
            <a:endParaRPr lang="en-US" sz="1050" dirty="0"/>
          </a:p>
        </p:txBody>
      </p:sp>
      <p:sp>
        <p:nvSpPr>
          <p:cNvPr id="11" name="st_250"/>
          <p:cNvSpPr/>
          <p:nvPr/>
        </p:nvSpPr>
        <p:spPr>
          <a:xfrm>
            <a:off x="228600" y="23926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2" name="sn_251"/>
          <p:cNvSpPr/>
          <p:nvPr/>
        </p:nvSpPr>
        <p:spPr>
          <a:xfrm>
            <a:off x="118872" y="22829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252"/>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WRITE</a:t>
            </a:r>
            <a:endParaRPr lang="en-US" sz="1300" dirty="0"/>
          </a:p>
        </p:txBody>
      </p:sp>
      <p:sp>
        <p:nvSpPr>
          <p:cNvPr id="14" name="se_253"/>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Copy the questions on a card.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Copia le domande su un cartoncino.</a:t>
            </a:r>
            <a:endParaRPr lang="en-US" sz="1050" dirty="0"/>
          </a:p>
        </p:txBody>
      </p:sp>
      <p:sp>
        <p:nvSpPr>
          <p:cNvPr id="15" name="st_254"/>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6" name="sn_255"/>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256"/>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8" name="se_257"/>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Role-play in pairs!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Recitate a coppie!</a:t>
            </a:r>
            <a:endParaRPr lang="en-US" sz="1050" dirty="0"/>
          </a:p>
        </p:txBody>
      </p:sp>
      <p:sp>
        <p:nvSpPr>
          <p:cNvPr id="19" name="gl_258"/>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What does … mean?  · Cosa vuol dire…?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Can you repeat that, please?  · Puoi ripetere, per favore?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How do I do this?  · Come si fa?</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How do you say … in English?  · Come si dice… in inglese?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Can I help you? – Yes, please! Thank you!</a:t>
            </a:r>
            <a:endParaRPr lang="en-US" sz="1400" dirty="0"/>
          </a:p>
        </p:txBody>
      </p:sp>
    </p:spTree>
  </p:cSld>
  <p:clrMapOvr>
    <a:masterClrMapping/>
  </p:clrMapOvr>
  <p:transition spd="med">
    <p:push dir="l"/>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5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a:t>
            </a:r>
            <a:endParaRPr lang="en-US" sz="1600" dirty="0"/>
          </a:p>
        </p:txBody>
      </p:sp>
      <p:sp>
        <p:nvSpPr>
          <p:cNvPr id="4" name="bm_26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Ask and answer</a:t>
            </a:r>
            <a:endParaRPr lang="en-US" sz="2700" dirty="0"/>
          </a:p>
        </p:txBody>
      </p:sp>
      <p:sp>
        <p:nvSpPr>
          <p:cNvPr id="5" name="in_26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Ask and answer. When do you help someone?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Domanda e rispondi. Quando aiuti qualcuno?</a:t>
            </a:r>
            <a:endParaRPr lang="en-US" sz="1400" dirty="0"/>
          </a:p>
        </p:txBody>
      </p:sp>
      <p:sp>
        <p:nvSpPr>
          <p:cNvPr id="6" name="mode_26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4 MIN</a:t>
            </a:r>
            <a:endParaRPr lang="en-US" sz="1000" dirty="0"/>
          </a:p>
        </p:txBody>
      </p:sp>
      <p:sp>
        <p:nvSpPr>
          <p:cNvPr id="7" name="diff_263"/>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 sometimes help my …</a:t>
            </a:r>
            <a:endParaRPr lang="en-US" sz="950" dirty="0"/>
          </a:p>
        </p:txBody>
      </p:sp>
      <p:sp>
        <p:nvSpPr>
          <p:cNvPr id="8" name="diff_264"/>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Say when and why!</a:t>
            </a:r>
            <a:endParaRPr lang="en-US" sz="950" dirty="0"/>
          </a:p>
        </p:txBody>
      </p:sp>
      <p:sp>
        <p:nvSpPr>
          <p:cNvPr id="9" name="pf_265"/>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pic_266" descr="/home/claude/movers/img/crop/u3-p39-ex3.jpg">    </p:cNvPr>
          <p:cNvPicPr>
            <a:picLocks noChangeAspect="1"/>
          </p:cNvPicPr>
          <p:nvPr/>
        </p:nvPicPr>
        <p:blipFill>
          <a:blip r:embed="rId2"/>
          <a:stretch>
            <a:fillRect/>
          </a:stretch>
        </p:blipFill>
        <p:spPr>
          <a:xfrm>
            <a:off x="365760" y="2404191"/>
            <a:ext cx="5120640" cy="1089498"/>
          </a:xfrm>
          <a:prstGeom prst="rect">
            <a:avLst/>
          </a:prstGeom>
        </p:spPr>
      </p:pic>
      <p:sp>
        <p:nvSpPr>
          <p:cNvPr id="11" name="q_267"/>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Tell me about when you help someone.</a:t>
            </a:r>
            <a:endParaRPr lang="en-US" sz="1250" dirty="0"/>
          </a:p>
        </p:txBody>
      </p:sp>
      <p:sp>
        <p:nvSpPr>
          <p:cNvPr id="12" name="R1_a268"/>
          <p:cNvSpPr/>
          <p:nvPr/>
        </p:nvSpPr>
        <p:spPr>
          <a:xfrm>
            <a:off x="5989320" y="1777594"/>
            <a:ext cx="2788920" cy="399593"/>
          </a:xfrm>
          <a:prstGeom prst="rect">
            <a:avLst/>
          </a:prstGeom>
          <a:noFill/>
          <a:ln/>
        </p:spPr>
        <p:txBody>
          <a:bodyPr wrap="square" lIns="0" tIns="0" rIns="0" bIns="0" rtlCol="0" anchor="t"/>
          <a:lstStyle/>
          <a:p>
            <a:pPr indent="0" marL="0">
              <a:buNone/>
            </a:pPr>
            <a:r>
              <a:rPr lang="en-US" sz="1050" b="1" dirty="0">
                <a:solidFill>
                  <a:srgbClr val="6CCB3B"/>
                </a:solidFill>
                <a:latin typeface="Arial Rounded MT Bold" pitchFamily="34" charset="0"/>
                <a:ea typeface="Arial Rounded MT Bold" pitchFamily="34" charset="-122"/>
                <a:cs typeface="Arial Rounded MT Bold" pitchFamily="34" charset="-120"/>
              </a:rPr>
              <a:t>I sometimes help my grandma with her dog. I feed him when she isn't well.</a:t>
            </a:r>
            <a:endParaRPr lang="en-US" sz="1050" dirty="0"/>
          </a:p>
        </p:txBody>
      </p:sp>
      <p:sp>
        <p:nvSpPr>
          <p:cNvPr id="13" name="q_269"/>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do you help at home?</a:t>
            </a:r>
            <a:endParaRPr lang="en-US" sz="1250" dirty="0"/>
          </a:p>
        </p:txBody>
      </p:sp>
      <p:sp>
        <p:nvSpPr>
          <p:cNvPr id="14" name="R2_a270"/>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 wash the car / do the shopping / clean my bedroom.</a:t>
            </a:r>
            <a:endParaRPr lang="en-US" sz="1250" dirty="0"/>
          </a:p>
        </p:txBody>
      </p:sp>
      <p:sp>
        <p:nvSpPr>
          <p:cNvPr id="15" name="q_271"/>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 do you help?</a:t>
            </a:r>
            <a:endParaRPr lang="en-US" sz="1250" dirty="0"/>
          </a:p>
        </p:txBody>
      </p:sp>
      <p:sp>
        <p:nvSpPr>
          <p:cNvPr id="16" name="R3_a272"/>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 look after my brother / sister.</a:t>
            </a:r>
            <a:endParaRPr lang="en-US" sz="1250" dirty="0"/>
          </a:p>
        </p:txBody>
      </p:sp>
      <p:sp>
        <p:nvSpPr>
          <p:cNvPr id="17" name="bk_273"/>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p.39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7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7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Role-play: Help!</a:t>
            </a:r>
            <a:endParaRPr lang="en-US" sz="2700" dirty="0"/>
          </a:p>
        </p:txBody>
      </p:sp>
      <p:sp>
        <p:nvSpPr>
          <p:cNvPr id="5" name="in_27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Pick a problem card. Your partner offers help!</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Pesca un problema. Il compagno ti offre aiuto!</a:t>
            </a:r>
            <a:endParaRPr lang="en-US" sz="1400" dirty="0"/>
          </a:p>
        </p:txBody>
      </p:sp>
      <p:sp>
        <p:nvSpPr>
          <p:cNvPr id="6" name="mode_27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5 MIN</a:t>
            </a:r>
            <a:endParaRPr lang="en-US" sz="1000" dirty="0"/>
          </a:p>
        </p:txBody>
      </p:sp>
      <p:sp>
        <p:nvSpPr>
          <p:cNvPr id="7" name="diff_278"/>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Can I help you?</a:t>
            </a:r>
            <a:endParaRPr lang="en-US" sz="950" dirty="0"/>
          </a:p>
        </p:txBody>
      </p:sp>
      <p:sp>
        <p:nvSpPr>
          <p:cNvPr id="8" name="diff_279"/>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What about a …?</a:t>
            </a:r>
            <a:endParaRPr lang="en-US" sz="950" dirty="0"/>
          </a:p>
        </p:txBody>
      </p:sp>
      <p:sp>
        <p:nvSpPr>
          <p:cNvPr id="9" name="st_280"/>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10" name="sn_281"/>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sk_282"/>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READ</a:t>
            </a:r>
            <a:endParaRPr lang="en-US" sz="1300" dirty="0"/>
          </a:p>
        </p:txBody>
      </p:sp>
      <p:sp>
        <p:nvSpPr>
          <p:cNvPr id="12" name="se_283"/>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Read the problem card.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Leggi il problema.</a:t>
            </a:r>
            <a:endParaRPr lang="en-US" sz="1050" dirty="0"/>
          </a:p>
        </p:txBody>
      </p:sp>
      <p:sp>
        <p:nvSpPr>
          <p:cNvPr id="13" name="st_284"/>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4" name="sn_285"/>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sk_286"/>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6" name="se_287"/>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'Oh no! I can't find my pencil!'</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'Oh no! Non trovo la matita!'</a:t>
            </a:r>
            <a:endParaRPr lang="en-US" sz="1050" dirty="0"/>
          </a:p>
        </p:txBody>
      </p:sp>
      <p:sp>
        <p:nvSpPr>
          <p:cNvPr id="17" name="st_288"/>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8" name="sn_289"/>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9" name="sk_290"/>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20" name="se_291"/>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Partner: 'Can I help you? Here you are!'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Compagno: 'Posso aiutarti? Ecco!'</a:t>
            </a:r>
            <a:endParaRPr lang="en-US" sz="1050" dirty="0"/>
          </a:p>
        </p:txBody>
      </p:sp>
      <p:sp>
        <p:nvSpPr>
          <p:cNvPr id="21" name="gl_292"/>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 can't find my pencil case!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My bag is very heavy!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 don't understand this word.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I've fallen off my bike!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 haven't got a costume for the party! 🎉</a:t>
            </a:r>
            <a:endParaRPr lang="en-US" sz="14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9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WELL DONE!</a:t>
            </a:r>
            <a:endParaRPr lang="en-US" sz="1600" dirty="0"/>
          </a:p>
        </p:txBody>
      </p:sp>
      <p:sp>
        <p:nvSpPr>
          <p:cNvPr id="4" name="bm_29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Bye bye! 👋</a:t>
            </a:r>
            <a:endParaRPr lang="en-US" sz="3200" dirty="0"/>
          </a:p>
        </p:txBody>
      </p:sp>
      <p:sp>
        <p:nvSpPr>
          <p:cNvPr id="5" name="in_29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I can… · Oggi so…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Show me with your thumbs! 👍 👌 👎</a:t>
            </a:r>
            <a:endParaRPr lang="en-US" sz="1400" dirty="0"/>
          </a:p>
        </p:txBody>
      </p:sp>
      <p:sp>
        <p:nvSpPr>
          <p:cNvPr id="6" name="can_296"/>
          <p:cNvSpPr/>
          <p:nvPr/>
        </p:nvSpPr>
        <p:spPr>
          <a:xfrm>
            <a:off x="320040" y="132588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understand the story 'The costume party'.</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Capisco la storia 'La festa in maschera'.</a:t>
            </a:r>
            <a:endParaRPr lang="en-US" sz="1300" dirty="0"/>
          </a:p>
        </p:txBody>
      </p:sp>
      <p:sp>
        <p:nvSpPr>
          <p:cNvPr id="7" name="can_297"/>
          <p:cNvSpPr/>
          <p:nvPr/>
        </p:nvSpPr>
        <p:spPr>
          <a:xfrm>
            <a:off x="320040" y="205740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ask for help: 'Can you help me?'</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chiedere aiuto.</a:t>
            </a:r>
            <a:endParaRPr lang="en-US" sz="1300" dirty="0"/>
          </a:p>
        </p:txBody>
      </p:sp>
      <p:sp>
        <p:nvSpPr>
          <p:cNvPr id="8" name="can_298"/>
          <p:cNvSpPr/>
          <p:nvPr/>
        </p:nvSpPr>
        <p:spPr>
          <a:xfrm>
            <a:off x="320040" y="278892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offer help: 'Can I help you?'</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offrire aiuto.</a:t>
            </a:r>
            <a:endParaRPr lang="en-US" sz="1300" dirty="0"/>
          </a:p>
        </p:txBody>
      </p:sp>
      <p:sp>
        <p:nvSpPr>
          <p:cNvPr id="9" name="hw_299"/>
          <p:cNvSpPr/>
          <p:nvPr/>
        </p:nvSpPr>
        <p:spPr>
          <a:xfrm>
            <a:off x="5303520" y="1325880"/>
            <a:ext cx="3566160" cy="2377440"/>
          </a:xfrm>
          <a:prstGeom prst="roundRect">
            <a:avLst>
              <a:gd name="adj" fmla="val 4615"/>
            </a:avLst>
          </a:prstGeom>
          <a:solidFill>
            <a:srgbClr val="FFFFFF"/>
          </a:solidFill>
          <a:ln w="38100">
            <a:solidFill>
              <a:srgbClr val="FF8A3D"/>
            </a:solidFill>
          </a:ln>
        </p:spPr>
        <p:txBody>
          <a:bodyPr wrap="square" lIns="127000" tIns="127000" rIns="127000" bIns="127000" rtlCol="0" anchor="t"/>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 HOMEWORK · COMPITI</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Homework sheet</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p.38: ex.1–3</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p.39: ex.4</a:t>
            </a:r>
            <a:endParaRPr lang="en-US" sz="1250" dirty="0"/>
          </a:p>
        </p:txBody>
      </p:sp>
      <p:sp>
        <p:nvSpPr>
          <p:cNvPr id="10" name="nx_300"/>
          <p:cNvSpPr/>
          <p:nvPr/>
        </p:nvSpPr>
        <p:spPr>
          <a:xfrm>
            <a:off x="5303520" y="3840480"/>
            <a:ext cx="3566160" cy="502920"/>
          </a:xfrm>
          <a:prstGeom prst="rect">
            <a:avLst/>
          </a:prstGeom>
          <a:noFill/>
          <a:ln/>
        </p:spPr>
        <p:txBody>
          <a:bodyPr wrap="square" lIns="0" tIns="0" rIns="0" bIns="0" rtlCol="0" anchor="ctr"/>
          <a:lstStyle/>
          <a:p>
            <a:pPr indent="0" marL="0">
              <a:buNone/>
            </a:pPr>
            <a:r>
              <a:rPr lang="en-US" sz="1200" dirty="0">
                <a:solidFill>
                  <a:srgbClr val="1E2A5A"/>
                </a:solidFill>
                <a:latin typeface="Arial Rounded MT Bold" pitchFamily="34" charset="0"/>
                <a:ea typeface="Arial Rounded MT Bold" pitchFamily="34" charset="-122"/>
                <a:cs typeface="Arial Rounded MT Bold" pitchFamily="34" charset="-120"/>
              </a:rPr>
              <a:t>➡ Next: Movers speaking + our Mission show! 🎭</a:t>
            </a:r>
            <a:endParaRPr lang="en-US" sz="12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0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02"/>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6CCB3B"/>
                </a:solidFill>
                <a:latin typeface="Arial Black" pitchFamily="34" charset="0"/>
                <a:ea typeface="Arial Black" pitchFamily="34" charset="-122"/>
                <a:cs typeface="Arial Black" pitchFamily="34" charset="-120"/>
              </a:rPr>
              <a:t>EXTRA: Spelling bee!</a:t>
            </a:r>
            <a:endParaRPr lang="en-US" sz="2400" dirty="0"/>
          </a:p>
        </p:txBody>
      </p:sp>
      <p:sp>
        <p:nvSpPr>
          <p:cNvPr id="5" name="in_303"/>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Two teams. Spell the word. Correct = 1 point!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Due squadre. Fai lo spelling. Giusto = 1 punto!</a:t>
            </a:r>
            <a:endParaRPr lang="en-US" sz="1400" dirty="0"/>
          </a:p>
        </p:txBody>
      </p:sp>
      <p:sp>
        <p:nvSpPr>
          <p:cNvPr id="6" name="mode_304"/>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5 MIN</a:t>
            </a:r>
            <a:endParaRPr lang="en-US" sz="1000" dirty="0"/>
          </a:p>
        </p:txBody>
      </p:sp>
      <p:sp>
        <p:nvSpPr>
          <p:cNvPr id="7" name="st_305"/>
          <p:cNvSpPr/>
          <p:nvPr/>
        </p:nvSpPr>
        <p:spPr>
          <a:xfrm>
            <a:off x="228600" y="1325880"/>
            <a:ext cx="2651760" cy="1005840"/>
          </a:xfrm>
          <a:prstGeom prst="roundRect">
            <a:avLst>
              <a:gd name="adj" fmla="val 10909"/>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8" name="sn_306"/>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307"/>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0" name="se_308"/>
          <p:cNvSpPr/>
          <p:nvPr/>
        </p:nvSpPr>
        <p:spPr>
          <a:xfrm>
            <a:off x="338328" y="1655064"/>
            <a:ext cx="2468880" cy="64008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Listen: 'How do you spell costume?'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Ascolta: 'Come si scrive costume?'</a:t>
            </a:r>
            <a:endParaRPr lang="en-US" sz="1050" dirty="0"/>
          </a:p>
        </p:txBody>
      </p:sp>
      <p:sp>
        <p:nvSpPr>
          <p:cNvPr id="11" name="st_309"/>
          <p:cNvSpPr/>
          <p:nvPr/>
        </p:nvSpPr>
        <p:spPr>
          <a:xfrm>
            <a:off x="228600" y="2423160"/>
            <a:ext cx="2651760" cy="1005840"/>
          </a:xfrm>
          <a:prstGeom prst="roundRect">
            <a:avLst>
              <a:gd name="adj" fmla="val 10909"/>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310"/>
          <p:cNvSpPr/>
          <p:nvPr/>
        </p:nvSpPr>
        <p:spPr>
          <a:xfrm>
            <a:off x="118872" y="231343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311"/>
          <p:cNvSpPr/>
          <p:nvPr/>
        </p:nvSpPr>
        <p:spPr>
          <a:xfrm>
            <a:off x="521208" y="245973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312"/>
          <p:cNvSpPr/>
          <p:nvPr/>
        </p:nvSpPr>
        <p:spPr>
          <a:xfrm>
            <a:off x="338328" y="2752344"/>
            <a:ext cx="2468880" cy="64008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Spell it: C-O-S-T-U-M-E!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Fai lo spelling: C-O-S-T-U-M-E!</a:t>
            </a:r>
            <a:endParaRPr lang="en-US" sz="1050" dirty="0"/>
          </a:p>
        </p:txBody>
      </p:sp>
      <p:sp>
        <p:nvSpPr>
          <p:cNvPr id="15" name="gl_313"/>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costume · party · pirate · clown</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farmer · sheep · superhero · funny</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moustache · present · birthday · idea</a:t>
            </a:r>
            <a:endParaRPr lang="en-US" sz="140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1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1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300" b="1" dirty="0">
                <a:ln w="31750">
                  <a:solidFill>
                    <a:srgbClr val="1E2A5A"/>
                  </a:solidFill>
                </a:ln>
                <a:solidFill>
                  <a:srgbClr val="6CCB3B"/>
                </a:solidFill>
                <a:latin typeface="Arial Black" pitchFamily="34" charset="0"/>
                <a:ea typeface="Arial Black" pitchFamily="34" charset="-122"/>
                <a:cs typeface="Arial Black" pitchFamily="34" charset="-120"/>
              </a:rPr>
              <a:t>EXTRA: Running dictation</a:t>
            </a:r>
            <a:endParaRPr lang="en-US" sz="2300" dirty="0"/>
          </a:p>
        </p:txBody>
      </p:sp>
      <p:sp>
        <p:nvSpPr>
          <p:cNvPr id="5" name="in_31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Run, read, remember, tell your team, write!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Corri, leggi, ricorda, detta alla squadra, scrivi!</a:t>
            </a:r>
            <a:endParaRPr lang="en-US" sz="1400" dirty="0"/>
          </a:p>
        </p:txBody>
      </p:sp>
      <p:sp>
        <p:nvSpPr>
          <p:cNvPr id="6" name="mode_31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 ⏱ 8 MIN</a:t>
            </a:r>
            <a:endParaRPr lang="en-US" sz="1000" dirty="0"/>
          </a:p>
        </p:txBody>
      </p:sp>
      <p:sp>
        <p:nvSpPr>
          <p:cNvPr id="7" name="st_318"/>
          <p:cNvSpPr/>
          <p:nvPr/>
        </p:nvSpPr>
        <p:spPr>
          <a:xfrm>
            <a:off x="228600" y="13258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8" name="sn_319"/>
          <p:cNvSpPr/>
          <p:nvPr/>
        </p:nvSpPr>
        <p:spPr>
          <a:xfrm>
            <a:off x="118872" y="12161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320"/>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0" name="se_321"/>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Runner: run to the wall and read.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Corridore: corri al muro e leggi.</a:t>
            </a:r>
            <a:endParaRPr lang="en-US" sz="1050" dirty="0"/>
          </a:p>
        </p:txBody>
      </p:sp>
      <p:sp>
        <p:nvSpPr>
          <p:cNvPr id="11" name="st_322"/>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323"/>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324"/>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325"/>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Run back and say the sentence.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Torna e di' la frase.</a:t>
            </a:r>
            <a:endParaRPr lang="en-US" sz="1050" dirty="0"/>
          </a:p>
        </p:txBody>
      </p:sp>
      <p:sp>
        <p:nvSpPr>
          <p:cNvPr id="15" name="st_326"/>
          <p:cNvSpPr/>
          <p:nvPr/>
        </p:nvSpPr>
        <p:spPr>
          <a:xfrm>
            <a:off x="228600" y="34594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6" name="sn_327"/>
          <p:cNvSpPr/>
          <p:nvPr/>
        </p:nvSpPr>
        <p:spPr>
          <a:xfrm>
            <a:off x="118872" y="33497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328"/>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WRITE</a:t>
            </a:r>
            <a:endParaRPr lang="en-US" sz="1300" dirty="0"/>
          </a:p>
        </p:txBody>
      </p:sp>
      <p:sp>
        <p:nvSpPr>
          <p:cNvPr id="18" name="se_329"/>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Team: write it. Put the story in order!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Squadra: scrivetela. Mettete in ordine la storia!</a:t>
            </a:r>
            <a:endParaRPr lang="en-US" sz="1050" dirty="0"/>
          </a:p>
        </p:txBody>
      </p:sp>
      <p:sp>
        <p:nvSpPr>
          <p:cNvPr id="19" name="gl_330"/>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Matt wants to be a superhero.</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Dan and Zoe have got pirate costumes.</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Matt's mum has an idea.</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Matt is a superhero pirate clown!</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Everyone laughs. Matt is happy.</a:t>
            </a:r>
            <a:endParaRPr lang="en-US" sz="14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Movers · UNIT 3 · LESSON 5 · The costume party</dc:title>
  <dc:subject>PptxGenJS Presentation</dc:subject>
  <dc:creator>PptxGenJS</dc:creator>
  <cp:lastModifiedBy>PptxGenJS</cp:lastModifiedBy>
  <cp:revision>1</cp:revision>
  <dcterms:created xsi:type="dcterms:W3CDTF">2026-10-06T10:51:39Z</dcterms:created>
  <dcterms:modified xsi:type="dcterms:W3CDTF">2026-10-06T10:51:39Z</dcterms:modified>
</cp:coreProperties>
</file>