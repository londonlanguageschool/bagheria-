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(1 min). Ask: What do you like doing in your free time? Do you wear special clothes to do it? Why? 'Let's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MISSING? Step 1 – LOOK (10 s). Say the words together first (choral). Count down aloud. Then: "Close your eyes!" and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COMMIT. Students write the word on a mini-whiteboard / paper (or teams agree in 10 s). 'Show me!' Then go to the next slide. Points: 1 per team with the right word, +1 if spelt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 REVEAL. The missing card comes back with a green frame. Everybody says the word 3 ways: whisper, normal, monster voice. RETRIEVAL OF LESSON 3 (4 min, 2 rounds). No labels: learners must RECALL the phrases. Teams write the missing phrase on paper (spelling counts: +1). Round 2 (two missing) = go skating + watch a film. After each reveal: 'How often do you …?' – one learner answers with an adverb.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MISSING? Step 1 – LOOK (15 s). Say the words together first (choral). Count down aloud. Then: "Close your eyes!" and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COMMIT. Students write the word on a mini-whiteboard / paper (or teams agree in 10 s). 'Show me!' Then go to the next slide. Points: 1 per team with the right word, +1 if spelt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 REVEAL. The missing card comes back with a green frame. Everybody says the word 3 ways: whisper, normal, monster voice. RETRIEVAL OF LESSON 3 (4 min, 2 rounds). No labels: learners must RECALL the phrases. Teams write the missing phrase on paper (spelling counts: +1). Round 2 (two missing) = go skating + watch a film. After each reveal: 'How often do you …?' – one learner answers with an adverb.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TPR WARM-UP (3 min) – TB. GAME PLAN · SEE: 8 body actions · TEACHER: Give instructions with 'Teacher says…' (do the action too at first, then stop modelling and go faster). Sometimes give an instruction WITHOUT 'Teacher says'. Teach ELBOW and KNEE here: 'Teacher says touch your knees!' · STUDENTS: follow only 'Teacher says' instructions · GROUPING: whole class, standing · SCORE/WIN: anyone who moves without 'Teacher says' (or is last) sits down; last 3 standing win. Stronger learners: lead in pairs · TIME: 3 min · LANGUAGE: head, hand, arm, feet, eyes, ears, leg, nose, elbow, knee · REVEAL: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 p.24 ex.1–2 (5 min, with next slide). Play the video (being safe when doing exercise and sports); learners answer the video's questions at the end. Then for each photo: learners whisper the activity to a partner (commit) → click → reveal. Learners tick the ones they do and say: 'I ride a bike.' (TB key: 1 riding a bike 2 swimming 3 playing tennis 4 roller skating 5 playing basketball 6 playing football).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 p.24 ex.2 (part 2). KEY: 4 roller skating 5 playing basketball 6 playing football. Quick class survey (TB extension): 'Who likes riding a bike? Hands up!' – count and write. Stronger learners: 'I often play football / once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WORDS (6 min). Picture first – learners guess (Italian OK), click 1 word, click 2 Italian, click 3 TPR. Ask: Which part of the body does a helmet protect? (Head) 'It PROTECTS your head.' (proteggere). Have you got a helmet? When do you wear it? 'warm up' and 'sun cream' come from p.25. TPR: Put on your helmet! Click!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WORDS (6 min). Picture first – learners guess (Italian OK), click 1 word, click 2 Italian, click 3 TPR. Ask: Which part of the body does a helmet protect? (Head) 'It PROTECTS your head.' (proteggere). Have you got a helmet? When do you wear it? 'warm up' and 'sun cream' come from p.25. TPR: Touch your elbows… touch your knees!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WORDS (6 min). Picture first – learners guess (Italian OK), click 1 word, click 2 Italian, click 3 TPR. Ask: Which part of the body does a helmet protect? (Head) 'It PROTECTS your head.' (proteggere). Have you got a helmet? When do you wear it? 'warm up' and 'sun cream' come from p.25. TPR: Make goggles with your fingers!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WORDS (6 min). Picture first – learners guess (Italian OK), click 1 word, click 2 Italian, click 3 TPR. Ask: Which part of the body does a helmet protect? (Head) 'It PROTECTS your head.' (proteggere). Have you got a helmet? When do you wear it? 'warm up' and 'sun cream' come from p.25. TPR: Put on your gloves – one, two!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WORDS (6 min). Picture first – learners guess (Italian OK), click 1 word, click 2 Italian, click 3 TPR. Ask: Which part of the body does a helmet protect? (Head) 'It PROTECTS your head.' (proteggere). Have you got a helmet? When do you wear it? 'warm up' and 'sun cream' come from p.25. TPR: Warm up! Stretch your arms and legs!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WORDS (6 min). Picture first – learners guess (Italian OK), click 1 word, click 2 Italian, click 3 TPR. Ask: Which part of the body does a helmet protect? (Head) 'It PROTECTS your head.' (proteggere). Have you got a helmet? When do you wear it? 'warm up' and 'sun cream' come from p.25. TPR: Put sun cream on your face and arms!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(3 min). Italian learners read every letter (k-nee, mus-kles) and stress the end (hel-MET). Model the rule lines. For each practice item, pairs decide (commit: write the letter in the air with a finger) → click → reveal → everyone says it 3 ways (whisper, normal, monster). Final -s in gloves/goggles is a buzzing 'z' – no extra vowel ('glovesa').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 p.24 ex.3 (5 min). Read the text with the class and go through the example. Check 'accidents' (incidenti) and 'bodies' (corpi). Learners complete the sentences individually (commit), then play 1.32: learners listen and check. Then click for each answer. KEY (TB): 2 gloves 3 helmet 4 goggles. Extension (TB): Why do we wear sunglasses? (To protect our eyes) caps or sun hats? (our heads) walking boots? (our feet).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PICTIONARY (5 min). GAME PLAN · SEE: the 4 safety pictures as a reminder (the words are NOT on screen) · TEACHER: Whisper a word or sport to the drawer (helmet, gloves, goggles, knee pads, sun cream, skating, swimming, riding a bike, ice hockey). Time 30 s. · STUDENTS: the drawer draws (no letters!); their team guesses; then the team makes a safety sentence · GROUPING: 2 teams take turns · SCORE/WIN: correct guess = 1 point; correct sentence 'For swimming, you must wear goggles.' = +1; challenge 'to protect your eyes' = +1 · TIME: 5 min · LANGUAGE: helmet, gloves, goggles, knee pads + For …, you must wear … · REVEAL: the drawer says 'Yes!'; after 30 s the teacher tells the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 p.25 ex.4 (6 min). Pictures first: What are they doing? (He's warming up / She's putting on sun cream / drinking water). Ask: What happens to our bodies when we exercise? (We get hot.) Teach SWEAT and SKIN (pelle). Play 1.33: learners listen and read. For each sentence: thumbs up (yes) / down (no) = commit → click. Check BONES (ossa) and MUSCLES (muscoli). KEY (TB): 1 no 2 yes 3 no 4 yes. Do you warm up? Show us a warm-up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YES/NO JUMP (4 min). GAME PLAN · SEE: just YES (right) / NO (left) – the sentences are only spoken · TEACHER: Say: 1 We wear goggles to protect our feet. (no – our eyes) 2 We drink water when we sweat. (yes) 3 You must wear a helmet on your bike. (yes) 4 You mustn't warm up before football. (no – you must!) 5 We wear gloves to protect our hands. (yes) 6 We put sun cream on our skin. (yes) 7 Knee pads protect our ears. (no – our knees) · STUDENTS: jump right for yes, left for no · GROUPING: whole class standing in the middle · SCORE/WIN: learners on the wrong side get back in by saying the correct sentence; anyone who jumps late is 'out' for one round · TIME: 4 min · LANGUAGE: protect our …, must / mustn't, safety words · REVEAL: the teacher says the answer after everyone has jumped; a learner corrects the false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 p.25 ex.5 (4 min). MODEL → SUPPORTED → INDEPENDENT. 1 Model: read the book's speech bubble (on screen); check 'horse riding'. 2 Supported: a confident learner says theirs with the frame on screen. 3 Independent: pairs tell each other, then report: 'Marco likes skating. He goes on Sundays. He must wear knee pads.' (he/she + -s!). Extra support: frames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STAGE 3 (6 min). Same pairs as Stage 2, with their timetables. They write THREE safety sentences for their friends, e.g. 'For skating, they must wear knee pads, elbow pads, gloves and helmets.' 'Play tennis – you must use sun cream and drink water.' Paper, scissors and glue: cut out the sentences and stick them on the timetable (drawings / shapes welcome). Extra support: sentence frames for different activities on the board. AB p.18: 'My mission diary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Exit challenge 'Point and say': point to a part of your body; learners shout what protects it (head → helmet! eyes → goggles!). Thumbs for each 'I can'. Add a tick to Stage 3 on the Mission poster. TIMING (core ≈ 59 min): cover 1 · what's missing 4 · teacher says 3 · photos 5 · flashcards 6 · silent letters 3 · protect 5 · pictionary 5 · tips 6 · jump 4 · speaking 4 · mission 6 · exit 3 (+ transitions).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GET READY! (4 min) – TB ending. Mime and give instructions for a sport WITHOUT naming it: 'Put on your trainers. Put on elbow pads, knee pads and big shoulder pads. Put on a helmet. Pick up the ball.' Learners follow and then GUESS the sport (American football!). Then a learner gives instructions for another sport (skating, swimming, skiing) and the class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HANGMAN (5 min). GAME PLAN · SEE: only blanks (the words are NOT on the slide) · TEACHER: Draw dashes on the board for HELMET, GOGGLES, GLOVES, KNEE PADS, SUN CREAM, MUSCLES, WATER · STUDENTS: teams take turns to say a letter with the English letter name (careful: E = 'ee', I = 'eye', A = 'ay') · GROUPING: 2 teams · SCORE/WIN: a team that guesses the word wins 2 points, +1 if they make a must/mustn't rule with it; a letter said the Italian way doesn't count – try again · TIME: 5 min · LANGUAGE: English letter names + safety words + must · REVEAL: the teacher fills in each correct letter; full word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jp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image" Target="../media/image-19-4.jpg"/><Relationship Id="rId5" Type="http://schemas.openxmlformats.org/officeDocument/2006/relationships/image" Target="../media/image-19-5.jp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jp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jp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image" Target="../media/image-25-3.jpg"/><Relationship Id="rId4" Type="http://schemas.openxmlformats.org/officeDocument/2006/relationships/image" Target="../media/image-25-4.jpg"/><Relationship Id="rId5" Type="http://schemas.openxmlformats.org/officeDocument/2006/relationships/image" Target="../media/image-25-5.jpg"/><Relationship Id="rId6" Type="http://schemas.openxmlformats.org/officeDocument/2006/relationships/image" Target="../media/image-25-6.jp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slideLayout" Target="../slideLayouts/slideLayout1.xml"/><Relationship Id="rId11"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UNIT 2 · LESSON 4</a:t>
            </a:r>
            <a:endParaRPr lang="en-US" sz="1600" dirty="0"/>
          </a:p>
        </p:txBody>
      </p:sp>
      <p:sp>
        <p:nvSpPr>
          <p:cNvPr id="4" name="bm_2"/>
          <p:cNvSpPr/>
          <p:nvPr/>
        </p:nvSpPr>
        <p:spPr>
          <a:xfrm rot="-120000">
            <a:off x="228600" y="493776"/>
            <a:ext cx="48463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Let's be healthy!</a:t>
            </a:r>
            <a:endParaRPr lang="en-US" sz="2700" dirty="0"/>
          </a:p>
        </p:txBody>
      </p:sp>
      <p:sp>
        <p:nvSpPr>
          <p:cNvPr id="5" name="in_3"/>
          <p:cNvSpPr/>
          <p:nvPr/>
        </p:nvSpPr>
        <p:spPr>
          <a:xfrm>
            <a:off x="5212080" y="182880"/>
            <a:ext cx="370332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Today: be safe in sport! ⛑️🧤🥽</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Oggi: lo sport in sicurezza!</a:t>
            </a:r>
            <a:endParaRPr lang="en-US" sz="1400" dirty="0"/>
          </a:p>
        </p:txBody>
      </p:sp>
      <p:sp>
        <p:nvSpPr>
          <p:cNvPr id="6" name="st_4"/>
          <p:cNvSpPr/>
          <p:nvPr/>
        </p:nvSpPr>
        <p:spPr>
          <a:xfrm>
            <a:off x="228600" y="1371600"/>
            <a:ext cx="2743200" cy="914400"/>
          </a:xfrm>
          <a:prstGeom prst="roundRect">
            <a:avLst>
              <a:gd name="adj" fmla="val 12000"/>
            </a:avLst>
          </a:prstGeom>
          <a:solidFill>
            <a:srgbClr val="FFFFFF"/>
          </a:solidFill>
          <a:ln w="38100">
            <a:solidFill>
              <a:srgbClr val="F2545B"/>
            </a:solidFill>
            <a:prstDash val="solid"/>
          </a:ln>
          <a:effectLst>
            <a:outerShdw sx="100000" sy="100000" kx="0" ky="0" algn="bl" rotWithShape="0" blurRad="38100" dist="25400" dir="5400000">
              <a:srgbClr val="000000">
                <a:alpha val="18000"/>
              </a:srgbClr>
            </a:outerShdw>
          </a:effectLst>
        </p:spPr>
      </p:sp>
      <p:sp>
        <p:nvSpPr>
          <p:cNvPr id="7" name="sn_5"/>
          <p:cNvSpPr/>
          <p:nvPr/>
        </p:nvSpPr>
        <p:spPr>
          <a:xfrm>
            <a:off x="118872" y="1261872"/>
            <a:ext cx="384048" cy="384048"/>
          </a:xfrm>
          <a:prstGeom prst="ellipse">
            <a:avLst/>
          </a:prstGeom>
          <a:solidFill>
            <a:srgbClr val="F2545B"/>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8" name="sk_6"/>
          <p:cNvSpPr/>
          <p:nvPr/>
        </p:nvSpPr>
        <p:spPr>
          <a:xfrm>
            <a:off x="521208" y="140817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WATCH</a:t>
            </a:r>
            <a:endParaRPr lang="en-US" sz="1300" dirty="0"/>
          </a:p>
        </p:txBody>
      </p:sp>
      <p:sp>
        <p:nvSpPr>
          <p:cNvPr id="9" name="se_7"/>
          <p:cNvSpPr/>
          <p:nvPr/>
        </p:nvSpPr>
        <p:spPr>
          <a:xfrm>
            <a:off x="338328" y="170078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Watch the video.</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Guarda il video.</a:t>
            </a:r>
            <a:endParaRPr lang="en-US" sz="1050" dirty="0"/>
          </a:p>
        </p:txBody>
      </p:sp>
      <p:sp>
        <p:nvSpPr>
          <p:cNvPr id="10" name="st_8"/>
          <p:cNvSpPr/>
          <p:nvPr/>
        </p:nvSpPr>
        <p:spPr>
          <a:xfrm>
            <a:off x="228600" y="2377440"/>
            <a:ext cx="2743200" cy="914400"/>
          </a:xfrm>
          <a:prstGeom prst="roundRect">
            <a:avLst>
              <a:gd name="adj" fmla="val 12000"/>
            </a:avLst>
          </a:prstGeom>
          <a:solidFill>
            <a:srgbClr val="FFFFFF"/>
          </a:solidFill>
          <a:ln w="38100">
            <a:solidFill>
              <a:srgbClr val="FFD23F"/>
            </a:solidFill>
            <a:prstDash val="solid"/>
          </a:ln>
          <a:effectLst>
            <a:outerShdw sx="100000" sy="100000" kx="0" ky="0" algn="bl" rotWithShape="0" blurRad="38100" dist="25400" dir="5400000">
              <a:srgbClr val="000000">
                <a:alpha val="18000"/>
              </a:srgbClr>
            </a:outerShdw>
          </a:effectLst>
        </p:spPr>
      </p:sp>
      <p:sp>
        <p:nvSpPr>
          <p:cNvPr id="11" name="sn_9"/>
          <p:cNvSpPr/>
          <p:nvPr/>
        </p:nvSpPr>
        <p:spPr>
          <a:xfrm>
            <a:off x="118872" y="2267712"/>
            <a:ext cx="384048" cy="384048"/>
          </a:xfrm>
          <a:prstGeom prst="ellipse">
            <a:avLst/>
          </a:prstGeom>
          <a:solidFill>
            <a:srgbClr val="FFD23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2" name="sk_10"/>
          <p:cNvSpPr/>
          <p:nvPr/>
        </p:nvSpPr>
        <p:spPr>
          <a:xfrm>
            <a:off x="521208" y="241401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READ</a:t>
            </a:r>
            <a:endParaRPr lang="en-US" sz="1300" dirty="0"/>
          </a:p>
        </p:txBody>
      </p:sp>
      <p:sp>
        <p:nvSpPr>
          <p:cNvPr id="13" name="se_11"/>
          <p:cNvSpPr/>
          <p:nvPr/>
        </p:nvSpPr>
        <p:spPr>
          <a:xfrm>
            <a:off x="338328" y="270662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Read about safe sport.</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Leggi come fare sport in sicurezza.</a:t>
            </a:r>
            <a:endParaRPr lang="en-US" sz="1050" dirty="0"/>
          </a:p>
        </p:txBody>
      </p:sp>
      <p:sp>
        <p:nvSpPr>
          <p:cNvPr id="14" name="st_12"/>
          <p:cNvSpPr/>
          <p:nvPr/>
        </p:nvSpPr>
        <p:spPr>
          <a:xfrm>
            <a:off x="228600" y="3383280"/>
            <a:ext cx="2743200" cy="914400"/>
          </a:xfrm>
          <a:prstGeom prst="roundRect">
            <a:avLst>
              <a:gd name="adj" fmla="val 1200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15" name="sn_13"/>
          <p:cNvSpPr/>
          <p:nvPr/>
        </p:nvSpPr>
        <p:spPr>
          <a:xfrm>
            <a:off x="118872" y="32735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6" name="sk_14"/>
          <p:cNvSpPr/>
          <p:nvPr/>
        </p:nvSpPr>
        <p:spPr>
          <a:xfrm>
            <a:off x="521208" y="3419856"/>
            <a:ext cx="237744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MOVE</a:t>
            </a:r>
            <a:endParaRPr lang="en-US" sz="1300" dirty="0"/>
          </a:p>
        </p:txBody>
      </p:sp>
      <p:sp>
        <p:nvSpPr>
          <p:cNvPr id="17" name="se_15"/>
          <p:cNvSpPr/>
          <p:nvPr/>
        </p:nvSpPr>
        <p:spPr>
          <a:xfrm>
            <a:off x="338328" y="3712464"/>
            <a:ext cx="2560320" cy="54864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Get ready for sport!</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Preparati per lo sport!</a:t>
            </a:r>
            <a:endParaRPr lang="en-US" sz="1050" dirty="0"/>
          </a:p>
        </p:txBody>
      </p:sp>
      <p:sp>
        <p:nvSpPr>
          <p:cNvPr id="18" name="pf_16"/>
          <p:cNvSpPr/>
          <p:nvPr/>
        </p:nvSpPr>
        <p:spPr>
          <a:xfrm>
            <a:off x="3191256" y="1271016"/>
            <a:ext cx="3355848" cy="3264408"/>
          </a:xfrm>
          <a:prstGeom prst="roundRect">
            <a:avLst>
              <a:gd name="adj" fmla="val 280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9" name="pic_17" descr="/home/claude/movers/img/crop/u2-p24-poster.jpg">    </p:cNvPr>
          <p:cNvPicPr>
            <a:picLocks noChangeAspect="1"/>
          </p:cNvPicPr>
          <p:nvPr/>
        </p:nvPicPr>
        <p:blipFill>
          <a:blip r:embed="rId2"/>
          <a:stretch>
            <a:fillRect/>
          </a:stretch>
        </p:blipFill>
        <p:spPr>
          <a:xfrm>
            <a:off x="3246120" y="1654237"/>
            <a:ext cx="3246120" cy="2497967"/>
          </a:xfrm>
          <a:prstGeom prst="rect">
            <a:avLst/>
          </a:prstGeom>
        </p:spPr>
      </p:pic>
      <p:sp>
        <p:nvSpPr>
          <p:cNvPr id="20" name="cd_18"/>
          <p:cNvSpPr/>
          <p:nvPr/>
        </p:nvSpPr>
        <p:spPr>
          <a:xfrm>
            <a:off x="6720840" y="3017520"/>
            <a:ext cx="1051560" cy="105156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1" name="ci_19" descr="/home/claude/movers/img/e-u2bike.png">    </p:cNvPr>
          <p:cNvPicPr>
            <a:picLocks noChangeAspect="1"/>
          </p:cNvPicPr>
          <p:nvPr/>
        </p:nvPicPr>
        <p:blipFill>
          <a:blip r:embed="rId3"/>
          <a:stretch>
            <a:fillRect/>
          </a:stretch>
        </p:blipFill>
        <p:spPr>
          <a:xfrm>
            <a:off x="6793992" y="3090672"/>
            <a:ext cx="905256" cy="905256"/>
          </a:xfrm>
          <a:prstGeom prst="rect">
            <a:avLst/>
          </a:prstGeom>
        </p:spPr>
      </p:pic>
      <p:sp>
        <p:nvSpPr>
          <p:cNvPr id="22" name="cd_20"/>
          <p:cNvSpPr/>
          <p:nvPr/>
        </p:nvSpPr>
        <p:spPr>
          <a:xfrm>
            <a:off x="7863840" y="3017520"/>
            <a:ext cx="1051560" cy="105156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21" descr="/home/claude/movers/img/fc/go-skating.png">    </p:cNvPr>
          <p:cNvPicPr>
            <a:picLocks noChangeAspect="1"/>
          </p:cNvPicPr>
          <p:nvPr/>
        </p:nvPicPr>
        <p:blipFill>
          <a:blip r:embed="rId4"/>
          <a:stretch>
            <a:fillRect/>
          </a:stretch>
        </p:blipFill>
        <p:spPr>
          <a:xfrm>
            <a:off x="7936992" y="3090672"/>
            <a:ext cx="905256" cy="905256"/>
          </a:xfrm>
          <a:prstGeom prst="rect">
            <a:avLst/>
          </a:prstGeom>
        </p:spPr>
      </p:pic>
      <p:sp>
        <p:nvSpPr>
          <p:cNvPr id="24" name="bb_22"/>
          <p:cNvSpPr/>
          <p:nvPr/>
        </p:nvSpPr>
        <p:spPr>
          <a:xfrm>
            <a:off x="6675120" y="1874520"/>
            <a:ext cx="2240280" cy="822960"/>
          </a:xfrm>
          <a:prstGeom prst="rect">
            <a:avLst/>
          </a:prstGeom>
          <a:solidFill>
            <a:srgbClr val="FFFFFF"/>
          </a:solidFill>
          <a:ln w="25400">
            <a:solidFill>
              <a:srgbClr val="1E2A5A"/>
            </a:solidFill>
          </a:ln>
        </p:spPr>
        <p:txBody>
          <a:bodyPr wrap="square" lIns="50800" tIns="50800" rIns="50800" bIns="50800" rtlCol="0" anchor="ctr"/>
          <a:lstStyle/>
          <a:p>
            <a:pPr algn="ctr" indent="0" marL="0">
              <a:buNone/>
            </a:pPr>
            <a:r>
              <a:rPr lang="en-US" sz="1500" b="1" dirty="0">
                <a:solidFill>
                  <a:srgbClr val="1E2A5A"/>
                </a:solidFill>
                <a:latin typeface="Arial Rounded MT Bold" pitchFamily="34" charset="0"/>
                <a:ea typeface="Arial Rounded MT Bold" pitchFamily="34" charset="-122"/>
                <a:cs typeface="Arial Rounded MT Bold" pitchFamily="34" charset="-120"/>
              </a:rPr>
              <a:t>What must you wear?</a:t>
            </a:r>
            <a:endParaRPr lang="en-US" sz="1500" dirty="0"/>
          </a:p>
          <a:p>
            <a:pPr algn="ct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Cosa devi indossare?</a:t>
            </a:r>
            <a:endParaRPr lang="en-US" sz="1500" dirty="0"/>
          </a:p>
        </p:txBody>
      </p:sp>
      <p:sp>
        <p:nvSpPr>
          <p:cNvPr id="25" name="bk_23"/>
          <p:cNvSpPr/>
          <p:nvPr/>
        </p:nvSpPr>
        <p:spPr>
          <a:xfrm>
            <a:off x="228600" y="4681728"/>
            <a:ext cx="420166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pp.24–25 · 🎬 video · 🎧 1.32–1.33</a:t>
            </a:r>
            <a:endParaRPr lang="en-US" sz="1100" dirty="0"/>
          </a:p>
        </p:txBody>
      </p:sp>
    </p:spTree>
  </p:cSld>
  <p:clrMapOvr>
    <a:masterClrMapping/>
  </p:clrMapOvr>
  <p:transition spd="med">
    <p:push dir="l"/>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25"/>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Look and remember!</a:t>
            </a:r>
            <a:endParaRPr lang="en-US" sz="2700" dirty="0"/>
          </a:p>
        </p:txBody>
      </p:sp>
      <p:sp>
        <p:nvSpPr>
          <p:cNvPr id="5" name="in_26"/>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 Look for 10 seconds. Remember ALL the pictures!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e ricorda tutte le immagini!</a:t>
            </a:r>
            <a:endParaRPr lang="en-US" sz="1400" dirty="0"/>
          </a:p>
        </p:txBody>
      </p:sp>
      <p:sp>
        <p:nvSpPr>
          <p:cNvPr id="6" name="cd_27"/>
          <p:cNvSpPr/>
          <p:nvPr/>
        </p:nvSpPr>
        <p:spPr>
          <a:xfrm>
            <a:off x="43434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ci_28" descr="/home/claude/movers/img/fc/go-shopping.png">    </p:cNvPr>
          <p:cNvPicPr>
            <a:picLocks noChangeAspect="1"/>
          </p:cNvPicPr>
          <p:nvPr/>
        </p:nvPicPr>
        <p:blipFill>
          <a:blip r:embed="rId2"/>
          <a:stretch>
            <a:fillRect/>
          </a:stretch>
        </p:blipFill>
        <p:spPr>
          <a:xfrm>
            <a:off x="507492" y="1353312"/>
            <a:ext cx="1682496" cy="1682496"/>
          </a:xfrm>
          <a:prstGeom prst="rect">
            <a:avLst/>
          </a:prstGeom>
        </p:spPr>
      </p:pic>
      <p:sp>
        <p:nvSpPr>
          <p:cNvPr id="8" name="cd_29"/>
          <p:cNvSpPr/>
          <p:nvPr/>
        </p:nvSpPr>
        <p:spPr>
          <a:xfrm>
            <a:off x="258318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9" name="ci_30" descr="/home/claude/movers/img/fc/go-skating.png">    </p:cNvPr>
          <p:cNvPicPr>
            <a:picLocks noChangeAspect="1"/>
          </p:cNvPicPr>
          <p:nvPr/>
        </p:nvPicPr>
        <p:blipFill>
          <a:blip r:embed="rId3"/>
          <a:stretch>
            <a:fillRect/>
          </a:stretch>
        </p:blipFill>
        <p:spPr>
          <a:xfrm>
            <a:off x="2656332" y="1353312"/>
            <a:ext cx="1682496" cy="1682496"/>
          </a:xfrm>
          <a:prstGeom prst="rect">
            <a:avLst/>
          </a:prstGeom>
        </p:spPr>
      </p:pic>
      <p:sp>
        <p:nvSpPr>
          <p:cNvPr id="10" name="cd_31"/>
          <p:cNvSpPr/>
          <p:nvPr/>
        </p:nvSpPr>
        <p:spPr>
          <a:xfrm>
            <a:off x="473202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1" name="ci_32" descr="/home/claude/movers/img/fc/listen-to-a-cd.png">    </p:cNvPr>
          <p:cNvPicPr>
            <a:picLocks noChangeAspect="1"/>
          </p:cNvPicPr>
          <p:nvPr/>
        </p:nvPicPr>
        <p:blipFill>
          <a:blip r:embed="rId4"/>
          <a:stretch>
            <a:fillRect/>
          </a:stretch>
        </p:blipFill>
        <p:spPr>
          <a:xfrm>
            <a:off x="4805172" y="1353312"/>
            <a:ext cx="1682496" cy="1682496"/>
          </a:xfrm>
          <a:prstGeom prst="rect">
            <a:avLst/>
          </a:prstGeom>
        </p:spPr>
      </p:pic>
      <p:sp>
        <p:nvSpPr>
          <p:cNvPr id="12" name="cd_33"/>
          <p:cNvSpPr/>
          <p:nvPr/>
        </p:nvSpPr>
        <p:spPr>
          <a:xfrm>
            <a:off x="688086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3" name="ci_34" descr="/home/claude/movers/img/fc/listen-to-music.png">    </p:cNvPr>
          <p:cNvPicPr>
            <a:picLocks noChangeAspect="1"/>
          </p:cNvPicPr>
          <p:nvPr/>
        </p:nvPicPr>
        <p:blipFill>
          <a:blip r:embed="rId5"/>
          <a:stretch>
            <a:fillRect/>
          </a:stretch>
        </p:blipFill>
        <p:spPr>
          <a:xfrm>
            <a:off x="6954012" y="1353312"/>
            <a:ext cx="1682496" cy="1682496"/>
          </a:xfrm>
          <a:prstGeom prst="rect">
            <a:avLst/>
          </a:prstGeom>
        </p:spPr>
      </p:pic>
      <p:sp>
        <p:nvSpPr>
          <p:cNvPr id="14" name="cd_35"/>
          <p:cNvSpPr/>
          <p:nvPr/>
        </p:nvSpPr>
        <p:spPr>
          <a:xfrm>
            <a:off x="43434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5" name="ci_36" descr="/home/claude/movers/img/fc/read-a-comic.png">    </p:cNvPr>
          <p:cNvPicPr>
            <a:picLocks noChangeAspect="1"/>
          </p:cNvPicPr>
          <p:nvPr/>
        </p:nvPicPr>
        <p:blipFill>
          <a:blip r:embed="rId6"/>
          <a:stretch>
            <a:fillRect/>
          </a:stretch>
        </p:blipFill>
        <p:spPr>
          <a:xfrm>
            <a:off x="507492" y="3291840"/>
            <a:ext cx="1682496" cy="1682496"/>
          </a:xfrm>
          <a:prstGeom prst="rect">
            <a:avLst/>
          </a:prstGeom>
        </p:spPr>
      </p:pic>
      <p:sp>
        <p:nvSpPr>
          <p:cNvPr id="16" name="cd_37"/>
          <p:cNvSpPr/>
          <p:nvPr/>
        </p:nvSpPr>
        <p:spPr>
          <a:xfrm>
            <a:off x="258318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7" name="ci_38" descr="/home/claude/movers/img/fc/watch-a-dvd.png">    </p:cNvPr>
          <p:cNvPicPr>
            <a:picLocks noChangeAspect="1"/>
          </p:cNvPicPr>
          <p:nvPr/>
        </p:nvPicPr>
        <p:blipFill>
          <a:blip r:embed="rId7"/>
          <a:stretch>
            <a:fillRect/>
          </a:stretch>
        </p:blipFill>
        <p:spPr>
          <a:xfrm>
            <a:off x="2656332" y="3291840"/>
            <a:ext cx="1682496" cy="1682496"/>
          </a:xfrm>
          <a:prstGeom prst="rect">
            <a:avLst/>
          </a:prstGeom>
        </p:spPr>
      </p:pic>
      <p:sp>
        <p:nvSpPr>
          <p:cNvPr id="18" name="cd_39"/>
          <p:cNvSpPr/>
          <p:nvPr/>
        </p:nvSpPr>
        <p:spPr>
          <a:xfrm>
            <a:off x="473202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9" name="ci_40" descr="/home/claude/movers/img/fc/watch-a-film.png">    </p:cNvPr>
          <p:cNvPicPr>
            <a:picLocks noChangeAspect="1"/>
          </p:cNvPicPr>
          <p:nvPr/>
        </p:nvPicPr>
        <p:blipFill>
          <a:blip r:embed="rId8"/>
          <a:stretch>
            <a:fillRect/>
          </a:stretch>
        </p:blipFill>
        <p:spPr>
          <a:xfrm>
            <a:off x="4805172" y="3291840"/>
            <a:ext cx="1682496" cy="1682496"/>
          </a:xfrm>
          <a:prstGeom prst="rect">
            <a:avLst/>
          </a:prstGeom>
        </p:spPr>
      </p:pic>
      <p:sp>
        <p:nvSpPr>
          <p:cNvPr id="20" name="cd_41"/>
          <p:cNvSpPr/>
          <p:nvPr/>
        </p:nvSpPr>
        <p:spPr>
          <a:xfrm>
            <a:off x="688086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1" name="ci_42" descr="/home/claude/movers/img/fc/write-an-email.png">    </p:cNvPr>
          <p:cNvPicPr>
            <a:picLocks noChangeAspect="1"/>
          </p:cNvPicPr>
          <p:nvPr/>
        </p:nvPicPr>
        <p:blipFill>
          <a:blip r:embed="rId9"/>
          <a:stretch>
            <a:fillRect/>
          </a:stretch>
        </p:blipFill>
        <p:spPr>
          <a:xfrm>
            <a:off x="6954012" y="3291840"/>
            <a:ext cx="1682496" cy="1682496"/>
          </a:xfrm>
          <a:prstGeom prst="rect">
            <a:avLst/>
          </a:prstGeom>
        </p:spPr>
      </p:pic>
      <p:sp>
        <p:nvSpPr>
          <p:cNvPr id="22" name="bk_43"/>
          <p:cNvSpPr/>
          <p:nvPr/>
        </p:nvSpPr>
        <p:spPr>
          <a:xfrm>
            <a:off x="228600" y="4681728"/>
            <a:ext cx="373532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Retrieval · Lesson 3 free time activities</a:t>
            </a:r>
            <a:endParaRPr lang="en-US" sz="110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44"/>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45"/>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What's missing?</a:t>
            </a:r>
            <a:endParaRPr lang="en-US" sz="2700" dirty="0"/>
          </a:p>
        </p:txBody>
      </p:sp>
      <p:sp>
        <p:nvSpPr>
          <p:cNvPr id="5" name="in_46"/>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350" b="1" dirty="0">
                <a:solidFill>
                  <a:srgbClr val="1E2A5A"/>
                </a:solidFill>
                <a:latin typeface="Arial Rounded MT Bold" pitchFamily="34" charset="0"/>
                <a:ea typeface="Arial Rounded MT Bold" pitchFamily="34" charset="-122"/>
                <a:cs typeface="Arial Rounded MT Bold" pitchFamily="34" charset="-120"/>
              </a:rPr>
              <a:t>Open your eyes! What's missing? Write it or whisper it to your partner.</a:t>
            </a:r>
            <a:endParaRPr lang="en-US" sz="1350" dirty="0"/>
          </a:p>
          <a:p>
            <a:pPr indent="0" marL="0">
              <a:buNone/>
            </a:pPr>
            <a:r>
              <a:rPr lang="en-US" sz="1150" i="1" dirty="0">
                <a:solidFill>
                  <a:srgbClr val="2F9BFF"/>
                </a:solidFill>
                <a:latin typeface="Arial Rounded MT Bold" pitchFamily="34" charset="0"/>
                <a:ea typeface="Arial Rounded MT Bold" pitchFamily="34" charset="-122"/>
                <a:cs typeface="Arial Rounded MT Bold" pitchFamily="34" charset="-120"/>
              </a:rPr>
              <a:t>Apri gli occhi! Cosa manca? Scrivilo o dillo al compagno.</a:t>
            </a:r>
            <a:endParaRPr lang="en-US" sz="1350" dirty="0"/>
          </a:p>
        </p:txBody>
      </p:sp>
      <p:sp>
        <p:nvSpPr>
          <p:cNvPr id="6" name="cd_47"/>
          <p:cNvSpPr/>
          <p:nvPr/>
        </p:nvSpPr>
        <p:spPr>
          <a:xfrm>
            <a:off x="43434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ci_48" descr="/home/claude/movers/img/fc/go-shopping.png">    </p:cNvPr>
          <p:cNvPicPr>
            <a:picLocks noChangeAspect="1"/>
          </p:cNvPicPr>
          <p:nvPr/>
        </p:nvPicPr>
        <p:blipFill>
          <a:blip r:embed="rId2"/>
          <a:stretch>
            <a:fillRect/>
          </a:stretch>
        </p:blipFill>
        <p:spPr>
          <a:xfrm>
            <a:off x="507492" y="1353312"/>
            <a:ext cx="1682496" cy="1682496"/>
          </a:xfrm>
          <a:prstGeom prst="rect">
            <a:avLst/>
          </a:prstGeom>
        </p:spPr>
      </p:pic>
      <p:sp>
        <p:nvSpPr>
          <p:cNvPr id="8" name="cd_49"/>
          <p:cNvSpPr/>
          <p:nvPr/>
        </p:nvSpPr>
        <p:spPr>
          <a:xfrm>
            <a:off x="258318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9" name="ci_50" descr="/home/claude/movers/img/fc/go-skating.png">    </p:cNvPr>
          <p:cNvPicPr>
            <a:picLocks noChangeAspect="1"/>
          </p:cNvPicPr>
          <p:nvPr/>
        </p:nvPicPr>
        <p:blipFill>
          <a:blip r:embed="rId3"/>
          <a:stretch>
            <a:fillRect/>
          </a:stretch>
        </p:blipFill>
        <p:spPr>
          <a:xfrm>
            <a:off x="2656332" y="1353312"/>
            <a:ext cx="1682496" cy="1682496"/>
          </a:xfrm>
          <a:prstGeom prst="rect">
            <a:avLst/>
          </a:prstGeom>
        </p:spPr>
      </p:pic>
      <p:sp>
        <p:nvSpPr>
          <p:cNvPr id="10" name="cd_51"/>
          <p:cNvSpPr/>
          <p:nvPr/>
        </p:nvSpPr>
        <p:spPr>
          <a:xfrm>
            <a:off x="473202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1" name="ci_52" descr="/home/claude/movers/img/fc/listen-to-a-cd.png">    </p:cNvPr>
          <p:cNvPicPr>
            <a:picLocks noChangeAspect="1"/>
          </p:cNvPicPr>
          <p:nvPr/>
        </p:nvPicPr>
        <p:blipFill>
          <a:blip r:embed="rId4"/>
          <a:stretch>
            <a:fillRect/>
          </a:stretch>
        </p:blipFill>
        <p:spPr>
          <a:xfrm>
            <a:off x="4805172" y="1353312"/>
            <a:ext cx="1682496" cy="1682496"/>
          </a:xfrm>
          <a:prstGeom prst="rect">
            <a:avLst/>
          </a:prstGeom>
        </p:spPr>
      </p:pic>
      <p:sp>
        <p:nvSpPr>
          <p:cNvPr id="12" name="cd_53"/>
          <p:cNvSpPr/>
          <p:nvPr/>
        </p:nvSpPr>
        <p:spPr>
          <a:xfrm>
            <a:off x="688086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3" name="ci_54" descr="/home/claude/movers/img/fc/listen-to-music.png">    </p:cNvPr>
          <p:cNvPicPr>
            <a:picLocks noChangeAspect="1"/>
          </p:cNvPicPr>
          <p:nvPr/>
        </p:nvPicPr>
        <p:blipFill>
          <a:blip r:embed="rId5"/>
          <a:stretch>
            <a:fillRect/>
          </a:stretch>
        </p:blipFill>
        <p:spPr>
          <a:xfrm>
            <a:off x="6954012" y="1353312"/>
            <a:ext cx="1682496" cy="1682496"/>
          </a:xfrm>
          <a:prstGeom prst="rect">
            <a:avLst/>
          </a:prstGeom>
        </p:spPr>
      </p:pic>
      <p:sp>
        <p:nvSpPr>
          <p:cNvPr id="14" name="q_55"/>
          <p:cNvSpPr/>
          <p:nvPr/>
        </p:nvSpPr>
        <p:spPr>
          <a:xfrm>
            <a:off x="434340" y="3218688"/>
            <a:ext cx="1828800" cy="1828800"/>
          </a:xfrm>
          <a:prstGeom prst="roundRect">
            <a:avLst>
              <a:gd name="adj" fmla="val 6000"/>
            </a:avLst>
          </a:prstGeom>
          <a:solidFill>
            <a:srgbClr val="FFD23F"/>
          </a:solidFill>
          <a:ln w="38100">
            <a:solidFill>
              <a:srgbClr val="1E2A5A"/>
            </a:solidFill>
            <a:prstDash val="dash"/>
          </a:ln>
        </p:spPr>
        <p:txBody>
          <a:bodyPr wrap="square" rtlCol="0" anchor="ctr"/>
          <a:lstStyle/>
          <a:p>
            <a:pPr algn="ctr" indent="0" marL="0">
              <a:buNone/>
            </a:pPr>
            <a:r>
              <a:rPr lang="en-US" sz="6000" dirty="0">
                <a:solidFill>
                  <a:srgbClr val="1E2A5A"/>
                </a:solidFill>
                <a:latin typeface="Arial Black" pitchFamily="34" charset="0"/>
                <a:ea typeface="Arial Black" pitchFamily="34" charset="-122"/>
                <a:cs typeface="Arial Black" pitchFamily="34" charset="-120"/>
              </a:rPr>
              <a:t>?</a:t>
            </a:r>
            <a:endParaRPr lang="en-US" sz="6000" dirty="0"/>
          </a:p>
        </p:txBody>
      </p:sp>
      <p:sp>
        <p:nvSpPr>
          <p:cNvPr id="15" name="cd_56"/>
          <p:cNvSpPr/>
          <p:nvPr/>
        </p:nvSpPr>
        <p:spPr>
          <a:xfrm>
            <a:off x="258318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6" name="ci_57" descr="/home/claude/movers/img/fc/watch-a-dvd.png">    </p:cNvPr>
          <p:cNvPicPr>
            <a:picLocks noChangeAspect="1"/>
          </p:cNvPicPr>
          <p:nvPr/>
        </p:nvPicPr>
        <p:blipFill>
          <a:blip r:embed="rId6"/>
          <a:stretch>
            <a:fillRect/>
          </a:stretch>
        </p:blipFill>
        <p:spPr>
          <a:xfrm>
            <a:off x="2656332" y="3291840"/>
            <a:ext cx="1682496" cy="1682496"/>
          </a:xfrm>
          <a:prstGeom prst="rect">
            <a:avLst/>
          </a:prstGeom>
        </p:spPr>
      </p:pic>
      <p:sp>
        <p:nvSpPr>
          <p:cNvPr id="17" name="cd_58"/>
          <p:cNvSpPr/>
          <p:nvPr/>
        </p:nvSpPr>
        <p:spPr>
          <a:xfrm>
            <a:off x="473202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8" name="ci_59" descr="/home/claude/movers/img/fc/watch-a-film.png">    </p:cNvPr>
          <p:cNvPicPr>
            <a:picLocks noChangeAspect="1"/>
          </p:cNvPicPr>
          <p:nvPr/>
        </p:nvPicPr>
        <p:blipFill>
          <a:blip r:embed="rId7"/>
          <a:stretch>
            <a:fillRect/>
          </a:stretch>
        </p:blipFill>
        <p:spPr>
          <a:xfrm>
            <a:off x="4805172" y="3291840"/>
            <a:ext cx="1682496" cy="1682496"/>
          </a:xfrm>
          <a:prstGeom prst="rect">
            <a:avLst/>
          </a:prstGeom>
        </p:spPr>
      </p:pic>
      <p:sp>
        <p:nvSpPr>
          <p:cNvPr id="19" name="cd_60"/>
          <p:cNvSpPr/>
          <p:nvPr/>
        </p:nvSpPr>
        <p:spPr>
          <a:xfrm>
            <a:off x="688086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61" descr="/home/claude/movers/img/fc/write-an-email.png">    </p:cNvPr>
          <p:cNvPicPr>
            <a:picLocks noChangeAspect="1"/>
          </p:cNvPicPr>
          <p:nvPr/>
        </p:nvPicPr>
        <p:blipFill>
          <a:blip r:embed="rId8"/>
          <a:stretch>
            <a:fillRect/>
          </a:stretch>
        </p:blipFill>
        <p:spPr>
          <a:xfrm>
            <a:off x="6954012" y="3291840"/>
            <a:ext cx="1682496" cy="1682496"/>
          </a:xfrm>
          <a:prstGeom prst="rect">
            <a:avLst/>
          </a:prstGeom>
        </p:spPr>
      </p:pic>
    </p:spTree>
  </p:cSld>
  <p:clrMapOvr>
    <a:masterClrMapping/>
  </p:clrMapOvr>
  <p:transition spd="med">
    <p:push dir="l"/>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6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ANSWER</a:t>
            </a:r>
            <a:endParaRPr lang="en-US" sz="1600" dirty="0"/>
          </a:p>
        </p:txBody>
      </p:sp>
      <p:sp>
        <p:nvSpPr>
          <p:cNvPr id="4" name="bm_63"/>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Were you right?</a:t>
            </a:r>
            <a:endParaRPr lang="en-US" sz="2700" dirty="0"/>
          </a:p>
        </p:txBody>
      </p:sp>
      <p:sp>
        <p:nvSpPr>
          <p:cNvPr id="5" name="in_6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read a comic!</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leggere un fumetto!</a:t>
            </a:r>
            <a:endParaRPr lang="en-US" sz="1400" dirty="0"/>
          </a:p>
        </p:txBody>
      </p:sp>
      <p:sp>
        <p:nvSpPr>
          <p:cNvPr id="6" name="cd_65"/>
          <p:cNvSpPr/>
          <p:nvPr/>
        </p:nvSpPr>
        <p:spPr>
          <a:xfrm>
            <a:off x="43434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ci_66" descr="/home/claude/movers/img/fc/go-shopping.png">    </p:cNvPr>
          <p:cNvPicPr>
            <a:picLocks noChangeAspect="1"/>
          </p:cNvPicPr>
          <p:nvPr/>
        </p:nvPicPr>
        <p:blipFill>
          <a:blip r:embed="rId2"/>
          <a:stretch>
            <a:fillRect/>
          </a:stretch>
        </p:blipFill>
        <p:spPr>
          <a:xfrm>
            <a:off x="507492" y="1353312"/>
            <a:ext cx="1682496" cy="1682496"/>
          </a:xfrm>
          <a:prstGeom prst="rect">
            <a:avLst/>
          </a:prstGeom>
        </p:spPr>
      </p:pic>
      <p:sp>
        <p:nvSpPr>
          <p:cNvPr id="8" name="cd_67"/>
          <p:cNvSpPr/>
          <p:nvPr/>
        </p:nvSpPr>
        <p:spPr>
          <a:xfrm>
            <a:off x="258318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9" name="ci_68" descr="/home/claude/movers/img/fc/go-skating.png">    </p:cNvPr>
          <p:cNvPicPr>
            <a:picLocks noChangeAspect="1"/>
          </p:cNvPicPr>
          <p:nvPr/>
        </p:nvPicPr>
        <p:blipFill>
          <a:blip r:embed="rId3"/>
          <a:stretch>
            <a:fillRect/>
          </a:stretch>
        </p:blipFill>
        <p:spPr>
          <a:xfrm>
            <a:off x="2656332" y="1353312"/>
            <a:ext cx="1682496" cy="1682496"/>
          </a:xfrm>
          <a:prstGeom prst="rect">
            <a:avLst/>
          </a:prstGeom>
        </p:spPr>
      </p:pic>
      <p:sp>
        <p:nvSpPr>
          <p:cNvPr id="10" name="cd_69"/>
          <p:cNvSpPr/>
          <p:nvPr/>
        </p:nvSpPr>
        <p:spPr>
          <a:xfrm>
            <a:off x="473202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1" name="ci_70" descr="/home/claude/movers/img/fc/listen-to-a-cd.png">    </p:cNvPr>
          <p:cNvPicPr>
            <a:picLocks noChangeAspect="1"/>
          </p:cNvPicPr>
          <p:nvPr/>
        </p:nvPicPr>
        <p:blipFill>
          <a:blip r:embed="rId4"/>
          <a:stretch>
            <a:fillRect/>
          </a:stretch>
        </p:blipFill>
        <p:spPr>
          <a:xfrm>
            <a:off x="4805172" y="1353312"/>
            <a:ext cx="1682496" cy="1682496"/>
          </a:xfrm>
          <a:prstGeom prst="rect">
            <a:avLst/>
          </a:prstGeom>
        </p:spPr>
      </p:pic>
      <p:sp>
        <p:nvSpPr>
          <p:cNvPr id="12" name="cd_71"/>
          <p:cNvSpPr/>
          <p:nvPr/>
        </p:nvSpPr>
        <p:spPr>
          <a:xfrm>
            <a:off x="688086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3" name="ci_72" descr="/home/claude/movers/img/fc/listen-to-music.png">    </p:cNvPr>
          <p:cNvPicPr>
            <a:picLocks noChangeAspect="1"/>
          </p:cNvPicPr>
          <p:nvPr/>
        </p:nvPicPr>
        <p:blipFill>
          <a:blip r:embed="rId5"/>
          <a:stretch>
            <a:fillRect/>
          </a:stretch>
        </p:blipFill>
        <p:spPr>
          <a:xfrm>
            <a:off x="6954012" y="1353312"/>
            <a:ext cx="1682496" cy="1682496"/>
          </a:xfrm>
          <a:prstGeom prst="rect">
            <a:avLst/>
          </a:prstGeom>
        </p:spPr>
      </p:pic>
      <p:sp>
        <p:nvSpPr>
          <p:cNvPr id="14" name="cd_73"/>
          <p:cNvSpPr/>
          <p:nvPr/>
        </p:nvSpPr>
        <p:spPr>
          <a:xfrm>
            <a:off x="434340" y="3218688"/>
            <a:ext cx="1828800" cy="1828800"/>
          </a:xfrm>
          <a:prstGeom prst="roundRect">
            <a:avLst>
              <a:gd name="adj" fmla="val 6000"/>
            </a:avLst>
          </a:prstGeom>
          <a:solidFill>
            <a:srgbClr val="FFFFFF"/>
          </a:solidFill>
          <a:ln w="38100">
            <a:solidFill>
              <a:srgbClr val="6CCB3B"/>
            </a:solidFill>
            <a:prstDash val="solid"/>
          </a:ln>
          <a:effectLst>
            <a:outerShdw sx="100000" sy="100000" kx="0" ky="0" algn="bl" rotWithShape="0" blurRad="38100" dist="25400" dir="5400000">
              <a:srgbClr val="000000">
                <a:alpha val="20000"/>
              </a:srgbClr>
            </a:outerShdw>
          </a:effectLst>
        </p:spPr>
      </p:sp>
      <p:pic>
        <p:nvPicPr>
          <p:cNvPr id="15" name="ci_74" descr="/home/claude/movers/img/fc/read-a-comic.png">    </p:cNvPr>
          <p:cNvPicPr>
            <a:picLocks noChangeAspect="1"/>
          </p:cNvPicPr>
          <p:nvPr/>
        </p:nvPicPr>
        <p:blipFill>
          <a:blip r:embed="rId6"/>
          <a:stretch>
            <a:fillRect/>
          </a:stretch>
        </p:blipFill>
        <p:spPr>
          <a:xfrm>
            <a:off x="507492" y="3291840"/>
            <a:ext cx="1682496" cy="1682496"/>
          </a:xfrm>
          <a:prstGeom prst="rect">
            <a:avLst/>
          </a:prstGeom>
        </p:spPr>
      </p:pic>
      <p:sp>
        <p:nvSpPr>
          <p:cNvPr id="16" name="hl_75"/>
          <p:cNvSpPr/>
          <p:nvPr/>
        </p:nvSpPr>
        <p:spPr>
          <a:xfrm>
            <a:off x="379476" y="3163824"/>
            <a:ext cx="1938528" cy="1938528"/>
          </a:xfrm>
          <a:prstGeom prst="roundRect">
            <a:avLst>
              <a:gd name="adj" fmla="val 5660"/>
            </a:avLst>
          </a:prstGeom>
          <a:ln w="76200">
            <a:solidFill>
              <a:srgbClr val="6CCB3B"/>
            </a:solidFill>
            <a:prstDash val="solid"/>
          </a:ln>
        </p:spPr>
      </p:sp>
      <p:sp>
        <p:nvSpPr>
          <p:cNvPr id="17" name="cd_76"/>
          <p:cNvSpPr/>
          <p:nvPr/>
        </p:nvSpPr>
        <p:spPr>
          <a:xfrm>
            <a:off x="258318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8" name="ci_77" descr="/home/claude/movers/img/fc/watch-a-dvd.png">    </p:cNvPr>
          <p:cNvPicPr>
            <a:picLocks noChangeAspect="1"/>
          </p:cNvPicPr>
          <p:nvPr/>
        </p:nvPicPr>
        <p:blipFill>
          <a:blip r:embed="rId7"/>
          <a:stretch>
            <a:fillRect/>
          </a:stretch>
        </p:blipFill>
        <p:spPr>
          <a:xfrm>
            <a:off x="2656332" y="3291840"/>
            <a:ext cx="1682496" cy="1682496"/>
          </a:xfrm>
          <a:prstGeom prst="rect">
            <a:avLst/>
          </a:prstGeom>
        </p:spPr>
      </p:pic>
      <p:sp>
        <p:nvSpPr>
          <p:cNvPr id="19" name="cd_78"/>
          <p:cNvSpPr/>
          <p:nvPr/>
        </p:nvSpPr>
        <p:spPr>
          <a:xfrm>
            <a:off x="473202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79" descr="/home/claude/movers/img/fc/watch-a-film.png">    </p:cNvPr>
          <p:cNvPicPr>
            <a:picLocks noChangeAspect="1"/>
          </p:cNvPicPr>
          <p:nvPr/>
        </p:nvPicPr>
        <p:blipFill>
          <a:blip r:embed="rId8"/>
          <a:stretch>
            <a:fillRect/>
          </a:stretch>
        </p:blipFill>
        <p:spPr>
          <a:xfrm>
            <a:off x="4805172" y="3291840"/>
            <a:ext cx="1682496" cy="1682496"/>
          </a:xfrm>
          <a:prstGeom prst="rect">
            <a:avLst/>
          </a:prstGeom>
        </p:spPr>
      </p:pic>
      <p:sp>
        <p:nvSpPr>
          <p:cNvPr id="21" name="cd_80"/>
          <p:cNvSpPr/>
          <p:nvPr/>
        </p:nvSpPr>
        <p:spPr>
          <a:xfrm>
            <a:off x="688086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2" name="ci_81" descr="/home/claude/movers/img/fc/write-an-email.png">    </p:cNvPr>
          <p:cNvPicPr>
            <a:picLocks noChangeAspect="1"/>
          </p:cNvPicPr>
          <p:nvPr/>
        </p:nvPicPr>
        <p:blipFill>
          <a:blip r:embed="rId9"/>
          <a:stretch>
            <a:fillRect/>
          </a:stretch>
        </p:blipFill>
        <p:spPr>
          <a:xfrm>
            <a:off x="6954012" y="3291840"/>
            <a:ext cx="1682496" cy="1682496"/>
          </a:xfrm>
          <a:prstGeom prst="rect">
            <a:avLst/>
          </a:prstGeom>
        </p:spPr>
      </p:pic>
    </p:spTree>
  </p:cSld>
  <p:clrMapOvr>
    <a:masterClrMapping/>
  </p:clrMapOvr>
  <p:transition spd="med">
    <p:push dir="l"/>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8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450" dirty="0">
                <a:solidFill>
                  <a:srgbClr val="FFFFFF"/>
                </a:solidFill>
                <a:latin typeface="Arial Black" pitchFamily="34" charset="0"/>
                <a:ea typeface="Arial Black" pitchFamily="34" charset="-122"/>
                <a:cs typeface="Arial Black" pitchFamily="34" charset="-120"/>
              </a:rPr>
              <a:t>GAME · ROUND 2 🔥</a:t>
            </a:r>
            <a:endParaRPr lang="en-US" sz="1450" dirty="0"/>
          </a:p>
        </p:txBody>
      </p:sp>
      <p:sp>
        <p:nvSpPr>
          <p:cNvPr id="4" name="bm_83"/>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Look and remember!</a:t>
            </a:r>
            <a:endParaRPr lang="en-US" sz="2700" dirty="0"/>
          </a:p>
        </p:txBody>
      </p:sp>
      <p:sp>
        <p:nvSpPr>
          <p:cNvPr id="5" name="in_84"/>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 Look for 15 seconds. Remember ALL the pictures!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e ricorda tutte le immagini!</a:t>
            </a:r>
            <a:endParaRPr lang="en-US" sz="1400" dirty="0"/>
          </a:p>
        </p:txBody>
      </p:sp>
      <p:sp>
        <p:nvSpPr>
          <p:cNvPr id="6" name="cd_85"/>
          <p:cNvSpPr/>
          <p:nvPr/>
        </p:nvSpPr>
        <p:spPr>
          <a:xfrm>
            <a:off x="43434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ci_86" descr="/home/claude/movers/img/fc/go-shopping.png">    </p:cNvPr>
          <p:cNvPicPr>
            <a:picLocks noChangeAspect="1"/>
          </p:cNvPicPr>
          <p:nvPr/>
        </p:nvPicPr>
        <p:blipFill>
          <a:blip r:embed="rId2"/>
          <a:stretch>
            <a:fillRect/>
          </a:stretch>
        </p:blipFill>
        <p:spPr>
          <a:xfrm>
            <a:off x="507492" y="1353312"/>
            <a:ext cx="1682496" cy="1682496"/>
          </a:xfrm>
          <a:prstGeom prst="rect">
            <a:avLst/>
          </a:prstGeom>
        </p:spPr>
      </p:pic>
      <p:sp>
        <p:nvSpPr>
          <p:cNvPr id="8" name="cd_87"/>
          <p:cNvSpPr/>
          <p:nvPr/>
        </p:nvSpPr>
        <p:spPr>
          <a:xfrm>
            <a:off x="258318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9" name="ci_88" descr="/home/claude/movers/img/fc/go-skating.png">    </p:cNvPr>
          <p:cNvPicPr>
            <a:picLocks noChangeAspect="1"/>
          </p:cNvPicPr>
          <p:nvPr/>
        </p:nvPicPr>
        <p:blipFill>
          <a:blip r:embed="rId3"/>
          <a:stretch>
            <a:fillRect/>
          </a:stretch>
        </p:blipFill>
        <p:spPr>
          <a:xfrm>
            <a:off x="2656332" y="1353312"/>
            <a:ext cx="1682496" cy="1682496"/>
          </a:xfrm>
          <a:prstGeom prst="rect">
            <a:avLst/>
          </a:prstGeom>
        </p:spPr>
      </p:pic>
      <p:sp>
        <p:nvSpPr>
          <p:cNvPr id="10" name="cd_89"/>
          <p:cNvSpPr/>
          <p:nvPr/>
        </p:nvSpPr>
        <p:spPr>
          <a:xfrm>
            <a:off x="473202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1" name="ci_90" descr="/home/claude/movers/img/fc/listen-to-a-cd.png">    </p:cNvPr>
          <p:cNvPicPr>
            <a:picLocks noChangeAspect="1"/>
          </p:cNvPicPr>
          <p:nvPr/>
        </p:nvPicPr>
        <p:blipFill>
          <a:blip r:embed="rId4"/>
          <a:stretch>
            <a:fillRect/>
          </a:stretch>
        </p:blipFill>
        <p:spPr>
          <a:xfrm>
            <a:off x="4805172" y="1353312"/>
            <a:ext cx="1682496" cy="1682496"/>
          </a:xfrm>
          <a:prstGeom prst="rect">
            <a:avLst/>
          </a:prstGeom>
        </p:spPr>
      </p:pic>
      <p:sp>
        <p:nvSpPr>
          <p:cNvPr id="12" name="cd_91"/>
          <p:cNvSpPr/>
          <p:nvPr/>
        </p:nvSpPr>
        <p:spPr>
          <a:xfrm>
            <a:off x="688086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3" name="ci_92" descr="/home/claude/movers/img/fc/listen-to-music.png">    </p:cNvPr>
          <p:cNvPicPr>
            <a:picLocks noChangeAspect="1"/>
          </p:cNvPicPr>
          <p:nvPr/>
        </p:nvPicPr>
        <p:blipFill>
          <a:blip r:embed="rId5"/>
          <a:stretch>
            <a:fillRect/>
          </a:stretch>
        </p:blipFill>
        <p:spPr>
          <a:xfrm>
            <a:off x="6954012" y="1353312"/>
            <a:ext cx="1682496" cy="1682496"/>
          </a:xfrm>
          <a:prstGeom prst="rect">
            <a:avLst/>
          </a:prstGeom>
        </p:spPr>
      </p:pic>
      <p:sp>
        <p:nvSpPr>
          <p:cNvPr id="14" name="cd_93"/>
          <p:cNvSpPr/>
          <p:nvPr/>
        </p:nvSpPr>
        <p:spPr>
          <a:xfrm>
            <a:off x="43434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5" name="ci_94" descr="/home/claude/movers/img/fc/read-a-comic.png">    </p:cNvPr>
          <p:cNvPicPr>
            <a:picLocks noChangeAspect="1"/>
          </p:cNvPicPr>
          <p:nvPr/>
        </p:nvPicPr>
        <p:blipFill>
          <a:blip r:embed="rId6"/>
          <a:stretch>
            <a:fillRect/>
          </a:stretch>
        </p:blipFill>
        <p:spPr>
          <a:xfrm>
            <a:off x="507492" y="3291840"/>
            <a:ext cx="1682496" cy="1682496"/>
          </a:xfrm>
          <a:prstGeom prst="rect">
            <a:avLst/>
          </a:prstGeom>
        </p:spPr>
      </p:pic>
      <p:sp>
        <p:nvSpPr>
          <p:cNvPr id="16" name="cd_95"/>
          <p:cNvSpPr/>
          <p:nvPr/>
        </p:nvSpPr>
        <p:spPr>
          <a:xfrm>
            <a:off x="258318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7" name="ci_96" descr="/home/claude/movers/img/fc/watch-a-dvd.png">    </p:cNvPr>
          <p:cNvPicPr>
            <a:picLocks noChangeAspect="1"/>
          </p:cNvPicPr>
          <p:nvPr/>
        </p:nvPicPr>
        <p:blipFill>
          <a:blip r:embed="rId7"/>
          <a:stretch>
            <a:fillRect/>
          </a:stretch>
        </p:blipFill>
        <p:spPr>
          <a:xfrm>
            <a:off x="2656332" y="3291840"/>
            <a:ext cx="1682496" cy="1682496"/>
          </a:xfrm>
          <a:prstGeom prst="rect">
            <a:avLst/>
          </a:prstGeom>
        </p:spPr>
      </p:pic>
      <p:sp>
        <p:nvSpPr>
          <p:cNvPr id="18" name="cd_97"/>
          <p:cNvSpPr/>
          <p:nvPr/>
        </p:nvSpPr>
        <p:spPr>
          <a:xfrm>
            <a:off x="473202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9" name="ci_98" descr="/home/claude/movers/img/fc/watch-a-film.png">    </p:cNvPr>
          <p:cNvPicPr>
            <a:picLocks noChangeAspect="1"/>
          </p:cNvPicPr>
          <p:nvPr/>
        </p:nvPicPr>
        <p:blipFill>
          <a:blip r:embed="rId8"/>
          <a:stretch>
            <a:fillRect/>
          </a:stretch>
        </p:blipFill>
        <p:spPr>
          <a:xfrm>
            <a:off x="4805172" y="3291840"/>
            <a:ext cx="1682496" cy="1682496"/>
          </a:xfrm>
          <a:prstGeom prst="rect">
            <a:avLst/>
          </a:prstGeom>
        </p:spPr>
      </p:pic>
      <p:sp>
        <p:nvSpPr>
          <p:cNvPr id="20" name="cd_99"/>
          <p:cNvSpPr/>
          <p:nvPr/>
        </p:nvSpPr>
        <p:spPr>
          <a:xfrm>
            <a:off x="688086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1" name="ci_100" descr="/home/claude/movers/img/fc/write-an-email.png">    </p:cNvPr>
          <p:cNvPicPr>
            <a:picLocks noChangeAspect="1"/>
          </p:cNvPicPr>
          <p:nvPr/>
        </p:nvPicPr>
        <p:blipFill>
          <a:blip r:embed="rId9"/>
          <a:stretch>
            <a:fillRect/>
          </a:stretch>
        </p:blipFill>
        <p:spPr>
          <a:xfrm>
            <a:off x="6954012" y="3291840"/>
            <a:ext cx="1682496" cy="1682496"/>
          </a:xfrm>
          <a:prstGeom prst="rect">
            <a:avLst/>
          </a:prstGeom>
        </p:spPr>
      </p:pic>
      <p:sp>
        <p:nvSpPr>
          <p:cNvPr id="22" name="bk_101"/>
          <p:cNvSpPr/>
          <p:nvPr/>
        </p:nvSpPr>
        <p:spPr>
          <a:xfrm>
            <a:off x="228600" y="4681728"/>
            <a:ext cx="3735324"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Retrieval · Lesson 3 free time activities</a:t>
            </a:r>
            <a:endParaRPr lang="en-US" sz="1100" dirty="0"/>
          </a:p>
        </p:txBody>
      </p:sp>
    </p:spTree>
  </p:cSld>
  <p:clrMapOvr>
    <a:masterClrMapping/>
  </p:clrMapOvr>
  <p:transition spd="med">
    <p:push dir="l"/>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0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450" dirty="0">
                <a:solidFill>
                  <a:srgbClr val="FFFFFF"/>
                </a:solidFill>
                <a:latin typeface="Arial Black" pitchFamily="34" charset="0"/>
                <a:ea typeface="Arial Black" pitchFamily="34" charset="-122"/>
                <a:cs typeface="Arial Black" pitchFamily="34" charset="-120"/>
              </a:rPr>
              <a:t>GAME · ROUND 2 🔥</a:t>
            </a:r>
            <a:endParaRPr lang="en-US" sz="1450" dirty="0"/>
          </a:p>
        </p:txBody>
      </p:sp>
      <p:sp>
        <p:nvSpPr>
          <p:cNvPr id="4" name="bm_103"/>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What's missing?</a:t>
            </a:r>
            <a:endParaRPr lang="en-US" sz="2700" dirty="0"/>
          </a:p>
        </p:txBody>
      </p:sp>
      <p:sp>
        <p:nvSpPr>
          <p:cNvPr id="5" name="in_10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TWO pictures are missing! Write them down.</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Mancano DUE immagini! Scrivile.</a:t>
            </a:r>
            <a:endParaRPr lang="en-US" sz="1400" dirty="0"/>
          </a:p>
        </p:txBody>
      </p:sp>
      <p:sp>
        <p:nvSpPr>
          <p:cNvPr id="6" name="cd_105"/>
          <p:cNvSpPr/>
          <p:nvPr/>
        </p:nvSpPr>
        <p:spPr>
          <a:xfrm>
            <a:off x="43434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ci_106" descr="/home/claude/movers/img/fc/go-shopping.png">    </p:cNvPr>
          <p:cNvPicPr>
            <a:picLocks noChangeAspect="1"/>
          </p:cNvPicPr>
          <p:nvPr/>
        </p:nvPicPr>
        <p:blipFill>
          <a:blip r:embed="rId2"/>
          <a:stretch>
            <a:fillRect/>
          </a:stretch>
        </p:blipFill>
        <p:spPr>
          <a:xfrm>
            <a:off x="507492" y="1353312"/>
            <a:ext cx="1682496" cy="1682496"/>
          </a:xfrm>
          <a:prstGeom prst="rect">
            <a:avLst/>
          </a:prstGeom>
        </p:spPr>
      </p:pic>
      <p:sp>
        <p:nvSpPr>
          <p:cNvPr id="8" name="q_107"/>
          <p:cNvSpPr/>
          <p:nvPr/>
        </p:nvSpPr>
        <p:spPr>
          <a:xfrm>
            <a:off x="2583180" y="1280160"/>
            <a:ext cx="1828800" cy="1828800"/>
          </a:xfrm>
          <a:prstGeom prst="roundRect">
            <a:avLst>
              <a:gd name="adj" fmla="val 6000"/>
            </a:avLst>
          </a:prstGeom>
          <a:solidFill>
            <a:srgbClr val="FFD23F"/>
          </a:solidFill>
          <a:ln w="38100">
            <a:solidFill>
              <a:srgbClr val="1E2A5A"/>
            </a:solidFill>
            <a:prstDash val="dash"/>
          </a:ln>
        </p:spPr>
        <p:txBody>
          <a:bodyPr wrap="square" rtlCol="0" anchor="ctr"/>
          <a:lstStyle/>
          <a:p>
            <a:pPr algn="ctr" indent="0" marL="0">
              <a:buNone/>
            </a:pPr>
            <a:r>
              <a:rPr lang="en-US" sz="6000" dirty="0">
                <a:solidFill>
                  <a:srgbClr val="1E2A5A"/>
                </a:solidFill>
                <a:latin typeface="Arial Black" pitchFamily="34" charset="0"/>
                <a:ea typeface="Arial Black" pitchFamily="34" charset="-122"/>
                <a:cs typeface="Arial Black" pitchFamily="34" charset="-120"/>
              </a:rPr>
              <a:t>?</a:t>
            </a:r>
            <a:endParaRPr lang="en-US" sz="6000" dirty="0"/>
          </a:p>
        </p:txBody>
      </p:sp>
      <p:sp>
        <p:nvSpPr>
          <p:cNvPr id="9" name="cd_108"/>
          <p:cNvSpPr/>
          <p:nvPr/>
        </p:nvSpPr>
        <p:spPr>
          <a:xfrm>
            <a:off x="473202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0" name="ci_109" descr="/home/claude/movers/img/fc/listen-to-a-cd.png">    </p:cNvPr>
          <p:cNvPicPr>
            <a:picLocks noChangeAspect="1"/>
          </p:cNvPicPr>
          <p:nvPr/>
        </p:nvPicPr>
        <p:blipFill>
          <a:blip r:embed="rId3"/>
          <a:stretch>
            <a:fillRect/>
          </a:stretch>
        </p:blipFill>
        <p:spPr>
          <a:xfrm>
            <a:off x="4805172" y="1353312"/>
            <a:ext cx="1682496" cy="1682496"/>
          </a:xfrm>
          <a:prstGeom prst="rect">
            <a:avLst/>
          </a:prstGeom>
        </p:spPr>
      </p:pic>
      <p:sp>
        <p:nvSpPr>
          <p:cNvPr id="11" name="cd_110"/>
          <p:cNvSpPr/>
          <p:nvPr/>
        </p:nvSpPr>
        <p:spPr>
          <a:xfrm>
            <a:off x="688086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2" name="ci_111" descr="/home/claude/movers/img/fc/listen-to-music.png">    </p:cNvPr>
          <p:cNvPicPr>
            <a:picLocks noChangeAspect="1"/>
          </p:cNvPicPr>
          <p:nvPr/>
        </p:nvPicPr>
        <p:blipFill>
          <a:blip r:embed="rId4"/>
          <a:stretch>
            <a:fillRect/>
          </a:stretch>
        </p:blipFill>
        <p:spPr>
          <a:xfrm>
            <a:off x="6954012" y="1353312"/>
            <a:ext cx="1682496" cy="1682496"/>
          </a:xfrm>
          <a:prstGeom prst="rect">
            <a:avLst/>
          </a:prstGeom>
        </p:spPr>
      </p:pic>
      <p:sp>
        <p:nvSpPr>
          <p:cNvPr id="13" name="cd_112"/>
          <p:cNvSpPr/>
          <p:nvPr/>
        </p:nvSpPr>
        <p:spPr>
          <a:xfrm>
            <a:off x="43434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4" name="ci_113" descr="/home/claude/movers/img/fc/read-a-comic.png">    </p:cNvPr>
          <p:cNvPicPr>
            <a:picLocks noChangeAspect="1"/>
          </p:cNvPicPr>
          <p:nvPr/>
        </p:nvPicPr>
        <p:blipFill>
          <a:blip r:embed="rId5"/>
          <a:stretch>
            <a:fillRect/>
          </a:stretch>
        </p:blipFill>
        <p:spPr>
          <a:xfrm>
            <a:off x="507492" y="3291840"/>
            <a:ext cx="1682496" cy="1682496"/>
          </a:xfrm>
          <a:prstGeom prst="rect">
            <a:avLst/>
          </a:prstGeom>
        </p:spPr>
      </p:pic>
      <p:sp>
        <p:nvSpPr>
          <p:cNvPr id="15" name="cd_114"/>
          <p:cNvSpPr/>
          <p:nvPr/>
        </p:nvSpPr>
        <p:spPr>
          <a:xfrm>
            <a:off x="258318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6" name="ci_115" descr="/home/claude/movers/img/fc/watch-a-dvd.png">    </p:cNvPr>
          <p:cNvPicPr>
            <a:picLocks noChangeAspect="1"/>
          </p:cNvPicPr>
          <p:nvPr/>
        </p:nvPicPr>
        <p:blipFill>
          <a:blip r:embed="rId6"/>
          <a:stretch>
            <a:fillRect/>
          </a:stretch>
        </p:blipFill>
        <p:spPr>
          <a:xfrm>
            <a:off x="2656332" y="3291840"/>
            <a:ext cx="1682496" cy="1682496"/>
          </a:xfrm>
          <a:prstGeom prst="rect">
            <a:avLst/>
          </a:prstGeom>
        </p:spPr>
      </p:pic>
      <p:sp>
        <p:nvSpPr>
          <p:cNvPr id="17" name="q_116"/>
          <p:cNvSpPr/>
          <p:nvPr/>
        </p:nvSpPr>
        <p:spPr>
          <a:xfrm>
            <a:off x="4732020" y="3218688"/>
            <a:ext cx="1828800" cy="1828800"/>
          </a:xfrm>
          <a:prstGeom prst="roundRect">
            <a:avLst>
              <a:gd name="adj" fmla="val 6000"/>
            </a:avLst>
          </a:prstGeom>
          <a:solidFill>
            <a:srgbClr val="FFD23F"/>
          </a:solidFill>
          <a:ln w="38100">
            <a:solidFill>
              <a:srgbClr val="1E2A5A"/>
            </a:solidFill>
            <a:prstDash val="dash"/>
          </a:ln>
        </p:spPr>
        <p:txBody>
          <a:bodyPr wrap="square" rtlCol="0" anchor="ctr"/>
          <a:lstStyle/>
          <a:p>
            <a:pPr algn="ctr" indent="0" marL="0">
              <a:buNone/>
            </a:pPr>
            <a:r>
              <a:rPr lang="en-US" sz="6000" dirty="0">
                <a:solidFill>
                  <a:srgbClr val="1E2A5A"/>
                </a:solidFill>
                <a:latin typeface="Arial Black" pitchFamily="34" charset="0"/>
                <a:ea typeface="Arial Black" pitchFamily="34" charset="-122"/>
                <a:cs typeface="Arial Black" pitchFamily="34" charset="-120"/>
              </a:rPr>
              <a:t>?</a:t>
            </a:r>
            <a:endParaRPr lang="en-US" sz="6000" dirty="0"/>
          </a:p>
        </p:txBody>
      </p:sp>
      <p:sp>
        <p:nvSpPr>
          <p:cNvPr id="18" name="cd_117"/>
          <p:cNvSpPr/>
          <p:nvPr/>
        </p:nvSpPr>
        <p:spPr>
          <a:xfrm>
            <a:off x="688086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9" name="ci_118" descr="/home/claude/movers/img/fc/write-an-email.png">    </p:cNvPr>
          <p:cNvPicPr>
            <a:picLocks noChangeAspect="1"/>
          </p:cNvPicPr>
          <p:nvPr/>
        </p:nvPicPr>
        <p:blipFill>
          <a:blip r:embed="rId7"/>
          <a:stretch>
            <a:fillRect/>
          </a:stretch>
        </p:blipFill>
        <p:spPr>
          <a:xfrm>
            <a:off x="6954012" y="3291840"/>
            <a:ext cx="1682496" cy="1682496"/>
          </a:xfrm>
          <a:prstGeom prst="rect">
            <a:avLst/>
          </a:prstGeom>
        </p:spPr>
      </p:pic>
    </p:spTree>
  </p:cSld>
  <p:clrMapOvr>
    <a:masterClrMapping/>
  </p:clrMapOvr>
  <p:transition spd="med">
    <p:push dir="l"/>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19"/>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ANSWER</a:t>
            </a:r>
            <a:endParaRPr lang="en-US" sz="1600" dirty="0"/>
          </a:p>
        </p:txBody>
      </p:sp>
      <p:sp>
        <p:nvSpPr>
          <p:cNvPr id="4" name="bm_120"/>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Were you right?</a:t>
            </a:r>
            <a:endParaRPr lang="en-US" sz="2700" dirty="0"/>
          </a:p>
        </p:txBody>
      </p:sp>
      <p:sp>
        <p:nvSpPr>
          <p:cNvPr id="5" name="in_121"/>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It's: go skating and watch a film!</a:t>
            </a:r>
            <a:endParaRPr lang="en-US" sz="1400" dirty="0"/>
          </a:p>
          <a:p>
            <a:pPr indent="0" marL="0">
              <a:buNone/>
            </a:pPr>
            <a:endParaRPr lang="en-US" sz="1400" dirty="0"/>
          </a:p>
        </p:txBody>
      </p:sp>
      <p:sp>
        <p:nvSpPr>
          <p:cNvPr id="6" name="cd_122"/>
          <p:cNvSpPr/>
          <p:nvPr/>
        </p:nvSpPr>
        <p:spPr>
          <a:xfrm>
            <a:off x="43434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ci_123" descr="/home/claude/movers/img/fc/go-shopping.png">    </p:cNvPr>
          <p:cNvPicPr>
            <a:picLocks noChangeAspect="1"/>
          </p:cNvPicPr>
          <p:nvPr/>
        </p:nvPicPr>
        <p:blipFill>
          <a:blip r:embed="rId2"/>
          <a:stretch>
            <a:fillRect/>
          </a:stretch>
        </p:blipFill>
        <p:spPr>
          <a:xfrm>
            <a:off x="507492" y="1353312"/>
            <a:ext cx="1682496" cy="1682496"/>
          </a:xfrm>
          <a:prstGeom prst="rect">
            <a:avLst/>
          </a:prstGeom>
        </p:spPr>
      </p:pic>
      <p:sp>
        <p:nvSpPr>
          <p:cNvPr id="8" name="cd_124"/>
          <p:cNvSpPr/>
          <p:nvPr/>
        </p:nvSpPr>
        <p:spPr>
          <a:xfrm>
            <a:off x="2583180" y="1280160"/>
            <a:ext cx="1828800" cy="1828800"/>
          </a:xfrm>
          <a:prstGeom prst="roundRect">
            <a:avLst>
              <a:gd name="adj" fmla="val 6000"/>
            </a:avLst>
          </a:prstGeom>
          <a:solidFill>
            <a:srgbClr val="FFFFFF"/>
          </a:solidFill>
          <a:ln w="38100">
            <a:solidFill>
              <a:srgbClr val="6CCB3B"/>
            </a:solidFill>
            <a:prstDash val="solid"/>
          </a:ln>
          <a:effectLst>
            <a:outerShdw sx="100000" sy="100000" kx="0" ky="0" algn="bl" rotWithShape="0" blurRad="38100" dist="25400" dir="5400000">
              <a:srgbClr val="000000">
                <a:alpha val="20000"/>
              </a:srgbClr>
            </a:outerShdw>
          </a:effectLst>
        </p:spPr>
      </p:sp>
      <p:pic>
        <p:nvPicPr>
          <p:cNvPr id="9" name="ci_125" descr="/home/claude/movers/img/fc/go-skating.png">    </p:cNvPr>
          <p:cNvPicPr>
            <a:picLocks noChangeAspect="1"/>
          </p:cNvPicPr>
          <p:nvPr/>
        </p:nvPicPr>
        <p:blipFill>
          <a:blip r:embed="rId3"/>
          <a:stretch>
            <a:fillRect/>
          </a:stretch>
        </p:blipFill>
        <p:spPr>
          <a:xfrm>
            <a:off x="2656332" y="1353312"/>
            <a:ext cx="1682496" cy="1682496"/>
          </a:xfrm>
          <a:prstGeom prst="rect">
            <a:avLst/>
          </a:prstGeom>
        </p:spPr>
      </p:pic>
      <p:sp>
        <p:nvSpPr>
          <p:cNvPr id="10" name="hl_126"/>
          <p:cNvSpPr/>
          <p:nvPr/>
        </p:nvSpPr>
        <p:spPr>
          <a:xfrm>
            <a:off x="2528316" y="1225296"/>
            <a:ext cx="1938528" cy="1938528"/>
          </a:xfrm>
          <a:prstGeom prst="roundRect">
            <a:avLst>
              <a:gd name="adj" fmla="val 5660"/>
            </a:avLst>
          </a:prstGeom>
          <a:ln w="76200">
            <a:solidFill>
              <a:srgbClr val="6CCB3B"/>
            </a:solidFill>
            <a:prstDash val="solid"/>
          </a:ln>
        </p:spPr>
      </p:sp>
      <p:sp>
        <p:nvSpPr>
          <p:cNvPr id="11" name="cd_127"/>
          <p:cNvSpPr/>
          <p:nvPr/>
        </p:nvSpPr>
        <p:spPr>
          <a:xfrm>
            <a:off x="473202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2" name="ci_128" descr="/home/claude/movers/img/fc/listen-to-a-cd.png">    </p:cNvPr>
          <p:cNvPicPr>
            <a:picLocks noChangeAspect="1"/>
          </p:cNvPicPr>
          <p:nvPr/>
        </p:nvPicPr>
        <p:blipFill>
          <a:blip r:embed="rId4"/>
          <a:stretch>
            <a:fillRect/>
          </a:stretch>
        </p:blipFill>
        <p:spPr>
          <a:xfrm>
            <a:off x="4805172" y="1353312"/>
            <a:ext cx="1682496" cy="1682496"/>
          </a:xfrm>
          <a:prstGeom prst="rect">
            <a:avLst/>
          </a:prstGeom>
        </p:spPr>
      </p:pic>
      <p:sp>
        <p:nvSpPr>
          <p:cNvPr id="13" name="cd_129"/>
          <p:cNvSpPr/>
          <p:nvPr/>
        </p:nvSpPr>
        <p:spPr>
          <a:xfrm>
            <a:off x="6880860" y="1280160"/>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4" name="ci_130" descr="/home/claude/movers/img/fc/listen-to-music.png">    </p:cNvPr>
          <p:cNvPicPr>
            <a:picLocks noChangeAspect="1"/>
          </p:cNvPicPr>
          <p:nvPr/>
        </p:nvPicPr>
        <p:blipFill>
          <a:blip r:embed="rId5"/>
          <a:stretch>
            <a:fillRect/>
          </a:stretch>
        </p:blipFill>
        <p:spPr>
          <a:xfrm>
            <a:off x="6954012" y="1353312"/>
            <a:ext cx="1682496" cy="1682496"/>
          </a:xfrm>
          <a:prstGeom prst="rect">
            <a:avLst/>
          </a:prstGeom>
        </p:spPr>
      </p:pic>
      <p:sp>
        <p:nvSpPr>
          <p:cNvPr id="15" name="cd_131"/>
          <p:cNvSpPr/>
          <p:nvPr/>
        </p:nvSpPr>
        <p:spPr>
          <a:xfrm>
            <a:off x="43434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6" name="ci_132" descr="/home/claude/movers/img/fc/read-a-comic.png">    </p:cNvPr>
          <p:cNvPicPr>
            <a:picLocks noChangeAspect="1"/>
          </p:cNvPicPr>
          <p:nvPr/>
        </p:nvPicPr>
        <p:blipFill>
          <a:blip r:embed="rId6"/>
          <a:stretch>
            <a:fillRect/>
          </a:stretch>
        </p:blipFill>
        <p:spPr>
          <a:xfrm>
            <a:off x="507492" y="3291840"/>
            <a:ext cx="1682496" cy="1682496"/>
          </a:xfrm>
          <a:prstGeom prst="rect">
            <a:avLst/>
          </a:prstGeom>
        </p:spPr>
      </p:pic>
      <p:sp>
        <p:nvSpPr>
          <p:cNvPr id="17" name="cd_133"/>
          <p:cNvSpPr/>
          <p:nvPr/>
        </p:nvSpPr>
        <p:spPr>
          <a:xfrm>
            <a:off x="258318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8" name="ci_134" descr="/home/claude/movers/img/fc/watch-a-dvd.png">    </p:cNvPr>
          <p:cNvPicPr>
            <a:picLocks noChangeAspect="1"/>
          </p:cNvPicPr>
          <p:nvPr/>
        </p:nvPicPr>
        <p:blipFill>
          <a:blip r:embed="rId7"/>
          <a:stretch>
            <a:fillRect/>
          </a:stretch>
        </p:blipFill>
        <p:spPr>
          <a:xfrm>
            <a:off x="2656332" y="3291840"/>
            <a:ext cx="1682496" cy="1682496"/>
          </a:xfrm>
          <a:prstGeom prst="rect">
            <a:avLst/>
          </a:prstGeom>
        </p:spPr>
      </p:pic>
      <p:sp>
        <p:nvSpPr>
          <p:cNvPr id="19" name="cd_135"/>
          <p:cNvSpPr/>
          <p:nvPr/>
        </p:nvSpPr>
        <p:spPr>
          <a:xfrm>
            <a:off x="4732020" y="3218688"/>
            <a:ext cx="1828800" cy="1828800"/>
          </a:xfrm>
          <a:prstGeom prst="roundRect">
            <a:avLst>
              <a:gd name="adj" fmla="val 6000"/>
            </a:avLst>
          </a:prstGeom>
          <a:solidFill>
            <a:srgbClr val="FFFFFF"/>
          </a:solidFill>
          <a:ln w="38100">
            <a:solidFill>
              <a:srgbClr val="6CCB3B"/>
            </a:solidFill>
            <a:prstDash val="solid"/>
          </a:ln>
          <a:effectLst>
            <a:outerShdw sx="100000" sy="100000" kx="0" ky="0" algn="bl" rotWithShape="0" blurRad="38100" dist="25400" dir="5400000">
              <a:srgbClr val="000000">
                <a:alpha val="20000"/>
              </a:srgbClr>
            </a:outerShdw>
          </a:effectLst>
        </p:spPr>
      </p:sp>
      <p:pic>
        <p:nvPicPr>
          <p:cNvPr id="20" name="ci_136" descr="/home/claude/movers/img/fc/watch-a-film.png">    </p:cNvPr>
          <p:cNvPicPr>
            <a:picLocks noChangeAspect="1"/>
          </p:cNvPicPr>
          <p:nvPr/>
        </p:nvPicPr>
        <p:blipFill>
          <a:blip r:embed="rId8"/>
          <a:stretch>
            <a:fillRect/>
          </a:stretch>
        </p:blipFill>
        <p:spPr>
          <a:xfrm>
            <a:off x="4805172" y="3291840"/>
            <a:ext cx="1682496" cy="1682496"/>
          </a:xfrm>
          <a:prstGeom prst="rect">
            <a:avLst/>
          </a:prstGeom>
        </p:spPr>
      </p:pic>
      <p:sp>
        <p:nvSpPr>
          <p:cNvPr id="21" name="hl_137"/>
          <p:cNvSpPr/>
          <p:nvPr/>
        </p:nvSpPr>
        <p:spPr>
          <a:xfrm>
            <a:off x="4677156" y="3163824"/>
            <a:ext cx="1938528" cy="1938528"/>
          </a:xfrm>
          <a:prstGeom prst="roundRect">
            <a:avLst>
              <a:gd name="adj" fmla="val 5660"/>
            </a:avLst>
          </a:prstGeom>
          <a:ln w="76200">
            <a:solidFill>
              <a:srgbClr val="6CCB3B"/>
            </a:solidFill>
            <a:prstDash val="solid"/>
          </a:ln>
        </p:spPr>
      </p:sp>
      <p:sp>
        <p:nvSpPr>
          <p:cNvPr id="22" name="cd_138"/>
          <p:cNvSpPr/>
          <p:nvPr/>
        </p:nvSpPr>
        <p:spPr>
          <a:xfrm>
            <a:off x="6880860" y="3218688"/>
            <a:ext cx="1828800" cy="1828800"/>
          </a:xfrm>
          <a:prstGeom prst="roundRect">
            <a:avLst>
              <a:gd name="adj" fmla="val 6000"/>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139" descr="/home/claude/movers/img/fc/write-an-email.png">    </p:cNvPr>
          <p:cNvPicPr>
            <a:picLocks noChangeAspect="1"/>
          </p:cNvPicPr>
          <p:nvPr/>
        </p:nvPicPr>
        <p:blipFill>
          <a:blip r:embed="rId9"/>
          <a:stretch>
            <a:fillRect/>
          </a:stretch>
        </p:blipFill>
        <p:spPr>
          <a:xfrm>
            <a:off x="6954012" y="3291840"/>
            <a:ext cx="1682496" cy="1682496"/>
          </a:xfrm>
          <a:prstGeom prst="rect">
            <a:avLst/>
          </a:prstGeom>
        </p:spPr>
      </p:pic>
    </p:spTree>
  </p:cSld>
  <p:clrMapOvr>
    <a:masterClrMapping/>
  </p:clrMapOvr>
  <p:transition spd="med">
    <p:push dir="l"/>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40"/>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141"/>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Teacher says…</a:t>
            </a:r>
            <a:endParaRPr lang="en-US" sz="2700" dirty="0"/>
          </a:p>
        </p:txBody>
      </p:sp>
      <p:sp>
        <p:nvSpPr>
          <p:cNvPr id="5" name="in_142"/>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Only move if the teacher says 'Teacher says'!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Muoviti solo se l'insegnante dice 'Teacher says'!</a:t>
            </a:r>
            <a:endParaRPr lang="en-US" sz="1400" dirty="0"/>
          </a:p>
        </p:txBody>
      </p:sp>
      <p:sp>
        <p:nvSpPr>
          <p:cNvPr id="6" name="mode_143"/>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MOVE · ⏱ 3 MIN</a:t>
            </a:r>
            <a:endParaRPr lang="en-US" sz="1000" dirty="0"/>
          </a:p>
        </p:txBody>
      </p:sp>
      <p:sp>
        <p:nvSpPr>
          <p:cNvPr id="7" name="cd_144"/>
          <p:cNvSpPr/>
          <p:nvPr/>
        </p:nvSpPr>
        <p:spPr>
          <a:xfrm>
            <a:off x="274320" y="13258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ci_145" descr="/home/claude/movers/img/e-u2head.png">    </p:cNvPr>
          <p:cNvPicPr>
            <a:picLocks noChangeAspect="1"/>
          </p:cNvPicPr>
          <p:nvPr/>
        </p:nvPicPr>
        <p:blipFill>
          <a:blip r:embed="rId2"/>
          <a:stretch>
            <a:fillRect/>
          </a:stretch>
        </p:blipFill>
        <p:spPr>
          <a:xfrm>
            <a:off x="347472" y="1399032"/>
            <a:ext cx="905256" cy="905256"/>
          </a:xfrm>
          <a:prstGeom prst="rect">
            <a:avLst/>
          </a:prstGeom>
        </p:spPr>
      </p:pic>
      <p:sp>
        <p:nvSpPr>
          <p:cNvPr id="9" name="R1_a146"/>
          <p:cNvSpPr/>
          <p:nvPr/>
        </p:nvSpPr>
        <p:spPr>
          <a:xfrm>
            <a:off x="1399032" y="14630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Touch your head!</a:t>
            </a:r>
            <a:endParaRPr lang="en-US" sz="1250" dirty="0"/>
          </a:p>
        </p:txBody>
      </p:sp>
      <p:sp>
        <p:nvSpPr>
          <p:cNvPr id="10" name="cd_147"/>
          <p:cNvSpPr/>
          <p:nvPr/>
        </p:nvSpPr>
        <p:spPr>
          <a:xfrm>
            <a:off x="2423160" y="13258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1" name="ci_148" descr="/home/claude/movers/img/e-u2hand.png">    </p:cNvPr>
          <p:cNvPicPr>
            <a:picLocks noChangeAspect="1"/>
          </p:cNvPicPr>
          <p:nvPr/>
        </p:nvPicPr>
        <p:blipFill>
          <a:blip r:embed="rId3"/>
          <a:stretch>
            <a:fillRect/>
          </a:stretch>
        </p:blipFill>
        <p:spPr>
          <a:xfrm>
            <a:off x="2496312" y="1399032"/>
            <a:ext cx="905256" cy="905256"/>
          </a:xfrm>
          <a:prstGeom prst="rect">
            <a:avLst/>
          </a:prstGeom>
        </p:spPr>
      </p:pic>
      <p:sp>
        <p:nvSpPr>
          <p:cNvPr id="12" name="R2_a149"/>
          <p:cNvSpPr/>
          <p:nvPr/>
        </p:nvSpPr>
        <p:spPr>
          <a:xfrm>
            <a:off x="3547872" y="14630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Wave your hand!</a:t>
            </a:r>
            <a:endParaRPr lang="en-US" sz="1250" dirty="0"/>
          </a:p>
        </p:txBody>
      </p:sp>
      <p:sp>
        <p:nvSpPr>
          <p:cNvPr id="13" name="cd_150"/>
          <p:cNvSpPr/>
          <p:nvPr/>
        </p:nvSpPr>
        <p:spPr>
          <a:xfrm>
            <a:off x="4572000" y="13258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4" name="ci_151" descr="/home/claude/movers/img/e-u2arm.png">    </p:cNvPr>
          <p:cNvPicPr>
            <a:picLocks noChangeAspect="1"/>
          </p:cNvPicPr>
          <p:nvPr/>
        </p:nvPicPr>
        <p:blipFill>
          <a:blip r:embed="rId4"/>
          <a:stretch>
            <a:fillRect/>
          </a:stretch>
        </p:blipFill>
        <p:spPr>
          <a:xfrm>
            <a:off x="4645152" y="1399032"/>
            <a:ext cx="905256" cy="905256"/>
          </a:xfrm>
          <a:prstGeom prst="rect">
            <a:avLst/>
          </a:prstGeom>
        </p:spPr>
      </p:pic>
      <p:sp>
        <p:nvSpPr>
          <p:cNvPr id="15" name="R3_a152"/>
          <p:cNvSpPr/>
          <p:nvPr/>
        </p:nvSpPr>
        <p:spPr>
          <a:xfrm>
            <a:off x="5696712" y="14630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Shake your arm!</a:t>
            </a:r>
            <a:endParaRPr lang="en-US" sz="1250" dirty="0"/>
          </a:p>
        </p:txBody>
      </p:sp>
      <p:sp>
        <p:nvSpPr>
          <p:cNvPr id="16" name="cd_153"/>
          <p:cNvSpPr/>
          <p:nvPr/>
        </p:nvSpPr>
        <p:spPr>
          <a:xfrm>
            <a:off x="6720840" y="13258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7" name="ci_154" descr="/home/claude/movers/img/e-u2foot.png">    </p:cNvPr>
          <p:cNvPicPr>
            <a:picLocks noChangeAspect="1"/>
          </p:cNvPicPr>
          <p:nvPr/>
        </p:nvPicPr>
        <p:blipFill>
          <a:blip r:embed="rId5"/>
          <a:stretch>
            <a:fillRect/>
          </a:stretch>
        </p:blipFill>
        <p:spPr>
          <a:xfrm>
            <a:off x="6793992" y="1399032"/>
            <a:ext cx="905256" cy="905256"/>
          </a:xfrm>
          <a:prstGeom prst="rect">
            <a:avLst/>
          </a:prstGeom>
        </p:spPr>
      </p:pic>
      <p:sp>
        <p:nvSpPr>
          <p:cNvPr id="18" name="R4_a155"/>
          <p:cNvSpPr/>
          <p:nvPr/>
        </p:nvSpPr>
        <p:spPr>
          <a:xfrm>
            <a:off x="7845552" y="14630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Stamp your feet!</a:t>
            </a:r>
            <a:endParaRPr lang="en-US" sz="1250" dirty="0"/>
          </a:p>
        </p:txBody>
      </p:sp>
      <p:sp>
        <p:nvSpPr>
          <p:cNvPr id="19" name="cd_156"/>
          <p:cNvSpPr/>
          <p:nvPr/>
        </p:nvSpPr>
        <p:spPr>
          <a:xfrm>
            <a:off x="274320" y="29260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157" descr="/home/claude/movers/img/e-u2eyes.png">    </p:cNvPr>
          <p:cNvPicPr>
            <a:picLocks noChangeAspect="1"/>
          </p:cNvPicPr>
          <p:nvPr/>
        </p:nvPicPr>
        <p:blipFill>
          <a:blip r:embed="rId6"/>
          <a:stretch>
            <a:fillRect/>
          </a:stretch>
        </p:blipFill>
        <p:spPr>
          <a:xfrm>
            <a:off x="347472" y="2999232"/>
            <a:ext cx="905256" cy="905256"/>
          </a:xfrm>
          <a:prstGeom prst="rect">
            <a:avLst/>
          </a:prstGeom>
        </p:spPr>
      </p:pic>
      <p:sp>
        <p:nvSpPr>
          <p:cNvPr id="21" name="R5_a158"/>
          <p:cNvSpPr/>
          <p:nvPr/>
        </p:nvSpPr>
        <p:spPr>
          <a:xfrm>
            <a:off x="1399032" y="30632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Close your eyes!</a:t>
            </a:r>
            <a:endParaRPr lang="en-US" sz="1250" dirty="0"/>
          </a:p>
        </p:txBody>
      </p:sp>
      <p:sp>
        <p:nvSpPr>
          <p:cNvPr id="22" name="cd_159"/>
          <p:cNvSpPr/>
          <p:nvPr/>
        </p:nvSpPr>
        <p:spPr>
          <a:xfrm>
            <a:off x="2423160" y="29260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160" descr="/home/claude/movers/img/e-u2ear.png">    </p:cNvPr>
          <p:cNvPicPr>
            <a:picLocks noChangeAspect="1"/>
          </p:cNvPicPr>
          <p:nvPr/>
        </p:nvPicPr>
        <p:blipFill>
          <a:blip r:embed="rId7"/>
          <a:stretch>
            <a:fillRect/>
          </a:stretch>
        </p:blipFill>
        <p:spPr>
          <a:xfrm>
            <a:off x="2496312" y="2999232"/>
            <a:ext cx="905256" cy="905256"/>
          </a:xfrm>
          <a:prstGeom prst="rect">
            <a:avLst/>
          </a:prstGeom>
        </p:spPr>
      </p:pic>
      <p:sp>
        <p:nvSpPr>
          <p:cNvPr id="24" name="R6_a161"/>
          <p:cNvSpPr/>
          <p:nvPr/>
        </p:nvSpPr>
        <p:spPr>
          <a:xfrm>
            <a:off x="3547872" y="30632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Touch your ears!</a:t>
            </a:r>
            <a:endParaRPr lang="en-US" sz="1250" dirty="0"/>
          </a:p>
        </p:txBody>
      </p:sp>
      <p:sp>
        <p:nvSpPr>
          <p:cNvPr id="25" name="cd_162"/>
          <p:cNvSpPr/>
          <p:nvPr/>
        </p:nvSpPr>
        <p:spPr>
          <a:xfrm>
            <a:off x="4572000" y="29260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6" name="ci_163" descr="/home/claude/movers/img/e-u2leg.png">    </p:cNvPr>
          <p:cNvPicPr>
            <a:picLocks noChangeAspect="1"/>
          </p:cNvPicPr>
          <p:nvPr/>
        </p:nvPicPr>
        <p:blipFill>
          <a:blip r:embed="rId8"/>
          <a:stretch>
            <a:fillRect/>
          </a:stretch>
        </p:blipFill>
        <p:spPr>
          <a:xfrm>
            <a:off x="4645152" y="2999232"/>
            <a:ext cx="905256" cy="905256"/>
          </a:xfrm>
          <a:prstGeom prst="rect">
            <a:avLst/>
          </a:prstGeom>
        </p:spPr>
      </p:pic>
      <p:sp>
        <p:nvSpPr>
          <p:cNvPr id="27" name="R7_a164"/>
          <p:cNvSpPr/>
          <p:nvPr/>
        </p:nvSpPr>
        <p:spPr>
          <a:xfrm>
            <a:off x="5696712" y="30632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Lift your leg!</a:t>
            </a:r>
            <a:endParaRPr lang="en-US" sz="1250" dirty="0"/>
          </a:p>
        </p:txBody>
      </p:sp>
      <p:sp>
        <p:nvSpPr>
          <p:cNvPr id="28" name="cd_165"/>
          <p:cNvSpPr/>
          <p:nvPr/>
        </p:nvSpPr>
        <p:spPr>
          <a:xfrm>
            <a:off x="6720840" y="29260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9" name="ci_166" descr="/home/claude/movers/img/e-u2nose.png">    </p:cNvPr>
          <p:cNvPicPr>
            <a:picLocks noChangeAspect="1"/>
          </p:cNvPicPr>
          <p:nvPr/>
        </p:nvPicPr>
        <p:blipFill>
          <a:blip r:embed="rId9"/>
          <a:stretch>
            <a:fillRect/>
          </a:stretch>
        </p:blipFill>
        <p:spPr>
          <a:xfrm>
            <a:off x="6793992" y="2999232"/>
            <a:ext cx="905256" cy="905256"/>
          </a:xfrm>
          <a:prstGeom prst="rect">
            <a:avLst/>
          </a:prstGeom>
        </p:spPr>
      </p:pic>
      <p:sp>
        <p:nvSpPr>
          <p:cNvPr id="30" name="R8_a167"/>
          <p:cNvSpPr/>
          <p:nvPr/>
        </p:nvSpPr>
        <p:spPr>
          <a:xfrm>
            <a:off x="7845552" y="30632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Touch your nose!</a:t>
            </a:r>
            <a:endParaRPr lang="en-US" sz="1250" dirty="0"/>
          </a:p>
        </p:txBody>
      </p:sp>
      <p:sp>
        <p:nvSpPr>
          <p:cNvPr id="31" name="bk_168"/>
          <p:cNvSpPr/>
          <p:nvPr/>
        </p:nvSpPr>
        <p:spPr>
          <a:xfrm>
            <a:off x="228600" y="4681728"/>
            <a:ext cx="342442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Warm-up · parts of the body (TB p.24)</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4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69"/>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WATCH</a:t>
            </a:r>
            <a:endParaRPr lang="en-US" sz="1600" dirty="0"/>
          </a:p>
        </p:txBody>
      </p:sp>
      <p:sp>
        <p:nvSpPr>
          <p:cNvPr id="4" name="bm_170"/>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Let's be healthy!</a:t>
            </a:r>
            <a:endParaRPr lang="en-US" sz="2700" dirty="0"/>
          </a:p>
        </p:txBody>
      </p:sp>
      <p:sp>
        <p:nvSpPr>
          <p:cNvPr id="5" name="in_171"/>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Watch the video. What are they doing? Do you do it?</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il video. Cosa fanno? Tu lo fai?</a:t>
            </a:r>
            <a:endParaRPr lang="en-US" sz="1400" dirty="0"/>
          </a:p>
        </p:txBody>
      </p:sp>
      <p:sp>
        <p:nvSpPr>
          <p:cNvPr id="6" name="mode_172"/>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LOOK · 🗣 SPEAK</a:t>
            </a:r>
            <a:endParaRPr lang="en-US" sz="1000" dirty="0"/>
          </a:p>
        </p:txBody>
      </p:sp>
      <p:sp>
        <p:nvSpPr>
          <p:cNvPr id="7" name="pf_173"/>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174" descr="/home/claude/movers/img/crop/u2-p24-photos1.jpg">    </p:cNvPr>
          <p:cNvPicPr>
            <a:picLocks noChangeAspect="1"/>
          </p:cNvPicPr>
          <p:nvPr/>
        </p:nvPicPr>
        <p:blipFill>
          <a:blip r:embed="rId2"/>
          <a:stretch>
            <a:fillRect/>
          </a:stretch>
        </p:blipFill>
        <p:spPr>
          <a:xfrm>
            <a:off x="365760" y="1741242"/>
            <a:ext cx="5120640" cy="2415396"/>
          </a:xfrm>
          <a:prstGeom prst="rect">
            <a:avLst/>
          </a:prstGeom>
        </p:spPr>
      </p:pic>
      <p:sp>
        <p:nvSpPr>
          <p:cNvPr id="9" name="q_175"/>
          <p:cNvSpPr/>
          <p:nvPr/>
        </p:nvSpPr>
        <p:spPr>
          <a:xfrm>
            <a:off x="5760720" y="132588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Photo 1? Do you do it?</a:t>
            </a:r>
            <a:endParaRPr lang="en-US" sz="1250" dirty="0"/>
          </a:p>
        </p:txBody>
      </p:sp>
      <p:sp>
        <p:nvSpPr>
          <p:cNvPr id="10" name="R1_a176"/>
          <p:cNvSpPr/>
          <p:nvPr/>
        </p:nvSpPr>
        <p:spPr>
          <a:xfrm>
            <a:off x="5989320" y="177759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riding a bike 🚲</a:t>
            </a:r>
            <a:endParaRPr lang="en-US" sz="1250" dirty="0"/>
          </a:p>
        </p:txBody>
      </p:sp>
      <p:sp>
        <p:nvSpPr>
          <p:cNvPr id="11" name="q_177"/>
          <p:cNvSpPr/>
          <p:nvPr/>
        </p:nvSpPr>
        <p:spPr>
          <a:xfrm>
            <a:off x="5760720" y="219456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Photo 2? Do you do it?</a:t>
            </a:r>
            <a:endParaRPr lang="en-US" sz="1250" dirty="0"/>
          </a:p>
        </p:txBody>
      </p:sp>
      <p:sp>
        <p:nvSpPr>
          <p:cNvPr id="12" name="R2_a178"/>
          <p:cNvSpPr/>
          <p:nvPr/>
        </p:nvSpPr>
        <p:spPr>
          <a:xfrm>
            <a:off x="5989320" y="264627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swimming 🏊</a:t>
            </a:r>
            <a:endParaRPr lang="en-US" sz="1250" dirty="0"/>
          </a:p>
        </p:txBody>
      </p:sp>
      <p:sp>
        <p:nvSpPr>
          <p:cNvPr id="13" name="q_179"/>
          <p:cNvSpPr/>
          <p:nvPr/>
        </p:nvSpPr>
        <p:spPr>
          <a:xfrm>
            <a:off x="5760720" y="306324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Photo 3? Do you do it?</a:t>
            </a:r>
            <a:endParaRPr lang="en-US" sz="1250" dirty="0"/>
          </a:p>
        </p:txBody>
      </p:sp>
      <p:sp>
        <p:nvSpPr>
          <p:cNvPr id="14" name="R3_a180"/>
          <p:cNvSpPr/>
          <p:nvPr/>
        </p:nvSpPr>
        <p:spPr>
          <a:xfrm>
            <a:off x="5989320" y="351495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playing tennis 🎾</a:t>
            </a:r>
            <a:endParaRPr lang="en-US" sz="1250" dirty="0"/>
          </a:p>
        </p:txBody>
      </p:sp>
      <p:sp>
        <p:nvSpPr>
          <p:cNvPr id="15" name="bk_181"/>
          <p:cNvSpPr/>
          <p:nvPr/>
        </p:nvSpPr>
        <p:spPr>
          <a:xfrm>
            <a:off x="228600" y="4681728"/>
            <a:ext cx="342442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p.24 · 🎬 video · ex.1–2</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8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LOOK</a:t>
            </a:r>
            <a:endParaRPr lang="en-US" sz="1600" dirty="0"/>
          </a:p>
        </p:txBody>
      </p:sp>
      <p:sp>
        <p:nvSpPr>
          <p:cNvPr id="4" name="bm_183"/>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Tick what you do!</a:t>
            </a:r>
            <a:endParaRPr lang="en-US" sz="2700" dirty="0"/>
          </a:p>
        </p:txBody>
      </p:sp>
      <p:sp>
        <p:nvSpPr>
          <p:cNvPr id="5" name="in_184"/>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200" b="1" dirty="0">
                <a:solidFill>
                  <a:srgbClr val="1E2A5A"/>
                </a:solidFill>
                <a:latin typeface="Arial Rounded MT Bold" pitchFamily="34" charset="0"/>
                <a:ea typeface="Arial Rounded MT Bold" pitchFamily="34" charset="-122"/>
                <a:cs typeface="Arial Rounded MT Bold" pitchFamily="34" charset="-120"/>
              </a:rPr>
              <a:t>What are these activities? Tick ✓ the ones you do.</a:t>
            </a:r>
            <a:endParaRPr lang="en-US" sz="1200" dirty="0"/>
          </a:p>
          <a:p>
            <a:pPr indent="0" marL="0">
              <a:buNone/>
            </a:pPr>
            <a:r>
              <a:rPr lang="en-US" sz="1050" i="1" dirty="0">
                <a:solidFill>
                  <a:srgbClr val="2F9BFF"/>
                </a:solidFill>
                <a:latin typeface="Arial Rounded MT Bold" pitchFamily="34" charset="0"/>
                <a:ea typeface="Arial Rounded MT Bold" pitchFamily="34" charset="-122"/>
                <a:cs typeface="Arial Rounded MT Bold" pitchFamily="34" charset="-120"/>
              </a:rPr>
              <a:t>Quali sono queste attività? Spunta ✓ quelle che fai.</a:t>
            </a:r>
            <a:endParaRPr lang="en-US" sz="1200" dirty="0"/>
          </a:p>
        </p:txBody>
      </p:sp>
      <p:sp>
        <p:nvSpPr>
          <p:cNvPr id="6" name="mode_185"/>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ALONE · ✍ TICK</a:t>
            </a:r>
            <a:endParaRPr lang="en-US" sz="1000" dirty="0"/>
          </a:p>
        </p:txBody>
      </p:sp>
      <p:sp>
        <p:nvSpPr>
          <p:cNvPr id="7" name="pf_186"/>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187" descr="/home/claude/movers/img/crop/u2-p24-photos2.jpg">    </p:cNvPr>
          <p:cNvPicPr>
            <a:picLocks noChangeAspect="1"/>
          </p:cNvPicPr>
          <p:nvPr/>
        </p:nvPicPr>
        <p:blipFill>
          <a:blip r:embed="rId2"/>
          <a:stretch>
            <a:fillRect/>
          </a:stretch>
        </p:blipFill>
        <p:spPr>
          <a:xfrm>
            <a:off x="365760" y="1745782"/>
            <a:ext cx="5120640" cy="2406316"/>
          </a:xfrm>
          <a:prstGeom prst="rect">
            <a:avLst/>
          </a:prstGeom>
        </p:spPr>
      </p:pic>
      <p:sp>
        <p:nvSpPr>
          <p:cNvPr id="9" name="q_188"/>
          <p:cNvSpPr/>
          <p:nvPr/>
        </p:nvSpPr>
        <p:spPr>
          <a:xfrm>
            <a:off x="5760720" y="132588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Photo 4? Do you do it?</a:t>
            </a:r>
            <a:endParaRPr lang="en-US" sz="1250" dirty="0"/>
          </a:p>
        </p:txBody>
      </p:sp>
      <p:sp>
        <p:nvSpPr>
          <p:cNvPr id="10" name="R1_a189"/>
          <p:cNvSpPr/>
          <p:nvPr/>
        </p:nvSpPr>
        <p:spPr>
          <a:xfrm>
            <a:off x="5989320" y="177759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roller skating 🛼</a:t>
            </a:r>
            <a:endParaRPr lang="en-US" sz="1250" dirty="0"/>
          </a:p>
        </p:txBody>
      </p:sp>
      <p:sp>
        <p:nvSpPr>
          <p:cNvPr id="11" name="q_190"/>
          <p:cNvSpPr/>
          <p:nvPr/>
        </p:nvSpPr>
        <p:spPr>
          <a:xfrm>
            <a:off x="5760720" y="219456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Photo 5? Do you do it?</a:t>
            </a:r>
            <a:endParaRPr lang="en-US" sz="1250" dirty="0"/>
          </a:p>
        </p:txBody>
      </p:sp>
      <p:sp>
        <p:nvSpPr>
          <p:cNvPr id="12" name="R2_a191"/>
          <p:cNvSpPr/>
          <p:nvPr/>
        </p:nvSpPr>
        <p:spPr>
          <a:xfrm>
            <a:off x="5989320" y="264627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playing basketball 🏀</a:t>
            </a:r>
            <a:endParaRPr lang="en-US" sz="1250" dirty="0"/>
          </a:p>
        </p:txBody>
      </p:sp>
      <p:sp>
        <p:nvSpPr>
          <p:cNvPr id="13" name="q_192"/>
          <p:cNvSpPr/>
          <p:nvPr/>
        </p:nvSpPr>
        <p:spPr>
          <a:xfrm>
            <a:off x="5760720" y="3063240"/>
            <a:ext cx="3017520" cy="451714"/>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Photo 6? Do you do it?</a:t>
            </a:r>
            <a:endParaRPr lang="en-US" sz="1250" dirty="0"/>
          </a:p>
        </p:txBody>
      </p:sp>
      <p:sp>
        <p:nvSpPr>
          <p:cNvPr id="14" name="R3_a193"/>
          <p:cNvSpPr/>
          <p:nvPr/>
        </p:nvSpPr>
        <p:spPr>
          <a:xfrm>
            <a:off x="5989320" y="3514954"/>
            <a:ext cx="2788920" cy="399593"/>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playing football ⚽</a:t>
            </a:r>
            <a:endParaRPr lang="en-US" sz="1250" dirty="0"/>
          </a:p>
        </p:txBody>
      </p:sp>
      <p:sp>
        <p:nvSpPr>
          <p:cNvPr id="15" name="bk_194"/>
          <p:cNvSpPr/>
          <p:nvPr/>
        </p:nvSpPr>
        <p:spPr>
          <a:xfrm>
            <a:off x="228600" y="4681728"/>
            <a:ext cx="241401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p.24 · ex.2</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19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196"/>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Be safe!</a:t>
            </a:r>
            <a:endParaRPr lang="en-US" sz="3200" dirty="0"/>
          </a:p>
        </p:txBody>
      </p:sp>
      <p:sp>
        <p:nvSpPr>
          <p:cNvPr id="5" name="in_197"/>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198"/>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199" descr="/home/claude/movers/img/crop/u2-p24-helmet.jpg">    </p:cNvPr>
          <p:cNvPicPr>
            <a:picLocks noChangeAspect="1"/>
          </p:cNvPicPr>
          <p:nvPr/>
        </p:nvPicPr>
        <p:blipFill>
          <a:blip r:embed="rId2"/>
          <a:stretch>
            <a:fillRect/>
          </a:stretch>
        </p:blipFill>
        <p:spPr>
          <a:xfrm>
            <a:off x="3108960" y="1456390"/>
            <a:ext cx="2926080" cy="2207860"/>
          </a:xfrm>
          <a:prstGeom prst="rect">
            <a:avLst/>
          </a:prstGeom>
        </p:spPr>
      </p:pic>
      <p:sp>
        <p:nvSpPr>
          <p:cNvPr id="8" name="R1_w200"/>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helmet</a:t>
            </a:r>
            <a:endParaRPr lang="en-US" sz="3600" dirty="0"/>
          </a:p>
        </p:txBody>
      </p:sp>
      <p:sp>
        <p:nvSpPr>
          <p:cNvPr id="9" name="R2_it201"/>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casco</a:t>
            </a:r>
            <a:endParaRPr lang="en-US" sz="1600" dirty="0"/>
          </a:p>
        </p:txBody>
      </p:sp>
      <p:sp>
        <p:nvSpPr>
          <p:cNvPr id="10" name="R3_tpr202"/>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Put on your helmet! Click! ⛑️</a:t>
            </a:r>
            <a:endParaRPr lang="en-US" sz="1300" dirty="0"/>
          </a:p>
        </p:txBody>
      </p:sp>
      <p:sp>
        <p:nvSpPr>
          <p:cNvPr id="11" name="n_203"/>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1 / 6</a:t>
            </a:r>
            <a:endParaRPr lang="en-US" sz="1200" dirty="0"/>
          </a:p>
        </p:txBody>
      </p:sp>
      <p:sp>
        <p:nvSpPr>
          <p:cNvPr id="12" name="bk_204"/>
          <p:cNvSpPr/>
          <p:nvPr/>
        </p:nvSpPr>
        <p:spPr>
          <a:xfrm>
            <a:off x="228600" y="4681728"/>
            <a:ext cx="241401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p.24 · ex.3</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0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206"/>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Be safe!</a:t>
            </a:r>
            <a:endParaRPr lang="en-US" sz="3200" dirty="0"/>
          </a:p>
        </p:txBody>
      </p:sp>
      <p:sp>
        <p:nvSpPr>
          <p:cNvPr id="5" name="in_207"/>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208"/>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209" descr="/home/claude/movers/img/crop/u2-p24-pads.jpg">    </p:cNvPr>
          <p:cNvPicPr>
            <a:picLocks noChangeAspect="1"/>
          </p:cNvPicPr>
          <p:nvPr/>
        </p:nvPicPr>
        <p:blipFill>
          <a:blip r:embed="rId2"/>
          <a:stretch>
            <a:fillRect/>
          </a:stretch>
        </p:blipFill>
        <p:spPr>
          <a:xfrm>
            <a:off x="3108960" y="1359523"/>
            <a:ext cx="2926080" cy="2401594"/>
          </a:xfrm>
          <a:prstGeom prst="rect">
            <a:avLst/>
          </a:prstGeom>
        </p:spPr>
      </p:pic>
      <p:sp>
        <p:nvSpPr>
          <p:cNvPr id="8" name="R1_w210"/>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000" b="1" dirty="0">
                <a:ln w="31750">
                  <a:solidFill>
                    <a:srgbClr val="1E2A5A"/>
                  </a:solidFill>
                </a:ln>
                <a:solidFill>
                  <a:srgbClr val="FFD23F"/>
                </a:solidFill>
                <a:latin typeface="Arial Black" pitchFamily="34" charset="0"/>
                <a:ea typeface="Arial Black" pitchFamily="34" charset="-122"/>
                <a:cs typeface="Arial Black" pitchFamily="34" charset="-120"/>
              </a:rPr>
              <a:t>elbow and knee pads</a:t>
            </a:r>
            <a:endParaRPr lang="en-US" sz="3000" dirty="0"/>
          </a:p>
        </p:txBody>
      </p:sp>
      <p:sp>
        <p:nvSpPr>
          <p:cNvPr id="9" name="R2_it211"/>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gomitiere e ginocchiere</a:t>
            </a:r>
            <a:endParaRPr lang="en-US" sz="1600" dirty="0"/>
          </a:p>
        </p:txBody>
      </p:sp>
      <p:sp>
        <p:nvSpPr>
          <p:cNvPr id="10" name="R3_tpr212"/>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Touch your elbows… touch your knees!</a:t>
            </a:r>
            <a:endParaRPr lang="en-US" sz="1300" dirty="0"/>
          </a:p>
        </p:txBody>
      </p:sp>
      <p:sp>
        <p:nvSpPr>
          <p:cNvPr id="11" name="n_213"/>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2 / 6</a:t>
            </a:r>
            <a:endParaRPr lang="en-US" sz="1200" dirty="0"/>
          </a:p>
        </p:txBody>
      </p:sp>
      <p:sp>
        <p:nvSpPr>
          <p:cNvPr id="12" name="bk_214"/>
          <p:cNvSpPr/>
          <p:nvPr/>
        </p:nvSpPr>
        <p:spPr>
          <a:xfrm>
            <a:off x="228600" y="4681728"/>
            <a:ext cx="241401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p.24 · ex.3</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1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216"/>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Be safe!</a:t>
            </a:r>
            <a:endParaRPr lang="en-US" sz="3200" dirty="0"/>
          </a:p>
        </p:txBody>
      </p:sp>
      <p:sp>
        <p:nvSpPr>
          <p:cNvPr id="5" name="in_217"/>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218"/>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219" descr="/home/claude/movers/img/crop/u2-p24-goggles.jpg">    </p:cNvPr>
          <p:cNvPicPr>
            <a:picLocks noChangeAspect="1"/>
          </p:cNvPicPr>
          <p:nvPr/>
        </p:nvPicPr>
        <p:blipFill>
          <a:blip r:embed="rId2"/>
          <a:stretch>
            <a:fillRect/>
          </a:stretch>
        </p:blipFill>
        <p:spPr>
          <a:xfrm>
            <a:off x="3108960" y="1469690"/>
            <a:ext cx="2926080" cy="2181260"/>
          </a:xfrm>
          <a:prstGeom prst="rect">
            <a:avLst/>
          </a:prstGeom>
        </p:spPr>
      </p:pic>
      <p:sp>
        <p:nvSpPr>
          <p:cNvPr id="8" name="R1_w220"/>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goggles</a:t>
            </a:r>
            <a:endParaRPr lang="en-US" sz="3600" dirty="0"/>
          </a:p>
        </p:txBody>
      </p:sp>
      <p:sp>
        <p:nvSpPr>
          <p:cNvPr id="9" name="R2_it221"/>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occhialini</a:t>
            </a:r>
            <a:endParaRPr lang="en-US" sz="1600" dirty="0"/>
          </a:p>
        </p:txBody>
      </p:sp>
      <p:sp>
        <p:nvSpPr>
          <p:cNvPr id="10" name="R3_tpr222"/>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Make goggles with your fingers! 🥽</a:t>
            </a:r>
            <a:endParaRPr lang="en-US" sz="1300" dirty="0"/>
          </a:p>
        </p:txBody>
      </p:sp>
      <p:sp>
        <p:nvSpPr>
          <p:cNvPr id="11" name="n_223"/>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3 / 6</a:t>
            </a:r>
            <a:endParaRPr lang="en-US" sz="1200" dirty="0"/>
          </a:p>
        </p:txBody>
      </p:sp>
      <p:sp>
        <p:nvSpPr>
          <p:cNvPr id="12" name="bk_224"/>
          <p:cNvSpPr/>
          <p:nvPr/>
        </p:nvSpPr>
        <p:spPr>
          <a:xfrm>
            <a:off x="228600" y="4681728"/>
            <a:ext cx="241401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p.24 · ex.3</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2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226"/>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Be safe!</a:t>
            </a:r>
            <a:endParaRPr lang="en-US" sz="3200" dirty="0"/>
          </a:p>
        </p:txBody>
      </p:sp>
      <p:sp>
        <p:nvSpPr>
          <p:cNvPr id="5" name="in_227"/>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228"/>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229" descr="/home/claude/movers/img/crop/u2-p24-gloves.jpg">    </p:cNvPr>
          <p:cNvPicPr>
            <a:picLocks noChangeAspect="1"/>
          </p:cNvPicPr>
          <p:nvPr/>
        </p:nvPicPr>
        <p:blipFill>
          <a:blip r:embed="rId2"/>
          <a:stretch>
            <a:fillRect/>
          </a:stretch>
        </p:blipFill>
        <p:spPr>
          <a:xfrm>
            <a:off x="3108960" y="1428534"/>
            <a:ext cx="2926080" cy="2263571"/>
          </a:xfrm>
          <a:prstGeom prst="rect">
            <a:avLst/>
          </a:prstGeom>
        </p:spPr>
      </p:pic>
      <p:sp>
        <p:nvSpPr>
          <p:cNvPr id="8" name="R1_w230"/>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gloves</a:t>
            </a:r>
            <a:endParaRPr lang="en-US" sz="3600" dirty="0"/>
          </a:p>
        </p:txBody>
      </p:sp>
      <p:sp>
        <p:nvSpPr>
          <p:cNvPr id="9" name="R2_it231"/>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guanti</a:t>
            </a:r>
            <a:endParaRPr lang="en-US" sz="1600" dirty="0"/>
          </a:p>
        </p:txBody>
      </p:sp>
      <p:sp>
        <p:nvSpPr>
          <p:cNvPr id="10" name="R3_tpr232"/>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Put on your gloves – one, two! 🧤</a:t>
            </a:r>
            <a:endParaRPr lang="en-US" sz="1300" dirty="0"/>
          </a:p>
        </p:txBody>
      </p:sp>
      <p:sp>
        <p:nvSpPr>
          <p:cNvPr id="11" name="n_233"/>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4 / 6</a:t>
            </a:r>
            <a:endParaRPr lang="en-US" sz="1200" dirty="0"/>
          </a:p>
        </p:txBody>
      </p:sp>
      <p:sp>
        <p:nvSpPr>
          <p:cNvPr id="12" name="bk_234"/>
          <p:cNvSpPr/>
          <p:nvPr/>
        </p:nvSpPr>
        <p:spPr>
          <a:xfrm>
            <a:off x="228600" y="4681728"/>
            <a:ext cx="241401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p.24 · ex.3</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3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236"/>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Be safe!</a:t>
            </a:r>
            <a:endParaRPr lang="en-US" sz="3200" dirty="0"/>
          </a:p>
        </p:txBody>
      </p:sp>
      <p:sp>
        <p:nvSpPr>
          <p:cNvPr id="5" name="in_237"/>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238"/>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239" descr="/home/claude/movers/img/e-u2warmup.png">    </p:cNvPr>
          <p:cNvPicPr>
            <a:picLocks noChangeAspect="1"/>
          </p:cNvPicPr>
          <p:nvPr/>
        </p:nvPicPr>
        <p:blipFill>
          <a:blip r:embed="rId2"/>
          <a:stretch>
            <a:fillRect/>
          </a:stretch>
        </p:blipFill>
        <p:spPr>
          <a:xfrm>
            <a:off x="3246120" y="1234440"/>
            <a:ext cx="2651760" cy="2651760"/>
          </a:xfrm>
          <a:prstGeom prst="rect">
            <a:avLst/>
          </a:prstGeom>
        </p:spPr>
      </p:pic>
      <p:sp>
        <p:nvSpPr>
          <p:cNvPr id="8" name="R1_w240"/>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warm up</a:t>
            </a:r>
            <a:endParaRPr lang="en-US" sz="3600" dirty="0"/>
          </a:p>
        </p:txBody>
      </p:sp>
      <p:sp>
        <p:nvSpPr>
          <p:cNvPr id="9" name="R2_it241"/>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riscaldarsi</a:t>
            </a:r>
            <a:endParaRPr lang="en-US" sz="1600" dirty="0"/>
          </a:p>
        </p:txBody>
      </p:sp>
      <p:sp>
        <p:nvSpPr>
          <p:cNvPr id="10" name="R3_tpr242"/>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Warm up! Stretch your arms and legs! 🤸</a:t>
            </a:r>
            <a:endParaRPr lang="en-US" sz="1300" dirty="0"/>
          </a:p>
        </p:txBody>
      </p:sp>
      <p:sp>
        <p:nvSpPr>
          <p:cNvPr id="11" name="n_243"/>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5 / 6</a:t>
            </a:r>
            <a:endParaRPr lang="en-US" sz="1200" dirty="0"/>
          </a:p>
        </p:txBody>
      </p:sp>
      <p:sp>
        <p:nvSpPr>
          <p:cNvPr id="12" name="bk_244"/>
          <p:cNvSpPr/>
          <p:nvPr/>
        </p:nvSpPr>
        <p:spPr>
          <a:xfrm>
            <a:off x="228600" y="4681728"/>
            <a:ext cx="241401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p.24 · ex.3</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4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FLASHCARDS</a:t>
            </a:r>
            <a:endParaRPr lang="en-US" sz="1600" dirty="0"/>
          </a:p>
        </p:txBody>
      </p:sp>
      <p:sp>
        <p:nvSpPr>
          <p:cNvPr id="4" name="bm_246"/>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Be safe!</a:t>
            </a:r>
            <a:endParaRPr lang="en-US" sz="3200" dirty="0"/>
          </a:p>
        </p:txBody>
      </p:sp>
      <p:sp>
        <p:nvSpPr>
          <p:cNvPr id="5" name="in_247"/>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Look! Say the word before it appears!</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Guarda! Di' la parola prima che appaia!</a:t>
            </a:r>
            <a:endParaRPr lang="en-US" sz="1400" dirty="0"/>
          </a:p>
        </p:txBody>
      </p:sp>
      <p:sp>
        <p:nvSpPr>
          <p:cNvPr id="6" name="pf_248"/>
          <p:cNvSpPr/>
          <p:nvPr/>
        </p:nvSpPr>
        <p:spPr>
          <a:xfrm>
            <a:off x="3054096" y="1179576"/>
            <a:ext cx="3035808" cy="2761488"/>
          </a:xfrm>
          <a:prstGeom prst="roundRect">
            <a:avLst>
              <a:gd name="adj" fmla="val 3311"/>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7" name="pic_249" descr="/home/claude/movers/img/e-u2suncream.png">    </p:cNvPr>
          <p:cNvPicPr>
            <a:picLocks noChangeAspect="1"/>
          </p:cNvPicPr>
          <p:nvPr/>
        </p:nvPicPr>
        <p:blipFill>
          <a:blip r:embed="rId2"/>
          <a:stretch>
            <a:fillRect/>
          </a:stretch>
        </p:blipFill>
        <p:spPr>
          <a:xfrm>
            <a:off x="3246120" y="1234440"/>
            <a:ext cx="2651760" cy="2651760"/>
          </a:xfrm>
          <a:prstGeom prst="rect">
            <a:avLst/>
          </a:prstGeom>
        </p:spPr>
      </p:pic>
      <p:sp>
        <p:nvSpPr>
          <p:cNvPr id="8" name="R1_w250"/>
          <p:cNvSpPr/>
          <p:nvPr/>
        </p:nvSpPr>
        <p:spPr>
          <a:xfrm>
            <a:off x="2194560" y="4005072"/>
            <a:ext cx="4754880" cy="640080"/>
          </a:xfrm>
          <a:prstGeom prst="rect">
            <a:avLst/>
          </a:prstGeom>
          <a:noFill/>
          <a:ln/>
        </p:spPr>
        <p:txBody>
          <a:bodyPr wrap="square" lIns="0" tIns="0" rIns="0" bIns="0" rtlCol="0" anchor="ctr"/>
          <a:lstStyle/>
          <a:p>
            <a:pPr algn="ctr" indent="0" marL="0">
              <a:buNone/>
            </a:pPr>
            <a:r>
              <a:rPr lang="en-US" sz="3600" b="1" dirty="0">
                <a:ln w="31750">
                  <a:solidFill>
                    <a:srgbClr val="1E2A5A"/>
                  </a:solidFill>
                </a:ln>
                <a:solidFill>
                  <a:srgbClr val="FFD23F"/>
                </a:solidFill>
                <a:latin typeface="Arial Black" pitchFamily="34" charset="0"/>
                <a:ea typeface="Arial Black" pitchFamily="34" charset="-122"/>
                <a:cs typeface="Arial Black" pitchFamily="34" charset="-120"/>
              </a:rPr>
              <a:t>sun cream</a:t>
            </a:r>
            <a:endParaRPr lang="en-US" sz="3600" dirty="0"/>
          </a:p>
        </p:txBody>
      </p:sp>
      <p:sp>
        <p:nvSpPr>
          <p:cNvPr id="9" name="R2_it251"/>
          <p:cNvSpPr/>
          <p:nvPr/>
        </p:nvSpPr>
        <p:spPr>
          <a:xfrm>
            <a:off x="6446520" y="3017520"/>
            <a:ext cx="2423160" cy="502920"/>
          </a:xfrm>
          <a:prstGeom prst="roundRect">
            <a:avLst>
              <a:gd name="adj" fmla="val 21818"/>
            </a:avLst>
          </a:prstGeom>
          <a:solidFill>
            <a:srgbClr val="FFFFFF"/>
          </a:solidFill>
          <a:ln w="25400">
            <a:solidFill>
              <a:srgbClr val="2F9BFF"/>
            </a:solidFill>
          </a:ln>
        </p:spPr>
        <p:txBody>
          <a:bodyPr wrap="square" rtlCol="0" anchor="ctr"/>
          <a:lstStyle/>
          <a:p>
            <a:pPr algn="ctr" indent="0" marL="0">
              <a:buNone/>
            </a:pPr>
            <a:r>
              <a:rPr lang="en-US" sz="1600" i="1" dirty="0">
                <a:solidFill>
                  <a:srgbClr val="2F9BFF"/>
                </a:solidFill>
                <a:latin typeface="Arial" pitchFamily="34" charset="0"/>
                <a:ea typeface="Arial" pitchFamily="34" charset="-122"/>
                <a:cs typeface="Arial" pitchFamily="34" charset="-120"/>
              </a:rPr>
              <a:t>crema solare</a:t>
            </a:r>
            <a:endParaRPr lang="en-US" sz="1600" dirty="0"/>
          </a:p>
        </p:txBody>
      </p:sp>
      <p:sp>
        <p:nvSpPr>
          <p:cNvPr id="10" name="R3_tpr252"/>
          <p:cNvSpPr/>
          <p:nvPr/>
        </p:nvSpPr>
        <p:spPr>
          <a:xfrm>
            <a:off x="228600" y="1325880"/>
            <a:ext cx="2606040" cy="1097280"/>
          </a:xfrm>
          <a:prstGeom prst="roundRect">
            <a:avLst>
              <a:gd name="adj" fmla="val 10000"/>
            </a:avLst>
          </a:prstGeom>
          <a:solidFill>
            <a:srgbClr val="FFFFFF"/>
          </a:solidFill>
          <a:ln w="38100">
            <a:solidFill>
              <a:srgbClr val="FF8A3D"/>
            </a:solidFill>
          </a:ln>
        </p:spPr>
        <p:txBody>
          <a:bodyPr wrap="square" lIns="101600" tIns="101600" rIns="101600" bIns="10160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 TPR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Put sun cream on your face and arms! ☀️</a:t>
            </a:r>
            <a:endParaRPr lang="en-US" sz="1300" dirty="0"/>
          </a:p>
        </p:txBody>
      </p:sp>
      <p:sp>
        <p:nvSpPr>
          <p:cNvPr id="11" name="n_253"/>
          <p:cNvSpPr/>
          <p:nvPr/>
        </p:nvSpPr>
        <p:spPr>
          <a:xfrm>
            <a:off x="7955280" y="4681728"/>
            <a:ext cx="914400" cy="292608"/>
          </a:xfrm>
          <a:prstGeom prst="rect">
            <a:avLst/>
          </a:prstGeom>
          <a:noFill/>
          <a:ln/>
        </p:spPr>
        <p:txBody>
          <a:bodyPr wrap="square" lIns="0" tIns="0" rIns="0" bIns="0" rtlCol="0" anchor="ctr"/>
          <a:lstStyle/>
          <a:p>
            <a:pPr algn="r" indent="0" marL="0">
              <a:buNone/>
            </a:pPr>
            <a:r>
              <a:rPr lang="en-US" sz="1200" dirty="0">
                <a:solidFill>
                  <a:srgbClr val="1E2A5A"/>
                </a:solidFill>
                <a:latin typeface="Arial Black" pitchFamily="34" charset="0"/>
                <a:ea typeface="Arial Black" pitchFamily="34" charset="-122"/>
                <a:cs typeface="Arial Black" pitchFamily="34" charset="-120"/>
              </a:rPr>
              <a:t>6 / 6</a:t>
            </a:r>
            <a:endParaRPr lang="en-US" sz="1200" dirty="0"/>
          </a:p>
        </p:txBody>
      </p:sp>
      <p:sp>
        <p:nvSpPr>
          <p:cNvPr id="12" name="bk_254"/>
          <p:cNvSpPr/>
          <p:nvPr/>
        </p:nvSpPr>
        <p:spPr>
          <a:xfrm>
            <a:off x="228600" y="4681728"/>
            <a:ext cx="241401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p.24 · ex.3</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5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SOUNDS 🕵️</a:t>
            </a:r>
            <a:endParaRPr lang="en-US" sz="1600" dirty="0"/>
          </a:p>
        </p:txBody>
      </p:sp>
      <p:sp>
        <p:nvSpPr>
          <p:cNvPr id="4" name="bm_256"/>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400" b="1" dirty="0">
                <a:ln w="31750">
                  <a:solidFill>
                    <a:srgbClr val="1E2A5A"/>
                  </a:solidFill>
                </a:ln>
                <a:solidFill>
                  <a:srgbClr val="FF8A3D"/>
                </a:solidFill>
                <a:latin typeface="Arial Black" pitchFamily="34" charset="0"/>
                <a:ea typeface="Arial Black" pitchFamily="34" charset="-122"/>
                <a:cs typeface="Arial Black" pitchFamily="34" charset="-120"/>
              </a:rPr>
              <a:t>Silent letter hunt!</a:t>
            </a:r>
            <a:endParaRPr lang="en-US" sz="2400" dirty="0"/>
          </a:p>
        </p:txBody>
      </p:sp>
      <p:sp>
        <p:nvSpPr>
          <p:cNvPr id="5" name="in_257"/>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Some letters are SILENT. Find them!</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Alcune lettere sono MUTE. Trovale!</a:t>
            </a:r>
            <a:endParaRPr lang="en-US" sz="1400" dirty="0"/>
          </a:p>
        </p:txBody>
      </p:sp>
      <p:sp>
        <p:nvSpPr>
          <p:cNvPr id="6" name="mode_258"/>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FIND</a:t>
            </a:r>
            <a:endParaRPr lang="en-US" sz="1000" dirty="0"/>
          </a:p>
        </p:txBody>
      </p:sp>
      <p:sp>
        <p:nvSpPr>
          <p:cNvPr id="7" name="gb_259"/>
          <p:cNvSpPr/>
          <p:nvPr/>
        </p:nvSpPr>
        <p:spPr>
          <a:xfrm>
            <a:off x="320040" y="1280160"/>
            <a:ext cx="8503920" cy="1609344"/>
          </a:xfrm>
          <a:prstGeom prst="roundRect">
            <a:avLst>
              <a:gd name="adj" fmla="val 6818"/>
            </a:avLst>
          </a:prstGeom>
          <a:solidFill>
            <a:srgbClr val="FFF1E0"/>
          </a:solidFill>
          <a:ln w="38100">
            <a:solidFill>
              <a:srgbClr val="FF8A3D"/>
            </a:solidFill>
            <a:prstDash val="solid"/>
          </a:ln>
        </p:spPr>
      </p:sp>
      <p:sp>
        <p:nvSpPr>
          <p:cNvPr id="8" name="gl_260"/>
          <p:cNvSpPr/>
          <p:nvPr/>
        </p:nvSpPr>
        <p:spPr>
          <a:xfrm>
            <a:off x="548640" y="1417320"/>
            <a:ext cx="7223760" cy="365760"/>
          </a:xfrm>
          <a:prstGeom prst="rect">
            <a:avLst/>
          </a:prstGeom>
          <a:noFill/>
          <a:ln/>
        </p:spPr>
        <p:txBody>
          <a:bodyPr wrap="square" lIns="0" tIns="0" rIns="0" bIns="0" rtlCol="0" anchor="ctr"/>
          <a:lstStyle/>
          <a:p>
            <a:pPr indent="0" marL="0">
              <a:buNone/>
            </a:pP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k</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nee – silent k! = NEE</a:t>
            </a:r>
            <a:endParaRPr lang="en-US" sz="1500" dirty="0"/>
          </a:p>
        </p:txBody>
      </p:sp>
      <p:sp>
        <p:nvSpPr>
          <p:cNvPr id="9" name="gl_261"/>
          <p:cNvSpPr/>
          <p:nvPr/>
        </p:nvSpPr>
        <p:spPr>
          <a:xfrm>
            <a:off x="548640" y="1801368"/>
            <a:ext cx="7223760" cy="365760"/>
          </a:xfrm>
          <a:prstGeom prst="rect">
            <a:avLst/>
          </a:prstGeom>
          <a:noFill/>
          <a:ln/>
        </p:spPr>
        <p:txBody>
          <a:bodyPr wrap="square" lIns="0" tIns="0" rIns="0" bIns="0" rtlCol="0" anchor="ctr"/>
          <a:lstStyle/>
          <a:p>
            <a:pPr indent="0" marL="0">
              <a:buNone/>
            </a:pP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HEL</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-met · </a:t>
            </a: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GOG</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-gles (stress the start!)</a:t>
            </a:r>
            <a:endParaRPr lang="en-US" sz="1500" dirty="0"/>
          </a:p>
        </p:txBody>
      </p:sp>
      <p:sp>
        <p:nvSpPr>
          <p:cNvPr id="10" name="gl_262"/>
          <p:cNvSpPr/>
          <p:nvPr/>
        </p:nvSpPr>
        <p:spPr>
          <a:xfrm>
            <a:off x="548640" y="2185416"/>
            <a:ext cx="7223760" cy="365760"/>
          </a:xfrm>
          <a:prstGeom prst="rect">
            <a:avLst/>
          </a:prstGeom>
          <a:noFill/>
          <a:ln/>
        </p:spPr>
        <p:txBody>
          <a:bodyPr wrap="square" lIns="0" tIns="0" rIns="0" bIns="0" rtlCol="0" anchor="ctr"/>
          <a:lstStyle/>
          <a:p>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glove</a:t>
            </a:r>
            <a:pPr indent="0" marL="0">
              <a:buNone/>
            </a:pPr>
            <a:r>
              <a:rPr lang="en-US" sz="1500" b="1" dirty="0">
                <a:solidFill>
                  <a:srgbClr val="F2545B"/>
                </a:solidFill>
                <a:latin typeface="Arial Rounded MT Bold" pitchFamily="34" charset="0"/>
                <a:ea typeface="Arial Rounded MT Bold" pitchFamily="34" charset="-122"/>
                <a:cs typeface="Arial Rounded MT Bold" pitchFamily="34" charset="-120"/>
              </a:rPr>
              <a:t>s</a:t>
            </a:r>
            <a:pPr indent="0" marL="0">
              <a:buNone/>
            </a:pPr>
            <a:r>
              <a:rPr lang="en-US" sz="1500" dirty="0">
                <a:solidFill>
                  <a:srgbClr val="1E2A5A"/>
                </a:solidFill>
                <a:latin typeface="Arial Rounded MT Bold" pitchFamily="34" charset="0"/>
                <a:ea typeface="Arial Rounded MT Bold" pitchFamily="34" charset="-122"/>
                <a:cs typeface="Arial Rounded MT Bold" pitchFamily="34" charset="-120"/>
              </a:rPr>
              <a:t> = zzz at the end 🐝</a:t>
            </a:r>
            <a:endParaRPr lang="en-US" sz="1500" dirty="0"/>
          </a:p>
        </p:txBody>
      </p:sp>
      <p:sp>
        <p:nvSpPr>
          <p:cNvPr id="11" name="pq_263"/>
          <p:cNvSpPr/>
          <p:nvPr/>
        </p:nvSpPr>
        <p:spPr>
          <a:xfrm>
            <a:off x="365760" y="3026664"/>
            <a:ext cx="5669280" cy="457200"/>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muscles – which letter is silent?</a:t>
            </a:r>
            <a:endParaRPr lang="en-US" sz="1300" dirty="0"/>
          </a:p>
        </p:txBody>
      </p:sp>
      <p:sp>
        <p:nvSpPr>
          <p:cNvPr id="12" name="R1_pa264"/>
          <p:cNvSpPr/>
          <p:nvPr/>
        </p:nvSpPr>
        <p:spPr>
          <a:xfrm>
            <a:off x="6126480" y="3026664"/>
            <a:ext cx="2743200" cy="457200"/>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c → MUS-lz 💪</a:t>
            </a:r>
            <a:endParaRPr lang="en-US" sz="1300" dirty="0"/>
          </a:p>
        </p:txBody>
      </p:sp>
      <p:sp>
        <p:nvSpPr>
          <p:cNvPr id="13" name="pq_265"/>
          <p:cNvSpPr/>
          <p:nvPr/>
        </p:nvSpPr>
        <p:spPr>
          <a:xfrm>
            <a:off x="365760" y="3483864"/>
            <a:ext cx="5669280" cy="457200"/>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listen – which letter is silent?</a:t>
            </a:r>
            <a:endParaRPr lang="en-US" sz="1300" dirty="0"/>
          </a:p>
        </p:txBody>
      </p:sp>
      <p:sp>
        <p:nvSpPr>
          <p:cNvPr id="14" name="R2_pa266"/>
          <p:cNvSpPr/>
          <p:nvPr/>
        </p:nvSpPr>
        <p:spPr>
          <a:xfrm>
            <a:off x="6126480" y="3483864"/>
            <a:ext cx="2743200" cy="457200"/>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t → LIS-en 👂</a:t>
            </a:r>
            <a:endParaRPr lang="en-US" sz="1300" dirty="0"/>
          </a:p>
        </p:txBody>
      </p:sp>
      <p:sp>
        <p:nvSpPr>
          <p:cNvPr id="15" name="pq_267"/>
          <p:cNvSpPr/>
          <p:nvPr/>
        </p:nvSpPr>
        <p:spPr>
          <a:xfrm>
            <a:off x="365760" y="3941064"/>
            <a:ext cx="5669280" cy="457200"/>
          </a:xfrm>
          <a:prstGeom prst="rect">
            <a:avLst/>
          </a:prstGeom>
          <a:noFill/>
          <a:ln/>
        </p:spPr>
        <p:txBody>
          <a:bodyPr wrap="square" lIns="0" tIns="0" rIns="0" bIns="0" rtlCol="0" anchor="ctr"/>
          <a:lstStyle/>
          <a:p>
            <a:pPr indent="0" marL="0">
              <a:buNone/>
            </a:pPr>
            <a:r>
              <a:rPr lang="en-US" sz="130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Teacher: 'tow-EL'</a:t>
            </a:r>
            <a:endParaRPr lang="en-US" sz="1300" dirty="0"/>
          </a:p>
        </p:txBody>
      </p:sp>
      <p:sp>
        <p:nvSpPr>
          <p:cNvPr id="16" name="R3_pa268"/>
          <p:cNvSpPr/>
          <p:nvPr/>
        </p:nvSpPr>
        <p:spPr>
          <a:xfrm>
            <a:off x="6126480" y="3941064"/>
            <a:ext cx="2743200" cy="457200"/>
          </a:xfrm>
          <a:prstGeom prst="rect">
            <a:avLst/>
          </a:prstGeom>
          <a:noFill/>
          <a:ln/>
        </p:spPr>
        <p:txBody>
          <a:bodyPr wrap="square" lIns="0" tIns="0" rIns="0" bIns="0" rtlCol="0" anchor="ctr"/>
          <a:lstStyle/>
          <a:p>
            <a:pPr indent="0" marL="0">
              <a:buNone/>
            </a:pPr>
            <a:r>
              <a:rPr lang="en-US" sz="1300" b="1" dirty="0">
                <a:solidFill>
                  <a:srgbClr val="6CCB3B"/>
                </a:solidFill>
                <a:latin typeface="Arial Rounded MT Bold" pitchFamily="34" charset="0"/>
                <a:ea typeface="Arial Rounded MT Bold" pitchFamily="34" charset="-122"/>
                <a:cs typeface="Arial Rounded MT Bold" pitchFamily="34" charset="-120"/>
              </a:rPr>
              <a:t>👎 TOW-el</a:t>
            </a:r>
            <a:endParaRPr lang="en-US" sz="1300" dirty="0"/>
          </a:p>
        </p:txBody>
      </p:sp>
      <p:sp>
        <p:nvSpPr>
          <p:cNvPr id="17" name="bk_269"/>
          <p:cNvSpPr/>
          <p:nvPr/>
        </p:nvSpPr>
        <p:spPr>
          <a:xfrm>
            <a:off x="228600" y="4681728"/>
            <a:ext cx="357987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Pronunciation · silent letters + stress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4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70"/>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READ</a:t>
            </a:r>
            <a:endParaRPr lang="en-US" sz="1600" dirty="0"/>
          </a:p>
        </p:txBody>
      </p:sp>
      <p:sp>
        <p:nvSpPr>
          <p:cNvPr id="4" name="bm_271"/>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Protect your body!</a:t>
            </a:r>
            <a:endParaRPr lang="en-US" sz="2700" dirty="0"/>
          </a:p>
        </p:txBody>
      </p:sp>
      <p:sp>
        <p:nvSpPr>
          <p:cNvPr id="5" name="in_272"/>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350" b="1" dirty="0">
                <a:solidFill>
                  <a:srgbClr val="1E2A5A"/>
                </a:solidFill>
                <a:latin typeface="Arial Rounded MT Bold" pitchFamily="34" charset="0"/>
                <a:ea typeface="Arial Rounded MT Bold" pitchFamily="34" charset="-122"/>
                <a:cs typeface="Arial Rounded MT Bold" pitchFamily="34" charset="-120"/>
              </a:rPr>
              <a:t>Read, look and complete. Then listen and check.</a:t>
            </a:r>
            <a:endParaRPr lang="en-US" sz="1350" dirty="0"/>
          </a:p>
          <a:p>
            <a:pPr indent="0" marL="0">
              <a:buNone/>
            </a:pPr>
            <a:r>
              <a:rPr lang="en-US" sz="1150" i="1" dirty="0">
                <a:solidFill>
                  <a:srgbClr val="2F9BFF"/>
                </a:solidFill>
                <a:latin typeface="Arial Rounded MT Bold" pitchFamily="34" charset="0"/>
                <a:ea typeface="Arial Rounded MT Bold" pitchFamily="34" charset="-122"/>
                <a:cs typeface="Arial Rounded MT Bold" pitchFamily="34" charset="-120"/>
              </a:rPr>
              <a:t>Leggi, guarda e completa. Poi ascolta e controlla.</a:t>
            </a:r>
            <a:endParaRPr lang="en-US" sz="1350" dirty="0"/>
          </a:p>
        </p:txBody>
      </p:sp>
      <p:sp>
        <p:nvSpPr>
          <p:cNvPr id="6" name="mode_273"/>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ALONE · ✍ WRITE</a:t>
            </a:r>
            <a:endParaRPr lang="en-US" sz="1000" dirty="0"/>
          </a:p>
        </p:txBody>
      </p:sp>
      <p:sp>
        <p:nvSpPr>
          <p:cNvPr id="7" name="pf_274"/>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275" descr="/home/claude/movers/img/crop/u2-p24-poster.jpg">    </p:cNvPr>
          <p:cNvPicPr>
            <a:picLocks noChangeAspect="1"/>
          </p:cNvPicPr>
          <p:nvPr/>
        </p:nvPicPr>
        <p:blipFill>
          <a:blip r:embed="rId2"/>
          <a:stretch>
            <a:fillRect/>
          </a:stretch>
        </p:blipFill>
        <p:spPr>
          <a:xfrm>
            <a:off x="816905" y="1325880"/>
            <a:ext cx="4218349" cy="3246120"/>
          </a:xfrm>
          <a:prstGeom prst="rect">
            <a:avLst/>
          </a:prstGeom>
        </p:spPr>
      </p:pic>
      <p:sp>
        <p:nvSpPr>
          <p:cNvPr id="9" name="q_276"/>
          <p:cNvSpPr/>
          <p:nvPr/>
        </p:nvSpPr>
        <p:spPr>
          <a:xfrm>
            <a:off x="5760720" y="132588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We wear ___ to protect our elbows and knees.</a:t>
            </a:r>
            <a:endParaRPr lang="en-US" sz="1250" dirty="0"/>
          </a:p>
        </p:txBody>
      </p:sp>
      <p:sp>
        <p:nvSpPr>
          <p:cNvPr id="10" name="R1_a277"/>
          <p:cNvSpPr/>
          <p:nvPr/>
        </p:nvSpPr>
        <p:spPr>
          <a:xfrm>
            <a:off x="5989320" y="175381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elbow and knee pads (example)</a:t>
            </a:r>
            <a:endParaRPr lang="en-US" sz="1250" dirty="0"/>
          </a:p>
        </p:txBody>
      </p:sp>
      <p:sp>
        <p:nvSpPr>
          <p:cNvPr id="11" name="q_278"/>
          <p:cNvSpPr/>
          <p:nvPr/>
        </p:nvSpPr>
        <p:spPr>
          <a:xfrm>
            <a:off x="5760720" y="214884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We wear ___ to protect our hands.</a:t>
            </a:r>
            <a:endParaRPr lang="en-US" sz="1250" dirty="0"/>
          </a:p>
        </p:txBody>
      </p:sp>
      <p:sp>
        <p:nvSpPr>
          <p:cNvPr id="12" name="R2_a279"/>
          <p:cNvSpPr/>
          <p:nvPr/>
        </p:nvSpPr>
        <p:spPr>
          <a:xfrm>
            <a:off x="5989320" y="257677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gloves</a:t>
            </a:r>
            <a:endParaRPr lang="en-US" sz="1250" dirty="0"/>
          </a:p>
        </p:txBody>
      </p:sp>
      <p:sp>
        <p:nvSpPr>
          <p:cNvPr id="13" name="q_280"/>
          <p:cNvSpPr/>
          <p:nvPr/>
        </p:nvSpPr>
        <p:spPr>
          <a:xfrm>
            <a:off x="5760720" y="297180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We wear a ___ to protect our head.</a:t>
            </a:r>
            <a:endParaRPr lang="en-US" sz="1250" dirty="0"/>
          </a:p>
        </p:txBody>
      </p:sp>
      <p:sp>
        <p:nvSpPr>
          <p:cNvPr id="14" name="R3_a281"/>
          <p:cNvSpPr/>
          <p:nvPr/>
        </p:nvSpPr>
        <p:spPr>
          <a:xfrm>
            <a:off x="5989320" y="339973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helmet</a:t>
            </a:r>
            <a:endParaRPr lang="en-US" sz="1250" dirty="0"/>
          </a:p>
        </p:txBody>
      </p:sp>
      <p:sp>
        <p:nvSpPr>
          <p:cNvPr id="15" name="q_282"/>
          <p:cNvSpPr/>
          <p:nvPr/>
        </p:nvSpPr>
        <p:spPr>
          <a:xfrm>
            <a:off x="5760720" y="379476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We wear ___ to protect our eyes.</a:t>
            </a:r>
            <a:endParaRPr lang="en-US" sz="1250" dirty="0"/>
          </a:p>
        </p:txBody>
      </p:sp>
      <p:sp>
        <p:nvSpPr>
          <p:cNvPr id="16" name="R4_a283"/>
          <p:cNvSpPr/>
          <p:nvPr/>
        </p:nvSpPr>
        <p:spPr>
          <a:xfrm>
            <a:off x="5989320" y="422269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goggles</a:t>
            </a:r>
            <a:endParaRPr lang="en-US" sz="1250" dirty="0"/>
          </a:p>
        </p:txBody>
      </p:sp>
      <p:sp>
        <p:nvSpPr>
          <p:cNvPr id="17" name="bk_284"/>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p.24 · 🎧 1.32</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28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286"/>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6CCB3B"/>
                </a:solidFill>
                <a:latin typeface="Arial Black" pitchFamily="34" charset="0"/>
                <a:ea typeface="Arial Black" pitchFamily="34" charset="-122"/>
                <a:cs typeface="Arial Black" pitchFamily="34" charset="-120"/>
              </a:rPr>
              <a:t>Pictionary!</a:t>
            </a:r>
            <a:endParaRPr lang="en-US" sz="3200" dirty="0"/>
          </a:p>
        </p:txBody>
      </p:sp>
      <p:sp>
        <p:nvSpPr>
          <p:cNvPr id="5" name="in_287"/>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250" b="1" dirty="0">
                <a:solidFill>
                  <a:srgbClr val="1E2A5A"/>
                </a:solidFill>
                <a:latin typeface="Arial Rounded MT Bold" pitchFamily="34" charset="0"/>
                <a:ea typeface="Arial Rounded MT Bold" pitchFamily="34" charset="-122"/>
                <a:cs typeface="Arial Rounded MT Bold" pitchFamily="34" charset="-120"/>
              </a:rPr>
              <a:t>Draw a sport or a safety thing. Your team guesses!</a:t>
            </a:r>
            <a:endParaRPr lang="en-US" sz="125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Disegna uno sport o un oggetto di sicurezza. La tua squadra indovina!</a:t>
            </a:r>
            <a:endParaRPr lang="en-US" sz="1250" dirty="0"/>
          </a:p>
        </p:txBody>
      </p:sp>
      <p:sp>
        <p:nvSpPr>
          <p:cNvPr id="6" name="mode_288"/>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5 MIN</a:t>
            </a:r>
            <a:endParaRPr lang="en-US" sz="1000" dirty="0"/>
          </a:p>
        </p:txBody>
      </p:sp>
      <p:sp>
        <p:nvSpPr>
          <p:cNvPr id="7" name="diff_289"/>
          <p:cNvSpPr/>
          <p:nvPr/>
        </p:nvSpPr>
        <p:spPr>
          <a:xfrm>
            <a:off x="4343400" y="4681728"/>
            <a:ext cx="224028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For ___, you must wear …</a:t>
            </a:r>
            <a:endParaRPr lang="en-US" sz="950" dirty="0"/>
          </a:p>
        </p:txBody>
      </p:sp>
      <p:sp>
        <p:nvSpPr>
          <p:cNvPr id="8" name="diff_290"/>
          <p:cNvSpPr/>
          <p:nvPr/>
        </p:nvSpPr>
        <p:spPr>
          <a:xfrm>
            <a:off x="6675120" y="4681728"/>
            <a:ext cx="2240280" cy="329184"/>
          </a:xfrm>
          <a:prstGeom prst="roundRect">
            <a:avLst>
              <a:gd name="adj" fmla="val 38889"/>
            </a:avLst>
          </a:prstGeom>
          <a:solidFill>
            <a:srgbClr val="FFFFFF"/>
          </a:solidFill>
          <a:ln w="25400">
            <a:solidFill>
              <a:srgbClr val="F2545B"/>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Add: to protect your …</a:t>
            </a:r>
            <a:endParaRPr lang="en-US" sz="950" dirty="0"/>
          </a:p>
        </p:txBody>
      </p:sp>
      <p:sp>
        <p:nvSpPr>
          <p:cNvPr id="9" name="st_291"/>
          <p:cNvSpPr/>
          <p:nvPr/>
        </p:nvSpPr>
        <p:spPr>
          <a:xfrm>
            <a:off x="228600" y="1325880"/>
            <a:ext cx="2651760" cy="975360"/>
          </a:xfrm>
          <a:prstGeom prst="roundRect">
            <a:avLst>
              <a:gd name="adj" fmla="val 11250"/>
            </a:avLst>
          </a:prstGeom>
          <a:solidFill>
            <a:srgbClr val="FFFFFF"/>
          </a:solidFill>
          <a:ln w="38100">
            <a:solidFill>
              <a:srgbClr val="8E5BE8"/>
            </a:solidFill>
            <a:prstDash val="solid"/>
          </a:ln>
          <a:effectLst>
            <a:outerShdw sx="100000" sy="100000" kx="0" ky="0" algn="bl" rotWithShape="0" blurRad="38100" dist="25400" dir="5400000">
              <a:srgbClr val="000000">
                <a:alpha val="18000"/>
              </a:srgbClr>
            </a:outerShdw>
          </a:effectLst>
        </p:spPr>
      </p:sp>
      <p:sp>
        <p:nvSpPr>
          <p:cNvPr id="10" name="sn_292"/>
          <p:cNvSpPr/>
          <p:nvPr/>
        </p:nvSpPr>
        <p:spPr>
          <a:xfrm>
            <a:off x="118872" y="1216152"/>
            <a:ext cx="384048" cy="384048"/>
          </a:xfrm>
          <a:prstGeom prst="ellipse">
            <a:avLst/>
          </a:prstGeom>
          <a:solidFill>
            <a:srgbClr val="8E5BE8"/>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1" name="sk_293"/>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DRAW</a:t>
            </a:r>
            <a:endParaRPr lang="en-US" sz="1300" dirty="0"/>
          </a:p>
        </p:txBody>
      </p:sp>
      <p:sp>
        <p:nvSpPr>
          <p:cNvPr id="12" name="se_294"/>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Draw on the board – no words!</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Disegna alla lavagna – niente parole!</a:t>
            </a:r>
            <a:endParaRPr lang="en-US" sz="1050" dirty="0"/>
          </a:p>
        </p:txBody>
      </p:sp>
      <p:sp>
        <p:nvSpPr>
          <p:cNvPr id="13" name="st_295"/>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4" name="sn_296"/>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5" name="sk_297"/>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6" name="se_298"/>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Team: It's a helmet!</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Squadra: È un casco!</a:t>
            </a:r>
            <a:endParaRPr lang="en-US" sz="1050" dirty="0"/>
          </a:p>
        </p:txBody>
      </p:sp>
      <p:sp>
        <p:nvSpPr>
          <p:cNvPr id="17" name="st_299"/>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8" name="sn_300"/>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9" name="sk_301"/>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20" name="se_302"/>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Say: For skating, you must wear…</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Di': Per pattinare devi indossare…</a:t>
            </a:r>
            <a:endParaRPr lang="en-US" sz="1050" dirty="0"/>
          </a:p>
        </p:txBody>
      </p:sp>
      <p:sp>
        <p:nvSpPr>
          <p:cNvPr id="21" name="cd_303"/>
          <p:cNvSpPr/>
          <p:nvPr/>
        </p:nvSpPr>
        <p:spPr>
          <a:xfrm>
            <a:off x="310896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2" name="ci_304" descr="/home/claude/movers/img/crop/u2-p24-helmet.jpg">    </p:cNvPr>
          <p:cNvPicPr>
            <a:picLocks noChangeAspect="1"/>
          </p:cNvPicPr>
          <p:nvPr/>
        </p:nvPicPr>
        <p:blipFill>
          <a:blip r:embed="rId2"/>
          <a:stretch>
            <a:fillRect/>
          </a:stretch>
        </p:blipFill>
        <p:spPr>
          <a:xfrm>
            <a:off x="3182112" y="1399032"/>
            <a:ext cx="1179576" cy="1179576"/>
          </a:xfrm>
          <a:prstGeom prst="rect">
            <a:avLst/>
          </a:prstGeom>
        </p:spPr>
      </p:pic>
      <p:sp>
        <p:nvSpPr>
          <p:cNvPr id="23" name="cd_305"/>
          <p:cNvSpPr/>
          <p:nvPr/>
        </p:nvSpPr>
        <p:spPr>
          <a:xfrm>
            <a:off x="457200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4" name="ci_306" descr="/home/claude/movers/img/crop/u2-p24-pads.jpg">    </p:cNvPr>
          <p:cNvPicPr>
            <a:picLocks noChangeAspect="1"/>
          </p:cNvPicPr>
          <p:nvPr/>
        </p:nvPicPr>
        <p:blipFill>
          <a:blip r:embed="rId3"/>
          <a:stretch>
            <a:fillRect/>
          </a:stretch>
        </p:blipFill>
        <p:spPr>
          <a:xfrm>
            <a:off x="4645152" y="1399032"/>
            <a:ext cx="1179576" cy="1179576"/>
          </a:xfrm>
          <a:prstGeom prst="rect">
            <a:avLst/>
          </a:prstGeom>
        </p:spPr>
      </p:pic>
      <p:sp>
        <p:nvSpPr>
          <p:cNvPr id="25" name="cd_307"/>
          <p:cNvSpPr/>
          <p:nvPr/>
        </p:nvSpPr>
        <p:spPr>
          <a:xfrm>
            <a:off x="603504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6" name="ci_308" descr="/home/claude/movers/img/crop/u2-p24-goggles.jpg">    </p:cNvPr>
          <p:cNvPicPr>
            <a:picLocks noChangeAspect="1"/>
          </p:cNvPicPr>
          <p:nvPr/>
        </p:nvPicPr>
        <p:blipFill>
          <a:blip r:embed="rId4"/>
          <a:stretch>
            <a:fillRect/>
          </a:stretch>
        </p:blipFill>
        <p:spPr>
          <a:xfrm>
            <a:off x="6108192" y="1399032"/>
            <a:ext cx="1179576" cy="1179576"/>
          </a:xfrm>
          <a:prstGeom prst="rect">
            <a:avLst/>
          </a:prstGeom>
        </p:spPr>
      </p:pic>
      <p:sp>
        <p:nvSpPr>
          <p:cNvPr id="27" name="cd_309"/>
          <p:cNvSpPr/>
          <p:nvPr/>
        </p:nvSpPr>
        <p:spPr>
          <a:xfrm>
            <a:off x="7498080" y="1325880"/>
            <a:ext cx="1325880" cy="1325880"/>
          </a:xfrm>
          <a:prstGeom prst="roundRect">
            <a:avLst>
              <a:gd name="adj" fmla="val 8276"/>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8" name="ci_310" descr="/home/claude/movers/img/crop/u2-p24-gloves.jpg">    </p:cNvPr>
          <p:cNvPicPr>
            <a:picLocks noChangeAspect="1"/>
          </p:cNvPicPr>
          <p:nvPr/>
        </p:nvPicPr>
        <p:blipFill>
          <a:blip r:embed="rId5"/>
          <a:stretch>
            <a:fillRect/>
          </a:stretch>
        </p:blipFill>
        <p:spPr>
          <a:xfrm>
            <a:off x="7571232" y="1399032"/>
            <a:ext cx="1179576" cy="1179576"/>
          </a:xfrm>
          <a:prstGeom prst="rect">
            <a:avLst/>
          </a:prstGeom>
        </p:spPr>
      </p:pic>
      <p:sp>
        <p:nvSpPr>
          <p:cNvPr id="29" name="bk_311"/>
          <p:cNvSpPr/>
          <p:nvPr/>
        </p:nvSpPr>
        <p:spPr>
          <a:xfrm>
            <a:off x="228600" y="4681728"/>
            <a:ext cx="402336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helmet · elbow and knee pads · goggles · gloves</a:t>
            </a:r>
            <a:endParaRPr lang="en-US" sz="1100" dirty="0"/>
          </a:p>
        </p:txBody>
      </p:sp>
    </p:spTree>
  </p:cSld>
  <p:clrMapOvr>
    <a:masterClrMapping/>
  </p:clrMapOvr>
  <p:transition spd="med">
    <p:push dir="l"/>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1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READ</a:t>
            </a:r>
            <a:endParaRPr lang="en-US" sz="1600" dirty="0"/>
          </a:p>
        </p:txBody>
      </p:sp>
      <p:sp>
        <p:nvSpPr>
          <p:cNvPr id="4" name="bm_313"/>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Healthy tips</a:t>
            </a:r>
            <a:endParaRPr lang="en-US" sz="3200" dirty="0"/>
          </a:p>
        </p:txBody>
      </p:sp>
      <p:sp>
        <p:nvSpPr>
          <p:cNvPr id="5" name="in_31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and read. Then say yes or no.</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e leggi. Poi di' yes o no.</a:t>
            </a:r>
            <a:endParaRPr lang="en-US" sz="1400" dirty="0"/>
          </a:p>
        </p:txBody>
      </p:sp>
      <p:sp>
        <p:nvSpPr>
          <p:cNvPr id="6" name="mode_315"/>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LISTEN · 👍👎</a:t>
            </a:r>
            <a:endParaRPr lang="en-US" sz="1000" dirty="0"/>
          </a:p>
        </p:txBody>
      </p:sp>
      <p:sp>
        <p:nvSpPr>
          <p:cNvPr id="7" name="pf_316"/>
          <p:cNvSpPr/>
          <p:nvPr/>
        </p:nvSpPr>
        <p:spPr>
          <a:xfrm>
            <a:off x="310896" y="1271016"/>
            <a:ext cx="523036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317" descr="/home/claude/movers/img/crop/u2-p25-text.jpg">    </p:cNvPr>
          <p:cNvPicPr>
            <a:picLocks noChangeAspect="1"/>
          </p:cNvPicPr>
          <p:nvPr/>
        </p:nvPicPr>
        <p:blipFill>
          <a:blip r:embed="rId2"/>
          <a:stretch>
            <a:fillRect/>
          </a:stretch>
        </p:blipFill>
        <p:spPr>
          <a:xfrm>
            <a:off x="365760" y="1907218"/>
            <a:ext cx="5120640" cy="2083443"/>
          </a:xfrm>
          <a:prstGeom prst="rect">
            <a:avLst/>
          </a:prstGeom>
        </p:spPr>
      </p:pic>
      <p:sp>
        <p:nvSpPr>
          <p:cNvPr id="9" name="q_318"/>
          <p:cNvSpPr/>
          <p:nvPr/>
        </p:nvSpPr>
        <p:spPr>
          <a:xfrm>
            <a:off x="5760720" y="132588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1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We warm up before exercise to look after our skin.</a:t>
            </a:r>
            <a:endParaRPr lang="en-US" sz="1250" dirty="0"/>
          </a:p>
        </p:txBody>
      </p:sp>
      <p:sp>
        <p:nvSpPr>
          <p:cNvPr id="10" name="R1_a319"/>
          <p:cNvSpPr/>
          <p:nvPr/>
        </p:nvSpPr>
        <p:spPr>
          <a:xfrm>
            <a:off x="5989320" y="175381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no ✗ (our muscles)</a:t>
            </a:r>
            <a:endParaRPr lang="en-US" sz="1250" dirty="0"/>
          </a:p>
        </p:txBody>
      </p:sp>
      <p:sp>
        <p:nvSpPr>
          <p:cNvPr id="11" name="q_320"/>
          <p:cNvSpPr/>
          <p:nvPr/>
        </p:nvSpPr>
        <p:spPr>
          <a:xfrm>
            <a:off x="5760720" y="214884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2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We drink water when we get hot.</a:t>
            </a:r>
            <a:endParaRPr lang="en-US" sz="1250" dirty="0"/>
          </a:p>
        </p:txBody>
      </p:sp>
      <p:sp>
        <p:nvSpPr>
          <p:cNvPr id="12" name="R2_a321"/>
          <p:cNvSpPr/>
          <p:nvPr/>
        </p:nvSpPr>
        <p:spPr>
          <a:xfrm>
            <a:off x="5989320" y="257677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yes ✓</a:t>
            </a:r>
            <a:endParaRPr lang="en-US" sz="1250" dirty="0"/>
          </a:p>
        </p:txBody>
      </p:sp>
      <p:sp>
        <p:nvSpPr>
          <p:cNvPr id="13" name="q_322"/>
          <p:cNvSpPr/>
          <p:nvPr/>
        </p:nvSpPr>
        <p:spPr>
          <a:xfrm>
            <a:off x="5760720" y="297180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3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We use sun cream when we play inside.</a:t>
            </a:r>
            <a:endParaRPr lang="en-US" sz="1250" dirty="0"/>
          </a:p>
        </p:txBody>
      </p:sp>
      <p:sp>
        <p:nvSpPr>
          <p:cNvPr id="14" name="R3_a323"/>
          <p:cNvSpPr/>
          <p:nvPr/>
        </p:nvSpPr>
        <p:spPr>
          <a:xfrm>
            <a:off x="5989320" y="339973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no ✗ (outside)</a:t>
            </a:r>
            <a:endParaRPr lang="en-US" sz="1250" dirty="0"/>
          </a:p>
        </p:txBody>
      </p:sp>
      <p:sp>
        <p:nvSpPr>
          <p:cNvPr id="15" name="q_324"/>
          <p:cNvSpPr/>
          <p:nvPr/>
        </p:nvSpPr>
        <p:spPr>
          <a:xfrm>
            <a:off x="5760720" y="3794760"/>
            <a:ext cx="3017520" cy="427939"/>
          </a:xfrm>
          <a:prstGeom prst="rect">
            <a:avLst/>
          </a:prstGeom>
          <a:noFill/>
          <a:ln/>
        </p:spPr>
        <p:txBody>
          <a:bodyPr wrap="square" lIns="0" tIns="0" rIns="0" bIns="0" rtlCol="0" anchor="b"/>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4  </a:t>
            </a:r>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Sun cream is always important when you're outside.</a:t>
            </a:r>
            <a:endParaRPr lang="en-US" sz="1250" dirty="0"/>
          </a:p>
        </p:txBody>
      </p:sp>
      <p:sp>
        <p:nvSpPr>
          <p:cNvPr id="16" name="R4_a325"/>
          <p:cNvSpPr/>
          <p:nvPr/>
        </p:nvSpPr>
        <p:spPr>
          <a:xfrm>
            <a:off x="5989320" y="4222699"/>
            <a:ext cx="2788920" cy="378562"/>
          </a:xfrm>
          <a:prstGeom prst="rect">
            <a:avLst/>
          </a:prstGeom>
          <a:noFill/>
          <a:ln/>
        </p:spPr>
        <p:txBody>
          <a:bodyPr wrap="square" lIns="0" tIns="0" rIns="0" bIns="0" rtlCol="0" anchor="t"/>
          <a:lstStyle/>
          <a:p>
            <a:pPr indent="0" marL="0">
              <a:buNone/>
            </a:pPr>
            <a:r>
              <a:rPr lang="en-US" sz="1250" b="1" dirty="0">
                <a:solidFill>
                  <a:srgbClr val="6CCB3B"/>
                </a:solidFill>
                <a:latin typeface="Arial Rounded MT Bold" pitchFamily="34" charset="0"/>
                <a:ea typeface="Arial Rounded MT Bold" pitchFamily="34" charset="-122"/>
                <a:cs typeface="Arial Rounded MT Bold" pitchFamily="34" charset="-120"/>
              </a:rPr>
              <a:t>yes ✓</a:t>
            </a:r>
            <a:endParaRPr lang="en-US" sz="1250" dirty="0"/>
          </a:p>
        </p:txBody>
      </p:sp>
      <p:sp>
        <p:nvSpPr>
          <p:cNvPr id="17" name="bk_326"/>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p.25 · 🎧 1.33</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27"/>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328"/>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Yes or no? Jump!</a:t>
            </a:r>
            <a:endParaRPr lang="en-US" sz="2700" dirty="0"/>
          </a:p>
        </p:txBody>
      </p:sp>
      <p:sp>
        <p:nvSpPr>
          <p:cNvPr id="5" name="in_329"/>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Listen. YES = jump right ➡️. NO = jump left ⬅️!</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Ascolta. YES = salta a destra. NO = salta a sinistra!</a:t>
            </a:r>
            <a:endParaRPr lang="en-US" sz="1400" dirty="0"/>
          </a:p>
        </p:txBody>
      </p:sp>
      <p:sp>
        <p:nvSpPr>
          <p:cNvPr id="6" name="mode_330"/>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MOVE · ⏱ 4 MIN</a:t>
            </a:r>
            <a:endParaRPr lang="en-US" sz="1000" dirty="0"/>
          </a:p>
        </p:txBody>
      </p:sp>
      <p:sp>
        <p:nvSpPr>
          <p:cNvPr id="7" name="st_331"/>
          <p:cNvSpPr/>
          <p:nvPr/>
        </p:nvSpPr>
        <p:spPr>
          <a:xfrm>
            <a:off x="228600" y="1325880"/>
            <a:ext cx="2651760" cy="975360"/>
          </a:xfrm>
          <a:prstGeom prst="roundRect">
            <a:avLst>
              <a:gd name="adj" fmla="val 11250"/>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8" name="sn_332"/>
          <p:cNvSpPr/>
          <p:nvPr/>
        </p:nvSpPr>
        <p:spPr>
          <a:xfrm>
            <a:off x="118872" y="121615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9" name="sk_333"/>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10" name="se_334"/>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Teacher says a sentence.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L'insegnante dice una frase.</a:t>
            </a:r>
            <a:endParaRPr lang="en-US" sz="1050" dirty="0"/>
          </a:p>
        </p:txBody>
      </p:sp>
      <p:sp>
        <p:nvSpPr>
          <p:cNvPr id="11" name="st_335"/>
          <p:cNvSpPr/>
          <p:nvPr/>
        </p:nvSpPr>
        <p:spPr>
          <a:xfrm>
            <a:off x="228600" y="2392680"/>
            <a:ext cx="2651760" cy="975360"/>
          </a:xfrm>
          <a:prstGeom prst="roundRect">
            <a:avLst>
              <a:gd name="adj" fmla="val 11250"/>
            </a:avLst>
          </a:prstGeom>
          <a:solidFill>
            <a:srgbClr val="FFFFFF"/>
          </a:solidFill>
          <a:ln w="38100">
            <a:solidFill>
              <a:srgbClr val="FF8A3D"/>
            </a:solidFill>
            <a:prstDash val="solid"/>
          </a:ln>
          <a:effectLst>
            <a:outerShdw sx="100000" sy="100000" kx="0" ky="0" algn="bl" rotWithShape="0" blurRad="38100" dist="25400" dir="5400000">
              <a:srgbClr val="000000">
                <a:alpha val="18000"/>
              </a:srgbClr>
            </a:outerShdw>
          </a:effectLst>
        </p:spPr>
      </p:sp>
      <p:sp>
        <p:nvSpPr>
          <p:cNvPr id="12" name="sn_336"/>
          <p:cNvSpPr/>
          <p:nvPr/>
        </p:nvSpPr>
        <p:spPr>
          <a:xfrm>
            <a:off x="118872" y="2282952"/>
            <a:ext cx="384048" cy="384048"/>
          </a:xfrm>
          <a:prstGeom prst="ellipse">
            <a:avLst/>
          </a:prstGeom>
          <a:solidFill>
            <a:srgbClr val="FF8A3D"/>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3" name="sk_337"/>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MOVE</a:t>
            </a:r>
            <a:endParaRPr lang="en-US" sz="1300" dirty="0"/>
          </a:p>
        </p:txBody>
      </p:sp>
      <p:sp>
        <p:nvSpPr>
          <p:cNvPr id="14" name="se_338"/>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Yes → right. No → left.</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Sì → destra. No → sinistra.</a:t>
            </a:r>
            <a:endParaRPr lang="en-US" sz="1050" dirty="0"/>
          </a:p>
        </p:txBody>
      </p:sp>
      <p:sp>
        <p:nvSpPr>
          <p:cNvPr id="15" name="st_339"/>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6" name="sn_340"/>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7" name="sk_341"/>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8" name="se_342"/>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Wrong side? Correct the sentence!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Lato sbagliato? Correggi la frase!</a:t>
            </a:r>
            <a:endParaRPr lang="en-US" sz="1050" dirty="0"/>
          </a:p>
        </p:txBody>
      </p:sp>
      <p:sp>
        <p:nvSpPr>
          <p:cNvPr id="19" name="gl_343"/>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 YES ✓</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 NO ✗</a:t>
            </a:r>
            <a:endParaRPr lang="en-US" sz="1400" dirty="0"/>
          </a:p>
        </p:txBody>
      </p:sp>
      <p:sp>
        <p:nvSpPr>
          <p:cNvPr id="20" name="bk_344"/>
          <p:cNvSpPr/>
          <p:nvPr/>
        </p:nvSpPr>
        <p:spPr>
          <a:xfrm>
            <a:off x="228600" y="4681728"/>
            <a:ext cx="288036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pp.24–25 · review</a:t>
            </a:r>
            <a:endParaRPr lang="en-US" sz="1100" dirty="0"/>
          </a:p>
        </p:txBody>
      </p:sp>
    </p:spTree>
  </p:cSld>
  <p:clrMapOvr>
    <a:masterClrMapping/>
  </p:clrMapOvr>
  <p:transition spd="med">
    <p:push dir="l"/>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4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SPEAK</a:t>
            </a:r>
            <a:endParaRPr lang="en-US" sz="1600" dirty="0"/>
          </a:p>
        </p:txBody>
      </p:sp>
      <p:sp>
        <p:nvSpPr>
          <p:cNvPr id="4" name="bm_346"/>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5DA2"/>
                </a:solidFill>
                <a:latin typeface="Arial Black" pitchFamily="34" charset="0"/>
                <a:ea typeface="Arial Black" pitchFamily="34" charset="-122"/>
                <a:cs typeface="Arial Black" pitchFamily="34" charset="-120"/>
              </a:rPr>
              <a:t>My favourite sport</a:t>
            </a:r>
            <a:endParaRPr lang="en-US" sz="2700" dirty="0"/>
          </a:p>
        </p:txBody>
      </p:sp>
      <p:sp>
        <p:nvSpPr>
          <p:cNvPr id="5" name="in_347"/>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200" b="1" dirty="0">
                <a:solidFill>
                  <a:srgbClr val="1E2A5A"/>
                </a:solidFill>
                <a:latin typeface="Arial Rounded MT Bold" pitchFamily="34" charset="0"/>
                <a:ea typeface="Arial Rounded MT Bold" pitchFamily="34" charset="-122"/>
                <a:cs typeface="Arial Rounded MT Bold" pitchFamily="34" charset="-120"/>
              </a:rPr>
              <a:t>Tell a partner about your favourite sport or activity.</a:t>
            </a:r>
            <a:endParaRPr lang="en-US" sz="1200" dirty="0"/>
          </a:p>
          <a:p>
            <a:pPr indent="0" marL="0">
              <a:buNone/>
            </a:pPr>
            <a:r>
              <a:rPr lang="en-US" sz="1050" i="1" dirty="0">
                <a:solidFill>
                  <a:srgbClr val="2F9BFF"/>
                </a:solidFill>
                <a:latin typeface="Arial Rounded MT Bold" pitchFamily="34" charset="0"/>
                <a:ea typeface="Arial Rounded MT Bold" pitchFamily="34" charset="-122"/>
                <a:cs typeface="Arial Rounded MT Bold" pitchFamily="34" charset="-120"/>
              </a:rPr>
              <a:t>Parla a un compagno del tuo sport o attività preferita.</a:t>
            </a:r>
            <a:endParaRPr lang="en-US" sz="1200" dirty="0"/>
          </a:p>
        </p:txBody>
      </p:sp>
      <p:sp>
        <p:nvSpPr>
          <p:cNvPr id="6" name="mode_348"/>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4 MIN</a:t>
            </a:r>
            <a:endParaRPr lang="en-US" sz="1000" dirty="0"/>
          </a:p>
        </p:txBody>
      </p:sp>
      <p:sp>
        <p:nvSpPr>
          <p:cNvPr id="7" name="diff_349"/>
          <p:cNvSpPr/>
          <p:nvPr/>
        </p:nvSpPr>
        <p:spPr>
          <a:xfrm>
            <a:off x="4343400" y="4681728"/>
            <a:ext cx="2240280" cy="329184"/>
          </a:xfrm>
          <a:prstGeom prst="roundRect">
            <a:avLst>
              <a:gd name="adj" fmla="val 38889"/>
            </a:avLst>
          </a:prstGeom>
          <a:solidFill>
            <a:srgbClr val="FFFFFF"/>
          </a:solidFill>
          <a:ln w="25400">
            <a:solidFill>
              <a:srgbClr val="FFD23F"/>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I like… I go on… I must…</a:t>
            </a:r>
            <a:endParaRPr lang="en-US" sz="950" dirty="0"/>
          </a:p>
        </p:txBody>
      </p:sp>
      <p:sp>
        <p:nvSpPr>
          <p:cNvPr id="8" name="diff_350"/>
          <p:cNvSpPr/>
          <p:nvPr/>
        </p:nvSpPr>
        <p:spPr>
          <a:xfrm>
            <a:off x="6675120" y="4681728"/>
            <a:ext cx="2240280" cy="329184"/>
          </a:xfrm>
          <a:prstGeom prst="roundRect">
            <a:avLst>
              <a:gd name="adj" fmla="val 38889"/>
            </a:avLst>
          </a:prstGeom>
          <a:solidFill>
            <a:srgbClr val="FFFFFF"/>
          </a:solidFill>
          <a:ln w="25400">
            <a:solidFill>
              <a:srgbClr val="F2545B"/>
            </a:solidFill>
          </a:ln>
        </p:spPr>
        <p:txBody>
          <a:bodyPr wrap="square" lIns="50800" tIns="50800" rIns="50800" bIns="50800" rtlCol="0" anchor="ctr">
            <a:normAutofit/>
          </a:bodyPr>
          <a:lstStyle/>
          <a:p>
            <a:pPr indent="0" marL="0">
              <a:buNone/>
            </a:pPr>
            <a:r>
              <a:rPr lang="en-US" sz="950" dirty="0">
                <a:solidFill>
                  <a:srgbClr val="1E2A5A"/>
                </a:solidFill>
                <a:latin typeface="Arial Rounded MT Bold" pitchFamily="34" charset="0"/>
                <a:ea typeface="Arial Rounded MT Bold" pitchFamily="34" charset="-122"/>
                <a:cs typeface="Arial Rounded MT Bold" pitchFamily="34" charset="-120"/>
              </a:rPr>
              <a:t>🔥 Add: I never / always …</a:t>
            </a:r>
            <a:endParaRPr lang="en-US" sz="950" dirty="0"/>
          </a:p>
        </p:txBody>
      </p:sp>
      <p:sp>
        <p:nvSpPr>
          <p:cNvPr id="9" name="st_351"/>
          <p:cNvSpPr/>
          <p:nvPr/>
        </p:nvSpPr>
        <p:spPr>
          <a:xfrm>
            <a:off x="228600" y="1325880"/>
            <a:ext cx="2651760" cy="975360"/>
          </a:xfrm>
          <a:prstGeom prst="roundRect">
            <a:avLst>
              <a:gd name="adj" fmla="val 11250"/>
            </a:avLst>
          </a:prstGeom>
          <a:solidFill>
            <a:srgbClr val="FFFFFF"/>
          </a:solidFill>
          <a:ln w="38100">
            <a:solidFill>
              <a:srgbClr val="2F9BFF"/>
            </a:solidFill>
            <a:prstDash val="solid"/>
          </a:ln>
          <a:effectLst>
            <a:outerShdw sx="100000" sy="100000" kx="0" ky="0" algn="bl" rotWithShape="0" blurRad="38100" dist="25400" dir="5400000">
              <a:srgbClr val="000000">
                <a:alpha val="18000"/>
              </a:srgbClr>
            </a:outerShdw>
          </a:effectLst>
        </p:spPr>
      </p:sp>
      <p:sp>
        <p:nvSpPr>
          <p:cNvPr id="10" name="sn_352"/>
          <p:cNvSpPr/>
          <p:nvPr/>
        </p:nvSpPr>
        <p:spPr>
          <a:xfrm>
            <a:off x="118872" y="1216152"/>
            <a:ext cx="384048" cy="384048"/>
          </a:xfrm>
          <a:prstGeom prst="ellipse">
            <a:avLst/>
          </a:prstGeom>
          <a:solidFill>
            <a:srgbClr val="2F9BF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1" name="sk_353"/>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LISTEN</a:t>
            </a:r>
            <a:endParaRPr lang="en-US" sz="1300" dirty="0"/>
          </a:p>
        </p:txBody>
      </p:sp>
      <p:sp>
        <p:nvSpPr>
          <p:cNvPr id="12" name="se_354"/>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Teacher's model.</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Il modello dell'insegnante.</a:t>
            </a:r>
            <a:endParaRPr lang="en-US" sz="1050" dirty="0"/>
          </a:p>
        </p:txBody>
      </p:sp>
      <p:sp>
        <p:nvSpPr>
          <p:cNvPr id="13" name="st_355"/>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4" name="sn_356"/>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5" name="sk_357"/>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6" name="se_358"/>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Tell your partner.</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Racconta al compagno.</a:t>
            </a:r>
            <a:endParaRPr lang="en-US" sz="1050" dirty="0"/>
          </a:p>
        </p:txBody>
      </p:sp>
      <p:sp>
        <p:nvSpPr>
          <p:cNvPr id="17" name="st_359"/>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8" name="sn_360"/>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9" name="sk_361"/>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20" name="se_362"/>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Tell the class about your partner!</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Racconta alla classe del compagno!</a:t>
            </a:r>
            <a:endParaRPr lang="en-US" sz="1050" dirty="0"/>
          </a:p>
        </p:txBody>
      </p:sp>
      <p:sp>
        <p:nvSpPr>
          <p:cNvPr id="21" name="gl_363"/>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I like horse riding. 🐴</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I go on Saturdays.</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I must wear a helmet and boots.</a:t>
            </a:r>
            <a:endParaRPr lang="en-US" sz="1400" dirty="0"/>
          </a:p>
        </p:txBody>
      </p:sp>
      <p:sp>
        <p:nvSpPr>
          <p:cNvPr id="22" name="bk_364"/>
          <p:cNvSpPr/>
          <p:nvPr/>
        </p:nvSpPr>
        <p:spPr>
          <a:xfrm>
            <a:off x="228600" y="4681728"/>
            <a:ext cx="241401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p.25 · ex.5</a:t>
            </a:r>
            <a:endParaRPr lang="en-US" sz="1100" dirty="0"/>
          </a:p>
        </p:txBody>
      </p:sp>
    </p:spTree>
  </p:cSld>
  <p:clrMapOvr>
    <a:masterClrMapping/>
  </p:clrMapOvr>
  <p:transition spd="med">
    <p:push dir="l"/>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65"/>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MISSION</a:t>
            </a:r>
            <a:endParaRPr lang="en-US" sz="1600" dirty="0"/>
          </a:p>
        </p:txBody>
      </p:sp>
      <p:sp>
        <p:nvSpPr>
          <p:cNvPr id="4" name="bm_366"/>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FFD23F"/>
                </a:solidFill>
                <a:latin typeface="Arial Black" pitchFamily="34" charset="0"/>
                <a:ea typeface="Arial Black" pitchFamily="34" charset="-122"/>
                <a:cs typeface="Arial Black" pitchFamily="34" charset="-120"/>
              </a:rPr>
              <a:t>Mission Stage 3</a:t>
            </a:r>
            <a:endParaRPr lang="en-US" sz="2700" dirty="0"/>
          </a:p>
        </p:txBody>
      </p:sp>
      <p:sp>
        <p:nvSpPr>
          <p:cNvPr id="5" name="in_367"/>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100" b="1" dirty="0">
                <a:solidFill>
                  <a:srgbClr val="1E2A5A"/>
                </a:solidFill>
                <a:latin typeface="Arial Rounded MT Bold" pitchFamily="34" charset="0"/>
                <a:ea typeface="Arial Rounded MT Bold" pitchFamily="34" charset="-122"/>
                <a:cs typeface="Arial Rounded MT Bold" pitchFamily="34" charset="-120"/>
              </a:rPr>
              <a:t>Write important information. What must your friends do to be safe?</a:t>
            </a:r>
            <a:endParaRPr lang="en-US" sz="1100" dirty="0"/>
          </a:p>
          <a:p>
            <a:pPr indent="0" marL="0">
              <a:buNone/>
            </a:pPr>
            <a:r>
              <a:rPr lang="en-US" sz="950" i="1" dirty="0">
                <a:solidFill>
                  <a:srgbClr val="2F9BFF"/>
                </a:solidFill>
                <a:latin typeface="Arial Rounded MT Bold" pitchFamily="34" charset="0"/>
                <a:ea typeface="Arial Rounded MT Bold" pitchFamily="34" charset="-122"/>
                <a:cs typeface="Arial Rounded MT Bold" pitchFamily="34" charset="-120"/>
              </a:rPr>
              <a:t>Scrivi informazioni importanti. Cosa devono fare i tuoi amici per stare al sicuro?</a:t>
            </a:r>
            <a:endParaRPr lang="en-US" sz="1100" dirty="0"/>
          </a:p>
        </p:txBody>
      </p:sp>
      <p:sp>
        <p:nvSpPr>
          <p:cNvPr id="6" name="mode_368"/>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PAIRS · ⏱ 6 MIN</a:t>
            </a:r>
            <a:endParaRPr lang="en-US" sz="1000" dirty="0"/>
          </a:p>
        </p:txBody>
      </p:sp>
      <p:sp>
        <p:nvSpPr>
          <p:cNvPr id="7" name="pf_369"/>
          <p:cNvSpPr/>
          <p:nvPr/>
        </p:nvSpPr>
        <p:spPr>
          <a:xfrm>
            <a:off x="310896" y="1271016"/>
            <a:ext cx="8522208" cy="3355848"/>
          </a:xfrm>
          <a:prstGeom prst="roundRect">
            <a:avLst>
              <a:gd name="adj" fmla="val 272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pic_370" descr="/home/claude/movers/img/crop/u2-p25-mission.jpg">    </p:cNvPr>
          <p:cNvPicPr>
            <a:picLocks noChangeAspect="1"/>
          </p:cNvPicPr>
          <p:nvPr/>
        </p:nvPicPr>
        <p:blipFill>
          <a:blip r:embed="rId2"/>
          <a:stretch>
            <a:fillRect/>
          </a:stretch>
        </p:blipFill>
        <p:spPr>
          <a:xfrm>
            <a:off x="803436" y="1325880"/>
            <a:ext cx="7537128" cy="3246120"/>
          </a:xfrm>
          <a:prstGeom prst="rect">
            <a:avLst/>
          </a:prstGeom>
        </p:spPr>
      </p:pic>
      <p:sp>
        <p:nvSpPr>
          <p:cNvPr id="9" name="bk_371"/>
          <p:cNvSpPr/>
          <p:nvPr/>
        </p:nvSpPr>
        <p:spPr>
          <a:xfrm>
            <a:off x="228600" y="4681728"/>
            <a:ext cx="3268980"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Pupil's Book p.25 · Mission Stage 3</a:t>
            </a:r>
            <a:endParaRPr lang="en-US" sz="1100" dirty="0"/>
          </a:p>
        </p:txBody>
      </p:sp>
    </p:spTree>
  </p:cSld>
  <p:clrMapOvr>
    <a:masterClrMapping/>
  </p:clrMapOvr>
  <p:transition spd="med">
    <p:push dir="l"/>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72"/>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WELL DONE!</a:t>
            </a:r>
            <a:endParaRPr lang="en-US" sz="1600" dirty="0"/>
          </a:p>
        </p:txBody>
      </p:sp>
      <p:sp>
        <p:nvSpPr>
          <p:cNvPr id="4" name="bm_373"/>
          <p:cNvSpPr/>
          <p:nvPr/>
        </p:nvSpPr>
        <p:spPr>
          <a:xfrm rot="-120000">
            <a:off x="228600" y="493776"/>
            <a:ext cx="384048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3200" b="1" dirty="0">
                <a:ln w="31750">
                  <a:solidFill>
                    <a:srgbClr val="1E2A5A"/>
                  </a:solidFill>
                </a:ln>
                <a:solidFill>
                  <a:srgbClr val="FFD23F"/>
                </a:solidFill>
                <a:latin typeface="Arial Black" pitchFamily="34" charset="0"/>
                <a:ea typeface="Arial Black" pitchFamily="34" charset="-122"/>
                <a:cs typeface="Arial Black" pitchFamily="34" charset="-120"/>
              </a:rPr>
              <a:t>Bye bye! 👋</a:t>
            </a:r>
            <a:endParaRPr lang="en-US" sz="3200" dirty="0"/>
          </a:p>
        </p:txBody>
      </p:sp>
      <p:sp>
        <p:nvSpPr>
          <p:cNvPr id="5" name="in_374"/>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Today I can… · Oggi so…</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Show me with your thumbs! 👍 👌 👎</a:t>
            </a:r>
            <a:endParaRPr lang="en-US" sz="1400" dirty="0"/>
          </a:p>
        </p:txBody>
      </p:sp>
      <p:sp>
        <p:nvSpPr>
          <p:cNvPr id="6" name="can_375"/>
          <p:cNvSpPr/>
          <p:nvPr/>
        </p:nvSpPr>
        <p:spPr>
          <a:xfrm>
            <a:off x="320040" y="132588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name 4 things that protect my body.</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So nominare 4 cose che proteggono il corpo.</a:t>
            </a:r>
            <a:endParaRPr lang="en-US" sz="1300" dirty="0"/>
          </a:p>
        </p:txBody>
      </p:sp>
      <p:sp>
        <p:nvSpPr>
          <p:cNvPr id="7" name="can_376"/>
          <p:cNvSpPr/>
          <p:nvPr/>
        </p:nvSpPr>
        <p:spPr>
          <a:xfrm>
            <a:off x="320040" y="205740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say knee and muscles well.</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So pronunciare bene knee e muscles.</a:t>
            </a:r>
            <a:endParaRPr lang="en-US" sz="1300" dirty="0"/>
          </a:p>
        </p:txBody>
      </p:sp>
      <p:sp>
        <p:nvSpPr>
          <p:cNvPr id="8" name="can_377"/>
          <p:cNvSpPr/>
          <p:nvPr/>
        </p:nvSpPr>
        <p:spPr>
          <a:xfrm>
            <a:off x="320040" y="2788920"/>
            <a:ext cx="4754880" cy="658368"/>
          </a:xfrm>
          <a:prstGeom prst="roundRect">
            <a:avLst>
              <a:gd name="adj" fmla="val 16667"/>
            </a:avLst>
          </a:prstGeom>
          <a:solidFill>
            <a:srgbClr val="FFFFFF"/>
          </a:solidFill>
          <a:ln w="31750">
            <a:solidFill>
              <a:srgbClr val="6CCB3B"/>
            </a:solidFill>
          </a:ln>
        </p:spPr>
        <p:txBody>
          <a:bodyPr wrap="square" lIns="101600" tIns="101600" rIns="101600" bIns="101600" rtlCol="0" anchor="ctr"/>
          <a:lstStyle/>
          <a:p>
            <a:pPr indent="0" marL="0">
              <a:buNone/>
            </a:pPr>
            <a:r>
              <a:rPr lang="en-US" sz="1300" dirty="0">
                <a:solidFill>
                  <a:srgbClr val="1E2A5A"/>
                </a:solidFill>
                <a:latin typeface="Arial Rounded MT Bold" pitchFamily="34" charset="0"/>
                <a:ea typeface="Arial Rounded MT Bold" pitchFamily="34" charset="-122"/>
                <a:cs typeface="Arial Rounded MT Bold" pitchFamily="34" charset="-120"/>
              </a:rPr>
              <a:t>⭐ </a:t>
            </a:r>
            <a:pPr indent="0" marL="0">
              <a:buNone/>
            </a:pPr>
            <a:r>
              <a:rPr lang="en-US" sz="1300" b="1" dirty="0">
                <a:solidFill>
                  <a:srgbClr val="1E2A5A"/>
                </a:solidFill>
                <a:latin typeface="Arial Rounded MT Bold" pitchFamily="34" charset="0"/>
                <a:ea typeface="Arial Rounded MT Bold" pitchFamily="34" charset="-122"/>
                <a:cs typeface="Arial Rounded MT Bold" pitchFamily="34" charset="-120"/>
              </a:rPr>
              <a:t>I can say what we must do to be safe.</a:t>
            </a:r>
            <a:endParaRPr lang="en-US" sz="1300" dirty="0"/>
          </a:p>
          <a:p>
            <a:pPr indent="0" marL="0">
              <a:buNone/>
            </a:pPr>
            <a:r>
              <a:rPr lang="en-US" sz="1100" i="1" dirty="0">
                <a:solidFill>
                  <a:srgbClr val="2F9BFF"/>
                </a:solidFill>
                <a:latin typeface="Arial Rounded MT Bold" pitchFamily="34" charset="0"/>
                <a:ea typeface="Arial Rounded MT Bold" pitchFamily="34" charset="-122"/>
                <a:cs typeface="Arial Rounded MT Bold" pitchFamily="34" charset="-120"/>
              </a:rPr>
              <a:t>So dire cosa dobbiamo fare per stare al sicuro.</a:t>
            </a:r>
            <a:endParaRPr lang="en-US" sz="1300" dirty="0"/>
          </a:p>
        </p:txBody>
      </p:sp>
      <p:sp>
        <p:nvSpPr>
          <p:cNvPr id="9" name="hw_378"/>
          <p:cNvSpPr/>
          <p:nvPr/>
        </p:nvSpPr>
        <p:spPr>
          <a:xfrm>
            <a:off x="5303520" y="1325880"/>
            <a:ext cx="3566160" cy="2377440"/>
          </a:xfrm>
          <a:prstGeom prst="roundRect">
            <a:avLst>
              <a:gd name="adj" fmla="val 4615"/>
            </a:avLst>
          </a:prstGeom>
          <a:solidFill>
            <a:srgbClr val="FFFFFF"/>
          </a:solidFill>
          <a:ln w="38100">
            <a:solidFill>
              <a:srgbClr val="FF8A3D"/>
            </a:solidFill>
          </a:ln>
        </p:spPr>
        <p:txBody>
          <a:bodyPr wrap="square" lIns="127000" tIns="127000" rIns="127000" bIns="127000" rtlCol="0" anchor="t"/>
          <a:lstStyle/>
          <a:p>
            <a:pPr indent="0" marL="0">
              <a:buNone/>
            </a:pPr>
            <a:r>
              <a:rPr lang="en-US" sz="1250" b="1" dirty="0">
                <a:solidFill>
                  <a:srgbClr val="FF8A3D"/>
                </a:solidFill>
                <a:latin typeface="Arial Rounded MT Bold" pitchFamily="34" charset="0"/>
                <a:ea typeface="Arial Rounded MT Bold" pitchFamily="34" charset="-122"/>
                <a:cs typeface="Arial Rounded MT Bold" pitchFamily="34" charset="-120"/>
              </a:rPr>
              <a:t>🏠 HOMEWORK · COMPITI</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Homework sheet</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Activity Book p.24: ex.1–3</a:t>
            </a:r>
            <a:endParaRPr lang="en-US" sz="1250" dirty="0"/>
          </a:p>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 Activity Book p.25: ex.4 and 5</a:t>
            </a:r>
            <a:endParaRPr lang="en-US" sz="1250" dirty="0"/>
          </a:p>
        </p:txBody>
      </p:sp>
      <p:sp>
        <p:nvSpPr>
          <p:cNvPr id="10" name="nx_379"/>
          <p:cNvSpPr/>
          <p:nvPr/>
        </p:nvSpPr>
        <p:spPr>
          <a:xfrm>
            <a:off x="5303520" y="3840480"/>
            <a:ext cx="3566160" cy="502920"/>
          </a:xfrm>
          <a:prstGeom prst="rect">
            <a:avLst/>
          </a:prstGeom>
          <a:noFill/>
          <a:ln/>
        </p:spPr>
        <p:txBody>
          <a:bodyPr wrap="square" lIns="0" tIns="0" rIns="0" bIns="0" rtlCol="0" anchor="ctr"/>
          <a:lstStyle/>
          <a:p>
            <a:pPr indent="0" marL="0">
              <a:buNone/>
            </a:pPr>
            <a:r>
              <a:rPr lang="en-US" sz="1200" dirty="0">
                <a:solidFill>
                  <a:srgbClr val="1E2A5A"/>
                </a:solidFill>
                <a:latin typeface="Arial Rounded MT Bold" pitchFamily="34" charset="0"/>
                <a:ea typeface="Arial Rounded MT Bold" pitchFamily="34" charset="-122"/>
                <a:cs typeface="Arial Rounded MT Bold" pitchFamily="34" charset="-120"/>
              </a:rPr>
              <a:t>➡ Next: a story – A bad, bad Monday morning!</a:t>
            </a:r>
            <a:endParaRPr lang="en-US" sz="1200" dirty="0"/>
          </a:p>
        </p:txBody>
      </p:sp>
    </p:spTree>
  </p:cSld>
  <p:clrMapOvr>
    <a:masterClrMapping/>
  </p:clrMapOvr>
  <p:transition spd="med">
    <p:push dir="l"/>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380"/>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381"/>
          <p:cNvSpPr/>
          <p:nvPr/>
        </p:nvSpPr>
        <p:spPr>
          <a:xfrm rot="-120000">
            <a:off x="228600" y="493776"/>
            <a:ext cx="457200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EXTRA: Get ready!</a:t>
            </a:r>
            <a:endParaRPr lang="en-US" sz="2700" dirty="0"/>
          </a:p>
        </p:txBody>
      </p:sp>
      <p:sp>
        <p:nvSpPr>
          <p:cNvPr id="5" name="in_382"/>
          <p:cNvSpPr/>
          <p:nvPr/>
        </p:nvSpPr>
        <p:spPr>
          <a:xfrm>
            <a:off x="4937760" y="182880"/>
            <a:ext cx="397764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Get ready for sport! Listen and do it!</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Preparati per lo sport! Ascolta e fallo!</a:t>
            </a:r>
            <a:endParaRPr lang="en-US" sz="1400" dirty="0"/>
          </a:p>
        </p:txBody>
      </p:sp>
      <p:sp>
        <p:nvSpPr>
          <p:cNvPr id="6" name="mode_383"/>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MOVE · ⏱ 4 MIN</a:t>
            </a:r>
            <a:endParaRPr lang="en-US" sz="1000" dirty="0"/>
          </a:p>
        </p:txBody>
      </p:sp>
      <p:sp>
        <p:nvSpPr>
          <p:cNvPr id="7" name="cd_384"/>
          <p:cNvSpPr/>
          <p:nvPr/>
        </p:nvSpPr>
        <p:spPr>
          <a:xfrm>
            <a:off x="274320" y="13258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8" name="ci_385" descr="/home/claude/movers/img/e-u2warmup.png">    </p:cNvPr>
          <p:cNvPicPr>
            <a:picLocks noChangeAspect="1"/>
          </p:cNvPicPr>
          <p:nvPr/>
        </p:nvPicPr>
        <p:blipFill>
          <a:blip r:embed="rId2"/>
          <a:stretch>
            <a:fillRect/>
          </a:stretch>
        </p:blipFill>
        <p:spPr>
          <a:xfrm>
            <a:off x="347472" y="1399032"/>
            <a:ext cx="905256" cy="905256"/>
          </a:xfrm>
          <a:prstGeom prst="rect">
            <a:avLst/>
          </a:prstGeom>
        </p:spPr>
      </p:pic>
      <p:sp>
        <p:nvSpPr>
          <p:cNvPr id="9" name="R1_a386"/>
          <p:cNvSpPr/>
          <p:nvPr/>
        </p:nvSpPr>
        <p:spPr>
          <a:xfrm>
            <a:off x="1399032" y="14630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Warm up! Stretch!</a:t>
            </a:r>
            <a:endParaRPr lang="en-US" sz="1250" dirty="0"/>
          </a:p>
        </p:txBody>
      </p:sp>
      <p:sp>
        <p:nvSpPr>
          <p:cNvPr id="10" name="cd_387"/>
          <p:cNvSpPr/>
          <p:nvPr/>
        </p:nvSpPr>
        <p:spPr>
          <a:xfrm>
            <a:off x="2423160" y="13258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1" name="ci_388" descr="/home/claude/movers/img/crop/u2-p24-helmet.jpg">    </p:cNvPr>
          <p:cNvPicPr>
            <a:picLocks noChangeAspect="1"/>
          </p:cNvPicPr>
          <p:nvPr/>
        </p:nvPicPr>
        <p:blipFill>
          <a:blip r:embed="rId3"/>
          <a:stretch>
            <a:fillRect/>
          </a:stretch>
        </p:blipFill>
        <p:spPr>
          <a:xfrm>
            <a:off x="2496312" y="1399032"/>
            <a:ext cx="905256" cy="905256"/>
          </a:xfrm>
          <a:prstGeom prst="rect">
            <a:avLst/>
          </a:prstGeom>
        </p:spPr>
      </p:pic>
      <p:sp>
        <p:nvSpPr>
          <p:cNvPr id="12" name="R2_a389"/>
          <p:cNvSpPr/>
          <p:nvPr/>
        </p:nvSpPr>
        <p:spPr>
          <a:xfrm>
            <a:off x="3547872" y="14630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Put on your helmet!</a:t>
            </a:r>
            <a:endParaRPr lang="en-US" sz="1250" dirty="0"/>
          </a:p>
        </p:txBody>
      </p:sp>
      <p:sp>
        <p:nvSpPr>
          <p:cNvPr id="13" name="cd_390"/>
          <p:cNvSpPr/>
          <p:nvPr/>
        </p:nvSpPr>
        <p:spPr>
          <a:xfrm>
            <a:off x="4572000" y="13258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4" name="ci_391" descr="/home/claude/movers/img/crop/u2-p24-pads.jpg">    </p:cNvPr>
          <p:cNvPicPr>
            <a:picLocks noChangeAspect="1"/>
          </p:cNvPicPr>
          <p:nvPr/>
        </p:nvPicPr>
        <p:blipFill>
          <a:blip r:embed="rId4"/>
          <a:stretch>
            <a:fillRect/>
          </a:stretch>
        </p:blipFill>
        <p:spPr>
          <a:xfrm>
            <a:off x="4645152" y="1399032"/>
            <a:ext cx="905256" cy="905256"/>
          </a:xfrm>
          <a:prstGeom prst="rect">
            <a:avLst/>
          </a:prstGeom>
        </p:spPr>
      </p:pic>
      <p:sp>
        <p:nvSpPr>
          <p:cNvPr id="15" name="R3_a392"/>
          <p:cNvSpPr/>
          <p:nvPr/>
        </p:nvSpPr>
        <p:spPr>
          <a:xfrm>
            <a:off x="5696712" y="14630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Put on your knee pads!</a:t>
            </a:r>
            <a:endParaRPr lang="en-US" sz="1250" dirty="0"/>
          </a:p>
        </p:txBody>
      </p:sp>
      <p:sp>
        <p:nvSpPr>
          <p:cNvPr id="16" name="cd_393"/>
          <p:cNvSpPr/>
          <p:nvPr/>
        </p:nvSpPr>
        <p:spPr>
          <a:xfrm>
            <a:off x="6720840" y="13258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17" name="ci_394" descr="/home/claude/movers/img/crop/u2-p24-gloves.jpg">    </p:cNvPr>
          <p:cNvPicPr>
            <a:picLocks noChangeAspect="1"/>
          </p:cNvPicPr>
          <p:nvPr/>
        </p:nvPicPr>
        <p:blipFill>
          <a:blip r:embed="rId5"/>
          <a:stretch>
            <a:fillRect/>
          </a:stretch>
        </p:blipFill>
        <p:spPr>
          <a:xfrm>
            <a:off x="6793992" y="1399032"/>
            <a:ext cx="905256" cy="905256"/>
          </a:xfrm>
          <a:prstGeom prst="rect">
            <a:avLst/>
          </a:prstGeom>
        </p:spPr>
      </p:pic>
      <p:sp>
        <p:nvSpPr>
          <p:cNvPr id="18" name="R4_a395"/>
          <p:cNvSpPr/>
          <p:nvPr/>
        </p:nvSpPr>
        <p:spPr>
          <a:xfrm>
            <a:off x="7845552" y="14630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Put on your gloves!</a:t>
            </a:r>
            <a:endParaRPr lang="en-US" sz="1250" dirty="0"/>
          </a:p>
        </p:txBody>
      </p:sp>
      <p:sp>
        <p:nvSpPr>
          <p:cNvPr id="19" name="cd_396"/>
          <p:cNvSpPr/>
          <p:nvPr/>
        </p:nvSpPr>
        <p:spPr>
          <a:xfrm>
            <a:off x="274320" y="29260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0" name="ci_397" descr="/home/claude/movers/img/crop/u2-p24-goggles.jpg">    </p:cNvPr>
          <p:cNvPicPr>
            <a:picLocks noChangeAspect="1"/>
          </p:cNvPicPr>
          <p:nvPr/>
        </p:nvPicPr>
        <p:blipFill>
          <a:blip r:embed="rId6"/>
          <a:stretch>
            <a:fillRect/>
          </a:stretch>
        </p:blipFill>
        <p:spPr>
          <a:xfrm>
            <a:off x="347472" y="2999232"/>
            <a:ext cx="905256" cy="905256"/>
          </a:xfrm>
          <a:prstGeom prst="rect">
            <a:avLst/>
          </a:prstGeom>
        </p:spPr>
      </p:pic>
      <p:sp>
        <p:nvSpPr>
          <p:cNvPr id="21" name="R5_a398"/>
          <p:cNvSpPr/>
          <p:nvPr/>
        </p:nvSpPr>
        <p:spPr>
          <a:xfrm>
            <a:off x="1399032" y="30632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Put on your goggles!</a:t>
            </a:r>
            <a:endParaRPr lang="en-US" sz="1250" dirty="0"/>
          </a:p>
        </p:txBody>
      </p:sp>
      <p:sp>
        <p:nvSpPr>
          <p:cNvPr id="22" name="cd_399"/>
          <p:cNvSpPr/>
          <p:nvPr/>
        </p:nvSpPr>
        <p:spPr>
          <a:xfrm>
            <a:off x="2423160" y="29260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3" name="ci_400" descr="/home/claude/movers/img/e-u2suncream.png">    </p:cNvPr>
          <p:cNvPicPr>
            <a:picLocks noChangeAspect="1"/>
          </p:cNvPicPr>
          <p:nvPr/>
        </p:nvPicPr>
        <p:blipFill>
          <a:blip r:embed="rId7"/>
          <a:stretch>
            <a:fillRect/>
          </a:stretch>
        </p:blipFill>
        <p:spPr>
          <a:xfrm>
            <a:off x="2496312" y="2999232"/>
            <a:ext cx="905256" cy="905256"/>
          </a:xfrm>
          <a:prstGeom prst="rect">
            <a:avLst/>
          </a:prstGeom>
        </p:spPr>
      </p:pic>
      <p:sp>
        <p:nvSpPr>
          <p:cNvPr id="24" name="R6_a401"/>
          <p:cNvSpPr/>
          <p:nvPr/>
        </p:nvSpPr>
        <p:spPr>
          <a:xfrm>
            <a:off x="3547872" y="30632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Put on sun cream!</a:t>
            </a:r>
            <a:endParaRPr lang="en-US" sz="1250" dirty="0"/>
          </a:p>
        </p:txBody>
      </p:sp>
      <p:sp>
        <p:nvSpPr>
          <p:cNvPr id="25" name="cd_402"/>
          <p:cNvSpPr/>
          <p:nvPr/>
        </p:nvSpPr>
        <p:spPr>
          <a:xfrm>
            <a:off x="4572000" y="29260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6" name="ci_403" descr="/home/claude/movers/img/e-u2water.png">    </p:cNvPr>
          <p:cNvPicPr>
            <a:picLocks noChangeAspect="1"/>
          </p:cNvPicPr>
          <p:nvPr/>
        </p:nvPicPr>
        <p:blipFill>
          <a:blip r:embed="rId8"/>
          <a:stretch>
            <a:fillRect/>
          </a:stretch>
        </p:blipFill>
        <p:spPr>
          <a:xfrm>
            <a:off x="4645152" y="2999232"/>
            <a:ext cx="905256" cy="905256"/>
          </a:xfrm>
          <a:prstGeom prst="rect">
            <a:avLst/>
          </a:prstGeom>
        </p:spPr>
      </p:pic>
      <p:sp>
        <p:nvSpPr>
          <p:cNvPr id="27" name="R7_a404"/>
          <p:cNvSpPr/>
          <p:nvPr/>
        </p:nvSpPr>
        <p:spPr>
          <a:xfrm>
            <a:off x="5696712" y="30632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Drink some water!</a:t>
            </a:r>
            <a:endParaRPr lang="en-US" sz="1250" dirty="0"/>
          </a:p>
        </p:txBody>
      </p:sp>
      <p:sp>
        <p:nvSpPr>
          <p:cNvPr id="28" name="cd_405"/>
          <p:cNvSpPr/>
          <p:nvPr/>
        </p:nvSpPr>
        <p:spPr>
          <a:xfrm>
            <a:off x="6720840" y="2926080"/>
            <a:ext cx="1051560" cy="1325880"/>
          </a:xfrm>
          <a:prstGeom prst="roundRect">
            <a:avLst>
              <a:gd name="adj" fmla="val 10435"/>
            </a:avLst>
          </a:prstGeom>
          <a:solidFill>
            <a:srgbClr val="FFFFFF"/>
          </a:solidFill>
          <a:ln w="38100">
            <a:solidFill>
              <a:srgbClr val="FFD23F"/>
            </a:solidFill>
            <a:prstDash val="solid"/>
          </a:ln>
          <a:effectLst>
            <a:outerShdw sx="100000" sy="100000" kx="0" ky="0" algn="bl" rotWithShape="0" blurRad="38100" dist="25400" dir="5400000">
              <a:srgbClr val="000000">
                <a:alpha val="20000"/>
              </a:srgbClr>
            </a:outerShdw>
          </a:effectLst>
        </p:spPr>
      </p:sp>
      <p:pic>
        <p:nvPicPr>
          <p:cNvPr id="29" name="ci_406" descr="/home/claude/movers/img/e-u2question.png">    </p:cNvPr>
          <p:cNvPicPr>
            <a:picLocks noChangeAspect="1"/>
          </p:cNvPicPr>
          <p:nvPr/>
        </p:nvPicPr>
        <p:blipFill>
          <a:blip r:embed="rId9"/>
          <a:stretch>
            <a:fillRect/>
          </a:stretch>
        </p:blipFill>
        <p:spPr>
          <a:xfrm>
            <a:off x="6793992" y="2999232"/>
            <a:ext cx="905256" cy="905256"/>
          </a:xfrm>
          <a:prstGeom prst="rect">
            <a:avLst/>
          </a:prstGeom>
        </p:spPr>
      </p:pic>
      <p:sp>
        <p:nvSpPr>
          <p:cNvPr id="30" name="R8_a407"/>
          <p:cNvSpPr/>
          <p:nvPr/>
        </p:nvSpPr>
        <p:spPr>
          <a:xfrm>
            <a:off x="7845552" y="3063240"/>
            <a:ext cx="960120" cy="1051560"/>
          </a:xfrm>
          <a:prstGeom prst="rect">
            <a:avLst/>
          </a:prstGeom>
          <a:noFill/>
          <a:ln/>
        </p:spPr>
        <p:txBody>
          <a:bodyPr wrap="square" lIns="0" tIns="0" rIns="0" bIns="0" rtlCol="0" anchor="ctr"/>
          <a:lstStyle/>
          <a:p>
            <a:pPr indent="0" marL="0">
              <a:buNone/>
            </a:pPr>
            <a:r>
              <a:rPr lang="en-US" sz="1250" dirty="0">
                <a:solidFill>
                  <a:srgbClr val="1E2A5A"/>
                </a:solidFill>
                <a:latin typeface="Arial Rounded MT Bold" pitchFamily="34" charset="0"/>
                <a:ea typeface="Arial Rounded MT Bold" pitchFamily="34" charset="-122"/>
                <a:cs typeface="Arial Rounded MT Bold" pitchFamily="34" charset="-120"/>
              </a:rPr>
              <a:t>What sport is it?</a:t>
            </a:r>
            <a:endParaRPr lang="en-US" sz="1250" dirty="0"/>
          </a:p>
        </p:txBody>
      </p:sp>
      <p:sp>
        <p:nvSpPr>
          <p:cNvPr id="31" name="bk_408"/>
          <p:cNvSpPr/>
          <p:nvPr/>
        </p:nvSpPr>
        <p:spPr>
          <a:xfrm>
            <a:off x="228600" y="4681728"/>
            <a:ext cx="2647188"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Ending the lesson (TB p.24)</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4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t_409"/>
          <p:cNvSpPr/>
          <p:nvPr/>
        </p:nvSpPr>
        <p:spPr>
          <a:xfrm rot="-120000">
            <a:off x="365760" y="164592"/>
            <a:ext cx="2377440" cy="384048"/>
          </a:xfrm>
          <a:prstGeom prst="roundRect">
            <a:avLst>
              <a:gd name="adj" fmla="val 28571"/>
            </a:avLst>
          </a:prstGeom>
          <a:solidFill>
            <a:srgbClr val="1E2A5A"/>
          </a:solidFill>
          <a:ln w="25400">
            <a:solidFill>
              <a:srgbClr val="FFFFFF"/>
            </a:solidFill>
          </a:ln>
        </p:spPr>
        <p:txBody>
          <a:bodyPr wrap="square" lIns="0" tIns="0" rIns="0" bIns="0" rtlCol="0" anchor="ctr"/>
          <a:lstStyle/>
          <a:p>
            <a:pPr algn="ctr" indent="0" marL="0">
              <a:buNone/>
            </a:pPr>
            <a:r>
              <a:rPr lang="en-US" sz="1600" dirty="0">
                <a:solidFill>
                  <a:srgbClr val="FFFFFF"/>
                </a:solidFill>
                <a:latin typeface="Arial Black" pitchFamily="34" charset="0"/>
                <a:ea typeface="Arial Black" pitchFamily="34" charset="-122"/>
                <a:cs typeface="Arial Black" pitchFamily="34" charset="-120"/>
              </a:rPr>
              <a:t>GAME</a:t>
            </a:r>
            <a:endParaRPr lang="en-US" sz="1600" dirty="0"/>
          </a:p>
        </p:txBody>
      </p:sp>
      <p:sp>
        <p:nvSpPr>
          <p:cNvPr id="4" name="bm_410"/>
          <p:cNvSpPr/>
          <p:nvPr/>
        </p:nvSpPr>
        <p:spPr>
          <a:xfrm rot="-120000">
            <a:off x="228600" y="493776"/>
            <a:ext cx="3931920" cy="713232"/>
          </a:xfrm>
          <a:prstGeom prst="rect">
            <a:avLst/>
          </a:prstGeom>
          <a:noFill/>
          <a:ln/>
          <a:effectLst>
            <a:outerShdw sx="100000" sy="100000" kx="0" ky="0" algn="bl" rotWithShape="0" blurRad="25400" dist="25400" dir="5400000">
              <a:srgbClr val="1E2A5A">
                <a:alpha val="35000"/>
              </a:srgbClr>
            </a:outerShdw>
          </a:effectLst>
        </p:spPr>
        <p:txBody>
          <a:bodyPr wrap="square" lIns="0" tIns="0" rIns="0" bIns="0" rtlCol="0" anchor="ctr"/>
          <a:lstStyle/>
          <a:p>
            <a:pPr indent="0" marL="0">
              <a:buNone/>
            </a:pPr>
            <a:r>
              <a:rPr lang="en-US" sz="2700" b="1" dirty="0">
                <a:ln w="31750">
                  <a:solidFill>
                    <a:srgbClr val="1E2A5A"/>
                  </a:solidFill>
                </a:ln>
                <a:solidFill>
                  <a:srgbClr val="6CCB3B"/>
                </a:solidFill>
                <a:latin typeface="Arial Black" pitchFamily="34" charset="0"/>
                <a:ea typeface="Arial Black" pitchFamily="34" charset="-122"/>
                <a:cs typeface="Arial Black" pitchFamily="34" charset="-120"/>
              </a:rPr>
              <a:t>EXTRA: Hangman</a:t>
            </a:r>
            <a:endParaRPr lang="en-US" sz="2700" dirty="0"/>
          </a:p>
        </p:txBody>
      </p:sp>
      <p:sp>
        <p:nvSpPr>
          <p:cNvPr id="5" name="in_411"/>
          <p:cNvSpPr/>
          <p:nvPr/>
        </p:nvSpPr>
        <p:spPr>
          <a:xfrm>
            <a:off x="4343400" y="182880"/>
            <a:ext cx="4572000" cy="868680"/>
          </a:xfrm>
          <a:prstGeom prst="roundRect">
            <a:avLst>
              <a:gd name="adj" fmla="val 12632"/>
            </a:avLst>
          </a:prstGeom>
          <a:solidFill>
            <a:srgbClr val="FFFFFF"/>
          </a:solidFill>
          <a:ln w="38100">
            <a:solidFill>
              <a:srgbClr val="FFD23F"/>
            </a:solidFill>
          </a:ln>
        </p:spPr>
        <p:txBody>
          <a:bodyPr wrap="square" lIns="101600" tIns="101600" rIns="101600" bIns="101600" rtlCol="0" anchor="ctr"/>
          <a:lstStyle/>
          <a:p>
            <a:pPr indent="0" marL="0">
              <a:buNone/>
            </a:pPr>
            <a:r>
              <a:rPr lang="en-US" sz="1400" b="1" dirty="0">
                <a:solidFill>
                  <a:srgbClr val="1E2A5A"/>
                </a:solidFill>
                <a:latin typeface="Arial Rounded MT Bold" pitchFamily="34" charset="0"/>
                <a:ea typeface="Arial Rounded MT Bold" pitchFamily="34" charset="-122"/>
                <a:cs typeface="Arial Rounded MT Bold" pitchFamily="34" charset="-120"/>
              </a:rPr>
              <a:t>Guess the letters. Save the man!</a:t>
            </a:r>
            <a:endParaRPr lang="en-US" sz="1400" dirty="0"/>
          </a:p>
          <a:p>
            <a:pPr indent="0" marL="0">
              <a:buNone/>
            </a:pPr>
            <a:r>
              <a:rPr lang="en-US" sz="1200" i="1" dirty="0">
                <a:solidFill>
                  <a:srgbClr val="2F9BFF"/>
                </a:solidFill>
                <a:latin typeface="Arial Rounded MT Bold" pitchFamily="34" charset="0"/>
                <a:ea typeface="Arial Rounded MT Bold" pitchFamily="34" charset="-122"/>
                <a:cs typeface="Arial Rounded MT Bold" pitchFamily="34" charset="-120"/>
              </a:rPr>
              <a:t>Indovina le lettere. Salva l'omino!</a:t>
            </a:r>
            <a:endParaRPr lang="en-US" sz="1400" dirty="0"/>
          </a:p>
        </p:txBody>
      </p:sp>
      <p:sp>
        <p:nvSpPr>
          <p:cNvPr id="6" name="mode_412"/>
          <p:cNvSpPr/>
          <p:nvPr/>
        </p:nvSpPr>
        <p:spPr>
          <a:xfrm>
            <a:off x="6355080" y="1024128"/>
            <a:ext cx="2560320" cy="246888"/>
          </a:xfrm>
          <a:prstGeom prst="roundRect">
            <a:avLst>
              <a:gd name="adj" fmla="val 44444"/>
            </a:avLst>
          </a:prstGeom>
          <a:solidFill>
            <a:srgbClr val="1E2A5A"/>
          </a:solidFill>
          <a:ln w="19050">
            <a:solidFill>
              <a:srgbClr val="FFD23F"/>
            </a:solidFill>
          </a:ln>
        </p:spPr>
        <p:txBody>
          <a:bodyPr wrap="square" lIns="0" tIns="0" rIns="0" bIns="0" rtlCol="0" anchor="ctr"/>
          <a:lstStyle/>
          <a:p>
            <a:pPr algn="ctr" indent="0" marL="0">
              <a:buNone/>
            </a:pPr>
            <a:r>
              <a:rPr lang="en-US" sz="1000" dirty="0">
                <a:solidFill>
                  <a:srgbClr val="FFFFFF"/>
                </a:solidFill>
                <a:latin typeface="Arial Black" pitchFamily="34" charset="0"/>
                <a:ea typeface="Arial Black" pitchFamily="34" charset="-122"/>
                <a:cs typeface="Arial Black" pitchFamily="34" charset="-120"/>
              </a:rPr>
              <a:t>👥👥 TEAMS · ⏱ 5 MIN</a:t>
            </a:r>
            <a:endParaRPr lang="en-US" sz="1000" dirty="0"/>
          </a:p>
        </p:txBody>
      </p:sp>
      <p:sp>
        <p:nvSpPr>
          <p:cNvPr id="7" name="st_413"/>
          <p:cNvSpPr/>
          <p:nvPr/>
        </p:nvSpPr>
        <p:spPr>
          <a:xfrm>
            <a:off x="228600" y="1325880"/>
            <a:ext cx="2651760" cy="975360"/>
          </a:xfrm>
          <a:prstGeom prst="roundRect">
            <a:avLst>
              <a:gd name="adj" fmla="val 11250"/>
            </a:avLst>
          </a:prstGeom>
          <a:solidFill>
            <a:srgbClr val="FFFFFF"/>
          </a:solidFill>
          <a:ln w="38100">
            <a:solidFill>
              <a:srgbClr val="FFD23F"/>
            </a:solidFill>
            <a:prstDash val="solid"/>
          </a:ln>
          <a:effectLst>
            <a:outerShdw sx="100000" sy="100000" kx="0" ky="0" algn="bl" rotWithShape="0" blurRad="38100" dist="25400" dir="5400000">
              <a:srgbClr val="000000">
                <a:alpha val="18000"/>
              </a:srgbClr>
            </a:outerShdw>
          </a:effectLst>
        </p:spPr>
      </p:sp>
      <p:sp>
        <p:nvSpPr>
          <p:cNvPr id="8" name="sn_414"/>
          <p:cNvSpPr/>
          <p:nvPr/>
        </p:nvSpPr>
        <p:spPr>
          <a:xfrm>
            <a:off x="118872" y="1216152"/>
            <a:ext cx="384048" cy="384048"/>
          </a:xfrm>
          <a:prstGeom prst="ellipse">
            <a:avLst/>
          </a:prstGeom>
          <a:solidFill>
            <a:srgbClr val="FFD23F"/>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9" name="sk_415"/>
          <p:cNvSpPr/>
          <p:nvPr/>
        </p:nvSpPr>
        <p:spPr>
          <a:xfrm>
            <a:off x="521208" y="13624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LOOK</a:t>
            </a:r>
            <a:endParaRPr lang="en-US" sz="1300" dirty="0"/>
          </a:p>
        </p:txBody>
      </p:sp>
      <p:sp>
        <p:nvSpPr>
          <p:cNvPr id="10" name="se_416"/>
          <p:cNvSpPr/>
          <p:nvPr/>
        </p:nvSpPr>
        <p:spPr>
          <a:xfrm>
            <a:off x="338328" y="16550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Teacher writes _ _ _ _ _ _ on the board.</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L'insegnante scrive i trattini.</a:t>
            </a:r>
            <a:endParaRPr lang="en-US" sz="1050" dirty="0"/>
          </a:p>
        </p:txBody>
      </p:sp>
      <p:sp>
        <p:nvSpPr>
          <p:cNvPr id="11" name="st_417"/>
          <p:cNvSpPr/>
          <p:nvPr/>
        </p:nvSpPr>
        <p:spPr>
          <a:xfrm>
            <a:off x="228600" y="23926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2" name="sn_418"/>
          <p:cNvSpPr/>
          <p:nvPr/>
        </p:nvSpPr>
        <p:spPr>
          <a:xfrm>
            <a:off x="118872" y="22829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3" name="sk_419"/>
          <p:cNvSpPr/>
          <p:nvPr/>
        </p:nvSpPr>
        <p:spPr>
          <a:xfrm>
            <a:off x="521208" y="24292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4" name="se_420"/>
          <p:cNvSpPr/>
          <p:nvPr/>
        </p:nvSpPr>
        <p:spPr>
          <a:xfrm>
            <a:off x="338328" y="27218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Say a letter: Is there an 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Di' una lettera: C'è una E?</a:t>
            </a:r>
            <a:endParaRPr lang="en-US" sz="1050" dirty="0"/>
          </a:p>
        </p:txBody>
      </p:sp>
      <p:sp>
        <p:nvSpPr>
          <p:cNvPr id="15" name="st_421"/>
          <p:cNvSpPr/>
          <p:nvPr/>
        </p:nvSpPr>
        <p:spPr>
          <a:xfrm>
            <a:off x="228600" y="3459480"/>
            <a:ext cx="2651760" cy="975360"/>
          </a:xfrm>
          <a:prstGeom prst="roundRect">
            <a:avLst>
              <a:gd name="adj" fmla="val 11250"/>
            </a:avLst>
          </a:prstGeom>
          <a:solidFill>
            <a:srgbClr val="FFFFFF"/>
          </a:solidFill>
          <a:ln w="38100">
            <a:solidFill>
              <a:srgbClr val="FF5DA2"/>
            </a:solidFill>
            <a:prstDash val="solid"/>
          </a:ln>
          <a:effectLst>
            <a:outerShdw sx="100000" sy="100000" kx="0" ky="0" algn="bl" rotWithShape="0" blurRad="38100" dist="25400" dir="5400000">
              <a:srgbClr val="000000">
                <a:alpha val="18000"/>
              </a:srgbClr>
            </a:outerShdw>
          </a:effectLst>
        </p:spPr>
      </p:sp>
      <p:sp>
        <p:nvSpPr>
          <p:cNvPr id="16" name="sn_422"/>
          <p:cNvSpPr/>
          <p:nvPr/>
        </p:nvSpPr>
        <p:spPr>
          <a:xfrm>
            <a:off x="118872" y="3349752"/>
            <a:ext cx="384048" cy="384048"/>
          </a:xfrm>
          <a:prstGeom prst="ellipse">
            <a:avLst/>
          </a:prstGeom>
          <a:solidFill>
            <a:srgbClr val="FF5DA2"/>
          </a:solidFill>
          <a:ln w="25400">
            <a:solidFill>
              <a:srgbClr val="FFFFFF"/>
            </a:solidFill>
          </a:ln>
        </p:spPr>
        <p:txBody>
          <a:bodyPr wrap="square" lIns="0" tIns="0" rIns="0" bIns="0"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7" name="sk_423"/>
          <p:cNvSpPr/>
          <p:nvPr/>
        </p:nvSpPr>
        <p:spPr>
          <a:xfrm>
            <a:off x="521208" y="3496056"/>
            <a:ext cx="2286000" cy="292608"/>
          </a:xfrm>
          <a:prstGeom prst="rect">
            <a:avLst/>
          </a:prstGeom>
          <a:noFill/>
          <a:ln/>
        </p:spPr>
        <p:txBody>
          <a:bodyPr wrap="square" lIns="0" tIns="0" rIns="0" bIns="0" rtlCol="0" anchor="ctr"/>
          <a:lstStyle/>
          <a:p>
            <a:pPr indent="0" marL="0">
              <a:buNone/>
            </a:pPr>
            <a:r>
              <a:rPr lang="en-US" sz="1300" dirty="0">
                <a:solidFill>
                  <a:srgbClr val="1E2A5A"/>
                </a:solidFill>
                <a:latin typeface="Arial Black" pitchFamily="34" charset="0"/>
                <a:ea typeface="Arial Black" pitchFamily="34" charset="-122"/>
                <a:cs typeface="Arial Black" pitchFamily="34" charset="-120"/>
              </a:rPr>
              <a:t>💬 SPEAK</a:t>
            </a:r>
            <a:endParaRPr lang="en-US" sz="1300" dirty="0"/>
          </a:p>
        </p:txBody>
      </p:sp>
      <p:sp>
        <p:nvSpPr>
          <p:cNvPr id="18" name="se_424"/>
          <p:cNvSpPr/>
          <p:nvPr/>
        </p:nvSpPr>
        <p:spPr>
          <a:xfrm>
            <a:off x="338328" y="3788664"/>
            <a:ext cx="2468880" cy="609600"/>
          </a:xfrm>
          <a:prstGeom prst="rect">
            <a:avLst/>
          </a:prstGeom>
          <a:noFill/>
          <a:ln/>
        </p:spPr>
        <p:txBody>
          <a:bodyPr wrap="square" lIns="0" tIns="0" rIns="0" bIns="0" rtlCol="0" anchor="t"/>
          <a:lstStyle/>
          <a:p>
            <a:pPr indent="0" marL="0">
              <a:buNone/>
            </a:pPr>
            <a:r>
              <a:rPr lang="en-US" sz="1050" dirty="0">
                <a:solidFill>
                  <a:srgbClr val="1E2A5A"/>
                </a:solidFill>
                <a:latin typeface="Arial" pitchFamily="34" charset="0"/>
                <a:ea typeface="Arial" pitchFamily="34" charset="-122"/>
                <a:cs typeface="Arial" pitchFamily="34" charset="-120"/>
              </a:rPr>
              <a:t>Guess the word + make a rule!</a:t>
            </a:r>
            <a:endParaRPr lang="en-US" sz="1050" dirty="0"/>
          </a:p>
          <a:p>
            <a:pPr indent="0" marL="0">
              <a:buNone/>
            </a:pPr>
            <a:r>
              <a:rPr lang="en-US" sz="950" i="1" dirty="0">
                <a:solidFill>
                  <a:srgbClr val="2F9BFF"/>
                </a:solidFill>
                <a:latin typeface="Arial" pitchFamily="34" charset="0"/>
                <a:ea typeface="Arial" pitchFamily="34" charset="-122"/>
                <a:cs typeface="Arial" pitchFamily="34" charset="-120"/>
              </a:rPr>
              <a:t>Indovina la parola + fai una regola!</a:t>
            </a:r>
            <a:endParaRPr lang="en-US" sz="1050" dirty="0"/>
          </a:p>
        </p:txBody>
      </p:sp>
      <p:sp>
        <p:nvSpPr>
          <p:cNvPr id="19" name="gl_425"/>
          <p:cNvSpPr/>
          <p:nvPr/>
        </p:nvSpPr>
        <p:spPr>
          <a:xfrm>
            <a:off x="3108960" y="1325880"/>
            <a:ext cx="5715000" cy="3200400"/>
          </a:xfrm>
          <a:prstGeom prst="rect">
            <a:avLst/>
          </a:prstGeom>
          <a:noFill/>
          <a:ln/>
        </p:spPr>
        <p:txBody>
          <a:bodyPr wrap="square" lIns="50800" tIns="50800" rIns="50800" bIns="50800" rtlCol="0" anchor="t"/>
          <a:lstStyle/>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_ _ _ _ _ _ ? → Is there an E?</a:t>
            </a:r>
            <a:endParaRPr lang="en-US" sz="1400" dirty="0"/>
          </a:p>
          <a:p>
            <a:pPr marL="342900" indent="-342900">
              <a:spcAft>
                <a:spcPts val="600"/>
              </a:spcAft>
              <a:buSzPct val="100000"/>
              <a:buChar char="⭐"/>
            </a:pPr>
            <a:r>
              <a:rPr lang="en-US" sz="1400" dirty="0">
                <a:solidFill>
                  <a:srgbClr val="1E2A5A"/>
                </a:solidFill>
                <a:latin typeface="Arial Rounded MT Bold" pitchFamily="34" charset="0"/>
                <a:ea typeface="Arial Rounded MT Bold" pitchFamily="34" charset="-122"/>
                <a:cs typeface="Arial Rounded MT Bold" pitchFamily="34" charset="-120"/>
              </a:rPr>
              <a:t>Make a rule: You must wear a … when you …!</a:t>
            </a:r>
            <a:endParaRPr lang="en-US" sz="1400" dirty="0"/>
          </a:p>
        </p:txBody>
      </p:sp>
      <p:sp>
        <p:nvSpPr>
          <p:cNvPr id="20" name="bk_426"/>
          <p:cNvSpPr/>
          <p:nvPr/>
        </p:nvSpPr>
        <p:spPr>
          <a:xfrm>
            <a:off x="228600" y="4681728"/>
            <a:ext cx="2025396" cy="329184"/>
          </a:xfrm>
          <a:prstGeom prst="roundRect">
            <a:avLst>
              <a:gd name="adj" fmla="val 33333"/>
            </a:avLst>
          </a:prstGeom>
          <a:solidFill>
            <a:srgbClr val="1E2A5A"/>
          </a:solidFill>
          <a:ln w="19050">
            <a:solidFill>
              <a:srgbClr val="FFFFFF"/>
            </a:solidFill>
          </a:ln>
        </p:spPr>
        <p:txBody>
          <a:bodyPr wrap="square" lIns="76200" tIns="76200" rIns="76200" bIns="76200" rtlCol="0" anchor="ctr"/>
          <a:lstStyle/>
          <a:p>
            <a:pP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 Unit 2 safety words</a:t>
            </a:r>
            <a:endParaRPr lang="en-US" sz="110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Movers · UNIT 2 · LESSON 4 · Let's be healthy!</dc:title>
  <dc:subject>PptxGenJS Presentation</dc:subject>
  <dc:creator>PptxGenJS</dc:creator>
  <cp:lastModifiedBy>PptxGenJS</cp:lastModifiedBy>
  <cp:revision>1</cp:revision>
  <dcterms:created xsi:type="dcterms:W3CDTF">2026-10-06T10:51:30Z</dcterms:created>
  <dcterms:modified xsi:type="dcterms:W3CDTF">2026-10-06T10:51:30Z</dcterms:modified>
</cp:coreProperties>
</file>