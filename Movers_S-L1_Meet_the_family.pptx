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(2 min). HOOK: 'Where's this?' (a farm). 'What animals can you see?' Pairs whisper 3 animals in 20 s (Italian OK) – then say them in English together (a horse, a goat, a sheep, a cat, chickens). Accept Italian, recast in English.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3 model lines (Hello… Nice to meet you).
TEACHER: MODEL first with 2 learners (you say A, they say B). Then 'Stand up! Walk!' … 'STOP!'
STUDENTS: Walk; on STOP greet the nearest person with the model lines.
GROUPING: Whole class, then pairs at each STOP.
SCORE / WIN: No points – fun warm-up. Round 4–5: 'STOP – whisper!' / 'STOP – robot voice!'
TIME: 5 min (5–6 rounds).
LANGUAGE: Hello. My name's … Nice to meet you (too). How are you? I'm fine, thank you.
REVEAL: None needed.
AIM: Activate greetings; break the ice on the first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1 (6 min). PROMPT: read the caption 'Jim and Jenny are on the Friendly Farm.' Point: 'Is this Jenny's dad?' (No, it's her grandpa). Read question 1 aloud BEFORE listening. THINK/COMMIT: play 🎧 1.02 – learners whisper the answer to a partner, then hands up. REVEAL: click. KEY (TB): She's writing a song. Audio facts: Dad's a cook and loves making food – he's making a cake; Mum loves music and playing the piano; Jim and Jenny are seven (twins). NEW WORD: cook (mime stirring a bowl). Hidden tractor: first learner to point wins a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CHARACTER FLASHCARDS (6 min). PROMPT: picture only – 'Who's this? Is it a boy or a girl?' THINK: 3 seconds. COMMIT: everybody says it together on your signal (some will know them from Power Up 2). REVEAL click 1: name. Click 2: Italian. Click 3: action – everyone does it. Stress HIS (boy) / HER (girl): 'What's his name?' Ages (TB extension, for the hot seat later): Rocky 3, Shelly 3, Cameron 4, Henrietta 6, Harry 9, Gracie 11. TPR: Flap your wings! Cock-a-doodle-doo! 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CHARACTER FLASHCARDS (6 min). PROMPT: picture only – 'Who's this? Is it a boy or a girl?' THINK: 3 seconds. COMMIT: everybody says it together on your signal (some will know them from Power Up 2). REVEAL click 1: name. Click 2: Italian. Click 3: action – everyone does it. Stress HIS (boy) / HER (girl): 'What's his name?' Ages (TB extension, for the hot seat later): Rocky 3, Shelly 3, Cameron 4, Henrietta 6, Harry 9, Gracie 11. TPR: Sit on your eggs. Shh! She's asleep. 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CHARACTER FLASHCARDS (6 min). PROMPT: picture only – 'Who's this? Is it a boy or a girl?' THINK: 3 seconds. COMMIT: everybody says it together on your signal (some will know them from Power Up 2). REVEAL click 1: name. Click 2: Italian. Click 3: action – everyone does it. Stress HIS (boy) / HER (girl): 'What's his name?' Ages (TB extension, for the hot seat later): Rocky 3, Shelly 3, Cameron 4, Henrietta 6, Harry 9, Gracie 11. TPR: Sing like Shelly! La-la-la! 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CHARACTER FLASHCARDS (6 min). PROMPT: picture only – 'Who's this? Is it a boy or a girl?' THINK: 3 seconds. COMMIT: everybody says it together on your signal (some will know them from Power Up 2). REVEAL click 1: name. Click 2: Italian. Click 3: action – everyone does it. Stress HIS (boy) / HER (girl): 'What's his name?' Ages (TB extension, for the hot seat later): Rocky 3, Shelly 3, Cameron 4, Henrietta 6, Harry 9, Gracie 11. TPR: Eat paper and books! Munch, munch! 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CHARACTER FLASHCARDS (6 min). PROMPT: picture only – 'Who's this? Is it a boy or a girl?' THINK: 3 seconds. COMMIT: everybody says it together on your signal (some will know them from Power Up 2). REVEAL click 1: name. Click 2: Italian. Click 3: action – everyone does it. Stress HIS (boy) / HER (girl): 'What's his name?' Ages (TB extension, for the hot seat later): Rocky 3, Shelly 3, Cameron 4, Henrietta 6, Harry 9, Gracie 11. TPR: Gallop like a horse! 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CHARACTER FLASHCARDS (6 min). PROMPT: picture only – 'Who's this? Is it a boy or a girl?' THINK: 3 seconds. COMMIT: everybody says it together on your signal (some will know them from Power Up 2). REVEAL click 1: name. Click 2: Italian. Click 3: action – everyone does it. Stress HIS (boy) / HER (girl): 'What's his name?' Ages (TB extension, for the hot seat later): Rocky 3, Shelly 3, Cameron 4, Henrietta 6, Harry 9, Gracie 11. TPR: Cover your ears! My ears! 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PRONUNCIATION (3 min). Italians often drop /h/ ('Arry', 'ow are you'). MODEL: hand in front of your mouth – 'Harry' – feel the warm air (like fogging a mirror: haaa). Learners copy: whisper → normal → MONSTER voice. GAME 'Catch the teacher': say the words, sometimes WITHOUT h ('Ello! 'Ow are you?'). Learners shout STOP! and say it correctly. A learner who catches you gets to be the teacher for the next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CHANT (5 min). Play 🎧 1.03 once – learners just listen and point to Jim/Jenny. Then split the class: Jim group / Jenny group; play again and they chant their lines. Actions: thumbs up for 'I'm fine', 7 fingers for 'seven'. Swap groups. FINAL ROUND: chant with their OWN names and ages ('I'm nine!'). Listen for the H in 'How' (huff!).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ITALIAN TRAP (2 min). PROMPT: show 'Ho nove anni.' THINK 5 s: how do we say it in English? COMMIT: pairs whisper. REVEAL row by row (click): in English we use BE for age – I'm nine / How old are you? Make it physical: every time someone says 'I have … years', the class makes a buzzer noise 'BZZZ!' for the rest of the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3 (6 min). MODEL → SUPPORTED → INDEPENDENT. 1) Play 🎧 1.04, pause after each question: the class answers together; click for a model answer (answers are personal). 2) Pairs ask and answer looking at the slide (⭐ starters). 3) Blank the screen (press B) and pairs do it again from memory with a NEW partner. 🔥 Fast finishers ask about a friend: 'What's his name? How old is she?'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SONG (3 min). Play the song at the beginning of the cartoon (🎧 1.05). Tap the rhythm on the table – learners copy. Sing twice. barn = stalla. Use the book audio; the link is only a backup search. External resources are suggestions only: the teacher must preview and check all links, videos, adverts and content before using them with children. Always have the PowerPoint/classroom alternative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(8 min with part 2). PREDICT: 'Who's in Harry's picture? His mum? His dad? His friend?' Each learner COMMITS by holding up 1 (mum), 2 (dad) or 3 (friend) fingers. Play 🎧 1.05 / video. REVEAL: his father (TB key). Then play again, pause after each picture, ask the questions – pairs agree, then click. Mime 'model' (pose!). Gracie eats paper: 'Gracie, don't eat Harry's dad!'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part 2 (TB answers). COMMIT: learners point at the character on the screen before you click. Act it out: one Shelly sings, the class are Cameron and cover their 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4 (5 min, 2 slides). Before: give 6 learners the character flashcards (or stick them on the board with names = TB extra support). Play 🎧 1.06, pause after each line. COMMIT: the class points at the board / the learner holding that card stands up. REVEAL click. KEY (TB): 1 Harry 2 Henrietta 3 Gracie 4 Rocky 5 Shelly 6 Cameron 7 Harry 8 Shelly.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4 lines 5–8. KEY: 5 Shelly 6 Cameron 7 Harry 8 Shelly. Bonus point for saying it in the character's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MISSING? Step 1 – LOOK (10 s). Say the words together first (choral). Count down aloud. Then: "Close your eyes!" and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– COMMIT. Students write the word on a mini-whiteboard / paper (or teams agree in 10 s). 'Show me!' Then go to the next slide. Points: 1 per team with the right word, +1 if spelt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– REVEAL. The missing card comes back with a green frame. Everybody says the word 3 ways: whisper, normal, monster voice. Two teams. Round 1 = one card, round 2 🔥 = two cards. Weaker learners can point/whisper; stronger ones must say the full sentence 'Gracie is missing!' for a bonus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WHAT'S MISSING? Step 1 – LOOK (15 s). Say the words together first (choral). Count down aloud. Then: "Close your eyes!" and go to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– COMMIT. Students write the word on a mini-whiteboard / paper (or teams agree in 10 s). 'Show me!' Then go to the next slide. Points: 1 per team with the right word, +1 if spelt correctly.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– REVEAL. The missing card comes back with a green frame. Everybody says the word 3 ways: whisper, normal, monster voice. Two teams. Round 1 = one card, round 2 🔥 = two cards. Weaker learners can point/whisper; stronger ones must say the full sentence 'Gracie is missing!' for a bonus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6 characters + action phrases.
TEACHER: Say a NAME only (not the action) – faster and faster. Round 2: say two names together ('Harry + Shelly!').
STUDENTS: Do the right action immediately.
GROUPING: Whole class standing.
SCORE / WIN: Round 3 'Last one standing': wrong action or too slow = sit down. Last 3 standing are the champions.
TIME: 4 min.
LANGUAGE: Character names (listening); learners echo the name as they move.
REVEAL: Click to show the actions if learners forget.
AIM: Fix the 6 names with movement before the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EXIT CHALLENGE: point at 3 learners: 'How old are you?' – they must answer 'I'm …' (BZZZ if 'I have'!). Thumbs for each 'I can'. Give out the homework. AB p.4 ex 2 (🎧 4.07) and p.5 ex 1 (🎧 4.08) are listening – do in class if there's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The 6 characters with names.
TEACHER: Hold a flashcard so nobody sees it, make the noise. Then hand the cards to learners.
STUDENTS: A learner makes the noise; the other team asks 'Is it Rocky?'
GROUPING: Two teams take turns.
SCORE / WIN: Guess in 1 try = 2 points, 2 tries = 1 point.
TIME: 5 min.
LANGUAGE: Is it …? Yes, it is. / No, it isn't.
REVEAL: The noise-maker shows the card.
AIM: Recycle the names + yes/no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PLAN
SEE: Example questions.
TEACHER: Go first: sit in the 'hot seat', think of an animal, answer.
STUDENTS: Ask yes/no questions; the guesser takes the hot seat. 🔥 Challenge: use 'Have you got…?'
GROUPING: Whole class.
SCORE / WIN: The class wins if they guess in fewer than 6 questions; otherwise the hot-seat learner wins.
TIME: 5 min.
LANGUAGE: Are you…? Can you…? Do you like…? Have you got…? + short answers. Ages: Rocky 3, Shelly 3, Cameron 4, Henrietta 6, Harry 9, Gracie 11.
REVEAL: The hot-seat learner says 'I'm Gracie!'
AIM: Question forms + recycling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sults?search_query=power+up+3+friendly+farm+song" TargetMode="External"/><Relationship Id="rId1" Type="http://schemas.openxmlformats.org/officeDocument/2006/relationships/image" Target="../media/Slide-14-image-1.png"/><Relationship Id="rId2" Type="http://schemas.openxmlformats.org/officeDocument/2006/relationships/image" Target="../media/image-14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STARTER · LESSON 1</a:t>
            </a:r>
            <a:endParaRPr lang="en-US" sz="1450" dirty="0"/>
          </a:p>
        </p:txBody>
      </p:sp>
      <p:sp>
        <p:nvSpPr>
          <p:cNvPr id="4" name="bm_2"/>
          <p:cNvSpPr/>
          <p:nvPr/>
        </p:nvSpPr>
        <p:spPr>
          <a:xfrm rot="-120000">
            <a:off x="228600" y="493776"/>
            <a:ext cx="48463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family</a:t>
            </a:r>
            <a:endParaRPr lang="en-US" sz="2700" dirty="0"/>
          </a:p>
        </p:txBody>
      </p:sp>
      <p:sp>
        <p:nvSpPr>
          <p:cNvPr id="5" name="in_3"/>
          <p:cNvSpPr/>
          <p:nvPr/>
        </p:nvSpPr>
        <p:spPr>
          <a:xfrm>
            <a:off x="5212080" y="182880"/>
            <a:ext cx="3703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Today: hello, names, ages and the Friendly Farm animals 🐴🐑🐐</a:t>
            </a:r>
            <a:endParaRPr lang="en-US" sz="110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Oggi: salutare, nomi, età e gli animali della Friendly Farm</a:t>
            </a:r>
            <a:endParaRPr lang="en-US" sz="1100" dirty="0"/>
          </a:p>
        </p:txBody>
      </p:sp>
      <p:sp>
        <p:nvSpPr>
          <p:cNvPr id="6" name="st_4"/>
          <p:cNvSpPr/>
          <p:nvPr/>
        </p:nvSpPr>
        <p:spPr>
          <a:xfrm>
            <a:off x="228600" y="137160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n_5"/>
          <p:cNvSpPr/>
          <p:nvPr/>
        </p:nvSpPr>
        <p:spPr>
          <a:xfrm>
            <a:off x="118872" y="126187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k_6"/>
          <p:cNvSpPr/>
          <p:nvPr/>
        </p:nvSpPr>
        <p:spPr>
          <a:xfrm>
            <a:off x="521208" y="1408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9" name="se_7"/>
          <p:cNvSpPr/>
          <p:nvPr/>
        </p:nvSpPr>
        <p:spPr>
          <a:xfrm>
            <a:off x="338328" y="17007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hello, your name and age.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Saluta, di' nome ed età.</a:t>
            </a:r>
            <a:endParaRPr lang="en-US" sz="1050" dirty="0"/>
          </a:p>
        </p:txBody>
      </p:sp>
      <p:sp>
        <p:nvSpPr>
          <p:cNvPr id="10" name="st_8"/>
          <p:cNvSpPr/>
          <p:nvPr/>
        </p:nvSpPr>
        <p:spPr>
          <a:xfrm>
            <a:off x="228600" y="2377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n_9"/>
          <p:cNvSpPr/>
          <p:nvPr/>
        </p:nvSpPr>
        <p:spPr>
          <a:xfrm>
            <a:off x="118872" y="226771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k_10"/>
          <p:cNvSpPr/>
          <p:nvPr/>
        </p:nvSpPr>
        <p:spPr>
          <a:xfrm>
            <a:off x="521208" y="24140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3" name="se_11"/>
          <p:cNvSpPr/>
          <p:nvPr/>
        </p:nvSpPr>
        <p:spPr>
          <a:xfrm>
            <a:off x="338328" y="27066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the farm story.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 la storia della fattoria.</a:t>
            </a:r>
            <a:endParaRPr lang="en-US" sz="1050" dirty="0"/>
          </a:p>
        </p:txBody>
      </p:sp>
      <p:sp>
        <p:nvSpPr>
          <p:cNvPr id="14" name="st_12"/>
          <p:cNvSpPr/>
          <p:nvPr/>
        </p:nvSpPr>
        <p:spPr>
          <a:xfrm>
            <a:off x="228600" y="33832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n_13"/>
          <p:cNvSpPr/>
          <p:nvPr/>
        </p:nvSpPr>
        <p:spPr>
          <a:xfrm>
            <a:off x="118872" y="32735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k_14"/>
          <p:cNvSpPr/>
          <p:nvPr/>
        </p:nvSpPr>
        <p:spPr>
          <a:xfrm>
            <a:off x="521208" y="34198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7" name="se_15"/>
          <p:cNvSpPr/>
          <p:nvPr/>
        </p:nvSpPr>
        <p:spPr>
          <a:xfrm>
            <a:off x="338328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the farm animals!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gli animali!</a:t>
            </a:r>
            <a:endParaRPr lang="en-US" sz="1050" dirty="0"/>
          </a:p>
        </p:txBody>
      </p:sp>
      <p:sp>
        <p:nvSpPr>
          <p:cNvPr id="18" name="pf_16"/>
          <p:cNvSpPr/>
          <p:nvPr/>
        </p:nvSpPr>
        <p:spPr>
          <a:xfrm>
            <a:off x="3191256" y="1271016"/>
            <a:ext cx="3355848" cy="3264408"/>
          </a:xfrm>
          <a:prstGeom prst="roundRect">
            <a:avLst>
              <a:gd name="adj" fmla="val 280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pic_17" descr="/home/claude/movers/img/crop/s-p4-sce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462829"/>
            <a:ext cx="3246120" cy="2880782"/>
          </a:xfrm>
          <a:prstGeom prst="rect">
            <a:avLst/>
          </a:prstGeom>
        </p:spPr>
      </p:pic>
      <p:sp>
        <p:nvSpPr>
          <p:cNvPr id="20" name="cd_18"/>
          <p:cNvSpPr/>
          <p:nvPr/>
        </p:nvSpPr>
        <p:spPr>
          <a:xfrm>
            <a:off x="6720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19" descr="/home/claude/movers/img/fc/shel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3090672"/>
            <a:ext cx="905256" cy="905256"/>
          </a:xfrm>
          <a:prstGeom prst="rect">
            <a:avLst/>
          </a:prstGeom>
        </p:spPr>
      </p:pic>
      <p:sp>
        <p:nvSpPr>
          <p:cNvPr id="22" name="cd_20"/>
          <p:cNvSpPr/>
          <p:nvPr/>
        </p:nvSpPr>
        <p:spPr>
          <a:xfrm>
            <a:off x="7863840" y="3017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21" descr="/home/claude/movers/img/fc/har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3090672"/>
            <a:ext cx="905256" cy="905256"/>
          </a:xfrm>
          <a:prstGeom prst="rect">
            <a:avLst/>
          </a:prstGeom>
        </p:spPr>
      </p:pic>
      <p:sp>
        <p:nvSpPr>
          <p:cNvPr id="24" name="bb_22"/>
          <p:cNvSpPr/>
          <p:nvPr/>
        </p:nvSpPr>
        <p:spPr>
          <a:xfrm>
            <a:off x="6675120" y="1874520"/>
            <a:ext cx="224028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1E2A5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Welcome to the Friendly Farm!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Benvenuti alla Friendly Farm!</a:t>
            </a:r>
            <a:endParaRPr lang="en-US" sz="1500" dirty="0"/>
          </a:p>
        </p:txBody>
      </p:sp>
      <p:sp>
        <p:nvSpPr>
          <p:cNvPr id="25" name="bk_23"/>
          <p:cNvSpPr/>
          <p:nvPr/>
        </p:nvSpPr>
        <p:spPr>
          <a:xfrm>
            <a:off x="228600" y="4681728"/>
            <a:ext cx="3191256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pp.4–5 · 🎧 1.02–1.06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WARM-UP</a:t>
            </a:r>
            <a:endParaRPr lang="en-US" sz="1600" dirty="0"/>
          </a:p>
        </p:txBody>
      </p:sp>
      <p:sp>
        <p:nvSpPr>
          <p:cNvPr id="4" name="bm_25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Nice to meet you!</a:t>
            </a:r>
            <a:endParaRPr lang="en-US" sz="2700" dirty="0"/>
          </a:p>
        </p:txBody>
      </p:sp>
      <p:sp>
        <p:nvSpPr>
          <p:cNvPr id="5" name="in_26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Walk. STOP! Say hello!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Cammina. STOP! Saluta!</a:t>
            </a:r>
            <a:endParaRPr lang="en-US" sz="1400" dirty="0"/>
          </a:p>
        </p:txBody>
      </p:sp>
      <p:sp>
        <p:nvSpPr>
          <p:cNvPr id="6" name="mode_27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🚶 WHOLE CLASS · ⏱ 5 MIN</a:t>
            </a:r>
            <a:endParaRPr lang="en-US" sz="1000" dirty="0"/>
          </a:p>
        </p:txBody>
      </p:sp>
      <p:sp>
        <p:nvSpPr>
          <p:cNvPr id="7" name="diff_28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My name's … Nice to meet you.</a:t>
            </a:r>
            <a:endParaRPr lang="en-US" sz="950" dirty="0"/>
          </a:p>
        </p:txBody>
      </p:sp>
      <p:sp>
        <p:nvSpPr>
          <p:cNvPr id="8" name="st_29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8A3D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30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8A3D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31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MOVE</a:t>
            </a:r>
            <a:endParaRPr lang="en-US" sz="1300" dirty="0"/>
          </a:p>
        </p:txBody>
      </p:sp>
      <p:sp>
        <p:nvSpPr>
          <p:cNvPr id="11" name="se_32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around.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Cammina.</a:t>
            </a:r>
            <a:endParaRPr lang="en-US" sz="1050" dirty="0"/>
          </a:p>
        </p:txBody>
      </p:sp>
      <p:sp>
        <p:nvSpPr>
          <p:cNvPr id="12" name="st_33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34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35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5" name="se_36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STOP!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L'insegnante: STOP!</a:t>
            </a:r>
            <a:endParaRPr lang="en-US" sz="1050" dirty="0"/>
          </a:p>
        </p:txBody>
      </p:sp>
      <p:sp>
        <p:nvSpPr>
          <p:cNvPr id="16" name="st_37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38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39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9" name="se_40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hello to a friend.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Saluta un compagno.</a:t>
            </a:r>
            <a:endParaRPr lang="en-US" sz="1050" dirty="0"/>
          </a:p>
        </p:txBody>
      </p:sp>
      <p:sp>
        <p:nvSpPr>
          <p:cNvPr id="20" name="gl_41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A: Hello! My name's Mario. Nice to meet you.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B: Hi! My name's Sara. Nice to meet you, too.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A: How are you?   B: I'm fine, thank you!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1</a:t>
            </a:r>
            <a:endParaRPr lang="en-US" sz="1600" dirty="0"/>
          </a:p>
        </p:txBody>
      </p:sp>
      <p:sp>
        <p:nvSpPr>
          <p:cNvPr id="4" name="bm_43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Jim and Jenny</a:t>
            </a:r>
            <a:endParaRPr lang="en-US" sz="2700" dirty="0"/>
          </a:p>
        </p:txBody>
      </p:sp>
      <p:sp>
        <p:nvSpPr>
          <p:cNvPr id="5" name="in_44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What's Mum doing?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Cosa sta facendo la mamma?</a:t>
            </a:r>
            <a:endParaRPr lang="en-US" sz="1400" dirty="0"/>
          </a:p>
        </p:txBody>
      </p:sp>
      <p:sp>
        <p:nvSpPr>
          <p:cNvPr id="6" name="mode_4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⏱ 6 MIN</a:t>
            </a:r>
            <a:endParaRPr lang="en-US" sz="1000" dirty="0"/>
          </a:p>
        </p:txBody>
      </p:sp>
      <p:sp>
        <p:nvSpPr>
          <p:cNvPr id="7" name="pf_46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47" descr="/home/claude/movers/img/crop/s-p4-sce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185" y="1325880"/>
            <a:ext cx="3657790" cy="3246120"/>
          </a:xfrm>
          <a:prstGeom prst="rect">
            <a:avLst/>
          </a:prstGeom>
        </p:spPr>
      </p:pic>
      <p:sp>
        <p:nvSpPr>
          <p:cNvPr id="9" name="q_48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Jim and Jenny's mum doing?</a:t>
            </a:r>
            <a:endParaRPr lang="en-US" sz="1250" dirty="0"/>
          </a:p>
        </p:txBody>
      </p:sp>
      <p:sp>
        <p:nvSpPr>
          <p:cNvPr id="10" name="R1_a49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She's writing a song. 🎹</a:t>
            </a:r>
            <a:endParaRPr lang="en-US" sz="1250" dirty="0"/>
          </a:p>
        </p:txBody>
      </p:sp>
      <p:sp>
        <p:nvSpPr>
          <p:cNvPr id="11" name="q_50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Dad doing?</a:t>
            </a:r>
            <a:endParaRPr lang="en-US" sz="1250" dirty="0"/>
          </a:p>
        </p:txBody>
      </p:sp>
      <p:sp>
        <p:nvSpPr>
          <p:cNvPr id="12" name="R2_a51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He's making a cake. He's a cook! 👨‍🍳</a:t>
            </a:r>
            <a:endParaRPr lang="en-US" sz="1200" dirty="0"/>
          </a:p>
        </p:txBody>
      </p:sp>
      <p:sp>
        <p:nvSpPr>
          <p:cNvPr id="13" name="q_52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old are Jim and Jenny?</a:t>
            </a:r>
            <a:endParaRPr lang="en-US" sz="1250" dirty="0"/>
          </a:p>
        </p:txBody>
      </p:sp>
      <p:sp>
        <p:nvSpPr>
          <p:cNvPr id="14" name="R3_a53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They're seven. They're twins!</a:t>
            </a:r>
            <a:endParaRPr lang="en-US" sz="1250" dirty="0"/>
          </a:p>
        </p:txBody>
      </p:sp>
      <p:sp>
        <p:nvSpPr>
          <p:cNvPr id="15" name="q_54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Find the small tractor!</a:t>
            </a:r>
            <a:endParaRPr lang="en-US" sz="1250" dirty="0"/>
          </a:p>
        </p:txBody>
      </p:sp>
      <p:sp>
        <p:nvSpPr>
          <p:cNvPr id="16" name="R4_a55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Point to it! 🔎</a:t>
            </a:r>
            <a:endParaRPr lang="en-US" sz="1250" dirty="0"/>
          </a:p>
        </p:txBody>
      </p:sp>
      <p:sp>
        <p:nvSpPr>
          <p:cNvPr id="17" name="bk_56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p.4 · 🎧 1.02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5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5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Who's this?</a:t>
            </a:r>
            <a:endParaRPr lang="en-US" sz="3200" dirty="0"/>
          </a:p>
        </p:txBody>
      </p:sp>
      <p:sp>
        <p:nvSpPr>
          <p:cNvPr id="5" name="in_5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name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il nome prima che appaia!</a:t>
            </a:r>
            <a:endParaRPr lang="en-US" sz="1400" dirty="0"/>
          </a:p>
        </p:txBody>
      </p:sp>
      <p:sp>
        <p:nvSpPr>
          <p:cNvPr id="6" name="pf_6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61" descr="/home/claude/movers/img/fc/rock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416" y="1234440"/>
            <a:ext cx="1967169" cy="2651760"/>
          </a:xfrm>
          <a:prstGeom prst="rect">
            <a:avLst/>
          </a:prstGeom>
        </p:spPr>
      </p:pic>
      <p:sp>
        <p:nvSpPr>
          <p:cNvPr id="8" name="R1_w6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Rocky</a:t>
            </a:r>
            <a:endParaRPr lang="en-US" sz="3600" dirty="0"/>
          </a:p>
        </p:txBody>
      </p:sp>
      <p:sp>
        <p:nvSpPr>
          <p:cNvPr id="9" name="R2_it6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gallo (rooster)</a:t>
            </a:r>
            <a:endParaRPr lang="en-US" sz="1600" dirty="0"/>
          </a:p>
        </p:txBody>
      </p:sp>
      <p:sp>
        <p:nvSpPr>
          <p:cNvPr id="10" name="R3_tpr6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Flap your wings! Cock-a-doodle-doo! 🐓</a:t>
            </a:r>
            <a:endParaRPr lang="en-US" sz="1300" dirty="0"/>
          </a:p>
        </p:txBody>
      </p:sp>
      <p:sp>
        <p:nvSpPr>
          <p:cNvPr id="11" name="n_6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/ 6</a:t>
            </a:r>
            <a:endParaRPr lang="en-US" sz="1200" dirty="0"/>
          </a:p>
        </p:txBody>
      </p:sp>
      <p:sp>
        <p:nvSpPr>
          <p:cNvPr id="12" name="bk_66"/>
          <p:cNvSpPr/>
          <p:nvPr/>
        </p:nvSpPr>
        <p:spPr>
          <a:xfrm>
            <a:off x="228600" y="4681728"/>
            <a:ext cx="389077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Friendly Farm flashcards · Pupil's Book p.5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6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6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Who's this?</a:t>
            </a:r>
            <a:endParaRPr lang="en-US" sz="3200" dirty="0"/>
          </a:p>
        </p:txBody>
      </p:sp>
      <p:sp>
        <p:nvSpPr>
          <p:cNvPr id="5" name="in_6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name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il nome prima che appaia!</a:t>
            </a:r>
            <a:endParaRPr lang="en-US" sz="1400" dirty="0"/>
          </a:p>
        </p:txBody>
      </p:sp>
      <p:sp>
        <p:nvSpPr>
          <p:cNvPr id="6" name="pf_7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71" descr="/home/claude/movers/img/fc/henrie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310" y="1234440"/>
            <a:ext cx="2331380" cy="2651760"/>
          </a:xfrm>
          <a:prstGeom prst="rect">
            <a:avLst/>
          </a:prstGeom>
        </p:spPr>
      </p:pic>
      <p:sp>
        <p:nvSpPr>
          <p:cNvPr id="8" name="R1_w7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Henrietta</a:t>
            </a:r>
            <a:endParaRPr lang="en-US" sz="3600" dirty="0"/>
          </a:p>
        </p:txBody>
      </p:sp>
      <p:sp>
        <p:nvSpPr>
          <p:cNvPr id="9" name="R2_it7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gallina, mamma di Rocky</a:t>
            </a:r>
            <a:endParaRPr lang="en-US" sz="1350" dirty="0"/>
          </a:p>
        </p:txBody>
      </p:sp>
      <p:sp>
        <p:nvSpPr>
          <p:cNvPr id="10" name="R3_tpr7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Sit on your eggs. Shh! She's asleep. 😴</a:t>
            </a:r>
            <a:endParaRPr lang="en-US" sz="1300" dirty="0"/>
          </a:p>
        </p:txBody>
      </p:sp>
      <p:sp>
        <p:nvSpPr>
          <p:cNvPr id="11" name="n_7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/ 6</a:t>
            </a:r>
            <a:endParaRPr lang="en-US" sz="1200" dirty="0"/>
          </a:p>
        </p:txBody>
      </p:sp>
      <p:sp>
        <p:nvSpPr>
          <p:cNvPr id="12" name="bk_76"/>
          <p:cNvSpPr/>
          <p:nvPr/>
        </p:nvSpPr>
        <p:spPr>
          <a:xfrm>
            <a:off x="228600" y="4681728"/>
            <a:ext cx="389077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Friendly Farm flashcards · Pupil's Book p.5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7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7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Who's this?</a:t>
            </a:r>
            <a:endParaRPr lang="en-US" sz="3200" dirty="0"/>
          </a:p>
        </p:txBody>
      </p:sp>
      <p:sp>
        <p:nvSpPr>
          <p:cNvPr id="5" name="in_7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name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il nome prima che appaia!</a:t>
            </a:r>
            <a:endParaRPr lang="en-US" sz="1400" dirty="0"/>
          </a:p>
        </p:txBody>
      </p:sp>
      <p:sp>
        <p:nvSpPr>
          <p:cNvPr id="6" name="pf_8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81" descr="/home/claude/movers/img/fc/shel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492" y="1234440"/>
            <a:ext cx="2033016" cy="2651760"/>
          </a:xfrm>
          <a:prstGeom prst="rect">
            <a:avLst/>
          </a:prstGeom>
        </p:spPr>
      </p:pic>
      <p:sp>
        <p:nvSpPr>
          <p:cNvPr id="8" name="R1_w8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Shelly</a:t>
            </a:r>
            <a:endParaRPr lang="en-US" sz="3600" dirty="0"/>
          </a:p>
        </p:txBody>
      </p:sp>
      <p:sp>
        <p:nvSpPr>
          <p:cNvPr id="9" name="R2_it8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pecora (sheep)</a:t>
            </a:r>
            <a:endParaRPr lang="en-US" sz="1600" dirty="0"/>
          </a:p>
        </p:txBody>
      </p:sp>
      <p:sp>
        <p:nvSpPr>
          <p:cNvPr id="10" name="R3_tpr8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Sing like Shelly! La-la-la! 🎤</a:t>
            </a:r>
            <a:endParaRPr lang="en-US" sz="1300" dirty="0"/>
          </a:p>
        </p:txBody>
      </p:sp>
      <p:sp>
        <p:nvSpPr>
          <p:cNvPr id="11" name="n_8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/ 6</a:t>
            </a:r>
            <a:endParaRPr lang="en-US" sz="1200" dirty="0"/>
          </a:p>
        </p:txBody>
      </p:sp>
      <p:sp>
        <p:nvSpPr>
          <p:cNvPr id="12" name="bk_86"/>
          <p:cNvSpPr/>
          <p:nvPr/>
        </p:nvSpPr>
        <p:spPr>
          <a:xfrm>
            <a:off x="228600" y="4681728"/>
            <a:ext cx="389077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Friendly Farm flashcards · Pupil's Book p.5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8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8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Who's this?</a:t>
            </a:r>
            <a:endParaRPr lang="en-US" sz="3200" dirty="0"/>
          </a:p>
        </p:txBody>
      </p:sp>
      <p:sp>
        <p:nvSpPr>
          <p:cNvPr id="5" name="in_8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name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il nome prima che appaia!</a:t>
            </a:r>
            <a:endParaRPr lang="en-US" sz="1400" dirty="0"/>
          </a:p>
        </p:txBody>
      </p:sp>
      <p:sp>
        <p:nvSpPr>
          <p:cNvPr id="6" name="pf_9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91" descr="/home/claude/movers/img/fc/grac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510" y="1234440"/>
            <a:ext cx="2208980" cy="2651760"/>
          </a:xfrm>
          <a:prstGeom prst="rect">
            <a:avLst/>
          </a:prstGeom>
        </p:spPr>
      </p:pic>
      <p:sp>
        <p:nvSpPr>
          <p:cNvPr id="8" name="R1_w9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Gracie</a:t>
            </a:r>
            <a:endParaRPr lang="en-US" sz="3600" dirty="0"/>
          </a:p>
        </p:txBody>
      </p:sp>
      <p:sp>
        <p:nvSpPr>
          <p:cNvPr id="9" name="R2_it9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capra (goat)</a:t>
            </a:r>
            <a:endParaRPr lang="en-US" sz="1600" dirty="0"/>
          </a:p>
        </p:txBody>
      </p:sp>
      <p:sp>
        <p:nvSpPr>
          <p:cNvPr id="10" name="R3_tpr9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Eat paper and books! Munch, munch! 📖</a:t>
            </a:r>
            <a:endParaRPr lang="en-US" sz="1300" dirty="0"/>
          </a:p>
        </p:txBody>
      </p:sp>
      <p:sp>
        <p:nvSpPr>
          <p:cNvPr id="11" name="n_9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/ 6</a:t>
            </a:r>
            <a:endParaRPr lang="en-US" sz="1200" dirty="0"/>
          </a:p>
        </p:txBody>
      </p:sp>
      <p:sp>
        <p:nvSpPr>
          <p:cNvPr id="12" name="bk_96"/>
          <p:cNvSpPr/>
          <p:nvPr/>
        </p:nvSpPr>
        <p:spPr>
          <a:xfrm>
            <a:off x="228600" y="4681728"/>
            <a:ext cx="389077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Friendly Farm flashcards · Pupil's Book p.5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9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9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Who's this?</a:t>
            </a:r>
            <a:endParaRPr lang="en-US" sz="3200" dirty="0"/>
          </a:p>
        </p:txBody>
      </p:sp>
      <p:sp>
        <p:nvSpPr>
          <p:cNvPr id="5" name="in_9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name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il nome prima che appaia!</a:t>
            </a:r>
            <a:endParaRPr lang="en-US" sz="1400" dirty="0"/>
          </a:p>
        </p:txBody>
      </p:sp>
      <p:sp>
        <p:nvSpPr>
          <p:cNvPr id="6" name="pf_10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01" descr="/home/claude/movers/img/fc/har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929" y="1234440"/>
            <a:ext cx="2048141" cy="2651760"/>
          </a:xfrm>
          <a:prstGeom prst="rect">
            <a:avLst/>
          </a:prstGeom>
        </p:spPr>
      </p:pic>
      <p:sp>
        <p:nvSpPr>
          <p:cNvPr id="8" name="R1_w10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Harry</a:t>
            </a:r>
            <a:endParaRPr lang="en-US" sz="3600" dirty="0"/>
          </a:p>
        </p:txBody>
      </p:sp>
      <p:sp>
        <p:nvSpPr>
          <p:cNvPr id="9" name="R2_it10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cavallo (horse)</a:t>
            </a:r>
            <a:endParaRPr lang="en-US" sz="1600" dirty="0"/>
          </a:p>
        </p:txBody>
      </p:sp>
      <p:sp>
        <p:nvSpPr>
          <p:cNvPr id="10" name="R3_tpr10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Gallop like a horse! 🐴</a:t>
            </a:r>
            <a:endParaRPr lang="en-US" sz="1300" dirty="0"/>
          </a:p>
        </p:txBody>
      </p:sp>
      <p:sp>
        <p:nvSpPr>
          <p:cNvPr id="11" name="n_10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/ 6</a:t>
            </a:r>
            <a:endParaRPr lang="en-US" sz="1200" dirty="0"/>
          </a:p>
        </p:txBody>
      </p:sp>
      <p:sp>
        <p:nvSpPr>
          <p:cNvPr id="12" name="bk_106"/>
          <p:cNvSpPr/>
          <p:nvPr/>
        </p:nvSpPr>
        <p:spPr>
          <a:xfrm>
            <a:off x="228600" y="4681728"/>
            <a:ext cx="389077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Friendly Farm flashcards · Pupil's Book p.5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0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FLASHCARDS</a:t>
            </a:r>
            <a:endParaRPr lang="en-US" sz="1600" dirty="0"/>
          </a:p>
        </p:txBody>
      </p:sp>
      <p:sp>
        <p:nvSpPr>
          <p:cNvPr id="4" name="bm_108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Who's this?</a:t>
            </a:r>
            <a:endParaRPr lang="en-US" sz="3200" dirty="0"/>
          </a:p>
        </p:txBody>
      </p:sp>
      <p:sp>
        <p:nvSpPr>
          <p:cNvPr id="5" name="in_10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Look! Say the name before it appears!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Guarda! Di' il nome prima che appaia!</a:t>
            </a:r>
            <a:endParaRPr lang="en-US" sz="1400" dirty="0"/>
          </a:p>
        </p:txBody>
      </p:sp>
      <p:sp>
        <p:nvSpPr>
          <p:cNvPr id="6" name="pf_110"/>
          <p:cNvSpPr/>
          <p:nvPr/>
        </p:nvSpPr>
        <p:spPr>
          <a:xfrm>
            <a:off x="3054096" y="1179576"/>
            <a:ext cx="3035808" cy="276148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pic_111" descr="/home/claude/movers/img/fc/camer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846" y="1234440"/>
            <a:ext cx="2350308" cy="2651760"/>
          </a:xfrm>
          <a:prstGeom prst="rect">
            <a:avLst/>
          </a:prstGeom>
        </p:spPr>
      </p:pic>
      <p:sp>
        <p:nvSpPr>
          <p:cNvPr id="8" name="R1_w112"/>
          <p:cNvSpPr/>
          <p:nvPr/>
        </p:nvSpPr>
        <p:spPr>
          <a:xfrm>
            <a:off x="2194560" y="40050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Cameron</a:t>
            </a:r>
            <a:endParaRPr lang="en-US" sz="3600" dirty="0"/>
          </a:p>
        </p:txBody>
      </p:sp>
      <p:sp>
        <p:nvSpPr>
          <p:cNvPr id="9" name="R2_it113"/>
          <p:cNvSpPr/>
          <p:nvPr/>
        </p:nvSpPr>
        <p:spPr>
          <a:xfrm>
            <a:off x="6446520" y="3017520"/>
            <a:ext cx="242316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5400">
            <a:solidFill>
              <a:srgbClr val="2F9B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gatto (cat)</a:t>
            </a:r>
            <a:endParaRPr lang="en-US" sz="1600" dirty="0"/>
          </a:p>
        </p:txBody>
      </p:sp>
      <p:sp>
        <p:nvSpPr>
          <p:cNvPr id="10" name="R3_tpr114"/>
          <p:cNvSpPr/>
          <p:nvPr/>
        </p:nvSpPr>
        <p:spPr>
          <a:xfrm>
            <a:off x="228600" y="13258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🏃 TPR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Cover your ears! My ears! 🙉</a:t>
            </a:r>
            <a:endParaRPr lang="en-US" sz="1300" dirty="0"/>
          </a:p>
        </p:txBody>
      </p:sp>
      <p:sp>
        <p:nvSpPr>
          <p:cNvPr id="11" name="n_115"/>
          <p:cNvSpPr/>
          <p:nvPr/>
        </p:nvSpPr>
        <p:spPr>
          <a:xfrm>
            <a:off x="7955280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/ 6</a:t>
            </a:r>
            <a:endParaRPr lang="en-US" sz="1200" dirty="0"/>
          </a:p>
        </p:txBody>
      </p:sp>
      <p:sp>
        <p:nvSpPr>
          <p:cNvPr id="12" name="bk_116"/>
          <p:cNvSpPr/>
          <p:nvPr/>
        </p:nvSpPr>
        <p:spPr>
          <a:xfrm>
            <a:off x="228600" y="4681728"/>
            <a:ext cx="389077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Friendly Farm flashcards · Pupil's Book p.5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1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IT!</a:t>
            </a:r>
            <a:endParaRPr lang="en-US" sz="1600" dirty="0"/>
          </a:p>
        </p:txBody>
      </p:sp>
      <p:sp>
        <p:nvSpPr>
          <p:cNvPr id="4" name="bm_118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 huff! ✋</a:t>
            </a:r>
            <a:endParaRPr lang="en-US" sz="2700" dirty="0"/>
          </a:p>
        </p:txBody>
      </p:sp>
      <p:sp>
        <p:nvSpPr>
          <p:cNvPr id="5" name="in_119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Hand in front of your mouth. Feel the H!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Mano davanti alla bocca. Senti la H!</a:t>
            </a:r>
            <a:endParaRPr lang="en-US" sz="1400" dirty="0"/>
          </a:p>
        </p:txBody>
      </p:sp>
      <p:sp>
        <p:nvSpPr>
          <p:cNvPr id="6" name="mode_12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🗣 WHOLE CLASS · ⏱ 3 MIN</a:t>
            </a:r>
            <a:endParaRPr lang="en-US" sz="1000" dirty="0"/>
          </a:p>
        </p:txBody>
      </p:sp>
      <p:sp>
        <p:nvSpPr>
          <p:cNvPr id="7" name="st_121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122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123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0" name="se_124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says the word.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L'insegnante dice la parola.</a:t>
            </a:r>
            <a:endParaRPr lang="en-US" sz="1050" dirty="0"/>
          </a:p>
        </p:txBody>
      </p:sp>
      <p:sp>
        <p:nvSpPr>
          <p:cNvPr id="11" name="st_125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126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127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4" name="se_128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it. Feel the air on your hand!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Ripeti. Senti l'aria sulla mano!</a:t>
            </a:r>
            <a:endParaRPr lang="en-US" sz="1050" dirty="0"/>
          </a:p>
        </p:txBody>
      </p:sp>
      <p:sp>
        <p:nvSpPr>
          <p:cNvPr id="15" name="st_129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130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131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8" name="se_132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says it wrong? Shout STOP!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Errore? Grida STOP!</a:t>
            </a:r>
            <a:endParaRPr lang="en-US" sz="1050" dirty="0"/>
          </a:p>
        </p:txBody>
      </p:sp>
      <p:sp>
        <p:nvSpPr>
          <p:cNvPr id="19" name="cd_133"/>
          <p:cNvSpPr/>
          <p:nvPr/>
        </p:nvSpPr>
        <p:spPr>
          <a:xfrm>
            <a:off x="3108960" y="132588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134" descr="/home/claude/movers/img/fc/har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12" y="1399032"/>
            <a:ext cx="1362456" cy="1362456"/>
          </a:xfrm>
          <a:prstGeom prst="rect">
            <a:avLst/>
          </a:prstGeom>
        </p:spPr>
      </p:pic>
      <p:sp>
        <p:nvSpPr>
          <p:cNvPr id="21" name="cd_135"/>
          <p:cNvSpPr/>
          <p:nvPr/>
        </p:nvSpPr>
        <p:spPr>
          <a:xfrm>
            <a:off x="4754880" y="132588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136" descr="/home/claude/movers/img/fc/henrie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399032"/>
            <a:ext cx="1362456" cy="1362456"/>
          </a:xfrm>
          <a:prstGeom prst="rect">
            <a:avLst/>
          </a:prstGeom>
        </p:spPr>
      </p:pic>
      <p:sp>
        <p:nvSpPr>
          <p:cNvPr id="23" name="cd_137"/>
          <p:cNvSpPr/>
          <p:nvPr/>
        </p:nvSpPr>
        <p:spPr>
          <a:xfrm>
            <a:off x="6400800" y="1325880"/>
            <a:ext cx="1508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138" descr="/home/claude/movers/img/e-s-h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399032"/>
            <a:ext cx="1362456" cy="1362456"/>
          </a:xfrm>
          <a:prstGeom prst="rect">
            <a:avLst/>
          </a:prstGeom>
        </p:spPr>
      </p:pic>
      <p:sp>
        <p:nvSpPr>
          <p:cNvPr id="25" name="gl_139"/>
          <p:cNvSpPr/>
          <p:nvPr/>
        </p:nvSpPr>
        <p:spPr>
          <a:xfrm>
            <a:off x="3108960" y="3657600"/>
            <a:ext cx="571500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Harry · Henrietta · Hello! · How are you? · How old…?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4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CHANT 2</a:t>
            </a:r>
            <a:endParaRPr lang="en-US" sz="1600" dirty="0"/>
          </a:p>
        </p:txBody>
      </p:sp>
      <p:sp>
        <p:nvSpPr>
          <p:cNvPr id="4" name="bm_141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5DA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the chant!</a:t>
            </a:r>
            <a:endParaRPr lang="en-US" sz="2700" dirty="0"/>
          </a:p>
        </p:txBody>
      </p:sp>
      <p:sp>
        <p:nvSpPr>
          <p:cNvPr id="5" name="in_14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groups: Jim and Jenny!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Due gruppi: Jim e Jenny!</a:t>
            </a:r>
            <a:endParaRPr lang="en-US" sz="1400" dirty="0"/>
          </a:p>
        </p:txBody>
      </p:sp>
      <p:sp>
        <p:nvSpPr>
          <p:cNvPr id="6" name="mode_143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2 GROUPS · ⏱ 5 MIN</a:t>
            </a:r>
            <a:endParaRPr lang="en-US" sz="1000" dirty="0"/>
          </a:p>
        </p:txBody>
      </p:sp>
      <p:sp>
        <p:nvSpPr>
          <p:cNvPr id="7" name="st_144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2F9BF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n_145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2F9BF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k_146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</a:t>
            </a:r>
            <a:endParaRPr lang="en-US" sz="1300" dirty="0"/>
          </a:p>
        </p:txBody>
      </p:sp>
      <p:sp>
        <p:nvSpPr>
          <p:cNvPr id="10" name="se_147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to the chant.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Ascolta il chant.</a:t>
            </a:r>
            <a:endParaRPr lang="en-US" sz="1050" dirty="0"/>
          </a:p>
        </p:txBody>
      </p:sp>
      <p:sp>
        <p:nvSpPr>
          <p:cNvPr id="11" name="st_148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sn_149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k_150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4" name="se_151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 group – Jenny group.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Gruppo Jim – gruppo Jenny.</a:t>
            </a:r>
            <a:endParaRPr lang="en-US" sz="1050" dirty="0"/>
          </a:p>
        </p:txBody>
      </p:sp>
      <p:sp>
        <p:nvSpPr>
          <p:cNvPr id="15" name="st_152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sn_153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k_154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8" name="se_155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actions! 👍 7️⃣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i gesti!</a:t>
            </a:r>
            <a:endParaRPr lang="en-US" sz="1050" dirty="0"/>
          </a:p>
        </p:txBody>
      </p:sp>
      <p:sp>
        <p:nvSpPr>
          <p:cNvPr id="19" name="gl_156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Jenny: What's your name? (×2) → Jim: My name's Jim.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Jim: What's your name? (×2) → Jenny: My name's Jenny.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are you? (×2) → I'm fine, thank you.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old are you? (×2) → I'm seven.</a:t>
            </a:r>
            <a:endParaRPr lang="en-US" sz="1400" dirty="0"/>
          </a:p>
        </p:txBody>
      </p:sp>
      <p:sp>
        <p:nvSpPr>
          <p:cNvPr id="20" name="bk_157"/>
          <p:cNvSpPr/>
          <p:nvPr/>
        </p:nvSpPr>
        <p:spPr>
          <a:xfrm>
            <a:off x="228600" y="4681728"/>
            <a:ext cx="3890772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p.4 · 🎧 1.03 · 🎬 chant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5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WATCH OUT 🇮🇹</a:t>
            </a:r>
            <a:endParaRPr lang="en-US" sz="1600" dirty="0"/>
          </a:p>
        </p:txBody>
      </p:sp>
      <p:sp>
        <p:nvSpPr>
          <p:cNvPr id="4" name="bm_15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8A3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Italian trap!</a:t>
            </a:r>
            <a:endParaRPr lang="en-US" sz="2700" dirty="0"/>
          </a:p>
        </p:txBody>
      </p:sp>
      <p:sp>
        <p:nvSpPr>
          <p:cNvPr id="5" name="in_16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 nove anni = ? Think! Then click.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Come si dice? Pensa! Poi clicca.</a:t>
            </a:r>
            <a:endParaRPr lang="en-US" sz="1400" dirty="0"/>
          </a:p>
        </p:txBody>
      </p:sp>
      <p:sp>
        <p:nvSpPr>
          <p:cNvPr id="6" name="mode_16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2 MIN</a:t>
            </a:r>
            <a:endParaRPr lang="en-US" sz="1000" dirty="0"/>
          </a:p>
        </p:txBody>
      </p:sp>
      <p:sp>
        <p:nvSpPr>
          <p:cNvPr id="7" name="gb_162"/>
          <p:cNvSpPr/>
          <p:nvPr/>
        </p:nvSpPr>
        <p:spPr>
          <a:xfrm>
            <a:off x="320040" y="1280160"/>
            <a:ext cx="8503920" cy="841248"/>
          </a:xfrm>
          <a:prstGeom prst="roundRect">
            <a:avLst>
              <a:gd name="adj" fmla="val 13043"/>
            </a:avLst>
          </a:prstGeom>
          <a:solidFill>
            <a:srgbClr val="FFF1E0"/>
          </a:solidFill>
          <a:ln w="38100">
            <a:solidFill>
              <a:srgbClr val="FF8A3D"/>
            </a:solidFill>
            <a:prstDash val="solid"/>
          </a:ln>
        </p:spPr>
      </p:sp>
      <p:sp>
        <p:nvSpPr>
          <p:cNvPr id="8" name="gl_163"/>
          <p:cNvSpPr/>
          <p:nvPr/>
        </p:nvSpPr>
        <p:spPr>
          <a:xfrm>
            <a:off x="548640" y="14173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🇮🇹 </a:t>
            </a:r>
            <a:pPr indent="0" marL="0">
              <a:buNone/>
            </a:pPr>
            <a:r>
              <a:rPr lang="en-US" sz="1500" b="1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 nove anni.</a:t>
            </a:r>
            <a:pPr indent="0" marL="0">
              <a:buNone/>
            </a:pPr>
            <a:r>
              <a:rPr lang="en-US" sz="15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 →  🇬🇧 ???</a:t>
            </a:r>
            <a:endParaRPr lang="en-US" sz="1500" dirty="0"/>
          </a:p>
        </p:txBody>
      </p:sp>
      <p:sp>
        <p:nvSpPr>
          <p:cNvPr id="9" name="pq_164"/>
          <p:cNvSpPr/>
          <p:nvPr/>
        </p:nvSpPr>
        <p:spPr>
          <a:xfrm>
            <a:off x="365760" y="22585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have nine years. ✗  What do we say?</a:t>
            </a:r>
            <a:endParaRPr lang="en-US" sz="1300" dirty="0"/>
          </a:p>
        </p:txBody>
      </p:sp>
      <p:sp>
        <p:nvSpPr>
          <p:cNvPr id="10" name="R1_pa165"/>
          <p:cNvSpPr/>
          <p:nvPr/>
        </p:nvSpPr>
        <p:spPr>
          <a:xfrm>
            <a:off x="6126480" y="2258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I'm nine! ✓</a:t>
            </a:r>
            <a:endParaRPr lang="en-US" sz="1300" dirty="0"/>
          </a:p>
        </p:txBody>
      </p:sp>
      <p:sp>
        <p:nvSpPr>
          <p:cNvPr id="11" name="pq_166"/>
          <p:cNvSpPr/>
          <p:nvPr/>
        </p:nvSpPr>
        <p:spPr>
          <a:xfrm>
            <a:off x="365760" y="27157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many years have you? ✗</a:t>
            </a:r>
            <a:endParaRPr lang="en-US" sz="1300" dirty="0"/>
          </a:p>
        </p:txBody>
      </p:sp>
      <p:sp>
        <p:nvSpPr>
          <p:cNvPr id="12" name="R2_pa167"/>
          <p:cNvSpPr/>
          <p:nvPr/>
        </p:nvSpPr>
        <p:spPr>
          <a:xfrm>
            <a:off x="6126480" y="2715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old are you? ✓</a:t>
            </a:r>
            <a:endParaRPr lang="en-US" sz="1300" dirty="0"/>
          </a:p>
        </p:txBody>
      </p:sp>
      <p:sp>
        <p:nvSpPr>
          <p:cNvPr id="13" name="pq_168"/>
          <p:cNvSpPr/>
          <p:nvPr/>
        </p:nvSpPr>
        <p:spPr>
          <a:xfrm>
            <a:off x="365760" y="31729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My brother has twelve years. ✗</a:t>
            </a:r>
            <a:endParaRPr lang="en-US" sz="1300" dirty="0"/>
          </a:p>
        </p:txBody>
      </p:sp>
      <p:sp>
        <p:nvSpPr>
          <p:cNvPr id="14" name="R3_pa169"/>
          <p:cNvSpPr/>
          <p:nvPr/>
        </p:nvSpPr>
        <p:spPr>
          <a:xfrm>
            <a:off x="6126480" y="31729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My brother is twelve. ✓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7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 3</a:t>
            </a:r>
            <a:endParaRPr lang="en-US" sz="1600" dirty="0"/>
          </a:p>
        </p:txBody>
      </p:sp>
      <p:sp>
        <p:nvSpPr>
          <p:cNvPr id="4" name="bm_171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 and answer</a:t>
            </a:r>
            <a:endParaRPr lang="en-US" sz="2700" dirty="0"/>
          </a:p>
        </p:txBody>
      </p:sp>
      <p:sp>
        <p:nvSpPr>
          <p:cNvPr id="5" name="in_17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and answer. Then ask a friend.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e rispondi. Poi chiedi a un compagno.</a:t>
            </a:r>
            <a:endParaRPr lang="en-US" sz="1400" dirty="0"/>
          </a:p>
        </p:txBody>
      </p:sp>
      <p:sp>
        <p:nvSpPr>
          <p:cNvPr id="6" name="mode_173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 PAIRS · ⏱ 6 MIN</a:t>
            </a:r>
            <a:endParaRPr lang="en-US" sz="1000" dirty="0"/>
          </a:p>
        </p:txBody>
      </p:sp>
      <p:sp>
        <p:nvSpPr>
          <p:cNvPr id="7" name="diff_174"/>
          <p:cNvSpPr/>
          <p:nvPr/>
        </p:nvSpPr>
        <p:spPr>
          <a:xfrm>
            <a:off x="434340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I'm … · I live in …</a:t>
            </a:r>
            <a:endParaRPr lang="en-US" sz="950" dirty="0"/>
          </a:p>
        </p:txBody>
      </p:sp>
      <p:sp>
        <p:nvSpPr>
          <p:cNvPr id="8" name="diff_175"/>
          <p:cNvSpPr/>
          <p:nvPr/>
        </p:nvSpPr>
        <p:spPr>
          <a:xfrm>
            <a:off x="6675120" y="4681728"/>
            <a:ext cx="224028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2545B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🔥 Ask about a friend!</a:t>
            </a:r>
            <a:endParaRPr lang="en-US" sz="950" dirty="0"/>
          </a:p>
        </p:txBody>
      </p:sp>
      <p:sp>
        <p:nvSpPr>
          <p:cNvPr id="9" name="pf_176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pic_177" descr="/home/claude/movers/img/crop/s-p4-jimjenn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5268"/>
            <a:ext cx="5120640" cy="2787343"/>
          </a:xfrm>
          <a:prstGeom prst="rect">
            <a:avLst/>
          </a:prstGeom>
        </p:spPr>
      </p:pic>
      <p:sp>
        <p:nvSpPr>
          <p:cNvPr id="11" name="q_178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your name?</a:t>
            </a:r>
            <a:endParaRPr lang="en-US" sz="1250" dirty="0"/>
          </a:p>
        </p:txBody>
      </p:sp>
      <p:sp>
        <p:nvSpPr>
          <p:cNvPr id="12" name="R1_a179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My name's …</a:t>
            </a:r>
            <a:endParaRPr lang="en-US" sz="1250" dirty="0"/>
          </a:p>
        </p:txBody>
      </p:sp>
      <p:sp>
        <p:nvSpPr>
          <p:cNvPr id="13" name="q_180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are you?</a:t>
            </a:r>
            <a:endParaRPr lang="en-US" sz="1250" dirty="0"/>
          </a:p>
        </p:txBody>
      </p:sp>
      <p:sp>
        <p:nvSpPr>
          <p:cNvPr id="14" name="R2_a181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I'm fine, thank you.</a:t>
            </a:r>
            <a:endParaRPr lang="en-US" sz="1250" dirty="0"/>
          </a:p>
        </p:txBody>
      </p:sp>
      <p:sp>
        <p:nvSpPr>
          <p:cNvPr id="15" name="q_182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old are you?</a:t>
            </a:r>
            <a:endParaRPr lang="en-US" sz="1250" dirty="0"/>
          </a:p>
        </p:txBody>
      </p:sp>
      <p:sp>
        <p:nvSpPr>
          <p:cNvPr id="16" name="R3_a183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I'm nine. (NOT I have…!)</a:t>
            </a:r>
            <a:endParaRPr lang="en-US" sz="1250" dirty="0"/>
          </a:p>
        </p:txBody>
      </p:sp>
      <p:sp>
        <p:nvSpPr>
          <p:cNvPr id="17" name="q_184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Where do you live?</a:t>
            </a:r>
            <a:endParaRPr lang="en-US" sz="1250" dirty="0"/>
          </a:p>
        </p:txBody>
      </p:sp>
      <p:sp>
        <p:nvSpPr>
          <p:cNvPr id="18" name="R4_a185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live in Bagheria.</a:t>
            </a:r>
            <a:endParaRPr lang="en-US" sz="1250" dirty="0"/>
          </a:p>
        </p:txBody>
      </p:sp>
      <p:sp>
        <p:nvSpPr>
          <p:cNvPr id="19" name="bk_186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p.4 · 🎧 1.04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8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SONG</a:t>
            </a:r>
            <a:endParaRPr lang="en-US" sz="1600" dirty="0"/>
          </a:p>
        </p:txBody>
      </p:sp>
      <p:sp>
        <p:nvSpPr>
          <p:cNvPr id="4" name="bm_188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5DA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Friendly Farm song</a:t>
            </a:r>
            <a:endParaRPr lang="en-US" sz="2400" dirty="0"/>
          </a:p>
        </p:txBody>
      </p:sp>
      <p:sp>
        <p:nvSpPr>
          <p:cNvPr id="5" name="in_189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Listen, sing and tap the rhythm!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Ascolta, canta e batti il ritmo!</a:t>
            </a:r>
            <a:endParaRPr lang="en-US" sz="1400" dirty="0"/>
          </a:p>
        </p:txBody>
      </p:sp>
      <p:sp>
        <p:nvSpPr>
          <p:cNvPr id="6" name="mode_19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🎵 SING · ⏱ 3 MIN</a:t>
            </a:r>
            <a:endParaRPr lang="en-US" sz="1000" dirty="0"/>
          </a:p>
        </p:txBody>
      </p:sp>
      <p:sp>
        <p:nvSpPr>
          <p:cNvPr id="7" name="pf_191"/>
          <p:cNvSpPr/>
          <p:nvPr/>
        </p:nvSpPr>
        <p:spPr>
          <a:xfrm>
            <a:off x="310896" y="1271016"/>
            <a:ext cx="4041648" cy="3218688"/>
          </a:xfrm>
          <a:prstGeom prst="roundRect">
            <a:avLst>
              <a:gd name="adj" fmla="val 284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192" descr="/home/claude/movers/img/crop/s-p4-sce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02" y="1325880"/>
            <a:ext cx="3503236" cy="3108960"/>
          </a:xfrm>
          <a:prstGeom prst="rect">
            <a:avLst/>
          </a:prstGeom>
        </p:spPr>
      </p:pic>
      <p:sp>
        <p:nvSpPr>
          <p:cNvPr id="9" name="lk_193"/>
          <p:cNvSpPr/>
          <p:nvPr/>
        </p:nvSpPr>
        <p:spPr>
          <a:xfrm>
            <a:off x="4572000" y="1371600"/>
            <a:ext cx="4297680" cy="475488"/>
          </a:xfrm>
          <a:prstGeom prst="roundRect">
            <a:avLst>
              <a:gd name="adj" fmla="val 26923"/>
            </a:avLst>
          </a:prstGeom>
          <a:solidFill>
            <a:srgbClr val="FFFFFF"/>
          </a:solidFill>
          <a:ln w="31750">
            <a:solidFill>
              <a:srgbClr val="F2545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F2545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  <a:hlinkClick r:id="rId3" invalidUrl="" action="" tgtFrame="" tooltip="https://www.youtube.com/results?search_query=power+up+3+friendly+farm+so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Power Up 3 – Friendly Farm song (search)</a:t>
            </a:r>
            <a:endParaRPr lang="en-US" sz="1300" dirty="0"/>
          </a:p>
        </p:txBody>
      </p:sp>
      <p:sp>
        <p:nvSpPr>
          <p:cNvPr id="10" name="vl_194"/>
          <p:cNvSpPr/>
          <p:nvPr/>
        </p:nvSpPr>
        <p:spPr>
          <a:xfrm>
            <a:off x="4572000" y="2029968"/>
            <a:ext cx="429768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🎵 The Friendly Farm, the Friendly Farm,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Fun and games on the Friendly Farm,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With the animals in the barn,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Fun and games on the Friendly Farm.</a:t>
            </a:r>
            <a:endParaRPr lang="en-US" sz="1300" dirty="0"/>
          </a:p>
        </p:txBody>
      </p:sp>
      <p:sp>
        <p:nvSpPr>
          <p:cNvPr id="11" name="disc_195"/>
          <p:cNvSpPr/>
          <p:nvPr/>
        </p:nvSpPr>
        <p:spPr>
          <a:xfrm>
            <a:off x="4572000" y="42519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preview every link before class (ads, content). The lesson works without it. · Controllare i link prima della lezione.</a:t>
            </a:r>
            <a:endParaRPr lang="en-US" sz="900" dirty="0"/>
          </a:p>
        </p:txBody>
      </p:sp>
      <p:sp>
        <p:nvSpPr>
          <p:cNvPr id="12" name="bk_196"/>
          <p:cNvSpPr/>
          <p:nvPr/>
        </p:nvSpPr>
        <p:spPr>
          <a:xfrm>
            <a:off x="228600" y="4681728"/>
            <a:ext cx="412394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p.5 · 🎧 1.05 (song at the start)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19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</a:t>
            </a:r>
            <a:endParaRPr lang="en-US" sz="1600" dirty="0"/>
          </a:p>
        </p:txBody>
      </p:sp>
      <p:sp>
        <p:nvSpPr>
          <p:cNvPr id="4" name="bm_198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Friendly Farm (1)</a:t>
            </a:r>
            <a:endParaRPr lang="en-US" sz="2400" dirty="0"/>
          </a:p>
        </p:txBody>
      </p:sp>
      <p:sp>
        <p:nvSpPr>
          <p:cNvPr id="5" name="in_199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in Harry's picture? Guess!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Chi c'è nella foto di Harry? Indovina!</a:t>
            </a:r>
            <a:endParaRPr lang="en-US" sz="1400" dirty="0"/>
          </a:p>
        </p:txBody>
      </p:sp>
      <p:sp>
        <p:nvSpPr>
          <p:cNvPr id="6" name="mode_200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⏱ 5 MIN</a:t>
            </a:r>
            <a:endParaRPr lang="en-US" sz="1000" dirty="0"/>
          </a:p>
        </p:txBody>
      </p:sp>
      <p:sp>
        <p:nvSpPr>
          <p:cNvPr id="7" name="pf_201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02" descr="/home/claude/movers/img/crop/s-p5-story1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1" y="1325880"/>
            <a:ext cx="4492818" cy="3246120"/>
          </a:xfrm>
          <a:prstGeom prst="rect">
            <a:avLst/>
          </a:prstGeom>
        </p:spPr>
      </p:pic>
      <p:sp>
        <p:nvSpPr>
          <p:cNvPr id="9" name="q_203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in the photo? (pic 1)</a:t>
            </a:r>
            <a:endParaRPr lang="en-US" sz="1250" dirty="0"/>
          </a:p>
        </p:txBody>
      </p:sp>
      <p:sp>
        <p:nvSpPr>
          <p:cNvPr id="10" name="R1_a204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Shelly's sister.</a:t>
            </a:r>
            <a:endParaRPr lang="en-US" sz="1250" dirty="0"/>
          </a:p>
        </p:txBody>
      </p:sp>
      <p:sp>
        <p:nvSpPr>
          <p:cNvPr id="11" name="q_205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old is Shelly's sister?</a:t>
            </a:r>
            <a:endParaRPr lang="en-US" sz="1250" dirty="0"/>
          </a:p>
        </p:txBody>
      </p:sp>
      <p:sp>
        <p:nvSpPr>
          <p:cNvPr id="12" name="R2_a206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She's five.</a:t>
            </a:r>
            <a:endParaRPr lang="en-US" sz="1250" dirty="0"/>
          </a:p>
        </p:txBody>
      </p:sp>
      <p:sp>
        <p:nvSpPr>
          <p:cNvPr id="13" name="q_207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in Harry's picture? (pic 3)</a:t>
            </a:r>
            <a:endParaRPr lang="en-US" sz="1250" dirty="0"/>
          </a:p>
        </p:txBody>
      </p:sp>
      <p:sp>
        <p:nvSpPr>
          <p:cNvPr id="14" name="R3_a208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His father.</a:t>
            </a:r>
            <a:endParaRPr lang="en-US" sz="1250" dirty="0"/>
          </a:p>
        </p:txBody>
      </p:sp>
      <p:sp>
        <p:nvSpPr>
          <p:cNvPr id="15" name="q_209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Has Harry's father got short hair?</a:t>
            </a:r>
            <a:endParaRPr lang="en-US" sz="1250" dirty="0"/>
          </a:p>
        </p:txBody>
      </p:sp>
      <p:sp>
        <p:nvSpPr>
          <p:cNvPr id="16" name="R4_a210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No, long hair. He's happy.</a:t>
            </a:r>
            <a:endParaRPr lang="en-US" sz="1250" dirty="0"/>
          </a:p>
        </p:txBody>
      </p:sp>
      <p:sp>
        <p:nvSpPr>
          <p:cNvPr id="17" name="bk_211"/>
          <p:cNvSpPr/>
          <p:nvPr/>
        </p:nvSpPr>
        <p:spPr>
          <a:xfrm>
            <a:off x="228600" y="4681728"/>
            <a:ext cx="342442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p.5 · 🎧 1.05 · 🎬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12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STORY</a:t>
            </a:r>
            <a:endParaRPr lang="en-US" sz="1600" dirty="0"/>
          </a:p>
        </p:txBody>
      </p:sp>
      <p:sp>
        <p:nvSpPr>
          <p:cNvPr id="4" name="bm_213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Friendly Farm (2)</a:t>
            </a:r>
            <a:endParaRPr lang="en-US" sz="2400" dirty="0"/>
          </a:p>
        </p:txBody>
      </p:sp>
      <p:sp>
        <p:nvSpPr>
          <p:cNvPr id="5" name="in_214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sleeping? Who's singing?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Chi dorme? Chi canta?</a:t>
            </a:r>
            <a:endParaRPr lang="en-US" sz="1400" dirty="0"/>
          </a:p>
        </p:txBody>
      </p:sp>
      <p:sp>
        <p:nvSpPr>
          <p:cNvPr id="6" name="mode_215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⏱ 3 MIN</a:t>
            </a:r>
            <a:endParaRPr lang="en-US" sz="1000" dirty="0"/>
          </a:p>
        </p:txBody>
      </p:sp>
      <p:sp>
        <p:nvSpPr>
          <p:cNvPr id="7" name="pf_216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17" descr="/home/claude/movers/img/crop/s-p5-story5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70388"/>
            <a:ext cx="5120640" cy="1957103"/>
          </a:xfrm>
          <a:prstGeom prst="rect">
            <a:avLst/>
          </a:prstGeom>
        </p:spPr>
      </p:pic>
      <p:sp>
        <p:nvSpPr>
          <p:cNvPr id="9" name="q_218"/>
          <p:cNvSpPr/>
          <p:nvPr/>
        </p:nvSpPr>
        <p:spPr>
          <a:xfrm>
            <a:off x="5760720" y="132588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sleeping? (pic 5)</a:t>
            </a:r>
            <a:endParaRPr lang="en-US" sz="1250" dirty="0"/>
          </a:p>
        </p:txBody>
      </p:sp>
      <p:sp>
        <p:nvSpPr>
          <p:cNvPr id="10" name="R1_a219"/>
          <p:cNvSpPr/>
          <p:nvPr/>
        </p:nvSpPr>
        <p:spPr>
          <a:xfrm>
            <a:off x="5989320" y="177759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Henrietta – Rocky's mum.</a:t>
            </a:r>
            <a:endParaRPr lang="en-US" sz="1250" dirty="0"/>
          </a:p>
        </p:txBody>
      </p:sp>
      <p:sp>
        <p:nvSpPr>
          <p:cNvPr id="11" name="q_220"/>
          <p:cNvSpPr/>
          <p:nvPr/>
        </p:nvSpPr>
        <p:spPr>
          <a:xfrm>
            <a:off x="5760720" y="219456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Who's singing? (pic 6)</a:t>
            </a:r>
            <a:endParaRPr lang="en-US" sz="1250" dirty="0"/>
          </a:p>
        </p:txBody>
      </p:sp>
      <p:sp>
        <p:nvSpPr>
          <p:cNvPr id="12" name="R2_a221"/>
          <p:cNvSpPr/>
          <p:nvPr/>
        </p:nvSpPr>
        <p:spPr>
          <a:xfrm>
            <a:off x="5989320" y="264627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Shelly.</a:t>
            </a:r>
            <a:endParaRPr lang="en-US" sz="1250" dirty="0"/>
          </a:p>
        </p:txBody>
      </p:sp>
      <p:sp>
        <p:nvSpPr>
          <p:cNvPr id="13" name="q_222"/>
          <p:cNvSpPr/>
          <p:nvPr/>
        </p:nvSpPr>
        <p:spPr>
          <a:xfrm>
            <a:off x="5760720" y="3063240"/>
            <a:ext cx="30175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Is her singing nice?</a:t>
            </a:r>
            <a:endParaRPr lang="en-US" sz="1250" dirty="0"/>
          </a:p>
        </p:txBody>
      </p:sp>
      <p:sp>
        <p:nvSpPr>
          <p:cNvPr id="14" name="R3_a223"/>
          <p:cNvSpPr/>
          <p:nvPr/>
        </p:nvSpPr>
        <p:spPr>
          <a:xfrm>
            <a:off x="5989320" y="3514954"/>
            <a:ext cx="278892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No! 🙉</a:t>
            </a:r>
            <a:endParaRPr lang="en-US" sz="1250" dirty="0"/>
          </a:p>
        </p:txBody>
      </p:sp>
      <p:sp>
        <p:nvSpPr>
          <p:cNvPr id="15" name="bk_224"/>
          <p:cNvSpPr/>
          <p:nvPr/>
        </p:nvSpPr>
        <p:spPr>
          <a:xfrm>
            <a:off x="228600" y="4681728"/>
            <a:ext cx="3424428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p.5 · 🎧 1.05 · 🎬 video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2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4</a:t>
            </a:r>
            <a:endParaRPr lang="en-US" sz="1600" dirty="0"/>
          </a:p>
        </p:txBody>
      </p:sp>
      <p:sp>
        <p:nvSpPr>
          <p:cNvPr id="4" name="bm_226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says it? (1)</a:t>
            </a:r>
            <a:endParaRPr lang="en-US" sz="2700" dirty="0"/>
          </a:p>
        </p:txBody>
      </p:sp>
      <p:sp>
        <p:nvSpPr>
          <p:cNvPr id="5" name="in_227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Point to the animal!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Indica l'animale!</a:t>
            </a:r>
            <a:endParaRPr lang="en-US" sz="1400" dirty="0"/>
          </a:p>
        </p:txBody>
      </p:sp>
      <p:sp>
        <p:nvSpPr>
          <p:cNvPr id="6" name="mode_228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⏱ 3 MIN</a:t>
            </a:r>
            <a:endParaRPr lang="en-US" sz="1000" dirty="0"/>
          </a:p>
        </p:txBody>
      </p:sp>
      <p:sp>
        <p:nvSpPr>
          <p:cNvPr id="7" name="pf_229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30" descr="/home/claude/movers/img/crop/s-p5-stor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007" y="1325880"/>
            <a:ext cx="2752145" cy="3246120"/>
          </a:xfrm>
          <a:prstGeom prst="rect">
            <a:avLst/>
          </a:prstGeom>
        </p:spPr>
      </p:pic>
      <p:sp>
        <p:nvSpPr>
          <p:cNvPr id="9" name="q_231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“How old is she?”</a:t>
            </a:r>
            <a:endParaRPr lang="en-US" sz="1250" dirty="0"/>
          </a:p>
        </p:txBody>
      </p:sp>
      <p:sp>
        <p:nvSpPr>
          <p:cNvPr id="10" name="R1_a232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Harry 🐴</a:t>
            </a:r>
            <a:endParaRPr lang="en-US" sz="1250" dirty="0"/>
          </a:p>
        </p:txBody>
      </p:sp>
      <p:sp>
        <p:nvSpPr>
          <p:cNvPr id="11" name="q_233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“What … is … that?”</a:t>
            </a:r>
            <a:endParaRPr lang="en-US" sz="1250" dirty="0"/>
          </a:p>
        </p:txBody>
      </p:sp>
      <p:sp>
        <p:nvSpPr>
          <p:cNvPr id="12" name="R2_a234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Henrietta 🐔</a:t>
            </a:r>
            <a:endParaRPr lang="en-US" sz="1250" dirty="0"/>
          </a:p>
        </p:txBody>
      </p:sp>
      <p:sp>
        <p:nvSpPr>
          <p:cNvPr id="13" name="q_235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“I like eating paper and books.”</a:t>
            </a:r>
            <a:endParaRPr lang="en-US" sz="1250" dirty="0"/>
          </a:p>
        </p:txBody>
      </p:sp>
      <p:sp>
        <p:nvSpPr>
          <p:cNvPr id="14" name="R3_a236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Gracie 🐐</a:t>
            </a:r>
            <a:endParaRPr lang="en-US" sz="1250" dirty="0"/>
          </a:p>
        </p:txBody>
      </p:sp>
      <p:sp>
        <p:nvSpPr>
          <p:cNvPr id="15" name="q_237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“That's a photo of Shelly's sister.”</a:t>
            </a:r>
            <a:endParaRPr lang="en-US" sz="1250" dirty="0"/>
          </a:p>
        </p:txBody>
      </p:sp>
      <p:sp>
        <p:nvSpPr>
          <p:cNvPr id="16" name="R4_a238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Rocky 🐓</a:t>
            </a:r>
            <a:endParaRPr lang="en-US" sz="1250" dirty="0"/>
          </a:p>
        </p:txBody>
      </p:sp>
      <p:sp>
        <p:nvSpPr>
          <p:cNvPr id="17" name="bk_239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p.5 · 🎧 1.06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4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LISTEN 4</a:t>
            </a:r>
            <a:endParaRPr lang="en-US" sz="1600" dirty="0"/>
          </a:p>
        </p:txBody>
      </p:sp>
      <p:sp>
        <p:nvSpPr>
          <p:cNvPr id="4" name="bm_241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says it? (2)</a:t>
            </a:r>
            <a:endParaRPr lang="en-US" sz="2700" dirty="0"/>
          </a:p>
        </p:txBody>
      </p:sp>
      <p:sp>
        <p:nvSpPr>
          <p:cNvPr id="5" name="in_24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Point to the animal!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Indica l'animale!</a:t>
            </a:r>
            <a:endParaRPr lang="en-US" sz="1400" dirty="0"/>
          </a:p>
        </p:txBody>
      </p:sp>
      <p:sp>
        <p:nvSpPr>
          <p:cNvPr id="6" name="mode_243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👂 LISTEN · ⏱ 2 MIN</a:t>
            </a:r>
            <a:endParaRPr lang="en-US" sz="1000" dirty="0"/>
          </a:p>
        </p:txBody>
      </p:sp>
      <p:sp>
        <p:nvSpPr>
          <p:cNvPr id="7" name="pf_244"/>
          <p:cNvSpPr/>
          <p:nvPr/>
        </p:nvSpPr>
        <p:spPr>
          <a:xfrm>
            <a:off x="310896" y="1271016"/>
            <a:ext cx="5230368" cy="3355848"/>
          </a:xfrm>
          <a:prstGeom prst="roundRect">
            <a:avLst>
              <a:gd name="adj" fmla="val 2725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pic_245" descr="/home/claude/movers/img/crop/s-p5-stor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007" y="1325880"/>
            <a:ext cx="2752145" cy="3246120"/>
          </a:xfrm>
          <a:prstGeom prst="rect">
            <a:avLst/>
          </a:prstGeom>
        </p:spPr>
      </p:pic>
      <p:sp>
        <p:nvSpPr>
          <p:cNvPr id="9" name="q_246"/>
          <p:cNvSpPr/>
          <p:nvPr/>
        </p:nvSpPr>
        <p:spPr>
          <a:xfrm>
            <a:off x="5760720" y="132588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“We're a beautiful family.”</a:t>
            </a:r>
            <a:endParaRPr lang="en-US" sz="1250" dirty="0"/>
          </a:p>
        </p:txBody>
      </p:sp>
      <p:sp>
        <p:nvSpPr>
          <p:cNvPr id="10" name="R1_a247"/>
          <p:cNvSpPr/>
          <p:nvPr/>
        </p:nvSpPr>
        <p:spPr>
          <a:xfrm>
            <a:off x="5989320" y="175381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Shelly 🐑</a:t>
            </a:r>
            <a:endParaRPr lang="en-US" sz="1250" dirty="0"/>
          </a:p>
        </p:txBody>
      </p:sp>
      <p:sp>
        <p:nvSpPr>
          <p:cNvPr id="11" name="q_248"/>
          <p:cNvSpPr/>
          <p:nvPr/>
        </p:nvSpPr>
        <p:spPr>
          <a:xfrm>
            <a:off x="5760720" y="214884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“My ears, my ears …”</a:t>
            </a:r>
            <a:endParaRPr lang="en-US" sz="1250" dirty="0"/>
          </a:p>
        </p:txBody>
      </p:sp>
      <p:sp>
        <p:nvSpPr>
          <p:cNvPr id="12" name="R2_a249"/>
          <p:cNvSpPr/>
          <p:nvPr/>
        </p:nvSpPr>
        <p:spPr>
          <a:xfrm>
            <a:off x="5989320" y="257677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Cameron 🐱</a:t>
            </a:r>
            <a:endParaRPr lang="en-US" sz="1250" dirty="0"/>
          </a:p>
        </p:txBody>
      </p:sp>
      <p:sp>
        <p:nvSpPr>
          <p:cNvPr id="13" name="q_250"/>
          <p:cNvSpPr/>
          <p:nvPr/>
        </p:nvSpPr>
        <p:spPr>
          <a:xfrm>
            <a:off x="5760720" y="297180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“Look! This is an old photo of my father.”</a:t>
            </a:r>
            <a:endParaRPr lang="en-US" sz="1250" dirty="0"/>
          </a:p>
        </p:txBody>
      </p:sp>
      <p:sp>
        <p:nvSpPr>
          <p:cNvPr id="14" name="R3_a251"/>
          <p:cNvSpPr/>
          <p:nvPr/>
        </p:nvSpPr>
        <p:spPr>
          <a:xfrm>
            <a:off x="5989320" y="339973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Harry 🐴</a:t>
            </a:r>
            <a:endParaRPr lang="en-US" sz="1250" dirty="0"/>
          </a:p>
        </p:txBody>
      </p:sp>
      <p:sp>
        <p:nvSpPr>
          <p:cNvPr id="15" name="q_252"/>
          <p:cNvSpPr/>
          <p:nvPr/>
        </p:nvSpPr>
        <p:spPr>
          <a:xfrm>
            <a:off x="5760720" y="3794760"/>
            <a:ext cx="3017520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  </a:t>
            </a:r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“You can't eat my sister!”</a:t>
            </a:r>
            <a:endParaRPr lang="en-US" sz="1250" dirty="0"/>
          </a:p>
        </p:txBody>
      </p:sp>
      <p:sp>
        <p:nvSpPr>
          <p:cNvPr id="16" name="R4_a253"/>
          <p:cNvSpPr/>
          <p:nvPr/>
        </p:nvSpPr>
        <p:spPr>
          <a:xfrm>
            <a:off x="5989320" y="4222699"/>
            <a:ext cx="2788920" cy="3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CCB3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Shelly 🐑</a:t>
            </a:r>
            <a:endParaRPr lang="en-US" sz="1250" dirty="0"/>
          </a:p>
        </p:txBody>
      </p:sp>
      <p:sp>
        <p:nvSpPr>
          <p:cNvPr id="17" name="bk_254"/>
          <p:cNvSpPr/>
          <p:nvPr/>
        </p:nvSpPr>
        <p:spPr>
          <a:xfrm>
            <a:off x="228600" y="4681728"/>
            <a:ext cx="2569464" cy="329184"/>
          </a:xfrm>
          <a:prstGeom prst="roundRect">
            <a:avLst>
              <a:gd name="adj" fmla="val 33333"/>
            </a:avLst>
          </a:prstGeom>
          <a:solidFill>
            <a:srgbClr val="1E2A5A"/>
          </a:solidFill>
          <a:ln w="19050">
            <a:solidFill>
              <a:srgbClr val="FFFFFF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📘 Pupil's Book p.5 · 🎧 1.06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5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56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and remember!</a:t>
            </a:r>
            <a:endParaRPr lang="en-US" sz="2700" dirty="0"/>
          </a:p>
        </p:txBody>
      </p:sp>
      <p:sp>
        <p:nvSpPr>
          <p:cNvPr id="5" name="in_257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 for 10 seconds. Remember ALL the pictures!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e ricorda tutte le immagini!</a:t>
            </a:r>
            <a:endParaRPr lang="en-US" sz="1400" dirty="0"/>
          </a:p>
        </p:txBody>
      </p:sp>
      <p:sp>
        <p:nvSpPr>
          <p:cNvPr id="6" name="cd_258"/>
          <p:cNvSpPr/>
          <p:nvPr/>
        </p:nvSpPr>
        <p:spPr>
          <a:xfrm>
            <a:off x="43434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259" descr="/home/claude/movers/img/fc/rock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1353312"/>
            <a:ext cx="1298448" cy="1298448"/>
          </a:xfrm>
          <a:prstGeom prst="rect">
            <a:avLst/>
          </a:prstGeom>
        </p:spPr>
      </p:pic>
      <p:sp>
        <p:nvSpPr>
          <p:cNvPr id="8" name="lb_260"/>
          <p:cNvSpPr/>
          <p:nvPr/>
        </p:nvSpPr>
        <p:spPr>
          <a:xfrm>
            <a:off x="47091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rocky</a:t>
            </a:r>
            <a:endParaRPr lang="en-US" sz="1200" dirty="0"/>
          </a:p>
        </p:txBody>
      </p:sp>
      <p:sp>
        <p:nvSpPr>
          <p:cNvPr id="9" name="cd_261"/>
          <p:cNvSpPr/>
          <p:nvPr/>
        </p:nvSpPr>
        <p:spPr>
          <a:xfrm>
            <a:off x="258318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262" descr="/home/claude/movers/img/fc/henrie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56" y="1353312"/>
            <a:ext cx="1298448" cy="1298448"/>
          </a:xfrm>
          <a:prstGeom prst="rect">
            <a:avLst/>
          </a:prstGeom>
        </p:spPr>
      </p:pic>
      <p:sp>
        <p:nvSpPr>
          <p:cNvPr id="11" name="lb_263"/>
          <p:cNvSpPr/>
          <p:nvPr/>
        </p:nvSpPr>
        <p:spPr>
          <a:xfrm>
            <a:off x="261975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henrietta</a:t>
            </a:r>
            <a:endParaRPr lang="en-US" sz="1200" dirty="0"/>
          </a:p>
        </p:txBody>
      </p:sp>
      <p:sp>
        <p:nvSpPr>
          <p:cNvPr id="12" name="cd_264"/>
          <p:cNvSpPr/>
          <p:nvPr/>
        </p:nvSpPr>
        <p:spPr>
          <a:xfrm>
            <a:off x="473202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265" descr="/home/claude/movers/img/fc/shel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96" y="1353312"/>
            <a:ext cx="1298448" cy="1298448"/>
          </a:xfrm>
          <a:prstGeom prst="rect">
            <a:avLst/>
          </a:prstGeom>
        </p:spPr>
      </p:pic>
      <p:sp>
        <p:nvSpPr>
          <p:cNvPr id="14" name="lb_266"/>
          <p:cNvSpPr/>
          <p:nvPr/>
        </p:nvSpPr>
        <p:spPr>
          <a:xfrm>
            <a:off x="476859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shelly</a:t>
            </a:r>
            <a:endParaRPr lang="en-US" sz="1200" dirty="0"/>
          </a:p>
        </p:txBody>
      </p:sp>
      <p:sp>
        <p:nvSpPr>
          <p:cNvPr id="15" name="cd_267"/>
          <p:cNvSpPr/>
          <p:nvPr/>
        </p:nvSpPr>
        <p:spPr>
          <a:xfrm>
            <a:off x="688086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268" descr="/home/claude/movers/img/fc/grac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36" y="1353312"/>
            <a:ext cx="1298448" cy="1298448"/>
          </a:xfrm>
          <a:prstGeom prst="rect">
            <a:avLst/>
          </a:prstGeom>
        </p:spPr>
      </p:pic>
      <p:sp>
        <p:nvSpPr>
          <p:cNvPr id="17" name="lb_269"/>
          <p:cNvSpPr/>
          <p:nvPr/>
        </p:nvSpPr>
        <p:spPr>
          <a:xfrm>
            <a:off x="691743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gracie</a:t>
            </a:r>
            <a:endParaRPr lang="en-US" sz="1200" dirty="0"/>
          </a:p>
        </p:txBody>
      </p:sp>
      <p:sp>
        <p:nvSpPr>
          <p:cNvPr id="18" name="cd_270"/>
          <p:cNvSpPr/>
          <p:nvPr/>
        </p:nvSpPr>
        <p:spPr>
          <a:xfrm>
            <a:off x="43434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271" descr="/home/claude/movers/img/fc/har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3291840"/>
            <a:ext cx="1298448" cy="1298448"/>
          </a:xfrm>
          <a:prstGeom prst="rect">
            <a:avLst/>
          </a:prstGeom>
        </p:spPr>
      </p:pic>
      <p:sp>
        <p:nvSpPr>
          <p:cNvPr id="20" name="lb_272"/>
          <p:cNvSpPr/>
          <p:nvPr/>
        </p:nvSpPr>
        <p:spPr>
          <a:xfrm>
            <a:off x="47091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harry</a:t>
            </a:r>
            <a:endParaRPr lang="en-US" sz="1200" dirty="0"/>
          </a:p>
        </p:txBody>
      </p:sp>
      <p:sp>
        <p:nvSpPr>
          <p:cNvPr id="21" name="cd_273"/>
          <p:cNvSpPr/>
          <p:nvPr/>
        </p:nvSpPr>
        <p:spPr>
          <a:xfrm>
            <a:off x="258318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274" descr="/home/claude/movers/img/fc/camer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8356" y="3291840"/>
            <a:ext cx="1298448" cy="1298448"/>
          </a:xfrm>
          <a:prstGeom prst="rect">
            <a:avLst/>
          </a:prstGeom>
        </p:spPr>
      </p:pic>
      <p:sp>
        <p:nvSpPr>
          <p:cNvPr id="23" name="lb_275"/>
          <p:cNvSpPr/>
          <p:nvPr/>
        </p:nvSpPr>
        <p:spPr>
          <a:xfrm>
            <a:off x="261975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cameron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76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277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missing?</a:t>
            </a:r>
            <a:endParaRPr lang="en-US" sz="2700" dirty="0"/>
          </a:p>
        </p:txBody>
      </p:sp>
      <p:sp>
        <p:nvSpPr>
          <p:cNvPr id="5" name="in_278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Open your eyes! What's missing? Write it or whisper it to your partner.</a:t>
            </a:r>
            <a:endParaRPr lang="en-US" sz="1350" dirty="0"/>
          </a:p>
          <a:p>
            <a:pPr indent="0" marL="0">
              <a:buNone/>
            </a:pPr>
            <a:r>
              <a:rPr lang="en-US" sz="115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Apri gli occhi! Cosa manca? Scrivilo o dillo al compagno.</a:t>
            </a:r>
            <a:endParaRPr lang="en-US" sz="1350" dirty="0"/>
          </a:p>
        </p:txBody>
      </p:sp>
      <p:sp>
        <p:nvSpPr>
          <p:cNvPr id="6" name="cd_279"/>
          <p:cNvSpPr/>
          <p:nvPr/>
        </p:nvSpPr>
        <p:spPr>
          <a:xfrm>
            <a:off x="43434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280" descr="/home/claude/movers/img/fc/rock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1353312"/>
            <a:ext cx="1298448" cy="1298448"/>
          </a:xfrm>
          <a:prstGeom prst="rect">
            <a:avLst/>
          </a:prstGeom>
        </p:spPr>
      </p:pic>
      <p:sp>
        <p:nvSpPr>
          <p:cNvPr id="8" name="lb_281"/>
          <p:cNvSpPr/>
          <p:nvPr/>
        </p:nvSpPr>
        <p:spPr>
          <a:xfrm>
            <a:off x="47091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rocky</a:t>
            </a:r>
            <a:endParaRPr lang="en-US" sz="1200" dirty="0"/>
          </a:p>
        </p:txBody>
      </p:sp>
      <p:sp>
        <p:nvSpPr>
          <p:cNvPr id="9" name="cd_282"/>
          <p:cNvSpPr/>
          <p:nvPr/>
        </p:nvSpPr>
        <p:spPr>
          <a:xfrm>
            <a:off x="258318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283" descr="/home/claude/movers/img/fc/henrie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56" y="1353312"/>
            <a:ext cx="1298448" cy="1298448"/>
          </a:xfrm>
          <a:prstGeom prst="rect">
            <a:avLst/>
          </a:prstGeom>
        </p:spPr>
      </p:pic>
      <p:sp>
        <p:nvSpPr>
          <p:cNvPr id="11" name="lb_284"/>
          <p:cNvSpPr/>
          <p:nvPr/>
        </p:nvSpPr>
        <p:spPr>
          <a:xfrm>
            <a:off x="261975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henrietta</a:t>
            </a:r>
            <a:endParaRPr lang="en-US" sz="1200" dirty="0"/>
          </a:p>
        </p:txBody>
      </p:sp>
      <p:sp>
        <p:nvSpPr>
          <p:cNvPr id="12" name="cd_285"/>
          <p:cNvSpPr/>
          <p:nvPr/>
        </p:nvSpPr>
        <p:spPr>
          <a:xfrm>
            <a:off x="473202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286" descr="/home/claude/movers/img/fc/shel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96" y="1353312"/>
            <a:ext cx="1298448" cy="1298448"/>
          </a:xfrm>
          <a:prstGeom prst="rect">
            <a:avLst/>
          </a:prstGeom>
        </p:spPr>
      </p:pic>
      <p:sp>
        <p:nvSpPr>
          <p:cNvPr id="14" name="lb_287"/>
          <p:cNvSpPr/>
          <p:nvPr/>
        </p:nvSpPr>
        <p:spPr>
          <a:xfrm>
            <a:off x="476859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shelly</a:t>
            </a:r>
            <a:endParaRPr lang="en-US" sz="1200" dirty="0"/>
          </a:p>
        </p:txBody>
      </p:sp>
      <p:sp>
        <p:nvSpPr>
          <p:cNvPr id="15" name="q_288"/>
          <p:cNvSpPr/>
          <p:nvPr/>
        </p:nvSpPr>
        <p:spPr>
          <a:xfrm>
            <a:off x="688086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D23F"/>
          </a:solidFill>
          <a:ln w="38100">
            <a:solidFill>
              <a:srgbClr val="1E2A5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6000" dirty="0"/>
          </a:p>
        </p:txBody>
      </p:sp>
      <p:sp>
        <p:nvSpPr>
          <p:cNvPr id="16" name="cd_289"/>
          <p:cNvSpPr/>
          <p:nvPr/>
        </p:nvSpPr>
        <p:spPr>
          <a:xfrm>
            <a:off x="43434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290" descr="/home/claude/movers/img/fc/har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3291840"/>
            <a:ext cx="1298448" cy="1298448"/>
          </a:xfrm>
          <a:prstGeom prst="rect">
            <a:avLst/>
          </a:prstGeom>
        </p:spPr>
      </p:pic>
      <p:sp>
        <p:nvSpPr>
          <p:cNvPr id="18" name="lb_291"/>
          <p:cNvSpPr/>
          <p:nvPr/>
        </p:nvSpPr>
        <p:spPr>
          <a:xfrm>
            <a:off x="47091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harry</a:t>
            </a:r>
            <a:endParaRPr lang="en-US" sz="1200" dirty="0"/>
          </a:p>
        </p:txBody>
      </p:sp>
      <p:sp>
        <p:nvSpPr>
          <p:cNvPr id="19" name="cd_292"/>
          <p:cNvSpPr/>
          <p:nvPr/>
        </p:nvSpPr>
        <p:spPr>
          <a:xfrm>
            <a:off x="258318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293" descr="/home/claude/movers/img/fc/camer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8356" y="3291840"/>
            <a:ext cx="1298448" cy="1298448"/>
          </a:xfrm>
          <a:prstGeom prst="rect">
            <a:avLst/>
          </a:prstGeom>
        </p:spPr>
      </p:pic>
      <p:sp>
        <p:nvSpPr>
          <p:cNvPr id="21" name="lb_294"/>
          <p:cNvSpPr/>
          <p:nvPr/>
        </p:nvSpPr>
        <p:spPr>
          <a:xfrm>
            <a:off x="261975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cameron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29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600" dirty="0"/>
          </a:p>
        </p:txBody>
      </p:sp>
      <p:sp>
        <p:nvSpPr>
          <p:cNvPr id="4" name="bm_296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Were you right?</a:t>
            </a:r>
            <a:endParaRPr lang="en-US" sz="2700" dirty="0"/>
          </a:p>
        </p:txBody>
      </p:sp>
      <p:sp>
        <p:nvSpPr>
          <p:cNvPr id="5" name="in_297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It's Gracie!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È Gracie!</a:t>
            </a:r>
            <a:endParaRPr lang="en-US" sz="1400" dirty="0"/>
          </a:p>
        </p:txBody>
      </p:sp>
      <p:sp>
        <p:nvSpPr>
          <p:cNvPr id="6" name="cd_298"/>
          <p:cNvSpPr/>
          <p:nvPr/>
        </p:nvSpPr>
        <p:spPr>
          <a:xfrm>
            <a:off x="43434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299" descr="/home/claude/movers/img/fc/rock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1353312"/>
            <a:ext cx="1298448" cy="1298448"/>
          </a:xfrm>
          <a:prstGeom prst="rect">
            <a:avLst/>
          </a:prstGeom>
        </p:spPr>
      </p:pic>
      <p:sp>
        <p:nvSpPr>
          <p:cNvPr id="8" name="lb_300"/>
          <p:cNvSpPr/>
          <p:nvPr/>
        </p:nvSpPr>
        <p:spPr>
          <a:xfrm>
            <a:off x="47091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rocky</a:t>
            </a:r>
            <a:endParaRPr lang="en-US" sz="1200" dirty="0"/>
          </a:p>
        </p:txBody>
      </p:sp>
      <p:sp>
        <p:nvSpPr>
          <p:cNvPr id="9" name="cd_301"/>
          <p:cNvSpPr/>
          <p:nvPr/>
        </p:nvSpPr>
        <p:spPr>
          <a:xfrm>
            <a:off x="258318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302" descr="/home/claude/movers/img/fc/henrie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56" y="1353312"/>
            <a:ext cx="1298448" cy="1298448"/>
          </a:xfrm>
          <a:prstGeom prst="rect">
            <a:avLst/>
          </a:prstGeom>
        </p:spPr>
      </p:pic>
      <p:sp>
        <p:nvSpPr>
          <p:cNvPr id="11" name="lb_303"/>
          <p:cNvSpPr/>
          <p:nvPr/>
        </p:nvSpPr>
        <p:spPr>
          <a:xfrm>
            <a:off x="261975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henrietta</a:t>
            </a:r>
            <a:endParaRPr lang="en-US" sz="1200" dirty="0"/>
          </a:p>
        </p:txBody>
      </p:sp>
      <p:sp>
        <p:nvSpPr>
          <p:cNvPr id="12" name="cd_304"/>
          <p:cNvSpPr/>
          <p:nvPr/>
        </p:nvSpPr>
        <p:spPr>
          <a:xfrm>
            <a:off x="473202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305" descr="/home/claude/movers/img/fc/shel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96" y="1353312"/>
            <a:ext cx="1298448" cy="1298448"/>
          </a:xfrm>
          <a:prstGeom prst="rect">
            <a:avLst/>
          </a:prstGeom>
        </p:spPr>
      </p:pic>
      <p:sp>
        <p:nvSpPr>
          <p:cNvPr id="14" name="lb_306"/>
          <p:cNvSpPr/>
          <p:nvPr/>
        </p:nvSpPr>
        <p:spPr>
          <a:xfrm>
            <a:off x="476859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shelly</a:t>
            </a:r>
            <a:endParaRPr lang="en-US" sz="1200" dirty="0"/>
          </a:p>
        </p:txBody>
      </p:sp>
      <p:sp>
        <p:nvSpPr>
          <p:cNvPr id="15" name="cd_307"/>
          <p:cNvSpPr/>
          <p:nvPr/>
        </p:nvSpPr>
        <p:spPr>
          <a:xfrm>
            <a:off x="688086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308" descr="/home/claude/movers/img/fc/grac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36" y="1353312"/>
            <a:ext cx="1298448" cy="1298448"/>
          </a:xfrm>
          <a:prstGeom prst="rect">
            <a:avLst/>
          </a:prstGeom>
        </p:spPr>
      </p:pic>
      <p:sp>
        <p:nvSpPr>
          <p:cNvPr id="17" name="lb_309"/>
          <p:cNvSpPr/>
          <p:nvPr/>
        </p:nvSpPr>
        <p:spPr>
          <a:xfrm>
            <a:off x="691743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gracie</a:t>
            </a:r>
            <a:endParaRPr lang="en-US" sz="1200" dirty="0"/>
          </a:p>
        </p:txBody>
      </p:sp>
      <p:sp>
        <p:nvSpPr>
          <p:cNvPr id="18" name="hl_310"/>
          <p:cNvSpPr/>
          <p:nvPr/>
        </p:nvSpPr>
        <p:spPr>
          <a:xfrm>
            <a:off x="6825996" y="1225296"/>
            <a:ext cx="1938528" cy="1938528"/>
          </a:xfrm>
          <a:prstGeom prst="roundRect">
            <a:avLst>
              <a:gd name="adj" fmla="val 5660"/>
            </a:avLst>
          </a:prstGeom>
          <a:ln w="76200">
            <a:solidFill>
              <a:srgbClr val="6CCB3B"/>
            </a:solidFill>
            <a:prstDash val="solid"/>
          </a:ln>
        </p:spPr>
      </p:sp>
      <p:sp>
        <p:nvSpPr>
          <p:cNvPr id="19" name="cd_311"/>
          <p:cNvSpPr/>
          <p:nvPr/>
        </p:nvSpPr>
        <p:spPr>
          <a:xfrm>
            <a:off x="43434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312" descr="/home/claude/movers/img/fc/har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3291840"/>
            <a:ext cx="1298448" cy="1298448"/>
          </a:xfrm>
          <a:prstGeom prst="rect">
            <a:avLst/>
          </a:prstGeom>
        </p:spPr>
      </p:pic>
      <p:sp>
        <p:nvSpPr>
          <p:cNvPr id="21" name="lb_313"/>
          <p:cNvSpPr/>
          <p:nvPr/>
        </p:nvSpPr>
        <p:spPr>
          <a:xfrm>
            <a:off x="47091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harry</a:t>
            </a:r>
            <a:endParaRPr lang="en-US" sz="1200" dirty="0"/>
          </a:p>
        </p:txBody>
      </p:sp>
      <p:sp>
        <p:nvSpPr>
          <p:cNvPr id="22" name="cd_314"/>
          <p:cNvSpPr/>
          <p:nvPr/>
        </p:nvSpPr>
        <p:spPr>
          <a:xfrm>
            <a:off x="258318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315" descr="/home/claude/movers/img/fc/camer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8356" y="3291840"/>
            <a:ext cx="1298448" cy="1298448"/>
          </a:xfrm>
          <a:prstGeom prst="rect">
            <a:avLst/>
          </a:prstGeom>
        </p:spPr>
      </p:pic>
      <p:sp>
        <p:nvSpPr>
          <p:cNvPr id="24" name="lb_316"/>
          <p:cNvSpPr/>
          <p:nvPr/>
        </p:nvSpPr>
        <p:spPr>
          <a:xfrm>
            <a:off x="261975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cameron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17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ROUND 2 🔥</a:t>
            </a:r>
            <a:endParaRPr lang="en-US" sz="1450" dirty="0"/>
          </a:p>
        </p:txBody>
      </p:sp>
      <p:sp>
        <p:nvSpPr>
          <p:cNvPr id="4" name="bm_318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and remember!</a:t>
            </a:r>
            <a:endParaRPr lang="en-US" sz="2700" dirty="0"/>
          </a:p>
        </p:txBody>
      </p:sp>
      <p:sp>
        <p:nvSpPr>
          <p:cNvPr id="5" name="in_319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 for 15 seconds. Remember ALL the pictures!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Guarda e ricorda tutte le immagini!</a:t>
            </a:r>
            <a:endParaRPr lang="en-US" sz="1400" dirty="0"/>
          </a:p>
        </p:txBody>
      </p:sp>
      <p:sp>
        <p:nvSpPr>
          <p:cNvPr id="6" name="cd_320"/>
          <p:cNvSpPr/>
          <p:nvPr/>
        </p:nvSpPr>
        <p:spPr>
          <a:xfrm>
            <a:off x="43434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321" descr="/home/claude/movers/img/fc/rock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1353312"/>
            <a:ext cx="1298448" cy="1298448"/>
          </a:xfrm>
          <a:prstGeom prst="rect">
            <a:avLst/>
          </a:prstGeom>
        </p:spPr>
      </p:pic>
      <p:sp>
        <p:nvSpPr>
          <p:cNvPr id="8" name="lb_322"/>
          <p:cNvSpPr/>
          <p:nvPr/>
        </p:nvSpPr>
        <p:spPr>
          <a:xfrm>
            <a:off x="47091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rocky</a:t>
            </a:r>
            <a:endParaRPr lang="en-US" sz="1200" dirty="0"/>
          </a:p>
        </p:txBody>
      </p:sp>
      <p:sp>
        <p:nvSpPr>
          <p:cNvPr id="9" name="cd_323"/>
          <p:cNvSpPr/>
          <p:nvPr/>
        </p:nvSpPr>
        <p:spPr>
          <a:xfrm>
            <a:off x="258318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0" name="ci_324" descr="/home/claude/movers/img/fc/henrie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56" y="1353312"/>
            <a:ext cx="1298448" cy="1298448"/>
          </a:xfrm>
          <a:prstGeom prst="rect">
            <a:avLst/>
          </a:prstGeom>
        </p:spPr>
      </p:pic>
      <p:sp>
        <p:nvSpPr>
          <p:cNvPr id="11" name="lb_325"/>
          <p:cNvSpPr/>
          <p:nvPr/>
        </p:nvSpPr>
        <p:spPr>
          <a:xfrm>
            <a:off x="261975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henrietta</a:t>
            </a:r>
            <a:endParaRPr lang="en-US" sz="1200" dirty="0"/>
          </a:p>
        </p:txBody>
      </p:sp>
      <p:sp>
        <p:nvSpPr>
          <p:cNvPr id="12" name="cd_326"/>
          <p:cNvSpPr/>
          <p:nvPr/>
        </p:nvSpPr>
        <p:spPr>
          <a:xfrm>
            <a:off x="473202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3" name="ci_327" descr="/home/claude/movers/img/fc/shel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96" y="1353312"/>
            <a:ext cx="1298448" cy="1298448"/>
          </a:xfrm>
          <a:prstGeom prst="rect">
            <a:avLst/>
          </a:prstGeom>
        </p:spPr>
      </p:pic>
      <p:sp>
        <p:nvSpPr>
          <p:cNvPr id="14" name="lb_328"/>
          <p:cNvSpPr/>
          <p:nvPr/>
        </p:nvSpPr>
        <p:spPr>
          <a:xfrm>
            <a:off x="476859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shelly</a:t>
            </a:r>
            <a:endParaRPr lang="en-US" sz="1200" dirty="0"/>
          </a:p>
        </p:txBody>
      </p:sp>
      <p:sp>
        <p:nvSpPr>
          <p:cNvPr id="15" name="cd_329"/>
          <p:cNvSpPr/>
          <p:nvPr/>
        </p:nvSpPr>
        <p:spPr>
          <a:xfrm>
            <a:off x="688086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6" name="ci_330" descr="/home/claude/movers/img/fc/grac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36" y="1353312"/>
            <a:ext cx="1298448" cy="1298448"/>
          </a:xfrm>
          <a:prstGeom prst="rect">
            <a:avLst/>
          </a:prstGeom>
        </p:spPr>
      </p:pic>
      <p:sp>
        <p:nvSpPr>
          <p:cNvPr id="17" name="lb_331"/>
          <p:cNvSpPr/>
          <p:nvPr/>
        </p:nvSpPr>
        <p:spPr>
          <a:xfrm>
            <a:off x="691743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gracie</a:t>
            </a:r>
            <a:endParaRPr lang="en-US" sz="1200" dirty="0"/>
          </a:p>
        </p:txBody>
      </p:sp>
      <p:sp>
        <p:nvSpPr>
          <p:cNvPr id="18" name="cd_332"/>
          <p:cNvSpPr/>
          <p:nvPr/>
        </p:nvSpPr>
        <p:spPr>
          <a:xfrm>
            <a:off x="43434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9" name="ci_333" descr="/home/claude/movers/img/fc/har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3291840"/>
            <a:ext cx="1298448" cy="1298448"/>
          </a:xfrm>
          <a:prstGeom prst="rect">
            <a:avLst/>
          </a:prstGeom>
        </p:spPr>
      </p:pic>
      <p:sp>
        <p:nvSpPr>
          <p:cNvPr id="20" name="lb_334"/>
          <p:cNvSpPr/>
          <p:nvPr/>
        </p:nvSpPr>
        <p:spPr>
          <a:xfrm>
            <a:off x="47091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harry</a:t>
            </a:r>
            <a:endParaRPr lang="en-US" sz="1200" dirty="0"/>
          </a:p>
        </p:txBody>
      </p:sp>
      <p:sp>
        <p:nvSpPr>
          <p:cNvPr id="21" name="cd_335"/>
          <p:cNvSpPr/>
          <p:nvPr/>
        </p:nvSpPr>
        <p:spPr>
          <a:xfrm>
            <a:off x="258318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2" name="ci_336" descr="/home/claude/movers/img/fc/camer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8356" y="3291840"/>
            <a:ext cx="1298448" cy="1298448"/>
          </a:xfrm>
          <a:prstGeom prst="rect">
            <a:avLst/>
          </a:prstGeom>
        </p:spPr>
      </p:pic>
      <p:sp>
        <p:nvSpPr>
          <p:cNvPr id="23" name="lb_337"/>
          <p:cNvSpPr/>
          <p:nvPr/>
        </p:nvSpPr>
        <p:spPr>
          <a:xfrm>
            <a:off x="261975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cameron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3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· ROUND 2 🔥</a:t>
            </a:r>
            <a:endParaRPr lang="en-US" sz="1450" dirty="0"/>
          </a:p>
        </p:txBody>
      </p:sp>
      <p:sp>
        <p:nvSpPr>
          <p:cNvPr id="4" name="bm_33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missing?</a:t>
            </a:r>
            <a:endParaRPr lang="en-US" sz="2700" dirty="0"/>
          </a:p>
        </p:txBody>
      </p:sp>
      <p:sp>
        <p:nvSpPr>
          <p:cNvPr id="5" name="in_34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TWO pictures are missing! Write them down.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Mancano DUE immagini! Scrivile.</a:t>
            </a:r>
            <a:endParaRPr lang="en-US" sz="1400" dirty="0"/>
          </a:p>
        </p:txBody>
      </p:sp>
      <p:sp>
        <p:nvSpPr>
          <p:cNvPr id="6" name="q_341"/>
          <p:cNvSpPr/>
          <p:nvPr/>
        </p:nvSpPr>
        <p:spPr>
          <a:xfrm>
            <a:off x="43434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D23F"/>
          </a:solidFill>
          <a:ln w="38100">
            <a:solidFill>
              <a:srgbClr val="1E2A5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6000" dirty="0"/>
          </a:p>
        </p:txBody>
      </p:sp>
      <p:sp>
        <p:nvSpPr>
          <p:cNvPr id="7" name="cd_342"/>
          <p:cNvSpPr/>
          <p:nvPr/>
        </p:nvSpPr>
        <p:spPr>
          <a:xfrm>
            <a:off x="258318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ci_343" descr="/home/claude/movers/img/fc/henriet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356" y="1353312"/>
            <a:ext cx="1298448" cy="1298448"/>
          </a:xfrm>
          <a:prstGeom prst="rect">
            <a:avLst/>
          </a:prstGeom>
        </p:spPr>
      </p:pic>
      <p:sp>
        <p:nvSpPr>
          <p:cNvPr id="9" name="lb_344"/>
          <p:cNvSpPr/>
          <p:nvPr/>
        </p:nvSpPr>
        <p:spPr>
          <a:xfrm>
            <a:off x="261975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henrietta</a:t>
            </a:r>
            <a:endParaRPr lang="en-US" sz="1200" dirty="0"/>
          </a:p>
        </p:txBody>
      </p:sp>
      <p:sp>
        <p:nvSpPr>
          <p:cNvPr id="10" name="cd_345"/>
          <p:cNvSpPr/>
          <p:nvPr/>
        </p:nvSpPr>
        <p:spPr>
          <a:xfrm>
            <a:off x="473202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346" descr="/home/claude/movers/img/fc/shel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196" y="1353312"/>
            <a:ext cx="1298448" cy="1298448"/>
          </a:xfrm>
          <a:prstGeom prst="rect">
            <a:avLst/>
          </a:prstGeom>
        </p:spPr>
      </p:pic>
      <p:sp>
        <p:nvSpPr>
          <p:cNvPr id="12" name="lb_347"/>
          <p:cNvSpPr/>
          <p:nvPr/>
        </p:nvSpPr>
        <p:spPr>
          <a:xfrm>
            <a:off x="476859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shelly</a:t>
            </a:r>
            <a:endParaRPr lang="en-US" sz="1200" dirty="0"/>
          </a:p>
        </p:txBody>
      </p:sp>
      <p:sp>
        <p:nvSpPr>
          <p:cNvPr id="13" name="cd_348"/>
          <p:cNvSpPr/>
          <p:nvPr/>
        </p:nvSpPr>
        <p:spPr>
          <a:xfrm>
            <a:off x="688086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349" descr="/home/claude/movers/img/fc/grac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036" y="1353312"/>
            <a:ext cx="1298448" cy="1298448"/>
          </a:xfrm>
          <a:prstGeom prst="rect">
            <a:avLst/>
          </a:prstGeom>
        </p:spPr>
      </p:pic>
      <p:sp>
        <p:nvSpPr>
          <p:cNvPr id="15" name="lb_350"/>
          <p:cNvSpPr/>
          <p:nvPr/>
        </p:nvSpPr>
        <p:spPr>
          <a:xfrm>
            <a:off x="691743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gracie</a:t>
            </a:r>
            <a:endParaRPr lang="en-US" sz="1200" dirty="0"/>
          </a:p>
        </p:txBody>
      </p:sp>
      <p:sp>
        <p:nvSpPr>
          <p:cNvPr id="16" name="cd_351"/>
          <p:cNvSpPr/>
          <p:nvPr/>
        </p:nvSpPr>
        <p:spPr>
          <a:xfrm>
            <a:off x="43434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352" descr="/home/claude/movers/img/fc/har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3291840"/>
            <a:ext cx="1298448" cy="1298448"/>
          </a:xfrm>
          <a:prstGeom prst="rect">
            <a:avLst/>
          </a:prstGeom>
        </p:spPr>
      </p:pic>
      <p:sp>
        <p:nvSpPr>
          <p:cNvPr id="18" name="lb_353"/>
          <p:cNvSpPr/>
          <p:nvPr/>
        </p:nvSpPr>
        <p:spPr>
          <a:xfrm>
            <a:off x="47091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harry</a:t>
            </a:r>
            <a:endParaRPr lang="en-US" sz="1200" dirty="0"/>
          </a:p>
        </p:txBody>
      </p:sp>
      <p:sp>
        <p:nvSpPr>
          <p:cNvPr id="19" name="q_354"/>
          <p:cNvSpPr/>
          <p:nvPr/>
        </p:nvSpPr>
        <p:spPr>
          <a:xfrm>
            <a:off x="258318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D23F"/>
          </a:solidFill>
          <a:ln w="38100">
            <a:solidFill>
              <a:srgbClr val="1E2A5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6000" dirty="0"/>
          </a:p>
        </p:txBody>
      </p:sp>
    </p:spTree>
  </p:cSld>
  <p:clrMapOvr>
    <a:masterClrMapping/>
  </p:clrMapOvr>
  <p:transition spd="med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55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600" dirty="0"/>
          </a:p>
        </p:txBody>
      </p:sp>
      <p:sp>
        <p:nvSpPr>
          <p:cNvPr id="4" name="bm_356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Were you right?</a:t>
            </a:r>
            <a:endParaRPr lang="en-US" sz="2700" dirty="0"/>
          </a:p>
        </p:txBody>
      </p:sp>
      <p:sp>
        <p:nvSpPr>
          <p:cNvPr id="5" name="in_357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It's Rocky and Cameron!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cd_358"/>
          <p:cNvSpPr/>
          <p:nvPr/>
        </p:nvSpPr>
        <p:spPr>
          <a:xfrm>
            <a:off x="43434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7" name="ci_359" descr="/home/claude/movers/img/fc/rock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1353312"/>
            <a:ext cx="1298448" cy="1298448"/>
          </a:xfrm>
          <a:prstGeom prst="rect">
            <a:avLst/>
          </a:prstGeom>
        </p:spPr>
      </p:pic>
      <p:sp>
        <p:nvSpPr>
          <p:cNvPr id="8" name="lb_360"/>
          <p:cNvSpPr/>
          <p:nvPr/>
        </p:nvSpPr>
        <p:spPr>
          <a:xfrm>
            <a:off x="47091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rocky</a:t>
            </a:r>
            <a:endParaRPr lang="en-US" sz="1200" dirty="0"/>
          </a:p>
        </p:txBody>
      </p:sp>
      <p:sp>
        <p:nvSpPr>
          <p:cNvPr id="9" name="hl_361"/>
          <p:cNvSpPr/>
          <p:nvPr/>
        </p:nvSpPr>
        <p:spPr>
          <a:xfrm>
            <a:off x="379476" y="1225296"/>
            <a:ext cx="1938528" cy="1938528"/>
          </a:xfrm>
          <a:prstGeom prst="roundRect">
            <a:avLst>
              <a:gd name="adj" fmla="val 5660"/>
            </a:avLst>
          </a:prstGeom>
          <a:ln w="76200">
            <a:solidFill>
              <a:srgbClr val="6CCB3B"/>
            </a:solidFill>
            <a:prstDash val="solid"/>
          </a:ln>
        </p:spPr>
      </p:sp>
      <p:sp>
        <p:nvSpPr>
          <p:cNvPr id="10" name="cd_362"/>
          <p:cNvSpPr/>
          <p:nvPr/>
        </p:nvSpPr>
        <p:spPr>
          <a:xfrm>
            <a:off x="258318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363" descr="/home/claude/movers/img/fc/henrie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56" y="1353312"/>
            <a:ext cx="1298448" cy="1298448"/>
          </a:xfrm>
          <a:prstGeom prst="rect">
            <a:avLst/>
          </a:prstGeom>
        </p:spPr>
      </p:pic>
      <p:sp>
        <p:nvSpPr>
          <p:cNvPr id="12" name="lb_364"/>
          <p:cNvSpPr/>
          <p:nvPr/>
        </p:nvSpPr>
        <p:spPr>
          <a:xfrm>
            <a:off x="261975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henrietta</a:t>
            </a:r>
            <a:endParaRPr lang="en-US" sz="1200" dirty="0"/>
          </a:p>
        </p:txBody>
      </p:sp>
      <p:sp>
        <p:nvSpPr>
          <p:cNvPr id="13" name="cd_365"/>
          <p:cNvSpPr/>
          <p:nvPr/>
        </p:nvSpPr>
        <p:spPr>
          <a:xfrm>
            <a:off x="473202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366" descr="/home/claude/movers/img/fc/shel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196" y="1353312"/>
            <a:ext cx="1298448" cy="1298448"/>
          </a:xfrm>
          <a:prstGeom prst="rect">
            <a:avLst/>
          </a:prstGeom>
        </p:spPr>
      </p:pic>
      <p:sp>
        <p:nvSpPr>
          <p:cNvPr id="15" name="lb_367"/>
          <p:cNvSpPr/>
          <p:nvPr/>
        </p:nvSpPr>
        <p:spPr>
          <a:xfrm>
            <a:off x="476859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shelly</a:t>
            </a:r>
            <a:endParaRPr lang="en-US" sz="1200" dirty="0"/>
          </a:p>
        </p:txBody>
      </p:sp>
      <p:sp>
        <p:nvSpPr>
          <p:cNvPr id="16" name="cd_368"/>
          <p:cNvSpPr/>
          <p:nvPr/>
        </p:nvSpPr>
        <p:spPr>
          <a:xfrm>
            <a:off x="6880860" y="1280160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369" descr="/home/claude/movers/img/fc/grac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36" y="1353312"/>
            <a:ext cx="1298448" cy="1298448"/>
          </a:xfrm>
          <a:prstGeom prst="rect">
            <a:avLst/>
          </a:prstGeom>
        </p:spPr>
      </p:pic>
      <p:sp>
        <p:nvSpPr>
          <p:cNvPr id="18" name="lb_370"/>
          <p:cNvSpPr/>
          <p:nvPr/>
        </p:nvSpPr>
        <p:spPr>
          <a:xfrm>
            <a:off x="6917436" y="26700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gracie</a:t>
            </a:r>
            <a:endParaRPr lang="en-US" sz="1200" dirty="0"/>
          </a:p>
        </p:txBody>
      </p:sp>
      <p:sp>
        <p:nvSpPr>
          <p:cNvPr id="19" name="cd_371"/>
          <p:cNvSpPr/>
          <p:nvPr/>
        </p:nvSpPr>
        <p:spPr>
          <a:xfrm>
            <a:off x="43434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372" descr="/home/claude/movers/img/fc/har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3291840"/>
            <a:ext cx="1298448" cy="1298448"/>
          </a:xfrm>
          <a:prstGeom prst="rect">
            <a:avLst/>
          </a:prstGeom>
        </p:spPr>
      </p:pic>
      <p:sp>
        <p:nvSpPr>
          <p:cNvPr id="21" name="lb_373"/>
          <p:cNvSpPr/>
          <p:nvPr/>
        </p:nvSpPr>
        <p:spPr>
          <a:xfrm>
            <a:off x="47091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harry</a:t>
            </a:r>
            <a:endParaRPr lang="en-US" sz="1200" dirty="0"/>
          </a:p>
        </p:txBody>
      </p:sp>
      <p:sp>
        <p:nvSpPr>
          <p:cNvPr id="22" name="cd_374"/>
          <p:cNvSpPr/>
          <p:nvPr/>
        </p:nvSpPr>
        <p:spPr>
          <a:xfrm>
            <a:off x="2583180" y="3218688"/>
            <a:ext cx="1828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375" descr="/home/claude/movers/img/fc/camer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8356" y="3291840"/>
            <a:ext cx="1298448" cy="1298448"/>
          </a:xfrm>
          <a:prstGeom prst="rect">
            <a:avLst/>
          </a:prstGeom>
        </p:spPr>
      </p:pic>
      <p:sp>
        <p:nvSpPr>
          <p:cNvPr id="24" name="lb_376"/>
          <p:cNvSpPr/>
          <p:nvPr/>
        </p:nvSpPr>
        <p:spPr>
          <a:xfrm>
            <a:off x="2619756" y="460857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cameron</a:t>
            </a:r>
            <a:endParaRPr lang="en-US" sz="1200" dirty="0"/>
          </a:p>
        </p:txBody>
      </p:sp>
      <p:sp>
        <p:nvSpPr>
          <p:cNvPr id="25" name="hl_377"/>
          <p:cNvSpPr/>
          <p:nvPr/>
        </p:nvSpPr>
        <p:spPr>
          <a:xfrm>
            <a:off x="2528316" y="3163824"/>
            <a:ext cx="1938528" cy="1938528"/>
          </a:xfrm>
          <a:prstGeom prst="roundRect">
            <a:avLst>
              <a:gd name="adj" fmla="val 5660"/>
            </a:avLst>
          </a:prstGeom>
          <a:ln w="76200">
            <a:solidFill>
              <a:srgbClr val="6CCB3B"/>
            </a:solidFill>
            <a:prstDash val="solid"/>
          </a:ln>
        </p:spPr>
      </p:sp>
    </p:spTree>
  </p:cSld>
  <p:clrMapOvr>
    <a:masterClrMapping/>
  </p:clrMapOvr>
  <p:transition spd="med">
    <p:push dir="l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37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</a:t>
            </a:r>
            <a:endParaRPr lang="en-US" sz="1600" dirty="0"/>
          </a:p>
        </p:txBody>
      </p:sp>
      <p:sp>
        <p:nvSpPr>
          <p:cNvPr id="4" name="bm_379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 the animals!</a:t>
            </a:r>
            <a:endParaRPr lang="en-US" sz="2700" dirty="0"/>
          </a:p>
        </p:txBody>
      </p:sp>
      <p:sp>
        <p:nvSpPr>
          <p:cNvPr id="5" name="in_380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Listen. Do it – fast!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Ascolta. Fallo – veloce!</a:t>
            </a:r>
            <a:endParaRPr lang="en-US" sz="1400" dirty="0"/>
          </a:p>
        </p:txBody>
      </p:sp>
      <p:sp>
        <p:nvSpPr>
          <p:cNvPr id="6" name="mode_38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🏃 WHOLE CLASS · ⏱ 4 MIN</a:t>
            </a:r>
            <a:endParaRPr lang="en-US" sz="1000" dirty="0"/>
          </a:p>
        </p:txBody>
      </p:sp>
      <p:sp>
        <p:nvSpPr>
          <p:cNvPr id="7" name="cd_382"/>
          <p:cNvSpPr/>
          <p:nvPr/>
        </p:nvSpPr>
        <p:spPr>
          <a:xfrm>
            <a:off x="27432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8" name="ci_383" descr="/home/claude/movers/img/fc/rock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399032"/>
            <a:ext cx="1133856" cy="1133856"/>
          </a:xfrm>
          <a:prstGeom prst="rect">
            <a:avLst/>
          </a:prstGeom>
        </p:spPr>
      </p:pic>
      <p:sp>
        <p:nvSpPr>
          <p:cNvPr id="9" name="R1_a384"/>
          <p:cNvSpPr/>
          <p:nvPr/>
        </p:nvSpPr>
        <p:spPr>
          <a:xfrm>
            <a:off x="162763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Rocky! Flap your wings!</a:t>
            </a:r>
            <a:endParaRPr lang="en-US" sz="1250" dirty="0"/>
          </a:p>
        </p:txBody>
      </p:sp>
      <p:sp>
        <p:nvSpPr>
          <p:cNvPr id="10" name="cd_385"/>
          <p:cNvSpPr/>
          <p:nvPr/>
        </p:nvSpPr>
        <p:spPr>
          <a:xfrm>
            <a:off x="313944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1" name="ci_386" descr="/home/claude/movers/img/fc/henrie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2592" y="1399032"/>
            <a:ext cx="1133856" cy="1133856"/>
          </a:xfrm>
          <a:prstGeom prst="rect">
            <a:avLst/>
          </a:prstGeom>
        </p:spPr>
      </p:pic>
      <p:sp>
        <p:nvSpPr>
          <p:cNvPr id="12" name="R2_a387"/>
          <p:cNvSpPr/>
          <p:nvPr/>
        </p:nvSpPr>
        <p:spPr>
          <a:xfrm>
            <a:off x="449275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Henrietta! Go to sleep. Zzz…</a:t>
            </a:r>
            <a:endParaRPr lang="en-US" sz="1250" dirty="0"/>
          </a:p>
        </p:txBody>
      </p:sp>
      <p:sp>
        <p:nvSpPr>
          <p:cNvPr id="13" name="cd_388"/>
          <p:cNvSpPr/>
          <p:nvPr/>
        </p:nvSpPr>
        <p:spPr>
          <a:xfrm>
            <a:off x="6004560" y="13258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4" name="ci_389" descr="/home/claude/movers/img/fc/shel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712" y="1399032"/>
            <a:ext cx="1133856" cy="1133856"/>
          </a:xfrm>
          <a:prstGeom prst="rect">
            <a:avLst/>
          </a:prstGeom>
        </p:spPr>
      </p:pic>
      <p:sp>
        <p:nvSpPr>
          <p:cNvPr id="15" name="R3_a390"/>
          <p:cNvSpPr/>
          <p:nvPr/>
        </p:nvSpPr>
        <p:spPr>
          <a:xfrm>
            <a:off x="7357872" y="14630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Shelly! Sing very loudly!</a:t>
            </a:r>
            <a:endParaRPr lang="en-US" sz="1250" dirty="0"/>
          </a:p>
        </p:txBody>
      </p:sp>
      <p:sp>
        <p:nvSpPr>
          <p:cNvPr id="16" name="cd_391"/>
          <p:cNvSpPr/>
          <p:nvPr/>
        </p:nvSpPr>
        <p:spPr>
          <a:xfrm>
            <a:off x="27432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17" name="ci_392" descr="/home/claude/movers/img/fc/camer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2999232"/>
            <a:ext cx="1133856" cy="1133856"/>
          </a:xfrm>
          <a:prstGeom prst="rect">
            <a:avLst/>
          </a:prstGeom>
        </p:spPr>
      </p:pic>
      <p:sp>
        <p:nvSpPr>
          <p:cNvPr id="18" name="R4_a393"/>
          <p:cNvSpPr/>
          <p:nvPr/>
        </p:nvSpPr>
        <p:spPr>
          <a:xfrm>
            <a:off x="162763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Cameron! Cover your ears!</a:t>
            </a:r>
            <a:endParaRPr lang="en-US" sz="1250" dirty="0"/>
          </a:p>
        </p:txBody>
      </p:sp>
      <p:sp>
        <p:nvSpPr>
          <p:cNvPr id="19" name="cd_394"/>
          <p:cNvSpPr/>
          <p:nvPr/>
        </p:nvSpPr>
        <p:spPr>
          <a:xfrm>
            <a:off x="313944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0" name="ci_395" descr="/home/claude/movers/img/fc/har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2592" y="2999232"/>
            <a:ext cx="1133856" cy="1133856"/>
          </a:xfrm>
          <a:prstGeom prst="rect">
            <a:avLst/>
          </a:prstGeom>
        </p:spPr>
      </p:pic>
      <p:sp>
        <p:nvSpPr>
          <p:cNvPr id="21" name="R5_a396"/>
          <p:cNvSpPr/>
          <p:nvPr/>
        </p:nvSpPr>
        <p:spPr>
          <a:xfrm>
            <a:off x="449275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Harry! Gallop!</a:t>
            </a:r>
            <a:endParaRPr lang="en-US" sz="1250" dirty="0"/>
          </a:p>
        </p:txBody>
      </p:sp>
      <p:sp>
        <p:nvSpPr>
          <p:cNvPr id="22" name="cd_397"/>
          <p:cNvSpPr/>
          <p:nvPr/>
        </p:nvSpPr>
        <p:spPr>
          <a:xfrm>
            <a:off x="6004560" y="2926080"/>
            <a:ext cx="1280160" cy="13258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3" name="ci_398" descr="/home/claude/movers/img/fc/graci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7712" y="2999232"/>
            <a:ext cx="1133856" cy="1133856"/>
          </a:xfrm>
          <a:prstGeom prst="rect">
            <a:avLst/>
          </a:prstGeom>
        </p:spPr>
      </p:pic>
      <p:sp>
        <p:nvSpPr>
          <p:cNvPr id="24" name="R6_a399"/>
          <p:cNvSpPr/>
          <p:nvPr/>
        </p:nvSpPr>
        <p:spPr>
          <a:xfrm>
            <a:off x="7357872" y="3063240"/>
            <a:ext cx="144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Gracie! Eat a book!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00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WELL DONE!</a:t>
            </a:r>
            <a:endParaRPr lang="en-US" sz="1600" dirty="0"/>
          </a:p>
        </p:txBody>
      </p:sp>
      <p:sp>
        <p:nvSpPr>
          <p:cNvPr id="4" name="bm_401"/>
          <p:cNvSpPr/>
          <p:nvPr/>
        </p:nvSpPr>
        <p:spPr>
          <a:xfrm rot="-120000">
            <a:off x="228600" y="493776"/>
            <a:ext cx="384048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ln w="31750">
                  <a:solidFill>
                    <a:srgbClr val="1E2A5A"/>
                  </a:solidFill>
                </a:ln>
                <a:solidFill>
                  <a:srgbClr val="FFD2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Bye bye! 👋</a:t>
            </a:r>
            <a:endParaRPr lang="en-US" sz="3200" dirty="0"/>
          </a:p>
        </p:txBody>
      </p:sp>
      <p:sp>
        <p:nvSpPr>
          <p:cNvPr id="5" name="in_402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I can… · Oggi so…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Show me with your thumbs! 👍 👌 👎</a:t>
            </a:r>
            <a:endParaRPr lang="en-US" sz="1400" dirty="0"/>
          </a:p>
        </p:txBody>
      </p:sp>
      <p:sp>
        <p:nvSpPr>
          <p:cNvPr id="6" name="can_403"/>
          <p:cNvSpPr/>
          <p:nvPr/>
        </p:nvSpPr>
        <p:spPr>
          <a:xfrm>
            <a:off x="320040" y="132588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 my name, my age and where I live.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nome, età e dove abito.</a:t>
            </a:r>
            <a:endParaRPr lang="en-US" sz="1300" dirty="0"/>
          </a:p>
        </p:txBody>
      </p:sp>
      <p:sp>
        <p:nvSpPr>
          <p:cNvPr id="7" name="can_404"/>
          <p:cNvSpPr/>
          <p:nvPr/>
        </p:nvSpPr>
        <p:spPr>
          <a:xfrm>
            <a:off x="320040" y="205740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 the names of the Friendly Farm animals.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i nomi degli animali.</a:t>
            </a:r>
            <a:endParaRPr lang="en-US" sz="1300" dirty="0"/>
          </a:p>
        </p:txBody>
      </p:sp>
      <p:sp>
        <p:nvSpPr>
          <p:cNvPr id="8" name="can_405"/>
          <p:cNvSpPr/>
          <p:nvPr/>
        </p:nvSpPr>
        <p:spPr>
          <a:xfrm>
            <a:off x="320040" y="2788920"/>
            <a:ext cx="475488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1750">
            <a:solidFill>
              <a:srgbClr val="6CCB3B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</a:t>
            </a:r>
            <a:pPr indent="0" marL="0">
              <a:buNone/>
            </a:pPr>
            <a:r>
              <a:rPr lang="en-US" sz="13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can say: I'm nine! (not I have…)</a:t>
            </a:r>
            <a:endParaRPr lang="en-US" sz="13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 dire la mia età in inglese.</a:t>
            </a:r>
            <a:endParaRPr lang="en-US" sz="1300" dirty="0"/>
          </a:p>
        </p:txBody>
      </p:sp>
      <p:sp>
        <p:nvSpPr>
          <p:cNvPr id="9" name="hw_406"/>
          <p:cNvSpPr/>
          <p:nvPr/>
        </p:nvSpPr>
        <p:spPr>
          <a:xfrm>
            <a:off x="5303520" y="1325880"/>
            <a:ext cx="35661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38100">
            <a:solidFill>
              <a:srgbClr val="FF8A3D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8A3D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🏠 HOMEWORK · COMPITI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Homework sheet: Meet the family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• Activity Book p.4 ex 1 · p.5 ex 2</a:t>
            </a:r>
            <a:endParaRPr lang="en-US" sz="1250" dirty="0"/>
          </a:p>
        </p:txBody>
      </p:sp>
      <p:sp>
        <p:nvSpPr>
          <p:cNvPr id="10" name="nx_407"/>
          <p:cNvSpPr/>
          <p:nvPr/>
        </p:nvSpPr>
        <p:spPr>
          <a:xfrm>
            <a:off x="5303520" y="3840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➡ Next: Unit 1 – A day on the farm! 🚜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08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600" dirty="0"/>
          </a:p>
        </p:txBody>
      </p:sp>
      <p:sp>
        <p:nvSpPr>
          <p:cNvPr id="4" name="bm_409"/>
          <p:cNvSpPr/>
          <p:nvPr/>
        </p:nvSpPr>
        <p:spPr>
          <a:xfrm rot="-120000">
            <a:off x="228600" y="493776"/>
            <a:ext cx="457200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ln w="31750">
                  <a:solidFill>
                    <a:srgbClr val="1E2A5A"/>
                  </a:solidFill>
                </a:ln>
                <a:solidFill>
                  <a:srgbClr val="6CCB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Animal noises</a:t>
            </a:r>
            <a:endParaRPr lang="en-US" sz="2400" dirty="0"/>
          </a:p>
        </p:txBody>
      </p:sp>
      <p:sp>
        <p:nvSpPr>
          <p:cNvPr id="5" name="in_410"/>
          <p:cNvSpPr/>
          <p:nvPr/>
        </p:nvSpPr>
        <p:spPr>
          <a:xfrm>
            <a:off x="4937760" y="182880"/>
            <a:ext cx="3977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Listen to the noise. Who is it?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Ascolta il verso. Chi è?</a:t>
            </a:r>
            <a:endParaRPr lang="en-US" sz="1400" dirty="0"/>
          </a:p>
        </p:txBody>
      </p:sp>
      <p:sp>
        <p:nvSpPr>
          <p:cNvPr id="6" name="mode_411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👥👥 TEAMS · ⏱ 5 MIN</a:t>
            </a:r>
            <a:endParaRPr lang="en-US" sz="1000" dirty="0"/>
          </a:p>
        </p:txBody>
      </p:sp>
      <p:sp>
        <p:nvSpPr>
          <p:cNvPr id="7" name="diff_412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Is it Rocky?</a:t>
            </a:r>
            <a:endParaRPr lang="en-US" sz="950" dirty="0"/>
          </a:p>
        </p:txBody>
      </p:sp>
      <p:sp>
        <p:nvSpPr>
          <p:cNvPr id="8" name="st_413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414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FFD23F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415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👀 LOOK</a:t>
            </a:r>
            <a:endParaRPr lang="en-US" sz="1300" dirty="0"/>
          </a:p>
        </p:txBody>
      </p:sp>
      <p:sp>
        <p:nvSpPr>
          <p:cNvPr id="11" name="se_416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card. Shh! Secret!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Prendi una carta. Segreto!</a:t>
            </a:r>
            <a:endParaRPr lang="en-US" sz="1050" dirty="0"/>
          </a:p>
        </p:txBody>
      </p:sp>
      <p:sp>
        <p:nvSpPr>
          <p:cNvPr id="12" name="st_417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418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419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5" name="se_420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animal noise.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il verso.</a:t>
            </a:r>
            <a:endParaRPr lang="en-US" sz="1050" dirty="0"/>
          </a:p>
        </p:txBody>
      </p:sp>
      <p:sp>
        <p:nvSpPr>
          <p:cNvPr id="16" name="st_421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422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423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9" name="se_424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it Rocky? – Yes, it is!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Rocky? – Sì!</a:t>
            </a:r>
            <a:endParaRPr lang="en-US" sz="1050" dirty="0"/>
          </a:p>
        </p:txBody>
      </p:sp>
      <p:sp>
        <p:nvSpPr>
          <p:cNvPr id="20" name="cd_425"/>
          <p:cNvSpPr/>
          <p:nvPr/>
        </p:nvSpPr>
        <p:spPr>
          <a:xfrm>
            <a:off x="310896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1" name="ci_426" descr="/home/claude/movers/img/fc/rock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476" y="1399032"/>
            <a:ext cx="834847" cy="834847"/>
          </a:xfrm>
          <a:prstGeom prst="rect">
            <a:avLst/>
          </a:prstGeom>
        </p:spPr>
      </p:pic>
      <p:sp>
        <p:nvSpPr>
          <p:cNvPr id="22" name="lb_427"/>
          <p:cNvSpPr/>
          <p:nvPr/>
        </p:nvSpPr>
        <p:spPr>
          <a:xfrm>
            <a:off x="314553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rocky</a:t>
            </a:r>
            <a:endParaRPr lang="en-US" sz="1100" dirty="0"/>
          </a:p>
        </p:txBody>
      </p:sp>
      <p:sp>
        <p:nvSpPr>
          <p:cNvPr id="23" name="cd_428"/>
          <p:cNvSpPr/>
          <p:nvPr/>
        </p:nvSpPr>
        <p:spPr>
          <a:xfrm>
            <a:off x="457200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4" name="ci_429" descr="/home/claude/movers/img/fc/henriet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516" y="1399032"/>
            <a:ext cx="834847" cy="834847"/>
          </a:xfrm>
          <a:prstGeom prst="rect">
            <a:avLst/>
          </a:prstGeom>
        </p:spPr>
      </p:pic>
      <p:sp>
        <p:nvSpPr>
          <p:cNvPr id="25" name="lb_430"/>
          <p:cNvSpPr/>
          <p:nvPr/>
        </p:nvSpPr>
        <p:spPr>
          <a:xfrm>
            <a:off x="460857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henrietta</a:t>
            </a:r>
            <a:endParaRPr lang="en-US" sz="1100" dirty="0"/>
          </a:p>
        </p:txBody>
      </p:sp>
      <p:sp>
        <p:nvSpPr>
          <p:cNvPr id="26" name="cd_431"/>
          <p:cNvSpPr/>
          <p:nvPr/>
        </p:nvSpPr>
        <p:spPr>
          <a:xfrm>
            <a:off x="603504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27" name="ci_432" descr="/home/claude/movers/img/fc/shel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556" y="1399032"/>
            <a:ext cx="834847" cy="834847"/>
          </a:xfrm>
          <a:prstGeom prst="rect">
            <a:avLst/>
          </a:prstGeom>
        </p:spPr>
      </p:pic>
      <p:sp>
        <p:nvSpPr>
          <p:cNvPr id="28" name="lb_433"/>
          <p:cNvSpPr/>
          <p:nvPr/>
        </p:nvSpPr>
        <p:spPr>
          <a:xfrm>
            <a:off x="607161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shelly</a:t>
            </a:r>
            <a:endParaRPr lang="en-US" sz="1100" dirty="0"/>
          </a:p>
        </p:txBody>
      </p:sp>
      <p:sp>
        <p:nvSpPr>
          <p:cNvPr id="29" name="cd_434"/>
          <p:cNvSpPr/>
          <p:nvPr/>
        </p:nvSpPr>
        <p:spPr>
          <a:xfrm>
            <a:off x="7498080" y="1325880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0" name="ci_435" descr="/home/claude/movers/img/fc/graci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596" y="1399032"/>
            <a:ext cx="834847" cy="834847"/>
          </a:xfrm>
          <a:prstGeom prst="rect">
            <a:avLst/>
          </a:prstGeom>
        </p:spPr>
      </p:pic>
      <p:sp>
        <p:nvSpPr>
          <p:cNvPr id="31" name="lb_436"/>
          <p:cNvSpPr/>
          <p:nvPr/>
        </p:nvSpPr>
        <p:spPr>
          <a:xfrm>
            <a:off x="7534656" y="2252167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gracie</a:t>
            </a:r>
            <a:endParaRPr lang="en-US" sz="1100" dirty="0"/>
          </a:p>
        </p:txBody>
      </p:sp>
      <p:sp>
        <p:nvSpPr>
          <p:cNvPr id="32" name="cd_437"/>
          <p:cNvSpPr/>
          <p:nvPr/>
        </p:nvSpPr>
        <p:spPr>
          <a:xfrm>
            <a:off x="310896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3" name="ci_438" descr="/home/claude/movers/img/fc/har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4476" y="2834640"/>
            <a:ext cx="834847" cy="834847"/>
          </a:xfrm>
          <a:prstGeom prst="rect">
            <a:avLst/>
          </a:prstGeom>
        </p:spPr>
      </p:pic>
      <p:sp>
        <p:nvSpPr>
          <p:cNvPr id="34" name="lb_439"/>
          <p:cNvSpPr/>
          <p:nvPr/>
        </p:nvSpPr>
        <p:spPr>
          <a:xfrm>
            <a:off x="314553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harry</a:t>
            </a:r>
            <a:endParaRPr lang="en-US" sz="1100" dirty="0"/>
          </a:p>
        </p:txBody>
      </p:sp>
      <p:sp>
        <p:nvSpPr>
          <p:cNvPr id="35" name="cd_440"/>
          <p:cNvSpPr/>
          <p:nvPr/>
        </p:nvSpPr>
        <p:spPr>
          <a:xfrm>
            <a:off x="4572000" y="2761488"/>
            <a:ext cx="1325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38100">
            <a:solidFill>
              <a:srgbClr val="FFD23F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0"/>
              </a:srgbClr>
            </a:outerShdw>
          </a:effectLst>
        </p:spPr>
      </p:sp>
      <p:pic>
        <p:nvPicPr>
          <p:cNvPr id="36" name="ci_441" descr="/home/claude/movers/img/fc/camer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7516" y="2834640"/>
            <a:ext cx="834847" cy="834847"/>
          </a:xfrm>
          <a:prstGeom prst="rect">
            <a:avLst/>
          </a:prstGeom>
        </p:spPr>
      </p:pic>
      <p:sp>
        <p:nvSpPr>
          <p:cNvPr id="37" name="lb_442"/>
          <p:cNvSpPr/>
          <p:nvPr/>
        </p:nvSpPr>
        <p:spPr>
          <a:xfrm>
            <a:off x="4608576" y="3687775"/>
            <a:ext cx="125272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cameron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t_443"/>
          <p:cNvSpPr/>
          <p:nvPr/>
        </p:nvSpPr>
        <p:spPr>
          <a:xfrm rot="-120000">
            <a:off x="365760" y="164592"/>
            <a:ext cx="2377440" cy="384048"/>
          </a:xfrm>
          <a:prstGeom prst="roundRect">
            <a:avLst>
              <a:gd name="adj" fmla="val 28571"/>
            </a:avLst>
          </a:prstGeom>
          <a:solidFill>
            <a:srgbClr val="1E2A5A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600" dirty="0"/>
          </a:p>
        </p:txBody>
      </p:sp>
      <p:sp>
        <p:nvSpPr>
          <p:cNvPr id="4" name="bm_444"/>
          <p:cNvSpPr/>
          <p:nvPr/>
        </p:nvSpPr>
        <p:spPr>
          <a:xfrm rot="-120000">
            <a:off x="228600" y="493776"/>
            <a:ext cx="3931920" cy="713232"/>
          </a:xfrm>
          <a:prstGeom prst="rect">
            <a:avLst/>
          </a:prstGeom>
          <a:noFill/>
          <a:ln/>
          <a:effectLst>
            <a:outerShdw sx="100000" sy="100000" kx="0" ky="0" algn="bl" rotWithShape="0" blurRad="25400" dist="25400" dir="5400000">
              <a:srgbClr val="1E2A5A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ln w="31750">
                  <a:solidFill>
                    <a:srgbClr val="1E2A5A"/>
                  </a:solidFill>
                </a:ln>
                <a:solidFill>
                  <a:srgbClr val="8E5B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EXTRA: Hot seat!</a:t>
            </a:r>
            <a:endParaRPr lang="en-US" sz="2700" dirty="0"/>
          </a:p>
        </p:txBody>
      </p:sp>
      <p:sp>
        <p:nvSpPr>
          <p:cNvPr id="5" name="in_445"/>
          <p:cNvSpPr/>
          <p:nvPr/>
        </p:nvSpPr>
        <p:spPr>
          <a:xfrm>
            <a:off x="4343400" y="182880"/>
            <a:ext cx="4572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38100">
            <a:solidFill>
              <a:srgbClr val="FFD23F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You are an animal. The class asks.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F9B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Sei un animale. La classe chiede.</a:t>
            </a:r>
            <a:endParaRPr lang="en-US" sz="1400" dirty="0"/>
          </a:p>
        </p:txBody>
      </p:sp>
      <p:sp>
        <p:nvSpPr>
          <p:cNvPr id="6" name="mode_446"/>
          <p:cNvSpPr/>
          <p:nvPr/>
        </p:nvSpPr>
        <p:spPr>
          <a:xfrm>
            <a:off x="6355080" y="1024128"/>
            <a:ext cx="2560320" cy="246888"/>
          </a:xfrm>
          <a:prstGeom prst="roundRect">
            <a:avLst>
              <a:gd name="adj" fmla="val 44444"/>
            </a:avLst>
          </a:prstGeom>
          <a:solidFill>
            <a:srgbClr val="1E2A5A"/>
          </a:solidFill>
          <a:ln w="19050">
            <a:solidFill>
              <a:srgbClr val="FFD23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🪑 WHOLE CLASS · ⏱ 5 MIN</a:t>
            </a:r>
            <a:endParaRPr lang="en-US" sz="1000" dirty="0"/>
          </a:p>
        </p:txBody>
      </p:sp>
      <p:sp>
        <p:nvSpPr>
          <p:cNvPr id="7" name="diff_447"/>
          <p:cNvSpPr/>
          <p:nvPr/>
        </p:nvSpPr>
        <p:spPr>
          <a:xfrm>
            <a:off x="4343400" y="4681728"/>
            <a:ext cx="4572000" cy="329184"/>
          </a:xfrm>
          <a:prstGeom prst="roundRect">
            <a:avLst>
              <a:gd name="adj" fmla="val 38889"/>
            </a:avLst>
          </a:prstGeom>
          <a:solidFill>
            <a:srgbClr val="FFFFFF"/>
          </a:solidFill>
          <a:ln w="25400">
            <a:solidFill>
              <a:srgbClr val="FFD23F"/>
            </a:solidFill>
          </a:ln>
        </p:spPr>
        <p:txBody>
          <a:bodyPr wrap="square" lIns="50800" tIns="50800" rIns="50800" bIns="5080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Are you …? Can you …?</a:t>
            </a:r>
            <a:endParaRPr lang="en-US" sz="950" dirty="0"/>
          </a:p>
        </p:txBody>
      </p:sp>
      <p:sp>
        <p:nvSpPr>
          <p:cNvPr id="8" name="st_448"/>
          <p:cNvSpPr/>
          <p:nvPr/>
        </p:nvSpPr>
        <p:spPr>
          <a:xfrm>
            <a:off x="228600" y="13258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6CCB3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n_449"/>
          <p:cNvSpPr/>
          <p:nvPr/>
        </p:nvSpPr>
        <p:spPr>
          <a:xfrm>
            <a:off x="118872" y="1216152"/>
            <a:ext cx="384048" cy="384048"/>
          </a:xfrm>
          <a:prstGeom prst="ellipse">
            <a:avLst/>
          </a:prstGeom>
          <a:solidFill>
            <a:srgbClr val="6CCB3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k_450"/>
          <p:cNvSpPr/>
          <p:nvPr/>
        </p:nvSpPr>
        <p:spPr>
          <a:xfrm>
            <a:off x="521208" y="13624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⚙️ DO</a:t>
            </a:r>
            <a:endParaRPr lang="en-US" sz="1300" dirty="0"/>
          </a:p>
        </p:txBody>
      </p:sp>
      <p:sp>
        <p:nvSpPr>
          <p:cNvPr id="11" name="se_451"/>
          <p:cNvSpPr/>
          <p:nvPr/>
        </p:nvSpPr>
        <p:spPr>
          <a:xfrm>
            <a:off x="338328" y="16550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an animal. Secret!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Scegli un animale. Segreto!</a:t>
            </a:r>
            <a:endParaRPr lang="en-US" sz="1050" dirty="0"/>
          </a:p>
        </p:txBody>
      </p:sp>
      <p:sp>
        <p:nvSpPr>
          <p:cNvPr id="12" name="st_452"/>
          <p:cNvSpPr/>
          <p:nvPr/>
        </p:nvSpPr>
        <p:spPr>
          <a:xfrm>
            <a:off x="228600" y="23926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n_453"/>
          <p:cNvSpPr/>
          <p:nvPr/>
        </p:nvSpPr>
        <p:spPr>
          <a:xfrm>
            <a:off x="118872" y="22829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k_454"/>
          <p:cNvSpPr/>
          <p:nvPr/>
        </p:nvSpPr>
        <p:spPr>
          <a:xfrm>
            <a:off x="521208" y="24292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5" name="se_455"/>
          <p:cNvSpPr/>
          <p:nvPr/>
        </p:nvSpPr>
        <p:spPr>
          <a:xfrm>
            <a:off x="338328" y="27218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asks yes/no questions.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classe fa domande sì/no.</a:t>
            </a:r>
            <a:endParaRPr lang="en-US" sz="1050" dirty="0"/>
          </a:p>
        </p:txBody>
      </p:sp>
      <p:sp>
        <p:nvSpPr>
          <p:cNvPr id="16" name="st_456"/>
          <p:cNvSpPr/>
          <p:nvPr/>
        </p:nvSpPr>
        <p:spPr>
          <a:xfrm>
            <a:off x="228600" y="3459480"/>
            <a:ext cx="2651760" cy="97536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38100">
            <a:solidFill>
              <a:srgbClr val="FF5DA2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n_457"/>
          <p:cNvSpPr/>
          <p:nvPr/>
        </p:nvSpPr>
        <p:spPr>
          <a:xfrm>
            <a:off x="118872" y="3349752"/>
            <a:ext cx="384048" cy="384048"/>
          </a:xfrm>
          <a:prstGeom prst="ellipse">
            <a:avLst/>
          </a:prstGeom>
          <a:solidFill>
            <a:srgbClr val="FF5DA2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k_458"/>
          <p:cNvSpPr/>
          <p:nvPr/>
        </p:nvSpPr>
        <p:spPr>
          <a:xfrm>
            <a:off x="521208" y="34960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A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💬 SPEAK</a:t>
            </a:r>
            <a:endParaRPr lang="en-US" sz="1300" dirty="0"/>
          </a:p>
        </p:txBody>
      </p:sp>
      <p:sp>
        <p:nvSpPr>
          <p:cNvPr id="19" name="se_459"/>
          <p:cNvSpPr/>
          <p:nvPr/>
        </p:nvSpPr>
        <p:spPr>
          <a:xfrm>
            <a:off x="338328" y="3788664"/>
            <a:ext cx="24688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I am. / No, I'm not.</a:t>
            </a:r>
            <a:endParaRPr lang="en-US" sz="1050" dirty="0"/>
          </a:p>
          <a:p>
            <a:pPr indent="0" marL="0">
              <a:buNone/>
            </a:pPr>
            <a:r>
              <a:rPr lang="en-US" sz="950" i="1" dirty="0">
                <a:solidFill>
                  <a:srgbClr val="2F9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Sì / No.</a:t>
            </a:r>
            <a:endParaRPr lang="en-US" sz="1050" dirty="0"/>
          </a:p>
        </p:txBody>
      </p:sp>
      <p:sp>
        <p:nvSpPr>
          <p:cNvPr id="20" name="gl_460"/>
          <p:cNvSpPr/>
          <p:nvPr/>
        </p:nvSpPr>
        <p:spPr>
          <a:xfrm>
            <a:off x="3108960" y="1325880"/>
            <a:ext cx="5715000" cy="3200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Are you a horse?  Are you big?  Are you nine?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⭐"/>
            </a:pPr>
            <a:r>
              <a:rPr lang="en-US" sz="1400" dirty="0">
                <a:solidFill>
                  <a:srgbClr val="1E2A5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sing?  Do you like eating paper?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Movers · STARTER · LESSON 1 · Meet the family</dc:title>
  <dc:subject>PptxGenJS Presentation</dc:subject>
  <dc:creator>PptxGenJS</dc:creator>
  <cp:lastModifiedBy>PptxGenJS</cp:lastModifiedBy>
  <cp:revision>1</cp:revision>
  <dcterms:created xsi:type="dcterms:W3CDTF">2026-10-06T10:51:14Z</dcterms:created>
  <dcterms:modified xsi:type="dcterms:W3CDTF">2026-10-06T10:51:14Z</dcterms:modified>
</cp:coreProperties>
</file>