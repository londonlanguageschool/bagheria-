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'Look! Who can you see?' Students name the characters. Teach 'dress up' (travestirsi). Ask: 'Do you like dressing up? What do you dress up as?'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 1 – PICTURE MEMORY (4 min with the next slide). SEE: the party picture from last lesson. TEACHER: 'You have 30 seconds. Remember who is the nurse, the pirate, the farmer…' Count down the last 5 seconds aloud. Then 'Close your books!'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MEMORY – COMMIT AND REVEAL. Pairs write the 6 names on paper (no book!). Then click the answers one by one; pairs tick and count. SCORE: 1 point per name; best pair = 'memory champions'. Support (say it only if needed): names to choose from – Mrs Friendly, Mr Friendly, Grandma, Grandpa, Tom, Cameron. Bonus: answer with 'a' – 'Mrs Friendly's a nurse.'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(12 min for all 6 pictures). First play the Friendly Farm song (1.38 intro, TB32). Then play the story audio/video, pausing after each picture. Ask the questions (TB32). Picture 1: (Never) (Have a costume party). Note (TB): 'a clown's costume' and 'a clown costume' are both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2 (TB32): Whose clothes are in the box? (Grandma and Grandpa's clothes) Where's Grandpa? (He's feeding the cows.) Point out: 'He's feeding the cows' = now; 'He always feeds them' =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3 (TB32): What costume is Rocky wearing? (Pop star) Why does Shelly want to be a film star? (Because they go to lots of parties.) Explain 'famous' (famoso). Ask: 'Do you want to be famous?'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4 (TB32): What costume is Henrietta wearing? (Nurse) What does Gracie like doing? (Studying.) Explain 'call' (chiamare).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5 (TB32): What costume does Gracie put on? (A doctor costume.) What must Gracie remember? (Doctors help other people.) Check 'help other people' (aiutare gli altri).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6 (TB32): What does Gracie want to look at? (Harry's eye) Is she helping Harry? (No, she isn't.) Does Harry need a doctor? (No – he doesn't have a problem with his eye, it's his pirate costume.) Draw a pirate with an eye patch on the board. Act out picture 6 with a volunteer!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COMPLETE (5 min, both slides). Books closed. Play 1.39 and pause for students to complete. Extra support: write the missing words in random order on the board. KEY (TB32): 1 wearing? 2 up 3 cows 4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(TB32): 5 doing? 6 studying 7 want? 8 eye.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min, TB33). Play 1.40 – students repeat. Write the sentences on the board, underline the s in 'works' (he/she/it + s). LEFT = present simple (habits: always, often, never). RIGHT = present continuous (now, today, at the moment). Italian: 'Lavora sempre' vs 'Sta lavorando adesso'. Practice: answers on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+ ITALIAN TRAP (3 min). Italian speakers often drop the final -s ('he work') or add a vowel ('he work-a'). SEE: sentences, answers hidden. TEACHER: read item 1 without the -s – 'Is that right?' – students hiss 'SSS!' and say it, then click. Feeds = buzzy /z/, watches = extra syllable /ɪz/. CATCH IT: say 'He feed-a the cows' – students catch it. Whisper → normal → monster voice: 'He never works at the weekend!'. ITALIAN TRAP (4–5): Italian uses no helper verb in questions ('Lavora?'); English needs IS (now) or DOES (always). Pairs decide which one before you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STICK (6 min, TB33). Play 1.41: students point to the correct sticker (Jenny watching TV / Grandpa on the tractor / Jim making a cake / Mrs Friendly at the piano). Play again: they stick. Ask 'What's Jenny doing now?' (Watching TV) and explain: it's happening now → present continuous. Students complete 2–4. KEY (TB33): 2 works 3 making 4 play. Extra support: do all three sentences as a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CORNERS (5 min, TB33 warm-up idea). SEE: 6 sentences. TEACHER: stick 4 sheets on the walls – ALWAYS / OFTEN / SOMETIMES / NEVER – and read one sentence. STUDENTS: walk (don't run!) to the corner that is true for them; 2 children per corner say the full sentence ('I never eat meatballs!'). GROUPING: whole class. SCORE: no points – but 'spot the liar': one child per round may say something false and the class guesses. Then a NOW question about someone: 'Is Marco eating meatballs now?' – 'No, he isn't!'. LANGUAGE: adverbs of frequency + present simple; contrast with present continuous. REVEAL: n/a (personal answers). TIME: 5 min, 5–6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– FREEZE! (3 min). SEE: 6 pictures, actions appear on click. TEACHER: say the action, students do it; shout 'FREEZE!' – everyone stops like a statue. Point to one child: 'What are you doing?' – 'I'm singing!'; point to another and ask the class: 'What's she doing?' – 'She's singing!'. GROUPING: whole class. SCORE: anyone who moves after FREEZE sits down for one round (then comes back – nobody is out for long). LANGUAGE: I'm …ing / She's …ing (present continuous). Recycles Unit 2 routines.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1 (8 min, TB33). Groups of four. Each child chooses a different job and a name for their character, draws the character (paper or Teacher's Resource Book worksheet p.34), and presents it to the group: 'She helps other people. She's a doctor.' KEEP the drawings – we use them in Lessons 3, 4 and 6! Then AB p.30: My mission diary – smiley for stage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Ending (TB32): flashcards on the board, numbered. Pairs: 'Number 3. What does he do?' – 'He's a …'. Thumbs for each 'I can'. Give a completion sticker for Mission Stage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HOT SEAT (5 min). SEE: 8 pictures, no words. TEACHER: one child sits with their back to the screen (the hot seat); click/point to a picture. STUDENTS: the class mimes it silently; the hot-seat child guesses with a full sentence: 'You're reading a comic!' GROUPING: 2 teams take turns in the hot seat. SCORE: correct in 1 guess = 3 points, 2 guesses = 2, 3 guesses = 1. LANGUAGE: You're …ing! REVEAL: the hot-seat child turns round to look. TIME: about 30 seconds per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PASS THE BALL (5 min). SEE: 6 questions (support). TEACHER: plays music, stops it at random. STUDENTS: pass a soft ball in a circle; whoever has it when the music stops answers a question with a full sentence, then asks the next question to someone they choose. GROUPING: whole class circle. SCORE: no points; a good full answer earns a class star. LANGUAGE: Do you often…? / What are you …ing? REVEAL: n/a (personal answers).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3 · LESSON 2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Dressing up!</a:t>
            </a:r>
            <a:endParaRPr lang="en-US" sz="32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a story + always / now 🤡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una storia + always / now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Friendly Farm story.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la storia della fattoria.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never… / He's …ing now!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 non… mai / Ora sta…!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🖍️ DRAW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job for our Mission.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 mestiere per la Missione.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3-p32-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51299"/>
            <a:ext cx="3246120" cy="2903842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came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grac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wearing?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Cosa indossi?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5902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p.32–33 · 🎧 1.38–1.41 · 🎬 story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30-second memory!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30 seconds. Remember WHO is WHAT!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30 secondi. Ricorda chi fa cosa!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 · ⏱ 30 SEC</a:t>
            </a:r>
            <a:endParaRPr lang="en-US" sz="1000" dirty="0"/>
          </a:p>
        </p:txBody>
      </p:sp>
      <p:sp>
        <p:nvSpPr>
          <p:cNvPr id="7" name="pf_28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9" descr="/home/claude/movers/img/crop/u3-p31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20" y="1325880"/>
            <a:ext cx="3188360" cy="3246120"/>
          </a:xfrm>
          <a:prstGeom prst="rect">
            <a:avLst/>
          </a:prstGeom>
        </p:spPr>
      </p:pic>
      <p:sp>
        <p:nvSpPr>
          <p:cNvPr id="9" name="bk_30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3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who?</a:t>
            </a:r>
            <a:endParaRPr lang="en-US" sz="3200" dirty="0"/>
          </a:p>
        </p:txBody>
      </p:sp>
      <p:sp>
        <p:nvSpPr>
          <p:cNvPr id="5" name="in_3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picture! Write the name. Then check.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Niente immagine! Scrivi il nome. Poi controlla.</a:t>
            </a:r>
            <a:endParaRPr lang="en-US" sz="1400" dirty="0"/>
          </a:p>
        </p:txBody>
      </p:sp>
      <p:sp>
        <p:nvSpPr>
          <p:cNvPr id="6" name="mode_3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✍ WRITE · ⏱ 3 MIN</a:t>
            </a:r>
            <a:endParaRPr lang="en-US" sz="1000" dirty="0"/>
          </a:p>
        </p:txBody>
      </p:sp>
      <p:sp>
        <p:nvSpPr>
          <p:cNvPr id="7" name="diff_35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Mrs Friendly · Grandma · Tom…</a:t>
            </a:r>
            <a:endParaRPr lang="en-US" sz="950" dirty="0"/>
          </a:p>
        </p:txBody>
      </p:sp>
      <p:sp>
        <p:nvSpPr>
          <p:cNvPr id="8" name="pf_3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37" descr="/home/claude/movers/img/e-u3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0" name="q_38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nurse?</a:t>
            </a:r>
            <a:endParaRPr lang="en-US" sz="1100" dirty="0"/>
          </a:p>
        </p:txBody>
      </p:sp>
      <p:sp>
        <p:nvSpPr>
          <p:cNvPr id="11" name="R1_a39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Mrs Friendly</a:t>
            </a:r>
            <a:endParaRPr lang="en-US" sz="1100" dirty="0"/>
          </a:p>
        </p:txBody>
      </p:sp>
      <p:sp>
        <p:nvSpPr>
          <p:cNvPr id="12" name="q_40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pirate?</a:t>
            </a:r>
            <a:endParaRPr lang="en-US" sz="1100" dirty="0"/>
          </a:p>
        </p:txBody>
      </p:sp>
      <p:sp>
        <p:nvSpPr>
          <p:cNvPr id="13" name="R2_a41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Grandma</a:t>
            </a:r>
            <a:endParaRPr lang="en-US" sz="1100" dirty="0"/>
          </a:p>
        </p:txBody>
      </p:sp>
      <p:sp>
        <p:nvSpPr>
          <p:cNvPr id="14" name="q_42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farmer?</a:t>
            </a:r>
            <a:endParaRPr lang="en-US" sz="1100" dirty="0"/>
          </a:p>
        </p:txBody>
      </p:sp>
      <p:sp>
        <p:nvSpPr>
          <p:cNvPr id="15" name="R3_a43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</a:t>
            </a:r>
            <a:endParaRPr lang="en-US" sz="1100" dirty="0"/>
          </a:p>
        </p:txBody>
      </p:sp>
      <p:sp>
        <p:nvSpPr>
          <p:cNvPr id="16" name="q_44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cook?</a:t>
            </a:r>
            <a:endParaRPr lang="en-US" sz="1100" dirty="0"/>
          </a:p>
        </p:txBody>
      </p:sp>
      <p:sp>
        <p:nvSpPr>
          <p:cNvPr id="17" name="R4_a45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 Friendly</a:t>
            </a:r>
            <a:endParaRPr lang="en-US" sz="1100" dirty="0"/>
          </a:p>
        </p:txBody>
      </p:sp>
      <p:sp>
        <p:nvSpPr>
          <p:cNvPr id="18" name="q_46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film star?</a:t>
            </a:r>
            <a:endParaRPr lang="en-US" sz="1100" dirty="0"/>
          </a:p>
        </p:txBody>
      </p:sp>
      <p:sp>
        <p:nvSpPr>
          <p:cNvPr id="19" name="R5_a47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Tom</a:t>
            </a:r>
            <a:endParaRPr lang="en-US" sz="1100" dirty="0"/>
          </a:p>
        </p:txBody>
      </p:sp>
      <p:sp>
        <p:nvSpPr>
          <p:cNvPr id="20" name="q_48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a clown?</a:t>
            </a:r>
            <a:endParaRPr lang="en-US" sz="1100" dirty="0"/>
          </a:p>
        </p:txBody>
      </p:sp>
      <p:sp>
        <p:nvSpPr>
          <p:cNvPr id="21" name="R6_a49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5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1</a:t>
            </a:r>
            <a:endParaRPr lang="en-US" sz="2400" dirty="0"/>
          </a:p>
        </p:txBody>
      </p:sp>
      <p:sp>
        <p:nvSpPr>
          <p:cNvPr id="5" name="in_5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What's Cameron wearing?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Cosa indossa Cameron?</a:t>
            </a:r>
            <a:endParaRPr lang="en-US" sz="1400" dirty="0"/>
          </a:p>
        </p:txBody>
      </p:sp>
      <p:sp>
        <p:nvSpPr>
          <p:cNvPr id="6" name="mode_5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👀 LOOK</a:t>
            </a:r>
            <a:endParaRPr lang="en-US" sz="1000" dirty="0"/>
          </a:p>
        </p:txBody>
      </p:sp>
      <p:sp>
        <p:nvSpPr>
          <p:cNvPr id="7" name="pf_5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55" descr="/home/claude/movers/img/crop/u3-p32-story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01" y="1325880"/>
            <a:ext cx="4322958" cy="3246120"/>
          </a:xfrm>
          <a:prstGeom prst="rect">
            <a:avLst/>
          </a:prstGeom>
        </p:spPr>
      </p:pic>
      <p:sp>
        <p:nvSpPr>
          <p:cNvPr id="9" name="q_56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Cameron wearing?</a:t>
            </a:r>
            <a:endParaRPr lang="en-US" sz="1250" dirty="0"/>
          </a:p>
        </p:txBody>
      </p:sp>
      <p:sp>
        <p:nvSpPr>
          <p:cNvPr id="10" name="R1_a57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clown's costume</a:t>
            </a:r>
            <a:endParaRPr lang="en-US" sz="1250" dirty="0"/>
          </a:p>
        </p:txBody>
      </p:sp>
      <p:sp>
        <p:nvSpPr>
          <p:cNvPr id="11" name="q_58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 do the animals wear costumes?</a:t>
            </a:r>
            <a:endParaRPr lang="en-US" sz="1250" dirty="0"/>
          </a:p>
        </p:txBody>
      </p:sp>
      <p:sp>
        <p:nvSpPr>
          <p:cNvPr id="12" name="R2_a59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Never!</a:t>
            </a:r>
            <a:endParaRPr lang="en-US" sz="1250" dirty="0"/>
          </a:p>
        </p:txBody>
      </p:sp>
      <p:sp>
        <p:nvSpPr>
          <p:cNvPr id="13" name="q_60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Shelly want to do?</a:t>
            </a:r>
            <a:endParaRPr lang="en-US" sz="1250" dirty="0"/>
          </a:p>
        </p:txBody>
      </p:sp>
      <p:sp>
        <p:nvSpPr>
          <p:cNvPr id="14" name="R3_a61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costume party</a:t>
            </a:r>
            <a:endParaRPr lang="en-US" sz="1250" dirty="0"/>
          </a:p>
        </p:txBody>
      </p:sp>
      <p:sp>
        <p:nvSpPr>
          <p:cNvPr id="15" name="bk_62"/>
          <p:cNvSpPr/>
          <p:nvPr/>
        </p:nvSpPr>
        <p:spPr>
          <a:xfrm>
            <a:off x="228600" y="4681728"/>
            <a:ext cx="396849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 · 🎬 story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6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2</a:t>
            </a:r>
            <a:endParaRPr lang="en-US" sz="2400" dirty="0"/>
          </a:p>
        </p:txBody>
      </p:sp>
      <p:sp>
        <p:nvSpPr>
          <p:cNvPr id="5" name="in_6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Where's Farmer Friendly?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Dov'è il contadino Friendly?</a:t>
            </a:r>
            <a:endParaRPr lang="en-US" sz="1400" dirty="0"/>
          </a:p>
        </p:txBody>
      </p:sp>
      <p:sp>
        <p:nvSpPr>
          <p:cNvPr id="6" name="pf_6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7" descr="/home/claude/movers/img/crop/u3-p32-story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51" y="1325880"/>
            <a:ext cx="3748657" cy="3246120"/>
          </a:xfrm>
          <a:prstGeom prst="rect">
            <a:avLst/>
          </a:prstGeom>
        </p:spPr>
      </p:pic>
      <p:sp>
        <p:nvSpPr>
          <p:cNvPr id="8" name="q_68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clothes are in the box?</a:t>
            </a:r>
            <a:endParaRPr lang="en-US" sz="1250" dirty="0"/>
          </a:p>
        </p:txBody>
      </p:sp>
      <p:sp>
        <p:nvSpPr>
          <p:cNvPr id="9" name="R1_a69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Grandma and Grandpa's</a:t>
            </a:r>
            <a:endParaRPr lang="en-US" sz="1250" dirty="0"/>
          </a:p>
        </p:txBody>
      </p:sp>
      <p:sp>
        <p:nvSpPr>
          <p:cNvPr id="10" name="q_70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Where's Farmer Friendly?</a:t>
            </a:r>
            <a:endParaRPr lang="en-US" sz="1250" dirty="0"/>
          </a:p>
        </p:txBody>
      </p:sp>
      <p:sp>
        <p:nvSpPr>
          <p:cNvPr id="11" name="R2_a71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outside feeding the cows.</a:t>
            </a:r>
            <a:endParaRPr lang="en-US" sz="1250" dirty="0"/>
          </a:p>
        </p:txBody>
      </p:sp>
      <p:sp>
        <p:nvSpPr>
          <p:cNvPr id="12" name="q_72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 does he feed them?</a:t>
            </a:r>
            <a:endParaRPr lang="en-US" sz="1250" dirty="0"/>
          </a:p>
        </p:txBody>
      </p:sp>
      <p:sp>
        <p:nvSpPr>
          <p:cNvPr id="13" name="R3_a73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 in the evenings</a:t>
            </a:r>
            <a:endParaRPr lang="en-US" sz="1250" dirty="0"/>
          </a:p>
        </p:txBody>
      </p:sp>
      <p:sp>
        <p:nvSpPr>
          <p:cNvPr id="14" name="bk_74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7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3</a:t>
            </a:r>
            <a:endParaRPr lang="en-US" sz="2400" dirty="0"/>
          </a:p>
        </p:txBody>
      </p:sp>
      <p:sp>
        <p:nvSpPr>
          <p:cNvPr id="5" name="in_7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What does Shelly want to be?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Cosa vuole essere Shelly?</a:t>
            </a:r>
            <a:endParaRPr lang="en-US" sz="1400" dirty="0"/>
          </a:p>
        </p:txBody>
      </p:sp>
      <p:sp>
        <p:nvSpPr>
          <p:cNvPr id="6" name="pf_7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9" descr="/home/claude/movers/img/crop/u3-p32-story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84" y="1325880"/>
            <a:ext cx="4241393" cy="3246120"/>
          </a:xfrm>
          <a:prstGeom prst="rect">
            <a:avLst/>
          </a:prstGeom>
        </p:spPr>
      </p:pic>
      <p:sp>
        <p:nvSpPr>
          <p:cNvPr id="8" name="q_80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costume is Rocky wearing?</a:t>
            </a:r>
            <a:endParaRPr lang="en-US" sz="1250" dirty="0"/>
          </a:p>
        </p:txBody>
      </p:sp>
      <p:sp>
        <p:nvSpPr>
          <p:cNvPr id="9" name="R1_a81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pop star costume</a:t>
            </a:r>
            <a:endParaRPr lang="en-US" sz="1250" dirty="0"/>
          </a:p>
        </p:txBody>
      </p:sp>
      <p:sp>
        <p:nvSpPr>
          <p:cNvPr id="10" name="q_82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Shelly want to be?</a:t>
            </a:r>
            <a:endParaRPr lang="en-US" sz="1250" dirty="0"/>
          </a:p>
        </p:txBody>
      </p:sp>
      <p:sp>
        <p:nvSpPr>
          <p:cNvPr id="11" name="R2_a83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famous film star</a:t>
            </a:r>
            <a:endParaRPr lang="en-US" sz="1250" dirty="0"/>
          </a:p>
        </p:txBody>
      </p:sp>
      <p:sp>
        <p:nvSpPr>
          <p:cNvPr id="12" name="q_84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Why?</a:t>
            </a:r>
            <a:endParaRPr lang="en-US" sz="1250" dirty="0"/>
          </a:p>
        </p:txBody>
      </p:sp>
      <p:sp>
        <p:nvSpPr>
          <p:cNvPr id="13" name="R3_a85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film stars often go to parties.</a:t>
            </a:r>
            <a:endParaRPr lang="en-US" sz="1250" dirty="0"/>
          </a:p>
        </p:txBody>
      </p:sp>
      <p:sp>
        <p:nvSpPr>
          <p:cNvPr id="14" name="bk_8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8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4</a:t>
            </a:r>
            <a:endParaRPr lang="en-US" sz="2400" dirty="0"/>
          </a:p>
        </p:txBody>
      </p:sp>
      <p:sp>
        <p:nvSpPr>
          <p:cNvPr id="5" name="in_8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What's Rocky doing?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Cosa sta facendo Rocky?</a:t>
            </a:r>
            <a:endParaRPr lang="en-US" sz="1400" dirty="0"/>
          </a:p>
        </p:txBody>
      </p:sp>
      <p:sp>
        <p:nvSpPr>
          <p:cNvPr id="6" name="pf_9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1" descr="/home/claude/movers/img/crop/u3-p32-story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0" y="1325880"/>
            <a:ext cx="4226081" cy="3246120"/>
          </a:xfrm>
          <a:prstGeom prst="rect">
            <a:avLst/>
          </a:prstGeom>
        </p:spPr>
      </p:pic>
      <p:sp>
        <p:nvSpPr>
          <p:cNvPr id="8" name="q_92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costume is Henrietta wearing?</a:t>
            </a:r>
            <a:endParaRPr lang="en-US" sz="1250" dirty="0"/>
          </a:p>
        </p:txBody>
      </p:sp>
      <p:sp>
        <p:nvSpPr>
          <p:cNvPr id="9" name="R1_a93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nurse costume</a:t>
            </a:r>
            <a:endParaRPr lang="en-US" sz="1250" dirty="0"/>
          </a:p>
        </p:txBody>
      </p:sp>
      <p:sp>
        <p:nvSpPr>
          <p:cNvPr id="10" name="q_94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Rocky doing?</a:t>
            </a:r>
            <a:endParaRPr lang="en-US" sz="1250" dirty="0"/>
          </a:p>
        </p:txBody>
      </p:sp>
      <p:sp>
        <p:nvSpPr>
          <p:cNvPr id="11" name="R2_a95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calling Gracie.</a:t>
            </a:r>
            <a:endParaRPr lang="en-US" sz="1250" dirty="0"/>
          </a:p>
        </p:txBody>
      </p:sp>
      <p:sp>
        <p:nvSpPr>
          <p:cNvPr id="12" name="q_96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Gracie like doing?</a:t>
            </a:r>
            <a:endParaRPr lang="en-US" sz="1250" dirty="0"/>
          </a:p>
        </p:txBody>
      </p:sp>
      <p:sp>
        <p:nvSpPr>
          <p:cNvPr id="13" name="R3_a97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studying 📚</a:t>
            </a:r>
            <a:endParaRPr lang="en-US" sz="1250" dirty="0"/>
          </a:p>
        </p:txBody>
      </p:sp>
      <p:sp>
        <p:nvSpPr>
          <p:cNvPr id="14" name="bk_9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100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5</a:t>
            </a:r>
            <a:endParaRPr lang="en-US" sz="2400" dirty="0"/>
          </a:p>
        </p:txBody>
      </p:sp>
      <p:sp>
        <p:nvSpPr>
          <p:cNvPr id="5" name="in_101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What's Gracie's costume?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Qual è il costume di Gracie?</a:t>
            </a:r>
            <a:endParaRPr lang="en-US" sz="1400" dirty="0"/>
          </a:p>
        </p:txBody>
      </p:sp>
      <p:sp>
        <p:nvSpPr>
          <p:cNvPr id="6" name="pf_10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3" descr="/home/claude/movers/img/crop/u3-p32-story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01" y="1325880"/>
            <a:ext cx="4322958" cy="3246120"/>
          </a:xfrm>
          <a:prstGeom prst="rect">
            <a:avLst/>
          </a:prstGeom>
        </p:spPr>
      </p:pic>
      <p:sp>
        <p:nvSpPr>
          <p:cNvPr id="8" name="q_104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costume does Gracie put on?</a:t>
            </a:r>
            <a:endParaRPr lang="en-US" sz="1250" dirty="0"/>
          </a:p>
        </p:txBody>
      </p:sp>
      <p:sp>
        <p:nvSpPr>
          <p:cNvPr id="9" name="R1_a105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doctor costume 🩺</a:t>
            </a:r>
            <a:endParaRPr lang="en-US" sz="1250" dirty="0"/>
          </a:p>
        </p:txBody>
      </p:sp>
      <p:sp>
        <p:nvSpPr>
          <p:cNvPr id="10" name="q_106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must Gracie remember?</a:t>
            </a:r>
            <a:endParaRPr lang="en-US" sz="1250" dirty="0"/>
          </a:p>
        </p:txBody>
      </p:sp>
      <p:sp>
        <p:nvSpPr>
          <p:cNvPr id="11" name="R2_a107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Doctors help other people.</a:t>
            </a:r>
            <a:endParaRPr lang="en-US" sz="1250" dirty="0"/>
          </a:p>
        </p:txBody>
      </p:sp>
      <p:sp>
        <p:nvSpPr>
          <p:cNvPr id="12" name="bk_10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110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6</a:t>
            </a:r>
            <a:endParaRPr lang="en-US" sz="2400" dirty="0"/>
          </a:p>
        </p:txBody>
      </p:sp>
      <p:sp>
        <p:nvSpPr>
          <p:cNvPr id="5" name="in_111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Is Gracie helping Harry?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Gracie sta aiutando Harry?</a:t>
            </a:r>
            <a:endParaRPr lang="en-US" sz="1400" dirty="0"/>
          </a:p>
        </p:txBody>
      </p:sp>
      <p:sp>
        <p:nvSpPr>
          <p:cNvPr id="6" name="pf_11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3" descr="/home/claude/movers/img/crop/u3-p32-story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4" y="1325880"/>
            <a:ext cx="4307352" cy="3246120"/>
          </a:xfrm>
          <a:prstGeom prst="rect">
            <a:avLst/>
          </a:prstGeom>
        </p:spPr>
      </p:pic>
      <p:sp>
        <p:nvSpPr>
          <p:cNvPr id="8" name="q_114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Gracie want to look at?</a:t>
            </a:r>
            <a:endParaRPr lang="en-US" sz="1250" dirty="0"/>
          </a:p>
        </p:txBody>
      </p:sp>
      <p:sp>
        <p:nvSpPr>
          <p:cNvPr id="9" name="R1_a115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Harry's eye 👁️</a:t>
            </a:r>
            <a:endParaRPr lang="en-US" sz="1250" dirty="0"/>
          </a:p>
        </p:txBody>
      </p:sp>
      <p:sp>
        <p:nvSpPr>
          <p:cNvPr id="10" name="q_116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Harry need a doctor?</a:t>
            </a:r>
            <a:endParaRPr lang="en-US" sz="1250" dirty="0"/>
          </a:p>
        </p:txBody>
      </p:sp>
      <p:sp>
        <p:nvSpPr>
          <p:cNvPr id="11" name="R2_a117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No! It's his pirate costume.</a:t>
            </a:r>
            <a:endParaRPr lang="en-US" sz="1250" dirty="0"/>
          </a:p>
        </p:txBody>
      </p:sp>
      <p:sp>
        <p:nvSpPr>
          <p:cNvPr id="12" name="q_118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she helping Harry?</a:t>
            </a:r>
            <a:endParaRPr lang="en-US" sz="1250" dirty="0"/>
          </a:p>
        </p:txBody>
      </p:sp>
      <p:sp>
        <p:nvSpPr>
          <p:cNvPr id="13" name="R3_a119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she isn't! Ow!</a:t>
            </a:r>
            <a:endParaRPr lang="en-US" sz="1250" dirty="0"/>
          </a:p>
        </p:txBody>
      </p:sp>
      <p:sp>
        <p:nvSpPr>
          <p:cNvPr id="14" name="bk_120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2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one word!</a:t>
            </a:r>
            <a:endParaRPr lang="en-US" sz="2700" dirty="0"/>
          </a:p>
        </p:txBody>
      </p:sp>
      <p:sp>
        <p:nvSpPr>
          <p:cNvPr id="5" name="in_12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Books closed! Listen and complete. Use one word.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Libri chiusi! Ascolta e completa. Usa una parola.</a:t>
            </a:r>
            <a:endParaRPr lang="en-US" sz="1400" dirty="0"/>
          </a:p>
        </p:txBody>
      </p:sp>
      <p:sp>
        <p:nvSpPr>
          <p:cNvPr id="6" name="mode_12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 · ⏱ 2 MIN</a:t>
            </a:r>
            <a:endParaRPr lang="en-US" sz="1000" dirty="0"/>
          </a:p>
        </p:txBody>
      </p:sp>
      <p:sp>
        <p:nvSpPr>
          <p:cNvPr id="7" name="pf_12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26" descr="/home/claude/movers/img/crop/u3-p32-story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01" y="1325880"/>
            <a:ext cx="4322958" cy="3246120"/>
          </a:xfrm>
          <a:prstGeom prst="rect">
            <a:avLst/>
          </a:prstGeom>
        </p:spPr>
      </p:pic>
      <p:sp>
        <p:nvSpPr>
          <p:cNvPr id="9" name="q_127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Harry: Oh, Cameron! What are you …</a:t>
            </a:r>
            <a:endParaRPr lang="en-US" sz="1250" dirty="0"/>
          </a:p>
        </p:txBody>
      </p:sp>
      <p:sp>
        <p:nvSpPr>
          <p:cNvPr id="10" name="R1_a128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wearing?</a:t>
            </a:r>
            <a:endParaRPr lang="en-US" sz="1250" dirty="0"/>
          </a:p>
        </p:txBody>
      </p:sp>
      <p:sp>
        <p:nvSpPr>
          <p:cNvPr id="11" name="q_129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Shelly: Oh, we never dress …</a:t>
            </a:r>
            <a:endParaRPr lang="en-US" sz="1250" dirty="0"/>
          </a:p>
        </p:txBody>
      </p:sp>
      <p:sp>
        <p:nvSpPr>
          <p:cNvPr id="12" name="R2_a130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</a:t>
            </a:r>
            <a:endParaRPr lang="en-US" sz="1250" dirty="0"/>
          </a:p>
        </p:txBody>
      </p:sp>
      <p:sp>
        <p:nvSpPr>
          <p:cNvPr id="13" name="q_131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Harry: He's outside feeding the …</a:t>
            </a:r>
            <a:endParaRPr lang="en-US" sz="1250" dirty="0"/>
          </a:p>
        </p:txBody>
      </p:sp>
      <p:sp>
        <p:nvSpPr>
          <p:cNvPr id="14" name="R3_a132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cows</a:t>
            </a:r>
            <a:endParaRPr lang="en-US" sz="1250" dirty="0"/>
          </a:p>
        </p:txBody>
      </p:sp>
      <p:sp>
        <p:nvSpPr>
          <p:cNvPr id="15" name="q_133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Shelly: I want to be a famous film …</a:t>
            </a:r>
            <a:endParaRPr lang="en-US" sz="1250" dirty="0"/>
          </a:p>
        </p:txBody>
      </p:sp>
      <p:sp>
        <p:nvSpPr>
          <p:cNvPr id="16" name="R4_a134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star</a:t>
            </a:r>
            <a:endParaRPr lang="en-US" sz="1250" dirty="0"/>
          </a:p>
        </p:txBody>
      </p:sp>
      <p:sp>
        <p:nvSpPr>
          <p:cNvPr id="17" name="bk_135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3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one word!</a:t>
            </a:r>
            <a:endParaRPr lang="en-US" sz="2700" dirty="0"/>
          </a:p>
        </p:txBody>
      </p:sp>
      <p:sp>
        <p:nvSpPr>
          <p:cNvPr id="5" name="in_13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Books closed! Listen and complete. Use one word.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Libri chiusi! Ascolta e completa. Usa una parola.</a:t>
            </a:r>
            <a:endParaRPr lang="en-US" sz="1400" dirty="0"/>
          </a:p>
        </p:txBody>
      </p:sp>
      <p:sp>
        <p:nvSpPr>
          <p:cNvPr id="6" name="mode_13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 · ⏱ 2 MIN</a:t>
            </a:r>
            <a:endParaRPr lang="en-US" sz="1000" dirty="0"/>
          </a:p>
        </p:txBody>
      </p:sp>
      <p:sp>
        <p:nvSpPr>
          <p:cNvPr id="7" name="pf_14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41" descr="/home/claude/movers/img/crop/u3-p32-story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0" y="1325880"/>
            <a:ext cx="4226081" cy="3246120"/>
          </a:xfrm>
          <a:prstGeom prst="rect">
            <a:avLst/>
          </a:prstGeom>
        </p:spPr>
      </p:pic>
      <p:sp>
        <p:nvSpPr>
          <p:cNvPr id="9" name="q_142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Harry: Rocky! What are you …</a:t>
            </a:r>
            <a:endParaRPr lang="en-US" sz="1250" dirty="0"/>
          </a:p>
        </p:txBody>
      </p:sp>
      <p:sp>
        <p:nvSpPr>
          <p:cNvPr id="10" name="R1_a143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doing?</a:t>
            </a:r>
            <a:endParaRPr lang="en-US" sz="1250" dirty="0"/>
          </a:p>
        </p:txBody>
      </p:sp>
      <p:sp>
        <p:nvSpPr>
          <p:cNvPr id="11" name="q_144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Rocky: I'm calling Gracie. She likes …</a:t>
            </a:r>
            <a:endParaRPr lang="en-US" sz="1250" dirty="0"/>
          </a:p>
        </p:txBody>
      </p:sp>
      <p:sp>
        <p:nvSpPr>
          <p:cNvPr id="12" name="R2_a145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studying</a:t>
            </a:r>
            <a:endParaRPr lang="en-US" sz="1250" dirty="0"/>
          </a:p>
        </p:txBody>
      </p:sp>
      <p:sp>
        <p:nvSpPr>
          <p:cNvPr id="13" name="q_146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Gracie: Are you calling me? What do you …</a:t>
            </a:r>
            <a:endParaRPr lang="en-US" sz="1250" dirty="0"/>
          </a:p>
        </p:txBody>
      </p:sp>
      <p:sp>
        <p:nvSpPr>
          <p:cNvPr id="14" name="R3_a147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want?</a:t>
            </a:r>
            <a:endParaRPr lang="en-US" sz="1250" dirty="0"/>
          </a:p>
        </p:txBody>
      </p:sp>
      <p:sp>
        <p:nvSpPr>
          <p:cNvPr id="15" name="q_148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Gracie: Harry! I must look at your …</a:t>
            </a:r>
            <a:endParaRPr lang="en-US" sz="1250" dirty="0"/>
          </a:p>
        </p:txBody>
      </p:sp>
      <p:sp>
        <p:nvSpPr>
          <p:cNvPr id="16" name="R4_a149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eye</a:t>
            </a:r>
            <a:endParaRPr lang="en-US" sz="1250" dirty="0"/>
          </a:p>
        </p:txBody>
      </p:sp>
      <p:sp>
        <p:nvSpPr>
          <p:cNvPr id="17" name="bk_150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p.32 · 🎧 1.39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</a:t>
            </a:r>
            <a:endParaRPr lang="en-US" sz="1600" dirty="0"/>
          </a:p>
        </p:txBody>
      </p:sp>
      <p:sp>
        <p:nvSpPr>
          <p:cNvPr id="4" name="bm_15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Gracie's Grammar</a:t>
            </a:r>
            <a:endParaRPr lang="en-US" sz="2700" dirty="0"/>
          </a:p>
        </p:txBody>
      </p:sp>
      <p:sp>
        <p:nvSpPr>
          <p:cNvPr id="5" name="mode_15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6 MIN</a:t>
            </a:r>
            <a:endParaRPr lang="en-US" sz="1000" dirty="0"/>
          </a:p>
        </p:txBody>
      </p:sp>
      <p:sp>
        <p:nvSpPr>
          <p:cNvPr id="6" name="gb_154"/>
          <p:cNvSpPr/>
          <p:nvPr/>
        </p:nvSpPr>
        <p:spPr>
          <a:xfrm>
            <a:off x="320040" y="1280160"/>
            <a:ext cx="8503920" cy="1993392"/>
          </a:xfrm>
          <a:prstGeom prst="roundRect">
            <a:avLst>
              <a:gd name="adj" fmla="val 550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7" name="pic_155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46311"/>
            <a:ext cx="868680" cy="1042803"/>
          </a:xfrm>
          <a:prstGeom prst="rect">
            <a:avLst/>
          </a:prstGeom>
        </p:spPr>
      </p:pic>
      <p:sp>
        <p:nvSpPr>
          <p:cNvPr id="8" name="gl_156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 works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at the weekend.  ⟷  It's Friday. He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's working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today.</a:t>
            </a:r>
            <a:endParaRPr lang="en-US" sz="1500" dirty="0"/>
          </a:p>
        </p:txBody>
      </p:sp>
      <p:sp>
        <p:nvSpPr>
          <p:cNvPr id="9" name="gl_157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don't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often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to the radio.  ⟷  I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'm not listening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to it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now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gl_158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you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meatballs?  ⟷  What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you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eating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at the moment?</a:t>
            </a:r>
            <a:endParaRPr lang="en-US" sz="1500" dirty="0"/>
          </a:p>
        </p:txBody>
      </p:sp>
      <p:sp>
        <p:nvSpPr>
          <p:cNvPr id="11" name="gl_159"/>
          <p:cNvSpPr/>
          <p:nvPr/>
        </p:nvSpPr>
        <p:spPr>
          <a:xfrm>
            <a:off x="548640" y="25694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always, often, never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= habits    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now, today, at the moment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= now!</a:t>
            </a:r>
            <a:endParaRPr lang="en-US" sz="1500" dirty="0"/>
          </a:p>
        </p:txBody>
      </p:sp>
      <p:sp>
        <p:nvSpPr>
          <p:cNvPr id="12" name="pq_160"/>
          <p:cNvSpPr/>
          <p:nvPr/>
        </p:nvSpPr>
        <p:spPr>
          <a:xfrm>
            <a:off x="365760" y="34107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Rocky ___ a song now. (sing)</a:t>
            </a:r>
            <a:endParaRPr lang="en-US" sz="1300" dirty="0"/>
          </a:p>
        </p:txBody>
      </p:sp>
      <p:sp>
        <p:nvSpPr>
          <p:cNvPr id="13" name="R1_pa161"/>
          <p:cNvSpPr/>
          <p:nvPr/>
        </p:nvSpPr>
        <p:spPr>
          <a:xfrm>
            <a:off x="6126480" y="3410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's singing</a:t>
            </a:r>
            <a:endParaRPr lang="en-US" sz="1300" dirty="0"/>
          </a:p>
        </p:txBody>
      </p:sp>
      <p:sp>
        <p:nvSpPr>
          <p:cNvPr id="14" name="pq_162"/>
          <p:cNvSpPr/>
          <p:nvPr/>
        </p:nvSpPr>
        <p:spPr>
          <a:xfrm>
            <a:off x="365760" y="381304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 never ___ costumes. (wear)</a:t>
            </a:r>
            <a:endParaRPr lang="en-US" sz="1300" dirty="0"/>
          </a:p>
        </p:txBody>
      </p:sp>
      <p:sp>
        <p:nvSpPr>
          <p:cNvPr id="15" name="R2_pa163"/>
          <p:cNvSpPr/>
          <p:nvPr/>
        </p:nvSpPr>
        <p:spPr>
          <a:xfrm>
            <a:off x="6126480" y="38130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wears</a:t>
            </a:r>
            <a:endParaRPr lang="en-US" sz="1300" dirty="0"/>
          </a:p>
        </p:txBody>
      </p:sp>
      <p:sp>
        <p:nvSpPr>
          <p:cNvPr id="16" name="pq_164"/>
          <p:cNvSpPr/>
          <p:nvPr/>
        </p:nvSpPr>
        <p:spPr>
          <a:xfrm>
            <a:off x="365760" y="421538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you often go to parties? (do)</a:t>
            </a:r>
            <a:endParaRPr lang="en-US" sz="1300" dirty="0"/>
          </a:p>
        </p:txBody>
      </p:sp>
      <p:sp>
        <p:nvSpPr>
          <p:cNvPr id="17" name="R3_pa165"/>
          <p:cNvSpPr/>
          <p:nvPr/>
        </p:nvSpPr>
        <p:spPr>
          <a:xfrm>
            <a:off x="6126480" y="4215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</a:t>
            </a:r>
            <a:endParaRPr lang="en-US" sz="1300" dirty="0"/>
          </a:p>
        </p:txBody>
      </p:sp>
      <p:sp>
        <p:nvSpPr>
          <p:cNvPr id="18" name="bk_16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p.33 · 🎧 1.40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6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Snake sound -s!</a:t>
            </a:r>
            <a:endParaRPr lang="en-US" sz="2700" dirty="0"/>
          </a:p>
        </p:txBody>
      </p:sp>
      <p:sp>
        <p:nvSpPr>
          <p:cNvPr id="5" name="in_16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/ She + verb: add -s! Hiss! 🐍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/ She + verbo: aggiungi -s!</a:t>
            </a:r>
            <a:endParaRPr lang="en-US" sz="1400" dirty="0"/>
          </a:p>
        </p:txBody>
      </p:sp>
      <p:sp>
        <p:nvSpPr>
          <p:cNvPr id="6" name="mode_17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3 MIN</a:t>
            </a:r>
            <a:endParaRPr lang="en-US" sz="1000" dirty="0"/>
          </a:p>
        </p:txBody>
      </p:sp>
      <p:sp>
        <p:nvSpPr>
          <p:cNvPr id="7" name="diff_171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Lavora? → Does he work?</a:t>
            </a:r>
            <a:endParaRPr lang="en-US" sz="950" dirty="0"/>
          </a:p>
        </p:txBody>
      </p:sp>
      <p:sp>
        <p:nvSpPr>
          <p:cNvPr id="8" name="pf_17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73" descr="/home/claude/movers/img/e-u3sn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0" name="q_174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work… every day.</a:t>
            </a:r>
            <a:endParaRPr lang="en-US" sz="1250" dirty="0"/>
          </a:p>
        </p:txBody>
      </p:sp>
      <p:sp>
        <p:nvSpPr>
          <p:cNvPr id="11" name="R1_a175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workSSS! 🐍</a:t>
            </a:r>
            <a:endParaRPr lang="en-US" sz="1250" dirty="0"/>
          </a:p>
        </p:txBody>
      </p:sp>
      <p:sp>
        <p:nvSpPr>
          <p:cNvPr id="12" name="q_176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 feed… the cows.</a:t>
            </a:r>
            <a:endParaRPr lang="en-US" sz="1250" dirty="0"/>
          </a:p>
        </p:txBody>
      </p:sp>
      <p:sp>
        <p:nvSpPr>
          <p:cNvPr id="13" name="R2_a177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 feedZZZ! 🐝</a:t>
            </a:r>
            <a:endParaRPr lang="en-US" sz="1250" dirty="0"/>
          </a:p>
        </p:txBody>
      </p:sp>
      <p:sp>
        <p:nvSpPr>
          <p:cNvPr id="14" name="q_178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watch… TV.</a:t>
            </a:r>
            <a:endParaRPr lang="en-US" sz="1250" dirty="0"/>
          </a:p>
        </p:txBody>
      </p:sp>
      <p:sp>
        <p:nvSpPr>
          <p:cNvPr id="15" name="R3_a179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watch-ES (2 parts!)</a:t>
            </a:r>
            <a:endParaRPr lang="en-US" sz="1250" dirty="0"/>
          </a:p>
        </p:txBody>
      </p:sp>
      <p:sp>
        <p:nvSpPr>
          <p:cNvPr id="16" name="q_180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Lavora oggi? → in English?</a:t>
            </a:r>
            <a:endParaRPr lang="en-US" sz="1250" dirty="0"/>
          </a:p>
        </p:txBody>
      </p:sp>
      <p:sp>
        <p:nvSpPr>
          <p:cNvPr id="17" name="R4_a181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he working today?</a:t>
            </a:r>
            <a:endParaRPr lang="en-US" sz="1250" dirty="0"/>
          </a:p>
        </p:txBody>
      </p:sp>
      <p:sp>
        <p:nvSpPr>
          <p:cNvPr id="18" name="q_182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Lavora sempre? → in English?</a:t>
            </a:r>
            <a:endParaRPr lang="en-US" sz="1250" dirty="0"/>
          </a:p>
        </p:txBody>
      </p:sp>
      <p:sp>
        <p:nvSpPr>
          <p:cNvPr id="19" name="R5_a183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he always work?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8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and stick</a:t>
            </a:r>
            <a:endParaRPr lang="en-US" sz="2700" dirty="0"/>
          </a:p>
        </p:txBody>
      </p:sp>
      <p:sp>
        <p:nvSpPr>
          <p:cNvPr id="5" name="in_18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stick. Then look, read and write.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attacca gli sticker. Poi guarda, leggi e scrivi.</a:t>
            </a:r>
            <a:endParaRPr lang="en-US" sz="1400" dirty="0"/>
          </a:p>
        </p:txBody>
      </p:sp>
      <p:sp>
        <p:nvSpPr>
          <p:cNvPr id="6" name="mode_18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✍ WRITE</a:t>
            </a:r>
            <a:endParaRPr lang="en-US" sz="1000" dirty="0"/>
          </a:p>
        </p:txBody>
      </p:sp>
      <p:sp>
        <p:nvSpPr>
          <p:cNvPr id="7" name="pf_18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89" descr="/home/claude/movers/img/crop/u3-p33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17759"/>
            <a:ext cx="5120640" cy="2662362"/>
          </a:xfrm>
          <a:prstGeom prst="rect">
            <a:avLst/>
          </a:prstGeom>
        </p:spPr>
      </p:pic>
      <p:sp>
        <p:nvSpPr>
          <p:cNvPr id="9" name="q_190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Jenny's ___ TV now.</a:t>
            </a:r>
            <a:endParaRPr lang="en-US" sz="1250" dirty="0"/>
          </a:p>
        </p:txBody>
      </p:sp>
      <p:sp>
        <p:nvSpPr>
          <p:cNvPr id="10" name="R1_a191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watching (example)</a:t>
            </a:r>
            <a:endParaRPr lang="en-US" sz="1250" dirty="0"/>
          </a:p>
        </p:txBody>
      </p:sp>
      <p:sp>
        <p:nvSpPr>
          <p:cNvPr id="11" name="q_192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 ___ every day. He's a farmer.</a:t>
            </a:r>
            <a:endParaRPr lang="en-US" sz="1250" dirty="0"/>
          </a:p>
        </p:txBody>
      </p:sp>
      <p:sp>
        <p:nvSpPr>
          <p:cNvPr id="12" name="R2_a193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works</a:t>
            </a:r>
            <a:endParaRPr lang="en-US" sz="1250" dirty="0"/>
          </a:p>
        </p:txBody>
      </p:sp>
      <p:sp>
        <p:nvSpPr>
          <p:cNvPr id="13" name="q_194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Jim's ___ a cake at the moment.</a:t>
            </a:r>
            <a:endParaRPr lang="en-US" sz="1250" dirty="0"/>
          </a:p>
        </p:txBody>
      </p:sp>
      <p:sp>
        <p:nvSpPr>
          <p:cNvPr id="14" name="R3_a195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making</a:t>
            </a:r>
            <a:endParaRPr lang="en-US" sz="1250" dirty="0"/>
          </a:p>
        </p:txBody>
      </p:sp>
      <p:sp>
        <p:nvSpPr>
          <p:cNvPr id="15" name="q_196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she always ___ the piano?</a:t>
            </a:r>
            <a:endParaRPr lang="en-US" sz="1250" dirty="0"/>
          </a:p>
        </p:txBody>
      </p:sp>
      <p:sp>
        <p:nvSpPr>
          <p:cNvPr id="16" name="R4_a197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endParaRPr lang="en-US" sz="1250" dirty="0"/>
          </a:p>
        </p:txBody>
      </p:sp>
      <p:sp>
        <p:nvSpPr>
          <p:cNvPr id="17" name="bk_19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p.33 · 🎧 1.41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0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corners!</a:t>
            </a:r>
            <a:endParaRPr lang="en-US" sz="2700" dirty="0"/>
          </a:p>
        </p:txBody>
      </p:sp>
      <p:sp>
        <p:nvSpPr>
          <p:cNvPr id="5" name="in_20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often? Walk to your corner!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spesso? Vai nel tuo angolo!</a:t>
            </a:r>
            <a:endParaRPr lang="en-US" sz="1400" dirty="0"/>
          </a:p>
        </p:txBody>
      </p:sp>
      <p:sp>
        <p:nvSpPr>
          <p:cNvPr id="6" name="mode_20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5 MIN</a:t>
            </a:r>
            <a:endParaRPr lang="en-US" sz="1000" dirty="0"/>
          </a:p>
        </p:txBody>
      </p:sp>
      <p:sp>
        <p:nvSpPr>
          <p:cNvPr id="7" name="diff_203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always / never …</a:t>
            </a:r>
            <a:endParaRPr lang="en-US" sz="950" dirty="0"/>
          </a:p>
        </p:txBody>
      </p:sp>
      <p:sp>
        <p:nvSpPr>
          <p:cNvPr id="8" name="st_20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0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0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1" name="se_20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corners: ALWAYS · OFTEN · SOMETIMES · NEVER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angoli: sempre · spesso · a volte · mai</a:t>
            </a:r>
            <a:endParaRPr lang="en-US" sz="1050" dirty="0"/>
          </a:p>
        </p:txBody>
      </p:sp>
      <p:sp>
        <p:nvSpPr>
          <p:cNvPr id="12" name="st_20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0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1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5" name="se_21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sentence.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la frase.</a:t>
            </a:r>
            <a:endParaRPr lang="en-US" sz="1050" dirty="0"/>
          </a:p>
        </p:txBody>
      </p:sp>
      <p:sp>
        <p:nvSpPr>
          <p:cNvPr id="16" name="st_21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1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1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9" name="se_21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to your corner. Say: 'I always …'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nel tuo angolo. Di': 'I always …'</a:t>
            </a:r>
            <a:endParaRPr lang="en-US" sz="1050" dirty="0"/>
          </a:p>
        </p:txBody>
      </p:sp>
      <p:sp>
        <p:nvSpPr>
          <p:cNvPr id="20" name="gl_21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do my homework.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eat meatballs.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dress up in a costume.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go to parties.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watch TV in the morning.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help my mum at home.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1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Freeze! 🧊</a:t>
            </a:r>
            <a:endParaRPr lang="en-US" sz="3200" dirty="0"/>
          </a:p>
        </p:txBody>
      </p:sp>
      <p:sp>
        <p:nvSpPr>
          <p:cNvPr id="5" name="in_21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the action. FREEZE! What are you doing?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Fai l'azione. STOP! Cosa stai facendo?</a:t>
            </a:r>
            <a:endParaRPr lang="en-US" sz="1400" dirty="0"/>
          </a:p>
        </p:txBody>
      </p:sp>
      <p:sp>
        <p:nvSpPr>
          <p:cNvPr id="6" name="mode_22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3 MIN</a:t>
            </a:r>
            <a:endParaRPr lang="en-US" sz="1000" dirty="0"/>
          </a:p>
        </p:txBody>
      </p:sp>
      <p:sp>
        <p:nvSpPr>
          <p:cNvPr id="7" name="cd_221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222" descr="/home/claude/movers/img/fc/pop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223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like a pop star! 🎤</a:t>
            </a:r>
            <a:endParaRPr lang="en-US" sz="1250" dirty="0"/>
          </a:p>
        </p:txBody>
      </p:sp>
      <p:sp>
        <p:nvSpPr>
          <p:cNvPr id="10" name="cd_224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225" descr="/home/claude/movers/img/fc/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226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a cake! 🎂</a:t>
            </a:r>
            <a:endParaRPr lang="en-US" sz="1250" dirty="0"/>
          </a:p>
        </p:txBody>
      </p:sp>
      <p:sp>
        <p:nvSpPr>
          <p:cNvPr id="13" name="cd_227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228" descr="/home/claude/movers/img/fc/have-a-sh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229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shower! 🚿</a:t>
            </a:r>
            <a:endParaRPr lang="en-US" sz="1250" dirty="0"/>
          </a:p>
        </p:txBody>
      </p:sp>
      <p:sp>
        <p:nvSpPr>
          <p:cNvPr id="16" name="cd_230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231" descr="/home/claude/movers/img/fc/get-dress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232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dressed! 👕</a:t>
            </a:r>
            <a:endParaRPr lang="en-US" sz="1250" dirty="0"/>
          </a:p>
        </p:txBody>
      </p:sp>
      <p:sp>
        <p:nvSpPr>
          <p:cNvPr id="19" name="cd_233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34" descr="/home/claude/movers/img/fc/go-skat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235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 skating! ⛸️</a:t>
            </a:r>
            <a:endParaRPr lang="en-US" sz="1250" dirty="0"/>
          </a:p>
        </p:txBody>
      </p:sp>
      <p:sp>
        <p:nvSpPr>
          <p:cNvPr id="22" name="cd_236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37" descr="/home/claude/movers/img/fc/pir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238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for treasure! 🏴‍☠️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4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1: My job!</a:t>
            </a:r>
            <a:endParaRPr lang="en-US" sz="2700" dirty="0"/>
          </a:p>
        </p:txBody>
      </p:sp>
      <p:sp>
        <p:nvSpPr>
          <p:cNvPr id="5" name="in_24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a job. Draw your character.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Scegli un mestiere. Disegna il tuo personaggio.</a:t>
            </a:r>
            <a:endParaRPr lang="en-US" sz="1400" dirty="0"/>
          </a:p>
        </p:txBody>
      </p:sp>
      <p:sp>
        <p:nvSpPr>
          <p:cNvPr id="6" name="mode_24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8 MIN</a:t>
            </a:r>
            <a:endParaRPr lang="en-US" sz="1000" dirty="0"/>
          </a:p>
        </p:txBody>
      </p:sp>
      <p:sp>
        <p:nvSpPr>
          <p:cNvPr id="7" name="diff_243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I'm a … I help …</a:t>
            </a:r>
            <a:endParaRPr lang="en-US" sz="950" dirty="0"/>
          </a:p>
        </p:txBody>
      </p:sp>
      <p:sp>
        <p:nvSpPr>
          <p:cNvPr id="8" name="diff_244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Add: I always …</a:t>
            </a:r>
            <a:endParaRPr lang="en-US" sz="950" dirty="0"/>
          </a:p>
        </p:txBody>
      </p:sp>
      <p:sp>
        <p:nvSpPr>
          <p:cNvPr id="9" name="pf_24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246" descr="/home/claude/movers/img/crop/u3-p33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8452"/>
            <a:ext cx="5120640" cy="2200977"/>
          </a:xfrm>
          <a:prstGeom prst="rect">
            <a:avLst/>
          </a:prstGeom>
        </p:spPr>
      </p:pic>
      <p:sp>
        <p:nvSpPr>
          <p:cNvPr id="11" name="q_247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job?</a:t>
            </a:r>
            <a:endParaRPr lang="en-US" sz="1250" dirty="0"/>
          </a:p>
        </p:txBody>
      </p:sp>
      <p:sp>
        <p:nvSpPr>
          <p:cNvPr id="12" name="R1_a248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a doctor.</a:t>
            </a:r>
            <a:endParaRPr lang="en-US" sz="1250" dirty="0"/>
          </a:p>
        </p:txBody>
      </p:sp>
      <p:sp>
        <p:nvSpPr>
          <p:cNvPr id="13" name="q_249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you do?</a:t>
            </a:r>
            <a:endParaRPr lang="en-US" sz="1250" dirty="0"/>
          </a:p>
        </p:txBody>
      </p:sp>
      <p:sp>
        <p:nvSpPr>
          <p:cNvPr id="14" name="R2_a250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help other people.</a:t>
            </a:r>
            <a:endParaRPr lang="en-US" sz="1250" dirty="0"/>
          </a:p>
        </p:txBody>
      </p:sp>
      <p:sp>
        <p:nvSpPr>
          <p:cNvPr id="15" name="q_251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wearing?</a:t>
            </a:r>
            <a:endParaRPr lang="en-US" sz="1250" dirty="0"/>
          </a:p>
        </p:txBody>
      </p:sp>
      <p:sp>
        <p:nvSpPr>
          <p:cNvPr id="16" name="R3_a252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wearing a white coat.</a:t>
            </a:r>
            <a:endParaRPr lang="en-US" sz="1250" dirty="0"/>
          </a:p>
        </p:txBody>
      </p:sp>
      <p:sp>
        <p:nvSpPr>
          <p:cNvPr id="17" name="bk_253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p.33 · Activity Book p.30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5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5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57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understand the Friendly Farm story.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Capisco la storia della Friendly Farm.</a:t>
            </a:r>
            <a:endParaRPr lang="en-US" sz="1300" dirty="0"/>
          </a:p>
        </p:txBody>
      </p:sp>
      <p:sp>
        <p:nvSpPr>
          <p:cNvPr id="7" name="can_258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'He never works…' and 'He's working now'.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cosa si fa sempre e cosa si sta facendo ora.</a:t>
            </a:r>
            <a:endParaRPr lang="en-US" sz="1200" dirty="0"/>
          </a:p>
        </p:txBody>
      </p:sp>
      <p:sp>
        <p:nvSpPr>
          <p:cNvPr id="8" name="can_259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choose a job for my character.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scegliere un mestiere per il mio personaggio.</a:t>
            </a:r>
            <a:endParaRPr lang="en-US" sz="1300" dirty="0"/>
          </a:p>
        </p:txBody>
      </p:sp>
      <p:sp>
        <p:nvSpPr>
          <p:cNvPr id="9" name="hw_260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p.32: ex.1–2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p.33: ex.1–2</a:t>
            </a:r>
            <a:endParaRPr lang="en-US" sz="1250" dirty="0"/>
          </a:p>
        </p:txBody>
      </p:sp>
      <p:sp>
        <p:nvSpPr>
          <p:cNvPr id="10" name="nx_261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a scarecrow song – describing people!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6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Hot seat!</a:t>
            </a:r>
            <a:endParaRPr lang="en-US" sz="2700" dirty="0"/>
          </a:p>
        </p:txBody>
      </p:sp>
      <p:sp>
        <p:nvSpPr>
          <p:cNvPr id="5" name="in_26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class mimes. The hot seat guesses!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 classe mima. Chi è sulla sedia indovina!</a:t>
            </a:r>
            <a:endParaRPr lang="en-US" sz="1400" dirty="0"/>
          </a:p>
        </p:txBody>
      </p:sp>
      <p:sp>
        <p:nvSpPr>
          <p:cNvPr id="6" name="mode_26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diff_266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You're …ing!</a:t>
            </a:r>
            <a:endParaRPr lang="en-US" sz="950" dirty="0"/>
          </a:p>
        </p:txBody>
      </p:sp>
      <p:sp>
        <p:nvSpPr>
          <p:cNvPr id="8" name="st_267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68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69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1" name="se_270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seat child: back to the board.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è sulla sedia: di spalle alla lavagna.</a:t>
            </a:r>
            <a:endParaRPr lang="en-US" sz="1050" dirty="0"/>
          </a:p>
        </p:txBody>
      </p:sp>
      <p:sp>
        <p:nvSpPr>
          <p:cNvPr id="12" name="st_271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72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73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5" name="se_274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mime the picture on the board!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mimate l'immagine alla lavagna!</a:t>
            </a:r>
            <a:endParaRPr lang="en-US" sz="1050" dirty="0"/>
          </a:p>
        </p:txBody>
      </p:sp>
      <p:sp>
        <p:nvSpPr>
          <p:cNvPr id="16" name="st_275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76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77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278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'You're cooking!' – 'Yes, we are!'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'Voi state cucinando!' – 'Sì!'</a:t>
            </a:r>
            <a:endParaRPr lang="en-US" sz="1050" dirty="0"/>
          </a:p>
        </p:txBody>
      </p:sp>
      <p:sp>
        <p:nvSpPr>
          <p:cNvPr id="20" name="cd_279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280" descr="/home/claude/movers/img/fc/c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2" name="cd_281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82" descr="/home/claude/movers/img/fc/pop-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4" name="cd_283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84" descr="/home/claude/movers/img/fc/farm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6" name="cd_285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7" name="ci_286" descr="/home/claude/movers/img/fc/dent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8" name="cd_287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288" descr="/home/claude/movers/img/fc/have-breakfa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30" name="cd_289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290" descr="/home/claude/movers/img/fc/listen-to-mus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2" name="cd_291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3" name="ci_292" descr="/home/claude/movers/img/fc/read-a-com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4" name="cd_293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294" descr="/home/claude/movers/img/fc/watch-a-fil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9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Pass the ball!</a:t>
            </a:r>
            <a:endParaRPr lang="en-US" sz="2400" dirty="0"/>
          </a:p>
        </p:txBody>
      </p:sp>
      <p:sp>
        <p:nvSpPr>
          <p:cNvPr id="5" name="in_29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Pass the ball. Music stops? Answer!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Passa la palla. Musica ferma? Rispondi!</a:t>
            </a:r>
            <a:endParaRPr lang="en-US" sz="1400" dirty="0"/>
          </a:p>
        </p:txBody>
      </p:sp>
      <p:sp>
        <p:nvSpPr>
          <p:cNvPr id="6" name="mode_29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5 MIN</a:t>
            </a:r>
            <a:endParaRPr lang="en-US" sz="1000" dirty="0"/>
          </a:p>
        </p:txBody>
      </p:sp>
      <p:sp>
        <p:nvSpPr>
          <p:cNvPr id="7" name="diff_299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Ask the next question!</a:t>
            </a:r>
            <a:endParaRPr lang="en-US" sz="950" dirty="0"/>
          </a:p>
        </p:txBody>
      </p:sp>
      <p:sp>
        <p:nvSpPr>
          <p:cNvPr id="8" name="st_300"/>
          <p:cNvSpPr/>
          <p:nvPr/>
        </p:nvSpPr>
        <p:spPr>
          <a:xfrm>
            <a:off x="228600" y="132588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0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0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1" name="se_303"/>
          <p:cNvSpPr/>
          <p:nvPr/>
        </p:nvSpPr>
        <p:spPr>
          <a:xfrm>
            <a:off x="338328" y="165506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on – pass the ball.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Musica – passa la palla.</a:t>
            </a:r>
            <a:endParaRPr lang="en-US" sz="1050" dirty="0"/>
          </a:p>
        </p:txBody>
      </p:sp>
      <p:sp>
        <p:nvSpPr>
          <p:cNvPr id="12" name="st_304"/>
          <p:cNvSpPr/>
          <p:nvPr/>
        </p:nvSpPr>
        <p:spPr>
          <a:xfrm>
            <a:off x="228600" y="242316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05"/>
          <p:cNvSpPr/>
          <p:nvPr/>
        </p:nvSpPr>
        <p:spPr>
          <a:xfrm>
            <a:off x="118872" y="231343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06"/>
          <p:cNvSpPr/>
          <p:nvPr/>
        </p:nvSpPr>
        <p:spPr>
          <a:xfrm>
            <a:off x="521208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307"/>
          <p:cNvSpPr/>
          <p:nvPr/>
        </p:nvSpPr>
        <p:spPr>
          <a:xfrm>
            <a:off x="338328" y="27523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off – answer a question!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Musica spenta – rispondi a una domanda!</a:t>
            </a:r>
            <a:endParaRPr lang="en-US" sz="1050" dirty="0"/>
          </a:p>
        </p:txBody>
      </p:sp>
      <p:sp>
        <p:nvSpPr>
          <p:cNvPr id="16" name="gl_308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often dress up?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wearing today?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your dad cook every 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teacher doing now?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always do your homework?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doing at the moment?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3 · LESSON 2 · Dressing up!</dc:title>
  <dc:subject>PptxGenJS Presentation</dc:subject>
  <dc:creator>PptxGenJS</dc:creator>
  <cp:lastModifiedBy>PptxGenJS</cp:lastModifiedBy>
  <cp:revision>1</cp:revision>
  <dcterms:created xsi:type="dcterms:W3CDTF">2026-10-06T10:51:37Z</dcterms:created>
  <dcterms:modified xsi:type="dcterms:W3CDTF">2026-10-06T10:51:37Z</dcterms:modified>
</cp:coreProperties>
</file>