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mp3" ContentType="audio/mpeg"/>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Lst>
  <p:notesMasterIdLst>
    <p:notesMasterId r:id="rId26"/>
  </p:notesMasterIdLst>
  <p:sldSz cx="9144000" cy="5143500"/>
  <p:notesSz cx="5143500" cy="9144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notesMaster" Target="notesMasters/notesMaster1.xml"/><Relationship Id="rId27" Type="http://schemas.openxmlformats.org/officeDocument/2006/relationships/presProps" Target="presProps.xml"/><Relationship Id="rId28" Type="http://schemas.openxmlformats.org/officeDocument/2006/relationships/viewProps" Target="viewProps.xml"/><Relationship Id="rId29" Type="http://schemas.openxmlformats.org/officeDocument/2006/relationships/theme" Target="theme/theme1.xml"/><Relationship Id="rId30"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 OPENING (2 min)
Show the photo (someone filming a concert). Ask the THINK question; take 3–4 opinions – encourage last lesson's phrases (Personally, I think… / To be honest…). Click 1 = the example answer. Read the 'Today you're going to…' list together. Don't teach must / should yet – if students use them, just accept.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 Revision · last lesson (2 min)
REVISION (2 min) before the warmer game. The lines are from PE2 (audio 3.29–3.31: Kerri, Don and Jenny at lunch – London v New York). Read the examples with the class; drill the intonation of 'Don't you agree?' and 'I don't think that's right'. Elicit: which phrases are polite, which are strong? ('You can't be serious!' = strong, for friends). Point at the key words: students need them for the game. Picture pe2-lunch.jpg = PE2 picture list (placeholder until the owner supplies it).
HOW TO RUN IT (active recap): pairs. Words: A points at a word, B says what it means (⭐); then a sentence with it (⭐⭐); strong students make it negative or a question (⭐⭐⭐). Grammar: pairs make their own example for each use (offer, plan…) BEFORE you click – then click to show the model answers.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3. Warmer · last lesson (4 min)
RETRIEVAL WARMER (3 min – keep it brisk) – a different format from PE2's warmer. Two teams. Show opinion 1; Team A has 10 seconds to agree or disagree, starting with a phrase from the recap; Team B must answer back with a DIFFERENT phrase (ping-pong, 2–3 hits). 1 point for each new, correct phrase; same phrase twice = no point. Click once per opinion to show a model reply (accept any good reply). ICQs: 'Can you use the same phrase twice?' (no) · 'Do you have to agree?' (no – agree or disagree). The opinions are about phones on purpose: they lead into today's topic.</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4. Vocabulary · phone language (2 min)
ELICIT FIRST (2 min). Books closed. Pairs look at each photo and the first-letter clue and say the phrase. Click once per photo: the answer appears. Concept checks: 'He's dialling – is he talking yet?' (no, he's pressing the numbers) · 'Somebody hung up on her – did they say goodbye?' (no, they just ended the call – that's rude!) · Text = message (verb): 'I'll text you.' Model and drill each phrase. The Italian comes on slide 8 for slower students.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 Vocabulary · phone language (2 min)
ELICIT (2 min). Same procedure. CCQs: 'They've put him on hold – is he talking to someone?' (no, he's waiting, listening to music) · 'He was cut off – did he hang up?' (no, he lost the signal) · voicemail = where people leave messages when you don't answer. 'Speakerphone' is not in the book but very common – it comes back in the speaking. Drill: put sb on HOLD, cut OFF (stress on the particle).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6. Listening · phone sounds (3 min)
LISTENING (3 min). The sentences are in the order of the sounds in 4.1 (book: A–K; here 1–11 = the sound numbers). Pairs read 1–6 and guess (1 min). Play 4.1 sounds 1–6, pausing after each. Click once per sound. Answers (audio script 4.1 / 4.2): 1 hung up (C) · 2 went off (I) · 3 engaged (G) · 4 on hold (J) · 5 voicemail (F) · 6 ringtone (D). New: go off = ring / make a noise suddenly; engaged (BrE) = busy (AmE). TG: we still say hang up, although we don't physically hang up the phone any more. ICQ: 'Do you write a word or a number?' (a word).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7. Listening · phone sounds (3 min)
LISTENING (3 min). Play 4.1 sounds 7–11, pausing after each. Click once per sound. Answers: 7 dialling (A) · 8 cut off (K) · 9 calling back (E – 'I phoned half an hour ago, but Ann wasn't in') · 10 texting (B) · 11 swiping (H – 'Here, have a look… the next one'). Then play 4.2 (the 11 sentences): students repeat each one. Books closed: play 4.2 again, pause after each NUMBER – students say the sentence from memory (TG).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 Vocabulary · in Italian (2 min)
CONSOLIDATION for slower students (2 min). Class says the Italian for each phrase, then click once per word to show its Italian. 20 seconds on the warnings: go off is NOT 'go away'; engaged also means fidanzato (context!). Quick CCQ: 'The call stopped in the tunnel. Did you hang up?' (no – I was cut off).</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9. Vocabulary game (3 min)
GAME 2 (3 min). Demo first with a strong student: 'You finish the call, you press the red button' → hang up. Mime is allowed as a last resort! Click to show each phrase (round 1 = 4 phrases for A, round 2 = 4 phrases for B; B faces the screen). 20 seconds per phrase. ICQ: 'Can you say the word?' (no) · 'Who looks at the screen in round 2?' (B).</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 Speaking · you and your phone (3 min)
SPEAKING (3 min). From SB 1c (5 of the 7 book questions; 'phone network' and 'monthly contract / pay as you go' left out – the words aren't taught). Questions appear ONE PER CLICK: about 35 seconds each. The listener must ask one follow-up question (What happened? Why?). TG idea: students ask YOU two questions first. Monitor for the phone phrases; note 3–4 errors for later.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11. Reading · the article (3 min)
READING (3 min). OPTIONAL lead-in (SB 2a, TG): play 4.3 from the book audio – viola player Lukáš Kmit stops and plays the phone's ringtone on his viola (a joke!). Then: 'What would a strict conductor do?' Show the headline; pairs predict, then read and guess gaps 1–5 (gap 1 = a phrase from today). Click once per gap: the word appears IN the text. Answers (SB text): 1 going off · 2 stopped · 3 pointed · 4 ruined · 5 left. Gist: what did the conductor do? (stopped, pointed and shouted 'Out!') What did the phone owner do? (got up and quickly left the hall). Quick vote: right or too rude? Then the comments.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12. Reading · the comments (3 min)
READING + NOTICING (3 min). Pairs read the comments (shortened from the book) and decide who they agree with: quick show of hands for each person. Teach: cloakroom = guardaroba (photo); a fine = una multa; block reception = no signal. Then click once per line: the highlighted phrase (1–6, as in the book) lights up. These are the phrases for the next slide – don't explain the rules yet.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13. Grammar · discovery (3 min)
GUIDED DISCOVERY (3 min). Book meanings: A This isn't necessary · B Don't do this. It isn't allowed / permitted · C It's necessary or compulsory to do this · D It's a good idea to do this · E It's a bad idea to do this. Pairs match; click once per phrase. Answers (TG): A 6 · B 4 · C 2, 3 · D 5 · E 1. CCQs: 'Phrase 4 – can they give their phone to a friend?' (no, it isn't allowed) · 'Phrase 6 – does an alarm need reception?' (no, it isn't necessary). Highlight 4 vs 6: mustn't ≠ doesn't have to – the most important point of the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14. Grammar · the rule (4 min)
RULE (4 min). Click once per column: examples + Italian (meaning first, then form). Most examples are from audio 4.4–4.7 (Grammar Bank listen and repeat – play them from the book audio, students copy the rhythm). Rules (TG / Grammar Bank): have to and must = obligation; have to is more common for rules and external obligations; must often = the speaker's own feeling or a strong recommendation ('You must see this film!'). must is present only: past = had to, future = will have to, -ing = having to. don't have to = not necessary; mustn't = prohibited – NOT the same. should = advice, weaker than must (ought to = should, less common). No 'to' after must / should. Last click = the Italian-speaker warning. CCQs: 'You don't have to pay – can you pay if you want?' (yes) · 'You mustn't park here – can you?' (no) · 'You should take warm clothes – is it a rule?' (no, advice).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15. Speaking · class story (TPRS) (4 min)
TPRS CLASS STORY (4 min) – right after the rule, so the meaning of have to / mustn't / don't have to / should is clear; now students HEAR the forms many times, mixed with today's phone phrases, before 'Rules race!' and the speaking. Click once per line. For each line: 1) say it, 2) ask the questions in grey round the class (yes/no → either/or → who/what), 3) let the CLASS change details: 'Is her ringtone a rooster? No? What is it?' – accept their idea and use it in later lines. Students answer with one word or a short phrase – that's fine. Finish: 'What happens next?' – one or two ideas, then move on. Key contrast to circle in line 6: 'Does she HAVE to call them? No – she doesn't have to. Is it a rule or advice? – advice: should.' Recycles: have to, mustn't, don't have to, should + go off, put on hold, hang up (past: hung up).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16. Grammar game (4 min)
GAME 3 (3 min). Two teams take turns. Show the sentence; 10 seconds to say the missing words. 1 point for the right form, +1 if they say why (not allowed / not necessary / a rule / advice / past). If a team says 'don't have to' for 1, the other team can steal the point by explaining the difference. Click to show the answer. Accept must or have to in 3; should or ought to in 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17. Pronunciation · silent consonants (4 min)
PRONUNCIATION (3 min). 3a: pairs say the 18 words (purple card) and cross out the silent consonant(s) (1 min). 3b: play 4.8 to check. Answers (TG): calm, half, should, talk, walk (l) · dishonest, hour, rhythm (h) · whole, wrong (w) · design, foreign (g) · ought (gh) · doubt (b) · knowledge (k) · island (s) · listen (t) · mustn't (the first t). 3c: for each sentence, click 1 = the words with the silent letter in ( ), click 2 = the full sentence. Model, then drill chorally and individually. Italian speakers often say the l in calm / walk / should and the w in wrong – exaggerate. EXTRA CHALLENGE (TG): thumb, castle, science, knee, answer, sign, climb, scissors, exhausted.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18. Speaking · annoying phone habits (5 min)
FREER PRACTICE (5 min). Check annoy (dare fastidio). Groups of 3–4. Habits appear ONE PER CLICK (about 45 seconds each). For each one the book asks: 1 Do you know people who do this? Do you ever do it? 2 Does it annoy you, or is it OK? 3 What should / shouldn't these people do? OUTCOME: each group agrees on its TOP 3 most annoying habits and makes one rule with mustn't or shouldn't. 'To be honest, I sometimes…' recycles last lesson – everyone admits one thing they do (no pressure). Monitor; then 2 minutes of delayed error correction (errors from both speaking tasks; watch for must to / mustn't vs don't have to). The other 7 book habits (for fast groups): play noisy games · tweet about everything · keep posting photos of their babies · video every event and every minute of their holiday · post on your birthday but never get in touch · swipe through all their photos when showing you one.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19. Grammar game (4 min)
GAME 4 (4 min) – a 'Describe it!' variation. Model with 'a classroom' first: 'You have to listen to the teacher. You mustn't eat. You don't have to wear a uniform.' → classroom. Only rules with have to / don't have to / must / mustn't / should count – no other clues, never say the place. Click to show each place (round 1 = 4 places for A, round 2 = 4 for B). Guessed after 1–2 rules = 2 points, after 3+ = 1 point. Listen for mustn't vs don't have to: 'You don't have to talk' in a library is wrong (→ mustn't). ICQ: 'Can you say what you see there?' (no – only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20. Exit · what can you remember? (2 min)
RETRIEVAL EXIT (2 min). Books closed. Pairs: 3 phone phrases, 2 class rules (one with have to or must, one with mustn't), 1 piece of advice with should. A few students share – check mustn't vs don't have to one last time. Set homework (on the slide and in the app): Workbook 4A 1a, 1b, 2a, 2b, 3a + Grammar Bank 4A a 5–8, b 5–7 + the 4A-1 homework sheet (easier version available). Workbook 2c and 2d are part 2 homework.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21. Review · what did you do today? (1 min)
TODAY YOU… (1 min). Read each line (one per click: the tick appears). Students show thumbs up / middle / down: can they do it now? Note any thumbs down for the next lesson's recap.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22. OPTIONAL EXTENSIONS
The lesson ended on the previous slide ("Today you…"). Use the next slides only if there is time left, or keep them for a quick start next lesson.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23. Speaking · situations (3 min)
EXTRA (3 min, if there's time) – SB 2e. Questions one per click. Get students to say full sentences. Accept any logical situation (the e.g. answers are only models).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24. Grammar · Grammar Bank practice (4 min)
EXTRA (4 min) – or start of the homework. Answers (TG key): a 1 ✓ · 2 mustn't · 3 ✓ (has to would be more common – external obligation) · 4 ✓. b 1 Did you have to do… · 2 Must I take… · 3 …she has to work nights · 4 Have you ever had to have an operation? ⚠ The Grammar Bank a 1–4 prompts are not in our photos – students work from the book. Click once per item.</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Slide-1-image-1.jpeg"/><Relationship Id="rId2" Type="http://schemas.openxmlformats.org/officeDocument/2006/relationships/image" Target="../media/image-1-2.png"/><Relationship Id="rId3" Type="http://schemas.openxmlformats.org/officeDocument/2006/relationships/image" Target="../media/image-1-3.png"/><Relationship Id="rId4" Type="http://schemas.openxmlformats.org/officeDocument/2006/relationships/image" Target="../media/image-1-4.png"/><Relationship Id="rId5" Type="http://schemas.openxmlformats.org/officeDocument/2006/relationships/image" Target="../media/image-1-5.png"/><Relationship Id="rId6" Type="http://schemas.openxmlformats.org/officeDocument/2006/relationships/slideLayout" Target="../slideLayouts/slideLayout1.xml"/><Relationship Id="rId7"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Slide-2-image-1.jpe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slideLayout" Target="../slideLayouts/slideLayout1.xml"/><Relationship Id="rId6"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Slide-3-image-1.jpe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slideLayout" Target="../slideLayouts/slideLayout1.xml"/><Relationship Id="rId6"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Slide-4-image-1.jpe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4-7.png"/><Relationship Id="rId8" Type="http://schemas.openxmlformats.org/officeDocument/2006/relationships/image" Target="../media/image-4-8.png"/><Relationship Id="rId9" Type="http://schemas.openxmlformats.org/officeDocument/2006/relationships/slideLayout" Target="../slideLayouts/slideLayout1.xml"/><Relationship Id="rId10"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Slide-5-image-1.jpe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image" Target="../media/image-5-6.png"/><Relationship Id="rId7" Type="http://schemas.openxmlformats.org/officeDocument/2006/relationships/image" Target="../media/image-5-7.png"/><Relationship Id="rId8" Type="http://schemas.openxmlformats.org/officeDocument/2006/relationships/image" Target="../media/image-5-8.png"/><Relationship Id="rId9" Type="http://schemas.openxmlformats.org/officeDocument/2006/relationships/slideLayout" Target="../slideLayouts/slideLayout1.xml"/><Relationship Id="rId10"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Slide-6-image-1.jpe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audio" Target="../media/media-6-5.mp3"/><Relationship Id="rId6" Type="http://schemas.microsoft.com/office/2007/relationships/media" Target="../media/media-6-5.mp3"/><Relationship Id="rId7" Type="http://schemas.openxmlformats.org/officeDocument/2006/relationships/image" Target="../media/image-6-7.png"/><Relationship Id="rId8" Type="http://schemas.openxmlformats.org/officeDocument/2006/relationships/audio" Target="../media/media-6-8.mp3"/><Relationship Id="rId9" Type="http://schemas.microsoft.com/office/2007/relationships/media" Target="../media/media-6-8.mp3"/><Relationship Id="rId10" Type="http://schemas.openxmlformats.org/officeDocument/2006/relationships/image" Target="../media/image-6-10.png"/><Relationship Id="rId11" Type="http://schemas.openxmlformats.org/officeDocument/2006/relationships/image" Target="../media/image-6-11.png"/><Relationship Id="rId12" Type="http://schemas.openxmlformats.org/officeDocument/2006/relationships/slideLayout" Target="../slideLayouts/slideLayout1.xml"/><Relationship Id="rId1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Slide-7-image-1.jpe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audio" Target="../media/media-7-5.mp3"/><Relationship Id="rId6" Type="http://schemas.microsoft.com/office/2007/relationships/media" Target="../media/media-7-5.mp3"/><Relationship Id="rId7" Type="http://schemas.openxmlformats.org/officeDocument/2006/relationships/image" Target="../media/image-7-7.png"/><Relationship Id="rId8" Type="http://schemas.openxmlformats.org/officeDocument/2006/relationships/audio" Target="../media/media-7-8.mp3"/><Relationship Id="rId9" Type="http://schemas.microsoft.com/office/2007/relationships/media" Target="../media/media-7-8.mp3"/><Relationship Id="rId10" Type="http://schemas.openxmlformats.org/officeDocument/2006/relationships/image" Target="../media/image-7-10.png"/><Relationship Id="rId11" Type="http://schemas.openxmlformats.org/officeDocument/2006/relationships/audio" Target="../media/media-7-11.mp3"/><Relationship Id="rId12" Type="http://schemas.microsoft.com/office/2007/relationships/media" Target="../media/media-7-11.mp3"/><Relationship Id="rId13" Type="http://schemas.openxmlformats.org/officeDocument/2006/relationships/image" Target="../media/image-7-13.png"/><Relationship Id="rId14" Type="http://schemas.openxmlformats.org/officeDocument/2006/relationships/audio" Target="../media/media-7-14.mp3"/><Relationship Id="rId15" Type="http://schemas.microsoft.com/office/2007/relationships/media" Target="../media/media-7-14.mp3"/><Relationship Id="rId16" Type="http://schemas.openxmlformats.org/officeDocument/2006/relationships/image" Target="../media/image-7-16.png"/><Relationship Id="rId17" Type="http://schemas.openxmlformats.org/officeDocument/2006/relationships/image" Target="../media/image-7-17.png"/><Relationship Id="rId18" Type="http://schemas.openxmlformats.org/officeDocument/2006/relationships/slideLayout" Target="../slideLayouts/slideLayout1.xml"/><Relationship Id="rId19"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image" Target="../media/Slide-8-image-1.jpe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slideLayout" Target="../slideLayouts/slideLayout1.xml"/><Relationship Id="rId6"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Slide-9-image-1.jpeg"/><Relationship Id="rId2" Type="http://schemas.openxmlformats.org/officeDocument/2006/relationships/image" Target="../media/image-9-2.png"/><Relationship Id="rId3" Type="http://schemas.openxmlformats.org/officeDocument/2006/relationships/image" Target="../media/image-9-3.png"/><Relationship Id="rId4" Type="http://schemas.openxmlformats.org/officeDocument/2006/relationships/image" Target="../media/image-9-4.png"/><Relationship Id="rId5" Type="http://schemas.openxmlformats.org/officeDocument/2006/relationships/image" Target="../media/image-9-5.png"/><Relationship Id="rId6" Type="http://schemas.openxmlformats.org/officeDocument/2006/relationships/slideLayout" Target="../slideLayouts/slideLayout1.xml"/><Relationship Id="rId7"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Slide-10-image-1.jpe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image" Target="../media/image-10-5.png"/><Relationship Id="rId6" Type="http://schemas.openxmlformats.org/officeDocument/2006/relationships/image" Target="../media/image-10-6.png"/><Relationship Id="rId7" Type="http://schemas.openxmlformats.org/officeDocument/2006/relationships/image" Target="../media/image-10-7.png"/><Relationship Id="rId8" Type="http://schemas.openxmlformats.org/officeDocument/2006/relationships/image" Target="../media/image-10-8.png"/><Relationship Id="rId9" Type="http://schemas.openxmlformats.org/officeDocument/2006/relationships/image" Target="../media/image-10-9.png"/><Relationship Id="rId10" Type="http://schemas.openxmlformats.org/officeDocument/2006/relationships/slideLayout" Target="../slideLayouts/slideLayout1.xml"/><Relationship Id="rId11"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image" Target="../media/Slide-11-image-1.jpeg"/><Relationship Id="rId2" Type="http://schemas.openxmlformats.org/officeDocument/2006/relationships/image" Target="../media/image-11-2.png"/><Relationship Id="rId3" Type="http://schemas.openxmlformats.org/officeDocument/2006/relationships/image" Target="../media/image-11-3.png"/><Relationship Id="rId4" Type="http://schemas.openxmlformats.org/officeDocument/2006/relationships/image" Target="../media/image-11-4.png"/><Relationship Id="rId5" Type="http://schemas.openxmlformats.org/officeDocument/2006/relationships/image" Target="../media/image-11-5.png"/><Relationship Id="rId6" Type="http://schemas.openxmlformats.org/officeDocument/2006/relationships/slideLayout" Target="../slideLayouts/slideLayout1.xml"/><Relationship Id="rId7"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Slide-12-image-1.jpe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slideLayout" Target="../slideLayouts/slideLayout1.xml"/><Relationship Id="rId7"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image" Target="../media/Slide-13-image-1.jpeg"/><Relationship Id="rId2" Type="http://schemas.openxmlformats.org/officeDocument/2006/relationships/image" Target="../media/image-13-2.png"/><Relationship Id="rId3" Type="http://schemas.openxmlformats.org/officeDocument/2006/relationships/image" Target="../media/image-13-3.png"/><Relationship Id="rId4" Type="http://schemas.openxmlformats.org/officeDocument/2006/relationships/image" Target="../media/image-13-4.png"/><Relationship Id="rId5" Type="http://schemas.openxmlformats.org/officeDocument/2006/relationships/image" Target="../media/image-13-5.png"/><Relationship Id="rId6" Type="http://schemas.openxmlformats.org/officeDocument/2006/relationships/slideLayout" Target="../slideLayouts/slideLayout1.xml"/><Relationship Id="rId7"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image" Target="../media/Slide-14-image-1.jpeg"/><Relationship Id="rId2" Type="http://schemas.openxmlformats.org/officeDocument/2006/relationships/image" Target="../media/image-14-2.png"/><Relationship Id="rId3" Type="http://schemas.openxmlformats.org/officeDocument/2006/relationships/image" Target="../media/image-14-3.png"/><Relationship Id="rId4" Type="http://schemas.openxmlformats.org/officeDocument/2006/relationships/image" Target="../media/image-14-4.png"/><Relationship Id="rId5" Type="http://schemas.openxmlformats.org/officeDocument/2006/relationships/audio" Target="../media/media-14-5.mp3"/><Relationship Id="rId6" Type="http://schemas.microsoft.com/office/2007/relationships/media" Target="../media/media-14-5.mp3"/><Relationship Id="rId7" Type="http://schemas.openxmlformats.org/officeDocument/2006/relationships/image" Target="../media/image-14-7.png"/><Relationship Id="rId8" Type="http://schemas.openxmlformats.org/officeDocument/2006/relationships/audio" Target="../media/media-14-8.mp3"/><Relationship Id="rId9" Type="http://schemas.microsoft.com/office/2007/relationships/media" Target="../media/media-14-8.mp3"/><Relationship Id="rId10" Type="http://schemas.openxmlformats.org/officeDocument/2006/relationships/image" Target="../media/image-14-10.png"/><Relationship Id="rId11" Type="http://schemas.openxmlformats.org/officeDocument/2006/relationships/audio" Target="../media/media-14-11.mp3"/><Relationship Id="rId12" Type="http://schemas.microsoft.com/office/2007/relationships/media" Target="../media/media-14-11.mp3"/><Relationship Id="rId13" Type="http://schemas.openxmlformats.org/officeDocument/2006/relationships/image" Target="../media/image-14-13.png"/><Relationship Id="rId14" Type="http://schemas.openxmlformats.org/officeDocument/2006/relationships/audio" Target="../media/media-14-14.mp3"/><Relationship Id="rId15" Type="http://schemas.microsoft.com/office/2007/relationships/media" Target="../media/media-14-14.mp3"/><Relationship Id="rId16" Type="http://schemas.openxmlformats.org/officeDocument/2006/relationships/image" Target="../media/image-14-16.png"/><Relationship Id="rId17" Type="http://schemas.openxmlformats.org/officeDocument/2006/relationships/audio" Target="../media/media-14-17.mp3"/><Relationship Id="rId18" Type="http://schemas.microsoft.com/office/2007/relationships/media" Target="../media/media-14-17.mp3"/><Relationship Id="rId19" Type="http://schemas.openxmlformats.org/officeDocument/2006/relationships/image" Target="../media/image-14-19.png"/><Relationship Id="rId20" Type="http://schemas.openxmlformats.org/officeDocument/2006/relationships/audio" Target="../media/media-14-20.mp3"/><Relationship Id="rId21" Type="http://schemas.microsoft.com/office/2007/relationships/media" Target="../media/media-14-20.mp3"/><Relationship Id="rId22" Type="http://schemas.openxmlformats.org/officeDocument/2006/relationships/image" Target="../media/image-14-22.png"/><Relationship Id="rId23" Type="http://schemas.openxmlformats.org/officeDocument/2006/relationships/audio" Target="../media/media-14-23.mp3"/><Relationship Id="rId24" Type="http://schemas.microsoft.com/office/2007/relationships/media" Target="../media/media-14-23.mp3"/><Relationship Id="rId25" Type="http://schemas.openxmlformats.org/officeDocument/2006/relationships/image" Target="../media/image-14-25.png"/><Relationship Id="rId26" Type="http://schemas.openxmlformats.org/officeDocument/2006/relationships/audio" Target="../media/media-14-26.mp3"/><Relationship Id="rId27" Type="http://schemas.microsoft.com/office/2007/relationships/media" Target="../media/media-14-26.mp3"/><Relationship Id="rId28" Type="http://schemas.openxmlformats.org/officeDocument/2006/relationships/image" Target="../media/image-14-28.png"/><Relationship Id="rId29" Type="http://schemas.openxmlformats.org/officeDocument/2006/relationships/image" Target="../media/image-14-29.png"/><Relationship Id="rId30" Type="http://schemas.openxmlformats.org/officeDocument/2006/relationships/image" Target="../media/image-14-30.png"/><Relationship Id="rId31" Type="http://schemas.openxmlformats.org/officeDocument/2006/relationships/image" Target="../media/image-14-31.png"/><Relationship Id="rId32" Type="http://schemas.openxmlformats.org/officeDocument/2006/relationships/image" Target="../media/image-14-32.png"/><Relationship Id="rId33" Type="http://schemas.openxmlformats.org/officeDocument/2006/relationships/slideLayout" Target="../slideLayouts/slideLayout1.xml"/><Relationship Id="rId34"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Slide-15-image-1.jpeg"/><Relationship Id="rId2" Type="http://schemas.openxmlformats.org/officeDocument/2006/relationships/image" Target="../media/image-15-2.png"/><Relationship Id="rId3" Type="http://schemas.openxmlformats.org/officeDocument/2006/relationships/image" Target="../media/image-15-3.png"/><Relationship Id="rId4" Type="http://schemas.openxmlformats.org/officeDocument/2006/relationships/image" Target="../media/image-15-4.png"/><Relationship Id="rId5" Type="http://schemas.openxmlformats.org/officeDocument/2006/relationships/image" Target="../media/image-15-5.png"/><Relationship Id="rId6" Type="http://schemas.openxmlformats.org/officeDocument/2006/relationships/slideLayout" Target="../slideLayouts/slideLayout1.xml"/><Relationship Id="rId7"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Slide-16-image-1.jpeg"/><Relationship Id="rId2" Type="http://schemas.openxmlformats.org/officeDocument/2006/relationships/image" Target="../media/image-16-2.png"/><Relationship Id="rId3" Type="http://schemas.openxmlformats.org/officeDocument/2006/relationships/image" Target="../media/image-16-3.png"/><Relationship Id="rId4" Type="http://schemas.openxmlformats.org/officeDocument/2006/relationships/image" Target="../media/image-16-4.png"/><Relationship Id="rId5" Type="http://schemas.openxmlformats.org/officeDocument/2006/relationships/slideLayout" Target="../slideLayouts/slideLayout1.xml"/><Relationship Id="rId6"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Slide-17-image-1.jpeg"/><Relationship Id="rId2" Type="http://schemas.openxmlformats.org/officeDocument/2006/relationships/image" Target="../media/image-17-2.png"/><Relationship Id="rId3" Type="http://schemas.openxmlformats.org/officeDocument/2006/relationships/image" Target="../media/image-17-3.png"/><Relationship Id="rId4" Type="http://schemas.openxmlformats.org/officeDocument/2006/relationships/image" Target="../media/image-17-4.png"/><Relationship Id="rId5" Type="http://schemas.openxmlformats.org/officeDocument/2006/relationships/audio" Target="../media/media-17-5.mp3"/><Relationship Id="rId6" Type="http://schemas.microsoft.com/office/2007/relationships/media" Target="../media/media-17-5.mp3"/><Relationship Id="rId7" Type="http://schemas.openxmlformats.org/officeDocument/2006/relationships/image" Target="../media/image-17-7.png"/><Relationship Id="rId8" Type="http://schemas.openxmlformats.org/officeDocument/2006/relationships/audio" Target="../media/media-17-8.mp3"/><Relationship Id="rId9" Type="http://schemas.microsoft.com/office/2007/relationships/media" Target="../media/media-17-8.mp3"/><Relationship Id="rId10" Type="http://schemas.openxmlformats.org/officeDocument/2006/relationships/image" Target="../media/image-17-10.png"/><Relationship Id="rId11" Type="http://schemas.openxmlformats.org/officeDocument/2006/relationships/image" Target="../media/image-17-11.png"/><Relationship Id="rId12" Type="http://schemas.openxmlformats.org/officeDocument/2006/relationships/slideLayout" Target="../slideLayouts/slideLayout1.xml"/><Relationship Id="rId1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Slide-18-image-1.jpeg"/><Relationship Id="rId2" Type="http://schemas.openxmlformats.org/officeDocument/2006/relationships/image" Target="../media/image-18-2.png"/><Relationship Id="rId3" Type="http://schemas.openxmlformats.org/officeDocument/2006/relationships/image" Target="../media/image-18-3.png"/><Relationship Id="rId4" Type="http://schemas.openxmlformats.org/officeDocument/2006/relationships/image" Target="../media/image-18-4.png"/><Relationship Id="rId5" Type="http://schemas.openxmlformats.org/officeDocument/2006/relationships/image" Target="../media/image-18-5.png"/><Relationship Id="rId6" Type="http://schemas.openxmlformats.org/officeDocument/2006/relationships/image" Target="../media/image-18-6.png"/><Relationship Id="rId7" Type="http://schemas.openxmlformats.org/officeDocument/2006/relationships/image" Target="../media/image-18-7.png"/><Relationship Id="rId8" Type="http://schemas.openxmlformats.org/officeDocument/2006/relationships/image" Target="../media/image-18-8.png"/><Relationship Id="rId9" Type="http://schemas.openxmlformats.org/officeDocument/2006/relationships/slideLayout" Target="../slideLayouts/slideLayout1.xml"/><Relationship Id="rId10"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Slide-19-image-1.jpe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image" Target="../media/image-19-5.png"/><Relationship Id="rId6" Type="http://schemas.openxmlformats.org/officeDocument/2006/relationships/slideLayout" Target="../slideLayouts/slideLayout1.xml"/><Relationship Id="rId7"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Slide-20-image-1.jpeg"/><Relationship Id="rId2" Type="http://schemas.openxmlformats.org/officeDocument/2006/relationships/image" Target="../media/image-20-2.png"/><Relationship Id="rId3" Type="http://schemas.openxmlformats.org/officeDocument/2006/relationships/image" Target="../media/image-20-3.png"/><Relationship Id="rId4" Type="http://schemas.openxmlformats.org/officeDocument/2006/relationships/image" Target="../media/image-20-4.png"/><Relationship Id="rId5" Type="http://schemas.openxmlformats.org/officeDocument/2006/relationships/slideLayout" Target="../slideLayouts/slideLayout1.xml"/><Relationship Id="rId6"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image" Target="../media/Slide-21-image-1.jpeg"/><Relationship Id="rId2" Type="http://schemas.openxmlformats.org/officeDocument/2006/relationships/image" Target="../media/image-21-2.png"/><Relationship Id="rId3" Type="http://schemas.openxmlformats.org/officeDocument/2006/relationships/image" Target="../media/image-21-3.png"/><Relationship Id="rId4" Type="http://schemas.openxmlformats.org/officeDocument/2006/relationships/image" Target="../media/image-21-4.png"/><Relationship Id="rId5" Type="http://schemas.openxmlformats.org/officeDocument/2006/relationships/slideLayout" Target="../slideLayouts/slideLayout1.xml"/><Relationship Id="rId6"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Slide-22-image-1.jpeg"/><Relationship Id="rId2" Type="http://schemas.openxmlformats.org/officeDocument/2006/relationships/image" Target="../media/image-22-2.png"/><Relationship Id="rId3" Type="http://schemas.openxmlformats.org/officeDocument/2006/relationships/slideLayout" Target="../slideLayouts/slideLayout1.xml"/><Relationship Id="rId4"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Slide-23-image-1.jpe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Slide-24-image-1.jpe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crs_1"/>
          <p:cNvSpPr/>
          <p:nvPr/>
        </p:nvSpPr>
        <p:spPr>
          <a:xfrm>
            <a:off x="411480" y="292608"/>
            <a:ext cx="4114800" cy="274320"/>
          </a:xfrm>
          <a:prstGeom prst="rect">
            <a:avLst/>
          </a:prstGeom>
          <a:noFill/>
          <a:ln/>
        </p:spPr>
        <p:txBody>
          <a:bodyPr wrap="square" lIns="0" tIns="0" rIns="0" bIns="0" rtlCol="0" anchor="ctr"/>
          <a:lstStyle/>
          <a:p>
            <a:pPr indent="0" marL="0">
              <a:buNone/>
            </a:pPr>
            <a:r>
              <a:rPr lang="en-US" sz="1000" spc="100" kern="0" dirty="0">
                <a:solidFill>
                  <a:srgbClr val="5B6785"/>
                </a:solidFill>
                <a:latin typeface="Segoe UI Semibold" pitchFamily="34" charset="0"/>
                <a:ea typeface="Segoe UI Semibold" pitchFamily="34" charset="-122"/>
                <a:cs typeface="Segoe UI Semibold" pitchFamily="34" charset="-120"/>
              </a:rPr>
              <a:t>English File B1 · SB pp.36–37</a:t>
            </a:r>
            <a:endParaRPr lang="en-US" sz="1000" dirty="0"/>
          </a:p>
        </p:txBody>
      </p:sp>
      <p:sp>
        <p:nvSpPr>
          <p:cNvPr id="4" name="bd_2"/>
          <p:cNvSpPr/>
          <p:nvPr/>
        </p:nvSpPr>
        <p:spPr>
          <a:xfrm>
            <a:off x="365760" y="640080"/>
            <a:ext cx="1051560" cy="105156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600" dirty="0">
                <a:solidFill>
                  <a:srgbClr val="FFFFFF"/>
                </a:solidFill>
                <a:latin typeface="Arial Rounded MT Bold" pitchFamily="34" charset="0"/>
                <a:ea typeface="Arial Rounded MT Bold" pitchFamily="34" charset="-122"/>
                <a:cs typeface="Arial Rounded MT Bold" pitchFamily="34" charset="-120"/>
              </a:rPr>
              <a:t>4A-1</a:t>
            </a:r>
            <a:endParaRPr lang="en-US" sz="1600" dirty="0"/>
          </a:p>
        </p:txBody>
      </p:sp>
      <p:pic>
        <p:nvPicPr>
          <p:cNvPr id="5" name="bry_3" descr="/home/claude/lls-course/v2/assets/brush-yellow.png">    </p:cNvPr>
          <p:cNvPicPr>
            <a:picLocks noChangeAspect="1"/>
          </p:cNvPicPr>
          <p:nvPr/>
        </p:nvPicPr>
        <p:blipFill>
          <a:blip r:embed="rId2"/>
          <a:stretch>
            <a:fillRect/>
          </a:stretch>
        </p:blipFill>
        <p:spPr>
          <a:xfrm>
            <a:off x="1463040" y="713232"/>
            <a:ext cx="3566160" cy="868680"/>
          </a:xfrm>
          <a:prstGeom prst="rect">
            <a:avLst/>
          </a:prstGeom>
        </p:spPr>
      </p:pic>
      <p:sp>
        <p:nvSpPr>
          <p:cNvPr id="6" name="t_4"/>
          <p:cNvSpPr/>
          <p:nvPr/>
        </p:nvSpPr>
        <p:spPr>
          <a:xfrm>
            <a:off x="1645920" y="731520"/>
            <a:ext cx="3108960" cy="822960"/>
          </a:xfrm>
          <a:prstGeom prst="rect">
            <a:avLst/>
          </a:prstGeom>
          <a:noFill/>
          <a:ln/>
        </p:spPr>
        <p:txBody>
          <a:bodyPr wrap="square" lIns="0" tIns="0" rIns="0" bIns="0" rtlCol="0" anchor="ctr">
            <a:normAutofit/>
          </a:bodyPr>
          <a:lstStyle/>
          <a:p>
            <a:pPr indent="0" marL="0">
              <a:buNone/>
            </a:pPr>
            <a:r>
              <a:rPr lang="en-US" sz="2800" dirty="0">
                <a:solidFill>
                  <a:srgbClr val="1B2559"/>
                </a:solidFill>
                <a:latin typeface="Arial Rounded MT Bold" pitchFamily="34" charset="0"/>
                <a:ea typeface="Arial Rounded MT Bold" pitchFamily="34" charset="-122"/>
                <a:cs typeface="Arial Rounded MT Bold" pitchFamily="34" charset="-120"/>
              </a:rPr>
              <a:t>Bad manners?</a:t>
            </a:r>
            <a:endParaRPr lang="en-US" sz="2800" dirty="0"/>
          </a:p>
        </p:txBody>
      </p:sp>
      <p:pic>
        <p:nvPicPr>
          <p:cNvPr id="7" name="brp_5" descr="/home/claude/lls-course/v2/assets/brush-pink.png">    </p:cNvPr>
          <p:cNvPicPr>
            <a:picLocks noChangeAspect="1"/>
          </p:cNvPicPr>
          <p:nvPr/>
        </p:nvPicPr>
        <p:blipFill>
          <a:blip r:embed="rId3"/>
          <a:stretch>
            <a:fillRect/>
          </a:stretch>
        </p:blipFill>
        <p:spPr>
          <a:xfrm>
            <a:off x="1554480" y="1517904"/>
            <a:ext cx="3017520" cy="384048"/>
          </a:xfrm>
          <a:prstGeom prst="rect">
            <a:avLst/>
          </a:prstGeom>
        </p:spPr>
      </p:pic>
      <p:sp>
        <p:nvSpPr>
          <p:cNvPr id="8" name="st_6"/>
          <p:cNvSpPr/>
          <p:nvPr/>
        </p:nvSpPr>
        <p:spPr>
          <a:xfrm>
            <a:off x="1691640" y="1517904"/>
            <a:ext cx="2834640" cy="384048"/>
          </a:xfrm>
          <a:prstGeom prst="rect">
            <a:avLst/>
          </a:prstGeom>
          <a:noFill/>
          <a:ln/>
        </p:spPr>
        <p:txBody>
          <a:bodyPr wrap="square" lIns="0" tIns="0" rIns="0" bIns="0" rtlCol="0" anchor="ct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Phones, rules and good manners</a:t>
            </a:r>
            <a:endParaRPr lang="en-US" sz="1250" dirty="0"/>
          </a:p>
        </p:txBody>
      </p:sp>
      <p:sp>
        <p:nvSpPr>
          <p:cNvPr id="9" name="cd_7"/>
          <p:cNvSpPr/>
          <p:nvPr/>
        </p:nvSpPr>
        <p:spPr>
          <a:xfrm>
            <a:off x="365760" y="2148840"/>
            <a:ext cx="4206240" cy="1691640"/>
          </a:xfrm>
          <a:prstGeom prst="roundRect">
            <a:avLst>
              <a:gd name="adj" fmla="val 7568"/>
            </a:avLst>
          </a:prstGeom>
          <a:solidFill>
            <a:srgbClr val="E3F1FD"/>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0" name="ii_8"/>
          <p:cNvSpPr/>
          <p:nvPr/>
        </p:nvSpPr>
        <p:spPr>
          <a:xfrm>
            <a:off x="457200" y="22219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1" name="ih_9"/>
          <p:cNvSpPr/>
          <p:nvPr/>
        </p:nvSpPr>
        <p:spPr>
          <a:xfrm>
            <a:off x="932688" y="2240280"/>
            <a:ext cx="3566160" cy="365760"/>
          </a:xfrm>
          <a:prstGeom prst="rect">
            <a:avLst/>
          </a:prstGeom>
          <a:noFill/>
          <a:ln/>
        </p:spPr>
        <p:txBody>
          <a:bodyPr wrap="square" lIns="0" tIns="0" rIns="0" bIns="0" rtlCol="0" anchor="ctr"/>
          <a:lstStyle/>
          <a:p>
            <a:pP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Today you're going to…</a:t>
            </a:r>
            <a:endParaRPr lang="en-US" sz="1600" dirty="0"/>
          </a:p>
        </p:txBody>
      </p:sp>
      <p:sp>
        <p:nvSpPr>
          <p:cNvPr id="12" name="il_10"/>
          <p:cNvSpPr/>
          <p:nvPr/>
        </p:nvSpPr>
        <p:spPr>
          <a:xfrm>
            <a:off x="932688" y="2642616"/>
            <a:ext cx="3547872" cy="11247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talk about phones: hang up, on hold…</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read about a phone in a concert</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make rules: have to, must, should</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listen to a class story and answer questions</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  play "Describe it!" and "Where am I?"</a:t>
            </a:r>
            <a:endParaRPr lang="en-US" sz="850" dirty="0"/>
          </a:p>
        </p:txBody>
      </p:sp>
      <p:sp>
        <p:nvSpPr>
          <p:cNvPr id="13" name="R1_ex11"/>
          <p:cNvSpPr/>
          <p:nvPr/>
        </p:nvSpPr>
        <p:spPr>
          <a:xfrm>
            <a:off x="365760" y="3950208"/>
            <a:ext cx="4206240" cy="603504"/>
          </a:xfrm>
          <a:prstGeom prst="roundRect">
            <a:avLst>
              <a:gd name="adj" fmla="val 18182"/>
            </a:avLst>
          </a:prstGeom>
          <a:solidFill>
            <a:srgbClr val="FFF6CC"/>
          </a:solidFill>
          <a:ln w="28575">
            <a:solidFill>
              <a:srgbClr val="FFE07A"/>
            </a:solidFill>
          </a:ln>
        </p:spPr>
        <p:txBody>
          <a:bodyPr wrap="square" lIns="152400" tIns="25400" rIns="152400" bIns="25400" rtlCol="0" anchor="ctr">
            <a:normAutofit/>
          </a:bodyPr>
          <a:lstStyle/>
          <a:p>
            <a:pPr indent="0" marL="0">
              <a:buNone/>
            </a:pPr>
            <a:r>
              <a:rPr lang="en-US" sz="1000" dirty="0">
                <a:solidFill>
                  <a:srgbClr val="E8508F"/>
                </a:solidFill>
                <a:latin typeface="Segoe UI Black" pitchFamily="34" charset="0"/>
                <a:ea typeface="Segoe UI Black" pitchFamily="34" charset="-122"/>
                <a:cs typeface="Segoe UI Black" pitchFamily="34" charset="-120"/>
              </a:rPr>
              <a:t>EXAMPLE  </a:t>
            </a:r>
            <a:pPr indent="0" marL="0">
              <a:buNone/>
            </a:pPr>
            <a:r>
              <a:rPr lang="en-US" sz="1300" i="1" dirty="0">
                <a:solidFill>
                  <a:srgbClr val="1B2559"/>
                </a:solidFill>
                <a:latin typeface="Segoe UI Semibold" pitchFamily="34" charset="0"/>
                <a:ea typeface="Segoe UI Semibold" pitchFamily="34" charset="-122"/>
                <a:cs typeface="Segoe UI Semibold" pitchFamily="34" charset="-120"/>
              </a:rPr>
              <a:t>No! It's annoying for other people. Just watch the concert and enjoy it!</a:t>
            </a:r>
            <a:endParaRPr lang="en-US" sz="1000" dirty="0"/>
          </a:p>
        </p:txBody>
      </p:sp>
      <p:sp>
        <p:nvSpPr>
          <p:cNvPr id="14" name="pf_12"/>
          <p:cNvSpPr/>
          <p:nvPr/>
        </p:nvSpPr>
        <p:spPr>
          <a:xfrm rot="90000">
            <a:off x="4846320" y="777240"/>
            <a:ext cx="3977640" cy="3200400"/>
          </a:xfrm>
          <a:prstGeom prst="roundRect">
            <a:avLst>
              <a:gd name="adj" fmla="val 4857"/>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 descr="/home/claude/lls-course/v2/cache/4a1_cover_jpg_935x748_31.png">    </p:cNvPr>
          <p:cNvPicPr>
            <a:picLocks noChangeAspect="1"/>
          </p:cNvPicPr>
          <p:nvPr/>
        </p:nvPicPr>
        <p:blipFill>
          <a:blip r:embed="rId4"/>
          <a:stretch>
            <a:fillRect/>
          </a:stretch>
        </p:blipFill>
        <p:spPr>
          <a:xfrm rot="90000">
            <a:off x="4892040" y="822960"/>
            <a:ext cx="3886200" cy="3108960"/>
          </a:xfrm>
          <a:prstGeom prst="rect">
            <a:avLst/>
          </a:prstGeom>
        </p:spPr>
      </p:pic>
      <p:sp>
        <p:nvSpPr>
          <p:cNvPr id="16" name="bb_14"/>
          <p:cNvSpPr/>
          <p:nvPr/>
        </p:nvSpPr>
        <p:spPr>
          <a:xfrm>
            <a:off x="5120640" y="3611880"/>
            <a:ext cx="3566160" cy="822960"/>
          </a:xfrm>
          <a:prstGeom prst="wedgeRoundRectCallout">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lIns="127000" tIns="50800" rIns="127000" bIns="50800" rtlCol="0" anchor="ctr">
            <a:normAutofit/>
          </a:bodyPr>
          <a:lstStyle/>
          <a:p>
            <a:pPr algn="ctr" indent="0" marL="0">
              <a:buNone/>
            </a:pPr>
            <a:r>
              <a:rPr lang="en-US" sz="1600" dirty="0">
                <a:solidFill>
                  <a:srgbClr val="1B2559"/>
                </a:solidFill>
                <a:latin typeface="Arial Rounded MT Bold" pitchFamily="34" charset="0"/>
                <a:ea typeface="Arial Rounded MT Bold" pitchFamily="34" charset="-122"/>
                <a:cs typeface="Arial Rounded MT Bold" pitchFamily="34" charset="-120"/>
              </a:rPr>
              <a:t>Is it OK to film a whole concert on your phone?</a:t>
            </a:r>
            <a:endParaRPr lang="en-US" sz="1600" dirty="0"/>
          </a:p>
        </p:txBody>
      </p:sp>
      <p:sp>
        <p:nvSpPr>
          <p:cNvPr id="17" name="st_15"/>
          <p:cNvSpPr/>
          <p:nvPr/>
        </p:nvSpPr>
        <p:spPr>
          <a:xfrm rot="360000">
            <a:off x="7543800" y="502920"/>
            <a:ext cx="1325880" cy="38404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950" dirty="0">
                <a:solidFill>
                  <a:srgbClr val="1B2559"/>
                </a:solidFill>
                <a:latin typeface="Arial Rounded MT Bold" pitchFamily="34" charset="0"/>
                <a:ea typeface="Arial Rounded MT Bold" pitchFamily="34" charset="-122"/>
                <a:cs typeface="Arial Rounded MT Bold" pitchFamily="34" charset="-120"/>
              </a:rPr>
              <a:t>💡 THINK · PENSA</a:t>
            </a:r>
            <a:endParaRPr lang="en-US" sz="950" dirty="0"/>
          </a:p>
        </p:txBody>
      </p:sp>
      <p:pic>
        <p:nvPicPr>
          <p:cNvPr id="18" name="logo_16" descr="/home/claude/lls-course/v2/img/logo.png">    </p:cNvPr>
          <p:cNvPicPr>
            <a:picLocks noChangeAspect="1"/>
          </p:cNvPicPr>
          <p:nvPr/>
        </p:nvPicPr>
        <p:blipFill>
          <a:blip r:embed="rId5"/>
          <a:stretch>
            <a:fillRect/>
          </a:stretch>
        </p:blipFill>
        <p:spPr>
          <a:xfrm>
            <a:off x="8485632" y="4526280"/>
            <a:ext cx="502920" cy="50292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3"/>
                                        </p:tgtEl>
                                        <p:attrNameLst>
                                          <p:attrName>style.visibility</p:attrName>
                                        </p:attrNameLst>
                                      </p:cBhvr>
                                      <p:to>
                                        <p:strVal val="visible"/>
                                      </p:to>
                                    </p:set>
                                    <p:animEffect transition="in" filter="fade">
                                      <p:cBhvr>
                                        <p:cTn id="7" dur="400"/>
                                        <p:tgtEl>
                                          <p:spTgt spid="1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xml><?xml version="1.0" encoding="utf-8"?>
<p:sld xmlns:a="http://schemas.openxmlformats.org/drawingml/2006/main" xmlns:r="http://schemas.openxmlformats.org/officeDocument/2006/relationships" xmlns:p="http://schemas.openxmlformats.org/presentationml/2006/main">
  <p:cSld name="Slide 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7"/>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2</a:t>
            </a:r>
            <a:endParaRPr lang="en-US" sz="2800" dirty="0"/>
          </a:p>
        </p:txBody>
      </p:sp>
      <p:pic>
        <p:nvPicPr>
          <p:cNvPr id="4" name="brY_18"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9"/>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Remember last lesson?</a:t>
            </a:r>
            <a:endParaRPr lang="en-US" sz="2400" dirty="0"/>
          </a:p>
        </p:txBody>
      </p:sp>
      <p:pic>
        <p:nvPicPr>
          <p:cNvPr id="6" name="brP_20" descr="/home/claude/lls-course/v2/assets/brush-pink.png">    </p:cNvPr>
          <p:cNvPicPr>
            <a:picLocks noChangeAspect="1"/>
          </p:cNvPicPr>
          <p:nvPr/>
        </p:nvPicPr>
        <p:blipFill>
          <a:blip r:embed="rId3"/>
          <a:stretch>
            <a:fillRect/>
          </a:stretch>
        </p:blipFill>
        <p:spPr>
          <a:xfrm>
            <a:off x="1207008" y="731520"/>
            <a:ext cx="5257800" cy="402336"/>
          </a:xfrm>
          <a:prstGeom prst="rect">
            <a:avLst/>
          </a:prstGeom>
        </p:spPr>
      </p:pic>
      <p:sp>
        <p:nvSpPr>
          <p:cNvPr id="7" name="ins_21"/>
          <p:cNvSpPr/>
          <p:nvPr/>
        </p:nvSpPr>
        <p:spPr>
          <a:xfrm>
            <a:off x="1353312" y="731520"/>
            <a:ext cx="50017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remember? Say it – then use it in a sentence!</a:t>
            </a:r>
            <a:endParaRPr lang="en-US" sz="1250" dirty="0"/>
          </a:p>
        </p:txBody>
      </p:sp>
      <p:sp>
        <p:nvSpPr>
          <p:cNvPr id="8" name="insIT_22"/>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ricordi? Dillo – poi usalo in una frase!</a:t>
            </a:r>
            <a:endParaRPr lang="en-US" sz="950" dirty="0"/>
          </a:p>
        </p:txBody>
      </p:sp>
      <p:sp>
        <p:nvSpPr>
          <p:cNvPr id="9" name="note_23"/>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50" dirty="0"/>
          </a:p>
        </p:txBody>
      </p:sp>
      <p:pic>
        <p:nvPicPr>
          <p:cNvPr id="10" name="logo_24"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5"/>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Revision · last lesson</a:t>
            </a:r>
            <a:endParaRPr lang="en-US" sz="800" dirty="0"/>
          </a:p>
        </p:txBody>
      </p:sp>
      <p:sp>
        <p:nvSpPr>
          <p:cNvPr id="12" name="cd_26"/>
          <p:cNvSpPr/>
          <p:nvPr/>
        </p:nvSpPr>
        <p:spPr>
          <a:xfrm>
            <a:off x="320040" y="3200400"/>
            <a:ext cx="2743200" cy="1508760"/>
          </a:xfrm>
          <a:prstGeom prst="roundRect">
            <a:avLst>
              <a:gd name="adj" fmla="val 848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7"/>
          <p:cNvSpPr/>
          <p:nvPr/>
        </p:nvSpPr>
        <p:spPr>
          <a:xfrm>
            <a:off x="411480" y="327355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8"/>
          <p:cNvSpPr/>
          <p:nvPr/>
        </p:nvSpPr>
        <p:spPr>
          <a:xfrm>
            <a:off x="886968" y="3291840"/>
            <a:ext cx="210312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Last lesson…</a:t>
            </a:r>
            <a:endParaRPr lang="en-US" sz="1300" dirty="0"/>
          </a:p>
        </p:txBody>
      </p:sp>
      <p:sp>
        <p:nvSpPr>
          <p:cNvPr id="15" name="il_29"/>
          <p:cNvSpPr/>
          <p:nvPr/>
        </p:nvSpPr>
        <p:spPr>
          <a:xfrm>
            <a:off x="886968" y="3694176"/>
            <a:ext cx="2084832" cy="94183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Practical English 2: A difficult celebrity</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giving opinions · agreeing · disagreeing</a:t>
            </a:r>
            <a:endParaRPr lang="en-US" sz="1100" dirty="0"/>
          </a:p>
        </p:txBody>
      </p:sp>
      <p:sp>
        <p:nvSpPr>
          <p:cNvPr id="16" name="kw_30"/>
          <p:cNvSpPr/>
          <p:nvPr/>
        </p:nvSpPr>
        <p:spPr>
          <a:xfrm>
            <a:off x="3246120" y="1417320"/>
            <a:ext cx="5623560" cy="292608"/>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 Can you remember these words? What do they mean?</a:t>
            </a:r>
            <a:endParaRPr lang="en-US" sz="1200" dirty="0"/>
          </a:p>
        </p:txBody>
      </p:sp>
      <p:sp>
        <p:nvSpPr>
          <p:cNvPr id="17" name="w_31"/>
          <p:cNvSpPr/>
          <p:nvPr/>
        </p:nvSpPr>
        <p:spPr>
          <a:xfrm>
            <a:off x="3246120" y="1783080"/>
            <a:ext cx="1280160"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Personally</a:t>
            </a:r>
            <a:endParaRPr lang="en-US" sz="1200" dirty="0"/>
          </a:p>
        </p:txBody>
      </p:sp>
      <p:sp>
        <p:nvSpPr>
          <p:cNvPr id="18" name="w_32"/>
          <p:cNvSpPr/>
          <p:nvPr/>
        </p:nvSpPr>
        <p:spPr>
          <a:xfrm>
            <a:off x="4617720" y="1783080"/>
            <a:ext cx="1540764"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In my opinion</a:t>
            </a:r>
            <a:endParaRPr lang="en-US" sz="1200" dirty="0"/>
          </a:p>
        </p:txBody>
      </p:sp>
      <p:sp>
        <p:nvSpPr>
          <p:cNvPr id="19" name="w_33"/>
          <p:cNvSpPr/>
          <p:nvPr/>
        </p:nvSpPr>
        <p:spPr>
          <a:xfrm>
            <a:off x="6249924" y="1783080"/>
            <a:ext cx="1453896"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To be honest</a:t>
            </a:r>
            <a:endParaRPr lang="en-US" sz="1200" dirty="0"/>
          </a:p>
        </p:txBody>
      </p:sp>
      <p:sp>
        <p:nvSpPr>
          <p:cNvPr id="20" name="w_34"/>
          <p:cNvSpPr/>
          <p:nvPr/>
        </p:nvSpPr>
        <p:spPr>
          <a:xfrm>
            <a:off x="3246120" y="2185416"/>
            <a:ext cx="1540764" cy="347472"/>
          </a:xfrm>
          <a:prstGeom prst="roundRect">
            <a:avLst>
              <a:gd name="adj" fmla="val 50000"/>
            </a:avLst>
          </a:prstGeom>
          <a:solidFill>
            <a:srgbClr val="FFF6CC"/>
          </a:solidFill>
          <a:ln w="28575">
            <a:solidFill>
              <a:srgbClr val="FFE07A"/>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If you ask me</a:t>
            </a:r>
            <a:endParaRPr lang="en-US" sz="1200" dirty="0"/>
          </a:p>
        </p:txBody>
      </p:sp>
      <p:sp>
        <p:nvSpPr>
          <p:cNvPr id="21" name="w_35"/>
          <p:cNvSpPr/>
          <p:nvPr/>
        </p:nvSpPr>
        <p:spPr>
          <a:xfrm>
            <a:off x="4878324" y="2185416"/>
            <a:ext cx="1019556" cy="347472"/>
          </a:xfrm>
          <a:prstGeom prst="roundRect">
            <a:avLst>
              <a:gd name="adj" fmla="val 50000"/>
            </a:avLst>
          </a:prstGeom>
          <a:solidFill>
            <a:srgbClr val="FFE3EE"/>
          </a:solidFill>
          <a:ln w="28575">
            <a:solidFill>
              <a:srgbClr val="F7A6C4"/>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I agree</a:t>
            </a:r>
            <a:endParaRPr lang="en-US" sz="1200" dirty="0"/>
          </a:p>
        </p:txBody>
      </p:sp>
      <p:sp>
        <p:nvSpPr>
          <p:cNvPr id="22" name="w_36"/>
          <p:cNvSpPr/>
          <p:nvPr/>
        </p:nvSpPr>
        <p:spPr>
          <a:xfrm>
            <a:off x="5989320" y="2185416"/>
            <a:ext cx="2670048" cy="347472"/>
          </a:xfrm>
          <a:prstGeom prst="roundRect">
            <a:avLst>
              <a:gd name="adj" fmla="val 50000"/>
            </a:avLst>
          </a:prstGeom>
          <a:solidFill>
            <a:srgbClr val="E3F1FD"/>
          </a:solidFill>
          <a:ln w="28575">
            <a:solidFill>
              <a:srgbClr val="A9D3F5"/>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I don't think that's right</a:t>
            </a:r>
            <a:endParaRPr lang="en-US" sz="1200" dirty="0"/>
          </a:p>
        </p:txBody>
      </p:sp>
      <p:sp>
        <p:nvSpPr>
          <p:cNvPr id="23" name="w_37"/>
          <p:cNvSpPr/>
          <p:nvPr/>
        </p:nvSpPr>
        <p:spPr>
          <a:xfrm>
            <a:off x="3246120" y="2587752"/>
            <a:ext cx="1888236" cy="347472"/>
          </a:xfrm>
          <a:prstGeom prst="roundRect">
            <a:avLst>
              <a:gd name="adj" fmla="val 50000"/>
            </a:avLst>
          </a:prstGeom>
          <a:solidFill>
            <a:srgbClr val="E3F7EA"/>
          </a:solidFill>
          <a:ln w="28575">
            <a:solidFill>
              <a:srgbClr val="A8E5BE"/>
            </a:solidFill>
          </a:ln>
        </p:spPr>
        <p:txBody>
          <a:bodyPr wrap="square" lIns="0" tIns="0" rIns="0" bIns="0" rtlCol="0" anchor="ctr"/>
          <a:lstStyle/>
          <a:p>
            <a:pPr algn="ctr" indent="0" marL="0">
              <a:buNone/>
            </a:pPr>
            <a:r>
              <a:rPr lang="en-US" sz="1200" dirty="0">
                <a:solidFill>
                  <a:srgbClr val="1B2559"/>
                </a:solidFill>
                <a:latin typeface="Segoe UI Semibold" pitchFamily="34" charset="0"/>
                <a:ea typeface="Segoe UI Semibold" pitchFamily="34" charset="-122"/>
                <a:cs typeface="Segoe UI Semibold" pitchFamily="34" charset="-120"/>
              </a:rPr>
              <a:t>Hang on a minute!</a:t>
            </a:r>
            <a:endParaRPr lang="en-US" sz="1200" dirty="0"/>
          </a:p>
        </p:txBody>
      </p:sp>
      <p:sp>
        <p:nvSpPr>
          <p:cNvPr id="24" name="lv_38"/>
          <p:cNvSpPr/>
          <p:nvPr/>
        </p:nvSpPr>
        <p:spPr>
          <a:xfrm>
            <a:off x="324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does it mean?</a:t>
            </a:r>
            <a:endParaRPr lang="en-US" sz="1000" dirty="0"/>
          </a:p>
        </p:txBody>
      </p:sp>
      <p:sp>
        <p:nvSpPr>
          <p:cNvPr id="25" name="lv_39"/>
          <p:cNvSpPr/>
          <p:nvPr/>
        </p:nvSpPr>
        <p:spPr>
          <a:xfrm>
            <a:off x="5151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1000" dirty="0">
                <a:solidFill>
                  <a:srgbClr val="000000"/>
                </a:solidFill>
              </a:rPr>
              <a:t>⭐⭐ </a:t>
            </a:r>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Use it in a sentence.</a:t>
            </a:r>
            <a:endParaRPr lang="en-US" sz="1000" dirty="0"/>
          </a:p>
        </p:txBody>
      </p:sp>
      <p:sp>
        <p:nvSpPr>
          <p:cNvPr id="26" name="lv_40"/>
          <p:cNvSpPr/>
          <p:nvPr/>
        </p:nvSpPr>
        <p:spPr>
          <a:xfrm>
            <a:off x="7056120" y="3044952"/>
            <a:ext cx="1813560" cy="384048"/>
          </a:xfrm>
          <a:prstGeom prst="roundRect">
            <a:avLst>
              <a:gd name="adj" fmla="val 28571"/>
            </a:avLst>
          </a:prstGeom>
          <a:solidFill>
            <a:srgbClr val="FFFFFF"/>
          </a:solidFill>
          <a:ln w="28575">
            <a:solidFill>
              <a:srgbClr val="CDBFF3"/>
            </a:solidFill>
          </a:ln>
        </p:spPr>
        <p:txBody>
          <a:bodyPr wrap="square" lIns="50800" tIns="0" rIns="50800" bIns="0" rtlCol="0" anchor="ctr">
            <a:normAutofit/>
          </a:bodyPr>
          <a:lstStyle/>
          <a:p>
            <a:pPr algn="ctr" indent="0" marL="0">
              <a:buNone/>
            </a:pPr>
            <a:r>
              <a:rPr lang="en-US" sz="950" dirty="0">
                <a:solidFill>
                  <a:srgbClr val="000000"/>
                </a:solidFill>
              </a:rPr>
              <a:t>⭐⭐⭐ </a:t>
            </a:r>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Make it negative or a question!</a:t>
            </a:r>
            <a:endParaRPr lang="en-US" sz="950" dirty="0"/>
          </a:p>
        </p:txBody>
      </p:sp>
      <p:sp>
        <p:nvSpPr>
          <p:cNvPr id="27" name="cd_41"/>
          <p:cNvSpPr/>
          <p:nvPr/>
        </p:nvSpPr>
        <p:spPr>
          <a:xfrm>
            <a:off x="3246120" y="3575304"/>
            <a:ext cx="2756916" cy="1179576"/>
          </a:xfrm>
          <a:prstGeom prst="roundRect">
            <a:avLst>
              <a:gd name="adj" fmla="val 10853"/>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8" name="rh_42"/>
          <p:cNvSpPr/>
          <p:nvPr/>
        </p:nvSpPr>
        <p:spPr>
          <a:xfrm>
            <a:off x="3337560" y="3648456"/>
            <a:ext cx="2574036" cy="310896"/>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Giving your opinion</a:t>
            </a:r>
            <a:endParaRPr lang="en-US" sz="1100" dirty="0"/>
          </a:p>
        </p:txBody>
      </p:sp>
      <p:sp>
        <p:nvSpPr>
          <p:cNvPr id="29" name="rf_43"/>
          <p:cNvSpPr/>
          <p:nvPr/>
        </p:nvSpPr>
        <p:spPr>
          <a:xfrm>
            <a:off x="3383280"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an If you ask me… · a Don't you agree?</a:t>
            </a:r>
            <a:endParaRPr lang="en-US" sz="850" dirty="0"/>
          </a:p>
        </p:txBody>
      </p:sp>
      <p:sp>
        <p:nvSpPr>
          <p:cNvPr id="30" name="R1_rl44"/>
          <p:cNvSpPr/>
          <p:nvPr/>
        </p:nvSpPr>
        <p:spPr>
          <a:xfrm>
            <a:off x="3383280"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Personally, I think London is more easy-going.</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In my opinion, New York is the greatest city.</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To be honest, I prefer London.</a:t>
            </a:r>
            <a:endParaRPr lang="en-US" sz="700" dirty="0"/>
          </a:p>
        </p:txBody>
      </p:sp>
      <p:sp>
        <p:nvSpPr>
          <p:cNvPr id="31" name="cd_45"/>
          <p:cNvSpPr/>
          <p:nvPr/>
        </p:nvSpPr>
        <p:spPr>
          <a:xfrm>
            <a:off x="6112764" y="3575304"/>
            <a:ext cx="2756916" cy="1179576"/>
          </a:xfrm>
          <a:prstGeom prst="roundRect">
            <a:avLst>
              <a:gd name="adj" fmla="val 10853"/>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2" name="rh_46"/>
          <p:cNvSpPr/>
          <p:nvPr/>
        </p:nvSpPr>
        <p:spPr>
          <a:xfrm>
            <a:off x="6204204" y="3648456"/>
            <a:ext cx="2574036" cy="310896"/>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Your turn: </a:t>
            </a:r>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Agreeing &amp; disagreeing</a:t>
            </a:r>
            <a:endParaRPr lang="en-US" sz="1100" dirty="0"/>
          </a:p>
        </p:txBody>
      </p:sp>
      <p:sp>
        <p:nvSpPr>
          <p:cNvPr id="33" name="rf_47"/>
          <p:cNvSpPr/>
          <p:nvPr/>
        </p:nvSpPr>
        <p:spPr>
          <a:xfrm>
            <a:off x="6249924" y="3995928"/>
            <a:ext cx="2482596" cy="292608"/>
          </a:xfrm>
          <a:prstGeom prst="rect">
            <a:avLst/>
          </a:prstGeom>
          <a:noFill/>
          <a:ln/>
        </p:spPr>
        <p:txBody>
          <a:bodyPr wrap="square" lIns="0" tIns="0" rIns="0" bIns="0" rtlCol="0" anchor="ctr">
            <a:normAutofit/>
          </a:bodyPr>
          <a:lstStyle/>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Make a What do you think? · an Oh sure… (ironic)</a:t>
            </a:r>
            <a:endParaRPr lang="en-US" sz="850" dirty="0"/>
          </a:p>
        </p:txBody>
      </p:sp>
      <p:sp>
        <p:nvSpPr>
          <p:cNvPr id="34" name="R2_rl48"/>
          <p:cNvSpPr/>
          <p:nvPr/>
        </p:nvSpPr>
        <p:spPr>
          <a:xfrm>
            <a:off x="6249924" y="4325112"/>
            <a:ext cx="2482596" cy="356616"/>
          </a:xfrm>
          <a:prstGeom prst="rect">
            <a:avLst/>
          </a:prstGeom>
          <a:solidFill>
            <a:srgbClr val="FFFFFF"/>
          </a:solidFill>
          <a:ln/>
        </p:spPr>
        <p:txBody>
          <a:bodyPr wrap="square" lIns="0" tIns="0" rIns="0" bIns="0" rtlCol="0" anchor="t">
            <a:normAutofit/>
          </a:bodyPr>
          <a:lstStyle/>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OK, I agree.</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I don't think that's right.</a:t>
            </a:r>
            <a:endParaRPr lang="en-US" sz="700" dirty="0"/>
          </a:p>
          <a:p>
            <a:pPr indent="0" marL="0">
              <a:spcAft>
                <a:spcPts val="300"/>
              </a:spcAft>
              <a:buNone/>
            </a:pPr>
            <a:r>
              <a:rPr lang="en-US" sz="700" dirty="0">
                <a:solidFill>
                  <a:srgbClr val="1B2559"/>
                </a:solidFill>
                <a:latin typeface="Segoe UI Semibold" pitchFamily="34" charset="0"/>
                <a:ea typeface="Segoe UI Semibold" pitchFamily="34" charset="-122"/>
                <a:cs typeface="Segoe UI Semibold" pitchFamily="34" charset="-120"/>
              </a:rPr>
              <a:t>You can't be serious!</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30"/>
                                        </p:tgtEl>
                                        <p:attrNameLst>
                                          <p:attrName>style.visibility</p:attrName>
                                        </p:attrNameLst>
                                      </p:cBhvr>
                                      <p:to>
                                        <p:strVal val="visible"/>
                                      </p:to>
                                    </p:set>
                                    <p:animEffect transition="in" filter="fade">
                                      <p:cBhvr>
                                        <p:cTn id="7" dur="400"/>
                                        <p:tgtEl>
                                          <p:spTgt spid="3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34"/>
                                        </p:tgtEl>
                                        <p:attrNameLst>
                                          <p:attrName>style.visibility</p:attrName>
                                        </p:attrNameLst>
                                      </p:cBhvr>
                                      <p:to>
                                        <p:strVal val="visible"/>
                                      </p:to>
                                    </p:set>
                                    <p:animEffect transition="in" filter="fade">
                                      <p:cBhvr>
                                        <p:cTn id="12"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3.xml><?xml version="1.0" encoding="utf-8"?>
<p:sld xmlns:a="http://schemas.openxmlformats.org/drawingml/2006/main" xmlns:r="http://schemas.openxmlformats.org/officeDocument/2006/relationships" xmlns:p="http://schemas.openxmlformats.org/presentationml/2006/main">
  <p:cSld name="Slide 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9"/>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3</a:t>
            </a:r>
            <a:endParaRPr lang="en-US" sz="2800" dirty="0"/>
          </a:p>
        </p:txBody>
      </p:sp>
      <p:pic>
        <p:nvPicPr>
          <p:cNvPr id="4" name="brY_50"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51"/>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Opinion ping-pong</a:t>
            </a:r>
            <a:endParaRPr lang="en-US" sz="2500" dirty="0"/>
          </a:p>
        </p:txBody>
      </p:sp>
      <p:pic>
        <p:nvPicPr>
          <p:cNvPr id="6" name="brP_52"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53"/>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the opinion. Agree or disagree!</a:t>
            </a:r>
            <a:endParaRPr lang="en-US" sz="1250" dirty="0"/>
          </a:p>
        </p:txBody>
      </p:sp>
      <p:sp>
        <p:nvSpPr>
          <p:cNvPr id="8" name="insIT_54"/>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l'opinione. D'accordo o no?</a:t>
            </a:r>
            <a:endParaRPr lang="en-US" sz="950" dirty="0"/>
          </a:p>
        </p:txBody>
      </p:sp>
      <p:sp>
        <p:nvSpPr>
          <p:cNvPr id="9" name="note_55"/>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Communicative game</a:t>
            </a:r>
            <a:endParaRPr lang="en-US" sz="1250" dirty="0"/>
          </a:p>
        </p:txBody>
      </p:sp>
      <p:pic>
        <p:nvPicPr>
          <p:cNvPr id="10" name="logo_56"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7"/>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Warmer · last lesson   ·   📖 Recycles PE2: giving opinions, agreeing and disagreeing (SB p.35)</a:t>
            </a:r>
            <a:endParaRPr lang="en-US" sz="800" dirty="0"/>
          </a:p>
        </p:txBody>
      </p:sp>
      <p:sp>
        <p:nvSpPr>
          <p:cNvPr id="12" name="cd_58"/>
          <p:cNvSpPr/>
          <p:nvPr/>
        </p:nvSpPr>
        <p:spPr>
          <a:xfrm>
            <a:off x="320040" y="1417320"/>
            <a:ext cx="2697480" cy="2426208"/>
          </a:xfrm>
          <a:prstGeom prst="roundRect">
            <a:avLst>
              <a:gd name="adj" fmla="val 5276"/>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9"/>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60"/>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61"/>
          <p:cNvSpPr/>
          <p:nvPr/>
        </p:nvSpPr>
        <p:spPr>
          <a:xfrm>
            <a:off x="886968" y="1911096"/>
            <a:ext cx="2039112" cy="18592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Team A: agree or disagree with a phrase.</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Squadra A: d'accordo o no, con una frase.</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Team B answers back. New phrase = 1 point.</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La squadra B risponde. Frase nuova = 1 punto.</a:t>
            </a:r>
            <a:endParaRPr lang="en-US" sz="1200" dirty="0"/>
          </a:p>
        </p:txBody>
      </p:sp>
      <p:sp>
        <p:nvSpPr>
          <p:cNvPr id="16" name="st_62"/>
          <p:cNvSpPr/>
          <p:nvPr/>
        </p:nvSpPr>
        <p:spPr>
          <a:xfrm rot="-180000">
            <a:off x="502920" y="4026408"/>
            <a:ext cx="2286000" cy="682752"/>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63"/>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64"/>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"Bagheria is better than Palermo."</a:t>
            </a:r>
            <a:endParaRPr lang="en-US" sz="1250" dirty="0"/>
          </a:p>
        </p:txBody>
      </p:sp>
      <p:sp>
        <p:nvSpPr>
          <p:cNvPr id="19" name="chip_65"/>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If you ask me, Palermo is more exciting.</a:t>
            </a:r>
            <a:endParaRPr lang="en-US" sz="1200" dirty="0"/>
          </a:p>
        </p:txBody>
      </p:sp>
      <p:sp>
        <p:nvSpPr>
          <p:cNvPr id="20" name="bd_66"/>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67"/>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"Teenagers spend too much time on their phones."</a:t>
            </a:r>
            <a:endParaRPr lang="en-US" sz="1200" dirty="0"/>
          </a:p>
        </p:txBody>
      </p:sp>
      <p:sp>
        <p:nvSpPr>
          <p:cNvPr id="22" name="R1_chip68"/>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To be honest, I agree. I'm on mine all day!</a:t>
            </a:r>
            <a:endParaRPr lang="en-US" sz="1200" dirty="0"/>
          </a:p>
        </p:txBody>
      </p:sp>
      <p:sp>
        <p:nvSpPr>
          <p:cNvPr id="23" name="bd_69"/>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70"/>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"Phones at dinner are OK."</a:t>
            </a:r>
            <a:endParaRPr lang="en-US" sz="1250" dirty="0"/>
          </a:p>
        </p:txBody>
      </p:sp>
      <p:sp>
        <p:nvSpPr>
          <p:cNvPr id="25" name="R2_chip71"/>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 don't think that's right. Dinner is family time.</a:t>
            </a:r>
            <a:endParaRPr lang="en-US" sz="1200" dirty="0"/>
          </a:p>
        </p:txBody>
      </p:sp>
      <p:sp>
        <p:nvSpPr>
          <p:cNvPr id="26" name="bd_72"/>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73"/>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"Concerts are better on TV."</a:t>
            </a:r>
            <a:endParaRPr lang="en-US" sz="1250" dirty="0"/>
          </a:p>
        </p:txBody>
      </p:sp>
      <p:sp>
        <p:nvSpPr>
          <p:cNvPr id="28" name="R3_chip74"/>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You can't be serious! Live music is much better.</a:t>
            </a:r>
            <a:endParaRPr lang="en-US" sz="1200" dirty="0"/>
          </a:p>
        </p:txBody>
      </p:sp>
      <p:sp>
        <p:nvSpPr>
          <p:cNvPr id="29" name="bd_75"/>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76"/>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"Messages are better than phone calls."</a:t>
            </a:r>
            <a:endParaRPr lang="en-US" sz="1250" dirty="0"/>
          </a:p>
        </p:txBody>
      </p:sp>
      <p:sp>
        <p:nvSpPr>
          <p:cNvPr id="31" name="R4_chip77"/>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Personally, I think calls are friendlier.</a:t>
            </a:r>
            <a:endParaRPr lang="en-US" sz="1200" dirty="0"/>
          </a:p>
        </p:txBody>
      </p:sp>
      <p:sp>
        <p:nvSpPr>
          <p:cNvPr id="32" name="bd_78"/>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79"/>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"Everybody needs a smartphone."</a:t>
            </a:r>
            <a:endParaRPr lang="en-US" sz="1250" dirty="0"/>
          </a:p>
        </p:txBody>
      </p:sp>
      <p:sp>
        <p:nvSpPr>
          <p:cNvPr id="34" name="R5_chip80"/>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In my opinion, my grandad doesn't need one!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4.xml><?xml version="1.0" encoding="utf-8"?>
<p:sld xmlns:a="http://schemas.openxmlformats.org/drawingml/2006/main" xmlns:r="http://schemas.openxmlformats.org/officeDocument/2006/relationships" xmlns:p="http://schemas.openxmlformats.org/presentationml/2006/main">
  <p:cSld name="Slide 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8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4</a:t>
            </a:r>
            <a:endParaRPr lang="en-US" sz="2800" dirty="0"/>
          </a:p>
        </p:txBody>
      </p:sp>
      <p:pic>
        <p:nvPicPr>
          <p:cNvPr id="4" name="brY_82"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83"/>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happening? 1/2</a:t>
            </a:r>
            <a:endParaRPr lang="en-US" sz="2500" dirty="0"/>
          </a:p>
        </p:txBody>
      </p:sp>
      <p:pic>
        <p:nvPicPr>
          <p:cNvPr id="6" name="brP_84"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85"/>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Say the phone phrase!</a:t>
            </a:r>
            <a:endParaRPr lang="en-US" sz="1250" dirty="0"/>
          </a:p>
        </p:txBody>
      </p:sp>
      <p:sp>
        <p:nvSpPr>
          <p:cNvPr id="8" name="insIT_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Di' l'espressione!</a:t>
            </a:r>
            <a:endParaRPr lang="en-US" sz="950" dirty="0"/>
          </a:p>
        </p:txBody>
      </p:sp>
      <p:sp>
        <p:nvSpPr>
          <p:cNvPr id="9" name="note_8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Guided discovery</a:t>
            </a:r>
            <a:endParaRPr lang="en-US" sz="1150" dirty="0"/>
          </a:p>
        </p:txBody>
      </p:sp>
      <p:pic>
        <p:nvPicPr>
          <p:cNvPr id="10" name="logo_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Vocabulary · phone language   ·   📖 SB p.36 · 1a (meaning first, with pictures)</a:t>
            </a:r>
            <a:endParaRPr lang="en-US" sz="800" dirty="0"/>
          </a:p>
        </p:txBody>
      </p:sp>
      <p:sp>
        <p:nvSpPr>
          <p:cNvPr id="12" name="cd_90"/>
          <p:cNvSpPr/>
          <p:nvPr/>
        </p:nvSpPr>
        <p:spPr>
          <a:xfrm>
            <a:off x="320040" y="1417320"/>
            <a:ext cx="2034540" cy="3017520"/>
          </a:xfrm>
          <a:prstGeom prst="roundRect">
            <a:avLst>
              <a:gd name="adj" fmla="val 62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rh_91"/>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1</a:t>
            </a:r>
            <a:endParaRPr lang="en-US" sz="1250" dirty="0"/>
          </a:p>
        </p:txBody>
      </p:sp>
      <p:sp>
        <p:nvSpPr>
          <p:cNvPr id="14" name="pf_92"/>
          <p:cNvSpPr/>
          <p:nvPr/>
        </p:nvSpPr>
        <p:spPr>
          <a:xfrm>
            <a:off x="802333" y="1938528"/>
            <a:ext cx="1069953"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93" descr="/home/claude/lls-course/v2/cache/4a1_dialling_jpg_235x209_31.png">    </p:cNvPr>
          <p:cNvPicPr>
            <a:picLocks noChangeAspect="1"/>
          </p:cNvPicPr>
          <p:nvPr/>
        </p:nvPicPr>
        <p:blipFill>
          <a:blip r:embed="rId5"/>
          <a:stretch>
            <a:fillRect/>
          </a:stretch>
        </p:blipFill>
        <p:spPr>
          <a:xfrm>
            <a:off x="848053" y="1984248"/>
            <a:ext cx="978513" cy="868680"/>
          </a:xfrm>
          <a:prstGeom prst="rect">
            <a:avLst/>
          </a:prstGeom>
        </p:spPr>
      </p:pic>
      <p:sp>
        <p:nvSpPr>
          <p:cNvPr id="16" name="ru_94"/>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He's d________ a number.</a:t>
            </a:r>
            <a:endParaRPr lang="en-US" sz="1050" dirty="0"/>
          </a:p>
        </p:txBody>
      </p:sp>
      <p:sp>
        <p:nvSpPr>
          <p:cNvPr id="17" name="R1_rx95"/>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dialling a number.</a:t>
            </a:r>
            <a:endParaRPr lang="en-US" sz="1050" dirty="0"/>
          </a:p>
        </p:txBody>
      </p:sp>
      <p:sp>
        <p:nvSpPr>
          <p:cNvPr id="18" name="R1_ri96"/>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19" name="cd_97"/>
          <p:cNvSpPr/>
          <p:nvPr/>
        </p:nvSpPr>
        <p:spPr>
          <a:xfrm>
            <a:off x="2491740" y="1417320"/>
            <a:ext cx="2034540" cy="3017520"/>
          </a:xfrm>
          <a:prstGeom prst="roundRect">
            <a:avLst>
              <a:gd name="adj" fmla="val 62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rh_98"/>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2</a:t>
            </a:r>
            <a:endParaRPr lang="en-US" sz="1250" dirty="0"/>
          </a:p>
        </p:txBody>
      </p:sp>
      <p:sp>
        <p:nvSpPr>
          <p:cNvPr id="21" name="pf_99"/>
          <p:cNvSpPr/>
          <p:nvPr/>
        </p:nvSpPr>
        <p:spPr>
          <a:xfrm>
            <a:off x="2980690" y="1938528"/>
            <a:ext cx="1056640"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100" descr="/home/claude/lls-course/v2/cache/4a1_texting_jpg_232x209_31.png">    </p:cNvPr>
          <p:cNvPicPr>
            <a:picLocks noChangeAspect="1"/>
          </p:cNvPicPr>
          <p:nvPr/>
        </p:nvPicPr>
        <p:blipFill>
          <a:blip r:embed="rId6"/>
          <a:stretch>
            <a:fillRect/>
          </a:stretch>
        </p:blipFill>
        <p:spPr>
          <a:xfrm>
            <a:off x="3026410" y="1984248"/>
            <a:ext cx="965200" cy="868680"/>
          </a:xfrm>
          <a:prstGeom prst="rect">
            <a:avLst/>
          </a:prstGeom>
        </p:spPr>
      </p:pic>
      <p:sp>
        <p:nvSpPr>
          <p:cNvPr id="23" name="ru_101"/>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He's t______ a friend.</a:t>
            </a:r>
            <a:endParaRPr lang="en-US" sz="1050" dirty="0"/>
          </a:p>
        </p:txBody>
      </p:sp>
      <p:sp>
        <p:nvSpPr>
          <p:cNvPr id="24" name="R2_rx102"/>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texting (messaging) a friend.</a:t>
            </a:r>
            <a:endParaRPr lang="en-US" sz="1050" dirty="0"/>
          </a:p>
        </p:txBody>
      </p:sp>
      <p:sp>
        <p:nvSpPr>
          <p:cNvPr id="25" name="R2_ri103"/>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6" name="cd_104"/>
          <p:cNvSpPr/>
          <p:nvPr/>
        </p:nvSpPr>
        <p:spPr>
          <a:xfrm>
            <a:off x="4663440" y="1417320"/>
            <a:ext cx="2034540" cy="3017520"/>
          </a:xfrm>
          <a:prstGeom prst="roundRect">
            <a:avLst>
              <a:gd name="adj" fmla="val 629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7" name="rh_105"/>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3</a:t>
            </a:r>
            <a:endParaRPr lang="en-US" sz="1250" dirty="0"/>
          </a:p>
        </p:txBody>
      </p:sp>
      <p:sp>
        <p:nvSpPr>
          <p:cNvPr id="28" name="pf_106"/>
          <p:cNvSpPr/>
          <p:nvPr/>
        </p:nvSpPr>
        <p:spPr>
          <a:xfrm>
            <a:off x="5132420" y="1938528"/>
            <a:ext cx="1096579"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107" descr="/home/claude/lls-course/v2/cache/4a1_hung_up_jpg_242x209_31.png">    </p:cNvPr>
          <p:cNvPicPr>
            <a:picLocks noChangeAspect="1"/>
          </p:cNvPicPr>
          <p:nvPr/>
        </p:nvPicPr>
        <p:blipFill>
          <a:blip r:embed="rId7"/>
          <a:stretch>
            <a:fillRect/>
          </a:stretch>
        </p:blipFill>
        <p:spPr>
          <a:xfrm>
            <a:off x="5178140" y="1984248"/>
            <a:ext cx="1005139" cy="868680"/>
          </a:xfrm>
          <a:prstGeom prst="rect">
            <a:avLst/>
          </a:prstGeom>
        </p:spPr>
      </p:pic>
      <p:sp>
        <p:nvSpPr>
          <p:cNvPr id="30" name="ru_108"/>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Somebody h___ u_ on her!</a:t>
            </a:r>
            <a:endParaRPr lang="en-US" sz="1050" dirty="0"/>
          </a:p>
        </p:txBody>
      </p:sp>
      <p:sp>
        <p:nvSpPr>
          <p:cNvPr id="31" name="R3_rx109"/>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Somebody hung up on her!</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(hang up → hung up)</a:t>
            </a:r>
            <a:endParaRPr lang="en-US" sz="1050" dirty="0"/>
          </a:p>
        </p:txBody>
      </p:sp>
      <p:sp>
        <p:nvSpPr>
          <p:cNvPr id="32" name="R3_ri110"/>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33" name="cd_111"/>
          <p:cNvSpPr/>
          <p:nvPr/>
        </p:nvSpPr>
        <p:spPr>
          <a:xfrm>
            <a:off x="6835140" y="1417320"/>
            <a:ext cx="2034540" cy="3017520"/>
          </a:xfrm>
          <a:prstGeom prst="roundRect">
            <a:avLst>
              <a:gd name="adj" fmla="val 6292"/>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4" name="rh_112"/>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4</a:t>
            </a:r>
            <a:endParaRPr lang="en-US" sz="1250" dirty="0"/>
          </a:p>
        </p:txBody>
      </p:sp>
      <p:sp>
        <p:nvSpPr>
          <p:cNvPr id="35" name="pf_113"/>
          <p:cNvSpPr/>
          <p:nvPr/>
        </p:nvSpPr>
        <p:spPr>
          <a:xfrm>
            <a:off x="7334581" y="1938528"/>
            <a:ext cx="1035657"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114" descr="/home/claude/lls-course/v2/cache/4a1_ringtone_jpg_227x209_31.png">    </p:cNvPr>
          <p:cNvPicPr>
            <a:picLocks noChangeAspect="1"/>
          </p:cNvPicPr>
          <p:nvPr/>
        </p:nvPicPr>
        <p:blipFill>
          <a:blip r:embed="rId8"/>
          <a:stretch>
            <a:fillRect/>
          </a:stretch>
        </p:blipFill>
        <p:spPr>
          <a:xfrm>
            <a:off x="7380301" y="1984248"/>
            <a:ext cx="944217" cy="868680"/>
          </a:xfrm>
          <a:prstGeom prst="rect">
            <a:avLst/>
          </a:prstGeom>
        </p:spPr>
      </p:pic>
      <p:sp>
        <p:nvSpPr>
          <p:cNvPr id="37" name="ru_115"/>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Listen! What a cool r_______!</a:t>
            </a:r>
            <a:endParaRPr lang="en-US" sz="1050" dirty="0"/>
          </a:p>
        </p:txBody>
      </p:sp>
      <p:sp>
        <p:nvSpPr>
          <p:cNvPr id="38" name="R4_rx116"/>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What a cool ringtone!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sound your phone makes)</a:t>
            </a:r>
            <a:endParaRPr lang="en-US" sz="1050" dirty="0"/>
          </a:p>
        </p:txBody>
      </p:sp>
      <p:sp>
        <p:nvSpPr>
          <p:cNvPr id="39" name="R4_ri117"/>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4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400"/>
                                        <p:tgtEl>
                                          <p:spTgt spid="24"/>
                                        </p:tgtEl>
                                      </p:cBhvr>
                                    </p:animEffect>
                                  </p:childTnLst>
                                </p:cTn>
                              </p:par>
                              <p:par>
                                <p:cTn id="16" presetID="10" presetClass="entr" presetSubtype="0"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00"/>
                                        <p:tgtEl>
                                          <p:spTgt spid="38"/>
                                        </p:tgtEl>
                                      </p:cBhvr>
                                    </p:animEffect>
                                  </p:childTnLst>
                                </p:cTn>
                              </p:par>
                              <p:par>
                                <p:cTn id="32" presetID="10" presetClass="entr" presetSubtype="0" fill="hold" nodeType="with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5.xml><?xml version="1.0" encoding="utf-8"?>
<p:sld xmlns:a="http://schemas.openxmlformats.org/drawingml/2006/main" xmlns:r="http://schemas.openxmlformats.org/officeDocument/2006/relationships" xmlns:p="http://schemas.openxmlformats.org/presentationml/2006/main">
  <p:cSld name="Slide 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18"/>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5</a:t>
            </a:r>
            <a:endParaRPr lang="en-US" sz="2800" dirty="0"/>
          </a:p>
        </p:txBody>
      </p:sp>
      <p:pic>
        <p:nvPicPr>
          <p:cNvPr id="4" name="brY_119"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120"/>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What's happening? 2/2</a:t>
            </a:r>
            <a:endParaRPr lang="en-US" sz="2500" dirty="0"/>
          </a:p>
        </p:txBody>
      </p:sp>
      <p:pic>
        <p:nvPicPr>
          <p:cNvPr id="6" name="brP_121" descr="/home/claude/lls-course/v2/assets/brush-pink.png">    </p:cNvPr>
          <p:cNvPicPr>
            <a:picLocks noChangeAspect="1"/>
          </p:cNvPicPr>
          <p:nvPr/>
        </p:nvPicPr>
        <p:blipFill>
          <a:blip r:embed="rId3"/>
          <a:stretch>
            <a:fillRect/>
          </a:stretch>
        </p:blipFill>
        <p:spPr>
          <a:xfrm>
            <a:off x="1207008" y="731520"/>
            <a:ext cx="4206240" cy="402336"/>
          </a:xfrm>
          <a:prstGeom prst="rect">
            <a:avLst/>
          </a:prstGeom>
        </p:spPr>
      </p:pic>
      <p:sp>
        <p:nvSpPr>
          <p:cNvPr id="7" name="ins_122"/>
          <p:cNvSpPr/>
          <p:nvPr/>
        </p:nvSpPr>
        <p:spPr>
          <a:xfrm>
            <a:off x="1353312" y="731520"/>
            <a:ext cx="395020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Look at the photo. Say the phone phrase!</a:t>
            </a:r>
            <a:endParaRPr lang="en-US" sz="1250" dirty="0"/>
          </a:p>
        </p:txBody>
      </p:sp>
      <p:sp>
        <p:nvSpPr>
          <p:cNvPr id="8" name="insIT_123"/>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Guarda la foto. Di' l'espressione!</a:t>
            </a:r>
            <a:endParaRPr lang="en-US" sz="950" dirty="0"/>
          </a:p>
        </p:txBody>
      </p:sp>
      <p:sp>
        <p:nvSpPr>
          <p:cNvPr id="9" name="note_124"/>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GUESS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Guided discovery</a:t>
            </a:r>
            <a:endParaRPr lang="en-US" sz="1150" dirty="0"/>
          </a:p>
        </p:txBody>
      </p:sp>
      <p:pic>
        <p:nvPicPr>
          <p:cNvPr id="10" name="logo_125"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26"/>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Vocabulary · phone language   ·   📖 SB p.36 · 1a (meaning first, with pictures)</a:t>
            </a:r>
            <a:endParaRPr lang="en-US" sz="800" dirty="0"/>
          </a:p>
        </p:txBody>
      </p:sp>
      <p:sp>
        <p:nvSpPr>
          <p:cNvPr id="12" name="cd_127"/>
          <p:cNvSpPr/>
          <p:nvPr/>
        </p:nvSpPr>
        <p:spPr>
          <a:xfrm>
            <a:off x="320040" y="1417320"/>
            <a:ext cx="2034540" cy="3017520"/>
          </a:xfrm>
          <a:prstGeom prst="roundRect">
            <a:avLst>
              <a:gd name="adj" fmla="val 62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rh_128"/>
          <p:cNvSpPr/>
          <p:nvPr/>
        </p:nvSpPr>
        <p:spPr>
          <a:xfrm>
            <a:off x="4297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5</a:t>
            </a:r>
            <a:endParaRPr lang="en-US" sz="1250" dirty="0"/>
          </a:p>
        </p:txBody>
      </p:sp>
      <p:sp>
        <p:nvSpPr>
          <p:cNvPr id="14" name="pf_129"/>
          <p:cNvSpPr/>
          <p:nvPr/>
        </p:nvSpPr>
        <p:spPr>
          <a:xfrm>
            <a:off x="799005" y="1938528"/>
            <a:ext cx="1076610"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5" name="ph_130" descr="/home/claude/lls-course/v2/cache/4a1_on_hold_jpg_237x209_31.png">    </p:cNvPr>
          <p:cNvPicPr>
            <a:picLocks noChangeAspect="1"/>
          </p:cNvPicPr>
          <p:nvPr/>
        </p:nvPicPr>
        <p:blipFill>
          <a:blip r:embed="rId5"/>
          <a:stretch>
            <a:fillRect/>
          </a:stretch>
        </p:blipFill>
        <p:spPr>
          <a:xfrm>
            <a:off x="844725" y="1984248"/>
            <a:ext cx="985170" cy="868680"/>
          </a:xfrm>
          <a:prstGeom prst="rect">
            <a:avLst/>
          </a:prstGeom>
        </p:spPr>
      </p:pic>
      <p:sp>
        <p:nvSpPr>
          <p:cNvPr id="16" name="ru_131"/>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They've put him o_ h___.</a:t>
            </a:r>
            <a:endParaRPr lang="en-US" sz="1050" dirty="0"/>
          </a:p>
        </p:txBody>
      </p:sp>
      <p:sp>
        <p:nvSpPr>
          <p:cNvPr id="17" name="R1_rx132"/>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They've put him on hold.</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 has to wait…)</a:t>
            </a:r>
            <a:endParaRPr lang="en-US" sz="1050" dirty="0"/>
          </a:p>
        </p:txBody>
      </p:sp>
      <p:sp>
        <p:nvSpPr>
          <p:cNvPr id="18" name="R1_ri133"/>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19" name="cd_134"/>
          <p:cNvSpPr/>
          <p:nvPr/>
        </p:nvSpPr>
        <p:spPr>
          <a:xfrm>
            <a:off x="2491740" y="1417320"/>
            <a:ext cx="2034540" cy="3017520"/>
          </a:xfrm>
          <a:prstGeom prst="roundRect">
            <a:avLst>
              <a:gd name="adj" fmla="val 62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0" name="rh_135"/>
          <p:cNvSpPr/>
          <p:nvPr/>
        </p:nvSpPr>
        <p:spPr>
          <a:xfrm>
            <a:off x="26014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6</a:t>
            </a:r>
            <a:endParaRPr lang="en-US" sz="1250" dirty="0"/>
          </a:p>
        </p:txBody>
      </p:sp>
      <p:sp>
        <p:nvSpPr>
          <p:cNvPr id="21" name="pf_136"/>
          <p:cNvSpPr/>
          <p:nvPr/>
        </p:nvSpPr>
        <p:spPr>
          <a:xfrm>
            <a:off x="2946546" y="1938528"/>
            <a:ext cx="1124929"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137" descr="/home/claude/lls-course/v2/cache/4a1_voicemail_jpg_249x209_31.png">    </p:cNvPr>
          <p:cNvPicPr>
            <a:picLocks noChangeAspect="1"/>
          </p:cNvPicPr>
          <p:nvPr/>
        </p:nvPicPr>
        <p:blipFill>
          <a:blip r:embed="rId6"/>
          <a:stretch>
            <a:fillRect/>
          </a:stretch>
        </p:blipFill>
        <p:spPr>
          <a:xfrm>
            <a:off x="2992266" y="1984248"/>
            <a:ext cx="1033489" cy="868680"/>
          </a:xfrm>
          <a:prstGeom prst="rect">
            <a:avLst/>
          </a:prstGeom>
        </p:spPr>
      </p:pic>
      <p:sp>
        <p:nvSpPr>
          <p:cNvPr id="23" name="ru_138"/>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Leave a message on my v________.</a:t>
            </a:r>
            <a:endParaRPr lang="en-US" sz="1050" dirty="0"/>
          </a:p>
        </p:txBody>
      </p:sp>
      <p:sp>
        <p:nvSpPr>
          <p:cNvPr id="24" name="R2_rx139"/>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Leave a message on my voicemail.</a:t>
            </a:r>
            <a:endParaRPr lang="en-US" sz="1050" dirty="0"/>
          </a:p>
        </p:txBody>
      </p:sp>
      <p:sp>
        <p:nvSpPr>
          <p:cNvPr id="25" name="R2_ri140"/>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26" name="cd_141"/>
          <p:cNvSpPr/>
          <p:nvPr/>
        </p:nvSpPr>
        <p:spPr>
          <a:xfrm>
            <a:off x="4663440" y="1417320"/>
            <a:ext cx="2034540" cy="3017520"/>
          </a:xfrm>
          <a:prstGeom prst="roundRect">
            <a:avLst>
              <a:gd name="adj" fmla="val 629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7" name="rh_142"/>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7</a:t>
            </a:r>
            <a:endParaRPr lang="en-US" sz="1250" dirty="0"/>
          </a:p>
        </p:txBody>
      </p:sp>
      <p:sp>
        <p:nvSpPr>
          <p:cNvPr id="28" name="pf_143"/>
          <p:cNvSpPr/>
          <p:nvPr/>
        </p:nvSpPr>
        <p:spPr>
          <a:xfrm>
            <a:off x="5055870" y="1938528"/>
            <a:ext cx="1249680"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9" name="ph_144" descr="/home/claude/lls-course/v2/cache/4a1_cut_off_jpg_279x209_31.png">    </p:cNvPr>
          <p:cNvPicPr>
            <a:picLocks noChangeAspect="1"/>
          </p:cNvPicPr>
          <p:nvPr/>
        </p:nvPicPr>
        <p:blipFill>
          <a:blip r:embed="rId7"/>
          <a:stretch>
            <a:fillRect/>
          </a:stretch>
        </p:blipFill>
        <p:spPr>
          <a:xfrm>
            <a:off x="5101590" y="1984248"/>
            <a:ext cx="1158240" cy="868680"/>
          </a:xfrm>
          <a:prstGeom prst="rect">
            <a:avLst/>
          </a:prstGeom>
        </p:spPr>
      </p:pic>
      <p:sp>
        <p:nvSpPr>
          <p:cNvPr id="30" name="ru_145"/>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He was c__ o___ in the tunnel.</a:t>
            </a:r>
            <a:endParaRPr lang="en-US" sz="1050" dirty="0"/>
          </a:p>
        </p:txBody>
      </p:sp>
      <p:sp>
        <p:nvSpPr>
          <p:cNvPr id="31" name="R3_rx146"/>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 was cut off in the tunnel.</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(the call suddenly stopped)</a:t>
            </a:r>
            <a:endParaRPr lang="en-US" sz="1050" dirty="0"/>
          </a:p>
        </p:txBody>
      </p:sp>
      <p:sp>
        <p:nvSpPr>
          <p:cNvPr id="32" name="R3_ri147"/>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
        <p:nvSpPr>
          <p:cNvPr id="33" name="cd_148"/>
          <p:cNvSpPr/>
          <p:nvPr/>
        </p:nvSpPr>
        <p:spPr>
          <a:xfrm>
            <a:off x="6835140" y="1417320"/>
            <a:ext cx="2034540" cy="3017520"/>
          </a:xfrm>
          <a:prstGeom prst="roundRect">
            <a:avLst>
              <a:gd name="adj" fmla="val 6292"/>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34" name="rh_149"/>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8</a:t>
            </a:r>
            <a:endParaRPr lang="en-US" sz="1250" dirty="0"/>
          </a:p>
        </p:txBody>
      </p:sp>
      <p:sp>
        <p:nvSpPr>
          <p:cNvPr id="35" name="pf_150"/>
          <p:cNvSpPr/>
          <p:nvPr/>
        </p:nvSpPr>
        <p:spPr>
          <a:xfrm>
            <a:off x="7288229" y="1938528"/>
            <a:ext cx="1128362"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6" name="ph_151" descr="/home/claude/lls-course/v2/cache/4a1_speakerphone_jpg_249x209_31.png">    </p:cNvPr>
          <p:cNvPicPr>
            <a:picLocks noChangeAspect="1"/>
          </p:cNvPicPr>
          <p:nvPr/>
        </p:nvPicPr>
        <p:blipFill>
          <a:blip r:embed="rId8"/>
          <a:stretch>
            <a:fillRect/>
          </a:stretch>
        </p:blipFill>
        <p:spPr>
          <a:xfrm>
            <a:off x="7333949" y="1984248"/>
            <a:ext cx="1036922" cy="868680"/>
          </a:xfrm>
          <a:prstGeom prst="rect">
            <a:avLst/>
          </a:prstGeom>
        </p:spPr>
      </p:pic>
      <p:sp>
        <p:nvSpPr>
          <p:cNvPr id="37" name="ru_152"/>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He's talking on s___________.</a:t>
            </a:r>
            <a:endParaRPr lang="en-US" sz="1050" dirty="0"/>
          </a:p>
        </p:txBody>
      </p:sp>
      <p:sp>
        <p:nvSpPr>
          <p:cNvPr id="38" name="R4_rx153"/>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He's talking on speakerphone.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(everyone can hear!)</a:t>
            </a:r>
            <a:endParaRPr lang="en-US" sz="1050" dirty="0"/>
          </a:p>
        </p:txBody>
      </p:sp>
      <p:sp>
        <p:nvSpPr>
          <p:cNvPr id="39" name="R4_ri154"/>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7"/>
                                        </p:tgtEl>
                                        <p:attrNameLst>
                                          <p:attrName>style.visibility</p:attrName>
                                        </p:attrNameLst>
                                      </p:cBhvr>
                                      <p:to>
                                        <p:strVal val="visible"/>
                                      </p:to>
                                    </p:set>
                                    <p:animEffect transition="in" filter="fade">
                                      <p:cBhvr>
                                        <p:cTn id="7" dur="400"/>
                                        <p:tgtEl>
                                          <p:spTgt spid="17"/>
                                        </p:tgtEl>
                                      </p:cBhvr>
                                    </p:animEffect>
                                  </p:childTnLst>
                                </p:cTn>
                              </p:par>
                              <p:par>
                                <p:cTn id="8" presetID="10" presetClass="entr" presetSubtype="0" fill="hold" nodeType="withEffect">
                                  <p:stCondLst>
                                    <p:cond delay="0"/>
                                  </p:stCondLst>
                                  <p:childTnLst>
                                    <p:set>
                                      <p:cBhvr>
                                        <p:cTn id="9" dur="1" fill="hold">
                                          <p:stCondLst>
                                            <p:cond delay="0"/>
                                          </p:stCondLst>
                                        </p:cTn>
                                        <p:tgtEl>
                                          <p:spTgt spid="18"/>
                                        </p:tgtEl>
                                        <p:attrNameLst>
                                          <p:attrName>style.visibility</p:attrName>
                                        </p:attrNameLst>
                                      </p:cBhvr>
                                      <p:to>
                                        <p:strVal val="visible"/>
                                      </p:to>
                                    </p:set>
                                    <p:animEffect transition="in" filter="fade">
                                      <p:cBhvr>
                                        <p:cTn id="10" dur="400"/>
                                        <p:tgtEl>
                                          <p:spTgt spid="1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4"/>
                                        </p:tgtEl>
                                        <p:attrNameLst>
                                          <p:attrName>style.visibility</p:attrName>
                                        </p:attrNameLst>
                                      </p:cBhvr>
                                      <p:to>
                                        <p:strVal val="visible"/>
                                      </p:to>
                                    </p:set>
                                    <p:animEffect transition="in" filter="fade">
                                      <p:cBhvr>
                                        <p:cTn id="15" dur="400"/>
                                        <p:tgtEl>
                                          <p:spTgt spid="24"/>
                                        </p:tgtEl>
                                      </p:cBhvr>
                                    </p:animEffect>
                                  </p:childTnLst>
                                </p:cTn>
                              </p:par>
                              <p:par>
                                <p:cTn id="16" presetID="10" presetClass="entr" presetSubtype="0" fill="hold" nodeType="withEffect">
                                  <p:stCondLst>
                                    <p:cond delay="0"/>
                                  </p:stCondLst>
                                  <p:childTnLst>
                                    <p:set>
                                      <p:cBhvr>
                                        <p:cTn id="17" dur="1" fill="hold">
                                          <p:stCondLst>
                                            <p:cond delay="0"/>
                                          </p:stCondLst>
                                        </p:cTn>
                                        <p:tgtEl>
                                          <p:spTgt spid="25"/>
                                        </p:tgtEl>
                                        <p:attrNameLst>
                                          <p:attrName>style.visibility</p:attrName>
                                        </p:attrNameLst>
                                      </p:cBhvr>
                                      <p:to>
                                        <p:strVal val="visible"/>
                                      </p:to>
                                    </p:set>
                                    <p:animEffect transition="in" filter="fade">
                                      <p:cBhvr>
                                        <p:cTn id="18" dur="400"/>
                                        <p:tgtEl>
                                          <p:spTgt spid="2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31"/>
                                        </p:tgtEl>
                                        <p:attrNameLst>
                                          <p:attrName>style.visibility</p:attrName>
                                        </p:attrNameLst>
                                      </p:cBhvr>
                                      <p:to>
                                        <p:strVal val="visible"/>
                                      </p:to>
                                    </p:set>
                                    <p:animEffect transition="in" filter="fade">
                                      <p:cBhvr>
                                        <p:cTn id="23" dur="400"/>
                                        <p:tgtEl>
                                          <p:spTgt spid="31"/>
                                        </p:tgtEl>
                                      </p:cBhvr>
                                    </p:animEffect>
                                  </p:childTnLst>
                                </p:cTn>
                              </p:par>
                              <p:par>
                                <p:cTn id="24" presetID="10" presetClass="entr" presetSubtype="0" fill="hold" nodeType="withEffect">
                                  <p:stCondLst>
                                    <p:cond delay="0"/>
                                  </p:stCondLst>
                                  <p:childTnLst>
                                    <p:set>
                                      <p:cBhvr>
                                        <p:cTn id="25" dur="1" fill="hold">
                                          <p:stCondLst>
                                            <p:cond delay="0"/>
                                          </p:stCondLst>
                                        </p:cTn>
                                        <p:tgtEl>
                                          <p:spTgt spid="32"/>
                                        </p:tgtEl>
                                        <p:attrNameLst>
                                          <p:attrName>style.visibility</p:attrName>
                                        </p:attrNameLst>
                                      </p:cBhvr>
                                      <p:to>
                                        <p:strVal val="visible"/>
                                      </p:to>
                                    </p:set>
                                    <p:animEffect transition="in" filter="fade">
                                      <p:cBhvr>
                                        <p:cTn id="26" dur="400"/>
                                        <p:tgtEl>
                                          <p:spTgt spid="3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38"/>
                                        </p:tgtEl>
                                        <p:attrNameLst>
                                          <p:attrName>style.visibility</p:attrName>
                                        </p:attrNameLst>
                                      </p:cBhvr>
                                      <p:to>
                                        <p:strVal val="visible"/>
                                      </p:to>
                                    </p:set>
                                    <p:animEffect transition="in" filter="fade">
                                      <p:cBhvr>
                                        <p:cTn id="31" dur="400"/>
                                        <p:tgtEl>
                                          <p:spTgt spid="38"/>
                                        </p:tgtEl>
                                      </p:cBhvr>
                                    </p:animEffect>
                                  </p:childTnLst>
                                </p:cTn>
                              </p:par>
                              <p:par>
                                <p:cTn id="32" presetID="10" presetClass="entr" presetSubtype="0" fill="hold" nodeType="withEffect">
                                  <p:stCondLst>
                                    <p:cond delay="0"/>
                                  </p:stCondLst>
                                  <p:childTnLst>
                                    <p:set>
                                      <p:cBhvr>
                                        <p:cTn id="33" dur="1" fill="hold">
                                          <p:stCondLst>
                                            <p:cond delay="0"/>
                                          </p:stCondLst>
                                        </p:cTn>
                                        <p:tgtEl>
                                          <p:spTgt spid="39"/>
                                        </p:tgtEl>
                                        <p:attrNameLst>
                                          <p:attrName>style.visibility</p:attrName>
                                        </p:attrNameLst>
                                      </p:cBhvr>
                                      <p:to>
                                        <p:strVal val="visible"/>
                                      </p:to>
                                    </p:set>
                                    <p:animEffect transition="in" filter="fade">
                                      <p:cBhvr>
                                        <p:cTn id="34" dur="400"/>
                                        <p:tgtEl>
                                          <p:spTgt spid="3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6.xml><?xml version="1.0" encoding="utf-8"?>
<p:sld xmlns:a="http://schemas.openxmlformats.org/drawingml/2006/main" xmlns:r="http://schemas.openxmlformats.org/officeDocument/2006/relationships" xmlns:p="http://schemas.openxmlformats.org/presentationml/2006/main">
  <p:cSld name="Slide 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55"/>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6</a:t>
            </a:r>
            <a:endParaRPr lang="en-US" sz="2800" dirty="0"/>
          </a:p>
        </p:txBody>
      </p:sp>
      <p:pic>
        <p:nvPicPr>
          <p:cNvPr id="4" name="brY_156"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57"/>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 1/2</a:t>
            </a:r>
            <a:endParaRPr lang="en-US" sz="2500" dirty="0"/>
          </a:p>
        </p:txBody>
      </p:sp>
      <p:pic>
        <p:nvPicPr>
          <p:cNvPr id="6" name="brP_158"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159"/>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sounds 1–6. Complete!</a:t>
            </a:r>
            <a:endParaRPr lang="en-US" sz="1250" dirty="0"/>
          </a:p>
        </p:txBody>
      </p:sp>
      <p:sp>
        <p:nvSpPr>
          <p:cNvPr id="8" name="insIT_1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i suoni 1–6. Completa!</a:t>
            </a:r>
            <a:endParaRPr lang="en-US" sz="950" dirty="0"/>
          </a:p>
        </p:txBody>
      </p:sp>
      <p:sp>
        <p:nvSpPr>
          <p:cNvPr id="9" name="note_16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1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Listening · phone sounds   ·   📖 SB p.36 · 1a, 1b · audio 4.1, 4.2</a:t>
            </a:r>
            <a:endParaRPr lang="en-US" sz="800" dirty="0"/>
          </a:p>
        </p:txBody>
      </p:sp>
      <p:sp>
        <p:nvSpPr>
          <p:cNvPr id="12" name="ap_164"/>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  ·  pause after each sound</a:t>
            </a:r>
            <a:endParaRPr lang="en-US" sz="1100" dirty="0"/>
          </a:p>
        </p:txBody>
      </p:sp>
      <p:sp>
        <p:nvSpPr>
          <p:cNvPr id="13" name="ah_165"/>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166"/>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pf_167"/>
          <p:cNvSpPr/>
          <p:nvPr/>
        </p:nvSpPr>
        <p:spPr>
          <a:xfrm rot="-90000">
            <a:off x="755256" y="2057400"/>
            <a:ext cx="2009928"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168" descr="/home/claude/lls-course/v2/cache/4a1_on_hold_jpg_462x407_31.png">    </p:cNvPr>
          <p:cNvPicPr>
            <a:picLocks noChangeAspect="1"/>
          </p:cNvPicPr>
          <p:nvPr/>
        </p:nvPicPr>
        <p:blipFill>
          <a:blip r:embed="rId11"/>
          <a:stretch>
            <a:fillRect/>
          </a:stretch>
        </p:blipFill>
        <p:spPr>
          <a:xfrm rot="-90000">
            <a:off x="800976" y="2103120"/>
            <a:ext cx="1918488" cy="1691640"/>
          </a:xfrm>
          <a:prstGeom prst="rect">
            <a:avLst/>
          </a:prstGeom>
        </p:spPr>
      </p:pic>
      <p:sp>
        <p:nvSpPr>
          <p:cNvPr id="19" name="cd_169"/>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0" name="ii_170"/>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1" name="ih_171"/>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2" name="gq_172"/>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He's just h___ u_.</a:t>
            </a:r>
            <a:endParaRPr lang="en-US" sz="1200" dirty="0"/>
          </a:p>
        </p:txBody>
      </p:sp>
      <p:sp>
        <p:nvSpPr>
          <p:cNvPr id="23" name="R1_chip173"/>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hung up</a:t>
            </a:r>
            <a:endParaRPr lang="en-US" sz="1200" dirty="0"/>
          </a:p>
        </p:txBody>
      </p:sp>
      <p:sp>
        <p:nvSpPr>
          <p:cNvPr id="24" name="gq_174"/>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His phone w___ o__ in a meeting.</a:t>
            </a:r>
            <a:endParaRPr lang="en-US" sz="1200" dirty="0"/>
          </a:p>
        </p:txBody>
      </p:sp>
      <p:sp>
        <p:nvSpPr>
          <p:cNvPr id="25" name="R2_chip175"/>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went off</a:t>
            </a:r>
            <a:endParaRPr lang="en-US" sz="1200" dirty="0"/>
          </a:p>
        </p:txBody>
      </p:sp>
      <p:sp>
        <p:nvSpPr>
          <p:cNvPr id="26" name="gq_176"/>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The line's e_______ (busy).</a:t>
            </a:r>
            <a:endParaRPr lang="en-US" sz="1200" dirty="0"/>
          </a:p>
        </p:txBody>
      </p:sp>
      <p:sp>
        <p:nvSpPr>
          <p:cNvPr id="27" name="R3_chip177"/>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engaged</a:t>
            </a:r>
            <a:endParaRPr lang="en-US" sz="1200" dirty="0"/>
          </a:p>
        </p:txBody>
      </p:sp>
      <p:sp>
        <p:nvSpPr>
          <p:cNvPr id="28" name="gq_178"/>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 helpline put her o_ h___.</a:t>
            </a:r>
            <a:endParaRPr lang="en-US" sz="1200" dirty="0"/>
          </a:p>
        </p:txBody>
      </p:sp>
      <p:sp>
        <p:nvSpPr>
          <p:cNvPr id="29" name="R4_chip179"/>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on hold</a:t>
            </a:r>
            <a:endParaRPr lang="en-US" sz="1200" dirty="0"/>
          </a:p>
        </p:txBody>
      </p:sp>
      <p:sp>
        <p:nvSpPr>
          <p:cNvPr id="30" name="gq_180"/>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She's left a message on his v________.</a:t>
            </a:r>
            <a:endParaRPr lang="en-US" sz="1200" dirty="0"/>
          </a:p>
        </p:txBody>
      </p:sp>
      <p:sp>
        <p:nvSpPr>
          <p:cNvPr id="31" name="R5_chip181"/>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voicemail</a:t>
            </a:r>
            <a:endParaRPr lang="en-US" sz="1200" dirty="0"/>
          </a:p>
        </p:txBody>
      </p:sp>
      <p:sp>
        <p:nvSpPr>
          <p:cNvPr id="32" name="gq_182"/>
          <p:cNvSpPr/>
          <p:nvPr/>
        </p:nvSpPr>
        <p:spPr>
          <a:xfrm>
            <a:off x="3383280" y="4023360"/>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She's choosing a new r_______.</a:t>
            </a:r>
            <a:endParaRPr lang="en-US" sz="1200" dirty="0"/>
          </a:p>
        </p:txBody>
      </p:sp>
      <p:sp>
        <p:nvSpPr>
          <p:cNvPr id="33" name="R6_chip183"/>
          <p:cNvSpPr/>
          <p:nvPr/>
        </p:nvSpPr>
        <p:spPr>
          <a:xfrm>
            <a:off x="6812280" y="402336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ringtone</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3"/>
                                        </p:tgtEl>
                                        <p:attrNameLst>
                                          <p:attrName>style.visibility</p:attrName>
                                        </p:attrNameLst>
                                      </p:cBhvr>
                                      <p:to>
                                        <p:strVal val="visible"/>
                                      </p:to>
                                    </p:set>
                                    <p:animEffect transition="in" filter="fade">
                                      <p:cBhvr>
                                        <p:cTn id="7" dur="400"/>
                                        <p:tgtEl>
                                          <p:spTgt spid="23"/>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3"/>
                                        </p:tgtEl>
                                        <p:attrNameLst>
                                          <p:attrName>style.visibility</p:attrName>
                                        </p:attrNameLst>
                                      </p:cBhvr>
                                      <p:to>
                                        <p:strVal val="visible"/>
                                      </p:to>
                                    </p:set>
                                    <p:animEffect transition="in" filter="fade">
                                      <p:cBhvr>
                                        <p:cTn id="32"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33" restart="whenNotActive" fill="hold" evtFilter="cancelBubble" nodeType="interactiveSeq">
                <p:stCondLst>
                  <p:cond evt="onClick" delay="0">
                    <p:tgtEl>
                      <p:spTgt spid="14"/>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4"/>
                                        </p:tgtEl>
                                      </p:cBhvr>
                                    </p:cmd>
                                  </p:childTnLst>
                                </p:cTn>
                              </p:par>
                            </p:childTnLst>
                          </p:cTn>
                        </p:par>
                      </p:childTnLst>
                    </p:cTn>
                  </p:par>
                </p:childTnLst>
              </p:cTn>
              <p:nextCondLst>
                <p:cond evt="onClick" delay="0">
                  <p:tgtEl>
                    <p:spTgt spid="14"/>
                  </p:tgtEl>
                </p:cond>
              </p:nextCondLst>
            </p:seq>
            <p:seq concurrent="1" nextAc="seek">
              <p:cTn id="38" restart="whenNotActive" fill="hold" evtFilter="cancelBubble" nodeType="interactiveSeq">
                <p:stCondLst>
                  <p:cond evt="onClick" delay="0">
                    <p:tgtEl>
                      <p:spTgt spid="16"/>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6"/>
                                        </p:tgtEl>
                                      </p:cBhvr>
                                    </p:cmd>
                                  </p:childTnLst>
                                </p:cTn>
                              </p:par>
                            </p:childTnLst>
                          </p:cTn>
                        </p:par>
                      </p:childTnLst>
                    </p:cTn>
                  </p:par>
                </p:childTnLst>
              </p:cTn>
              <p:nextCondLst>
                <p:cond evt="onClick" delay="0">
                  <p:tgtEl>
                    <p:spTgt spid="16"/>
                  </p:tgtEl>
                </p:cond>
              </p:nextCondLst>
            </p:seq>
            <p:audio>
              <p:cMediaNode vol="80000">
                <p:cTn id="43" fill="hold" display="0">
                  <p:stCondLst>
                    <p:cond delay="indefinite"/>
                  </p:stCondLst>
                  <p:endCondLst>
                    <p:cond evt="onStopAudio" delay="0">
                      <p:tgtEl>
                        <p:sldTgt/>
                      </p:tgtEl>
                    </p:cond>
                  </p:endCondLst>
                </p:cTn>
                <p:tgtEl>
                  <p:spTgt spid="14"/>
                </p:tgtEl>
              </p:cMediaNode>
            </p:audio>
            <p:audio>
              <p:cMediaNode vol="80000">
                <p:cTn id="44" fill="hold" display="0">
                  <p:stCondLst>
                    <p:cond delay="indefinite"/>
                  </p:stCondLst>
                  <p:endCondLst>
                    <p:cond evt="onStopAudio" delay="0">
                      <p:tgtEl>
                        <p:sldTgt/>
                      </p:tgtEl>
                    </p:cond>
                  </p:endCondLst>
                </p:cTn>
                <p:tgtEl>
                  <p:spTgt spid="16"/>
                </p:tgtEl>
              </p:cMediaNode>
            </p:audio>
          </p:childTnLst>
        </p:cTn>
      </p:par>
    </p:tnLst>
  </p:timing>
</p:sld>
</file>

<file path=ppt/slides/slide7.xml><?xml version="1.0" encoding="utf-8"?>
<p:sld xmlns:a="http://schemas.openxmlformats.org/drawingml/2006/main" xmlns:r="http://schemas.openxmlformats.org/officeDocument/2006/relationships" xmlns:p="http://schemas.openxmlformats.org/presentationml/2006/main">
  <p:cSld name="Slide 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184"/>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7</a:t>
            </a:r>
            <a:endParaRPr lang="en-US" sz="2800" dirty="0"/>
          </a:p>
        </p:txBody>
      </p:sp>
      <p:pic>
        <p:nvPicPr>
          <p:cNvPr id="4" name="brY_185"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186"/>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What can you hear? 2/2</a:t>
            </a:r>
            <a:endParaRPr lang="en-US" sz="2500" dirty="0"/>
          </a:p>
        </p:txBody>
      </p:sp>
      <p:pic>
        <p:nvPicPr>
          <p:cNvPr id="6" name="brP_187" descr="/home/claude/lls-course/v2/assets/brush-pink.png">    </p:cNvPr>
          <p:cNvPicPr>
            <a:picLocks noChangeAspect="1"/>
          </p:cNvPicPr>
          <p:nvPr/>
        </p:nvPicPr>
        <p:blipFill>
          <a:blip r:embed="rId3"/>
          <a:stretch>
            <a:fillRect/>
          </a:stretch>
        </p:blipFill>
        <p:spPr>
          <a:xfrm>
            <a:off x="1207008" y="731520"/>
            <a:ext cx="3511296" cy="402336"/>
          </a:xfrm>
          <a:prstGeom prst="rect">
            <a:avLst/>
          </a:prstGeom>
        </p:spPr>
      </p:pic>
      <p:sp>
        <p:nvSpPr>
          <p:cNvPr id="7" name="ins_188"/>
          <p:cNvSpPr/>
          <p:nvPr/>
        </p:nvSpPr>
        <p:spPr>
          <a:xfrm>
            <a:off x="1353312" y="731520"/>
            <a:ext cx="325526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sounds 7–11. Complete!</a:t>
            </a:r>
            <a:endParaRPr lang="en-US" sz="1250" dirty="0"/>
          </a:p>
        </p:txBody>
      </p:sp>
      <p:sp>
        <p:nvSpPr>
          <p:cNvPr id="8" name="insIT_18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i suoni 7–11. Completa!</a:t>
            </a:r>
            <a:endParaRPr lang="en-US" sz="950" dirty="0"/>
          </a:p>
        </p:txBody>
      </p:sp>
      <p:sp>
        <p:nvSpPr>
          <p:cNvPr id="9" name="note_19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FILL THE GAPS</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Listening · for detail</a:t>
            </a:r>
            <a:endParaRPr lang="en-US" sz="1150" dirty="0"/>
          </a:p>
        </p:txBody>
      </p:sp>
      <p:pic>
        <p:nvPicPr>
          <p:cNvPr id="10" name="logo_19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19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Listening · phone sounds   ·   📖 SB p.36 · 1a, 1b · audio 4.1, 4.2</a:t>
            </a:r>
            <a:endParaRPr lang="en-US" sz="800" dirty="0"/>
          </a:p>
        </p:txBody>
      </p:sp>
      <p:sp>
        <p:nvSpPr>
          <p:cNvPr id="12" name="ap_193"/>
          <p:cNvSpPr/>
          <p:nvPr/>
        </p:nvSpPr>
        <p:spPr>
          <a:xfrm>
            <a:off x="365760" y="1417320"/>
            <a:ext cx="219456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4.1 + 4.2  ·  4.2 = repeat</a:t>
            </a:r>
            <a:endParaRPr lang="en-US" sz="1100" dirty="0"/>
          </a:p>
        </p:txBody>
      </p:sp>
      <p:sp>
        <p:nvSpPr>
          <p:cNvPr id="13" name="ah_194"/>
          <p:cNvSpPr/>
          <p:nvPr/>
        </p:nvSpPr>
        <p:spPr>
          <a:xfrm>
            <a:off x="363016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4681728" y="4553712"/>
            <a:ext cx="411480" cy="411480"/>
          </a:xfrm>
          <a:prstGeom prst="rect">
            <a:avLst/>
          </a:prstGeom>
        </p:spPr>
      </p:pic>
      <p:pic>
        <p:nvPicPr>
          <p:cNvPr id="15"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5184648" y="4553712"/>
            <a:ext cx="411480" cy="411480"/>
          </a:xfrm>
          <a:prstGeom prst="rect">
            <a:avLst/>
          </a:prstGeom>
        </p:spPr>
      </p:pic>
      <p:sp>
        <p:nvSpPr>
          <p:cNvPr id="16" name="ah_195"/>
          <p:cNvSpPr/>
          <p:nvPr/>
        </p:nvSpPr>
        <p:spPr>
          <a:xfrm>
            <a:off x="696772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7"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7973568" y="4553712"/>
            <a:ext cx="411480" cy="411480"/>
          </a:xfrm>
          <a:prstGeom prst="rect">
            <a:avLst/>
          </a:prstGeom>
        </p:spPr>
      </p:pic>
      <p:pic>
        <p:nvPicPr>
          <p:cNvPr id="18"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8476488" y="4553712"/>
            <a:ext cx="411480" cy="411480"/>
          </a:xfrm>
          <a:prstGeom prst="rect">
            <a:avLst/>
          </a:prstGeom>
        </p:spPr>
      </p:pic>
      <p:sp>
        <p:nvSpPr>
          <p:cNvPr id="19" name="pf_196"/>
          <p:cNvSpPr/>
          <p:nvPr/>
        </p:nvSpPr>
        <p:spPr>
          <a:xfrm rot="-90000">
            <a:off x="411480" y="2057400"/>
            <a:ext cx="2697480" cy="1783080"/>
          </a:xfrm>
          <a:prstGeom prst="roundRect">
            <a:avLst>
              <a:gd name="adj" fmla="val 8718"/>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0" name="ph_197" descr="/home/claude/lls-course/v2/cache/4a1_cut_off_jpg_627x407_31.png">    </p:cNvPr>
          <p:cNvPicPr>
            <a:picLocks noChangeAspect="1"/>
          </p:cNvPicPr>
          <p:nvPr/>
        </p:nvPicPr>
        <p:blipFill>
          <a:blip r:embed="rId17"/>
          <a:stretch>
            <a:fillRect/>
          </a:stretch>
        </p:blipFill>
        <p:spPr>
          <a:xfrm rot="-90000">
            <a:off x="457200" y="2103120"/>
            <a:ext cx="2606040" cy="1691640"/>
          </a:xfrm>
          <a:prstGeom prst="rect">
            <a:avLst/>
          </a:prstGeom>
        </p:spPr>
      </p:pic>
      <p:sp>
        <p:nvSpPr>
          <p:cNvPr id="21" name="cd_198"/>
          <p:cNvSpPr/>
          <p:nvPr/>
        </p:nvSpPr>
        <p:spPr>
          <a:xfrm>
            <a:off x="320040" y="4023360"/>
            <a:ext cx="2788920" cy="731520"/>
          </a:xfrm>
          <a:prstGeom prst="roundRect">
            <a:avLst>
              <a:gd name="adj" fmla="val 1750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2" name="ii_199"/>
          <p:cNvSpPr/>
          <p:nvPr/>
        </p:nvSpPr>
        <p:spPr>
          <a:xfrm>
            <a:off x="411480" y="4096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3" name="ih_200"/>
          <p:cNvSpPr/>
          <p:nvPr/>
        </p:nvSpPr>
        <p:spPr>
          <a:xfrm>
            <a:off x="886968" y="4114800"/>
            <a:ext cx="214884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Guess first, then listen!</a:t>
            </a:r>
            <a:endParaRPr lang="en-US" sz="1200" dirty="0"/>
          </a:p>
        </p:txBody>
      </p:sp>
      <p:sp>
        <p:nvSpPr>
          <p:cNvPr id="24" name="gq_201"/>
          <p:cNvSpPr/>
          <p:nvPr/>
        </p:nvSpPr>
        <p:spPr>
          <a:xfrm>
            <a:off x="3383280" y="1417320"/>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7  He's d________ a number.</a:t>
            </a:r>
            <a:endParaRPr lang="en-US" sz="1200" dirty="0"/>
          </a:p>
        </p:txBody>
      </p:sp>
      <p:sp>
        <p:nvSpPr>
          <p:cNvPr id="25" name="R1_chip202"/>
          <p:cNvSpPr/>
          <p:nvPr/>
        </p:nvSpPr>
        <p:spPr>
          <a:xfrm>
            <a:off x="6812280" y="1417320"/>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dialling</a:t>
            </a:r>
            <a:endParaRPr lang="en-US" sz="1200" dirty="0"/>
          </a:p>
        </p:txBody>
      </p:sp>
      <p:sp>
        <p:nvSpPr>
          <p:cNvPr id="26" name="gq_203"/>
          <p:cNvSpPr/>
          <p:nvPr/>
        </p:nvSpPr>
        <p:spPr>
          <a:xfrm>
            <a:off x="3383280" y="1938528"/>
            <a:ext cx="333756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8  He was c__ o___ during the call.</a:t>
            </a:r>
            <a:endParaRPr lang="en-US" sz="1200" dirty="0"/>
          </a:p>
        </p:txBody>
      </p:sp>
      <p:sp>
        <p:nvSpPr>
          <p:cNvPr id="27" name="R2_chip204"/>
          <p:cNvSpPr/>
          <p:nvPr/>
        </p:nvSpPr>
        <p:spPr>
          <a:xfrm>
            <a:off x="6812280" y="1938528"/>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cut off</a:t>
            </a:r>
            <a:endParaRPr lang="en-US" sz="1200" dirty="0"/>
          </a:p>
        </p:txBody>
      </p:sp>
      <p:sp>
        <p:nvSpPr>
          <p:cNvPr id="28" name="gq_205"/>
          <p:cNvSpPr/>
          <p:nvPr/>
        </p:nvSpPr>
        <p:spPr>
          <a:xfrm>
            <a:off x="3383280" y="2459736"/>
            <a:ext cx="333756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9  He's c______ b___ (again).</a:t>
            </a:r>
            <a:endParaRPr lang="en-US" sz="1200" dirty="0"/>
          </a:p>
        </p:txBody>
      </p:sp>
      <p:sp>
        <p:nvSpPr>
          <p:cNvPr id="29" name="R3_chip206"/>
          <p:cNvSpPr/>
          <p:nvPr/>
        </p:nvSpPr>
        <p:spPr>
          <a:xfrm>
            <a:off x="6812280" y="2459736"/>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calling back</a:t>
            </a:r>
            <a:endParaRPr lang="en-US" sz="1200" dirty="0"/>
          </a:p>
        </p:txBody>
      </p:sp>
      <p:sp>
        <p:nvSpPr>
          <p:cNvPr id="30" name="gq_207"/>
          <p:cNvSpPr/>
          <p:nvPr/>
        </p:nvSpPr>
        <p:spPr>
          <a:xfrm>
            <a:off x="3383280" y="2980944"/>
            <a:ext cx="333756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10  She's t______ a friend.</a:t>
            </a:r>
            <a:endParaRPr lang="en-US" sz="1200" dirty="0"/>
          </a:p>
        </p:txBody>
      </p:sp>
      <p:sp>
        <p:nvSpPr>
          <p:cNvPr id="31" name="R4_chip208"/>
          <p:cNvSpPr/>
          <p:nvPr/>
        </p:nvSpPr>
        <p:spPr>
          <a:xfrm>
            <a:off x="6812280" y="2980944"/>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texting (messaging)</a:t>
            </a:r>
            <a:endParaRPr lang="en-US" sz="1200" dirty="0"/>
          </a:p>
        </p:txBody>
      </p:sp>
      <p:sp>
        <p:nvSpPr>
          <p:cNvPr id="32" name="gq_209"/>
          <p:cNvSpPr/>
          <p:nvPr/>
        </p:nvSpPr>
        <p:spPr>
          <a:xfrm>
            <a:off x="3383280" y="3502152"/>
            <a:ext cx="333756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11  She's s_______ through photos.</a:t>
            </a:r>
            <a:endParaRPr lang="en-US" sz="1200" dirty="0"/>
          </a:p>
        </p:txBody>
      </p:sp>
      <p:sp>
        <p:nvSpPr>
          <p:cNvPr id="33" name="R5_chip210"/>
          <p:cNvSpPr/>
          <p:nvPr/>
        </p:nvSpPr>
        <p:spPr>
          <a:xfrm>
            <a:off x="6812280" y="3502152"/>
            <a:ext cx="2057400" cy="457200"/>
          </a:xfrm>
          <a:prstGeom prst="roundRect">
            <a:avLst>
              <a:gd name="adj" fmla="val 20000"/>
            </a:avLst>
          </a:prstGeom>
          <a:solidFill>
            <a:srgbClr val="FFF6CC"/>
          </a:solidFill>
          <a:ln w="28575">
            <a:solidFill>
              <a:srgbClr val="FFE07A"/>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swiping</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5"/>
                                        </p:tgtEl>
                                        <p:attrNameLst>
                                          <p:attrName>style.visibility</p:attrName>
                                        </p:attrNameLst>
                                      </p:cBhvr>
                                      <p:to>
                                        <p:strVal val="visible"/>
                                      </p:to>
                                    </p:set>
                                    <p:animEffect transition="in" filter="fade">
                                      <p:cBhvr>
                                        <p:cTn id="7" dur="400"/>
                                        <p:tgtEl>
                                          <p:spTgt spid="2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7"/>
                                        </p:tgtEl>
                                        <p:attrNameLst>
                                          <p:attrName>style.visibility</p:attrName>
                                        </p:attrNameLst>
                                      </p:cBhvr>
                                      <p:to>
                                        <p:strVal val="visible"/>
                                      </p:to>
                                    </p:set>
                                    <p:animEffect transition="in" filter="fade">
                                      <p:cBhvr>
                                        <p:cTn id="12" dur="400"/>
                                        <p:tgtEl>
                                          <p:spTgt spid="27"/>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9"/>
                                        </p:tgtEl>
                                        <p:attrNameLst>
                                          <p:attrName>style.visibility</p:attrName>
                                        </p:attrNameLst>
                                      </p:cBhvr>
                                      <p:to>
                                        <p:strVal val="visible"/>
                                      </p:to>
                                    </p:set>
                                    <p:animEffect transition="in" filter="fade">
                                      <p:cBhvr>
                                        <p:cTn id="17" dur="400"/>
                                        <p:tgtEl>
                                          <p:spTgt spid="29"/>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28" restart="whenNotActive" fill="hold" evtFilter="cancelBubble" nodeType="interactiveSeq">
                <p:stCondLst>
                  <p:cond evt="onClick" delay="0">
                    <p:tgtEl>
                      <p:spTgt spid="14"/>
                    </p:tgtEl>
                  </p:cond>
                </p:stCondLst>
                <p:endSync evt="end" delay="0">
                  <p:rtn val="all"/>
                </p:endSync>
                <p:childTnLst>
                  <p:par>
                    <p:cTn id="29" fill="hold">
                      <p:stCondLst>
                        <p:cond delay="0"/>
                      </p:stCondLst>
                      <p:childTnLst>
                        <p:par>
                          <p:cTn id="30" fill="hold">
                            <p:stCondLst>
                              <p:cond delay="0"/>
                            </p:stCondLst>
                            <p:childTnLst>
                              <p:par>
                                <p:cTn id="31" presetID="2" presetClass="mediacall" presetSubtype="0" fill="hold" nodeType="clickEffect">
                                  <p:stCondLst>
                                    <p:cond delay="0"/>
                                  </p:stCondLst>
                                  <p:childTnLst>
                                    <p:cmd type="call" cmd="togglePause">
                                      <p:cBhvr>
                                        <p:cTn id="32" dur="1" fill="hold"/>
                                        <p:tgtEl>
                                          <p:spTgt spid="14"/>
                                        </p:tgtEl>
                                      </p:cBhvr>
                                    </p:cmd>
                                  </p:childTnLst>
                                </p:cTn>
                              </p:par>
                            </p:childTnLst>
                          </p:cTn>
                        </p:par>
                      </p:childTnLst>
                    </p:cTn>
                  </p:par>
                </p:childTnLst>
              </p:cTn>
              <p:nextCondLst>
                <p:cond evt="onClick" delay="0">
                  <p:tgtEl>
                    <p:spTgt spid="14"/>
                  </p:tgtEl>
                </p:cond>
              </p:nextCondLst>
            </p:seq>
            <p:seq concurrent="1" nextAc="seek">
              <p:cTn id="33" restart="whenNotActive" fill="hold" evtFilter="cancelBubble" nodeType="interactiveSeq">
                <p:stCondLst>
                  <p:cond evt="onClick" delay="0">
                    <p:tgtEl>
                      <p:spTgt spid="15"/>
                    </p:tgtEl>
                  </p:cond>
                </p:stCondLst>
                <p:endSync evt="end" delay="0">
                  <p:rtn val="all"/>
                </p:endSync>
                <p:childTnLst>
                  <p:par>
                    <p:cTn id="34" fill="hold">
                      <p:stCondLst>
                        <p:cond delay="0"/>
                      </p:stCondLst>
                      <p:childTnLst>
                        <p:par>
                          <p:cTn id="35" fill="hold">
                            <p:stCondLst>
                              <p:cond delay="0"/>
                            </p:stCondLst>
                            <p:childTnLst>
                              <p:par>
                                <p:cTn id="36" presetID="2" presetClass="mediacall" presetSubtype="0" fill="hold" nodeType="clickEffect">
                                  <p:stCondLst>
                                    <p:cond delay="0"/>
                                  </p:stCondLst>
                                  <p:childTnLst>
                                    <p:cmd type="call" cmd="togglePause">
                                      <p:cBhvr>
                                        <p:cTn id="37" dur="1" fill="hold"/>
                                        <p:tgtEl>
                                          <p:spTgt spid="15"/>
                                        </p:tgtEl>
                                      </p:cBhvr>
                                    </p:cmd>
                                  </p:childTnLst>
                                </p:cTn>
                              </p:par>
                            </p:childTnLst>
                          </p:cTn>
                        </p:par>
                      </p:childTnLst>
                    </p:cTn>
                  </p:par>
                </p:childTnLst>
              </p:cTn>
              <p:nextCondLst>
                <p:cond evt="onClick" delay="0">
                  <p:tgtEl>
                    <p:spTgt spid="15"/>
                  </p:tgtEl>
                </p:cond>
              </p:nextCondLst>
            </p:seq>
            <p:seq concurrent="1" nextAc="seek">
              <p:cTn id="38" restart="whenNotActive" fill="hold" evtFilter="cancelBubble" nodeType="interactiveSeq">
                <p:stCondLst>
                  <p:cond evt="onClick" delay="0">
                    <p:tgtEl>
                      <p:spTgt spid="17"/>
                    </p:tgtEl>
                  </p:cond>
                </p:stCondLst>
                <p:endSync evt="end" delay="0">
                  <p:rtn val="all"/>
                </p:endSync>
                <p:childTnLst>
                  <p:par>
                    <p:cTn id="39" fill="hold">
                      <p:stCondLst>
                        <p:cond delay="0"/>
                      </p:stCondLst>
                      <p:childTnLst>
                        <p:par>
                          <p:cTn id="40" fill="hold">
                            <p:stCondLst>
                              <p:cond delay="0"/>
                            </p:stCondLst>
                            <p:childTnLst>
                              <p:par>
                                <p:cTn id="41" presetID="2" presetClass="mediacall" presetSubtype="0" fill="hold" nodeType="clickEffect">
                                  <p:stCondLst>
                                    <p:cond delay="0"/>
                                  </p:stCondLst>
                                  <p:childTnLst>
                                    <p:cmd type="call" cmd="togglePause">
                                      <p:cBhvr>
                                        <p:cTn id="42" dur="1" fill="hold"/>
                                        <p:tgtEl>
                                          <p:spTgt spid="17"/>
                                        </p:tgtEl>
                                      </p:cBhvr>
                                    </p:cmd>
                                  </p:childTnLst>
                                </p:cTn>
                              </p:par>
                            </p:childTnLst>
                          </p:cTn>
                        </p:par>
                      </p:childTnLst>
                    </p:cTn>
                  </p:par>
                </p:childTnLst>
              </p:cTn>
              <p:nextCondLst>
                <p:cond evt="onClick" delay="0">
                  <p:tgtEl>
                    <p:spTgt spid="17"/>
                  </p:tgtEl>
                </p:cond>
              </p:nextCondLst>
            </p:seq>
            <p:seq concurrent="1" nextAc="seek">
              <p:cTn id="43" restart="whenNotActive" fill="hold" evtFilter="cancelBubble" nodeType="interactiveSeq">
                <p:stCondLst>
                  <p:cond evt="onClick" delay="0">
                    <p:tgtEl>
                      <p:spTgt spid="18"/>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8"/>
                                        </p:tgtEl>
                                      </p:cBhvr>
                                    </p:cmd>
                                  </p:childTnLst>
                                </p:cTn>
                              </p:par>
                            </p:childTnLst>
                          </p:cTn>
                        </p:par>
                      </p:childTnLst>
                    </p:cTn>
                  </p:par>
                </p:childTnLst>
              </p:cTn>
              <p:nextCondLst>
                <p:cond evt="onClick" delay="0">
                  <p:tgtEl>
                    <p:spTgt spid="18"/>
                  </p:tgtEl>
                </p:cond>
              </p:nextCondLst>
            </p:seq>
            <p:audio>
              <p:cMediaNode vol="80000">
                <p:cTn id="48" fill="hold" display="0">
                  <p:stCondLst>
                    <p:cond delay="indefinite"/>
                  </p:stCondLst>
                  <p:endCondLst>
                    <p:cond evt="onStopAudio" delay="0">
                      <p:tgtEl>
                        <p:sldTgt/>
                      </p:tgtEl>
                    </p:cond>
                  </p:endCondLst>
                </p:cTn>
                <p:tgtEl>
                  <p:spTgt spid="14"/>
                </p:tgtEl>
              </p:cMediaNode>
            </p:audio>
            <p:audio>
              <p:cMediaNode vol="80000">
                <p:cTn id="49" fill="hold" display="0">
                  <p:stCondLst>
                    <p:cond delay="indefinite"/>
                  </p:stCondLst>
                  <p:endCondLst>
                    <p:cond evt="onStopAudio" delay="0">
                      <p:tgtEl>
                        <p:sldTgt/>
                      </p:tgtEl>
                    </p:cond>
                  </p:endCondLst>
                </p:cTn>
                <p:tgtEl>
                  <p:spTgt spid="15"/>
                </p:tgtEl>
              </p:cMediaNode>
            </p:audio>
            <p:audio>
              <p:cMediaNode vol="80000">
                <p:cTn id="50" fill="hold" display="0">
                  <p:stCondLst>
                    <p:cond delay="indefinite"/>
                  </p:stCondLst>
                  <p:endCondLst>
                    <p:cond evt="onStopAudio" delay="0">
                      <p:tgtEl>
                        <p:sldTgt/>
                      </p:tgtEl>
                    </p:cond>
                  </p:endCondLst>
                </p:cTn>
                <p:tgtEl>
                  <p:spTgt spid="17"/>
                </p:tgtEl>
              </p:cMediaNode>
            </p:audio>
            <p:audio>
              <p:cMediaNode vol="80000">
                <p:cTn id="51" fill="hold" display="0">
                  <p:stCondLst>
                    <p:cond delay="indefinite"/>
                  </p:stCondLst>
                  <p:endCondLst>
                    <p:cond evt="onStopAudio" delay="0">
                      <p:tgtEl>
                        <p:sldTgt/>
                      </p:tgtEl>
                    </p:cond>
                  </p:endCondLst>
                </p:cTn>
                <p:tgtEl>
                  <p:spTgt spid="18"/>
                </p:tgtEl>
              </p:cMediaNode>
            </p:audio>
          </p:childTnLst>
        </p:cTn>
      </p:par>
    </p:tnLst>
  </p:timing>
</p:sld>
</file>

<file path=ppt/slides/slide8.xml><?xml version="1.0" encoding="utf-8"?>
<p:sld xmlns:a="http://schemas.openxmlformats.org/drawingml/2006/main" xmlns:r="http://schemas.openxmlformats.org/officeDocument/2006/relationships" xmlns:p="http://schemas.openxmlformats.org/presentationml/2006/main">
  <p:cSld name="Slide 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11"/>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8</a:t>
            </a:r>
            <a:endParaRPr lang="en-US" sz="2800" dirty="0"/>
          </a:p>
        </p:txBody>
      </p:sp>
      <p:pic>
        <p:nvPicPr>
          <p:cNvPr id="4" name="brY_212" descr="/home/claude/lls-course/v2/assets/brush-yellow.png">    </p:cNvPr>
          <p:cNvPicPr>
            <a:picLocks noChangeAspect="1"/>
          </p:cNvPicPr>
          <p:nvPr/>
        </p:nvPicPr>
        <p:blipFill>
          <a:blip r:embed="rId2"/>
          <a:stretch>
            <a:fillRect/>
          </a:stretch>
        </p:blipFill>
        <p:spPr>
          <a:xfrm>
            <a:off x="1097280" y="146304"/>
            <a:ext cx="4191610" cy="621792"/>
          </a:xfrm>
          <a:prstGeom prst="rect">
            <a:avLst/>
          </a:prstGeom>
        </p:spPr>
      </p:pic>
      <p:sp>
        <p:nvSpPr>
          <p:cNvPr id="5" name="title_213"/>
          <p:cNvSpPr/>
          <p:nvPr/>
        </p:nvSpPr>
        <p:spPr>
          <a:xfrm>
            <a:off x="1261872" y="164592"/>
            <a:ext cx="3917290"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Phone words in Italian</a:t>
            </a:r>
            <a:endParaRPr lang="en-US" sz="2500" dirty="0"/>
          </a:p>
        </p:txBody>
      </p:sp>
      <p:pic>
        <p:nvPicPr>
          <p:cNvPr id="6" name="brP_214"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215"/>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Say it in Italian. Then click!</a:t>
            </a:r>
            <a:endParaRPr lang="en-US" sz="1250" dirty="0"/>
          </a:p>
        </p:txBody>
      </p:sp>
      <p:sp>
        <p:nvSpPr>
          <p:cNvPr id="8" name="insIT_21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Dillo in italiano. Poi clicca!</a:t>
            </a:r>
            <a:endParaRPr lang="en-US" sz="950" dirty="0"/>
          </a:p>
        </p:txBody>
      </p:sp>
      <p:sp>
        <p:nvSpPr>
          <p:cNvPr id="9" name="note_21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CHECK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CONTROLLA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TPRS · meaning</a:t>
            </a:r>
            <a:endParaRPr lang="en-US" sz="1250" dirty="0"/>
          </a:p>
        </p:txBody>
      </p:sp>
      <p:pic>
        <p:nvPicPr>
          <p:cNvPr id="10" name="logo_21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1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Vocabulary · in Italian</a:t>
            </a:r>
            <a:endParaRPr lang="en-US" sz="800" dirty="0"/>
          </a:p>
        </p:txBody>
      </p:sp>
      <p:sp>
        <p:nvSpPr>
          <p:cNvPr id="12" name="cd_220"/>
          <p:cNvSpPr/>
          <p:nvPr/>
        </p:nvSpPr>
        <p:spPr>
          <a:xfrm>
            <a:off x="320040" y="141732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e_221"/>
          <p:cNvSpPr/>
          <p:nvPr/>
        </p:nvSpPr>
        <p:spPr>
          <a:xfrm>
            <a:off x="393192" y="152704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4" name="en_222"/>
          <p:cNvSpPr/>
          <p:nvPr/>
        </p:nvSpPr>
        <p:spPr>
          <a:xfrm>
            <a:off x="978408"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dial a number</a:t>
            </a:r>
            <a:endParaRPr lang="en-US" sz="1200" dirty="0"/>
          </a:p>
        </p:txBody>
      </p:sp>
      <p:sp>
        <p:nvSpPr>
          <p:cNvPr id="15" name="R1_it223"/>
          <p:cNvSpPr/>
          <p:nvPr/>
        </p:nvSpPr>
        <p:spPr>
          <a:xfrm>
            <a:off x="978408"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comporre il numero</a:t>
            </a:r>
            <a:endParaRPr lang="en-US" sz="1000" dirty="0"/>
          </a:p>
        </p:txBody>
      </p:sp>
      <p:sp>
        <p:nvSpPr>
          <p:cNvPr id="16" name="cd_224"/>
          <p:cNvSpPr/>
          <p:nvPr/>
        </p:nvSpPr>
        <p:spPr>
          <a:xfrm>
            <a:off x="2487168" y="141732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e_225"/>
          <p:cNvSpPr/>
          <p:nvPr/>
        </p:nvSpPr>
        <p:spPr>
          <a:xfrm>
            <a:off x="2560320" y="152704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18" name="en_226"/>
          <p:cNvSpPr/>
          <p:nvPr/>
        </p:nvSpPr>
        <p:spPr>
          <a:xfrm>
            <a:off x="3145536"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text / message</a:t>
            </a:r>
            <a:endParaRPr lang="en-US" sz="1200" dirty="0"/>
          </a:p>
        </p:txBody>
      </p:sp>
      <p:sp>
        <p:nvSpPr>
          <p:cNvPr id="19" name="R2_it227"/>
          <p:cNvSpPr/>
          <p:nvPr/>
        </p:nvSpPr>
        <p:spPr>
          <a:xfrm>
            <a:off x="3145536" y="1801368"/>
            <a:ext cx="1362456" cy="292608"/>
          </a:xfrm>
          <a:prstGeom prst="rect">
            <a:avLst/>
          </a:prstGeom>
          <a:noFill/>
          <a:ln/>
        </p:spPr>
        <p:txBody>
          <a:bodyPr wrap="square" lIns="0" tIns="0" rIns="0" bIns="0" rtlCol="0" anchor="ctr">
            <a:normAutofit/>
          </a:bodyPr>
          <a:lstStyle/>
          <a:p>
            <a:pPr indent="0" marL="0">
              <a:buNone/>
            </a:pPr>
            <a:r>
              <a:rPr lang="en-US" sz="850" i="1" dirty="0">
                <a:solidFill>
                  <a:srgbClr val="2EB872"/>
                </a:solidFill>
                <a:latin typeface="Segoe UI Semibold" pitchFamily="34" charset="0"/>
                <a:ea typeface="Segoe UI Semibold" pitchFamily="34" charset="-122"/>
                <a:cs typeface="Segoe UI Semibold" pitchFamily="34" charset="-120"/>
              </a:rPr>
              <a:t>mandare un messaggio</a:t>
            </a:r>
            <a:endParaRPr lang="en-US" sz="850" dirty="0"/>
          </a:p>
        </p:txBody>
      </p:sp>
      <p:sp>
        <p:nvSpPr>
          <p:cNvPr id="20" name="cd_228"/>
          <p:cNvSpPr/>
          <p:nvPr/>
        </p:nvSpPr>
        <p:spPr>
          <a:xfrm>
            <a:off x="4654296" y="141732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e_229"/>
          <p:cNvSpPr/>
          <p:nvPr/>
        </p:nvSpPr>
        <p:spPr>
          <a:xfrm>
            <a:off x="4727448" y="152704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2" name="en_230"/>
          <p:cNvSpPr/>
          <p:nvPr/>
        </p:nvSpPr>
        <p:spPr>
          <a:xfrm>
            <a:off x="5312664"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hang up</a:t>
            </a:r>
            <a:endParaRPr lang="en-US" sz="1200" dirty="0"/>
          </a:p>
        </p:txBody>
      </p:sp>
      <p:sp>
        <p:nvSpPr>
          <p:cNvPr id="23" name="R3_it231"/>
          <p:cNvSpPr/>
          <p:nvPr/>
        </p:nvSpPr>
        <p:spPr>
          <a:xfrm>
            <a:off x="5312664"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riattaccare</a:t>
            </a:r>
            <a:endParaRPr lang="en-US" sz="1000" dirty="0"/>
          </a:p>
        </p:txBody>
      </p:sp>
      <p:sp>
        <p:nvSpPr>
          <p:cNvPr id="24" name="cd_232"/>
          <p:cNvSpPr/>
          <p:nvPr/>
        </p:nvSpPr>
        <p:spPr>
          <a:xfrm>
            <a:off x="6821424" y="141732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e_233"/>
          <p:cNvSpPr/>
          <p:nvPr/>
        </p:nvSpPr>
        <p:spPr>
          <a:xfrm>
            <a:off x="6894576" y="152704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26" name="en_234"/>
          <p:cNvSpPr/>
          <p:nvPr/>
        </p:nvSpPr>
        <p:spPr>
          <a:xfrm>
            <a:off x="7479792" y="147218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ringtone</a:t>
            </a:r>
            <a:endParaRPr lang="en-US" sz="1200" dirty="0"/>
          </a:p>
        </p:txBody>
      </p:sp>
      <p:sp>
        <p:nvSpPr>
          <p:cNvPr id="27" name="R4_it235"/>
          <p:cNvSpPr/>
          <p:nvPr/>
        </p:nvSpPr>
        <p:spPr>
          <a:xfrm>
            <a:off x="7479792" y="180136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suoneria</a:t>
            </a:r>
            <a:endParaRPr lang="en-US" sz="1000" dirty="0"/>
          </a:p>
        </p:txBody>
      </p:sp>
      <p:sp>
        <p:nvSpPr>
          <p:cNvPr id="28" name="cd_236"/>
          <p:cNvSpPr/>
          <p:nvPr/>
        </p:nvSpPr>
        <p:spPr>
          <a:xfrm>
            <a:off x="320040" y="224028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e_237"/>
          <p:cNvSpPr/>
          <p:nvPr/>
        </p:nvSpPr>
        <p:spPr>
          <a:xfrm>
            <a:off x="393192" y="235000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0" name="en_238"/>
          <p:cNvSpPr/>
          <p:nvPr/>
        </p:nvSpPr>
        <p:spPr>
          <a:xfrm>
            <a:off x="978408"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call back</a:t>
            </a:r>
            <a:endParaRPr lang="en-US" sz="1200" dirty="0"/>
          </a:p>
        </p:txBody>
      </p:sp>
      <p:sp>
        <p:nvSpPr>
          <p:cNvPr id="31" name="R5_it239"/>
          <p:cNvSpPr/>
          <p:nvPr/>
        </p:nvSpPr>
        <p:spPr>
          <a:xfrm>
            <a:off x="978408"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richiamare</a:t>
            </a:r>
            <a:endParaRPr lang="en-US" sz="1000" dirty="0"/>
          </a:p>
        </p:txBody>
      </p:sp>
      <p:sp>
        <p:nvSpPr>
          <p:cNvPr id="32" name="cd_240"/>
          <p:cNvSpPr/>
          <p:nvPr/>
        </p:nvSpPr>
        <p:spPr>
          <a:xfrm>
            <a:off x="2487168" y="224028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33" name="e_241"/>
          <p:cNvSpPr/>
          <p:nvPr/>
        </p:nvSpPr>
        <p:spPr>
          <a:xfrm>
            <a:off x="2560320" y="235000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4" name="en_242"/>
          <p:cNvSpPr/>
          <p:nvPr/>
        </p:nvSpPr>
        <p:spPr>
          <a:xfrm>
            <a:off x="3145536"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voicemail</a:t>
            </a:r>
            <a:endParaRPr lang="en-US" sz="1200" dirty="0"/>
          </a:p>
        </p:txBody>
      </p:sp>
      <p:sp>
        <p:nvSpPr>
          <p:cNvPr id="35" name="R6_it243"/>
          <p:cNvSpPr/>
          <p:nvPr/>
        </p:nvSpPr>
        <p:spPr>
          <a:xfrm>
            <a:off x="3145536" y="2624328"/>
            <a:ext cx="1362456" cy="292608"/>
          </a:xfrm>
          <a:prstGeom prst="rect">
            <a:avLst/>
          </a:prstGeom>
          <a:noFill/>
          <a:ln/>
        </p:spPr>
        <p:txBody>
          <a:bodyPr wrap="square" lIns="0" tIns="0" rIns="0" bIns="0" rtlCol="0" anchor="ctr">
            <a:normAutofit/>
          </a:bodyPr>
          <a:lstStyle/>
          <a:p>
            <a:pPr indent="0" marL="0">
              <a:buNone/>
            </a:pPr>
            <a:r>
              <a:rPr lang="en-US" sz="950" i="1" dirty="0">
                <a:solidFill>
                  <a:srgbClr val="2EB872"/>
                </a:solidFill>
                <a:latin typeface="Segoe UI Semibold" pitchFamily="34" charset="0"/>
                <a:ea typeface="Segoe UI Semibold" pitchFamily="34" charset="-122"/>
                <a:cs typeface="Segoe UI Semibold" pitchFamily="34" charset="-120"/>
              </a:rPr>
              <a:t>segreteria telefonica</a:t>
            </a:r>
            <a:endParaRPr lang="en-US" sz="950" dirty="0"/>
          </a:p>
        </p:txBody>
      </p:sp>
      <p:sp>
        <p:nvSpPr>
          <p:cNvPr id="36" name="cd_244"/>
          <p:cNvSpPr/>
          <p:nvPr/>
        </p:nvSpPr>
        <p:spPr>
          <a:xfrm>
            <a:off x="4654296" y="224028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e_245"/>
          <p:cNvSpPr/>
          <p:nvPr/>
        </p:nvSpPr>
        <p:spPr>
          <a:xfrm>
            <a:off x="4727448" y="235000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38" name="en_246"/>
          <p:cNvSpPr/>
          <p:nvPr/>
        </p:nvSpPr>
        <p:spPr>
          <a:xfrm>
            <a:off x="5312664"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engaged / busy</a:t>
            </a:r>
            <a:endParaRPr lang="en-US" sz="1200" dirty="0"/>
          </a:p>
        </p:txBody>
      </p:sp>
      <p:sp>
        <p:nvSpPr>
          <p:cNvPr id="39" name="R7_it247"/>
          <p:cNvSpPr/>
          <p:nvPr/>
        </p:nvSpPr>
        <p:spPr>
          <a:xfrm>
            <a:off x="5312664"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occupato</a:t>
            </a:r>
            <a:endParaRPr lang="en-US" sz="1000" dirty="0"/>
          </a:p>
        </p:txBody>
      </p:sp>
      <p:sp>
        <p:nvSpPr>
          <p:cNvPr id="40" name="cd_248"/>
          <p:cNvSpPr/>
          <p:nvPr/>
        </p:nvSpPr>
        <p:spPr>
          <a:xfrm>
            <a:off x="6821424" y="224028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1" name="e_249"/>
          <p:cNvSpPr/>
          <p:nvPr/>
        </p:nvSpPr>
        <p:spPr>
          <a:xfrm>
            <a:off x="6894576" y="235000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2" name="en_250"/>
          <p:cNvSpPr/>
          <p:nvPr/>
        </p:nvSpPr>
        <p:spPr>
          <a:xfrm>
            <a:off x="7479792" y="229514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swipe</a:t>
            </a:r>
            <a:endParaRPr lang="en-US" sz="1200" dirty="0"/>
          </a:p>
        </p:txBody>
      </p:sp>
      <p:sp>
        <p:nvSpPr>
          <p:cNvPr id="43" name="R8_it251"/>
          <p:cNvSpPr/>
          <p:nvPr/>
        </p:nvSpPr>
        <p:spPr>
          <a:xfrm>
            <a:off x="7479792" y="262432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scorrere (col dito)</a:t>
            </a:r>
            <a:endParaRPr lang="en-US" sz="1000" dirty="0"/>
          </a:p>
        </p:txBody>
      </p:sp>
      <p:sp>
        <p:nvSpPr>
          <p:cNvPr id="44" name="cd_252"/>
          <p:cNvSpPr/>
          <p:nvPr/>
        </p:nvSpPr>
        <p:spPr>
          <a:xfrm>
            <a:off x="320040" y="3063240"/>
            <a:ext cx="2075688" cy="731520"/>
          </a:xfrm>
          <a:prstGeom prst="roundRect">
            <a:avLst>
              <a:gd name="adj" fmla="val 17500"/>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45" name="e_253"/>
          <p:cNvSpPr/>
          <p:nvPr/>
        </p:nvSpPr>
        <p:spPr>
          <a:xfrm>
            <a:off x="393192" y="3172968"/>
            <a:ext cx="512064" cy="512064"/>
          </a:xfrm>
          <a:prstGeom prst="ellipse">
            <a:avLst/>
          </a:prstGeom>
          <a:solidFill>
            <a:srgbClr val="FFE3EE"/>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46" name="en_254"/>
          <p:cNvSpPr/>
          <p:nvPr/>
        </p:nvSpPr>
        <p:spPr>
          <a:xfrm>
            <a:off x="978408"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go off</a:t>
            </a:r>
            <a:endParaRPr lang="en-US" sz="1200" dirty="0"/>
          </a:p>
        </p:txBody>
      </p:sp>
      <p:sp>
        <p:nvSpPr>
          <p:cNvPr id="47" name="R9_it255"/>
          <p:cNvSpPr/>
          <p:nvPr/>
        </p:nvSpPr>
        <p:spPr>
          <a:xfrm>
            <a:off x="978408" y="3447288"/>
            <a:ext cx="1362456" cy="292608"/>
          </a:xfrm>
          <a:prstGeom prst="rect">
            <a:avLst/>
          </a:prstGeom>
          <a:noFill/>
          <a:ln/>
        </p:spPr>
        <p:txBody>
          <a:bodyPr wrap="square" lIns="0" tIns="0" rIns="0" bIns="0" rtlCol="0" anchor="ctr">
            <a:normAutofit/>
          </a:bodyPr>
          <a:lstStyle/>
          <a:p>
            <a:pPr indent="0" marL="0">
              <a:buNone/>
            </a:pPr>
            <a:r>
              <a:rPr lang="en-US" sz="800" i="1" dirty="0">
                <a:solidFill>
                  <a:srgbClr val="2EB872"/>
                </a:solidFill>
                <a:latin typeface="Segoe UI Semibold" pitchFamily="34" charset="0"/>
                <a:ea typeface="Segoe UI Semibold" pitchFamily="34" charset="-122"/>
                <a:cs typeface="Segoe UI Semibold" pitchFamily="34" charset="-120"/>
              </a:rPr>
              <a:t>suonare (all'improvviso)</a:t>
            </a:r>
            <a:endParaRPr lang="en-US" sz="800" dirty="0"/>
          </a:p>
        </p:txBody>
      </p:sp>
      <p:sp>
        <p:nvSpPr>
          <p:cNvPr id="48" name="cd_256"/>
          <p:cNvSpPr/>
          <p:nvPr/>
        </p:nvSpPr>
        <p:spPr>
          <a:xfrm>
            <a:off x="2487168" y="3063240"/>
            <a:ext cx="2075688" cy="731520"/>
          </a:xfrm>
          <a:prstGeom prst="roundRect">
            <a:avLst>
              <a:gd name="adj" fmla="val 17500"/>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49" name="e_257"/>
          <p:cNvSpPr/>
          <p:nvPr/>
        </p:nvSpPr>
        <p:spPr>
          <a:xfrm>
            <a:off x="2560320" y="3172968"/>
            <a:ext cx="512064" cy="512064"/>
          </a:xfrm>
          <a:prstGeom prst="ellipse">
            <a:avLst/>
          </a:prstGeom>
          <a:solidFill>
            <a:srgbClr val="E3F1FD"/>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0" name="en_258"/>
          <p:cNvSpPr/>
          <p:nvPr/>
        </p:nvSpPr>
        <p:spPr>
          <a:xfrm>
            <a:off x="3145536"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put sb on hold</a:t>
            </a:r>
            <a:endParaRPr lang="en-US" sz="1200" dirty="0"/>
          </a:p>
        </p:txBody>
      </p:sp>
      <p:sp>
        <p:nvSpPr>
          <p:cNvPr id="51" name="R10_it259"/>
          <p:cNvSpPr/>
          <p:nvPr/>
        </p:nvSpPr>
        <p:spPr>
          <a:xfrm>
            <a:off x="3145536"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mettere in attesa</a:t>
            </a:r>
            <a:endParaRPr lang="en-US" sz="1000" dirty="0"/>
          </a:p>
        </p:txBody>
      </p:sp>
      <p:sp>
        <p:nvSpPr>
          <p:cNvPr id="52" name="cd_260"/>
          <p:cNvSpPr/>
          <p:nvPr/>
        </p:nvSpPr>
        <p:spPr>
          <a:xfrm>
            <a:off x="4654296" y="3063240"/>
            <a:ext cx="2075688" cy="731520"/>
          </a:xfrm>
          <a:prstGeom prst="roundRect">
            <a:avLst>
              <a:gd name="adj" fmla="val 17500"/>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53" name="e_261"/>
          <p:cNvSpPr/>
          <p:nvPr/>
        </p:nvSpPr>
        <p:spPr>
          <a:xfrm>
            <a:off x="4727448" y="3172968"/>
            <a:ext cx="512064" cy="512064"/>
          </a:xfrm>
          <a:prstGeom prst="ellipse">
            <a:avLst/>
          </a:prstGeom>
          <a:solidFill>
            <a:srgbClr val="E3F7EA"/>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4" name="en_262"/>
          <p:cNvSpPr/>
          <p:nvPr/>
        </p:nvSpPr>
        <p:spPr>
          <a:xfrm>
            <a:off x="5312664"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be cut off</a:t>
            </a:r>
            <a:endParaRPr lang="en-US" sz="1200" dirty="0"/>
          </a:p>
        </p:txBody>
      </p:sp>
      <p:sp>
        <p:nvSpPr>
          <p:cNvPr id="55" name="R11_it263"/>
          <p:cNvSpPr/>
          <p:nvPr/>
        </p:nvSpPr>
        <p:spPr>
          <a:xfrm>
            <a:off x="5312664"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cade la linea</a:t>
            </a:r>
            <a:endParaRPr lang="en-US" sz="1000" dirty="0"/>
          </a:p>
        </p:txBody>
      </p:sp>
      <p:sp>
        <p:nvSpPr>
          <p:cNvPr id="56" name="cd_264"/>
          <p:cNvSpPr/>
          <p:nvPr/>
        </p:nvSpPr>
        <p:spPr>
          <a:xfrm>
            <a:off x="6821424" y="3063240"/>
            <a:ext cx="2075688" cy="731520"/>
          </a:xfrm>
          <a:prstGeom prst="roundRect">
            <a:avLst>
              <a:gd name="adj" fmla="val 17500"/>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57" name="e_265"/>
          <p:cNvSpPr/>
          <p:nvPr/>
        </p:nvSpPr>
        <p:spPr>
          <a:xfrm>
            <a:off x="6894576" y="3172968"/>
            <a:ext cx="512064" cy="512064"/>
          </a:xfrm>
          <a:prstGeom prst="ellipse">
            <a:avLst/>
          </a:prstGeom>
          <a:solidFill>
            <a:srgbClr val="FFF6CC"/>
          </a:solidFill>
          <a:ln/>
        </p:spPr>
        <p:txBody>
          <a:bodyPr wrap="square" lIns="0" tIns="0" rIns="0" bIns="0" rtlCol="0" anchor="ctr"/>
          <a:lstStyle/>
          <a:p>
            <a:pPr algn="ctr" indent="0" marL="0">
              <a:buNone/>
            </a:pPr>
            <a:r>
              <a:rPr lang="en-US" sz="2000" dirty="0">
                <a:solidFill>
                  <a:srgbClr val="000000"/>
                </a:solidFill>
              </a:rPr>
              <a:t>🔊</a:t>
            </a:r>
            <a:endParaRPr lang="en-US" sz="2000" dirty="0"/>
          </a:p>
        </p:txBody>
      </p:sp>
      <p:sp>
        <p:nvSpPr>
          <p:cNvPr id="58" name="en_266"/>
          <p:cNvSpPr/>
          <p:nvPr/>
        </p:nvSpPr>
        <p:spPr>
          <a:xfrm>
            <a:off x="7479792" y="3118104"/>
            <a:ext cx="1362456" cy="329184"/>
          </a:xfrm>
          <a:prstGeom prst="rect">
            <a:avLst/>
          </a:prstGeom>
          <a:noFill/>
          <a:ln/>
        </p:spPr>
        <p:txBody>
          <a:bodyPr wrap="square" lIns="0" tIns="0" rIns="0" bIns="0" rtlCol="0" anchor="ctr">
            <a:normAutofit/>
          </a:bodyP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speakerphone</a:t>
            </a:r>
            <a:endParaRPr lang="en-US" sz="1200" dirty="0"/>
          </a:p>
        </p:txBody>
      </p:sp>
      <p:sp>
        <p:nvSpPr>
          <p:cNvPr id="59" name="R12_it267"/>
          <p:cNvSpPr/>
          <p:nvPr/>
        </p:nvSpPr>
        <p:spPr>
          <a:xfrm>
            <a:off x="7479792" y="3447288"/>
            <a:ext cx="1362456" cy="292608"/>
          </a:xfrm>
          <a:prstGeom prst="rect">
            <a:avLst/>
          </a:prstGeom>
          <a:noFill/>
          <a:ln/>
        </p:spPr>
        <p:txBody>
          <a:bodyPr wrap="square" lIns="0" tIns="0" rIns="0" bIns="0" rtlCol="0" anchor="ctr">
            <a:normAutofit/>
          </a:bodyPr>
          <a:lstStyle/>
          <a:p>
            <a:pPr indent="0" marL="0">
              <a:buNone/>
            </a:pPr>
            <a:r>
              <a:rPr lang="en-US" sz="1000" i="1" dirty="0">
                <a:solidFill>
                  <a:srgbClr val="2EB872"/>
                </a:solidFill>
                <a:latin typeface="Segoe UI Semibold" pitchFamily="34" charset="0"/>
                <a:ea typeface="Segoe UI Semibold" pitchFamily="34" charset="-122"/>
                <a:cs typeface="Segoe UI Semibold" pitchFamily="34" charset="-120"/>
              </a:rPr>
              <a:t>vivavoce</a:t>
            </a:r>
            <a:endParaRPr lang="en-US" sz="1000" dirty="0"/>
          </a:p>
        </p:txBody>
      </p:sp>
      <p:sp>
        <p:nvSpPr>
          <p:cNvPr id="60" name="R13_wc268"/>
          <p:cNvSpPr/>
          <p:nvPr/>
        </p:nvSpPr>
        <p:spPr>
          <a:xfrm>
            <a:off x="320040" y="3931920"/>
            <a:ext cx="8549640" cy="457200"/>
          </a:xfrm>
          <a:prstGeom prst="roundRect">
            <a:avLst>
              <a:gd name="adj" fmla="val 28000"/>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61" name="R13_w269"/>
          <p:cNvSpPr/>
          <p:nvPr/>
        </p:nvSpPr>
        <p:spPr>
          <a:xfrm>
            <a:off x="457200" y="3931920"/>
            <a:ext cx="8321040" cy="457200"/>
          </a:xfrm>
          <a:prstGeom prst="rect">
            <a:avLst/>
          </a:prstGeom>
          <a:noFill/>
          <a:ln/>
        </p:spPr>
        <p:txBody>
          <a:bodyPr wrap="square" lIns="0" tIns="0" rIns="0" bIns="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 Watch out!  go off ≠ andare via   ·   engaged = occupato, but also fidanzato!   ·   hang up → hung up</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39"/>
                                        </p:tgtEl>
                                        <p:attrNameLst>
                                          <p:attrName>style.visibility</p:attrName>
                                        </p:attrNameLst>
                                      </p:cBhvr>
                                      <p:to>
                                        <p:strVal val="visible"/>
                                      </p:to>
                                    </p:set>
                                    <p:animEffect transition="in" filter="fade">
                                      <p:cBhvr>
                                        <p:cTn id="37" dur="400"/>
                                        <p:tgtEl>
                                          <p:spTgt spid="39"/>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43"/>
                                        </p:tgtEl>
                                        <p:attrNameLst>
                                          <p:attrName>style.visibility</p:attrName>
                                        </p:attrNameLst>
                                      </p:cBhvr>
                                      <p:to>
                                        <p:strVal val="visible"/>
                                      </p:to>
                                    </p:set>
                                    <p:animEffect transition="in" filter="fade">
                                      <p:cBhvr>
                                        <p:cTn id="42" dur="400"/>
                                        <p:tgtEl>
                                          <p:spTgt spid="43"/>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47"/>
                                        </p:tgtEl>
                                        <p:attrNameLst>
                                          <p:attrName>style.visibility</p:attrName>
                                        </p:attrNameLst>
                                      </p:cBhvr>
                                      <p:to>
                                        <p:strVal val="visible"/>
                                      </p:to>
                                    </p:set>
                                    <p:animEffect transition="in" filter="fade">
                                      <p:cBhvr>
                                        <p:cTn id="47" dur="400"/>
                                        <p:tgtEl>
                                          <p:spTgt spid="47"/>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51"/>
                                        </p:tgtEl>
                                        <p:attrNameLst>
                                          <p:attrName>style.visibility</p:attrName>
                                        </p:attrNameLst>
                                      </p:cBhvr>
                                      <p:to>
                                        <p:strVal val="visible"/>
                                      </p:to>
                                    </p:set>
                                    <p:animEffect transition="in" filter="fade">
                                      <p:cBhvr>
                                        <p:cTn id="52" dur="400"/>
                                        <p:tgtEl>
                                          <p:spTgt spid="51"/>
                                        </p:tgtEl>
                                      </p:cBhvr>
                                    </p:animEffect>
                                  </p:childTnLst>
                                </p:cTn>
                              </p:par>
                            </p:childTnLst>
                          </p:cTn>
                        </p:par>
                      </p:childTnLst>
                    </p:cTn>
                  </p:par>
                  <p:par>
                    <p:cTn id="53" fill="hold">
                      <p:stCondLst>
                        <p:cond delay="indefinite"/>
                      </p:stCondLst>
                      <p:childTnLst>
                        <p:par>
                          <p:cTn id="54" fill="hold">
                            <p:stCondLst>
                              <p:cond delay="0"/>
                            </p:stCondLst>
                            <p:childTnLst>
                              <p:par>
                                <p:cTn id="55" presetID="10" presetClass="entr" presetSubtype="0" fill="hold" nodeType="clickEffect">
                                  <p:stCondLst>
                                    <p:cond delay="0"/>
                                  </p:stCondLst>
                                  <p:childTnLst>
                                    <p:set>
                                      <p:cBhvr>
                                        <p:cTn id="56" dur="1" fill="hold">
                                          <p:stCondLst>
                                            <p:cond delay="0"/>
                                          </p:stCondLst>
                                        </p:cTn>
                                        <p:tgtEl>
                                          <p:spTgt spid="55"/>
                                        </p:tgtEl>
                                        <p:attrNameLst>
                                          <p:attrName>style.visibility</p:attrName>
                                        </p:attrNameLst>
                                      </p:cBhvr>
                                      <p:to>
                                        <p:strVal val="visible"/>
                                      </p:to>
                                    </p:set>
                                    <p:animEffect transition="in" filter="fade">
                                      <p:cBhvr>
                                        <p:cTn id="57" dur="400"/>
                                        <p:tgtEl>
                                          <p:spTgt spid="55"/>
                                        </p:tgtEl>
                                      </p:cBhvr>
                                    </p:animEffect>
                                  </p:childTnLst>
                                </p:cTn>
                              </p:par>
                            </p:childTnLst>
                          </p:cTn>
                        </p:par>
                      </p:childTnLst>
                    </p:cTn>
                  </p:par>
                  <p:par>
                    <p:cTn id="58" fill="hold">
                      <p:stCondLst>
                        <p:cond delay="indefinite"/>
                      </p:stCondLst>
                      <p:childTnLst>
                        <p:par>
                          <p:cTn id="59" fill="hold">
                            <p:stCondLst>
                              <p:cond delay="0"/>
                            </p:stCondLst>
                            <p:childTnLst>
                              <p:par>
                                <p:cTn id="60" presetID="10" presetClass="entr" presetSubtype="0" fill="hold" nodeType="clickEffect">
                                  <p:stCondLst>
                                    <p:cond delay="0"/>
                                  </p:stCondLst>
                                  <p:childTnLst>
                                    <p:set>
                                      <p:cBhvr>
                                        <p:cTn id="61" dur="1" fill="hold">
                                          <p:stCondLst>
                                            <p:cond delay="0"/>
                                          </p:stCondLst>
                                        </p:cTn>
                                        <p:tgtEl>
                                          <p:spTgt spid="59"/>
                                        </p:tgtEl>
                                        <p:attrNameLst>
                                          <p:attrName>style.visibility</p:attrName>
                                        </p:attrNameLst>
                                      </p:cBhvr>
                                      <p:to>
                                        <p:strVal val="visible"/>
                                      </p:to>
                                    </p:set>
                                    <p:animEffect transition="in" filter="fade">
                                      <p:cBhvr>
                                        <p:cTn id="62" dur="400"/>
                                        <p:tgtEl>
                                          <p:spTgt spid="59"/>
                                        </p:tgtEl>
                                      </p:cBhvr>
                                    </p:animEffect>
                                  </p:childTnLst>
                                </p:cTn>
                              </p:par>
                            </p:childTnLst>
                          </p:cTn>
                        </p:par>
                      </p:childTnLst>
                    </p:cTn>
                  </p:par>
                  <p:par>
                    <p:cTn id="63" fill="hold">
                      <p:stCondLst>
                        <p:cond delay="indefinite"/>
                      </p:stCondLst>
                      <p:childTnLst>
                        <p:par>
                          <p:cTn id="64" fill="hold">
                            <p:stCondLst>
                              <p:cond delay="0"/>
                            </p:stCondLst>
                            <p:childTnLst>
                              <p:par>
                                <p:cTn id="65" presetID="10" presetClass="entr" presetSubtype="0" fill="hold" nodeType="clickEffect">
                                  <p:stCondLst>
                                    <p:cond delay="0"/>
                                  </p:stCondLst>
                                  <p:childTnLst>
                                    <p:set>
                                      <p:cBhvr>
                                        <p:cTn id="66" dur="1" fill="hold">
                                          <p:stCondLst>
                                            <p:cond delay="0"/>
                                          </p:stCondLst>
                                        </p:cTn>
                                        <p:tgtEl>
                                          <p:spTgt spid="60"/>
                                        </p:tgtEl>
                                        <p:attrNameLst>
                                          <p:attrName>style.visibility</p:attrName>
                                        </p:attrNameLst>
                                      </p:cBhvr>
                                      <p:to>
                                        <p:strVal val="visible"/>
                                      </p:to>
                                    </p:set>
                                    <p:animEffect transition="in" filter="fade">
                                      <p:cBhvr>
                                        <p:cTn id="67" dur="400"/>
                                        <p:tgtEl>
                                          <p:spTgt spid="60"/>
                                        </p:tgtEl>
                                      </p:cBhvr>
                                    </p:animEffect>
                                  </p:childTnLst>
                                </p:cTn>
                              </p:par>
                              <p:par>
                                <p:cTn id="68" presetID="10" presetClass="entr" presetSubtype="0" fill="hold" nodeType="withEffect">
                                  <p:stCondLst>
                                    <p:cond delay="0"/>
                                  </p:stCondLst>
                                  <p:childTnLst>
                                    <p:set>
                                      <p:cBhvr>
                                        <p:cTn id="69" dur="1" fill="hold">
                                          <p:stCondLst>
                                            <p:cond delay="0"/>
                                          </p:stCondLst>
                                        </p:cTn>
                                        <p:tgtEl>
                                          <p:spTgt spid="61"/>
                                        </p:tgtEl>
                                        <p:attrNameLst>
                                          <p:attrName>style.visibility</p:attrName>
                                        </p:attrNameLst>
                                      </p:cBhvr>
                                      <p:to>
                                        <p:strVal val="visible"/>
                                      </p:to>
                                    </p:set>
                                    <p:animEffect transition="in" filter="fade">
                                      <p:cBhvr>
                                        <p:cTn id="70" dur="400"/>
                                        <p:tgtEl>
                                          <p:spTgt spid="6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9.xml><?xml version="1.0" encoding="utf-8"?>
<p:sld xmlns:a="http://schemas.openxmlformats.org/drawingml/2006/main" xmlns:r="http://schemas.openxmlformats.org/officeDocument/2006/relationships" xmlns:p="http://schemas.openxmlformats.org/presentationml/2006/main">
  <p:cSld name="Slide 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7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800" dirty="0">
                <a:solidFill>
                  <a:srgbClr val="FFFFFF"/>
                </a:solidFill>
                <a:latin typeface="Arial Rounded MT Bold" pitchFamily="34" charset="0"/>
                <a:ea typeface="Arial Rounded MT Bold" pitchFamily="34" charset="-122"/>
                <a:cs typeface="Arial Rounded MT Bold" pitchFamily="34" charset="-120"/>
              </a:rPr>
              <a:t>9</a:t>
            </a:r>
            <a:endParaRPr lang="en-US" sz="2800" dirty="0"/>
          </a:p>
        </p:txBody>
      </p:sp>
      <p:pic>
        <p:nvPicPr>
          <p:cNvPr id="4" name="brY_271" descr="/home/claude/lls-course/v2/assets/brush-yellow.png">    </p:cNvPr>
          <p:cNvPicPr>
            <a:picLocks noChangeAspect="1"/>
          </p:cNvPicPr>
          <p:nvPr/>
        </p:nvPicPr>
        <p:blipFill>
          <a:blip r:embed="rId2"/>
          <a:stretch>
            <a:fillRect/>
          </a:stretch>
        </p:blipFill>
        <p:spPr>
          <a:xfrm>
            <a:off x="1097280" y="146304"/>
            <a:ext cx="2618842" cy="621792"/>
          </a:xfrm>
          <a:prstGeom prst="rect">
            <a:avLst/>
          </a:prstGeom>
        </p:spPr>
      </p:pic>
      <p:sp>
        <p:nvSpPr>
          <p:cNvPr id="5" name="title_272"/>
          <p:cNvSpPr/>
          <p:nvPr/>
        </p:nvSpPr>
        <p:spPr>
          <a:xfrm>
            <a:off x="1261872" y="164592"/>
            <a:ext cx="234452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Describe it!</a:t>
            </a:r>
            <a:endParaRPr lang="en-US" sz="2500" dirty="0"/>
          </a:p>
        </p:txBody>
      </p:sp>
      <p:pic>
        <p:nvPicPr>
          <p:cNvPr id="6" name="brP_273" descr="/home/claude/lls-course/v2/assets/brush-pink.png">    </p:cNvPr>
          <p:cNvPicPr>
            <a:picLocks noChangeAspect="1"/>
          </p:cNvPicPr>
          <p:nvPr/>
        </p:nvPicPr>
        <p:blipFill>
          <a:blip r:embed="rId3"/>
          <a:stretch>
            <a:fillRect/>
          </a:stretch>
        </p:blipFill>
        <p:spPr>
          <a:xfrm>
            <a:off x="1207008" y="731520"/>
            <a:ext cx="3598164" cy="402336"/>
          </a:xfrm>
          <a:prstGeom prst="rect">
            <a:avLst/>
          </a:prstGeom>
        </p:spPr>
      </p:pic>
      <p:sp>
        <p:nvSpPr>
          <p:cNvPr id="7" name="ins_274"/>
          <p:cNvSpPr/>
          <p:nvPr/>
        </p:nvSpPr>
        <p:spPr>
          <a:xfrm>
            <a:off x="1353312" y="731520"/>
            <a:ext cx="334213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Explain the phrase. Don't say it!</a:t>
            </a:r>
            <a:endParaRPr lang="en-US" sz="1250" dirty="0"/>
          </a:p>
        </p:txBody>
      </p:sp>
      <p:sp>
        <p:nvSpPr>
          <p:cNvPr id="8" name="insIT_27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Spiega l'espressione. Non dirla!</a:t>
            </a:r>
            <a:endParaRPr lang="en-US" sz="950" dirty="0"/>
          </a:p>
        </p:txBody>
      </p:sp>
      <p:sp>
        <p:nvSpPr>
          <p:cNvPr id="9" name="note_27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Vocabulary · Communicative game</a:t>
            </a:r>
            <a:endParaRPr lang="en-US" sz="1250" dirty="0"/>
          </a:p>
        </p:txBody>
      </p:sp>
      <p:pic>
        <p:nvPicPr>
          <p:cNvPr id="10" name="logo_27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27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Vocabulary game</a:t>
            </a:r>
            <a:endParaRPr lang="en-US" sz="800" dirty="0"/>
          </a:p>
        </p:txBody>
      </p:sp>
      <p:sp>
        <p:nvSpPr>
          <p:cNvPr id="12" name="cd_279"/>
          <p:cNvSpPr/>
          <p:nvPr/>
        </p:nvSpPr>
        <p:spPr>
          <a:xfrm>
            <a:off x="320040" y="1417320"/>
            <a:ext cx="2697480" cy="2231136"/>
          </a:xfrm>
          <a:prstGeom prst="roundRect">
            <a:avLst>
              <a:gd name="adj" fmla="val 573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280"/>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281"/>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282"/>
          <p:cNvSpPr/>
          <p:nvPr/>
        </p:nvSpPr>
        <p:spPr>
          <a:xfrm>
            <a:off x="886968" y="1911096"/>
            <a:ext cx="2039112" cy="166420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1200" dirty="0"/>
          </a:p>
          <a:p>
            <a:pPr marL="152400" indent="-152400">
              <a:spcBef>
                <a:spcPts val="600"/>
              </a:spcBef>
              <a:spcAft>
                <a:spcPts val="200"/>
              </a:spcAft>
              <a:buSzPct val="100000"/>
              <a:buChar char="•"/>
            </a:pPr>
            <a:r>
              <a:rPr lang="en-US" sz="1200" dirty="0">
                <a:solidFill>
                  <a:srgbClr val="1B2559"/>
                </a:solidFill>
                <a:latin typeface="Segoe UI Semibold" pitchFamily="34" charset="0"/>
                <a:ea typeface="Segoe UI Semibold" pitchFamily="34" charset="-122"/>
                <a:cs typeface="Segoe UI Semibold" pitchFamily="34" charset="-120"/>
              </a:rPr>
              <a:t>B guesses. Then swap.</a:t>
            </a:r>
            <a:endParaRPr lang="en-US" sz="1200" dirty="0"/>
          </a:p>
          <a:p>
            <a:pPr marL="152400" indent="-152400">
              <a:spcAft>
                <a:spcPts val="200"/>
              </a:spcAft>
              <a:buSzPct val="100000"/>
              <a:buChar char=" "/>
            </a:pPr>
            <a:r>
              <a:rPr lang="en-US" sz="1200" dirty="0">
                <a:solidFill>
                  <a:srgbClr val="5B6785"/>
                </a:solidFill>
                <a:latin typeface="Segoe UI Semibold" pitchFamily="34" charset="0"/>
                <a:ea typeface="Segoe UI Semibold" pitchFamily="34" charset="-122"/>
                <a:cs typeface="Segoe UI Semibold" pitchFamily="34" charset="-120"/>
              </a:rPr>
              <a:t>B indovina. Poi scambiatevi.</a:t>
            </a:r>
            <a:endParaRPr lang="en-US" sz="1200" dirty="0"/>
          </a:p>
        </p:txBody>
      </p:sp>
      <p:sp>
        <p:nvSpPr>
          <p:cNvPr id="16" name="pf_283"/>
          <p:cNvSpPr/>
          <p:nvPr/>
        </p:nvSpPr>
        <p:spPr>
          <a:xfrm rot="-120000">
            <a:off x="974667" y="3785616"/>
            <a:ext cx="1342505"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284" descr="/home/claude/lls-course/v2/cache/4a1_voicemail_jpg_301x253_31.png">    </p:cNvPr>
          <p:cNvPicPr>
            <a:picLocks noChangeAspect="1"/>
          </p:cNvPicPr>
          <p:nvPr/>
        </p:nvPicPr>
        <p:blipFill>
          <a:blip r:embed="rId5"/>
          <a:stretch>
            <a:fillRect/>
          </a:stretch>
        </p:blipFill>
        <p:spPr>
          <a:xfrm rot="-120000">
            <a:off x="1020387" y="3831336"/>
            <a:ext cx="1251065" cy="1051560"/>
          </a:xfrm>
          <a:prstGeom prst="rect">
            <a:avLst/>
          </a:prstGeom>
        </p:spPr>
      </p:pic>
      <p:sp>
        <p:nvSpPr>
          <p:cNvPr id="18" name="rl_285"/>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explains</a:t>
            </a:r>
            <a:endParaRPr lang="en-US" sz="1100" dirty="0"/>
          </a:p>
        </p:txBody>
      </p:sp>
      <p:sp>
        <p:nvSpPr>
          <p:cNvPr id="19" name="R1_w286"/>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hang up</a:t>
            </a:r>
            <a:endParaRPr lang="en-US" sz="1700" dirty="0"/>
          </a:p>
        </p:txBody>
      </p:sp>
      <p:sp>
        <p:nvSpPr>
          <p:cNvPr id="20" name="R3_w287"/>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ringtone</a:t>
            </a:r>
            <a:endParaRPr lang="en-US" sz="1700" dirty="0"/>
          </a:p>
        </p:txBody>
      </p:sp>
      <p:sp>
        <p:nvSpPr>
          <p:cNvPr id="21" name="R5_w288"/>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voicemail</a:t>
            </a:r>
            <a:endParaRPr lang="en-US" sz="1700" dirty="0"/>
          </a:p>
        </p:txBody>
      </p:sp>
      <p:sp>
        <p:nvSpPr>
          <p:cNvPr id="22" name="R7_w289"/>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put on hold</a:t>
            </a:r>
            <a:endParaRPr lang="en-US" sz="1700" dirty="0"/>
          </a:p>
        </p:txBody>
      </p:sp>
      <p:sp>
        <p:nvSpPr>
          <p:cNvPr id="23" name="rl_290"/>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explains</a:t>
            </a:r>
            <a:endParaRPr lang="en-US" sz="1100" dirty="0"/>
          </a:p>
        </p:txBody>
      </p:sp>
      <p:sp>
        <p:nvSpPr>
          <p:cNvPr id="24" name="R2_w291"/>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call back</a:t>
            </a:r>
            <a:endParaRPr lang="en-US" sz="1700" dirty="0"/>
          </a:p>
        </p:txBody>
      </p:sp>
      <p:sp>
        <p:nvSpPr>
          <p:cNvPr id="25" name="R4_w292"/>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be cut off</a:t>
            </a:r>
            <a:endParaRPr lang="en-US" sz="1700" dirty="0"/>
          </a:p>
        </p:txBody>
      </p:sp>
      <p:sp>
        <p:nvSpPr>
          <p:cNvPr id="26" name="R6_w293"/>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swipe</a:t>
            </a:r>
            <a:endParaRPr lang="en-US" sz="1700" dirty="0"/>
          </a:p>
        </p:txBody>
      </p:sp>
      <p:sp>
        <p:nvSpPr>
          <p:cNvPr id="27" name="R8_w294"/>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speakerphone</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4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0.xml><?xml version="1.0" encoding="utf-8"?>
<p:sld xmlns:a="http://schemas.openxmlformats.org/drawingml/2006/main" xmlns:r="http://schemas.openxmlformats.org/officeDocument/2006/relationships" xmlns:p="http://schemas.openxmlformats.org/presentationml/2006/main">
  <p:cSld name="Slide 1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295"/>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10</a:t>
            </a:r>
            <a:endParaRPr lang="en-US" sz="2200" dirty="0"/>
          </a:p>
        </p:txBody>
      </p:sp>
      <p:pic>
        <p:nvPicPr>
          <p:cNvPr id="4" name="brY_296"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297"/>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You and your phone</a:t>
            </a:r>
            <a:endParaRPr lang="en-US" sz="2400" dirty="0"/>
          </a:p>
        </p:txBody>
      </p:sp>
      <p:pic>
        <p:nvPicPr>
          <p:cNvPr id="6" name="brP_298"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299"/>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Ask a partner. Give details!</a:t>
            </a:r>
            <a:endParaRPr lang="en-US" sz="1250" dirty="0"/>
          </a:p>
        </p:txBody>
      </p:sp>
      <p:sp>
        <p:nvSpPr>
          <p:cNvPr id="8" name="insIT_30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Chiedi a un compagno. Dai dettagli!</a:t>
            </a:r>
            <a:endParaRPr lang="en-US" sz="950" dirty="0"/>
          </a:p>
        </p:txBody>
      </p:sp>
      <p:sp>
        <p:nvSpPr>
          <p:cNvPr id="9" name="note_30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30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0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Speaking · you and your phone   ·   📖 SB p.36 · 1c</a:t>
            </a:r>
            <a:endParaRPr lang="en-US" sz="800" dirty="0"/>
          </a:p>
        </p:txBody>
      </p:sp>
      <p:sp>
        <p:nvSpPr>
          <p:cNvPr id="12" name="pf_304"/>
          <p:cNvSpPr/>
          <p:nvPr/>
        </p:nvSpPr>
        <p:spPr>
          <a:xfrm rot="-120000">
            <a:off x="932019" y="1371600"/>
            <a:ext cx="1564961"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05" descr="/home/claude/lls-course/v2/cache/4a1_speakerphone_jpg_355x297_31.png">    </p:cNvPr>
          <p:cNvPicPr>
            <a:picLocks noChangeAspect="1"/>
          </p:cNvPicPr>
          <p:nvPr/>
        </p:nvPicPr>
        <p:blipFill>
          <a:blip r:embed="rId5"/>
          <a:stretch>
            <a:fillRect/>
          </a:stretch>
        </p:blipFill>
        <p:spPr>
          <a:xfrm rot="-120000">
            <a:off x="977739" y="1417320"/>
            <a:ext cx="1473521" cy="1234440"/>
          </a:xfrm>
          <a:prstGeom prst="rect">
            <a:avLst/>
          </a:prstGeom>
        </p:spPr>
      </p:pic>
      <p:sp>
        <p:nvSpPr>
          <p:cNvPr id="14" name="cd_306"/>
          <p:cNvSpPr/>
          <p:nvPr/>
        </p:nvSpPr>
        <p:spPr>
          <a:xfrm>
            <a:off x="320040" y="2880360"/>
            <a:ext cx="2788920" cy="1426464"/>
          </a:xfrm>
          <a:prstGeom prst="roundRect">
            <a:avLst>
              <a:gd name="adj" fmla="val 8974"/>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07"/>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08"/>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309"/>
          <p:cNvSpPr/>
          <p:nvPr/>
        </p:nvSpPr>
        <p:spPr>
          <a:xfrm>
            <a:off x="886968" y="3374136"/>
            <a:ext cx="2130552" cy="859536"/>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Yes, once… · No, never!</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It depends. · What about you?</a:t>
            </a:r>
            <a:endParaRPr lang="en-US" sz="1150" dirty="0"/>
          </a:p>
        </p:txBody>
      </p:sp>
      <p:sp>
        <p:nvSpPr>
          <p:cNvPr id="18" name="R1_qb310"/>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311"/>
          <p:cNvSpPr/>
          <p:nvPr/>
        </p:nvSpPr>
        <p:spPr>
          <a:xfrm>
            <a:off x="3675888" y="1417320"/>
            <a:ext cx="45079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Do you prefer calling or messaging? Why?</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Messaging – it's quicker and I can answer later.</a:t>
            </a:r>
            <a:endParaRPr lang="en-US" sz="1150" dirty="0"/>
          </a:p>
        </p:txBody>
      </p:sp>
      <p:pic>
        <p:nvPicPr>
          <p:cNvPr id="20" name="R1_th312" descr="/home/claude/lls-course/v2/cache/4a1_texting_jpg_154x119_18.png">    </p:cNvPr>
          <p:cNvPicPr>
            <a:picLocks noChangeAspect="1"/>
          </p:cNvPicPr>
          <p:nvPr/>
        </p:nvPicPr>
        <p:blipFill>
          <a:blip r:embed="rId6"/>
          <a:stretch>
            <a:fillRect/>
          </a:stretch>
        </p:blipFill>
        <p:spPr>
          <a:xfrm>
            <a:off x="8257032" y="1435608"/>
            <a:ext cx="640080" cy="493776"/>
          </a:xfrm>
          <a:prstGeom prst="rect">
            <a:avLst/>
          </a:prstGeom>
        </p:spPr>
      </p:pic>
      <p:sp>
        <p:nvSpPr>
          <p:cNvPr id="21" name="R2_qb313"/>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314"/>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Have you ever sent a message to the wrong person?</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Yes! A message about my teacher… to my teacher!</a:t>
            </a:r>
            <a:endParaRPr lang="en-US" sz="1150" dirty="0"/>
          </a:p>
        </p:txBody>
      </p:sp>
      <p:sp>
        <p:nvSpPr>
          <p:cNvPr id="23" name="R3_qb315"/>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316"/>
          <p:cNvSpPr/>
          <p:nvPr/>
        </p:nvSpPr>
        <p:spPr>
          <a:xfrm>
            <a:off x="3675888" y="2624328"/>
            <a:ext cx="45079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Have you ever hung up on someone? Why?</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Yes, on a call centre – they called during dinner!</a:t>
            </a:r>
            <a:endParaRPr lang="en-US" sz="1150" dirty="0"/>
          </a:p>
        </p:txBody>
      </p:sp>
      <p:pic>
        <p:nvPicPr>
          <p:cNvPr id="25" name="R3_th317" descr="/home/claude/lls-course/v2/cache/4a1_hung_up_jpg_154x119_18.png">    </p:cNvPr>
          <p:cNvPicPr>
            <a:picLocks noChangeAspect="1"/>
          </p:cNvPicPr>
          <p:nvPr/>
        </p:nvPicPr>
        <p:blipFill>
          <a:blip r:embed="rId7"/>
          <a:stretch>
            <a:fillRect/>
          </a:stretch>
        </p:blipFill>
        <p:spPr>
          <a:xfrm>
            <a:off x="8257032" y="2642616"/>
            <a:ext cx="640080" cy="493776"/>
          </a:xfrm>
          <a:prstGeom prst="rect">
            <a:avLst/>
          </a:prstGeom>
        </p:spPr>
      </p:pic>
      <p:sp>
        <p:nvSpPr>
          <p:cNvPr id="26" name="R4_qb318"/>
          <p:cNvSpPr/>
          <p:nvPr/>
        </p:nvSpPr>
        <p:spPr>
          <a:xfrm>
            <a:off x="3273552" y="3264408"/>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319"/>
          <p:cNvSpPr/>
          <p:nvPr/>
        </p:nvSpPr>
        <p:spPr>
          <a:xfrm>
            <a:off x="3675888" y="3227832"/>
            <a:ext cx="4507992" cy="530352"/>
          </a:xfrm>
          <a:prstGeom prst="roundRect">
            <a:avLst>
              <a:gd name="adj" fmla="val 20690"/>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What do you do if they put you on hold for 20 minutes?</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 put it on speakerphone and do my homework.</a:t>
            </a:r>
            <a:endParaRPr lang="en-US" sz="1100" dirty="0"/>
          </a:p>
        </p:txBody>
      </p:sp>
      <p:pic>
        <p:nvPicPr>
          <p:cNvPr id="28" name="R4_th320" descr="/home/claude/lls-course/v2/cache/4a1_on_hold_jpg_154x119_18.png">    </p:cNvPr>
          <p:cNvPicPr>
            <a:picLocks noChangeAspect="1"/>
          </p:cNvPicPr>
          <p:nvPr/>
        </p:nvPicPr>
        <p:blipFill>
          <a:blip r:embed="rId8"/>
          <a:stretch>
            <a:fillRect/>
          </a:stretch>
        </p:blipFill>
        <p:spPr>
          <a:xfrm>
            <a:off x="8257032" y="3246120"/>
            <a:ext cx="640080" cy="493776"/>
          </a:xfrm>
          <a:prstGeom prst="rect">
            <a:avLst/>
          </a:prstGeom>
        </p:spPr>
      </p:pic>
      <p:sp>
        <p:nvSpPr>
          <p:cNvPr id="29" name="R5_qb321"/>
          <p:cNvSpPr/>
          <p:nvPr/>
        </p:nvSpPr>
        <p:spPr>
          <a:xfrm>
            <a:off x="3273552" y="386791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322"/>
          <p:cNvSpPr/>
          <p:nvPr/>
        </p:nvSpPr>
        <p:spPr>
          <a:xfrm>
            <a:off x="3675888" y="3831336"/>
            <a:ext cx="45079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Has your phone ever gone off at a bad moment?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e.g. Yes, in a test! The teacher wasn't happy.</a:t>
            </a:r>
            <a:endParaRPr lang="en-US" sz="1150" dirty="0"/>
          </a:p>
        </p:txBody>
      </p:sp>
      <p:pic>
        <p:nvPicPr>
          <p:cNvPr id="31" name="R5_th323" descr="/home/claude/lls-course/v2/cache/4a1_ringtone_jpg_154x119_18.png">    </p:cNvPr>
          <p:cNvPicPr>
            <a:picLocks noChangeAspect="1"/>
          </p:cNvPicPr>
          <p:nvPr/>
        </p:nvPicPr>
        <p:blipFill>
          <a:blip r:embed="rId9"/>
          <a:stretch>
            <a:fillRect/>
          </a:stretch>
        </p:blipFill>
        <p:spPr>
          <a:xfrm>
            <a:off x="8257032" y="3849624"/>
            <a:ext cx="640080" cy="493776"/>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00"/>
                                        <p:tgtEl>
                                          <p:spTgt spid="2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par>
                                <p:cTn id="27" presetID="10"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par>
                                <p:cTn id="30" presetID="10" presetClass="entr" presetSubtype="0" fill="hold"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38" presetID="10" presetClass="entr" presetSubtype="0" fill="hold"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par>
                                <p:cTn id="41" presetID="10" presetClass="entr" presetSubtype="0" fill="hold" nodeType="with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400"/>
                                        <p:tgtEl>
                                          <p:spTgt spid="29"/>
                                        </p:tgtEl>
                                      </p:cBhvr>
                                    </p:animEffect>
                                  </p:childTnLst>
                                </p:cTn>
                              </p:par>
                              <p:par>
                                <p:cTn id="49" presetID="10" presetClass="entr" presetSubtype="0" fill="hold" nodeType="with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400"/>
                                        <p:tgtEl>
                                          <p:spTgt spid="30"/>
                                        </p:tgtEl>
                                      </p:cBhvr>
                                    </p:animEffect>
                                  </p:childTnLst>
                                </p:cTn>
                              </p:par>
                              <p:par>
                                <p:cTn id="52" presetID="10" presetClass="entr" presetSubtype="0" fill="hold" nodeType="withEffect">
                                  <p:stCondLst>
                                    <p:cond delay="0"/>
                                  </p:stCondLst>
                                  <p:childTnLst>
                                    <p:set>
                                      <p:cBhvr>
                                        <p:cTn id="53" dur="1" fill="hold">
                                          <p:stCondLst>
                                            <p:cond delay="0"/>
                                          </p:stCondLst>
                                        </p:cTn>
                                        <p:tgtEl>
                                          <p:spTgt spid="31"/>
                                        </p:tgtEl>
                                        <p:attrNameLst>
                                          <p:attrName>style.visibility</p:attrName>
                                        </p:attrNameLst>
                                      </p:cBhvr>
                                      <p:to>
                                        <p:strVal val="visible"/>
                                      </p:to>
                                    </p:set>
                                    <p:animEffect transition="in" filter="fade">
                                      <p:cBhvr>
                                        <p:cTn id="54"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1.xml><?xml version="1.0" encoding="utf-8"?>
<p:sld xmlns:a="http://schemas.openxmlformats.org/drawingml/2006/main" xmlns:r="http://schemas.openxmlformats.org/officeDocument/2006/relationships" xmlns:p="http://schemas.openxmlformats.org/presentationml/2006/main">
  <p:cSld name="Slide 1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24"/>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11</a:t>
            </a:r>
            <a:endParaRPr lang="en-US" sz="2200" dirty="0"/>
          </a:p>
        </p:txBody>
      </p:sp>
      <p:pic>
        <p:nvPicPr>
          <p:cNvPr id="4" name="brY_325" descr="/home/claude/lls-course/v2/assets/brush-yellow.png">    </p:cNvPr>
          <p:cNvPicPr>
            <a:picLocks noChangeAspect="1"/>
          </p:cNvPicPr>
          <p:nvPr/>
        </p:nvPicPr>
        <p:blipFill>
          <a:blip r:embed="rId2"/>
          <a:stretch>
            <a:fillRect/>
          </a:stretch>
        </p:blipFill>
        <p:spPr>
          <a:xfrm>
            <a:off x="1097280" y="146304"/>
            <a:ext cx="1360627" cy="621792"/>
          </a:xfrm>
          <a:prstGeom prst="rect">
            <a:avLst/>
          </a:prstGeom>
        </p:spPr>
      </p:pic>
      <p:sp>
        <p:nvSpPr>
          <p:cNvPr id="5" name="title_326"/>
          <p:cNvSpPr/>
          <p:nvPr/>
        </p:nvSpPr>
        <p:spPr>
          <a:xfrm>
            <a:off x="1261872" y="164592"/>
            <a:ext cx="108630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Out!</a:t>
            </a:r>
            <a:endParaRPr lang="en-US" sz="2500" dirty="0"/>
          </a:p>
        </p:txBody>
      </p:sp>
      <p:pic>
        <p:nvPicPr>
          <p:cNvPr id="6" name="brP_327" descr="/home/claude/lls-course/v2/assets/brush-pink.png">    </p:cNvPr>
          <p:cNvPicPr>
            <a:picLocks noChangeAspect="1"/>
          </p:cNvPicPr>
          <p:nvPr/>
        </p:nvPicPr>
        <p:blipFill>
          <a:blip r:embed="rId3"/>
          <a:stretch>
            <a:fillRect/>
          </a:stretch>
        </p:blipFill>
        <p:spPr>
          <a:xfrm>
            <a:off x="1207008" y="731520"/>
            <a:ext cx="3337560" cy="402336"/>
          </a:xfrm>
          <a:prstGeom prst="rect">
            <a:avLst/>
          </a:prstGeom>
        </p:spPr>
      </p:pic>
      <p:sp>
        <p:nvSpPr>
          <p:cNvPr id="7" name="ins_328"/>
          <p:cNvSpPr/>
          <p:nvPr/>
        </p:nvSpPr>
        <p:spPr>
          <a:xfrm>
            <a:off x="1353312" y="731520"/>
            <a:ext cx="308152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Guess the missing words.</a:t>
            </a:r>
            <a:endParaRPr lang="en-US" sz="1250" dirty="0"/>
          </a:p>
        </p:txBody>
      </p:sp>
      <p:sp>
        <p:nvSpPr>
          <p:cNvPr id="8" name="insIT_32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Indovina le parole mancanti.</a:t>
            </a:r>
            <a:endParaRPr lang="en-US" sz="950" dirty="0"/>
          </a:p>
        </p:txBody>
      </p:sp>
      <p:sp>
        <p:nvSpPr>
          <p:cNvPr id="9" name="note_33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LEGGI</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TPRS · reading</a:t>
            </a:r>
            <a:endParaRPr lang="en-US" sz="1250" dirty="0"/>
          </a:p>
        </p:txBody>
      </p:sp>
      <p:pic>
        <p:nvPicPr>
          <p:cNvPr id="10" name="logo_33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3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Reading · the article   ·   📖 SB p.36 · 2b (article, slightly shortened)</a:t>
            </a:r>
            <a:endParaRPr lang="en-US" sz="800" dirty="0"/>
          </a:p>
        </p:txBody>
      </p:sp>
      <p:sp>
        <p:nvSpPr>
          <p:cNvPr id="12" name="cd_333"/>
          <p:cNvSpPr/>
          <p:nvPr/>
        </p:nvSpPr>
        <p:spPr>
          <a:xfrm>
            <a:off x="320040" y="1417320"/>
            <a:ext cx="5715000" cy="3337560"/>
          </a:xfrm>
          <a:prstGeom prst="roundRect">
            <a:avLst>
              <a:gd name="adj" fmla="val 3836"/>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13" name="sh_334"/>
          <p:cNvSpPr/>
          <p:nvPr/>
        </p:nvSpPr>
        <p:spPr>
          <a:xfrm>
            <a:off x="320040" y="1417320"/>
            <a:ext cx="5715000" cy="438912"/>
          </a:xfrm>
          <a:prstGeom prst="rect">
            <a:avLst/>
          </a:prstGeom>
          <a:solidFill>
            <a:srgbClr val="E3F7EA"/>
          </a:solidFill>
          <a:ln/>
        </p:spPr>
        <p:txBody>
          <a:bodyPr wrap="square" lIns="203200" tIns="0" rIns="203200" bIns="0" rtlCol="0" anchor="ctr"/>
          <a:lstStyle/>
          <a:p>
            <a:pPr indent="0" marL="0">
              <a:buNone/>
            </a:pPr>
            <a:r>
              <a:rPr lang="en-US" sz="1700" b="1" dirty="0">
                <a:solidFill>
                  <a:srgbClr val="1F6F43"/>
                </a:solidFill>
                <a:latin typeface="Georgia" pitchFamily="34" charset="0"/>
                <a:ea typeface="Georgia" pitchFamily="34" charset="-122"/>
                <a:cs typeface="Georgia" pitchFamily="34" charset="-120"/>
              </a:rPr>
              <a:t>Conductor throws out audience member</a:t>
            </a:r>
            <a:endParaRPr lang="en-US" sz="1700" dirty="0"/>
          </a:p>
        </p:txBody>
      </p:sp>
      <p:sp>
        <p:nvSpPr>
          <p:cNvPr id="14" name="ln_335"/>
          <p:cNvSpPr/>
          <p:nvPr/>
        </p:nvSpPr>
        <p:spPr>
          <a:xfrm>
            <a:off x="548640" y="1920240"/>
            <a:ext cx="5349240" cy="489173"/>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At the National Music Auditorium in Madrid, a performance of Handel's Messiah</a:t>
            </a:r>
            <a:endParaRPr lang="en-US" sz="1300" dirty="0"/>
          </a:p>
        </p:txBody>
      </p:sp>
      <p:sp>
        <p:nvSpPr>
          <p:cNvPr id="15" name="ln_336"/>
          <p:cNvSpPr/>
          <p:nvPr/>
        </p:nvSpPr>
        <p:spPr>
          <a:xfrm>
            <a:off x="548640" y="2409413"/>
            <a:ext cx="5349240" cy="495526"/>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was interrupted by a mobile phone </a:t>
            </a:r>
            <a:pPr indent="0" marL="0">
              <a:buNone/>
            </a:pPr>
            <a:r>
              <a:rPr lang="en-US" sz="1300" b="1" dirty="0">
                <a:solidFill>
                  <a:srgbClr val="2EB872"/>
                </a:solidFill>
                <a:latin typeface="Georgia" pitchFamily="34" charset="0"/>
                <a:ea typeface="Georgia" pitchFamily="34" charset="-122"/>
                <a:cs typeface="Georgia" pitchFamily="34" charset="-120"/>
              </a:rPr>
              <a:t> (1) ________ </a:t>
            </a:r>
            <a:pPr indent="0" marL="0">
              <a:buNone/>
            </a:pPr>
            <a:r>
              <a:rPr lang="en-US" sz="1300" dirty="0">
                <a:solidFill>
                  <a:srgbClr val="1B2559"/>
                </a:solidFill>
                <a:latin typeface="Georgia" pitchFamily="34" charset="0"/>
                <a:ea typeface="Georgia" pitchFamily="34" charset="-122"/>
                <a:cs typeface="Georgia" pitchFamily="34" charset="-120"/>
              </a:rPr>
              <a:t> in a row close to the stage.</a:t>
            </a:r>
            <a:endParaRPr lang="en-US" sz="1300" dirty="0"/>
          </a:p>
        </p:txBody>
      </p:sp>
      <p:sp>
        <p:nvSpPr>
          <p:cNvPr id="16" name="R1_lnA337"/>
          <p:cNvSpPr/>
          <p:nvPr/>
        </p:nvSpPr>
        <p:spPr>
          <a:xfrm>
            <a:off x="548640" y="2409413"/>
            <a:ext cx="5349240" cy="495526"/>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was interrupted by a mobile phone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going off</a:t>
            </a:r>
            <a:pPr indent="0" marL="0">
              <a:buNone/>
            </a:pPr>
            <a:r>
              <a:rPr lang="en-US" sz="1300" dirty="0">
                <a:solidFill>
                  <a:srgbClr val="1B2559"/>
                </a:solidFill>
                <a:latin typeface="Georgia" pitchFamily="34" charset="0"/>
                <a:ea typeface="Georgia" pitchFamily="34" charset="-122"/>
                <a:cs typeface="Georgia" pitchFamily="34" charset="-120"/>
              </a:rPr>
              <a:t> in a row close to the stage.</a:t>
            </a:r>
            <a:endParaRPr lang="en-US" sz="1300" dirty="0"/>
          </a:p>
        </p:txBody>
      </p:sp>
      <p:sp>
        <p:nvSpPr>
          <p:cNvPr id="17" name="ln_338"/>
          <p:cNvSpPr/>
          <p:nvPr/>
        </p:nvSpPr>
        <p:spPr>
          <a:xfrm>
            <a:off x="548640" y="2904938"/>
            <a:ext cx="5349240" cy="711524"/>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Conductor William Christie </a:t>
            </a:r>
            <a:pPr indent="0" marL="0">
              <a:buNone/>
            </a:pPr>
            <a:r>
              <a:rPr lang="en-US" sz="1300" b="1" dirty="0">
                <a:solidFill>
                  <a:srgbClr val="2EB872"/>
                </a:solidFill>
                <a:latin typeface="Georgia" pitchFamily="34" charset="0"/>
                <a:ea typeface="Georgia" pitchFamily="34" charset="-122"/>
                <a:cs typeface="Georgia" pitchFamily="34" charset="-120"/>
              </a:rPr>
              <a:t> (2) ________ </a:t>
            </a:r>
            <a:pPr indent="0" marL="0">
              <a:buNone/>
            </a:pPr>
            <a:r>
              <a:rPr lang="en-US" sz="1300" dirty="0">
                <a:solidFill>
                  <a:srgbClr val="1B2559"/>
                </a:solidFill>
                <a:latin typeface="Georgia" pitchFamily="34" charset="0"/>
                <a:ea typeface="Georgia" pitchFamily="34" charset="-122"/>
                <a:cs typeface="Georgia" pitchFamily="34" charset="-120"/>
              </a:rPr>
              <a:t> the performance, turned, </a:t>
            </a:r>
            <a:pPr indent="0" marL="0">
              <a:buNone/>
            </a:pPr>
            <a:r>
              <a:rPr lang="en-US" sz="1300" b="1" dirty="0">
                <a:solidFill>
                  <a:srgbClr val="2EB872"/>
                </a:solidFill>
                <a:latin typeface="Georgia" pitchFamily="34" charset="0"/>
                <a:ea typeface="Georgia" pitchFamily="34" charset="-122"/>
                <a:cs typeface="Georgia" pitchFamily="34" charset="-120"/>
              </a:rPr>
              <a:t> (3) ________ </a:t>
            </a:r>
            <a:pPr indent="0" marL="0">
              <a:buNone/>
            </a:pPr>
            <a:r>
              <a:rPr lang="en-US" sz="1300" dirty="0">
                <a:solidFill>
                  <a:srgbClr val="1B2559"/>
                </a:solidFill>
                <a:latin typeface="Georgia" pitchFamily="34" charset="0"/>
                <a:ea typeface="Georgia" pitchFamily="34" charset="-122"/>
                <a:cs typeface="Georgia" pitchFamily="34" charset="-120"/>
              </a:rPr>
              <a:t> at the phone owner, and shouted:</a:t>
            </a:r>
            <a:endParaRPr lang="en-US" sz="1300" dirty="0"/>
          </a:p>
        </p:txBody>
      </p:sp>
      <p:sp>
        <p:nvSpPr>
          <p:cNvPr id="18" name="R2_lnA339"/>
          <p:cNvSpPr/>
          <p:nvPr/>
        </p:nvSpPr>
        <p:spPr>
          <a:xfrm>
            <a:off x="548640" y="2904938"/>
            <a:ext cx="5349240" cy="711524"/>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Conductor William Christie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stopped</a:t>
            </a:r>
            <a:pPr indent="0" marL="0">
              <a:buNone/>
            </a:pPr>
            <a:r>
              <a:rPr lang="en-US" sz="1300" dirty="0">
                <a:solidFill>
                  <a:srgbClr val="1B2559"/>
                </a:solidFill>
                <a:latin typeface="Georgia" pitchFamily="34" charset="0"/>
                <a:ea typeface="Georgia" pitchFamily="34" charset="-122"/>
                <a:cs typeface="Georgia" pitchFamily="34" charset="-120"/>
              </a:rPr>
              <a:t> the performance, turned,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pointed</a:t>
            </a:r>
            <a:pPr indent="0" marL="0">
              <a:buNone/>
            </a:pPr>
            <a:r>
              <a:rPr lang="en-US" sz="1300" dirty="0">
                <a:solidFill>
                  <a:srgbClr val="1B2559"/>
                </a:solidFill>
                <a:latin typeface="Georgia" pitchFamily="34" charset="0"/>
                <a:ea typeface="Georgia" pitchFamily="34" charset="-122"/>
                <a:cs typeface="Georgia" pitchFamily="34" charset="-120"/>
              </a:rPr>
              <a:t> at the phone owner, and shouted:</a:t>
            </a:r>
            <a:endParaRPr lang="en-US" sz="1300" dirty="0"/>
          </a:p>
        </p:txBody>
      </p:sp>
      <p:sp>
        <p:nvSpPr>
          <p:cNvPr id="19" name="ln_340"/>
          <p:cNvSpPr/>
          <p:nvPr/>
        </p:nvSpPr>
        <p:spPr>
          <a:xfrm>
            <a:off x="548640" y="3616462"/>
            <a:ext cx="5349240" cy="743288"/>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'Out! You have just </a:t>
            </a:r>
            <a:pPr indent="0" marL="0">
              <a:buNone/>
            </a:pPr>
            <a:r>
              <a:rPr lang="en-US" sz="1300" b="1" dirty="0">
                <a:solidFill>
                  <a:srgbClr val="2EB872"/>
                </a:solidFill>
                <a:latin typeface="Georgia" pitchFamily="34" charset="0"/>
                <a:ea typeface="Georgia" pitchFamily="34" charset="-122"/>
                <a:cs typeface="Georgia" pitchFamily="34" charset="-120"/>
              </a:rPr>
              <a:t> (4) ________ </a:t>
            </a:r>
            <a:pPr indent="0" marL="0">
              <a:buNone/>
            </a:pPr>
            <a:r>
              <a:rPr lang="en-US" sz="1300" dirty="0">
                <a:solidFill>
                  <a:srgbClr val="1B2559"/>
                </a:solidFill>
                <a:latin typeface="Georgia" pitchFamily="34" charset="0"/>
                <a:ea typeface="Georgia" pitchFamily="34" charset="-122"/>
                <a:cs typeface="Georgia" pitchFamily="34" charset="-120"/>
              </a:rPr>
              <a:t> one of the most beautiful passages of one of the most beautiful works ever written.'</a:t>
            </a:r>
            <a:endParaRPr lang="en-US" sz="1300" dirty="0"/>
          </a:p>
        </p:txBody>
      </p:sp>
      <p:sp>
        <p:nvSpPr>
          <p:cNvPr id="20" name="R3_lnA341"/>
          <p:cNvSpPr/>
          <p:nvPr/>
        </p:nvSpPr>
        <p:spPr>
          <a:xfrm>
            <a:off x="548640" y="3616462"/>
            <a:ext cx="5349240" cy="743288"/>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'Out! You have just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ruined</a:t>
            </a:r>
            <a:pPr indent="0" marL="0">
              <a:buNone/>
            </a:pPr>
            <a:r>
              <a:rPr lang="en-US" sz="1300" dirty="0">
                <a:solidFill>
                  <a:srgbClr val="1B2559"/>
                </a:solidFill>
                <a:latin typeface="Georgia" pitchFamily="34" charset="0"/>
                <a:ea typeface="Georgia" pitchFamily="34" charset="-122"/>
                <a:cs typeface="Georgia" pitchFamily="34" charset="-120"/>
              </a:rPr>
              <a:t> one of the most beautiful passages of one of the most beautiful works ever written.'</a:t>
            </a:r>
            <a:endParaRPr lang="en-US" sz="1300" dirty="0"/>
          </a:p>
        </p:txBody>
      </p:sp>
      <p:sp>
        <p:nvSpPr>
          <p:cNvPr id="21" name="ln_342"/>
          <p:cNvSpPr/>
          <p:nvPr/>
        </p:nvSpPr>
        <p:spPr>
          <a:xfrm>
            <a:off x="548640" y="4359751"/>
            <a:ext cx="5349240" cy="349409"/>
          </a:xfrm>
          <a:prstGeom prst="rect">
            <a:avLst/>
          </a:prstGeom>
          <a:no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 phone owner got up and quickly </a:t>
            </a:r>
            <a:pPr indent="0" marL="0">
              <a:buNone/>
            </a:pPr>
            <a:r>
              <a:rPr lang="en-US" sz="1300" b="1" dirty="0">
                <a:solidFill>
                  <a:srgbClr val="2EB872"/>
                </a:solidFill>
                <a:latin typeface="Georgia" pitchFamily="34" charset="0"/>
                <a:ea typeface="Georgia" pitchFamily="34" charset="-122"/>
                <a:cs typeface="Georgia" pitchFamily="34" charset="-120"/>
              </a:rPr>
              <a:t> (5) ________ </a:t>
            </a:r>
            <a:pPr indent="0" marL="0">
              <a:buNone/>
            </a:pPr>
            <a:r>
              <a:rPr lang="en-US" sz="1300" dirty="0">
                <a:solidFill>
                  <a:srgbClr val="1B2559"/>
                </a:solidFill>
                <a:latin typeface="Georgia" pitchFamily="34" charset="0"/>
                <a:ea typeface="Georgia" pitchFamily="34" charset="-122"/>
                <a:cs typeface="Georgia" pitchFamily="34" charset="-120"/>
              </a:rPr>
              <a:t> the hall.</a:t>
            </a:r>
            <a:endParaRPr lang="en-US" sz="1300" dirty="0"/>
          </a:p>
        </p:txBody>
      </p:sp>
      <p:sp>
        <p:nvSpPr>
          <p:cNvPr id="22" name="R4_lnA343"/>
          <p:cNvSpPr/>
          <p:nvPr/>
        </p:nvSpPr>
        <p:spPr>
          <a:xfrm>
            <a:off x="548640" y="4359751"/>
            <a:ext cx="5349240" cy="349409"/>
          </a:xfrm>
          <a:prstGeom prst="rect">
            <a:avLst/>
          </a:prstGeom>
          <a:solidFill>
            <a:srgbClr val="FFFFFF"/>
          </a:solidFill>
          <a:ln/>
        </p:spPr>
        <p:txBody>
          <a:bodyPr wrap="square" lIns="0" tIns="0" rIns="0" bIns="0" rtlCol="0" anchor="t"/>
          <a:lstStyle/>
          <a:p>
            <a:pPr indent="0" marL="0">
              <a:buNone/>
            </a:pPr>
            <a:r>
              <a:rPr lang="en-US" sz="1300" dirty="0">
                <a:solidFill>
                  <a:srgbClr val="1B2559"/>
                </a:solidFill>
                <a:latin typeface="Georgia" pitchFamily="34" charset="0"/>
                <a:ea typeface="Georgia" pitchFamily="34" charset="-122"/>
                <a:cs typeface="Georgia" pitchFamily="34" charset="-120"/>
              </a:rPr>
              <a:t>The phone owner got up and quickly </a:t>
            </a:r>
            <a:pPr indent="0" marL="0">
              <a:buNone/>
            </a:pPr>
            <a:r>
              <a:rPr lang="en-US" sz="1300" b="1" dirty="0">
                <a:solidFill>
                  <a:srgbClr val="1B2559"/>
                </a:solidFill>
                <a:highlight>
                  <a:srgbClr val="FFE066"/>
                </a:highlight>
                <a:latin typeface="Georgia" pitchFamily="34" charset="0"/>
                <a:ea typeface="Georgia" pitchFamily="34" charset="-122"/>
                <a:cs typeface="Georgia" pitchFamily="34" charset="-120"/>
              </a:rPr>
              <a:t>left</a:t>
            </a:r>
            <a:pPr indent="0" marL="0">
              <a:buNone/>
            </a:pPr>
            <a:r>
              <a:rPr lang="en-US" sz="1300" dirty="0">
                <a:solidFill>
                  <a:srgbClr val="1B2559"/>
                </a:solidFill>
                <a:latin typeface="Georgia" pitchFamily="34" charset="0"/>
                <a:ea typeface="Georgia" pitchFamily="34" charset="-122"/>
                <a:cs typeface="Georgia" pitchFamily="34" charset="-120"/>
              </a:rPr>
              <a:t> the hall.</a:t>
            </a:r>
            <a:endParaRPr lang="en-US" sz="1300" dirty="0"/>
          </a:p>
        </p:txBody>
      </p:sp>
      <p:sp>
        <p:nvSpPr>
          <p:cNvPr id="23" name="pf_344"/>
          <p:cNvSpPr/>
          <p:nvPr/>
        </p:nvSpPr>
        <p:spPr>
          <a:xfrm rot="120000">
            <a:off x="6699381" y="1417320"/>
            <a:ext cx="1780277" cy="1508760"/>
          </a:xfrm>
          <a:prstGeom prst="roundRect">
            <a:avLst>
              <a:gd name="adj" fmla="val 1030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4" name="ph_345" descr="/home/claude/lls-course/v2/cache/4a1_cover_jpg_406x341_31.png">    </p:cNvPr>
          <p:cNvPicPr>
            <a:picLocks noChangeAspect="1"/>
          </p:cNvPicPr>
          <p:nvPr/>
        </p:nvPicPr>
        <p:blipFill>
          <a:blip r:embed="rId5"/>
          <a:stretch>
            <a:fillRect/>
          </a:stretch>
        </p:blipFill>
        <p:spPr>
          <a:xfrm rot="120000">
            <a:off x="6745101" y="1463040"/>
            <a:ext cx="1688837" cy="1417320"/>
          </a:xfrm>
          <a:prstGeom prst="rect">
            <a:avLst/>
          </a:prstGeom>
        </p:spPr>
      </p:pic>
      <p:sp>
        <p:nvSpPr>
          <p:cNvPr id="25" name="cd_346"/>
          <p:cNvSpPr/>
          <p:nvPr/>
        </p:nvSpPr>
        <p:spPr>
          <a:xfrm>
            <a:off x="6263640" y="3794760"/>
            <a:ext cx="2651760" cy="960120"/>
          </a:xfrm>
          <a:prstGeom prst="roundRect">
            <a:avLst>
              <a:gd name="adj" fmla="val 13333"/>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26" name="ii_347"/>
          <p:cNvSpPr/>
          <p:nvPr/>
        </p:nvSpPr>
        <p:spPr>
          <a:xfrm>
            <a:off x="6355080" y="38679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7" name="ih_348"/>
          <p:cNvSpPr/>
          <p:nvPr/>
        </p:nvSpPr>
        <p:spPr>
          <a:xfrm>
            <a:off x="6830568" y="3886200"/>
            <a:ext cx="2011680" cy="365760"/>
          </a:xfrm>
          <a:prstGeom prst="rect">
            <a:avLst/>
          </a:prstGeom>
          <a:noFill/>
          <a:ln/>
        </p:spPr>
        <p:txBody>
          <a:bodyPr wrap="square" lIns="0" tIns="0" rIns="0" bIns="0" rtlCol="0" anchor="ctr"/>
          <a:lstStyle/>
          <a:p>
            <a:pPr indent="0" marL="0">
              <a:buNone/>
            </a:pPr>
            <a:r>
              <a:rPr lang="en-US" sz="1200" dirty="0">
                <a:solidFill>
                  <a:srgbClr val="1B2559"/>
                </a:solidFill>
                <a:latin typeface="Arial Rounded MT Bold" pitchFamily="34" charset="0"/>
                <a:ea typeface="Arial Rounded MT Bold" pitchFamily="34" charset="-122"/>
                <a:cs typeface="Arial Rounded MT Bold" pitchFamily="34" charset="-120"/>
              </a:rPr>
              <a:t>Remember</a:t>
            </a:r>
            <a:endParaRPr lang="en-US" sz="1200" dirty="0"/>
          </a:p>
        </p:txBody>
      </p:sp>
      <p:sp>
        <p:nvSpPr>
          <p:cNvPr id="28" name="il_349"/>
          <p:cNvSpPr/>
          <p:nvPr/>
        </p:nvSpPr>
        <p:spPr>
          <a:xfrm>
            <a:off x="6830568" y="4288536"/>
            <a:ext cx="1993392" cy="3931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conductor /kənˈdʌktə/ = direttore d'orchestra</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row = fila (of seats)</a:t>
            </a:r>
            <a:endParaRPr lang="en-US" sz="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6"/>
                                        </p:tgtEl>
                                        <p:attrNameLst>
                                          <p:attrName>style.visibility</p:attrName>
                                        </p:attrNameLst>
                                      </p:cBhvr>
                                      <p:to>
                                        <p:strVal val="visible"/>
                                      </p:to>
                                    </p:set>
                                    <p:animEffect transition="in" filter="fade">
                                      <p:cBhvr>
                                        <p:cTn id="7" dur="400"/>
                                        <p:tgtEl>
                                          <p:spTgt spid="16"/>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8"/>
                                        </p:tgtEl>
                                        <p:attrNameLst>
                                          <p:attrName>style.visibility</p:attrName>
                                        </p:attrNameLst>
                                      </p:cBhvr>
                                      <p:to>
                                        <p:strVal val="visible"/>
                                      </p:to>
                                    </p:set>
                                    <p:animEffect transition="in" filter="fade">
                                      <p:cBhvr>
                                        <p:cTn id="12" dur="400"/>
                                        <p:tgtEl>
                                          <p:spTgt spid="18"/>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2"/>
                                        </p:tgtEl>
                                        <p:attrNameLst>
                                          <p:attrName>style.visibility</p:attrName>
                                        </p:attrNameLst>
                                      </p:cBhvr>
                                      <p:to>
                                        <p:strVal val="visible"/>
                                      </p:to>
                                    </p:set>
                                    <p:animEffect transition="in" filter="fade">
                                      <p:cBhvr>
                                        <p:cTn id="22" dur="400"/>
                                        <p:tgtEl>
                                          <p:spTgt spid="2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2.xml><?xml version="1.0" encoding="utf-8"?>
<p:sld xmlns:a="http://schemas.openxmlformats.org/drawingml/2006/main" xmlns:r="http://schemas.openxmlformats.org/officeDocument/2006/relationships" xmlns:p="http://schemas.openxmlformats.org/presentationml/2006/main">
  <p:cSld name="Slide 1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50"/>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12</a:t>
            </a:r>
            <a:endParaRPr lang="en-US" sz="2200" dirty="0"/>
          </a:p>
        </p:txBody>
      </p:sp>
      <p:pic>
        <p:nvPicPr>
          <p:cNvPr id="4" name="brY_351"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352"/>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Read the comments</a:t>
            </a:r>
            <a:endParaRPr lang="en-US" sz="2400" dirty="0"/>
          </a:p>
        </p:txBody>
      </p:sp>
      <p:pic>
        <p:nvPicPr>
          <p:cNvPr id="6" name="brP_353" descr="/home/claude/lls-course/v2/assets/brush-pink.png">    </p:cNvPr>
          <p:cNvPicPr>
            <a:picLocks noChangeAspect="1"/>
          </p:cNvPicPr>
          <p:nvPr/>
        </p:nvPicPr>
        <p:blipFill>
          <a:blip r:embed="rId3"/>
          <a:stretch>
            <a:fillRect/>
          </a:stretch>
        </p:blipFill>
        <p:spPr>
          <a:xfrm>
            <a:off x="1207008" y="731520"/>
            <a:ext cx="3163824" cy="402336"/>
          </a:xfrm>
          <a:prstGeom prst="rect">
            <a:avLst/>
          </a:prstGeom>
        </p:spPr>
      </p:pic>
      <p:sp>
        <p:nvSpPr>
          <p:cNvPr id="7" name="ins_354"/>
          <p:cNvSpPr/>
          <p:nvPr/>
        </p:nvSpPr>
        <p:spPr>
          <a:xfrm>
            <a:off x="1353312" y="731520"/>
            <a:ext cx="290779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Who do you agree with?</a:t>
            </a:r>
            <a:endParaRPr lang="en-US" sz="1250" dirty="0"/>
          </a:p>
        </p:txBody>
      </p:sp>
      <p:sp>
        <p:nvSpPr>
          <p:cNvPr id="8" name="insIT_35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Con chi sei d'accordo?</a:t>
            </a:r>
            <a:endParaRPr lang="en-US" sz="950" dirty="0"/>
          </a:p>
        </p:txBody>
      </p:sp>
      <p:sp>
        <p:nvSpPr>
          <p:cNvPr id="9" name="note_35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FIND</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Reading · Guided discovery</a:t>
            </a:r>
            <a:endParaRPr lang="en-US" sz="1150" dirty="0"/>
          </a:p>
        </p:txBody>
      </p:sp>
      <p:pic>
        <p:nvPicPr>
          <p:cNvPr id="10" name="logo_35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5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Reading · the comments   ·   📖 SB p.36 · 2b comments (shortened)</a:t>
            </a:r>
            <a:endParaRPr lang="en-US" sz="800" dirty="0"/>
          </a:p>
        </p:txBody>
      </p:sp>
      <p:sp>
        <p:nvSpPr>
          <p:cNvPr id="12" name="pf_359"/>
          <p:cNvSpPr/>
          <p:nvPr/>
        </p:nvSpPr>
        <p:spPr>
          <a:xfrm rot="-120000">
            <a:off x="365760" y="1371600"/>
            <a:ext cx="2468880" cy="1691640"/>
          </a:xfrm>
          <a:prstGeom prst="roundRect">
            <a:avLst>
              <a:gd name="adj" fmla="val 9189"/>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360" descr="/home/claude/lls-course/v2/cache/4a1_cloakroom_jpg_572x385_31.png">    </p:cNvPr>
          <p:cNvPicPr>
            <a:picLocks noChangeAspect="1"/>
          </p:cNvPicPr>
          <p:nvPr/>
        </p:nvPicPr>
        <p:blipFill>
          <a:blip r:embed="rId5"/>
          <a:stretch>
            <a:fillRect/>
          </a:stretch>
        </p:blipFill>
        <p:spPr>
          <a:xfrm rot="-120000">
            <a:off x="411480" y="1417320"/>
            <a:ext cx="2377440" cy="1600200"/>
          </a:xfrm>
          <a:prstGeom prst="rect">
            <a:avLst/>
          </a:prstGeom>
        </p:spPr>
      </p:pic>
      <p:sp>
        <p:nvSpPr>
          <p:cNvPr id="14" name="cd_361"/>
          <p:cNvSpPr/>
          <p:nvPr/>
        </p:nvSpPr>
        <p:spPr>
          <a:xfrm>
            <a:off x="320040" y="3246120"/>
            <a:ext cx="2606040" cy="1453896"/>
          </a:xfrm>
          <a:prstGeom prst="roundRect">
            <a:avLst>
              <a:gd name="adj" fmla="val 8805"/>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362"/>
          <p:cNvSpPr/>
          <p:nvPr/>
        </p:nvSpPr>
        <p:spPr>
          <a:xfrm>
            <a:off x="411480" y="33192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363"/>
          <p:cNvSpPr/>
          <p:nvPr/>
        </p:nvSpPr>
        <p:spPr>
          <a:xfrm>
            <a:off x="886968" y="3337560"/>
            <a:ext cx="196596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Find it!</a:t>
            </a:r>
            <a:endParaRPr lang="en-US" sz="1300" dirty="0"/>
          </a:p>
        </p:txBody>
      </p:sp>
      <p:sp>
        <p:nvSpPr>
          <p:cNvPr id="17" name="il_364"/>
          <p:cNvSpPr/>
          <p:nvPr/>
        </p:nvSpPr>
        <p:spPr>
          <a:xfrm>
            <a:off x="886968" y="3739896"/>
            <a:ext cx="1947672" cy="886968"/>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should / shouldn't</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have to / don't have to</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must / mustn't</a:t>
            </a:r>
            <a:endParaRPr lang="en-US" sz="1050" dirty="0"/>
          </a:p>
        </p:txBody>
      </p:sp>
      <p:sp>
        <p:nvSpPr>
          <p:cNvPr id="18" name="who_365"/>
          <p:cNvSpPr/>
          <p:nvPr/>
        </p:nvSpPr>
        <p:spPr>
          <a:xfrm>
            <a:off x="3108960" y="1463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danny</a:t>
            </a:r>
            <a:endParaRPr lang="en-US" sz="950" dirty="0"/>
          </a:p>
        </p:txBody>
      </p:sp>
      <p:sp>
        <p:nvSpPr>
          <p:cNvPr id="19" name="sl_366"/>
          <p:cNvSpPr/>
          <p:nvPr/>
        </p:nvSpPr>
        <p:spPr>
          <a:xfrm>
            <a:off x="4114800" y="1444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If people can't live without their phones for two hours,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¹ they shouldn't go to concerts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0" name="R1_slA367"/>
          <p:cNvSpPr/>
          <p:nvPr/>
        </p:nvSpPr>
        <p:spPr>
          <a:xfrm>
            <a:off x="4114800" y="1444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If people can't live without their phones for two hours,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¹ they shouldn't go to concerts</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1" name="who_368"/>
          <p:cNvSpPr/>
          <p:nvPr/>
        </p:nvSpPr>
        <p:spPr>
          <a:xfrm>
            <a:off x="3108960" y="19202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danny</a:t>
            </a:r>
            <a:endParaRPr lang="en-US" sz="950" dirty="0"/>
          </a:p>
        </p:txBody>
      </p:sp>
      <p:sp>
        <p:nvSpPr>
          <p:cNvPr id="22" name="sl_369"/>
          <p:cNvSpPr/>
          <p:nvPr/>
        </p:nvSpPr>
        <p:spPr>
          <a:xfrm>
            <a:off x="4114800" y="19019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need a new rule: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² you have to leave your phone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in the cloakroom.</a:t>
            </a:r>
            <a:endParaRPr lang="en-US" sz="1150" dirty="0"/>
          </a:p>
        </p:txBody>
      </p:sp>
      <p:sp>
        <p:nvSpPr>
          <p:cNvPr id="23" name="R2_slA370"/>
          <p:cNvSpPr/>
          <p:nvPr/>
        </p:nvSpPr>
        <p:spPr>
          <a:xfrm>
            <a:off x="4114800" y="19019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We need a new rule: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² you have to leave your phone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in the cloakroom.</a:t>
            </a:r>
            <a:endParaRPr lang="en-US" sz="1150" dirty="0"/>
          </a:p>
        </p:txBody>
      </p:sp>
      <p:sp>
        <p:nvSpPr>
          <p:cNvPr id="24" name="who_371"/>
          <p:cNvSpPr/>
          <p:nvPr/>
        </p:nvSpPr>
        <p:spPr>
          <a:xfrm>
            <a:off x="3108960" y="23774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cassie</a:t>
            </a:r>
            <a:endParaRPr lang="en-US" sz="950" dirty="0"/>
          </a:p>
        </p:txBody>
      </p:sp>
      <p:sp>
        <p:nvSpPr>
          <p:cNvPr id="25" name="sl_372"/>
          <p:cNvSpPr/>
          <p:nvPr/>
        </p:nvSpPr>
        <p:spPr>
          <a:xfrm>
            <a:off x="4114800" y="23591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If you are caught with a phone in the auditorium,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³ you must immediately pay a fine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6" name="R3_slA373"/>
          <p:cNvSpPr/>
          <p:nvPr/>
        </p:nvSpPr>
        <p:spPr>
          <a:xfrm>
            <a:off x="4114800" y="23591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If you are caught with a phone in the auditorium,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³ you must immediately pay a fine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7" name="who_374"/>
          <p:cNvSpPr/>
          <p:nvPr/>
        </p:nvSpPr>
        <p:spPr>
          <a:xfrm>
            <a:off x="3108960" y="28346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anton</a:t>
            </a:r>
            <a:endParaRPr lang="en-US" sz="950" dirty="0"/>
          </a:p>
        </p:txBody>
      </p:sp>
      <p:sp>
        <p:nvSpPr>
          <p:cNvPr id="28" name="sl_375"/>
          <p:cNvSpPr/>
          <p:nvPr/>
        </p:nvSpPr>
        <p:spPr>
          <a:xfrm>
            <a:off x="4114800" y="28163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People have work phones. Their companies tell them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⁴ they mustn't give their phones to anyone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29" name="R4_slA376"/>
          <p:cNvSpPr/>
          <p:nvPr/>
        </p:nvSpPr>
        <p:spPr>
          <a:xfrm>
            <a:off x="4114800" y="28163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People have work phones. Their companies tell them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⁴ they mustn't give their phones to anyone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0" name="who_377"/>
          <p:cNvSpPr/>
          <p:nvPr/>
        </p:nvSpPr>
        <p:spPr>
          <a:xfrm>
            <a:off x="3108960" y="32918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kasia</a:t>
            </a:r>
            <a:endParaRPr lang="en-US" sz="950" dirty="0"/>
          </a:p>
        </p:txBody>
      </p:sp>
      <p:sp>
        <p:nvSpPr>
          <p:cNvPr id="31" name="sl_378"/>
          <p:cNvSpPr/>
          <p:nvPr/>
        </p:nvSpPr>
        <p:spPr>
          <a:xfrm>
            <a:off x="4114800" y="32735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think all concert halls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⁵ should block mobile phone reception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2" name="R5_slA379"/>
          <p:cNvSpPr/>
          <p:nvPr/>
        </p:nvSpPr>
        <p:spPr>
          <a:xfrm>
            <a:off x="4114800" y="32735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I think all concert halls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⁵ should block mobile phone reception</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p:txBody>
      </p:sp>
      <p:sp>
        <p:nvSpPr>
          <p:cNvPr id="33" name="who_380"/>
          <p:cNvSpPr/>
          <p:nvPr/>
        </p:nvSpPr>
        <p:spPr>
          <a:xfrm>
            <a:off x="3108960" y="3749040"/>
            <a:ext cx="914400" cy="365760"/>
          </a:xfrm>
          <a:prstGeom prst="roundRect">
            <a:avLst>
              <a:gd name="adj" fmla="val 30000"/>
            </a:avLst>
          </a:prstGeom>
          <a:solidFill>
            <a:srgbClr val="FFE3EE"/>
          </a:solidFill>
          <a:ln/>
        </p:spPr>
        <p:txBody>
          <a:bodyPr wrap="square" lIns="0" tIns="0" rIns="0" bIns="0" rtlCol="0" anchor="ctr">
            <a:normAutofit/>
          </a:bodyPr>
          <a:lstStyle/>
          <a:p>
            <a:pPr algn="ctr" indent="0" marL="0">
              <a:buNone/>
            </a:pPr>
            <a:r>
              <a:rPr lang="en-US" sz="950" dirty="0">
                <a:solidFill>
                  <a:srgbClr val="1B2559"/>
                </a:solidFill>
                <a:latin typeface="Segoe UI Semibold" pitchFamily="34" charset="0"/>
                <a:ea typeface="Segoe UI Semibold" pitchFamily="34" charset="-122"/>
                <a:cs typeface="Segoe UI Semibold" pitchFamily="34" charset="-120"/>
              </a:rPr>
              <a:t>marcel</a:t>
            </a:r>
            <a:endParaRPr lang="en-US" sz="950" dirty="0"/>
          </a:p>
        </p:txBody>
      </p:sp>
      <p:sp>
        <p:nvSpPr>
          <p:cNvPr id="34" name="sl_381"/>
          <p:cNvSpPr/>
          <p:nvPr/>
        </p:nvSpPr>
        <p:spPr>
          <a:xfrm>
            <a:off x="4114800" y="3730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Often it's an alarm, which </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⁶ doesn't have to have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reception to go off.</a:t>
            </a:r>
            <a:endParaRPr lang="en-US" sz="1150" dirty="0"/>
          </a:p>
        </p:txBody>
      </p:sp>
      <p:sp>
        <p:nvSpPr>
          <p:cNvPr id="35" name="R6_slA382"/>
          <p:cNvSpPr/>
          <p:nvPr/>
        </p:nvSpPr>
        <p:spPr>
          <a:xfrm>
            <a:off x="4114800" y="3730752"/>
            <a:ext cx="4754880" cy="402336"/>
          </a:xfrm>
          <a:prstGeom prst="roundRect">
            <a:avLst>
              <a:gd name="adj" fmla="val 27273"/>
            </a:avLst>
          </a:prstGeom>
          <a:solidFill>
            <a:srgbClr val="FFFFFF"/>
          </a:solidFill>
          <a:ln w="28575">
            <a:solidFill>
              <a:srgbClr val="F7A6C4"/>
            </a:solidFill>
          </a:ln>
        </p:spPr>
        <p:txBody>
          <a:bodyPr wrap="square" lIns="127000" tIns="0" rIns="127000" bIns="0" rtlCol="0" anchor="ctr">
            <a:normAutofit/>
          </a:bodyP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Often it's an alarm, which </a:t>
            </a:r>
            <a:pPr indent="0" marL="0">
              <a:buNone/>
            </a:pPr>
            <a:r>
              <a:rPr lang="en-US" sz="1150" b="1" dirty="0">
                <a:solidFill>
                  <a:srgbClr val="1B2559"/>
                </a:solidFill>
                <a:highlight>
                  <a:srgbClr val="FFE066"/>
                </a:highlight>
                <a:latin typeface="Segoe UI Semibold" pitchFamily="34" charset="0"/>
                <a:ea typeface="Segoe UI Semibold" pitchFamily="34" charset="-122"/>
                <a:cs typeface="Segoe UI Semibold" pitchFamily="34" charset="-120"/>
              </a:rPr>
              <a:t>⁶ doesn't have to have</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 reception to go off.</a:t>
            </a:r>
            <a:endParaRPr lang="en-US" sz="11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0"/>
                                        </p:tgtEl>
                                        <p:attrNameLst>
                                          <p:attrName>style.visibility</p:attrName>
                                        </p:attrNameLst>
                                      </p:cBhvr>
                                      <p:to>
                                        <p:strVal val="visible"/>
                                      </p:to>
                                    </p:set>
                                    <p:animEffect transition="in" filter="fade">
                                      <p:cBhvr>
                                        <p:cTn id="7" dur="400"/>
                                        <p:tgtEl>
                                          <p:spTgt spid="20"/>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6"/>
                                        </p:tgtEl>
                                        <p:attrNameLst>
                                          <p:attrName>style.visibility</p:attrName>
                                        </p:attrNameLst>
                                      </p:cBhvr>
                                      <p:to>
                                        <p:strVal val="visible"/>
                                      </p:to>
                                    </p:set>
                                    <p:animEffect transition="in" filter="fade">
                                      <p:cBhvr>
                                        <p:cTn id="17" dur="400"/>
                                        <p:tgtEl>
                                          <p:spTgt spid="26"/>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9"/>
                                        </p:tgtEl>
                                        <p:attrNameLst>
                                          <p:attrName>style.visibility</p:attrName>
                                        </p:attrNameLst>
                                      </p:cBhvr>
                                      <p:to>
                                        <p:strVal val="visible"/>
                                      </p:to>
                                    </p:set>
                                    <p:animEffect transition="in" filter="fade">
                                      <p:cBhvr>
                                        <p:cTn id="22" dur="400"/>
                                        <p:tgtEl>
                                          <p:spTgt spid="29"/>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2"/>
                                        </p:tgtEl>
                                        <p:attrNameLst>
                                          <p:attrName>style.visibility</p:attrName>
                                        </p:attrNameLst>
                                      </p:cBhvr>
                                      <p:to>
                                        <p:strVal val="visible"/>
                                      </p:to>
                                    </p:set>
                                    <p:animEffect transition="in" filter="fade">
                                      <p:cBhvr>
                                        <p:cTn id="27" dur="400"/>
                                        <p:tgtEl>
                                          <p:spTgt spid="32"/>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5"/>
                                        </p:tgtEl>
                                        <p:attrNameLst>
                                          <p:attrName>style.visibility</p:attrName>
                                        </p:attrNameLst>
                                      </p:cBhvr>
                                      <p:to>
                                        <p:strVal val="visible"/>
                                      </p:to>
                                    </p:set>
                                    <p:animEffect transition="in" filter="fade">
                                      <p:cBhvr>
                                        <p:cTn id="32" dur="400"/>
                                        <p:tgtEl>
                                          <p:spTgt spid="35"/>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3.xml><?xml version="1.0" encoding="utf-8"?>
<p:sld xmlns:a="http://schemas.openxmlformats.org/drawingml/2006/main" xmlns:r="http://schemas.openxmlformats.org/officeDocument/2006/relationships" xmlns:p="http://schemas.openxmlformats.org/presentationml/2006/main">
  <p:cSld name="Slide 1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383"/>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13</a:t>
            </a:r>
            <a:endParaRPr lang="en-US" sz="2200" dirty="0"/>
          </a:p>
        </p:txBody>
      </p:sp>
      <p:pic>
        <p:nvPicPr>
          <p:cNvPr id="4" name="brY_384"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385"/>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What do they mean?</a:t>
            </a:r>
            <a:endParaRPr lang="en-US" sz="2400" dirty="0"/>
          </a:p>
        </p:txBody>
      </p:sp>
      <p:pic>
        <p:nvPicPr>
          <p:cNvPr id="6" name="brP_386"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387"/>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What do 1–6 mean? Match the colour.</a:t>
            </a:r>
            <a:endParaRPr lang="en-US" sz="1250" dirty="0"/>
          </a:p>
        </p:txBody>
      </p:sp>
      <p:sp>
        <p:nvSpPr>
          <p:cNvPr id="8" name="insIT_388"/>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Cosa significano 1–6? Abbina il colore.</a:t>
            </a:r>
            <a:endParaRPr lang="en-US" sz="950" dirty="0"/>
          </a:p>
        </p:txBody>
      </p:sp>
      <p:sp>
        <p:nvSpPr>
          <p:cNvPr id="9" name="note_389"/>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MATCH</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ABBINA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390"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391"/>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 discovery   ·   📖 SB p.36 · 2c</a:t>
            </a:r>
            <a:endParaRPr lang="en-US" sz="800" dirty="0"/>
          </a:p>
        </p:txBody>
      </p:sp>
      <p:sp>
        <p:nvSpPr>
          <p:cNvPr id="12" name="cd_392"/>
          <p:cNvSpPr/>
          <p:nvPr/>
        </p:nvSpPr>
        <p:spPr>
          <a:xfrm>
            <a:off x="320040" y="1417320"/>
            <a:ext cx="2697480" cy="2295144"/>
          </a:xfrm>
          <a:prstGeom prst="roundRect">
            <a:avLst>
              <a:gd name="adj" fmla="val 557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39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39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Meanings</a:t>
            </a:r>
            <a:endParaRPr lang="en-US" sz="1300" dirty="0"/>
          </a:p>
        </p:txBody>
      </p:sp>
      <p:sp>
        <p:nvSpPr>
          <p:cNvPr id="15" name="lg_395"/>
          <p:cNvSpPr/>
          <p:nvPr/>
        </p:nvSpPr>
        <p:spPr>
          <a:xfrm>
            <a:off x="457200" y="1984248"/>
            <a:ext cx="1188720" cy="310896"/>
          </a:xfrm>
          <a:prstGeom prst="roundRect">
            <a:avLst>
              <a:gd name="adj" fmla="val 50000"/>
            </a:avLst>
          </a:prstGeom>
          <a:solidFill>
            <a:srgbClr val="8FD9A8"/>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necessary</a:t>
            </a:r>
            <a:endParaRPr lang="en-US" sz="1050" dirty="0"/>
          </a:p>
        </p:txBody>
      </p:sp>
      <p:sp>
        <p:nvSpPr>
          <p:cNvPr id="16" name="lg_396"/>
          <p:cNvSpPr/>
          <p:nvPr/>
        </p:nvSpPr>
        <p:spPr>
          <a:xfrm>
            <a:off x="1719072" y="1984248"/>
            <a:ext cx="1188720" cy="310896"/>
          </a:xfrm>
          <a:prstGeom prst="roundRect">
            <a:avLst>
              <a:gd name="adj" fmla="val 50000"/>
            </a:avLst>
          </a:prstGeom>
          <a:solidFill>
            <a:srgbClr val="F7A6C4"/>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not allowed</a:t>
            </a:r>
            <a:endParaRPr lang="en-US" sz="1050" dirty="0"/>
          </a:p>
        </p:txBody>
      </p:sp>
      <p:sp>
        <p:nvSpPr>
          <p:cNvPr id="17" name="lg_397"/>
          <p:cNvSpPr/>
          <p:nvPr/>
        </p:nvSpPr>
        <p:spPr>
          <a:xfrm>
            <a:off x="457200" y="2368296"/>
            <a:ext cx="1188720" cy="310896"/>
          </a:xfrm>
          <a:prstGeom prst="roundRect">
            <a:avLst>
              <a:gd name="adj" fmla="val 50000"/>
            </a:avLst>
          </a:prstGeom>
          <a:solidFill>
            <a:srgbClr val="8FC9F2"/>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necessary</a:t>
            </a:r>
            <a:endParaRPr lang="en-US" sz="1050" dirty="0"/>
          </a:p>
        </p:txBody>
      </p:sp>
      <p:sp>
        <p:nvSpPr>
          <p:cNvPr id="18" name="lg_398"/>
          <p:cNvSpPr/>
          <p:nvPr/>
        </p:nvSpPr>
        <p:spPr>
          <a:xfrm>
            <a:off x="1719072" y="2368296"/>
            <a:ext cx="1188720" cy="310896"/>
          </a:xfrm>
          <a:prstGeom prst="roundRect">
            <a:avLst>
              <a:gd name="adj" fmla="val 50000"/>
            </a:avLst>
          </a:prstGeom>
          <a:solidFill>
            <a:srgbClr val="FFD966"/>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 good idea</a:t>
            </a:r>
            <a:endParaRPr lang="en-US" sz="1050" dirty="0"/>
          </a:p>
        </p:txBody>
      </p:sp>
      <p:sp>
        <p:nvSpPr>
          <p:cNvPr id="19" name="lg_399"/>
          <p:cNvSpPr/>
          <p:nvPr/>
        </p:nvSpPr>
        <p:spPr>
          <a:xfrm>
            <a:off x="457200" y="2752344"/>
            <a:ext cx="1188720" cy="310896"/>
          </a:xfrm>
          <a:prstGeom prst="roundRect">
            <a:avLst>
              <a:gd name="adj" fmla="val 50000"/>
            </a:avLst>
          </a:prstGeom>
          <a:solidFill>
            <a:srgbClr val="CDBFF3"/>
          </a:solidFill>
          <a:ln/>
        </p:spPr>
        <p:txBody>
          <a:bodyPr wrap="square" lIns="0" tIns="0" rIns="0" bIns="0" rtlCol="0" anchor="ctr"/>
          <a:lstStyle/>
          <a:p>
            <a:pPr algn="ctr" indent="0" marL="0">
              <a:buNone/>
            </a:pPr>
            <a:r>
              <a:rPr lang="en-US" sz="1050" dirty="0">
                <a:solidFill>
                  <a:srgbClr val="1B2559"/>
                </a:solidFill>
                <a:latin typeface="Arial Rounded MT Bold" pitchFamily="34" charset="0"/>
                <a:ea typeface="Arial Rounded MT Bold" pitchFamily="34" charset="-122"/>
                <a:cs typeface="Arial Rounded MT Bold" pitchFamily="34" charset="-120"/>
              </a:rPr>
              <a:t>a bad idea</a:t>
            </a:r>
            <a:endParaRPr lang="en-US" sz="1050" dirty="0"/>
          </a:p>
        </p:txBody>
      </p:sp>
      <p:sp>
        <p:nvSpPr>
          <p:cNvPr id="20" name="sq_400"/>
          <p:cNvSpPr/>
          <p:nvPr/>
        </p:nvSpPr>
        <p:spPr>
          <a:xfrm>
            <a:off x="3246120" y="1417320"/>
            <a:ext cx="3840480" cy="475488"/>
          </a:xfrm>
          <a:prstGeom prst="roundRect">
            <a:avLst>
              <a:gd name="adj" fmla="val 19231"/>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1  they shouldn't go to concerts</a:t>
            </a:r>
            <a:endParaRPr lang="en-US" sz="1200" dirty="0"/>
          </a:p>
        </p:txBody>
      </p:sp>
      <p:sp>
        <p:nvSpPr>
          <p:cNvPr id="21" name="R1_tag401"/>
          <p:cNvSpPr/>
          <p:nvPr/>
        </p:nvSpPr>
        <p:spPr>
          <a:xfrm>
            <a:off x="7178040" y="1417320"/>
            <a:ext cx="1691640" cy="475488"/>
          </a:xfrm>
          <a:prstGeom prst="roundRect">
            <a:avLst>
              <a:gd name="adj" fmla="val 48077"/>
            </a:avLst>
          </a:prstGeom>
          <a:solidFill>
            <a:srgbClr val="CDBFF3"/>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 bad idea</a:t>
            </a:r>
            <a:endParaRPr lang="en-US" sz="1150" dirty="0"/>
          </a:p>
        </p:txBody>
      </p:sp>
      <p:sp>
        <p:nvSpPr>
          <p:cNvPr id="22" name="sq_402"/>
          <p:cNvSpPr/>
          <p:nvPr/>
        </p:nvSpPr>
        <p:spPr>
          <a:xfrm>
            <a:off x="3246120" y="1956816"/>
            <a:ext cx="3840480" cy="475488"/>
          </a:xfrm>
          <a:prstGeom prst="roundRect">
            <a:avLst>
              <a:gd name="adj" fmla="val 19231"/>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2  you have to leave your phone</a:t>
            </a:r>
            <a:endParaRPr lang="en-US" sz="1200" dirty="0"/>
          </a:p>
        </p:txBody>
      </p:sp>
      <p:sp>
        <p:nvSpPr>
          <p:cNvPr id="23" name="R2_tag403"/>
          <p:cNvSpPr/>
          <p:nvPr/>
        </p:nvSpPr>
        <p:spPr>
          <a:xfrm>
            <a:off x="7178040" y="1956816"/>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24" name="sq_404"/>
          <p:cNvSpPr/>
          <p:nvPr/>
        </p:nvSpPr>
        <p:spPr>
          <a:xfrm>
            <a:off x="3246120" y="2496312"/>
            <a:ext cx="3840480" cy="475488"/>
          </a:xfrm>
          <a:prstGeom prst="roundRect">
            <a:avLst>
              <a:gd name="adj" fmla="val 19231"/>
            </a:avLst>
          </a:prstGeom>
          <a:solidFill>
            <a:srgbClr val="FFFFFF"/>
          </a:solidFill>
          <a:ln w="28575">
            <a:solidFill>
              <a:srgbClr val="A8E5BE"/>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3  you must immediately pay a fine</a:t>
            </a:r>
            <a:endParaRPr lang="en-US" sz="1200" dirty="0"/>
          </a:p>
        </p:txBody>
      </p:sp>
      <p:sp>
        <p:nvSpPr>
          <p:cNvPr id="25" name="R3_tag405"/>
          <p:cNvSpPr/>
          <p:nvPr/>
        </p:nvSpPr>
        <p:spPr>
          <a:xfrm>
            <a:off x="7178040" y="2496312"/>
            <a:ext cx="1691640" cy="475488"/>
          </a:xfrm>
          <a:prstGeom prst="roundRect">
            <a:avLst>
              <a:gd name="adj" fmla="val 48077"/>
            </a:avLst>
          </a:prstGeom>
          <a:solidFill>
            <a:srgbClr val="8FC9F2"/>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necessary</a:t>
            </a:r>
            <a:endParaRPr lang="en-US" sz="1150" dirty="0"/>
          </a:p>
        </p:txBody>
      </p:sp>
      <p:sp>
        <p:nvSpPr>
          <p:cNvPr id="26" name="sq_406"/>
          <p:cNvSpPr/>
          <p:nvPr/>
        </p:nvSpPr>
        <p:spPr>
          <a:xfrm>
            <a:off x="3246120" y="3035808"/>
            <a:ext cx="3840480" cy="475488"/>
          </a:xfrm>
          <a:prstGeom prst="roundRect">
            <a:avLst>
              <a:gd name="adj" fmla="val 19231"/>
            </a:avLst>
          </a:prstGeom>
          <a:solidFill>
            <a:srgbClr val="FFFFFF"/>
          </a:solidFill>
          <a:ln w="28575">
            <a:solidFill>
              <a:srgbClr val="FFE07A"/>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4  they mustn't give their phones to anyone</a:t>
            </a:r>
            <a:endParaRPr lang="en-US" sz="1200" dirty="0"/>
          </a:p>
        </p:txBody>
      </p:sp>
      <p:sp>
        <p:nvSpPr>
          <p:cNvPr id="27" name="R4_tag407"/>
          <p:cNvSpPr/>
          <p:nvPr/>
        </p:nvSpPr>
        <p:spPr>
          <a:xfrm>
            <a:off x="7178040" y="3035808"/>
            <a:ext cx="1691640" cy="475488"/>
          </a:xfrm>
          <a:prstGeom prst="roundRect">
            <a:avLst>
              <a:gd name="adj" fmla="val 48077"/>
            </a:avLst>
          </a:prstGeom>
          <a:solidFill>
            <a:srgbClr val="F7A6C4"/>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allowed</a:t>
            </a:r>
            <a:endParaRPr lang="en-US" sz="1150" dirty="0"/>
          </a:p>
        </p:txBody>
      </p:sp>
      <p:sp>
        <p:nvSpPr>
          <p:cNvPr id="28" name="sq_408"/>
          <p:cNvSpPr/>
          <p:nvPr/>
        </p:nvSpPr>
        <p:spPr>
          <a:xfrm>
            <a:off x="3246120" y="3575304"/>
            <a:ext cx="3840480" cy="475488"/>
          </a:xfrm>
          <a:prstGeom prst="roundRect">
            <a:avLst>
              <a:gd name="adj" fmla="val 19231"/>
            </a:avLst>
          </a:prstGeom>
          <a:solidFill>
            <a:srgbClr val="FFFFFF"/>
          </a:solidFill>
          <a:ln w="28575">
            <a:solidFill>
              <a:srgbClr val="F7A6C4"/>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5  (they) should block phone reception</a:t>
            </a:r>
            <a:endParaRPr lang="en-US" sz="1200" dirty="0"/>
          </a:p>
        </p:txBody>
      </p:sp>
      <p:sp>
        <p:nvSpPr>
          <p:cNvPr id="29" name="R5_tag409"/>
          <p:cNvSpPr/>
          <p:nvPr/>
        </p:nvSpPr>
        <p:spPr>
          <a:xfrm>
            <a:off x="7178040" y="3575304"/>
            <a:ext cx="1691640" cy="475488"/>
          </a:xfrm>
          <a:prstGeom prst="roundRect">
            <a:avLst>
              <a:gd name="adj" fmla="val 48077"/>
            </a:avLst>
          </a:prstGeom>
          <a:solidFill>
            <a:srgbClr val="FFD966"/>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a good idea</a:t>
            </a:r>
            <a:endParaRPr lang="en-US" sz="1150" dirty="0"/>
          </a:p>
        </p:txBody>
      </p:sp>
      <p:sp>
        <p:nvSpPr>
          <p:cNvPr id="30" name="sq_410"/>
          <p:cNvSpPr/>
          <p:nvPr/>
        </p:nvSpPr>
        <p:spPr>
          <a:xfrm>
            <a:off x="3246120" y="4114800"/>
            <a:ext cx="3840480" cy="475488"/>
          </a:xfrm>
          <a:prstGeom prst="roundRect">
            <a:avLst>
              <a:gd name="adj" fmla="val 19231"/>
            </a:avLst>
          </a:prstGeom>
          <a:solidFill>
            <a:srgbClr val="FFFFFF"/>
          </a:solidFill>
          <a:ln w="28575">
            <a:solidFill>
              <a:srgbClr val="A9D3F5"/>
            </a:solidFill>
          </a:ln>
        </p:spPr>
        <p:txBody>
          <a:bodyPr wrap="square" lIns="101600" tIns="0" rIns="101600" bIns="0" rtlCol="0" anchor="ctr"/>
          <a:lstStyle/>
          <a:p>
            <a:pPr indent="0" marL="0">
              <a:buNone/>
            </a:pPr>
            <a:r>
              <a:rPr lang="en-US" sz="1200" dirty="0">
                <a:solidFill>
                  <a:srgbClr val="1B2559"/>
                </a:solidFill>
                <a:latin typeface="Segoe UI Semibold" pitchFamily="34" charset="0"/>
                <a:ea typeface="Segoe UI Semibold" pitchFamily="34" charset="-122"/>
                <a:cs typeface="Segoe UI Semibold" pitchFamily="34" charset="-120"/>
              </a:rPr>
              <a:t>6  (it) doesn't have to have reception</a:t>
            </a:r>
            <a:endParaRPr lang="en-US" sz="1200" dirty="0"/>
          </a:p>
        </p:txBody>
      </p:sp>
      <p:sp>
        <p:nvSpPr>
          <p:cNvPr id="31" name="R6_tag411"/>
          <p:cNvSpPr/>
          <p:nvPr/>
        </p:nvSpPr>
        <p:spPr>
          <a:xfrm>
            <a:off x="7178040" y="4114800"/>
            <a:ext cx="1691640" cy="475488"/>
          </a:xfrm>
          <a:prstGeom prst="roundRect">
            <a:avLst>
              <a:gd name="adj" fmla="val 48077"/>
            </a:avLst>
          </a:prstGeom>
          <a:solidFill>
            <a:srgbClr val="8FD9A8"/>
          </a:solidFill>
          <a:ln/>
        </p:spPr>
        <p:txBody>
          <a:bodyPr wrap="square" lIns="0" tIns="0" rIns="0" bIns="0" rtlCol="0" anchor="ct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not necessary</a:t>
            </a:r>
            <a:endParaRPr lang="en-US" sz="1150" dirty="0"/>
          </a:p>
        </p:txBody>
      </p:sp>
      <p:sp>
        <p:nvSpPr>
          <p:cNvPr id="32" name="pf_412"/>
          <p:cNvSpPr/>
          <p:nvPr/>
        </p:nvSpPr>
        <p:spPr>
          <a:xfrm rot="-120000">
            <a:off x="1102611" y="3703320"/>
            <a:ext cx="1132338" cy="1005840"/>
          </a:xfrm>
          <a:prstGeom prst="roundRect">
            <a:avLst>
              <a:gd name="adj" fmla="val 15455"/>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3" name="ph_413" descr="/home/claude/lls-course/v2/cache/4a1_public_transport_jpg_250x220_31.png">    </p:cNvPr>
          <p:cNvPicPr>
            <a:picLocks noChangeAspect="1"/>
          </p:cNvPicPr>
          <p:nvPr/>
        </p:nvPicPr>
        <p:blipFill>
          <a:blip r:embed="rId5"/>
          <a:stretch>
            <a:fillRect/>
          </a:stretch>
        </p:blipFill>
        <p:spPr>
          <a:xfrm rot="-120000">
            <a:off x="1148331" y="3749040"/>
            <a:ext cx="1040898" cy="914400"/>
          </a:xfrm>
          <a:prstGeom prst="rect">
            <a:avLst/>
          </a:prstGeom>
        </p:spPr>
      </p:pic>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3"/>
                                        </p:tgtEl>
                                        <p:attrNameLst>
                                          <p:attrName>style.visibility</p:attrName>
                                        </p:attrNameLst>
                                      </p:cBhvr>
                                      <p:to>
                                        <p:strVal val="visible"/>
                                      </p:to>
                                    </p:set>
                                    <p:animEffect transition="in" filter="fade">
                                      <p:cBhvr>
                                        <p:cTn id="12" dur="400"/>
                                        <p:tgtEl>
                                          <p:spTgt spid="23"/>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5"/>
                                        </p:tgtEl>
                                        <p:attrNameLst>
                                          <p:attrName>style.visibility</p:attrName>
                                        </p:attrNameLst>
                                      </p:cBhvr>
                                      <p:to>
                                        <p:strVal val="visible"/>
                                      </p:to>
                                    </p:set>
                                    <p:animEffect transition="in" filter="fade">
                                      <p:cBhvr>
                                        <p:cTn id="17" dur="400"/>
                                        <p:tgtEl>
                                          <p:spTgt spid="25"/>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9"/>
                                        </p:tgtEl>
                                        <p:attrNameLst>
                                          <p:attrName>style.visibility</p:attrName>
                                        </p:attrNameLst>
                                      </p:cBhvr>
                                      <p:to>
                                        <p:strVal val="visible"/>
                                      </p:to>
                                    </p:set>
                                    <p:animEffect transition="in" filter="fade">
                                      <p:cBhvr>
                                        <p:cTn id="27" dur="400"/>
                                        <p:tgtEl>
                                          <p:spTgt spid="29"/>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31"/>
                                        </p:tgtEl>
                                        <p:attrNameLst>
                                          <p:attrName>style.visibility</p:attrName>
                                        </p:attrNameLst>
                                      </p:cBhvr>
                                      <p:to>
                                        <p:strVal val="visible"/>
                                      </p:to>
                                    </p:set>
                                    <p:animEffect transition="in" filter="fade">
                                      <p:cBhvr>
                                        <p:cTn id="32"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4.xml><?xml version="1.0" encoding="utf-8"?>
<p:sld xmlns:a="http://schemas.openxmlformats.org/drawingml/2006/main" xmlns:r="http://schemas.openxmlformats.org/officeDocument/2006/relationships" xmlns:p="http://schemas.openxmlformats.org/presentationml/2006/main">
  <p:cSld name="Slide 1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14"/>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14</a:t>
            </a:r>
            <a:endParaRPr lang="en-US" sz="2200" dirty="0"/>
          </a:p>
        </p:txBody>
      </p:sp>
      <p:pic>
        <p:nvPicPr>
          <p:cNvPr id="4" name="brY_415" descr="/home/claude/lls-course/v2/assets/brush-yellow.png">    </p:cNvPr>
          <p:cNvPicPr>
            <a:picLocks noChangeAspect="1"/>
          </p:cNvPicPr>
          <p:nvPr/>
        </p:nvPicPr>
        <p:blipFill>
          <a:blip r:embed="rId2"/>
          <a:stretch>
            <a:fillRect/>
          </a:stretch>
        </p:blipFill>
        <p:spPr>
          <a:xfrm>
            <a:off x="1097280" y="146304"/>
            <a:ext cx="4034333" cy="621792"/>
          </a:xfrm>
          <a:prstGeom prst="rect">
            <a:avLst/>
          </a:prstGeom>
        </p:spPr>
      </p:pic>
      <p:sp>
        <p:nvSpPr>
          <p:cNvPr id="5" name="title_416"/>
          <p:cNvSpPr/>
          <p:nvPr/>
        </p:nvSpPr>
        <p:spPr>
          <a:xfrm>
            <a:off x="1261872" y="164592"/>
            <a:ext cx="3760013"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have to, must, should</a:t>
            </a:r>
            <a:endParaRPr lang="en-US" sz="2500" dirty="0"/>
          </a:p>
        </p:txBody>
      </p:sp>
      <p:pic>
        <p:nvPicPr>
          <p:cNvPr id="6" name="brP_417" descr="/home/claude/lls-course/v2/assets/brush-pink.png">    </p:cNvPr>
          <p:cNvPicPr>
            <a:picLocks noChangeAspect="1"/>
          </p:cNvPicPr>
          <p:nvPr/>
        </p:nvPicPr>
        <p:blipFill>
          <a:blip r:embed="rId3"/>
          <a:stretch>
            <a:fillRect/>
          </a:stretch>
        </p:blipFill>
        <p:spPr>
          <a:xfrm>
            <a:off x="1207008" y="731520"/>
            <a:ext cx="2642616" cy="402336"/>
          </a:xfrm>
          <a:prstGeom prst="rect">
            <a:avLst/>
          </a:prstGeom>
        </p:spPr>
      </p:pic>
      <p:sp>
        <p:nvSpPr>
          <p:cNvPr id="7" name="ins_418"/>
          <p:cNvSpPr/>
          <p:nvPr/>
        </p:nvSpPr>
        <p:spPr>
          <a:xfrm>
            <a:off x="1353312" y="731520"/>
            <a:ext cx="238658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What's the rule?</a:t>
            </a:r>
            <a:endParaRPr lang="en-US" sz="1250" dirty="0"/>
          </a:p>
        </p:txBody>
      </p:sp>
      <p:sp>
        <p:nvSpPr>
          <p:cNvPr id="8" name="insIT_4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Qual è la regola?</a:t>
            </a:r>
            <a:endParaRPr lang="en-US" sz="950" dirty="0"/>
          </a:p>
        </p:txBody>
      </p:sp>
      <p:sp>
        <p:nvSpPr>
          <p:cNvPr id="9" name="note_42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LOOK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GUARDA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Guided discovery</a:t>
            </a:r>
            <a:endParaRPr lang="en-US" sz="1250" dirty="0"/>
          </a:p>
        </p:txBody>
      </p:sp>
      <p:pic>
        <p:nvPicPr>
          <p:cNvPr id="10" name="logo_4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 the rule   ·   📖 Grammar Bank 4A p.138 · audio 4.4–4.7</a:t>
            </a:r>
            <a:endParaRPr lang="en-US" sz="800" dirty="0"/>
          </a:p>
        </p:txBody>
      </p:sp>
      <p:sp>
        <p:nvSpPr>
          <p:cNvPr id="12" name="ah_423"/>
          <p:cNvSpPr/>
          <p:nvPr/>
        </p:nvSpPr>
        <p:spPr>
          <a:xfrm>
            <a:off x="658368" y="4572000"/>
            <a:ext cx="193852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4.4 + 4.5 + 4.6 + 4.7   ▶ normal</a:t>
            </a:r>
            <a:endParaRPr lang="en-US" sz="1000" dirty="0"/>
          </a:p>
        </p:txBody>
      </p:sp>
      <p:pic>
        <p:nvPicPr>
          <p:cNvPr id="13"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2670048" y="4553712"/>
            <a:ext cx="411480" cy="411480"/>
          </a:xfrm>
          <a:prstGeom prst="rect">
            <a:avLst/>
          </a:prstGeom>
        </p:spPr>
      </p:pic>
      <p:pic>
        <p:nvPicPr>
          <p:cNvPr id="14"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3172968" y="4553712"/>
            <a:ext cx="411480" cy="411480"/>
          </a:xfrm>
          <a:prstGeom prst="rect">
            <a:avLst/>
          </a:prstGeom>
        </p:spPr>
      </p:pic>
      <p:pic>
        <p:nvPicPr>
          <p:cNvPr id="15" name="Media 2">
            <a:hlinkClick r:id="" action="ppaction://media"/>
          </p:cNvPr>
          <p:cNvPicPr>
            <a:picLocks noChangeAspect="1"/>
          </p:cNvPicPr>
          <p:nvPr>
            <a:audioFile r:link="rId11"/>
            <p:extLst>
              <p:ext uri="{DAA4B4D4-6D71-4841-9C94-3DE7FCFB9230}">
                <p14:media xmlns:p14="http://schemas.microsoft.com/office/powerpoint/2010/main" r:embed="rId12"/>
              </p:ext>
            </p:extLst>
          </p:nvPr>
        </p:nvPicPr>
        <p:blipFill>
          <a:blip r:embed="rId13"/>
          <a:stretch>
            <a:fillRect/>
          </a:stretch>
        </p:blipFill>
        <p:spPr>
          <a:xfrm>
            <a:off x="3675888" y="4553712"/>
            <a:ext cx="411480" cy="411480"/>
          </a:xfrm>
          <a:prstGeom prst="rect">
            <a:avLst/>
          </a:prstGeom>
        </p:spPr>
      </p:pic>
      <p:pic>
        <p:nvPicPr>
          <p:cNvPr id="16" name="Media 3">
            <a:hlinkClick r:id="" action="ppaction://media"/>
          </p:cNvPr>
          <p:cNvPicPr>
            <a:picLocks noChangeAspect="1"/>
          </p:cNvPicPr>
          <p:nvPr>
            <a:audioFile r:link="rId14"/>
            <p:extLst>
              <p:ext uri="{DAA4B4D4-6D71-4841-9C94-3DE7FCFB9230}">
                <p14:media xmlns:p14="http://schemas.microsoft.com/office/powerpoint/2010/main" r:embed="rId15"/>
              </p:ext>
            </p:extLst>
          </p:nvPr>
        </p:nvPicPr>
        <p:blipFill>
          <a:blip r:embed="rId16"/>
          <a:stretch>
            <a:fillRect/>
          </a:stretch>
        </p:blipFill>
        <p:spPr>
          <a:xfrm>
            <a:off x="4178808" y="4553712"/>
            <a:ext cx="411480" cy="411480"/>
          </a:xfrm>
          <a:prstGeom prst="rect">
            <a:avLst/>
          </a:prstGeom>
        </p:spPr>
      </p:pic>
      <p:sp>
        <p:nvSpPr>
          <p:cNvPr id="17" name="ah_424"/>
          <p:cNvSpPr/>
          <p:nvPr/>
        </p:nvSpPr>
        <p:spPr>
          <a:xfrm>
            <a:off x="596188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8" name="Media 4">
            <a:hlinkClick r:id="" action="ppaction://media"/>
          </p:cNvPr>
          <p:cNvPicPr>
            <a:picLocks noChangeAspect="1"/>
          </p:cNvPicPr>
          <p:nvPr>
            <a:audioFile r:link="rId17"/>
            <p:extLst>
              <p:ext uri="{DAA4B4D4-6D71-4841-9C94-3DE7FCFB9230}">
                <p14:media xmlns:p14="http://schemas.microsoft.com/office/powerpoint/2010/main" r:embed="rId18"/>
              </p:ext>
            </p:extLst>
          </p:nvPr>
        </p:nvPicPr>
        <p:blipFill>
          <a:blip r:embed="rId19"/>
          <a:stretch>
            <a:fillRect/>
          </a:stretch>
        </p:blipFill>
        <p:spPr>
          <a:xfrm>
            <a:off x="6967728" y="4553712"/>
            <a:ext cx="411480" cy="411480"/>
          </a:xfrm>
          <a:prstGeom prst="rect">
            <a:avLst/>
          </a:prstGeom>
        </p:spPr>
      </p:pic>
      <p:pic>
        <p:nvPicPr>
          <p:cNvPr id="19" name="Media 5">
            <a:hlinkClick r:id="" action="ppaction://media"/>
          </p:cNvPr>
          <p:cNvPicPr>
            <a:picLocks noChangeAspect="1"/>
          </p:cNvPicPr>
          <p:nvPr>
            <a:audioFile r:link="rId20"/>
            <p:extLst>
              <p:ext uri="{DAA4B4D4-6D71-4841-9C94-3DE7FCFB9230}">
                <p14:media xmlns:p14="http://schemas.microsoft.com/office/powerpoint/2010/main" r:embed="rId21"/>
              </p:ext>
            </p:extLst>
          </p:nvPr>
        </p:nvPicPr>
        <p:blipFill>
          <a:blip r:embed="rId22"/>
          <a:stretch>
            <a:fillRect/>
          </a:stretch>
        </p:blipFill>
        <p:spPr>
          <a:xfrm>
            <a:off x="7470648" y="4553712"/>
            <a:ext cx="411480" cy="411480"/>
          </a:xfrm>
          <a:prstGeom prst="rect">
            <a:avLst/>
          </a:prstGeom>
        </p:spPr>
      </p:pic>
      <p:pic>
        <p:nvPicPr>
          <p:cNvPr id="20" name="Media 6">
            <a:hlinkClick r:id="" action="ppaction://media"/>
          </p:cNvPr>
          <p:cNvPicPr>
            <a:picLocks noChangeAspect="1"/>
          </p:cNvPicPr>
          <p:nvPr>
            <a:audioFile r:link="rId23"/>
            <p:extLst>
              <p:ext uri="{DAA4B4D4-6D71-4841-9C94-3DE7FCFB9230}">
                <p14:media xmlns:p14="http://schemas.microsoft.com/office/powerpoint/2010/main" r:embed="rId24"/>
              </p:ext>
            </p:extLst>
          </p:nvPr>
        </p:nvPicPr>
        <p:blipFill>
          <a:blip r:embed="rId25"/>
          <a:stretch>
            <a:fillRect/>
          </a:stretch>
        </p:blipFill>
        <p:spPr>
          <a:xfrm>
            <a:off x="7973568" y="4553712"/>
            <a:ext cx="411480" cy="411480"/>
          </a:xfrm>
          <a:prstGeom prst="rect">
            <a:avLst/>
          </a:prstGeom>
        </p:spPr>
      </p:pic>
      <p:pic>
        <p:nvPicPr>
          <p:cNvPr id="21" name="Media 7">
            <a:hlinkClick r:id="" action="ppaction://media"/>
          </p:cNvPr>
          <p:cNvPicPr>
            <a:picLocks noChangeAspect="1"/>
          </p:cNvPicPr>
          <p:nvPr>
            <a:audioFile r:link="rId26"/>
            <p:extLst>
              <p:ext uri="{DAA4B4D4-6D71-4841-9C94-3DE7FCFB9230}">
                <p14:media xmlns:p14="http://schemas.microsoft.com/office/powerpoint/2010/main" r:embed="rId27"/>
              </p:ext>
            </p:extLst>
          </p:nvPr>
        </p:nvPicPr>
        <p:blipFill>
          <a:blip r:embed="rId28"/>
          <a:stretch>
            <a:fillRect/>
          </a:stretch>
        </p:blipFill>
        <p:spPr>
          <a:xfrm>
            <a:off x="8476488" y="4553712"/>
            <a:ext cx="411480" cy="411480"/>
          </a:xfrm>
          <a:prstGeom prst="rect">
            <a:avLst/>
          </a:prstGeom>
        </p:spPr>
      </p:pic>
      <p:sp>
        <p:nvSpPr>
          <p:cNvPr id="22" name="cd_425"/>
          <p:cNvSpPr/>
          <p:nvPr/>
        </p:nvSpPr>
        <p:spPr>
          <a:xfrm>
            <a:off x="320040" y="1417320"/>
            <a:ext cx="2034540" cy="3017520"/>
          </a:xfrm>
          <a:prstGeom prst="roundRect">
            <a:avLst>
              <a:gd name="adj" fmla="val 6292"/>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23" name="rh_426"/>
          <p:cNvSpPr/>
          <p:nvPr/>
        </p:nvSpPr>
        <p:spPr>
          <a:xfrm>
            <a:off x="429768" y="1508760"/>
            <a:ext cx="1815084" cy="365760"/>
          </a:xfrm>
          <a:prstGeom prst="roundRect">
            <a:avLst>
              <a:gd name="adj" fmla="val 50000"/>
            </a:avLst>
          </a:prstGeom>
          <a:solidFill>
            <a:srgbClr val="2F8DE4"/>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have to / must</a:t>
            </a:r>
            <a:endParaRPr lang="en-US" sz="1250" dirty="0"/>
          </a:p>
        </p:txBody>
      </p:sp>
      <p:sp>
        <p:nvSpPr>
          <p:cNvPr id="24" name="pf_427"/>
          <p:cNvSpPr/>
          <p:nvPr/>
        </p:nvSpPr>
        <p:spPr>
          <a:xfrm>
            <a:off x="639825" y="1938528"/>
            <a:ext cx="1394969"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5" name="ph_428" descr="/home/claude/lls-course/v2/cache/4a1_cloakroom_jpg_314x209_31.png">    </p:cNvPr>
          <p:cNvPicPr>
            <a:picLocks noChangeAspect="1"/>
          </p:cNvPicPr>
          <p:nvPr/>
        </p:nvPicPr>
        <p:blipFill>
          <a:blip r:embed="rId29"/>
          <a:stretch>
            <a:fillRect/>
          </a:stretch>
        </p:blipFill>
        <p:spPr>
          <a:xfrm>
            <a:off x="685545" y="1984248"/>
            <a:ext cx="1303529" cy="868680"/>
          </a:xfrm>
          <a:prstGeom prst="rect">
            <a:avLst/>
          </a:prstGeom>
        </p:spPr>
      </p:pic>
      <p:sp>
        <p:nvSpPr>
          <p:cNvPr id="26" name="ru_429"/>
          <p:cNvSpPr/>
          <p:nvPr/>
        </p:nvSpPr>
        <p:spPr>
          <a:xfrm>
            <a:off x="4114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F8DE4"/>
                </a:solidFill>
                <a:latin typeface="Arial Rounded MT Bold" pitchFamily="34" charset="0"/>
                <a:ea typeface="Arial Rounded MT Bold" pitchFamily="34" charset="-122"/>
                <a:cs typeface="Arial Rounded MT Bold" pitchFamily="34" charset="-120"/>
              </a:rPr>
              <a:t>it's necessary · a rule</a:t>
            </a:r>
            <a:endParaRPr lang="en-US" sz="1050" dirty="0"/>
          </a:p>
        </p:txBody>
      </p:sp>
      <p:sp>
        <p:nvSpPr>
          <p:cNvPr id="27" name="R1_rx430"/>
          <p:cNvSpPr/>
          <p:nvPr/>
        </p:nvSpPr>
        <p:spPr>
          <a:xfrm>
            <a:off x="4114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have to switch off your phone during take-off.</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must be on time – there's a test.</a:t>
            </a:r>
            <a:endParaRPr lang="en-US" sz="1000" dirty="0"/>
          </a:p>
        </p:txBody>
      </p:sp>
      <p:sp>
        <p:nvSpPr>
          <p:cNvPr id="28" name="R1_ri431"/>
          <p:cNvSpPr/>
          <p:nvPr/>
        </p:nvSpPr>
        <p:spPr>
          <a:xfrm>
            <a:off x="4114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è obbligatorio · bisogna</a:t>
            </a:r>
            <a:endParaRPr lang="en-US" sz="900" dirty="0"/>
          </a:p>
        </p:txBody>
      </p:sp>
      <p:sp>
        <p:nvSpPr>
          <p:cNvPr id="29" name="cd_432"/>
          <p:cNvSpPr/>
          <p:nvPr/>
        </p:nvSpPr>
        <p:spPr>
          <a:xfrm>
            <a:off x="2491740" y="1417320"/>
            <a:ext cx="2034540" cy="3017520"/>
          </a:xfrm>
          <a:prstGeom prst="roundRect">
            <a:avLst>
              <a:gd name="adj" fmla="val 6292"/>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30" name="rh_433"/>
          <p:cNvSpPr/>
          <p:nvPr/>
        </p:nvSpPr>
        <p:spPr>
          <a:xfrm>
            <a:off x="2601468" y="1508760"/>
            <a:ext cx="1815084" cy="365760"/>
          </a:xfrm>
          <a:prstGeom prst="roundRect">
            <a:avLst>
              <a:gd name="adj" fmla="val 50000"/>
            </a:avLst>
          </a:prstGeom>
          <a:solidFill>
            <a:srgbClr val="E8508F"/>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mustn't</a:t>
            </a:r>
            <a:endParaRPr lang="en-US" sz="1250" dirty="0"/>
          </a:p>
        </p:txBody>
      </p:sp>
      <p:sp>
        <p:nvSpPr>
          <p:cNvPr id="31" name="pf_434"/>
          <p:cNvSpPr/>
          <p:nvPr/>
        </p:nvSpPr>
        <p:spPr>
          <a:xfrm>
            <a:off x="2601468" y="1938528"/>
            <a:ext cx="1815084"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2" name="ph_435" descr="/home/claude/lls-course/v2/cache/4a1_library_jpg_415x209_31.png">    </p:cNvPr>
          <p:cNvPicPr>
            <a:picLocks noChangeAspect="1"/>
          </p:cNvPicPr>
          <p:nvPr/>
        </p:nvPicPr>
        <p:blipFill>
          <a:blip r:embed="rId30"/>
          <a:stretch>
            <a:fillRect/>
          </a:stretch>
        </p:blipFill>
        <p:spPr>
          <a:xfrm>
            <a:off x="2647188" y="1984248"/>
            <a:ext cx="1723644" cy="868680"/>
          </a:xfrm>
          <a:prstGeom prst="rect">
            <a:avLst/>
          </a:prstGeom>
        </p:spPr>
      </p:pic>
      <p:sp>
        <p:nvSpPr>
          <p:cNvPr id="33" name="ru_436"/>
          <p:cNvSpPr/>
          <p:nvPr/>
        </p:nvSpPr>
        <p:spPr>
          <a:xfrm>
            <a:off x="25831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E8508F"/>
                </a:solidFill>
                <a:latin typeface="Arial Rounded MT Bold" pitchFamily="34" charset="0"/>
                <a:ea typeface="Arial Rounded MT Bold" pitchFamily="34" charset="-122"/>
                <a:cs typeface="Arial Rounded MT Bold" pitchFamily="34" charset="-120"/>
              </a:rPr>
              <a:t>it isn't allowed · don't do it!</a:t>
            </a:r>
            <a:endParaRPr lang="en-US" sz="1050" dirty="0"/>
          </a:p>
        </p:txBody>
      </p:sp>
      <p:sp>
        <p:nvSpPr>
          <p:cNvPr id="34" name="R2_rx437"/>
          <p:cNvSpPr/>
          <p:nvPr/>
        </p:nvSpPr>
        <p:spPr>
          <a:xfrm>
            <a:off x="25831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mustn't park here.</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Shh! You mustn't talk in the library.</a:t>
            </a:r>
            <a:endParaRPr lang="en-US" sz="1050" dirty="0"/>
          </a:p>
        </p:txBody>
      </p:sp>
      <p:sp>
        <p:nvSpPr>
          <p:cNvPr id="35" name="R2_ri438"/>
          <p:cNvSpPr/>
          <p:nvPr/>
        </p:nvSpPr>
        <p:spPr>
          <a:xfrm>
            <a:off x="25831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è vietato</a:t>
            </a:r>
            <a:endParaRPr lang="en-US" sz="900" dirty="0"/>
          </a:p>
        </p:txBody>
      </p:sp>
      <p:sp>
        <p:nvSpPr>
          <p:cNvPr id="36" name="cd_439"/>
          <p:cNvSpPr/>
          <p:nvPr/>
        </p:nvSpPr>
        <p:spPr>
          <a:xfrm>
            <a:off x="4663440" y="1417320"/>
            <a:ext cx="2034540" cy="3017520"/>
          </a:xfrm>
          <a:prstGeom prst="roundRect">
            <a:avLst>
              <a:gd name="adj" fmla="val 6292"/>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37" name="rh_440"/>
          <p:cNvSpPr/>
          <p:nvPr/>
        </p:nvSpPr>
        <p:spPr>
          <a:xfrm>
            <a:off x="4773168" y="1508760"/>
            <a:ext cx="1815084" cy="365760"/>
          </a:xfrm>
          <a:prstGeom prst="roundRect">
            <a:avLst>
              <a:gd name="adj" fmla="val 50000"/>
            </a:avLst>
          </a:prstGeom>
          <a:solidFill>
            <a:srgbClr val="2EB872"/>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don't have to</a:t>
            </a:r>
            <a:endParaRPr lang="en-US" sz="1250" dirty="0"/>
          </a:p>
        </p:txBody>
      </p:sp>
      <p:sp>
        <p:nvSpPr>
          <p:cNvPr id="38" name="pf_441"/>
          <p:cNvSpPr/>
          <p:nvPr/>
        </p:nvSpPr>
        <p:spPr>
          <a:xfrm>
            <a:off x="5118246" y="1938528"/>
            <a:ext cx="1124929"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39" name="ph_442" descr="/home/claude/lls-course/v2/cache/4a1_voicemail_jpg_249x209_31.png">    </p:cNvPr>
          <p:cNvPicPr>
            <a:picLocks noChangeAspect="1"/>
          </p:cNvPicPr>
          <p:nvPr/>
        </p:nvPicPr>
        <p:blipFill>
          <a:blip r:embed="rId31"/>
          <a:stretch>
            <a:fillRect/>
          </a:stretch>
        </p:blipFill>
        <p:spPr>
          <a:xfrm>
            <a:off x="5163966" y="1984248"/>
            <a:ext cx="1033489" cy="868680"/>
          </a:xfrm>
          <a:prstGeom prst="rect">
            <a:avLst/>
          </a:prstGeom>
        </p:spPr>
      </p:pic>
      <p:sp>
        <p:nvSpPr>
          <p:cNvPr id="40" name="ru_443"/>
          <p:cNvSpPr/>
          <p:nvPr/>
        </p:nvSpPr>
        <p:spPr>
          <a:xfrm>
            <a:off x="47548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2EB872"/>
                </a:solidFill>
                <a:latin typeface="Arial Rounded MT Bold" pitchFamily="34" charset="0"/>
                <a:ea typeface="Arial Rounded MT Bold" pitchFamily="34" charset="-122"/>
                <a:cs typeface="Arial Rounded MT Bold" pitchFamily="34" charset="-120"/>
              </a:rPr>
              <a:t>it isn't necessary · you can choose</a:t>
            </a:r>
            <a:endParaRPr lang="en-US" sz="1050" dirty="0"/>
          </a:p>
        </p:txBody>
      </p:sp>
      <p:sp>
        <p:nvSpPr>
          <p:cNvPr id="41" name="R3_rx444"/>
          <p:cNvSpPr/>
          <p:nvPr/>
        </p:nvSpPr>
        <p:spPr>
          <a:xfrm>
            <a:off x="4754880" y="3319272"/>
            <a:ext cx="1851660" cy="749808"/>
          </a:xfrm>
          <a:prstGeom prst="rect">
            <a:avLst/>
          </a:prstGeom>
          <a:noFill/>
          <a:ln/>
        </p:spPr>
        <p:txBody>
          <a:bodyPr wrap="square" lIns="0" tIns="0" rIns="0" bIns="0" rtlCol="0" anchor="ctr">
            <a:normAutofit/>
          </a:bodyPr>
          <a:lstStyle/>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have to pay – this museum is free.</a:t>
            </a:r>
            <a:endParaRPr lang="en-US" sz="1000" dirty="0"/>
          </a:p>
          <a:p>
            <a:pPr algn="ctr" indent="0" marL="0">
              <a:buNone/>
            </a:pPr>
            <a:r>
              <a:rPr lang="en-US" sz="1000" dirty="0">
                <a:solidFill>
                  <a:srgbClr val="1B2559"/>
                </a:solidFill>
                <a:latin typeface="Segoe UI Semibold" pitchFamily="34" charset="0"/>
                <a:ea typeface="Segoe UI Semibold" pitchFamily="34" charset="-122"/>
                <a:cs typeface="Segoe UI Semibold" pitchFamily="34" charset="-120"/>
              </a:rPr>
              <a:t>You don't have to answer – they can leave a message.</a:t>
            </a:r>
            <a:endParaRPr lang="en-US" sz="1000" dirty="0"/>
          </a:p>
        </p:txBody>
      </p:sp>
      <p:sp>
        <p:nvSpPr>
          <p:cNvPr id="42" name="R3_ri445"/>
          <p:cNvSpPr/>
          <p:nvPr/>
        </p:nvSpPr>
        <p:spPr>
          <a:xfrm>
            <a:off x="47548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non è necessario</a:t>
            </a:r>
            <a:endParaRPr lang="en-US" sz="900" dirty="0"/>
          </a:p>
        </p:txBody>
      </p:sp>
      <p:sp>
        <p:nvSpPr>
          <p:cNvPr id="43" name="cd_446"/>
          <p:cNvSpPr/>
          <p:nvPr/>
        </p:nvSpPr>
        <p:spPr>
          <a:xfrm>
            <a:off x="6835140" y="1417320"/>
            <a:ext cx="2034540" cy="3017520"/>
          </a:xfrm>
          <a:prstGeom prst="roundRect">
            <a:avLst>
              <a:gd name="adj" fmla="val 6292"/>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44" name="rh_447"/>
          <p:cNvSpPr/>
          <p:nvPr/>
        </p:nvSpPr>
        <p:spPr>
          <a:xfrm>
            <a:off x="6944868" y="1508760"/>
            <a:ext cx="1815084" cy="365760"/>
          </a:xfrm>
          <a:prstGeom prst="roundRect">
            <a:avLst>
              <a:gd name="adj" fmla="val 50000"/>
            </a:avLst>
          </a:prstGeom>
          <a:solidFill>
            <a:srgbClr val="F2B705"/>
          </a:solidFill>
          <a:ln/>
        </p:spPr>
        <p:txBody>
          <a:bodyPr wrap="square" lIns="0" tIns="0" rIns="0" bIns="0" rtlCol="0" anchor="ctr">
            <a:normAutofit/>
          </a:bodyPr>
          <a:lstStyle/>
          <a:p>
            <a:pPr algn="ctr" indent="0" marL="0">
              <a:buNone/>
            </a:pPr>
            <a:r>
              <a:rPr lang="en-US" sz="1250" dirty="0">
                <a:solidFill>
                  <a:srgbClr val="FFFFFF"/>
                </a:solidFill>
                <a:latin typeface="Arial Rounded MT Bold" pitchFamily="34" charset="0"/>
                <a:ea typeface="Arial Rounded MT Bold" pitchFamily="34" charset="-122"/>
                <a:cs typeface="Arial Rounded MT Bold" pitchFamily="34" charset="-120"/>
              </a:rPr>
              <a:t>should / shouldn't</a:t>
            </a:r>
            <a:endParaRPr lang="en-US" sz="1250" dirty="0"/>
          </a:p>
        </p:txBody>
      </p:sp>
      <p:sp>
        <p:nvSpPr>
          <p:cNvPr id="45" name="pf_448"/>
          <p:cNvSpPr/>
          <p:nvPr/>
        </p:nvSpPr>
        <p:spPr>
          <a:xfrm>
            <a:off x="7253894" y="1938528"/>
            <a:ext cx="1197033" cy="960120"/>
          </a:xfrm>
          <a:prstGeom prst="roundRect">
            <a:avLst>
              <a:gd name="adj" fmla="val 1619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46" name="ph_449" descr="/home/claude/lls-course/v2/cache/4a1_table_manners_jpg_266x209_31.png">    </p:cNvPr>
          <p:cNvPicPr>
            <a:picLocks noChangeAspect="1"/>
          </p:cNvPicPr>
          <p:nvPr/>
        </p:nvPicPr>
        <p:blipFill>
          <a:blip r:embed="rId32"/>
          <a:stretch>
            <a:fillRect/>
          </a:stretch>
        </p:blipFill>
        <p:spPr>
          <a:xfrm>
            <a:off x="7299614" y="1984248"/>
            <a:ext cx="1105593" cy="868680"/>
          </a:xfrm>
          <a:prstGeom prst="rect">
            <a:avLst/>
          </a:prstGeom>
        </p:spPr>
      </p:pic>
      <p:sp>
        <p:nvSpPr>
          <p:cNvPr id="47" name="ru_450"/>
          <p:cNvSpPr/>
          <p:nvPr/>
        </p:nvSpPr>
        <p:spPr>
          <a:xfrm>
            <a:off x="6926580" y="2926080"/>
            <a:ext cx="1851660" cy="384048"/>
          </a:xfrm>
          <a:prstGeom prst="rect">
            <a:avLst/>
          </a:prstGeom>
          <a:noFill/>
          <a:ln/>
        </p:spPr>
        <p:txBody>
          <a:bodyPr wrap="square" lIns="0" tIns="0" rIns="0" bIns="0" rtlCol="0" anchor="ctr">
            <a:normAutofit/>
          </a:bodyPr>
          <a:lstStyle/>
          <a:p>
            <a:pPr algn="ctr" indent="0" marL="0">
              <a:buNone/>
            </a:pPr>
            <a:r>
              <a:rPr lang="en-US" sz="1050" dirty="0">
                <a:solidFill>
                  <a:srgbClr val="F2B705"/>
                </a:solidFill>
                <a:latin typeface="Arial Rounded MT Bold" pitchFamily="34" charset="0"/>
                <a:ea typeface="Arial Rounded MT Bold" pitchFamily="34" charset="-122"/>
                <a:cs typeface="Arial Rounded MT Bold" pitchFamily="34" charset="-120"/>
              </a:rPr>
              <a:t>a good / bad idea · advice</a:t>
            </a:r>
            <a:endParaRPr lang="en-US" sz="1050" dirty="0"/>
          </a:p>
        </p:txBody>
      </p:sp>
      <p:sp>
        <p:nvSpPr>
          <p:cNvPr id="48" name="R4_rx451"/>
          <p:cNvSpPr/>
          <p:nvPr/>
        </p:nvSpPr>
        <p:spPr>
          <a:xfrm>
            <a:off x="6926580" y="3319272"/>
            <a:ext cx="1851660" cy="749808"/>
          </a:xfrm>
          <a:prstGeom prst="rect">
            <a:avLst/>
          </a:prstGeom>
          <a:noFill/>
          <a:ln/>
        </p:spPr>
        <p:txBody>
          <a:bodyPr wrap="square" lIns="0" tIns="0" rIns="0" bIns="0" rtlCol="0" anchor="ctr">
            <a:normAutofit/>
          </a:bodyPr>
          <a:lstStyle/>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should take warm clothes to Dublin.</a:t>
            </a:r>
            <a:endParaRPr lang="en-US" sz="1050" dirty="0"/>
          </a:p>
          <a:p>
            <a:pPr algn="ctr" indent="0" marL="0">
              <a:buNone/>
            </a:pPr>
            <a:r>
              <a:rPr lang="en-US" sz="1050" dirty="0">
                <a:solidFill>
                  <a:srgbClr val="1B2559"/>
                </a:solidFill>
                <a:latin typeface="Segoe UI Semibold" pitchFamily="34" charset="0"/>
                <a:ea typeface="Segoe UI Semibold" pitchFamily="34" charset="-122"/>
                <a:cs typeface="Segoe UI Semibold" pitchFamily="34" charset="-120"/>
              </a:rPr>
              <a:t>You shouldn't talk with your mouth full!</a:t>
            </a:r>
            <a:endParaRPr lang="en-US" sz="1050" dirty="0"/>
          </a:p>
        </p:txBody>
      </p:sp>
      <p:sp>
        <p:nvSpPr>
          <p:cNvPr id="49" name="R4_ri452"/>
          <p:cNvSpPr/>
          <p:nvPr/>
        </p:nvSpPr>
        <p:spPr>
          <a:xfrm>
            <a:off x="6926580" y="4087368"/>
            <a:ext cx="1851660" cy="274320"/>
          </a:xfrm>
          <a:prstGeom prst="rect">
            <a:avLst/>
          </a:prstGeom>
          <a:noFill/>
          <a:ln/>
        </p:spPr>
        <p:txBody>
          <a:bodyPr wrap="square" lIns="0" tIns="0" rIns="0" bIns="0" rtlCol="0" anchor="ctr">
            <a:normAutofit/>
          </a:bodyPr>
          <a:lstStyle/>
          <a:p>
            <a:pPr algn="ctr" indent="0" marL="0">
              <a:buNone/>
            </a:pPr>
            <a:r>
              <a:rPr lang="en-US" sz="900" i="1" dirty="0">
                <a:solidFill>
                  <a:srgbClr val="5B6785"/>
                </a:solidFill>
                <a:latin typeface="Segoe UI Semibold" pitchFamily="34" charset="0"/>
                <a:ea typeface="Segoe UI Semibold" pitchFamily="34" charset="-122"/>
                <a:cs typeface="Segoe UI Semibold" pitchFamily="34" charset="-120"/>
              </a:rPr>
              <a:t>dovresti / non dovresti</a:t>
            </a:r>
            <a:endParaRPr lang="en-US" sz="900" dirty="0"/>
          </a:p>
        </p:txBody>
      </p:sp>
      <p:sp>
        <p:nvSpPr>
          <p:cNvPr id="50" name="R5_wc453"/>
          <p:cNvSpPr/>
          <p:nvPr/>
        </p:nvSpPr>
        <p:spPr>
          <a:xfrm>
            <a:off x="320040" y="4544568"/>
            <a:ext cx="155448" cy="329184"/>
          </a:xfrm>
          <a:prstGeom prst="roundRect">
            <a:avLst>
              <a:gd name="adj" fmla="val 82353"/>
            </a:avLst>
          </a:prstGeom>
          <a:solidFill>
            <a:srgbClr val="FFE3EE"/>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51" name="R5_w454"/>
          <p:cNvSpPr/>
          <p:nvPr/>
        </p:nvSpPr>
        <p:spPr>
          <a:xfrm>
            <a:off x="457200" y="4544568"/>
            <a:ext cx="-73152" cy="329184"/>
          </a:xfrm>
          <a:prstGeom prst="rect">
            <a:avLst/>
          </a:prstGeom>
          <a:noFill/>
          <a:ln/>
        </p:spPr>
        <p:txBody>
          <a:bodyPr wrap="square" lIns="0" tIns="0" rIns="0" bIns="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 'non devi' = mustn't (vietato) OR don't have to (non serve)!   ✗ I must to go   ✗ I must study yesterday → ✓ I had to</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7"/>
                                        </p:tgtEl>
                                        <p:attrNameLst>
                                          <p:attrName>style.visibility</p:attrName>
                                        </p:attrNameLst>
                                      </p:cBhvr>
                                      <p:to>
                                        <p:strVal val="visible"/>
                                      </p:to>
                                    </p:set>
                                    <p:animEffect transition="in" filter="fade">
                                      <p:cBhvr>
                                        <p:cTn id="7" dur="400"/>
                                        <p:tgtEl>
                                          <p:spTgt spid="27"/>
                                        </p:tgtEl>
                                      </p:cBhvr>
                                    </p:animEffect>
                                  </p:childTnLst>
                                </p:cTn>
                              </p:par>
                              <p:par>
                                <p:cTn id="8" presetID="10" presetClass="entr" presetSubtype="0" fill="hold" nodeType="withEffect">
                                  <p:stCondLst>
                                    <p:cond delay="0"/>
                                  </p:stCondLst>
                                  <p:childTnLst>
                                    <p:set>
                                      <p:cBhvr>
                                        <p:cTn id="9" dur="1" fill="hold">
                                          <p:stCondLst>
                                            <p:cond delay="0"/>
                                          </p:stCondLst>
                                        </p:cTn>
                                        <p:tgtEl>
                                          <p:spTgt spid="28"/>
                                        </p:tgtEl>
                                        <p:attrNameLst>
                                          <p:attrName>style.visibility</p:attrName>
                                        </p:attrNameLst>
                                      </p:cBhvr>
                                      <p:to>
                                        <p:strVal val="visible"/>
                                      </p:to>
                                    </p:set>
                                    <p:animEffect transition="in" filter="fade">
                                      <p:cBhvr>
                                        <p:cTn id="10" dur="400"/>
                                        <p:tgtEl>
                                          <p:spTgt spid="28"/>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34"/>
                                        </p:tgtEl>
                                        <p:attrNameLst>
                                          <p:attrName>style.visibility</p:attrName>
                                        </p:attrNameLst>
                                      </p:cBhvr>
                                      <p:to>
                                        <p:strVal val="visible"/>
                                      </p:to>
                                    </p:set>
                                    <p:animEffect transition="in" filter="fade">
                                      <p:cBhvr>
                                        <p:cTn id="15" dur="400"/>
                                        <p:tgtEl>
                                          <p:spTgt spid="34"/>
                                        </p:tgtEl>
                                      </p:cBhvr>
                                    </p:animEffect>
                                  </p:childTnLst>
                                </p:cTn>
                              </p:par>
                              <p:par>
                                <p:cTn id="16" presetID="10" presetClass="entr" presetSubtype="0" fill="hold" nodeType="withEffect">
                                  <p:stCondLst>
                                    <p:cond delay="0"/>
                                  </p:stCondLst>
                                  <p:childTnLst>
                                    <p:set>
                                      <p:cBhvr>
                                        <p:cTn id="17" dur="1" fill="hold">
                                          <p:stCondLst>
                                            <p:cond delay="0"/>
                                          </p:stCondLst>
                                        </p:cTn>
                                        <p:tgtEl>
                                          <p:spTgt spid="35"/>
                                        </p:tgtEl>
                                        <p:attrNameLst>
                                          <p:attrName>style.visibility</p:attrName>
                                        </p:attrNameLst>
                                      </p:cBhvr>
                                      <p:to>
                                        <p:strVal val="visible"/>
                                      </p:to>
                                    </p:set>
                                    <p:animEffect transition="in" filter="fade">
                                      <p:cBhvr>
                                        <p:cTn id="18" dur="400"/>
                                        <p:tgtEl>
                                          <p:spTgt spid="35"/>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41"/>
                                        </p:tgtEl>
                                        <p:attrNameLst>
                                          <p:attrName>style.visibility</p:attrName>
                                        </p:attrNameLst>
                                      </p:cBhvr>
                                      <p:to>
                                        <p:strVal val="visible"/>
                                      </p:to>
                                    </p:set>
                                    <p:animEffect transition="in" filter="fade">
                                      <p:cBhvr>
                                        <p:cTn id="23" dur="400"/>
                                        <p:tgtEl>
                                          <p:spTgt spid="41"/>
                                        </p:tgtEl>
                                      </p:cBhvr>
                                    </p:animEffect>
                                  </p:childTnLst>
                                </p:cTn>
                              </p:par>
                              <p:par>
                                <p:cTn id="24" presetID="10" presetClass="entr" presetSubtype="0" fill="hold" nodeType="withEffect">
                                  <p:stCondLst>
                                    <p:cond delay="0"/>
                                  </p:stCondLst>
                                  <p:childTnLst>
                                    <p:set>
                                      <p:cBhvr>
                                        <p:cTn id="25" dur="1" fill="hold">
                                          <p:stCondLst>
                                            <p:cond delay="0"/>
                                          </p:stCondLst>
                                        </p:cTn>
                                        <p:tgtEl>
                                          <p:spTgt spid="42"/>
                                        </p:tgtEl>
                                        <p:attrNameLst>
                                          <p:attrName>style.visibility</p:attrName>
                                        </p:attrNameLst>
                                      </p:cBhvr>
                                      <p:to>
                                        <p:strVal val="visible"/>
                                      </p:to>
                                    </p:set>
                                    <p:animEffect transition="in" filter="fade">
                                      <p:cBhvr>
                                        <p:cTn id="26" dur="400"/>
                                        <p:tgtEl>
                                          <p:spTgt spid="42"/>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48"/>
                                        </p:tgtEl>
                                        <p:attrNameLst>
                                          <p:attrName>style.visibility</p:attrName>
                                        </p:attrNameLst>
                                      </p:cBhvr>
                                      <p:to>
                                        <p:strVal val="visible"/>
                                      </p:to>
                                    </p:set>
                                    <p:animEffect transition="in" filter="fade">
                                      <p:cBhvr>
                                        <p:cTn id="31" dur="400"/>
                                        <p:tgtEl>
                                          <p:spTgt spid="48"/>
                                        </p:tgtEl>
                                      </p:cBhvr>
                                    </p:animEffect>
                                  </p:childTnLst>
                                </p:cTn>
                              </p:par>
                              <p:par>
                                <p:cTn id="32" presetID="10" presetClass="entr" presetSubtype="0" fill="hold" nodeType="withEffect">
                                  <p:stCondLst>
                                    <p:cond delay="0"/>
                                  </p:stCondLst>
                                  <p:childTnLst>
                                    <p:set>
                                      <p:cBhvr>
                                        <p:cTn id="33" dur="1" fill="hold">
                                          <p:stCondLst>
                                            <p:cond delay="0"/>
                                          </p:stCondLst>
                                        </p:cTn>
                                        <p:tgtEl>
                                          <p:spTgt spid="49"/>
                                        </p:tgtEl>
                                        <p:attrNameLst>
                                          <p:attrName>style.visibility</p:attrName>
                                        </p:attrNameLst>
                                      </p:cBhvr>
                                      <p:to>
                                        <p:strVal val="visible"/>
                                      </p:to>
                                    </p:set>
                                    <p:animEffect transition="in" filter="fade">
                                      <p:cBhvr>
                                        <p:cTn id="34" dur="400"/>
                                        <p:tgtEl>
                                          <p:spTgt spid="49"/>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50"/>
                                        </p:tgtEl>
                                        <p:attrNameLst>
                                          <p:attrName>style.visibility</p:attrName>
                                        </p:attrNameLst>
                                      </p:cBhvr>
                                      <p:to>
                                        <p:strVal val="visible"/>
                                      </p:to>
                                    </p:set>
                                    <p:animEffect transition="in" filter="fade">
                                      <p:cBhvr>
                                        <p:cTn id="39" dur="400"/>
                                        <p:tgtEl>
                                          <p:spTgt spid="50"/>
                                        </p:tgtEl>
                                      </p:cBhvr>
                                    </p:animEffect>
                                  </p:childTnLst>
                                </p:cTn>
                              </p:par>
                              <p:par>
                                <p:cTn id="40" presetID="10" presetClass="entr" presetSubtype="0" fill="hold" nodeType="withEffect">
                                  <p:stCondLst>
                                    <p:cond delay="0"/>
                                  </p:stCondLst>
                                  <p:childTnLst>
                                    <p:set>
                                      <p:cBhvr>
                                        <p:cTn id="41" dur="1" fill="hold">
                                          <p:stCondLst>
                                            <p:cond delay="0"/>
                                          </p:stCondLst>
                                        </p:cTn>
                                        <p:tgtEl>
                                          <p:spTgt spid="51"/>
                                        </p:tgtEl>
                                        <p:attrNameLst>
                                          <p:attrName>style.visibility</p:attrName>
                                        </p:attrNameLst>
                                      </p:cBhvr>
                                      <p:to>
                                        <p:strVal val="visible"/>
                                      </p:to>
                                    </p:set>
                                    <p:animEffect transition="in" filter="fade">
                                      <p:cBhvr>
                                        <p:cTn id="42" dur="400"/>
                                        <p:tgtEl>
                                          <p:spTgt spid="5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43" restart="whenNotActive" fill="hold" evtFilter="cancelBubble" nodeType="interactiveSeq">
                <p:stCondLst>
                  <p:cond evt="onClick" delay="0">
                    <p:tgtEl>
                      <p:spTgt spid="13"/>
                    </p:tgtEl>
                  </p:cond>
                </p:stCondLst>
                <p:endSync evt="end" delay="0">
                  <p:rtn val="all"/>
                </p:endSync>
                <p:childTnLst>
                  <p:par>
                    <p:cTn id="44" fill="hold">
                      <p:stCondLst>
                        <p:cond delay="0"/>
                      </p:stCondLst>
                      <p:childTnLst>
                        <p:par>
                          <p:cTn id="45" fill="hold">
                            <p:stCondLst>
                              <p:cond delay="0"/>
                            </p:stCondLst>
                            <p:childTnLst>
                              <p:par>
                                <p:cTn id="46" presetID="2" presetClass="mediacall" presetSubtype="0" fill="hold" nodeType="clickEffect">
                                  <p:stCondLst>
                                    <p:cond delay="0"/>
                                  </p:stCondLst>
                                  <p:childTnLst>
                                    <p:cmd type="call" cmd="togglePause">
                                      <p:cBhvr>
                                        <p:cTn id="47" dur="1" fill="hold"/>
                                        <p:tgtEl>
                                          <p:spTgt spid="13"/>
                                        </p:tgtEl>
                                      </p:cBhvr>
                                    </p:cmd>
                                  </p:childTnLst>
                                </p:cTn>
                              </p:par>
                            </p:childTnLst>
                          </p:cTn>
                        </p:par>
                      </p:childTnLst>
                    </p:cTn>
                  </p:par>
                </p:childTnLst>
              </p:cTn>
              <p:nextCondLst>
                <p:cond evt="onClick" delay="0">
                  <p:tgtEl>
                    <p:spTgt spid="13"/>
                  </p:tgtEl>
                </p:cond>
              </p:nextCondLst>
            </p:seq>
            <p:seq concurrent="1" nextAc="seek">
              <p:cTn id="48" restart="whenNotActive" fill="hold" evtFilter="cancelBubble" nodeType="interactiveSeq">
                <p:stCondLst>
                  <p:cond evt="onClick" delay="0">
                    <p:tgtEl>
                      <p:spTgt spid="14"/>
                    </p:tgtEl>
                  </p:cond>
                </p:stCondLst>
                <p:endSync evt="end" delay="0">
                  <p:rtn val="all"/>
                </p:endSync>
                <p:childTnLst>
                  <p:par>
                    <p:cTn id="49" fill="hold">
                      <p:stCondLst>
                        <p:cond delay="0"/>
                      </p:stCondLst>
                      <p:childTnLst>
                        <p:par>
                          <p:cTn id="50" fill="hold">
                            <p:stCondLst>
                              <p:cond delay="0"/>
                            </p:stCondLst>
                            <p:childTnLst>
                              <p:par>
                                <p:cTn id="51" presetID="2" presetClass="mediacall" presetSubtype="0" fill="hold" nodeType="clickEffect">
                                  <p:stCondLst>
                                    <p:cond delay="0"/>
                                  </p:stCondLst>
                                  <p:childTnLst>
                                    <p:cmd type="call" cmd="togglePause">
                                      <p:cBhvr>
                                        <p:cTn id="52" dur="1" fill="hold"/>
                                        <p:tgtEl>
                                          <p:spTgt spid="14"/>
                                        </p:tgtEl>
                                      </p:cBhvr>
                                    </p:cmd>
                                  </p:childTnLst>
                                </p:cTn>
                              </p:par>
                            </p:childTnLst>
                          </p:cTn>
                        </p:par>
                      </p:childTnLst>
                    </p:cTn>
                  </p:par>
                </p:childTnLst>
              </p:cTn>
              <p:nextCondLst>
                <p:cond evt="onClick" delay="0">
                  <p:tgtEl>
                    <p:spTgt spid="14"/>
                  </p:tgtEl>
                </p:cond>
              </p:nextCondLst>
            </p:seq>
            <p:seq concurrent="1" nextAc="seek">
              <p:cTn id="53" restart="whenNotActive" fill="hold" evtFilter="cancelBubble" nodeType="interactiveSeq">
                <p:stCondLst>
                  <p:cond evt="onClick" delay="0">
                    <p:tgtEl>
                      <p:spTgt spid="15"/>
                    </p:tgtEl>
                  </p:cond>
                </p:stCondLst>
                <p:endSync evt="end" delay="0">
                  <p:rtn val="all"/>
                </p:endSync>
                <p:childTnLst>
                  <p:par>
                    <p:cTn id="54" fill="hold">
                      <p:stCondLst>
                        <p:cond delay="0"/>
                      </p:stCondLst>
                      <p:childTnLst>
                        <p:par>
                          <p:cTn id="55" fill="hold">
                            <p:stCondLst>
                              <p:cond delay="0"/>
                            </p:stCondLst>
                            <p:childTnLst>
                              <p:par>
                                <p:cTn id="56" presetID="2" presetClass="mediacall" presetSubtype="0" fill="hold" nodeType="clickEffect">
                                  <p:stCondLst>
                                    <p:cond delay="0"/>
                                  </p:stCondLst>
                                  <p:childTnLst>
                                    <p:cmd type="call" cmd="togglePause">
                                      <p:cBhvr>
                                        <p:cTn id="57" dur="1" fill="hold"/>
                                        <p:tgtEl>
                                          <p:spTgt spid="15"/>
                                        </p:tgtEl>
                                      </p:cBhvr>
                                    </p:cmd>
                                  </p:childTnLst>
                                </p:cTn>
                              </p:par>
                            </p:childTnLst>
                          </p:cTn>
                        </p:par>
                      </p:childTnLst>
                    </p:cTn>
                  </p:par>
                </p:childTnLst>
              </p:cTn>
              <p:nextCondLst>
                <p:cond evt="onClick" delay="0">
                  <p:tgtEl>
                    <p:spTgt spid="15"/>
                  </p:tgtEl>
                </p:cond>
              </p:nextCondLst>
            </p:seq>
            <p:seq concurrent="1" nextAc="seek">
              <p:cTn id="58" restart="whenNotActive" fill="hold" evtFilter="cancelBubble" nodeType="interactiveSeq">
                <p:stCondLst>
                  <p:cond evt="onClick" delay="0">
                    <p:tgtEl>
                      <p:spTgt spid="16"/>
                    </p:tgtEl>
                  </p:cond>
                </p:stCondLst>
                <p:endSync evt="end" delay="0">
                  <p:rtn val="all"/>
                </p:endSync>
                <p:childTnLst>
                  <p:par>
                    <p:cTn id="59" fill="hold">
                      <p:stCondLst>
                        <p:cond delay="0"/>
                      </p:stCondLst>
                      <p:childTnLst>
                        <p:par>
                          <p:cTn id="60" fill="hold">
                            <p:stCondLst>
                              <p:cond delay="0"/>
                            </p:stCondLst>
                            <p:childTnLst>
                              <p:par>
                                <p:cTn id="61" presetID="2" presetClass="mediacall" presetSubtype="0" fill="hold" nodeType="clickEffect">
                                  <p:stCondLst>
                                    <p:cond delay="0"/>
                                  </p:stCondLst>
                                  <p:childTnLst>
                                    <p:cmd type="call" cmd="togglePause">
                                      <p:cBhvr>
                                        <p:cTn id="62" dur="1" fill="hold"/>
                                        <p:tgtEl>
                                          <p:spTgt spid="16"/>
                                        </p:tgtEl>
                                      </p:cBhvr>
                                    </p:cmd>
                                  </p:childTnLst>
                                </p:cTn>
                              </p:par>
                            </p:childTnLst>
                          </p:cTn>
                        </p:par>
                      </p:childTnLst>
                    </p:cTn>
                  </p:par>
                </p:childTnLst>
              </p:cTn>
              <p:nextCondLst>
                <p:cond evt="onClick" delay="0">
                  <p:tgtEl>
                    <p:spTgt spid="16"/>
                  </p:tgtEl>
                </p:cond>
              </p:nextCondLst>
            </p:seq>
            <p:seq concurrent="1" nextAc="seek">
              <p:cTn id="63" restart="whenNotActive" fill="hold" evtFilter="cancelBubble" nodeType="interactiveSeq">
                <p:stCondLst>
                  <p:cond evt="onClick" delay="0">
                    <p:tgtEl>
                      <p:spTgt spid="18"/>
                    </p:tgtEl>
                  </p:cond>
                </p:stCondLst>
                <p:endSync evt="end" delay="0">
                  <p:rtn val="all"/>
                </p:endSync>
                <p:childTnLst>
                  <p:par>
                    <p:cTn id="64" fill="hold">
                      <p:stCondLst>
                        <p:cond delay="0"/>
                      </p:stCondLst>
                      <p:childTnLst>
                        <p:par>
                          <p:cTn id="65" fill="hold">
                            <p:stCondLst>
                              <p:cond delay="0"/>
                            </p:stCondLst>
                            <p:childTnLst>
                              <p:par>
                                <p:cTn id="66" presetID="2" presetClass="mediacall" presetSubtype="0" fill="hold" nodeType="clickEffect">
                                  <p:stCondLst>
                                    <p:cond delay="0"/>
                                  </p:stCondLst>
                                  <p:childTnLst>
                                    <p:cmd type="call" cmd="togglePause">
                                      <p:cBhvr>
                                        <p:cTn id="67" dur="1" fill="hold"/>
                                        <p:tgtEl>
                                          <p:spTgt spid="18"/>
                                        </p:tgtEl>
                                      </p:cBhvr>
                                    </p:cmd>
                                  </p:childTnLst>
                                </p:cTn>
                              </p:par>
                            </p:childTnLst>
                          </p:cTn>
                        </p:par>
                      </p:childTnLst>
                    </p:cTn>
                  </p:par>
                </p:childTnLst>
              </p:cTn>
              <p:nextCondLst>
                <p:cond evt="onClick" delay="0">
                  <p:tgtEl>
                    <p:spTgt spid="18"/>
                  </p:tgtEl>
                </p:cond>
              </p:nextCondLst>
            </p:seq>
            <p:seq concurrent="1" nextAc="seek">
              <p:cTn id="68" restart="whenNotActive" fill="hold" evtFilter="cancelBubble" nodeType="interactiveSeq">
                <p:stCondLst>
                  <p:cond evt="onClick" delay="0">
                    <p:tgtEl>
                      <p:spTgt spid="19"/>
                    </p:tgtEl>
                  </p:cond>
                </p:stCondLst>
                <p:endSync evt="end" delay="0">
                  <p:rtn val="all"/>
                </p:endSync>
                <p:childTnLst>
                  <p:par>
                    <p:cTn id="69" fill="hold">
                      <p:stCondLst>
                        <p:cond delay="0"/>
                      </p:stCondLst>
                      <p:childTnLst>
                        <p:par>
                          <p:cTn id="70" fill="hold">
                            <p:stCondLst>
                              <p:cond delay="0"/>
                            </p:stCondLst>
                            <p:childTnLst>
                              <p:par>
                                <p:cTn id="71" presetID="2" presetClass="mediacall" presetSubtype="0" fill="hold" nodeType="clickEffect">
                                  <p:stCondLst>
                                    <p:cond delay="0"/>
                                  </p:stCondLst>
                                  <p:childTnLst>
                                    <p:cmd type="call" cmd="togglePause">
                                      <p:cBhvr>
                                        <p:cTn id="72" dur="1" fill="hold"/>
                                        <p:tgtEl>
                                          <p:spTgt spid="19"/>
                                        </p:tgtEl>
                                      </p:cBhvr>
                                    </p:cmd>
                                  </p:childTnLst>
                                </p:cTn>
                              </p:par>
                            </p:childTnLst>
                          </p:cTn>
                        </p:par>
                      </p:childTnLst>
                    </p:cTn>
                  </p:par>
                </p:childTnLst>
              </p:cTn>
              <p:nextCondLst>
                <p:cond evt="onClick" delay="0">
                  <p:tgtEl>
                    <p:spTgt spid="19"/>
                  </p:tgtEl>
                </p:cond>
              </p:nextCondLst>
            </p:seq>
            <p:seq concurrent="1" nextAc="seek">
              <p:cTn id="73" restart="whenNotActive" fill="hold" evtFilter="cancelBubble" nodeType="interactiveSeq">
                <p:stCondLst>
                  <p:cond evt="onClick" delay="0">
                    <p:tgtEl>
                      <p:spTgt spid="20"/>
                    </p:tgtEl>
                  </p:cond>
                </p:stCondLst>
                <p:endSync evt="end" delay="0">
                  <p:rtn val="all"/>
                </p:endSync>
                <p:childTnLst>
                  <p:par>
                    <p:cTn id="74" fill="hold">
                      <p:stCondLst>
                        <p:cond delay="0"/>
                      </p:stCondLst>
                      <p:childTnLst>
                        <p:par>
                          <p:cTn id="75" fill="hold">
                            <p:stCondLst>
                              <p:cond delay="0"/>
                            </p:stCondLst>
                            <p:childTnLst>
                              <p:par>
                                <p:cTn id="76" presetID="2" presetClass="mediacall" presetSubtype="0" fill="hold" nodeType="clickEffect">
                                  <p:stCondLst>
                                    <p:cond delay="0"/>
                                  </p:stCondLst>
                                  <p:childTnLst>
                                    <p:cmd type="call" cmd="togglePause">
                                      <p:cBhvr>
                                        <p:cTn id="77" dur="1" fill="hold"/>
                                        <p:tgtEl>
                                          <p:spTgt spid="20"/>
                                        </p:tgtEl>
                                      </p:cBhvr>
                                    </p:cmd>
                                  </p:childTnLst>
                                </p:cTn>
                              </p:par>
                            </p:childTnLst>
                          </p:cTn>
                        </p:par>
                      </p:childTnLst>
                    </p:cTn>
                  </p:par>
                </p:childTnLst>
              </p:cTn>
              <p:nextCondLst>
                <p:cond evt="onClick" delay="0">
                  <p:tgtEl>
                    <p:spTgt spid="20"/>
                  </p:tgtEl>
                </p:cond>
              </p:nextCondLst>
            </p:seq>
            <p:seq concurrent="1" nextAc="seek">
              <p:cTn id="78" restart="whenNotActive" fill="hold" evtFilter="cancelBubble" nodeType="interactiveSeq">
                <p:stCondLst>
                  <p:cond evt="onClick" delay="0">
                    <p:tgtEl>
                      <p:spTgt spid="21"/>
                    </p:tgtEl>
                  </p:cond>
                </p:stCondLst>
                <p:endSync evt="end" delay="0">
                  <p:rtn val="all"/>
                </p:endSync>
                <p:childTnLst>
                  <p:par>
                    <p:cTn id="79" fill="hold">
                      <p:stCondLst>
                        <p:cond delay="0"/>
                      </p:stCondLst>
                      <p:childTnLst>
                        <p:par>
                          <p:cTn id="80" fill="hold">
                            <p:stCondLst>
                              <p:cond delay="0"/>
                            </p:stCondLst>
                            <p:childTnLst>
                              <p:par>
                                <p:cTn id="81" presetID="2" presetClass="mediacall" presetSubtype="0" fill="hold" nodeType="clickEffect">
                                  <p:stCondLst>
                                    <p:cond delay="0"/>
                                  </p:stCondLst>
                                  <p:childTnLst>
                                    <p:cmd type="call" cmd="togglePause">
                                      <p:cBhvr>
                                        <p:cTn id="82" dur="1" fill="hold"/>
                                        <p:tgtEl>
                                          <p:spTgt spid="21"/>
                                        </p:tgtEl>
                                      </p:cBhvr>
                                    </p:cmd>
                                  </p:childTnLst>
                                </p:cTn>
                              </p:par>
                            </p:childTnLst>
                          </p:cTn>
                        </p:par>
                      </p:childTnLst>
                    </p:cTn>
                  </p:par>
                </p:childTnLst>
              </p:cTn>
              <p:nextCondLst>
                <p:cond evt="onClick" delay="0">
                  <p:tgtEl>
                    <p:spTgt spid="21"/>
                  </p:tgtEl>
                </p:cond>
              </p:nextCondLst>
            </p:seq>
            <p:audio>
              <p:cMediaNode vol="80000">
                <p:cTn id="83" fill="hold" display="0">
                  <p:stCondLst>
                    <p:cond delay="indefinite"/>
                  </p:stCondLst>
                  <p:endCondLst>
                    <p:cond evt="onStopAudio" delay="0">
                      <p:tgtEl>
                        <p:sldTgt/>
                      </p:tgtEl>
                    </p:cond>
                  </p:endCondLst>
                </p:cTn>
                <p:tgtEl>
                  <p:spTgt spid="13"/>
                </p:tgtEl>
              </p:cMediaNode>
            </p:audio>
            <p:audio>
              <p:cMediaNode vol="80000">
                <p:cTn id="84" fill="hold" display="0">
                  <p:stCondLst>
                    <p:cond delay="indefinite"/>
                  </p:stCondLst>
                  <p:endCondLst>
                    <p:cond evt="onStopAudio" delay="0">
                      <p:tgtEl>
                        <p:sldTgt/>
                      </p:tgtEl>
                    </p:cond>
                  </p:endCondLst>
                </p:cTn>
                <p:tgtEl>
                  <p:spTgt spid="14"/>
                </p:tgtEl>
              </p:cMediaNode>
            </p:audio>
            <p:audio>
              <p:cMediaNode vol="80000">
                <p:cTn id="85" fill="hold" display="0">
                  <p:stCondLst>
                    <p:cond delay="indefinite"/>
                  </p:stCondLst>
                  <p:endCondLst>
                    <p:cond evt="onStopAudio" delay="0">
                      <p:tgtEl>
                        <p:sldTgt/>
                      </p:tgtEl>
                    </p:cond>
                  </p:endCondLst>
                </p:cTn>
                <p:tgtEl>
                  <p:spTgt spid="15"/>
                </p:tgtEl>
              </p:cMediaNode>
            </p:audio>
            <p:audio>
              <p:cMediaNode vol="80000">
                <p:cTn id="86" fill="hold" display="0">
                  <p:stCondLst>
                    <p:cond delay="indefinite"/>
                  </p:stCondLst>
                  <p:endCondLst>
                    <p:cond evt="onStopAudio" delay="0">
                      <p:tgtEl>
                        <p:sldTgt/>
                      </p:tgtEl>
                    </p:cond>
                  </p:endCondLst>
                </p:cTn>
                <p:tgtEl>
                  <p:spTgt spid="16"/>
                </p:tgtEl>
              </p:cMediaNode>
            </p:audio>
            <p:audio>
              <p:cMediaNode vol="80000">
                <p:cTn id="87" fill="hold" display="0">
                  <p:stCondLst>
                    <p:cond delay="indefinite"/>
                  </p:stCondLst>
                  <p:endCondLst>
                    <p:cond evt="onStopAudio" delay="0">
                      <p:tgtEl>
                        <p:sldTgt/>
                      </p:tgtEl>
                    </p:cond>
                  </p:endCondLst>
                </p:cTn>
                <p:tgtEl>
                  <p:spTgt spid="18"/>
                </p:tgtEl>
              </p:cMediaNode>
            </p:audio>
            <p:audio>
              <p:cMediaNode vol="80000">
                <p:cTn id="88" fill="hold" display="0">
                  <p:stCondLst>
                    <p:cond delay="indefinite"/>
                  </p:stCondLst>
                  <p:endCondLst>
                    <p:cond evt="onStopAudio" delay="0">
                      <p:tgtEl>
                        <p:sldTgt/>
                      </p:tgtEl>
                    </p:cond>
                  </p:endCondLst>
                </p:cTn>
                <p:tgtEl>
                  <p:spTgt spid="19"/>
                </p:tgtEl>
              </p:cMediaNode>
            </p:audio>
            <p:audio>
              <p:cMediaNode vol="80000">
                <p:cTn id="89" fill="hold" display="0">
                  <p:stCondLst>
                    <p:cond delay="indefinite"/>
                  </p:stCondLst>
                  <p:endCondLst>
                    <p:cond evt="onStopAudio" delay="0">
                      <p:tgtEl>
                        <p:sldTgt/>
                      </p:tgtEl>
                    </p:cond>
                  </p:endCondLst>
                </p:cTn>
                <p:tgtEl>
                  <p:spTgt spid="20"/>
                </p:tgtEl>
              </p:cMediaNode>
            </p:audio>
            <p:audio>
              <p:cMediaNode vol="80000">
                <p:cTn id="90" fill="hold" display="0">
                  <p:stCondLst>
                    <p:cond delay="indefinite"/>
                  </p:stCondLst>
                  <p:endCondLst>
                    <p:cond evt="onStopAudio" delay="0">
                      <p:tgtEl>
                        <p:sldTgt/>
                      </p:tgtEl>
                    </p:cond>
                  </p:endCondLst>
                </p:cTn>
                <p:tgtEl>
                  <p:spTgt spid="21"/>
                </p:tgtEl>
              </p:cMediaNode>
            </p:audio>
          </p:childTnLst>
        </p:cTn>
      </p:par>
    </p:tnLst>
  </p:timing>
</p:sld>
</file>

<file path=ppt/slides/slide15.xml><?xml version="1.0" encoding="utf-8"?>
<p:sld xmlns:a="http://schemas.openxmlformats.org/drawingml/2006/main" xmlns:r="http://schemas.openxmlformats.org/officeDocument/2006/relationships" xmlns:p="http://schemas.openxmlformats.org/presentationml/2006/main">
  <p:cSld name="Slide 15">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55"/>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15</a:t>
            </a:r>
            <a:endParaRPr lang="en-US" sz="2200" dirty="0"/>
          </a:p>
        </p:txBody>
      </p:sp>
      <p:pic>
        <p:nvPicPr>
          <p:cNvPr id="4" name="brY_456" descr="/home/claude/lls-course/v2/assets/brush-yellow.png">    </p:cNvPr>
          <p:cNvPicPr>
            <a:picLocks noChangeAspect="1"/>
          </p:cNvPicPr>
          <p:nvPr/>
        </p:nvPicPr>
        <p:blipFill>
          <a:blip r:embed="rId2"/>
          <a:stretch>
            <a:fillRect/>
          </a:stretch>
        </p:blipFill>
        <p:spPr>
          <a:xfrm>
            <a:off x="1097280" y="146304"/>
            <a:ext cx="3405226" cy="621792"/>
          </a:xfrm>
          <a:prstGeom prst="rect">
            <a:avLst/>
          </a:prstGeom>
        </p:spPr>
      </p:pic>
      <p:sp>
        <p:nvSpPr>
          <p:cNvPr id="5" name="title_457"/>
          <p:cNvSpPr/>
          <p:nvPr/>
        </p:nvSpPr>
        <p:spPr>
          <a:xfrm>
            <a:off x="1261872" y="164592"/>
            <a:ext cx="3130906"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Nonna's new phone</a:t>
            </a:r>
            <a:endParaRPr lang="en-US" sz="2400" dirty="0"/>
          </a:p>
        </p:txBody>
      </p:sp>
      <p:pic>
        <p:nvPicPr>
          <p:cNvPr id="6" name="brP_458" descr="/home/claude/lls-course/v2/assets/brush-pink.png">    </p:cNvPr>
          <p:cNvPicPr>
            <a:picLocks noChangeAspect="1"/>
          </p:cNvPicPr>
          <p:nvPr/>
        </p:nvPicPr>
        <p:blipFill>
          <a:blip r:embed="rId3"/>
          <a:stretch>
            <a:fillRect/>
          </a:stretch>
        </p:blipFill>
        <p:spPr>
          <a:xfrm>
            <a:off x="1207008" y="731520"/>
            <a:ext cx="4379976" cy="402336"/>
          </a:xfrm>
          <a:prstGeom prst="rect">
            <a:avLst/>
          </a:prstGeom>
        </p:spPr>
      </p:pic>
      <p:sp>
        <p:nvSpPr>
          <p:cNvPr id="7" name="ins_459"/>
          <p:cNvSpPr/>
          <p:nvPr/>
        </p:nvSpPr>
        <p:spPr>
          <a:xfrm>
            <a:off x="1353312" y="731520"/>
            <a:ext cx="412394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Listen to the story. Answer the questions!</a:t>
            </a:r>
            <a:endParaRPr lang="en-US" sz="1250" dirty="0"/>
          </a:p>
        </p:txBody>
      </p:sp>
      <p:sp>
        <p:nvSpPr>
          <p:cNvPr id="8" name="insIT_460"/>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Ascolta la storia. Rispondi alle domande!</a:t>
            </a:r>
            <a:endParaRPr lang="en-US" sz="950" dirty="0"/>
          </a:p>
        </p:txBody>
      </p:sp>
      <p:sp>
        <p:nvSpPr>
          <p:cNvPr id="9" name="note_461"/>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READ</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TALK</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whole class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TPRS · story</a:t>
            </a:r>
            <a:endParaRPr lang="en-US" sz="1150" dirty="0"/>
          </a:p>
        </p:txBody>
      </p:sp>
      <p:pic>
        <p:nvPicPr>
          <p:cNvPr id="10" name="logo_462"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63"/>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Speaking · class story (TPRS)</a:t>
            </a:r>
            <a:endParaRPr lang="en-US" sz="800" dirty="0"/>
          </a:p>
        </p:txBody>
      </p:sp>
      <p:sp>
        <p:nvSpPr>
          <p:cNvPr id="12" name="pf_464"/>
          <p:cNvSpPr/>
          <p:nvPr/>
        </p:nvSpPr>
        <p:spPr>
          <a:xfrm rot="-90000">
            <a:off x="999877" y="1417320"/>
            <a:ext cx="1383527" cy="1280160"/>
          </a:xfrm>
          <a:prstGeom prst="roundRect">
            <a:avLst>
              <a:gd name="adj" fmla="val 12143"/>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465" descr="/home/claude/lls-course/v2/cache/4a1_ringtone_jpg_311x286_31.png">    </p:cNvPr>
          <p:cNvPicPr>
            <a:picLocks noChangeAspect="1"/>
          </p:cNvPicPr>
          <p:nvPr/>
        </p:nvPicPr>
        <p:blipFill>
          <a:blip r:embed="rId5"/>
          <a:stretch>
            <a:fillRect/>
          </a:stretch>
        </p:blipFill>
        <p:spPr>
          <a:xfrm rot="-90000">
            <a:off x="1045597" y="1463040"/>
            <a:ext cx="1292087" cy="1188720"/>
          </a:xfrm>
          <a:prstGeom prst="rect">
            <a:avLst/>
          </a:prstGeom>
        </p:spPr>
      </p:pic>
      <p:sp>
        <p:nvSpPr>
          <p:cNvPr id="14" name="cd_466"/>
          <p:cNvSpPr/>
          <p:nvPr/>
        </p:nvSpPr>
        <p:spPr>
          <a:xfrm>
            <a:off x="320040" y="2834640"/>
            <a:ext cx="2697480" cy="1920240"/>
          </a:xfrm>
          <a:prstGeom prst="roundRect">
            <a:avLst>
              <a:gd name="adj" fmla="val 666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467"/>
          <p:cNvSpPr/>
          <p:nvPr/>
        </p:nvSpPr>
        <p:spPr>
          <a:xfrm>
            <a:off x="411480" y="290779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468"/>
          <p:cNvSpPr/>
          <p:nvPr/>
        </p:nvSpPr>
        <p:spPr>
          <a:xfrm>
            <a:off x="886968" y="292608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Story phrases</a:t>
            </a:r>
            <a:endParaRPr lang="en-US" sz="1300" dirty="0"/>
          </a:p>
        </p:txBody>
      </p:sp>
      <p:sp>
        <p:nvSpPr>
          <p:cNvPr id="17" name="il_469"/>
          <p:cNvSpPr/>
          <p:nvPr/>
        </p:nvSpPr>
        <p:spPr>
          <a:xfrm>
            <a:off x="886968" y="3328416"/>
            <a:ext cx="2039112" cy="1353312"/>
          </a:xfrm>
          <a:prstGeom prst="rect">
            <a:avLst/>
          </a:prstGeom>
          <a:noFill/>
          <a:ln/>
        </p:spPr>
        <p:txBody>
          <a:bodyPr wrap="square" lIns="0" tIns="0" rIns="0" bIns="0" rtlCol="0" anchor="t">
            <a:normAutofit/>
          </a:bodyPr>
          <a:lstStyle/>
          <a:p>
            <a:pPr indent="0" marL="0">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have to</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dover (è obbligatorio)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mustn't</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non devi (è vietato)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don't have to</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non è necessario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should</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dovresti (consiglio)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go off</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suonare (all'improvviso)</a:t>
            </a:r>
            <a:endParaRPr lang="en-US" sz="850" dirty="0"/>
          </a:p>
          <a:p>
            <a:pPr indent="0" marL="0">
              <a:spcBef>
                <a:spcPts val="600"/>
              </a:spcBef>
              <a:spcAft>
                <a:spcPts val="200"/>
              </a:spcAft>
              <a:buNone/>
            </a:pPr>
            <a:r>
              <a:rPr lang="en-US" sz="850" dirty="0">
                <a:solidFill>
                  <a:srgbClr val="1B2559"/>
                </a:solidFill>
                <a:latin typeface="Segoe UI Semibold" pitchFamily="34" charset="0"/>
                <a:ea typeface="Segoe UI Semibold" pitchFamily="34" charset="-122"/>
                <a:cs typeface="Segoe UI Semibold" pitchFamily="34" charset="-120"/>
              </a:rPr>
              <a:t>put sb on hold</a:t>
            </a:r>
            <a:pPr indent="0" marL="0">
              <a:spcAft>
                <a:spcPts val="200"/>
              </a:spcAft>
              <a:buNone/>
            </a:pPr>
            <a:r>
              <a:rPr lang="en-US" sz="850" dirty="0">
                <a:solidFill>
                  <a:srgbClr val="5B6785"/>
                </a:solidFill>
                <a:latin typeface="Segoe UI Semibold" pitchFamily="34" charset="0"/>
                <a:ea typeface="Segoe UI Semibold" pitchFamily="34" charset="-122"/>
                <a:cs typeface="Segoe UI Semibold" pitchFamily="34" charset="-120"/>
              </a:rPr>
              <a:t>  – mettere in attesa</a:t>
            </a:r>
            <a:endParaRPr lang="en-US" sz="850" dirty="0"/>
          </a:p>
        </p:txBody>
      </p:sp>
      <p:sp>
        <p:nvSpPr>
          <p:cNvPr id="18" name="R1_sb470"/>
          <p:cNvSpPr/>
          <p:nvPr/>
        </p:nvSpPr>
        <p:spPr>
          <a:xfrm>
            <a:off x="3200400" y="145389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19" name="R1_sl471"/>
          <p:cNvSpPr/>
          <p:nvPr/>
        </p:nvSpPr>
        <p:spPr>
          <a:xfrm>
            <a:off x="3584448" y="141732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Nonna Rosa has a new phone. Her grandson Luca says: 'You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have to</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charge it every night.'</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Is the phone old or new? · What does she have to do every night?</a:t>
            </a:r>
            <a:endParaRPr lang="en-US" sz="900" dirty="0"/>
          </a:p>
        </p:txBody>
      </p:sp>
      <p:sp>
        <p:nvSpPr>
          <p:cNvPr id="20" name="R2_sb472"/>
          <p:cNvSpPr/>
          <p:nvPr/>
        </p:nvSpPr>
        <p:spPr>
          <a:xfrm>
            <a:off x="3200400" y="201777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1" name="R2_sl473"/>
          <p:cNvSpPr/>
          <p:nvPr/>
        </p:nvSpPr>
        <p:spPr>
          <a:xfrm>
            <a:off x="3584448" y="198120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Her ringtone is a very loud rooster. It </a:t>
            </a:r>
            <a:pPr indent="0" marL="0">
              <a:buNone/>
            </a:pPr>
            <a:r>
              <a:rPr lang="en-US" sz="1100" b="1" dirty="0">
                <a:solidFill>
                  <a:srgbClr val="7B5CD6"/>
                </a:solidFill>
                <a:highlight>
                  <a:srgbClr val="FFF1A8"/>
                </a:highlight>
                <a:latin typeface="Segoe UI Semibold" pitchFamily="34" charset="0"/>
                <a:ea typeface="Segoe UI Semibold" pitchFamily="34" charset="-122"/>
                <a:cs typeface="Segoe UI Semibold" pitchFamily="34" charset="-120"/>
              </a:rPr>
              <a:t>goes off</a:t>
            </a:r>
            <a:pPr indent="0" marL="0">
              <a:buNone/>
            </a:pPr>
            <a:r>
              <a:rPr lang="en-US" sz="1100" dirty="0">
                <a:solidFill>
                  <a:srgbClr val="1B2559"/>
                </a:solidFill>
                <a:latin typeface="Segoe UI Semibold" pitchFamily="34" charset="0"/>
                <a:ea typeface="Segoe UI Semibold" pitchFamily="34" charset="-122"/>
                <a:cs typeface="Segoe UI Semibold" pitchFamily="34" charset="-120"/>
              </a:rPr>
              <a:t> at six every morning!</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 Is the ringtone a rooster or a cat? · When does it go off?</a:t>
            </a:r>
            <a:endParaRPr lang="en-US" sz="1100" dirty="0"/>
          </a:p>
        </p:txBody>
      </p:sp>
      <p:sp>
        <p:nvSpPr>
          <p:cNvPr id="22" name="R3_sb474"/>
          <p:cNvSpPr/>
          <p:nvPr/>
        </p:nvSpPr>
        <p:spPr>
          <a:xfrm>
            <a:off x="3200400" y="2581656"/>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3" name="R3_sl475"/>
          <p:cNvSpPr/>
          <p:nvPr/>
        </p:nvSpPr>
        <p:spPr>
          <a:xfrm>
            <a:off x="3584448" y="2545080"/>
            <a:ext cx="5303520" cy="499872"/>
          </a:xfrm>
          <a:prstGeom prst="roundRect">
            <a:avLst>
              <a:gd name="adj" fmla="val 21951"/>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In church the rooster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goes off</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The priest says: 'You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mustn't</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use phones here!'</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Where does it go off? · What mustn't she do in church?</a:t>
            </a:r>
            <a:endParaRPr lang="en-US" sz="900" dirty="0"/>
          </a:p>
        </p:txBody>
      </p:sp>
      <p:sp>
        <p:nvSpPr>
          <p:cNvPr id="24" name="R4_sb476"/>
          <p:cNvSpPr/>
          <p:nvPr/>
        </p:nvSpPr>
        <p:spPr>
          <a:xfrm>
            <a:off x="3200400" y="3145536"/>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5" name="R4_sl477"/>
          <p:cNvSpPr/>
          <p:nvPr/>
        </p:nvSpPr>
        <p:spPr>
          <a:xfrm>
            <a:off x="3584448" y="3108960"/>
            <a:ext cx="5303520" cy="499872"/>
          </a:xfrm>
          <a:prstGeom prst="roundRect">
            <a:avLst>
              <a:gd name="adj" fmla="val 21951"/>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Nonna calls the phone company. They </a:t>
            </a:r>
            <a:pPr indent="0" marL="0">
              <a:buNone/>
            </a:pPr>
            <a:r>
              <a:rPr lang="en-US" sz="1000" b="1" dirty="0">
                <a:solidFill>
                  <a:srgbClr val="7B5CD6"/>
                </a:solidFill>
                <a:highlight>
                  <a:srgbClr val="FFF1A8"/>
                </a:highlight>
                <a:latin typeface="Segoe UI Semibold" pitchFamily="34" charset="0"/>
                <a:ea typeface="Segoe UI Semibold" pitchFamily="34" charset="-122"/>
                <a:cs typeface="Segoe UI Semibold" pitchFamily="34" charset="-120"/>
              </a:rPr>
              <a:t>put her on hold</a:t>
            </a:r>
            <a:pPr indent="0" marL="0">
              <a:buNone/>
            </a:pPr>
            <a:r>
              <a:rPr lang="en-US" sz="1000" dirty="0">
                <a:solidFill>
                  <a:srgbClr val="1B2559"/>
                </a:solidFill>
                <a:latin typeface="Segoe UI Semibold" pitchFamily="34" charset="0"/>
                <a:ea typeface="Segoe UI Semibold" pitchFamily="34" charset="-122"/>
                <a:cs typeface="Segoe UI Semibold" pitchFamily="34" charset="-120"/>
              </a:rPr>
              <a:t> for forty minutes.</a:t>
            </a:r>
            <a:endParaRPr lang="en-US" sz="1000" dirty="0"/>
          </a:p>
          <a:p>
            <a:pPr indent="0" marL="0">
              <a:buNone/>
            </a:pPr>
            <a:r>
              <a:rPr lang="en-US" sz="750" i="1" dirty="0">
                <a:solidFill>
                  <a:srgbClr val="5B6785"/>
                </a:solidFill>
                <a:latin typeface="Segoe UI Semibold" pitchFamily="34" charset="0"/>
                <a:ea typeface="Segoe UI Semibold" pitchFamily="34" charset="-122"/>
                <a:cs typeface="Segoe UI Semibold" pitchFamily="34" charset="-120"/>
              </a:rPr>
              <a:t>❓ Who does she call? · Is she on hold for four or forty minutes?</a:t>
            </a:r>
            <a:endParaRPr lang="en-US" sz="1000" dirty="0"/>
          </a:p>
        </p:txBody>
      </p:sp>
      <p:sp>
        <p:nvSpPr>
          <p:cNvPr id="26" name="R5_sb478"/>
          <p:cNvSpPr/>
          <p:nvPr/>
        </p:nvSpPr>
        <p:spPr>
          <a:xfrm>
            <a:off x="3200400" y="3709416"/>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27" name="R5_sl479"/>
          <p:cNvSpPr/>
          <p:nvPr/>
        </p:nvSpPr>
        <p:spPr>
          <a:xfrm>
            <a:off x="3584448" y="3672840"/>
            <a:ext cx="5303520" cy="499872"/>
          </a:xfrm>
          <a:prstGeom prst="roundRect">
            <a:avLst>
              <a:gd name="adj" fmla="val 21951"/>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1150" dirty="0">
                <a:solidFill>
                  <a:srgbClr val="1B2559"/>
                </a:solidFill>
                <a:latin typeface="Segoe UI Semibold" pitchFamily="34" charset="0"/>
                <a:ea typeface="Segoe UI Semibold" pitchFamily="34" charset="-122"/>
                <a:cs typeface="Segoe UI Semibold" pitchFamily="34" charset="-120"/>
              </a:rPr>
              <a:t>Finally a man answers. Nonna is so angry that she </a:t>
            </a:r>
            <a:pPr indent="0" marL="0">
              <a:buNone/>
            </a:pPr>
            <a:r>
              <a:rPr lang="en-US" sz="1150" b="1" dirty="0">
                <a:solidFill>
                  <a:srgbClr val="7B5CD6"/>
                </a:solidFill>
                <a:highlight>
                  <a:srgbClr val="FFF1A8"/>
                </a:highlight>
                <a:latin typeface="Segoe UI Semibold" pitchFamily="34" charset="0"/>
                <a:ea typeface="Segoe UI Semibold" pitchFamily="34" charset="-122"/>
                <a:cs typeface="Segoe UI Semibold" pitchFamily="34" charset="-120"/>
              </a:rPr>
              <a:t>hangs up</a:t>
            </a:r>
            <a:pPr indent="0" marL="0">
              <a:buNone/>
            </a:pPr>
            <a:r>
              <a:rPr lang="en-US" sz="1150" dirty="0">
                <a:solidFill>
                  <a:srgbClr val="1B2559"/>
                </a:solidFill>
                <a:latin typeface="Segoe UI Semibold" pitchFamily="34" charset="0"/>
                <a:ea typeface="Segoe UI Semibold" pitchFamily="34" charset="-122"/>
                <a:cs typeface="Segoe UI Semibold" pitchFamily="34" charset="-120"/>
              </a:rPr>
              <a:t>!</a:t>
            </a:r>
            <a:endParaRPr lang="en-US" sz="1150" dirty="0"/>
          </a:p>
          <a:p>
            <a:pPr indent="0" marL="0">
              <a:buNone/>
            </a:pPr>
            <a:r>
              <a:rPr lang="en-US" sz="900" i="1" dirty="0">
                <a:solidFill>
                  <a:srgbClr val="5B6785"/>
                </a:solidFill>
                <a:latin typeface="Segoe UI Semibold" pitchFamily="34" charset="0"/>
                <a:ea typeface="Segoe UI Semibold" pitchFamily="34" charset="-122"/>
                <a:cs typeface="Segoe UI Semibold" pitchFamily="34" charset="-120"/>
              </a:rPr>
              <a:t>❓ Is nonna happy or angry? · What does she do?</a:t>
            </a:r>
            <a:endParaRPr lang="en-US" sz="1150" dirty="0"/>
          </a:p>
        </p:txBody>
      </p:sp>
      <p:sp>
        <p:nvSpPr>
          <p:cNvPr id="28" name="R6_sb480"/>
          <p:cNvSpPr/>
          <p:nvPr/>
        </p:nvSpPr>
        <p:spPr>
          <a:xfrm>
            <a:off x="3200400" y="4273296"/>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6</a:t>
            </a:r>
            <a:endParaRPr lang="en-US" sz="1000" dirty="0"/>
          </a:p>
        </p:txBody>
      </p:sp>
      <p:sp>
        <p:nvSpPr>
          <p:cNvPr id="29" name="R6_sl481"/>
          <p:cNvSpPr/>
          <p:nvPr/>
        </p:nvSpPr>
        <p:spPr>
          <a:xfrm>
            <a:off x="3584448" y="4236720"/>
            <a:ext cx="5303520" cy="499872"/>
          </a:xfrm>
          <a:prstGeom prst="roundRect">
            <a:avLst>
              <a:gd name="adj" fmla="val 21951"/>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lstStyle/>
          <a:p>
            <a:pPr indent="0" marL="0">
              <a:buNone/>
            </a:pPr>
            <a:r>
              <a:rPr lang="en-US" sz="900" dirty="0">
                <a:solidFill>
                  <a:srgbClr val="1B2559"/>
                </a:solidFill>
                <a:latin typeface="Segoe UI Semibold" pitchFamily="34" charset="0"/>
                <a:ea typeface="Segoe UI Semibold" pitchFamily="34" charset="-122"/>
                <a:cs typeface="Segoe UI Semibold" pitchFamily="34" charset="-120"/>
              </a:rPr>
              <a:t>Luca says: 'You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don't have to</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call them, nonna. You </a:t>
            </a:r>
            <a:pPr indent="0" marL="0">
              <a:buNone/>
            </a:pPr>
            <a:r>
              <a:rPr lang="en-US" sz="900" b="1" dirty="0">
                <a:solidFill>
                  <a:srgbClr val="7B5CD6"/>
                </a:solidFill>
                <a:highlight>
                  <a:srgbClr val="FFF1A8"/>
                </a:highlight>
                <a:latin typeface="Segoe UI Semibold" pitchFamily="34" charset="0"/>
                <a:ea typeface="Segoe UI Semibold" pitchFamily="34" charset="-122"/>
                <a:cs typeface="Segoe UI Semibold" pitchFamily="34" charset="-120"/>
              </a:rPr>
              <a:t>should</a:t>
            </a:r>
            <a:pPr indent="0" marL="0">
              <a:buNone/>
            </a:pPr>
            <a:r>
              <a:rPr lang="en-US" sz="900" dirty="0">
                <a:solidFill>
                  <a:srgbClr val="1B2559"/>
                </a:solidFill>
                <a:latin typeface="Segoe UI Semibold" pitchFamily="34" charset="0"/>
                <a:ea typeface="Segoe UI Semibold" pitchFamily="34" charset="-122"/>
                <a:cs typeface="Segoe UI Semibold" pitchFamily="34" charset="-120"/>
              </a:rPr>
              <a:t> change the ringtone!'</a:t>
            </a:r>
            <a:endParaRPr lang="en-US" sz="900" dirty="0"/>
          </a:p>
          <a:p>
            <a:pPr indent="0" marL="0">
              <a:buNone/>
            </a:pPr>
            <a:r>
              <a:rPr lang="en-US" sz="700" i="1" dirty="0">
                <a:solidFill>
                  <a:srgbClr val="5B6785"/>
                </a:solidFill>
                <a:latin typeface="Segoe UI Semibold" pitchFamily="34" charset="0"/>
                <a:ea typeface="Segoe UI Semibold" pitchFamily="34" charset="-122"/>
                <a:cs typeface="Segoe UI Semibold" pitchFamily="34" charset="-120"/>
              </a:rPr>
              <a:t>❓ Does she have to call? · What should she do? · And you – what's your ringtone?</a:t>
            </a:r>
            <a:endParaRPr lang="en-US" sz="9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0"/>
                                        </p:tgtEl>
                                        <p:attrNameLst>
                                          <p:attrName>style.visibility</p:attrName>
                                        </p:attrNameLst>
                                      </p:cBhvr>
                                      <p:to>
                                        <p:strVal val="visible"/>
                                      </p:to>
                                    </p:set>
                                    <p:animEffect transition="in" filter="fade">
                                      <p:cBhvr>
                                        <p:cTn id="15" dur="400"/>
                                        <p:tgtEl>
                                          <p:spTgt spid="20"/>
                                        </p:tgtEl>
                                      </p:cBhvr>
                                    </p:animEffect>
                                  </p:childTnLst>
                                </p:cTn>
                              </p:par>
                              <p:par>
                                <p:cTn id="16" presetID="10" presetClass="entr" presetSubtype="0" fill="hold" nodeType="with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2"/>
                                        </p:tgtEl>
                                        <p:attrNameLst>
                                          <p:attrName>style.visibility</p:attrName>
                                        </p:attrNameLst>
                                      </p:cBhvr>
                                      <p:to>
                                        <p:strVal val="visible"/>
                                      </p:to>
                                    </p:set>
                                    <p:animEffect transition="in" filter="fade">
                                      <p:cBhvr>
                                        <p:cTn id="23" dur="400"/>
                                        <p:tgtEl>
                                          <p:spTgt spid="22"/>
                                        </p:tgtEl>
                                      </p:cBhvr>
                                    </p:animEffect>
                                  </p:childTnLst>
                                </p:cTn>
                              </p:par>
                              <p:par>
                                <p:cTn id="24" presetID="10" presetClass="entr" presetSubtype="0" fill="hold" nodeType="with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childTnLst>
                          </p:cTn>
                        </p:par>
                      </p:childTnLst>
                    </p:cTn>
                  </p:par>
                  <p:par>
                    <p:cTn id="27" fill="hold">
                      <p:stCondLst>
                        <p:cond delay="indefinite"/>
                      </p:stCondLst>
                      <p:childTnLst>
                        <p:par>
                          <p:cTn id="28" fill="hold">
                            <p:stCondLst>
                              <p:cond delay="0"/>
                            </p:stCondLst>
                            <p:childTnLst>
                              <p:par>
                                <p:cTn id="29" presetID="10" presetClass="entr" presetSubtype="0" fill="hold" nodeType="clickEffect">
                                  <p:stCondLst>
                                    <p:cond delay="0"/>
                                  </p:stCondLst>
                                  <p:childTnLst>
                                    <p:set>
                                      <p:cBhvr>
                                        <p:cTn id="30" dur="1" fill="hold">
                                          <p:stCondLst>
                                            <p:cond delay="0"/>
                                          </p:stCondLst>
                                        </p:cTn>
                                        <p:tgtEl>
                                          <p:spTgt spid="24"/>
                                        </p:tgtEl>
                                        <p:attrNameLst>
                                          <p:attrName>style.visibility</p:attrName>
                                        </p:attrNameLst>
                                      </p:cBhvr>
                                      <p:to>
                                        <p:strVal val="visible"/>
                                      </p:to>
                                    </p:set>
                                    <p:animEffect transition="in" filter="fade">
                                      <p:cBhvr>
                                        <p:cTn id="31" dur="400"/>
                                        <p:tgtEl>
                                          <p:spTgt spid="24"/>
                                        </p:tgtEl>
                                      </p:cBhvr>
                                    </p:animEffect>
                                  </p:childTnLst>
                                </p:cTn>
                              </p:par>
                              <p:par>
                                <p:cTn id="32" presetID="10" presetClass="entr" presetSubtype="0" fill="hold" nodeType="withEffect">
                                  <p:stCondLst>
                                    <p:cond delay="0"/>
                                  </p:stCondLst>
                                  <p:childTnLst>
                                    <p:set>
                                      <p:cBhvr>
                                        <p:cTn id="33" dur="1" fill="hold">
                                          <p:stCondLst>
                                            <p:cond delay="0"/>
                                          </p:stCondLst>
                                        </p:cTn>
                                        <p:tgtEl>
                                          <p:spTgt spid="25"/>
                                        </p:tgtEl>
                                        <p:attrNameLst>
                                          <p:attrName>style.visibility</p:attrName>
                                        </p:attrNameLst>
                                      </p:cBhvr>
                                      <p:to>
                                        <p:strVal val="visible"/>
                                      </p:to>
                                    </p:set>
                                    <p:animEffect transition="in" filter="fade">
                                      <p:cBhvr>
                                        <p:cTn id="34" dur="400"/>
                                        <p:tgtEl>
                                          <p:spTgt spid="25"/>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26"/>
                                        </p:tgtEl>
                                        <p:attrNameLst>
                                          <p:attrName>style.visibility</p:attrName>
                                        </p:attrNameLst>
                                      </p:cBhvr>
                                      <p:to>
                                        <p:strVal val="visible"/>
                                      </p:to>
                                    </p:set>
                                    <p:animEffect transition="in" filter="fade">
                                      <p:cBhvr>
                                        <p:cTn id="39" dur="400"/>
                                        <p:tgtEl>
                                          <p:spTgt spid="26"/>
                                        </p:tgtEl>
                                      </p:cBhvr>
                                    </p:animEffect>
                                  </p:childTnLst>
                                </p:cTn>
                              </p:par>
                              <p:par>
                                <p:cTn id="40" presetID="10" presetClass="entr" presetSubtype="0" fill="hold" nodeType="with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28"/>
                                        </p:tgtEl>
                                        <p:attrNameLst>
                                          <p:attrName>style.visibility</p:attrName>
                                        </p:attrNameLst>
                                      </p:cBhvr>
                                      <p:to>
                                        <p:strVal val="visible"/>
                                      </p:to>
                                    </p:set>
                                    <p:animEffect transition="in" filter="fade">
                                      <p:cBhvr>
                                        <p:cTn id="47" dur="400"/>
                                        <p:tgtEl>
                                          <p:spTgt spid="28"/>
                                        </p:tgtEl>
                                      </p:cBhvr>
                                    </p:animEffect>
                                  </p:childTnLst>
                                </p:cTn>
                              </p:par>
                              <p:par>
                                <p:cTn id="48" presetID="10" presetClass="entr" presetSubtype="0" fill="hold" nodeType="withEffect">
                                  <p:stCondLst>
                                    <p:cond delay="0"/>
                                  </p:stCondLst>
                                  <p:childTnLst>
                                    <p:set>
                                      <p:cBhvr>
                                        <p:cTn id="49" dur="1" fill="hold">
                                          <p:stCondLst>
                                            <p:cond delay="0"/>
                                          </p:stCondLst>
                                        </p:cTn>
                                        <p:tgtEl>
                                          <p:spTgt spid="29"/>
                                        </p:tgtEl>
                                        <p:attrNameLst>
                                          <p:attrName>style.visibility</p:attrName>
                                        </p:attrNameLst>
                                      </p:cBhvr>
                                      <p:to>
                                        <p:strVal val="visible"/>
                                      </p:to>
                                    </p:set>
                                    <p:animEffect transition="in" filter="fade">
                                      <p:cBhvr>
                                        <p:cTn id="50" dur="400"/>
                                        <p:tgtEl>
                                          <p:spTgt spid="29"/>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6.xml><?xml version="1.0" encoding="utf-8"?>
<p:sld xmlns:a="http://schemas.openxmlformats.org/drawingml/2006/main" xmlns:r="http://schemas.openxmlformats.org/officeDocument/2006/relationships" xmlns:p="http://schemas.openxmlformats.org/presentationml/2006/main">
  <p:cSld name="Slide 16">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482"/>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16</a:t>
            </a:r>
            <a:endParaRPr lang="en-US" sz="2200" dirty="0"/>
          </a:p>
        </p:txBody>
      </p:sp>
      <p:pic>
        <p:nvPicPr>
          <p:cNvPr id="4" name="brY_483"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484"/>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Rules race!</a:t>
            </a:r>
            <a:endParaRPr lang="en-US" sz="2500" dirty="0"/>
          </a:p>
        </p:txBody>
      </p:sp>
      <p:pic>
        <p:nvPicPr>
          <p:cNvPr id="6" name="brP_485" descr="/home/claude/lls-course/v2/assets/brush-pink.png">    </p:cNvPr>
          <p:cNvPicPr>
            <a:picLocks noChangeAspect="1"/>
          </p:cNvPicPr>
          <p:nvPr/>
        </p:nvPicPr>
        <p:blipFill>
          <a:blip r:embed="rId3"/>
          <a:stretch>
            <a:fillRect/>
          </a:stretch>
        </p:blipFill>
        <p:spPr>
          <a:xfrm>
            <a:off x="1207008" y="731520"/>
            <a:ext cx="3771900" cy="402336"/>
          </a:xfrm>
          <a:prstGeom prst="rect">
            <a:avLst/>
          </a:prstGeom>
        </p:spPr>
      </p:pic>
      <p:sp>
        <p:nvSpPr>
          <p:cNvPr id="7" name="ins_486"/>
          <p:cNvSpPr/>
          <p:nvPr/>
        </p:nvSpPr>
        <p:spPr>
          <a:xfrm>
            <a:off x="1353312" y="731520"/>
            <a:ext cx="3515868"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Read. Say the missing words. Quick!</a:t>
            </a:r>
            <a:endParaRPr lang="en-US" sz="1250" dirty="0"/>
          </a:p>
        </p:txBody>
      </p:sp>
      <p:sp>
        <p:nvSpPr>
          <p:cNvPr id="8" name="insIT_4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Leggi. Di' le parole mancanti. Veloce!</a:t>
            </a:r>
            <a:endParaRPr lang="en-US" sz="950" dirty="0"/>
          </a:p>
        </p:txBody>
      </p:sp>
      <p:sp>
        <p:nvSpPr>
          <p:cNvPr id="9" name="note_48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teams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 game</a:t>
            </a:r>
            <a:endParaRPr lang="en-US" sz="1250" dirty="0"/>
          </a:p>
        </p:txBody>
      </p:sp>
      <p:pic>
        <p:nvPicPr>
          <p:cNvPr id="10" name="logo_4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4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game</a:t>
            </a:r>
            <a:endParaRPr lang="en-US" sz="800" dirty="0"/>
          </a:p>
        </p:txBody>
      </p:sp>
      <p:sp>
        <p:nvSpPr>
          <p:cNvPr id="12" name="cd_491"/>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492"/>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493"/>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494"/>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Read the sentence.</a:t>
            </a:r>
            <a:endParaRPr lang="en-US" sz="1050" dirty="0"/>
          </a:p>
          <a:p>
            <a:pPr marL="152400" indent="-152400">
              <a:spcAft>
                <a:spcPts val="200"/>
              </a:spcAft>
              <a:buSzPct val="100000"/>
              <a:buChar char=" "/>
            </a:pPr>
            <a:r>
              <a:rPr lang="en-US" sz="1050" dirty="0">
                <a:solidFill>
                  <a:srgbClr val="5B6785"/>
                </a:solidFill>
                <a:latin typeface="Segoe UI Semibold" pitchFamily="34" charset="0"/>
                <a:ea typeface="Segoe UI Semibold" pitchFamily="34" charset="-122"/>
                <a:cs typeface="Segoe UI Semibold" pitchFamily="34" charset="-120"/>
              </a:rPr>
              <a:t>Leggi la frase.</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Teams: say the missing words in 10 seconds.</a:t>
            </a:r>
            <a:endParaRPr lang="en-US" sz="1050" dirty="0"/>
          </a:p>
          <a:p>
            <a:pPr marL="152400" indent="-152400">
              <a:spcAft>
                <a:spcPts val="200"/>
              </a:spcAft>
              <a:buSzPct val="100000"/>
              <a:buChar char=" "/>
            </a:pPr>
            <a:r>
              <a:rPr lang="en-US" sz="1050" dirty="0">
                <a:solidFill>
                  <a:srgbClr val="5B6785"/>
                </a:solidFill>
                <a:latin typeface="Segoe UI Semibold" pitchFamily="34" charset="0"/>
                <a:ea typeface="Segoe UI Semibold" pitchFamily="34" charset="-122"/>
                <a:cs typeface="Segoe UI Semibold" pitchFamily="34" charset="-120"/>
              </a:rPr>
              <a:t>Squadre: dite le parole in 10 secondi.</a:t>
            </a:r>
            <a:endParaRPr lang="en-US" sz="1050" dirty="0"/>
          </a:p>
          <a:p>
            <a:pPr marL="152400" indent="-152400">
              <a:spcBef>
                <a:spcPts val="600"/>
              </a:spcBef>
              <a:spcAft>
                <a:spcPts val="200"/>
              </a:spcAft>
              <a:buSzPct val="100000"/>
              <a:buChar char="•"/>
            </a:pPr>
            <a:r>
              <a:rPr lang="en-US" sz="1050" dirty="0">
                <a:solidFill>
                  <a:srgbClr val="1B2559"/>
                </a:solidFill>
                <a:latin typeface="Segoe UI Semibold" pitchFamily="34" charset="0"/>
                <a:ea typeface="Segoe UI Semibold" pitchFamily="34" charset="-122"/>
                <a:cs typeface="Segoe UI Semibold" pitchFamily="34" charset="-120"/>
              </a:rPr>
              <a:t>Right + say WHY = 2 points.</a:t>
            </a:r>
            <a:endParaRPr lang="en-US" sz="1050" dirty="0"/>
          </a:p>
          <a:p>
            <a:pPr marL="152400" indent="-152400">
              <a:spcAft>
                <a:spcPts val="200"/>
              </a:spcAft>
              <a:buSzPct val="100000"/>
              <a:buChar char=" "/>
            </a:pPr>
            <a:r>
              <a:rPr lang="en-US" sz="1050" dirty="0">
                <a:solidFill>
                  <a:srgbClr val="5B6785"/>
                </a:solidFill>
                <a:latin typeface="Segoe UI Semibold" pitchFamily="34" charset="0"/>
                <a:ea typeface="Segoe UI Semibold" pitchFamily="34" charset="-122"/>
                <a:cs typeface="Segoe UI Semibold" pitchFamily="34" charset="-120"/>
              </a:rPr>
              <a:t>Giusto + spieghi PERCHÉ = 2 punti.</a:t>
            </a:r>
            <a:endParaRPr lang="en-US" sz="1050" dirty="0"/>
          </a:p>
        </p:txBody>
      </p:sp>
      <p:sp>
        <p:nvSpPr>
          <p:cNvPr id="16" name="st_495"/>
          <p:cNvSpPr/>
          <p:nvPr/>
        </p:nvSpPr>
        <p:spPr>
          <a:xfrm rot="-180000">
            <a:off x="502920" y="4114800"/>
            <a:ext cx="2286000" cy="59436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A  ☆☆☆☆☆</a:t>
            </a:r>
            <a:endParaRPr lang="en-US" sz="1250" dirty="0"/>
          </a:p>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TEAM B  ☆☆☆☆☆</a:t>
            </a:r>
            <a:endParaRPr lang="en-US" sz="1250" dirty="0"/>
          </a:p>
        </p:txBody>
      </p:sp>
      <p:sp>
        <p:nvSpPr>
          <p:cNvPr id="17" name="bd_496"/>
          <p:cNvSpPr/>
          <p:nvPr/>
        </p:nvSpPr>
        <p:spPr>
          <a:xfrm>
            <a:off x="3246120" y="1491234"/>
            <a:ext cx="329184" cy="329184"/>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500" dirty="0">
                <a:solidFill>
                  <a:srgbClr val="FFFFFF"/>
                </a:solidFill>
                <a:latin typeface="Arial Rounded MT Bold" pitchFamily="34" charset="0"/>
                <a:ea typeface="Arial Rounded MT Bold" pitchFamily="34" charset="-122"/>
                <a:cs typeface="Arial Rounded MT Bold" pitchFamily="34" charset="-120"/>
              </a:rPr>
              <a:t>e.g.</a:t>
            </a:r>
            <a:endParaRPr lang="en-US" sz="500" dirty="0"/>
          </a:p>
        </p:txBody>
      </p:sp>
      <p:sp>
        <p:nvSpPr>
          <p:cNvPr id="18" name="gq_497"/>
          <p:cNvSpPr/>
          <p:nvPr/>
        </p:nvSpPr>
        <p:spPr>
          <a:xfrm>
            <a:off x="3657600" y="1417320"/>
            <a:ext cx="251460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Shh! The baby's sleeping. You ___ shout.</a:t>
            </a:r>
            <a:endParaRPr lang="en-US" sz="1250" dirty="0"/>
          </a:p>
        </p:txBody>
      </p:sp>
      <p:sp>
        <p:nvSpPr>
          <p:cNvPr id="19" name="chip_498"/>
          <p:cNvSpPr/>
          <p:nvPr/>
        </p:nvSpPr>
        <p:spPr>
          <a:xfrm>
            <a:off x="6263640" y="1417320"/>
            <a:ext cx="2560320" cy="477012"/>
          </a:xfrm>
          <a:prstGeom prst="roundRect">
            <a:avLst>
              <a:gd name="adj" fmla="val 19169"/>
            </a:avLst>
          </a:prstGeom>
          <a:solidFill>
            <a:srgbClr val="EEE8FB"/>
          </a:solidFill>
          <a:ln w="28575">
            <a:solidFill>
              <a:srgbClr val="CDBFF3"/>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mustn't (not allowed)</a:t>
            </a:r>
            <a:endParaRPr lang="en-US" sz="1200" dirty="0"/>
          </a:p>
        </p:txBody>
      </p:sp>
      <p:sp>
        <p:nvSpPr>
          <p:cNvPr id="20" name="bd_499"/>
          <p:cNvSpPr/>
          <p:nvPr/>
        </p:nvSpPr>
        <p:spPr>
          <a:xfrm>
            <a:off x="3246120" y="203225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1" name="gq_500"/>
          <p:cNvSpPr/>
          <p:nvPr/>
        </p:nvSpPr>
        <p:spPr>
          <a:xfrm>
            <a:off x="3657600" y="195834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The concert is free. You ___ buy a ticket.</a:t>
            </a:r>
            <a:endParaRPr lang="en-US" sz="1250" dirty="0"/>
          </a:p>
        </p:txBody>
      </p:sp>
      <p:sp>
        <p:nvSpPr>
          <p:cNvPr id="22" name="R1_chip501"/>
          <p:cNvSpPr/>
          <p:nvPr/>
        </p:nvSpPr>
        <p:spPr>
          <a:xfrm>
            <a:off x="6263640" y="195834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don't have to (not necessary)</a:t>
            </a:r>
            <a:endParaRPr lang="en-US" sz="1200" dirty="0"/>
          </a:p>
        </p:txBody>
      </p:sp>
      <p:sp>
        <p:nvSpPr>
          <p:cNvPr id="23" name="bd_502"/>
          <p:cNvSpPr/>
          <p:nvPr/>
        </p:nvSpPr>
        <p:spPr>
          <a:xfrm>
            <a:off x="3246120" y="2573274"/>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4" name="gq_503"/>
          <p:cNvSpPr/>
          <p:nvPr/>
        </p:nvSpPr>
        <p:spPr>
          <a:xfrm>
            <a:off x="3657600" y="2499360"/>
            <a:ext cx="2514600" cy="477012"/>
          </a:xfrm>
          <a:prstGeom prst="roundRect">
            <a:avLst>
              <a:gd name="adj" fmla="val 19169"/>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On a plane, you ___ switch off your phone.</a:t>
            </a:r>
            <a:endParaRPr lang="en-US" sz="1250" dirty="0"/>
          </a:p>
        </p:txBody>
      </p:sp>
      <p:sp>
        <p:nvSpPr>
          <p:cNvPr id="25" name="R2_chip504"/>
          <p:cNvSpPr/>
          <p:nvPr/>
        </p:nvSpPr>
        <p:spPr>
          <a:xfrm>
            <a:off x="6263640" y="249936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have to / must (a rule)</a:t>
            </a:r>
            <a:endParaRPr lang="en-US" sz="1200" dirty="0"/>
          </a:p>
        </p:txBody>
      </p:sp>
      <p:sp>
        <p:nvSpPr>
          <p:cNvPr id="26" name="bd_505"/>
          <p:cNvSpPr/>
          <p:nvPr/>
        </p:nvSpPr>
        <p:spPr>
          <a:xfrm>
            <a:off x="3246120" y="311429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7" name="gq_506"/>
          <p:cNvSpPr/>
          <p:nvPr/>
        </p:nvSpPr>
        <p:spPr>
          <a:xfrm>
            <a:off x="3657600" y="3040380"/>
            <a:ext cx="2514600" cy="477012"/>
          </a:xfrm>
          <a:prstGeom prst="roundRect">
            <a:avLst>
              <a:gd name="adj" fmla="val 19169"/>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 look really tired. You ___ go to bed earlier.</a:t>
            </a:r>
            <a:endParaRPr lang="en-US" sz="1250" dirty="0"/>
          </a:p>
        </p:txBody>
      </p:sp>
      <p:sp>
        <p:nvSpPr>
          <p:cNvPr id="28" name="R3_chip507"/>
          <p:cNvSpPr/>
          <p:nvPr/>
        </p:nvSpPr>
        <p:spPr>
          <a:xfrm>
            <a:off x="6263640" y="304038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should (good idea)</a:t>
            </a:r>
            <a:endParaRPr lang="en-US" sz="1200" dirty="0"/>
          </a:p>
        </p:txBody>
      </p:sp>
      <p:sp>
        <p:nvSpPr>
          <p:cNvPr id="29" name="bd_508"/>
          <p:cNvSpPr/>
          <p:nvPr/>
        </p:nvSpPr>
        <p:spPr>
          <a:xfrm>
            <a:off x="3246120" y="3655314"/>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0" name="gq_509"/>
          <p:cNvSpPr/>
          <p:nvPr/>
        </p:nvSpPr>
        <p:spPr>
          <a:xfrm>
            <a:off x="3657600" y="3581400"/>
            <a:ext cx="2514600" cy="477012"/>
          </a:xfrm>
          <a:prstGeom prst="roundRect">
            <a:avLst>
              <a:gd name="adj" fmla="val 19169"/>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Yesterday I ___ wait on hold for 30 minutes!</a:t>
            </a:r>
            <a:endParaRPr lang="en-US" sz="1250" dirty="0"/>
          </a:p>
        </p:txBody>
      </p:sp>
      <p:sp>
        <p:nvSpPr>
          <p:cNvPr id="31" name="R4_chip510"/>
          <p:cNvSpPr/>
          <p:nvPr/>
        </p:nvSpPr>
        <p:spPr>
          <a:xfrm>
            <a:off x="6263640" y="358140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had to (past!)</a:t>
            </a:r>
            <a:endParaRPr lang="en-US" sz="1200" dirty="0"/>
          </a:p>
        </p:txBody>
      </p:sp>
      <p:sp>
        <p:nvSpPr>
          <p:cNvPr id="32" name="bd_511"/>
          <p:cNvSpPr/>
          <p:nvPr/>
        </p:nvSpPr>
        <p:spPr>
          <a:xfrm>
            <a:off x="3246120" y="4196334"/>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3" name="gq_512"/>
          <p:cNvSpPr/>
          <p:nvPr/>
        </p:nvSpPr>
        <p:spPr>
          <a:xfrm>
            <a:off x="3657600" y="4122420"/>
            <a:ext cx="2514600" cy="477012"/>
          </a:xfrm>
          <a:prstGeom prst="roundRect">
            <a:avLst>
              <a:gd name="adj" fmla="val 19169"/>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1250" dirty="0">
                <a:solidFill>
                  <a:srgbClr val="1B2559"/>
                </a:solidFill>
                <a:latin typeface="Segoe UI Semibold" pitchFamily="34" charset="0"/>
                <a:ea typeface="Segoe UI Semibold" pitchFamily="34" charset="-122"/>
                <a:cs typeface="Segoe UI Semibold" pitchFamily="34" charset="-120"/>
              </a:rPr>
              <a:t>You ___ play games on your phone all night.</a:t>
            </a:r>
            <a:endParaRPr lang="en-US" sz="1250" dirty="0"/>
          </a:p>
        </p:txBody>
      </p:sp>
      <p:sp>
        <p:nvSpPr>
          <p:cNvPr id="34" name="R5_chip513"/>
          <p:cNvSpPr/>
          <p:nvPr/>
        </p:nvSpPr>
        <p:spPr>
          <a:xfrm>
            <a:off x="6263640" y="4122420"/>
            <a:ext cx="2560320" cy="477012"/>
          </a:xfrm>
          <a:prstGeom prst="roundRect">
            <a:avLst>
              <a:gd name="adj" fmla="val 19169"/>
            </a:avLst>
          </a:prstGeom>
          <a:solidFill>
            <a:srgbClr val="FFE3EE"/>
          </a:solidFill>
          <a:ln w="28575">
            <a:solidFill>
              <a:srgbClr val="F7A6C4"/>
            </a:solidFill>
          </a:ln>
        </p:spPr>
        <p:txBody>
          <a:bodyPr wrap="square" lIns="101600" tIns="0" rIns="101600" bIns="0" rtlCol="0" anchor="ctr">
            <a:normAutofit/>
          </a:bodyPr>
          <a:lstStyle/>
          <a:p>
            <a:pPr algn="l" indent="0" marL="0">
              <a:buNone/>
            </a:pPr>
            <a:r>
              <a:rPr lang="en-US" sz="1200" b="1" dirty="0">
                <a:solidFill>
                  <a:srgbClr val="1B2559"/>
                </a:solidFill>
                <a:latin typeface="Segoe UI Semibold" pitchFamily="34" charset="0"/>
                <a:ea typeface="Segoe UI Semibold" pitchFamily="34" charset="-122"/>
                <a:cs typeface="Segoe UI Semibold" pitchFamily="34" charset="-120"/>
              </a:rPr>
              <a:t>→ shouldn't (bad idea)</a:t>
            </a:r>
            <a:endParaRPr lang="en-US" sz="12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2"/>
                                        </p:tgtEl>
                                        <p:attrNameLst>
                                          <p:attrName>style.visibility</p:attrName>
                                        </p:attrNameLst>
                                      </p:cBhvr>
                                      <p:to>
                                        <p:strVal val="visible"/>
                                      </p:to>
                                    </p:set>
                                    <p:animEffect transition="in" filter="fade">
                                      <p:cBhvr>
                                        <p:cTn id="7" dur="400"/>
                                        <p:tgtEl>
                                          <p:spTgt spid="22"/>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5"/>
                                        </p:tgtEl>
                                        <p:attrNameLst>
                                          <p:attrName>style.visibility</p:attrName>
                                        </p:attrNameLst>
                                      </p:cBhvr>
                                      <p:to>
                                        <p:strVal val="visible"/>
                                      </p:to>
                                    </p:set>
                                    <p:animEffect transition="in" filter="fade">
                                      <p:cBhvr>
                                        <p:cTn id="12" dur="400"/>
                                        <p:tgtEl>
                                          <p:spTgt spid="25"/>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8"/>
                                        </p:tgtEl>
                                        <p:attrNameLst>
                                          <p:attrName>style.visibility</p:attrName>
                                        </p:attrNameLst>
                                      </p:cBhvr>
                                      <p:to>
                                        <p:strVal val="visible"/>
                                      </p:to>
                                    </p:set>
                                    <p:animEffect transition="in" filter="fade">
                                      <p:cBhvr>
                                        <p:cTn id="17" dur="400"/>
                                        <p:tgtEl>
                                          <p:spTgt spid="28"/>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1"/>
                                        </p:tgtEl>
                                        <p:attrNameLst>
                                          <p:attrName>style.visibility</p:attrName>
                                        </p:attrNameLst>
                                      </p:cBhvr>
                                      <p:to>
                                        <p:strVal val="visible"/>
                                      </p:to>
                                    </p:set>
                                    <p:animEffect transition="in" filter="fade">
                                      <p:cBhvr>
                                        <p:cTn id="22" dur="400"/>
                                        <p:tgtEl>
                                          <p:spTgt spid="31"/>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4"/>
                                        </p:tgtEl>
                                        <p:attrNameLst>
                                          <p:attrName>style.visibility</p:attrName>
                                        </p:attrNameLst>
                                      </p:cBhvr>
                                      <p:to>
                                        <p:strVal val="visible"/>
                                      </p:to>
                                    </p:set>
                                    <p:animEffect transition="in" filter="fade">
                                      <p:cBhvr>
                                        <p:cTn id="27" dur="400"/>
                                        <p:tgtEl>
                                          <p:spTgt spid="3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7.xml><?xml version="1.0" encoding="utf-8"?>
<p:sld xmlns:a="http://schemas.openxmlformats.org/drawingml/2006/main" xmlns:r="http://schemas.openxmlformats.org/officeDocument/2006/relationships" xmlns:p="http://schemas.openxmlformats.org/presentationml/2006/main">
  <p:cSld name="Slide 17">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14"/>
          <p:cNvSpPr/>
          <p:nvPr/>
        </p:nvSpPr>
        <p:spPr>
          <a:xfrm>
            <a:off x="201168" y="164592"/>
            <a:ext cx="841248" cy="841248"/>
          </a:xfrm>
          <a:prstGeom prst="ellipse">
            <a:avLst/>
          </a:prstGeom>
          <a:solidFill>
            <a:srgbClr val="7B5CD6"/>
          </a:solidFill>
          <a:ln w="28575">
            <a:solidFill>
              <a:srgbClr val="CDBFF3"/>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17</a:t>
            </a:r>
            <a:endParaRPr lang="en-US" sz="2200" dirty="0"/>
          </a:p>
        </p:txBody>
      </p:sp>
      <p:pic>
        <p:nvPicPr>
          <p:cNvPr id="4" name="brY_515" descr="/home/claude/lls-course/v2/assets/brush-yellow.png">    </p:cNvPr>
          <p:cNvPicPr>
            <a:picLocks noChangeAspect="1"/>
          </p:cNvPicPr>
          <p:nvPr/>
        </p:nvPicPr>
        <p:blipFill>
          <a:blip r:embed="rId2"/>
          <a:stretch>
            <a:fillRect/>
          </a:stretch>
        </p:blipFill>
        <p:spPr>
          <a:xfrm>
            <a:off x="1097280" y="146304"/>
            <a:ext cx="2776118" cy="621792"/>
          </a:xfrm>
          <a:prstGeom prst="rect">
            <a:avLst/>
          </a:prstGeom>
        </p:spPr>
      </p:pic>
      <p:sp>
        <p:nvSpPr>
          <p:cNvPr id="5" name="title_516"/>
          <p:cNvSpPr/>
          <p:nvPr/>
        </p:nvSpPr>
        <p:spPr>
          <a:xfrm>
            <a:off x="1261872" y="164592"/>
            <a:ext cx="2501798"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Ghost letters</a:t>
            </a:r>
            <a:endParaRPr lang="en-US" sz="2500" dirty="0"/>
          </a:p>
        </p:txBody>
      </p:sp>
      <p:pic>
        <p:nvPicPr>
          <p:cNvPr id="6" name="brP_517" descr="/home/claude/lls-course/v2/assets/brush-pink.png">    </p:cNvPr>
          <p:cNvPicPr>
            <a:picLocks noChangeAspect="1"/>
          </p:cNvPicPr>
          <p:nvPr/>
        </p:nvPicPr>
        <p:blipFill>
          <a:blip r:embed="rId3"/>
          <a:stretch>
            <a:fillRect/>
          </a:stretch>
        </p:blipFill>
        <p:spPr>
          <a:xfrm>
            <a:off x="1207008" y="731520"/>
            <a:ext cx="4466844" cy="402336"/>
          </a:xfrm>
          <a:prstGeom prst="rect">
            <a:avLst/>
          </a:prstGeom>
        </p:spPr>
      </p:pic>
      <p:sp>
        <p:nvSpPr>
          <p:cNvPr id="7" name="ins_518"/>
          <p:cNvSpPr/>
          <p:nvPr/>
        </p:nvSpPr>
        <p:spPr>
          <a:xfrm>
            <a:off x="1353312" y="731520"/>
            <a:ext cx="4210812"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Find the silent letters. Say the sentences.</a:t>
            </a:r>
            <a:endParaRPr lang="en-US" sz="1250" dirty="0"/>
          </a:p>
        </p:txBody>
      </p:sp>
      <p:sp>
        <p:nvSpPr>
          <p:cNvPr id="8" name="insIT_519"/>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Trova le lettere mute. Di' le frasi.</a:t>
            </a:r>
            <a:endParaRPr lang="en-US" sz="950" dirty="0"/>
          </a:p>
        </p:txBody>
      </p:sp>
      <p:sp>
        <p:nvSpPr>
          <p:cNvPr id="9" name="note_520"/>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LISTEN</a:t>
            </a:r>
            <a:pPr algn="ctr" indent="0" marL="0">
              <a:buNone/>
            </a:pPr>
            <a:r>
              <a:rPr lang="en-US" sz="1200" dirty="0">
                <a:solidFill>
                  <a:srgbClr val="5B6785"/>
                </a:solidFill>
              </a:rPr>
              <a:t> → </a:t>
            </a:r>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 SAY IT</a:t>
            </a:r>
            <a:endParaRPr lang="en-US" sz="11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1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Pronunciation · Drilling</a:t>
            </a:r>
            <a:endParaRPr lang="en-US" sz="1150" dirty="0"/>
          </a:p>
        </p:txBody>
      </p:sp>
      <p:pic>
        <p:nvPicPr>
          <p:cNvPr id="10" name="logo_521"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22"/>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Pronunciation · silent consonants   ·   📖 SB p.37 · 3a, 3b, 3c · audio 4.8</a:t>
            </a:r>
            <a:endParaRPr lang="en-US" sz="800" dirty="0"/>
          </a:p>
        </p:txBody>
      </p:sp>
      <p:sp>
        <p:nvSpPr>
          <p:cNvPr id="12" name="ap_523"/>
          <p:cNvSpPr/>
          <p:nvPr/>
        </p:nvSpPr>
        <p:spPr>
          <a:xfrm>
            <a:off x="365760" y="1417320"/>
            <a:ext cx="2331720" cy="402336"/>
          </a:xfrm>
          <a:prstGeom prst="roundRect">
            <a:avLst>
              <a:gd name="adj" fmla="val 50000"/>
            </a:avLst>
          </a:prstGeom>
          <a:solidFill>
            <a:srgbClr val="E3F1FD"/>
          </a:solidFill>
          <a:ln w="28575">
            <a:solidFill>
              <a:srgbClr val="A9D3F5"/>
            </a:solidFill>
          </a:ln>
        </p:spPr>
        <p:txBody>
          <a:bodyPr wrap="square" lIns="127000" tIns="0" rIns="127000" bIns="0" rtlCol="0" anchor="ctr">
            <a:normAutofit/>
          </a:bodyPr>
          <a:lstStyle/>
          <a:p>
            <a:pPr indent="0" marL="0">
              <a:buNone/>
            </a:pPr>
            <a:r>
              <a:rPr lang="en-US" sz="1100" b="1" dirty="0">
                <a:solidFill>
                  <a:srgbClr val="1B2559"/>
                </a:solidFill>
                <a:latin typeface="Segoe UI Semibold" pitchFamily="34" charset="0"/>
                <a:ea typeface="Segoe UI Semibold" pitchFamily="34" charset="-122"/>
                <a:cs typeface="Segoe UI Semibold" pitchFamily="34" charset="-120"/>
              </a:rPr>
              <a:t>🎧 4.8  ·  then say the sentences</a:t>
            </a:r>
            <a:endParaRPr lang="en-US" sz="1100" dirty="0"/>
          </a:p>
        </p:txBody>
      </p:sp>
      <p:sp>
        <p:nvSpPr>
          <p:cNvPr id="13" name="ah_524"/>
          <p:cNvSpPr/>
          <p:nvPr/>
        </p:nvSpPr>
        <p:spPr>
          <a:xfrm>
            <a:off x="4636008" y="4572000"/>
            <a:ext cx="97840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normal</a:t>
            </a:r>
            <a:endParaRPr lang="en-US" sz="1000" dirty="0"/>
          </a:p>
        </p:txBody>
      </p:sp>
      <p:pic>
        <p:nvPicPr>
          <p:cNvPr id="14" name="Media 0">
            <a:hlinkClick r:id="" action="ppaction://media"/>
          </p:cNvPr>
          <p:cNvPicPr>
            <a:picLocks noChangeAspect="1"/>
          </p:cNvPicPr>
          <p:nvPr>
            <a:audioFile r:link="rId5"/>
            <p:extLst>
              <p:ext uri="{DAA4B4D4-6D71-4841-9C94-3DE7FCFB9230}">
                <p14:media xmlns:p14="http://schemas.microsoft.com/office/powerpoint/2010/main" r:embed="rId6"/>
              </p:ext>
            </p:extLst>
          </p:nvPr>
        </p:nvPicPr>
        <p:blipFill>
          <a:blip r:embed="rId7"/>
          <a:stretch>
            <a:fillRect/>
          </a:stretch>
        </p:blipFill>
        <p:spPr>
          <a:xfrm>
            <a:off x="5687568" y="4553712"/>
            <a:ext cx="411480" cy="411480"/>
          </a:xfrm>
          <a:prstGeom prst="rect">
            <a:avLst/>
          </a:prstGeom>
        </p:spPr>
      </p:pic>
      <p:sp>
        <p:nvSpPr>
          <p:cNvPr id="15" name="ah_525"/>
          <p:cNvSpPr/>
          <p:nvPr/>
        </p:nvSpPr>
        <p:spPr>
          <a:xfrm>
            <a:off x="7470648" y="4572000"/>
            <a:ext cx="932688" cy="365760"/>
          </a:xfrm>
          <a:prstGeom prst="rect">
            <a:avLst/>
          </a:prstGeom>
          <a:noFill/>
          <a:ln/>
        </p:spPr>
        <p:txBody>
          <a:bodyPr wrap="square" lIns="0" tIns="0" rIns="0" bIns="0" rtlCol="0" anchor="ctr"/>
          <a:lstStyle/>
          <a:p>
            <a:pPr algn="r" indent="0" marL="0">
              <a:buNone/>
            </a:pPr>
            <a:r>
              <a:rPr lang="en-US" sz="1000" b="1" dirty="0">
                <a:solidFill>
                  <a:srgbClr val="2F8DE4"/>
                </a:solidFill>
                <a:latin typeface="Segoe UI Semibold" pitchFamily="34" charset="0"/>
                <a:ea typeface="Segoe UI Semibold" pitchFamily="34" charset="-122"/>
                <a:cs typeface="Segoe UI Semibold" pitchFamily="34" charset="-120"/>
              </a:rPr>
              <a:t>🐢 slower</a:t>
            </a:r>
            <a:endParaRPr lang="en-US" sz="1000" dirty="0"/>
          </a:p>
        </p:txBody>
      </p:sp>
      <p:pic>
        <p:nvPicPr>
          <p:cNvPr id="16" name="Media 1">
            <a:hlinkClick r:id="" action="ppaction://media"/>
          </p:cNvPr>
          <p:cNvPicPr>
            <a:picLocks noChangeAspect="1"/>
          </p:cNvPicPr>
          <p:nvPr>
            <a:audioFile r:link="rId8"/>
            <p:extLst>
              <p:ext uri="{DAA4B4D4-6D71-4841-9C94-3DE7FCFB9230}">
                <p14:media xmlns:p14="http://schemas.microsoft.com/office/powerpoint/2010/main" r:embed="rId9"/>
              </p:ext>
            </p:extLst>
          </p:nvPr>
        </p:nvPicPr>
        <p:blipFill>
          <a:blip r:embed="rId10"/>
          <a:stretch>
            <a:fillRect/>
          </a:stretch>
        </p:blipFill>
        <p:spPr>
          <a:xfrm>
            <a:off x="8476488" y="4553712"/>
            <a:ext cx="411480" cy="411480"/>
          </a:xfrm>
          <a:prstGeom prst="rect">
            <a:avLst/>
          </a:prstGeom>
        </p:spPr>
      </p:pic>
      <p:sp>
        <p:nvSpPr>
          <p:cNvPr id="17" name="cd_526"/>
          <p:cNvSpPr/>
          <p:nvPr/>
        </p:nvSpPr>
        <p:spPr>
          <a:xfrm>
            <a:off x="320040" y="2011680"/>
            <a:ext cx="2743200" cy="1463040"/>
          </a:xfrm>
          <a:prstGeom prst="roundRect">
            <a:avLst>
              <a:gd name="adj" fmla="val 8750"/>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8" name="ii_527"/>
          <p:cNvSpPr/>
          <p:nvPr/>
        </p:nvSpPr>
        <p:spPr>
          <a:xfrm>
            <a:off x="411480" y="208483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9" name="ih_528"/>
          <p:cNvSpPr/>
          <p:nvPr/>
        </p:nvSpPr>
        <p:spPr>
          <a:xfrm>
            <a:off x="886968" y="2103120"/>
            <a:ext cx="2103120" cy="365760"/>
          </a:xfrm>
          <a:prstGeom prst="rect">
            <a:avLst/>
          </a:prstGeom>
          <a:noFill/>
          <a:ln/>
        </p:spPr>
        <p:txBody>
          <a:bodyPr wrap="square" lIns="0" tIns="0" rIns="0" bIns="0" rtlCol="0" anchor="ctr"/>
          <a:lstStyle/>
          <a:p>
            <a:pP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Which letter is silent?</a:t>
            </a:r>
            <a:endParaRPr lang="en-US" sz="1250" dirty="0"/>
          </a:p>
        </p:txBody>
      </p:sp>
      <p:sp>
        <p:nvSpPr>
          <p:cNvPr id="20" name="il_529"/>
          <p:cNvSpPr/>
          <p:nvPr/>
        </p:nvSpPr>
        <p:spPr>
          <a:xfrm>
            <a:off x="886968" y="2505456"/>
            <a:ext cx="2084832" cy="896112"/>
          </a:xfrm>
          <a:prstGeom prst="rect">
            <a:avLst/>
          </a:prstGeom>
          <a:noFill/>
          <a:ln/>
        </p:spPr>
        <p:txBody>
          <a:bodyPr wrap="square" lIns="0" tIns="0" rIns="0" bIns="0" rtlCol="0" anchor="t">
            <a:normAutofit/>
          </a:bodyPr>
          <a:lstStyle/>
          <a:p>
            <a:pPr marL="152400" indent="-152400">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calm · design · dishonest · doubt · foreign · half</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hour · island · knowledge · listen · mustn't · ought</a:t>
            </a:r>
            <a:endParaRPr lang="en-US" sz="700" dirty="0"/>
          </a:p>
          <a:p>
            <a:pPr marL="152400" indent="-152400">
              <a:spcBef>
                <a:spcPts val="600"/>
              </a:spcBef>
              <a:spcAft>
                <a:spcPts val="200"/>
              </a:spcAft>
              <a:buSzPct val="100000"/>
              <a:buChar char="•"/>
            </a:pPr>
            <a:r>
              <a:rPr lang="en-US" sz="700" dirty="0">
                <a:solidFill>
                  <a:srgbClr val="1B2559"/>
                </a:solidFill>
                <a:latin typeface="Segoe UI Semibold" pitchFamily="34" charset="0"/>
                <a:ea typeface="Segoe UI Semibold" pitchFamily="34" charset="-122"/>
                <a:cs typeface="Segoe UI Semibold" pitchFamily="34" charset="-120"/>
              </a:rPr>
              <a:t>rhythm · should · talk · walk · whole · wrong</a:t>
            </a:r>
            <a:endParaRPr lang="en-US" sz="700" dirty="0"/>
          </a:p>
        </p:txBody>
      </p:sp>
      <p:sp>
        <p:nvSpPr>
          <p:cNvPr id="21" name="pf_530"/>
          <p:cNvSpPr/>
          <p:nvPr/>
        </p:nvSpPr>
        <p:spPr>
          <a:xfrm rot="-120000">
            <a:off x="777240" y="3611880"/>
            <a:ext cx="1828800"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22" name="ph_531" descr="/home/claude/lls-course/v2/cache/4a1_library_jpg_418x253_31.png">    </p:cNvPr>
          <p:cNvPicPr>
            <a:picLocks noChangeAspect="1"/>
          </p:cNvPicPr>
          <p:nvPr/>
        </p:nvPicPr>
        <p:blipFill>
          <a:blip r:embed="rId11"/>
          <a:stretch>
            <a:fillRect/>
          </a:stretch>
        </p:blipFill>
        <p:spPr>
          <a:xfrm rot="-120000">
            <a:off x="822960" y="3657600"/>
            <a:ext cx="1737360" cy="1051560"/>
          </a:xfrm>
          <a:prstGeom prst="rect">
            <a:avLst/>
          </a:prstGeom>
        </p:spPr>
      </p:pic>
      <p:sp>
        <p:nvSpPr>
          <p:cNvPr id="23" name="bd_532"/>
          <p:cNvSpPr/>
          <p:nvPr/>
        </p:nvSpPr>
        <p:spPr>
          <a:xfrm>
            <a:off x="3291840" y="1444752"/>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4" name="R1_sw533"/>
          <p:cNvSpPr/>
          <p:nvPr/>
        </p:nvSpPr>
        <p:spPr>
          <a:xfrm>
            <a:off x="3749040"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wa(l)ked</a:t>
            </a:r>
            <a:endParaRPr lang="en-US" sz="1150" dirty="0"/>
          </a:p>
        </p:txBody>
      </p:sp>
      <p:sp>
        <p:nvSpPr>
          <p:cNvPr id="25" name="R1_sw534"/>
          <p:cNvSpPr/>
          <p:nvPr/>
        </p:nvSpPr>
        <p:spPr>
          <a:xfrm>
            <a:off x="4773168"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(w)hole</a:t>
            </a:r>
            <a:endParaRPr lang="en-US" sz="1150" dirty="0"/>
          </a:p>
        </p:txBody>
      </p:sp>
      <p:sp>
        <p:nvSpPr>
          <p:cNvPr id="26" name="R1_sw535"/>
          <p:cNvSpPr/>
          <p:nvPr/>
        </p:nvSpPr>
        <p:spPr>
          <a:xfrm>
            <a:off x="5797296" y="141732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i(s)land</a:t>
            </a:r>
            <a:endParaRPr lang="en-US" sz="1150" dirty="0"/>
          </a:p>
        </p:txBody>
      </p:sp>
      <p:sp>
        <p:nvSpPr>
          <p:cNvPr id="27" name="R2_sf536"/>
          <p:cNvSpPr/>
          <p:nvPr/>
        </p:nvSpPr>
        <p:spPr>
          <a:xfrm>
            <a:off x="3749040" y="181051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We walked round the whole island.</a:t>
            </a:r>
            <a:endParaRPr lang="en-US" sz="1100" dirty="0"/>
          </a:p>
        </p:txBody>
      </p:sp>
      <p:sp>
        <p:nvSpPr>
          <p:cNvPr id="28" name="bd_537"/>
          <p:cNvSpPr/>
          <p:nvPr/>
        </p:nvSpPr>
        <p:spPr>
          <a:xfrm>
            <a:off x="3291840" y="2221992"/>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9" name="R3_sw538"/>
          <p:cNvSpPr/>
          <p:nvPr/>
        </p:nvSpPr>
        <p:spPr>
          <a:xfrm>
            <a:off x="3749040" y="219456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mus(t)n't</a:t>
            </a:r>
            <a:endParaRPr lang="en-US" sz="1150" dirty="0"/>
          </a:p>
        </p:txBody>
      </p:sp>
      <p:sp>
        <p:nvSpPr>
          <p:cNvPr id="30" name="R3_sw539"/>
          <p:cNvSpPr/>
          <p:nvPr/>
        </p:nvSpPr>
        <p:spPr>
          <a:xfrm>
            <a:off x="4773168" y="219456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ta(l)k</a:t>
            </a:r>
            <a:endParaRPr lang="en-US" sz="1150" dirty="0"/>
          </a:p>
        </p:txBody>
      </p:sp>
      <p:sp>
        <p:nvSpPr>
          <p:cNvPr id="31" name="R3_sw540"/>
          <p:cNvSpPr/>
          <p:nvPr/>
        </p:nvSpPr>
        <p:spPr>
          <a:xfrm>
            <a:off x="5797296" y="219456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lis(t)en</a:t>
            </a:r>
            <a:endParaRPr lang="en-US" sz="1150" dirty="0"/>
          </a:p>
        </p:txBody>
      </p:sp>
      <p:sp>
        <p:nvSpPr>
          <p:cNvPr id="32" name="R4_sf541"/>
          <p:cNvSpPr/>
          <p:nvPr/>
        </p:nvSpPr>
        <p:spPr>
          <a:xfrm>
            <a:off x="3749040" y="258775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You mustn't talk – just listen.</a:t>
            </a:r>
            <a:endParaRPr lang="en-US" sz="1100" dirty="0"/>
          </a:p>
        </p:txBody>
      </p:sp>
      <p:sp>
        <p:nvSpPr>
          <p:cNvPr id="33" name="bd_542"/>
          <p:cNvSpPr/>
          <p:nvPr/>
        </p:nvSpPr>
        <p:spPr>
          <a:xfrm>
            <a:off x="3291840" y="2999232"/>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34" name="R5_sw543"/>
          <p:cNvSpPr/>
          <p:nvPr/>
        </p:nvSpPr>
        <p:spPr>
          <a:xfrm>
            <a:off x="3749040" y="297180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shou(l)d</a:t>
            </a:r>
            <a:endParaRPr lang="en-US" sz="1150" dirty="0"/>
          </a:p>
        </p:txBody>
      </p:sp>
      <p:sp>
        <p:nvSpPr>
          <p:cNvPr id="35" name="R5_sw544"/>
          <p:cNvSpPr/>
          <p:nvPr/>
        </p:nvSpPr>
        <p:spPr>
          <a:xfrm>
            <a:off x="4773168" y="297180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forei(g)n</a:t>
            </a:r>
            <a:endParaRPr lang="en-US" sz="1150" dirty="0"/>
          </a:p>
        </p:txBody>
      </p:sp>
      <p:sp>
        <p:nvSpPr>
          <p:cNvPr id="36" name="R6_sf545"/>
          <p:cNvSpPr/>
          <p:nvPr/>
        </p:nvSpPr>
        <p:spPr>
          <a:xfrm>
            <a:off x="3749040" y="336499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Everyone should learn a foreign language.</a:t>
            </a:r>
            <a:endParaRPr lang="en-US" sz="1100" dirty="0"/>
          </a:p>
        </p:txBody>
      </p:sp>
      <p:sp>
        <p:nvSpPr>
          <p:cNvPr id="37" name="bd_546"/>
          <p:cNvSpPr/>
          <p:nvPr/>
        </p:nvSpPr>
        <p:spPr>
          <a:xfrm>
            <a:off x="3291840" y="3776472"/>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38" name="R7_sw547"/>
          <p:cNvSpPr/>
          <p:nvPr/>
        </p:nvSpPr>
        <p:spPr>
          <a:xfrm>
            <a:off x="3749040" y="374904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ou(gh)t</a:t>
            </a:r>
            <a:endParaRPr lang="en-US" sz="1150" dirty="0"/>
          </a:p>
        </p:txBody>
      </p:sp>
      <p:sp>
        <p:nvSpPr>
          <p:cNvPr id="39" name="R7_sw548"/>
          <p:cNvSpPr/>
          <p:nvPr/>
        </p:nvSpPr>
        <p:spPr>
          <a:xfrm>
            <a:off x="4773168" y="374904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ha(l)f</a:t>
            </a:r>
            <a:endParaRPr lang="en-US" sz="1150" dirty="0"/>
          </a:p>
        </p:txBody>
      </p:sp>
      <p:sp>
        <p:nvSpPr>
          <p:cNvPr id="40" name="R7_sw549"/>
          <p:cNvSpPr/>
          <p:nvPr/>
        </p:nvSpPr>
        <p:spPr>
          <a:xfrm>
            <a:off x="5797296" y="3749040"/>
            <a:ext cx="960120" cy="365760"/>
          </a:xfrm>
          <a:prstGeom prst="roundRect">
            <a:avLst>
              <a:gd name="adj" fmla="val 25000"/>
            </a:avLst>
          </a:prstGeom>
          <a:solidFill>
            <a:srgbClr val="FFE3EE"/>
          </a:solidFill>
          <a:ln w="28575">
            <a:solidFill>
              <a:srgbClr val="F7A6C4"/>
            </a:solidFill>
          </a:ln>
        </p:spPr>
        <p:txBody>
          <a:bodyPr wrap="square" lIns="0" tIns="0" rIns="0" bIns="0" rtlCol="0" anchor="ctr">
            <a:normAutofit/>
          </a:bodyPr>
          <a:lstStyle/>
          <a:p>
            <a:pPr algn="ctr" indent="0" marL="0">
              <a:buNone/>
            </a:pPr>
            <a:r>
              <a:rPr lang="en-US" sz="1150" dirty="0">
                <a:solidFill>
                  <a:srgbClr val="1B2559"/>
                </a:solidFill>
                <a:latin typeface="Arial Rounded MT Bold" pitchFamily="34" charset="0"/>
                <a:ea typeface="Arial Rounded MT Bold" pitchFamily="34" charset="-122"/>
                <a:cs typeface="Arial Rounded MT Bold" pitchFamily="34" charset="-120"/>
              </a:rPr>
              <a:t>(h)our</a:t>
            </a:r>
            <a:endParaRPr lang="en-US" sz="1150" dirty="0"/>
          </a:p>
        </p:txBody>
      </p:sp>
      <p:sp>
        <p:nvSpPr>
          <p:cNvPr id="41" name="R8_sf550"/>
          <p:cNvSpPr/>
          <p:nvPr/>
        </p:nvSpPr>
        <p:spPr>
          <a:xfrm>
            <a:off x="3749040" y="4142232"/>
            <a:ext cx="5120640" cy="274320"/>
          </a:xfrm>
          <a:prstGeom prst="rect">
            <a:avLst/>
          </a:prstGeom>
          <a:noFill/>
          <a:ln/>
        </p:spPr>
        <p:txBody>
          <a:bodyPr wrap="square" lIns="0" tIns="0" rIns="0" bIns="0" rtlCol="0" anchor="ctr"/>
          <a:lstStyle/>
          <a:p>
            <a:pPr indent="0" marL="0">
              <a:buNone/>
            </a:pPr>
            <a:r>
              <a:rPr lang="en-US" sz="1100" i="1" dirty="0">
                <a:solidFill>
                  <a:srgbClr val="7B5CD6"/>
                </a:solidFill>
                <a:latin typeface="Segoe UI Semibold" pitchFamily="34" charset="0"/>
                <a:ea typeface="Segoe UI Semibold" pitchFamily="34" charset="-122"/>
                <a:cs typeface="Segoe UI Semibold" pitchFamily="34" charset="-120"/>
              </a:rPr>
              <a:t>The taxi ought to be here in half an hour.</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4"/>
                                        </p:tgtEl>
                                        <p:attrNameLst>
                                          <p:attrName>style.visibility</p:attrName>
                                        </p:attrNameLst>
                                      </p:cBhvr>
                                      <p:to>
                                        <p:strVal val="visible"/>
                                      </p:to>
                                    </p:set>
                                    <p:animEffect transition="in" filter="fade">
                                      <p:cBhvr>
                                        <p:cTn id="7" dur="400"/>
                                        <p:tgtEl>
                                          <p:spTgt spid="24"/>
                                        </p:tgtEl>
                                      </p:cBhvr>
                                    </p:animEffect>
                                  </p:childTnLst>
                                </p:cTn>
                              </p:par>
                              <p:par>
                                <p:cTn id="8" presetID="10" presetClass="entr" presetSubtype="0" fill="hold" nodeType="withEffect">
                                  <p:stCondLst>
                                    <p:cond delay="0"/>
                                  </p:stCondLst>
                                  <p:childTnLst>
                                    <p:set>
                                      <p:cBhvr>
                                        <p:cTn id="9" dur="1" fill="hold">
                                          <p:stCondLst>
                                            <p:cond delay="0"/>
                                          </p:stCondLst>
                                        </p:cTn>
                                        <p:tgtEl>
                                          <p:spTgt spid="25"/>
                                        </p:tgtEl>
                                        <p:attrNameLst>
                                          <p:attrName>style.visibility</p:attrName>
                                        </p:attrNameLst>
                                      </p:cBhvr>
                                      <p:to>
                                        <p:strVal val="visible"/>
                                      </p:to>
                                    </p:set>
                                    <p:animEffect transition="in" filter="fade">
                                      <p:cBhvr>
                                        <p:cTn id="10" dur="400"/>
                                        <p:tgtEl>
                                          <p:spTgt spid="25"/>
                                        </p:tgtEl>
                                      </p:cBhvr>
                                    </p:animEffect>
                                  </p:childTnLst>
                                </p:cTn>
                              </p:par>
                              <p:par>
                                <p:cTn id="11" presetID="10" presetClass="entr" presetSubtype="0" fill="hold" nodeType="withEffect">
                                  <p:stCondLst>
                                    <p:cond delay="0"/>
                                  </p:stCondLst>
                                  <p:childTnLst>
                                    <p:set>
                                      <p:cBhvr>
                                        <p:cTn id="12" dur="1" fill="hold">
                                          <p:stCondLst>
                                            <p:cond delay="0"/>
                                          </p:stCondLst>
                                        </p:cTn>
                                        <p:tgtEl>
                                          <p:spTgt spid="26"/>
                                        </p:tgtEl>
                                        <p:attrNameLst>
                                          <p:attrName>style.visibility</p:attrName>
                                        </p:attrNameLst>
                                      </p:cBhvr>
                                      <p:to>
                                        <p:strVal val="visible"/>
                                      </p:to>
                                    </p:set>
                                    <p:animEffect transition="in" filter="fade">
                                      <p:cBhvr>
                                        <p:cTn id="13" dur="400"/>
                                        <p:tgtEl>
                                          <p:spTgt spid="26"/>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7"/>
                                        </p:tgtEl>
                                        <p:attrNameLst>
                                          <p:attrName>style.visibility</p:attrName>
                                        </p:attrNameLst>
                                      </p:cBhvr>
                                      <p:to>
                                        <p:strVal val="visible"/>
                                      </p:to>
                                    </p:set>
                                    <p:animEffect transition="in" filter="fade">
                                      <p:cBhvr>
                                        <p:cTn id="18" dur="400"/>
                                        <p:tgtEl>
                                          <p:spTgt spid="27"/>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9"/>
                                        </p:tgtEl>
                                        <p:attrNameLst>
                                          <p:attrName>style.visibility</p:attrName>
                                        </p:attrNameLst>
                                      </p:cBhvr>
                                      <p:to>
                                        <p:strVal val="visible"/>
                                      </p:to>
                                    </p:set>
                                    <p:animEffect transition="in" filter="fade">
                                      <p:cBhvr>
                                        <p:cTn id="23" dur="400"/>
                                        <p:tgtEl>
                                          <p:spTgt spid="29"/>
                                        </p:tgtEl>
                                      </p:cBhvr>
                                    </p:animEffect>
                                  </p:childTnLst>
                                </p:cTn>
                              </p:par>
                              <p:par>
                                <p:cTn id="24" presetID="10" presetClass="entr" presetSubtype="0" fill="hold" nodeType="withEffect">
                                  <p:stCondLst>
                                    <p:cond delay="0"/>
                                  </p:stCondLst>
                                  <p:childTnLst>
                                    <p:set>
                                      <p:cBhvr>
                                        <p:cTn id="25" dur="1" fill="hold">
                                          <p:stCondLst>
                                            <p:cond delay="0"/>
                                          </p:stCondLst>
                                        </p:cTn>
                                        <p:tgtEl>
                                          <p:spTgt spid="30"/>
                                        </p:tgtEl>
                                        <p:attrNameLst>
                                          <p:attrName>style.visibility</p:attrName>
                                        </p:attrNameLst>
                                      </p:cBhvr>
                                      <p:to>
                                        <p:strVal val="visible"/>
                                      </p:to>
                                    </p:set>
                                    <p:animEffect transition="in" filter="fade">
                                      <p:cBhvr>
                                        <p:cTn id="26" dur="400"/>
                                        <p:tgtEl>
                                          <p:spTgt spid="30"/>
                                        </p:tgtEl>
                                      </p:cBhvr>
                                    </p:animEffect>
                                  </p:childTnLst>
                                </p:cTn>
                              </p:par>
                              <p:par>
                                <p:cTn id="27" presetID="10" presetClass="entr" presetSubtype="0" fill="hold" nodeType="withEffect">
                                  <p:stCondLst>
                                    <p:cond delay="0"/>
                                  </p:stCondLst>
                                  <p:childTnLst>
                                    <p:set>
                                      <p:cBhvr>
                                        <p:cTn id="28" dur="1" fill="hold">
                                          <p:stCondLst>
                                            <p:cond delay="0"/>
                                          </p:stCondLst>
                                        </p:cTn>
                                        <p:tgtEl>
                                          <p:spTgt spid="31"/>
                                        </p:tgtEl>
                                        <p:attrNameLst>
                                          <p:attrName>style.visibility</p:attrName>
                                        </p:attrNameLst>
                                      </p:cBhvr>
                                      <p:to>
                                        <p:strVal val="visible"/>
                                      </p:to>
                                    </p:set>
                                    <p:animEffect transition="in" filter="fade">
                                      <p:cBhvr>
                                        <p:cTn id="29" dur="400"/>
                                        <p:tgtEl>
                                          <p:spTgt spid="31"/>
                                        </p:tgtEl>
                                      </p:cBhvr>
                                    </p:animEffect>
                                  </p:childTnLst>
                                </p:cTn>
                              </p:par>
                            </p:childTnLst>
                          </p:cTn>
                        </p:par>
                      </p:childTnLst>
                    </p:cTn>
                  </p:par>
                  <p:par>
                    <p:cTn id="30" fill="hold">
                      <p:stCondLst>
                        <p:cond delay="indefinite"/>
                      </p:stCondLst>
                      <p:childTnLst>
                        <p:par>
                          <p:cTn id="31" fill="hold">
                            <p:stCondLst>
                              <p:cond delay="0"/>
                            </p:stCondLst>
                            <p:childTnLst>
                              <p:par>
                                <p:cTn id="32" presetID="10" presetClass="entr" presetSubtype="0" fill="hold" nodeType="clickEffect">
                                  <p:stCondLst>
                                    <p:cond delay="0"/>
                                  </p:stCondLst>
                                  <p:childTnLst>
                                    <p:set>
                                      <p:cBhvr>
                                        <p:cTn id="33" dur="1" fill="hold">
                                          <p:stCondLst>
                                            <p:cond delay="0"/>
                                          </p:stCondLst>
                                        </p:cTn>
                                        <p:tgtEl>
                                          <p:spTgt spid="32"/>
                                        </p:tgtEl>
                                        <p:attrNameLst>
                                          <p:attrName>style.visibility</p:attrName>
                                        </p:attrNameLst>
                                      </p:cBhvr>
                                      <p:to>
                                        <p:strVal val="visible"/>
                                      </p:to>
                                    </p:set>
                                    <p:animEffect transition="in" filter="fade">
                                      <p:cBhvr>
                                        <p:cTn id="34" dur="400"/>
                                        <p:tgtEl>
                                          <p:spTgt spid="32"/>
                                        </p:tgtEl>
                                      </p:cBhvr>
                                    </p:animEffect>
                                  </p:childTnLst>
                                </p:cTn>
                              </p:par>
                            </p:childTnLst>
                          </p:cTn>
                        </p:par>
                      </p:childTnLst>
                    </p:cTn>
                  </p:par>
                  <p:par>
                    <p:cTn id="35" fill="hold">
                      <p:stCondLst>
                        <p:cond delay="indefinite"/>
                      </p:stCondLst>
                      <p:childTnLst>
                        <p:par>
                          <p:cTn id="36" fill="hold">
                            <p:stCondLst>
                              <p:cond delay="0"/>
                            </p:stCondLst>
                            <p:childTnLst>
                              <p:par>
                                <p:cTn id="37" presetID="10" presetClass="entr" presetSubtype="0" fill="hold" nodeType="clickEffect">
                                  <p:stCondLst>
                                    <p:cond delay="0"/>
                                  </p:stCondLst>
                                  <p:childTnLst>
                                    <p:set>
                                      <p:cBhvr>
                                        <p:cTn id="38" dur="1" fill="hold">
                                          <p:stCondLst>
                                            <p:cond delay="0"/>
                                          </p:stCondLst>
                                        </p:cTn>
                                        <p:tgtEl>
                                          <p:spTgt spid="34"/>
                                        </p:tgtEl>
                                        <p:attrNameLst>
                                          <p:attrName>style.visibility</p:attrName>
                                        </p:attrNameLst>
                                      </p:cBhvr>
                                      <p:to>
                                        <p:strVal val="visible"/>
                                      </p:to>
                                    </p:set>
                                    <p:animEffect transition="in" filter="fade">
                                      <p:cBhvr>
                                        <p:cTn id="39" dur="400"/>
                                        <p:tgtEl>
                                          <p:spTgt spid="34"/>
                                        </p:tgtEl>
                                      </p:cBhvr>
                                    </p:animEffect>
                                  </p:childTnLst>
                                </p:cTn>
                              </p:par>
                              <p:par>
                                <p:cTn id="40" presetID="10" presetClass="entr" presetSubtype="0" fill="hold" nodeType="withEffect">
                                  <p:stCondLst>
                                    <p:cond delay="0"/>
                                  </p:stCondLst>
                                  <p:childTnLst>
                                    <p:set>
                                      <p:cBhvr>
                                        <p:cTn id="41" dur="1" fill="hold">
                                          <p:stCondLst>
                                            <p:cond delay="0"/>
                                          </p:stCondLst>
                                        </p:cTn>
                                        <p:tgtEl>
                                          <p:spTgt spid="35"/>
                                        </p:tgtEl>
                                        <p:attrNameLst>
                                          <p:attrName>style.visibility</p:attrName>
                                        </p:attrNameLst>
                                      </p:cBhvr>
                                      <p:to>
                                        <p:strVal val="visible"/>
                                      </p:to>
                                    </p:set>
                                    <p:animEffect transition="in" filter="fade">
                                      <p:cBhvr>
                                        <p:cTn id="42" dur="400"/>
                                        <p:tgtEl>
                                          <p:spTgt spid="35"/>
                                        </p:tgtEl>
                                      </p:cBhvr>
                                    </p:animEffect>
                                  </p:childTnLst>
                                </p:cTn>
                              </p:par>
                            </p:childTnLst>
                          </p:cTn>
                        </p:par>
                      </p:childTnLst>
                    </p:cTn>
                  </p:par>
                  <p:par>
                    <p:cTn id="43" fill="hold">
                      <p:stCondLst>
                        <p:cond delay="indefinite"/>
                      </p:stCondLst>
                      <p:childTnLst>
                        <p:par>
                          <p:cTn id="44" fill="hold">
                            <p:stCondLst>
                              <p:cond delay="0"/>
                            </p:stCondLst>
                            <p:childTnLst>
                              <p:par>
                                <p:cTn id="45" presetID="10" presetClass="entr" presetSubtype="0" fill="hold" nodeType="clickEffect">
                                  <p:stCondLst>
                                    <p:cond delay="0"/>
                                  </p:stCondLst>
                                  <p:childTnLst>
                                    <p:set>
                                      <p:cBhvr>
                                        <p:cTn id="46" dur="1" fill="hold">
                                          <p:stCondLst>
                                            <p:cond delay="0"/>
                                          </p:stCondLst>
                                        </p:cTn>
                                        <p:tgtEl>
                                          <p:spTgt spid="36"/>
                                        </p:tgtEl>
                                        <p:attrNameLst>
                                          <p:attrName>style.visibility</p:attrName>
                                        </p:attrNameLst>
                                      </p:cBhvr>
                                      <p:to>
                                        <p:strVal val="visible"/>
                                      </p:to>
                                    </p:set>
                                    <p:animEffect transition="in" filter="fade">
                                      <p:cBhvr>
                                        <p:cTn id="47" dur="400"/>
                                        <p:tgtEl>
                                          <p:spTgt spid="36"/>
                                        </p:tgtEl>
                                      </p:cBhvr>
                                    </p:animEffect>
                                  </p:childTnLst>
                                </p:cTn>
                              </p:par>
                            </p:childTnLst>
                          </p:cTn>
                        </p:par>
                      </p:childTnLst>
                    </p:cTn>
                  </p:par>
                  <p:par>
                    <p:cTn id="48" fill="hold">
                      <p:stCondLst>
                        <p:cond delay="indefinite"/>
                      </p:stCondLst>
                      <p:childTnLst>
                        <p:par>
                          <p:cTn id="49" fill="hold">
                            <p:stCondLst>
                              <p:cond delay="0"/>
                            </p:stCondLst>
                            <p:childTnLst>
                              <p:par>
                                <p:cTn id="50" presetID="10" presetClass="entr" presetSubtype="0" fill="hold" nodeType="clickEffect">
                                  <p:stCondLst>
                                    <p:cond delay="0"/>
                                  </p:stCondLst>
                                  <p:childTnLst>
                                    <p:set>
                                      <p:cBhvr>
                                        <p:cTn id="51" dur="1" fill="hold">
                                          <p:stCondLst>
                                            <p:cond delay="0"/>
                                          </p:stCondLst>
                                        </p:cTn>
                                        <p:tgtEl>
                                          <p:spTgt spid="38"/>
                                        </p:tgtEl>
                                        <p:attrNameLst>
                                          <p:attrName>style.visibility</p:attrName>
                                        </p:attrNameLst>
                                      </p:cBhvr>
                                      <p:to>
                                        <p:strVal val="visible"/>
                                      </p:to>
                                    </p:set>
                                    <p:animEffect transition="in" filter="fade">
                                      <p:cBhvr>
                                        <p:cTn id="52" dur="400"/>
                                        <p:tgtEl>
                                          <p:spTgt spid="38"/>
                                        </p:tgtEl>
                                      </p:cBhvr>
                                    </p:animEffect>
                                  </p:childTnLst>
                                </p:cTn>
                              </p:par>
                              <p:par>
                                <p:cTn id="53" presetID="10" presetClass="entr" presetSubtype="0" fill="hold" nodeType="withEffect">
                                  <p:stCondLst>
                                    <p:cond delay="0"/>
                                  </p:stCondLst>
                                  <p:childTnLst>
                                    <p:set>
                                      <p:cBhvr>
                                        <p:cTn id="54" dur="1" fill="hold">
                                          <p:stCondLst>
                                            <p:cond delay="0"/>
                                          </p:stCondLst>
                                        </p:cTn>
                                        <p:tgtEl>
                                          <p:spTgt spid="39"/>
                                        </p:tgtEl>
                                        <p:attrNameLst>
                                          <p:attrName>style.visibility</p:attrName>
                                        </p:attrNameLst>
                                      </p:cBhvr>
                                      <p:to>
                                        <p:strVal val="visible"/>
                                      </p:to>
                                    </p:set>
                                    <p:animEffect transition="in" filter="fade">
                                      <p:cBhvr>
                                        <p:cTn id="55" dur="400"/>
                                        <p:tgtEl>
                                          <p:spTgt spid="39"/>
                                        </p:tgtEl>
                                      </p:cBhvr>
                                    </p:animEffect>
                                  </p:childTnLst>
                                </p:cTn>
                              </p:par>
                              <p:par>
                                <p:cTn id="56" presetID="10" presetClass="entr" presetSubtype="0" fill="hold" nodeType="withEffect">
                                  <p:stCondLst>
                                    <p:cond delay="0"/>
                                  </p:stCondLst>
                                  <p:childTnLst>
                                    <p:set>
                                      <p:cBhvr>
                                        <p:cTn id="57" dur="1" fill="hold">
                                          <p:stCondLst>
                                            <p:cond delay="0"/>
                                          </p:stCondLst>
                                        </p:cTn>
                                        <p:tgtEl>
                                          <p:spTgt spid="40"/>
                                        </p:tgtEl>
                                        <p:attrNameLst>
                                          <p:attrName>style.visibility</p:attrName>
                                        </p:attrNameLst>
                                      </p:cBhvr>
                                      <p:to>
                                        <p:strVal val="visible"/>
                                      </p:to>
                                    </p:set>
                                    <p:animEffect transition="in" filter="fade">
                                      <p:cBhvr>
                                        <p:cTn id="58" dur="400"/>
                                        <p:tgtEl>
                                          <p:spTgt spid="40"/>
                                        </p:tgtEl>
                                      </p:cBhvr>
                                    </p:animEffect>
                                  </p:childTnLst>
                                </p:cTn>
                              </p:par>
                            </p:childTnLst>
                          </p:cTn>
                        </p:par>
                      </p:childTnLst>
                    </p:cTn>
                  </p:par>
                  <p:par>
                    <p:cTn id="59" fill="hold">
                      <p:stCondLst>
                        <p:cond delay="indefinite"/>
                      </p:stCondLst>
                      <p:childTnLst>
                        <p:par>
                          <p:cTn id="60" fill="hold">
                            <p:stCondLst>
                              <p:cond delay="0"/>
                            </p:stCondLst>
                            <p:childTnLst>
                              <p:par>
                                <p:cTn id="61" presetID="10" presetClass="entr" presetSubtype="0" fill="hold" nodeType="clickEffect">
                                  <p:stCondLst>
                                    <p:cond delay="0"/>
                                  </p:stCondLst>
                                  <p:childTnLst>
                                    <p:set>
                                      <p:cBhvr>
                                        <p:cTn id="62" dur="1" fill="hold">
                                          <p:stCondLst>
                                            <p:cond delay="0"/>
                                          </p:stCondLst>
                                        </p:cTn>
                                        <p:tgtEl>
                                          <p:spTgt spid="41"/>
                                        </p:tgtEl>
                                        <p:attrNameLst>
                                          <p:attrName>style.visibility</p:attrName>
                                        </p:attrNameLst>
                                      </p:cBhvr>
                                      <p:to>
                                        <p:strVal val="visible"/>
                                      </p:to>
                                    </p:set>
                                    <p:animEffect transition="in" filter="fade">
                                      <p:cBhvr>
                                        <p:cTn id="63" dur="400"/>
                                        <p:tgtEl>
                                          <p:spTgt spid="41"/>
                                        </p:tgtEl>
                                      </p:cBhvr>
                                    </p:animEffect>
                                  </p:childTnLst>
                                </p:cTn>
                              </p:par>
                            </p:childTnLst>
                          </p:cTn>
                        </p:par>
                      </p:childTnLst>
                    </p:cTn>
                  </p:par>
                </p:childTnLst>
              </p:cTn>
              <p:prevCondLst>
                <p:cond evt="onPrev" delay="0">
                  <p:tgtEl>
                    <p:sldTgt/>
                  </p:tgtEl>
                </p:cond>
              </p:prevCondLst>
              <p:nextCondLst>
                <p:cond evt="onNext" delay="0">
                  <p:tgtEl>
                    <p:sldTgt/>
                  </p:tgtEl>
                </p:cond>
              </p:nextCondLst>
            </p:seq>
            <p:seq concurrent="1" nextAc="seek">
              <p:cTn id="64" restart="whenNotActive" fill="hold" evtFilter="cancelBubble" nodeType="interactiveSeq">
                <p:stCondLst>
                  <p:cond evt="onClick" delay="0">
                    <p:tgtEl>
                      <p:spTgt spid="14"/>
                    </p:tgtEl>
                  </p:cond>
                </p:stCondLst>
                <p:endSync evt="end" delay="0">
                  <p:rtn val="all"/>
                </p:endSync>
                <p:childTnLst>
                  <p:par>
                    <p:cTn id="65" fill="hold">
                      <p:stCondLst>
                        <p:cond delay="0"/>
                      </p:stCondLst>
                      <p:childTnLst>
                        <p:par>
                          <p:cTn id="66" fill="hold">
                            <p:stCondLst>
                              <p:cond delay="0"/>
                            </p:stCondLst>
                            <p:childTnLst>
                              <p:par>
                                <p:cTn id="67" presetID="2" presetClass="mediacall" presetSubtype="0" fill="hold" nodeType="clickEffect">
                                  <p:stCondLst>
                                    <p:cond delay="0"/>
                                  </p:stCondLst>
                                  <p:childTnLst>
                                    <p:cmd type="call" cmd="togglePause">
                                      <p:cBhvr>
                                        <p:cTn id="68" dur="1" fill="hold"/>
                                        <p:tgtEl>
                                          <p:spTgt spid="14"/>
                                        </p:tgtEl>
                                      </p:cBhvr>
                                    </p:cmd>
                                  </p:childTnLst>
                                </p:cTn>
                              </p:par>
                            </p:childTnLst>
                          </p:cTn>
                        </p:par>
                      </p:childTnLst>
                    </p:cTn>
                  </p:par>
                </p:childTnLst>
              </p:cTn>
              <p:nextCondLst>
                <p:cond evt="onClick" delay="0">
                  <p:tgtEl>
                    <p:spTgt spid="14"/>
                  </p:tgtEl>
                </p:cond>
              </p:nextCondLst>
            </p:seq>
            <p:seq concurrent="1" nextAc="seek">
              <p:cTn id="69" restart="whenNotActive" fill="hold" evtFilter="cancelBubble" nodeType="interactiveSeq">
                <p:stCondLst>
                  <p:cond evt="onClick" delay="0">
                    <p:tgtEl>
                      <p:spTgt spid="16"/>
                    </p:tgtEl>
                  </p:cond>
                </p:stCondLst>
                <p:endSync evt="end" delay="0">
                  <p:rtn val="all"/>
                </p:endSync>
                <p:childTnLst>
                  <p:par>
                    <p:cTn id="70" fill="hold">
                      <p:stCondLst>
                        <p:cond delay="0"/>
                      </p:stCondLst>
                      <p:childTnLst>
                        <p:par>
                          <p:cTn id="71" fill="hold">
                            <p:stCondLst>
                              <p:cond delay="0"/>
                            </p:stCondLst>
                            <p:childTnLst>
                              <p:par>
                                <p:cTn id="72" presetID="2" presetClass="mediacall" presetSubtype="0" fill="hold" nodeType="clickEffect">
                                  <p:stCondLst>
                                    <p:cond delay="0"/>
                                  </p:stCondLst>
                                  <p:childTnLst>
                                    <p:cmd type="call" cmd="togglePause">
                                      <p:cBhvr>
                                        <p:cTn id="73" dur="1" fill="hold"/>
                                        <p:tgtEl>
                                          <p:spTgt spid="16"/>
                                        </p:tgtEl>
                                      </p:cBhvr>
                                    </p:cmd>
                                  </p:childTnLst>
                                </p:cTn>
                              </p:par>
                            </p:childTnLst>
                          </p:cTn>
                        </p:par>
                      </p:childTnLst>
                    </p:cTn>
                  </p:par>
                </p:childTnLst>
              </p:cTn>
              <p:nextCondLst>
                <p:cond evt="onClick" delay="0">
                  <p:tgtEl>
                    <p:spTgt spid="16"/>
                  </p:tgtEl>
                </p:cond>
              </p:nextCondLst>
            </p:seq>
            <p:audio>
              <p:cMediaNode vol="80000">
                <p:cTn id="74" fill="hold" display="0">
                  <p:stCondLst>
                    <p:cond delay="indefinite"/>
                  </p:stCondLst>
                  <p:endCondLst>
                    <p:cond evt="onStopAudio" delay="0">
                      <p:tgtEl>
                        <p:sldTgt/>
                      </p:tgtEl>
                    </p:cond>
                  </p:endCondLst>
                </p:cTn>
                <p:tgtEl>
                  <p:spTgt spid="14"/>
                </p:tgtEl>
              </p:cMediaNode>
            </p:audio>
            <p:audio>
              <p:cMediaNode vol="80000">
                <p:cTn id="75" fill="hold" display="0">
                  <p:stCondLst>
                    <p:cond delay="indefinite"/>
                  </p:stCondLst>
                  <p:endCondLst>
                    <p:cond evt="onStopAudio" delay="0">
                      <p:tgtEl>
                        <p:sldTgt/>
                      </p:tgtEl>
                    </p:cond>
                  </p:endCondLst>
                </p:cTn>
                <p:tgtEl>
                  <p:spTgt spid="16"/>
                </p:tgtEl>
              </p:cMediaNode>
            </p:audio>
          </p:childTnLst>
        </p:cTn>
      </p:par>
    </p:tnLst>
  </p:timing>
</p:sld>
</file>

<file path=ppt/slides/slide18.xml><?xml version="1.0" encoding="utf-8"?>
<p:sld xmlns:a="http://schemas.openxmlformats.org/drawingml/2006/main" xmlns:r="http://schemas.openxmlformats.org/officeDocument/2006/relationships" xmlns:p="http://schemas.openxmlformats.org/presentationml/2006/main">
  <p:cSld name="Slide 18">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5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18</a:t>
            </a:r>
            <a:endParaRPr lang="en-US" sz="2200" dirty="0"/>
          </a:p>
        </p:txBody>
      </p:sp>
      <p:pic>
        <p:nvPicPr>
          <p:cNvPr id="4" name="brY_552" descr="/home/claude/lls-course/v2/assets/brush-yellow.png">    </p:cNvPr>
          <p:cNvPicPr>
            <a:picLocks noChangeAspect="1"/>
          </p:cNvPicPr>
          <p:nvPr/>
        </p:nvPicPr>
        <p:blipFill>
          <a:blip r:embed="rId2"/>
          <a:stretch>
            <a:fillRect/>
          </a:stretch>
        </p:blipFill>
        <p:spPr>
          <a:xfrm>
            <a:off x="1097280" y="146304"/>
            <a:ext cx="3562502" cy="621792"/>
          </a:xfrm>
          <a:prstGeom prst="rect">
            <a:avLst/>
          </a:prstGeom>
        </p:spPr>
      </p:pic>
      <p:sp>
        <p:nvSpPr>
          <p:cNvPr id="5" name="title_553"/>
          <p:cNvSpPr/>
          <p:nvPr/>
        </p:nvSpPr>
        <p:spPr>
          <a:xfrm>
            <a:off x="1261872" y="164592"/>
            <a:ext cx="3288182"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Does it annoy you?</a:t>
            </a:r>
            <a:endParaRPr lang="en-US" sz="2500" dirty="0"/>
          </a:p>
        </p:txBody>
      </p:sp>
      <p:pic>
        <p:nvPicPr>
          <p:cNvPr id="6" name="brP_554" descr="/home/claude/lls-course/v2/assets/brush-pink.png">    </p:cNvPr>
          <p:cNvPicPr>
            <a:picLocks noChangeAspect="1"/>
          </p:cNvPicPr>
          <p:nvPr/>
        </p:nvPicPr>
        <p:blipFill>
          <a:blip r:embed="rId3"/>
          <a:stretch>
            <a:fillRect/>
          </a:stretch>
        </p:blipFill>
        <p:spPr>
          <a:xfrm>
            <a:off x="1207008" y="731520"/>
            <a:ext cx="3076956" cy="402336"/>
          </a:xfrm>
          <a:prstGeom prst="rect">
            <a:avLst/>
          </a:prstGeom>
        </p:spPr>
      </p:pic>
      <p:sp>
        <p:nvSpPr>
          <p:cNvPr id="7" name="ins_555"/>
          <p:cNvSpPr/>
          <p:nvPr/>
        </p:nvSpPr>
        <p:spPr>
          <a:xfrm>
            <a:off x="1353312" y="731520"/>
            <a:ext cx="282092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Does it annoy you? Say why!</a:t>
            </a:r>
            <a:endParaRPr lang="en-US" sz="1250" dirty="0"/>
          </a:p>
        </p:txBody>
      </p:sp>
      <p:sp>
        <p:nvSpPr>
          <p:cNvPr id="8" name="insIT_55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Ti dà fastidio? Di' perché!</a:t>
            </a:r>
            <a:endParaRPr lang="en-US" sz="950" dirty="0"/>
          </a:p>
        </p:txBody>
      </p:sp>
      <p:sp>
        <p:nvSpPr>
          <p:cNvPr id="9" name="note_55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5 min   👨‍👩‍👧 groups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55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5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Speaking · annoying phone habits   ·   📖 SB p.37 · 4 Speaking (6 of the 13 annoying things)</a:t>
            </a:r>
            <a:endParaRPr lang="en-US" sz="800" dirty="0"/>
          </a:p>
        </p:txBody>
      </p:sp>
      <p:sp>
        <p:nvSpPr>
          <p:cNvPr id="12" name="pf_560"/>
          <p:cNvSpPr/>
          <p:nvPr/>
        </p:nvSpPr>
        <p:spPr>
          <a:xfrm rot="-120000">
            <a:off x="966174" y="1371600"/>
            <a:ext cx="1496652"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3" name="ph_561" descr="/home/claude/lls-course/v2/cache/4a1_public_transport_jpg_338x297_31.png">    </p:cNvPr>
          <p:cNvPicPr>
            <a:picLocks noChangeAspect="1"/>
          </p:cNvPicPr>
          <p:nvPr/>
        </p:nvPicPr>
        <p:blipFill>
          <a:blip r:embed="rId5"/>
          <a:stretch>
            <a:fillRect/>
          </a:stretch>
        </p:blipFill>
        <p:spPr>
          <a:xfrm rot="-120000">
            <a:off x="1011894" y="1417320"/>
            <a:ext cx="1405212" cy="1234440"/>
          </a:xfrm>
          <a:prstGeom prst="rect">
            <a:avLst/>
          </a:prstGeom>
        </p:spPr>
      </p:pic>
      <p:sp>
        <p:nvSpPr>
          <p:cNvPr id="14" name="cd_562"/>
          <p:cNvSpPr/>
          <p:nvPr/>
        </p:nvSpPr>
        <p:spPr>
          <a:xfrm>
            <a:off x="320040" y="2880360"/>
            <a:ext cx="278892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5" name="ii_563"/>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6" name="ih_564"/>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7" name="il_565"/>
          <p:cNvSpPr/>
          <p:nvPr/>
        </p:nvSpPr>
        <p:spPr>
          <a:xfrm>
            <a:off x="886968" y="3374136"/>
            <a:ext cx="213055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It really annoys me when people…</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They should / shouldn't…</a:t>
            </a:r>
            <a:endParaRPr lang="en-US" sz="1100" dirty="0"/>
          </a:p>
          <a:p>
            <a:pPr marL="152400" indent="-152400">
              <a:spcBef>
                <a:spcPts val="600"/>
              </a:spcBef>
              <a:spcAft>
                <a:spcPts val="200"/>
              </a:spcAft>
              <a:buSzPct val="100000"/>
              <a:buChar char="•"/>
            </a:pPr>
            <a:r>
              <a:rPr lang="en-US" sz="1100" dirty="0">
                <a:solidFill>
                  <a:srgbClr val="1B2559"/>
                </a:solidFill>
                <a:latin typeface="Segoe UI Semibold" pitchFamily="34" charset="0"/>
                <a:ea typeface="Segoe UI Semibold" pitchFamily="34" charset="-122"/>
                <a:cs typeface="Segoe UI Semibold" pitchFamily="34" charset="-120"/>
              </a:rPr>
              <a:t>To be honest, I sometimes…</a:t>
            </a:r>
            <a:endParaRPr lang="en-US" sz="1100" dirty="0"/>
          </a:p>
        </p:txBody>
      </p:sp>
      <p:sp>
        <p:nvSpPr>
          <p:cNvPr id="18" name="R1_qb56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19" name="R1_sq567"/>
          <p:cNvSpPr/>
          <p:nvPr/>
        </p:nvSpPr>
        <p:spPr>
          <a:xfrm>
            <a:off x="3675888" y="1417320"/>
            <a:ext cx="45079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People film every minute of a concert.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 annoys me! They should watch the band, not the screen.</a:t>
            </a:r>
            <a:endParaRPr lang="en-US" sz="1100" dirty="0"/>
          </a:p>
        </p:txBody>
      </p:sp>
      <p:pic>
        <p:nvPicPr>
          <p:cNvPr id="20" name="R1_th568" descr="/home/claude/lls-course/v2/cache/4a1_cover_jpg_154x107_18.png">    </p:cNvPr>
          <p:cNvPicPr>
            <a:picLocks noChangeAspect="1"/>
          </p:cNvPicPr>
          <p:nvPr/>
        </p:nvPicPr>
        <p:blipFill>
          <a:blip r:embed="rId6"/>
          <a:stretch>
            <a:fillRect/>
          </a:stretch>
        </p:blipFill>
        <p:spPr>
          <a:xfrm>
            <a:off x="8257032" y="1435608"/>
            <a:ext cx="640080" cy="446532"/>
          </a:xfrm>
          <a:prstGeom prst="rect">
            <a:avLst/>
          </a:prstGeom>
        </p:spPr>
      </p:pic>
      <p:sp>
        <p:nvSpPr>
          <p:cNvPr id="21" name="R2_qb569"/>
          <p:cNvSpPr/>
          <p:nvPr/>
        </p:nvSpPr>
        <p:spPr>
          <a:xfrm>
            <a:off x="3273552" y="201015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570"/>
          <p:cNvSpPr/>
          <p:nvPr/>
        </p:nvSpPr>
        <p:spPr>
          <a:xfrm>
            <a:off x="3675888" y="197358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People listen to music so loud that everyone can hear it.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On the bus every day! They should turn it down.</a:t>
            </a:r>
            <a:endParaRPr lang="en-US" sz="1100" dirty="0"/>
          </a:p>
        </p:txBody>
      </p:sp>
      <p:sp>
        <p:nvSpPr>
          <p:cNvPr id="23" name="R3_qb571"/>
          <p:cNvSpPr/>
          <p:nvPr/>
        </p:nvSpPr>
        <p:spPr>
          <a:xfrm>
            <a:off x="3273552" y="2566416"/>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572"/>
          <p:cNvSpPr/>
          <p:nvPr/>
        </p:nvSpPr>
        <p:spPr>
          <a:xfrm>
            <a:off x="3675888" y="2529840"/>
            <a:ext cx="4507992" cy="483108"/>
          </a:xfrm>
          <a:prstGeom prst="roundRect">
            <a:avLst>
              <a:gd name="adj" fmla="val 22713"/>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People text while they're walking in the street.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To be honest, I sometimes do it… but I know I shouldn't!</a:t>
            </a:r>
            <a:endParaRPr lang="en-US" sz="1100" dirty="0"/>
          </a:p>
        </p:txBody>
      </p:sp>
      <p:pic>
        <p:nvPicPr>
          <p:cNvPr id="25" name="R3_th573" descr="/home/claude/lls-course/v2/cache/4a1_walk_text_jpg_154x107_18.png">    </p:cNvPr>
          <p:cNvPicPr>
            <a:picLocks noChangeAspect="1"/>
          </p:cNvPicPr>
          <p:nvPr/>
        </p:nvPicPr>
        <p:blipFill>
          <a:blip r:embed="rId7"/>
          <a:stretch>
            <a:fillRect/>
          </a:stretch>
        </p:blipFill>
        <p:spPr>
          <a:xfrm>
            <a:off x="8257032" y="2548128"/>
            <a:ext cx="640080" cy="446532"/>
          </a:xfrm>
          <a:prstGeom prst="rect">
            <a:avLst/>
          </a:prstGeom>
        </p:spPr>
      </p:pic>
      <p:sp>
        <p:nvSpPr>
          <p:cNvPr id="26" name="R4_qb574"/>
          <p:cNvSpPr/>
          <p:nvPr/>
        </p:nvSpPr>
        <p:spPr>
          <a:xfrm>
            <a:off x="3273552" y="3122676"/>
            <a:ext cx="329184" cy="329184"/>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4</a:t>
            </a:r>
            <a:endParaRPr lang="en-US" sz="1100" dirty="0"/>
          </a:p>
        </p:txBody>
      </p:sp>
      <p:sp>
        <p:nvSpPr>
          <p:cNvPr id="27" name="R4_sq575"/>
          <p:cNvSpPr/>
          <p:nvPr/>
        </p:nvSpPr>
        <p:spPr>
          <a:xfrm>
            <a:off x="3675888" y="3086100"/>
            <a:ext cx="4507992" cy="483108"/>
          </a:xfrm>
          <a:prstGeom prst="roundRect">
            <a:avLst>
              <a:gd name="adj" fmla="val 22713"/>
            </a:avLst>
          </a:prstGeom>
          <a:solidFill>
            <a:srgbClr val="FFFFFF"/>
          </a:solidFill>
          <a:ln w="28575">
            <a:solidFill>
              <a:srgbClr val="FFE07A"/>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People take selfies all the time and post them online.</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It's OK – but not 20 a day!</a:t>
            </a:r>
            <a:endParaRPr lang="en-US" sz="1100" dirty="0"/>
          </a:p>
        </p:txBody>
      </p:sp>
      <p:pic>
        <p:nvPicPr>
          <p:cNvPr id="28" name="R4_th576" descr="/home/claude/lls-course/v2/cache/4a1_selfie_jpg_154x107_18.png">    </p:cNvPr>
          <p:cNvPicPr>
            <a:picLocks noChangeAspect="1"/>
          </p:cNvPicPr>
          <p:nvPr/>
        </p:nvPicPr>
        <p:blipFill>
          <a:blip r:embed="rId8"/>
          <a:stretch>
            <a:fillRect/>
          </a:stretch>
        </p:blipFill>
        <p:spPr>
          <a:xfrm>
            <a:off x="8257032" y="3104388"/>
            <a:ext cx="640080" cy="446532"/>
          </a:xfrm>
          <a:prstGeom prst="rect">
            <a:avLst/>
          </a:prstGeom>
        </p:spPr>
      </p:pic>
      <p:sp>
        <p:nvSpPr>
          <p:cNvPr id="29" name="R5_qb577"/>
          <p:cNvSpPr/>
          <p:nvPr/>
        </p:nvSpPr>
        <p:spPr>
          <a:xfrm>
            <a:off x="3273552" y="367893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5</a:t>
            </a:r>
            <a:endParaRPr lang="en-US" sz="1100" dirty="0"/>
          </a:p>
        </p:txBody>
      </p:sp>
      <p:sp>
        <p:nvSpPr>
          <p:cNvPr id="30" name="R5_sq578"/>
          <p:cNvSpPr/>
          <p:nvPr/>
        </p:nvSpPr>
        <p:spPr>
          <a:xfrm>
            <a:off x="3675888" y="3642360"/>
            <a:ext cx="5193792" cy="483108"/>
          </a:xfrm>
          <a:prstGeom prst="roundRect">
            <a:avLst>
              <a:gd name="adj" fmla="val 22713"/>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People put their phones on the table in a restaurant.</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My uncle does it. I think it's rude – you shouldn't!</a:t>
            </a:r>
            <a:endParaRPr lang="en-US" sz="1100" dirty="0"/>
          </a:p>
        </p:txBody>
      </p:sp>
      <p:sp>
        <p:nvSpPr>
          <p:cNvPr id="31" name="R6_qb579"/>
          <p:cNvSpPr/>
          <p:nvPr/>
        </p:nvSpPr>
        <p:spPr>
          <a:xfrm>
            <a:off x="3273552" y="4235196"/>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6</a:t>
            </a:r>
            <a:endParaRPr lang="en-US" sz="1100" dirty="0"/>
          </a:p>
        </p:txBody>
      </p:sp>
      <p:sp>
        <p:nvSpPr>
          <p:cNvPr id="32" name="R6_sq580"/>
          <p:cNvSpPr/>
          <p:nvPr/>
        </p:nvSpPr>
        <p:spPr>
          <a:xfrm>
            <a:off x="3675888" y="4198620"/>
            <a:ext cx="5193792" cy="483108"/>
          </a:xfrm>
          <a:prstGeom prst="roundRect">
            <a:avLst>
              <a:gd name="adj" fmla="val 22713"/>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100" dirty="0">
                <a:solidFill>
                  <a:srgbClr val="1B2559"/>
                </a:solidFill>
                <a:latin typeface="Segoe UI Semibold" pitchFamily="34" charset="0"/>
                <a:ea typeface="Segoe UI Semibold" pitchFamily="34" charset="-122"/>
                <a:cs typeface="Segoe UI Semibold" pitchFamily="34" charset="-120"/>
              </a:rPr>
              <a:t>Your friend sends messages during a film at the cinema.</a:t>
            </a:r>
            <a:endParaRPr lang="en-US" sz="110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That's really annoying. You mustn't do that!</a:t>
            </a:r>
            <a:endParaRPr lang="en-US" sz="11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8"/>
                                        </p:tgtEl>
                                        <p:attrNameLst>
                                          <p:attrName>style.visibility</p:attrName>
                                        </p:attrNameLst>
                                      </p:cBhvr>
                                      <p:to>
                                        <p:strVal val="visible"/>
                                      </p:to>
                                    </p:set>
                                    <p:animEffect transition="in" filter="fade">
                                      <p:cBhvr>
                                        <p:cTn id="7" dur="400"/>
                                        <p:tgtEl>
                                          <p:spTgt spid="18"/>
                                        </p:tgtEl>
                                      </p:cBhvr>
                                    </p:animEffect>
                                  </p:childTnLst>
                                </p:cTn>
                              </p:par>
                              <p:par>
                                <p:cTn id="8" presetID="10" presetClass="entr" presetSubtype="0" fill="hold" nodeType="withEffect">
                                  <p:stCondLst>
                                    <p:cond delay="0"/>
                                  </p:stCondLst>
                                  <p:childTnLst>
                                    <p:set>
                                      <p:cBhvr>
                                        <p:cTn id="9" dur="1" fill="hold">
                                          <p:stCondLst>
                                            <p:cond delay="0"/>
                                          </p:stCondLst>
                                        </p:cTn>
                                        <p:tgtEl>
                                          <p:spTgt spid="19"/>
                                        </p:tgtEl>
                                        <p:attrNameLst>
                                          <p:attrName>style.visibility</p:attrName>
                                        </p:attrNameLst>
                                      </p:cBhvr>
                                      <p:to>
                                        <p:strVal val="visible"/>
                                      </p:to>
                                    </p:set>
                                    <p:animEffect transition="in" filter="fade">
                                      <p:cBhvr>
                                        <p:cTn id="10" dur="400"/>
                                        <p:tgtEl>
                                          <p:spTgt spid="19"/>
                                        </p:tgtEl>
                                      </p:cBhvr>
                                    </p:animEffect>
                                  </p:childTnLst>
                                </p:cTn>
                              </p:par>
                              <p:par>
                                <p:cTn id="11" presetID="10" presetClass="entr" presetSubtype="0" fill="hold" nodeType="withEffect">
                                  <p:stCondLst>
                                    <p:cond delay="0"/>
                                  </p:stCondLst>
                                  <p:childTnLst>
                                    <p:set>
                                      <p:cBhvr>
                                        <p:cTn id="12" dur="1" fill="hold">
                                          <p:stCondLst>
                                            <p:cond delay="0"/>
                                          </p:stCondLst>
                                        </p:cTn>
                                        <p:tgtEl>
                                          <p:spTgt spid="20"/>
                                        </p:tgtEl>
                                        <p:attrNameLst>
                                          <p:attrName>style.visibility</p:attrName>
                                        </p:attrNameLst>
                                      </p:cBhvr>
                                      <p:to>
                                        <p:strVal val="visible"/>
                                      </p:to>
                                    </p:set>
                                    <p:animEffect transition="in" filter="fade">
                                      <p:cBhvr>
                                        <p:cTn id="13" dur="400"/>
                                        <p:tgtEl>
                                          <p:spTgt spid="20"/>
                                        </p:tgtEl>
                                      </p:cBhvr>
                                    </p:animEffect>
                                  </p:childTnLst>
                                </p:cTn>
                              </p:par>
                            </p:childTnLst>
                          </p:cTn>
                        </p:par>
                      </p:childTnLst>
                    </p:cTn>
                  </p:par>
                  <p:par>
                    <p:cTn id="14" fill="hold">
                      <p:stCondLst>
                        <p:cond delay="indefinite"/>
                      </p:stCondLst>
                      <p:childTnLst>
                        <p:par>
                          <p:cTn id="15" fill="hold">
                            <p:stCondLst>
                              <p:cond delay="0"/>
                            </p:stCondLst>
                            <p:childTnLst>
                              <p:par>
                                <p:cTn id="16" presetID="10" presetClass="entr" presetSubtype="0" fill="hold" nodeType="clickEffect">
                                  <p:stCondLst>
                                    <p:cond delay="0"/>
                                  </p:stCondLst>
                                  <p:childTnLst>
                                    <p:set>
                                      <p:cBhvr>
                                        <p:cTn id="17" dur="1" fill="hold">
                                          <p:stCondLst>
                                            <p:cond delay="0"/>
                                          </p:stCondLst>
                                        </p:cTn>
                                        <p:tgtEl>
                                          <p:spTgt spid="21"/>
                                        </p:tgtEl>
                                        <p:attrNameLst>
                                          <p:attrName>style.visibility</p:attrName>
                                        </p:attrNameLst>
                                      </p:cBhvr>
                                      <p:to>
                                        <p:strVal val="visible"/>
                                      </p:to>
                                    </p:set>
                                    <p:animEffect transition="in" filter="fade">
                                      <p:cBhvr>
                                        <p:cTn id="18" dur="400"/>
                                        <p:tgtEl>
                                          <p:spTgt spid="21"/>
                                        </p:tgtEl>
                                      </p:cBhvr>
                                    </p:animEffect>
                                  </p:childTnLst>
                                </p:cTn>
                              </p:par>
                              <p:par>
                                <p:cTn id="19" presetID="10" presetClass="entr" presetSubtype="0" fill="hold" nodeType="withEffect">
                                  <p:stCondLst>
                                    <p:cond delay="0"/>
                                  </p:stCondLst>
                                  <p:childTnLst>
                                    <p:set>
                                      <p:cBhvr>
                                        <p:cTn id="20" dur="1" fill="hold">
                                          <p:stCondLst>
                                            <p:cond delay="0"/>
                                          </p:stCondLst>
                                        </p:cTn>
                                        <p:tgtEl>
                                          <p:spTgt spid="22"/>
                                        </p:tgtEl>
                                        <p:attrNameLst>
                                          <p:attrName>style.visibility</p:attrName>
                                        </p:attrNameLst>
                                      </p:cBhvr>
                                      <p:to>
                                        <p:strVal val="visible"/>
                                      </p:to>
                                    </p:set>
                                    <p:animEffect transition="in" filter="fade">
                                      <p:cBhvr>
                                        <p:cTn id="21" dur="400"/>
                                        <p:tgtEl>
                                          <p:spTgt spid="22"/>
                                        </p:tgtEl>
                                      </p:cBhvr>
                                    </p:animEffect>
                                  </p:childTnLst>
                                </p:cTn>
                              </p:par>
                            </p:childTnLst>
                          </p:cTn>
                        </p:par>
                      </p:childTnLst>
                    </p:cTn>
                  </p:par>
                  <p:par>
                    <p:cTn id="22" fill="hold">
                      <p:stCondLst>
                        <p:cond delay="indefinite"/>
                      </p:stCondLst>
                      <p:childTnLst>
                        <p:par>
                          <p:cTn id="23" fill="hold">
                            <p:stCondLst>
                              <p:cond delay="0"/>
                            </p:stCondLst>
                            <p:childTnLst>
                              <p:par>
                                <p:cTn id="24" presetID="10" presetClass="entr" presetSubtype="0" fill="hold" nodeType="clickEffect">
                                  <p:stCondLst>
                                    <p:cond delay="0"/>
                                  </p:stCondLst>
                                  <p:childTnLst>
                                    <p:set>
                                      <p:cBhvr>
                                        <p:cTn id="25" dur="1" fill="hold">
                                          <p:stCondLst>
                                            <p:cond delay="0"/>
                                          </p:stCondLst>
                                        </p:cTn>
                                        <p:tgtEl>
                                          <p:spTgt spid="23"/>
                                        </p:tgtEl>
                                        <p:attrNameLst>
                                          <p:attrName>style.visibility</p:attrName>
                                        </p:attrNameLst>
                                      </p:cBhvr>
                                      <p:to>
                                        <p:strVal val="visible"/>
                                      </p:to>
                                    </p:set>
                                    <p:animEffect transition="in" filter="fade">
                                      <p:cBhvr>
                                        <p:cTn id="26" dur="400"/>
                                        <p:tgtEl>
                                          <p:spTgt spid="23"/>
                                        </p:tgtEl>
                                      </p:cBhvr>
                                    </p:animEffect>
                                  </p:childTnLst>
                                </p:cTn>
                              </p:par>
                              <p:par>
                                <p:cTn id="27" presetID="10" presetClass="entr" presetSubtype="0" fill="hold" nodeType="withEffect">
                                  <p:stCondLst>
                                    <p:cond delay="0"/>
                                  </p:stCondLst>
                                  <p:childTnLst>
                                    <p:set>
                                      <p:cBhvr>
                                        <p:cTn id="28" dur="1" fill="hold">
                                          <p:stCondLst>
                                            <p:cond delay="0"/>
                                          </p:stCondLst>
                                        </p:cTn>
                                        <p:tgtEl>
                                          <p:spTgt spid="24"/>
                                        </p:tgtEl>
                                        <p:attrNameLst>
                                          <p:attrName>style.visibility</p:attrName>
                                        </p:attrNameLst>
                                      </p:cBhvr>
                                      <p:to>
                                        <p:strVal val="visible"/>
                                      </p:to>
                                    </p:set>
                                    <p:animEffect transition="in" filter="fade">
                                      <p:cBhvr>
                                        <p:cTn id="29" dur="400"/>
                                        <p:tgtEl>
                                          <p:spTgt spid="24"/>
                                        </p:tgtEl>
                                      </p:cBhvr>
                                    </p:animEffect>
                                  </p:childTnLst>
                                </p:cTn>
                              </p:par>
                              <p:par>
                                <p:cTn id="30" presetID="10" presetClass="entr" presetSubtype="0" fill="hold" nodeType="withEffect">
                                  <p:stCondLst>
                                    <p:cond delay="0"/>
                                  </p:stCondLst>
                                  <p:childTnLst>
                                    <p:set>
                                      <p:cBhvr>
                                        <p:cTn id="31" dur="1" fill="hold">
                                          <p:stCondLst>
                                            <p:cond delay="0"/>
                                          </p:stCondLst>
                                        </p:cTn>
                                        <p:tgtEl>
                                          <p:spTgt spid="25"/>
                                        </p:tgtEl>
                                        <p:attrNameLst>
                                          <p:attrName>style.visibility</p:attrName>
                                        </p:attrNameLst>
                                      </p:cBhvr>
                                      <p:to>
                                        <p:strVal val="visible"/>
                                      </p:to>
                                    </p:set>
                                    <p:animEffect transition="in" filter="fade">
                                      <p:cBhvr>
                                        <p:cTn id="32" dur="400"/>
                                        <p:tgtEl>
                                          <p:spTgt spid="25"/>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6"/>
                                        </p:tgtEl>
                                        <p:attrNameLst>
                                          <p:attrName>style.visibility</p:attrName>
                                        </p:attrNameLst>
                                      </p:cBhvr>
                                      <p:to>
                                        <p:strVal val="visible"/>
                                      </p:to>
                                    </p:set>
                                    <p:animEffect transition="in" filter="fade">
                                      <p:cBhvr>
                                        <p:cTn id="37" dur="400"/>
                                        <p:tgtEl>
                                          <p:spTgt spid="26"/>
                                        </p:tgtEl>
                                      </p:cBhvr>
                                    </p:animEffect>
                                  </p:childTnLst>
                                </p:cTn>
                              </p:par>
                              <p:par>
                                <p:cTn id="38" presetID="10" presetClass="entr" presetSubtype="0" fill="hold" nodeType="withEffect">
                                  <p:stCondLst>
                                    <p:cond delay="0"/>
                                  </p:stCondLst>
                                  <p:childTnLst>
                                    <p:set>
                                      <p:cBhvr>
                                        <p:cTn id="39" dur="1" fill="hold">
                                          <p:stCondLst>
                                            <p:cond delay="0"/>
                                          </p:stCondLst>
                                        </p:cTn>
                                        <p:tgtEl>
                                          <p:spTgt spid="27"/>
                                        </p:tgtEl>
                                        <p:attrNameLst>
                                          <p:attrName>style.visibility</p:attrName>
                                        </p:attrNameLst>
                                      </p:cBhvr>
                                      <p:to>
                                        <p:strVal val="visible"/>
                                      </p:to>
                                    </p:set>
                                    <p:animEffect transition="in" filter="fade">
                                      <p:cBhvr>
                                        <p:cTn id="40" dur="400"/>
                                        <p:tgtEl>
                                          <p:spTgt spid="27"/>
                                        </p:tgtEl>
                                      </p:cBhvr>
                                    </p:animEffect>
                                  </p:childTnLst>
                                </p:cTn>
                              </p:par>
                              <p:par>
                                <p:cTn id="41" presetID="10" presetClass="entr" presetSubtype="0" fill="hold" nodeType="withEffect">
                                  <p:stCondLst>
                                    <p:cond delay="0"/>
                                  </p:stCondLst>
                                  <p:childTnLst>
                                    <p:set>
                                      <p:cBhvr>
                                        <p:cTn id="42" dur="1" fill="hold">
                                          <p:stCondLst>
                                            <p:cond delay="0"/>
                                          </p:stCondLst>
                                        </p:cTn>
                                        <p:tgtEl>
                                          <p:spTgt spid="28"/>
                                        </p:tgtEl>
                                        <p:attrNameLst>
                                          <p:attrName>style.visibility</p:attrName>
                                        </p:attrNameLst>
                                      </p:cBhvr>
                                      <p:to>
                                        <p:strVal val="visible"/>
                                      </p:to>
                                    </p:set>
                                    <p:animEffect transition="in" filter="fade">
                                      <p:cBhvr>
                                        <p:cTn id="43" dur="400"/>
                                        <p:tgtEl>
                                          <p:spTgt spid="28"/>
                                        </p:tgtEl>
                                      </p:cBhvr>
                                    </p:animEffect>
                                  </p:childTnLst>
                                </p:cTn>
                              </p:par>
                            </p:childTnLst>
                          </p:cTn>
                        </p:par>
                      </p:childTnLst>
                    </p:cTn>
                  </p:par>
                  <p:par>
                    <p:cTn id="44" fill="hold">
                      <p:stCondLst>
                        <p:cond delay="indefinite"/>
                      </p:stCondLst>
                      <p:childTnLst>
                        <p:par>
                          <p:cTn id="45" fill="hold">
                            <p:stCondLst>
                              <p:cond delay="0"/>
                            </p:stCondLst>
                            <p:childTnLst>
                              <p:par>
                                <p:cTn id="46" presetID="10" presetClass="entr" presetSubtype="0" fill="hold" nodeType="clickEffect">
                                  <p:stCondLst>
                                    <p:cond delay="0"/>
                                  </p:stCondLst>
                                  <p:childTnLst>
                                    <p:set>
                                      <p:cBhvr>
                                        <p:cTn id="47" dur="1" fill="hold">
                                          <p:stCondLst>
                                            <p:cond delay="0"/>
                                          </p:stCondLst>
                                        </p:cTn>
                                        <p:tgtEl>
                                          <p:spTgt spid="29"/>
                                        </p:tgtEl>
                                        <p:attrNameLst>
                                          <p:attrName>style.visibility</p:attrName>
                                        </p:attrNameLst>
                                      </p:cBhvr>
                                      <p:to>
                                        <p:strVal val="visible"/>
                                      </p:to>
                                    </p:set>
                                    <p:animEffect transition="in" filter="fade">
                                      <p:cBhvr>
                                        <p:cTn id="48" dur="400"/>
                                        <p:tgtEl>
                                          <p:spTgt spid="29"/>
                                        </p:tgtEl>
                                      </p:cBhvr>
                                    </p:animEffect>
                                  </p:childTnLst>
                                </p:cTn>
                              </p:par>
                              <p:par>
                                <p:cTn id="49" presetID="10" presetClass="entr" presetSubtype="0" fill="hold" nodeType="withEffect">
                                  <p:stCondLst>
                                    <p:cond delay="0"/>
                                  </p:stCondLst>
                                  <p:childTnLst>
                                    <p:set>
                                      <p:cBhvr>
                                        <p:cTn id="50" dur="1" fill="hold">
                                          <p:stCondLst>
                                            <p:cond delay="0"/>
                                          </p:stCondLst>
                                        </p:cTn>
                                        <p:tgtEl>
                                          <p:spTgt spid="30"/>
                                        </p:tgtEl>
                                        <p:attrNameLst>
                                          <p:attrName>style.visibility</p:attrName>
                                        </p:attrNameLst>
                                      </p:cBhvr>
                                      <p:to>
                                        <p:strVal val="visible"/>
                                      </p:to>
                                    </p:set>
                                    <p:animEffect transition="in" filter="fade">
                                      <p:cBhvr>
                                        <p:cTn id="51" dur="400"/>
                                        <p:tgtEl>
                                          <p:spTgt spid="30"/>
                                        </p:tgtEl>
                                      </p:cBhvr>
                                    </p:animEffect>
                                  </p:childTnLst>
                                </p:cTn>
                              </p:par>
                            </p:childTnLst>
                          </p:cTn>
                        </p:par>
                      </p:childTnLst>
                    </p:cTn>
                  </p:par>
                  <p:par>
                    <p:cTn id="52" fill="hold">
                      <p:stCondLst>
                        <p:cond delay="indefinite"/>
                      </p:stCondLst>
                      <p:childTnLst>
                        <p:par>
                          <p:cTn id="53" fill="hold">
                            <p:stCondLst>
                              <p:cond delay="0"/>
                            </p:stCondLst>
                            <p:childTnLst>
                              <p:par>
                                <p:cTn id="54" presetID="10" presetClass="entr" presetSubtype="0" fill="hold" nodeType="clickEffect">
                                  <p:stCondLst>
                                    <p:cond delay="0"/>
                                  </p:stCondLst>
                                  <p:childTnLst>
                                    <p:set>
                                      <p:cBhvr>
                                        <p:cTn id="55" dur="1" fill="hold">
                                          <p:stCondLst>
                                            <p:cond delay="0"/>
                                          </p:stCondLst>
                                        </p:cTn>
                                        <p:tgtEl>
                                          <p:spTgt spid="31"/>
                                        </p:tgtEl>
                                        <p:attrNameLst>
                                          <p:attrName>style.visibility</p:attrName>
                                        </p:attrNameLst>
                                      </p:cBhvr>
                                      <p:to>
                                        <p:strVal val="visible"/>
                                      </p:to>
                                    </p:set>
                                    <p:animEffect transition="in" filter="fade">
                                      <p:cBhvr>
                                        <p:cTn id="56" dur="400"/>
                                        <p:tgtEl>
                                          <p:spTgt spid="31"/>
                                        </p:tgtEl>
                                      </p:cBhvr>
                                    </p:animEffect>
                                  </p:childTnLst>
                                </p:cTn>
                              </p:par>
                              <p:par>
                                <p:cTn id="57" presetID="10" presetClass="entr" presetSubtype="0" fill="hold" nodeType="withEffect">
                                  <p:stCondLst>
                                    <p:cond delay="0"/>
                                  </p:stCondLst>
                                  <p:childTnLst>
                                    <p:set>
                                      <p:cBhvr>
                                        <p:cTn id="58" dur="1" fill="hold">
                                          <p:stCondLst>
                                            <p:cond delay="0"/>
                                          </p:stCondLst>
                                        </p:cTn>
                                        <p:tgtEl>
                                          <p:spTgt spid="32"/>
                                        </p:tgtEl>
                                        <p:attrNameLst>
                                          <p:attrName>style.visibility</p:attrName>
                                        </p:attrNameLst>
                                      </p:cBhvr>
                                      <p:to>
                                        <p:strVal val="visible"/>
                                      </p:to>
                                    </p:set>
                                    <p:animEffect transition="in" filter="fade">
                                      <p:cBhvr>
                                        <p:cTn id="59" dur="400"/>
                                        <p:tgtEl>
                                          <p:spTgt spid="32"/>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19.xml><?xml version="1.0" encoding="utf-8"?>
<p:sld xmlns:a="http://schemas.openxmlformats.org/drawingml/2006/main" xmlns:r="http://schemas.openxmlformats.org/officeDocument/2006/relationships" xmlns:p="http://schemas.openxmlformats.org/presentationml/2006/main">
  <p:cSld name="Slide 19">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581"/>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19</a:t>
            </a:r>
            <a:endParaRPr lang="en-US" sz="2200" dirty="0"/>
          </a:p>
        </p:txBody>
      </p:sp>
      <p:pic>
        <p:nvPicPr>
          <p:cNvPr id="4" name="brY_582" descr="/home/claude/lls-course/v2/assets/brush-yellow.png">    </p:cNvPr>
          <p:cNvPicPr>
            <a:picLocks noChangeAspect="1"/>
          </p:cNvPicPr>
          <p:nvPr/>
        </p:nvPicPr>
        <p:blipFill>
          <a:blip r:embed="rId2"/>
          <a:stretch>
            <a:fillRect/>
          </a:stretch>
        </p:blipFill>
        <p:spPr>
          <a:xfrm>
            <a:off x="1097280" y="146304"/>
            <a:ext cx="2461565" cy="621792"/>
          </a:xfrm>
          <a:prstGeom prst="rect">
            <a:avLst/>
          </a:prstGeom>
        </p:spPr>
      </p:pic>
      <p:sp>
        <p:nvSpPr>
          <p:cNvPr id="5" name="title_583"/>
          <p:cNvSpPr/>
          <p:nvPr/>
        </p:nvSpPr>
        <p:spPr>
          <a:xfrm>
            <a:off x="1261872" y="164592"/>
            <a:ext cx="2187245"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Where am I?</a:t>
            </a:r>
            <a:endParaRPr lang="en-US" sz="2500" dirty="0"/>
          </a:p>
        </p:txBody>
      </p:sp>
      <p:pic>
        <p:nvPicPr>
          <p:cNvPr id="6" name="brP_584"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585"/>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Give rules for a place. Don't say it!</a:t>
            </a:r>
            <a:endParaRPr lang="en-US" sz="1250" dirty="0"/>
          </a:p>
        </p:txBody>
      </p:sp>
      <p:sp>
        <p:nvSpPr>
          <p:cNvPr id="8" name="insIT_586"/>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Dai le regole di un posto. Non dirlo!</a:t>
            </a:r>
            <a:endParaRPr lang="en-US" sz="950" dirty="0"/>
          </a:p>
        </p:txBody>
      </p:sp>
      <p:sp>
        <p:nvSpPr>
          <p:cNvPr id="9" name="note_587"/>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PLAY</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GIOCA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Communicative game</a:t>
            </a:r>
            <a:endParaRPr lang="en-US" sz="1250" dirty="0"/>
          </a:p>
        </p:txBody>
      </p:sp>
      <p:pic>
        <p:nvPicPr>
          <p:cNvPr id="10" name="logo_588"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589"/>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game   ·   📖 Practice of Grammar Bank 4A: have to, must, should</a:t>
            </a:r>
            <a:endParaRPr lang="en-US" sz="800" dirty="0"/>
          </a:p>
        </p:txBody>
      </p:sp>
      <p:sp>
        <p:nvSpPr>
          <p:cNvPr id="12" name="cd_590"/>
          <p:cNvSpPr/>
          <p:nvPr/>
        </p:nvSpPr>
        <p:spPr>
          <a:xfrm>
            <a:off x="320040" y="1417320"/>
            <a:ext cx="2697480" cy="2514600"/>
          </a:xfrm>
          <a:prstGeom prst="roundRect">
            <a:avLst>
              <a:gd name="adj" fmla="val 5091"/>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3" name="ii_591"/>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4" name="ih_592"/>
          <p:cNvSpPr/>
          <p:nvPr/>
        </p:nvSpPr>
        <p:spPr>
          <a:xfrm>
            <a:off x="886968" y="1508760"/>
            <a:ext cx="205740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How to play</a:t>
            </a:r>
            <a:endParaRPr lang="en-US" sz="1400" dirty="0"/>
          </a:p>
        </p:txBody>
      </p:sp>
      <p:sp>
        <p:nvSpPr>
          <p:cNvPr id="15" name="il_593"/>
          <p:cNvSpPr/>
          <p:nvPr/>
        </p:nvSpPr>
        <p:spPr>
          <a:xfrm>
            <a:off x="886968" y="1911096"/>
            <a:ext cx="2039112" cy="1947672"/>
          </a:xfrm>
          <a:prstGeom prst="rect">
            <a:avLst/>
          </a:prstGeom>
          <a:noFill/>
          <a:ln/>
        </p:spPr>
        <p:txBody>
          <a:bodyPr wrap="square" lIns="0" tIns="0" rIns="0" bIns="0" rtlCol="0" anchor="t">
            <a:normAutofit/>
          </a:bodyPr>
          <a:lstStyle/>
          <a:p>
            <a:pPr marL="152400" indent="-152400">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A looks at the screen. B turns around.</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A guarda lo schermo. B si gira.</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A gives rules: You have to… You mustn't…</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A dà regole: You have to… You mustn't…</a:t>
            </a:r>
            <a:endParaRPr lang="en-US" sz="900" dirty="0"/>
          </a:p>
          <a:p>
            <a:pPr marL="152400" indent="-152400">
              <a:spcBef>
                <a:spcPts val="600"/>
              </a:spcBef>
              <a:spcAft>
                <a:spcPts val="200"/>
              </a:spcAft>
              <a:buSzPct val="100000"/>
              <a:buChar char="•"/>
            </a:pPr>
            <a:r>
              <a:rPr lang="en-US" sz="900" dirty="0">
                <a:solidFill>
                  <a:srgbClr val="1B2559"/>
                </a:solidFill>
                <a:latin typeface="Segoe UI Semibold" pitchFamily="34" charset="0"/>
                <a:ea typeface="Segoe UI Semibold" pitchFamily="34" charset="-122"/>
                <a:cs typeface="Segoe UI Semibold" pitchFamily="34" charset="-120"/>
              </a:rPr>
              <a:t>B guesses the place. Then swap.</a:t>
            </a:r>
            <a:endParaRPr lang="en-US" sz="900" dirty="0"/>
          </a:p>
          <a:p>
            <a:pPr marL="152400" indent="-152400">
              <a:spcAft>
                <a:spcPts val="200"/>
              </a:spcAft>
              <a:buSzPct val="100000"/>
              <a:buChar char=" "/>
            </a:pPr>
            <a:r>
              <a:rPr lang="en-US" sz="900" dirty="0">
                <a:solidFill>
                  <a:srgbClr val="5B6785"/>
                </a:solidFill>
                <a:latin typeface="Segoe UI Semibold" pitchFamily="34" charset="0"/>
                <a:ea typeface="Segoe UI Semibold" pitchFamily="34" charset="-122"/>
                <a:cs typeface="Segoe UI Semibold" pitchFamily="34" charset="-120"/>
              </a:rPr>
              <a:t>B indovina il posto. Poi scambiatevi.</a:t>
            </a:r>
            <a:endParaRPr lang="en-US" sz="900" dirty="0"/>
          </a:p>
        </p:txBody>
      </p:sp>
      <p:sp>
        <p:nvSpPr>
          <p:cNvPr id="16" name="pf_594"/>
          <p:cNvSpPr/>
          <p:nvPr/>
        </p:nvSpPr>
        <p:spPr>
          <a:xfrm rot="-120000">
            <a:off x="762483" y="4069080"/>
            <a:ext cx="1766873" cy="1143000"/>
          </a:xfrm>
          <a:prstGeom prst="roundRect">
            <a:avLst>
              <a:gd name="adj" fmla="val 13600"/>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7" name="ph_595" descr="/home/claude/lls-course/v2/cache/4a1_queue_jpg_403x253_31.png">    </p:cNvPr>
          <p:cNvPicPr>
            <a:picLocks noChangeAspect="1"/>
          </p:cNvPicPr>
          <p:nvPr/>
        </p:nvPicPr>
        <p:blipFill>
          <a:blip r:embed="rId5"/>
          <a:stretch>
            <a:fillRect/>
          </a:stretch>
        </p:blipFill>
        <p:spPr>
          <a:xfrm rot="-120000">
            <a:off x="808203" y="4114800"/>
            <a:ext cx="1675433" cy="1051560"/>
          </a:xfrm>
          <a:prstGeom prst="rect">
            <a:avLst/>
          </a:prstGeom>
        </p:spPr>
      </p:pic>
      <p:sp>
        <p:nvSpPr>
          <p:cNvPr id="18" name="rl_596"/>
          <p:cNvSpPr/>
          <p:nvPr/>
        </p:nvSpPr>
        <p:spPr>
          <a:xfrm>
            <a:off x="3246120" y="1417320"/>
            <a:ext cx="2651760" cy="310896"/>
          </a:xfrm>
          <a:prstGeom prst="roundRect">
            <a:avLst>
              <a:gd name="adj" fmla="val 50000"/>
            </a:avLst>
          </a:prstGeom>
          <a:solidFill>
            <a:srgbClr val="E8508F"/>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A gives rules</a:t>
            </a:r>
            <a:endParaRPr lang="en-US" sz="1100" dirty="0"/>
          </a:p>
        </p:txBody>
      </p:sp>
      <p:sp>
        <p:nvSpPr>
          <p:cNvPr id="19" name="R1_w597"/>
          <p:cNvSpPr/>
          <p:nvPr/>
        </p:nvSpPr>
        <p:spPr>
          <a:xfrm>
            <a:off x="3246120" y="185623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LIBRARY</a:t>
            </a:r>
            <a:endParaRPr lang="en-US" sz="1700" dirty="0"/>
          </a:p>
        </p:txBody>
      </p:sp>
      <p:sp>
        <p:nvSpPr>
          <p:cNvPr id="20" name="R3_w598"/>
          <p:cNvSpPr/>
          <p:nvPr/>
        </p:nvSpPr>
        <p:spPr>
          <a:xfrm>
            <a:off x="3246120" y="258775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CINEMA</a:t>
            </a:r>
            <a:endParaRPr lang="en-US" sz="1700" dirty="0"/>
          </a:p>
        </p:txBody>
      </p:sp>
      <p:sp>
        <p:nvSpPr>
          <p:cNvPr id="21" name="R5_w599"/>
          <p:cNvSpPr/>
          <p:nvPr/>
        </p:nvSpPr>
        <p:spPr>
          <a:xfrm>
            <a:off x="3246120" y="331927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AIRPORT</a:t>
            </a:r>
            <a:endParaRPr lang="en-US" sz="1700" dirty="0"/>
          </a:p>
        </p:txBody>
      </p:sp>
      <p:sp>
        <p:nvSpPr>
          <p:cNvPr id="22" name="R7_w600"/>
          <p:cNvSpPr/>
          <p:nvPr/>
        </p:nvSpPr>
        <p:spPr>
          <a:xfrm>
            <a:off x="3246120" y="4050792"/>
            <a:ext cx="2651760" cy="621792"/>
          </a:xfrm>
          <a:prstGeom prst="roundRect">
            <a:avLst>
              <a:gd name="adj" fmla="val 20588"/>
            </a:avLst>
          </a:prstGeom>
          <a:solidFill>
            <a:srgbClr val="FFFFFF"/>
          </a:solidFill>
          <a:ln w="28575">
            <a:solidFill>
              <a:srgbClr val="F7A6C4"/>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SWIMMING POOL</a:t>
            </a:r>
            <a:endParaRPr lang="en-US" sz="1700" dirty="0"/>
          </a:p>
        </p:txBody>
      </p:sp>
      <p:sp>
        <p:nvSpPr>
          <p:cNvPr id="23" name="rl_601"/>
          <p:cNvSpPr/>
          <p:nvPr/>
        </p:nvSpPr>
        <p:spPr>
          <a:xfrm>
            <a:off x="6080760" y="1417320"/>
            <a:ext cx="2651760" cy="310896"/>
          </a:xfrm>
          <a:prstGeom prst="roundRect">
            <a:avLst>
              <a:gd name="adj" fmla="val 50000"/>
            </a:avLst>
          </a:prstGeom>
          <a:solidFill>
            <a:srgbClr val="2F8DE4"/>
          </a:solidFill>
          <a:ln/>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B gives rules</a:t>
            </a:r>
            <a:endParaRPr lang="en-US" sz="1100" dirty="0"/>
          </a:p>
        </p:txBody>
      </p:sp>
      <p:sp>
        <p:nvSpPr>
          <p:cNvPr id="24" name="R2_w602"/>
          <p:cNvSpPr/>
          <p:nvPr/>
        </p:nvSpPr>
        <p:spPr>
          <a:xfrm>
            <a:off x="6080760" y="185623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HOSPITAL</a:t>
            </a:r>
            <a:endParaRPr lang="en-US" sz="1700" dirty="0"/>
          </a:p>
        </p:txBody>
      </p:sp>
      <p:sp>
        <p:nvSpPr>
          <p:cNvPr id="25" name="R4_w603"/>
          <p:cNvSpPr/>
          <p:nvPr/>
        </p:nvSpPr>
        <p:spPr>
          <a:xfrm>
            <a:off x="6080760" y="258775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MUSEUM</a:t>
            </a:r>
            <a:endParaRPr lang="en-US" sz="1700" dirty="0"/>
          </a:p>
        </p:txBody>
      </p:sp>
      <p:sp>
        <p:nvSpPr>
          <p:cNvPr id="26" name="R6_w604"/>
          <p:cNvSpPr/>
          <p:nvPr/>
        </p:nvSpPr>
        <p:spPr>
          <a:xfrm>
            <a:off x="6080760" y="331927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PLANE</a:t>
            </a:r>
            <a:endParaRPr lang="en-US" sz="1700" dirty="0"/>
          </a:p>
        </p:txBody>
      </p:sp>
      <p:sp>
        <p:nvSpPr>
          <p:cNvPr id="27" name="R8_w605"/>
          <p:cNvSpPr/>
          <p:nvPr/>
        </p:nvSpPr>
        <p:spPr>
          <a:xfrm>
            <a:off x="6080760" y="4050792"/>
            <a:ext cx="2651760" cy="621792"/>
          </a:xfrm>
          <a:prstGeom prst="roundRect">
            <a:avLst>
              <a:gd name="adj" fmla="val 20588"/>
            </a:avLst>
          </a:prstGeom>
          <a:solidFill>
            <a:srgbClr val="FFFFFF"/>
          </a:solidFill>
          <a:ln w="28575">
            <a:solidFill>
              <a:srgbClr val="A9D3F5"/>
            </a:solidFill>
          </a:ln>
          <a:effectLst>
            <a:outerShdw sx="100000" sy="100000" kx="0" ky="0" algn="bl" rotWithShape="0" blurRad="88900" dist="31750" dir="5400000">
              <a:srgbClr val="1B2559">
                <a:alpha val="10000"/>
              </a:srgbClr>
            </a:outerShdw>
          </a:effectLst>
        </p:spPr>
        <p:txBody>
          <a:bodyPr wrap="square" rtlCol="0" anchor="ctr">
            <a:normAutofit/>
          </a:bodyPr>
          <a:lstStyle/>
          <a:p>
            <a:pPr algn="ctr" indent="0" marL="0">
              <a:buNone/>
            </a:pPr>
            <a:r>
              <a:rPr lang="en-US" sz="1700" dirty="0">
                <a:solidFill>
                  <a:srgbClr val="1B2559"/>
                </a:solidFill>
                <a:latin typeface="Arial Rounded MT Bold" pitchFamily="34" charset="0"/>
                <a:ea typeface="Arial Rounded MT Bold" pitchFamily="34" charset="-122"/>
                <a:cs typeface="Arial Rounded MT Bold" pitchFamily="34" charset="-120"/>
              </a:rPr>
              <a:t>CLASSROOM</a:t>
            </a:r>
            <a:endParaRPr lang="en-US" sz="17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0"/>
                                        </p:tgtEl>
                                        <p:attrNameLst>
                                          <p:attrName>style.visibility</p:attrName>
                                        </p:attrNameLst>
                                      </p:cBhvr>
                                      <p:to>
                                        <p:strVal val="visible"/>
                                      </p:to>
                                    </p:set>
                                    <p:animEffect transition="in" filter="fade">
                                      <p:cBhvr>
                                        <p:cTn id="17" dur="400"/>
                                        <p:tgtEl>
                                          <p:spTgt spid="20"/>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5"/>
                                        </p:tgtEl>
                                        <p:attrNameLst>
                                          <p:attrName>style.visibility</p:attrName>
                                        </p:attrNameLst>
                                      </p:cBhvr>
                                      <p:to>
                                        <p:strVal val="visible"/>
                                      </p:to>
                                    </p:set>
                                    <p:animEffect transition="in" filter="fade">
                                      <p:cBhvr>
                                        <p:cTn id="22" dur="400"/>
                                        <p:tgtEl>
                                          <p:spTgt spid="25"/>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21"/>
                                        </p:tgtEl>
                                        <p:attrNameLst>
                                          <p:attrName>style.visibility</p:attrName>
                                        </p:attrNameLst>
                                      </p:cBhvr>
                                      <p:to>
                                        <p:strVal val="visible"/>
                                      </p:to>
                                    </p:set>
                                    <p:animEffect transition="in" filter="fade">
                                      <p:cBhvr>
                                        <p:cTn id="27" dur="400"/>
                                        <p:tgtEl>
                                          <p:spTgt spid="21"/>
                                        </p:tgtEl>
                                      </p:cBhvr>
                                    </p:animEffect>
                                  </p:childTnLst>
                                </p:cTn>
                              </p:par>
                            </p:childTnLst>
                          </p:cTn>
                        </p:par>
                      </p:childTnLst>
                    </p:cTn>
                  </p:par>
                  <p:par>
                    <p:cTn id="28" fill="hold">
                      <p:stCondLst>
                        <p:cond delay="indefinite"/>
                      </p:stCondLst>
                      <p:childTnLst>
                        <p:par>
                          <p:cTn id="29" fill="hold">
                            <p:stCondLst>
                              <p:cond delay="0"/>
                            </p:stCondLst>
                            <p:childTnLst>
                              <p:par>
                                <p:cTn id="30" presetID="10" presetClass="entr" presetSubtype="0" fill="hold" nodeType="clickEffect">
                                  <p:stCondLst>
                                    <p:cond delay="0"/>
                                  </p:stCondLst>
                                  <p:childTnLst>
                                    <p:set>
                                      <p:cBhvr>
                                        <p:cTn id="31" dur="1" fill="hold">
                                          <p:stCondLst>
                                            <p:cond delay="0"/>
                                          </p:stCondLst>
                                        </p:cTn>
                                        <p:tgtEl>
                                          <p:spTgt spid="26"/>
                                        </p:tgtEl>
                                        <p:attrNameLst>
                                          <p:attrName>style.visibility</p:attrName>
                                        </p:attrNameLst>
                                      </p:cBhvr>
                                      <p:to>
                                        <p:strVal val="visible"/>
                                      </p:to>
                                    </p:set>
                                    <p:animEffect transition="in" filter="fade">
                                      <p:cBhvr>
                                        <p:cTn id="32" dur="400"/>
                                        <p:tgtEl>
                                          <p:spTgt spid="26"/>
                                        </p:tgtEl>
                                      </p:cBhvr>
                                    </p:animEffect>
                                  </p:childTnLst>
                                </p:cTn>
                              </p:par>
                            </p:childTnLst>
                          </p:cTn>
                        </p:par>
                      </p:childTnLst>
                    </p:cTn>
                  </p:par>
                  <p:par>
                    <p:cTn id="33" fill="hold">
                      <p:stCondLst>
                        <p:cond delay="indefinite"/>
                      </p:stCondLst>
                      <p:childTnLst>
                        <p:par>
                          <p:cTn id="34" fill="hold">
                            <p:stCondLst>
                              <p:cond delay="0"/>
                            </p:stCondLst>
                            <p:childTnLst>
                              <p:par>
                                <p:cTn id="35" presetID="10" presetClass="entr" presetSubtype="0" fill="hold" nodeType="clickEffect">
                                  <p:stCondLst>
                                    <p:cond delay="0"/>
                                  </p:stCondLst>
                                  <p:childTnLst>
                                    <p:set>
                                      <p:cBhvr>
                                        <p:cTn id="36" dur="1" fill="hold">
                                          <p:stCondLst>
                                            <p:cond delay="0"/>
                                          </p:stCondLst>
                                        </p:cTn>
                                        <p:tgtEl>
                                          <p:spTgt spid="22"/>
                                        </p:tgtEl>
                                        <p:attrNameLst>
                                          <p:attrName>style.visibility</p:attrName>
                                        </p:attrNameLst>
                                      </p:cBhvr>
                                      <p:to>
                                        <p:strVal val="visible"/>
                                      </p:to>
                                    </p:set>
                                    <p:animEffect transition="in" filter="fade">
                                      <p:cBhvr>
                                        <p:cTn id="37" dur="400"/>
                                        <p:tgtEl>
                                          <p:spTgt spid="22"/>
                                        </p:tgtEl>
                                      </p:cBhvr>
                                    </p:animEffect>
                                  </p:childTnLst>
                                </p:cTn>
                              </p:par>
                            </p:childTnLst>
                          </p:cTn>
                        </p:par>
                      </p:childTnLst>
                    </p:cTn>
                  </p:par>
                  <p:par>
                    <p:cTn id="38" fill="hold">
                      <p:stCondLst>
                        <p:cond delay="indefinite"/>
                      </p:stCondLst>
                      <p:childTnLst>
                        <p:par>
                          <p:cTn id="39" fill="hold">
                            <p:stCondLst>
                              <p:cond delay="0"/>
                            </p:stCondLst>
                            <p:childTnLst>
                              <p:par>
                                <p:cTn id="40" presetID="10" presetClass="entr" presetSubtype="0" fill="hold" nodeType="clickEffect">
                                  <p:stCondLst>
                                    <p:cond delay="0"/>
                                  </p:stCondLst>
                                  <p:childTnLst>
                                    <p:set>
                                      <p:cBhvr>
                                        <p:cTn id="41" dur="1" fill="hold">
                                          <p:stCondLst>
                                            <p:cond delay="0"/>
                                          </p:stCondLst>
                                        </p:cTn>
                                        <p:tgtEl>
                                          <p:spTgt spid="27"/>
                                        </p:tgtEl>
                                        <p:attrNameLst>
                                          <p:attrName>style.visibility</p:attrName>
                                        </p:attrNameLst>
                                      </p:cBhvr>
                                      <p:to>
                                        <p:strVal val="visible"/>
                                      </p:to>
                                    </p:set>
                                    <p:animEffect transition="in" filter="fade">
                                      <p:cBhvr>
                                        <p:cTn id="42" dur="400"/>
                                        <p:tgtEl>
                                          <p:spTgt spid="27"/>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0.xml><?xml version="1.0" encoding="utf-8"?>
<p:sld xmlns:a="http://schemas.openxmlformats.org/drawingml/2006/main" xmlns:r="http://schemas.openxmlformats.org/officeDocument/2006/relationships" xmlns:p="http://schemas.openxmlformats.org/presentationml/2006/main">
  <p:cSld name="Slide 20">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06"/>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20</a:t>
            </a:r>
            <a:endParaRPr lang="en-US" sz="2200" dirty="0"/>
          </a:p>
        </p:txBody>
      </p:sp>
      <p:pic>
        <p:nvPicPr>
          <p:cNvPr id="4" name="brY_607" descr="/home/claude/lls-course/v2/assets/brush-yellow.png">    </p:cNvPr>
          <p:cNvPicPr>
            <a:picLocks noChangeAspect="1"/>
          </p:cNvPicPr>
          <p:nvPr/>
        </p:nvPicPr>
        <p:blipFill>
          <a:blip r:embed="rId2"/>
          <a:stretch>
            <a:fillRect/>
          </a:stretch>
        </p:blipFill>
        <p:spPr>
          <a:xfrm>
            <a:off x="1097280" y="146304"/>
            <a:ext cx="2147011" cy="621792"/>
          </a:xfrm>
          <a:prstGeom prst="rect">
            <a:avLst/>
          </a:prstGeom>
        </p:spPr>
      </p:pic>
      <p:sp>
        <p:nvSpPr>
          <p:cNvPr id="5" name="title_608"/>
          <p:cNvSpPr/>
          <p:nvPr/>
        </p:nvSpPr>
        <p:spPr>
          <a:xfrm>
            <a:off x="1261872" y="164592"/>
            <a:ext cx="1872691"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3 · 2 · 1</a:t>
            </a:r>
            <a:endParaRPr lang="en-US" sz="2500" dirty="0"/>
          </a:p>
        </p:txBody>
      </p:sp>
      <p:pic>
        <p:nvPicPr>
          <p:cNvPr id="6" name="brP_609" descr="/home/claude/lls-course/v2/assets/brush-pink.png">    </p:cNvPr>
          <p:cNvPicPr>
            <a:picLocks noChangeAspect="1"/>
          </p:cNvPicPr>
          <p:nvPr/>
        </p:nvPicPr>
        <p:blipFill>
          <a:blip r:embed="rId3"/>
          <a:stretch>
            <a:fillRect/>
          </a:stretch>
        </p:blipFill>
        <p:spPr>
          <a:xfrm>
            <a:off x="1207008" y="731520"/>
            <a:ext cx="3858768" cy="402336"/>
          </a:xfrm>
          <a:prstGeom prst="rect">
            <a:avLst/>
          </a:prstGeom>
        </p:spPr>
      </p:pic>
      <p:sp>
        <p:nvSpPr>
          <p:cNvPr id="7" name="ins_610"/>
          <p:cNvSpPr/>
          <p:nvPr/>
        </p:nvSpPr>
        <p:spPr>
          <a:xfrm>
            <a:off x="1353312" y="731520"/>
            <a:ext cx="360273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Books closed! What can you remember?</a:t>
            </a:r>
            <a:endParaRPr lang="en-US" sz="1250" dirty="0"/>
          </a:p>
        </p:txBody>
      </p:sp>
      <p:sp>
        <p:nvSpPr>
          <p:cNvPr id="8" name="insIT_61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Libri chiusi! Cosa ricordi?</a:t>
            </a:r>
            <a:endParaRPr lang="en-US" sz="950" dirty="0"/>
          </a:p>
        </p:txBody>
      </p:sp>
      <p:sp>
        <p:nvSpPr>
          <p:cNvPr id="9" name="note_612"/>
          <p:cNvSpPr/>
          <p:nvPr/>
        </p:nvSpPr>
        <p:spPr>
          <a:xfrm rot="180000">
            <a:off x="6382512" y="128016"/>
            <a:ext cx="2029968" cy="74980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2 min   👥 pairs</a:t>
            </a:r>
            <a:endParaRPr lang="en-US" sz="110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Retrieval</a:t>
            </a:r>
            <a:endParaRPr lang="en-US" sz="1100" dirty="0"/>
          </a:p>
        </p:txBody>
      </p:sp>
      <p:pic>
        <p:nvPicPr>
          <p:cNvPr id="10" name="logo_61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1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Exit · what can you remember?</a:t>
            </a:r>
            <a:endParaRPr lang="en-US" sz="800" dirty="0"/>
          </a:p>
        </p:txBody>
      </p:sp>
      <p:sp>
        <p:nvSpPr>
          <p:cNvPr id="12" name="bd_615"/>
          <p:cNvSpPr/>
          <p:nvPr/>
        </p:nvSpPr>
        <p:spPr>
          <a:xfrm>
            <a:off x="457200" y="1508760"/>
            <a:ext cx="777240" cy="777240"/>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3</a:t>
            </a:r>
            <a:endParaRPr lang="en-US" sz="2600" dirty="0"/>
          </a:p>
        </p:txBody>
      </p:sp>
      <p:sp>
        <p:nvSpPr>
          <p:cNvPr id="13" name="rt_616"/>
          <p:cNvSpPr/>
          <p:nvPr/>
        </p:nvSpPr>
        <p:spPr>
          <a:xfrm>
            <a:off x="1417320" y="1581912"/>
            <a:ext cx="3931920" cy="640080"/>
          </a:xfrm>
          <a:prstGeom prst="roundRect">
            <a:avLst>
              <a:gd name="adj" fmla="val 2000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3 phone phrases from today (no looking!)</a:t>
            </a:r>
            <a:endParaRPr lang="en-US" sz="1400" dirty="0"/>
          </a:p>
        </p:txBody>
      </p:sp>
      <p:sp>
        <p:nvSpPr>
          <p:cNvPr id="14" name="bd_617"/>
          <p:cNvSpPr/>
          <p:nvPr/>
        </p:nvSpPr>
        <p:spPr>
          <a:xfrm>
            <a:off x="457200" y="2468880"/>
            <a:ext cx="777240" cy="777240"/>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2</a:t>
            </a:r>
            <a:endParaRPr lang="en-US" sz="2600" dirty="0"/>
          </a:p>
        </p:txBody>
      </p:sp>
      <p:sp>
        <p:nvSpPr>
          <p:cNvPr id="15" name="rt_618"/>
          <p:cNvSpPr/>
          <p:nvPr/>
        </p:nvSpPr>
        <p:spPr>
          <a:xfrm>
            <a:off x="1417320" y="2542032"/>
            <a:ext cx="3931920" cy="640080"/>
          </a:xfrm>
          <a:prstGeom prst="roundRect">
            <a:avLst>
              <a:gd name="adj" fmla="val 2000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2 rules for our class: "You have to… / You mustn't…"</a:t>
            </a:r>
            <a:endParaRPr lang="en-US" sz="1400" dirty="0"/>
          </a:p>
        </p:txBody>
      </p:sp>
      <p:sp>
        <p:nvSpPr>
          <p:cNvPr id="16" name="bd_619"/>
          <p:cNvSpPr/>
          <p:nvPr/>
        </p:nvSpPr>
        <p:spPr>
          <a:xfrm>
            <a:off x="457200" y="3429000"/>
            <a:ext cx="777240" cy="777240"/>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600" dirty="0">
                <a:solidFill>
                  <a:srgbClr val="FFFFFF"/>
                </a:solidFill>
                <a:latin typeface="Arial Rounded MT Bold" pitchFamily="34" charset="0"/>
                <a:ea typeface="Arial Rounded MT Bold" pitchFamily="34" charset="-122"/>
                <a:cs typeface="Arial Rounded MT Bold" pitchFamily="34" charset="-120"/>
              </a:rPr>
              <a:t>1</a:t>
            </a:r>
            <a:endParaRPr lang="en-US" sz="2600" dirty="0"/>
          </a:p>
        </p:txBody>
      </p:sp>
      <p:sp>
        <p:nvSpPr>
          <p:cNvPr id="17" name="rt_620"/>
          <p:cNvSpPr/>
          <p:nvPr/>
        </p:nvSpPr>
        <p:spPr>
          <a:xfrm>
            <a:off x="1417320" y="3502152"/>
            <a:ext cx="3931920" cy="640080"/>
          </a:xfrm>
          <a:prstGeom prst="roundRect">
            <a:avLst>
              <a:gd name="adj" fmla="val 2000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52400" tIns="0" rIns="152400" bIns="0" rtlCol="0" anchor="ctr">
            <a:normAutofit/>
          </a:bodyP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Tell me 1 piece of advice for a friend: "You should…"</a:t>
            </a:r>
            <a:endParaRPr lang="en-US" sz="1400" dirty="0"/>
          </a:p>
        </p:txBody>
      </p:sp>
      <p:sp>
        <p:nvSpPr>
          <p:cNvPr id="18" name="cd_621"/>
          <p:cNvSpPr/>
          <p:nvPr/>
        </p:nvSpPr>
        <p:spPr>
          <a:xfrm>
            <a:off x="5669280" y="1417320"/>
            <a:ext cx="3200400" cy="1689608"/>
          </a:xfrm>
          <a:prstGeom prst="roundRect">
            <a:avLst>
              <a:gd name="adj" fmla="val 7577"/>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9" name="ii_622"/>
          <p:cNvSpPr/>
          <p:nvPr/>
        </p:nvSpPr>
        <p:spPr>
          <a:xfrm>
            <a:off x="576072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20" name="ih_623"/>
          <p:cNvSpPr/>
          <p:nvPr/>
        </p:nvSpPr>
        <p:spPr>
          <a:xfrm>
            <a:off x="6236208" y="1508760"/>
            <a:ext cx="2560320" cy="365760"/>
          </a:xfrm>
          <a:prstGeom prst="rect">
            <a:avLst/>
          </a:prstGeom>
          <a:noFill/>
          <a:ln/>
        </p:spPr>
        <p:txBody>
          <a:bodyPr wrap="square" lIns="0" tIns="0" rIns="0" bIns="0" rtlCol="0" anchor="ctr"/>
          <a:lstStyle/>
          <a:p>
            <a:pPr indent="0" marL="0">
              <a:buNone/>
            </a:pPr>
            <a:r>
              <a:rPr lang="en-US" sz="1400" dirty="0">
                <a:solidFill>
                  <a:srgbClr val="1B2559"/>
                </a:solidFill>
                <a:latin typeface="Arial Rounded MT Bold" pitchFamily="34" charset="0"/>
                <a:ea typeface="Arial Rounded MT Bold" pitchFamily="34" charset="-122"/>
                <a:cs typeface="Arial Rounded MT Bold" pitchFamily="34" charset="-120"/>
              </a:rPr>
              <a:t>Homework · Compiti</a:t>
            </a:r>
            <a:endParaRPr lang="en-US" sz="1400" dirty="0"/>
          </a:p>
        </p:txBody>
      </p:sp>
      <p:sp>
        <p:nvSpPr>
          <p:cNvPr id="21" name="il_624"/>
          <p:cNvSpPr/>
          <p:nvPr/>
        </p:nvSpPr>
        <p:spPr>
          <a:xfrm>
            <a:off x="6236208" y="1911096"/>
            <a:ext cx="2542032" cy="1122680"/>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Workbook 4A: 1a, 1b, 2a, 2b, 3a</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Grammar Bank 4A p.138: a 5–8, b 5–7</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Homework sheet in the LLS app</a:t>
            </a:r>
            <a:endParaRPr lang="en-US" sz="1150" dirty="0"/>
          </a:p>
        </p:txBody>
      </p:sp>
      <p:sp>
        <p:nvSpPr>
          <p:cNvPr id="22" name="st_625"/>
          <p:cNvSpPr/>
          <p:nvPr/>
        </p:nvSpPr>
        <p:spPr>
          <a:xfrm rot="-180000">
            <a:off x="5806440" y="3483864"/>
            <a:ext cx="2926080" cy="685800"/>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100" dirty="0">
                <a:solidFill>
                  <a:srgbClr val="1B2559"/>
                </a:solidFill>
                <a:latin typeface="Arial Rounded MT Bold" pitchFamily="34" charset="0"/>
                <a:ea typeface="Arial Rounded MT Bold" pitchFamily="34" charset="-122"/>
                <a:cs typeface="Arial Rounded MT Bold" pitchFamily="34" charset="-120"/>
              </a:rPr>
              <a:t>Next lesson: 4A part 2 · modern manners · rude relatives?</a:t>
            </a:r>
            <a:endParaRPr lang="en-US" sz="1100" dirty="0"/>
          </a:p>
        </p:txBody>
      </p:sp>
    </p:spTree>
  </p:cSld>
  <p:clrMapOvr>
    <a:masterClrMapping/>
  </p:clrMapOvr>
  <p:transition spd="med">
    <p:push dir="l"/>
  </p:transition>
</p:sld>
</file>

<file path=ppt/slides/slide21.xml><?xml version="1.0" encoding="utf-8"?>
<p:sld xmlns:a="http://schemas.openxmlformats.org/drawingml/2006/main" xmlns:r="http://schemas.openxmlformats.org/officeDocument/2006/relationships" xmlns:p="http://schemas.openxmlformats.org/presentationml/2006/main">
  <p:cSld name="Slide 21">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26"/>
          <p:cNvSpPr/>
          <p:nvPr/>
        </p:nvSpPr>
        <p:spPr>
          <a:xfrm>
            <a:off x="201168" y="164592"/>
            <a:ext cx="841248" cy="841248"/>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21</a:t>
            </a:r>
            <a:endParaRPr lang="en-US" sz="2200" dirty="0"/>
          </a:p>
        </p:txBody>
      </p:sp>
      <p:pic>
        <p:nvPicPr>
          <p:cNvPr id="4" name="brY_627" descr="/home/claude/lls-course/v2/assets/brush-yellow.png">    </p:cNvPr>
          <p:cNvPicPr>
            <a:picLocks noChangeAspect="1"/>
          </p:cNvPicPr>
          <p:nvPr/>
        </p:nvPicPr>
        <p:blipFill>
          <a:blip r:embed="rId2"/>
          <a:stretch>
            <a:fillRect/>
          </a:stretch>
        </p:blipFill>
        <p:spPr>
          <a:xfrm>
            <a:off x="1097280" y="146304"/>
            <a:ext cx="2304288" cy="621792"/>
          </a:xfrm>
          <a:prstGeom prst="rect">
            <a:avLst/>
          </a:prstGeom>
        </p:spPr>
      </p:pic>
      <p:sp>
        <p:nvSpPr>
          <p:cNvPr id="5" name="title_628"/>
          <p:cNvSpPr/>
          <p:nvPr/>
        </p:nvSpPr>
        <p:spPr>
          <a:xfrm>
            <a:off x="1261872" y="164592"/>
            <a:ext cx="2029968" cy="566928"/>
          </a:xfrm>
          <a:prstGeom prst="rect">
            <a:avLst/>
          </a:prstGeom>
          <a:noFill/>
          <a:ln/>
        </p:spPr>
        <p:txBody>
          <a:bodyPr wrap="square" lIns="0" tIns="0" rIns="0" bIns="0" rtlCol="0" anchor="ctr">
            <a:normAutofit/>
          </a:bodyPr>
          <a:lstStyle/>
          <a:p>
            <a:pPr indent="0" marL="0">
              <a:buNone/>
            </a:pPr>
            <a:r>
              <a:rPr lang="en-US" sz="2400" dirty="0">
                <a:solidFill>
                  <a:srgbClr val="1B2559"/>
                </a:solidFill>
                <a:latin typeface="Arial Rounded MT Bold" pitchFamily="34" charset="0"/>
                <a:ea typeface="Arial Rounded MT Bold" pitchFamily="34" charset="-122"/>
                <a:cs typeface="Arial Rounded MT Bold" pitchFamily="34" charset="-120"/>
              </a:rPr>
              <a:t>Today you…</a:t>
            </a:r>
            <a:endParaRPr lang="en-US" sz="2400" dirty="0"/>
          </a:p>
        </p:txBody>
      </p:sp>
      <p:pic>
        <p:nvPicPr>
          <p:cNvPr id="6" name="brP_629" descr="/home/claude/lls-course/v2/assets/brush-pink.png">    </p:cNvPr>
          <p:cNvPicPr>
            <a:picLocks noChangeAspect="1"/>
          </p:cNvPicPr>
          <p:nvPr/>
        </p:nvPicPr>
        <p:blipFill>
          <a:blip r:embed="rId3"/>
          <a:stretch>
            <a:fillRect/>
          </a:stretch>
        </p:blipFill>
        <p:spPr>
          <a:xfrm>
            <a:off x="1207008" y="731520"/>
            <a:ext cx="4553712" cy="402336"/>
          </a:xfrm>
          <a:prstGeom prst="rect">
            <a:avLst/>
          </a:prstGeom>
        </p:spPr>
      </p:pic>
      <p:sp>
        <p:nvSpPr>
          <p:cNvPr id="7" name="ins_630"/>
          <p:cNvSpPr/>
          <p:nvPr/>
        </p:nvSpPr>
        <p:spPr>
          <a:xfrm>
            <a:off x="1353312" y="731520"/>
            <a:ext cx="4297680"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Can you do it now? Thumbs up or thumbs down!</a:t>
            </a:r>
            <a:endParaRPr lang="en-US" sz="1250" dirty="0"/>
          </a:p>
        </p:txBody>
      </p:sp>
      <p:sp>
        <p:nvSpPr>
          <p:cNvPr id="8" name="insIT_631"/>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Ora sai farlo? Pollice su o pollice giù!</a:t>
            </a:r>
            <a:endParaRPr lang="en-US" sz="950" dirty="0"/>
          </a:p>
        </p:txBody>
      </p:sp>
      <p:sp>
        <p:nvSpPr>
          <p:cNvPr id="9" name="note_632"/>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THINK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PENSA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1 min   🙋 whole class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Revision · Reflection</a:t>
            </a:r>
            <a:endParaRPr lang="en-US" sz="1250" dirty="0"/>
          </a:p>
        </p:txBody>
      </p:sp>
      <p:pic>
        <p:nvPicPr>
          <p:cNvPr id="10" name="logo_633"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34"/>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Review · what did you do today?</a:t>
            </a:r>
            <a:endParaRPr lang="en-US" sz="800" dirty="0"/>
          </a:p>
        </p:txBody>
      </p:sp>
      <p:sp>
        <p:nvSpPr>
          <p:cNvPr id="12" name="cd_635"/>
          <p:cNvSpPr/>
          <p:nvPr/>
        </p:nvSpPr>
        <p:spPr>
          <a:xfrm>
            <a:off x="548640" y="1417320"/>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13" name="te_636"/>
          <p:cNvSpPr/>
          <p:nvPr/>
        </p:nvSpPr>
        <p:spPr>
          <a:xfrm>
            <a:off x="640080" y="1453896"/>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4" name="tt_637"/>
          <p:cNvSpPr/>
          <p:nvPr/>
        </p:nvSpPr>
        <p:spPr>
          <a:xfrm>
            <a:off x="1188720" y="1417320"/>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Talked about phones: hang up, on hold…</a:t>
            </a:r>
            <a:endParaRPr lang="en-US" sz="1350" dirty="0"/>
          </a:p>
        </p:txBody>
      </p:sp>
      <p:sp>
        <p:nvSpPr>
          <p:cNvPr id="15" name="R1_tk638"/>
          <p:cNvSpPr/>
          <p:nvPr/>
        </p:nvSpPr>
        <p:spPr>
          <a:xfrm>
            <a:off x="5989320" y="1453896"/>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6" name="cd_639"/>
          <p:cNvSpPr/>
          <p:nvPr/>
        </p:nvSpPr>
        <p:spPr>
          <a:xfrm>
            <a:off x="548640" y="2020824"/>
            <a:ext cx="6035040" cy="530352"/>
          </a:xfrm>
          <a:prstGeom prst="roundRect">
            <a:avLst>
              <a:gd name="adj" fmla="val 24138"/>
            </a:avLst>
          </a:prstGeom>
          <a:solidFill>
            <a:srgbClr val="FFFFFF"/>
          </a:solidFill>
          <a:ln w="28575">
            <a:solidFill>
              <a:srgbClr val="A9D3F5"/>
            </a:solidFill>
            <a:prstDash val="solid"/>
          </a:ln>
          <a:effectLst>
            <a:outerShdw sx="100000" sy="100000" kx="0" ky="0" algn="bl" rotWithShape="0" blurRad="88900" dist="31750" dir="5400000">
              <a:srgbClr val="1B2559">
                <a:alpha val="12000"/>
              </a:srgbClr>
            </a:outerShdw>
          </a:effectLst>
        </p:spPr>
      </p:sp>
      <p:sp>
        <p:nvSpPr>
          <p:cNvPr id="17" name="te_640"/>
          <p:cNvSpPr/>
          <p:nvPr/>
        </p:nvSpPr>
        <p:spPr>
          <a:xfrm>
            <a:off x="640080" y="2057400"/>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18" name="tt_641"/>
          <p:cNvSpPr/>
          <p:nvPr/>
        </p:nvSpPr>
        <p:spPr>
          <a:xfrm>
            <a:off x="1188720" y="2020824"/>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Read about a phone in a concert</a:t>
            </a:r>
            <a:endParaRPr lang="en-US" sz="1350" dirty="0"/>
          </a:p>
        </p:txBody>
      </p:sp>
      <p:sp>
        <p:nvSpPr>
          <p:cNvPr id="19" name="R2_tk642"/>
          <p:cNvSpPr/>
          <p:nvPr/>
        </p:nvSpPr>
        <p:spPr>
          <a:xfrm>
            <a:off x="5989320" y="2057400"/>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0" name="cd_643"/>
          <p:cNvSpPr/>
          <p:nvPr/>
        </p:nvSpPr>
        <p:spPr>
          <a:xfrm>
            <a:off x="548640" y="2624328"/>
            <a:ext cx="6035040" cy="530352"/>
          </a:xfrm>
          <a:prstGeom prst="roundRect">
            <a:avLst>
              <a:gd name="adj" fmla="val 24138"/>
            </a:avLst>
          </a:prstGeom>
          <a:solidFill>
            <a:srgbClr val="FFFFFF"/>
          </a:solidFill>
          <a:ln w="28575">
            <a:solidFill>
              <a:srgbClr val="A8E5BE"/>
            </a:solidFill>
            <a:prstDash val="solid"/>
          </a:ln>
          <a:effectLst>
            <a:outerShdw sx="100000" sy="100000" kx="0" ky="0" algn="bl" rotWithShape="0" blurRad="88900" dist="31750" dir="5400000">
              <a:srgbClr val="1B2559">
                <a:alpha val="12000"/>
              </a:srgbClr>
            </a:outerShdw>
          </a:effectLst>
        </p:spPr>
      </p:sp>
      <p:sp>
        <p:nvSpPr>
          <p:cNvPr id="21" name="te_644"/>
          <p:cNvSpPr/>
          <p:nvPr/>
        </p:nvSpPr>
        <p:spPr>
          <a:xfrm>
            <a:off x="640080" y="2660904"/>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2" name="tt_645"/>
          <p:cNvSpPr/>
          <p:nvPr/>
        </p:nvSpPr>
        <p:spPr>
          <a:xfrm>
            <a:off x="1188720" y="2624328"/>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Made rules: have to, must, should</a:t>
            </a:r>
            <a:endParaRPr lang="en-US" sz="1350" dirty="0"/>
          </a:p>
        </p:txBody>
      </p:sp>
      <p:sp>
        <p:nvSpPr>
          <p:cNvPr id="23" name="R3_tk646"/>
          <p:cNvSpPr/>
          <p:nvPr/>
        </p:nvSpPr>
        <p:spPr>
          <a:xfrm>
            <a:off x="5989320" y="2660904"/>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4" name="cd_647"/>
          <p:cNvSpPr/>
          <p:nvPr/>
        </p:nvSpPr>
        <p:spPr>
          <a:xfrm>
            <a:off x="548640" y="3227832"/>
            <a:ext cx="6035040" cy="530352"/>
          </a:xfrm>
          <a:prstGeom prst="roundRect">
            <a:avLst>
              <a:gd name="adj" fmla="val 24138"/>
            </a:avLst>
          </a:prstGeom>
          <a:solidFill>
            <a:srgbClr val="FFFFFF"/>
          </a:solidFill>
          <a:ln w="28575">
            <a:solidFill>
              <a:srgbClr val="FFE07A"/>
            </a:solidFill>
            <a:prstDash val="solid"/>
          </a:ln>
          <a:effectLst>
            <a:outerShdw sx="100000" sy="100000" kx="0" ky="0" algn="bl" rotWithShape="0" blurRad="88900" dist="31750" dir="5400000">
              <a:srgbClr val="1B2559">
                <a:alpha val="12000"/>
              </a:srgbClr>
            </a:outerShdw>
          </a:effectLst>
        </p:spPr>
      </p:sp>
      <p:sp>
        <p:nvSpPr>
          <p:cNvPr id="25" name="te_648"/>
          <p:cNvSpPr/>
          <p:nvPr/>
        </p:nvSpPr>
        <p:spPr>
          <a:xfrm>
            <a:off x="640080" y="3264408"/>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6" name="tt_649"/>
          <p:cNvSpPr/>
          <p:nvPr/>
        </p:nvSpPr>
        <p:spPr>
          <a:xfrm>
            <a:off x="1188720" y="3227832"/>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Listened to a class story and answered questions</a:t>
            </a:r>
            <a:endParaRPr lang="en-US" sz="1350" dirty="0"/>
          </a:p>
        </p:txBody>
      </p:sp>
      <p:sp>
        <p:nvSpPr>
          <p:cNvPr id="27" name="R4_tk650"/>
          <p:cNvSpPr/>
          <p:nvPr/>
        </p:nvSpPr>
        <p:spPr>
          <a:xfrm>
            <a:off x="5989320" y="3264408"/>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28" name="cd_651"/>
          <p:cNvSpPr/>
          <p:nvPr/>
        </p:nvSpPr>
        <p:spPr>
          <a:xfrm>
            <a:off x="548640" y="3831336"/>
            <a:ext cx="6035040" cy="530352"/>
          </a:xfrm>
          <a:prstGeom prst="roundRect">
            <a:avLst>
              <a:gd name="adj" fmla="val 24138"/>
            </a:avLst>
          </a:prstGeom>
          <a:solidFill>
            <a:srgbClr val="FFFFFF"/>
          </a:solidFill>
          <a:ln w="28575">
            <a:solidFill>
              <a:srgbClr val="F7A6C4"/>
            </a:solidFill>
            <a:prstDash val="solid"/>
          </a:ln>
          <a:effectLst>
            <a:outerShdw sx="100000" sy="100000" kx="0" ky="0" algn="bl" rotWithShape="0" blurRad="88900" dist="31750" dir="5400000">
              <a:srgbClr val="1B2559">
                <a:alpha val="12000"/>
              </a:srgbClr>
            </a:outerShdw>
          </a:effectLst>
        </p:spPr>
      </p:sp>
      <p:sp>
        <p:nvSpPr>
          <p:cNvPr id="29" name="te_652"/>
          <p:cNvSpPr/>
          <p:nvPr/>
        </p:nvSpPr>
        <p:spPr>
          <a:xfrm>
            <a:off x="640080" y="3867912"/>
            <a:ext cx="45720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0" name="tt_653"/>
          <p:cNvSpPr/>
          <p:nvPr/>
        </p:nvSpPr>
        <p:spPr>
          <a:xfrm>
            <a:off x="1188720" y="3831336"/>
            <a:ext cx="4754880" cy="530352"/>
          </a:xfrm>
          <a:prstGeom prst="rect">
            <a:avLst/>
          </a:prstGeom>
          <a:noFill/>
          <a:ln/>
        </p:spPr>
        <p:txBody>
          <a:bodyPr wrap="square" lIns="0" tIns="0" rIns="0" bIns="0" rtlCol="0" anchor="ctr">
            <a:normAutofit/>
          </a:bodyPr>
          <a:lstStyle/>
          <a:p>
            <a:pPr indent="0" marL="0">
              <a:buNone/>
            </a:pPr>
            <a:r>
              <a:rPr lang="en-US" sz="1350" dirty="0">
                <a:solidFill>
                  <a:srgbClr val="1B2559"/>
                </a:solidFill>
                <a:latin typeface="Segoe UI Semibold" pitchFamily="34" charset="0"/>
                <a:ea typeface="Segoe UI Semibold" pitchFamily="34" charset="-122"/>
                <a:cs typeface="Segoe UI Semibold" pitchFamily="34" charset="-120"/>
              </a:rPr>
              <a:t>Played "Describe it!" and "Where am I?"</a:t>
            </a:r>
            <a:endParaRPr lang="en-US" sz="1350" dirty="0"/>
          </a:p>
        </p:txBody>
      </p:sp>
      <p:sp>
        <p:nvSpPr>
          <p:cNvPr id="31" name="R5_tk654"/>
          <p:cNvSpPr/>
          <p:nvPr/>
        </p:nvSpPr>
        <p:spPr>
          <a:xfrm>
            <a:off x="5989320" y="3867912"/>
            <a:ext cx="502920" cy="457200"/>
          </a:xfrm>
          <a:prstGeom prst="rect">
            <a:avLst/>
          </a:prstGeom>
          <a:noFill/>
          <a:ln/>
        </p:spPr>
        <p:txBody>
          <a:bodyPr wrap="square" lIns="0" tIns="0" rIns="0" bIns="0" rtlCol="0" anchor="ctr"/>
          <a:lstStyle/>
          <a:p>
            <a:pPr algn="ctr" indent="0" marL="0">
              <a:buNone/>
            </a:pPr>
            <a:r>
              <a:rPr lang="en-US" sz="1800" dirty="0">
                <a:solidFill>
                  <a:srgbClr val="000000"/>
                </a:solidFill>
              </a:rPr>
              <a:t>✅</a:t>
            </a:r>
            <a:endParaRPr lang="en-US" sz="1800" dirty="0"/>
          </a:p>
        </p:txBody>
      </p:sp>
      <p:sp>
        <p:nvSpPr>
          <p:cNvPr id="32" name="st_655"/>
          <p:cNvSpPr/>
          <p:nvPr/>
        </p:nvSpPr>
        <p:spPr>
          <a:xfrm rot="180000">
            <a:off x="6949440" y="1691640"/>
            <a:ext cx="1828800" cy="1188720"/>
          </a:xfrm>
          <a:prstGeom prst="rect">
            <a:avLst/>
          </a:prstGeom>
          <a:solidFill>
            <a:srgbClr val="FFE07A"/>
          </a:solidFill>
          <a:ln>
            <a:solidFill>
              <a:srgbClr val="FFE07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  👌  👎</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Can you do it now?</a:t>
            </a:r>
            <a:endParaRPr lang="en-US" sz="1300" dirty="0"/>
          </a:p>
          <a:p>
            <a:pPr algn="ct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Ora sai farlo?</a:t>
            </a:r>
            <a:endParaRPr lang="en-US" sz="13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5"/>
                                        </p:tgtEl>
                                        <p:attrNameLst>
                                          <p:attrName>style.visibility</p:attrName>
                                        </p:attrNameLst>
                                      </p:cBhvr>
                                      <p:to>
                                        <p:strVal val="visible"/>
                                      </p:to>
                                    </p:set>
                                    <p:animEffect transition="in" filter="fade">
                                      <p:cBhvr>
                                        <p:cTn id="7" dur="400"/>
                                        <p:tgtEl>
                                          <p:spTgt spid="15"/>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19"/>
                                        </p:tgtEl>
                                        <p:attrNameLst>
                                          <p:attrName>style.visibility</p:attrName>
                                        </p:attrNameLst>
                                      </p:cBhvr>
                                      <p:to>
                                        <p:strVal val="visible"/>
                                      </p:to>
                                    </p:set>
                                    <p:animEffect transition="in" filter="fade">
                                      <p:cBhvr>
                                        <p:cTn id="12" dur="400"/>
                                        <p:tgtEl>
                                          <p:spTgt spid="19"/>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3"/>
                                        </p:tgtEl>
                                        <p:attrNameLst>
                                          <p:attrName>style.visibility</p:attrName>
                                        </p:attrNameLst>
                                      </p:cBhvr>
                                      <p:to>
                                        <p:strVal val="visible"/>
                                      </p:to>
                                    </p:set>
                                    <p:animEffect transition="in" filter="fade">
                                      <p:cBhvr>
                                        <p:cTn id="17" dur="400"/>
                                        <p:tgtEl>
                                          <p:spTgt spid="23"/>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27"/>
                                        </p:tgtEl>
                                        <p:attrNameLst>
                                          <p:attrName>style.visibility</p:attrName>
                                        </p:attrNameLst>
                                      </p:cBhvr>
                                      <p:to>
                                        <p:strVal val="visible"/>
                                      </p:to>
                                    </p:set>
                                    <p:animEffect transition="in" filter="fade">
                                      <p:cBhvr>
                                        <p:cTn id="22" dur="400"/>
                                        <p:tgtEl>
                                          <p:spTgt spid="27"/>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1"/>
                                        </p:tgtEl>
                                        <p:attrNameLst>
                                          <p:attrName>style.visibility</p:attrName>
                                        </p:attrNameLst>
                                      </p:cBhvr>
                                      <p:to>
                                        <p:strVal val="visible"/>
                                      </p:to>
                                    </p:set>
                                    <p:animEffect transition="in" filter="fade">
                                      <p:cBhvr>
                                        <p:cTn id="27" dur="400"/>
                                        <p:tgtEl>
                                          <p:spTgt spid="31"/>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2.xml><?xml version="1.0" encoding="utf-8"?>
<p:sld xmlns:a="http://schemas.openxmlformats.org/drawingml/2006/main" xmlns:r="http://schemas.openxmlformats.org/officeDocument/2006/relationships" xmlns:p="http://schemas.openxmlformats.org/presentationml/2006/main">
  <p:cSld name="Slide 22">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dv_656"/>
          <p:cNvSpPr/>
          <p:nvPr/>
        </p:nvSpPr>
        <p:spPr>
          <a:xfrm>
            <a:off x="4023360" y="914400"/>
            <a:ext cx="1097280" cy="914400"/>
          </a:xfrm>
          <a:prstGeom prst="rect">
            <a:avLst/>
          </a:prstGeom>
          <a:noFill/>
          <a:ln/>
        </p:spPr>
        <p:txBody>
          <a:bodyPr wrap="square" lIns="0" tIns="0" rIns="0" bIns="0" rtlCol="0" anchor="ctr"/>
          <a:lstStyle/>
          <a:p>
            <a:pPr algn="ctr" indent="0" marL="0">
              <a:buNone/>
            </a:pPr>
            <a:r>
              <a:rPr lang="en-US" sz="5400" dirty="0">
                <a:solidFill>
                  <a:srgbClr val="000000"/>
                </a:solidFill>
              </a:rPr>
              <a:t>⭐</a:t>
            </a:r>
            <a:endParaRPr lang="en-US" sz="5400" dirty="0"/>
          </a:p>
        </p:txBody>
      </p:sp>
      <p:sp>
        <p:nvSpPr>
          <p:cNvPr id="4" name="dvt_657"/>
          <p:cNvSpPr/>
          <p:nvPr/>
        </p:nvSpPr>
        <p:spPr>
          <a:xfrm>
            <a:off x="914400" y="1828800"/>
            <a:ext cx="7315200" cy="731520"/>
          </a:xfrm>
          <a:prstGeom prst="rect">
            <a:avLst/>
          </a:prstGeom>
          <a:noFill/>
          <a:ln/>
        </p:spPr>
        <p:txBody>
          <a:bodyPr wrap="square" lIns="0" tIns="0" rIns="0" bIns="0" rtlCol="0" anchor="ctr"/>
          <a:lstStyle/>
          <a:p>
            <a:pPr algn="ctr" indent="0" marL="0">
              <a:buNone/>
            </a:pPr>
            <a:r>
              <a:rPr lang="en-US" sz="3400" dirty="0">
                <a:solidFill>
                  <a:srgbClr val="1B2559"/>
                </a:solidFill>
                <a:latin typeface="Arial Rounded MT Bold" pitchFamily="34" charset="0"/>
                <a:ea typeface="Arial Rounded MT Bold" pitchFamily="34" charset="-122"/>
                <a:cs typeface="Arial Rounded MT Bold" pitchFamily="34" charset="-120"/>
              </a:rPr>
              <a:t>Optional extensions</a:t>
            </a:r>
            <a:endParaRPr lang="en-US" sz="3400" dirty="0"/>
          </a:p>
        </p:txBody>
      </p:sp>
      <p:sp>
        <p:nvSpPr>
          <p:cNvPr id="5" name="dvs_658"/>
          <p:cNvSpPr/>
          <p:nvPr/>
        </p:nvSpPr>
        <p:spPr>
          <a:xfrm>
            <a:off x="914400" y="2606040"/>
            <a:ext cx="7315200" cy="457200"/>
          </a:xfrm>
          <a:prstGeom prst="rect">
            <a:avLst/>
          </a:prstGeom>
          <a:noFill/>
          <a:ln/>
        </p:spPr>
        <p:txBody>
          <a:bodyPr wrap="square" lIns="0" tIns="0" rIns="0" bIns="0" rtlCol="0" anchor="ctr"/>
          <a:lstStyle/>
          <a:p>
            <a:pPr algn="ctr" indent="0" marL="0">
              <a:buNone/>
            </a:pPr>
            <a:r>
              <a:rPr lang="en-US" sz="1250" i="1" dirty="0">
                <a:solidFill>
                  <a:srgbClr val="5B6785"/>
                </a:solidFill>
                <a:latin typeface="Segoe UI Semibold" pitchFamily="34" charset="0"/>
                <a:ea typeface="Segoe UI Semibold" pitchFamily="34" charset="-122"/>
                <a:cs typeface="Segoe UI Semibold" pitchFamily="34" charset="-120"/>
              </a:rPr>
              <a:t>Only if there's time – the lesson is finished. · Solo se c'è tempo – la lezione è finita.</a:t>
            </a:r>
            <a:endParaRPr lang="en-US" sz="1250" dirty="0"/>
          </a:p>
        </p:txBody>
      </p:sp>
      <p:pic>
        <p:nvPicPr>
          <p:cNvPr id="6" name="logo_659" descr="/home/claude/lls-course/v2/img/logo.png">    </p:cNvPr>
          <p:cNvPicPr>
            <a:picLocks noChangeAspect="1"/>
          </p:cNvPicPr>
          <p:nvPr/>
        </p:nvPicPr>
        <p:blipFill>
          <a:blip r:embed="rId2"/>
          <a:stretch>
            <a:fillRect/>
          </a:stretch>
        </p:blipFill>
        <p:spPr>
          <a:xfrm>
            <a:off x="8485632" y="4526280"/>
            <a:ext cx="502920" cy="502920"/>
          </a:xfrm>
          <a:prstGeom prst="rect">
            <a:avLst/>
          </a:prstGeom>
        </p:spPr>
      </p:pic>
    </p:spTree>
  </p:cSld>
  <p:clrMapOvr>
    <a:masterClrMapping/>
  </p:clrMapOvr>
  <p:transition spd="med">
    <p:push dir="l"/>
  </p:transition>
</p:sld>
</file>

<file path=ppt/slides/slide23.xml><?xml version="1.0" encoding="utf-8"?>
<p:sld xmlns:a="http://schemas.openxmlformats.org/drawingml/2006/main" xmlns:r="http://schemas.openxmlformats.org/officeDocument/2006/relationships" xmlns:p="http://schemas.openxmlformats.org/presentationml/2006/main">
  <p:cSld name="Slide 23">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60"/>
          <p:cNvSpPr/>
          <p:nvPr/>
        </p:nvSpPr>
        <p:spPr>
          <a:xfrm>
            <a:off x="201168" y="164592"/>
            <a:ext cx="841248" cy="841248"/>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23</a:t>
            </a:r>
            <a:endParaRPr lang="en-US" sz="2200" dirty="0"/>
          </a:p>
        </p:txBody>
      </p:sp>
      <p:pic>
        <p:nvPicPr>
          <p:cNvPr id="4" name="brY_661" descr="/home/claude/lls-course/v2/assets/brush-yellow.png">    </p:cNvPr>
          <p:cNvPicPr>
            <a:picLocks noChangeAspect="1"/>
          </p:cNvPicPr>
          <p:nvPr/>
        </p:nvPicPr>
        <p:blipFill>
          <a:blip r:embed="rId2"/>
          <a:stretch>
            <a:fillRect/>
          </a:stretch>
        </p:blipFill>
        <p:spPr>
          <a:xfrm>
            <a:off x="1097280" y="146304"/>
            <a:ext cx="5292547" cy="621792"/>
          </a:xfrm>
          <a:prstGeom prst="rect">
            <a:avLst/>
          </a:prstGeom>
        </p:spPr>
      </p:pic>
      <p:sp>
        <p:nvSpPr>
          <p:cNvPr id="5" name="title_662"/>
          <p:cNvSpPr/>
          <p:nvPr/>
        </p:nvSpPr>
        <p:spPr>
          <a:xfrm>
            <a:off x="1261872" y="164592"/>
            <a:ext cx="5018227" cy="566928"/>
          </a:xfrm>
          <a:prstGeom prst="rect">
            <a:avLst/>
          </a:prstGeom>
          <a:noFill/>
          <a:ln/>
        </p:spPr>
        <p:txBody>
          <a:bodyPr wrap="square" lIns="0" tIns="0" rIns="0" bIns="0" rtlCol="0" anchor="ctr">
            <a:normAutofit/>
          </a:bodyPr>
          <a:lstStyle/>
          <a:p>
            <a:pPr indent="0" marL="0">
              <a:buNone/>
            </a:pPr>
            <a:r>
              <a:rPr lang="en-US" sz="2500" dirty="0">
                <a:solidFill>
                  <a:srgbClr val="1B2559"/>
                </a:solidFill>
                <a:latin typeface="Arial Rounded MT Bold" pitchFamily="34" charset="0"/>
                <a:ea typeface="Arial Rounded MT Bold" pitchFamily="34" charset="-122"/>
                <a:cs typeface="Arial Rounded MT Bold" pitchFamily="34" charset="-120"/>
              </a:rPr>
              <a:t>Can you think of a situation?</a:t>
            </a:r>
            <a:endParaRPr lang="en-US" sz="2500" dirty="0"/>
          </a:p>
        </p:txBody>
      </p:sp>
      <p:pic>
        <p:nvPicPr>
          <p:cNvPr id="6" name="brP_663" descr="/home/claude/lls-course/v2/assets/brush-pink.png">    </p:cNvPr>
          <p:cNvPicPr>
            <a:picLocks noChangeAspect="1"/>
          </p:cNvPicPr>
          <p:nvPr/>
        </p:nvPicPr>
        <p:blipFill>
          <a:blip r:embed="rId3"/>
          <a:stretch>
            <a:fillRect/>
          </a:stretch>
        </p:blipFill>
        <p:spPr>
          <a:xfrm>
            <a:off x="1207008" y="731520"/>
            <a:ext cx="3945636" cy="402336"/>
          </a:xfrm>
          <a:prstGeom prst="rect">
            <a:avLst/>
          </a:prstGeom>
        </p:spPr>
      </p:pic>
      <p:sp>
        <p:nvSpPr>
          <p:cNvPr id="7" name="ins_664"/>
          <p:cNvSpPr/>
          <p:nvPr/>
        </p:nvSpPr>
        <p:spPr>
          <a:xfrm>
            <a:off x="1353312" y="731520"/>
            <a:ext cx="3689604"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Think of a situation. Tell a partner.</a:t>
            </a:r>
            <a:endParaRPr lang="en-US" sz="1250" dirty="0"/>
          </a:p>
        </p:txBody>
      </p:sp>
      <p:sp>
        <p:nvSpPr>
          <p:cNvPr id="8" name="insIT_665"/>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Pensa a una situazione. Dillo al compagno.</a:t>
            </a:r>
            <a:endParaRPr lang="en-US" sz="950" dirty="0"/>
          </a:p>
        </p:txBody>
      </p:sp>
      <p:sp>
        <p:nvSpPr>
          <p:cNvPr id="9" name="note_666"/>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TALK</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PARLA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3 min   👥 pairs</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Speaking · Communicative</a:t>
            </a:r>
            <a:endParaRPr lang="en-US" sz="1250" dirty="0"/>
          </a:p>
        </p:txBody>
      </p:sp>
      <p:pic>
        <p:nvPicPr>
          <p:cNvPr id="10" name="logo_667"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68"/>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Speaking · situations   ·   📖 SB p.36 · 2e</a:t>
            </a:r>
            <a:endParaRPr lang="en-US" sz="800" dirty="0"/>
          </a:p>
        </p:txBody>
      </p:sp>
      <p:sp>
        <p:nvSpPr>
          <p:cNvPr id="12" name="ext_669"/>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pf_670"/>
          <p:cNvSpPr/>
          <p:nvPr/>
        </p:nvSpPr>
        <p:spPr>
          <a:xfrm rot="-120000">
            <a:off x="320040" y="1371600"/>
            <a:ext cx="2788920" cy="1325880"/>
          </a:xfrm>
          <a:prstGeom prst="roundRect">
            <a:avLst>
              <a:gd name="adj" fmla="val 117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4" name="ph_671" descr="/home/claude/lls-course/v2/cache/4a1_library_jpg_649x297_31.png">    </p:cNvPr>
          <p:cNvPicPr>
            <a:picLocks noChangeAspect="1"/>
          </p:cNvPicPr>
          <p:nvPr/>
        </p:nvPicPr>
        <p:blipFill>
          <a:blip r:embed="rId5"/>
          <a:stretch>
            <a:fillRect/>
          </a:stretch>
        </p:blipFill>
        <p:spPr>
          <a:xfrm rot="-120000">
            <a:off x="365760" y="1417320"/>
            <a:ext cx="2697480" cy="1234440"/>
          </a:xfrm>
          <a:prstGeom prst="rect">
            <a:avLst/>
          </a:prstGeom>
        </p:spPr>
      </p:pic>
      <p:sp>
        <p:nvSpPr>
          <p:cNvPr id="15" name="cd_672"/>
          <p:cNvSpPr/>
          <p:nvPr/>
        </p:nvSpPr>
        <p:spPr>
          <a:xfrm>
            <a:off x="320040" y="2880360"/>
            <a:ext cx="2788920" cy="1239520"/>
          </a:xfrm>
          <a:prstGeom prst="roundRect">
            <a:avLst>
              <a:gd name="adj" fmla="val 1032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6" name="ii_673"/>
          <p:cNvSpPr/>
          <p:nvPr/>
        </p:nvSpPr>
        <p:spPr>
          <a:xfrm>
            <a:off x="411480" y="295351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7" name="ih_674"/>
          <p:cNvSpPr/>
          <p:nvPr/>
        </p:nvSpPr>
        <p:spPr>
          <a:xfrm>
            <a:off x="886968" y="2971800"/>
            <a:ext cx="214884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Useful phrases</a:t>
            </a:r>
            <a:endParaRPr lang="en-US" sz="1300" dirty="0"/>
          </a:p>
        </p:txBody>
      </p:sp>
      <p:sp>
        <p:nvSpPr>
          <p:cNvPr id="18" name="il_675"/>
          <p:cNvSpPr/>
          <p:nvPr/>
        </p:nvSpPr>
        <p:spPr>
          <a:xfrm>
            <a:off x="886968" y="3374136"/>
            <a:ext cx="2130552" cy="672592"/>
          </a:xfrm>
          <a:prstGeom prst="rect">
            <a:avLst/>
          </a:prstGeom>
          <a:noFill/>
          <a:ln/>
        </p:spPr>
        <p:txBody>
          <a:bodyPr wrap="square" lIns="0" tIns="0" rIns="0" bIns="0" rtlCol="0" anchor="t">
            <a:normAutofit/>
          </a:bodyPr>
          <a:lstStyle/>
          <a:p>
            <a:pPr marL="152400" indent="-152400">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You have to… when…</a:t>
            </a:r>
            <a:endParaRPr lang="en-US" sz="1150" dirty="0"/>
          </a:p>
          <a:p>
            <a:pPr marL="152400" indent="-152400">
              <a:spcBef>
                <a:spcPts val="600"/>
              </a:spcBef>
              <a:spcAft>
                <a:spcPts val="200"/>
              </a:spcAft>
              <a:buSzPct val="100000"/>
              <a:buChar char="•"/>
            </a:pPr>
            <a:r>
              <a:rPr lang="en-US" sz="1150" dirty="0">
                <a:solidFill>
                  <a:srgbClr val="1B2559"/>
                </a:solidFill>
                <a:latin typeface="Segoe UI Semibold" pitchFamily="34" charset="0"/>
                <a:ea typeface="Segoe UI Semibold" pitchFamily="34" charset="-122"/>
                <a:cs typeface="Segoe UI Semibold" pitchFamily="34" charset="-120"/>
              </a:rPr>
              <a:t>You shouldn't… because…</a:t>
            </a:r>
            <a:endParaRPr lang="en-US" sz="1150" dirty="0"/>
          </a:p>
        </p:txBody>
      </p:sp>
      <p:sp>
        <p:nvSpPr>
          <p:cNvPr id="19" name="R1_qb676"/>
          <p:cNvSpPr/>
          <p:nvPr/>
        </p:nvSpPr>
        <p:spPr>
          <a:xfrm>
            <a:off x="3273552" y="1453896"/>
            <a:ext cx="329184" cy="329184"/>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1</a:t>
            </a:r>
            <a:endParaRPr lang="en-US" sz="1100" dirty="0"/>
          </a:p>
        </p:txBody>
      </p:sp>
      <p:sp>
        <p:nvSpPr>
          <p:cNvPr id="20" name="R1_sq677"/>
          <p:cNvSpPr/>
          <p:nvPr/>
        </p:nvSpPr>
        <p:spPr>
          <a:xfrm>
            <a:off x="3675888" y="1417320"/>
            <a:ext cx="5193792" cy="530352"/>
          </a:xfrm>
          <a:prstGeom prst="roundRect">
            <a:avLst>
              <a:gd name="adj" fmla="val 20690"/>
            </a:avLst>
          </a:prstGeom>
          <a:solidFill>
            <a:srgbClr val="FFFFFF"/>
          </a:solidFill>
          <a:ln w="28575">
            <a:solidFill>
              <a:srgbClr val="F7A6C4"/>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When do you have to switch off your phone?</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On a plane, during take-off and landing.</a:t>
            </a:r>
            <a:endParaRPr lang="en-US" sz="1050" dirty="0"/>
          </a:p>
        </p:txBody>
      </p:sp>
      <p:sp>
        <p:nvSpPr>
          <p:cNvPr id="21" name="R2_qb678"/>
          <p:cNvSpPr/>
          <p:nvPr/>
        </p:nvSpPr>
        <p:spPr>
          <a:xfrm>
            <a:off x="3273552" y="2057400"/>
            <a:ext cx="329184" cy="329184"/>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2</a:t>
            </a:r>
            <a:endParaRPr lang="en-US" sz="1100" dirty="0"/>
          </a:p>
        </p:txBody>
      </p:sp>
      <p:sp>
        <p:nvSpPr>
          <p:cNvPr id="22" name="R2_sq679"/>
          <p:cNvSpPr/>
          <p:nvPr/>
        </p:nvSpPr>
        <p:spPr>
          <a:xfrm>
            <a:off x="3675888" y="2020824"/>
            <a:ext cx="5193792" cy="530352"/>
          </a:xfrm>
          <a:prstGeom prst="roundRect">
            <a:avLst>
              <a:gd name="adj" fmla="val 20690"/>
            </a:avLst>
          </a:prstGeom>
          <a:solidFill>
            <a:srgbClr val="FFFFFF"/>
          </a:solidFill>
          <a:ln w="28575">
            <a:solidFill>
              <a:srgbClr val="A9D3F5"/>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50" dirty="0">
                <a:solidFill>
                  <a:srgbClr val="1B2559"/>
                </a:solidFill>
                <a:latin typeface="Segoe UI Semibold" pitchFamily="34" charset="0"/>
                <a:ea typeface="Segoe UI Semibold" pitchFamily="34" charset="-122"/>
                <a:cs typeface="Segoe UI Semibold" pitchFamily="34" charset="-120"/>
              </a:rPr>
              <a:t>When shouldn't you use your phone?</a:t>
            </a:r>
            <a:endParaRPr lang="en-US" sz="1050" dirty="0"/>
          </a:p>
          <a:p>
            <a:pPr indent="0" marL="0">
              <a:buNone/>
            </a:pPr>
            <a:r>
              <a:rPr lang="en-US" sz="850" i="1" dirty="0">
                <a:solidFill>
                  <a:srgbClr val="5B6785"/>
                </a:solidFill>
                <a:latin typeface="Segoe UI Semibold" pitchFamily="34" charset="0"/>
                <a:ea typeface="Segoe UI Semibold" pitchFamily="34" charset="-122"/>
                <a:cs typeface="Segoe UI Semibold" pitchFamily="34" charset="-120"/>
              </a:rPr>
              <a:t>e.g. At dinner with your family – it's rude.</a:t>
            </a:r>
            <a:endParaRPr lang="en-US" sz="1050" dirty="0"/>
          </a:p>
        </p:txBody>
      </p:sp>
      <p:sp>
        <p:nvSpPr>
          <p:cNvPr id="23" name="R3_qb680"/>
          <p:cNvSpPr/>
          <p:nvPr/>
        </p:nvSpPr>
        <p:spPr>
          <a:xfrm>
            <a:off x="3273552" y="2660904"/>
            <a:ext cx="329184" cy="329184"/>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100" dirty="0">
                <a:solidFill>
                  <a:srgbClr val="FFFFFF"/>
                </a:solidFill>
                <a:latin typeface="Arial Rounded MT Bold" pitchFamily="34" charset="0"/>
                <a:ea typeface="Arial Rounded MT Bold" pitchFamily="34" charset="-122"/>
                <a:cs typeface="Arial Rounded MT Bold" pitchFamily="34" charset="-120"/>
              </a:rPr>
              <a:t>3</a:t>
            </a:r>
            <a:endParaRPr lang="en-US" sz="1100" dirty="0"/>
          </a:p>
        </p:txBody>
      </p:sp>
      <p:sp>
        <p:nvSpPr>
          <p:cNvPr id="24" name="R3_sq681"/>
          <p:cNvSpPr/>
          <p:nvPr/>
        </p:nvSpPr>
        <p:spPr>
          <a:xfrm>
            <a:off x="3675888" y="2624328"/>
            <a:ext cx="5193792" cy="530352"/>
          </a:xfrm>
          <a:prstGeom prst="roundRect">
            <a:avLst>
              <a:gd name="adj" fmla="val 20690"/>
            </a:avLst>
          </a:prstGeom>
          <a:solidFill>
            <a:srgbClr val="FFFFFF"/>
          </a:solidFill>
          <a:ln w="28575">
            <a:solidFill>
              <a:srgbClr val="A8E5BE"/>
            </a:solidFill>
          </a:ln>
          <a:effectLst>
            <a:outerShdw sx="100000" sy="100000" kx="0" ky="0" algn="bl" rotWithShape="0" blurRad="88900" dist="31750" dir="5400000">
              <a:srgbClr val="1B2559">
                <a:alpha val="8000"/>
              </a:srgbClr>
            </a:outerShdw>
          </a:effectLst>
        </p:spPr>
        <p:txBody>
          <a:bodyPr wrap="square" lIns="127000" tIns="25400" rIns="127000" bIns="25400" rtlCol="0" anchor="ctr">
            <a:normAutofit/>
          </a:bodyPr>
          <a:lstStyle/>
          <a:p>
            <a:pPr indent="0" marL="0">
              <a:buNone/>
            </a:pPr>
            <a:r>
              <a:rPr lang="en-US" sz="1000" dirty="0">
                <a:solidFill>
                  <a:srgbClr val="1B2559"/>
                </a:solidFill>
                <a:latin typeface="Segoe UI Semibold" pitchFamily="34" charset="0"/>
                <a:ea typeface="Segoe UI Semibold" pitchFamily="34" charset="-122"/>
                <a:cs typeface="Segoe UI Semibold" pitchFamily="34" charset="-120"/>
              </a:rPr>
              <a:t>Where mustn't you use your phone, but you don't have to switch it off?</a:t>
            </a:r>
            <a:endParaRPr lang="en-US" sz="1000" dirty="0"/>
          </a:p>
          <a:p>
            <a:pPr indent="0" marL="0">
              <a:buNone/>
            </a:pPr>
            <a:r>
              <a:rPr lang="en-US" sz="800" i="1" dirty="0">
                <a:solidFill>
                  <a:srgbClr val="5B6785"/>
                </a:solidFill>
                <a:latin typeface="Segoe UI Semibold" pitchFamily="34" charset="0"/>
                <a:ea typeface="Segoe UI Semibold" pitchFamily="34" charset="-122"/>
                <a:cs typeface="Segoe UI Semibold" pitchFamily="34" charset="-120"/>
              </a:rPr>
              <a:t>e.g. In the cinema – you can put it on silent.</a:t>
            </a:r>
            <a:endParaRPr lang="en-US" sz="100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19"/>
                                        </p:tgtEl>
                                        <p:attrNameLst>
                                          <p:attrName>style.visibility</p:attrName>
                                        </p:attrNameLst>
                                      </p:cBhvr>
                                      <p:to>
                                        <p:strVal val="visible"/>
                                      </p:to>
                                    </p:set>
                                    <p:animEffect transition="in" filter="fade">
                                      <p:cBhvr>
                                        <p:cTn id="7" dur="400"/>
                                        <p:tgtEl>
                                          <p:spTgt spid="19"/>
                                        </p:tgtEl>
                                      </p:cBhvr>
                                    </p:animEffect>
                                  </p:childTnLst>
                                </p:cTn>
                              </p:par>
                              <p:par>
                                <p:cTn id="8" presetID="10" presetClass="entr" presetSubtype="0" fill="hold" nodeType="withEffect">
                                  <p:stCondLst>
                                    <p:cond delay="0"/>
                                  </p:stCondLst>
                                  <p:childTnLst>
                                    <p:set>
                                      <p:cBhvr>
                                        <p:cTn id="9" dur="1" fill="hold">
                                          <p:stCondLst>
                                            <p:cond delay="0"/>
                                          </p:stCondLst>
                                        </p:cTn>
                                        <p:tgtEl>
                                          <p:spTgt spid="20"/>
                                        </p:tgtEl>
                                        <p:attrNameLst>
                                          <p:attrName>style.visibility</p:attrName>
                                        </p:attrNameLst>
                                      </p:cBhvr>
                                      <p:to>
                                        <p:strVal val="visible"/>
                                      </p:to>
                                    </p:set>
                                    <p:animEffect transition="in" filter="fade">
                                      <p:cBhvr>
                                        <p:cTn id="10" dur="400"/>
                                        <p:tgtEl>
                                          <p:spTgt spid="20"/>
                                        </p:tgtEl>
                                      </p:cBhvr>
                                    </p:animEffect>
                                  </p:childTnLst>
                                </p:cTn>
                              </p:par>
                            </p:childTnLst>
                          </p:cTn>
                        </p:par>
                      </p:childTnLst>
                    </p:cTn>
                  </p:par>
                  <p:par>
                    <p:cTn id="11" fill="hold">
                      <p:stCondLst>
                        <p:cond delay="indefinite"/>
                      </p:stCondLst>
                      <p:childTnLst>
                        <p:par>
                          <p:cTn id="12" fill="hold">
                            <p:stCondLst>
                              <p:cond delay="0"/>
                            </p:stCondLst>
                            <p:childTnLst>
                              <p:par>
                                <p:cTn id="13" presetID="10" presetClass="entr" presetSubtype="0" fill="hold" nodeType="clickEffect">
                                  <p:stCondLst>
                                    <p:cond delay="0"/>
                                  </p:stCondLst>
                                  <p:childTnLst>
                                    <p:set>
                                      <p:cBhvr>
                                        <p:cTn id="14" dur="1" fill="hold">
                                          <p:stCondLst>
                                            <p:cond delay="0"/>
                                          </p:stCondLst>
                                        </p:cTn>
                                        <p:tgtEl>
                                          <p:spTgt spid="21"/>
                                        </p:tgtEl>
                                        <p:attrNameLst>
                                          <p:attrName>style.visibility</p:attrName>
                                        </p:attrNameLst>
                                      </p:cBhvr>
                                      <p:to>
                                        <p:strVal val="visible"/>
                                      </p:to>
                                    </p:set>
                                    <p:animEffect transition="in" filter="fade">
                                      <p:cBhvr>
                                        <p:cTn id="15" dur="400"/>
                                        <p:tgtEl>
                                          <p:spTgt spid="21"/>
                                        </p:tgtEl>
                                      </p:cBhvr>
                                    </p:animEffect>
                                  </p:childTnLst>
                                </p:cTn>
                              </p:par>
                              <p:par>
                                <p:cTn id="16" presetID="10" presetClass="entr" presetSubtype="0" fill="hold" nodeType="withEffect">
                                  <p:stCondLst>
                                    <p:cond delay="0"/>
                                  </p:stCondLst>
                                  <p:childTnLst>
                                    <p:set>
                                      <p:cBhvr>
                                        <p:cTn id="17" dur="1" fill="hold">
                                          <p:stCondLst>
                                            <p:cond delay="0"/>
                                          </p:stCondLst>
                                        </p:cTn>
                                        <p:tgtEl>
                                          <p:spTgt spid="22"/>
                                        </p:tgtEl>
                                        <p:attrNameLst>
                                          <p:attrName>style.visibility</p:attrName>
                                        </p:attrNameLst>
                                      </p:cBhvr>
                                      <p:to>
                                        <p:strVal val="visible"/>
                                      </p:to>
                                    </p:set>
                                    <p:animEffect transition="in" filter="fade">
                                      <p:cBhvr>
                                        <p:cTn id="18" dur="400"/>
                                        <p:tgtEl>
                                          <p:spTgt spid="22"/>
                                        </p:tgtEl>
                                      </p:cBhvr>
                                    </p:animEffect>
                                  </p:childTnLst>
                                </p:cTn>
                              </p:par>
                            </p:childTnLst>
                          </p:cTn>
                        </p:par>
                      </p:childTnLst>
                    </p:cTn>
                  </p:par>
                  <p:par>
                    <p:cTn id="19" fill="hold">
                      <p:stCondLst>
                        <p:cond delay="indefinite"/>
                      </p:stCondLst>
                      <p:childTnLst>
                        <p:par>
                          <p:cTn id="20" fill="hold">
                            <p:stCondLst>
                              <p:cond delay="0"/>
                            </p:stCondLst>
                            <p:childTnLst>
                              <p:par>
                                <p:cTn id="21" presetID="10" presetClass="entr" presetSubtype="0" fill="hold" nodeType="clickEffect">
                                  <p:stCondLst>
                                    <p:cond delay="0"/>
                                  </p:stCondLst>
                                  <p:childTnLst>
                                    <p:set>
                                      <p:cBhvr>
                                        <p:cTn id="22" dur="1" fill="hold">
                                          <p:stCondLst>
                                            <p:cond delay="0"/>
                                          </p:stCondLst>
                                        </p:cTn>
                                        <p:tgtEl>
                                          <p:spTgt spid="23"/>
                                        </p:tgtEl>
                                        <p:attrNameLst>
                                          <p:attrName>style.visibility</p:attrName>
                                        </p:attrNameLst>
                                      </p:cBhvr>
                                      <p:to>
                                        <p:strVal val="visible"/>
                                      </p:to>
                                    </p:set>
                                    <p:animEffect transition="in" filter="fade">
                                      <p:cBhvr>
                                        <p:cTn id="23" dur="400"/>
                                        <p:tgtEl>
                                          <p:spTgt spid="23"/>
                                        </p:tgtEl>
                                      </p:cBhvr>
                                    </p:animEffect>
                                  </p:childTnLst>
                                </p:cTn>
                              </p:par>
                              <p:par>
                                <p:cTn id="24" presetID="10" presetClass="entr" presetSubtype="0" fill="hold" nodeType="withEffect">
                                  <p:stCondLst>
                                    <p:cond delay="0"/>
                                  </p:stCondLst>
                                  <p:childTnLst>
                                    <p:set>
                                      <p:cBhvr>
                                        <p:cTn id="25" dur="1" fill="hold">
                                          <p:stCondLst>
                                            <p:cond delay="0"/>
                                          </p:stCondLst>
                                        </p:cTn>
                                        <p:tgtEl>
                                          <p:spTgt spid="24"/>
                                        </p:tgtEl>
                                        <p:attrNameLst>
                                          <p:attrName>style.visibility</p:attrName>
                                        </p:attrNameLst>
                                      </p:cBhvr>
                                      <p:to>
                                        <p:strVal val="visible"/>
                                      </p:to>
                                    </p:set>
                                    <p:animEffect transition="in" filter="fade">
                                      <p:cBhvr>
                                        <p:cTn id="26" dur="400"/>
                                        <p:tgtEl>
                                          <p:spTgt spid="24"/>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slides/slide24.xml><?xml version="1.0" encoding="utf-8"?>
<p:sld xmlns:a="http://schemas.openxmlformats.org/drawingml/2006/main" xmlns:r="http://schemas.openxmlformats.org/officeDocument/2006/relationships" xmlns:p="http://schemas.openxmlformats.org/presentationml/2006/main">
  <p:cSld name="Slide 24">
    <p:bg>
      <p:bgPr>
        <a:blipFill dpi="0" rotWithShape="1">
          <a:blip r:embed="rId1">
            <a:lum/>
          </a:blip>
          <a:srcRect/>
          <a:stretch>
            <a:fillRect/>
          </a:stretch>
        </a:blipFill>
        <a:effectLst/>
      </p:bgPr>
    </p:bg>
    <p:spTree>
      <p:nvGrpSpPr>
        <p:cNvPr id="2" name=""/>
        <p:cNvGrpSpPr/>
        <p:nvPr/>
      </p:nvGrpSpPr>
      <p:grpSpPr>
        <a:xfrm>
          <a:off x="0" y="0"/>
          <a:ext cx="0" cy="0"/>
          <a:chOff x="0" y="0"/>
          <a:chExt cx="0" cy="0"/>
        </a:xfrm>
      </p:grpSpPr>
      <p:sp>
        <p:nvSpPr>
          <p:cNvPr id="3" name="bd_682"/>
          <p:cNvSpPr/>
          <p:nvPr/>
        </p:nvSpPr>
        <p:spPr>
          <a:xfrm>
            <a:off x="201168" y="164592"/>
            <a:ext cx="841248" cy="841248"/>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2200" dirty="0">
                <a:solidFill>
                  <a:srgbClr val="FFFFFF"/>
                </a:solidFill>
                <a:latin typeface="Arial Rounded MT Bold" pitchFamily="34" charset="0"/>
                <a:ea typeface="Arial Rounded MT Bold" pitchFamily="34" charset="-122"/>
                <a:cs typeface="Arial Rounded MT Bold" pitchFamily="34" charset="-120"/>
              </a:rPr>
              <a:t>24</a:t>
            </a:r>
            <a:endParaRPr lang="en-US" sz="2200" dirty="0"/>
          </a:p>
        </p:txBody>
      </p:sp>
      <p:pic>
        <p:nvPicPr>
          <p:cNvPr id="4" name="brY_683" descr="/home/claude/lls-course/v2/assets/brush-yellow.png">    </p:cNvPr>
          <p:cNvPicPr>
            <a:picLocks noChangeAspect="1"/>
          </p:cNvPicPr>
          <p:nvPr/>
        </p:nvPicPr>
        <p:blipFill>
          <a:blip r:embed="rId2"/>
          <a:stretch>
            <a:fillRect/>
          </a:stretch>
        </p:blipFill>
        <p:spPr>
          <a:xfrm>
            <a:off x="1097280" y="146304"/>
            <a:ext cx="3090672" cy="621792"/>
          </a:xfrm>
          <a:prstGeom prst="rect">
            <a:avLst/>
          </a:prstGeom>
        </p:spPr>
      </p:pic>
      <p:sp>
        <p:nvSpPr>
          <p:cNvPr id="5" name="title_684"/>
          <p:cNvSpPr/>
          <p:nvPr/>
        </p:nvSpPr>
        <p:spPr>
          <a:xfrm>
            <a:off x="1261872" y="164592"/>
            <a:ext cx="2816352" cy="566928"/>
          </a:xfrm>
          <a:prstGeom prst="rect">
            <a:avLst/>
          </a:prstGeom>
          <a:noFill/>
          <a:ln/>
        </p:spPr>
        <p:txBody>
          <a:bodyPr wrap="square" lIns="0" tIns="0" rIns="0" bIns="0" rtlCol="0" anchor="ctr">
            <a:normAutofit/>
          </a:bodyPr>
          <a:lstStyle/>
          <a:p>
            <a:pPr indent="0" marL="0">
              <a:buNone/>
            </a:pPr>
            <a:r>
              <a:rPr lang="en-US" sz="2250" dirty="0">
                <a:solidFill>
                  <a:srgbClr val="1B2559"/>
                </a:solidFill>
                <a:latin typeface="Arial Rounded MT Bold" pitchFamily="34" charset="0"/>
                <a:ea typeface="Arial Rounded MT Bold" pitchFamily="34" charset="-122"/>
                <a:cs typeface="Arial Rounded MT Bold" pitchFamily="34" charset="-120"/>
              </a:rPr>
              <a:t>Grammar Bank 4A</a:t>
            </a:r>
            <a:endParaRPr lang="en-US" sz="2250" dirty="0"/>
          </a:p>
        </p:txBody>
      </p:sp>
      <p:pic>
        <p:nvPicPr>
          <p:cNvPr id="6" name="brP_685" descr="/home/claude/lls-course/v2/assets/brush-pink.png">    </p:cNvPr>
          <p:cNvPicPr>
            <a:picLocks noChangeAspect="1"/>
          </p:cNvPicPr>
          <p:nvPr/>
        </p:nvPicPr>
        <p:blipFill>
          <a:blip r:embed="rId3"/>
          <a:stretch>
            <a:fillRect/>
          </a:stretch>
        </p:blipFill>
        <p:spPr>
          <a:xfrm>
            <a:off x="1207008" y="731520"/>
            <a:ext cx="3424428" cy="402336"/>
          </a:xfrm>
          <a:prstGeom prst="rect">
            <a:avLst/>
          </a:prstGeom>
        </p:spPr>
      </p:pic>
      <p:sp>
        <p:nvSpPr>
          <p:cNvPr id="7" name="ins_686"/>
          <p:cNvSpPr/>
          <p:nvPr/>
        </p:nvSpPr>
        <p:spPr>
          <a:xfrm>
            <a:off x="1353312" y="731520"/>
            <a:ext cx="3168396" cy="402336"/>
          </a:xfrm>
          <a:prstGeom prst="rect">
            <a:avLst/>
          </a:prstGeom>
          <a:noFill/>
          <a:ln/>
        </p:spPr>
        <p:txBody>
          <a:bodyPr wrap="square" lIns="0" tIns="0" rIns="0" bIns="0" rtlCol="0" anchor="ctr">
            <a:normAutofit/>
          </a:bodyPr>
          <a:lstStyle/>
          <a:p>
            <a:pPr indent="0" marL="0">
              <a:buNone/>
            </a:pPr>
            <a:r>
              <a:rPr lang="en-US" sz="1250" i="1" dirty="0">
                <a:solidFill>
                  <a:srgbClr val="1B2559"/>
                </a:solidFill>
                <a:latin typeface="Segoe UI Semibold" pitchFamily="34" charset="0"/>
                <a:ea typeface="Segoe UI Semibold" pitchFamily="34" charset="-122"/>
                <a:cs typeface="Segoe UI Semibold" pitchFamily="34" charset="-120"/>
              </a:rPr>
              <a:t>Do Grammar Bank 4A. Then check!</a:t>
            </a:r>
            <a:endParaRPr lang="en-US" sz="1250" dirty="0"/>
          </a:p>
        </p:txBody>
      </p:sp>
      <p:sp>
        <p:nvSpPr>
          <p:cNvPr id="8" name="insIT_687"/>
          <p:cNvSpPr/>
          <p:nvPr/>
        </p:nvSpPr>
        <p:spPr>
          <a:xfrm>
            <a:off x="1371600" y="1115568"/>
            <a:ext cx="5074920" cy="219456"/>
          </a:xfrm>
          <a:prstGeom prst="rect">
            <a:avLst/>
          </a:prstGeom>
          <a:noFill/>
          <a:ln/>
        </p:spPr>
        <p:txBody>
          <a:bodyPr wrap="square" lIns="0" tIns="0" rIns="0" bIns="0" rtlCol="0" anchor="ctr">
            <a:normAutofit/>
          </a:bodyPr>
          <a:lstStyle/>
          <a:p>
            <a:pPr indent="0" marL="0">
              <a:buNone/>
            </a:pPr>
            <a:r>
              <a:rPr lang="en-US" sz="950" i="1" dirty="0">
                <a:solidFill>
                  <a:srgbClr val="5B6785"/>
                </a:solidFill>
                <a:latin typeface="Segoe UI Semibold" pitchFamily="34" charset="0"/>
                <a:ea typeface="Segoe UI Semibold" pitchFamily="34" charset="-122"/>
                <a:cs typeface="Segoe UI Semibold" pitchFamily="34" charset="-120"/>
              </a:rPr>
              <a:t>Fai il Grammar Bank 4A. Poi controlla!</a:t>
            </a:r>
            <a:endParaRPr lang="en-US" sz="950" dirty="0"/>
          </a:p>
        </p:txBody>
      </p:sp>
      <p:sp>
        <p:nvSpPr>
          <p:cNvPr id="9" name="note_688"/>
          <p:cNvSpPr/>
          <p:nvPr/>
        </p:nvSpPr>
        <p:spPr>
          <a:xfrm rot="180000">
            <a:off x="6382512" y="128016"/>
            <a:ext cx="2029968" cy="1024128"/>
          </a:xfrm>
          <a:prstGeom prst="rect">
            <a:avLst/>
          </a:prstGeom>
          <a:solidFill>
            <a:srgbClr val="FFC2DA"/>
          </a:solidFill>
          <a:ln>
            <a:solidFill>
              <a:srgbClr val="FFC2DA"/>
            </a:solidFill>
          </a:ln>
          <a:effectLst>
            <a:outerShdw sx="100000" sy="100000" kx="0" ky="0" algn="bl" rotWithShape="0" blurRad="88900" dist="31750" dir="5400000">
              <a:srgbClr val="1B2559">
                <a:alpha val="15000"/>
              </a:srgbClr>
            </a:outerShdw>
          </a:effectLst>
        </p:spPr>
        <p:txBody>
          <a:bodyPr wrap="square" lIns="50800" tIns="50800" rIns="50800" bIns="50800" rtlCol="0" anchor="ctr">
            <a:normAutofit/>
          </a:bodyPr>
          <a:lstStyle/>
          <a:p>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FILL THE GAPS</a:t>
            </a:r>
            <a:pPr algn="ctr" indent="0" marL="0">
              <a:buNone/>
            </a:pPr>
            <a:r>
              <a:rPr lang="en-US" sz="1250" dirty="0">
                <a:solidFill>
                  <a:srgbClr val="1B2559"/>
                </a:solidFill>
                <a:latin typeface="Arial Rounded MT Bold" pitchFamily="34" charset="0"/>
                <a:ea typeface="Arial Rounded MT Bold" pitchFamily="34" charset="-122"/>
                <a:cs typeface="Arial Rounded MT Bold" pitchFamily="34" charset="-120"/>
              </a:rPr>
              <a:t> · COMPLETA</a:t>
            </a:r>
            <a:endParaRPr lang="en-US" sz="1250" dirty="0"/>
          </a:p>
          <a:p>
            <a:pPr algn="ctr" indent="0" marL="0">
              <a:buNone/>
            </a:pPr>
            <a:r>
              <a:rPr lang="en-US" sz="1100" dirty="0">
                <a:solidFill>
                  <a:srgbClr val="1B2559"/>
                </a:solidFill>
                <a:latin typeface="Segoe UI Semibold" pitchFamily="34" charset="0"/>
                <a:ea typeface="Segoe UI Semibold" pitchFamily="34" charset="-122"/>
                <a:cs typeface="Segoe UI Semibold" pitchFamily="34" charset="-120"/>
              </a:rPr>
              <a:t>⏱ 4 min   👤 alone</a:t>
            </a:r>
            <a:endParaRPr lang="en-US" sz="1250" dirty="0"/>
          </a:p>
          <a:p>
            <a:pPr algn="ctr" indent="0" marL="0">
              <a:buNone/>
            </a:pPr>
            <a:r>
              <a:rPr lang="en-US" sz="900" dirty="0">
                <a:solidFill>
                  <a:srgbClr val="5B6785"/>
                </a:solidFill>
                <a:latin typeface="Segoe UI Semibold" pitchFamily="34" charset="0"/>
                <a:ea typeface="Segoe UI Semibold" pitchFamily="34" charset="-122"/>
                <a:cs typeface="Segoe UI Semibold" pitchFamily="34" charset="-120"/>
              </a:rPr>
              <a:t>🎯 Grammar · Controlled practice</a:t>
            </a:r>
            <a:endParaRPr lang="en-US" sz="1250" dirty="0"/>
          </a:p>
        </p:txBody>
      </p:sp>
      <p:pic>
        <p:nvPicPr>
          <p:cNvPr id="10" name="logo_689" descr="/home/claude/lls-course/v2/img/logo.png">    </p:cNvPr>
          <p:cNvPicPr>
            <a:picLocks noChangeAspect="1"/>
          </p:cNvPicPr>
          <p:nvPr/>
        </p:nvPicPr>
        <p:blipFill>
          <a:blip r:embed="rId4"/>
          <a:stretch>
            <a:fillRect/>
          </a:stretch>
        </p:blipFill>
        <p:spPr>
          <a:xfrm>
            <a:off x="8485632" y="128016"/>
            <a:ext cx="502920" cy="502920"/>
          </a:xfrm>
          <a:prstGeom prst="rect">
            <a:avLst/>
          </a:prstGeom>
        </p:spPr>
      </p:pic>
      <p:sp>
        <p:nvSpPr>
          <p:cNvPr id="11" name="foot_690"/>
          <p:cNvSpPr/>
          <p:nvPr/>
        </p:nvSpPr>
        <p:spPr>
          <a:xfrm>
            <a:off x="274320" y="4873752"/>
            <a:ext cx="6858000" cy="219456"/>
          </a:xfrm>
          <a:prstGeom prst="rect">
            <a:avLst/>
          </a:prstGeom>
          <a:noFill/>
          <a:ln/>
        </p:spPr>
        <p:txBody>
          <a:bodyPr wrap="square" lIns="0" tIns="0" rIns="0" bIns="0" rtlCol="0" anchor="ctr"/>
          <a:lstStyle/>
          <a:p>
            <a:pPr indent="0" marL="0">
              <a:buNone/>
            </a:pPr>
            <a:r>
              <a:rPr lang="en-US" sz="800" dirty="0">
                <a:solidFill>
                  <a:srgbClr val="5B6785"/>
                </a:solidFill>
                <a:latin typeface="Segoe UI Semibold" pitchFamily="34" charset="0"/>
                <a:ea typeface="Segoe UI Semibold" pitchFamily="34" charset="-122"/>
                <a:cs typeface="Segoe UI Semibold" pitchFamily="34" charset="-120"/>
              </a:rPr>
              <a:t>4A-1 · Grammar · Grammar Bank practice   ·   📖 Grammar Bank 4A p.138 · a 1–4, b 1–4 (a 5–8, b 5–7 = homework)</a:t>
            </a:r>
            <a:endParaRPr lang="en-US" sz="800" dirty="0"/>
          </a:p>
        </p:txBody>
      </p:sp>
      <p:sp>
        <p:nvSpPr>
          <p:cNvPr id="12" name="ext_691"/>
          <p:cNvSpPr/>
          <p:nvPr/>
        </p:nvSpPr>
        <p:spPr>
          <a:xfrm>
            <a:off x="5120640" y="4727448"/>
            <a:ext cx="3291840" cy="310896"/>
          </a:xfrm>
          <a:prstGeom prst="roundRect">
            <a:avLst>
              <a:gd name="adj" fmla="val 50000"/>
            </a:avLst>
          </a:prstGeom>
          <a:solidFill>
            <a:srgbClr val="EEE8FB"/>
          </a:solidFill>
          <a:ln w="28575">
            <a:solidFill>
              <a:srgbClr val="CDBFF3"/>
            </a:solidFill>
          </a:ln>
        </p:spPr>
        <p:txBody>
          <a:bodyPr wrap="square" lIns="0" tIns="0" rIns="0" bIns="0" rtlCol="0" anchor="ctr"/>
          <a:lstStyle/>
          <a:p>
            <a:pPr algn="ctr" indent="0" marL="0">
              <a:buNone/>
            </a:pPr>
            <a:r>
              <a:rPr lang="en-US" sz="1050" dirty="0">
                <a:solidFill>
                  <a:srgbClr val="7B5CD6"/>
                </a:solidFill>
                <a:latin typeface="Arial Rounded MT Bold" pitchFamily="34" charset="0"/>
                <a:ea typeface="Arial Rounded MT Bold" pitchFamily="34" charset="-122"/>
                <a:cs typeface="Arial Rounded MT Bold" pitchFamily="34" charset="-120"/>
              </a:rPr>
              <a:t>⭐ OPTIONAL EXTENSION · only if there's time</a:t>
            </a:r>
            <a:endParaRPr lang="en-US" sz="1050" dirty="0"/>
          </a:p>
        </p:txBody>
      </p:sp>
      <p:sp>
        <p:nvSpPr>
          <p:cNvPr id="13" name="cd_692"/>
          <p:cNvSpPr/>
          <p:nvPr/>
        </p:nvSpPr>
        <p:spPr>
          <a:xfrm>
            <a:off x="320040" y="1417320"/>
            <a:ext cx="2697480" cy="969264"/>
          </a:xfrm>
          <a:prstGeom prst="roundRect">
            <a:avLst>
              <a:gd name="adj" fmla="val 13208"/>
            </a:avLst>
          </a:prstGeom>
          <a:solidFill>
            <a:srgbClr val="EEE8FB"/>
          </a:solidFill>
          <a:ln w="28575">
            <a:solidFill>
              <a:srgbClr val="CDBFF3"/>
            </a:solidFill>
            <a:prstDash val="solid"/>
          </a:ln>
          <a:effectLst>
            <a:outerShdw sx="100000" sy="100000" kx="0" ky="0" algn="bl" rotWithShape="0" blurRad="88900" dist="31750" dir="5400000">
              <a:srgbClr val="1B2559">
                <a:alpha val="12000"/>
              </a:srgbClr>
            </a:outerShdw>
          </a:effectLst>
        </p:spPr>
      </p:sp>
      <p:sp>
        <p:nvSpPr>
          <p:cNvPr id="14" name="ii_693"/>
          <p:cNvSpPr/>
          <p:nvPr/>
        </p:nvSpPr>
        <p:spPr>
          <a:xfrm>
            <a:off x="411480" y="1490472"/>
            <a:ext cx="457200" cy="457200"/>
          </a:xfrm>
          <a:prstGeom prst="rect">
            <a:avLst/>
          </a:prstGeom>
          <a:noFill/>
          <a:ln/>
        </p:spPr>
        <p:txBody>
          <a:bodyPr wrap="square" lIns="0" tIns="0" rIns="0" bIns="0" rtlCol="0" anchor="ctr"/>
          <a:lstStyle/>
          <a:p>
            <a:pPr algn="ctr" indent="0" marL="0">
              <a:buNone/>
            </a:pPr>
            <a:r>
              <a:rPr lang="en-US" sz="2200" dirty="0">
                <a:solidFill>
                  <a:srgbClr val="000000"/>
                </a:solidFill>
              </a:rPr>
              <a:t>⭐</a:t>
            </a:r>
            <a:endParaRPr lang="en-US" sz="2200" dirty="0"/>
          </a:p>
        </p:txBody>
      </p:sp>
      <p:sp>
        <p:nvSpPr>
          <p:cNvPr id="15" name="ih_694"/>
          <p:cNvSpPr/>
          <p:nvPr/>
        </p:nvSpPr>
        <p:spPr>
          <a:xfrm>
            <a:off x="886968" y="1508760"/>
            <a:ext cx="2057400" cy="365760"/>
          </a:xfrm>
          <a:prstGeom prst="rect">
            <a:avLst/>
          </a:prstGeom>
          <a:noFill/>
          <a:ln/>
        </p:spPr>
        <p:txBody>
          <a:bodyPr wrap="square" lIns="0" tIns="0" rIns="0" bIns="0" rtlCol="0" anchor="ctr"/>
          <a:lstStyle/>
          <a:p>
            <a:pPr indent="0" marL="0">
              <a:buNone/>
            </a:pPr>
            <a:r>
              <a:rPr lang="en-US" sz="1300" dirty="0">
                <a:solidFill>
                  <a:srgbClr val="1B2559"/>
                </a:solidFill>
                <a:latin typeface="Arial Rounded MT Bold" pitchFamily="34" charset="0"/>
                <a:ea typeface="Arial Rounded MT Bold" pitchFamily="34" charset="-122"/>
                <a:cs typeface="Arial Rounded MT Bold" pitchFamily="34" charset="-120"/>
              </a:rPr>
              <a:t>Example</a:t>
            </a:r>
            <a:endParaRPr lang="en-US" sz="1300" dirty="0"/>
          </a:p>
        </p:txBody>
      </p:sp>
      <p:sp>
        <p:nvSpPr>
          <p:cNvPr id="16" name="il_695"/>
          <p:cNvSpPr/>
          <p:nvPr/>
        </p:nvSpPr>
        <p:spPr>
          <a:xfrm>
            <a:off x="886968" y="1911096"/>
            <a:ext cx="2039112" cy="402336"/>
          </a:xfrm>
          <a:prstGeom prst="rect">
            <a:avLst/>
          </a:prstGeom>
          <a:noFill/>
          <a:ln/>
        </p:spPr>
        <p:txBody>
          <a:bodyPr wrap="square" lIns="0" tIns="0" rIns="0" bIns="0" rtlCol="0" anchor="t">
            <a:normAutofit/>
          </a:bodyPr>
          <a:lstStyle/>
          <a:p>
            <a:pPr indent="0" marL="0">
              <a:spcAft>
                <a:spcPts val="200"/>
              </a:spcAft>
              <a:buNone/>
            </a:pPr>
            <a:r>
              <a:rPr lang="en-US" sz="950" dirty="0">
                <a:solidFill>
                  <a:srgbClr val="1B2559"/>
                </a:solidFill>
                <a:latin typeface="Segoe UI Semibold" pitchFamily="34" charset="0"/>
                <a:ea typeface="Segoe UI Semibold" pitchFamily="34" charset="-122"/>
                <a:cs typeface="Segoe UI Semibold" pitchFamily="34" charset="-120"/>
              </a:rPr>
              <a:t>a: ✓ or correct it · b: complete with have to / must / should</a:t>
            </a:r>
            <a:endParaRPr lang="en-US" sz="950" dirty="0"/>
          </a:p>
        </p:txBody>
      </p:sp>
      <p:sp>
        <p:nvSpPr>
          <p:cNvPr id="17" name="pf_696"/>
          <p:cNvSpPr/>
          <p:nvPr/>
        </p:nvSpPr>
        <p:spPr>
          <a:xfrm rot="-90000">
            <a:off x="365760" y="2569464"/>
            <a:ext cx="2606040" cy="2093976"/>
          </a:xfrm>
          <a:prstGeom prst="roundRect">
            <a:avLst>
              <a:gd name="adj" fmla="val 7424"/>
            </a:avLst>
          </a:prstGeom>
          <a:solidFill>
            <a:srgbClr val="FFFFFF"/>
          </a:solidFill>
          <a:ln w="12700">
            <a:solidFill>
              <a:srgbClr val="FFFFFF"/>
            </a:solidFill>
            <a:prstDash val="solid"/>
          </a:ln>
          <a:effectLst>
            <a:outerShdw sx="100000" sy="100000" kx="0" ky="0" algn="bl" rotWithShape="0" blurRad="88900" dist="31750" dir="5400000">
              <a:srgbClr val="1B2559">
                <a:alpha val="20000"/>
              </a:srgbClr>
            </a:outerShdw>
          </a:effectLst>
        </p:spPr>
      </p:sp>
      <p:pic>
        <p:nvPicPr>
          <p:cNvPr id="18" name="ph_697" descr="/home/claude/lls-course/v2/cache/4a1_queue_jpg_605x482_31.png">    </p:cNvPr>
          <p:cNvPicPr>
            <a:picLocks noChangeAspect="1"/>
          </p:cNvPicPr>
          <p:nvPr/>
        </p:nvPicPr>
        <p:blipFill>
          <a:blip r:embed="rId5"/>
          <a:stretch>
            <a:fillRect/>
          </a:stretch>
        </p:blipFill>
        <p:spPr>
          <a:xfrm rot="-90000">
            <a:off x="411480" y="2615184"/>
            <a:ext cx="2514600" cy="2002536"/>
          </a:xfrm>
          <a:prstGeom prst="rect">
            <a:avLst/>
          </a:prstGeom>
        </p:spPr>
      </p:pic>
      <p:sp>
        <p:nvSpPr>
          <p:cNvPr id="19" name="bd_698"/>
          <p:cNvSpPr/>
          <p:nvPr/>
        </p:nvSpPr>
        <p:spPr>
          <a:xfrm>
            <a:off x="3246120" y="149047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1</a:t>
            </a:r>
            <a:endParaRPr lang="en-US" sz="1000" dirty="0"/>
          </a:p>
        </p:txBody>
      </p:sp>
      <p:sp>
        <p:nvSpPr>
          <p:cNvPr id="20" name="q_699"/>
          <p:cNvSpPr/>
          <p:nvPr/>
        </p:nvSpPr>
        <p:spPr>
          <a:xfrm>
            <a:off x="3630168" y="141732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a 1–4 (in the book)</a:t>
            </a:r>
            <a:endParaRPr lang="en-US" sz="900" dirty="0"/>
          </a:p>
        </p:txBody>
      </p:sp>
      <p:sp>
        <p:nvSpPr>
          <p:cNvPr id="21" name="R1_chip700"/>
          <p:cNvSpPr/>
          <p:nvPr/>
        </p:nvSpPr>
        <p:spPr>
          <a:xfrm>
            <a:off x="5806440" y="141732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1 ✓ · 2 mustn't · 3 ✓ · 4 ✓</a:t>
            </a:r>
            <a:endParaRPr lang="en-US" sz="1050" dirty="0"/>
          </a:p>
        </p:txBody>
      </p:sp>
      <p:sp>
        <p:nvSpPr>
          <p:cNvPr id="22" name="bd_701"/>
          <p:cNvSpPr/>
          <p:nvPr/>
        </p:nvSpPr>
        <p:spPr>
          <a:xfrm>
            <a:off x="3246120" y="1993392"/>
            <a:ext cx="310896" cy="310896"/>
          </a:xfrm>
          <a:prstGeom prst="ellipse">
            <a:avLst/>
          </a:prstGeom>
          <a:solidFill>
            <a:srgbClr val="2F8DE4"/>
          </a:solidFill>
          <a:ln w="28575">
            <a:solidFill>
              <a:srgbClr val="A9D3F5"/>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2</a:t>
            </a:r>
            <a:endParaRPr lang="en-US" sz="1000" dirty="0"/>
          </a:p>
        </p:txBody>
      </p:sp>
      <p:sp>
        <p:nvSpPr>
          <p:cNvPr id="23" name="q_702"/>
          <p:cNvSpPr/>
          <p:nvPr/>
        </p:nvSpPr>
        <p:spPr>
          <a:xfrm>
            <a:off x="3630168" y="1920240"/>
            <a:ext cx="2103120" cy="457200"/>
          </a:xfrm>
          <a:prstGeom prst="roundRect">
            <a:avLst>
              <a:gd name="adj" fmla="val 20000"/>
            </a:avLst>
          </a:prstGeom>
          <a:solidFill>
            <a:srgbClr val="FFFFFF"/>
          </a:solidFill>
          <a:ln w="28575">
            <a:solidFill>
              <a:srgbClr val="A9D3F5"/>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b1 Did you ___ do a lot of homework at school?</a:t>
            </a:r>
            <a:endParaRPr lang="en-US" sz="900" dirty="0"/>
          </a:p>
        </p:txBody>
      </p:sp>
      <p:sp>
        <p:nvSpPr>
          <p:cNvPr id="24" name="R2_chip703"/>
          <p:cNvSpPr/>
          <p:nvPr/>
        </p:nvSpPr>
        <p:spPr>
          <a:xfrm>
            <a:off x="5806440" y="192024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have to</a:t>
            </a:r>
            <a:endParaRPr lang="en-US" sz="1050" dirty="0"/>
          </a:p>
        </p:txBody>
      </p:sp>
      <p:sp>
        <p:nvSpPr>
          <p:cNvPr id="25" name="bd_704"/>
          <p:cNvSpPr/>
          <p:nvPr/>
        </p:nvSpPr>
        <p:spPr>
          <a:xfrm>
            <a:off x="3246120" y="2496312"/>
            <a:ext cx="310896" cy="310896"/>
          </a:xfrm>
          <a:prstGeom prst="ellipse">
            <a:avLst/>
          </a:prstGeom>
          <a:solidFill>
            <a:srgbClr val="2EB872"/>
          </a:solidFill>
          <a:ln w="28575">
            <a:solidFill>
              <a:srgbClr val="A8E5BE"/>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3</a:t>
            </a:r>
            <a:endParaRPr lang="en-US" sz="1000" dirty="0"/>
          </a:p>
        </p:txBody>
      </p:sp>
      <p:sp>
        <p:nvSpPr>
          <p:cNvPr id="26" name="q_705"/>
          <p:cNvSpPr/>
          <p:nvPr/>
        </p:nvSpPr>
        <p:spPr>
          <a:xfrm>
            <a:off x="3630168" y="2423160"/>
            <a:ext cx="2103120" cy="457200"/>
          </a:xfrm>
          <a:prstGeom prst="roundRect">
            <a:avLst>
              <a:gd name="adj" fmla="val 20000"/>
            </a:avLst>
          </a:prstGeom>
          <a:solidFill>
            <a:srgbClr val="FFFFFF"/>
          </a:solidFill>
          <a:ln w="28575">
            <a:solidFill>
              <a:srgbClr val="A8E5BE"/>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b2 ___ I take my tablet out of my bag at Security?</a:t>
            </a:r>
            <a:endParaRPr lang="en-US" sz="900" dirty="0"/>
          </a:p>
        </p:txBody>
      </p:sp>
      <p:sp>
        <p:nvSpPr>
          <p:cNvPr id="27" name="R3_chip706"/>
          <p:cNvSpPr/>
          <p:nvPr/>
        </p:nvSpPr>
        <p:spPr>
          <a:xfrm>
            <a:off x="5806440" y="242316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Must</a:t>
            </a:r>
            <a:endParaRPr lang="en-US" sz="1050" dirty="0"/>
          </a:p>
        </p:txBody>
      </p:sp>
      <p:sp>
        <p:nvSpPr>
          <p:cNvPr id="28" name="bd_707"/>
          <p:cNvSpPr/>
          <p:nvPr/>
        </p:nvSpPr>
        <p:spPr>
          <a:xfrm>
            <a:off x="3246120" y="2999232"/>
            <a:ext cx="310896" cy="310896"/>
          </a:xfrm>
          <a:prstGeom prst="ellipse">
            <a:avLst/>
          </a:prstGeom>
          <a:solidFill>
            <a:srgbClr val="F2B705"/>
          </a:solidFill>
          <a:ln w="28575">
            <a:solidFill>
              <a:srgbClr val="FFE07A"/>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4</a:t>
            </a:r>
            <a:endParaRPr lang="en-US" sz="1000" dirty="0"/>
          </a:p>
        </p:txBody>
      </p:sp>
      <p:sp>
        <p:nvSpPr>
          <p:cNvPr id="29" name="q_708"/>
          <p:cNvSpPr/>
          <p:nvPr/>
        </p:nvSpPr>
        <p:spPr>
          <a:xfrm>
            <a:off x="3630168" y="2926080"/>
            <a:ext cx="2103120" cy="457200"/>
          </a:xfrm>
          <a:prstGeom prst="roundRect">
            <a:avLst>
              <a:gd name="adj" fmla="val 20000"/>
            </a:avLst>
          </a:prstGeom>
          <a:solidFill>
            <a:srgbClr val="FFFFFF"/>
          </a:solidFill>
          <a:ln w="28575">
            <a:solidFill>
              <a:srgbClr val="FFE07A"/>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b3 My sister's a nurse, so some weeks she ___ work nights.</a:t>
            </a:r>
            <a:endParaRPr lang="en-US" sz="900" dirty="0"/>
          </a:p>
        </p:txBody>
      </p:sp>
      <p:sp>
        <p:nvSpPr>
          <p:cNvPr id="30" name="R4_chip709"/>
          <p:cNvSpPr/>
          <p:nvPr/>
        </p:nvSpPr>
        <p:spPr>
          <a:xfrm>
            <a:off x="5806440" y="292608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has to</a:t>
            </a:r>
            <a:endParaRPr lang="en-US" sz="1050" dirty="0"/>
          </a:p>
        </p:txBody>
      </p:sp>
      <p:sp>
        <p:nvSpPr>
          <p:cNvPr id="31" name="bd_710"/>
          <p:cNvSpPr/>
          <p:nvPr/>
        </p:nvSpPr>
        <p:spPr>
          <a:xfrm>
            <a:off x="3246120" y="3502152"/>
            <a:ext cx="310896" cy="310896"/>
          </a:xfrm>
          <a:prstGeom prst="ellipse">
            <a:avLst/>
          </a:prstGeom>
          <a:solidFill>
            <a:srgbClr val="E8508F"/>
          </a:solidFill>
          <a:ln w="28575">
            <a:solidFill>
              <a:srgbClr val="F7A6C4"/>
            </a:solidFill>
          </a:ln>
          <a:effectLst>
            <a:outerShdw sx="100000" sy="100000" kx="0" ky="0" algn="bl" rotWithShape="0" blurRad="88900" dist="31750" dir="5400000">
              <a:srgbClr val="1B2559">
                <a:alpha val="15000"/>
              </a:srgbClr>
            </a:outerShdw>
          </a:effectLst>
        </p:spPr>
        <p:txBody>
          <a:bodyPr wrap="square" lIns="0" tIns="0" rIns="0" bIns="0" rtlCol="0" anchor="ctr"/>
          <a:lstStyle/>
          <a:p>
            <a:pPr algn="ctr" indent="0" marL="0">
              <a:buNone/>
            </a:pPr>
            <a:r>
              <a:rPr lang="en-US" sz="1000" dirty="0">
                <a:solidFill>
                  <a:srgbClr val="FFFFFF"/>
                </a:solidFill>
                <a:latin typeface="Arial Rounded MT Bold" pitchFamily="34" charset="0"/>
                <a:ea typeface="Arial Rounded MT Bold" pitchFamily="34" charset="-122"/>
                <a:cs typeface="Arial Rounded MT Bold" pitchFamily="34" charset="-120"/>
              </a:rPr>
              <a:t>5</a:t>
            </a:r>
            <a:endParaRPr lang="en-US" sz="1000" dirty="0"/>
          </a:p>
        </p:txBody>
      </p:sp>
      <p:sp>
        <p:nvSpPr>
          <p:cNvPr id="32" name="q_711"/>
          <p:cNvSpPr/>
          <p:nvPr/>
        </p:nvSpPr>
        <p:spPr>
          <a:xfrm>
            <a:off x="3630168" y="3429000"/>
            <a:ext cx="2103120" cy="457200"/>
          </a:xfrm>
          <a:prstGeom prst="roundRect">
            <a:avLst>
              <a:gd name="adj" fmla="val 20000"/>
            </a:avLst>
          </a:prstGeom>
          <a:solidFill>
            <a:srgbClr val="FFFFFF"/>
          </a:solidFill>
          <a:ln w="28575">
            <a:solidFill>
              <a:srgbClr val="F7A6C4"/>
            </a:solidFill>
          </a:ln>
        </p:spPr>
        <p:txBody>
          <a:bodyPr wrap="square" lIns="101600" tIns="0" rIns="101600" bIns="0" rtlCol="0" anchor="ctr">
            <a:normAutofit/>
          </a:bodyPr>
          <a:lstStyle/>
          <a:p>
            <a:pPr indent="0" marL="0">
              <a:buNone/>
            </a:pPr>
            <a:r>
              <a:rPr lang="en-US" sz="900" b="1" dirty="0">
                <a:solidFill>
                  <a:srgbClr val="1B2559"/>
                </a:solidFill>
                <a:latin typeface="Segoe UI Semibold" pitchFamily="34" charset="0"/>
                <a:ea typeface="Segoe UI Semibold" pitchFamily="34" charset="-122"/>
                <a:cs typeface="Segoe UI Semibold" pitchFamily="34" charset="-120"/>
              </a:rPr>
              <a:t>b4 Have you ever ___ have an operation?</a:t>
            </a:r>
            <a:endParaRPr lang="en-US" sz="900" dirty="0"/>
          </a:p>
        </p:txBody>
      </p:sp>
      <p:sp>
        <p:nvSpPr>
          <p:cNvPr id="33" name="R5_chip712"/>
          <p:cNvSpPr/>
          <p:nvPr/>
        </p:nvSpPr>
        <p:spPr>
          <a:xfrm>
            <a:off x="5806440" y="3429000"/>
            <a:ext cx="3063240" cy="457200"/>
          </a:xfrm>
          <a:prstGeom prst="roundRect">
            <a:avLst>
              <a:gd name="adj" fmla="val 20000"/>
            </a:avLst>
          </a:prstGeom>
          <a:solidFill>
            <a:srgbClr val="E3F7EA"/>
          </a:solidFill>
          <a:ln w="28575">
            <a:solidFill>
              <a:srgbClr val="A8E5BE"/>
            </a:solidFill>
          </a:ln>
        </p:spPr>
        <p:txBody>
          <a:bodyPr wrap="square" lIns="101600" tIns="0" rIns="101600" bIns="0" rtlCol="0" anchor="ctr">
            <a:normAutofit/>
          </a:bodyPr>
          <a:lstStyle/>
          <a:p>
            <a:pPr algn="l" indent="0" marL="0">
              <a:buNone/>
            </a:pPr>
            <a:r>
              <a:rPr lang="en-US" sz="1050" b="1" dirty="0">
                <a:solidFill>
                  <a:srgbClr val="1B2559"/>
                </a:solidFill>
                <a:latin typeface="Segoe UI Semibold" pitchFamily="34" charset="0"/>
                <a:ea typeface="Segoe UI Semibold" pitchFamily="34" charset="-122"/>
                <a:cs typeface="Segoe UI Semibold" pitchFamily="34" charset="-120"/>
              </a:rPr>
              <a:t>had to</a:t>
            </a:r>
            <a:endParaRPr lang="en-US" sz="1050" dirty="0"/>
          </a:p>
        </p:txBody>
      </p:sp>
    </p:spTree>
  </p:cSld>
  <p:clrMapOvr>
    <a:masterClrMapping/>
  </p:clrMapOvr>
  <p:transition spd="med">
    <p:push dir="l"/>
  </p:transition>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0" presetClass="entr" presetSubtype="0" fill="hold" nodeType="clickEffect">
                                  <p:stCondLst>
                                    <p:cond delay="0"/>
                                  </p:stCondLst>
                                  <p:childTnLst>
                                    <p:set>
                                      <p:cBhvr>
                                        <p:cTn id="6" dur="1" fill="hold">
                                          <p:stCondLst>
                                            <p:cond delay="0"/>
                                          </p:stCondLst>
                                        </p:cTn>
                                        <p:tgtEl>
                                          <p:spTgt spid="21"/>
                                        </p:tgtEl>
                                        <p:attrNameLst>
                                          <p:attrName>style.visibility</p:attrName>
                                        </p:attrNameLst>
                                      </p:cBhvr>
                                      <p:to>
                                        <p:strVal val="visible"/>
                                      </p:to>
                                    </p:set>
                                    <p:animEffect transition="in" filter="fade">
                                      <p:cBhvr>
                                        <p:cTn id="7" dur="400"/>
                                        <p:tgtEl>
                                          <p:spTgt spid="21"/>
                                        </p:tgtEl>
                                      </p:cBhvr>
                                    </p:animEffect>
                                  </p:childTnLst>
                                </p:cTn>
                              </p:par>
                            </p:childTnLst>
                          </p:cTn>
                        </p:par>
                      </p:childTnLst>
                    </p:cTn>
                  </p:par>
                  <p:par>
                    <p:cTn id="8" fill="hold">
                      <p:stCondLst>
                        <p:cond delay="indefinite"/>
                      </p:stCondLst>
                      <p:childTnLst>
                        <p:par>
                          <p:cTn id="9" fill="hold">
                            <p:stCondLst>
                              <p:cond delay="0"/>
                            </p:stCondLst>
                            <p:childTnLst>
                              <p:par>
                                <p:cTn id="10" presetID="10" presetClass="entr" presetSubtype="0" fill="hold" nodeType="clickEffect">
                                  <p:stCondLst>
                                    <p:cond delay="0"/>
                                  </p:stCondLst>
                                  <p:childTnLst>
                                    <p:set>
                                      <p:cBhvr>
                                        <p:cTn id="11" dur="1" fill="hold">
                                          <p:stCondLst>
                                            <p:cond delay="0"/>
                                          </p:stCondLst>
                                        </p:cTn>
                                        <p:tgtEl>
                                          <p:spTgt spid="24"/>
                                        </p:tgtEl>
                                        <p:attrNameLst>
                                          <p:attrName>style.visibility</p:attrName>
                                        </p:attrNameLst>
                                      </p:cBhvr>
                                      <p:to>
                                        <p:strVal val="visible"/>
                                      </p:to>
                                    </p:set>
                                    <p:animEffect transition="in" filter="fade">
                                      <p:cBhvr>
                                        <p:cTn id="12" dur="400"/>
                                        <p:tgtEl>
                                          <p:spTgt spid="24"/>
                                        </p:tgtEl>
                                      </p:cBhvr>
                                    </p:animEffect>
                                  </p:childTnLst>
                                </p:cTn>
                              </p:par>
                            </p:childTnLst>
                          </p:cTn>
                        </p:par>
                      </p:childTnLst>
                    </p:cTn>
                  </p:par>
                  <p:par>
                    <p:cTn id="13" fill="hold">
                      <p:stCondLst>
                        <p:cond delay="indefinite"/>
                      </p:stCondLst>
                      <p:childTnLst>
                        <p:par>
                          <p:cTn id="14" fill="hold">
                            <p:stCondLst>
                              <p:cond delay="0"/>
                            </p:stCondLst>
                            <p:childTnLst>
                              <p:par>
                                <p:cTn id="15" presetID="10" presetClass="entr" presetSubtype="0" fill="hold" nodeType="clickEffect">
                                  <p:stCondLst>
                                    <p:cond delay="0"/>
                                  </p:stCondLst>
                                  <p:childTnLst>
                                    <p:set>
                                      <p:cBhvr>
                                        <p:cTn id="16" dur="1" fill="hold">
                                          <p:stCondLst>
                                            <p:cond delay="0"/>
                                          </p:stCondLst>
                                        </p:cTn>
                                        <p:tgtEl>
                                          <p:spTgt spid="27"/>
                                        </p:tgtEl>
                                        <p:attrNameLst>
                                          <p:attrName>style.visibility</p:attrName>
                                        </p:attrNameLst>
                                      </p:cBhvr>
                                      <p:to>
                                        <p:strVal val="visible"/>
                                      </p:to>
                                    </p:set>
                                    <p:animEffect transition="in" filter="fade">
                                      <p:cBhvr>
                                        <p:cTn id="17" dur="400"/>
                                        <p:tgtEl>
                                          <p:spTgt spid="27"/>
                                        </p:tgtEl>
                                      </p:cBhvr>
                                    </p:animEffect>
                                  </p:childTnLst>
                                </p:cTn>
                              </p:par>
                            </p:childTnLst>
                          </p:cTn>
                        </p:par>
                      </p:childTnLst>
                    </p:cTn>
                  </p:par>
                  <p:par>
                    <p:cTn id="18" fill="hold">
                      <p:stCondLst>
                        <p:cond delay="indefinite"/>
                      </p:stCondLst>
                      <p:childTnLst>
                        <p:par>
                          <p:cTn id="19" fill="hold">
                            <p:stCondLst>
                              <p:cond delay="0"/>
                            </p:stCondLst>
                            <p:childTnLst>
                              <p:par>
                                <p:cTn id="20" presetID="10" presetClass="entr" presetSubtype="0" fill="hold" nodeType="clickEffect">
                                  <p:stCondLst>
                                    <p:cond delay="0"/>
                                  </p:stCondLst>
                                  <p:childTnLst>
                                    <p:set>
                                      <p:cBhvr>
                                        <p:cTn id="21" dur="1" fill="hold">
                                          <p:stCondLst>
                                            <p:cond delay="0"/>
                                          </p:stCondLst>
                                        </p:cTn>
                                        <p:tgtEl>
                                          <p:spTgt spid="30"/>
                                        </p:tgtEl>
                                        <p:attrNameLst>
                                          <p:attrName>style.visibility</p:attrName>
                                        </p:attrNameLst>
                                      </p:cBhvr>
                                      <p:to>
                                        <p:strVal val="visible"/>
                                      </p:to>
                                    </p:set>
                                    <p:animEffect transition="in" filter="fade">
                                      <p:cBhvr>
                                        <p:cTn id="22" dur="400"/>
                                        <p:tgtEl>
                                          <p:spTgt spid="30"/>
                                        </p:tgtEl>
                                      </p:cBhvr>
                                    </p:animEffect>
                                  </p:childTnLst>
                                </p:cTn>
                              </p:par>
                            </p:childTnLst>
                          </p:cTn>
                        </p:par>
                      </p:childTnLst>
                    </p:cTn>
                  </p:par>
                  <p:par>
                    <p:cTn id="23" fill="hold">
                      <p:stCondLst>
                        <p:cond delay="indefinite"/>
                      </p:stCondLst>
                      <p:childTnLst>
                        <p:par>
                          <p:cTn id="24" fill="hold">
                            <p:stCondLst>
                              <p:cond delay="0"/>
                            </p:stCondLst>
                            <p:childTnLst>
                              <p:par>
                                <p:cTn id="25" presetID="10" presetClass="entr" presetSubtype="0" fill="hold" nodeType="clickEffect">
                                  <p:stCondLst>
                                    <p:cond delay="0"/>
                                  </p:stCondLst>
                                  <p:childTnLst>
                                    <p:set>
                                      <p:cBhvr>
                                        <p:cTn id="26" dur="1" fill="hold">
                                          <p:stCondLst>
                                            <p:cond delay="0"/>
                                          </p:stCondLst>
                                        </p:cTn>
                                        <p:tgtEl>
                                          <p:spTgt spid="33"/>
                                        </p:tgtEl>
                                        <p:attrNameLst>
                                          <p:attrName>style.visibility</p:attrName>
                                        </p:attrNameLst>
                                      </p:cBhvr>
                                      <p:to>
                                        <p:strVal val="visible"/>
                                      </p:to>
                                    </p:set>
                                    <p:animEffect transition="in" filter="fade">
                                      <p:cBhvr>
                                        <p:cTn id="27" dur="400"/>
                                        <p:tgtEl>
                                          <p:spTgt spid="33"/>
                                        </p:tgtEl>
                                      </p:cBhvr>
                                    </p:animEffect>
                                  </p:childTnLst>
                                </p:cTn>
                              </p:par>
                            </p:childTnLst>
                          </p:cTn>
                        </p:par>
                      </p:childTnLst>
                    </p:cTn>
                  </p:par>
                </p:childTnLst>
              </p:cTn>
              <p:prevCondLst>
                <p:cond evt="onPrev" delay="0">
                  <p:tgtEl>
                    <p:sldTgt/>
                  </p:tgtEl>
                </p:cond>
              </p:prevCondLst>
              <p:nextCondLst>
                <p:cond evt="onNext" delay="0">
                  <p:tgtEl>
                    <p:sldTgt/>
                  </p:tgtEl>
                </p:cond>
              </p:nextCondLst>
            </p:seq>
          </p:childTnLst>
        </p:cTn>
      </p:par>
    </p:tnLst>
  </p:timing>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24</Slides>
  <Notes>24</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24</vt:i4>
      </vt:variant>
    </vt:vector>
  </HeadingPairs>
  <TitlesOfParts>
    <vt:vector size="27"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4A-1 Bad manners?</dc:title>
  <dc:subject>PptxGenJS Presentation</dc:subject>
  <dc:creator>PptxGenJS</dc:creator>
  <cp:lastModifiedBy>PptxGenJS</cp:lastModifiedBy>
  <cp:revision>1</cp:revision>
  <dcterms:created xsi:type="dcterms:W3CDTF">2026-10-21T10:14:40Z</dcterms:created>
  <dcterms:modified xsi:type="dcterms:W3CDTF">2026-10-21T10:14:40Z</dcterms:modified>
</cp:coreProperties>
</file>