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(4 min)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ONE click shows all the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game (4 min)
GAME 3 (4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Pronunciation · silent consonants (4 min)
PRONUNCIATION (4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image" Target="../media/image-16-11.png"/><Relationship Id="rId12" Type="http://schemas.openxmlformats.org/officeDocument/2006/relationships/slideLayout" Target="../slideLayouts/slideLayout1.xml"/><Relationship Id="rId1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talk about phones: hang up, on hold…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about a phone in a concert</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make rules: have to, must, should</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play "Describe it!" and "Where am I?"</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29"/>
          <p:cNvSpPr/>
          <p:nvPr/>
        </p:nvSpPr>
        <p:spPr>
          <a:xfrm>
            <a:off x="411480" y="1417320"/>
            <a:ext cx="2560320" cy="17373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pe2-lunch.jpg</a:t>
            </a:r>
            <a:endParaRPr lang="en-US" sz="900" dirty="0"/>
          </a:p>
        </p:txBody>
      </p:sp>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Practical English 2: A difficult celebrity</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giving opinions · agreeing · disagreeing</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If you ask me… · Don't you agree?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OK, I agree.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don't think that's right.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can't be serious!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What do you think? · Oh sure… (ironic)</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Personally</a:t>
            </a:r>
            <a:endParaRPr lang="en-US" sz="1050" dirty="0"/>
          </a:p>
        </p:txBody>
      </p:sp>
      <p:sp>
        <p:nvSpPr>
          <p:cNvPr id="28" name="w_42"/>
          <p:cNvSpPr/>
          <p:nvPr/>
        </p:nvSpPr>
        <p:spPr>
          <a:xfrm>
            <a:off x="4416552" y="4178808"/>
            <a:ext cx="133045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In my opinion</a:t>
            </a:r>
            <a:endParaRPr lang="en-US" sz="1050" dirty="0"/>
          </a:p>
        </p:txBody>
      </p:sp>
      <p:sp>
        <p:nvSpPr>
          <p:cNvPr id="29" name="w_43"/>
          <p:cNvSpPr/>
          <p:nvPr/>
        </p:nvSpPr>
        <p:spPr>
          <a:xfrm>
            <a:off x="5820156" y="4178808"/>
            <a:ext cx="125272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To be honest</a:t>
            </a:r>
            <a:endParaRPr lang="en-US" sz="1050" dirty="0"/>
          </a:p>
        </p:txBody>
      </p:sp>
      <p:sp>
        <p:nvSpPr>
          <p:cNvPr id="30" name="w_44"/>
          <p:cNvSpPr/>
          <p:nvPr/>
        </p:nvSpPr>
        <p:spPr>
          <a:xfrm>
            <a:off x="7146036" y="417880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If you ask me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agree</a:t>
            </a:r>
            <a:endParaRPr lang="en-US" sz="1050" dirty="0"/>
          </a:p>
        </p:txBody>
      </p:sp>
      <p:sp>
        <p:nvSpPr>
          <p:cNvPr id="32" name="w_46"/>
          <p:cNvSpPr/>
          <p:nvPr/>
        </p:nvSpPr>
        <p:spPr>
          <a:xfrm>
            <a:off x="4183380" y="4544568"/>
            <a:ext cx="234086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I don't think that's right</a:t>
            </a:r>
            <a:endParaRPr lang="en-US" sz="1050" dirty="0"/>
          </a:p>
        </p:txBody>
      </p:sp>
      <p:sp>
        <p:nvSpPr>
          <p:cNvPr id="33" name="w_47"/>
          <p:cNvSpPr/>
          <p:nvPr/>
        </p:nvSpPr>
        <p:spPr>
          <a:xfrm>
            <a:off x="6597396"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on a minute!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2"/>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l'opinione. D'accordo o no?</a:t>
            </a:r>
            <a:endParaRPr lang="en-US" sz="950" dirty="0"/>
          </a:p>
        </p:txBody>
      </p:sp>
      <p:sp>
        <p:nvSpPr>
          <p:cNvPr id="9" name="cmd_54"/>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Warmer · last lesson   ·   📖 Recycles PE2: giving opinions, agreeing and disagreeing (SB p.35)</a:t>
            </a:r>
            <a:endParaRPr lang="en-US" sz="800" dirty="0"/>
          </a:p>
        </p:txBody>
      </p:sp>
      <p:sp>
        <p:nvSpPr>
          <p:cNvPr id="14" name="cd_5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opinion.</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A: agree or disagree with a phrase.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 B answers back. New phrase = 1 point.</a:t>
            </a:r>
            <a:endParaRPr lang="en-US" sz="1150" dirty="0"/>
          </a:p>
        </p:txBody>
      </p:sp>
      <p:sp>
        <p:nvSpPr>
          <p:cNvPr id="18" name="st_6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100" dirty="0"/>
          </a:p>
        </p:txBody>
      </p:sp>
      <p:sp>
        <p:nvSpPr>
          <p:cNvPr id="21" name="R1_chip6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100" dirty="0"/>
          </a:p>
        </p:txBody>
      </p:sp>
      <p:sp>
        <p:nvSpPr>
          <p:cNvPr id="22" name="bd_6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100" dirty="0"/>
          </a:p>
        </p:txBody>
      </p:sp>
      <p:sp>
        <p:nvSpPr>
          <p:cNvPr id="24" name="R2_chip6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100" dirty="0"/>
          </a:p>
        </p:txBody>
      </p:sp>
      <p:sp>
        <p:nvSpPr>
          <p:cNvPr id="25" name="bd_7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"Phones at dinner are OK."</a:t>
            </a:r>
            <a:endParaRPr lang="en-US" sz="1100" dirty="0"/>
          </a:p>
        </p:txBody>
      </p:sp>
      <p:sp>
        <p:nvSpPr>
          <p:cNvPr id="27" name="R3_chip7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100" dirty="0"/>
          </a:p>
        </p:txBody>
      </p:sp>
      <p:sp>
        <p:nvSpPr>
          <p:cNvPr id="28" name="bd_7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"Concerts are better on TV."</a:t>
            </a:r>
            <a:endParaRPr lang="en-US" sz="1100" dirty="0"/>
          </a:p>
        </p:txBody>
      </p:sp>
      <p:sp>
        <p:nvSpPr>
          <p:cNvPr id="30" name="R4_chip7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100" dirty="0"/>
          </a:p>
        </p:txBody>
      </p:sp>
      <p:sp>
        <p:nvSpPr>
          <p:cNvPr id="31" name="bd_7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100" dirty="0"/>
          </a:p>
        </p:txBody>
      </p:sp>
      <p:sp>
        <p:nvSpPr>
          <p:cNvPr id="33" name="R5_chip7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100" dirty="0"/>
          </a:p>
        </p:txBody>
      </p:sp>
      <p:sp>
        <p:nvSpPr>
          <p:cNvPr id="34" name="bd_7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100" dirty="0"/>
          </a:p>
        </p:txBody>
      </p:sp>
      <p:sp>
        <p:nvSpPr>
          <p:cNvPr id="36" name="R6_chip8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8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8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9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9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9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9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7" name="pf_9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97" descr="/home/claude/lls-course/v2/cache/4a1_dialling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9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20" name="R1_rx9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21" name="R1_ri10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0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0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4" name="pf_10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04" descr="/home/claude/lls-course/v2/cache/4a1_texting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0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7" name="R2_rx10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8" name="R2_ri10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0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0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31" name="pf_11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11" descr="/home/claude/lls-course/v2/cache/4a1_hung_up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1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4" name="R3_rx11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5" name="R3_ri11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1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1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8" name="pf_11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18" descr="/home/claude/lls-course/v2/cache/4a1_ringt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1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41" name="R4_rx12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42" name="R4_ri12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5"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6"/>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Di' l'espressione!</a:t>
            </a:r>
            <a:endParaRPr lang="en-US" sz="950" dirty="0"/>
          </a:p>
        </p:txBody>
      </p:sp>
      <p:sp>
        <p:nvSpPr>
          <p:cNvPr id="9" name="cmd_12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cmd_12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3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3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1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phone language   ·   📖 SB p.36 · 1a (meaning first, with pictures)</a:t>
            </a:r>
            <a:endParaRPr lang="en-US" sz="800" dirty="0"/>
          </a:p>
        </p:txBody>
      </p:sp>
      <p:sp>
        <p:nvSpPr>
          <p:cNvPr id="15" name="cd_134"/>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6" name="rh_135"/>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7" name="pf_13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37" descr="/home/claude/lls-course/v2/cache/4a1_on_hold_jpg_415x209_31.png">    </p:cNvPr>
          <p:cNvPicPr>
            <a:picLocks noChangeAspect="1"/>
          </p:cNvPicPr>
          <p:nvPr/>
        </p:nvPicPr>
        <p:blipFill>
          <a:blip r:embed="rId5"/>
          <a:stretch>
            <a:fillRect/>
          </a:stretch>
        </p:blipFill>
        <p:spPr>
          <a:xfrm>
            <a:off x="475488" y="1984248"/>
            <a:ext cx="1723644" cy="868680"/>
          </a:xfrm>
          <a:prstGeom prst="rect">
            <a:avLst/>
          </a:prstGeom>
        </p:spPr>
      </p:pic>
      <p:sp>
        <p:nvSpPr>
          <p:cNvPr id="19" name="ru_13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20" name="R1_rx13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21" name="R1_ri14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2" name="cd_141"/>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142"/>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4" name="pf_14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144" descr="/home/claude/lls-course/v2/cache/4a1_voicemail_jpg_415x209_31.png">    </p:cNvPr>
          <p:cNvPicPr>
            <a:picLocks noChangeAspect="1"/>
          </p:cNvPicPr>
          <p:nvPr/>
        </p:nvPicPr>
        <p:blipFill>
          <a:blip r:embed="rId6"/>
          <a:stretch>
            <a:fillRect/>
          </a:stretch>
        </p:blipFill>
        <p:spPr>
          <a:xfrm>
            <a:off x="2647188" y="1984248"/>
            <a:ext cx="1723644" cy="868680"/>
          </a:xfrm>
          <a:prstGeom prst="rect">
            <a:avLst/>
          </a:prstGeom>
        </p:spPr>
      </p:pic>
      <p:sp>
        <p:nvSpPr>
          <p:cNvPr id="26" name="ru_14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7" name="R2_rx14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8" name="R2_ri14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9" name="cd_14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0" name="rh_14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31" name="pf_15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151" descr="/home/claude/lls-course/v2/cache/4a1_cut_off_jpg_415x209_31.png">    </p:cNvPr>
          <p:cNvPicPr>
            <a:picLocks noChangeAspect="1"/>
          </p:cNvPicPr>
          <p:nvPr/>
        </p:nvPicPr>
        <p:blipFill>
          <a:blip r:embed="rId7"/>
          <a:stretch>
            <a:fillRect/>
          </a:stretch>
        </p:blipFill>
        <p:spPr>
          <a:xfrm>
            <a:off x="4818888" y="1984248"/>
            <a:ext cx="1723644" cy="868680"/>
          </a:xfrm>
          <a:prstGeom prst="rect">
            <a:avLst/>
          </a:prstGeom>
        </p:spPr>
      </p:pic>
      <p:sp>
        <p:nvSpPr>
          <p:cNvPr id="33" name="ru_15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4" name="R3_rx15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5" name="R3_ri15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6" name="cd_15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7" name="rh_15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8" name="pf_15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158" descr="/home/claude/lls-course/v2/cache/4a1_speakerphone_jpg_415x209_31.png">    </p:cNvPr>
          <p:cNvPicPr>
            <a:picLocks noChangeAspect="1"/>
          </p:cNvPicPr>
          <p:nvPr/>
        </p:nvPicPr>
        <p:blipFill>
          <a:blip r:embed="rId8"/>
          <a:stretch>
            <a:fillRect/>
          </a:stretch>
        </p:blipFill>
        <p:spPr>
          <a:xfrm>
            <a:off x="6990588" y="1984248"/>
            <a:ext cx="1723644" cy="868680"/>
          </a:xfrm>
          <a:prstGeom prst="rect">
            <a:avLst/>
          </a:prstGeom>
        </p:spPr>
      </p:pic>
      <p:sp>
        <p:nvSpPr>
          <p:cNvPr id="40" name="ru_15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41" name="R4_rx16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42" name="R4_ri16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4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400"/>
                                        <p:tgtEl>
                                          <p:spTgt spid="2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40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400"/>
                                        <p:tgtEl>
                                          <p:spTgt spid="3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400"/>
                                        <p:tgtEl>
                                          <p:spTgt spid="41"/>
                                        </p:tgtEl>
                                      </p:cBhvr>
                                    </p:animEffect>
                                  </p:childTnLst>
                                </p:cTn>
                              </p:par>
                              <p:par>
                                <p:cTn id="32" presetID="10" presetClass="entr" presetSubtype="0" fill="hold" nodeType="withEffect">
                                  <p:stCondLst>
                                    <p:cond delay="0"/>
                                  </p:stCondLst>
                                  <p:childTnLst>
                                    <p:set>
                                      <p:cBhvr>
                                        <p:cTn id="33" dur="1" fill="hold">
                                          <p:stCondLst>
                                            <p:cond delay="0"/>
                                          </p:stCondLst>
                                        </p:cTn>
                                        <p:tgtEl>
                                          <p:spTgt spid="42"/>
                                        </p:tgtEl>
                                        <p:attrNameLst>
                                          <p:attrName>style.visibility</p:attrName>
                                        </p:attrNameLst>
                                      </p:cBhvr>
                                      <p:to>
                                        <p:strVal val="visible"/>
                                      </p:to>
                                    </p:set>
                                    <p:animEffect transition="in" filter="fade">
                                      <p:cBhvr>
                                        <p:cTn id="34"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64"/>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6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1–6. Completa!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6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1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1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17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6" name="ah_175"/>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17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77" descr="/home/claude/lls-course/v2/cache/4a1_on_hold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178"/>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17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8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181"/>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182"/>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6" name="R1_chip183"/>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7" name="gq_184"/>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8" name="R2_chip185"/>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29" name="gq_186"/>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30" name="R3_chip187"/>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31" name="gq_188"/>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32" name="R4_chip189"/>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3" name="gq_190"/>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4" name="R5_chip191"/>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5" name="gq_192"/>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6" name="R6_chip193"/>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9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9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9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19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i suoni 7–11. Completa!</a:t>
            </a:r>
            <a:endParaRPr lang="en-US" sz="950" dirty="0"/>
          </a:p>
        </p:txBody>
      </p:sp>
      <p:sp>
        <p:nvSpPr>
          <p:cNvPr id="9" name="cmd_20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0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Listening · phone sounds   ·   📖 SB p.36 · 1a, 1b · audio 4.1, 4.2</a:t>
            </a:r>
            <a:endParaRPr lang="en-US" sz="800" dirty="0"/>
          </a:p>
        </p:txBody>
      </p:sp>
      <p:sp>
        <p:nvSpPr>
          <p:cNvPr id="15" name="ap_20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6" name="ah_207"/>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19"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0"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1" name="pf_2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209"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3" name="cd_2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6" name="il_2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7" name="gq_2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8" name="R1_chip2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29" name="gq_2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30" name="R2_chip2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31" name="gq_2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32" name="R3_chip2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3" name="gq_2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4" name="R4_chip2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5" name="gq_2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6" name="R5_chip2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seq concurrent="1" nextAc="seek">
              <p:cTn id="43" restart="whenNotActive" fill="hold" evtFilter="cancelBubble" nodeType="interactiveSeq">
                <p:stCondLst>
                  <p:cond evt="onClick" delay="0">
                    <p:tgtEl>
                      <p:spTgt spid="20"/>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0"/>
                                        </p:tgtEl>
                                      </p:cBhvr>
                                    </p:cmd>
                                  </p:childTnLst>
                                </p:cTn>
                              </p:par>
                            </p:childTnLst>
                          </p:cTn>
                        </p:par>
                      </p:childTnLst>
                    </p:cTn>
                  </p:par>
                </p:childTnLst>
              </p:cTn>
              <p:nextCondLst>
                <p:cond evt="onClick" delay="0">
                  <p:tgtEl>
                    <p:spTgt spid="20"/>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audio>
              <p:cMediaNode vol="80000">
                <p:cTn id="50" fill="hold" display="0">
                  <p:stCondLst>
                    <p:cond delay="indefinite"/>
                  </p:stCondLst>
                  <p:endCondLst>
                    <p:cond evt="onStopAudio" delay="0">
                      <p:tgtEl>
                        <p:sldTgt/>
                      </p:tgtEl>
                    </p:cond>
                  </p:endCondLst>
                </p:cTn>
                <p:tgtEl>
                  <p:spTgt spid="19"/>
                </p:tgtEl>
              </p:cMediaNode>
            </p:audio>
            <p:audio>
              <p:cMediaNode vol="80000">
                <p:cTn id="51" fill="hold" display="0">
                  <p:stCondLst>
                    <p:cond delay="indefinite"/>
                  </p:stCondLst>
                  <p:endCondLst>
                    <p:cond evt="onStopAudio" delay="0">
                      <p:tgtEl>
                        <p:sldTgt/>
                      </p:tgtEl>
                    </p:cond>
                  </p:endCondLst>
                </p:cTn>
                <p:tgtEl>
                  <p:spTgt spid="20"/>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4"/>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2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30"/>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 in Italian</a:t>
            </a:r>
            <a:endParaRPr lang="en-US" sz="800" dirty="0"/>
          </a:p>
        </p:txBody>
      </p:sp>
      <p:sp>
        <p:nvSpPr>
          <p:cNvPr id="14" name="cd_235"/>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6"/>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7"/>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7" name="R1_it238"/>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8" name="cd_239"/>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40"/>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1"/>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21" name="R1_it242"/>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2" name="cd_243"/>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4"/>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5"/>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5" name="R1_it246"/>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6" name="cd_247"/>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8"/>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9"/>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9" name="R1_it250"/>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30" name="cd_251"/>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2"/>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3"/>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3" name="R1_it254"/>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4" name="cd_25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7" name="R1_it258"/>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8" name="cd_259"/>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60"/>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1"/>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41" name="R1_it262"/>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2" name="cd_263"/>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4"/>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5"/>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5" name="R1_it266"/>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6" name="cd_267"/>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8"/>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9"/>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9" name="R1_it270"/>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50" name="cd_271"/>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2"/>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3"/>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3" name="R1_it274"/>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4" name="cd_275"/>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6"/>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7"/>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7" name="R1_it278"/>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8" name="cd_279"/>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80"/>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1"/>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61" name="R1_it282"/>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2" name="R1_wc283"/>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_w284"/>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fade">
                                      <p:cBhvr>
                                        <p:cTn id="13" dur="400"/>
                                        <p:tgtEl>
                                          <p:spTgt spid="25"/>
                                        </p:tgtEl>
                                      </p:cBhvr>
                                    </p:animEffect>
                                  </p:childTnLst>
                                </p:cTn>
                              </p:par>
                              <p:par>
                                <p:cTn id="14" presetID="10" presetClass="entr" presetSubtype="0" fill="hold" nodeType="with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0"/>
                                  </p:stCondLst>
                                  <p:childTnLst>
                                    <p:set>
                                      <p:cBhvr>
                                        <p:cTn id="18" dur="1" fill="hold">
                                          <p:stCondLst>
                                            <p:cond delay="0"/>
                                          </p:stCondLst>
                                        </p:cTn>
                                        <p:tgtEl>
                                          <p:spTgt spid="33"/>
                                        </p:tgtEl>
                                        <p:attrNameLst>
                                          <p:attrName>style.visibility</p:attrName>
                                        </p:attrNameLst>
                                      </p:cBhvr>
                                      <p:to>
                                        <p:strVal val="visible"/>
                                      </p:to>
                                    </p:set>
                                    <p:animEffect transition="in" filter="fade">
                                      <p:cBhvr>
                                        <p:cTn id="19" dur="400"/>
                                        <p:tgtEl>
                                          <p:spTgt spid="33"/>
                                        </p:tgtEl>
                                      </p:cBhvr>
                                    </p:animEffect>
                                  </p:childTnLst>
                                </p:cTn>
                              </p:par>
                              <p:par>
                                <p:cTn id="20" presetID="10" presetClass="entr" presetSubtype="0" fill="hold" nodeType="with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0" presetClass="entr" presetSubtype="0" fill="hold" nodeType="with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400"/>
                                        <p:tgtEl>
                                          <p:spTgt spid="41"/>
                                        </p:tgtEl>
                                      </p:cBhvr>
                                    </p:animEffect>
                                  </p:childTnLst>
                                </p:cTn>
                              </p:par>
                              <p:par>
                                <p:cTn id="26" presetID="10" presetClass="entr" presetSubtype="0" fill="hold" nodeType="withEffect">
                                  <p:stCondLst>
                                    <p:cond delay="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400"/>
                                        <p:tgtEl>
                                          <p:spTgt spid="49"/>
                                        </p:tgtEl>
                                      </p:cBhvr>
                                    </p:animEffect>
                                  </p:childTnLst>
                                </p:cTn>
                              </p:par>
                              <p:par>
                                <p:cTn id="32" presetID="10" presetClass="entr" presetSubtype="0" fill="hold" nodeType="withEffect">
                                  <p:stCondLst>
                                    <p:cond delay="0"/>
                                  </p:stCondLst>
                                  <p:childTnLst>
                                    <p:set>
                                      <p:cBhvr>
                                        <p:cTn id="33" dur="1" fill="hold">
                                          <p:stCondLst>
                                            <p:cond delay="0"/>
                                          </p:stCondLst>
                                        </p:cTn>
                                        <p:tgtEl>
                                          <p:spTgt spid="53"/>
                                        </p:tgtEl>
                                        <p:attrNameLst>
                                          <p:attrName>style.visibility</p:attrName>
                                        </p:attrNameLst>
                                      </p:cBhvr>
                                      <p:to>
                                        <p:strVal val="visible"/>
                                      </p:to>
                                    </p:set>
                                    <p:animEffect transition="in" filter="fade">
                                      <p:cBhvr>
                                        <p:cTn id="34" dur="400"/>
                                        <p:tgtEl>
                                          <p:spTgt spid="53"/>
                                        </p:tgtEl>
                                      </p:cBhvr>
                                    </p:animEffect>
                                  </p:childTnLst>
                                </p:cTn>
                              </p:par>
                              <p:par>
                                <p:cTn id="35" presetID="10" presetClass="entr" presetSubtype="0" fill="hold" nodeType="withEffect">
                                  <p:stCondLst>
                                    <p:cond delay="0"/>
                                  </p:stCondLst>
                                  <p:childTnLst>
                                    <p:set>
                                      <p:cBhvr>
                                        <p:cTn id="36" dur="1" fill="hold">
                                          <p:stCondLst>
                                            <p:cond delay="0"/>
                                          </p:stCondLst>
                                        </p:cTn>
                                        <p:tgtEl>
                                          <p:spTgt spid="57"/>
                                        </p:tgtEl>
                                        <p:attrNameLst>
                                          <p:attrName>style.visibility</p:attrName>
                                        </p:attrNameLst>
                                      </p:cBhvr>
                                      <p:to>
                                        <p:strVal val="visible"/>
                                      </p:to>
                                    </p:set>
                                    <p:animEffect transition="in" filter="fade">
                                      <p:cBhvr>
                                        <p:cTn id="37" dur="400"/>
                                        <p:tgtEl>
                                          <p:spTgt spid="57"/>
                                        </p:tgtEl>
                                      </p:cBhvr>
                                    </p:animEffect>
                                  </p:childTnLst>
                                </p:cTn>
                              </p:par>
                              <p:par>
                                <p:cTn id="38" presetID="10" presetClass="entr" presetSubtype="0" fill="hold" nodeType="withEffect">
                                  <p:stCondLst>
                                    <p:cond delay="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86"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7"/>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8"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89"/>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l'espressione. Non dirla!</a:t>
            </a:r>
            <a:endParaRPr lang="en-US" sz="950" dirty="0"/>
          </a:p>
        </p:txBody>
      </p:sp>
      <p:sp>
        <p:nvSpPr>
          <p:cNvPr id="9" name="cmd_2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2"/>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3"/>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Vocabulary game</a:t>
            </a:r>
            <a:endParaRPr lang="en-US" sz="800" dirty="0"/>
          </a:p>
        </p:txBody>
      </p:sp>
      <p:sp>
        <p:nvSpPr>
          <p:cNvPr id="14" name="cd_29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299"/>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explains the phrase. Don't say it!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p:txBody>
      </p:sp>
      <p:sp>
        <p:nvSpPr>
          <p:cNvPr id="18" name="pf_30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1" descr="/home/claude/lls-course/v2/cache/4a1_voicemail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2"/>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explains</a:t>
            </a:r>
            <a:endParaRPr lang="en-US" sz="1100" dirty="0"/>
          </a:p>
        </p:txBody>
      </p:sp>
      <p:sp>
        <p:nvSpPr>
          <p:cNvPr id="21" name="R1_w303"/>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2" name="R2_w304"/>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3" name="R3_w305"/>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4" name="R4_w306"/>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5" name="rl_307"/>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explains</a:t>
            </a:r>
            <a:endParaRPr lang="en-US" sz="1100" dirty="0"/>
          </a:p>
        </p:txBody>
      </p:sp>
      <p:sp>
        <p:nvSpPr>
          <p:cNvPr id="26" name="R5_w308"/>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7" name="R6_w309"/>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8" name="R7_w310"/>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9" name="R8_w311"/>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1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1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315"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16"/>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Chiedi a un compagno. Dai dettagli!</a:t>
            </a:r>
            <a:endParaRPr lang="en-US" sz="950" dirty="0"/>
          </a:p>
        </p:txBody>
      </p:sp>
      <p:sp>
        <p:nvSpPr>
          <p:cNvPr id="9" name="cmd_31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1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2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you and your phone   ·   📖 SB p.36 · 1c</a:t>
            </a:r>
            <a:endParaRPr lang="en-US" sz="800" dirty="0"/>
          </a:p>
        </p:txBody>
      </p:sp>
      <p:sp>
        <p:nvSpPr>
          <p:cNvPr id="14" name="pf_32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4" descr="/home/claude/lls-course/v2/cache/4a1_speakerphon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2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once… · No, never!</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 · What about you?</a:t>
            </a:r>
            <a:endParaRPr lang="en-US" sz="1050" dirty="0"/>
          </a:p>
        </p:txBody>
      </p:sp>
      <p:sp>
        <p:nvSpPr>
          <p:cNvPr id="20" name="R1_qb32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30"/>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Messaging – it's quicker and I can answer later.</a:t>
            </a:r>
            <a:endParaRPr lang="en-US" sz="1250" dirty="0"/>
          </a:p>
        </p:txBody>
      </p:sp>
      <p:pic>
        <p:nvPicPr>
          <p:cNvPr id="22" name="R1_th331"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33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33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A message about my teacher… to my teacher!</a:t>
            </a:r>
            <a:endParaRPr lang="en-US" sz="1250" dirty="0"/>
          </a:p>
        </p:txBody>
      </p:sp>
      <p:sp>
        <p:nvSpPr>
          <p:cNvPr id="25" name="R3_qb33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5"/>
          <p:cNvSpPr/>
          <p:nvPr/>
        </p:nvSpPr>
        <p:spPr>
          <a:xfrm>
            <a:off x="3675888" y="2624328"/>
            <a:ext cx="45079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call centre – they called during dinner!</a:t>
            </a:r>
            <a:endParaRPr lang="en-US" sz="1250" dirty="0"/>
          </a:p>
        </p:txBody>
      </p:sp>
      <p:pic>
        <p:nvPicPr>
          <p:cNvPr id="27" name="R3_th336"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8" name="R4_qb33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338"/>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 put it on speakerphone and do my homework.</a:t>
            </a:r>
            <a:endParaRPr lang="en-US" sz="1100" dirty="0"/>
          </a:p>
        </p:txBody>
      </p:sp>
      <p:pic>
        <p:nvPicPr>
          <p:cNvPr id="30" name="R4_th339"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34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341"/>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in a test! The teacher wasn't happy.</a:t>
            </a:r>
            <a:endParaRPr lang="en-US" sz="1250" dirty="0"/>
          </a:p>
        </p:txBody>
      </p:sp>
      <p:pic>
        <p:nvPicPr>
          <p:cNvPr id="33" name="R5_th342"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4"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45"/>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4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4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le parole mancanti.</a:t>
            </a:r>
            <a:endParaRPr lang="en-US" sz="950" dirty="0"/>
          </a:p>
        </p:txBody>
      </p:sp>
      <p:sp>
        <p:nvSpPr>
          <p:cNvPr id="9" name="cmd_3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5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35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article   ·   📖 SB p.36 · 2b (article, slightly shortened)</a:t>
            </a:r>
            <a:endParaRPr lang="en-US" sz="800" dirty="0"/>
          </a:p>
        </p:txBody>
      </p:sp>
      <p:sp>
        <p:nvSpPr>
          <p:cNvPr id="14" name="cd_35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6" name="ln_35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200" dirty="0"/>
          </a:p>
        </p:txBody>
      </p:sp>
      <p:sp>
        <p:nvSpPr>
          <p:cNvPr id="17" name="ln_357"/>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2EB872"/>
                </a:solidFill>
                <a:latin typeface="Georgia" pitchFamily="34" charset="0"/>
                <a:ea typeface="Georgia" pitchFamily="34" charset="-122"/>
                <a:cs typeface="Georgia" pitchFamily="34" charset="-120"/>
              </a:rPr>
              <a:t> (1) _____ </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8" name="R1_lnA358"/>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200" dirty="0">
                <a:solidFill>
                  <a:srgbClr val="1B2559"/>
                </a:solidFill>
                <a:latin typeface="Georgia" pitchFamily="34" charset="0"/>
                <a:ea typeface="Georgia" pitchFamily="34" charset="-122"/>
                <a:cs typeface="Georgia" pitchFamily="34" charset="-120"/>
              </a:rPr>
              <a:t> in a row close to the stage.</a:t>
            </a:r>
            <a:endParaRPr lang="en-US" sz="1200" dirty="0"/>
          </a:p>
        </p:txBody>
      </p:sp>
      <p:sp>
        <p:nvSpPr>
          <p:cNvPr id="19" name="ln_359"/>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2EB872"/>
                </a:solidFill>
                <a:latin typeface="Georgia" pitchFamily="34" charset="0"/>
                <a:ea typeface="Georgia" pitchFamily="34" charset="-122"/>
                <a:cs typeface="Georgia" pitchFamily="34" charset="-120"/>
              </a:rPr>
              <a:t> (2) _____ </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2EB872"/>
                </a:solidFill>
                <a:latin typeface="Georgia" pitchFamily="34" charset="0"/>
                <a:ea typeface="Georgia" pitchFamily="34" charset="-122"/>
                <a:cs typeface="Georgia" pitchFamily="34" charset="-120"/>
              </a:rPr>
              <a:t> (3) _____ </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0" name="R2_lnA360"/>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Conductor William Christie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200" dirty="0">
                <a:solidFill>
                  <a:srgbClr val="1B2559"/>
                </a:solidFill>
                <a:latin typeface="Georgia" pitchFamily="34" charset="0"/>
                <a:ea typeface="Georgia" pitchFamily="34" charset="-122"/>
                <a:cs typeface="Georgia" pitchFamily="34" charset="-120"/>
              </a:rPr>
              <a:t> the performance, turned,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200" dirty="0">
                <a:solidFill>
                  <a:srgbClr val="1B2559"/>
                </a:solidFill>
                <a:latin typeface="Georgia" pitchFamily="34" charset="0"/>
                <a:ea typeface="Georgia" pitchFamily="34" charset="-122"/>
                <a:cs typeface="Georgia" pitchFamily="34" charset="-120"/>
              </a:rPr>
              <a:t> at the phone owner, and shouted:</a:t>
            </a:r>
            <a:endParaRPr lang="en-US" sz="1200" dirty="0"/>
          </a:p>
        </p:txBody>
      </p:sp>
      <p:sp>
        <p:nvSpPr>
          <p:cNvPr id="21" name="ln_36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2EB872"/>
                </a:solidFill>
                <a:latin typeface="Georgia" pitchFamily="34" charset="0"/>
                <a:ea typeface="Georgia" pitchFamily="34" charset="-122"/>
                <a:cs typeface="Georgia" pitchFamily="34" charset="-120"/>
              </a:rPr>
              <a:t> (4) _____ </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2" name="R3_lnA36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'Out! You have just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2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200" dirty="0"/>
          </a:p>
        </p:txBody>
      </p:sp>
      <p:sp>
        <p:nvSpPr>
          <p:cNvPr id="23" name="ln_36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2EB872"/>
                </a:solidFill>
                <a:latin typeface="Georgia" pitchFamily="34" charset="0"/>
                <a:ea typeface="Georgia" pitchFamily="34" charset="-122"/>
                <a:cs typeface="Georgia" pitchFamily="34" charset="-120"/>
              </a:rPr>
              <a:t> (5) _____ </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4" name="R4_lnA36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2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2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200" dirty="0">
                <a:solidFill>
                  <a:srgbClr val="1B2559"/>
                </a:solidFill>
                <a:latin typeface="Georgia" pitchFamily="34" charset="0"/>
                <a:ea typeface="Georgia" pitchFamily="34" charset="-122"/>
                <a:cs typeface="Georgia" pitchFamily="34" charset="-120"/>
              </a:rPr>
              <a:t> the hall.</a:t>
            </a:r>
            <a:endParaRPr lang="en-US" sz="1200" dirty="0"/>
          </a:p>
        </p:txBody>
      </p:sp>
      <p:sp>
        <p:nvSpPr>
          <p:cNvPr id="25" name="pf_36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366" descr="/home/claude/lls-course/v2/cache/4a1_cover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36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36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36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37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conductor /kənˈdʌktə/ = direttore d'orchestra</a:t>
            </a:r>
            <a:endParaRPr lang="en-US" sz="750" dirty="0"/>
          </a:p>
          <a:p>
            <a:pPr marL="152400" indent="-152400">
              <a:spcAft>
                <a:spcPts val="200"/>
              </a:spcAft>
              <a:buSzPct val="100000"/>
              <a:buChar char="•"/>
            </a:pPr>
            <a:r>
              <a:rPr lang="en-US" sz="750" dirty="0">
                <a:solidFill>
                  <a:srgbClr val="1B2559"/>
                </a:solidFill>
                <a:latin typeface="Segoe UI" pitchFamily="34" charset="0"/>
                <a:ea typeface="Segoe UI" pitchFamily="34" charset="-122"/>
                <a:cs typeface="Segoe UI" pitchFamily="34" charset="-120"/>
              </a:rPr>
              <a:t>row = fila (of seats)</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72"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73"/>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7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7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Con chi sei d'accordo?</a:t>
            </a:r>
            <a:endParaRPr lang="en-US" sz="950" dirty="0"/>
          </a:p>
        </p:txBody>
      </p:sp>
      <p:sp>
        <p:nvSpPr>
          <p:cNvPr id="9" name="cmd_37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378"/>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1" name="meta_379"/>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80"/>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3" name="logo_3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Reading · the comments   ·   📖 SB p.36 · 2b comments (shortened)</a:t>
            </a:r>
            <a:endParaRPr lang="en-US" sz="800" dirty="0"/>
          </a:p>
        </p:txBody>
      </p:sp>
      <p:sp>
        <p:nvSpPr>
          <p:cNvPr id="15" name="pf_383"/>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84"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7" name="cd_385"/>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8" name="ii_386"/>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87"/>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20" name="il_388"/>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should / shouldn't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have to / don't have to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must / mustn't</a:t>
            </a:r>
            <a:endParaRPr lang="en-US" sz="1050" dirty="0"/>
          </a:p>
        </p:txBody>
      </p:sp>
      <p:sp>
        <p:nvSpPr>
          <p:cNvPr id="21" name="who_389"/>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90"/>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dirty="0">
                <a:solidFill>
                  <a:srgbClr val="1B2559"/>
                </a:solidFill>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3" name="R1_slA391"/>
          <p:cNvSpPr/>
          <p:nvPr/>
        </p:nvSpPr>
        <p:spPr>
          <a:xfrm>
            <a:off x="4114800" y="1444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people can't live without their phones for two hours,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¹ they shouldn't go to concerts</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4" name="who_392"/>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5" name="sl_393"/>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dirty="0">
                <a:solidFill>
                  <a:srgbClr val="1B2559"/>
                </a:solidFill>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6" name="R2_slA394"/>
          <p:cNvSpPr/>
          <p:nvPr/>
        </p:nvSpPr>
        <p:spPr>
          <a:xfrm>
            <a:off x="4114800" y="19019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We need a new rule: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² you have to leave your phone</a:t>
            </a:r>
            <a:pPr indent="0" marL="0">
              <a:buNone/>
            </a:pPr>
            <a:r>
              <a:rPr lang="en-US" sz="1150" dirty="0">
                <a:solidFill>
                  <a:srgbClr val="1B2559"/>
                </a:solidFill>
                <a:latin typeface="Segoe UI" pitchFamily="34" charset="0"/>
                <a:ea typeface="Segoe UI" pitchFamily="34" charset="-122"/>
                <a:cs typeface="Segoe UI" pitchFamily="34" charset="-120"/>
              </a:rPr>
              <a:t> in the cloakroom.</a:t>
            </a:r>
            <a:endParaRPr lang="en-US" sz="1150" dirty="0"/>
          </a:p>
        </p:txBody>
      </p:sp>
      <p:sp>
        <p:nvSpPr>
          <p:cNvPr id="27" name="who_395"/>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8" name="sl_396"/>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dirty="0">
                <a:solidFill>
                  <a:srgbClr val="1B2559"/>
                </a:solidFill>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29" name="R3_slA397"/>
          <p:cNvSpPr/>
          <p:nvPr/>
        </p:nvSpPr>
        <p:spPr>
          <a:xfrm>
            <a:off x="4114800" y="23591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If you are caught with a phone in the auditorium,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³ you must immediately pay a fine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0" name="who_398"/>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31" name="sl_399"/>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dirty="0">
                <a:solidFill>
                  <a:srgbClr val="1B2559"/>
                </a:solidFill>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2" name="R4_slA400"/>
          <p:cNvSpPr/>
          <p:nvPr/>
        </p:nvSpPr>
        <p:spPr>
          <a:xfrm>
            <a:off x="4114800" y="28163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People have work phones. Their companies tell them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⁴ they mustn't give their phones to anyone</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3" name="who_401"/>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4" name="sl_402"/>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dirty="0">
                <a:solidFill>
                  <a:srgbClr val="1B2559"/>
                </a:solidFill>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5" name="R5_slA403"/>
          <p:cNvSpPr/>
          <p:nvPr/>
        </p:nvSpPr>
        <p:spPr>
          <a:xfrm>
            <a:off x="4114800" y="32735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I think all concert halls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⁵ should block mobile phone reception</a:t>
            </a:r>
            <a:pPr indent="0" marL="0">
              <a:buNone/>
            </a:pPr>
            <a:r>
              <a:rPr lang="en-US" sz="1150" dirty="0">
                <a:solidFill>
                  <a:srgbClr val="1B2559"/>
                </a:solidFill>
                <a:latin typeface="Segoe UI" pitchFamily="34" charset="0"/>
                <a:ea typeface="Segoe UI" pitchFamily="34" charset="-122"/>
                <a:cs typeface="Segoe UI" pitchFamily="34" charset="-120"/>
              </a:rPr>
              <a:t>.</a:t>
            </a:r>
            <a:endParaRPr lang="en-US" sz="1150" dirty="0"/>
          </a:p>
        </p:txBody>
      </p:sp>
      <p:sp>
        <p:nvSpPr>
          <p:cNvPr id="36" name="who_404"/>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7" name="sl_405"/>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dirty="0">
                <a:solidFill>
                  <a:srgbClr val="1B2559"/>
                </a:solidFill>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
        <p:nvSpPr>
          <p:cNvPr id="38" name="R6_slA406"/>
          <p:cNvSpPr/>
          <p:nvPr/>
        </p:nvSpPr>
        <p:spPr>
          <a:xfrm>
            <a:off x="4114800" y="3730752"/>
            <a:ext cx="4754880" cy="402336"/>
          </a:xfrm>
          <a:prstGeom prst="roundRect">
            <a:avLst>
              <a:gd name="adj" fmla="val 27273"/>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pitchFamily="34" charset="0"/>
                <a:ea typeface="Segoe UI" pitchFamily="34" charset="-122"/>
                <a:cs typeface="Segoe UI" pitchFamily="34" charset="-120"/>
              </a:rPr>
              <a:t>Often it's an alarm, which </a:t>
            </a:r>
            <a:pPr indent="0" marL="0">
              <a:buNone/>
            </a:pPr>
            <a:r>
              <a:rPr lang="en-US" sz="1150" b="1" dirty="0">
                <a:solidFill>
                  <a:srgbClr val="1B2559"/>
                </a:solidFill>
                <a:highlight>
                  <a:srgbClr val="FFE066"/>
                </a:highlight>
                <a:latin typeface="Segoe UI" pitchFamily="34" charset="0"/>
                <a:ea typeface="Segoe UI" pitchFamily="34" charset="-122"/>
                <a:cs typeface="Segoe UI" pitchFamily="34" charset="-120"/>
              </a:rPr>
              <a:t>⁶ doesn't have to have</a:t>
            </a:r>
            <a:pPr indent="0" marL="0">
              <a:buNone/>
            </a:pPr>
            <a:r>
              <a:rPr lang="en-US" sz="1150" dirty="0">
                <a:solidFill>
                  <a:srgbClr val="1B2559"/>
                </a:solidFill>
                <a:latin typeface="Segoe UI" pitchFamily="34" charset="0"/>
                <a:ea typeface="Segoe UI" pitchFamily="34" charset="-122"/>
                <a:cs typeface="Segoe UI"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4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410"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11"/>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4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significano 1–6? Abbina il colore.</a:t>
            </a:r>
            <a:endParaRPr lang="en-US" sz="950" dirty="0"/>
          </a:p>
        </p:txBody>
      </p:sp>
      <p:sp>
        <p:nvSpPr>
          <p:cNvPr id="9" name="cmd_41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1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discovery   ·   📖 SB p.36 · 2c</a:t>
            </a:r>
            <a:endParaRPr lang="en-US" sz="800" dirty="0"/>
          </a:p>
        </p:txBody>
      </p:sp>
      <p:sp>
        <p:nvSpPr>
          <p:cNvPr id="14" name="cd_41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1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2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7" name="il_42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422"/>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9" name="lg_423"/>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0" name="lg_424"/>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1" name="lg_425"/>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22" name="lg_426"/>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3" name="sq_427"/>
          <p:cNvSpPr/>
          <p:nvPr/>
        </p:nvSpPr>
        <p:spPr>
          <a:xfrm>
            <a:off x="3246120" y="1417320"/>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4" name="R1_tag428"/>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5" name="sq_429"/>
          <p:cNvSpPr/>
          <p:nvPr/>
        </p:nvSpPr>
        <p:spPr>
          <a:xfrm>
            <a:off x="3246120" y="1956816"/>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6" name="R2_tag430"/>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7" name="sq_431"/>
          <p:cNvSpPr/>
          <p:nvPr/>
        </p:nvSpPr>
        <p:spPr>
          <a:xfrm>
            <a:off x="3246120" y="2496312"/>
            <a:ext cx="3840480" cy="475488"/>
          </a:xfrm>
          <a:prstGeom prst="roundRect">
            <a:avLst>
              <a:gd name="adj" fmla="val 19231"/>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8" name="R3_tag432"/>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9" name="sq_433"/>
          <p:cNvSpPr/>
          <p:nvPr/>
        </p:nvSpPr>
        <p:spPr>
          <a:xfrm>
            <a:off x="3246120" y="3035808"/>
            <a:ext cx="3840480" cy="475488"/>
          </a:xfrm>
          <a:prstGeom prst="roundRect">
            <a:avLst>
              <a:gd name="adj" fmla="val 19231"/>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30" name="R4_tag434"/>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31" name="sq_435"/>
          <p:cNvSpPr/>
          <p:nvPr/>
        </p:nvSpPr>
        <p:spPr>
          <a:xfrm>
            <a:off x="3246120" y="3575304"/>
            <a:ext cx="3840480" cy="475488"/>
          </a:xfrm>
          <a:prstGeom prst="roundRect">
            <a:avLst>
              <a:gd name="adj" fmla="val 19231"/>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32" name="R5_tag436"/>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3" name="sq_437"/>
          <p:cNvSpPr/>
          <p:nvPr/>
        </p:nvSpPr>
        <p:spPr>
          <a:xfrm>
            <a:off x="3246120" y="4114800"/>
            <a:ext cx="3840480" cy="475488"/>
          </a:xfrm>
          <a:prstGeom prst="roundRect">
            <a:avLst>
              <a:gd name="adj" fmla="val 19231"/>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4" name="R6_tag438"/>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pf_43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440" descr="/home/claude/lls-course/v2/cache/4a1_public_transport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4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45"/>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Qual è la regola?</a:t>
            </a:r>
            <a:endParaRPr lang="en-US" sz="950" dirty="0"/>
          </a:p>
        </p:txBody>
      </p:sp>
      <p:sp>
        <p:nvSpPr>
          <p:cNvPr id="9" name="cmd_4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4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1" name="tag_4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the rule   ·   📖 Grammar Bank 4A p.138 · audio 4.4–4.7</a:t>
            </a:r>
            <a:endParaRPr lang="en-US" sz="800" dirty="0"/>
          </a:p>
        </p:txBody>
      </p:sp>
      <p:sp>
        <p:nvSpPr>
          <p:cNvPr id="14" name="ap_452"/>
          <p:cNvSpPr/>
          <p:nvPr/>
        </p:nvSpPr>
        <p:spPr>
          <a:xfrm>
            <a:off x="6583680" y="914400"/>
            <a:ext cx="26974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4.4 + 4.5 + 4.6 + 4.7</a:t>
            </a:r>
            <a:endParaRPr lang="en-US" sz="1100" dirty="0"/>
          </a:p>
        </p:txBody>
      </p:sp>
      <p:sp>
        <p:nvSpPr>
          <p:cNvPr id="15" name="ah_453"/>
          <p:cNvSpPr/>
          <p:nvPr/>
        </p:nvSpPr>
        <p:spPr>
          <a:xfrm>
            <a:off x="3072384"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72584"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48072" y="4553712"/>
            <a:ext cx="411480" cy="411480"/>
          </a:xfrm>
          <a:prstGeom prst="rect">
            <a:avLst/>
          </a:prstGeom>
        </p:spPr>
      </p:pic>
      <p:pic>
        <p:nvPicPr>
          <p:cNvPr id="18"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5623560" y="4553712"/>
            <a:ext cx="411480" cy="411480"/>
          </a:xfrm>
          <a:prstGeom prst="rect">
            <a:avLst/>
          </a:prstGeom>
        </p:spPr>
      </p:pic>
      <p:pic>
        <p:nvPicPr>
          <p:cNvPr id="19"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6099048" y="4553712"/>
            <a:ext cx="411480" cy="411480"/>
          </a:xfrm>
          <a:prstGeom prst="rect">
            <a:avLst/>
          </a:prstGeom>
        </p:spPr>
      </p:pic>
      <p:pic>
        <p:nvPicPr>
          <p:cNvPr id="20"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574536" y="4553712"/>
            <a:ext cx="411480" cy="411480"/>
          </a:xfrm>
          <a:prstGeom prst="rect">
            <a:avLst/>
          </a:prstGeom>
        </p:spPr>
      </p:pic>
      <p:pic>
        <p:nvPicPr>
          <p:cNvPr id="21"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050024" y="4553712"/>
            <a:ext cx="411480" cy="411480"/>
          </a:xfrm>
          <a:prstGeom prst="rect">
            <a:avLst/>
          </a:prstGeom>
        </p:spPr>
      </p:pic>
      <p:pic>
        <p:nvPicPr>
          <p:cNvPr id="22"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525512" y="4553712"/>
            <a:ext cx="411480" cy="411480"/>
          </a:xfrm>
          <a:prstGeom prst="rect">
            <a:avLst/>
          </a:prstGeom>
        </p:spPr>
      </p:pic>
      <p:pic>
        <p:nvPicPr>
          <p:cNvPr id="23"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001000" y="4553712"/>
            <a:ext cx="411480" cy="411480"/>
          </a:xfrm>
          <a:prstGeom prst="rect">
            <a:avLst/>
          </a:prstGeom>
        </p:spPr>
      </p:pic>
      <p:sp>
        <p:nvSpPr>
          <p:cNvPr id="24" name="cd_454"/>
          <p:cNvSpPr/>
          <p:nvPr/>
        </p:nvSpPr>
        <p:spPr>
          <a:xfrm>
            <a:off x="3200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455"/>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6" name="pf_456"/>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457" descr="/home/claude/lls-course/v2/cache/4a1_cloakroom_jpg_415x209_31.png">    </p:cNvPr>
          <p:cNvPicPr>
            <a:picLocks noChangeAspect="1"/>
          </p:cNvPicPr>
          <p:nvPr/>
        </p:nvPicPr>
        <p:blipFill>
          <a:blip r:embed="rId29"/>
          <a:stretch>
            <a:fillRect/>
          </a:stretch>
        </p:blipFill>
        <p:spPr>
          <a:xfrm>
            <a:off x="475488" y="1984248"/>
            <a:ext cx="1723644" cy="868680"/>
          </a:xfrm>
          <a:prstGeom prst="rect">
            <a:avLst/>
          </a:prstGeom>
        </p:spPr>
      </p:pic>
      <p:sp>
        <p:nvSpPr>
          <p:cNvPr id="28" name="ru_458"/>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9" name="R1_rx459"/>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30" name="R1_ri460"/>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obbligatorio · bisogna</a:t>
            </a:r>
            <a:endParaRPr lang="en-US" sz="900" dirty="0"/>
          </a:p>
        </p:txBody>
      </p:sp>
      <p:sp>
        <p:nvSpPr>
          <p:cNvPr id="31" name="cd_461"/>
          <p:cNvSpPr/>
          <p:nvPr/>
        </p:nvSpPr>
        <p:spPr>
          <a:xfrm>
            <a:off x="24917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32" name="rh_462"/>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3" name="pf_463"/>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464"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5" name="ru_465"/>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6" name="R2_rx466"/>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7" name="R2_ri467"/>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è vietato</a:t>
            </a:r>
            <a:endParaRPr lang="en-US" sz="900" dirty="0"/>
          </a:p>
        </p:txBody>
      </p:sp>
      <p:sp>
        <p:nvSpPr>
          <p:cNvPr id="38" name="cd_468"/>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9" name="rh_469"/>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40" name="pf_470"/>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71" descr="/home/claude/lls-course/v2/cache/4a1_voicemail_jpg_415x209_31.png">    </p:cNvPr>
          <p:cNvPicPr>
            <a:picLocks noChangeAspect="1"/>
          </p:cNvPicPr>
          <p:nvPr/>
        </p:nvPicPr>
        <p:blipFill>
          <a:blip r:embed="rId31"/>
          <a:stretch>
            <a:fillRect/>
          </a:stretch>
        </p:blipFill>
        <p:spPr>
          <a:xfrm>
            <a:off x="4818888" y="1984248"/>
            <a:ext cx="1723644" cy="868680"/>
          </a:xfrm>
          <a:prstGeom prst="rect">
            <a:avLst/>
          </a:prstGeom>
        </p:spPr>
      </p:pic>
      <p:sp>
        <p:nvSpPr>
          <p:cNvPr id="42" name="ru_472"/>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3" name="R3_rx473"/>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4" name="R3_ri474"/>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non è necessario</a:t>
            </a:r>
            <a:endParaRPr lang="en-US" sz="900" dirty="0"/>
          </a:p>
        </p:txBody>
      </p:sp>
      <p:sp>
        <p:nvSpPr>
          <p:cNvPr id="45" name="cd_475"/>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46" name="rh_476"/>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7" name="pf_477"/>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8" name="ph_478" descr="/home/claude/lls-course/v2/cache/4a1_table_manners_jpg_415x209_31.png">    </p:cNvPr>
          <p:cNvPicPr>
            <a:picLocks noChangeAspect="1"/>
          </p:cNvPicPr>
          <p:nvPr/>
        </p:nvPicPr>
        <p:blipFill>
          <a:blip r:embed="rId32"/>
          <a:stretch>
            <a:fillRect/>
          </a:stretch>
        </p:blipFill>
        <p:spPr>
          <a:xfrm>
            <a:off x="6990588" y="1984248"/>
            <a:ext cx="1723644" cy="868680"/>
          </a:xfrm>
          <a:prstGeom prst="rect">
            <a:avLst/>
          </a:prstGeom>
        </p:spPr>
      </p:pic>
      <p:sp>
        <p:nvSpPr>
          <p:cNvPr id="49" name="ru_479"/>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50" name="R4_rx480"/>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51" name="R4_ri481"/>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dovresti / non dovresti</a:t>
            </a:r>
            <a:endParaRPr lang="en-US" sz="900" dirty="0"/>
          </a:p>
        </p:txBody>
      </p:sp>
      <p:sp>
        <p:nvSpPr>
          <p:cNvPr id="52" name="R5_wc482"/>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53" name="R5_w483"/>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fade">
                                      <p:cBhvr>
                                        <p:cTn id="7" dur="400"/>
                                        <p:tgtEl>
                                          <p:spTgt spid="29"/>
                                        </p:tgtEl>
                                      </p:cBhvr>
                                    </p:animEffect>
                                  </p:childTnLst>
                                </p:cTn>
                              </p:par>
                              <p:par>
                                <p:cTn id="8" presetID="10" presetClass="entr" presetSubtype="0" fill="hold" nodeType="withEffect">
                                  <p:stCondLst>
                                    <p:cond delay="0"/>
                                  </p:stCondLst>
                                  <p:childTnLst>
                                    <p:set>
                                      <p:cBhvr>
                                        <p:cTn id="9" dur="1" fill="hold">
                                          <p:stCondLst>
                                            <p:cond delay="0"/>
                                          </p:stCondLst>
                                        </p:cTn>
                                        <p:tgtEl>
                                          <p:spTgt spid="30"/>
                                        </p:tgtEl>
                                        <p:attrNameLst>
                                          <p:attrName>style.visibility</p:attrName>
                                        </p:attrNameLst>
                                      </p:cBhvr>
                                      <p:to>
                                        <p:strVal val="visible"/>
                                      </p:to>
                                    </p:set>
                                    <p:animEffect transition="in" filter="fade">
                                      <p:cBhvr>
                                        <p:cTn id="10" dur="400"/>
                                        <p:tgtEl>
                                          <p:spTgt spid="3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400"/>
                                        <p:tgtEl>
                                          <p:spTgt spid="36"/>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400"/>
                                        <p:tgtEl>
                                          <p:spTgt spid="3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fade">
                                      <p:cBhvr>
                                        <p:cTn id="23" dur="400"/>
                                        <p:tgtEl>
                                          <p:spTgt spid="43"/>
                                        </p:tgtEl>
                                      </p:cBhvr>
                                    </p:animEffect>
                                  </p:childTnLst>
                                </p:cTn>
                              </p:par>
                              <p:par>
                                <p:cTn id="24" presetID="10" presetClass="entr" presetSubtype="0" fill="hold" nodeType="withEffect">
                                  <p:stCondLst>
                                    <p:cond delay="0"/>
                                  </p:stCondLst>
                                  <p:childTnLst>
                                    <p:set>
                                      <p:cBhvr>
                                        <p:cTn id="25" dur="1" fill="hold">
                                          <p:stCondLst>
                                            <p:cond delay="0"/>
                                          </p:stCondLst>
                                        </p:cTn>
                                        <p:tgtEl>
                                          <p:spTgt spid="44"/>
                                        </p:tgtEl>
                                        <p:attrNameLst>
                                          <p:attrName>style.visibility</p:attrName>
                                        </p:attrNameLst>
                                      </p:cBhvr>
                                      <p:to>
                                        <p:strVal val="visible"/>
                                      </p:to>
                                    </p:set>
                                    <p:animEffect transition="in" filter="fade">
                                      <p:cBhvr>
                                        <p:cTn id="26" dur="400"/>
                                        <p:tgtEl>
                                          <p:spTgt spid="4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400"/>
                                        <p:tgtEl>
                                          <p:spTgt spid="50"/>
                                        </p:tgtEl>
                                      </p:cBhvr>
                                    </p:animEffect>
                                  </p:childTnLst>
                                </p:cTn>
                              </p:par>
                              <p:par>
                                <p:cTn id="32" presetID="10" presetClass="entr" presetSubtype="0" fill="hold" nodeType="withEffect">
                                  <p:stCondLst>
                                    <p:cond delay="0"/>
                                  </p:stCondLst>
                                  <p:childTnLst>
                                    <p:set>
                                      <p:cBhvr>
                                        <p:cTn id="33" dur="1" fill="hold">
                                          <p:stCondLst>
                                            <p:cond delay="0"/>
                                          </p:stCondLst>
                                        </p:cTn>
                                        <p:tgtEl>
                                          <p:spTgt spid="51"/>
                                        </p:tgtEl>
                                        <p:attrNameLst>
                                          <p:attrName>style.visibility</p:attrName>
                                        </p:attrNameLst>
                                      </p:cBhvr>
                                      <p:to>
                                        <p:strVal val="visible"/>
                                      </p:to>
                                    </p:set>
                                    <p:animEffect transition="in" filter="fade">
                                      <p:cBhvr>
                                        <p:cTn id="34" dur="400"/>
                                        <p:tgtEl>
                                          <p:spTgt spid="51"/>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2"/>
                                        </p:tgtEl>
                                        <p:attrNameLst>
                                          <p:attrName>style.visibility</p:attrName>
                                        </p:attrNameLst>
                                      </p:cBhvr>
                                      <p:to>
                                        <p:strVal val="visible"/>
                                      </p:to>
                                    </p:set>
                                    <p:animEffect transition="in" filter="fade">
                                      <p:cBhvr>
                                        <p:cTn id="39" dur="400"/>
                                        <p:tgtEl>
                                          <p:spTgt spid="52"/>
                                        </p:tgtEl>
                                      </p:cBhvr>
                                    </p:animEffect>
                                  </p:childTnLst>
                                </p:cTn>
                              </p:par>
                              <p:par>
                                <p:cTn id="40" presetID="10" presetClass="entr" presetSubtype="0" fill="hold" nodeType="withEffect">
                                  <p:stCondLst>
                                    <p:cond delay="0"/>
                                  </p:stCondLst>
                                  <p:childTnLst>
                                    <p:set>
                                      <p:cBhvr>
                                        <p:cTn id="41" dur="1" fill="hold">
                                          <p:stCondLst>
                                            <p:cond delay="0"/>
                                          </p:stCondLst>
                                        </p:cTn>
                                        <p:tgtEl>
                                          <p:spTgt spid="53"/>
                                        </p:tgtEl>
                                        <p:attrNameLst>
                                          <p:attrName>style.visibility</p:attrName>
                                        </p:attrNameLst>
                                      </p:cBhvr>
                                      <p:to>
                                        <p:strVal val="visible"/>
                                      </p:to>
                                    </p:set>
                                    <p:animEffect transition="in" filter="fade">
                                      <p:cBhvr>
                                        <p:cTn id="42" dur="4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6"/>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6"/>
                                        </p:tgtEl>
                                      </p:cBhvr>
                                    </p:cmd>
                                  </p:childTnLst>
                                </p:cTn>
                              </p:par>
                            </p:childTnLst>
                          </p:cTn>
                        </p:par>
                      </p:childTnLst>
                    </p:cTn>
                  </p:par>
                </p:childTnLst>
              </p:cTn>
              <p:nextCondLst>
                <p:cond evt="onClick" delay="0">
                  <p:tgtEl>
                    <p:spTgt spid="16"/>
                  </p:tgtEl>
                </p:cond>
              </p:nextCondLst>
            </p:seq>
            <p:seq concurrent="1" nextAc="seek">
              <p:cTn id="48" restart="whenNotActive" fill="hold" evtFilter="cancelBubble" nodeType="interactiveSeq">
                <p:stCondLst>
                  <p:cond evt="onClick" delay="0">
                    <p:tgtEl>
                      <p:spTgt spid="1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7"/>
                                        </p:tgtEl>
                                      </p:cBhvr>
                                    </p:cmd>
                                  </p:childTnLst>
                                </p:cTn>
                              </p:par>
                            </p:childTnLst>
                          </p:cTn>
                        </p:par>
                      </p:childTnLst>
                    </p:cTn>
                  </p:par>
                </p:childTnLst>
              </p:cTn>
              <p:nextCondLst>
                <p:cond evt="onClick" delay="0">
                  <p:tgtEl>
                    <p:spTgt spid="17"/>
                  </p:tgtEl>
                </p:cond>
              </p:nextCondLst>
            </p:seq>
            <p:seq concurrent="1" nextAc="seek">
              <p:cTn id="53" restart="whenNotActive" fill="hold" evtFilter="cancelBubble" nodeType="interactiveSeq">
                <p:stCondLst>
                  <p:cond evt="onClick" delay="0">
                    <p:tgtEl>
                      <p:spTgt spid="18"/>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8"/>
                                        </p:tgtEl>
                                      </p:cBhvr>
                                    </p:cmd>
                                  </p:childTnLst>
                                </p:cTn>
                              </p:par>
                            </p:childTnLst>
                          </p:cTn>
                        </p:par>
                      </p:childTnLst>
                    </p:cTn>
                  </p:par>
                </p:childTnLst>
              </p:cTn>
              <p:nextCondLst>
                <p:cond evt="onClick" delay="0">
                  <p:tgtEl>
                    <p:spTgt spid="18"/>
                  </p:tgtEl>
                </p:cond>
              </p:nextCondLst>
            </p:seq>
            <p:seq concurrent="1" nextAc="seek">
              <p:cTn id="58" restart="whenNotActive" fill="hold" evtFilter="cancelBubble" nodeType="interactiveSeq">
                <p:stCondLst>
                  <p:cond evt="onClick" delay="0">
                    <p:tgtEl>
                      <p:spTgt spid="19"/>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9"/>
                                        </p:tgtEl>
                                      </p:cBhvr>
                                    </p:cmd>
                                  </p:childTnLst>
                                </p:cTn>
                              </p:par>
                            </p:childTnLst>
                          </p:cTn>
                        </p:par>
                      </p:childTnLst>
                    </p:cTn>
                  </p:par>
                </p:childTnLst>
              </p:cTn>
              <p:nextCondLst>
                <p:cond evt="onClick" delay="0">
                  <p:tgtEl>
                    <p:spTgt spid="19"/>
                  </p:tgtEl>
                </p:cond>
              </p:nextCondLst>
            </p:seq>
            <p:seq concurrent="1" nextAc="seek">
              <p:cTn id="63" restart="whenNotActive" fill="hold" evtFilter="cancelBubble" nodeType="interactiveSeq">
                <p:stCondLst>
                  <p:cond evt="onClick" delay="0">
                    <p:tgtEl>
                      <p:spTgt spid="20"/>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20"/>
                                        </p:tgtEl>
                                      </p:cBhvr>
                                    </p:cmd>
                                  </p:childTnLst>
                                </p:cTn>
                              </p:par>
                            </p:childTnLst>
                          </p:cTn>
                        </p:par>
                      </p:childTnLst>
                    </p:cTn>
                  </p:par>
                </p:childTnLst>
              </p:cTn>
              <p:nextCondLst>
                <p:cond evt="onClick" delay="0">
                  <p:tgtEl>
                    <p:spTgt spid="20"/>
                  </p:tgtEl>
                </p:cond>
              </p:nextCondLst>
            </p:seq>
            <p:seq concurrent="1" nextAc="seek">
              <p:cTn id="68" restart="whenNotActive" fill="hold" evtFilter="cancelBubble" nodeType="interactiveSeq">
                <p:stCondLst>
                  <p:cond evt="onClick" delay="0">
                    <p:tgtEl>
                      <p:spTgt spid="21"/>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21"/>
                                        </p:tgtEl>
                                      </p:cBhvr>
                                    </p:cmd>
                                  </p:childTnLst>
                                </p:cTn>
                              </p:par>
                            </p:childTnLst>
                          </p:cTn>
                        </p:par>
                      </p:childTnLst>
                    </p:cTn>
                  </p:par>
                </p:childTnLst>
              </p:cTn>
              <p:nextCondLst>
                <p:cond evt="onClick" delay="0">
                  <p:tgtEl>
                    <p:spTgt spid="21"/>
                  </p:tgtEl>
                </p:cond>
              </p:nextCondLst>
            </p:seq>
            <p:seq concurrent="1" nextAc="seek">
              <p:cTn id="73" restart="whenNotActive" fill="hold" evtFilter="cancelBubble" nodeType="interactiveSeq">
                <p:stCondLst>
                  <p:cond evt="onClick" delay="0">
                    <p:tgtEl>
                      <p:spTgt spid="22"/>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2"/>
                                        </p:tgtEl>
                                      </p:cBhvr>
                                    </p:cmd>
                                  </p:childTnLst>
                                </p:cTn>
                              </p:par>
                            </p:childTnLst>
                          </p:cTn>
                        </p:par>
                      </p:childTnLst>
                    </p:cTn>
                  </p:par>
                </p:childTnLst>
              </p:cTn>
              <p:nextCondLst>
                <p:cond evt="onClick" delay="0">
                  <p:tgtEl>
                    <p:spTgt spid="22"/>
                  </p:tgtEl>
                </p:cond>
              </p:nextCondLst>
            </p:seq>
            <p:seq concurrent="1" nextAc="seek">
              <p:cTn id="78" restart="whenNotActive" fill="hold" evtFilter="cancelBubble" nodeType="interactiveSeq">
                <p:stCondLst>
                  <p:cond evt="onClick" delay="0">
                    <p:tgtEl>
                      <p:spTgt spid="23"/>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3"/>
                                        </p:tgtEl>
                                      </p:cBhvr>
                                    </p:cmd>
                                  </p:childTnLst>
                                </p:cTn>
                              </p:par>
                            </p:childTnLst>
                          </p:cTn>
                        </p:par>
                      </p:childTnLst>
                    </p:cTn>
                  </p:par>
                </p:childTnLst>
              </p:cTn>
              <p:nextCondLst>
                <p:cond evt="onClick" delay="0">
                  <p:tgtEl>
                    <p:spTgt spid="23"/>
                  </p:tgtEl>
                </p:cond>
              </p:nextCondLst>
            </p:seq>
            <p:audio>
              <p:cMediaNode vol="80000">
                <p:cTn id="83" fill="hold" display="0">
                  <p:stCondLst>
                    <p:cond delay="indefinite"/>
                  </p:stCondLst>
                  <p:endCondLst>
                    <p:cond evt="onStopAudio" delay="0">
                      <p:tgtEl>
                        <p:sldTgt/>
                      </p:tgtEl>
                    </p:cond>
                  </p:endCondLst>
                </p:cTn>
                <p:tgtEl>
                  <p:spTgt spid="16"/>
                </p:tgtEl>
              </p:cMediaNode>
            </p:audio>
            <p:audio>
              <p:cMediaNode vol="80000">
                <p:cTn id="84" fill="hold" display="0">
                  <p:stCondLst>
                    <p:cond delay="indefinite"/>
                  </p:stCondLst>
                  <p:endCondLst>
                    <p:cond evt="onStopAudio" delay="0">
                      <p:tgtEl>
                        <p:sldTgt/>
                      </p:tgtEl>
                    </p:cond>
                  </p:endCondLst>
                </p:cTn>
                <p:tgtEl>
                  <p:spTgt spid="17"/>
                </p:tgtEl>
              </p:cMediaNode>
            </p:audio>
            <p:audio>
              <p:cMediaNode vol="80000">
                <p:cTn id="85" fill="hold" display="0">
                  <p:stCondLst>
                    <p:cond delay="indefinite"/>
                  </p:stCondLst>
                  <p:endCondLst>
                    <p:cond evt="onStopAudio" delay="0">
                      <p:tgtEl>
                        <p:sldTgt/>
                      </p:tgtEl>
                    </p:cond>
                  </p:endCondLst>
                </p:cTn>
                <p:tgtEl>
                  <p:spTgt spid="18"/>
                </p:tgtEl>
              </p:cMediaNode>
            </p:audio>
            <p:audio>
              <p:cMediaNode vol="80000">
                <p:cTn id="86" fill="hold" display="0">
                  <p:stCondLst>
                    <p:cond delay="indefinite"/>
                  </p:stCondLst>
                  <p:endCondLst>
                    <p:cond evt="onStopAudio" delay="0">
                      <p:tgtEl>
                        <p:sldTgt/>
                      </p:tgtEl>
                    </p:cond>
                  </p:endCondLst>
                </p:cTn>
                <p:tgtEl>
                  <p:spTgt spid="19"/>
                </p:tgtEl>
              </p:cMediaNode>
            </p:audio>
            <p:audio>
              <p:cMediaNode vol="80000">
                <p:cTn id="87" fill="hold" display="0">
                  <p:stCondLst>
                    <p:cond delay="indefinite"/>
                  </p:stCondLst>
                  <p:endCondLst>
                    <p:cond evt="onStopAudio" delay="0">
                      <p:tgtEl>
                        <p:sldTgt/>
                      </p:tgtEl>
                    </p:cond>
                  </p:endCondLst>
                </p:cTn>
                <p:tgtEl>
                  <p:spTgt spid="20"/>
                </p:tgtEl>
              </p:cMediaNode>
            </p:audio>
            <p:audio>
              <p:cMediaNode vol="80000">
                <p:cTn id="88" fill="hold" display="0">
                  <p:stCondLst>
                    <p:cond delay="indefinite"/>
                  </p:stCondLst>
                  <p:endCondLst>
                    <p:cond evt="onStopAudio" delay="0">
                      <p:tgtEl>
                        <p:sldTgt/>
                      </p:tgtEl>
                    </p:cond>
                  </p:endCondLst>
                </p:cTn>
                <p:tgtEl>
                  <p:spTgt spid="21"/>
                </p:tgtEl>
              </p:cMediaNode>
            </p:audio>
            <p:audio>
              <p:cMediaNode vol="80000">
                <p:cTn id="89" fill="hold" display="0">
                  <p:stCondLst>
                    <p:cond delay="indefinite"/>
                  </p:stCondLst>
                  <p:endCondLst>
                    <p:cond evt="onStopAudio" delay="0">
                      <p:tgtEl>
                        <p:sldTgt/>
                      </p:tgtEl>
                    </p:cond>
                  </p:endCondLst>
                </p:cTn>
                <p:tgtEl>
                  <p:spTgt spid="22"/>
                </p:tgtEl>
              </p:cMediaNode>
            </p:audio>
            <p:audio>
              <p:cMediaNode vol="80000">
                <p:cTn id="90" fill="hold" display="0">
                  <p:stCondLst>
                    <p:cond delay="indefinite"/>
                  </p:stCondLst>
                  <p:endCondLst>
                    <p:cond evt="onStopAudio" delay="0">
                      <p:tgtEl>
                        <p:sldTgt/>
                      </p:tgtEl>
                    </p:cond>
                  </p:endCondLst>
                </p:cTn>
                <p:tgtEl>
                  <p:spTgt spid="23"/>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85"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86"/>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487"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8"/>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4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Di' le parole mancanti. Veloce!</a:t>
            </a:r>
            <a:endParaRPr lang="en-US" sz="950" dirty="0"/>
          </a:p>
        </p:txBody>
      </p:sp>
      <p:sp>
        <p:nvSpPr>
          <p:cNvPr id="9" name="cmd_4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4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a:t>
            </a:r>
            <a:endParaRPr lang="en-US" sz="800" dirty="0"/>
          </a:p>
        </p:txBody>
      </p:sp>
      <p:sp>
        <p:nvSpPr>
          <p:cNvPr id="14" name="cd_495"/>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97"/>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498"/>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sentence.</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words in 10 seconds.</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 say WHY = 2 points.</a:t>
            </a:r>
            <a:endParaRPr lang="en-US" sz="1150" dirty="0"/>
          </a:p>
        </p:txBody>
      </p:sp>
      <p:sp>
        <p:nvSpPr>
          <p:cNvPr id="18" name="st_499"/>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50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50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100" dirty="0"/>
          </a:p>
        </p:txBody>
      </p:sp>
      <p:sp>
        <p:nvSpPr>
          <p:cNvPr id="21" name="R1_chip50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mustn't (not allowed)</a:t>
            </a:r>
            <a:endParaRPr lang="en-US" sz="1100" dirty="0"/>
          </a:p>
        </p:txBody>
      </p:sp>
      <p:sp>
        <p:nvSpPr>
          <p:cNvPr id="22" name="bd_50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50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100" dirty="0"/>
          </a:p>
        </p:txBody>
      </p:sp>
      <p:sp>
        <p:nvSpPr>
          <p:cNvPr id="24" name="R2_chip50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100" dirty="0"/>
          </a:p>
        </p:txBody>
      </p:sp>
      <p:sp>
        <p:nvSpPr>
          <p:cNvPr id="25" name="bd_50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50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100" dirty="0"/>
          </a:p>
        </p:txBody>
      </p:sp>
      <p:sp>
        <p:nvSpPr>
          <p:cNvPr id="27" name="R3_chip50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have to / must (a rule)</a:t>
            </a:r>
            <a:endParaRPr lang="en-US" sz="1100" dirty="0"/>
          </a:p>
        </p:txBody>
      </p:sp>
      <p:sp>
        <p:nvSpPr>
          <p:cNvPr id="28" name="bd_50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51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100" dirty="0"/>
          </a:p>
        </p:txBody>
      </p:sp>
      <p:sp>
        <p:nvSpPr>
          <p:cNvPr id="30" name="R4_chip51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 (good idea)</a:t>
            </a:r>
            <a:endParaRPr lang="en-US" sz="1100" dirty="0"/>
          </a:p>
        </p:txBody>
      </p:sp>
      <p:sp>
        <p:nvSpPr>
          <p:cNvPr id="31" name="bd_51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51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100" dirty="0"/>
          </a:p>
        </p:txBody>
      </p:sp>
      <p:sp>
        <p:nvSpPr>
          <p:cNvPr id="33" name="R5_chip51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had to (past!)</a:t>
            </a:r>
            <a:endParaRPr lang="en-US" sz="1100" dirty="0"/>
          </a:p>
        </p:txBody>
      </p:sp>
      <p:sp>
        <p:nvSpPr>
          <p:cNvPr id="34" name="bd_51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51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100" dirty="0"/>
          </a:p>
        </p:txBody>
      </p:sp>
      <p:sp>
        <p:nvSpPr>
          <p:cNvPr id="36" name="R6_chip51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shouldn't (bad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8"/>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9"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20"/>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21"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22"/>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2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le lettere mute. Di' le frasi.</a:t>
            </a:r>
            <a:endParaRPr lang="en-US" sz="950" dirty="0"/>
          </a:p>
        </p:txBody>
      </p:sp>
      <p:sp>
        <p:nvSpPr>
          <p:cNvPr id="9" name="cmd_52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25"/>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526"/>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27"/>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Pronunciation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Pronunciation · silent consonants   ·   📖 SB p.37 · 3a, 3b, 3c · audio 4.8</a:t>
            </a:r>
            <a:endParaRPr lang="en-US" sz="800" dirty="0"/>
          </a:p>
        </p:txBody>
      </p:sp>
      <p:sp>
        <p:nvSpPr>
          <p:cNvPr id="15" name="ap_530"/>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6" name="ah_531"/>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cd_532"/>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0" name="ii_533"/>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34"/>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2" name="il_535"/>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calm · design · dishonest · doubt · foreign · half</a:t>
            </a:r>
            <a:endParaRPr lang="en-US" sz="850" dirty="0"/>
          </a:p>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hour · island · knowledge · listen · mustn't · ought</a:t>
            </a:r>
            <a:endParaRPr lang="en-US" sz="850" dirty="0"/>
          </a:p>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rhythm · should · talk · walk · whole · wrong</a:t>
            </a:r>
            <a:endParaRPr lang="en-US" sz="850" dirty="0"/>
          </a:p>
        </p:txBody>
      </p:sp>
      <p:sp>
        <p:nvSpPr>
          <p:cNvPr id="23" name="pf_536"/>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537"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5" name="bd_538"/>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6" name="R1_sw539"/>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7" name="R1_sw540"/>
          <p:cNvSpPr/>
          <p:nvPr/>
        </p:nvSpPr>
        <p:spPr>
          <a:xfrm>
            <a:off x="4773168"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8" name="R1_sw541"/>
          <p:cNvSpPr/>
          <p:nvPr/>
        </p:nvSpPr>
        <p:spPr>
          <a:xfrm>
            <a:off x="5797296"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29" name="R2_sf542"/>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30" name="bd_543"/>
          <p:cNvSpPr/>
          <p:nvPr/>
        </p:nvSpPr>
        <p:spPr>
          <a:xfrm>
            <a:off x="3291840" y="222199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1" name="R3_sw544"/>
          <p:cNvSpPr/>
          <p:nvPr/>
        </p:nvSpPr>
        <p:spPr>
          <a:xfrm>
            <a:off x="3749040"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2" name="R3_sw545"/>
          <p:cNvSpPr/>
          <p:nvPr/>
        </p:nvSpPr>
        <p:spPr>
          <a:xfrm>
            <a:off x="4773168"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3" name="R3_sw546"/>
          <p:cNvSpPr/>
          <p:nvPr/>
        </p:nvSpPr>
        <p:spPr>
          <a:xfrm>
            <a:off x="5797296" y="219456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4" name="R4_sf547"/>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5" name="bd_548"/>
          <p:cNvSpPr/>
          <p:nvPr/>
        </p:nvSpPr>
        <p:spPr>
          <a:xfrm>
            <a:off x="3291840" y="2999232"/>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6" name="R5_sw549"/>
          <p:cNvSpPr/>
          <p:nvPr/>
        </p:nvSpPr>
        <p:spPr>
          <a:xfrm>
            <a:off x="3749040"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7" name="R5_sw550"/>
          <p:cNvSpPr/>
          <p:nvPr/>
        </p:nvSpPr>
        <p:spPr>
          <a:xfrm>
            <a:off x="4773168" y="297180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8" name="R6_sf551"/>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39" name="bd_552"/>
          <p:cNvSpPr/>
          <p:nvPr/>
        </p:nvSpPr>
        <p:spPr>
          <a:xfrm>
            <a:off x="3291840" y="377647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40" name="R7_sw553"/>
          <p:cNvSpPr/>
          <p:nvPr/>
        </p:nvSpPr>
        <p:spPr>
          <a:xfrm>
            <a:off x="3749040"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41" name="R7_sw554"/>
          <p:cNvSpPr/>
          <p:nvPr/>
        </p:nvSpPr>
        <p:spPr>
          <a:xfrm>
            <a:off x="4773168"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2" name="R7_sw555"/>
          <p:cNvSpPr/>
          <p:nvPr/>
        </p:nvSpPr>
        <p:spPr>
          <a:xfrm>
            <a:off x="5797296" y="374904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3" name="R8_sf556"/>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par>
                                <p:cTn id="8" presetID="10" presetClass="entr" presetSubtype="0" fill="hold" nodeType="withEffect">
                                  <p:stCondLst>
                                    <p:cond delay="0"/>
                                  </p:stCondLst>
                                  <p:childTnLst>
                                    <p:set>
                                      <p:cBhvr>
                                        <p:cTn id="9" dur="1" fill="hold">
                                          <p:stCondLst>
                                            <p:cond delay="0"/>
                                          </p:stCondLst>
                                        </p:cTn>
                                        <p:tgtEl>
                                          <p:spTgt spid="27"/>
                                        </p:tgtEl>
                                        <p:attrNameLst>
                                          <p:attrName>style.visibility</p:attrName>
                                        </p:attrNameLst>
                                      </p:cBhvr>
                                      <p:to>
                                        <p:strVal val="visible"/>
                                      </p:to>
                                    </p:set>
                                    <p:animEffect transition="in" filter="fade">
                                      <p:cBhvr>
                                        <p:cTn id="10" dur="400"/>
                                        <p:tgtEl>
                                          <p:spTgt spid="27"/>
                                        </p:tgtEl>
                                      </p:cBhvr>
                                    </p:animEffect>
                                  </p:childTnLst>
                                </p:cTn>
                              </p:par>
                              <p:par>
                                <p:cTn id="11" presetID="10"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animEffect transition="in" filter="fade">
                                      <p:cBhvr>
                                        <p:cTn id="13" dur="400"/>
                                        <p:tgtEl>
                                          <p:spTgt spid="2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400"/>
                                        <p:tgtEl>
                                          <p:spTgt spid="36"/>
                                        </p:tgtEl>
                                      </p:cBhvr>
                                    </p:animEffect>
                                  </p:childTnLst>
                                </p:cTn>
                              </p:par>
                              <p:par>
                                <p:cTn id="40" presetID="10" presetClass="entr" presetSubtype="0" fill="hold"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7"/>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7"/>
                                        </p:tgtEl>
                                      </p:cBhvr>
                                    </p:cmd>
                                  </p:childTnLst>
                                </p:cTn>
                              </p:par>
                            </p:childTnLst>
                          </p:cTn>
                        </p:par>
                      </p:childTnLst>
                    </p:cTn>
                  </p:par>
                </p:childTnLst>
              </p:cTn>
              <p:nextCondLst>
                <p:cond evt="onClick" delay="0">
                  <p:tgtEl>
                    <p:spTgt spid="17"/>
                  </p:tgtEl>
                </p:cond>
              </p:nextCondLst>
            </p:seq>
            <p:seq concurrent="1" nextAc="seek">
              <p:cTn id="69" restart="whenNotActive" fill="hold" evtFilter="cancelBubble" nodeType="interactiveSeq">
                <p:stCondLst>
                  <p:cond evt="onClick" delay="0">
                    <p:tgtEl>
                      <p:spTgt spid="18"/>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8"/>
                                        </p:tgtEl>
                                      </p:cBhvr>
                                    </p:cmd>
                                  </p:childTnLst>
                                </p:cTn>
                              </p:par>
                            </p:childTnLst>
                          </p:cTn>
                        </p:par>
                      </p:childTnLst>
                    </p:cTn>
                  </p:par>
                </p:childTnLst>
              </p:cTn>
              <p:nextCondLst>
                <p:cond evt="onClick" delay="0">
                  <p:tgtEl>
                    <p:spTgt spid="18"/>
                  </p:tgtEl>
                </p:cond>
              </p:nextCondLst>
            </p:seq>
            <p:audio>
              <p:cMediaNode vol="80000">
                <p:cTn id="74" fill="hold" display="0">
                  <p:stCondLst>
                    <p:cond delay="indefinite"/>
                  </p:stCondLst>
                  <p:endCondLst>
                    <p:cond evt="onStopAudio" delay="0">
                      <p:tgtEl>
                        <p:sldTgt/>
                      </p:tgtEl>
                    </p:cond>
                  </p:endCondLst>
                </p:cTn>
                <p:tgtEl>
                  <p:spTgt spid="17"/>
                </p:tgtEl>
              </p:cMediaNode>
            </p:audio>
            <p:audio>
              <p:cMediaNode vol="80000">
                <p:cTn id="75"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61"/>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Ti dà fastidio? Di' perché!</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6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56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annoying phone habits   ·   📖 SB p.37 · 4 Speaking (6 of the 13 annoying things)</a:t>
            </a:r>
            <a:endParaRPr lang="en-US" sz="800" dirty="0"/>
          </a:p>
        </p:txBody>
      </p:sp>
      <p:sp>
        <p:nvSpPr>
          <p:cNvPr id="14" name="pf_568"/>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69"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70"/>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71"/>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72"/>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73"/>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really annoys me when people…</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They should / shouldn't…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be honest, I sometimes…</a:t>
            </a:r>
            <a:endParaRPr lang="en-US" sz="1050" dirty="0"/>
          </a:p>
        </p:txBody>
      </p:sp>
      <p:sp>
        <p:nvSpPr>
          <p:cNvPr id="20" name="R1_qb574"/>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75"/>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annoys me! They should watch the band, not the screen.</a:t>
            </a:r>
            <a:endParaRPr lang="en-US" sz="1250" dirty="0"/>
          </a:p>
        </p:txBody>
      </p:sp>
      <p:pic>
        <p:nvPicPr>
          <p:cNvPr id="22" name="R1_th576"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7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7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bus every day! They should turn it down.</a:t>
            </a:r>
            <a:endParaRPr lang="en-US" sz="1250" dirty="0"/>
          </a:p>
        </p:txBody>
      </p:sp>
      <p:sp>
        <p:nvSpPr>
          <p:cNvPr id="25" name="R3_qb57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80"/>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To be honest, I sometimes do it… but I know I shouldn't!</a:t>
            </a:r>
            <a:endParaRPr lang="en-US" sz="1250" dirty="0"/>
          </a:p>
        </p:txBody>
      </p:sp>
      <p:pic>
        <p:nvPicPr>
          <p:cNvPr id="27" name="R3_th581"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8" name="R4_qb58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583"/>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It's OK – but not 20 a day!</a:t>
            </a:r>
            <a:endParaRPr lang="en-US" sz="1100" dirty="0"/>
          </a:p>
        </p:txBody>
      </p:sp>
      <p:pic>
        <p:nvPicPr>
          <p:cNvPr id="30" name="R4_th584"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31" name="R5_qb58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58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uncle does it. I think it's rude – you shouldn't!</a:t>
            </a:r>
            <a:endParaRPr lang="en-US" sz="1250" dirty="0"/>
          </a:p>
        </p:txBody>
      </p:sp>
      <p:sp>
        <p:nvSpPr>
          <p:cNvPr id="33" name="R6_qb58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4" name="R6_sq58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That's really annoying. You mustn't do that!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par>
                                <p:cTn id="57" presetID="10" presetClass="entr" presetSubtype="0" fill="hold" nodeType="withEffect">
                                  <p:stCondLst>
                                    <p:cond delay="0"/>
                                  </p:stCondLst>
                                  <p:childTnLst>
                                    <p:set>
                                      <p:cBhvr>
                                        <p:cTn id="58" dur="1" fill="hold">
                                          <p:stCondLst>
                                            <p:cond delay="0"/>
                                          </p:stCondLst>
                                        </p:cTn>
                                        <p:tgtEl>
                                          <p:spTgt spid="34"/>
                                        </p:tgtEl>
                                        <p:attrNameLst>
                                          <p:attrName>style.visibility</p:attrName>
                                        </p:attrNameLst>
                                      </p:cBhvr>
                                      <p:to>
                                        <p:strVal val="visible"/>
                                      </p:to>
                                    </p:set>
                                    <p:animEffect transition="in" filter="fade">
                                      <p:cBhvr>
                                        <p:cTn id="59"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9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592"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93"/>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59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Dai le regole di un posto. Non dirlo!</a:t>
            </a:r>
            <a:endParaRPr lang="en-US" sz="950" dirty="0"/>
          </a:p>
        </p:txBody>
      </p:sp>
      <p:sp>
        <p:nvSpPr>
          <p:cNvPr id="9" name="cmd_59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9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9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game   ·   📖 Practice of Grammar Bank 4A: have to, must, should</a:t>
            </a:r>
            <a:endParaRPr lang="en-US" sz="800" dirty="0"/>
          </a:p>
        </p:txBody>
      </p:sp>
      <p:sp>
        <p:nvSpPr>
          <p:cNvPr id="14" name="cd_600"/>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0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2"/>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603"/>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gives rules: You have to… You mustn't…</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guesses the place. Then swap.</a:t>
            </a:r>
            <a:endParaRPr lang="en-US" sz="1150" dirty="0"/>
          </a:p>
        </p:txBody>
      </p:sp>
      <p:sp>
        <p:nvSpPr>
          <p:cNvPr id="18" name="pf_60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05"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60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1 · A gives rules</a:t>
            </a:r>
            <a:endParaRPr lang="en-US" sz="1100" dirty="0"/>
          </a:p>
        </p:txBody>
      </p:sp>
      <p:sp>
        <p:nvSpPr>
          <p:cNvPr id="21" name="R1_w607"/>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2" name="R2_w608"/>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3" name="R3_w609"/>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4" name="R4_w610"/>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5" name="rl_61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ROUND 2 · B gives rules</a:t>
            </a:r>
            <a:endParaRPr lang="en-US" sz="1100" dirty="0"/>
          </a:p>
        </p:txBody>
      </p:sp>
      <p:sp>
        <p:nvSpPr>
          <p:cNvPr id="26" name="R5_w612"/>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7" name="R6_w613"/>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8" name="R7_w614"/>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9" name="R8_w615"/>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4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1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1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1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2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22"/>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23"/>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Exit · what can you remember?</a:t>
            </a:r>
            <a:endParaRPr lang="en-US" sz="800" dirty="0"/>
          </a:p>
        </p:txBody>
      </p:sp>
      <p:sp>
        <p:nvSpPr>
          <p:cNvPr id="13" name="bd_62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2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phone phrases from today (no looking!)</a:t>
            </a:r>
            <a:endParaRPr lang="en-US" sz="1400" dirty="0"/>
          </a:p>
        </p:txBody>
      </p:sp>
      <p:sp>
        <p:nvSpPr>
          <p:cNvPr id="15" name="bd_62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2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rules for our class: "You have to… / You mustn't…"</a:t>
            </a:r>
            <a:endParaRPr lang="en-US" sz="1400" dirty="0"/>
          </a:p>
        </p:txBody>
      </p:sp>
      <p:sp>
        <p:nvSpPr>
          <p:cNvPr id="17" name="bd_63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3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advice for a friend: "You should…"</a:t>
            </a:r>
            <a:endParaRPr lang="en-US" sz="1400" dirty="0"/>
          </a:p>
        </p:txBody>
      </p:sp>
      <p:sp>
        <p:nvSpPr>
          <p:cNvPr id="19" name="cd_63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3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3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3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1a, 1b, 2a, 2b, 3a</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Grammar Bank 4A p.138: a 5–8, b 5–7</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3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38"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639"/>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64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4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6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Pensa a una situazione. Dillo al compagno.</a:t>
            </a:r>
            <a:endParaRPr lang="en-US" sz="950" dirty="0"/>
          </a:p>
        </p:txBody>
      </p:sp>
      <p:sp>
        <p:nvSpPr>
          <p:cNvPr id="9" name="cmd_64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4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64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Speaking · situations   ·   📖 SB p.36 · 2e</a:t>
            </a:r>
            <a:endParaRPr lang="en-US" sz="800" dirty="0"/>
          </a:p>
        </p:txBody>
      </p:sp>
      <p:sp>
        <p:nvSpPr>
          <p:cNvPr id="14" name="st_648"/>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4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50" descr="/home/claude/lls-course/v2/cache/4a1_library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5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5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5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5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have to… when…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1" name="R1_qb65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5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a plane, during take-off and landing.</a:t>
            </a:r>
            <a:endParaRPr lang="en-US" sz="1250" dirty="0"/>
          </a:p>
        </p:txBody>
      </p:sp>
      <p:sp>
        <p:nvSpPr>
          <p:cNvPr id="23" name="R2_qb65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5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At dinner with your family – it's rude.</a:t>
            </a:r>
            <a:endParaRPr lang="en-US" sz="1250" dirty="0"/>
          </a:p>
        </p:txBody>
      </p:sp>
      <p:sp>
        <p:nvSpPr>
          <p:cNvPr id="25" name="R3_qb65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6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6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6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66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6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66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il Grammar Bank 4A. Poi controlla!</a:t>
            </a:r>
            <a:endParaRPr lang="en-US" sz="950" dirty="0"/>
          </a:p>
        </p:txBody>
      </p:sp>
      <p:sp>
        <p:nvSpPr>
          <p:cNvPr id="9" name="cmd_66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meta_66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66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67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7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4A-1 · Grammar · Grammar Bank practice   ·   📖 Grammar Bank 4A p.138 · a 1–4, b 1–4 (a 5–8, b 5–7 = homework)</a:t>
            </a:r>
            <a:endParaRPr lang="en-US" sz="800" dirty="0"/>
          </a:p>
        </p:txBody>
      </p:sp>
      <p:sp>
        <p:nvSpPr>
          <p:cNvPr id="14" name="st_672"/>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7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7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7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 ✓ or correct it · b: complete with have to / must / should</a:t>
            </a:r>
            <a:endParaRPr lang="en-US" sz="1050" dirty="0"/>
          </a:p>
        </p:txBody>
      </p:sp>
      <p:sp>
        <p:nvSpPr>
          <p:cNvPr id="19" name="pf_67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78"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7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8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1–4 (in the book)</a:t>
            </a:r>
            <a:endParaRPr lang="en-US" sz="1150" dirty="0"/>
          </a:p>
        </p:txBody>
      </p:sp>
      <p:sp>
        <p:nvSpPr>
          <p:cNvPr id="23" name="R1_chip68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1 ✓ · 2 mustn't · 3 ✓ · 4 ✓</a:t>
            </a:r>
            <a:endParaRPr lang="en-US" sz="1000" dirty="0"/>
          </a:p>
        </p:txBody>
      </p:sp>
      <p:sp>
        <p:nvSpPr>
          <p:cNvPr id="24" name="bd_68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8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1150" dirty="0"/>
          </a:p>
        </p:txBody>
      </p:sp>
      <p:sp>
        <p:nvSpPr>
          <p:cNvPr id="26" name="R2_chip68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have to</a:t>
            </a:r>
            <a:endParaRPr lang="en-US" sz="1000" dirty="0"/>
          </a:p>
        </p:txBody>
      </p:sp>
      <p:sp>
        <p:nvSpPr>
          <p:cNvPr id="27" name="bd_68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8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1050" dirty="0"/>
          </a:p>
        </p:txBody>
      </p:sp>
      <p:sp>
        <p:nvSpPr>
          <p:cNvPr id="29" name="R3_chip68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Must</a:t>
            </a:r>
            <a:endParaRPr lang="en-US" sz="1000" dirty="0"/>
          </a:p>
        </p:txBody>
      </p:sp>
      <p:sp>
        <p:nvSpPr>
          <p:cNvPr id="30" name="bd_68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8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850" dirty="0"/>
          </a:p>
        </p:txBody>
      </p:sp>
      <p:sp>
        <p:nvSpPr>
          <p:cNvPr id="32" name="R4_chip69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has to</a:t>
            </a:r>
            <a:endParaRPr lang="en-US" sz="1000" dirty="0"/>
          </a:p>
        </p:txBody>
      </p:sp>
      <p:sp>
        <p:nvSpPr>
          <p:cNvPr id="33" name="bd_69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4" name="q_69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1150" dirty="0"/>
          </a:p>
        </p:txBody>
      </p:sp>
      <p:sp>
        <p:nvSpPr>
          <p:cNvPr id="35" name="R5_chip69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2026-10-11T16:14:04Z</dcterms:created>
  <dcterms:modified xsi:type="dcterms:W3CDTF">2026-10-11T16:14:04Z</dcterms:modified>
</cp:coreProperties>
</file>