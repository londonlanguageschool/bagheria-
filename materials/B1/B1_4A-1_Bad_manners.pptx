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(3 min – keep it brisk)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click once per word to show its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right after the rule, so the meaning of have to / mustn't / don't have to / should is clear; now students HEAR the forms many times, mixed with today's phone phrases, before 'Rules race!' and the speaking. Click once per line. For each line: 1) say it, 2) ask the questions in grey round the class (yes/no → either/or → who/what), 3) let the CLASS change details: 'Is her ringtone a rooster? No? What is it?' – accept their idea and use it in later lines. Students answer with one word or a short phrase – that's fine. Finish: 'What happens next?' – one or two ideas, then move on. Key contrast to circle in line 6: 'Does she HAVE to call them? No – she doesn't have to. Is it a rule or advice? – advice: should.' Recycles: have to, mustn't, don't have to, should + go off, put on hold, hang up (past: hung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(4 min)
GAME 3 (3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silent consonants (4 min)
PRONUNCIATION (3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talk about phones: hang up, on hold…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about a phone in a concert</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make rules: have to, must, should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play "Describe it!" and "Where am I?"</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9"/>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Practical English 2: A difficult celebrity</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giving opinions · agreeing · disagreeing</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8" name="w_42"/>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9" name="w_43"/>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30" name="w_44"/>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2" name="w_46"/>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3" name="w_47"/>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l'opinione. D'accordo o no?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Warmer · last lesson   ·   📖 Recycles PE2: giving opinions, agreeing and disagreeing (SB p.35)</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opinion.</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l'opinione.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 A: agree or disagree with a phrase.</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Squadra A: d'accordo o no, con una frase.</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Team B answers back. New phrase = 1 point.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La squadra B risponde. Frase nuova = 1 punto.</a:t>
            </a:r>
            <a:endParaRPr lang="en-US" sz="9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9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9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9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7" name="pf_9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9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20" name="R1_rx9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1" name="R1_ri10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0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0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4" name="pf_10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04"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0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7" name="R2_rx10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8" name="R2_ri10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0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0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1" name="pf_11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11"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1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4" name="R3_rx11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5" name="R3_ri11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1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1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8" name="pf_11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18"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1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1" name="R4_rx12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2" name="R4_ri12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7"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7"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20"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1"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4"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7"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8"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1"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51"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4"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5"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8"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58"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1"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2"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1–6. Completa!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1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6" name="ah_17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7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77" descr="/home/claude/lls-course/v2/cache/4a1_on_hol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7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7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8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8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8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6" name="R1_chip18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7" name="gq_18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8" name="R2_chip18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29" name="gq_18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30" name="R3_chip18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31" name="gq_18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32" name="R4_chip18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3" name="gq_19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4" name="R5_chip19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5" name="gq_19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6" name="R6_chip19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1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7–11. Completa!</a:t>
            </a:r>
            <a:endParaRPr lang="en-US" sz="950" dirty="0"/>
          </a:p>
        </p:txBody>
      </p:sp>
      <p:sp>
        <p:nvSpPr>
          <p:cNvPr id="9" name="cmd_20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0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20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6" name="ah_207"/>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19"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1" name="pf_2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09"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3" name="cd_2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6" name="il_2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7" name="gq_2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8" name="R1_chip2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29" name="gq_2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30" name="R2_chip2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31" name="gq_2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32" name="R3_chip2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3" name="gq_2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4" name="R4_chip2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5" name="gq_2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6" name="R5_chip2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audio>
              <p:cMediaNode vol="80000">
                <p:cTn id="50" fill="hold" display="0">
                  <p:stCondLst>
                    <p:cond delay="indefinite"/>
                  </p:stCondLst>
                  <p:endCondLst>
                    <p:cond evt="onStopAudio" delay="0">
                      <p:tgtEl>
                        <p:sldTgt/>
                      </p:tgtEl>
                    </p:cond>
                  </p:endCondLst>
                </p:cTn>
                <p:tgtEl>
                  <p:spTgt spid="19"/>
                </p:tgtEl>
              </p:cMediaNode>
            </p:audio>
            <p:audio>
              <p:cMediaNode vol="80000">
                <p:cTn id="51" fill="hold" display="0">
                  <p:stCondLst>
                    <p:cond delay="indefinite"/>
                  </p:stCondLst>
                  <p:endCondLst>
                    <p:cond evt="onStopAudio" delay="0">
                      <p:tgtEl>
                        <p:sldTgt/>
                      </p:tgtEl>
                    </p:cond>
                  </p:endCondLst>
                </p:cTn>
                <p:tgtEl>
                  <p:spTgt spid="20"/>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3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in Italian</a:t>
            </a:r>
            <a:endParaRPr lang="en-US" sz="800" dirty="0"/>
          </a:p>
        </p:txBody>
      </p:sp>
      <p:sp>
        <p:nvSpPr>
          <p:cNvPr id="14" name="cd_2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7" name="R1_it2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8" name="cd_2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1" name="R2_it2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2" name="cd_2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5" name="R3_it2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6" name="cd_2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9" name="R4_it2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30" name="cd_2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3" name="R5_it2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4" name="cd_2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7" name="R6_it2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8" name="cd_2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1" name="R7_it2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2" name="cd_2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5" name="R8_it2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6" name="cd_2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9" name="R9_it2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50" name="cd_2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3" name="R10_it2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4" name="cd_2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7" name="R11_it2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8" name="cd_2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1" name="R12_it2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2" name="R13_wc2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l'espressione. Non dirla!</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game</a:t>
            </a:r>
            <a:endParaRPr lang="en-US" sz="800" dirty="0"/>
          </a:p>
        </p:txBody>
      </p:sp>
      <p:sp>
        <p:nvSpPr>
          <p:cNvPr id="14" name="cd_29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9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phrase.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l'espressione.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30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3"/>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2" name="R3_w304"/>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3" name="R5_w305"/>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4" name="R7_w306"/>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5" name="rl_30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08"/>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7" name="R4_w309"/>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8" name="R6_w310"/>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9" name="R8_w311"/>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16"/>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 un compagno. Dai dettagli!</a:t>
            </a:r>
            <a:endParaRPr lang="en-US" sz="950" dirty="0"/>
          </a:p>
        </p:txBody>
      </p:sp>
      <p:sp>
        <p:nvSpPr>
          <p:cNvPr id="9" name="cmd_31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1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2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you and your phone   ·   📖 SB p.36 · 1c</a:t>
            </a:r>
            <a:endParaRPr lang="en-US" sz="800" dirty="0"/>
          </a:p>
        </p:txBody>
      </p:sp>
      <p:sp>
        <p:nvSpPr>
          <p:cNvPr id="14" name="pf_32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4"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2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once… · No, never!</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 · What about you?</a:t>
            </a:r>
            <a:endParaRPr lang="en-US" sz="1050" dirty="0"/>
          </a:p>
        </p:txBody>
      </p:sp>
      <p:sp>
        <p:nvSpPr>
          <p:cNvPr id="20" name="R1_qb32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30"/>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Messaging – it's quicker and I can answer later.</a:t>
            </a:r>
            <a:endParaRPr lang="en-US" sz="1250" dirty="0"/>
          </a:p>
        </p:txBody>
      </p:sp>
      <p:pic>
        <p:nvPicPr>
          <p:cNvPr id="22" name="R1_th331"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33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3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A message about my teacher… to my teacher!</a:t>
            </a:r>
            <a:endParaRPr lang="en-US" sz="1250" dirty="0"/>
          </a:p>
        </p:txBody>
      </p:sp>
      <p:sp>
        <p:nvSpPr>
          <p:cNvPr id="25" name="R3_qb33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5"/>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call centre – they called during dinner!</a:t>
            </a:r>
            <a:endParaRPr lang="en-US" sz="1250" dirty="0"/>
          </a:p>
        </p:txBody>
      </p:sp>
      <p:pic>
        <p:nvPicPr>
          <p:cNvPr id="27" name="R3_th336"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33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33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 put it on speakerphone and do my homework.</a:t>
            </a:r>
            <a:endParaRPr lang="en-US" sz="1100" dirty="0"/>
          </a:p>
        </p:txBody>
      </p:sp>
      <p:pic>
        <p:nvPicPr>
          <p:cNvPr id="30" name="R4_th339"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34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341"/>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in a test! The teacher wasn't happy.</a:t>
            </a:r>
            <a:endParaRPr lang="en-US" sz="1250" dirty="0"/>
          </a:p>
        </p:txBody>
      </p:sp>
      <p:pic>
        <p:nvPicPr>
          <p:cNvPr id="33" name="R5_th342"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45"/>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3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article   ·   📖 SB p.36 · 2b (article, slightly shortened)</a:t>
            </a:r>
            <a:endParaRPr lang="en-US" sz="800" dirty="0"/>
          </a:p>
        </p:txBody>
      </p:sp>
      <p:sp>
        <p:nvSpPr>
          <p:cNvPr id="14" name="cd_3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6" name="ln_3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7" name="ln_3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R1_lnA35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9" name="ln_3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R2_lnA36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1" name="ln_36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R3_lnA36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3" name="ln_36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R4_lnA36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5" name="pf_36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66" descr="/home/claude/lls-course/v2/cache/4a1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36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36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6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7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conductor /kənˈdʌktə/ = direttore d'orchestra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row = fila (of seats)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7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Con chi sei d'accordo?</a:t>
            </a:r>
            <a:endParaRPr lang="en-US" sz="950" dirty="0"/>
          </a:p>
        </p:txBody>
      </p:sp>
      <p:sp>
        <p:nvSpPr>
          <p:cNvPr id="9" name="cmd_3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7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3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comments   ·   📖 SB p.36 · 2b comments (shortened)</a:t>
            </a:r>
            <a:endParaRPr lang="en-US" sz="800" dirty="0"/>
          </a:p>
        </p:txBody>
      </p:sp>
      <p:sp>
        <p:nvSpPr>
          <p:cNvPr id="15" name="pf_383"/>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84"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7" name="cd_385"/>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386"/>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7"/>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388"/>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to / don't have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must / mustn't</a:t>
            </a:r>
            <a:endParaRPr lang="en-US" sz="1050" dirty="0"/>
          </a:p>
        </p:txBody>
      </p:sp>
      <p:sp>
        <p:nvSpPr>
          <p:cNvPr id="21" name="who_389"/>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9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dirty="0">
                <a:solidFill>
                  <a:srgbClr val="1B2559"/>
                </a:solidFill>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3" name="R1_slA39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4" name="who_392"/>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5" name="sl_39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dirty="0">
                <a:solidFill>
                  <a:srgbClr val="1B2559"/>
                </a:solidFill>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6" name="R2_slA39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7" name="who_395"/>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8" name="sl_396"/>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dirty="0">
                <a:solidFill>
                  <a:srgbClr val="1B2559"/>
                </a:solidFill>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9" name="R3_slA397"/>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0" name="who_398"/>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1" name="sl_399"/>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dirty="0">
                <a:solidFill>
                  <a:srgbClr val="1B2559"/>
                </a:solidFill>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R4_slA400"/>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3" name="who_401"/>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4" name="sl_40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dirty="0">
                <a:solidFill>
                  <a:srgbClr val="1B2559"/>
                </a:solidFill>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5" name="R5_slA403"/>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6" name="who_404"/>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7" name="sl_40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dirty="0">
                <a:solidFill>
                  <a:srgbClr val="1B2559"/>
                </a:solidFill>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
        <p:nvSpPr>
          <p:cNvPr id="38" name="R6_slA406"/>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1–6? Abbina il colore.</a:t>
            </a:r>
            <a:endParaRPr lang="en-US" sz="950" dirty="0"/>
          </a:p>
        </p:txBody>
      </p:sp>
      <p:sp>
        <p:nvSpPr>
          <p:cNvPr id="9" name="cmd_41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discovery   ·   📖 SB p.36 · 2c</a:t>
            </a:r>
            <a:endParaRPr lang="en-US" sz="800" dirty="0"/>
          </a:p>
        </p:txBody>
      </p:sp>
      <p:sp>
        <p:nvSpPr>
          <p:cNvPr id="14" name="cd_41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7" name="il_42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2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9" name="lg_423"/>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0" name="lg_42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1" name="lg_42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2" name="lg_426"/>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3" name="sq_427"/>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4" name="R1_tag428"/>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5" name="sq_429"/>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6" name="R2_tag430"/>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7" name="sq_431"/>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8" name="R3_tag432"/>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9" name="sq_433"/>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30" name="R4_tag434"/>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1" name="sq_435"/>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2" name="R5_tag436"/>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3" name="sq_437"/>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4" name="R6_tag438"/>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pf_43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0" descr="/home/claude/lls-course/v2/cache/4a1_public_transport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45"/>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 è la regola?</a:t>
            </a:r>
            <a:endParaRPr lang="en-US" sz="950" dirty="0"/>
          </a:p>
        </p:txBody>
      </p:sp>
      <p:sp>
        <p:nvSpPr>
          <p:cNvPr id="9" name="cmd_4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the rule   ·   📖 Grammar Bank 4A p.138 · audio 4.4–4.7</a:t>
            </a:r>
            <a:endParaRPr lang="en-US" sz="800" dirty="0"/>
          </a:p>
        </p:txBody>
      </p:sp>
      <p:sp>
        <p:nvSpPr>
          <p:cNvPr id="14" name="ap_452"/>
          <p:cNvSpPr/>
          <p:nvPr/>
        </p:nvSpPr>
        <p:spPr>
          <a:xfrm>
            <a:off x="6583680" y="914400"/>
            <a:ext cx="26974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4.4 + 4.5 + 4.6 + 4.7</a:t>
            </a:r>
            <a:endParaRPr lang="en-US" sz="1100" dirty="0"/>
          </a:p>
        </p:txBody>
      </p:sp>
      <p:sp>
        <p:nvSpPr>
          <p:cNvPr id="15" name="ah_453"/>
          <p:cNvSpPr/>
          <p:nvPr/>
        </p:nvSpPr>
        <p:spPr>
          <a:xfrm>
            <a:off x="3072384"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72584"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48072"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5623560"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6099048" y="4553712"/>
            <a:ext cx="411480" cy="411480"/>
          </a:xfrm>
          <a:prstGeom prst="rect">
            <a:avLst/>
          </a:prstGeom>
        </p:spPr>
      </p:pic>
      <p:pic>
        <p:nvPicPr>
          <p:cNvPr id="20"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574536" y="4553712"/>
            <a:ext cx="411480" cy="411480"/>
          </a:xfrm>
          <a:prstGeom prst="rect">
            <a:avLst/>
          </a:prstGeom>
        </p:spPr>
      </p:pic>
      <p:pic>
        <p:nvPicPr>
          <p:cNvPr id="21"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050024" y="4553712"/>
            <a:ext cx="411480" cy="411480"/>
          </a:xfrm>
          <a:prstGeom prst="rect">
            <a:avLst/>
          </a:prstGeom>
        </p:spPr>
      </p:pic>
      <p:pic>
        <p:nvPicPr>
          <p:cNvPr id="22"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525512" y="4553712"/>
            <a:ext cx="411480" cy="411480"/>
          </a:xfrm>
          <a:prstGeom prst="rect">
            <a:avLst/>
          </a:prstGeom>
        </p:spPr>
      </p:pic>
      <p:pic>
        <p:nvPicPr>
          <p:cNvPr id="23"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001000" y="4553712"/>
            <a:ext cx="411480" cy="411480"/>
          </a:xfrm>
          <a:prstGeom prst="rect">
            <a:avLst/>
          </a:prstGeom>
        </p:spPr>
      </p:pic>
      <p:sp>
        <p:nvSpPr>
          <p:cNvPr id="24" name="cd_454"/>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455"/>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6" name="pf_45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57" descr="/home/claude/lls-course/v2/cache/4a1_cloakroom_jpg_415x209_31.png">    </p:cNvPr>
          <p:cNvPicPr>
            <a:picLocks noChangeAspect="1"/>
          </p:cNvPicPr>
          <p:nvPr/>
        </p:nvPicPr>
        <p:blipFill>
          <a:blip r:embed="rId29"/>
          <a:stretch>
            <a:fillRect/>
          </a:stretch>
        </p:blipFill>
        <p:spPr>
          <a:xfrm>
            <a:off x="475488" y="1984248"/>
            <a:ext cx="1723644" cy="868680"/>
          </a:xfrm>
          <a:prstGeom prst="rect">
            <a:avLst/>
          </a:prstGeom>
        </p:spPr>
      </p:pic>
      <p:sp>
        <p:nvSpPr>
          <p:cNvPr id="28" name="ru_45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9" name="R1_rx45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30" name="R1_ri46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obbligatorio · bisogna</a:t>
            </a:r>
            <a:endParaRPr lang="en-US" sz="900" dirty="0"/>
          </a:p>
        </p:txBody>
      </p:sp>
      <p:sp>
        <p:nvSpPr>
          <p:cNvPr id="31" name="cd_461"/>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2" name="rh_462"/>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3" name="pf_46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4"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5" name="ru_46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6" name="R2_rx46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7" name="R2_ri46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vietato</a:t>
            </a:r>
            <a:endParaRPr lang="en-US" sz="900" dirty="0"/>
          </a:p>
        </p:txBody>
      </p:sp>
      <p:sp>
        <p:nvSpPr>
          <p:cNvPr id="38" name="cd_46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9" name="rh_46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40" name="pf_47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71" descr="/home/claude/lls-course/v2/cache/4a1_voicemail_jpg_415x209_31.png">    </p:cNvPr>
          <p:cNvPicPr>
            <a:picLocks noChangeAspect="1"/>
          </p:cNvPicPr>
          <p:nvPr/>
        </p:nvPicPr>
        <p:blipFill>
          <a:blip r:embed="rId31"/>
          <a:stretch>
            <a:fillRect/>
          </a:stretch>
        </p:blipFill>
        <p:spPr>
          <a:xfrm>
            <a:off x="4818888" y="1984248"/>
            <a:ext cx="1723644" cy="868680"/>
          </a:xfrm>
          <a:prstGeom prst="rect">
            <a:avLst/>
          </a:prstGeom>
        </p:spPr>
      </p:pic>
      <p:sp>
        <p:nvSpPr>
          <p:cNvPr id="42" name="ru_47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3" name="R3_rx47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4" name="R3_ri47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è necessario</a:t>
            </a:r>
            <a:endParaRPr lang="en-US" sz="900" dirty="0"/>
          </a:p>
        </p:txBody>
      </p:sp>
      <p:sp>
        <p:nvSpPr>
          <p:cNvPr id="45" name="cd_47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6" name="rh_47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7" name="pf_47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8" name="ph_478" descr="/home/claude/lls-course/v2/cache/4a1_table_manners_jpg_415x209_31.png">    </p:cNvPr>
          <p:cNvPicPr>
            <a:picLocks noChangeAspect="1"/>
          </p:cNvPicPr>
          <p:nvPr/>
        </p:nvPicPr>
        <p:blipFill>
          <a:blip r:embed="rId32"/>
          <a:stretch>
            <a:fillRect/>
          </a:stretch>
        </p:blipFill>
        <p:spPr>
          <a:xfrm>
            <a:off x="6990588" y="1984248"/>
            <a:ext cx="1723644" cy="868680"/>
          </a:xfrm>
          <a:prstGeom prst="rect">
            <a:avLst/>
          </a:prstGeom>
        </p:spPr>
      </p:pic>
      <p:sp>
        <p:nvSpPr>
          <p:cNvPr id="49" name="ru_47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50" name="R4_rx48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51" name="R4_ri48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dovresti / non dovresti</a:t>
            </a:r>
            <a:endParaRPr lang="en-US" sz="900" dirty="0"/>
          </a:p>
        </p:txBody>
      </p:sp>
      <p:sp>
        <p:nvSpPr>
          <p:cNvPr id="52" name="R5_wc482"/>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3" name="R5_w483"/>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4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400"/>
                                        <p:tgtEl>
                                          <p:spTgt spid="43"/>
                                        </p:tgtEl>
                                      </p:cBhvr>
                                    </p:animEffect>
                                  </p:childTnLst>
                                </p:cTn>
                              </p:par>
                              <p:par>
                                <p:cTn id="24" presetID="10" presetClass="entr" presetSubtype="0" fill="hold" nodeType="with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400"/>
                                        <p:tgtEl>
                                          <p:spTgt spid="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400"/>
                                        <p:tgtEl>
                                          <p:spTgt spid="50"/>
                                        </p:tgtEl>
                                      </p:cBhvr>
                                    </p:animEffect>
                                  </p:childTnLst>
                                </p:cTn>
                              </p:par>
                              <p:par>
                                <p:cTn id="32" presetID="10" presetClass="entr" presetSubtype="0" fill="hold"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400"/>
                                        <p:tgtEl>
                                          <p:spTgt spid="5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400"/>
                                        <p:tgtEl>
                                          <p:spTgt spid="52"/>
                                        </p:tgtEl>
                                      </p:cBhvr>
                                    </p:animEffect>
                                  </p:childTnLst>
                                </p:cTn>
                              </p:par>
                              <p:par>
                                <p:cTn id="40" presetID="10" presetClass="entr" presetSubtype="0" fill="hold"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8"/>
                                        </p:tgtEl>
                                      </p:cBhvr>
                                    </p:cmd>
                                  </p:childTnLst>
                                </p:cTn>
                              </p:par>
                            </p:childTnLst>
                          </p:cTn>
                        </p:par>
                      </p:childTnLst>
                    </p:cTn>
                  </p:par>
                </p:childTnLst>
              </p:cTn>
              <p:nextCondLst>
                <p:cond evt="onClick" delay="0">
                  <p:tgtEl>
                    <p:spTgt spid="18"/>
                  </p:tgtEl>
                </p:cond>
              </p:nextCondLst>
            </p:seq>
            <p:seq concurrent="1" nextAc="seek">
              <p:cTn id="58" restart="whenNotActive" fill="hold" evtFilter="cancelBubble" nodeType="interactiveSeq">
                <p:stCondLst>
                  <p:cond evt="onClick" delay="0">
                    <p:tgtEl>
                      <p:spTgt spid="19"/>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9"/>
                                        </p:tgtEl>
                                      </p:cBhvr>
                                    </p:cmd>
                                  </p:childTnLst>
                                </p:cTn>
                              </p:par>
                            </p:childTnLst>
                          </p:cTn>
                        </p:par>
                      </p:childTnLst>
                    </p:cTn>
                  </p:par>
                </p:childTnLst>
              </p:cTn>
              <p:nextCondLst>
                <p:cond evt="onClick" delay="0">
                  <p:tgtEl>
                    <p:spTgt spid="19"/>
                  </p:tgtEl>
                </p:cond>
              </p:nextCondLst>
            </p:seq>
            <p:seq concurrent="1" nextAc="seek">
              <p:cTn id="63" restart="whenNotActive" fill="hold" evtFilter="cancelBubble" nodeType="interactiveSeq">
                <p:stCondLst>
                  <p:cond evt="onClick" delay="0">
                    <p:tgtEl>
                      <p:spTgt spid="20"/>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20"/>
                                        </p:tgtEl>
                                      </p:cBhvr>
                                    </p:cmd>
                                  </p:childTnLst>
                                </p:cTn>
                              </p:par>
                            </p:childTnLst>
                          </p:cTn>
                        </p:par>
                      </p:childTnLst>
                    </p:cTn>
                  </p:par>
                </p:childTnLst>
              </p:cTn>
              <p:nextCondLst>
                <p:cond evt="onClick" delay="0">
                  <p:tgtEl>
                    <p:spTgt spid="20"/>
                  </p:tgtEl>
                </p:cond>
              </p:nextCondLst>
            </p:seq>
            <p:seq concurrent="1" nextAc="seek">
              <p:cTn id="68" restart="whenNotActive" fill="hold" evtFilter="cancelBubble" nodeType="interactiveSeq">
                <p:stCondLst>
                  <p:cond evt="onClick" delay="0">
                    <p:tgtEl>
                      <p:spTgt spid="21"/>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21"/>
                                        </p:tgtEl>
                                      </p:cBhvr>
                                    </p:cmd>
                                  </p:childTnLst>
                                </p:cTn>
                              </p:par>
                            </p:childTnLst>
                          </p:cTn>
                        </p:par>
                      </p:childTnLst>
                    </p:cTn>
                  </p:par>
                </p:childTnLst>
              </p:cTn>
              <p:nextCondLst>
                <p:cond evt="onClick" delay="0">
                  <p:tgtEl>
                    <p:spTgt spid="21"/>
                  </p:tgtEl>
                </p:cond>
              </p:nextCondLst>
            </p:seq>
            <p:seq concurrent="1" nextAc="seek">
              <p:cTn id="73" restart="whenNotActive" fill="hold" evtFilter="cancelBubble" nodeType="interactiveSeq">
                <p:stCondLst>
                  <p:cond evt="onClick" delay="0">
                    <p:tgtEl>
                      <p:spTgt spid="22"/>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2"/>
                                        </p:tgtEl>
                                      </p:cBhvr>
                                    </p:cmd>
                                  </p:childTnLst>
                                </p:cTn>
                              </p:par>
                            </p:childTnLst>
                          </p:cTn>
                        </p:par>
                      </p:childTnLst>
                    </p:cTn>
                  </p:par>
                </p:childTnLst>
              </p:cTn>
              <p:nextCondLst>
                <p:cond evt="onClick" delay="0">
                  <p:tgtEl>
                    <p:spTgt spid="22"/>
                  </p:tgtEl>
                </p:cond>
              </p:nextCondLst>
            </p:seq>
            <p:seq concurrent="1" nextAc="seek">
              <p:cTn id="78" restart="whenNotActive" fill="hold" evtFilter="cancelBubble" nodeType="interactiveSeq">
                <p:stCondLst>
                  <p:cond evt="onClick" delay="0">
                    <p:tgtEl>
                      <p:spTgt spid="23"/>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3"/>
                                        </p:tgtEl>
                                      </p:cBhvr>
                                    </p:cmd>
                                  </p:childTnLst>
                                </p:cTn>
                              </p:par>
                            </p:childTnLst>
                          </p:cTn>
                        </p:par>
                      </p:childTnLst>
                    </p:cTn>
                  </p:par>
                </p:childTnLst>
              </p:cTn>
              <p:nextCondLst>
                <p:cond evt="onClick" delay="0">
                  <p:tgtEl>
                    <p:spTgt spid="23"/>
                  </p:tgtEl>
                </p:cond>
              </p:nextCondLst>
            </p:seq>
            <p:audio>
              <p:cMediaNode vol="80000">
                <p:cTn id="83" fill="hold" display="0">
                  <p:stCondLst>
                    <p:cond delay="indefinite"/>
                  </p:stCondLst>
                  <p:endCondLst>
                    <p:cond evt="onStopAudio" delay="0">
                      <p:tgtEl>
                        <p:sldTgt/>
                      </p:tgtEl>
                    </p:cond>
                  </p:endCondLst>
                </p:cTn>
                <p:tgtEl>
                  <p:spTgt spid="16"/>
                </p:tgtEl>
              </p:cMediaNode>
            </p:audio>
            <p:audio>
              <p:cMediaNode vol="80000">
                <p:cTn id="84" fill="hold" display="0">
                  <p:stCondLst>
                    <p:cond delay="indefinite"/>
                  </p:stCondLst>
                  <p:endCondLst>
                    <p:cond evt="onStopAudio" delay="0">
                      <p:tgtEl>
                        <p:sldTgt/>
                      </p:tgtEl>
                    </p:cond>
                  </p:endCondLst>
                </p:cTn>
                <p:tgtEl>
                  <p:spTgt spid="17"/>
                </p:tgtEl>
              </p:cMediaNode>
            </p:audio>
            <p:audio>
              <p:cMediaNode vol="80000">
                <p:cTn id="85" fill="hold" display="0">
                  <p:stCondLst>
                    <p:cond delay="indefinite"/>
                  </p:stCondLst>
                  <p:endCondLst>
                    <p:cond evt="onStopAudio" delay="0">
                      <p:tgtEl>
                        <p:sldTgt/>
                      </p:tgtEl>
                    </p:cond>
                  </p:endCondLst>
                </p:cTn>
                <p:tgtEl>
                  <p:spTgt spid="18"/>
                </p:tgtEl>
              </p:cMediaNode>
            </p:audio>
            <p:audio>
              <p:cMediaNode vol="80000">
                <p:cTn id="86" fill="hold" display="0">
                  <p:stCondLst>
                    <p:cond delay="indefinite"/>
                  </p:stCondLst>
                  <p:endCondLst>
                    <p:cond evt="onStopAudio" delay="0">
                      <p:tgtEl>
                        <p:sldTgt/>
                      </p:tgtEl>
                    </p:cond>
                  </p:endCondLst>
                </p:cTn>
                <p:tgtEl>
                  <p:spTgt spid="19"/>
                </p:tgtEl>
              </p:cMediaNode>
            </p:audio>
            <p:audio>
              <p:cMediaNode vol="80000">
                <p:cTn id="87" fill="hold" display="0">
                  <p:stCondLst>
                    <p:cond delay="indefinite"/>
                  </p:stCondLst>
                  <p:endCondLst>
                    <p:cond evt="onStopAudio" delay="0">
                      <p:tgtEl>
                        <p:sldTgt/>
                      </p:tgtEl>
                    </p:cond>
                  </p:endCondLst>
                </p:cTn>
                <p:tgtEl>
                  <p:spTgt spid="20"/>
                </p:tgtEl>
              </p:cMediaNode>
            </p:audio>
            <p:audio>
              <p:cMediaNode vol="80000">
                <p:cTn id="88" fill="hold" display="0">
                  <p:stCondLst>
                    <p:cond delay="indefinite"/>
                  </p:stCondLst>
                  <p:endCondLst>
                    <p:cond evt="onStopAudio" delay="0">
                      <p:tgtEl>
                        <p:sldTgt/>
                      </p:tgtEl>
                    </p:cond>
                  </p:endCondLst>
                </p:cTn>
                <p:tgtEl>
                  <p:spTgt spid="21"/>
                </p:tgtEl>
              </p:cMediaNode>
            </p:audio>
            <p:audio>
              <p:cMediaNode vol="80000">
                <p:cTn id="89" fill="hold" display="0">
                  <p:stCondLst>
                    <p:cond delay="indefinite"/>
                  </p:stCondLst>
                  <p:endCondLst>
                    <p:cond evt="onStopAudio" delay="0">
                      <p:tgtEl>
                        <p:sldTgt/>
                      </p:tgtEl>
                    </p:cond>
                  </p:endCondLst>
                </p:cTn>
                <p:tgtEl>
                  <p:spTgt spid="22"/>
                </p:tgtEl>
              </p:cMediaNode>
            </p:audio>
            <p:audio>
              <p:cMediaNode vol="80000">
                <p:cTn id="90" fill="hold" display="0">
                  <p:stCondLst>
                    <p:cond delay="indefinite"/>
                  </p:stCondLst>
                  <p:endCondLst>
                    <p:cond evt="onStopAudio" delay="0">
                      <p:tgtEl>
                        <p:sldTgt/>
                      </p:tgtEl>
                    </p:cond>
                  </p:endCondLst>
                </p:cTn>
                <p:tgtEl>
                  <p:spTgt spid="23"/>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4"/>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Nonna's new phone</a:t>
            </a:r>
            <a:endParaRPr lang="en-US" sz="2400" dirty="0"/>
          </a:p>
        </p:txBody>
      </p:sp>
      <p:pic>
        <p:nvPicPr>
          <p:cNvPr id="6" name="brP_48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8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9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class story (TPRS)</a:t>
            </a:r>
            <a:endParaRPr lang="en-US" sz="800" dirty="0"/>
          </a:p>
        </p:txBody>
      </p:sp>
      <p:sp>
        <p:nvSpPr>
          <p:cNvPr id="15" name="cd_496"/>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99"/>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have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dover (è obbligatorio)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mustn't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devi (è vietato)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don't have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è necessario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should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dovresti (consiglio)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go off</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suonare (all'improvviso)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put sb on hold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mettere in attesa</a:t>
            </a:r>
            <a:endParaRPr lang="en-US" sz="1000" dirty="0"/>
          </a:p>
        </p:txBody>
      </p:sp>
      <p:sp>
        <p:nvSpPr>
          <p:cNvPr id="19" name="R1_sb500"/>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01"/>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Nonna Rosa has a new phone. Her grandson 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charge it every night.'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the phone old or new? · What does she have to do every night?</a:t>
            </a:r>
            <a:endParaRPr lang="en-US" sz="950" dirty="0"/>
          </a:p>
        </p:txBody>
      </p:sp>
      <p:sp>
        <p:nvSpPr>
          <p:cNvPr id="21" name="R2_sb502"/>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03"/>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Her ringtone is a very loud rooster. It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at six every morning!</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the ringtone a rooster or a cat? · When does it go off?</a:t>
            </a:r>
            <a:endParaRPr lang="en-US" sz="1050" dirty="0"/>
          </a:p>
        </p:txBody>
      </p:sp>
      <p:sp>
        <p:nvSpPr>
          <p:cNvPr id="23" name="R3_sb504"/>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05"/>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In church the rooster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priest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mustn't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use phones here!'</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Where does it go off? · What mustn't she do in church?</a:t>
            </a:r>
            <a:endParaRPr lang="en-US" sz="950" dirty="0"/>
          </a:p>
        </p:txBody>
      </p:sp>
      <p:sp>
        <p:nvSpPr>
          <p:cNvPr id="25" name="R4_sb506"/>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07"/>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calls the phone company. They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put her on hold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forty minutes.</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Who does she call? · Is she on hold for four or forty minutes?</a:t>
            </a:r>
            <a:endParaRPr lang="en-US" sz="1000" dirty="0"/>
          </a:p>
        </p:txBody>
      </p:sp>
      <p:sp>
        <p:nvSpPr>
          <p:cNvPr id="27" name="R5_sb508"/>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09"/>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Finally a man answers. Nonna is so angry that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hangs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nonna happy or angry? · What does she do?</a:t>
            </a:r>
            <a:endParaRPr lang="en-US" sz="1200" dirty="0"/>
          </a:p>
        </p:txBody>
      </p:sp>
      <p:sp>
        <p:nvSpPr>
          <p:cNvPr id="29" name="R6_sb510"/>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11"/>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don't 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call them, nonna.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change the ringtone!'</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Does she have to call? · What should she do? · And you – what's your ringtone?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3"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4"/>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51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1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5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Di' le parole mancanti. Veloce!</a:t>
            </a:r>
            <a:endParaRPr lang="en-US" sz="950" dirty="0"/>
          </a:p>
        </p:txBody>
      </p:sp>
      <p:sp>
        <p:nvSpPr>
          <p:cNvPr id="9" name="cmd_51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1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2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a:t>
            </a:r>
            <a:endParaRPr lang="en-US" sz="800" dirty="0"/>
          </a:p>
        </p:txBody>
      </p:sp>
      <p:sp>
        <p:nvSpPr>
          <p:cNvPr id="14" name="cd_52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2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missing words in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le parole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 say WHY = 2 points.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Giusto + spieghi PERCHÉ = 2 punti.</a:t>
            </a:r>
            <a:endParaRPr lang="en-US" sz="1000" dirty="0"/>
          </a:p>
        </p:txBody>
      </p:sp>
      <p:sp>
        <p:nvSpPr>
          <p:cNvPr id="18" name="st_52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2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2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1" name="R1_chip53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2" name="bd_53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3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4" name="R2_chip53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5" name="bd_53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3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7" name="R3_chip53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8" name="bd_53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3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30" name="R4_chip53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1" name="bd_54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4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3" name="R5_chip54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4" name="bd_54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4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6" name="R6_chip54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4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49"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50"/>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lettere mute. Di' le frasi.</a:t>
            </a:r>
            <a:endParaRPr lang="en-US" sz="950" dirty="0"/>
          </a:p>
        </p:txBody>
      </p:sp>
      <p:sp>
        <p:nvSpPr>
          <p:cNvPr id="9" name="cmd_55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5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5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Pronunciation · silent consonants   ·   📖 SB p.37 · 3a, 3b, 3c · audio 4.8</a:t>
            </a:r>
            <a:endParaRPr lang="en-US" sz="800" dirty="0"/>
          </a:p>
        </p:txBody>
      </p:sp>
      <p:sp>
        <p:nvSpPr>
          <p:cNvPr id="15" name="ap_55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6" name="ah_55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60"/>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61"/>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62"/>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2" name="il_563"/>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calm · design · dishonest · doubt · foreign · half</a:t>
            </a:r>
            <a:endParaRPr lang="en-US" sz="750" dirty="0"/>
          </a:p>
          <a:p>
            <a:pPr marL="152400" indent="-152400">
              <a:spcBef>
                <a:spcPts val="500"/>
              </a:spcBef>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hour · island · knowledge · listen · mustn't · ought</a:t>
            </a:r>
            <a:endParaRPr lang="en-US" sz="750" dirty="0"/>
          </a:p>
          <a:p>
            <a:pPr marL="152400" indent="-152400">
              <a:spcBef>
                <a:spcPts val="500"/>
              </a:spcBef>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rhythm · should · talk · walk · whole · wrong</a:t>
            </a:r>
            <a:endParaRPr lang="en-US" sz="750" dirty="0"/>
          </a:p>
        </p:txBody>
      </p:sp>
      <p:sp>
        <p:nvSpPr>
          <p:cNvPr id="23" name="pf_564"/>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5"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66"/>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67"/>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7" name="R1_sw568"/>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8" name="R1_sw569"/>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29" name="R2_sf570"/>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30" name="bd_571"/>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1" name="R3_sw572"/>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2" name="R3_sw573"/>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3" name="R3_sw574"/>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4" name="R4_sf575"/>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5" name="bd_576"/>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577"/>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7" name="R5_sw578"/>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8" name="R6_sf579"/>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39" name="bd_580"/>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0" name="R7_sw581"/>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41" name="R7_sw582"/>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2" name="R7_sw583"/>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3" name="R8_sf584"/>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7"/>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7"/>
                                        </p:tgtEl>
                                      </p:cBhvr>
                                    </p:cmd>
                                  </p:childTnLst>
                                </p:cTn>
                              </p:par>
                            </p:childTnLst>
                          </p:cTn>
                        </p:par>
                      </p:childTnLst>
                    </p:cTn>
                  </p:par>
                </p:childTnLst>
              </p:cTn>
              <p:nextCondLst>
                <p:cond evt="onClick" delay="0">
                  <p:tgtEl>
                    <p:spTgt spid="17"/>
                  </p:tgtEl>
                </p:cond>
              </p:nextCondLst>
            </p:seq>
            <p:seq concurrent="1" nextAc="seek">
              <p:cTn id="69" restart="whenNotActive" fill="hold" evtFilter="cancelBubble" nodeType="interactiveSeq">
                <p:stCondLst>
                  <p:cond evt="onClick" delay="0">
                    <p:tgtEl>
                      <p:spTgt spid="18"/>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8"/>
                                        </p:tgtEl>
                                      </p:cBhvr>
                                    </p:cmd>
                                  </p:childTnLst>
                                </p:cTn>
                              </p:par>
                            </p:childTnLst>
                          </p:cTn>
                        </p:par>
                      </p:childTnLst>
                    </p:cTn>
                  </p:par>
                </p:childTnLst>
              </p:cTn>
              <p:nextCondLst>
                <p:cond evt="onClick" delay="0">
                  <p:tgtEl>
                    <p:spTgt spid="18"/>
                  </p:tgtEl>
                </p:cond>
              </p:nextCondLst>
            </p:seq>
            <p:audio>
              <p:cMediaNode vol="80000">
                <p:cTn id="74" fill="hold" display="0">
                  <p:stCondLst>
                    <p:cond delay="indefinite"/>
                  </p:stCondLst>
                  <p:endCondLst>
                    <p:cond evt="onStopAudio" delay="0">
                      <p:tgtEl>
                        <p:sldTgt/>
                      </p:tgtEl>
                    </p:cond>
                  </p:endCondLst>
                </p:cTn>
                <p:tgtEl>
                  <p:spTgt spid="17"/>
                </p:tgtEl>
              </p:cMediaNode>
            </p:audio>
            <p:audio>
              <p:cMediaNode vol="80000">
                <p:cTn id="75"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8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89"/>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Ti dà fastidio? Di' perché!</a:t>
            </a:r>
            <a:endParaRPr lang="en-US" sz="950" dirty="0"/>
          </a:p>
        </p:txBody>
      </p:sp>
      <p:sp>
        <p:nvSpPr>
          <p:cNvPr id="9" name="cmd_59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annoying phone habits   ·   📖 SB p.37 · 4 Speaking (6 of the 13 annoying things)</a:t>
            </a:r>
            <a:endParaRPr lang="en-US" sz="800" dirty="0"/>
          </a:p>
        </p:txBody>
      </p:sp>
      <p:sp>
        <p:nvSpPr>
          <p:cNvPr id="14" name="pf_59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7"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9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9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0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It really annoys me when people…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They should / shouldn't…</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To be honest, I sometimes…</a:t>
            </a:r>
            <a:endParaRPr lang="en-US" sz="1000" dirty="0"/>
          </a:p>
        </p:txBody>
      </p:sp>
      <p:sp>
        <p:nvSpPr>
          <p:cNvPr id="20" name="R1_qb60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03"/>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annoys me! They should watch the band, not the screen.</a:t>
            </a:r>
            <a:endParaRPr lang="en-US" sz="1250" dirty="0"/>
          </a:p>
        </p:txBody>
      </p:sp>
      <p:pic>
        <p:nvPicPr>
          <p:cNvPr id="22" name="R1_th604"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60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0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bus every day! They should turn it down.</a:t>
            </a:r>
            <a:endParaRPr lang="en-US" sz="1250" dirty="0"/>
          </a:p>
        </p:txBody>
      </p:sp>
      <p:sp>
        <p:nvSpPr>
          <p:cNvPr id="25" name="R3_qb60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08"/>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sometimes do it… but I know I shouldn't!</a:t>
            </a:r>
            <a:endParaRPr lang="en-US" sz="1250" dirty="0"/>
          </a:p>
        </p:txBody>
      </p:sp>
      <p:pic>
        <p:nvPicPr>
          <p:cNvPr id="27" name="R3_th609"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8" name="R4_qb61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611"/>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OK – but not 20 a day!</a:t>
            </a:r>
            <a:endParaRPr lang="en-US" sz="1100" dirty="0"/>
          </a:p>
        </p:txBody>
      </p:sp>
      <p:pic>
        <p:nvPicPr>
          <p:cNvPr id="30" name="R4_th612"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1" name="R5_qb61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614"/>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uncle does it. I think it's rude – you shouldn't!</a:t>
            </a:r>
            <a:endParaRPr lang="en-US" sz="1250" dirty="0"/>
          </a:p>
        </p:txBody>
      </p:sp>
      <p:sp>
        <p:nvSpPr>
          <p:cNvPr id="33" name="R6_qb615"/>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R6_sq616"/>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1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6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6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Dai le regole di un posto. Non dirlo!</a:t>
            </a:r>
            <a:endParaRPr lang="en-US" sz="950" dirty="0"/>
          </a:p>
        </p:txBody>
      </p:sp>
      <p:sp>
        <p:nvSpPr>
          <p:cNvPr id="9" name="cmd_62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   ·   📖 Practice of Grammar Bank 4A: have to, must, should</a:t>
            </a:r>
            <a:endParaRPr lang="en-US" sz="800" dirty="0"/>
          </a:p>
        </p:txBody>
      </p:sp>
      <p:sp>
        <p:nvSpPr>
          <p:cNvPr id="14" name="cd_62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A looks at the screen. B turns around.</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guarda lo schermo. B si gira.</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A gives rules: You have to… You mustn't…</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dà regole: You have to… You mustn't…</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B guesses the place. Then swap.</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B indovina il posto. Poi scambiatevi.</a:t>
            </a:r>
            <a:endParaRPr lang="en-US" sz="950" dirty="0"/>
          </a:p>
        </p:txBody>
      </p:sp>
      <p:sp>
        <p:nvSpPr>
          <p:cNvPr id="18" name="pf_63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33"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3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gives rules</a:t>
            </a:r>
            <a:endParaRPr lang="en-US" sz="1100" dirty="0"/>
          </a:p>
        </p:txBody>
      </p:sp>
      <p:sp>
        <p:nvSpPr>
          <p:cNvPr id="21" name="R1_w63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2" name="R3_w63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3" name="R5_w63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4" name="R7_w63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5" name="rl_63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gives rules</a:t>
            </a:r>
            <a:endParaRPr lang="en-US" sz="1100" dirty="0"/>
          </a:p>
        </p:txBody>
      </p:sp>
      <p:sp>
        <p:nvSpPr>
          <p:cNvPr id="26" name="R2_w64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7" name="R4_w64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8" name="R6_w64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9" name="R8_w64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4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4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Review · what did you do today?</a:t>
            </a:r>
            <a:endParaRPr lang="en-US" sz="800" dirty="0"/>
          </a:p>
        </p:txBody>
      </p:sp>
      <p:sp>
        <p:nvSpPr>
          <p:cNvPr id="14" name="cd_655"/>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5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5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phones: hang up, on hold…</a:t>
            </a:r>
            <a:endParaRPr lang="en-US" sz="1350" dirty="0"/>
          </a:p>
        </p:txBody>
      </p:sp>
      <p:sp>
        <p:nvSpPr>
          <p:cNvPr id="17" name="R1_tk65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59"/>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6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6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phone in a concert</a:t>
            </a:r>
            <a:endParaRPr lang="en-US" sz="1350" dirty="0"/>
          </a:p>
        </p:txBody>
      </p:sp>
      <p:sp>
        <p:nvSpPr>
          <p:cNvPr id="21" name="R2_tk66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63"/>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6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6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rules: have to, must, should</a:t>
            </a:r>
            <a:endParaRPr lang="en-US" sz="1350" dirty="0"/>
          </a:p>
        </p:txBody>
      </p:sp>
      <p:sp>
        <p:nvSpPr>
          <p:cNvPr id="25" name="R3_tk66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67"/>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6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6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7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71"/>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7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7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"Describe it!" and "Where am I?"</a:t>
            </a:r>
            <a:endParaRPr lang="en-US" sz="1350" dirty="0"/>
          </a:p>
        </p:txBody>
      </p:sp>
      <p:sp>
        <p:nvSpPr>
          <p:cNvPr id="33" name="R5_tk67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8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82"/>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83"/>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Exit · what can you remember?</a:t>
            </a:r>
            <a:endParaRPr lang="en-US" sz="800" dirty="0"/>
          </a:p>
        </p:txBody>
      </p:sp>
      <p:sp>
        <p:nvSpPr>
          <p:cNvPr id="13" name="bd_68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8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5" name="bd_68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8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7" name="bd_69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9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9" name="cd_69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9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9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9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1a, 1b, 2a, 2b, 3a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4A p.138: a 5–8, b 5–7</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9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8"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699"/>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70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0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7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Pensa a una situazione. Dillo al compagno.</a:t>
            </a:r>
            <a:endParaRPr lang="en-US" sz="950" dirty="0"/>
          </a:p>
        </p:txBody>
      </p:sp>
      <p:sp>
        <p:nvSpPr>
          <p:cNvPr id="9" name="cmd_70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situations   ·   📖 SB p.36 · 2e</a:t>
            </a:r>
            <a:endParaRPr lang="en-US" sz="800" dirty="0"/>
          </a:p>
        </p:txBody>
      </p:sp>
      <p:sp>
        <p:nvSpPr>
          <p:cNvPr id="14" name="st_70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0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10"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1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1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1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1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have to… when…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1" name="R1_qb71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1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a plane, during take-off and landing.</a:t>
            </a:r>
            <a:endParaRPr lang="en-US" sz="1250" dirty="0"/>
          </a:p>
        </p:txBody>
      </p:sp>
      <p:sp>
        <p:nvSpPr>
          <p:cNvPr id="23" name="R2_qb71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1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At dinner with your family – it's rude.</a:t>
            </a:r>
            <a:endParaRPr lang="en-US" sz="1250" dirty="0"/>
          </a:p>
        </p:txBody>
      </p:sp>
      <p:sp>
        <p:nvSpPr>
          <p:cNvPr id="25" name="R3_qb71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2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2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72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2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7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il Grammar Bank 4A. Poi controlla!</a:t>
            </a:r>
            <a:endParaRPr lang="en-US" sz="950" dirty="0"/>
          </a:p>
        </p:txBody>
      </p:sp>
      <p:sp>
        <p:nvSpPr>
          <p:cNvPr id="9" name="cmd_7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72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72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7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Grammar Bank practice   ·   📖 Grammar Bank 4A p.138 · a 1–4, b 1–4 (a 5–8, b 5–7 = homework)</a:t>
            </a:r>
            <a:endParaRPr lang="en-US" sz="800" dirty="0"/>
          </a:p>
        </p:txBody>
      </p:sp>
      <p:sp>
        <p:nvSpPr>
          <p:cNvPr id="14" name="st_73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3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3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 or correct it · b: complete with have to / must / should</a:t>
            </a:r>
            <a:endParaRPr lang="en-US" sz="1050" dirty="0"/>
          </a:p>
        </p:txBody>
      </p:sp>
      <p:sp>
        <p:nvSpPr>
          <p:cNvPr id="19" name="pf_73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8"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3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4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3" name="R1_chip74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4" name="bd_74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4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6" name="R2_chip74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7" name="bd_74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4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050" dirty="0"/>
          </a:p>
        </p:txBody>
      </p:sp>
      <p:sp>
        <p:nvSpPr>
          <p:cNvPr id="29" name="R3_chip74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30" name="bd_74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4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850" dirty="0"/>
          </a:p>
        </p:txBody>
      </p:sp>
      <p:sp>
        <p:nvSpPr>
          <p:cNvPr id="32" name="R4_chip75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3" name="bd_75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5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5" name="R5_chip75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2026-10-12T10:15:13Z</dcterms:created>
  <dcterms:modified xsi:type="dcterms:W3CDTF">2026-10-12T10:15:13Z</dcterms:modified>
</cp:coreProperties>
</file>