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Show the photo. Ask the THINK question; quick show of hands: yes / no / maybe for a month! Take 2–3 reasons (no coffee? no shopping? no pizza?). Read the 'Today you're going to…' list together. Optional lead-in from the TG (books closed): write SPEND on the board, elicit spend TIME + -ing (spend time doing) and spend MONEY ON something. Don't teach the money words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 before the warmer game. Last lesson was the Practical English video; the warmer goes back to 1B part 2 (birth order article + personality adjectives), so revise those. Read the examples; ask 'Which child are YOU?' to one or two students. Drill the stress on the prefixes (imPAtient, unreLIable, disHONest). Then play 'Who am I?'.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 · books closed · format: team clue quiz (different from the 1B-2 warmer). Two teams. Read each clue aloud; teams have 10 seconds to answer. Click once per line. Answers: 1 the oldest child · 2 the middle child · 3 the youngest child · 4 the only child (all from the birth order article, SB p.12) · 5 stubborn · 6 impatient, unreliable, dishonest. Bonus point for the right stress (prefixes are never stressed: imPAtient, unreLIable, disHONest). Fast extra: 'Which one are YOU? Give one adjective.' ICQ: 'Do you need to say the answer or write it?' (say it) · 'How long do you have?' (10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Lead-in · the money quiz (3 min)
LEAD-IN (3 min). Small teams (TG). Teams write their answers for all 7, then click once per line. Answers (TG key): Japan – the yen · Mexico – the peso · Switzerland – the franc · Turkey – the lira · F (the first coins were made around 600 BC by the Lydians of Asia Minor, present-day Turkey) · F (e.g. the Czech Republic, Hungary, Poland don't use the euro) · T. Show of hands: which team got everything right? If you have the book, the full quiz is on p.16 (coins 1–8: Russia rouble · China yuan · Japan yen · Poland zloty · Brazil real · Mexico peso · Switzerland franc · Hungary forint; France euro, Turkey lira; NB the TG's '2 China, lei' is a misprint — the coin says YI YUAN). Other true/false items in the book: b The largest English note is worth £50 (T) · c Bank notes are always made of paper (F – most UK notes are polymer, a plastic). ICQ: 'Do you shout or write?' (write).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money verbs (4 min)
ELICIT FIRST (4 min). Demo item 0 with the class: 'Can you lend me your pen? / Can I borrow your pen?' (TG). Pairs explain each pair of verbs in English, with an example if they can. Click once per item. Meanings follow the Vocabulary Bank / audio 2.1 sentences and the TG notes. Monitor: which verbs are new? ICQs: 'Are you writing?' (no, talking) · 'English or Italian?' (English). Next slide = Italian for slower students.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Vocabulary · in Italian (2 min)
CONSOLIDATION for slower students (2 min). Class says the Italian aloud, then click once per word to show its Italian. Spend 20 seconds on the warning box: Italian 'prestare' covers both lend and borrow; earn = guadagnare (work) ≠ win = vincere; charge = far pagare (not 'caricare' here). CCQ: 'I give you my book. Do I lend or borrow?' (lend) · 'You get €1,000 from your job. Do you earn or win it?' (earn).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Vocabulary · practice (3 min)
CONTROLLED PRACTICE (3 min). Pairs guess the verbs first (books closed). Play 2.1 (13 sentences; the slide shows 8 of them), pausing after each one. Click once per sentence. Answers (audio script 2.1): a inherit · b lend · c borrow · d afford · e charges · f owe · g earn · h worth. The other 2.1 sentences: I save money every week · I often waste money · They cost $200 · I want to invest some money · We want to raise money for the new hospital. Drill with the audio (TG). EXTRA SUPPORT (TG): cover the answers and try to remember the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Vocabulary · prepositions (4 min)
GAME 2 (4 min). Pairs. Demo line 1 with a strong student. Round 1: A reads lines 1–4, B answers; round 2: swap for 5–8. Then click once per line to check. Sentences are shortened from audio 2.2 / 2.4. Answers: by · for · on · in · to · from · into · out. Silent b in debt /det/ (TG). Phrasal verbs (2.4, teach in 1 minute after the game): take out (money from a cash machine) · pay back (Can I pay you back next week?) — both separable: pay me the money back · live off = get your money from someone else (live off my parents at university) · live on = have enough for basic needs (difficult to live on one salary). Other 2.2 sentence: They charged us €60 FOR a bottle of wine. ICQ: 'How long does B have?' (3 seconds).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Vocabulary · money nouns (3 min)
VOCABULARY (3 min). Pairs read each meaning and say the word (books closed; strong classes first, then the class). Click once per line: the word + the Italian. Answers = the eight nouns of Vocabulary Bank 3 (audio 2.3): bill · salary · tax · loan · budget · mortgage · contactless payment · insurance. TG: a loan = money lent by a person or a bank; a mortgage = only money from a bank to buy a house or flat. Pronunciation: mortgage /ˈmɔːɡɪdʒ/ – silent t. Personalised forced choice (no numbers needed): 'Which of these does your family pay every month?' Play 2.3 to drill if there's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Pronunciation · o and or (4 min)
PRONUNCIATION (4 min). 2a lead-in (30 sec): 'Three words that rhyme with money?' → sunny · funny · honey (TG). Elicit the sound pictures: up /ʌ/, clock /ɒ/, phone /əʊ/. Pairs say each word aloud and choose the colour; click once per word. Answers (audio 2.5 / 2.6): money /ʌ/ · borrow /ɒ/ · clothes /əʊ/ · worry /ʌ/ · honest /ɒ/ · owe /əʊ/ · afford /ɔː/ · worth /ɜː/. Full lists to drill (2.5): /ʌ/ done, money, nothing, some, won, worry · /ɒ/ borrow, cost, dollar, honest, promise, shopping · /əʊ/ clothes, loan, note, owe, sold. 2.6: afford, mortgage, order, organized, store = /ɔː/ (or is /ɔː/ when stressed); work, worth = /ɜː/ (most wor- + consonant: word, world, worse). Play 2.5 and 2.6: listen and repeat (chorally, then individually). Rules (TG): o between consonants often /ɒ/ (but worry) · o + consonant + e usually /əʊ/ (hope) but some, money = /ʌ/ · ol / oa = /əʊ/ (told, road). Italian speakers say every o the same — exaggerate the mouth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Pronunciation · dictation (3 min)
DICTATION (3 min). Students write only the missing o / or words (the book asks for full sentences – strong classes can write everything). Play 2.7, pausing after each sentence. Pairs compare; play again if needed. Click once per sentence. Answers (audio script 2.7): 1 Let's go shopping for clothes. · 2 Can I borrow some money? · 3 He won a million dollars. · 4 I've done nothing wrong. · 5 They can't afford to pay the mortgage. · 6 I work in a store. Then pairs practise saying them (EXTRA SUPPORT: model and drill first). Listen for won /wʌn/ (= one!), done /dʌn/, work /wɜːk/, afford /əˈfɔːd/. Micro-challenge: who can say sentence 5 three times fast?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Speaking · money and you (5 min)
SPEAKING (5 min). Replaces the book's Communication Money Q&amp;A (pp.106 / 111 are not in our files – if you prefer the book's questions, use them instead). Questions appear ONE PER CLICK: about 45 seconds each, then click. Follow-up rule: after every answer, ask one more question (Why? How much? What happened?). Nobody has to talk about how much they or their family earn or have: teach 'I'd rather not say' first. Monitor for the target words and prepositions (spend ON, pay BY card, lend TO, borrow FROM) and note 4–5 errors for delayed correction. Feedback: the most surprising answer from each pair. ICQ: 'One question or many at once?' (one).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prediction (2 min)
PREDICTION (2 min). 3a (whole class): 'Why do you think someone might decide to have a no-spend year?' Take 2–3 ideas (to save for a house, to pay a loan…). Then pairs look at the number bank and guess what each number is (any sensible guess – wild guesses are fun). They check on the next four slides: the numbers are gaps 1–7 in the article (£230k = £230,000, £23k = £23,000). Pre-teach only 'cycle' and 'budget' if needed (budget was taught on slide 8). ICQ: 'Are you reading the article now?' (no – just guessing).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Reading · paragraph A (3 min)
READ FOR SPECIFIC INFORMATION (3 min). Pairs read paragraph A and decide which number from the bank goes in gaps 1–3. Click once per gap: the number appears highlighted IN the text. Answers (SB article): 1 £230,000 (her mortgage – the bank showed it as £230k) · 2 £1,570 (in the pub) · 3 £30 (a week for food and household essentials). Ask: 'Was your guess right?' Check: finances, unnecessarily, radical. 'What couldn't she spend money on?' (clothes, buses or flights, meals out, drinks, cosmetics).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Reading · paragraphs B–C (2 min)
READ FOR SPECIFIC INFORMATION (2 min). Same procedure: gap 4, one click. Answer (SB article): 4 60 (miles to Brighton). Quick questions: 'Was her food good?' (cheap and healthy, but 'really boring') · 'How did she feel when she went out less?' (more isolated) · 'Would you drink tap water in a pub with your friends?'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Reading · paragraphs D–E (2 min)
READ FOR SPECIFIC INFORMATION (2 min). Gaps 5–7, click once per gap. Answers (SB article): 5 £1.95 (a bag of chips) · 6 £23,000 (she saved – the bank showed it as £23k) · 7 6,500 (miles she cycled). Quick question: 'What were the good things about the year?' (£23,000, slimmer and fitter, freer and happier, confidence, a sense of adventure).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Reading · paragraphs F–G (2 min)
READ AND GUESS (2 min). Pairs read F and G and guess need or want for a–c (the meaning makes it clear). Click 1 = a + b together, click 2 = c. Answers (SB article): a need · b want · c want. Quick questions on F: 'What did she do on the first evening after the year?' (bought all her friends a drink) · 'Is she spending a lot again now?' (no – a few clothes, some perfume, a taxi). Her key tip leads into the final speaking task (slide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Reading · detail (3 min)
READ FOR DETAIL (3 min). The 7 sentences are the book's 3c, slightly shortened (one per paragraph – TG). Pairs decide T or F and find the words that prove it (go back to slides 13–16 if needed). Correct the false ones. Click once per sentence: the evidence from the text appears. Answers (TG key): 1 F (She couldn't use buses or flights) · 2 F (She had plenty of cheap food, but it was boring) · 3 T · 4 F (She had a bag of chips in East Anglia) · 5 F (She is much slimmer and fitter) · 6 T · 7 T. 3d (30 sec, whole class): 'Do you agree with her key tip? Why (not)?'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Reading · compound nouns (2 min)
VOCABULARY FROM THE TEXT (2 min). Compound nouns box (SB): two nouns together, the first describes the second (e.g. cash machine); the stress is usually on the FIRST noun. Pairs find the six compound nouns in the article (slides 13–15). Click once per word. Answers (TG): olive oil · electricity bill · cleaning products · cycling trip · beauty treatments · tap water. Drill with first-word stress: OLive oil, eLECtricity bill, CLEANing products. Italian puts the words the other way round (olio d'oliva) – English: describing word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Speaking · could you do it? (5 min)
FREER PRACTICE (5 min). First (1 min) go through the SB box 'would for imaginary situations': We use would to talk about imaginary situations, e.g. To save money, I'd spend less on clothes and I'd cook for myself at home. CCQ: 'Am I doing a no-spend year now?' (no – I'm imagining it). Groups of 3. Questions appear ONE PER CLICK (questions 1–4 are the book's 3f; 5–6 added): about 45 seconds each. You could tell the class whether YOU could do what Michelle did (TG). Monitor; then 1–2 minutes of delayed error correction on the board (errors from both speaking tasks: spend for → spend ON, I would to… → I'd…, lend/borrow).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Exit · what can you remember? (2 min)
RETRIEVAL EXIT (2 min). Books closed. Pairs: 3 money verbs with their preposition (e.g. spend ON, borrow FROM, lend TO, pay BY card, invest IN), 2 words with a different o sound, 1 sentence with I'd. A few students share. Set homework (on the slide and in the app; easier sheet available). Answers to the Workbook are in the teacher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Reading · paragraphs (3 min)
EXTRA (3 min, if there's time – or use it as the gist task BEFORE the gap slides with a strong class). Book 3b: match paragraphs A–G to topics 1–7 (the topic words in bold in the book: on holiday, why, friends, achieved, advice, at home, discovered). Click once per topic. Answers (TG key A 2 · B 6 · C 3 · D 1 · E 4 · F 7 · G 5): 1 where she went on holiday D · 2 why she decided to save money A · 3 how often she saw her friends C · 4 what she achieved E · 5 her advice G · 6 how she saved money at home B · 7 what she discovered 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Vocabulary game (4 min)
EXTRA GAME (4 min) – or a warmer for 2A part 2. Demo first: 'You get it every month from your job' → salary. Click to show each word (round 1 = A explains to B, round 2 = B explains, A turns around). 20 seconds per word. Rule: the word 'money' is banned! ICQ: 'Can you say the word?' (no) · 'Can you say money?' (no).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audio" Target="../media/media-11-5.mp3"/><Relationship Id="rId6" Type="http://schemas.microsoft.com/office/2007/relationships/media" Target="../media/media-11-5.mp3"/><Relationship Id="rId7" Type="http://schemas.openxmlformats.org/officeDocument/2006/relationships/image" Target="../media/image-11-7.png"/><Relationship Id="rId8" Type="http://schemas.openxmlformats.org/officeDocument/2006/relationships/audio" Target="../media/media-11-8.mp3"/><Relationship Id="rId9" Type="http://schemas.microsoft.com/office/2007/relationships/media" Target="../media/media-11-8.mp3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pp.16–17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2A-1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Spending money</a:t>
            </a:r>
            <a:endParaRPr lang="en-US" sz="24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it, spend it or waste it?</a:t>
            </a:r>
            <a:endParaRPr lang="en-US" sz="125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💬  talk about how you spend and save money</a:t>
            </a:r>
            <a:endParaRPr lang="en-US" sz="10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🔤  learn about 30 money words</a:t>
            </a:r>
            <a:endParaRPr lang="en-US" sz="10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the letter o in five different ways</a:t>
            </a:r>
            <a:endParaRPr lang="en-US" sz="105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👀  read about a woman who spent nothing for a year</a:t>
            </a:r>
            <a:endParaRPr lang="en-US" sz="10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way! I love buying clothes – I couldn't stop for a year.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2a1_cover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One year without spending money. Could YOU do it?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learn?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imparato?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1b2_youngest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PE1: meeting the parents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1B: personality, birth order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Birth order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oldest child is often ambitious.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child sorts out arguments.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youngest is charming but disorganized.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oldest · middle · youngest · only child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Opposites: negative prefixes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so impatient! He can't wait.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unreliable – she's always late.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Telling lies is dishonest.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prefixes are never stressed: imPAtient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494276" y="4178808"/>
            <a:ext cx="864108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anxious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43153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sociable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446520" y="4178808"/>
            <a:ext cx="1175004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independent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694676" y="417880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stubborn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charming</a:t>
            </a:r>
            <a:endParaRPr lang="en-US" sz="1050" dirty="0"/>
          </a:p>
        </p:txBody>
      </p:sp>
      <p:sp>
        <p:nvSpPr>
          <p:cNvPr id="33" name="w_47"/>
          <p:cNvSpPr/>
          <p:nvPr/>
        </p:nvSpPr>
        <p:spPr>
          <a:xfrm>
            <a:off x="4261104" y="4544568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spoilt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am I?</a:t>
            </a:r>
            <a:endParaRPr lang="en-US" sz="2500" dirty="0"/>
          </a:p>
        </p:txBody>
      </p:sp>
      <p:pic>
        <p:nvPicPr>
          <p:cNvPr id="6" name="brP_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52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clue. Who is it? What's the word?</a:t>
            </a:r>
            <a:endParaRPr lang="en-US" sz="1250" dirty="0"/>
          </a:p>
        </p:txBody>
      </p:sp>
      <p:sp>
        <p:nvSpPr>
          <p:cNvPr id="8" name="insIT_5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l'indizio. Chi è? Qual è la parola?</a:t>
            </a:r>
            <a:endParaRPr lang="en-US" sz="950" dirty="0"/>
          </a:p>
        </p:txBody>
      </p:sp>
      <p:sp>
        <p:nvSpPr>
          <p:cNvPr id="9" name="cmd_5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Warmer · last lesson   ·   📖 Recycles 1B part 2: birth order article, personality adjectives, negative prefixes</a:t>
            </a:r>
            <a:endParaRPr lang="en-US" sz="800" dirty="0"/>
          </a:p>
        </p:txBody>
      </p:sp>
      <p:sp>
        <p:nvSpPr>
          <p:cNvPr id="14" name="cd_59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2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clue.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l'indizio.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say the answer in 10 seconds.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Squadre: dite la risposta in 10 secondi.</a:t>
            </a:r>
            <a:endParaRPr lang="en-US" sz="95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Right stress = +1!</a:t>
            </a:r>
            <a:endParaRPr lang="en-US" sz="95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Giusto = 1 punto. Accento giusto = +1!</a:t>
            </a:r>
            <a:endParaRPr lang="en-US" sz="950" dirty="0"/>
          </a:p>
        </p:txBody>
      </p:sp>
      <p:sp>
        <p:nvSpPr>
          <p:cNvPr id="18" name="pf_63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4" descr="/home/claude/lls-course/v2/cache/spare_1b2_sharing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6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responsible and ambitious, but a bit anxious."</a:t>
            </a:r>
            <a:endParaRPr lang="en-US" sz="1100" dirty="0"/>
          </a:p>
        </p:txBody>
      </p:sp>
      <p:sp>
        <p:nvSpPr>
          <p:cNvPr id="22" name="R1_chip6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oldest child</a:t>
            </a:r>
            <a:endParaRPr lang="en-US" sz="1100" dirty="0"/>
          </a:p>
        </p:txBody>
      </p:sp>
      <p:sp>
        <p:nvSpPr>
          <p:cNvPr id="23" name="bd_6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sociable. I sort out arguments."</a:t>
            </a:r>
            <a:endParaRPr lang="en-US" sz="1100" dirty="0"/>
          </a:p>
        </p:txBody>
      </p:sp>
      <p:sp>
        <p:nvSpPr>
          <p:cNvPr id="25" name="R2_chip7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middle child</a:t>
            </a:r>
            <a:endParaRPr lang="en-US" sz="1100" dirty="0"/>
          </a:p>
        </p:txBody>
      </p:sp>
      <p:sp>
        <p:nvSpPr>
          <p:cNvPr id="26" name="bd_7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7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charming, but disorganized. I'm the baby!"</a:t>
            </a:r>
            <a:endParaRPr lang="en-US" sz="1100" dirty="0"/>
          </a:p>
        </p:txBody>
      </p:sp>
      <p:sp>
        <p:nvSpPr>
          <p:cNvPr id="28" name="R3_chip7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youngest child</a:t>
            </a:r>
            <a:endParaRPr lang="en-US" sz="1100" dirty="0"/>
          </a:p>
        </p:txBody>
      </p:sp>
      <p:sp>
        <p:nvSpPr>
          <p:cNvPr id="29" name="bd_7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7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"I'm independent. I spend a lot of time with adults."</a:t>
            </a:r>
            <a:endParaRPr lang="en-US" sz="1100" dirty="0"/>
          </a:p>
        </p:txBody>
      </p:sp>
      <p:sp>
        <p:nvSpPr>
          <p:cNvPr id="31" name="R4_chip7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only child</a:t>
            </a:r>
            <a:endParaRPr lang="en-US" sz="1100" dirty="0"/>
          </a:p>
        </p:txBody>
      </p:sp>
      <p:sp>
        <p:nvSpPr>
          <p:cNvPr id="32" name="bd_7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7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"She never changes her mind!"</a:t>
            </a:r>
            <a:endParaRPr lang="en-US" sz="1100" dirty="0"/>
          </a:p>
        </p:txBody>
      </p:sp>
      <p:sp>
        <p:nvSpPr>
          <p:cNvPr id="34" name="R5_chip7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She's STUBborn.</a:t>
            </a:r>
            <a:endParaRPr lang="en-US" sz="1100" dirty="0"/>
          </a:p>
        </p:txBody>
      </p:sp>
      <p:sp>
        <p:nvSpPr>
          <p:cNvPr id="35" name="bd_8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8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Opposites: patient · reliable · honest</a:t>
            </a:r>
            <a:endParaRPr lang="en-US" sz="1100" dirty="0"/>
          </a:p>
        </p:txBody>
      </p:sp>
      <p:sp>
        <p:nvSpPr>
          <p:cNvPr id="37" name="R6_chip8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imPAtient · unreLIable · disHONest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85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money quiz</a:t>
            </a:r>
            <a:endParaRPr lang="en-US" sz="2500" dirty="0"/>
          </a:p>
        </p:txBody>
      </p:sp>
      <p:pic>
        <p:nvPicPr>
          <p:cNvPr id="6" name="brP_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87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currency? True or false?</a:t>
            </a:r>
            <a:endParaRPr lang="en-US" sz="1250" dirty="0"/>
          </a:p>
        </p:txBody>
      </p:sp>
      <p:sp>
        <p:nvSpPr>
          <p:cNvPr id="8" name="insIT_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valuta? Vero o falso?</a:t>
            </a:r>
            <a:endParaRPr lang="en-US" sz="950" dirty="0"/>
          </a:p>
        </p:txBody>
      </p:sp>
      <p:sp>
        <p:nvSpPr>
          <p:cNvPr id="9" name="cmd_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9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9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Lead-in · the money quiz   ·   📖 SB p.16 · 1a The money quiz</a:t>
            </a:r>
            <a:endParaRPr lang="en-US" sz="800" dirty="0"/>
          </a:p>
        </p:txBody>
      </p:sp>
      <p:sp>
        <p:nvSpPr>
          <p:cNvPr id="14" name="cd_94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9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9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97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country or the sentence.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il paese o la frase.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Teams: write the currency, or T / F.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Squadre: scrivete la valuta, o V / F.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Giusto = 1 punto.</a:t>
            </a:r>
            <a:endParaRPr lang="en-US" sz="1100" dirty="0"/>
          </a:p>
        </p:txBody>
      </p:sp>
      <p:sp>
        <p:nvSpPr>
          <p:cNvPr id="18" name="pf_98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99" descr="/home/claude/lls-course/v2/cache/2a1_coins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100"/>
          <p:cNvSpPr/>
          <p:nvPr/>
        </p:nvSpPr>
        <p:spPr>
          <a:xfrm>
            <a:off x="3246120" y="145259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101"/>
          <p:cNvSpPr/>
          <p:nvPr/>
        </p:nvSpPr>
        <p:spPr>
          <a:xfrm>
            <a:off x="3657600" y="1417320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Japan</a:t>
            </a:r>
            <a:endParaRPr lang="en-US" sz="1100" dirty="0"/>
          </a:p>
        </p:txBody>
      </p:sp>
      <p:sp>
        <p:nvSpPr>
          <p:cNvPr id="22" name="R1_chip102"/>
          <p:cNvSpPr/>
          <p:nvPr/>
        </p:nvSpPr>
        <p:spPr>
          <a:xfrm>
            <a:off x="6263640" y="1417320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yen</a:t>
            </a:r>
            <a:endParaRPr lang="en-US" sz="1100" dirty="0"/>
          </a:p>
        </p:txBody>
      </p:sp>
      <p:sp>
        <p:nvSpPr>
          <p:cNvPr id="23" name="bd_103"/>
          <p:cNvSpPr/>
          <p:nvPr/>
        </p:nvSpPr>
        <p:spPr>
          <a:xfrm>
            <a:off x="3246120" y="1916321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104"/>
          <p:cNvSpPr/>
          <p:nvPr/>
        </p:nvSpPr>
        <p:spPr>
          <a:xfrm>
            <a:off x="3657600" y="1881051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Mexico</a:t>
            </a:r>
            <a:endParaRPr lang="en-US" sz="1100" dirty="0"/>
          </a:p>
        </p:txBody>
      </p:sp>
      <p:sp>
        <p:nvSpPr>
          <p:cNvPr id="25" name="R2_chip105"/>
          <p:cNvSpPr/>
          <p:nvPr/>
        </p:nvSpPr>
        <p:spPr>
          <a:xfrm>
            <a:off x="6263640" y="1881051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peso</a:t>
            </a:r>
            <a:endParaRPr lang="en-US" sz="1100" dirty="0"/>
          </a:p>
        </p:txBody>
      </p:sp>
      <p:sp>
        <p:nvSpPr>
          <p:cNvPr id="26" name="bd_106"/>
          <p:cNvSpPr/>
          <p:nvPr/>
        </p:nvSpPr>
        <p:spPr>
          <a:xfrm>
            <a:off x="3246120" y="2380053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107"/>
          <p:cNvSpPr/>
          <p:nvPr/>
        </p:nvSpPr>
        <p:spPr>
          <a:xfrm>
            <a:off x="3657600" y="2344783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Switzerland</a:t>
            </a:r>
            <a:endParaRPr lang="en-US" sz="1100" dirty="0"/>
          </a:p>
        </p:txBody>
      </p:sp>
      <p:sp>
        <p:nvSpPr>
          <p:cNvPr id="28" name="R3_chip108"/>
          <p:cNvSpPr/>
          <p:nvPr/>
        </p:nvSpPr>
        <p:spPr>
          <a:xfrm>
            <a:off x="6263640" y="2344783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franc</a:t>
            </a:r>
            <a:endParaRPr lang="en-US" sz="1100" dirty="0"/>
          </a:p>
        </p:txBody>
      </p:sp>
      <p:sp>
        <p:nvSpPr>
          <p:cNvPr id="29" name="bd_109"/>
          <p:cNvSpPr/>
          <p:nvPr/>
        </p:nvSpPr>
        <p:spPr>
          <a:xfrm>
            <a:off x="3246120" y="284378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110"/>
          <p:cNvSpPr/>
          <p:nvPr/>
        </p:nvSpPr>
        <p:spPr>
          <a:xfrm>
            <a:off x="3657600" y="2808514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Turkey</a:t>
            </a:r>
            <a:endParaRPr lang="en-US" sz="1100" dirty="0"/>
          </a:p>
        </p:txBody>
      </p:sp>
      <p:sp>
        <p:nvSpPr>
          <p:cNvPr id="31" name="R4_chip111"/>
          <p:cNvSpPr/>
          <p:nvPr/>
        </p:nvSpPr>
        <p:spPr>
          <a:xfrm>
            <a:off x="6263640" y="2808514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 lira</a:t>
            </a:r>
            <a:endParaRPr lang="en-US" sz="1100" dirty="0"/>
          </a:p>
        </p:txBody>
      </p:sp>
      <p:sp>
        <p:nvSpPr>
          <p:cNvPr id="32" name="bd_112"/>
          <p:cNvSpPr/>
          <p:nvPr/>
        </p:nvSpPr>
        <p:spPr>
          <a:xfrm>
            <a:off x="3246120" y="3307515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113"/>
          <p:cNvSpPr/>
          <p:nvPr/>
        </p:nvSpPr>
        <p:spPr>
          <a:xfrm>
            <a:off x="3657600" y="3272246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Romans made the first coins.</a:t>
            </a:r>
            <a:endParaRPr lang="en-US" sz="1100" dirty="0"/>
          </a:p>
        </p:txBody>
      </p:sp>
      <p:sp>
        <p:nvSpPr>
          <p:cNvPr id="34" name="R5_chip114"/>
          <p:cNvSpPr/>
          <p:nvPr/>
        </p:nvSpPr>
        <p:spPr>
          <a:xfrm>
            <a:off x="6263640" y="3272246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the Lydians, about 600 BC (today's Turkey)</a:t>
            </a:r>
            <a:endParaRPr lang="en-US" sz="1100" dirty="0"/>
          </a:p>
        </p:txBody>
      </p:sp>
      <p:sp>
        <p:nvSpPr>
          <p:cNvPr id="35" name="bd_115"/>
          <p:cNvSpPr/>
          <p:nvPr/>
        </p:nvSpPr>
        <p:spPr>
          <a:xfrm>
            <a:off x="3246120" y="3771247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116"/>
          <p:cNvSpPr/>
          <p:nvPr/>
        </p:nvSpPr>
        <p:spPr>
          <a:xfrm>
            <a:off x="3657600" y="3735977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All EU countries use the euro.</a:t>
            </a:r>
            <a:endParaRPr lang="en-US" sz="1100" dirty="0"/>
          </a:p>
        </p:txBody>
      </p:sp>
      <p:sp>
        <p:nvSpPr>
          <p:cNvPr id="37" name="R6_chip117"/>
          <p:cNvSpPr/>
          <p:nvPr/>
        </p:nvSpPr>
        <p:spPr>
          <a:xfrm>
            <a:off x="6263640" y="3735977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 · e.g. Poland, Hungary, Czech Republic</a:t>
            </a:r>
            <a:endParaRPr lang="en-US" sz="1100" dirty="0"/>
          </a:p>
        </p:txBody>
      </p:sp>
      <p:sp>
        <p:nvSpPr>
          <p:cNvPr id="38" name="bd_118"/>
          <p:cNvSpPr/>
          <p:nvPr/>
        </p:nvSpPr>
        <p:spPr>
          <a:xfrm>
            <a:off x="3246120" y="4234978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119"/>
          <p:cNvSpPr/>
          <p:nvPr/>
        </p:nvSpPr>
        <p:spPr>
          <a:xfrm>
            <a:off x="3657600" y="4199709"/>
            <a:ext cx="2514600" cy="399723"/>
          </a:xfrm>
          <a:prstGeom prst="roundRect">
            <a:avLst>
              <a:gd name="adj" fmla="val 2287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or F? The British pound is the oldest currency still in use.</a:t>
            </a:r>
            <a:endParaRPr lang="en-US" sz="1100" dirty="0"/>
          </a:p>
        </p:txBody>
      </p:sp>
      <p:sp>
        <p:nvSpPr>
          <p:cNvPr id="40" name="R7_chip120"/>
          <p:cNvSpPr/>
          <p:nvPr/>
        </p:nvSpPr>
        <p:spPr>
          <a:xfrm>
            <a:off x="6263640" y="4199709"/>
            <a:ext cx="2560320" cy="399723"/>
          </a:xfrm>
          <a:prstGeom prst="roundRect">
            <a:avLst>
              <a:gd name="adj" fmla="val 2287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23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difference?</a:t>
            </a:r>
            <a:endParaRPr lang="en-US" sz="2500" dirty="0"/>
          </a:p>
        </p:txBody>
      </p:sp>
      <p:pic>
        <p:nvPicPr>
          <p:cNvPr id="6" name="brP_1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12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difference to your partner.</a:t>
            </a:r>
            <a:endParaRPr lang="en-US" sz="1250" dirty="0"/>
          </a:p>
        </p:txBody>
      </p:sp>
      <p:sp>
        <p:nvSpPr>
          <p:cNvPr id="8" name="insIT_12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differenza al compagno.</a:t>
            </a:r>
            <a:endParaRPr lang="en-US" sz="950" dirty="0"/>
          </a:p>
        </p:txBody>
      </p:sp>
      <p:sp>
        <p:nvSpPr>
          <p:cNvPr id="9" name="cmd_1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12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2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1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money verbs   ·   📖 Vocabulary Bank Money p.154 · 1 Verbs</a:t>
            </a:r>
            <a:endParaRPr lang="en-US" sz="800" dirty="0"/>
          </a:p>
        </p:txBody>
      </p:sp>
      <p:sp>
        <p:nvSpPr>
          <p:cNvPr id="14" name="cd_13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3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3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3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lend / borrow → lend = give · borrow = take</a:t>
            </a:r>
            <a:endParaRPr lang="en-US" sz="1050" dirty="0"/>
          </a:p>
        </p:txBody>
      </p:sp>
      <p:sp>
        <p:nvSpPr>
          <p:cNvPr id="18" name="pf_13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37" descr="/home/claude/lls-course/v2/cache/2a1_lend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13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13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/ win</a:t>
            </a:r>
            <a:endParaRPr lang="en-US" sz="1150" dirty="0"/>
          </a:p>
        </p:txBody>
      </p:sp>
      <p:sp>
        <p:nvSpPr>
          <p:cNvPr id="22" name="R1_chip14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 = from your job · win = in a game or the lottery</a:t>
            </a:r>
            <a:endParaRPr lang="en-US" sz="1000" dirty="0"/>
          </a:p>
        </p:txBody>
      </p:sp>
      <p:sp>
        <p:nvSpPr>
          <p:cNvPr id="23" name="bd_14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14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/ waste</a:t>
            </a:r>
            <a:endParaRPr lang="en-US" sz="1150" dirty="0"/>
          </a:p>
        </p:txBody>
      </p:sp>
      <p:sp>
        <p:nvSpPr>
          <p:cNvPr id="25" name="R2_chip14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= keep for later · waste = spend badly, for nothing</a:t>
            </a:r>
            <a:endParaRPr lang="en-US" sz="1000" dirty="0"/>
          </a:p>
        </p:txBody>
      </p:sp>
      <p:sp>
        <p:nvSpPr>
          <p:cNvPr id="26" name="bd_14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14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/ charge</a:t>
            </a:r>
            <a:endParaRPr lang="en-US" sz="1150" dirty="0"/>
          </a:p>
        </p:txBody>
      </p:sp>
      <p:sp>
        <p:nvSpPr>
          <p:cNvPr id="28" name="R3_chip14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costs €200 (the price) · The mechanic charges me €100</a:t>
            </a:r>
            <a:endParaRPr lang="en-US" sz="1000" dirty="0"/>
          </a:p>
        </p:txBody>
      </p:sp>
      <p:sp>
        <p:nvSpPr>
          <p:cNvPr id="29" name="bd_14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14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/ afford</a:t>
            </a:r>
            <a:endParaRPr lang="en-US" sz="1150" dirty="0"/>
          </a:p>
        </p:txBody>
      </p:sp>
      <p:sp>
        <p:nvSpPr>
          <p:cNvPr id="31" name="R4_chip14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 = you must pay it back · can't afford = not enough money</a:t>
            </a:r>
            <a:endParaRPr lang="en-US" sz="1000" dirty="0"/>
          </a:p>
        </p:txBody>
      </p:sp>
      <p:sp>
        <p:nvSpPr>
          <p:cNvPr id="32" name="bd_15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15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/ invest</a:t>
            </a:r>
            <a:endParaRPr lang="en-US" sz="1150" dirty="0"/>
          </a:p>
        </p:txBody>
      </p:sp>
      <p:sp>
        <p:nvSpPr>
          <p:cNvPr id="34" name="R5_chip15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 = get money when someone dies · invest = put money in to make more</a:t>
            </a:r>
            <a:endParaRPr lang="en-US" sz="1000" dirty="0"/>
          </a:p>
        </p:txBody>
      </p:sp>
      <p:sp>
        <p:nvSpPr>
          <p:cNvPr id="35" name="bd_15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15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 worth / raise</a:t>
            </a:r>
            <a:endParaRPr lang="en-US" sz="1150" dirty="0"/>
          </a:p>
        </p:txBody>
      </p:sp>
      <p:sp>
        <p:nvSpPr>
          <p:cNvPr id="37" name="R6_chip15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house is worth €200,000 · raise money for a hospital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191610" cy="621792"/>
          </a:xfrm>
          <a:prstGeom prst="rect">
            <a:avLst/>
          </a:prstGeom>
        </p:spPr>
      </p:pic>
      <p:sp>
        <p:nvSpPr>
          <p:cNvPr id="5" name="title_158"/>
          <p:cNvSpPr/>
          <p:nvPr/>
        </p:nvSpPr>
        <p:spPr>
          <a:xfrm>
            <a:off x="1261872" y="164592"/>
            <a:ext cx="391729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Italian</a:t>
            </a:r>
            <a:endParaRPr lang="en-US" sz="2500" dirty="0"/>
          </a:p>
        </p:txBody>
      </p:sp>
      <p:pic>
        <p:nvPicPr>
          <p:cNvPr id="6" name="brP_1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16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it in Italian. Then click!</a:t>
            </a:r>
            <a:endParaRPr lang="en-US" sz="1250" dirty="0"/>
          </a:p>
        </p:txBody>
      </p:sp>
      <p:sp>
        <p:nvSpPr>
          <p:cNvPr id="8" name="insIT_16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Dillo in italiano. Poi clicca!</a:t>
            </a:r>
            <a:endParaRPr lang="en-US" sz="950" dirty="0"/>
          </a:p>
        </p:txBody>
      </p:sp>
      <p:sp>
        <p:nvSpPr>
          <p:cNvPr id="9" name="cmd_16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0" name="meta_16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16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2" name="logo_1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in Italian</a:t>
            </a:r>
            <a:endParaRPr lang="en-US" sz="800" dirty="0"/>
          </a:p>
        </p:txBody>
      </p:sp>
      <p:sp>
        <p:nvSpPr>
          <p:cNvPr id="14" name="cd_167"/>
          <p:cNvSpPr/>
          <p:nvPr/>
        </p:nvSpPr>
        <p:spPr>
          <a:xfrm>
            <a:off x="320040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168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🤝</a:t>
            </a:r>
            <a:endParaRPr lang="en-US" sz="2000" dirty="0"/>
          </a:p>
        </p:txBody>
      </p:sp>
      <p:sp>
        <p:nvSpPr>
          <p:cNvPr id="16" name="en_169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lend (to)</a:t>
            </a:r>
            <a:endParaRPr lang="en-US" sz="1200" dirty="0"/>
          </a:p>
        </p:txBody>
      </p:sp>
      <p:sp>
        <p:nvSpPr>
          <p:cNvPr id="17" name="R1_it170"/>
          <p:cNvSpPr/>
          <p:nvPr/>
        </p:nvSpPr>
        <p:spPr>
          <a:xfrm>
            <a:off x="978408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prestare (a qualcuno)</a:t>
            </a:r>
            <a:endParaRPr lang="en-US" sz="900" dirty="0"/>
          </a:p>
        </p:txBody>
      </p:sp>
      <p:sp>
        <p:nvSpPr>
          <p:cNvPr id="18" name="cd_171"/>
          <p:cNvSpPr/>
          <p:nvPr/>
        </p:nvSpPr>
        <p:spPr>
          <a:xfrm>
            <a:off x="2487168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e_172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🙏</a:t>
            </a:r>
            <a:endParaRPr lang="en-US" sz="2000" dirty="0"/>
          </a:p>
        </p:txBody>
      </p:sp>
      <p:sp>
        <p:nvSpPr>
          <p:cNvPr id="20" name="en_173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 (from)</a:t>
            </a:r>
            <a:endParaRPr lang="en-US" sz="1200" dirty="0"/>
          </a:p>
        </p:txBody>
      </p:sp>
      <p:sp>
        <p:nvSpPr>
          <p:cNvPr id="21" name="R2_it174"/>
          <p:cNvSpPr/>
          <p:nvPr/>
        </p:nvSpPr>
        <p:spPr>
          <a:xfrm>
            <a:off x="3145536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prendere in prestito (da)</a:t>
            </a:r>
            <a:endParaRPr lang="en-US" sz="800" dirty="0"/>
          </a:p>
        </p:txBody>
      </p:sp>
      <p:sp>
        <p:nvSpPr>
          <p:cNvPr id="22" name="cd_175"/>
          <p:cNvSpPr/>
          <p:nvPr/>
        </p:nvSpPr>
        <p:spPr>
          <a:xfrm>
            <a:off x="4654296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e_17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💼</a:t>
            </a:r>
            <a:endParaRPr lang="en-US" sz="2000" dirty="0"/>
          </a:p>
        </p:txBody>
      </p:sp>
      <p:sp>
        <p:nvSpPr>
          <p:cNvPr id="24" name="en_17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earn</a:t>
            </a:r>
            <a:endParaRPr lang="en-US" sz="1200" dirty="0"/>
          </a:p>
        </p:txBody>
      </p:sp>
      <p:sp>
        <p:nvSpPr>
          <p:cNvPr id="25" name="R3_it178"/>
          <p:cNvSpPr/>
          <p:nvPr/>
        </p:nvSpPr>
        <p:spPr>
          <a:xfrm>
            <a:off x="5312664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guadagnare (lavorando)</a:t>
            </a:r>
            <a:endParaRPr lang="en-US" sz="800" dirty="0"/>
          </a:p>
        </p:txBody>
      </p:sp>
      <p:sp>
        <p:nvSpPr>
          <p:cNvPr id="26" name="cd_179"/>
          <p:cNvSpPr/>
          <p:nvPr/>
        </p:nvSpPr>
        <p:spPr>
          <a:xfrm>
            <a:off x="6821424" y="141732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e_180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🐷</a:t>
            </a:r>
            <a:endParaRPr lang="en-US" sz="2000" dirty="0"/>
          </a:p>
        </p:txBody>
      </p:sp>
      <p:sp>
        <p:nvSpPr>
          <p:cNvPr id="28" name="en_181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save</a:t>
            </a:r>
            <a:endParaRPr lang="en-US" sz="1200" dirty="0"/>
          </a:p>
        </p:txBody>
      </p:sp>
      <p:sp>
        <p:nvSpPr>
          <p:cNvPr id="29" name="R4_it182"/>
          <p:cNvSpPr/>
          <p:nvPr/>
        </p:nvSpPr>
        <p:spPr>
          <a:xfrm>
            <a:off x="7479792" y="180136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risparmiare</a:t>
            </a:r>
            <a:endParaRPr lang="en-US" sz="1000" dirty="0"/>
          </a:p>
        </p:txBody>
      </p:sp>
      <p:sp>
        <p:nvSpPr>
          <p:cNvPr id="30" name="cd_183"/>
          <p:cNvSpPr/>
          <p:nvPr/>
        </p:nvSpPr>
        <p:spPr>
          <a:xfrm>
            <a:off x="320040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84"/>
          <p:cNvSpPr/>
          <p:nvPr/>
        </p:nvSpPr>
        <p:spPr>
          <a:xfrm>
            <a:off x="393192" y="235000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🗑️</a:t>
            </a:r>
            <a:endParaRPr lang="en-US" sz="2000" dirty="0"/>
          </a:p>
        </p:txBody>
      </p:sp>
      <p:sp>
        <p:nvSpPr>
          <p:cNvPr id="32" name="en_185"/>
          <p:cNvSpPr/>
          <p:nvPr/>
        </p:nvSpPr>
        <p:spPr>
          <a:xfrm>
            <a:off x="978408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200" dirty="0"/>
          </a:p>
        </p:txBody>
      </p:sp>
      <p:sp>
        <p:nvSpPr>
          <p:cNvPr id="33" name="R5_it186"/>
          <p:cNvSpPr/>
          <p:nvPr/>
        </p:nvSpPr>
        <p:spPr>
          <a:xfrm>
            <a:off x="978408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sprecare</a:t>
            </a:r>
            <a:endParaRPr lang="en-US" sz="1000" dirty="0"/>
          </a:p>
        </p:txBody>
      </p:sp>
      <p:sp>
        <p:nvSpPr>
          <p:cNvPr id="34" name="cd_187"/>
          <p:cNvSpPr/>
          <p:nvPr/>
        </p:nvSpPr>
        <p:spPr>
          <a:xfrm>
            <a:off x="2487168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88"/>
          <p:cNvSpPr/>
          <p:nvPr/>
        </p:nvSpPr>
        <p:spPr>
          <a:xfrm>
            <a:off x="2560320" y="235000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💳</a:t>
            </a:r>
            <a:endParaRPr lang="en-US" sz="2000" dirty="0"/>
          </a:p>
        </p:txBody>
      </p:sp>
      <p:sp>
        <p:nvSpPr>
          <p:cNvPr id="36" name="en_189"/>
          <p:cNvSpPr/>
          <p:nvPr/>
        </p:nvSpPr>
        <p:spPr>
          <a:xfrm>
            <a:off x="3145536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200" dirty="0"/>
          </a:p>
        </p:txBody>
      </p:sp>
      <p:sp>
        <p:nvSpPr>
          <p:cNvPr id="37" name="R6_it190"/>
          <p:cNvSpPr/>
          <p:nvPr/>
        </p:nvSpPr>
        <p:spPr>
          <a:xfrm>
            <a:off x="3145536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non potersi permettere</a:t>
            </a:r>
            <a:endParaRPr lang="en-US" sz="850" dirty="0"/>
          </a:p>
        </p:txBody>
      </p:sp>
      <p:sp>
        <p:nvSpPr>
          <p:cNvPr id="38" name="cd_191"/>
          <p:cNvSpPr/>
          <p:nvPr/>
        </p:nvSpPr>
        <p:spPr>
          <a:xfrm>
            <a:off x="4654296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9" name="e_192"/>
          <p:cNvSpPr/>
          <p:nvPr/>
        </p:nvSpPr>
        <p:spPr>
          <a:xfrm>
            <a:off x="4727448" y="235000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0" name="en_193"/>
          <p:cNvSpPr/>
          <p:nvPr/>
        </p:nvSpPr>
        <p:spPr>
          <a:xfrm>
            <a:off x="5312664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owe</a:t>
            </a:r>
            <a:endParaRPr lang="en-US" sz="1200" dirty="0"/>
          </a:p>
        </p:txBody>
      </p:sp>
      <p:sp>
        <p:nvSpPr>
          <p:cNvPr id="41" name="R7_it194"/>
          <p:cNvSpPr/>
          <p:nvPr/>
        </p:nvSpPr>
        <p:spPr>
          <a:xfrm>
            <a:off x="5312664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dovere (soldi a qualcuno)</a:t>
            </a:r>
            <a:endParaRPr lang="en-US" sz="800" dirty="0"/>
          </a:p>
        </p:txBody>
      </p:sp>
      <p:sp>
        <p:nvSpPr>
          <p:cNvPr id="42" name="cd_195"/>
          <p:cNvSpPr/>
          <p:nvPr/>
        </p:nvSpPr>
        <p:spPr>
          <a:xfrm>
            <a:off x="6821424" y="224028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3" name="e_196"/>
          <p:cNvSpPr/>
          <p:nvPr/>
        </p:nvSpPr>
        <p:spPr>
          <a:xfrm>
            <a:off x="6894576" y="235000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🔧</a:t>
            </a:r>
            <a:endParaRPr lang="en-US" sz="2000" dirty="0"/>
          </a:p>
        </p:txBody>
      </p:sp>
      <p:sp>
        <p:nvSpPr>
          <p:cNvPr id="44" name="en_197"/>
          <p:cNvSpPr/>
          <p:nvPr/>
        </p:nvSpPr>
        <p:spPr>
          <a:xfrm>
            <a:off x="7479792" y="22951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charge</a:t>
            </a:r>
            <a:endParaRPr lang="en-US" sz="1200" dirty="0"/>
          </a:p>
        </p:txBody>
      </p:sp>
      <p:sp>
        <p:nvSpPr>
          <p:cNvPr id="45" name="R8_it198"/>
          <p:cNvSpPr/>
          <p:nvPr/>
        </p:nvSpPr>
        <p:spPr>
          <a:xfrm>
            <a:off x="7479792" y="262432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far pagare</a:t>
            </a:r>
            <a:endParaRPr lang="en-US" sz="1000" dirty="0"/>
          </a:p>
        </p:txBody>
      </p:sp>
      <p:sp>
        <p:nvSpPr>
          <p:cNvPr id="46" name="cd_199"/>
          <p:cNvSpPr/>
          <p:nvPr/>
        </p:nvSpPr>
        <p:spPr>
          <a:xfrm>
            <a:off x="320040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7" name="e_200"/>
          <p:cNvSpPr/>
          <p:nvPr/>
        </p:nvSpPr>
        <p:spPr>
          <a:xfrm>
            <a:off x="393192" y="317296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📜</a:t>
            </a:r>
            <a:endParaRPr lang="en-US" sz="2000" dirty="0"/>
          </a:p>
        </p:txBody>
      </p:sp>
      <p:sp>
        <p:nvSpPr>
          <p:cNvPr id="48" name="en_201"/>
          <p:cNvSpPr/>
          <p:nvPr/>
        </p:nvSpPr>
        <p:spPr>
          <a:xfrm>
            <a:off x="978408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49" name="R9_it202"/>
          <p:cNvSpPr/>
          <p:nvPr/>
        </p:nvSpPr>
        <p:spPr>
          <a:xfrm>
            <a:off x="978408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ereditare</a:t>
            </a:r>
            <a:endParaRPr lang="en-US" sz="1000" dirty="0"/>
          </a:p>
        </p:txBody>
      </p:sp>
      <p:sp>
        <p:nvSpPr>
          <p:cNvPr id="50" name="cd_203"/>
          <p:cNvSpPr/>
          <p:nvPr/>
        </p:nvSpPr>
        <p:spPr>
          <a:xfrm>
            <a:off x="2487168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204"/>
          <p:cNvSpPr/>
          <p:nvPr/>
        </p:nvSpPr>
        <p:spPr>
          <a:xfrm>
            <a:off x="2560320" y="317296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52" name="en_205"/>
          <p:cNvSpPr/>
          <p:nvPr/>
        </p:nvSpPr>
        <p:spPr>
          <a:xfrm>
            <a:off x="3145536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invest (in)</a:t>
            </a:r>
            <a:endParaRPr lang="en-US" sz="1200" dirty="0"/>
          </a:p>
        </p:txBody>
      </p:sp>
      <p:sp>
        <p:nvSpPr>
          <p:cNvPr id="53" name="R10_it206"/>
          <p:cNvSpPr/>
          <p:nvPr/>
        </p:nvSpPr>
        <p:spPr>
          <a:xfrm>
            <a:off x="3145536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investire (in)</a:t>
            </a:r>
            <a:endParaRPr lang="en-US" sz="1000" dirty="0"/>
          </a:p>
        </p:txBody>
      </p:sp>
      <p:sp>
        <p:nvSpPr>
          <p:cNvPr id="54" name="cd_207"/>
          <p:cNvSpPr/>
          <p:nvPr/>
        </p:nvSpPr>
        <p:spPr>
          <a:xfrm>
            <a:off x="4654296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5" name="e_208"/>
          <p:cNvSpPr/>
          <p:nvPr/>
        </p:nvSpPr>
        <p:spPr>
          <a:xfrm>
            <a:off x="4727448" y="317296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🏠</a:t>
            </a:r>
            <a:endParaRPr lang="en-US" sz="2000" dirty="0"/>
          </a:p>
        </p:txBody>
      </p:sp>
      <p:sp>
        <p:nvSpPr>
          <p:cNvPr id="56" name="en_209"/>
          <p:cNvSpPr/>
          <p:nvPr/>
        </p:nvSpPr>
        <p:spPr>
          <a:xfrm>
            <a:off x="5312664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 worth</a:t>
            </a:r>
            <a:endParaRPr lang="en-US" sz="1200" dirty="0"/>
          </a:p>
        </p:txBody>
      </p:sp>
      <p:sp>
        <p:nvSpPr>
          <p:cNvPr id="57" name="R11_it210"/>
          <p:cNvSpPr/>
          <p:nvPr/>
        </p:nvSpPr>
        <p:spPr>
          <a:xfrm>
            <a:off x="5312664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valere</a:t>
            </a:r>
            <a:endParaRPr lang="en-US" sz="1000" dirty="0"/>
          </a:p>
        </p:txBody>
      </p:sp>
      <p:sp>
        <p:nvSpPr>
          <p:cNvPr id="58" name="cd_211"/>
          <p:cNvSpPr/>
          <p:nvPr/>
        </p:nvSpPr>
        <p:spPr>
          <a:xfrm>
            <a:off x="6821424" y="3063240"/>
            <a:ext cx="2075688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9" name="e_212"/>
          <p:cNvSpPr/>
          <p:nvPr/>
        </p:nvSpPr>
        <p:spPr>
          <a:xfrm>
            <a:off x="6894576" y="317296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❤️</a:t>
            </a:r>
            <a:endParaRPr lang="en-US" sz="2000" dirty="0"/>
          </a:p>
        </p:txBody>
      </p:sp>
      <p:sp>
        <p:nvSpPr>
          <p:cNvPr id="60" name="en_213"/>
          <p:cNvSpPr/>
          <p:nvPr/>
        </p:nvSpPr>
        <p:spPr>
          <a:xfrm>
            <a:off x="7479792" y="311810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raise money</a:t>
            </a:r>
            <a:endParaRPr lang="en-US" sz="1200" dirty="0"/>
          </a:p>
        </p:txBody>
      </p:sp>
      <p:sp>
        <p:nvSpPr>
          <p:cNvPr id="61" name="R12_it214"/>
          <p:cNvSpPr/>
          <p:nvPr/>
        </p:nvSpPr>
        <p:spPr>
          <a:xfrm>
            <a:off x="7479792" y="3447288"/>
            <a:ext cx="1362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raccogliere fondi</a:t>
            </a:r>
            <a:endParaRPr lang="en-US" sz="1000" dirty="0"/>
          </a:p>
        </p:txBody>
      </p:sp>
      <p:sp>
        <p:nvSpPr>
          <p:cNvPr id="62" name="R13_wc215"/>
          <p:cNvSpPr/>
          <p:nvPr/>
        </p:nvSpPr>
        <p:spPr>
          <a:xfrm>
            <a:off x="320040" y="39319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3" name="R13_w216"/>
          <p:cNvSpPr/>
          <p:nvPr/>
        </p:nvSpPr>
        <p:spPr>
          <a:xfrm>
            <a:off x="457200" y="39319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prestare = lend · farsi prestare = borrow!  ·  earn ≠ win (vincere)  ·  charge ≠ caricare  ·  spend ON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in action</a:t>
            </a:r>
            <a:endParaRPr lang="en-US" sz="2500" dirty="0"/>
          </a:p>
        </p:txBody>
      </p:sp>
      <p:pic>
        <p:nvPicPr>
          <p:cNvPr id="6" name="brP_2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221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verb. Then listen and check.</a:t>
            </a:r>
            <a:endParaRPr lang="en-US" sz="1250" dirty="0"/>
          </a:p>
        </p:txBody>
      </p:sp>
      <p:sp>
        <p:nvSpPr>
          <p:cNvPr id="8" name="insIT_2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il verbo. Poi ascolta e controlla.</a:t>
            </a:r>
            <a:endParaRPr lang="en-US" sz="950" dirty="0"/>
          </a:p>
        </p:txBody>
      </p:sp>
      <p:sp>
        <p:nvSpPr>
          <p:cNvPr id="9" name="cmd_2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4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✏️ </a:t>
            </a:r>
            <a:pPr indent="0" marL="0">
              <a:buNone/>
            </a:pPr>
            <a:r>
              <a:rPr lang="en-US" sz="9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FILL THE GAPS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COMPLETA</a:t>
            </a:r>
            <a:endParaRPr lang="en-US" sz="800" dirty="0"/>
          </a:p>
        </p:txBody>
      </p:sp>
      <p:sp>
        <p:nvSpPr>
          <p:cNvPr id="11" name="meta_225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6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2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practice   ·   📖 Vocabulary Bank Money p.154 · 1 Verbs · audio 2.1</a:t>
            </a:r>
            <a:endParaRPr lang="en-US" sz="800" dirty="0"/>
          </a:p>
        </p:txBody>
      </p:sp>
      <p:sp>
        <p:nvSpPr>
          <p:cNvPr id="15" name="ap_229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2.1  ·  pause after each sentence</a:t>
            </a:r>
            <a:endParaRPr lang="en-US" sz="1100" dirty="0"/>
          </a:p>
        </p:txBody>
      </p:sp>
      <p:sp>
        <p:nvSpPr>
          <p:cNvPr id="16" name="ah_230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231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232" descr="/home/claude/lls-course/v2/cache/2a1_inherit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23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23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23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236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237"/>
          <p:cNvSpPr/>
          <p:nvPr/>
        </p:nvSpPr>
        <p:spPr>
          <a:xfrm>
            <a:off x="3383280" y="14173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 I'm going to ___ £2,000.</a:t>
            </a:r>
            <a:endParaRPr lang="en-US" sz="1200" dirty="0"/>
          </a:p>
        </p:txBody>
      </p:sp>
      <p:sp>
        <p:nvSpPr>
          <p:cNvPr id="26" name="R1_chip238"/>
          <p:cNvSpPr/>
          <p:nvPr/>
        </p:nvSpPr>
        <p:spPr>
          <a:xfrm>
            <a:off x="6812280" y="14173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inherit</a:t>
            </a:r>
            <a:endParaRPr lang="en-US" sz="1200" dirty="0"/>
          </a:p>
        </p:txBody>
      </p:sp>
      <p:sp>
        <p:nvSpPr>
          <p:cNvPr id="27" name="gq_239"/>
          <p:cNvSpPr/>
          <p:nvPr/>
        </p:nvSpPr>
        <p:spPr>
          <a:xfrm>
            <a:off x="3383280" y="18288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  He has promised to ___ me €50.</a:t>
            </a:r>
            <a:endParaRPr lang="en-US" sz="1200" dirty="0"/>
          </a:p>
        </p:txBody>
      </p:sp>
      <p:sp>
        <p:nvSpPr>
          <p:cNvPr id="28" name="R2_chip240"/>
          <p:cNvSpPr/>
          <p:nvPr/>
        </p:nvSpPr>
        <p:spPr>
          <a:xfrm>
            <a:off x="6812280" y="18288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lend</a:t>
            </a:r>
            <a:endParaRPr lang="en-US" sz="1200" dirty="0"/>
          </a:p>
        </p:txBody>
      </p:sp>
      <p:sp>
        <p:nvSpPr>
          <p:cNvPr id="29" name="gq_241"/>
          <p:cNvSpPr/>
          <p:nvPr/>
        </p:nvSpPr>
        <p:spPr>
          <a:xfrm>
            <a:off x="3383280" y="22402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  I need to ___ £20 from my mum.</a:t>
            </a:r>
            <a:endParaRPr lang="en-US" sz="1200" dirty="0"/>
          </a:p>
        </p:txBody>
      </p:sp>
      <p:sp>
        <p:nvSpPr>
          <p:cNvPr id="30" name="R3_chip242"/>
          <p:cNvSpPr/>
          <p:nvPr/>
        </p:nvSpPr>
        <p:spPr>
          <a:xfrm>
            <a:off x="6812280" y="22402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31" name="gq_243"/>
          <p:cNvSpPr/>
          <p:nvPr/>
        </p:nvSpPr>
        <p:spPr>
          <a:xfrm>
            <a:off x="3383280" y="265176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  I can't ___ to buy that car.</a:t>
            </a:r>
            <a:endParaRPr lang="en-US" sz="1200" dirty="0"/>
          </a:p>
        </p:txBody>
      </p:sp>
      <p:sp>
        <p:nvSpPr>
          <p:cNvPr id="32" name="R4_chip244"/>
          <p:cNvSpPr/>
          <p:nvPr/>
        </p:nvSpPr>
        <p:spPr>
          <a:xfrm>
            <a:off x="6812280" y="265176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3" name="gq_245"/>
          <p:cNvSpPr/>
          <p:nvPr/>
        </p:nvSpPr>
        <p:spPr>
          <a:xfrm>
            <a:off x="3383280" y="306324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  The mechanic ___ me £100.</a:t>
            </a:r>
            <a:endParaRPr lang="en-US" sz="1200" dirty="0"/>
          </a:p>
        </p:txBody>
      </p:sp>
      <p:sp>
        <p:nvSpPr>
          <p:cNvPr id="34" name="R5_chip246"/>
          <p:cNvSpPr/>
          <p:nvPr/>
        </p:nvSpPr>
        <p:spPr>
          <a:xfrm>
            <a:off x="6812280" y="306324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charges</a:t>
            </a:r>
            <a:endParaRPr lang="en-US" sz="1200" dirty="0"/>
          </a:p>
        </p:txBody>
      </p:sp>
      <p:sp>
        <p:nvSpPr>
          <p:cNvPr id="35" name="gq_247"/>
          <p:cNvSpPr/>
          <p:nvPr/>
        </p:nvSpPr>
        <p:spPr>
          <a:xfrm>
            <a:off x="3383280" y="347472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 I ___ Jim £100.</a:t>
            </a:r>
            <a:endParaRPr lang="en-US" sz="1200" dirty="0"/>
          </a:p>
        </p:txBody>
      </p:sp>
      <p:sp>
        <p:nvSpPr>
          <p:cNvPr id="36" name="R6_chip248"/>
          <p:cNvSpPr/>
          <p:nvPr/>
        </p:nvSpPr>
        <p:spPr>
          <a:xfrm>
            <a:off x="6812280" y="347472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7" name="gq_249"/>
          <p:cNvSpPr/>
          <p:nvPr/>
        </p:nvSpPr>
        <p:spPr>
          <a:xfrm>
            <a:off x="3383280" y="388620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  I ___ £1,000 a month.</a:t>
            </a:r>
            <a:endParaRPr lang="en-US" sz="1200" dirty="0"/>
          </a:p>
        </p:txBody>
      </p:sp>
      <p:sp>
        <p:nvSpPr>
          <p:cNvPr id="38" name="R7_chip250"/>
          <p:cNvSpPr/>
          <p:nvPr/>
        </p:nvSpPr>
        <p:spPr>
          <a:xfrm>
            <a:off x="6812280" y="388620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earn</a:t>
            </a:r>
            <a:endParaRPr lang="en-US" sz="1200" dirty="0"/>
          </a:p>
        </p:txBody>
      </p:sp>
      <p:sp>
        <p:nvSpPr>
          <p:cNvPr id="39" name="gq_251"/>
          <p:cNvSpPr/>
          <p:nvPr/>
        </p:nvSpPr>
        <p:spPr>
          <a:xfrm>
            <a:off x="3383280" y="4297680"/>
            <a:ext cx="333756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  My house is ___ about €200,000.</a:t>
            </a:r>
            <a:endParaRPr lang="en-US" sz="1200" dirty="0"/>
          </a:p>
        </p:txBody>
      </p:sp>
      <p:sp>
        <p:nvSpPr>
          <p:cNvPr id="40" name="R8_chip252"/>
          <p:cNvSpPr/>
          <p:nvPr/>
        </p:nvSpPr>
        <p:spPr>
          <a:xfrm>
            <a:off x="6812280" y="4297680"/>
            <a:ext cx="2057400" cy="347472"/>
          </a:xfrm>
          <a:prstGeom prst="roundRect">
            <a:avLst>
              <a:gd name="adj" fmla="val 26316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255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Preposition ping-pong</a:t>
            </a:r>
            <a:endParaRPr lang="en-US" sz="2500" dirty="0"/>
          </a:p>
        </p:txBody>
      </p:sp>
      <p:pic>
        <p:nvPicPr>
          <p:cNvPr id="6" name="brP_25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7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reads. B says the preposition – fast!</a:t>
            </a:r>
            <a:endParaRPr lang="en-US" sz="1250" dirty="0"/>
          </a:p>
        </p:txBody>
      </p:sp>
      <p:sp>
        <p:nvSpPr>
          <p:cNvPr id="8" name="insIT_25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legge. B dice la preposizione – veloce!</a:t>
            </a:r>
            <a:endParaRPr lang="en-US" sz="950" dirty="0"/>
          </a:p>
        </p:txBody>
      </p:sp>
      <p:sp>
        <p:nvSpPr>
          <p:cNvPr id="9" name="cmd_25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26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26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26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prepositions   ·   📖 Vocabulary Bank Money p.154 · 2 Prepositions, 4 Phrasal verbs · audio 2.2, 2.4</a:t>
            </a:r>
            <a:endParaRPr lang="en-US" sz="800" dirty="0"/>
          </a:p>
        </p:txBody>
      </p:sp>
      <p:sp>
        <p:nvSpPr>
          <p:cNvPr id="14" name="cd_264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26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267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reads the sentence.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legge la frase.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says the preposition in 3 seconds!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dice la preposizione in 3 secondi!</a:t>
            </a:r>
            <a:endParaRPr lang="en-US" sz="11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Right = 1 point. Then swap.</a:t>
            </a:r>
            <a:endParaRPr lang="en-US" sz="11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Giusto = 1 punto. Poi scambiatevi.</a:t>
            </a:r>
            <a:endParaRPr lang="en-US" sz="1100" dirty="0"/>
          </a:p>
        </p:txBody>
      </p:sp>
      <p:sp>
        <p:nvSpPr>
          <p:cNvPr id="18" name="pf_268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269" descr="/home/claude/lls-course/v2/cache/spare_1a2_bill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0" name="bd_270"/>
          <p:cNvSpPr/>
          <p:nvPr/>
        </p:nvSpPr>
        <p:spPr>
          <a:xfrm>
            <a:off x="3246120" y="142360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271"/>
          <p:cNvSpPr/>
          <p:nvPr/>
        </p:nvSpPr>
        <p:spPr>
          <a:xfrm>
            <a:off x="3657600" y="141732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cash or ___ credit card?</a:t>
            </a:r>
            <a:endParaRPr lang="en-US" sz="1100" dirty="0"/>
          </a:p>
        </p:txBody>
      </p:sp>
      <p:sp>
        <p:nvSpPr>
          <p:cNvPr id="22" name="R1_chip272"/>
          <p:cNvSpPr/>
          <p:nvPr/>
        </p:nvSpPr>
        <p:spPr>
          <a:xfrm>
            <a:off x="6263640" y="141732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by</a:t>
            </a:r>
            <a:endParaRPr lang="en-US" sz="1100" dirty="0"/>
          </a:p>
        </p:txBody>
      </p:sp>
      <p:sp>
        <p:nvSpPr>
          <p:cNvPr id="23" name="bd_273"/>
          <p:cNvSpPr/>
          <p:nvPr/>
        </p:nvSpPr>
        <p:spPr>
          <a:xfrm>
            <a:off x="3246120" y="182937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274"/>
          <p:cNvSpPr/>
          <p:nvPr/>
        </p:nvSpPr>
        <p:spPr>
          <a:xfrm>
            <a:off x="3657600" y="182308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paid ___ the dinner.</a:t>
            </a:r>
            <a:endParaRPr lang="en-US" sz="1100" dirty="0"/>
          </a:p>
        </p:txBody>
      </p:sp>
      <p:sp>
        <p:nvSpPr>
          <p:cNvPr id="25" name="R2_chip275"/>
          <p:cNvSpPr/>
          <p:nvPr/>
        </p:nvSpPr>
        <p:spPr>
          <a:xfrm>
            <a:off x="6263640" y="182308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for</a:t>
            </a:r>
            <a:endParaRPr lang="en-US" sz="1100" dirty="0"/>
          </a:p>
        </p:txBody>
      </p:sp>
      <p:sp>
        <p:nvSpPr>
          <p:cNvPr id="26" name="bd_276"/>
          <p:cNvSpPr/>
          <p:nvPr/>
        </p:nvSpPr>
        <p:spPr>
          <a:xfrm>
            <a:off x="3246120" y="2235137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277"/>
          <p:cNvSpPr/>
          <p:nvPr/>
        </p:nvSpPr>
        <p:spPr>
          <a:xfrm>
            <a:off x="3657600" y="222885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spent £50 ___ books.</a:t>
            </a:r>
            <a:endParaRPr lang="en-US" sz="1100" dirty="0"/>
          </a:p>
        </p:txBody>
      </p:sp>
      <p:sp>
        <p:nvSpPr>
          <p:cNvPr id="28" name="R3_chip278"/>
          <p:cNvSpPr/>
          <p:nvPr/>
        </p:nvSpPr>
        <p:spPr>
          <a:xfrm>
            <a:off x="6263640" y="222885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on</a:t>
            </a:r>
            <a:endParaRPr lang="en-US" sz="1100" dirty="0"/>
          </a:p>
        </p:txBody>
      </p:sp>
      <p:sp>
        <p:nvSpPr>
          <p:cNvPr id="29" name="bd_279"/>
          <p:cNvSpPr/>
          <p:nvPr/>
        </p:nvSpPr>
        <p:spPr>
          <a:xfrm>
            <a:off x="3246120" y="2640901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gq_280"/>
          <p:cNvSpPr/>
          <p:nvPr/>
        </p:nvSpPr>
        <p:spPr>
          <a:xfrm>
            <a:off x="3657600" y="263461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invested his money ___ property.</a:t>
            </a:r>
            <a:endParaRPr lang="en-US" sz="950" dirty="0"/>
          </a:p>
        </p:txBody>
      </p:sp>
      <p:sp>
        <p:nvSpPr>
          <p:cNvPr id="31" name="R4_chip281"/>
          <p:cNvSpPr/>
          <p:nvPr/>
        </p:nvSpPr>
        <p:spPr>
          <a:xfrm>
            <a:off x="6263640" y="263461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</a:t>
            </a:r>
            <a:endParaRPr lang="en-US" sz="1100" dirty="0"/>
          </a:p>
        </p:txBody>
      </p:sp>
      <p:sp>
        <p:nvSpPr>
          <p:cNvPr id="32" name="bd_282"/>
          <p:cNvSpPr/>
          <p:nvPr/>
        </p:nvSpPr>
        <p:spPr>
          <a:xfrm>
            <a:off x="3246120" y="3046667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gq_283"/>
          <p:cNvSpPr/>
          <p:nvPr/>
        </p:nvSpPr>
        <p:spPr>
          <a:xfrm>
            <a:off x="3657600" y="304038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don't lend money ___ friends.</a:t>
            </a:r>
            <a:endParaRPr lang="en-US" sz="1100" dirty="0"/>
          </a:p>
        </p:txBody>
      </p:sp>
      <p:sp>
        <p:nvSpPr>
          <p:cNvPr id="34" name="R5_chip284"/>
          <p:cNvSpPr/>
          <p:nvPr/>
        </p:nvSpPr>
        <p:spPr>
          <a:xfrm>
            <a:off x="6263640" y="304038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to</a:t>
            </a:r>
            <a:endParaRPr lang="en-US" sz="1100" dirty="0"/>
          </a:p>
        </p:txBody>
      </p:sp>
      <p:sp>
        <p:nvSpPr>
          <p:cNvPr id="35" name="bd_285"/>
          <p:cNvSpPr/>
          <p:nvPr/>
        </p:nvSpPr>
        <p:spPr>
          <a:xfrm>
            <a:off x="3246120" y="34524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gq_286"/>
          <p:cNvSpPr/>
          <p:nvPr/>
        </p:nvSpPr>
        <p:spPr>
          <a:xfrm>
            <a:off x="3657600" y="344614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borrowed money ___ the bank.</a:t>
            </a:r>
            <a:endParaRPr lang="en-US" sz="1050" dirty="0"/>
          </a:p>
        </p:txBody>
      </p:sp>
      <p:sp>
        <p:nvSpPr>
          <p:cNvPr id="37" name="R6_chip287"/>
          <p:cNvSpPr/>
          <p:nvPr/>
        </p:nvSpPr>
        <p:spPr>
          <a:xfrm>
            <a:off x="6263640" y="344614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from</a:t>
            </a:r>
            <a:endParaRPr lang="en-US" sz="1100" dirty="0"/>
          </a:p>
        </p:txBody>
      </p:sp>
      <p:sp>
        <p:nvSpPr>
          <p:cNvPr id="38" name="bd_288"/>
          <p:cNvSpPr/>
          <p:nvPr/>
        </p:nvSpPr>
        <p:spPr>
          <a:xfrm>
            <a:off x="3246120" y="385819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100" dirty="0"/>
          </a:p>
        </p:txBody>
      </p:sp>
      <p:sp>
        <p:nvSpPr>
          <p:cNvPr id="39" name="gq_289"/>
          <p:cNvSpPr/>
          <p:nvPr/>
        </p:nvSpPr>
        <p:spPr>
          <a:xfrm>
            <a:off x="3657600" y="3851910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never get ___ debt /det/.</a:t>
            </a:r>
            <a:endParaRPr lang="en-US" sz="1100" dirty="0"/>
          </a:p>
        </p:txBody>
      </p:sp>
      <p:sp>
        <p:nvSpPr>
          <p:cNvPr id="40" name="R7_chip290"/>
          <p:cNvSpPr/>
          <p:nvPr/>
        </p:nvSpPr>
        <p:spPr>
          <a:xfrm>
            <a:off x="6263640" y="3851910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into</a:t>
            </a:r>
            <a:endParaRPr lang="en-US" sz="1100" dirty="0"/>
          </a:p>
        </p:txBody>
      </p:sp>
      <p:sp>
        <p:nvSpPr>
          <p:cNvPr id="41" name="bd_291"/>
          <p:cNvSpPr/>
          <p:nvPr/>
        </p:nvSpPr>
        <p:spPr>
          <a:xfrm>
            <a:off x="3246120" y="4263962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100" dirty="0"/>
          </a:p>
        </p:txBody>
      </p:sp>
      <p:sp>
        <p:nvSpPr>
          <p:cNvPr id="42" name="gq_292"/>
          <p:cNvSpPr/>
          <p:nvPr/>
        </p:nvSpPr>
        <p:spPr>
          <a:xfrm>
            <a:off x="3657600" y="4257675"/>
            <a:ext cx="2514600" cy="341757"/>
          </a:xfrm>
          <a:prstGeom prst="roundRect">
            <a:avLst>
              <a:gd name="adj" fmla="val 2675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took ___ €200 from a cash machine.</a:t>
            </a:r>
            <a:endParaRPr lang="en-US" sz="950" dirty="0"/>
          </a:p>
        </p:txBody>
      </p:sp>
      <p:sp>
        <p:nvSpPr>
          <p:cNvPr id="43" name="R8_chip293"/>
          <p:cNvSpPr/>
          <p:nvPr/>
        </p:nvSpPr>
        <p:spPr>
          <a:xfrm>
            <a:off x="6263640" y="4257675"/>
            <a:ext cx="2560320" cy="341757"/>
          </a:xfrm>
          <a:prstGeom prst="roundRect">
            <a:avLst>
              <a:gd name="adj" fmla="val 26756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out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29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What's the word?</a:t>
            </a:r>
            <a:endParaRPr lang="en-US" sz="2500" dirty="0"/>
          </a:p>
        </p:txBody>
      </p:sp>
      <p:pic>
        <p:nvPicPr>
          <p:cNvPr id="6" name="brP_2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298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meaning. Say the word!</a:t>
            </a:r>
            <a:endParaRPr lang="en-US" sz="1250" dirty="0"/>
          </a:p>
        </p:txBody>
      </p:sp>
      <p:sp>
        <p:nvSpPr>
          <p:cNvPr id="8" name="insIT_29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il significato. Di' la parola!</a:t>
            </a:r>
            <a:endParaRPr lang="en-US" sz="950" dirty="0"/>
          </a:p>
        </p:txBody>
      </p:sp>
      <p:sp>
        <p:nvSpPr>
          <p:cNvPr id="9" name="cmd_30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0" name="meta_30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0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3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· money nouns   ·   📖 Vocabulary Bank Money p.154 · 3 Nouns · audio 2.3</a:t>
            </a:r>
            <a:endParaRPr lang="en-US" sz="800" dirty="0"/>
          </a:p>
        </p:txBody>
      </p:sp>
      <p:sp>
        <p:nvSpPr>
          <p:cNvPr id="14" name="cd_305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0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30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308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money for the government → tax</a:t>
            </a:r>
            <a:endParaRPr lang="en-US" sz="1050" dirty="0"/>
          </a:p>
        </p:txBody>
      </p:sp>
      <p:sp>
        <p:nvSpPr>
          <p:cNvPr id="18" name="pf_309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310" descr="/home/claude/lls-course/v2/cache/2a1_bills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311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312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 pay it for gas, phone…</a:t>
            </a:r>
            <a:endParaRPr lang="en-US" sz="1150" dirty="0"/>
          </a:p>
        </p:txBody>
      </p:sp>
      <p:sp>
        <p:nvSpPr>
          <p:cNvPr id="22" name="R1_chip313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bill · bolletta / conto</a:t>
            </a:r>
            <a:endParaRPr lang="en-US" sz="1000" dirty="0"/>
          </a:p>
        </p:txBody>
      </p:sp>
      <p:sp>
        <p:nvSpPr>
          <p:cNvPr id="23" name="bd_314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315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every month for your job</a:t>
            </a:r>
            <a:endParaRPr lang="en-US" sz="1150" dirty="0"/>
          </a:p>
        </p:txBody>
      </p:sp>
      <p:sp>
        <p:nvSpPr>
          <p:cNvPr id="25" name="R2_chip316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salary · stipendio</a:t>
            </a:r>
            <a:endParaRPr lang="en-US" sz="1000" dirty="0"/>
          </a:p>
        </p:txBody>
      </p:sp>
      <p:sp>
        <p:nvSpPr>
          <p:cNvPr id="26" name="bd_317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318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 a bank or person lends you</a:t>
            </a:r>
            <a:endParaRPr lang="en-US" sz="1150" dirty="0"/>
          </a:p>
        </p:txBody>
      </p:sp>
      <p:sp>
        <p:nvSpPr>
          <p:cNvPr id="28" name="R3_chip319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loan · prestito</a:t>
            </a:r>
            <a:endParaRPr lang="en-US" sz="1000" dirty="0"/>
          </a:p>
        </p:txBody>
      </p:sp>
      <p:sp>
        <p:nvSpPr>
          <p:cNvPr id="29" name="bd_320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321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plan for how to spend money</a:t>
            </a:r>
            <a:endParaRPr lang="en-US" sz="1150" dirty="0"/>
          </a:p>
        </p:txBody>
      </p:sp>
      <p:sp>
        <p:nvSpPr>
          <p:cNvPr id="31" name="R4_chip322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budget · budget, bilancio</a:t>
            </a:r>
            <a:endParaRPr lang="en-US" sz="1000" dirty="0"/>
          </a:p>
        </p:txBody>
      </p:sp>
      <p:sp>
        <p:nvSpPr>
          <p:cNvPr id="32" name="bd_323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324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bank loan to buy a house</a:t>
            </a:r>
            <a:endParaRPr lang="en-US" sz="1150" dirty="0"/>
          </a:p>
        </p:txBody>
      </p:sp>
      <p:sp>
        <p:nvSpPr>
          <p:cNvPr id="34" name="R5_chip325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mortgage /ˈmɔːɡɪdʒ/ · mutuo</a:t>
            </a:r>
            <a:endParaRPr lang="en-US" sz="1000" dirty="0"/>
          </a:p>
        </p:txBody>
      </p:sp>
      <p:sp>
        <p:nvSpPr>
          <p:cNvPr id="35" name="bd_326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327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 by touching your card</a:t>
            </a:r>
            <a:endParaRPr lang="en-US" sz="1150" dirty="0"/>
          </a:p>
        </p:txBody>
      </p:sp>
      <p:sp>
        <p:nvSpPr>
          <p:cNvPr id="37" name="R6_chip328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contactless payment · pagamento contactless</a:t>
            </a:r>
            <a:endParaRPr lang="en-US" sz="1000" dirty="0"/>
          </a:p>
        </p:txBody>
      </p:sp>
      <p:sp>
        <p:nvSpPr>
          <p:cNvPr id="38" name="bd_329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q_330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pays if you have an accident</a:t>
            </a:r>
            <a:endParaRPr lang="en-US" sz="1150" dirty="0"/>
          </a:p>
        </p:txBody>
      </p:sp>
      <p:sp>
        <p:nvSpPr>
          <p:cNvPr id="40" name="R7_chip331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insurance · assicurazione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334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Five ways to say o</a:t>
            </a:r>
            <a:endParaRPr lang="en-US" sz="2500" dirty="0"/>
          </a:p>
        </p:txBody>
      </p:sp>
      <p:pic>
        <p:nvPicPr>
          <p:cNvPr id="6" name="brP_3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3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 aloud. Which sound?</a:t>
            </a:r>
            <a:endParaRPr lang="en-US" sz="1250" dirty="0"/>
          </a:p>
        </p:txBody>
      </p:sp>
      <p:sp>
        <p:nvSpPr>
          <p:cNvPr id="8" name="insIT_33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la parola ad alta voce. Quale suono?</a:t>
            </a:r>
            <a:endParaRPr lang="en-US" sz="950" dirty="0"/>
          </a:p>
        </p:txBody>
      </p:sp>
      <p:sp>
        <p:nvSpPr>
          <p:cNvPr id="9" name="cmd_3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meta_33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34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34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4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Pronunciation · o and or   ·   📖 SB p.16 · 2a–e · audio 2.5, 2.6</a:t>
            </a:r>
            <a:endParaRPr lang="en-US" sz="800" dirty="0"/>
          </a:p>
        </p:txBody>
      </p:sp>
      <p:sp>
        <p:nvSpPr>
          <p:cNvPr id="14" name="cd_343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34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34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The colours</a:t>
            </a:r>
            <a:endParaRPr lang="en-US" sz="1300" dirty="0"/>
          </a:p>
        </p:txBody>
      </p:sp>
      <p:sp>
        <p:nvSpPr>
          <p:cNvPr id="17" name="il_346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8" name="lg_34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050" dirty="0"/>
          </a:p>
        </p:txBody>
      </p:sp>
      <p:sp>
        <p:nvSpPr>
          <p:cNvPr id="19" name="lg_34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050" dirty="0"/>
          </a:p>
        </p:txBody>
      </p:sp>
      <p:sp>
        <p:nvSpPr>
          <p:cNvPr id="20" name="lg_34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050" dirty="0"/>
          </a:p>
        </p:txBody>
      </p:sp>
      <p:sp>
        <p:nvSpPr>
          <p:cNvPr id="21" name="lg_35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050" dirty="0"/>
          </a:p>
        </p:txBody>
      </p:sp>
      <p:sp>
        <p:nvSpPr>
          <p:cNvPr id="22" name="lg_351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050" dirty="0"/>
          </a:p>
        </p:txBody>
      </p:sp>
      <p:sp>
        <p:nvSpPr>
          <p:cNvPr id="23" name="sq_352"/>
          <p:cNvSpPr/>
          <p:nvPr/>
        </p:nvSpPr>
        <p:spPr>
          <a:xfrm>
            <a:off x="3246120" y="14173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money</a:t>
            </a:r>
            <a:endParaRPr lang="en-US" sz="1200" dirty="0"/>
          </a:p>
        </p:txBody>
      </p:sp>
      <p:sp>
        <p:nvSpPr>
          <p:cNvPr id="24" name="R1_tag353"/>
          <p:cNvSpPr/>
          <p:nvPr/>
        </p:nvSpPr>
        <p:spPr>
          <a:xfrm>
            <a:off x="7178040" y="14173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25" name="sq_354"/>
          <p:cNvSpPr/>
          <p:nvPr/>
        </p:nvSpPr>
        <p:spPr>
          <a:xfrm>
            <a:off x="3246120" y="18288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</a:t>
            </a:r>
            <a:endParaRPr lang="en-US" sz="1200" dirty="0"/>
          </a:p>
        </p:txBody>
      </p:sp>
      <p:sp>
        <p:nvSpPr>
          <p:cNvPr id="26" name="R2_tag355"/>
          <p:cNvSpPr/>
          <p:nvPr/>
        </p:nvSpPr>
        <p:spPr>
          <a:xfrm>
            <a:off x="7178040" y="18288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27" name="sq_356"/>
          <p:cNvSpPr/>
          <p:nvPr/>
        </p:nvSpPr>
        <p:spPr>
          <a:xfrm>
            <a:off x="3246120" y="22402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clothes</a:t>
            </a:r>
            <a:endParaRPr lang="en-US" sz="1200" dirty="0"/>
          </a:p>
        </p:txBody>
      </p:sp>
      <p:sp>
        <p:nvSpPr>
          <p:cNvPr id="28" name="R3_tag357"/>
          <p:cNvSpPr/>
          <p:nvPr/>
        </p:nvSpPr>
        <p:spPr>
          <a:xfrm>
            <a:off x="7178040" y="22402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29" name="sq_358"/>
          <p:cNvSpPr/>
          <p:nvPr/>
        </p:nvSpPr>
        <p:spPr>
          <a:xfrm>
            <a:off x="3246120" y="265176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worry</a:t>
            </a:r>
            <a:endParaRPr lang="en-US" sz="1200" dirty="0"/>
          </a:p>
        </p:txBody>
      </p:sp>
      <p:sp>
        <p:nvSpPr>
          <p:cNvPr id="30" name="R4_tag359"/>
          <p:cNvSpPr/>
          <p:nvPr/>
        </p:nvSpPr>
        <p:spPr>
          <a:xfrm>
            <a:off x="7178040" y="265176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7A6C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up /ʌ/</a:t>
            </a:r>
            <a:endParaRPr lang="en-US" sz="1150" dirty="0"/>
          </a:p>
        </p:txBody>
      </p:sp>
      <p:sp>
        <p:nvSpPr>
          <p:cNvPr id="31" name="sq_360"/>
          <p:cNvSpPr/>
          <p:nvPr/>
        </p:nvSpPr>
        <p:spPr>
          <a:xfrm>
            <a:off x="3246120" y="306324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honest</a:t>
            </a:r>
            <a:endParaRPr lang="en-US" sz="1200" dirty="0"/>
          </a:p>
        </p:txBody>
      </p:sp>
      <p:sp>
        <p:nvSpPr>
          <p:cNvPr id="32" name="R5_tag361"/>
          <p:cNvSpPr/>
          <p:nvPr/>
        </p:nvSpPr>
        <p:spPr>
          <a:xfrm>
            <a:off x="7178040" y="306324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C9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clock /ɒ/</a:t>
            </a:r>
            <a:endParaRPr lang="en-US" sz="1150" dirty="0"/>
          </a:p>
        </p:txBody>
      </p:sp>
      <p:sp>
        <p:nvSpPr>
          <p:cNvPr id="33" name="sq_362"/>
          <p:cNvSpPr/>
          <p:nvPr/>
        </p:nvSpPr>
        <p:spPr>
          <a:xfrm>
            <a:off x="3246120" y="347472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owe</a:t>
            </a:r>
            <a:endParaRPr lang="en-US" sz="1200" dirty="0"/>
          </a:p>
        </p:txBody>
      </p:sp>
      <p:sp>
        <p:nvSpPr>
          <p:cNvPr id="34" name="R6_tag363"/>
          <p:cNvSpPr/>
          <p:nvPr/>
        </p:nvSpPr>
        <p:spPr>
          <a:xfrm>
            <a:off x="7178040" y="347472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8FD9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phone /əʊ/</a:t>
            </a:r>
            <a:endParaRPr lang="en-US" sz="1150" dirty="0"/>
          </a:p>
        </p:txBody>
      </p:sp>
      <p:sp>
        <p:nvSpPr>
          <p:cNvPr id="35" name="sq_364"/>
          <p:cNvSpPr/>
          <p:nvPr/>
        </p:nvSpPr>
        <p:spPr>
          <a:xfrm>
            <a:off x="3246120" y="388620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</a:t>
            </a:r>
            <a:endParaRPr lang="en-US" sz="1200" dirty="0"/>
          </a:p>
        </p:txBody>
      </p:sp>
      <p:sp>
        <p:nvSpPr>
          <p:cNvPr id="36" name="R7_tag365"/>
          <p:cNvSpPr/>
          <p:nvPr/>
        </p:nvSpPr>
        <p:spPr>
          <a:xfrm>
            <a:off x="7178040" y="388620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FFD96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 /ɔː/</a:t>
            </a:r>
            <a:endParaRPr lang="en-US" sz="1150" dirty="0"/>
          </a:p>
        </p:txBody>
      </p:sp>
      <p:sp>
        <p:nvSpPr>
          <p:cNvPr id="37" name="sq_366"/>
          <p:cNvSpPr/>
          <p:nvPr/>
        </p:nvSpPr>
        <p:spPr>
          <a:xfrm>
            <a:off x="3246120" y="4297680"/>
            <a:ext cx="3840480" cy="347472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worth</a:t>
            </a:r>
            <a:endParaRPr lang="en-US" sz="1200" dirty="0"/>
          </a:p>
        </p:txBody>
      </p:sp>
      <p:sp>
        <p:nvSpPr>
          <p:cNvPr id="38" name="R8_tag367"/>
          <p:cNvSpPr/>
          <p:nvPr/>
        </p:nvSpPr>
        <p:spPr>
          <a:xfrm>
            <a:off x="7178040" y="4297680"/>
            <a:ext cx="1691640" cy="347472"/>
          </a:xfrm>
          <a:prstGeom prst="roundRect">
            <a:avLst>
              <a:gd name="adj" fmla="val 65789"/>
            </a:avLst>
          </a:prstGeom>
          <a:solidFill>
            <a:srgbClr val="CDBFF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work /ɜː/</a:t>
            </a:r>
            <a:endParaRPr lang="en-US" sz="1150" dirty="0"/>
          </a:p>
        </p:txBody>
      </p:sp>
      <p:sp>
        <p:nvSpPr>
          <p:cNvPr id="39" name="pf_368"/>
          <p:cNvSpPr/>
          <p:nvPr/>
        </p:nvSpPr>
        <p:spPr>
          <a:xfrm rot="-120000">
            <a:off x="411480" y="3703320"/>
            <a:ext cx="2514600" cy="1051560"/>
          </a:xfrm>
          <a:prstGeom prst="roundRect">
            <a:avLst>
              <a:gd name="adj" fmla="val 1478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40" name="ph_369" descr="/home/claude/lls-course/v2/cache/2a1_coins_jpg_583x23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749040"/>
            <a:ext cx="242316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7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 and write</a:t>
            </a:r>
            <a:endParaRPr lang="en-US" sz="2500" dirty="0"/>
          </a:p>
        </p:txBody>
      </p:sp>
      <p:pic>
        <p:nvPicPr>
          <p:cNvPr id="6" name="brP_3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74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Listen. Write the missing words.</a:t>
            </a:r>
            <a:endParaRPr lang="en-US" sz="1250" dirty="0"/>
          </a:p>
        </p:txBody>
      </p:sp>
      <p:sp>
        <p:nvSpPr>
          <p:cNvPr id="8" name="insIT_37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Ascolta. Scrivi le parole mancanti.</a:t>
            </a:r>
            <a:endParaRPr lang="en-US" sz="950" dirty="0"/>
          </a:p>
        </p:txBody>
      </p:sp>
      <p:sp>
        <p:nvSpPr>
          <p:cNvPr id="9" name="cmd_3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7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✍️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WRITE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SCRIVI</a:t>
            </a:r>
            <a:endParaRPr lang="en-US" sz="1100" dirty="0"/>
          </a:p>
        </p:txBody>
      </p:sp>
      <p:sp>
        <p:nvSpPr>
          <p:cNvPr id="11" name="meta_37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37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38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8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Pronunciation · dictation   ·   📖 SB p.16 · 2f · audio 2.7</a:t>
            </a:r>
            <a:endParaRPr lang="en-US" sz="800" dirty="0"/>
          </a:p>
        </p:txBody>
      </p:sp>
      <p:sp>
        <p:nvSpPr>
          <p:cNvPr id="15" name="ap_38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2.7  ·  pause after each sentence</a:t>
            </a:r>
            <a:endParaRPr lang="en-US" sz="1100" dirty="0"/>
          </a:p>
        </p:txBody>
      </p:sp>
      <p:sp>
        <p:nvSpPr>
          <p:cNvPr id="16" name="ah_383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384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385" descr="/home/claude/lls-course/v2/cache/2a1_mortgag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386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387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388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389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39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Let's go ___ for ___.</a:t>
            </a:r>
            <a:endParaRPr lang="en-US" sz="1200" dirty="0"/>
          </a:p>
        </p:txBody>
      </p:sp>
      <p:sp>
        <p:nvSpPr>
          <p:cNvPr id="26" name="R1_chip39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shopping · clothes</a:t>
            </a:r>
            <a:endParaRPr lang="en-US" sz="1200" dirty="0"/>
          </a:p>
        </p:txBody>
      </p:sp>
      <p:sp>
        <p:nvSpPr>
          <p:cNvPr id="27" name="gq_39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Can I ___ some ___?</a:t>
            </a:r>
            <a:endParaRPr lang="en-US" sz="1200" dirty="0"/>
          </a:p>
        </p:txBody>
      </p:sp>
      <p:sp>
        <p:nvSpPr>
          <p:cNvPr id="28" name="R2_chip39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borrow · money</a:t>
            </a:r>
            <a:endParaRPr lang="en-US" sz="1200" dirty="0"/>
          </a:p>
        </p:txBody>
      </p:sp>
      <p:sp>
        <p:nvSpPr>
          <p:cNvPr id="29" name="gq_39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He ___ a million ___.</a:t>
            </a:r>
            <a:endParaRPr lang="en-US" sz="1200" dirty="0"/>
          </a:p>
        </p:txBody>
      </p:sp>
      <p:sp>
        <p:nvSpPr>
          <p:cNvPr id="30" name="R3_chip39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won · dollars</a:t>
            </a:r>
            <a:endParaRPr lang="en-US" sz="1200" dirty="0"/>
          </a:p>
        </p:txBody>
      </p:sp>
      <p:sp>
        <p:nvSpPr>
          <p:cNvPr id="31" name="gq_39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I've ___ ___ wrong.</a:t>
            </a:r>
            <a:endParaRPr lang="en-US" sz="1200" dirty="0"/>
          </a:p>
        </p:txBody>
      </p:sp>
      <p:sp>
        <p:nvSpPr>
          <p:cNvPr id="32" name="R4_chip39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done · nothing</a:t>
            </a:r>
            <a:endParaRPr lang="en-US" sz="1200" dirty="0"/>
          </a:p>
        </p:txBody>
      </p:sp>
      <p:sp>
        <p:nvSpPr>
          <p:cNvPr id="33" name="gq_398"/>
          <p:cNvSpPr/>
          <p:nvPr/>
        </p:nvSpPr>
        <p:spPr>
          <a:xfrm>
            <a:off x="3383280" y="3502152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 They can't ___ to pay the ___.</a:t>
            </a:r>
            <a:endParaRPr lang="en-US" sz="1200" dirty="0"/>
          </a:p>
        </p:txBody>
      </p:sp>
      <p:sp>
        <p:nvSpPr>
          <p:cNvPr id="34" name="R5_chip399"/>
          <p:cNvSpPr/>
          <p:nvPr/>
        </p:nvSpPr>
        <p:spPr>
          <a:xfrm>
            <a:off x="6812280" y="3502152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afford · mortgage</a:t>
            </a:r>
            <a:endParaRPr lang="en-US" sz="1200" dirty="0"/>
          </a:p>
        </p:txBody>
      </p:sp>
      <p:sp>
        <p:nvSpPr>
          <p:cNvPr id="35" name="gq_400"/>
          <p:cNvSpPr/>
          <p:nvPr/>
        </p:nvSpPr>
        <p:spPr>
          <a:xfrm>
            <a:off x="3383280" y="402336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 I ___ in a ___.</a:t>
            </a:r>
            <a:endParaRPr lang="en-US" sz="1200" dirty="0"/>
          </a:p>
        </p:txBody>
      </p:sp>
      <p:sp>
        <p:nvSpPr>
          <p:cNvPr id="36" name="R6_chip401"/>
          <p:cNvSpPr/>
          <p:nvPr/>
        </p:nvSpPr>
        <p:spPr>
          <a:xfrm>
            <a:off x="6812280" y="402336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 · store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0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40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404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Q&amp;A</a:t>
            </a:r>
            <a:endParaRPr lang="en-US" sz="2400" dirty="0"/>
          </a:p>
        </p:txBody>
      </p:sp>
      <p:pic>
        <p:nvPicPr>
          <p:cNvPr id="6" name="brP_40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250692" cy="402336"/>
          </a:xfrm>
          <a:prstGeom prst="rect">
            <a:avLst/>
          </a:prstGeom>
        </p:spPr>
      </p:pic>
      <p:sp>
        <p:nvSpPr>
          <p:cNvPr id="7" name="ins_406"/>
          <p:cNvSpPr/>
          <p:nvPr/>
        </p:nvSpPr>
        <p:spPr>
          <a:xfrm>
            <a:off x="1353312" y="731520"/>
            <a:ext cx="29946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answer. Give details!</a:t>
            </a:r>
            <a:endParaRPr lang="en-US" sz="1250" dirty="0"/>
          </a:p>
        </p:txBody>
      </p:sp>
      <p:sp>
        <p:nvSpPr>
          <p:cNvPr id="8" name="insIT_40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Chiedi e rispondi. Dai dettagli!</a:t>
            </a:r>
            <a:endParaRPr lang="en-US" sz="950" dirty="0"/>
          </a:p>
        </p:txBody>
      </p:sp>
      <p:sp>
        <p:nvSpPr>
          <p:cNvPr id="9" name="cmd_40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409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10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41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1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Speaking · money and you   ·   📖 SB p.16 · 2g (in the book: Communication Money Q&amp;A pp.106 / 111)</a:t>
            </a:r>
            <a:endParaRPr lang="en-US" sz="800" dirty="0"/>
          </a:p>
        </p:txBody>
      </p:sp>
      <p:sp>
        <p:nvSpPr>
          <p:cNvPr id="14" name="pf_413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414" descr="/home/claude/lls-course/v2/cache/2a1_cash_card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415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416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417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418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really, because…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rather not say.</a:t>
            </a:r>
            <a:endParaRPr lang="en-US" sz="1050" dirty="0"/>
          </a:p>
        </p:txBody>
      </p:sp>
      <p:sp>
        <p:nvSpPr>
          <p:cNvPr id="20" name="R1_qb419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420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usually spend your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Clothes, and pizza with my friends at the weekend.</a:t>
            </a:r>
            <a:endParaRPr lang="en-US" sz="1250" dirty="0"/>
          </a:p>
        </p:txBody>
      </p:sp>
      <p:sp>
        <p:nvSpPr>
          <p:cNvPr id="22" name="R2_qb421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422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prefer to pay cash or by card?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By card – contactless is so easy!</a:t>
            </a:r>
            <a:endParaRPr lang="en-US" sz="1250" dirty="0"/>
          </a:p>
        </p:txBody>
      </p:sp>
      <p:sp>
        <p:nvSpPr>
          <p:cNvPr id="24" name="R3_qb423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424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ever lend money to friends? Do they pay you back?</a:t>
            </a:r>
            <a:endParaRPr lang="en-US" sz="1200" dirty="0"/>
          </a:p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Sometimes. My best friend always pays me back.</a:t>
            </a:r>
            <a:endParaRPr lang="en-US" sz="1200" dirty="0"/>
          </a:p>
        </p:txBody>
      </p:sp>
      <p:sp>
        <p:nvSpPr>
          <p:cNvPr id="26" name="R4_qb425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426"/>
          <p:cNvSpPr/>
          <p:nvPr/>
        </p:nvSpPr>
        <p:spPr>
          <a:xfrm>
            <a:off x="3675888" y="3086100"/>
            <a:ext cx="45079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Are you saving for something at the moment?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I'm saving for a new phone.</a:t>
            </a:r>
            <a:endParaRPr lang="en-US" sz="1250" dirty="0"/>
          </a:p>
        </p:txBody>
      </p:sp>
      <p:pic>
        <p:nvPicPr>
          <p:cNvPr id="28" name="R4_th427" descr="/home/claude/lls-course/v2/cache/spare_future_money_jpg_154x107_1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104388"/>
            <a:ext cx="640080" cy="446532"/>
          </a:xfrm>
          <a:prstGeom prst="rect">
            <a:avLst/>
          </a:prstGeom>
        </p:spPr>
      </p:pic>
      <p:sp>
        <p:nvSpPr>
          <p:cNvPr id="29" name="R5_qb428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R5_sq429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the last thing you wasted money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T-shirt – I never wear it!</a:t>
            </a:r>
            <a:endParaRPr lang="en-US" sz="1250" dirty="0"/>
          </a:p>
        </p:txBody>
      </p:sp>
      <p:sp>
        <p:nvSpPr>
          <p:cNvPr id="31" name="R6_qb430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R6_sq431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something you really want but can't afford?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A scooter! They're so expensive.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3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43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405226" cy="621792"/>
          </a:xfrm>
          <a:prstGeom prst="rect">
            <a:avLst/>
          </a:prstGeom>
        </p:spPr>
      </p:pic>
      <p:sp>
        <p:nvSpPr>
          <p:cNvPr id="5" name="title_434"/>
          <p:cNvSpPr/>
          <p:nvPr/>
        </p:nvSpPr>
        <p:spPr>
          <a:xfrm>
            <a:off x="1261872" y="164592"/>
            <a:ext cx="31309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the numbers</a:t>
            </a:r>
            <a:endParaRPr lang="en-US" sz="2400" dirty="0"/>
          </a:p>
        </p:txBody>
      </p:sp>
      <p:pic>
        <p:nvPicPr>
          <p:cNvPr id="6" name="brP_43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436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What are the numbers about?</a:t>
            </a:r>
            <a:endParaRPr lang="en-US" sz="1250" dirty="0"/>
          </a:p>
        </p:txBody>
      </p:sp>
      <p:sp>
        <p:nvSpPr>
          <p:cNvPr id="8" name="insIT_437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Di cosa parlano i numeri?</a:t>
            </a:r>
            <a:endParaRPr lang="en-US" sz="950" dirty="0"/>
          </a:p>
        </p:txBody>
      </p:sp>
      <p:sp>
        <p:nvSpPr>
          <p:cNvPr id="9" name="cmd_438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439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440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441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Prediction</a:t>
            </a:r>
            <a:endParaRPr lang="en-US" sz="850" dirty="0"/>
          </a:p>
        </p:txBody>
      </p:sp>
      <p:pic>
        <p:nvPicPr>
          <p:cNvPr id="13" name="logo_44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4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prediction   ·   📖 SB p.17 · 3a</a:t>
            </a:r>
            <a:endParaRPr lang="en-US" sz="800" dirty="0"/>
          </a:p>
        </p:txBody>
      </p:sp>
      <p:sp>
        <p:nvSpPr>
          <p:cNvPr id="15" name="cd_444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hl_445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no-spend year</a:t>
            </a:r>
            <a:endParaRPr lang="en-US" sz="2800" dirty="0"/>
          </a:p>
        </p:txBody>
      </p:sp>
      <p:sp>
        <p:nvSpPr>
          <p:cNvPr id="17" name="sf_446"/>
          <p:cNvSpPr/>
          <p:nvPr/>
        </p:nvSpPr>
        <p:spPr>
          <a:xfrm>
            <a:off x="521208" y="2039112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woman's 'no-spend year', and how she survived. She cycled 120 miles to a wedding, and her lunch budget was just 51p a day.</a:t>
            </a:r>
            <a:endParaRPr lang="en-US" sz="1300" dirty="0"/>
          </a:p>
        </p:txBody>
      </p:sp>
      <p:sp>
        <p:nvSpPr>
          <p:cNvPr id="18" name="nbl_447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where they go!</a:t>
            </a:r>
            <a:endParaRPr lang="en-US" sz="1100" dirty="0"/>
          </a:p>
        </p:txBody>
      </p:sp>
      <p:sp>
        <p:nvSpPr>
          <p:cNvPr id="19" name="bd_448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£230k</a:t>
            </a:r>
            <a:endParaRPr lang="en-US" sz="800" dirty="0"/>
          </a:p>
        </p:txBody>
      </p:sp>
      <p:sp>
        <p:nvSpPr>
          <p:cNvPr id="20" name="bd_449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£1,570</a:t>
            </a:r>
            <a:endParaRPr lang="en-US" sz="800" dirty="0"/>
          </a:p>
        </p:txBody>
      </p:sp>
      <p:sp>
        <p:nvSpPr>
          <p:cNvPr id="21" name="bd_450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£30</a:t>
            </a:r>
            <a:endParaRPr lang="en-US" sz="1000" dirty="0"/>
          </a:p>
        </p:txBody>
      </p:sp>
      <p:sp>
        <p:nvSpPr>
          <p:cNvPr id="22" name="bd_451"/>
          <p:cNvSpPr/>
          <p:nvPr/>
        </p:nvSpPr>
        <p:spPr>
          <a:xfrm>
            <a:off x="2231136" y="3931920"/>
            <a:ext cx="548640" cy="548640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60</a:t>
            </a:r>
            <a:endParaRPr lang="en-US" sz="1400" dirty="0"/>
          </a:p>
        </p:txBody>
      </p:sp>
      <p:sp>
        <p:nvSpPr>
          <p:cNvPr id="23" name="bd_452"/>
          <p:cNvSpPr/>
          <p:nvPr/>
        </p:nvSpPr>
        <p:spPr>
          <a:xfrm>
            <a:off x="2852928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£1.95</a:t>
            </a:r>
            <a:endParaRPr lang="en-US" sz="800" dirty="0"/>
          </a:p>
        </p:txBody>
      </p:sp>
      <p:sp>
        <p:nvSpPr>
          <p:cNvPr id="24" name="bd_453"/>
          <p:cNvSpPr/>
          <p:nvPr/>
        </p:nvSpPr>
        <p:spPr>
          <a:xfrm>
            <a:off x="3474720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6,500</a:t>
            </a:r>
            <a:endParaRPr lang="en-US" sz="800" dirty="0"/>
          </a:p>
        </p:txBody>
      </p:sp>
      <p:sp>
        <p:nvSpPr>
          <p:cNvPr id="25" name="bd_454"/>
          <p:cNvSpPr/>
          <p:nvPr/>
        </p:nvSpPr>
        <p:spPr>
          <a:xfrm>
            <a:off x="4096512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£23k</a:t>
            </a:r>
            <a:endParaRPr lang="en-US" sz="800" dirty="0"/>
          </a:p>
        </p:txBody>
      </p:sp>
      <p:sp>
        <p:nvSpPr>
          <p:cNvPr id="26" name="pf_455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7" name="ph_456" descr="/home/claude/lls-course/v2/cache/2a1_cycle_holiday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59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461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46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46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46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46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4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 A   ·   📖 SB p.17 · article paragraph A</a:t>
            </a:r>
            <a:endParaRPr lang="en-US" sz="800" dirty="0"/>
          </a:p>
        </p:txBody>
      </p:sp>
      <p:sp>
        <p:nvSpPr>
          <p:cNvPr id="14" name="cd_46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46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· The plan</a:t>
            </a:r>
            <a:endParaRPr lang="en-US" sz="1700" dirty="0"/>
          </a:p>
        </p:txBody>
      </p:sp>
      <p:sp>
        <p:nvSpPr>
          <p:cNvPr id="16" name="ln_470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(1)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7" name="R1_lnA471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 Michelle McGagh, a 34-year-old journalist, had a mortgage of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£230,000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which she wanted to reduce.</a:t>
            </a:r>
            <a:endParaRPr lang="en-US" sz="1200" dirty="0"/>
          </a:p>
        </p:txBody>
      </p:sp>
      <p:sp>
        <p:nvSpPr>
          <p:cNvPr id="18" name="ln_472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November, she looked at her finances and she discovered that every year she spent a lot of money unnecessarily –</a:t>
            </a:r>
            <a:endParaRPr lang="en-US" sz="1200" dirty="0"/>
          </a:p>
        </p:txBody>
      </p:sp>
      <p:sp>
        <p:nvSpPr>
          <p:cNvPr id="19" name="ln_473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0" name="R2_lnA474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example,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£1,570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the pub, £1,110 in restaurants, and £400 on coffees. So she made a radical plan – to stop spending money for a year.</a:t>
            </a:r>
            <a:endParaRPr lang="en-US" sz="1200" dirty="0"/>
          </a:p>
        </p:txBody>
      </p:sp>
      <p:sp>
        <p:nvSpPr>
          <p:cNvPr id="21" name="ln_475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(3) _____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2" name="R3_lnA476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continued to pay her broadband, gas, and electricity bills, and allowed herself </a:t>
            </a:r>
            <a:pPr indent="0" marL="0">
              <a:buNone/>
            </a:pPr>
            <a:r>
              <a:rPr lang="en-US" sz="12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£30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week to buy food and household essentials.</a:t>
            </a:r>
            <a:endParaRPr lang="en-US" sz="1200" dirty="0"/>
          </a:p>
        </p:txBody>
      </p:sp>
      <p:sp>
        <p:nvSpPr>
          <p:cNvPr id="23" name="ln_477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couldn't spend money on anything else – no clothes, no buses or flights, no meals out, no drinks, and no cosmetics.</a:t>
            </a:r>
            <a:endParaRPr lang="en-US" sz="1200" dirty="0"/>
          </a:p>
        </p:txBody>
      </p:sp>
      <p:sp>
        <p:nvSpPr>
          <p:cNvPr id="24" name="pf_478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479" descr="/home/claude/lls-course/v2/cache/2a1_budget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6" name="cd_480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481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482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483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= ridurre</a:t>
            </a:r>
            <a:endParaRPr lang="en-US" sz="9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household essentials = cose di casa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486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4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488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the gap?</a:t>
            </a:r>
            <a:endParaRPr lang="en-US" sz="1250" dirty="0"/>
          </a:p>
        </p:txBody>
      </p:sp>
      <p:sp>
        <p:nvSpPr>
          <p:cNvPr id="8" name="insIT_489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nello spazio?</a:t>
            </a:r>
            <a:endParaRPr lang="en-US" sz="950" dirty="0"/>
          </a:p>
        </p:txBody>
      </p:sp>
      <p:sp>
        <p:nvSpPr>
          <p:cNvPr id="9" name="cmd_490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491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492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4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B–C   ·   📖 SB p.17 · article paragraphs B–C</a:t>
            </a:r>
            <a:endParaRPr lang="en-US" sz="800" dirty="0"/>
          </a:p>
        </p:txBody>
      </p:sp>
      <p:sp>
        <p:nvSpPr>
          <p:cNvPr id="14" name="cd_495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496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· At home    C · Friends</a:t>
            </a:r>
            <a:endParaRPr lang="en-US" sz="1700" dirty="0"/>
          </a:p>
        </p:txBody>
      </p:sp>
      <p:sp>
        <p:nvSpPr>
          <p:cNvPr id="16" name="ln_497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 She cooked large quantities of curry and bolognese sauce, which lasted her a week, and which she ate with rice or pasta. It was cheap and healthy, but also 'really boring'.</a:t>
            </a:r>
            <a:endParaRPr lang="en-US" sz="1100" dirty="0"/>
          </a:p>
        </p:txBody>
      </p:sp>
      <p:sp>
        <p:nvSpPr>
          <p:cNvPr id="17" name="ln_498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experimented with home-made cleaning products and beauty treatments, like using vinegar for cleaning or olive oil as moisturiser, but she decided that most of them didn't really work.</a:t>
            </a:r>
            <a:endParaRPr lang="en-US" sz="1100" dirty="0"/>
          </a:p>
        </p:txBody>
      </p:sp>
      <p:sp>
        <p:nvSpPr>
          <p:cNvPr id="18" name="ln_499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 At first, she tried to see her friends as often as before. She cycled 120 miles to be at a friend's wedding, and camped in their garden to avoid paying for accommodation.</a:t>
            </a:r>
            <a:endParaRPr lang="en-US" sz="1100" dirty="0"/>
          </a:p>
        </p:txBody>
      </p:sp>
      <p:sp>
        <p:nvSpPr>
          <p:cNvPr id="19" name="ln_500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(4) _____ 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0" name="R1_lnA501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following weekend, she rode </a:t>
            </a:r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60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 to Brighton to meet friends. But she couldn't join them for dinner in a restaurant, and when they went to the pub, she drank tap water.</a:t>
            </a:r>
            <a:endParaRPr lang="en-US" sz="1100" dirty="0"/>
          </a:p>
        </p:txBody>
      </p:sp>
      <p:sp>
        <p:nvSpPr>
          <p:cNvPr id="21" name="ln_502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end, she simply went out less, which made her feel more isolated.</a:t>
            </a:r>
            <a:endParaRPr lang="en-US" sz="1100" dirty="0"/>
          </a:p>
        </p:txBody>
      </p:sp>
      <p:sp>
        <p:nvSpPr>
          <p:cNvPr id="22" name="pf_503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504" descr="/home/claude/lls-course/v2/cache/2a1_picnic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4" name="cd_50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ii_50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6" name="ih_50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7" name="il_508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 = dormire in tenda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isolated = isolata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5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11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 and check</a:t>
            </a:r>
            <a:endParaRPr lang="en-US" sz="2500" dirty="0"/>
          </a:p>
        </p:txBody>
      </p:sp>
      <p:pic>
        <p:nvPicPr>
          <p:cNvPr id="6" name="brP_5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1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Which number goes in each gap?</a:t>
            </a:r>
            <a:endParaRPr lang="en-US" sz="1250" dirty="0"/>
          </a:p>
        </p:txBody>
      </p:sp>
      <p:sp>
        <p:nvSpPr>
          <p:cNvPr id="8" name="insIT_51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Quale numero va in ogni spazio?</a:t>
            </a:r>
            <a:endParaRPr lang="en-US" sz="950" dirty="0"/>
          </a:p>
        </p:txBody>
      </p:sp>
      <p:sp>
        <p:nvSpPr>
          <p:cNvPr id="9" name="cmd_51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51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51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5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D–E   ·   📖 SB p.17 · article paragraphs D–E</a:t>
            </a:r>
            <a:endParaRPr lang="en-US" sz="800" dirty="0"/>
          </a:p>
        </p:txBody>
      </p:sp>
      <p:sp>
        <p:nvSpPr>
          <p:cNvPr id="14" name="cd_520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521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· Holidays    E · The result</a:t>
            </a:r>
            <a:endParaRPr lang="en-US" sz="1700" dirty="0"/>
          </a:p>
        </p:txBody>
      </p:sp>
      <p:sp>
        <p:nvSpPr>
          <p:cNvPr id="16" name="ln_522"/>
          <p:cNvSpPr/>
          <p:nvPr/>
        </p:nvSpPr>
        <p:spPr>
          <a:xfrm>
            <a:off x="548640" y="192024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 Of course, she couldn't afford to go abroad, so she missed a trip to Ibiza with friends. Her only holiday was a cycling trip to East Anglia, where again she camped.</a:t>
            </a:r>
            <a:endParaRPr lang="en-US" sz="1150" dirty="0"/>
          </a:p>
        </p:txBody>
      </p:sp>
      <p:sp>
        <p:nvSpPr>
          <p:cNvPr id="17" name="ln_523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(5)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8" name="R1_lnA524"/>
          <p:cNvSpPr/>
          <p:nvPr/>
        </p:nvSpPr>
        <p:spPr>
          <a:xfrm>
            <a:off x="548640" y="246888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Here, for the first and only time in the year, she bought food that she had not cooked herself – a bag of chips for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£1.95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19" name="ln_525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(6)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R2_lnA526"/>
          <p:cNvSpPr/>
          <p:nvPr/>
        </p:nvSpPr>
        <p:spPr>
          <a:xfrm>
            <a:off x="548640" y="301752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 At the end of the year, she had saved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£23,000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150" dirty="0"/>
          </a:p>
        </p:txBody>
      </p:sp>
      <p:sp>
        <p:nvSpPr>
          <p:cNvPr id="21" name="ln_527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(7) _____ 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2" name="R3_lnA528"/>
          <p:cNvSpPr/>
          <p:nvPr/>
        </p:nvSpPr>
        <p:spPr>
          <a:xfrm>
            <a:off x="548640" y="3566160"/>
            <a:ext cx="5349240" cy="5486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was much slimmer and fitter – over the year, she had cycled </a:t>
            </a:r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6,500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miles. She says she now feels freer and happier, because she appreciates the simple things in life.</a:t>
            </a:r>
            <a:endParaRPr lang="en-US" sz="1150" dirty="0"/>
          </a:p>
        </p:txBody>
      </p:sp>
      <p:sp>
        <p:nvSpPr>
          <p:cNvPr id="23" name="ln_529"/>
          <p:cNvSpPr/>
          <p:nvPr/>
        </p:nvSpPr>
        <p:spPr>
          <a:xfrm>
            <a:off x="548640" y="4114800"/>
            <a:ext cx="5349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also gained confidence and a sense of adventure.</a:t>
            </a:r>
            <a:endParaRPr lang="en-US" sz="1150" dirty="0"/>
          </a:p>
        </p:txBody>
      </p:sp>
      <p:sp>
        <p:nvSpPr>
          <p:cNvPr id="24" name="pf_530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5" name="ph_531" descr="/home/claude/lls-course/v2/cache/spare_future_money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6" name="cd_53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ii_53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8" name="ih_53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9" name="il_53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slimmer and fitter = più magra e in forma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confidence = acquistare sicurezza</a:t>
            </a:r>
            <a:endParaRPr lang="en-US" sz="8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3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3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538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Michelle's key tip</a:t>
            </a:r>
            <a:endParaRPr lang="en-US" sz="2500" dirty="0"/>
          </a:p>
        </p:txBody>
      </p:sp>
      <p:pic>
        <p:nvPicPr>
          <p:cNvPr id="6" name="brP_53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337560" cy="402336"/>
          </a:xfrm>
          <a:prstGeom prst="rect">
            <a:avLst/>
          </a:prstGeom>
        </p:spPr>
      </p:pic>
      <p:sp>
        <p:nvSpPr>
          <p:cNvPr id="7" name="ins_540"/>
          <p:cNvSpPr/>
          <p:nvPr/>
        </p:nvSpPr>
        <p:spPr>
          <a:xfrm>
            <a:off x="1353312" y="731520"/>
            <a:ext cx="3081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Guess a–c: need or want?</a:t>
            </a:r>
            <a:endParaRPr lang="en-US" sz="1250" dirty="0"/>
          </a:p>
        </p:txBody>
      </p:sp>
      <p:sp>
        <p:nvSpPr>
          <p:cNvPr id="8" name="insIT_54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Indovina a–c: need o want?</a:t>
            </a:r>
            <a:endParaRPr lang="en-US" sz="950" dirty="0"/>
          </a:p>
        </p:txBody>
      </p:sp>
      <p:sp>
        <p:nvSpPr>
          <p:cNvPr id="9" name="cmd_54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54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🤔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INDOVINA</a:t>
            </a:r>
            <a:endParaRPr lang="en-US" sz="1100" dirty="0"/>
          </a:p>
        </p:txBody>
      </p:sp>
      <p:sp>
        <p:nvSpPr>
          <p:cNvPr id="11" name="meta_54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54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3" name="logo_5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F–G   ·   📖 SB p.17 · article paragraphs F–G</a:t>
            </a:r>
            <a:endParaRPr lang="en-US" sz="800" dirty="0"/>
          </a:p>
        </p:txBody>
      </p:sp>
      <p:sp>
        <p:nvSpPr>
          <p:cNvPr id="15" name="cd_548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sh_549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· After the year    G · Her key tip</a:t>
            </a:r>
            <a:endParaRPr lang="en-US" sz="1700" dirty="0"/>
          </a:p>
        </p:txBody>
      </p:sp>
      <p:sp>
        <p:nvSpPr>
          <p:cNvPr id="17" name="ln_550"/>
          <p:cNvSpPr/>
          <p:nvPr/>
        </p:nvSpPr>
        <p:spPr>
          <a:xfrm>
            <a:off x="548640" y="192024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 But she learned the hard way that you can't really socialize if you don't want to spend money.</a:t>
            </a:r>
            <a:endParaRPr lang="en-US" sz="1050" dirty="0"/>
          </a:p>
        </p:txBody>
      </p:sp>
      <p:sp>
        <p:nvSpPr>
          <p:cNvPr id="18" name="ln_551"/>
          <p:cNvSpPr/>
          <p:nvPr/>
        </p:nvSpPr>
        <p:spPr>
          <a:xfrm>
            <a:off x="548640" y="226885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evening after her year-long challenge ended, she bought all her friends a drink in the pub.</a:t>
            </a:r>
            <a:endParaRPr lang="en-US" sz="1050" dirty="0"/>
          </a:p>
        </p:txBody>
      </p:sp>
      <p:sp>
        <p:nvSpPr>
          <p:cNvPr id="19" name="ln_552"/>
          <p:cNvSpPr/>
          <p:nvPr/>
        </p:nvSpPr>
        <p:spPr>
          <a:xfrm>
            <a:off x="548640" y="261747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she has not gone back to her past spending habits. She occasionally pays to socialize and go on holiday. She has even taken a taxi.</a:t>
            </a:r>
            <a:endParaRPr lang="en-US" sz="1050" dirty="0"/>
          </a:p>
        </p:txBody>
      </p:sp>
      <p:sp>
        <p:nvSpPr>
          <p:cNvPr id="20" name="ln_553"/>
          <p:cNvSpPr/>
          <p:nvPr/>
        </p:nvSpPr>
        <p:spPr>
          <a:xfrm>
            <a:off x="548640" y="296608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But after buying a few new clothes and some perfume, she insists, 'I have absolutely no interest in buying anything else.'</a:t>
            </a:r>
            <a:endParaRPr lang="en-US" sz="1050" dirty="0"/>
          </a:p>
        </p:txBody>
      </p:sp>
      <p:sp>
        <p:nvSpPr>
          <p:cNvPr id="21" name="ln_554"/>
          <p:cNvSpPr/>
          <p:nvPr/>
        </p:nvSpPr>
        <p:spPr>
          <a:xfrm>
            <a:off x="548640" y="331470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 So what's her key tip for those who want to save?</a:t>
            </a:r>
            <a:endParaRPr lang="en-US" sz="1050" dirty="0"/>
          </a:p>
        </p:txBody>
      </p:sp>
      <p:sp>
        <p:nvSpPr>
          <p:cNvPr id="22" name="ln_555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3" name="R1_lnA556"/>
          <p:cNvSpPr/>
          <p:nvPr/>
        </p:nvSpPr>
        <p:spPr>
          <a:xfrm>
            <a:off x="548640" y="3663315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'Whenever you open your wallet, think about whether what you are buying is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need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or something you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ln_557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2EB8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(c) _____ 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5" name="R2_lnA558"/>
          <p:cNvSpPr/>
          <p:nvPr/>
        </p:nvSpPr>
        <p:spPr>
          <a:xfrm>
            <a:off x="548640" y="4011930"/>
            <a:ext cx="5349240" cy="348615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all say, "I need to buy this." Most of the time, we </a:t>
            </a:r>
            <a:pPr indent="0" marL="0">
              <a:buNone/>
            </a:pPr>
            <a:r>
              <a:rPr lang="en-US" sz="1050" b="1" dirty="0">
                <a:solidFill>
                  <a:srgbClr val="1B2559"/>
                </a:solidFill>
                <a:highlight>
                  <a:srgbClr val="FFE066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want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 buy it.</a:t>
            </a:r>
            <a:endParaRPr lang="en-US" sz="1050" dirty="0"/>
          </a:p>
        </p:txBody>
      </p:sp>
      <p:sp>
        <p:nvSpPr>
          <p:cNvPr id="26" name="ln_559"/>
          <p:cNvSpPr/>
          <p:nvPr/>
        </p:nvSpPr>
        <p:spPr>
          <a:xfrm>
            <a:off x="548640" y="4360545"/>
            <a:ext cx="5349240" cy="348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Maybe we don't know the difference between needing something and wanting something any more.'</a:t>
            </a:r>
            <a:endParaRPr lang="en-US" sz="1050" dirty="0"/>
          </a:p>
        </p:txBody>
      </p:sp>
      <p:sp>
        <p:nvSpPr>
          <p:cNvPr id="27" name="pf_560"/>
          <p:cNvSpPr/>
          <p:nvPr/>
        </p:nvSpPr>
        <p:spPr>
          <a:xfrm rot="120000">
            <a:off x="6309360" y="2194560"/>
            <a:ext cx="256032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8" name="ph_561" descr="/home/claude/lls-course/v2/cache/2a1_cover_jpg_594x35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2240280"/>
            <a:ext cx="2468880" cy="1463040"/>
          </a:xfrm>
          <a:prstGeom prst="rect">
            <a:avLst/>
          </a:prstGeom>
        </p:spPr>
      </p:pic>
      <p:sp>
        <p:nvSpPr>
          <p:cNvPr id="29" name="cd_56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ii_56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31" name="ih_56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32" name="il_56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hard way = a sue spese</a:t>
            </a:r>
            <a:endParaRPr lang="en-US" sz="8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need = avere bisogno · want = volere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6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933395" cy="621792"/>
          </a:xfrm>
          <a:prstGeom prst="rect">
            <a:avLst/>
          </a:prstGeom>
        </p:spPr>
      </p:pic>
      <p:sp>
        <p:nvSpPr>
          <p:cNvPr id="5" name="title_568"/>
          <p:cNvSpPr/>
          <p:nvPr/>
        </p:nvSpPr>
        <p:spPr>
          <a:xfrm>
            <a:off x="1261872" y="164592"/>
            <a:ext cx="26590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True or false?</a:t>
            </a:r>
            <a:endParaRPr lang="en-US" sz="2500" dirty="0"/>
          </a:p>
        </p:txBody>
      </p:sp>
      <p:pic>
        <p:nvPicPr>
          <p:cNvPr id="6" name="brP_56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570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again. True or false? Why?</a:t>
            </a:r>
            <a:endParaRPr lang="en-US" sz="1250" dirty="0"/>
          </a:p>
        </p:txBody>
      </p:sp>
      <p:sp>
        <p:nvSpPr>
          <p:cNvPr id="8" name="insIT_57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Rileggi. Vero o falso? Perché?</a:t>
            </a:r>
            <a:endParaRPr lang="en-US" sz="950" dirty="0"/>
          </a:p>
        </p:txBody>
      </p:sp>
      <p:sp>
        <p:nvSpPr>
          <p:cNvPr id="9" name="cmd_57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57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57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57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5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5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detail   ·   📖 SB p.17 · 3c, 3d</a:t>
            </a:r>
            <a:endParaRPr lang="en-US" sz="800" dirty="0"/>
          </a:p>
        </p:txBody>
      </p:sp>
      <p:sp>
        <p:nvSpPr>
          <p:cNvPr id="15" name="cd_57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57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58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58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She was a teacher. → F · 'a 34-year-old journalist' (A)</a:t>
            </a:r>
            <a:endParaRPr lang="en-US" sz="1050" dirty="0"/>
          </a:p>
        </p:txBody>
      </p:sp>
      <p:sp>
        <p:nvSpPr>
          <p:cNvPr id="19" name="pf_58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583" descr="/home/claude/lls-course/v2/cache/2a1_cover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584"/>
          <p:cNvSpPr/>
          <p:nvPr/>
        </p:nvSpPr>
        <p:spPr>
          <a:xfrm>
            <a:off x="3246120" y="1474143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585"/>
          <p:cNvSpPr/>
          <p:nvPr/>
        </p:nvSpPr>
        <p:spPr>
          <a:xfrm>
            <a:off x="3630168" y="1417320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could use public transport.</a:t>
            </a:r>
            <a:endParaRPr lang="en-US" sz="1150" dirty="0"/>
          </a:p>
        </p:txBody>
      </p:sp>
      <p:sp>
        <p:nvSpPr>
          <p:cNvPr id="23" name="R1_chip586"/>
          <p:cNvSpPr/>
          <p:nvPr/>
        </p:nvSpPr>
        <p:spPr>
          <a:xfrm>
            <a:off x="5806440" y="1417320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'no buses or flights' (A)</a:t>
            </a:r>
            <a:endParaRPr lang="en-US" sz="1000" dirty="0"/>
          </a:p>
        </p:txBody>
      </p:sp>
      <p:sp>
        <p:nvSpPr>
          <p:cNvPr id="24" name="bd_587"/>
          <p:cNvSpPr/>
          <p:nvPr/>
        </p:nvSpPr>
        <p:spPr>
          <a:xfrm>
            <a:off x="3246120" y="194440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588"/>
          <p:cNvSpPr/>
          <p:nvPr/>
        </p:nvSpPr>
        <p:spPr>
          <a:xfrm>
            <a:off x="3630168" y="1887583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was often hungry.</a:t>
            </a:r>
            <a:endParaRPr lang="en-US" sz="1150" dirty="0"/>
          </a:p>
        </p:txBody>
      </p:sp>
      <p:sp>
        <p:nvSpPr>
          <p:cNvPr id="26" name="R2_chip589"/>
          <p:cNvSpPr/>
          <p:nvPr/>
        </p:nvSpPr>
        <p:spPr>
          <a:xfrm>
            <a:off x="5806440" y="1887583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cheap and healthy, but 'really boring' (B)</a:t>
            </a:r>
            <a:endParaRPr lang="en-US" sz="1000" dirty="0"/>
          </a:p>
        </p:txBody>
      </p:sp>
      <p:sp>
        <p:nvSpPr>
          <p:cNvPr id="27" name="bd_590"/>
          <p:cNvSpPr/>
          <p:nvPr/>
        </p:nvSpPr>
        <p:spPr>
          <a:xfrm>
            <a:off x="3246120" y="2414669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591"/>
          <p:cNvSpPr/>
          <p:nvPr/>
        </p:nvSpPr>
        <p:spPr>
          <a:xfrm>
            <a:off x="3630168" y="2357846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At the wedding, she slept in a tent.</a:t>
            </a:r>
            <a:endParaRPr lang="en-US" sz="1150" dirty="0"/>
          </a:p>
        </p:txBody>
      </p:sp>
      <p:sp>
        <p:nvSpPr>
          <p:cNvPr id="29" name="R3_chip592"/>
          <p:cNvSpPr/>
          <p:nvPr/>
        </p:nvSpPr>
        <p:spPr>
          <a:xfrm>
            <a:off x="5806440" y="2357846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'camped in their garden' (C)</a:t>
            </a:r>
            <a:endParaRPr lang="en-US" sz="1000" dirty="0"/>
          </a:p>
        </p:txBody>
      </p:sp>
      <p:sp>
        <p:nvSpPr>
          <p:cNvPr id="30" name="bd_593"/>
          <p:cNvSpPr/>
          <p:nvPr/>
        </p:nvSpPr>
        <p:spPr>
          <a:xfrm>
            <a:off x="3246120" y="28849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594"/>
          <p:cNvSpPr/>
          <p:nvPr/>
        </p:nvSpPr>
        <p:spPr>
          <a:xfrm>
            <a:off x="3630168" y="2828109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never had ready-made food.</a:t>
            </a:r>
            <a:endParaRPr lang="en-US" sz="1150" dirty="0"/>
          </a:p>
        </p:txBody>
      </p:sp>
      <p:sp>
        <p:nvSpPr>
          <p:cNvPr id="32" name="R4_chip595"/>
          <p:cNvSpPr/>
          <p:nvPr/>
        </p:nvSpPr>
        <p:spPr>
          <a:xfrm>
            <a:off x="5806440" y="2828109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a bag of chips for £1.95 (D)</a:t>
            </a:r>
            <a:endParaRPr lang="en-US" sz="1000" dirty="0"/>
          </a:p>
        </p:txBody>
      </p:sp>
      <p:sp>
        <p:nvSpPr>
          <p:cNvPr id="33" name="bd_596"/>
          <p:cNvSpPr/>
          <p:nvPr/>
        </p:nvSpPr>
        <p:spPr>
          <a:xfrm>
            <a:off x="3246120" y="3355195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597"/>
          <p:cNvSpPr/>
          <p:nvPr/>
        </p:nvSpPr>
        <p:spPr>
          <a:xfrm>
            <a:off x="3630168" y="3298371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didn't lose any weight.</a:t>
            </a:r>
            <a:endParaRPr lang="en-US" sz="1150" dirty="0"/>
          </a:p>
        </p:txBody>
      </p:sp>
      <p:sp>
        <p:nvSpPr>
          <p:cNvPr id="35" name="R5_chip598"/>
          <p:cNvSpPr/>
          <p:nvPr/>
        </p:nvSpPr>
        <p:spPr>
          <a:xfrm>
            <a:off x="5806440" y="3298371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 · 'much slimmer and fitter' (E)</a:t>
            </a:r>
            <a:endParaRPr lang="en-US" sz="1000" dirty="0"/>
          </a:p>
        </p:txBody>
      </p:sp>
      <p:sp>
        <p:nvSpPr>
          <p:cNvPr id="36" name="bd_599"/>
          <p:cNvSpPr/>
          <p:nvPr/>
        </p:nvSpPr>
        <p:spPr>
          <a:xfrm>
            <a:off x="3246120" y="3825458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600"/>
          <p:cNvSpPr/>
          <p:nvPr/>
        </p:nvSpPr>
        <p:spPr>
          <a:xfrm>
            <a:off x="3630168" y="3768634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she spends less than she used to.</a:t>
            </a:r>
            <a:endParaRPr lang="en-US" sz="1150" dirty="0"/>
          </a:p>
        </p:txBody>
      </p:sp>
      <p:sp>
        <p:nvSpPr>
          <p:cNvPr id="38" name="R6_chip601"/>
          <p:cNvSpPr/>
          <p:nvPr/>
        </p:nvSpPr>
        <p:spPr>
          <a:xfrm>
            <a:off x="5806440" y="3768634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'not gone back to her past spending habits' (F)</a:t>
            </a:r>
            <a:endParaRPr lang="en-US" sz="1000" dirty="0"/>
          </a:p>
        </p:txBody>
      </p:sp>
      <p:sp>
        <p:nvSpPr>
          <p:cNvPr id="39" name="bd_602"/>
          <p:cNvSpPr/>
          <p:nvPr/>
        </p:nvSpPr>
        <p:spPr>
          <a:xfrm>
            <a:off x="3246120" y="4295721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0" name="q_603"/>
          <p:cNvSpPr/>
          <p:nvPr/>
        </p:nvSpPr>
        <p:spPr>
          <a:xfrm>
            <a:off x="3630168" y="4238897"/>
            <a:ext cx="2103120" cy="424543"/>
          </a:xfrm>
          <a:prstGeom prst="roundRect">
            <a:avLst>
              <a:gd name="adj" fmla="val 21538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we buy, we should ask ourselves why.</a:t>
            </a:r>
            <a:endParaRPr lang="en-US" sz="1100" dirty="0"/>
          </a:p>
        </p:txBody>
      </p:sp>
      <p:sp>
        <p:nvSpPr>
          <p:cNvPr id="41" name="R7_chip604"/>
          <p:cNvSpPr/>
          <p:nvPr/>
        </p:nvSpPr>
        <p:spPr>
          <a:xfrm>
            <a:off x="5806440" y="4238897"/>
            <a:ext cx="3063240" cy="424543"/>
          </a:xfrm>
          <a:prstGeom prst="roundRect">
            <a:avLst>
              <a:gd name="adj" fmla="val 21538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 · need or want? (G)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60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562502" cy="621792"/>
          </a:xfrm>
          <a:prstGeom prst="rect">
            <a:avLst/>
          </a:prstGeom>
        </p:spPr>
      </p:pic>
      <p:sp>
        <p:nvSpPr>
          <p:cNvPr id="5" name="title_607"/>
          <p:cNvSpPr/>
          <p:nvPr/>
        </p:nvSpPr>
        <p:spPr>
          <a:xfrm>
            <a:off x="1261872" y="164592"/>
            <a:ext cx="3288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nouns together</a:t>
            </a:r>
            <a:endParaRPr lang="en-US" sz="2500" dirty="0"/>
          </a:p>
        </p:txBody>
      </p:sp>
      <p:pic>
        <p:nvPicPr>
          <p:cNvPr id="6" name="brP_60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98164" cy="402336"/>
          </a:xfrm>
          <a:prstGeom prst="rect">
            <a:avLst/>
          </a:prstGeom>
        </p:spPr>
      </p:pic>
      <p:sp>
        <p:nvSpPr>
          <p:cNvPr id="7" name="ins_609"/>
          <p:cNvSpPr/>
          <p:nvPr/>
        </p:nvSpPr>
        <p:spPr>
          <a:xfrm>
            <a:off x="1353312" y="731520"/>
            <a:ext cx="33421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second word in the text.</a:t>
            </a:r>
            <a:endParaRPr lang="en-US" sz="1250" dirty="0"/>
          </a:p>
        </p:txBody>
      </p:sp>
      <p:sp>
        <p:nvSpPr>
          <p:cNvPr id="8" name="insIT_61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la seconda parola nel testo.</a:t>
            </a:r>
            <a:endParaRPr lang="en-US" sz="950" dirty="0"/>
          </a:p>
        </p:txBody>
      </p:sp>
      <p:sp>
        <p:nvSpPr>
          <p:cNvPr id="9" name="cmd_61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🔍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FIND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TROVA</a:t>
            </a:r>
            <a:endParaRPr lang="en-US" sz="1100" dirty="0"/>
          </a:p>
        </p:txBody>
      </p:sp>
      <p:sp>
        <p:nvSpPr>
          <p:cNvPr id="10" name="meta_612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613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2" name="logo_61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1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compound nouns   ·   📖 SB p.17 · 3e Compound nouns</a:t>
            </a:r>
            <a:endParaRPr lang="en-US" sz="800" dirty="0"/>
          </a:p>
        </p:txBody>
      </p:sp>
      <p:sp>
        <p:nvSpPr>
          <p:cNvPr id="14" name="cd_616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1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61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619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cash + ? → cash machine (say: CASH machine)</a:t>
            </a:r>
            <a:endParaRPr lang="en-US" sz="1050" dirty="0"/>
          </a:p>
        </p:txBody>
      </p:sp>
      <p:sp>
        <p:nvSpPr>
          <p:cNvPr id="18" name="pf_620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621" descr="/home/claude/lls-course/v2/cache/2a1_budget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0" name="bd_622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623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olive…</a:t>
            </a:r>
            <a:endParaRPr lang="en-US" sz="1150" dirty="0"/>
          </a:p>
        </p:txBody>
      </p:sp>
      <p:sp>
        <p:nvSpPr>
          <p:cNvPr id="22" name="R1_chip624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olive oil (B) · olio d'oliva</a:t>
            </a:r>
            <a:endParaRPr lang="en-US" sz="1000" dirty="0"/>
          </a:p>
        </p:txBody>
      </p:sp>
      <p:sp>
        <p:nvSpPr>
          <p:cNvPr id="23" name="bd_625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626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electricity…</a:t>
            </a:r>
            <a:endParaRPr lang="en-US" sz="1150" dirty="0"/>
          </a:p>
        </p:txBody>
      </p:sp>
      <p:sp>
        <p:nvSpPr>
          <p:cNvPr id="25" name="R2_chip627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electricity bill (A) · bolletta della luce</a:t>
            </a:r>
            <a:endParaRPr lang="en-US" sz="1000" dirty="0"/>
          </a:p>
        </p:txBody>
      </p:sp>
      <p:sp>
        <p:nvSpPr>
          <p:cNvPr id="26" name="bd_628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629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cleaning…</a:t>
            </a:r>
            <a:endParaRPr lang="en-US" sz="1150" dirty="0"/>
          </a:p>
        </p:txBody>
      </p:sp>
      <p:sp>
        <p:nvSpPr>
          <p:cNvPr id="28" name="R3_chip630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cleaning products (B) · detersivi</a:t>
            </a:r>
            <a:endParaRPr lang="en-US" sz="1000" dirty="0"/>
          </a:p>
        </p:txBody>
      </p:sp>
      <p:sp>
        <p:nvSpPr>
          <p:cNvPr id="29" name="bd_631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632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cycling…</a:t>
            </a:r>
            <a:endParaRPr lang="en-US" sz="1150" dirty="0"/>
          </a:p>
        </p:txBody>
      </p:sp>
      <p:sp>
        <p:nvSpPr>
          <p:cNvPr id="31" name="R4_chip633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cycling trip (D) · viaggio in bici</a:t>
            </a:r>
            <a:endParaRPr lang="en-US" sz="1000" dirty="0"/>
          </a:p>
        </p:txBody>
      </p:sp>
      <p:sp>
        <p:nvSpPr>
          <p:cNvPr id="32" name="bd_634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q_635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beauty…</a:t>
            </a:r>
            <a:endParaRPr lang="en-US" sz="1150" dirty="0"/>
          </a:p>
        </p:txBody>
      </p:sp>
      <p:sp>
        <p:nvSpPr>
          <p:cNvPr id="34" name="R5_chip636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beauty treatments (B) · trattamenti di bellezza</a:t>
            </a:r>
            <a:endParaRPr lang="en-US" sz="1000" dirty="0"/>
          </a:p>
        </p:txBody>
      </p:sp>
      <p:sp>
        <p:nvSpPr>
          <p:cNvPr id="35" name="bd_637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6" name="q_638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tap…</a:t>
            </a:r>
            <a:endParaRPr lang="en-US" sz="1150" dirty="0"/>
          </a:p>
        </p:txBody>
      </p:sp>
      <p:sp>
        <p:nvSpPr>
          <p:cNvPr id="37" name="R6_chip639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tap water (C) · acqua del rubinetto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4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Could YOU do it?</a:t>
            </a:r>
            <a:endParaRPr lang="en-US" sz="2500" dirty="0"/>
          </a:p>
        </p:txBody>
      </p:sp>
      <p:pic>
        <p:nvPicPr>
          <p:cNvPr id="6" name="brP_6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64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Imagine! Answer with I'd… or I wouldn't…</a:t>
            </a:r>
            <a:endParaRPr lang="en-US" sz="1250" dirty="0"/>
          </a:p>
        </p:txBody>
      </p:sp>
      <p:sp>
        <p:nvSpPr>
          <p:cNvPr id="8" name="insIT_64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Immagina! Rispondi con I'd… o I wouldn't…</a:t>
            </a:r>
            <a:endParaRPr lang="en-US" sz="950" dirty="0"/>
          </a:p>
        </p:txBody>
      </p:sp>
      <p:sp>
        <p:nvSpPr>
          <p:cNvPr id="9" name="cmd_64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64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👨‍👩‍👧 groups</a:t>
            </a:r>
            <a:endParaRPr lang="en-US" sz="950" dirty="0"/>
          </a:p>
        </p:txBody>
      </p:sp>
      <p:sp>
        <p:nvSpPr>
          <p:cNvPr id="11" name="tag_64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6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Speaking · could you do it?   ·   📖 SB p.17 · 3f · would for imaginary situations</a:t>
            </a:r>
            <a:endParaRPr lang="en-US" sz="800" dirty="0"/>
          </a:p>
        </p:txBody>
      </p:sp>
      <p:sp>
        <p:nvSpPr>
          <p:cNvPr id="14" name="pf_651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652" descr="/home/claude/lls-course/v2/cache/2a1_need_want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653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54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55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656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save money, I'd (= I would)…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wouldn't…</a:t>
            </a:r>
            <a:endParaRPr lang="en-US" sz="10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find it hard to…</a:t>
            </a:r>
            <a:endParaRPr lang="en-US" sz="1050" dirty="0"/>
          </a:p>
        </p:txBody>
      </p:sp>
      <p:sp>
        <p:nvSpPr>
          <p:cNvPr id="20" name="R1_qb657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658"/>
          <p:cNvSpPr/>
          <p:nvPr/>
        </p:nvSpPr>
        <p:spPr>
          <a:xfrm>
            <a:off x="3675888" y="14173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spend less on?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spend less on clothes and coffee.</a:t>
            </a:r>
            <a:endParaRPr lang="en-US" sz="1250" dirty="0"/>
          </a:p>
        </p:txBody>
      </p:sp>
      <p:sp>
        <p:nvSpPr>
          <p:cNvPr id="22" name="R2_qb659"/>
          <p:cNvSpPr/>
          <p:nvPr/>
        </p:nvSpPr>
        <p:spPr>
          <a:xfrm>
            <a:off x="3273552" y="201015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660"/>
          <p:cNvSpPr/>
          <p:nvPr/>
        </p:nvSpPr>
        <p:spPr>
          <a:xfrm>
            <a:off x="3675888" y="197358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would you eat?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cook pasta at home every day!</a:t>
            </a:r>
            <a:endParaRPr lang="en-US" sz="1250" dirty="0"/>
          </a:p>
        </p:txBody>
      </p:sp>
      <p:sp>
        <p:nvSpPr>
          <p:cNvPr id="24" name="R3_qb661"/>
          <p:cNvSpPr/>
          <p:nvPr/>
        </p:nvSpPr>
        <p:spPr>
          <a:xfrm>
            <a:off x="3273552" y="2566416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662"/>
          <p:cNvSpPr/>
          <p:nvPr/>
        </p:nvSpPr>
        <p:spPr>
          <a:xfrm>
            <a:off x="3675888" y="252984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get around?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walk or cycle everywhere.</a:t>
            </a:r>
            <a:endParaRPr lang="en-US" sz="1250" dirty="0"/>
          </a:p>
        </p:txBody>
      </p:sp>
      <p:sp>
        <p:nvSpPr>
          <p:cNvPr id="26" name="R4_qb663"/>
          <p:cNvSpPr/>
          <p:nvPr/>
        </p:nvSpPr>
        <p:spPr>
          <a:xfrm>
            <a:off x="3273552" y="3122676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664"/>
          <p:cNvSpPr/>
          <p:nvPr/>
        </p:nvSpPr>
        <p:spPr>
          <a:xfrm>
            <a:off x="3675888" y="308610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would you socialize cheaply?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I'd invite my friends home for a pizza.</a:t>
            </a:r>
            <a:endParaRPr lang="en-US" sz="1250" dirty="0"/>
          </a:p>
        </p:txBody>
      </p:sp>
      <p:sp>
        <p:nvSpPr>
          <p:cNvPr id="28" name="R5_qb665"/>
          <p:cNvSpPr/>
          <p:nvPr/>
        </p:nvSpPr>
        <p:spPr>
          <a:xfrm>
            <a:off x="3273552" y="367893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R5_sq666"/>
          <p:cNvSpPr/>
          <p:nvPr/>
        </p:nvSpPr>
        <p:spPr>
          <a:xfrm>
            <a:off x="3675888" y="364236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phone, coffee, new trainers: need it or want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need my phone, but I just want new trainers.</a:t>
            </a:r>
            <a:endParaRPr lang="en-US" sz="1250" dirty="0"/>
          </a:p>
        </p:txBody>
      </p:sp>
      <p:sp>
        <p:nvSpPr>
          <p:cNvPr id="30" name="R6_qb667"/>
          <p:cNvSpPr/>
          <p:nvPr/>
        </p:nvSpPr>
        <p:spPr>
          <a:xfrm>
            <a:off x="3273552" y="4235196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1" name="R6_sq668"/>
          <p:cNvSpPr/>
          <p:nvPr/>
        </p:nvSpPr>
        <p:spPr>
          <a:xfrm>
            <a:off x="3675888" y="4198620"/>
            <a:ext cx="5193792" cy="483108"/>
          </a:xfrm>
          <a:prstGeom prst="roundRect">
            <a:avLst>
              <a:gd name="adj" fmla="val 22713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 you really do a no-spend year?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 way! I'd miss going out with my friends.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6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7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71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7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73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7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75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76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6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Exit · what can you remember?</a:t>
            </a:r>
            <a:endParaRPr lang="en-US" sz="800" dirty="0"/>
          </a:p>
        </p:txBody>
      </p:sp>
      <p:sp>
        <p:nvSpPr>
          <p:cNvPr id="13" name="bd_679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80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money verbs + their preposition (spend… ON)</a:t>
            </a:r>
            <a:endParaRPr lang="en-US" sz="1400" dirty="0"/>
          </a:p>
        </p:txBody>
      </p:sp>
      <p:sp>
        <p:nvSpPr>
          <p:cNvPr id="15" name="bd_681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82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words where o sounds different (money / borrow)</a:t>
            </a:r>
            <a:endParaRPr lang="en-US" sz="1400" dirty="0"/>
          </a:p>
        </p:txBody>
      </p:sp>
      <p:sp>
        <p:nvSpPr>
          <p:cNvPr id="17" name="bd_683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84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sentence: "To save money, I'd…"</a:t>
            </a:r>
            <a:endParaRPr lang="en-US" sz="1400" dirty="0"/>
          </a:p>
        </p:txBody>
      </p:sp>
      <p:sp>
        <p:nvSpPr>
          <p:cNvPr id="19" name="cd_685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86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87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88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2A: 1a–1f, 2a, 2b (audio: Online Practice), 2c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Vocabulary Bank Money p.154: cover and test yourself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689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2A part 2 · present perfect or past simple? · scams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9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9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692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Which paragraph?</a:t>
            </a:r>
            <a:endParaRPr lang="en-US" sz="2400" dirty="0"/>
          </a:p>
        </p:txBody>
      </p:sp>
      <p:pic>
        <p:nvPicPr>
          <p:cNvPr id="6" name="brP_69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69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article. Match A–G to the topics.</a:t>
            </a:r>
            <a:endParaRPr lang="en-US" sz="1250" dirty="0"/>
          </a:p>
        </p:txBody>
      </p:sp>
      <p:sp>
        <p:nvSpPr>
          <p:cNvPr id="8" name="insIT_69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l'articolo. Abbina A–G agli argomenti.</a:t>
            </a:r>
            <a:endParaRPr lang="en-US" sz="950" dirty="0"/>
          </a:p>
        </p:txBody>
      </p:sp>
      <p:sp>
        <p:nvSpPr>
          <p:cNvPr id="9" name="cmd_69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🔗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MATCH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ABBINA</a:t>
            </a:r>
            <a:endParaRPr lang="en-US" sz="1100" dirty="0"/>
          </a:p>
        </p:txBody>
      </p:sp>
      <p:sp>
        <p:nvSpPr>
          <p:cNvPr id="10" name="meta_69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69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69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0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Reading · paragraphs   ·   📖 SB p.17 · 3b</a:t>
            </a:r>
            <a:endParaRPr lang="en-US" sz="800" dirty="0"/>
          </a:p>
        </p:txBody>
      </p:sp>
      <p:sp>
        <p:nvSpPr>
          <p:cNvPr id="14" name="st_701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702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0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70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705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where she went on holiday → D</a:t>
            </a:r>
            <a:endParaRPr lang="en-US" sz="1050" dirty="0"/>
          </a:p>
        </p:txBody>
      </p:sp>
      <p:sp>
        <p:nvSpPr>
          <p:cNvPr id="19" name="pf_706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707" descr="/home/claude/lls-course/v2/cache/2a1_cycle_holiday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708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709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she decided to save money</a:t>
            </a:r>
            <a:endParaRPr lang="en-US" sz="1150" dirty="0"/>
          </a:p>
        </p:txBody>
      </p:sp>
      <p:sp>
        <p:nvSpPr>
          <p:cNvPr id="23" name="R1_chip710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</a:t>
            </a:r>
            <a:endParaRPr lang="en-US" sz="1000" dirty="0"/>
          </a:p>
        </p:txBody>
      </p:sp>
      <p:sp>
        <p:nvSpPr>
          <p:cNvPr id="24" name="bd_711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712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often she saw her friends</a:t>
            </a:r>
            <a:endParaRPr lang="en-US" sz="1150" dirty="0"/>
          </a:p>
        </p:txBody>
      </p:sp>
      <p:sp>
        <p:nvSpPr>
          <p:cNvPr id="26" name="R2_chip713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</a:t>
            </a:r>
            <a:endParaRPr lang="en-US" sz="1000" dirty="0"/>
          </a:p>
        </p:txBody>
      </p:sp>
      <p:sp>
        <p:nvSpPr>
          <p:cNvPr id="27" name="bd_714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715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achieved</a:t>
            </a:r>
            <a:endParaRPr lang="en-US" sz="1150" dirty="0"/>
          </a:p>
        </p:txBody>
      </p:sp>
      <p:sp>
        <p:nvSpPr>
          <p:cNvPr id="29" name="R3_chip716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</a:t>
            </a:r>
            <a:endParaRPr lang="en-US" sz="1000" dirty="0"/>
          </a:p>
        </p:txBody>
      </p:sp>
      <p:sp>
        <p:nvSpPr>
          <p:cNvPr id="30" name="bd_717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718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advice for other people</a:t>
            </a:r>
            <a:endParaRPr lang="en-US" sz="1150" dirty="0"/>
          </a:p>
        </p:txBody>
      </p:sp>
      <p:sp>
        <p:nvSpPr>
          <p:cNvPr id="32" name="R4_chip719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</a:t>
            </a:r>
            <a:endParaRPr lang="en-US" sz="1000" dirty="0"/>
          </a:p>
        </p:txBody>
      </p:sp>
      <p:sp>
        <p:nvSpPr>
          <p:cNvPr id="33" name="bd_720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q_721"/>
          <p:cNvSpPr/>
          <p:nvPr/>
        </p:nvSpPr>
        <p:spPr>
          <a:xfrm>
            <a:off x="3630168" y="34290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she saved money at home</a:t>
            </a:r>
            <a:endParaRPr lang="en-US" sz="1150" dirty="0"/>
          </a:p>
        </p:txBody>
      </p:sp>
      <p:sp>
        <p:nvSpPr>
          <p:cNvPr id="35" name="R5_chip722"/>
          <p:cNvSpPr/>
          <p:nvPr/>
        </p:nvSpPr>
        <p:spPr>
          <a:xfrm>
            <a:off x="5806440" y="342900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</a:t>
            </a:r>
            <a:endParaRPr lang="en-US" sz="1000" dirty="0"/>
          </a:p>
        </p:txBody>
      </p:sp>
      <p:sp>
        <p:nvSpPr>
          <p:cNvPr id="36" name="bd_723"/>
          <p:cNvSpPr/>
          <p:nvPr/>
        </p:nvSpPr>
        <p:spPr>
          <a:xfrm>
            <a:off x="3246120" y="400507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q_724"/>
          <p:cNvSpPr/>
          <p:nvPr/>
        </p:nvSpPr>
        <p:spPr>
          <a:xfrm>
            <a:off x="3630168" y="39319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she discovered</a:t>
            </a:r>
            <a:endParaRPr lang="en-US" sz="1150" dirty="0"/>
          </a:p>
        </p:txBody>
      </p:sp>
      <p:sp>
        <p:nvSpPr>
          <p:cNvPr id="38" name="R6_chip725"/>
          <p:cNvSpPr/>
          <p:nvPr/>
        </p:nvSpPr>
        <p:spPr>
          <a:xfrm>
            <a:off x="5806440" y="39319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7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7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728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Describe it!</a:t>
            </a:r>
            <a:endParaRPr lang="en-US" sz="2500" dirty="0"/>
          </a:p>
        </p:txBody>
      </p:sp>
      <p:pic>
        <p:nvPicPr>
          <p:cNvPr id="6" name="brP_7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424428" cy="402336"/>
          </a:xfrm>
          <a:prstGeom prst="rect">
            <a:avLst/>
          </a:prstGeom>
        </p:spPr>
      </p:pic>
      <p:sp>
        <p:nvSpPr>
          <p:cNvPr id="7" name="ins_730"/>
          <p:cNvSpPr/>
          <p:nvPr/>
        </p:nvSpPr>
        <p:spPr>
          <a:xfrm>
            <a:off x="1353312" y="731520"/>
            <a:ext cx="31683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Explain the word. Don't say it!</a:t>
            </a:r>
            <a:endParaRPr lang="en-US" sz="1250" dirty="0"/>
          </a:p>
        </p:txBody>
      </p:sp>
      <p:sp>
        <p:nvSpPr>
          <p:cNvPr id="8" name="insIT_73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Spiega la parola. Non dirla!</a:t>
            </a:r>
            <a:endParaRPr lang="en-US" sz="950" dirty="0"/>
          </a:p>
        </p:txBody>
      </p:sp>
      <p:sp>
        <p:nvSpPr>
          <p:cNvPr id="9" name="cmd_73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73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73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7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7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2A-1 · Vocabulary game</a:t>
            </a:r>
            <a:endParaRPr lang="en-US" sz="800" dirty="0"/>
          </a:p>
        </p:txBody>
      </p:sp>
      <p:sp>
        <p:nvSpPr>
          <p:cNvPr id="14" name="st_737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73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73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74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74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looks at the screen. B turns around.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guarda lo schermo. B si gira.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explains the word. Don't say 'money'!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spiega la parola. Non dire 'money'!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guesses. Then swap.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indovina. Poi scambiatevi.</a:t>
            </a:r>
            <a:endParaRPr lang="en-US" sz="1000" dirty="0"/>
          </a:p>
        </p:txBody>
      </p:sp>
      <p:sp>
        <p:nvSpPr>
          <p:cNvPr id="19" name="pf_742"/>
          <p:cNvSpPr/>
          <p:nvPr/>
        </p:nvSpPr>
        <p:spPr>
          <a:xfrm rot="-120000">
            <a:off x="411480" y="3611880"/>
            <a:ext cx="2468880" cy="1143000"/>
          </a:xfrm>
          <a:prstGeom prst="roundRect">
            <a:avLst>
              <a:gd name="adj" fmla="val 136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743" descr="/home/claude/lls-course/v2/cache/2a1_waste_jpg_572x253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57200" y="3657600"/>
            <a:ext cx="2377440" cy="1051560"/>
          </a:xfrm>
          <a:prstGeom prst="rect">
            <a:avLst/>
          </a:prstGeom>
        </p:spPr>
      </p:pic>
      <p:sp>
        <p:nvSpPr>
          <p:cNvPr id="21" name="rl_744"/>
          <p:cNvSpPr/>
          <p:nvPr/>
        </p:nvSpPr>
        <p:spPr>
          <a:xfrm>
            <a:off x="324612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explains</a:t>
            </a:r>
            <a:endParaRPr lang="en-US" sz="1100" dirty="0"/>
          </a:p>
        </p:txBody>
      </p:sp>
      <p:sp>
        <p:nvSpPr>
          <p:cNvPr id="22" name="R1_w745"/>
          <p:cNvSpPr/>
          <p:nvPr/>
        </p:nvSpPr>
        <p:spPr>
          <a:xfrm>
            <a:off x="324612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mortgage</a:t>
            </a:r>
            <a:endParaRPr lang="en-US" sz="1700" dirty="0"/>
          </a:p>
        </p:txBody>
      </p:sp>
      <p:sp>
        <p:nvSpPr>
          <p:cNvPr id="23" name="R3_w746"/>
          <p:cNvSpPr/>
          <p:nvPr/>
        </p:nvSpPr>
        <p:spPr>
          <a:xfrm>
            <a:off x="324612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salary</a:t>
            </a:r>
            <a:endParaRPr lang="en-US" sz="1700" dirty="0"/>
          </a:p>
        </p:txBody>
      </p:sp>
      <p:sp>
        <p:nvSpPr>
          <p:cNvPr id="24" name="R5_w747"/>
          <p:cNvSpPr/>
          <p:nvPr/>
        </p:nvSpPr>
        <p:spPr>
          <a:xfrm>
            <a:off x="324612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inherit</a:t>
            </a:r>
            <a:endParaRPr lang="en-US" sz="1700" dirty="0"/>
          </a:p>
        </p:txBody>
      </p:sp>
      <p:sp>
        <p:nvSpPr>
          <p:cNvPr id="25" name="R7_w748"/>
          <p:cNvSpPr/>
          <p:nvPr/>
        </p:nvSpPr>
        <p:spPr>
          <a:xfrm>
            <a:off x="324612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borrow</a:t>
            </a:r>
            <a:endParaRPr lang="en-US" sz="1700" dirty="0"/>
          </a:p>
        </p:txBody>
      </p:sp>
      <p:sp>
        <p:nvSpPr>
          <p:cNvPr id="26" name="rl_749"/>
          <p:cNvSpPr/>
          <p:nvPr/>
        </p:nvSpPr>
        <p:spPr>
          <a:xfrm>
            <a:off x="6080760" y="14173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F8DE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 explains</a:t>
            </a:r>
            <a:endParaRPr lang="en-US" sz="1100" dirty="0"/>
          </a:p>
        </p:txBody>
      </p:sp>
      <p:sp>
        <p:nvSpPr>
          <p:cNvPr id="27" name="R2_w750"/>
          <p:cNvSpPr/>
          <p:nvPr/>
        </p:nvSpPr>
        <p:spPr>
          <a:xfrm>
            <a:off x="6080760" y="185623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bill</a:t>
            </a:r>
            <a:endParaRPr lang="en-US" sz="1700" dirty="0"/>
          </a:p>
        </p:txBody>
      </p:sp>
      <p:sp>
        <p:nvSpPr>
          <p:cNvPr id="28" name="R4_w751"/>
          <p:cNvSpPr/>
          <p:nvPr/>
        </p:nvSpPr>
        <p:spPr>
          <a:xfrm>
            <a:off x="6080760" y="258775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waste</a:t>
            </a:r>
            <a:endParaRPr lang="en-US" sz="1700" dirty="0"/>
          </a:p>
        </p:txBody>
      </p:sp>
      <p:sp>
        <p:nvSpPr>
          <p:cNvPr id="29" name="R6_w752"/>
          <p:cNvSpPr/>
          <p:nvPr/>
        </p:nvSpPr>
        <p:spPr>
          <a:xfrm>
            <a:off x="6080760" y="331927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insurance</a:t>
            </a:r>
            <a:endParaRPr lang="en-US" sz="1700" dirty="0"/>
          </a:p>
        </p:txBody>
      </p:sp>
      <p:sp>
        <p:nvSpPr>
          <p:cNvPr id="30" name="R8_w753"/>
          <p:cNvSpPr/>
          <p:nvPr/>
        </p:nvSpPr>
        <p:spPr>
          <a:xfrm>
            <a:off x="6080760" y="4050792"/>
            <a:ext cx="2651760" cy="621792"/>
          </a:xfrm>
          <a:prstGeom prst="roundRect">
            <a:avLst>
              <a:gd name="adj" fmla="val 20588"/>
            </a:avLst>
          </a:prstGeom>
          <a:solidFill>
            <a:srgbClr val="FFFFFF"/>
          </a:solidFill>
          <a:ln w="317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can't afford</a:t>
            </a:r>
            <a:endParaRPr lang="en-US" sz="17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2A-1 Spending money</dc:title>
  <dc:subject>PptxGenJS Presentation</dc:subject>
  <dc:creator>PptxGenJS</dc:creator>
  <cp:lastModifiedBy>PptxGenJS</cp:lastModifiedBy>
  <cp:revision>1</cp:revision>
  <dcterms:created xsi:type="dcterms:W3CDTF">2026-10-12T09:12:45Z</dcterms:created>
  <dcterms:modified xsi:type="dcterms:W3CDTF">2026-10-12T09:12:45Z</dcterms:modified>
</cp:coreProperties>
</file>