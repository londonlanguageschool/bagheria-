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Show the photo. Ask the THINK question; quick show of hands: yes / no / maybe for a month! Take 2–3 reasons (no coffee? no shopping? no pizza?). Read the 'Today you're going to…' list together. Optional lead-in from the TG (books closed): write SPEND on the board, elicit spend TIME + -ing (spend time doing) and spend MONEY ON something. Don't teach the money words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(2 min)
REVISION (2 min) before the warmer game. Last lesson was the Practical English video; the warmer goes back to 1B part 2 (birth order article + personality adjectives), so revise those. Read the examples; ask 'Which child are YOU?' to one or two students. Drill the stress on the prefixes (imPAtient, unreLIable, disHONest). Then play 'Who am I?'.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Warmer · last lesson (3 min)
RETRIEVAL WARMER (4 min) · books closed · format: team clue quiz (different from the 1B-2 warmer). Two teams. Read each clue aloud; teams have 10 seconds to answer. Click once per line. Answers: 1 the oldest child · 2 the middle child · 3 the youngest child · 4 the only child (all from the birth order article, SB p.12) · 5 stubborn · 6 impatient, unreliable, dishonest. Bonus point for the right stress (prefixes are never stressed: imPAtient, unreLIable, disHONest). Fast extra: 'Which one are YOU? Give one adjective.' ICQ: 'Do you need to say the answer or write it?' (say it) · 'How long do you have?' (10 seconds).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Lead-in · the money quiz (3 min)
LEAD-IN (3 min). Small teams (TG). Teams write their answers for all 7, then click once per line. Answers (TG key): Japan – the yen · Mexico – the peso · Switzerland – the franc · Turkey – the lira · F (the first coins were made around 600 BC by the Lydians of Asia Minor, present-day Turkey) · F (e.g. the Czech Republic, Hungary, Poland don't use the euro) · T. Show of hands: which team got everything right? If you have the book, the full quiz is on p.16 (coins 1–8: Russia rouble · China yuan · Japan yen · Poland zloty · Brazil real · Mexico peso · Switzerland franc · Hungary forint; France euro, Turkey lira; NB the TG's '2 China, lei' is a misprint — the coin says YI YUAN). Other true/false items in the book: b The largest English note is worth £50 (T) · c Bank notes are always made of paper (F – most UK notes are polymer, a plastic). ICQ: 'Do you shout or write?' (write).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Vocabulary · money verbs (4 min)
ELICIT FIRST (3 min). Demo item 0 with the class: 'Can you lend me your pen? / Can I borrow your pen?' (TG). Pairs explain each pair of verbs in English, with an example if they can. Click once per item. Meanings follow the Vocabulary Bank / audio 2.1 sentences and the TG notes. Monitor: which verbs are new? ICQs: 'Are you writing?' (no, talking) · 'English or Italian?' (English). Next slide = Italian for slower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Vocabulary · in Italian (2 min)
CONSOLIDATION for slower students (2 min). Class says the Italian aloud, then click once per word to show its Italian. Spend 20 seconds on the warning box: Italian 'prestare' covers both lend and borrow; earn = guadagnare (work) ≠ win = vincere; charge = far pagare (not 'caricare' here). CCQ: 'I give you my book. Do I lend or borrow?' (lend) · 'You get €1,000 from your job. Do you earn or win it?' (earn).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Vocabulary · practice (3 min)
CONTROLLED PRACTICE (3 min). Pairs guess the verbs first (books closed). Play 2.1 (13 sentences; the slide shows 8 of them), pausing after each one. Click once per sentence. Answers (audio script 2.1): a inherit · b lend · c borrow · d afford · e charges · f owe · g earn · h worth. The other 2.1 sentences: I save money every week · I often waste money · They cost $200 · I want to invest some money · We want to raise money for the new hospital. Drill with the audio (TG). EXTRA SUPPORT (TG): cover the answers and try to remember the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Vocabulary · prepositions (4 min)
GAME 2 (3 min). Pairs. Demo line 1 with a strong student. Round 1: A reads lines 1–4, B answers; round 2: swap for 5–8. Then click once per line to check. Sentences are shortened from audio 2.2 / 2.4. Answers: by · for · on · in · to · from · into · out. Silent b in debt /det/ (TG). Phrasal verbs (2.4, teach in 1 minute after the game): take out (money from a cash machine) · pay back (Can I pay you back next week?) — both separable: pay me the money back · live off = get your money from someone else (live off my parents at university) · live on = have enough for basic needs (difficult to live on one salary). Other 2.2 sentence: They charged us €60 FOR a bottle of wine. ICQ: 'How long does B have?' (3 seconds).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Vocabulary · money nouns (3 min)
VOCABULARY (3 min). Pairs read each meaning and say the word (books closed; strong classes first, then the class). Click once per line: the word + the Italian. Answers = the eight nouns of Vocabulary Bank 3 (audio 2.3): bill · salary · tax · loan · budget · mortgage · contactless payment · insurance. TG: a loan = money lent by a person or a bank; a mortgage = only money from a bank to buy a house or flat. Pronunciation: mortgage /ˈmɔːɡɪdʒ/ – silent t. Personalised forced choice (no numbers needed): 'Which of these does your family pay every month?' Play 2.3 to drill if there's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Pronunciation · o and or (4 min)
PRONUNCIATION (3 min). 2a lead-in (30 sec): 'Three words that rhyme with money?' → sunny · funny · honey (TG). Elicit the sound pictures: up /ʌ/, clock /ɒ/, phone /əʊ/. Pairs say each word aloud and choose the colour; click once per word. Answers (audio 2.5 / 2.6): money /ʌ/ · borrow /ɒ/ · clothes /əʊ/ · worry /ʌ/ · honest /ɒ/ · owe /əʊ/ · afford /ɔː/ · worth /ɜː/. Full lists to drill (2.5): /ʌ/ done, money, nothing, some, won, worry · /ɒ/ borrow, cost, dollar, honest, promise, shopping · /əʊ/ clothes, loan, note, owe, sold. 2.6: afford, mortgage, order, organized, store = /ɔː/ (or is /ɔː/ when stressed); work, worth = /ɜː/ (most wor- + consonant: word, world, worse). Play 2.5 and 2.6: listen and repeat (chorally, then individually). Rules (TG): o between consonants often /ɒ/ (but worry) · o + consonant + e usually /əʊ/ (hope) but some, money = /ʌ/ · ol / oa = /əʊ/ (told, road). Italian speakers say every o the same — exaggerate the mouth shapes.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Pronunciation · dictation (3 min)
DICTATION (3 min). Students write only the missing o / or words (the book asks for full sentences – strong classes can write everything). Play 2.7, pausing after each sentence. Pairs compare; play again if needed. Click once per sentence. Answers (audio script 2.7): 1 Let's go shopping for clothes. · 2 Can I borrow some money? · 3 He won a million dollars. · 4 I've done nothing wrong. · 5 They can't afford to pay the mortgage. · 6 I work in a store. Then pairs practise saying them (EXTRA SUPPORT: model and drill first). Listen for won /wʌn/ (= one!), done /dʌn/, work /wɜːk/, afford /əˈfɔːd/. Micro-challenge: who can say sentence 5 three times fast?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Speaking · class story (TPRS) (4 min)
TPRS CLASS STORY (4 min) – after the money verbs, prepositions, nouns and the o-sounds, and BEFORE 'Money Q&amp;A': students hear the key verbs 15–20 times in a context (earn ≠ win, lend ≠ borrow, owe, can't afford, save for, waste money on, pay back) so they're ready to use them about themselves. Click once per line. For each line: 1) say it, 2) ask the questions in grey round the class (yes/no → either/or → who/what), 3) let the CLASS change details: 'Is Salvo saving for a scooter? No? What is he saving for?' – accept their idea and use it in later lines (change what the sister wastes the money on too!). Students answer with one word or a short phrase – that's fine. Push the classic Italian mistake each time: 'Does she want to LEND or BORROW?' (prestare = both). Listen for the o-sounds from the previous slides: money /ʌ/, borrow /ɒ/, owe /əʊ/, afford /ɔː/. Finish: 'What happens next?' – one or two ideas,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Speaking · money and you (5 min)
SPEAKING (4 min). Replaces the book's Communication Money Q&amp;A (pp.106 / 111 are not in our files – if you prefer the book's questions, use them instead). Questions appear ONE PER CLICK: about 40 seconds each, then click. Follow-up rule: after every answer, ask one more question (Why? How much? What happened?). Nobody has to talk about how much they or their family earn or have: teach 'I'd rather not say' first. Monitor for the target words and prepositions (spend ON, pay BY card, lend TO, borrow FROM) and note 4–5 errors for delayed correction. Feedback: the most surprising answer from each pair. ICQ: 'One question or many at once?' (one).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Reading · prediction (2 min)
PREDICTION (2 min). 3a (whole class): 'Why do you think someone might decide to have a no-spend year?' Take 2–3 ideas (to save for a house, to pay a loan…). Then pairs look at the number bank and guess what each number is (any sensible guess – wild guesses are fun). They check on the next four slides: the numbers are gaps 1–7 in the article (£230k = £230,000, £23k = £23,000). Pre-teach only 'cycle' and 'budget' if needed (budget was taught on slide 9). ICQ: 'Are you reading the article now?' (no – just guessing).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Reading · paragraph A (3 min)
READ FOR SPECIFIC INFORMATION (3 min). Pairs read paragraph A and decide which number from the bank goes in gaps 1–3. Click once per gap: the number appears highlighted IN the text. Answers (SB article): 1 £230,000 (her mortgage – the bank showed it as £230k) · 2 £1,570 (in the pub) · 3 £30 (a week for food and household essentials). Ask: 'Was your guess right?' Check: finances, unnecessarily, radical. 'What couldn't she spend money on?' (clothes, buses or flights, meals out, drinks, cosmetics).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Reading · paragraphs B–C (2 min)
READ FOR SPECIFIC INFORMATION (2 min). Same procedure: gap 4, one click. Answer (SB article): 4 60 (miles to Brighton). Quick questions: 'Was her food good?' (cheap and healthy, but 'really boring') · 'How did she feel when she went out less?' (more isolated) · 'Would you drink tap water in a pub with your friends?'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Reading · paragraphs D–E (2 min)
READ FOR SPECIFIC INFORMATION (2 min). Gaps 5–7, click once per gap. Answers (SB article): 5 £1.95 (a bag of chips) · 6 £23,000 (she saved – the bank showed it as £23k) · 7 6,500 (miles she cycled). Quick question: 'What were the good things about the year?' (£23,000, slimmer and fitter, freer and happier, confidence, a sense of adventure).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Reading · paragraphs F–G (2 min)
READ AND GUESS (2 min). Pairs read F and G and guess need or want for a–c (the meaning makes it clear). Click 1 = a + b together, click 2 = c. Answers (SB article): a need · b want · c want. Quick questions on F: 'What did she do on the first evening after the year?' (bought all her friends a drink) · 'Is she spending a lot again now?' (no – a few clothes, some perfume, a taxi). Her key tip leads into the final speaking task (slide 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Reading · detail (3 min)
READ FOR DETAIL (3 min). The 7 sentences are the book's 3c, slightly shortened (one per paragraph – TG). Pairs decide T or F and find the words that prove it (go back to slides 15–18 if needed). Correct the false ones. Click once per sentence: the evidence from the text appears. Answers (TG key): 1 F (She couldn't use buses or flights) · 2 F (She had plenty of cheap food, but it was boring) · 3 T · 4 F (She had a bag of chips in East Anglia) · 5 F (She is much slimmer and fitter) · 6 T · 7 T. 3d (30 sec, whole class): 'Do you agree with her key tip? Why (not)?'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20. Reading · compound nouns (2 min)
VOCABULARY FROM THE TEXT (2 min). Compound nouns box (SB): two nouns together, the first describes the second (e.g. cash machine); the stress is usually on the FIRST noun. Pairs find the six compound nouns in the article (slides 15–17). Click once per word. Answers (TG): olive oil · electricity bill · cleaning products · cycling trip · beauty treatments · tap water. Drill with first-word stress: OLive oil, eLECtricity bill, CLEANing products. Italian puts the words the other way round (olio d'oliva) – English: describing word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21. Speaking · could you do it? (5 min)
FREER PRACTICE (4 min). First (1 min) go through the SB box 'would for imaginary situations': We use would to talk about imaginary situations, e.g. To save money, I'd spend less on clothes and I'd cook for myself at home. CCQ: 'Am I doing a no-spend year now?' (no – I'm imagining it). Groups of 3. Questions appear ONE PER CLICK (questions 1–4 are the book's 3f; 5–6 added): about 30–40 seconds each (let groups skip one if short of time). You could tell the class whether YOU could do what Michelle did (TG). Monitor; then 1 minute of delayed error correction on the board (errors from both speaking tasks: spend for → spend ON, I would to… → I'd…, lend/borrow).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23. Exit · what can you remember? (2 min)
RETRIEVAL EXIT (2 min). Books closed. Pairs: 3 money verbs with their preposition (e.g. spend ON, borrow FROM, lend TO, pay BY card, invest IN), 2 words with a different o sound, 1 sentence with I'd. A few students share. Set homework (on the slide and in the app; easier sheet available). Answers to the Workbook are in the teacher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24. Reading · paragraphs (3 min)
EXTRA (3 min, if there's time – or use it as the gist task BEFORE the gap slides with a strong class). Book 3b: match paragraphs A–G to topics 1–7 (the topic words in bold in the book: on holiday, why, friends, achieved, advice, at home, discovered). Click once per topic. Answers (TG key A 2 · B 6 · C 3 · D 1 · E 4 · F 7 · G 5): 1 where she went on holiday D · 2 why she decided to save money A · 3 how often she saw her friends C · 4 what she achieved E · 5 her advice G · 6 how she saved money at home B · 7 what she discovered 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25. Vocabulary game (4 min)
EXTRA GAME (4 min) – or a warmer for 2A part 2. Demo first: 'You get it every month from your job' → salary. Click to show each word (round 1 = A explains to B, round 2 = B explains, A turns around). 20 seconds per word. Rule: the word 'money' is banned! ICQ: 'Can you say the word?' (no) · 'Can you say money?' (no).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audio" Target="../media/media-7-5.mp3"/><Relationship Id="rId6" Type="http://schemas.microsoft.com/office/2007/relationships/media" Target="../media/media-7-5.mp3"/><Relationship Id="rId7" Type="http://schemas.openxmlformats.org/officeDocument/2006/relationships/image" Target="../media/image-7-7.png"/><Relationship Id="rId8" Type="http://schemas.openxmlformats.org/officeDocument/2006/relationships/audio" Target="../media/media-7-8.mp3"/><Relationship Id="rId9" Type="http://schemas.microsoft.com/office/2007/relationships/media" Target="../media/media-7-8.mp3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audio" Target="../media/media-11-5.mp3"/><Relationship Id="rId6" Type="http://schemas.microsoft.com/office/2007/relationships/media" Target="../media/media-11-5.mp3"/><Relationship Id="rId7" Type="http://schemas.openxmlformats.org/officeDocument/2006/relationships/image" Target="../media/image-11-7.png"/><Relationship Id="rId8" Type="http://schemas.openxmlformats.org/officeDocument/2006/relationships/audio" Target="../media/media-11-8.mp3"/><Relationship Id="rId9" Type="http://schemas.microsoft.com/office/2007/relationships/media" Target="../media/media-11-8.mp3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B1 · SB pp.16–17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2A-1</a:t>
            </a:r>
            <a:endParaRPr lang="en-US" sz="16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Spending money</a:t>
            </a:r>
            <a:endParaRPr lang="en-US" sz="24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Save it, spend it or waste it?</a:t>
            </a:r>
            <a:endParaRPr lang="en-US" sz="12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24328"/>
            <a:ext cx="3547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talk about how you spend and save money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🔤  learn about 30 money words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🔊  say the letter o in five different ways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 listen to a class story and answer questions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👀  read about a woman who spent nothing for a year</a:t>
            </a:r>
            <a:endParaRPr lang="en-US" sz="100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19050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way! I love buying clothes – I couldn't stop for a year.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2a1_cover_jp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One year without spending money. Could YOU do it?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945636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36896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did we learn? Read the examples.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Cosa abbiamo imparato? Leggi gli esempi.</a:t>
            </a:r>
            <a:endParaRPr lang="en-US" sz="950" dirty="0"/>
          </a:p>
        </p:txBody>
      </p:sp>
      <p:sp>
        <p:nvSpPr>
          <p:cNvPr id="9" name="cmd_2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24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🙋 whole class</a:t>
            </a:r>
            <a:endParaRPr lang="en-US" sz="950" dirty="0"/>
          </a:p>
        </p:txBody>
      </p:sp>
      <p:sp>
        <p:nvSpPr>
          <p:cNvPr id="11" name="tag_25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Retrieval</a:t>
            </a:r>
            <a:endParaRPr lang="en-US" sz="850" dirty="0"/>
          </a:p>
        </p:txBody>
      </p:sp>
      <p:pic>
        <p:nvPicPr>
          <p:cNvPr id="12" name="logo_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Revision · last lesson</a:t>
            </a:r>
            <a:endParaRPr lang="en-US" sz="800" dirty="0"/>
          </a:p>
        </p:txBody>
      </p:sp>
      <p:sp>
        <p:nvSpPr>
          <p:cNvPr id="14" name="pf_28"/>
          <p:cNvSpPr/>
          <p:nvPr/>
        </p:nvSpPr>
        <p:spPr>
          <a:xfrm rot="-120000">
            <a:off x="365760" y="1371600"/>
            <a:ext cx="2651760" cy="182880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29" descr="/home/claude/lls-course/v2/cache/1b2_youngest_jpg_616x418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417320"/>
            <a:ext cx="2560320" cy="1737360"/>
          </a:xfrm>
          <a:prstGeom prst="rect">
            <a:avLst/>
          </a:prstGeom>
        </p:spPr>
      </p:pic>
      <p:sp>
        <p:nvSpPr>
          <p:cNvPr id="16" name="cd_30"/>
          <p:cNvSpPr/>
          <p:nvPr/>
        </p:nvSpPr>
        <p:spPr>
          <a:xfrm>
            <a:off x="320040" y="3383280"/>
            <a:ext cx="2743200" cy="1325880"/>
          </a:xfrm>
          <a:prstGeom prst="roundRect">
            <a:avLst>
              <a:gd name="adj" fmla="val 9655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31"/>
          <p:cNvSpPr/>
          <p:nvPr/>
        </p:nvSpPr>
        <p:spPr>
          <a:xfrm>
            <a:off x="4114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ih_32"/>
          <p:cNvSpPr/>
          <p:nvPr/>
        </p:nvSpPr>
        <p:spPr>
          <a:xfrm>
            <a:off x="886968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9" name="il_33"/>
          <p:cNvSpPr/>
          <p:nvPr/>
        </p:nvSpPr>
        <p:spPr>
          <a:xfrm>
            <a:off x="886968" y="38587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PE1: meeting the parents</a:t>
            </a:r>
            <a:endParaRPr lang="en-US" sz="11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1B: personality, birth order</a:t>
            </a:r>
            <a:endParaRPr lang="en-US" sz="1100" dirty="0"/>
          </a:p>
        </p:txBody>
      </p:sp>
      <p:sp>
        <p:nvSpPr>
          <p:cNvPr id="20" name="cd_34"/>
          <p:cNvSpPr/>
          <p:nvPr/>
        </p:nvSpPr>
        <p:spPr>
          <a:xfrm>
            <a:off x="324612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h_35"/>
          <p:cNvSpPr/>
          <p:nvPr/>
        </p:nvSpPr>
        <p:spPr>
          <a:xfrm>
            <a:off x="335584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Birth order</a:t>
            </a:r>
            <a:endParaRPr lang="en-US" sz="1200" dirty="0"/>
          </a:p>
        </p:txBody>
      </p:sp>
      <p:sp>
        <p:nvSpPr>
          <p:cNvPr id="22" name="rl_36"/>
          <p:cNvSpPr/>
          <p:nvPr/>
        </p:nvSpPr>
        <p:spPr>
          <a:xfrm>
            <a:off x="338328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oldest child is often ambitious.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middle child sorts out arguments.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youngest is charming but disorganized.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oldest · middle · youngest · only child</a:t>
            </a:r>
            <a:endParaRPr lang="en-US" sz="1150" dirty="0"/>
          </a:p>
        </p:txBody>
      </p:sp>
      <p:sp>
        <p:nvSpPr>
          <p:cNvPr id="23" name="cd_37"/>
          <p:cNvSpPr/>
          <p:nvPr/>
        </p:nvSpPr>
        <p:spPr>
          <a:xfrm>
            <a:off x="612648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4" name="rh_38"/>
          <p:cNvSpPr/>
          <p:nvPr/>
        </p:nvSpPr>
        <p:spPr>
          <a:xfrm>
            <a:off x="623620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Opposites: negative prefixes</a:t>
            </a:r>
            <a:endParaRPr lang="en-US" sz="1200" dirty="0"/>
          </a:p>
        </p:txBody>
      </p:sp>
      <p:sp>
        <p:nvSpPr>
          <p:cNvPr id="25" name="rl_39"/>
          <p:cNvSpPr/>
          <p:nvPr/>
        </p:nvSpPr>
        <p:spPr>
          <a:xfrm>
            <a:off x="626364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so impatient! He can't wait.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unreliable – she's always late.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Telling lies is dishonest.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prefixes are never stressed: imPAtient</a:t>
            </a:r>
            <a:endParaRPr lang="en-US" sz="1150" dirty="0"/>
          </a:p>
        </p:txBody>
      </p:sp>
      <p:sp>
        <p:nvSpPr>
          <p:cNvPr id="26" name="kw_40"/>
          <p:cNvSpPr/>
          <p:nvPr/>
        </p:nvSpPr>
        <p:spPr>
          <a:xfrm>
            <a:off x="3246120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KEY WORDS</a:t>
            </a:r>
            <a:endParaRPr lang="en-US" sz="1100" dirty="0"/>
          </a:p>
        </p:txBody>
      </p:sp>
      <p:sp>
        <p:nvSpPr>
          <p:cNvPr id="27" name="w_41"/>
          <p:cNvSpPr/>
          <p:nvPr/>
        </p:nvSpPr>
        <p:spPr>
          <a:xfrm>
            <a:off x="3246120" y="4178808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responsible</a:t>
            </a:r>
            <a:endParaRPr lang="en-US" sz="1050" dirty="0"/>
          </a:p>
        </p:txBody>
      </p:sp>
      <p:sp>
        <p:nvSpPr>
          <p:cNvPr id="28" name="w_42"/>
          <p:cNvSpPr/>
          <p:nvPr/>
        </p:nvSpPr>
        <p:spPr>
          <a:xfrm>
            <a:off x="4494276" y="4178808"/>
            <a:ext cx="864108" cy="31089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anxious</a:t>
            </a:r>
            <a:endParaRPr lang="en-US" sz="1050" dirty="0"/>
          </a:p>
        </p:txBody>
      </p:sp>
      <p:sp>
        <p:nvSpPr>
          <p:cNvPr id="29" name="w_43"/>
          <p:cNvSpPr/>
          <p:nvPr/>
        </p:nvSpPr>
        <p:spPr>
          <a:xfrm>
            <a:off x="5431536" y="417880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sociable</a:t>
            </a:r>
            <a:endParaRPr lang="en-US" sz="1050" dirty="0"/>
          </a:p>
        </p:txBody>
      </p:sp>
      <p:sp>
        <p:nvSpPr>
          <p:cNvPr id="30" name="w_44"/>
          <p:cNvSpPr/>
          <p:nvPr/>
        </p:nvSpPr>
        <p:spPr>
          <a:xfrm>
            <a:off x="6446520" y="4178808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independent</a:t>
            </a:r>
            <a:endParaRPr lang="en-US" sz="1050" dirty="0"/>
          </a:p>
        </p:txBody>
      </p:sp>
      <p:sp>
        <p:nvSpPr>
          <p:cNvPr id="31" name="w_45"/>
          <p:cNvSpPr/>
          <p:nvPr/>
        </p:nvSpPr>
        <p:spPr>
          <a:xfrm>
            <a:off x="7694676" y="417880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stubborn</a:t>
            </a:r>
            <a:endParaRPr lang="en-US" sz="1050" dirty="0"/>
          </a:p>
        </p:txBody>
      </p:sp>
      <p:sp>
        <p:nvSpPr>
          <p:cNvPr id="32" name="w_46"/>
          <p:cNvSpPr/>
          <p:nvPr/>
        </p:nvSpPr>
        <p:spPr>
          <a:xfrm>
            <a:off x="3246120" y="454456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charming</a:t>
            </a:r>
            <a:endParaRPr lang="en-US" sz="1050" dirty="0"/>
          </a:p>
        </p:txBody>
      </p:sp>
      <p:sp>
        <p:nvSpPr>
          <p:cNvPr id="33" name="w_47"/>
          <p:cNvSpPr/>
          <p:nvPr/>
        </p:nvSpPr>
        <p:spPr>
          <a:xfrm>
            <a:off x="4261104" y="4544568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spoilt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50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 am I?</a:t>
            </a:r>
            <a:endParaRPr lang="en-US" sz="2500" dirty="0"/>
          </a:p>
        </p:txBody>
      </p:sp>
      <p:pic>
        <p:nvPicPr>
          <p:cNvPr id="6" name="brP_5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52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clue. Who is it? What's the word?</a:t>
            </a:r>
            <a:endParaRPr lang="en-US" sz="1250" dirty="0"/>
          </a:p>
        </p:txBody>
      </p:sp>
      <p:sp>
        <p:nvSpPr>
          <p:cNvPr id="8" name="insIT_53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l'indizio. Chi è? Qual è la parola?</a:t>
            </a:r>
            <a:endParaRPr lang="en-US" sz="950" dirty="0"/>
          </a:p>
        </p:txBody>
      </p:sp>
      <p:sp>
        <p:nvSpPr>
          <p:cNvPr id="9" name="cmd_54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55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🏆 teams</a:t>
            </a:r>
            <a:endParaRPr lang="en-US" sz="950" dirty="0"/>
          </a:p>
        </p:txBody>
      </p:sp>
      <p:sp>
        <p:nvSpPr>
          <p:cNvPr id="11" name="tag_56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2" name="logo_5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Warmer · last lesson   ·   📖 Recycles 1B part 2: birth order article, personality adjectives, negative prefixes</a:t>
            </a:r>
            <a:endParaRPr lang="en-US" sz="800" dirty="0"/>
          </a:p>
        </p:txBody>
      </p:sp>
      <p:sp>
        <p:nvSpPr>
          <p:cNvPr id="14" name="cd_59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6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61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62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clue.</a:t>
            </a:r>
            <a:endParaRPr lang="en-US" sz="95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l'indizio.</a:t>
            </a:r>
            <a:endParaRPr lang="en-US" sz="95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Teams: say the answer in 10 seconds.</a:t>
            </a:r>
            <a:endParaRPr lang="en-US" sz="95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Squadre: dite la risposta in 10 secondi.</a:t>
            </a:r>
            <a:endParaRPr lang="en-US" sz="95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 = 1 point. Right stress = +1!</a:t>
            </a:r>
            <a:endParaRPr lang="en-US" sz="95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Giusto = 1 punto. Accento giusto = +1!</a:t>
            </a:r>
            <a:endParaRPr lang="en-US" sz="950" dirty="0"/>
          </a:p>
        </p:txBody>
      </p:sp>
      <p:sp>
        <p:nvSpPr>
          <p:cNvPr id="18" name="pf_63"/>
          <p:cNvSpPr/>
          <p:nvPr/>
        </p:nvSpPr>
        <p:spPr>
          <a:xfrm rot="-120000">
            <a:off x="411480" y="3611880"/>
            <a:ext cx="2468880" cy="1143000"/>
          </a:xfrm>
          <a:prstGeom prst="roundRect">
            <a:avLst>
              <a:gd name="adj" fmla="val 1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64" descr="/home/claude/lls-course/v2/cache/spare_1b2_sharing_jpg_572x25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3657600"/>
            <a:ext cx="2377440" cy="1051560"/>
          </a:xfrm>
          <a:prstGeom prst="rect">
            <a:avLst/>
          </a:prstGeom>
        </p:spPr>
      </p:pic>
      <p:sp>
        <p:nvSpPr>
          <p:cNvPr id="20" name="bd_65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66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"I'm responsible and ambitious, but a bit anxious."</a:t>
            </a:r>
            <a:endParaRPr lang="en-US" sz="1100" dirty="0"/>
          </a:p>
        </p:txBody>
      </p:sp>
      <p:sp>
        <p:nvSpPr>
          <p:cNvPr id="22" name="R1_chip67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the oldest child</a:t>
            </a:r>
            <a:endParaRPr lang="en-US" sz="1100" dirty="0"/>
          </a:p>
        </p:txBody>
      </p:sp>
      <p:sp>
        <p:nvSpPr>
          <p:cNvPr id="23" name="bd_68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69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"I'm sociable. I sort out arguments."</a:t>
            </a:r>
            <a:endParaRPr lang="en-US" sz="1100" dirty="0"/>
          </a:p>
        </p:txBody>
      </p:sp>
      <p:sp>
        <p:nvSpPr>
          <p:cNvPr id="25" name="R2_chip70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the middle child</a:t>
            </a:r>
            <a:endParaRPr lang="en-US" sz="1100" dirty="0"/>
          </a:p>
        </p:txBody>
      </p:sp>
      <p:sp>
        <p:nvSpPr>
          <p:cNvPr id="26" name="bd_71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72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"I'm charming, but disorganized. I'm the baby!"</a:t>
            </a:r>
            <a:endParaRPr lang="en-US" sz="1100" dirty="0"/>
          </a:p>
        </p:txBody>
      </p:sp>
      <p:sp>
        <p:nvSpPr>
          <p:cNvPr id="28" name="R3_chip73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the youngest child</a:t>
            </a:r>
            <a:endParaRPr lang="en-US" sz="1100" dirty="0"/>
          </a:p>
        </p:txBody>
      </p:sp>
      <p:sp>
        <p:nvSpPr>
          <p:cNvPr id="29" name="bd_74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75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"I'm independent. I spend a lot of time with adults."</a:t>
            </a:r>
            <a:endParaRPr lang="en-US" sz="1100" dirty="0"/>
          </a:p>
        </p:txBody>
      </p:sp>
      <p:sp>
        <p:nvSpPr>
          <p:cNvPr id="31" name="R4_chip76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the only child</a:t>
            </a:r>
            <a:endParaRPr lang="en-US" sz="1100" dirty="0"/>
          </a:p>
        </p:txBody>
      </p:sp>
      <p:sp>
        <p:nvSpPr>
          <p:cNvPr id="32" name="bd_77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78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"She never changes her mind!"</a:t>
            </a:r>
            <a:endParaRPr lang="en-US" sz="1100" dirty="0"/>
          </a:p>
        </p:txBody>
      </p:sp>
      <p:sp>
        <p:nvSpPr>
          <p:cNvPr id="34" name="R5_chip79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She's STUBborn.</a:t>
            </a:r>
            <a:endParaRPr lang="en-US" sz="1100" dirty="0"/>
          </a:p>
        </p:txBody>
      </p:sp>
      <p:sp>
        <p:nvSpPr>
          <p:cNvPr id="35" name="bd_80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gq_81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Opposites: patient · reliable · honest</a:t>
            </a:r>
            <a:endParaRPr lang="en-US" sz="1100" dirty="0"/>
          </a:p>
        </p:txBody>
      </p:sp>
      <p:sp>
        <p:nvSpPr>
          <p:cNvPr id="37" name="R6_chip82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imPAtient · unreLIable · disHONest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8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8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85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money quiz</a:t>
            </a:r>
            <a:endParaRPr lang="en-US" sz="2500" dirty="0"/>
          </a:p>
        </p:txBody>
      </p:sp>
      <p:pic>
        <p:nvPicPr>
          <p:cNvPr id="6" name="brP_8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337560" cy="402336"/>
          </a:xfrm>
          <a:prstGeom prst="rect">
            <a:avLst/>
          </a:prstGeom>
        </p:spPr>
      </p:pic>
      <p:sp>
        <p:nvSpPr>
          <p:cNvPr id="7" name="ins_87"/>
          <p:cNvSpPr/>
          <p:nvPr/>
        </p:nvSpPr>
        <p:spPr>
          <a:xfrm>
            <a:off x="1353312" y="731520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currency? True or false?</a:t>
            </a:r>
            <a:endParaRPr lang="en-US" sz="1250" dirty="0"/>
          </a:p>
        </p:txBody>
      </p:sp>
      <p:sp>
        <p:nvSpPr>
          <p:cNvPr id="8" name="insIT_88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Quale valuta? Vero o falso?</a:t>
            </a:r>
            <a:endParaRPr lang="en-US" sz="950" dirty="0"/>
          </a:p>
        </p:txBody>
      </p:sp>
      <p:sp>
        <p:nvSpPr>
          <p:cNvPr id="9" name="cmd_8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90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🏆 teams</a:t>
            </a:r>
            <a:endParaRPr lang="en-US" sz="950" dirty="0"/>
          </a:p>
        </p:txBody>
      </p:sp>
      <p:sp>
        <p:nvSpPr>
          <p:cNvPr id="11" name="tag_91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2" name="logo_9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9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Lead-in · the money quiz   ·   📖 SB p.16 · 1a The money quiz</a:t>
            </a:r>
            <a:endParaRPr lang="en-US" sz="800" dirty="0"/>
          </a:p>
        </p:txBody>
      </p:sp>
      <p:sp>
        <p:nvSpPr>
          <p:cNvPr id="14" name="cd_94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9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9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97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country or the sentence.</a:t>
            </a:r>
            <a:endParaRPr lang="en-US" sz="11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il paese o la frase.</a:t>
            </a:r>
            <a:endParaRPr lang="en-US" sz="11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Teams: write the currency, or T / F.</a:t>
            </a:r>
            <a:endParaRPr lang="en-US" sz="11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Squadre: scrivete la valuta, o V / F.</a:t>
            </a:r>
            <a:endParaRPr lang="en-US" sz="11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 = 1 point.</a:t>
            </a:r>
            <a:endParaRPr lang="en-US" sz="11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Giusto = 1 punto.</a:t>
            </a:r>
            <a:endParaRPr lang="en-US" sz="1100" dirty="0"/>
          </a:p>
        </p:txBody>
      </p:sp>
      <p:sp>
        <p:nvSpPr>
          <p:cNvPr id="18" name="pf_98"/>
          <p:cNvSpPr/>
          <p:nvPr/>
        </p:nvSpPr>
        <p:spPr>
          <a:xfrm rot="-120000">
            <a:off x="411480" y="3611880"/>
            <a:ext cx="2468880" cy="1143000"/>
          </a:xfrm>
          <a:prstGeom prst="roundRect">
            <a:avLst>
              <a:gd name="adj" fmla="val 1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99" descr="/home/claude/lls-course/v2/cache/2a1_coins_jpg_572x25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3657600"/>
            <a:ext cx="2377440" cy="1051560"/>
          </a:xfrm>
          <a:prstGeom prst="rect">
            <a:avLst/>
          </a:prstGeom>
        </p:spPr>
      </p:pic>
      <p:sp>
        <p:nvSpPr>
          <p:cNvPr id="20" name="bd_100"/>
          <p:cNvSpPr/>
          <p:nvPr/>
        </p:nvSpPr>
        <p:spPr>
          <a:xfrm>
            <a:off x="3246120" y="1452590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101"/>
          <p:cNvSpPr/>
          <p:nvPr/>
        </p:nvSpPr>
        <p:spPr>
          <a:xfrm>
            <a:off x="3657600" y="1417320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Japan</a:t>
            </a:r>
            <a:endParaRPr lang="en-US" sz="1100" dirty="0"/>
          </a:p>
        </p:txBody>
      </p:sp>
      <p:sp>
        <p:nvSpPr>
          <p:cNvPr id="22" name="R1_chip102"/>
          <p:cNvSpPr/>
          <p:nvPr/>
        </p:nvSpPr>
        <p:spPr>
          <a:xfrm>
            <a:off x="6263640" y="1417320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the yen</a:t>
            </a:r>
            <a:endParaRPr lang="en-US" sz="1100" dirty="0"/>
          </a:p>
        </p:txBody>
      </p:sp>
      <p:sp>
        <p:nvSpPr>
          <p:cNvPr id="23" name="bd_103"/>
          <p:cNvSpPr/>
          <p:nvPr/>
        </p:nvSpPr>
        <p:spPr>
          <a:xfrm>
            <a:off x="3246120" y="1916321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104"/>
          <p:cNvSpPr/>
          <p:nvPr/>
        </p:nvSpPr>
        <p:spPr>
          <a:xfrm>
            <a:off x="3657600" y="1881051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Mexico</a:t>
            </a:r>
            <a:endParaRPr lang="en-US" sz="1100" dirty="0"/>
          </a:p>
        </p:txBody>
      </p:sp>
      <p:sp>
        <p:nvSpPr>
          <p:cNvPr id="25" name="R2_chip105"/>
          <p:cNvSpPr/>
          <p:nvPr/>
        </p:nvSpPr>
        <p:spPr>
          <a:xfrm>
            <a:off x="6263640" y="1881051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the peso</a:t>
            </a:r>
            <a:endParaRPr lang="en-US" sz="1100" dirty="0"/>
          </a:p>
        </p:txBody>
      </p:sp>
      <p:sp>
        <p:nvSpPr>
          <p:cNvPr id="26" name="bd_106"/>
          <p:cNvSpPr/>
          <p:nvPr/>
        </p:nvSpPr>
        <p:spPr>
          <a:xfrm>
            <a:off x="3246120" y="2380053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107"/>
          <p:cNvSpPr/>
          <p:nvPr/>
        </p:nvSpPr>
        <p:spPr>
          <a:xfrm>
            <a:off x="3657600" y="2344783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Switzerland</a:t>
            </a:r>
            <a:endParaRPr lang="en-US" sz="1100" dirty="0"/>
          </a:p>
        </p:txBody>
      </p:sp>
      <p:sp>
        <p:nvSpPr>
          <p:cNvPr id="28" name="R3_chip108"/>
          <p:cNvSpPr/>
          <p:nvPr/>
        </p:nvSpPr>
        <p:spPr>
          <a:xfrm>
            <a:off x="6263640" y="2344783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the franc</a:t>
            </a:r>
            <a:endParaRPr lang="en-US" sz="1100" dirty="0"/>
          </a:p>
        </p:txBody>
      </p:sp>
      <p:sp>
        <p:nvSpPr>
          <p:cNvPr id="29" name="bd_109"/>
          <p:cNvSpPr/>
          <p:nvPr/>
        </p:nvSpPr>
        <p:spPr>
          <a:xfrm>
            <a:off x="3246120" y="2843784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110"/>
          <p:cNvSpPr/>
          <p:nvPr/>
        </p:nvSpPr>
        <p:spPr>
          <a:xfrm>
            <a:off x="3657600" y="2808514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Turkey</a:t>
            </a:r>
            <a:endParaRPr lang="en-US" sz="1100" dirty="0"/>
          </a:p>
        </p:txBody>
      </p:sp>
      <p:sp>
        <p:nvSpPr>
          <p:cNvPr id="31" name="R4_chip111"/>
          <p:cNvSpPr/>
          <p:nvPr/>
        </p:nvSpPr>
        <p:spPr>
          <a:xfrm>
            <a:off x="6263640" y="2808514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the lira</a:t>
            </a:r>
            <a:endParaRPr lang="en-US" sz="1100" dirty="0"/>
          </a:p>
        </p:txBody>
      </p:sp>
      <p:sp>
        <p:nvSpPr>
          <p:cNvPr id="32" name="bd_112"/>
          <p:cNvSpPr/>
          <p:nvPr/>
        </p:nvSpPr>
        <p:spPr>
          <a:xfrm>
            <a:off x="3246120" y="3307515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113"/>
          <p:cNvSpPr/>
          <p:nvPr/>
        </p:nvSpPr>
        <p:spPr>
          <a:xfrm>
            <a:off x="3657600" y="3272246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 or F? The Romans made the first coins.</a:t>
            </a:r>
            <a:endParaRPr lang="en-US" sz="1100" dirty="0"/>
          </a:p>
        </p:txBody>
      </p:sp>
      <p:sp>
        <p:nvSpPr>
          <p:cNvPr id="34" name="R5_chip114"/>
          <p:cNvSpPr/>
          <p:nvPr/>
        </p:nvSpPr>
        <p:spPr>
          <a:xfrm>
            <a:off x="6263640" y="3272246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F · the Lydians, about 600 BC (today's Turkey)</a:t>
            </a:r>
            <a:endParaRPr lang="en-US" sz="1100" dirty="0"/>
          </a:p>
        </p:txBody>
      </p:sp>
      <p:sp>
        <p:nvSpPr>
          <p:cNvPr id="35" name="bd_115"/>
          <p:cNvSpPr/>
          <p:nvPr/>
        </p:nvSpPr>
        <p:spPr>
          <a:xfrm>
            <a:off x="3246120" y="3771247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gq_116"/>
          <p:cNvSpPr/>
          <p:nvPr/>
        </p:nvSpPr>
        <p:spPr>
          <a:xfrm>
            <a:off x="3657600" y="3735977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 or F? All EU countries use the euro.</a:t>
            </a:r>
            <a:endParaRPr lang="en-US" sz="1100" dirty="0"/>
          </a:p>
        </p:txBody>
      </p:sp>
      <p:sp>
        <p:nvSpPr>
          <p:cNvPr id="37" name="R6_chip117"/>
          <p:cNvSpPr/>
          <p:nvPr/>
        </p:nvSpPr>
        <p:spPr>
          <a:xfrm>
            <a:off x="6263640" y="3735977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F · e.g. Poland, Hungary, Czech Republic</a:t>
            </a:r>
            <a:endParaRPr lang="en-US" sz="1100" dirty="0"/>
          </a:p>
        </p:txBody>
      </p:sp>
      <p:sp>
        <p:nvSpPr>
          <p:cNvPr id="38" name="bd_118"/>
          <p:cNvSpPr/>
          <p:nvPr/>
        </p:nvSpPr>
        <p:spPr>
          <a:xfrm>
            <a:off x="3246120" y="4234978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gq_119"/>
          <p:cNvSpPr/>
          <p:nvPr/>
        </p:nvSpPr>
        <p:spPr>
          <a:xfrm>
            <a:off x="3657600" y="4199709"/>
            <a:ext cx="2514600" cy="399723"/>
          </a:xfrm>
          <a:prstGeom prst="roundRect">
            <a:avLst>
              <a:gd name="adj" fmla="val 2287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 or F? The British pound is the oldest currency still in use.</a:t>
            </a:r>
            <a:endParaRPr lang="en-US" sz="1100" dirty="0"/>
          </a:p>
        </p:txBody>
      </p:sp>
      <p:sp>
        <p:nvSpPr>
          <p:cNvPr id="40" name="R7_chip120"/>
          <p:cNvSpPr/>
          <p:nvPr/>
        </p:nvSpPr>
        <p:spPr>
          <a:xfrm>
            <a:off x="6263640" y="4199709"/>
            <a:ext cx="2560320" cy="399723"/>
          </a:xfrm>
          <a:prstGeom prst="roundRect">
            <a:avLst>
              <a:gd name="adj" fmla="val 2287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2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2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123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the difference?</a:t>
            </a:r>
            <a:endParaRPr lang="en-US" sz="2500" dirty="0"/>
          </a:p>
        </p:txBody>
      </p:sp>
      <p:pic>
        <p:nvPicPr>
          <p:cNvPr id="6" name="brP_12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125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Explain the difference to your partner.</a:t>
            </a:r>
            <a:endParaRPr lang="en-US" sz="1250" dirty="0"/>
          </a:p>
        </p:txBody>
      </p:sp>
      <p:sp>
        <p:nvSpPr>
          <p:cNvPr id="8" name="insIT_126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Spiega la differenza al compagno.</a:t>
            </a:r>
            <a:endParaRPr lang="en-US" sz="950" dirty="0"/>
          </a:p>
        </p:txBody>
      </p:sp>
      <p:sp>
        <p:nvSpPr>
          <p:cNvPr id="9" name="cmd_127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128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129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Controlled practice</a:t>
            </a:r>
            <a:endParaRPr lang="en-US" sz="850" dirty="0"/>
          </a:p>
        </p:txBody>
      </p:sp>
      <p:pic>
        <p:nvPicPr>
          <p:cNvPr id="12" name="logo_13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3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Vocabulary · money verbs   ·   📖 Vocabulary Bank Money p.154 · 1 Verbs</a:t>
            </a:r>
            <a:endParaRPr lang="en-US" sz="800" dirty="0"/>
          </a:p>
        </p:txBody>
      </p:sp>
      <p:sp>
        <p:nvSpPr>
          <p:cNvPr id="14" name="cd_132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13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134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135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lend / borrow → lend = give · borrow = take</a:t>
            </a:r>
            <a:endParaRPr lang="en-US" sz="1050" dirty="0"/>
          </a:p>
        </p:txBody>
      </p:sp>
      <p:sp>
        <p:nvSpPr>
          <p:cNvPr id="18" name="pf_136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137" descr="/home/claude/lls-course/v2/cache/2a1_lend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0" name="bd_138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139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earn / win</a:t>
            </a:r>
            <a:endParaRPr lang="en-US" sz="1150" dirty="0"/>
          </a:p>
        </p:txBody>
      </p:sp>
      <p:sp>
        <p:nvSpPr>
          <p:cNvPr id="22" name="R1_chip140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earn = from your job · win = in a game or the lottery</a:t>
            </a:r>
            <a:endParaRPr lang="en-US" sz="1000" dirty="0"/>
          </a:p>
        </p:txBody>
      </p:sp>
      <p:sp>
        <p:nvSpPr>
          <p:cNvPr id="23" name="bd_141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142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save / waste</a:t>
            </a:r>
            <a:endParaRPr lang="en-US" sz="1150" dirty="0"/>
          </a:p>
        </p:txBody>
      </p:sp>
      <p:sp>
        <p:nvSpPr>
          <p:cNvPr id="25" name="R2_chip143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save = keep for later · waste = spend badly, for nothing</a:t>
            </a:r>
            <a:endParaRPr lang="en-US" sz="1000" dirty="0"/>
          </a:p>
        </p:txBody>
      </p:sp>
      <p:sp>
        <p:nvSpPr>
          <p:cNvPr id="26" name="bd_144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145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cost / charge</a:t>
            </a:r>
            <a:endParaRPr lang="en-US" sz="1150" dirty="0"/>
          </a:p>
        </p:txBody>
      </p:sp>
      <p:sp>
        <p:nvSpPr>
          <p:cNvPr id="28" name="R3_chip146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costs €200 (the price) · The mechanic charges me €100</a:t>
            </a:r>
            <a:endParaRPr lang="en-US" sz="1000" dirty="0"/>
          </a:p>
        </p:txBody>
      </p:sp>
      <p:sp>
        <p:nvSpPr>
          <p:cNvPr id="29" name="bd_147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148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owe / afford</a:t>
            </a:r>
            <a:endParaRPr lang="en-US" sz="1150" dirty="0"/>
          </a:p>
        </p:txBody>
      </p:sp>
      <p:sp>
        <p:nvSpPr>
          <p:cNvPr id="31" name="R4_chip149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owe = you must pay it back · can't afford = not enough money</a:t>
            </a:r>
            <a:endParaRPr lang="en-US" sz="1000" dirty="0"/>
          </a:p>
        </p:txBody>
      </p:sp>
      <p:sp>
        <p:nvSpPr>
          <p:cNvPr id="32" name="bd_150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q_151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inherit / invest</a:t>
            </a:r>
            <a:endParaRPr lang="en-US" sz="1150" dirty="0"/>
          </a:p>
        </p:txBody>
      </p:sp>
      <p:sp>
        <p:nvSpPr>
          <p:cNvPr id="34" name="R5_chip152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inherit = get money when someone dies · invest = put money in to make more</a:t>
            </a:r>
            <a:endParaRPr lang="en-US" sz="1000" dirty="0"/>
          </a:p>
        </p:txBody>
      </p:sp>
      <p:sp>
        <p:nvSpPr>
          <p:cNvPr id="35" name="bd_153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q_154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 worth / raise</a:t>
            </a:r>
            <a:endParaRPr lang="en-US" sz="1150" dirty="0"/>
          </a:p>
        </p:txBody>
      </p:sp>
      <p:sp>
        <p:nvSpPr>
          <p:cNvPr id="37" name="R6_chip155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house is worth €200,000 · raise money for a hospital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5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5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158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Money verbs in Italian</a:t>
            </a:r>
            <a:endParaRPr lang="en-US" sz="2500" dirty="0"/>
          </a:p>
        </p:txBody>
      </p:sp>
      <p:pic>
        <p:nvPicPr>
          <p:cNvPr id="6" name="brP_15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337560" cy="402336"/>
          </a:xfrm>
          <a:prstGeom prst="rect">
            <a:avLst/>
          </a:prstGeom>
        </p:spPr>
      </p:pic>
      <p:sp>
        <p:nvSpPr>
          <p:cNvPr id="7" name="ins_160"/>
          <p:cNvSpPr/>
          <p:nvPr/>
        </p:nvSpPr>
        <p:spPr>
          <a:xfrm>
            <a:off x="1353312" y="731520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it in Italian. Then click!</a:t>
            </a:r>
            <a:endParaRPr lang="en-US" sz="1250" dirty="0"/>
          </a:p>
        </p:txBody>
      </p:sp>
      <p:sp>
        <p:nvSpPr>
          <p:cNvPr id="8" name="insIT_161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Dillo in italiano. Poi clicca!</a:t>
            </a:r>
            <a:endParaRPr lang="en-US" sz="950" dirty="0"/>
          </a:p>
        </p:txBody>
      </p:sp>
      <p:sp>
        <p:nvSpPr>
          <p:cNvPr id="9" name="cmd_162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CONTROLLA</a:t>
            </a:r>
            <a:endParaRPr lang="en-US" sz="1100" dirty="0"/>
          </a:p>
        </p:txBody>
      </p:sp>
      <p:sp>
        <p:nvSpPr>
          <p:cNvPr id="10" name="meta_163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🙋 whole class</a:t>
            </a:r>
            <a:endParaRPr lang="en-US" sz="950" dirty="0"/>
          </a:p>
        </p:txBody>
      </p:sp>
      <p:sp>
        <p:nvSpPr>
          <p:cNvPr id="11" name="tag_164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TPRS · meaning</a:t>
            </a:r>
            <a:endParaRPr lang="en-US" sz="850" dirty="0"/>
          </a:p>
        </p:txBody>
      </p:sp>
      <p:pic>
        <p:nvPicPr>
          <p:cNvPr id="12" name="logo_16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6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Vocabulary · in Italian</a:t>
            </a:r>
            <a:endParaRPr lang="en-US" sz="800" dirty="0"/>
          </a:p>
        </p:txBody>
      </p:sp>
      <p:sp>
        <p:nvSpPr>
          <p:cNvPr id="14" name="cd_167"/>
          <p:cNvSpPr/>
          <p:nvPr/>
        </p:nvSpPr>
        <p:spPr>
          <a:xfrm>
            <a:off x="320040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e_168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6" name="en_169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lend (to)</a:t>
            </a:r>
            <a:endParaRPr lang="en-US" sz="1200" dirty="0"/>
          </a:p>
        </p:txBody>
      </p:sp>
      <p:sp>
        <p:nvSpPr>
          <p:cNvPr id="17" name="R1_it170"/>
          <p:cNvSpPr/>
          <p:nvPr/>
        </p:nvSpPr>
        <p:spPr>
          <a:xfrm>
            <a:off x="978408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prestare (a qualcuno)</a:t>
            </a:r>
            <a:endParaRPr lang="en-US" sz="900" dirty="0"/>
          </a:p>
        </p:txBody>
      </p:sp>
      <p:sp>
        <p:nvSpPr>
          <p:cNvPr id="18" name="cd_171"/>
          <p:cNvSpPr/>
          <p:nvPr/>
        </p:nvSpPr>
        <p:spPr>
          <a:xfrm>
            <a:off x="2487168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e_172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🙏</a:t>
            </a:r>
            <a:endParaRPr lang="en-US" sz="2000" dirty="0"/>
          </a:p>
        </p:txBody>
      </p:sp>
      <p:sp>
        <p:nvSpPr>
          <p:cNvPr id="20" name="en_173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borrow (from)</a:t>
            </a:r>
            <a:endParaRPr lang="en-US" sz="1200" dirty="0"/>
          </a:p>
        </p:txBody>
      </p:sp>
      <p:sp>
        <p:nvSpPr>
          <p:cNvPr id="21" name="R2_it174"/>
          <p:cNvSpPr/>
          <p:nvPr/>
        </p:nvSpPr>
        <p:spPr>
          <a:xfrm>
            <a:off x="3145536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prendere in prestito (da)</a:t>
            </a:r>
            <a:endParaRPr lang="en-US" sz="800" dirty="0"/>
          </a:p>
        </p:txBody>
      </p:sp>
      <p:sp>
        <p:nvSpPr>
          <p:cNvPr id="22" name="cd_175"/>
          <p:cNvSpPr/>
          <p:nvPr/>
        </p:nvSpPr>
        <p:spPr>
          <a:xfrm>
            <a:off x="4654296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e_176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24" name="en_177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earn</a:t>
            </a:r>
            <a:endParaRPr lang="en-US" sz="1200" dirty="0"/>
          </a:p>
        </p:txBody>
      </p:sp>
      <p:sp>
        <p:nvSpPr>
          <p:cNvPr id="25" name="R3_it178"/>
          <p:cNvSpPr/>
          <p:nvPr/>
        </p:nvSpPr>
        <p:spPr>
          <a:xfrm>
            <a:off x="5312664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guadagnare (lavorando)</a:t>
            </a:r>
            <a:endParaRPr lang="en-US" sz="800" dirty="0"/>
          </a:p>
        </p:txBody>
      </p:sp>
      <p:sp>
        <p:nvSpPr>
          <p:cNvPr id="26" name="cd_179"/>
          <p:cNvSpPr/>
          <p:nvPr/>
        </p:nvSpPr>
        <p:spPr>
          <a:xfrm>
            <a:off x="6821424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e_180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🐷</a:t>
            </a:r>
            <a:endParaRPr lang="en-US" sz="2000" dirty="0"/>
          </a:p>
        </p:txBody>
      </p:sp>
      <p:sp>
        <p:nvSpPr>
          <p:cNvPr id="28" name="en_181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save</a:t>
            </a:r>
            <a:endParaRPr lang="en-US" sz="1200" dirty="0"/>
          </a:p>
        </p:txBody>
      </p:sp>
      <p:sp>
        <p:nvSpPr>
          <p:cNvPr id="29" name="R4_it182"/>
          <p:cNvSpPr/>
          <p:nvPr/>
        </p:nvSpPr>
        <p:spPr>
          <a:xfrm>
            <a:off x="7479792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risparmiare</a:t>
            </a:r>
            <a:endParaRPr lang="en-US" sz="1000" dirty="0"/>
          </a:p>
        </p:txBody>
      </p:sp>
      <p:sp>
        <p:nvSpPr>
          <p:cNvPr id="30" name="cd_183"/>
          <p:cNvSpPr/>
          <p:nvPr/>
        </p:nvSpPr>
        <p:spPr>
          <a:xfrm>
            <a:off x="320040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e_184"/>
          <p:cNvSpPr/>
          <p:nvPr/>
        </p:nvSpPr>
        <p:spPr>
          <a:xfrm>
            <a:off x="393192" y="235000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🗑️</a:t>
            </a:r>
            <a:endParaRPr lang="en-US" sz="2000" dirty="0"/>
          </a:p>
        </p:txBody>
      </p:sp>
      <p:sp>
        <p:nvSpPr>
          <p:cNvPr id="32" name="en_185"/>
          <p:cNvSpPr/>
          <p:nvPr/>
        </p:nvSpPr>
        <p:spPr>
          <a:xfrm>
            <a:off x="978408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waste</a:t>
            </a:r>
            <a:endParaRPr lang="en-US" sz="1200" dirty="0"/>
          </a:p>
        </p:txBody>
      </p:sp>
      <p:sp>
        <p:nvSpPr>
          <p:cNvPr id="33" name="R5_it186"/>
          <p:cNvSpPr/>
          <p:nvPr/>
        </p:nvSpPr>
        <p:spPr>
          <a:xfrm>
            <a:off x="978408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sprecare</a:t>
            </a:r>
            <a:endParaRPr lang="en-US" sz="1000" dirty="0"/>
          </a:p>
        </p:txBody>
      </p:sp>
      <p:sp>
        <p:nvSpPr>
          <p:cNvPr id="34" name="cd_187"/>
          <p:cNvSpPr/>
          <p:nvPr/>
        </p:nvSpPr>
        <p:spPr>
          <a:xfrm>
            <a:off x="2487168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5" name="e_188"/>
          <p:cNvSpPr/>
          <p:nvPr/>
        </p:nvSpPr>
        <p:spPr>
          <a:xfrm>
            <a:off x="2560320" y="235000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36" name="en_189"/>
          <p:cNvSpPr/>
          <p:nvPr/>
        </p:nvSpPr>
        <p:spPr>
          <a:xfrm>
            <a:off x="3145536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can't afford</a:t>
            </a:r>
            <a:endParaRPr lang="en-US" sz="1200" dirty="0"/>
          </a:p>
        </p:txBody>
      </p:sp>
      <p:sp>
        <p:nvSpPr>
          <p:cNvPr id="37" name="R6_it190"/>
          <p:cNvSpPr/>
          <p:nvPr/>
        </p:nvSpPr>
        <p:spPr>
          <a:xfrm>
            <a:off x="3145536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non potersi permettere</a:t>
            </a:r>
            <a:endParaRPr lang="en-US" sz="850" dirty="0"/>
          </a:p>
        </p:txBody>
      </p:sp>
      <p:sp>
        <p:nvSpPr>
          <p:cNvPr id="38" name="cd_191"/>
          <p:cNvSpPr/>
          <p:nvPr/>
        </p:nvSpPr>
        <p:spPr>
          <a:xfrm>
            <a:off x="4654296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9" name="e_192"/>
          <p:cNvSpPr/>
          <p:nvPr/>
        </p:nvSpPr>
        <p:spPr>
          <a:xfrm>
            <a:off x="4727448" y="235000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🧾</a:t>
            </a:r>
            <a:endParaRPr lang="en-US" sz="2000" dirty="0"/>
          </a:p>
        </p:txBody>
      </p:sp>
      <p:sp>
        <p:nvSpPr>
          <p:cNvPr id="40" name="en_193"/>
          <p:cNvSpPr/>
          <p:nvPr/>
        </p:nvSpPr>
        <p:spPr>
          <a:xfrm>
            <a:off x="5312664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owe</a:t>
            </a:r>
            <a:endParaRPr lang="en-US" sz="1200" dirty="0"/>
          </a:p>
        </p:txBody>
      </p:sp>
      <p:sp>
        <p:nvSpPr>
          <p:cNvPr id="41" name="R7_it194"/>
          <p:cNvSpPr/>
          <p:nvPr/>
        </p:nvSpPr>
        <p:spPr>
          <a:xfrm>
            <a:off x="5312664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dovere (soldi a qualcuno)</a:t>
            </a:r>
            <a:endParaRPr lang="en-US" sz="800" dirty="0"/>
          </a:p>
        </p:txBody>
      </p:sp>
      <p:sp>
        <p:nvSpPr>
          <p:cNvPr id="42" name="cd_195"/>
          <p:cNvSpPr/>
          <p:nvPr/>
        </p:nvSpPr>
        <p:spPr>
          <a:xfrm>
            <a:off x="6821424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3" name="e_196"/>
          <p:cNvSpPr/>
          <p:nvPr/>
        </p:nvSpPr>
        <p:spPr>
          <a:xfrm>
            <a:off x="6894576" y="235000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44" name="en_197"/>
          <p:cNvSpPr/>
          <p:nvPr/>
        </p:nvSpPr>
        <p:spPr>
          <a:xfrm>
            <a:off x="7479792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charge</a:t>
            </a:r>
            <a:endParaRPr lang="en-US" sz="1200" dirty="0"/>
          </a:p>
        </p:txBody>
      </p:sp>
      <p:sp>
        <p:nvSpPr>
          <p:cNvPr id="45" name="R8_it198"/>
          <p:cNvSpPr/>
          <p:nvPr/>
        </p:nvSpPr>
        <p:spPr>
          <a:xfrm>
            <a:off x="7479792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far pagare</a:t>
            </a:r>
            <a:endParaRPr lang="en-US" sz="1000" dirty="0"/>
          </a:p>
        </p:txBody>
      </p:sp>
      <p:sp>
        <p:nvSpPr>
          <p:cNvPr id="46" name="cd_199"/>
          <p:cNvSpPr/>
          <p:nvPr/>
        </p:nvSpPr>
        <p:spPr>
          <a:xfrm>
            <a:off x="320040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7" name="e_200"/>
          <p:cNvSpPr/>
          <p:nvPr/>
        </p:nvSpPr>
        <p:spPr>
          <a:xfrm>
            <a:off x="393192" y="317296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48" name="en_201"/>
          <p:cNvSpPr/>
          <p:nvPr/>
        </p:nvSpPr>
        <p:spPr>
          <a:xfrm>
            <a:off x="978408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inherit</a:t>
            </a:r>
            <a:endParaRPr lang="en-US" sz="1200" dirty="0"/>
          </a:p>
        </p:txBody>
      </p:sp>
      <p:sp>
        <p:nvSpPr>
          <p:cNvPr id="49" name="R9_it202"/>
          <p:cNvSpPr/>
          <p:nvPr/>
        </p:nvSpPr>
        <p:spPr>
          <a:xfrm>
            <a:off x="978408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ereditare</a:t>
            </a:r>
            <a:endParaRPr lang="en-US" sz="1000" dirty="0"/>
          </a:p>
        </p:txBody>
      </p:sp>
      <p:sp>
        <p:nvSpPr>
          <p:cNvPr id="50" name="cd_203"/>
          <p:cNvSpPr/>
          <p:nvPr/>
        </p:nvSpPr>
        <p:spPr>
          <a:xfrm>
            <a:off x="2487168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1" name="e_204"/>
          <p:cNvSpPr/>
          <p:nvPr/>
        </p:nvSpPr>
        <p:spPr>
          <a:xfrm>
            <a:off x="2560320" y="317296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52" name="en_205"/>
          <p:cNvSpPr/>
          <p:nvPr/>
        </p:nvSpPr>
        <p:spPr>
          <a:xfrm>
            <a:off x="3145536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invest (in)</a:t>
            </a:r>
            <a:endParaRPr lang="en-US" sz="1200" dirty="0"/>
          </a:p>
        </p:txBody>
      </p:sp>
      <p:sp>
        <p:nvSpPr>
          <p:cNvPr id="53" name="R10_it206"/>
          <p:cNvSpPr/>
          <p:nvPr/>
        </p:nvSpPr>
        <p:spPr>
          <a:xfrm>
            <a:off x="3145536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investire (in)</a:t>
            </a:r>
            <a:endParaRPr lang="en-US" sz="1000" dirty="0"/>
          </a:p>
        </p:txBody>
      </p:sp>
      <p:sp>
        <p:nvSpPr>
          <p:cNvPr id="54" name="cd_207"/>
          <p:cNvSpPr/>
          <p:nvPr/>
        </p:nvSpPr>
        <p:spPr>
          <a:xfrm>
            <a:off x="4654296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5" name="e_208"/>
          <p:cNvSpPr/>
          <p:nvPr/>
        </p:nvSpPr>
        <p:spPr>
          <a:xfrm>
            <a:off x="4727448" y="317296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56" name="en_209"/>
          <p:cNvSpPr/>
          <p:nvPr/>
        </p:nvSpPr>
        <p:spPr>
          <a:xfrm>
            <a:off x="5312664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worth</a:t>
            </a:r>
            <a:endParaRPr lang="en-US" sz="1200" dirty="0"/>
          </a:p>
        </p:txBody>
      </p:sp>
      <p:sp>
        <p:nvSpPr>
          <p:cNvPr id="57" name="R11_it210"/>
          <p:cNvSpPr/>
          <p:nvPr/>
        </p:nvSpPr>
        <p:spPr>
          <a:xfrm>
            <a:off x="5312664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valere</a:t>
            </a:r>
            <a:endParaRPr lang="en-US" sz="1000" dirty="0"/>
          </a:p>
        </p:txBody>
      </p:sp>
      <p:sp>
        <p:nvSpPr>
          <p:cNvPr id="58" name="cd_211"/>
          <p:cNvSpPr/>
          <p:nvPr/>
        </p:nvSpPr>
        <p:spPr>
          <a:xfrm>
            <a:off x="6821424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9" name="e_212"/>
          <p:cNvSpPr/>
          <p:nvPr/>
        </p:nvSpPr>
        <p:spPr>
          <a:xfrm>
            <a:off x="6894576" y="317296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❤️</a:t>
            </a:r>
            <a:endParaRPr lang="en-US" sz="2000" dirty="0"/>
          </a:p>
        </p:txBody>
      </p:sp>
      <p:sp>
        <p:nvSpPr>
          <p:cNvPr id="60" name="en_213"/>
          <p:cNvSpPr/>
          <p:nvPr/>
        </p:nvSpPr>
        <p:spPr>
          <a:xfrm>
            <a:off x="7479792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raise money</a:t>
            </a:r>
            <a:endParaRPr lang="en-US" sz="1200" dirty="0"/>
          </a:p>
        </p:txBody>
      </p:sp>
      <p:sp>
        <p:nvSpPr>
          <p:cNvPr id="61" name="R12_it214"/>
          <p:cNvSpPr/>
          <p:nvPr/>
        </p:nvSpPr>
        <p:spPr>
          <a:xfrm>
            <a:off x="7479792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raccogliere fondi</a:t>
            </a:r>
            <a:endParaRPr lang="en-US" sz="1000" dirty="0"/>
          </a:p>
        </p:txBody>
      </p:sp>
      <p:sp>
        <p:nvSpPr>
          <p:cNvPr id="62" name="R13_wc215"/>
          <p:cNvSpPr/>
          <p:nvPr/>
        </p:nvSpPr>
        <p:spPr>
          <a:xfrm>
            <a:off x="320040" y="3931920"/>
            <a:ext cx="8549640" cy="457200"/>
          </a:xfrm>
          <a:prstGeom prst="roundRect">
            <a:avLst>
              <a:gd name="adj" fmla="val 28000"/>
            </a:avLst>
          </a:prstGeom>
          <a:solidFill>
            <a:srgbClr val="FFE3EE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63" name="R13_w216"/>
          <p:cNvSpPr/>
          <p:nvPr/>
        </p:nvSpPr>
        <p:spPr>
          <a:xfrm>
            <a:off x="457200" y="39319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Watch out!  prestare = lend · farsi prestare = borrow!  ·  earn ≠ win (vincere)  ·  charge ≠ caricare  ·  spend ON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2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2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Money verbs in action</a:t>
            </a:r>
            <a:endParaRPr lang="en-US" sz="2500" dirty="0"/>
          </a:p>
        </p:txBody>
      </p:sp>
      <p:pic>
        <p:nvPicPr>
          <p:cNvPr id="6" name="brP_2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032504" cy="402336"/>
          </a:xfrm>
          <a:prstGeom prst="rect">
            <a:avLst/>
          </a:prstGeom>
        </p:spPr>
      </p:pic>
      <p:sp>
        <p:nvSpPr>
          <p:cNvPr id="7" name="ins_221"/>
          <p:cNvSpPr/>
          <p:nvPr/>
        </p:nvSpPr>
        <p:spPr>
          <a:xfrm>
            <a:off x="1353312" y="731520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Guess the verb. Then listen and check.</a:t>
            </a:r>
            <a:endParaRPr lang="en-US" sz="1250" dirty="0"/>
          </a:p>
        </p:txBody>
      </p:sp>
      <p:sp>
        <p:nvSpPr>
          <p:cNvPr id="8" name="insIT_222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Indovina il verbo. Poi ascolta e controlla.</a:t>
            </a:r>
            <a:endParaRPr lang="en-US" sz="950" dirty="0"/>
          </a:p>
        </p:txBody>
      </p:sp>
      <p:sp>
        <p:nvSpPr>
          <p:cNvPr id="9" name="cmd_22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224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✏️ </a:t>
            </a:r>
            <a:pPr indent="0" marL="0">
              <a:buNone/>
            </a:pPr>
            <a:r>
              <a:rPr lang="en-US" sz="9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FILL THE GAPS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COMPLETA</a:t>
            </a:r>
            <a:endParaRPr lang="en-US" sz="800" dirty="0"/>
          </a:p>
        </p:txBody>
      </p:sp>
      <p:sp>
        <p:nvSpPr>
          <p:cNvPr id="11" name="meta_225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2" name="tag_226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Listening for detail</a:t>
            </a:r>
            <a:endParaRPr lang="en-US" sz="850" dirty="0"/>
          </a:p>
        </p:txBody>
      </p:sp>
      <p:pic>
        <p:nvPicPr>
          <p:cNvPr id="13" name="logo_22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22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Vocabulary · practice   ·   📖 Vocabulary Bank Money p.154 · 1 Verbs · audio 2.1</a:t>
            </a:r>
            <a:endParaRPr lang="en-US" sz="800" dirty="0"/>
          </a:p>
        </p:txBody>
      </p:sp>
      <p:sp>
        <p:nvSpPr>
          <p:cNvPr id="15" name="ap_229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2.1  ·  pause after each sentence</a:t>
            </a:r>
            <a:endParaRPr lang="en-US" sz="1100" dirty="0"/>
          </a:p>
        </p:txBody>
      </p:sp>
      <p:sp>
        <p:nvSpPr>
          <p:cNvPr id="16" name="ah_230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19" name="pf_231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232" descr="/home/claude/lls-course/v2/cache/2a1_inherit_jpg_627x40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21" name="cd_233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ii_234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3" name="ih_235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first, then listen!</a:t>
            </a:r>
            <a:endParaRPr lang="en-US" sz="1200" dirty="0"/>
          </a:p>
        </p:txBody>
      </p:sp>
      <p:sp>
        <p:nvSpPr>
          <p:cNvPr id="24" name="il_236"/>
          <p:cNvSpPr/>
          <p:nvPr/>
        </p:nvSpPr>
        <p:spPr>
          <a:xfrm>
            <a:off x="886968" y="449884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25" name="gq_237"/>
          <p:cNvSpPr/>
          <p:nvPr/>
        </p:nvSpPr>
        <p:spPr>
          <a:xfrm>
            <a:off x="3383280" y="141732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 I'm going to ___ £2,000.</a:t>
            </a:r>
            <a:endParaRPr lang="en-US" sz="1200" dirty="0"/>
          </a:p>
        </p:txBody>
      </p:sp>
      <p:sp>
        <p:nvSpPr>
          <p:cNvPr id="26" name="R1_chip238"/>
          <p:cNvSpPr/>
          <p:nvPr/>
        </p:nvSpPr>
        <p:spPr>
          <a:xfrm>
            <a:off x="6812280" y="141732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inherit</a:t>
            </a:r>
            <a:endParaRPr lang="en-US" sz="1200" dirty="0"/>
          </a:p>
        </p:txBody>
      </p:sp>
      <p:sp>
        <p:nvSpPr>
          <p:cNvPr id="27" name="gq_239"/>
          <p:cNvSpPr/>
          <p:nvPr/>
        </p:nvSpPr>
        <p:spPr>
          <a:xfrm>
            <a:off x="3383280" y="182880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 He has promised to ___ me €50.</a:t>
            </a:r>
            <a:endParaRPr lang="en-US" sz="1200" dirty="0"/>
          </a:p>
        </p:txBody>
      </p:sp>
      <p:sp>
        <p:nvSpPr>
          <p:cNvPr id="28" name="R2_chip240"/>
          <p:cNvSpPr/>
          <p:nvPr/>
        </p:nvSpPr>
        <p:spPr>
          <a:xfrm>
            <a:off x="6812280" y="182880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lend</a:t>
            </a:r>
            <a:endParaRPr lang="en-US" sz="1200" dirty="0"/>
          </a:p>
        </p:txBody>
      </p:sp>
      <p:sp>
        <p:nvSpPr>
          <p:cNvPr id="29" name="gq_241"/>
          <p:cNvSpPr/>
          <p:nvPr/>
        </p:nvSpPr>
        <p:spPr>
          <a:xfrm>
            <a:off x="3383280" y="224028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 I need to ___ £20 from my mum.</a:t>
            </a:r>
            <a:endParaRPr lang="en-US" sz="1200" dirty="0"/>
          </a:p>
        </p:txBody>
      </p:sp>
      <p:sp>
        <p:nvSpPr>
          <p:cNvPr id="30" name="R3_chip242"/>
          <p:cNvSpPr/>
          <p:nvPr/>
        </p:nvSpPr>
        <p:spPr>
          <a:xfrm>
            <a:off x="6812280" y="224028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borrow</a:t>
            </a:r>
            <a:endParaRPr lang="en-US" sz="1200" dirty="0"/>
          </a:p>
        </p:txBody>
      </p:sp>
      <p:sp>
        <p:nvSpPr>
          <p:cNvPr id="31" name="gq_243"/>
          <p:cNvSpPr/>
          <p:nvPr/>
        </p:nvSpPr>
        <p:spPr>
          <a:xfrm>
            <a:off x="3383280" y="265176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 I can't ___ to buy that car.</a:t>
            </a:r>
            <a:endParaRPr lang="en-US" sz="1200" dirty="0"/>
          </a:p>
        </p:txBody>
      </p:sp>
      <p:sp>
        <p:nvSpPr>
          <p:cNvPr id="32" name="R4_chip244"/>
          <p:cNvSpPr/>
          <p:nvPr/>
        </p:nvSpPr>
        <p:spPr>
          <a:xfrm>
            <a:off x="6812280" y="265176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afford</a:t>
            </a:r>
            <a:endParaRPr lang="en-US" sz="1200" dirty="0"/>
          </a:p>
        </p:txBody>
      </p:sp>
      <p:sp>
        <p:nvSpPr>
          <p:cNvPr id="33" name="gq_245"/>
          <p:cNvSpPr/>
          <p:nvPr/>
        </p:nvSpPr>
        <p:spPr>
          <a:xfrm>
            <a:off x="3383280" y="306324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  The mechanic ___ me £100.</a:t>
            </a:r>
            <a:endParaRPr lang="en-US" sz="1200" dirty="0"/>
          </a:p>
        </p:txBody>
      </p:sp>
      <p:sp>
        <p:nvSpPr>
          <p:cNvPr id="34" name="R5_chip246"/>
          <p:cNvSpPr/>
          <p:nvPr/>
        </p:nvSpPr>
        <p:spPr>
          <a:xfrm>
            <a:off x="6812280" y="306324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charges</a:t>
            </a:r>
            <a:endParaRPr lang="en-US" sz="1200" dirty="0"/>
          </a:p>
        </p:txBody>
      </p:sp>
      <p:sp>
        <p:nvSpPr>
          <p:cNvPr id="35" name="gq_247"/>
          <p:cNvSpPr/>
          <p:nvPr/>
        </p:nvSpPr>
        <p:spPr>
          <a:xfrm>
            <a:off x="3383280" y="347472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 I ___ Jim £100.</a:t>
            </a:r>
            <a:endParaRPr lang="en-US" sz="1200" dirty="0"/>
          </a:p>
        </p:txBody>
      </p:sp>
      <p:sp>
        <p:nvSpPr>
          <p:cNvPr id="36" name="R6_chip248"/>
          <p:cNvSpPr/>
          <p:nvPr/>
        </p:nvSpPr>
        <p:spPr>
          <a:xfrm>
            <a:off x="6812280" y="347472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owe</a:t>
            </a:r>
            <a:endParaRPr lang="en-US" sz="1200" dirty="0"/>
          </a:p>
        </p:txBody>
      </p:sp>
      <p:sp>
        <p:nvSpPr>
          <p:cNvPr id="37" name="gq_249"/>
          <p:cNvSpPr/>
          <p:nvPr/>
        </p:nvSpPr>
        <p:spPr>
          <a:xfrm>
            <a:off x="3383280" y="388620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  I ___ £1,000 a month.</a:t>
            </a:r>
            <a:endParaRPr lang="en-US" sz="1200" dirty="0"/>
          </a:p>
        </p:txBody>
      </p:sp>
      <p:sp>
        <p:nvSpPr>
          <p:cNvPr id="38" name="R7_chip250"/>
          <p:cNvSpPr/>
          <p:nvPr/>
        </p:nvSpPr>
        <p:spPr>
          <a:xfrm>
            <a:off x="6812280" y="388620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earn</a:t>
            </a:r>
            <a:endParaRPr lang="en-US" sz="1200" dirty="0"/>
          </a:p>
        </p:txBody>
      </p:sp>
      <p:sp>
        <p:nvSpPr>
          <p:cNvPr id="39" name="gq_251"/>
          <p:cNvSpPr/>
          <p:nvPr/>
        </p:nvSpPr>
        <p:spPr>
          <a:xfrm>
            <a:off x="3383280" y="429768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  My house is ___ about €200,000.</a:t>
            </a:r>
            <a:endParaRPr lang="en-US" sz="1200" dirty="0"/>
          </a:p>
        </p:txBody>
      </p:sp>
      <p:sp>
        <p:nvSpPr>
          <p:cNvPr id="40" name="R8_chip252"/>
          <p:cNvSpPr/>
          <p:nvPr/>
        </p:nvSpPr>
        <p:spPr>
          <a:xfrm>
            <a:off x="6812280" y="429768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worth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5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5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255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Preposition ping-pong</a:t>
            </a:r>
            <a:endParaRPr lang="en-US" sz="2500" dirty="0"/>
          </a:p>
        </p:txBody>
      </p:sp>
      <p:pic>
        <p:nvPicPr>
          <p:cNvPr id="6" name="brP_25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257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reads. B says the preposition – fast!</a:t>
            </a:r>
            <a:endParaRPr lang="en-US" sz="1250" dirty="0"/>
          </a:p>
        </p:txBody>
      </p:sp>
      <p:sp>
        <p:nvSpPr>
          <p:cNvPr id="8" name="insIT_258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legge. B dice la preposizione – veloce!</a:t>
            </a:r>
            <a:endParaRPr lang="en-US" sz="950" dirty="0"/>
          </a:p>
        </p:txBody>
      </p:sp>
      <p:sp>
        <p:nvSpPr>
          <p:cNvPr id="9" name="cmd_25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260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261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2" name="logo_26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6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Vocabulary · prepositions   ·   📖 Vocabulary Bank Money p.154 · 2 Prepositions, 4 Phrasal verbs · audio 2.2, 2.4</a:t>
            </a:r>
            <a:endParaRPr lang="en-US" sz="800" dirty="0"/>
          </a:p>
        </p:txBody>
      </p:sp>
      <p:sp>
        <p:nvSpPr>
          <p:cNvPr id="14" name="cd_264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6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26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267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reads the sentence.</a:t>
            </a:r>
            <a:endParaRPr lang="en-US" sz="11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legge la frase.</a:t>
            </a:r>
            <a:endParaRPr lang="en-US" sz="11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says the preposition in 3 seconds!</a:t>
            </a:r>
            <a:endParaRPr lang="en-US" sz="11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dice la preposizione in 3 secondi!</a:t>
            </a:r>
            <a:endParaRPr lang="en-US" sz="11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 = 1 point. Then swap.</a:t>
            </a:r>
            <a:endParaRPr lang="en-US" sz="11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Giusto = 1 punto. Poi scambiatevi.</a:t>
            </a:r>
            <a:endParaRPr lang="en-US" sz="1100" dirty="0"/>
          </a:p>
        </p:txBody>
      </p:sp>
      <p:sp>
        <p:nvSpPr>
          <p:cNvPr id="18" name="pf_268"/>
          <p:cNvSpPr/>
          <p:nvPr/>
        </p:nvSpPr>
        <p:spPr>
          <a:xfrm rot="-120000">
            <a:off x="411480" y="3611880"/>
            <a:ext cx="2468880" cy="1143000"/>
          </a:xfrm>
          <a:prstGeom prst="roundRect">
            <a:avLst>
              <a:gd name="adj" fmla="val 1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269" descr="/home/claude/lls-course/v2/cache/spare_1a2_bill_jpg_572x25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3657600"/>
            <a:ext cx="2377440" cy="1051560"/>
          </a:xfrm>
          <a:prstGeom prst="rect">
            <a:avLst/>
          </a:prstGeom>
        </p:spPr>
      </p:pic>
      <p:sp>
        <p:nvSpPr>
          <p:cNvPr id="20" name="bd_270"/>
          <p:cNvSpPr/>
          <p:nvPr/>
        </p:nvSpPr>
        <p:spPr>
          <a:xfrm>
            <a:off x="3246120" y="1423607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271"/>
          <p:cNvSpPr/>
          <p:nvPr/>
        </p:nvSpPr>
        <p:spPr>
          <a:xfrm>
            <a:off x="3657600" y="141732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 cash or ___ credit card?</a:t>
            </a:r>
            <a:endParaRPr lang="en-US" sz="1100" dirty="0"/>
          </a:p>
        </p:txBody>
      </p:sp>
      <p:sp>
        <p:nvSpPr>
          <p:cNvPr id="22" name="R1_chip272"/>
          <p:cNvSpPr/>
          <p:nvPr/>
        </p:nvSpPr>
        <p:spPr>
          <a:xfrm>
            <a:off x="6263640" y="141732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by</a:t>
            </a:r>
            <a:endParaRPr lang="en-US" sz="1100" dirty="0"/>
          </a:p>
        </p:txBody>
      </p:sp>
      <p:sp>
        <p:nvSpPr>
          <p:cNvPr id="23" name="bd_273"/>
          <p:cNvSpPr/>
          <p:nvPr/>
        </p:nvSpPr>
        <p:spPr>
          <a:xfrm>
            <a:off x="3246120" y="1829372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274"/>
          <p:cNvSpPr/>
          <p:nvPr/>
        </p:nvSpPr>
        <p:spPr>
          <a:xfrm>
            <a:off x="3657600" y="182308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paid ___ the dinner.</a:t>
            </a:r>
            <a:endParaRPr lang="en-US" sz="1100" dirty="0"/>
          </a:p>
        </p:txBody>
      </p:sp>
      <p:sp>
        <p:nvSpPr>
          <p:cNvPr id="25" name="R2_chip275"/>
          <p:cNvSpPr/>
          <p:nvPr/>
        </p:nvSpPr>
        <p:spPr>
          <a:xfrm>
            <a:off x="6263640" y="182308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for</a:t>
            </a:r>
            <a:endParaRPr lang="en-US" sz="1100" dirty="0"/>
          </a:p>
        </p:txBody>
      </p:sp>
      <p:sp>
        <p:nvSpPr>
          <p:cNvPr id="26" name="bd_276"/>
          <p:cNvSpPr/>
          <p:nvPr/>
        </p:nvSpPr>
        <p:spPr>
          <a:xfrm>
            <a:off x="3246120" y="2235137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277"/>
          <p:cNvSpPr/>
          <p:nvPr/>
        </p:nvSpPr>
        <p:spPr>
          <a:xfrm>
            <a:off x="3657600" y="222885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spent £50 ___ books.</a:t>
            </a:r>
            <a:endParaRPr lang="en-US" sz="1100" dirty="0"/>
          </a:p>
        </p:txBody>
      </p:sp>
      <p:sp>
        <p:nvSpPr>
          <p:cNvPr id="28" name="R3_chip278"/>
          <p:cNvSpPr/>
          <p:nvPr/>
        </p:nvSpPr>
        <p:spPr>
          <a:xfrm>
            <a:off x="6263640" y="222885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on</a:t>
            </a:r>
            <a:endParaRPr lang="en-US" sz="1100" dirty="0"/>
          </a:p>
        </p:txBody>
      </p:sp>
      <p:sp>
        <p:nvSpPr>
          <p:cNvPr id="29" name="bd_279"/>
          <p:cNvSpPr/>
          <p:nvPr/>
        </p:nvSpPr>
        <p:spPr>
          <a:xfrm>
            <a:off x="3246120" y="2640901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280"/>
          <p:cNvSpPr/>
          <p:nvPr/>
        </p:nvSpPr>
        <p:spPr>
          <a:xfrm>
            <a:off x="3657600" y="263461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invested his money ___ property.</a:t>
            </a:r>
            <a:endParaRPr lang="en-US" sz="950" dirty="0"/>
          </a:p>
        </p:txBody>
      </p:sp>
      <p:sp>
        <p:nvSpPr>
          <p:cNvPr id="31" name="R4_chip281"/>
          <p:cNvSpPr/>
          <p:nvPr/>
        </p:nvSpPr>
        <p:spPr>
          <a:xfrm>
            <a:off x="6263640" y="263461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in</a:t>
            </a:r>
            <a:endParaRPr lang="en-US" sz="1100" dirty="0"/>
          </a:p>
        </p:txBody>
      </p:sp>
      <p:sp>
        <p:nvSpPr>
          <p:cNvPr id="32" name="bd_282"/>
          <p:cNvSpPr/>
          <p:nvPr/>
        </p:nvSpPr>
        <p:spPr>
          <a:xfrm>
            <a:off x="3246120" y="3046667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283"/>
          <p:cNvSpPr/>
          <p:nvPr/>
        </p:nvSpPr>
        <p:spPr>
          <a:xfrm>
            <a:off x="3657600" y="304038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don't lend money ___ friends.</a:t>
            </a:r>
            <a:endParaRPr lang="en-US" sz="1100" dirty="0"/>
          </a:p>
        </p:txBody>
      </p:sp>
      <p:sp>
        <p:nvSpPr>
          <p:cNvPr id="34" name="R5_chip284"/>
          <p:cNvSpPr/>
          <p:nvPr/>
        </p:nvSpPr>
        <p:spPr>
          <a:xfrm>
            <a:off x="6263640" y="304038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to</a:t>
            </a:r>
            <a:endParaRPr lang="en-US" sz="1100" dirty="0"/>
          </a:p>
        </p:txBody>
      </p:sp>
      <p:sp>
        <p:nvSpPr>
          <p:cNvPr id="35" name="bd_285"/>
          <p:cNvSpPr/>
          <p:nvPr/>
        </p:nvSpPr>
        <p:spPr>
          <a:xfrm>
            <a:off x="3246120" y="3452432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gq_286"/>
          <p:cNvSpPr/>
          <p:nvPr/>
        </p:nvSpPr>
        <p:spPr>
          <a:xfrm>
            <a:off x="3657600" y="344614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borrowed money ___ the bank.</a:t>
            </a:r>
            <a:endParaRPr lang="en-US" sz="1050" dirty="0"/>
          </a:p>
        </p:txBody>
      </p:sp>
      <p:sp>
        <p:nvSpPr>
          <p:cNvPr id="37" name="R6_chip287"/>
          <p:cNvSpPr/>
          <p:nvPr/>
        </p:nvSpPr>
        <p:spPr>
          <a:xfrm>
            <a:off x="6263640" y="344614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from</a:t>
            </a:r>
            <a:endParaRPr lang="en-US" sz="1100" dirty="0"/>
          </a:p>
        </p:txBody>
      </p:sp>
      <p:sp>
        <p:nvSpPr>
          <p:cNvPr id="38" name="bd_288"/>
          <p:cNvSpPr/>
          <p:nvPr/>
        </p:nvSpPr>
        <p:spPr>
          <a:xfrm>
            <a:off x="3246120" y="3858196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gq_289"/>
          <p:cNvSpPr/>
          <p:nvPr/>
        </p:nvSpPr>
        <p:spPr>
          <a:xfrm>
            <a:off x="3657600" y="385191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never get ___ debt /det/.</a:t>
            </a:r>
            <a:endParaRPr lang="en-US" sz="1100" dirty="0"/>
          </a:p>
        </p:txBody>
      </p:sp>
      <p:sp>
        <p:nvSpPr>
          <p:cNvPr id="40" name="R7_chip290"/>
          <p:cNvSpPr/>
          <p:nvPr/>
        </p:nvSpPr>
        <p:spPr>
          <a:xfrm>
            <a:off x="6263640" y="385191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into</a:t>
            </a:r>
            <a:endParaRPr lang="en-US" sz="1100" dirty="0"/>
          </a:p>
        </p:txBody>
      </p:sp>
      <p:sp>
        <p:nvSpPr>
          <p:cNvPr id="41" name="bd_291"/>
          <p:cNvSpPr/>
          <p:nvPr/>
        </p:nvSpPr>
        <p:spPr>
          <a:xfrm>
            <a:off x="3246120" y="4263962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100" dirty="0"/>
          </a:p>
        </p:txBody>
      </p:sp>
      <p:sp>
        <p:nvSpPr>
          <p:cNvPr id="42" name="gq_292"/>
          <p:cNvSpPr/>
          <p:nvPr/>
        </p:nvSpPr>
        <p:spPr>
          <a:xfrm>
            <a:off x="3657600" y="425767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took ___ €200 from a cash machine.</a:t>
            </a:r>
            <a:endParaRPr lang="en-US" sz="950" dirty="0"/>
          </a:p>
        </p:txBody>
      </p:sp>
      <p:sp>
        <p:nvSpPr>
          <p:cNvPr id="43" name="R8_chip293"/>
          <p:cNvSpPr/>
          <p:nvPr/>
        </p:nvSpPr>
        <p:spPr>
          <a:xfrm>
            <a:off x="6263640" y="425767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out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9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9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296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the word?</a:t>
            </a:r>
            <a:endParaRPr lang="en-US" sz="2500" dirty="0"/>
          </a:p>
        </p:txBody>
      </p:sp>
      <p:pic>
        <p:nvPicPr>
          <p:cNvPr id="6" name="brP_29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424428" cy="402336"/>
          </a:xfrm>
          <a:prstGeom prst="rect">
            <a:avLst/>
          </a:prstGeom>
        </p:spPr>
      </p:pic>
      <p:sp>
        <p:nvSpPr>
          <p:cNvPr id="7" name="ins_298"/>
          <p:cNvSpPr/>
          <p:nvPr/>
        </p:nvSpPr>
        <p:spPr>
          <a:xfrm>
            <a:off x="1353312" y="731520"/>
            <a:ext cx="31683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meaning. Say the word!</a:t>
            </a:r>
            <a:endParaRPr lang="en-US" sz="1250" dirty="0"/>
          </a:p>
        </p:txBody>
      </p:sp>
      <p:sp>
        <p:nvSpPr>
          <p:cNvPr id="8" name="insIT_299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il significato. Di' la parola!</a:t>
            </a:r>
            <a:endParaRPr lang="en-US" sz="950" dirty="0"/>
          </a:p>
        </p:txBody>
      </p:sp>
      <p:sp>
        <p:nvSpPr>
          <p:cNvPr id="9" name="cmd_30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🤔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INDOVINA</a:t>
            </a:r>
            <a:endParaRPr lang="en-US" sz="1100" dirty="0"/>
          </a:p>
        </p:txBody>
      </p:sp>
      <p:sp>
        <p:nvSpPr>
          <p:cNvPr id="10" name="meta_301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1" name="tag_302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Controlled practice</a:t>
            </a:r>
            <a:endParaRPr lang="en-US" sz="850" dirty="0"/>
          </a:p>
        </p:txBody>
      </p:sp>
      <p:pic>
        <p:nvPicPr>
          <p:cNvPr id="12" name="logo_30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30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Vocabulary · money nouns   ·   📖 Vocabulary Bank Money p.154 · 3 Nouns · audio 2.3</a:t>
            </a:r>
            <a:endParaRPr lang="en-US" sz="800" dirty="0"/>
          </a:p>
        </p:txBody>
      </p:sp>
      <p:sp>
        <p:nvSpPr>
          <p:cNvPr id="14" name="cd_305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06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307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308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money for the government → tax</a:t>
            </a:r>
            <a:endParaRPr lang="en-US" sz="1050" dirty="0"/>
          </a:p>
        </p:txBody>
      </p:sp>
      <p:sp>
        <p:nvSpPr>
          <p:cNvPr id="18" name="pf_309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310" descr="/home/claude/lls-course/v2/cache/2a1_bills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0" name="bd_311"/>
          <p:cNvSpPr/>
          <p:nvPr/>
        </p:nvSpPr>
        <p:spPr>
          <a:xfrm>
            <a:off x="3246120" y="1474143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312"/>
          <p:cNvSpPr/>
          <p:nvPr/>
        </p:nvSpPr>
        <p:spPr>
          <a:xfrm>
            <a:off x="3630168" y="1417320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pay it for gas, phone…</a:t>
            </a:r>
            <a:endParaRPr lang="en-US" sz="1150" dirty="0"/>
          </a:p>
        </p:txBody>
      </p:sp>
      <p:sp>
        <p:nvSpPr>
          <p:cNvPr id="22" name="R1_chip313"/>
          <p:cNvSpPr/>
          <p:nvPr/>
        </p:nvSpPr>
        <p:spPr>
          <a:xfrm>
            <a:off x="5806440" y="1417320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bill · bolletta / conto</a:t>
            </a:r>
            <a:endParaRPr lang="en-US" sz="1000" dirty="0"/>
          </a:p>
        </p:txBody>
      </p:sp>
      <p:sp>
        <p:nvSpPr>
          <p:cNvPr id="23" name="bd_314"/>
          <p:cNvSpPr/>
          <p:nvPr/>
        </p:nvSpPr>
        <p:spPr>
          <a:xfrm>
            <a:off x="3246120" y="194440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315"/>
          <p:cNvSpPr/>
          <p:nvPr/>
        </p:nvSpPr>
        <p:spPr>
          <a:xfrm>
            <a:off x="3630168" y="1887583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money every month for your job</a:t>
            </a:r>
            <a:endParaRPr lang="en-US" sz="1150" dirty="0"/>
          </a:p>
        </p:txBody>
      </p:sp>
      <p:sp>
        <p:nvSpPr>
          <p:cNvPr id="25" name="R2_chip316"/>
          <p:cNvSpPr/>
          <p:nvPr/>
        </p:nvSpPr>
        <p:spPr>
          <a:xfrm>
            <a:off x="5806440" y="1887583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salary · stipendio</a:t>
            </a:r>
            <a:endParaRPr lang="en-US" sz="1000" dirty="0"/>
          </a:p>
        </p:txBody>
      </p:sp>
      <p:sp>
        <p:nvSpPr>
          <p:cNvPr id="26" name="bd_317"/>
          <p:cNvSpPr/>
          <p:nvPr/>
        </p:nvSpPr>
        <p:spPr>
          <a:xfrm>
            <a:off x="3246120" y="2414669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318"/>
          <p:cNvSpPr/>
          <p:nvPr/>
        </p:nvSpPr>
        <p:spPr>
          <a:xfrm>
            <a:off x="3630168" y="2357846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money a bank or person lends you</a:t>
            </a:r>
            <a:endParaRPr lang="en-US" sz="1150" dirty="0"/>
          </a:p>
        </p:txBody>
      </p:sp>
      <p:sp>
        <p:nvSpPr>
          <p:cNvPr id="28" name="R3_chip319"/>
          <p:cNvSpPr/>
          <p:nvPr/>
        </p:nvSpPr>
        <p:spPr>
          <a:xfrm>
            <a:off x="5806440" y="2357846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loan · prestito</a:t>
            </a:r>
            <a:endParaRPr lang="en-US" sz="1000" dirty="0"/>
          </a:p>
        </p:txBody>
      </p:sp>
      <p:sp>
        <p:nvSpPr>
          <p:cNvPr id="29" name="bd_320"/>
          <p:cNvSpPr/>
          <p:nvPr/>
        </p:nvSpPr>
        <p:spPr>
          <a:xfrm>
            <a:off x="3246120" y="28849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321"/>
          <p:cNvSpPr/>
          <p:nvPr/>
        </p:nvSpPr>
        <p:spPr>
          <a:xfrm>
            <a:off x="3630168" y="2828109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plan for how to spend money</a:t>
            </a:r>
            <a:endParaRPr lang="en-US" sz="1150" dirty="0"/>
          </a:p>
        </p:txBody>
      </p:sp>
      <p:sp>
        <p:nvSpPr>
          <p:cNvPr id="31" name="R4_chip322"/>
          <p:cNvSpPr/>
          <p:nvPr/>
        </p:nvSpPr>
        <p:spPr>
          <a:xfrm>
            <a:off x="5806440" y="2828109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budget · budget, bilancio</a:t>
            </a:r>
            <a:endParaRPr lang="en-US" sz="1000" dirty="0"/>
          </a:p>
        </p:txBody>
      </p:sp>
      <p:sp>
        <p:nvSpPr>
          <p:cNvPr id="32" name="bd_323"/>
          <p:cNvSpPr/>
          <p:nvPr/>
        </p:nvSpPr>
        <p:spPr>
          <a:xfrm>
            <a:off x="3246120" y="3355195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q_324"/>
          <p:cNvSpPr/>
          <p:nvPr/>
        </p:nvSpPr>
        <p:spPr>
          <a:xfrm>
            <a:off x="3630168" y="3298371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bank loan to buy a house</a:t>
            </a:r>
            <a:endParaRPr lang="en-US" sz="1150" dirty="0"/>
          </a:p>
        </p:txBody>
      </p:sp>
      <p:sp>
        <p:nvSpPr>
          <p:cNvPr id="34" name="R5_chip325"/>
          <p:cNvSpPr/>
          <p:nvPr/>
        </p:nvSpPr>
        <p:spPr>
          <a:xfrm>
            <a:off x="5806440" y="3298371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mortgage /ˈmɔːɡɪdʒ/ · mutuo</a:t>
            </a:r>
            <a:endParaRPr lang="en-US" sz="1000" dirty="0"/>
          </a:p>
        </p:txBody>
      </p:sp>
      <p:sp>
        <p:nvSpPr>
          <p:cNvPr id="35" name="bd_326"/>
          <p:cNvSpPr/>
          <p:nvPr/>
        </p:nvSpPr>
        <p:spPr>
          <a:xfrm>
            <a:off x="3246120" y="3825458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q_327"/>
          <p:cNvSpPr/>
          <p:nvPr/>
        </p:nvSpPr>
        <p:spPr>
          <a:xfrm>
            <a:off x="3630168" y="3768634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 by touching your card</a:t>
            </a:r>
            <a:endParaRPr lang="en-US" sz="1150" dirty="0"/>
          </a:p>
        </p:txBody>
      </p:sp>
      <p:sp>
        <p:nvSpPr>
          <p:cNvPr id="37" name="R6_chip328"/>
          <p:cNvSpPr/>
          <p:nvPr/>
        </p:nvSpPr>
        <p:spPr>
          <a:xfrm>
            <a:off x="5806440" y="3768634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contactless payment · pagamento contactless</a:t>
            </a:r>
            <a:endParaRPr lang="en-US" sz="1000" dirty="0"/>
          </a:p>
        </p:txBody>
      </p:sp>
      <p:sp>
        <p:nvSpPr>
          <p:cNvPr id="38" name="bd_329"/>
          <p:cNvSpPr/>
          <p:nvPr/>
        </p:nvSpPr>
        <p:spPr>
          <a:xfrm>
            <a:off x="3246120" y="4295721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q_330"/>
          <p:cNvSpPr/>
          <p:nvPr/>
        </p:nvSpPr>
        <p:spPr>
          <a:xfrm>
            <a:off x="3630168" y="4238897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pays if you have an accident</a:t>
            </a:r>
            <a:endParaRPr lang="en-US" sz="1150" dirty="0"/>
          </a:p>
        </p:txBody>
      </p:sp>
      <p:sp>
        <p:nvSpPr>
          <p:cNvPr id="40" name="R7_chip331"/>
          <p:cNvSpPr/>
          <p:nvPr/>
        </p:nvSpPr>
        <p:spPr>
          <a:xfrm>
            <a:off x="5806440" y="4238897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insurance · assicurazione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3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33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334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Five ways to say o</a:t>
            </a:r>
            <a:endParaRPr lang="en-US" sz="2500" dirty="0"/>
          </a:p>
        </p:txBody>
      </p:sp>
      <p:pic>
        <p:nvPicPr>
          <p:cNvPr id="6" name="brP_33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336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word aloud. Which sound?</a:t>
            </a:r>
            <a:endParaRPr lang="en-US" sz="1250" dirty="0"/>
          </a:p>
        </p:txBody>
      </p:sp>
      <p:sp>
        <p:nvSpPr>
          <p:cNvPr id="8" name="insIT_337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Di' la parola ad alta voce. Quale suono?</a:t>
            </a:r>
            <a:endParaRPr lang="en-US" sz="950" dirty="0"/>
          </a:p>
        </p:txBody>
      </p:sp>
      <p:sp>
        <p:nvSpPr>
          <p:cNvPr id="9" name="cmd_338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🔊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PRONUNCIA</a:t>
            </a:r>
            <a:endParaRPr lang="en-US" sz="1100" dirty="0"/>
          </a:p>
        </p:txBody>
      </p:sp>
      <p:sp>
        <p:nvSpPr>
          <p:cNvPr id="10" name="meta_339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340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Pronunciation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Guided discovery</a:t>
            </a:r>
            <a:endParaRPr lang="en-US" sz="850" dirty="0"/>
          </a:p>
        </p:txBody>
      </p:sp>
      <p:pic>
        <p:nvPicPr>
          <p:cNvPr id="12" name="logo_34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34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Pronunciation · o and or   ·   📖 SB p.16 · 2a–e · audio 2.5, 2.6</a:t>
            </a:r>
            <a:endParaRPr lang="en-US" sz="800" dirty="0"/>
          </a:p>
        </p:txBody>
      </p:sp>
      <p:sp>
        <p:nvSpPr>
          <p:cNvPr id="14" name="cd_343"/>
          <p:cNvSpPr/>
          <p:nvPr/>
        </p:nvSpPr>
        <p:spPr>
          <a:xfrm>
            <a:off x="320040" y="1417320"/>
            <a:ext cx="2697480" cy="2295144"/>
          </a:xfrm>
          <a:prstGeom prst="roundRect">
            <a:avLst>
              <a:gd name="adj" fmla="val 5578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44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6" name="ih_345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colours</a:t>
            </a:r>
            <a:endParaRPr lang="en-US" sz="1300" dirty="0"/>
          </a:p>
        </p:txBody>
      </p:sp>
      <p:sp>
        <p:nvSpPr>
          <p:cNvPr id="17" name="il_346"/>
          <p:cNvSpPr/>
          <p:nvPr/>
        </p:nvSpPr>
        <p:spPr>
          <a:xfrm>
            <a:off x="886968" y="1892808"/>
            <a:ext cx="203911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18" name="lg_347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up /ʌ/</a:t>
            </a:r>
            <a:endParaRPr lang="en-US" sz="1050" dirty="0"/>
          </a:p>
        </p:txBody>
      </p:sp>
      <p:sp>
        <p:nvSpPr>
          <p:cNvPr id="19" name="lg_348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clock /ɒ/</a:t>
            </a:r>
            <a:endParaRPr lang="en-US" sz="1050" dirty="0"/>
          </a:p>
        </p:txBody>
      </p:sp>
      <p:sp>
        <p:nvSpPr>
          <p:cNvPr id="20" name="lg_349"/>
          <p:cNvSpPr/>
          <p:nvPr/>
        </p:nvSpPr>
        <p:spPr>
          <a:xfrm>
            <a:off x="457200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phone /əʊ/</a:t>
            </a:r>
            <a:endParaRPr lang="en-US" sz="1050" dirty="0"/>
          </a:p>
        </p:txBody>
      </p:sp>
      <p:sp>
        <p:nvSpPr>
          <p:cNvPr id="21" name="lg_350"/>
          <p:cNvSpPr/>
          <p:nvPr/>
        </p:nvSpPr>
        <p:spPr>
          <a:xfrm>
            <a:off x="1719072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 /ɔː/</a:t>
            </a:r>
            <a:endParaRPr lang="en-US" sz="1050" dirty="0"/>
          </a:p>
        </p:txBody>
      </p:sp>
      <p:sp>
        <p:nvSpPr>
          <p:cNvPr id="22" name="lg_351"/>
          <p:cNvSpPr/>
          <p:nvPr/>
        </p:nvSpPr>
        <p:spPr>
          <a:xfrm>
            <a:off x="457200" y="275234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DBF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work /ɜː/</a:t>
            </a:r>
            <a:endParaRPr lang="en-US" sz="1050" dirty="0"/>
          </a:p>
        </p:txBody>
      </p:sp>
      <p:sp>
        <p:nvSpPr>
          <p:cNvPr id="23" name="sq_352"/>
          <p:cNvSpPr/>
          <p:nvPr/>
        </p:nvSpPr>
        <p:spPr>
          <a:xfrm>
            <a:off x="3246120" y="141732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money</a:t>
            </a:r>
            <a:endParaRPr lang="en-US" sz="1200" dirty="0"/>
          </a:p>
        </p:txBody>
      </p:sp>
      <p:sp>
        <p:nvSpPr>
          <p:cNvPr id="24" name="R1_tag353"/>
          <p:cNvSpPr/>
          <p:nvPr/>
        </p:nvSpPr>
        <p:spPr>
          <a:xfrm>
            <a:off x="7178040" y="141732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up /ʌ/</a:t>
            </a:r>
            <a:endParaRPr lang="en-US" sz="1150" dirty="0"/>
          </a:p>
        </p:txBody>
      </p:sp>
      <p:sp>
        <p:nvSpPr>
          <p:cNvPr id="25" name="sq_354"/>
          <p:cNvSpPr/>
          <p:nvPr/>
        </p:nvSpPr>
        <p:spPr>
          <a:xfrm>
            <a:off x="3246120" y="182880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borrow</a:t>
            </a:r>
            <a:endParaRPr lang="en-US" sz="1200" dirty="0"/>
          </a:p>
        </p:txBody>
      </p:sp>
      <p:sp>
        <p:nvSpPr>
          <p:cNvPr id="26" name="R2_tag355"/>
          <p:cNvSpPr/>
          <p:nvPr/>
        </p:nvSpPr>
        <p:spPr>
          <a:xfrm>
            <a:off x="7178040" y="182880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clock /ɒ/</a:t>
            </a:r>
            <a:endParaRPr lang="en-US" sz="1150" dirty="0"/>
          </a:p>
        </p:txBody>
      </p:sp>
      <p:sp>
        <p:nvSpPr>
          <p:cNvPr id="27" name="sq_356"/>
          <p:cNvSpPr/>
          <p:nvPr/>
        </p:nvSpPr>
        <p:spPr>
          <a:xfrm>
            <a:off x="3246120" y="224028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clothes</a:t>
            </a:r>
            <a:endParaRPr lang="en-US" sz="1200" dirty="0"/>
          </a:p>
        </p:txBody>
      </p:sp>
      <p:sp>
        <p:nvSpPr>
          <p:cNvPr id="28" name="R3_tag357"/>
          <p:cNvSpPr/>
          <p:nvPr/>
        </p:nvSpPr>
        <p:spPr>
          <a:xfrm>
            <a:off x="7178040" y="224028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phone /əʊ/</a:t>
            </a:r>
            <a:endParaRPr lang="en-US" sz="1150" dirty="0"/>
          </a:p>
        </p:txBody>
      </p:sp>
      <p:sp>
        <p:nvSpPr>
          <p:cNvPr id="29" name="sq_358"/>
          <p:cNvSpPr/>
          <p:nvPr/>
        </p:nvSpPr>
        <p:spPr>
          <a:xfrm>
            <a:off x="3246120" y="265176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worry</a:t>
            </a:r>
            <a:endParaRPr lang="en-US" sz="1200" dirty="0"/>
          </a:p>
        </p:txBody>
      </p:sp>
      <p:sp>
        <p:nvSpPr>
          <p:cNvPr id="30" name="R4_tag359"/>
          <p:cNvSpPr/>
          <p:nvPr/>
        </p:nvSpPr>
        <p:spPr>
          <a:xfrm>
            <a:off x="7178040" y="265176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up /ʌ/</a:t>
            </a:r>
            <a:endParaRPr lang="en-US" sz="1150" dirty="0"/>
          </a:p>
        </p:txBody>
      </p:sp>
      <p:sp>
        <p:nvSpPr>
          <p:cNvPr id="31" name="sq_360"/>
          <p:cNvSpPr/>
          <p:nvPr/>
        </p:nvSpPr>
        <p:spPr>
          <a:xfrm>
            <a:off x="3246120" y="306324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honest</a:t>
            </a:r>
            <a:endParaRPr lang="en-US" sz="1200" dirty="0"/>
          </a:p>
        </p:txBody>
      </p:sp>
      <p:sp>
        <p:nvSpPr>
          <p:cNvPr id="32" name="R5_tag361"/>
          <p:cNvSpPr/>
          <p:nvPr/>
        </p:nvSpPr>
        <p:spPr>
          <a:xfrm>
            <a:off x="7178040" y="306324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clock /ɒ/</a:t>
            </a:r>
            <a:endParaRPr lang="en-US" sz="1150" dirty="0"/>
          </a:p>
        </p:txBody>
      </p:sp>
      <p:sp>
        <p:nvSpPr>
          <p:cNvPr id="33" name="sq_362"/>
          <p:cNvSpPr/>
          <p:nvPr/>
        </p:nvSpPr>
        <p:spPr>
          <a:xfrm>
            <a:off x="3246120" y="347472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owe</a:t>
            </a:r>
            <a:endParaRPr lang="en-US" sz="1200" dirty="0"/>
          </a:p>
        </p:txBody>
      </p:sp>
      <p:sp>
        <p:nvSpPr>
          <p:cNvPr id="34" name="R6_tag363"/>
          <p:cNvSpPr/>
          <p:nvPr/>
        </p:nvSpPr>
        <p:spPr>
          <a:xfrm>
            <a:off x="7178040" y="347472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phone /əʊ/</a:t>
            </a:r>
            <a:endParaRPr lang="en-US" sz="1150" dirty="0"/>
          </a:p>
        </p:txBody>
      </p:sp>
      <p:sp>
        <p:nvSpPr>
          <p:cNvPr id="35" name="sq_364"/>
          <p:cNvSpPr/>
          <p:nvPr/>
        </p:nvSpPr>
        <p:spPr>
          <a:xfrm>
            <a:off x="3246120" y="388620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afford</a:t>
            </a:r>
            <a:endParaRPr lang="en-US" sz="1200" dirty="0"/>
          </a:p>
        </p:txBody>
      </p:sp>
      <p:sp>
        <p:nvSpPr>
          <p:cNvPr id="36" name="R7_tag365"/>
          <p:cNvSpPr/>
          <p:nvPr/>
        </p:nvSpPr>
        <p:spPr>
          <a:xfrm>
            <a:off x="7178040" y="388620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FD9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 /ɔː/</a:t>
            </a:r>
            <a:endParaRPr lang="en-US" sz="1150" dirty="0"/>
          </a:p>
        </p:txBody>
      </p:sp>
      <p:sp>
        <p:nvSpPr>
          <p:cNvPr id="37" name="sq_366"/>
          <p:cNvSpPr/>
          <p:nvPr/>
        </p:nvSpPr>
        <p:spPr>
          <a:xfrm>
            <a:off x="3246120" y="429768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worth</a:t>
            </a:r>
            <a:endParaRPr lang="en-US" sz="1200" dirty="0"/>
          </a:p>
        </p:txBody>
      </p:sp>
      <p:sp>
        <p:nvSpPr>
          <p:cNvPr id="38" name="R8_tag367"/>
          <p:cNvSpPr/>
          <p:nvPr/>
        </p:nvSpPr>
        <p:spPr>
          <a:xfrm>
            <a:off x="7178040" y="429768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CDBF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work /ɜː/</a:t>
            </a:r>
            <a:endParaRPr lang="en-US" sz="1150" dirty="0"/>
          </a:p>
        </p:txBody>
      </p:sp>
      <p:sp>
        <p:nvSpPr>
          <p:cNvPr id="39" name="pf_368"/>
          <p:cNvSpPr/>
          <p:nvPr/>
        </p:nvSpPr>
        <p:spPr>
          <a:xfrm rot="-120000">
            <a:off x="411480" y="3703320"/>
            <a:ext cx="2514600" cy="1051560"/>
          </a:xfrm>
          <a:prstGeom prst="roundRect">
            <a:avLst>
              <a:gd name="adj" fmla="val 147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40" name="ph_369" descr="/home/claude/lls-course/v2/cache/2a1_coins_jpg_583x23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3749040"/>
            <a:ext cx="2423160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7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37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372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write</a:t>
            </a:r>
            <a:endParaRPr lang="en-US" sz="2500" dirty="0"/>
          </a:p>
        </p:txBody>
      </p:sp>
      <p:pic>
        <p:nvPicPr>
          <p:cNvPr id="6" name="brP_37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374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Listen. Write the missing words.</a:t>
            </a:r>
            <a:endParaRPr lang="en-US" sz="1250" dirty="0"/>
          </a:p>
        </p:txBody>
      </p:sp>
      <p:sp>
        <p:nvSpPr>
          <p:cNvPr id="8" name="insIT_375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Ascolta. Scrivi le parole mancanti.</a:t>
            </a:r>
            <a:endParaRPr lang="en-US" sz="950" dirty="0"/>
          </a:p>
        </p:txBody>
      </p:sp>
      <p:sp>
        <p:nvSpPr>
          <p:cNvPr id="9" name="cmd_376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377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✍️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SCRIVI</a:t>
            </a:r>
            <a:endParaRPr lang="en-US" sz="1100" dirty="0"/>
          </a:p>
        </p:txBody>
      </p:sp>
      <p:sp>
        <p:nvSpPr>
          <p:cNvPr id="11" name="meta_378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👤 alone</a:t>
            </a:r>
            <a:endParaRPr lang="en-US" sz="950" dirty="0"/>
          </a:p>
        </p:txBody>
      </p:sp>
      <p:sp>
        <p:nvSpPr>
          <p:cNvPr id="12" name="tag_379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Pronunciation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Listening for detail</a:t>
            </a:r>
            <a:endParaRPr lang="en-US" sz="850" dirty="0"/>
          </a:p>
        </p:txBody>
      </p:sp>
      <p:pic>
        <p:nvPicPr>
          <p:cNvPr id="13" name="logo_38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38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Pronunciation · dictation   ·   📖 SB p.16 · 2f · audio 2.7</a:t>
            </a:r>
            <a:endParaRPr lang="en-US" sz="800" dirty="0"/>
          </a:p>
        </p:txBody>
      </p:sp>
      <p:sp>
        <p:nvSpPr>
          <p:cNvPr id="15" name="ap_382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2.7  ·  pause after each sentence</a:t>
            </a:r>
            <a:endParaRPr lang="en-US" sz="1100" dirty="0"/>
          </a:p>
        </p:txBody>
      </p:sp>
      <p:sp>
        <p:nvSpPr>
          <p:cNvPr id="16" name="ah_383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19" name="pf_384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385" descr="/home/claude/lls-course/v2/cache/2a1_mortgage_jpg_627x40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21" name="cd_386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ii_387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3" name="ih_388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first, then listen!</a:t>
            </a:r>
            <a:endParaRPr lang="en-US" sz="1200" dirty="0"/>
          </a:p>
        </p:txBody>
      </p:sp>
      <p:sp>
        <p:nvSpPr>
          <p:cNvPr id="24" name="il_389"/>
          <p:cNvSpPr/>
          <p:nvPr/>
        </p:nvSpPr>
        <p:spPr>
          <a:xfrm>
            <a:off x="886968" y="449884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25" name="gq_390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Let's go ___ for ___.</a:t>
            </a:r>
            <a:endParaRPr lang="en-US" sz="1200" dirty="0"/>
          </a:p>
        </p:txBody>
      </p:sp>
      <p:sp>
        <p:nvSpPr>
          <p:cNvPr id="26" name="R1_chip391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shopping · clothes</a:t>
            </a:r>
            <a:endParaRPr lang="en-US" sz="1200" dirty="0"/>
          </a:p>
        </p:txBody>
      </p:sp>
      <p:sp>
        <p:nvSpPr>
          <p:cNvPr id="27" name="gq_392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Can I ___ some ___?</a:t>
            </a:r>
            <a:endParaRPr lang="en-US" sz="1200" dirty="0"/>
          </a:p>
        </p:txBody>
      </p:sp>
      <p:sp>
        <p:nvSpPr>
          <p:cNvPr id="28" name="R2_chip393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borrow · money</a:t>
            </a:r>
            <a:endParaRPr lang="en-US" sz="1200" dirty="0"/>
          </a:p>
        </p:txBody>
      </p:sp>
      <p:sp>
        <p:nvSpPr>
          <p:cNvPr id="29" name="gq_394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He ___ a million ___.</a:t>
            </a:r>
            <a:endParaRPr lang="en-US" sz="1200" dirty="0"/>
          </a:p>
        </p:txBody>
      </p:sp>
      <p:sp>
        <p:nvSpPr>
          <p:cNvPr id="30" name="R3_chip395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won · dollars</a:t>
            </a:r>
            <a:endParaRPr lang="en-US" sz="1200" dirty="0"/>
          </a:p>
        </p:txBody>
      </p:sp>
      <p:sp>
        <p:nvSpPr>
          <p:cNvPr id="31" name="gq_396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 I've ___ ___ wrong.</a:t>
            </a:r>
            <a:endParaRPr lang="en-US" sz="1200" dirty="0"/>
          </a:p>
        </p:txBody>
      </p:sp>
      <p:sp>
        <p:nvSpPr>
          <p:cNvPr id="32" name="R4_chip397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done · nothing</a:t>
            </a:r>
            <a:endParaRPr lang="en-US" sz="1200" dirty="0"/>
          </a:p>
        </p:txBody>
      </p:sp>
      <p:sp>
        <p:nvSpPr>
          <p:cNvPr id="33" name="gq_398"/>
          <p:cNvSpPr/>
          <p:nvPr/>
        </p:nvSpPr>
        <p:spPr>
          <a:xfrm>
            <a:off x="3383280" y="3502152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 They can't ___ to pay the ___.</a:t>
            </a:r>
            <a:endParaRPr lang="en-US" sz="1200" dirty="0"/>
          </a:p>
        </p:txBody>
      </p:sp>
      <p:sp>
        <p:nvSpPr>
          <p:cNvPr id="34" name="R5_chip399"/>
          <p:cNvSpPr/>
          <p:nvPr/>
        </p:nvSpPr>
        <p:spPr>
          <a:xfrm>
            <a:off x="6812280" y="3502152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afford · mortgage</a:t>
            </a:r>
            <a:endParaRPr lang="en-US" sz="1200" dirty="0"/>
          </a:p>
        </p:txBody>
      </p:sp>
      <p:sp>
        <p:nvSpPr>
          <p:cNvPr id="35" name="gq_400"/>
          <p:cNvSpPr/>
          <p:nvPr/>
        </p:nvSpPr>
        <p:spPr>
          <a:xfrm>
            <a:off x="3383280" y="402336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 I ___ in a ___.</a:t>
            </a:r>
            <a:endParaRPr lang="en-US" sz="1200" dirty="0"/>
          </a:p>
        </p:txBody>
      </p:sp>
      <p:sp>
        <p:nvSpPr>
          <p:cNvPr id="36" name="R6_chip401"/>
          <p:cNvSpPr/>
          <p:nvPr/>
        </p:nvSpPr>
        <p:spPr>
          <a:xfrm>
            <a:off x="6812280" y="402336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 · store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0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40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404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Salvo's scooter money</a:t>
            </a:r>
            <a:endParaRPr lang="en-US" sz="2500" dirty="0"/>
          </a:p>
        </p:txBody>
      </p:sp>
      <p:pic>
        <p:nvPicPr>
          <p:cNvPr id="6" name="brP_40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406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story. Answer the questions!</a:t>
            </a:r>
            <a:endParaRPr lang="en-US" sz="1250" dirty="0"/>
          </a:p>
        </p:txBody>
      </p:sp>
      <p:sp>
        <p:nvSpPr>
          <p:cNvPr id="8" name="insIT_407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Ascolta la storia. Rispondi alle domande!</a:t>
            </a:r>
            <a:endParaRPr lang="en-US" sz="950" dirty="0"/>
          </a:p>
        </p:txBody>
      </p:sp>
      <p:sp>
        <p:nvSpPr>
          <p:cNvPr id="9" name="cmd_408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409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1" name="meta_410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950" dirty="0"/>
          </a:p>
        </p:txBody>
      </p:sp>
      <p:sp>
        <p:nvSpPr>
          <p:cNvPr id="12" name="tag_411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TPRS · story</a:t>
            </a:r>
            <a:endParaRPr lang="en-US" sz="850" dirty="0"/>
          </a:p>
        </p:txBody>
      </p:sp>
      <p:pic>
        <p:nvPicPr>
          <p:cNvPr id="13" name="logo_41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41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Speaking · class story (TPRS)</a:t>
            </a:r>
            <a:endParaRPr lang="en-US" sz="800" dirty="0"/>
          </a:p>
        </p:txBody>
      </p:sp>
      <p:sp>
        <p:nvSpPr>
          <p:cNvPr id="15" name="cd_414"/>
          <p:cNvSpPr/>
          <p:nvPr/>
        </p:nvSpPr>
        <p:spPr>
          <a:xfrm>
            <a:off x="320040" y="1417320"/>
            <a:ext cx="2697480" cy="2852928"/>
          </a:xfrm>
          <a:prstGeom prst="roundRect">
            <a:avLst>
              <a:gd name="adj" fmla="val 4746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41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7" name="ih_41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Story phrases</a:t>
            </a:r>
            <a:endParaRPr lang="en-US" sz="1300" dirty="0"/>
          </a:p>
        </p:txBody>
      </p:sp>
      <p:sp>
        <p:nvSpPr>
          <p:cNvPr id="18" name="il_417"/>
          <p:cNvSpPr/>
          <p:nvPr/>
        </p:nvSpPr>
        <p:spPr>
          <a:xfrm>
            <a:off x="886968" y="1892808"/>
            <a:ext cx="203911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guadagnare (lavorando)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for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risparmiare per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afford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potersi permettere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borrow / lend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farsi prestare / prestare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owe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dovere (soldi)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waste money on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sprecare soldi in</a:t>
            </a:r>
            <a:endParaRPr lang="en-US" sz="1000" dirty="0"/>
          </a:p>
        </p:txBody>
      </p:sp>
      <p:sp>
        <p:nvSpPr>
          <p:cNvPr id="19" name="R1_sb418"/>
          <p:cNvSpPr/>
          <p:nvPr/>
        </p:nvSpPr>
        <p:spPr>
          <a:xfrm>
            <a:off x="3200400" y="1453896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R1_sl419"/>
          <p:cNvSpPr/>
          <p:nvPr/>
        </p:nvSpPr>
        <p:spPr>
          <a:xfrm>
            <a:off x="3584448" y="14173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Salvo </a:t>
            </a:r>
            <a:pPr indent="0" marL="0"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earns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€20 a week. He helps in his uncle's bar in Bagheria.</a:t>
            </a: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Does Salvo earn €20 or €200? · Where does he work?</a:t>
            </a:r>
            <a:endParaRPr lang="en-US" sz="1100" dirty="0"/>
          </a:p>
        </p:txBody>
      </p:sp>
      <p:sp>
        <p:nvSpPr>
          <p:cNvPr id="21" name="R2_sb420"/>
          <p:cNvSpPr/>
          <p:nvPr/>
        </p:nvSpPr>
        <p:spPr>
          <a:xfrm>
            <a:off x="3200400" y="201777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R2_sl421"/>
          <p:cNvSpPr/>
          <p:nvPr/>
        </p:nvSpPr>
        <p:spPr>
          <a:xfrm>
            <a:off x="3584448" y="198120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saving for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scooter, but he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can't afford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it yet.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Is he saving for a scooter or a phone? · Can he afford it?</a:t>
            </a:r>
            <a:endParaRPr lang="en-US" sz="1250" dirty="0"/>
          </a:p>
        </p:txBody>
      </p:sp>
      <p:sp>
        <p:nvSpPr>
          <p:cNvPr id="23" name="R3_sb422"/>
          <p:cNvSpPr/>
          <p:nvPr/>
        </p:nvSpPr>
        <p:spPr>
          <a:xfrm>
            <a:off x="3200400" y="2581656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R3_sl423"/>
          <p:cNvSpPr/>
          <p:nvPr/>
        </p:nvSpPr>
        <p:spPr>
          <a:xfrm>
            <a:off x="3584448" y="254508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His sister wants to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borrow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€50. 'Please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lend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me the money!'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Does she want to borrow or lend? · How much?</a:t>
            </a:r>
            <a:endParaRPr lang="en-US" sz="1250" dirty="0"/>
          </a:p>
        </p:txBody>
      </p:sp>
      <p:sp>
        <p:nvSpPr>
          <p:cNvPr id="25" name="R4_sb424"/>
          <p:cNvSpPr/>
          <p:nvPr/>
        </p:nvSpPr>
        <p:spPr>
          <a:xfrm>
            <a:off x="3200400" y="3145536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R4_sl425"/>
          <p:cNvSpPr/>
          <p:nvPr/>
        </p:nvSpPr>
        <p:spPr>
          <a:xfrm>
            <a:off x="3584448" y="310896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Salvo says yes. Now his sister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owes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him €50.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Who owes the money? · How much does she owe?</a:t>
            </a:r>
            <a:endParaRPr lang="en-US" sz="1250" dirty="0"/>
          </a:p>
        </p:txBody>
      </p:sp>
      <p:sp>
        <p:nvSpPr>
          <p:cNvPr id="27" name="R5_sb426"/>
          <p:cNvSpPr/>
          <p:nvPr/>
        </p:nvSpPr>
        <p:spPr>
          <a:xfrm>
            <a:off x="3200400" y="3709416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R5_sl427"/>
          <p:cNvSpPr/>
          <p:nvPr/>
        </p:nvSpPr>
        <p:spPr>
          <a:xfrm>
            <a:off x="3584448" y="367284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But she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wastes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it all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sweets and a pink hat!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Does she save it or waste it? · What does she spend it on?</a:t>
            </a:r>
            <a:endParaRPr lang="en-US" sz="1250" dirty="0"/>
          </a:p>
        </p:txBody>
      </p:sp>
      <p:sp>
        <p:nvSpPr>
          <p:cNvPr id="29" name="R6_sb428"/>
          <p:cNvSpPr/>
          <p:nvPr/>
        </p:nvSpPr>
        <p:spPr>
          <a:xfrm>
            <a:off x="3200400" y="427329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R6_sl429"/>
          <p:cNvSpPr/>
          <p:nvPr/>
        </p:nvSpPr>
        <p:spPr>
          <a:xfrm>
            <a:off x="3584448" y="42367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 she </a:t>
            </a:r>
            <a:pPr indent="0" marL="0"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wins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€500 in a competition and </a:t>
            </a:r>
            <a:pPr indent="0" marL="0"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pays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him </a:t>
            </a:r>
            <a:pPr indent="0" marL="0"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… double!</a:t>
            </a: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Does she earn or win it? · And you – what are you saving for?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3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43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432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Money Q&amp;A</a:t>
            </a:r>
            <a:endParaRPr lang="en-US" sz="2400" dirty="0"/>
          </a:p>
        </p:txBody>
      </p:sp>
      <p:pic>
        <p:nvPicPr>
          <p:cNvPr id="6" name="brP_43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250692" cy="402336"/>
          </a:xfrm>
          <a:prstGeom prst="rect">
            <a:avLst/>
          </a:prstGeom>
        </p:spPr>
      </p:pic>
      <p:sp>
        <p:nvSpPr>
          <p:cNvPr id="7" name="ins_434"/>
          <p:cNvSpPr/>
          <p:nvPr/>
        </p:nvSpPr>
        <p:spPr>
          <a:xfrm>
            <a:off x="1353312" y="731520"/>
            <a:ext cx="29946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and answer. Give details!</a:t>
            </a:r>
            <a:endParaRPr lang="en-US" sz="1250" dirty="0"/>
          </a:p>
        </p:txBody>
      </p:sp>
      <p:sp>
        <p:nvSpPr>
          <p:cNvPr id="8" name="insIT_435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Chiedi e rispondi. Dai dettagli!</a:t>
            </a:r>
            <a:endParaRPr lang="en-US" sz="950" dirty="0"/>
          </a:p>
        </p:txBody>
      </p:sp>
      <p:sp>
        <p:nvSpPr>
          <p:cNvPr id="9" name="cmd_436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437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1" name="tag_438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</a:t>
            </a:r>
            <a:endParaRPr lang="en-US" sz="850" dirty="0"/>
          </a:p>
        </p:txBody>
      </p:sp>
      <p:pic>
        <p:nvPicPr>
          <p:cNvPr id="12" name="logo_43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4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Speaking · money and you   ·   📖 SB p.16 · 2g (in the book: Communication Money Q&amp;A pp.106 / 111)</a:t>
            </a:r>
            <a:endParaRPr lang="en-US" sz="800" dirty="0"/>
          </a:p>
        </p:txBody>
      </p:sp>
      <p:sp>
        <p:nvSpPr>
          <p:cNvPr id="14" name="pf_441"/>
          <p:cNvSpPr/>
          <p:nvPr/>
        </p:nvSpPr>
        <p:spPr>
          <a:xfrm rot="-120000">
            <a:off x="320040" y="1371600"/>
            <a:ext cx="2788920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442" descr="/home/claude/lls-course/v2/cache/2a1_cash_card_jpg_649x42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783080"/>
          </a:xfrm>
          <a:prstGeom prst="rect">
            <a:avLst/>
          </a:prstGeom>
        </p:spPr>
      </p:pic>
      <p:sp>
        <p:nvSpPr>
          <p:cNvPr id="16" name="cd_443"/>
          <p:cNvSpPr/>
          <p:nvPr/>
        </p:nvSpPr>
        <p:spPr>
          <a:xfrm>
            <a:off x="320040" y="3429000"/>
            <a:ext cx="2788920" cy="1325880"/>
          </a:xfrm>
          <a:prstGeom prst="roundRect">
            <a:avLst>
              <a:gd name="adj" fmla="val 9655"/>
            </a:avLst>
          </a:prstGeom>
          <a:solidFill>
            <a:srgbClr val="EEE8FB"/>
          </a:solidFill>
          <a:ln w="19050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444"/>
          <p:cNvSpPr/>
          <p:nvPr/>
        </p:nvSpPr>
        <p:spPr>
          <a:xfrm>
            <a:off x="411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ih_445"/>
          <p:cNvSpPr/>
          <p:nvPr/>
        </p:nvSpPr>
        <p:spPr>
          <a:xfrm>
            <a:off x="88696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9" name="il_446"/>
          <p:cNvSpPr/>
          <p:nvPr/>
        </p:nvSpPr>
        <p:spPr>
          <a:xfrm>
            <a:off x="886968" y="3904488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depends…</a:t>
            </a:r>
            <a:endParaRPr lang="en-US" sz="10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really, because…</a:t>
            </a:r>
            <a:endParaRPr lang="en-US" sz="10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I'd rather not say.</a:t>
            </a:r>
            <a:endParaRPr lang="en-US" sz="1050" dirty="0"/>
          </a:p>
        </p:txBody>
      </p:sp>
      <p:sp>
        <p:nvSpPr>
          <p:cNvPr id="20" name="R1_qb447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R1_sq448"/>
          <p:cNvSpPr/>
          <p:nvPr/>
        </p:nvSpPr>
        <p:spPr>
          <a:xfrm>
            <a:off x="3675888" y="14173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usually spend your money on?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Clothes, and pizza with my friends at the weekend.</a:t>
            </a:r>
            <a:endParaRPr lang="en-US" sz="1250" dirty="0"/>
          </a:p>
        </p:txBody>
      </p:sp>
      <p:sp>
        <p:nvSpPr>
          <p:cNvPr id="22" name="R2_qb449"/>
          <p:cNvSpPr/>
          <p:nvPr/>
        </p:nvSpPr>
        <p:spPr>
          <a:xfrm>
            <a:off x="3273552" y="201015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R2_sq450"/>
          <p:cNvSpPr/>
          <p:nvPr/>
        </p:nvSpPr>
        <p:spPr>
          <a:xfrm>
            <a:off x="3675888" y="197358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prefer to pay cash or by card?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By card – contactless is so easy!</a:t>
            </a:r>
            <a:endParaRPr lang="en-US" sz="1250" dirty="0"/>
          </a:p>
        </p:txBody>
      </p:sp>
      <p:sp>
        <p:nvSpPr>
          <p:cNvPr id="24" name="R3_qb451"/>
          <p:cNvSpPr/>
          <p:nvPr/>
        </p:nvSpPr>
        <p:spPr>
          <a:xfrm>
            <a:off x="3273552" y="2566416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R3_sq452"/>
          <p:cNvSpPr/>
          <p:nvPr/>
        </p:nvSpPr>
        <p:spPr>
          <a:xfrm>
            <a:off x="3675888" y="252984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ever lend money to friends? Do they pay you back?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Sometimes. My best friend always pays me back.</a:t>
            </a:r>
            <a:endParaRPr lang="en-US" sz="1200" dirty="0"/>
          </a:p>
        </p:txBody>
      </p:sp>
      <p:sp>
        <p:nvSpPr>
          <p:cNvPr id="26" name="R4_qb453"/>
          <p:cNvSpPr/>
          <p:nvPr/>
        </p:nvSpPr>
        <p:spPr>
          <a:xfrm>
            <a:off x="3273552" y="3122676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R4_sq454"/>
          <p:cNvSpPr/>
          <p:nvPr/>
        </p:nvSpPr>
        <p:spPr>
          <a:xfrm>
            <a:off x="3675888" y="3086100"/>
            <a:ext cx="45079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saving for something at the moment?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Yes, I'm saving for a new phone.</a:t>
            </a:r>
            <a:endParaRPr lang="en-US" sz="1250" dirty="0"/>
          </a:p>
        </p:txBody>
      </p:sp>
      <p:pic>
        <p:nvPicPr>
          <p:cNvPr id="28" name="R4_th455" descr="/home/claude/lls-course/v2/cache/spare_future_money_jpg_154x107_1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3104388"/>
            <a:ext cx="640080" cy="446532"/>
          </a:xfrm>
          <a:prstGeom prst="rect">
            <a:avLst/>
          </a:prstGeom>
        </p:spPr>
      </p:pic>
      <p:sp>
        <p:nvSpPr>
          <p:cNvPr id="29" name="R5_qb456"/>
          <p:cNvSpPr/>
          <p:nvPr/>
        </p:nvSpPr>
        <p:spPr>
          <a:xfrm>
            <a:off x="3273552" y="367893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R5_sq457"/>
          <p:cNvSpPr/>
          <p:nvPr/>
        </p:nvSpPr>
        <p:spPr>
          <a:xfrm>
            <a:off x="3675888" y="364236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the last thing you wasted money on?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A T-shirt – I never wear it!</a:t>
            </a:r>
            <a:endParaRPr lang="en-US" sz="1250" dirty="0"/>
          </a:p>
        </p:txBody>
      </p:sp>
      <p:sp>
        <p:nvSpPr>
          <p:cNvPr id="31" name="R6_qb458"/>
          <p:cNvSpPr/>
          <p:nvPr/>
        </p:nvSpPr>
        <p:spPr>
          <a:xfrm>
            <a:off x="3273552" y="423519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R6_sq459"/>
          <p:cNvSpPr/>
          <p:nvPr/>
        </p:nvSpPr>
        <p:spPr>
          <a:xfrm>
            <a:off x="3675888" y="41986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something you really want but can't afford?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A scooter! They're so expensive.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6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46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462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the numbers</a:t>
            </a:r>
            <a:endParaRPr lang="en-US" sz="2400" dirty="0"/>
          </a:p>
        </p:txBody>
      </p:sp>
      <p:pic>
        <p:nvPicPr>
          <p:cNvPr id="6" name="brP_46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98164" cy="402336"/>
          </a:xfrm>
          <a:prstGeom prst="rect">
            <a:avLst/>
          </a:prstGeom>
        </p:spPr>
      </p:pic>
      <p:sp>
        <p:nvSpPr>
          <p:cNvPr id="7" name="ins_464"/>
          <p:cNvSpPr/>
          <p:nvPr/>
        </p:nvSpPr>
        <p:spPr>
          <a:xfrm>
            <a:off x="1353312" y="731520"/>
            <a:ext cx="3342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Read. What are the numbers about?</a:t>
            </a:r>
            <a:endParaRPr lang="en-US" sz="1250" dirty="0"/>
          </a:p>
        </p:txBody>
      </p:sp>
      <p:sp>
        <p:nvSpPr>
          <p:cNvPr id="8" name="insIT_465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Leggi. Di cosa parlano i numeri?</a:t>
            </a:r>
            <a:endParaRPr lang="en-US" sz="950" dirty="0"/>
          </a:p>
        </p:txBody>
      </p:sp>
      <p:sp>
        <p:nvSpPr>
          <p:cNvPr id="9" name="cmd_466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1100" dirty="0"/>
          </a:p>
        </p:txBody>
      </p:sp>
      <p:sp>
        <p:nvSpPr>
          <p:cNvPr id="10" name="cmd_467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🤔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INDOVINA</a:t>
            </a:r>
            <a:endParaRPr lang="en-US" sz="1100" dirty="0"/>
          </a:p>
        </p:txBody>
      </p:sp>
      <p:sp>
        <p:nvSpPr>
          <p:cNvPr id="11" name="meta_468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2" name="tag_469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Prediction</a:t>
            </a:r>
            <a:endParaRPr lang="en-US" sz="850" dirty="0"/>
          </a:p>
        </p:txBody>
      </p:sp>
      <p:pic>
        <p:nvPicPr>
          <p:cNvPr id="13" name="logo_47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47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Reading · prediction   ·   📖 SB p.17 · 3a</a:t>
            </a:r>
            <a:endParaRPr lang="en-US" sz="800" dirty="0"/>
          </a:p>
        </p:txBody>
      </p:sp>
      <p:sp>
        <p:nvSpPr>
          <p:cNvPr id="15" name="cd_472"/>
          <p:cNvSpPr/>
          <p:nvPr/>
        </p:nvSpPr>
        <p:spPr>
          <a:xfrm>
            <a:off x="320040" y="1417320"/>
            <a:ext cx="50292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hl_473"/>
          <p:cNvSpPr/>
          <p:nvPr/>
        </p:nvSpPr>
        <p:spPr>
          <a:xfrm>
            <a:off x="502920" y="1508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no-spend year</a:t>
            </a:r>
            <a:endParaRPr lang="en-US" sz="2800" dirty="0"/>
          </a:p>
        </p:txBody>
      </p:sp>
      <p:sp>
        <p:nvSpPr>
          <p:cNvPr id="17" name="sf_474"/>
          <p:cNvSpPr/>
          <p:nvPr/>
        </p:nvSpPr>
        <p:spPr>
          <a:xfrm>
            <a:off x="521208" y="203911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woman's 'no-spend year', and how she survived. She cycled 120 miles to a wedding, and her lunch budget was just 51p a day.</a:t>
            </a:r>
            <a:endParaRPr lang="en-US" sz="1300" dirty="0"/>
          </a:p>
        </p:txBody>
      </p:sp>
      <p:sp>
        <p:nvSpPr>
          <p:cNvPr id="18" name="nbl_475"/>
          <p:cNvSpPr/>
          <p:nvPr/>
        </p:nvSpPr>
        <p:spPr>
          <a:xfrm>
            <a:off x="3657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🔢 NUMBER BANK · guess where they go!</a:t>
            </a:r>
            <a:endParaRPr lang="en-US" sz="1100" dirty="0"/>
          </a:p>
        </p:txBody>
      </p:sp>
      <p:sp>
        <p:nvSpPr>
          <p:cNvPr id="19" name="bd_476"/>
          <p:cNvSpPr/>
          <p:nvPr/>
        </p:nvSpPr>
        <p:spPr>
          <a:xfrm>
            <a:off x="365760" y="3931920"/>
            <a:ext cx="548640" cy="54864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£230k</a:t>
            </a:r>
            <a:endParaRPr lang="en-US" sz="800" dirty="0"/>
          </a:p>
        </p:txBody>
      </p:sp>
      <p:sp>
        <p:nvSpPr>
          <p:cNvPr id="20" name="bd_477"/>
          <p:cNvSpPr/>
          <p:nvPr/>
        </p:nvSpPr>
        <p:spPr>
          <a:xfrm>
            <a:off x="987552" y="3931920"/>
            <a:ext cx="548640" cy="548640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£1,570</a:t>
            </a:r>
            <a:endParaRPr lang="en-US" sz="800" dirty="0"/>
          </a:p>
        </p:txBody>
      </p:sp>
      <p:sp>
        <p:nvSpPr>
          <p:cNvPr id="21" name="bd_478"/>
          <p:cNvSpPr/>
          <p:nvPr/>
        </p:nvSpPr>
        <p:spPr>
          <a:xfrm>
            <a:off x="1609344" y="3931920"/>
            <a:ext cx="548640" cy="548640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£30</a:t>
            </a:r>
            <a:endParaRPr lang="en-US" sz="1000" dirty="0"/>
          </a:p>
        </p:txBody>
      </p:sp>
      <p:sp>
        <p:nvSpPr>
          <p:cNvPr id="22" name="bd_479"/>
          <p:cNvSpPr/>
          <p:nvPr/>
        </p:nvSpPr>
        <p:spPr>
          <a:xfrm>
            <a:off x="2231136" y="3931920"/>
            <a:ext cx="548640" cy="548640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60</a:t>
            </a:r>
            <a:endParaRPr lang="en-US" sz="1400" dirty="0"/>
          </a:p>
        </p:txBody>
      </p:sp>
      <p:sp>
        <p:nvSpPr>
          <p:cNvPr id="23" name="bd_480"/>
          <p:cNvSpPr/>
          <p:nvPr/>
        </p:nvSpPr>
        <p:spPr>
          <a:xfrm>
            <a:off x="2852928" y="3931920"/>
            <a:ext cx="548640" cy="54864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£1.95</a:t>
            </a:r>
            <a:endParaRPr lang="en-US" sz="800" dirty="0"/>
          </a:p>
        </p:txBody>
      </p:sp>
      <p:sp>
        <p:nvSpPr>
          <p:cNvPr id="24" name="bd_481"/>
          <p:cNvSpPr/>
          <p:nvPr/>
        </p:nvSpPr>
        <p:spPr>
          <a:xfrm>
            <a:off x="3474720" y="3931920"/>
            <a:ext cx="548640" cy="548640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6,500</a:t>
            </a:r>
            <a:endParaRPr lang="en-US" sz="800" dirty="0"/>
          </a:p>
        </p:txBody>
      </p:sp>
      <p:sp>
        <p:nvSpPr>
          <p:cNvPr id="25" name="bd_482"/>
          <p:cNvSpPr/>
          <p:nvPr/>
        </p:nvSpPr>
        <p:spPr>
          <a:xfrm>
            <a:off x="4096512" y="3931920"/>
            <a:ext cx="548640" cy="548640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£23k</a:t>
            </a:r>
            <a:endParaRPr lang="en-US" sz="800" dirty="0"/>
          </a:p>
        </p:txBody>
      </p:sp>
      <p:sp>
        <p:nvSpPr>
          <p:cNvPr id="26" name="pf_483"/>
          <p:cNvSpPr/>
          <p:nvPr/>
        </p:nvSpPr>
        <p:spPr>
          <a:xfrm rot="90000">
            <a:off x="5577840" y="1234440"/>
            <a:ext cx="3246120" cy="3383280"/>
          </a:xfrm>
          <a:prstGeom prst="roundRect">
            <a:avLst>
              <a:gd name="adj" fmla="val 4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7" name="ph_484" descr="/home/claude/lls-course/v2/cache/2a1_cycle_holiday_jpg_759x792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90000">
            <a:off x="5623560" y="1280160"/>
            <a:ext cx="3154680" cy="329184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8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48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487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 and check</a:t>
            </a:r>
            <a:endParaRPr lang="en-US" sz="2500" dirty="0"/>
          </a:p>
        </p:txBody>
      </p:sp>
      <p:pic>
        <p:nvPicPr>
          <p:cNvPr id="6" name="brP_48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489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Read. Which number goes in each gap?</a:t>
            </a:r>
            <a:endParaRPr lang="en-US" sz="1250" dirty="0"/>
          </a:p>
        </p:txBody>
      </p:sp>
      <p:sp>
        <p:nvSpPr>
          <p:cNvPr id="8" name="insIT_490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Leggi. Quale numero va in ogni spazio?</a:t>
            </a:r>
            <a:endParaRPr lang="en-US" sz="950" dirty="0"/>
          </a:p>
        </p:txBody>
      </p:sp>
      <p:sp>
        <p:nvSpPr>
          <p:cNvPr id="9" name="cmd_491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1100" dirty="0"/>
          </a:p>
        </p:txBody>
      </p:sp>
      <p:sp>
        <p:nvSpPr>
          <p:cNvPr id="10" name="meta_492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1" name="tag_493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TPRS · reading</a:t>
            </a:r>
            <a:endParaRPr lang="en-US" sz="850" dirty="0"/>
          </a:p>
        </p:txBody>
      </p:sp>
      <p:pic>
        <p:nvPicPr>
          <p:cNvPr id="12" name="logo_49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9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Reading · paragraph A   ·   📖 SB p.17 · article paragraph A</a:t>
            </a:r>
            <a:endParaRPr lang="en-US" sz="800" dirty="0"/>
          </a:p>
        </p:txBody>
      </p:sp>
      <p:sp>
        <p:nvSpPr>
          <p:cNvPr id="14" name="cd_496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sh_497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· The plan</a:t>
            </a:r>
            <a:endParaRPr lang="en-US" sz="1700" dirty="0"/>
          </a:p>
        </p:txBody>
      </p:sp>
      <p:sp>
        <p:nvSpPr>
          <p:cNvPr id="16" name="ln_498"/>
          <p:cNvSpPr/>
          <p:nvPr/>
        </p:nvSpPr>
        <p:spPr>
          <a:xfrm>
            <a:off x="548640" y="19202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Michelle McGagh, a 34-year-old journalist, had a mortgage of </a:t>
            </a:r>
            <a:pPr indent="0" marL="0"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which she wanted to reduce.</a:t>
            </a:r>
            <a:endParaRPr lang="en-US" sz="1200" dirty="0"/>
          </a:p>
        </p:txBody>
      </p:sp>
      <p:sp>
        <p:nvSpPr>
          <p:cNvPr id="17" name="R1_lnA499"/>
          <p:cNvSpPr/>
          <p:nvPr/>
        </p:nvSpPr>
        <p:spPr>
          <a:xfrm>
            <a:off x="548640" y="1920240"/>
            <a:ext cx="5349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Michelle McGagh, a 34-year-old journalist, had a mortgage of </a:t>
            </a:r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£230,000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which she wanted to reduce.</a:t>
            </a:r>
            <a:endParaRPr lang="en-US" sz="1200" dirty="0"/>
          </a:p>
        </p:txBody>
      </p:sp>
      <p:sp>
        <p:nvSpPr>
          <p:cNvPr id="18" name="ln_500"/>
          <p:cNvSpPr/>
          <p:nvPr/>
        </p:nvSpPr>
        <p:spPr>
          <a:xfrm>
            <a:off x="548640" y="24688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November, she looked at her finances and she discovered that every year she spent a lot of money unnecessarily –</a:t>
            </a:r>
            <a:endParaRPr lang="en-US" sz="1200" dirty="0"/>
          </a:p>
        </p:txBody>
      </p:sp>
      <p:sp>
        <p:nvSpPr>
          <p:cNvPr id="19" name="ln_501"/>
          <p:cNvSpPr/>
          <p:nvPr/>
        </p:nvSpPr>
        <p:spPr>
          <a:xfrm>
            <a:off x="548640" y="30175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example, </a:t>
            </a:r>
            <a:pPr indent="0" marL="0"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pub, £1,110 in restaurants, and £400 on coffees. So she made a radical plan – to stop spending money for a year.</a:t>
            </a:r>
            <a:endParaRPr lang="en-US" sz="1200" dirty="0"/>
          </a:p>
        </p:txBody>
      </p:sp>
      <p:sp>
        <p:nvSpPr>
          <p:cNvPr id="20" name="R2_lnA502"/>
          <p:cNvSpPr/>
          <p:nvPr/>
        </p:nvSpPr>
        <p:spPr>
          <a:xfrm>
            <a:off x="548640" y="3017520"/>
            <a:ext cx="5349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example, </a:t>
            </a:r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£1,570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pub, £1,110 in restaurants, and £400 on coffees. So she made a radical plan – to stop spending money for a year.</a:t>
            </a:r>
            <a:endParaRPr lang="en-US" sz="1200" dirty="0"/>
          </a:p>
        </p:txBody>
      </p:sp>
      <p:sp>
        <p:nvSpPr>
          <p:cNvPr id="21" name="ln_503"/>
          <p:cNvSpPr/>
          <p:nvPr/>
        </p:nvSpPr>
        <p:spPr>
          <a:xfrm>
            <a:off x="548640" y="356616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continued to pay her broadband, gas, and electricity bills, and allowed herself </a:t>
            </a:r>
            <a:pPr indent="0" marL="0"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week to buy food and household essentials.</a:t>
            </a:r>
            <a:endParaRPr lang="en-US" sz="1200" dirty="0"/>
          </a:p>
        </p:txBody>
      </p:sp>
      <p:sp>
        <p:nvSpPr>
          <p:cNvPr id="22" name="R3_lnA504"/>
          <p:cNvSpPr/>
          <p:nvPr/>
        </p:nvSpPr>
        <p:spPr>
          <a:xfrm>
            <a:off x="548640" y="3566160"/>
            <a:ext cx="5349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continued to pay her broadband, gas, and electricity bills, and allowed herself </a:t>
            </a:r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£30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week to buy food and household essentials.</a:t>
            </a:r>
            <a:endParaRPr lang="en-US" sz="1200" dirty="0"/>
          </a:p>
        </p:txBody>
      </p:sp>
      <p:sp>
        <p:nvSpPr>
          <p:cNvPr id="23" name="ln_505"/>
          <p:cNvSpPr/>
          <p:nvPr/>
        </p:nvSpPr>
        <p:spPr>
          <a:xfrm>
            <a:off x="548640" y="41148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she couldn't spend money on anything else – no clothes, no buses or flights, no meals out, no drinks, and no cosmetics.</a:t>
            </a:r>
            <a:endParaRPr lang="en-US" sz="1200" dirty="0"/>
          </a:p>
        </p:txBody>
      </p:sp>
      <p:sp>
        <p:nvSpPr>
          <p:cNvPr id="24" name="pf_506"/>
          <p:cNvSpPr/>
          <p:nvPr/>
        </p:nvSpPr>
        <p:spPr>
          <a:xfrm rot="120000">
            <a:off x="6309360" y="1417320"/>
            <a:ext cx="2560320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5" name="ph_507" descr="/home/claude/lls-course/v2/cache/2a1_budget_jpg_594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1463040"/>
            <a:ext cx="2468880" cy="1417320"/>
          </a:xfrm>
          <a:prstGeom prst="rect">
            <a:avLst/>
          </a:prstGeom>
        </p:spPr>
      </p:pic>
      <p:sp>
        <p:nvSpPr>
          <p:cNvPr id="26" name="cd_508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ii_509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8" name="ih_510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29" name="il_511"/>
          <p:cNvSpPr/>
          <p:nvPr/>
        </p:nvSpPr>
        <p:spPr>
          <a:xfrm>
            <a:off x="6830568" y="42702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= ridurre</a:t>
            </a:r>
            <a:endParaRPr lang="en-US" sz="9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essentials = cose di casa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1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51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514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 and check</a:t>
            </a:r>
            <a:endParaRPr lang="en-US" sz="2500" dirty="0"/>
          </a:p>
        </p:txBody>
      </p:sp>
      <p:pic>
        <p:nvPicPr>
          <p:cNvPr id="6" name="brP_51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771900" cy="402336"/>
          </a:xfrm>
          <a:prstGeom prst="rect">
            <a:avLst/>
          </a:prstGeom>
        </p:spPr>
      </p:pic>
      <p:sp>
        <p:nvSpPr>
          <p:cNvPr id="7" name="ins_516"/>
          <p:cNvSpPr/>
          <p:nvPr/>
        </p:nvSpPr>
        <p:spPr>
          <a:xfrm>
            <a:off x="1353312" y="731520"/>
            <a:ext cx="3515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Read. Which number goes in the gap?</a:t>
            </a:r>
            <a:endParaRPr lang="en-US" sz="1250" dirty="0"/>
          </a:p>
        </p:txBody>
      </p:sp>
      <p:sp>
        <p:nvSpPr>
          <p:cNvPr id="8" name="insIT_517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Leggi. Quale numero va nello spazio?</a:t>
            </a:r>
            <a:endParaRPr lang="en-US" sz="950" dirty="0"/>
          </a:p>
        </p:txBody>
      </p:sp>
      <p:sp>
        <p:nvSpPr>
          <p:cNvPr id="9" name="cmd_518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1100" dirty="0"/>
          </a:p>
        </p:txBody>
      </p:sp>
      <p:sp>
        <p:nvSpPr>
          <p:cNvPr id="10" name="meta_519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1" name="tag_520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TPRS · reading</a:t>
            </a:r>
            <a:endParaRPr lang="en-US" sz="850" dirty="0"/>
          </a:p>
        </p:txBody>
      </p:sp>
      <p:pic>
        <p:nvPicPr>
          <p:cNvPr id="12" name="logo_52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2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Reading · paragraphs B–C   ·   📖 SB p.17 · article paragraphs B–C</a:t>
            </a:r>
            <a:endParaRPr lang="en-US" sz="800" dirty="0"/>
          </a:p>
        </p:txBody>
      </p:sp>
      <p:sp>
        <p:nvSpPr>
          <p:cNvPr id="14" name="cd_523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sh_524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At home    C · Friends</a:t>
            </a:r>
            <a:endParaRPr lang="en-US" sz="1700" dirty="0"/>
          </a:p>
        </p:txBody>
      </p:sp>
      <p:sp>
        <p:nvSpPr>
          <p:cNvPr id="16" name="ln_525"/>
          <p:cNvSpPr/>
          <p:nvPr/>
        </p:nvSpPr>
        <p:spPr>
          <a:xfrm>
            <a:off x="548640" y="19202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She cooked large quantities of curry and bolognese sauce, which lasted her a week, and which she ate with rice or pasta. It was cheap and healthy, but also 'really boring'.</a:t>
            </a:r>
            <a:endParaRPr lang="en-US" sz="1100" dirty="0"/>
          </a:p>
        </p:txBody>
      </p:sp>
      <p:sp>
        <p:nvSpPr>
          <p:cNvPr id="17" name="ln_526"/>
          <p:cNvSpPr/>
          <p:nvPr/>
        </p:nvSpPr>
        <p:spPr>
          <a:xfrm>
            <a:off x="548640" y="24688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also experimented with home-made cleaning products and beauty treatments, like using vinegar for cleaning or olive oil as moisturiser, but she decided that most of them didn't really work.</a:t>
            </a:r>
            <a:endParaRPr lang="en-US" sz="1100" dirty="0"/>
          </a:p>
        </p:txBody>
      </p:sp>
      <p:sp>
        <p:nvSpPr>
          <p:cNvPr id="18" name="ln_527"/>
          <p:cNvSpPr/>
          <p:nvPr/>
        </p:nvSpPr>
        <p:spPr>
          <a:xfrm>
            <a:off x="548640" y="30175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 At first, she tried to see her friends as often as before. She cycled 120 miles to be at a friend's wedding, and camped in their garden to avoid paying for accommodation.</a:t>
            </a:r>
            <a:endParaRPr lang="en-US" sz="1100" dirty="0"/>
          </a:p>
        </p:txBody>
      </p:sp>
      <p:sp>
        <p:nvSpPr>
          <p:cNvPr id="19" name="ln_528"/>
          <p:cNvSpPr/>
          <p:nvPr/>
        </p:nvSpPr>
        <p:spPr>
          <a:xfrm>
            <a:off x="548640" y="356616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following weekend, she rode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miles to Brighton to meet friends. But she couldn't join them for dinner in a restaurant, and when they went to the pub, she drank tap water.</a:t>
            </a:r>
            <a:endParaRPr lang="en-US" sz="1100" dirty="0"/>
          </a:p>
        </p:txBody>
      </p:sp>
      <p:sp>
        <p:nvSpPr>
          <p:cNvPr id="20" name="R1_lnA529"/>
          <p:cNvSpPr/>
          <p:nvPr/>
        </p:nvSpPr>
        <p:spPr>
          <a:xfrm>
            <a:off x="548640" y="3566160"/>
            <a:ext cx="5349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following weekend, she rode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miles to Brighton to meet friends. But she couldn't join them for dinner in a restaurant, and when they went to the pub, she drank tap water.</a:t>
            </a:r>
            <a:endParaRPr lang="en-US" sz="1100" dirty="0"/>
          </a:p>
        </p:txBody>
      </p:sp>
      <p:sp>
        <p:nvSpPr>
          <p:cNvPr id="21" name="ln_530"/>
          <p:cNvSpPr/>
          <p:nvPr/>
        </p:nvSpPr>
        <p:spPr>
          <a:xfrm>
            <a:off x="548640" y="41148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end, she simply went out less, which made her feel more isolated.</a:t>
            </a:r>
            <a:endParaRPr lang="en-US" sz="1100" dirty="0"/>
          </a:p>
        </p:txBody>
      </p:sp>
      <p:sp>
        <p:nvSpPr>
          <p:cNvPr id="22" name="pf_531"/>
          <p:cNvSpPr/>
          <p:nvPr/>
        </p:nvSpPr>
        <p:spPr>
          <a:xfrm rot="120000">
            <a:off x="6309360" y="1417320"/>
            <a:ext cx="2560320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3" name="ph_532" descr="/home/claude/lls-course/v2/cache/2a1_picnic_jpg_594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1463040"/>
            <a:ext cx="2468880" cy="1417320"/>
          </a:xfrm>
          <a:prstGeom prst="rect">
            <a:avLst/>
          </a:prstGeom>
        </p:spPr>
      </p:pic>
      <p:sp>
        <p:nvSpPr>
          <p:cNvPr id="24" name="cd_533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ii_534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6" name="ih_535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27" name="il_536"/>
          <p:cNvSpPr/>
          <p:nvPr/>
        </p:nvSpPr>
        <p:spPr>
          <a:xfrm>
            <a:off x="6830568" y="42702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 = dormire in tenda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= isolata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3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53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539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 and check</a:t>
            </a:r>
            <a:endParaRPr lang="en-US" sz="2500" dirty="0"/>
          </a:p>
        </p:txBody>
      </p:sp>
      <p:pic>
        <p:nvPicPr>
          <p:cNvPr id="6" name="brP_54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541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Read. Which number goes in each gap?</a:t>
            </a:r>
            <a:endParaRPr lang="en-US" sz="1250" dirty="0"/>
          </a:p>
        </p:txBody>
      </p:sp>
      <p:sp>
        <p:nvSpPr>
          <p:cNvPr id="8" name="insIT_542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Leggi. Quale numero va in ogni spazio?</a:t>
            </a:r>
            <a:endParaRPr lang="en-US" sz="950" dirty="0"/>
          </a:p>
        </p:txBody>
      </p:sp>
      <p:sp>
        <p:nvSpPr>
          <p:cNvPr id="9" name="cmd_54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1100" dirty="0"/>
          </a:p>
        </p:txBody>
      </p:sp>
      <p:sp>
        <p:nvSpPr>
          <p:cNvPr id="10" name="meta_544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1" name="tag_545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TPRS · reading</a:t>
            </a:r>
            <a:endParaRPr lang="en-US" sz="850" dirty="0"/>
          </a:p>
        </p:txBody>
      </p:sp>
      <p:pic>
        <p:nvPicPr>
          <p:cNvPr id="12" name="logo_54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4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Reading · paragraphs D–E   ·   📖 SB p.17 · article paragraphs D–E</a:t>
            </a:r>
            <a:endParaRPr lang="en-US" sz="800" dirty="0"/>
          </a:p>
        </p:txBody>
      </p:sp>
      <p:sp>
        <p:nvSpPr>
          <p:cNvPr id="14" name="cd_548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sh_549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· Holidays    E · The result</a:t>
            </a:r>
            <a:endParaRPr lang="en-US" sz="1700" dirty="0"/>
          </a:p>
        </p:txBody>
      </p:sp>
      <p:sp>
        <p:nvSpPr>
          <p:cNvPr id="16" name="ln_550"/>
          <p:cNvSpPr/>
          <p:nvPr/>
        </p:nvSpPr>
        <p:spPr>
          <a:xfrm>
            <a:off x="548640" y="19202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Of course, she couldn't afford to go abroad, so she missed a trip to Ibiza with friends. Her only holiday was a cycling trip to East Anglia, where again she camped.</a:t>
            </a:r>
            <a:endParaRPr lang="en-US" sz="1150" dirty="0"/>
          </a:p>
        </p:txBody>
      </p:sp>
      <p:sp>
        <p:nvSpPr>
          <p:cNvPr id="17" name="ln_551"/>
          <p:cNvSpPr/>
          <p:nvPr/>
        </p:nvSpPr>
        <p:spPr>
          <a:xfrm>
            <a:off x="548640" y="24688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Here, for the first and only time in the year, she bought food that she had not cooked herself – a bag of chips for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50" dirty="0"/>
          </a:p>
        </p:txBody>
      </p:sp>
      <p:sp>
        <p:nvSpPr>
          <p:cNvPr id="18" name="R1_lnA552"/>
          <p:cNvSpPr/>
          <p:nvPr/>
        </p:nvSpPr>
        <p:spPr>
          <a:xfrm>
            <a:off x="548640" y="2468880"/>
            <a:ext cx="5349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Here, for the first and only time in the year, she bought food that she had not cooked herself – a bag of chips for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£1.95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50" dirty="0"/>
          </a:p>
        </p:txBody>
      </p:sp>
      <p:sp>
        <p:nvSpPr>
          <p:cNvPr id="19" name="ln_553"/>
          <p:cNvSpPr/>
          <p:nvPr/>
        </p:nvSpPr>
        <p:spPr>
          <a:xfrm>
            <a:off x="548640" y="30175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 At the end of the year, she had saved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50" dirty="0"/>
          </a:p>
        </p:txBody>
      </p:sp>
      <p:sp>
        <p:nvSpPr>
          <p:cNvPr id="20" name="R2_lnA554"/>
          <p:cNvSpPr/>
          <p:nvPr/>
        </p:nvSpPr>
        <p:spPr>
          <a:xfrm>
            <a:off x="548640" y="3017520"/>
            <a:ext cx="5349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 At the end of the year, she had saved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£23,000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50" dirty="0"/>
          </a:p>
        </p:txBody>
      </p:sp>
      <p:sp>
        <p:nvSpPr>
          <p:cNvPr id="21" name="ln_555"/>
          <p:cNvSpPr/>
          <p:nvPr/>
        </p:nvSpPr>
        <p:spPr>
          <a:xfrm>
            <a:off x="548640" y="356616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was much slimmer and fitter – over the year, she had cycled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miles. She says she now feels freer and happier, because she appreciates the simple things in life.</a:t>
            </a:r>
            <a:endParaRPr lang="en-US" sz="1150" dirty="0"/>
          </a:p>
        </p:txBody>
      </p:sp>
      <p:sp>
        <p:nvSpPr>
          <p:cNvPr id="22" name="R3_lnA556"/>
          <p:cNvSpPr/>
          <p:nvPr/>
        </p:nvSpPr>
        <p:spPr>
          <a:xfrm>
            <a:off x="548640" y="3566160"/>
            <a:ext cx="5349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was much slimmer and fitter – over the year, she had cycled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6,500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miles. She says she now feels freer and happier, because she appreciates the simple things in life.</a:t>
            </a:r>
            <a:endParaRPr lang="en-US" sz="1150" dirty="0"/>
          </a:p>
        </p:txBody>
      </p:sp>
      <p:sp>
        <p:nvSpPr>
          <p:cNvPr id="23" name="ln_557"/>
          <p:cNvSpPr/>
          <p:nvPr/>
        </p:nvSpPr>
        <p:spPr>
          <a:xfrm>
            <a:off x="548640" y="41148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also gained confidence and a sense of adventure.</a:t>
            </a:r>
            <a:endParaRPr lang="en-US" sz="1150" dirty="0"/>
          </a:p>
        </p:txBody>
      </p:sp>
      <p:sp>
        <p:nvSpPr>
          <p:cNvPr id="24" name="pf_558"/>
          <p:cNvSpPr/>
          <p:nvPr/>
        </p:nvSpPr>
        <p:spPr>
          <a:xfrm rot="120000">
            <a:off x="6309360" y="1417320"/>
            <a:ext cx="2560320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5" name="ph_559" descr="/home/claude/lls-course/v2/cache/spare_future_money_jpg_594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1463040"/>
            <a:ext cx="2468880" cy="1417320"/>
          </a:xfrm>
          <a:prstGeom prst="rect">
            <a:avLst/>
          </a:prstGeom>
        </p:spPr>
      </p:pic>
      <p:sp>
        <p:nvSpPr>
          <p:cNvPr id="26" name="cd_560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ii_561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8" name="ih_562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29" name="il_563"/>
          <p:cNvSpPr/>
          <p:nvPr/>
        </p:nvSpPr>
        <p:spPr>
          <a:xfrm>
            <a:off x="6830568" y="42702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slimmer and fitter = più magra e in forma</a:t>
            </a:r>
            <a:endParaRPr lang="en-US" sz="8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gain confidence = acquistare sicurezza</a:t>
            </a:r>
            <a:endParaRPr lang="en-US" sz="8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6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18</a:t>
            </a:r>
            <a:endParaRPr lang="en-US" sz="2200" dirty="0"/>
          </a:p>
        </p:txBody>
      </p:sp>
      <p:pic>
        <p:nvPicPr>
          <p:cNvPr id="4" name="brY_56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566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Michelle's key tip</a:t>
            </a:r>
            <a:endParaRPr lang="en-US" sz="2500" dirty="0"/>
          </a:p>
        </p:txBody>
      </p:sp>
      <p:pic>
        <p:nvPicPr>
          <p:cNvPr id="6" name="brP_56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337560" cy="402336"/>
          </a:xfrm>
          <a:prstGeom prst="rect">
            <a:avLst/>
          </a:prstGeom>
        </p:spPr>
      </p:pic>
      <p:sp>
        <p:nvSpPr>
          <p:cNvPr id="7" name="ins_568"/>
          <p:cNvSpPr/>
          <p:nvPr/>
        </p:nvSpPr>
        <p:spPr>
          <a:xfrm>
            <a:off x="1353312" y="731520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Read. Guess a–c: need or want?</a:t>
            </a:r>
            <a:endParaRPr lang="en-US" sz="1250" dirty="0"/>
          </a:p>
        </p:txBody>
      </p:sp>
      <p:sp>
        <p:nvSpPr>
          <p:cNvPr id="8" name="insIT_569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Leggi. Indovina a–c: need o want?</a:t>
            </a:r>
            <a:endParaRPr lang="en-US" sz="950" dirty="0"/>
          </a:p>
        </p:txBody>
      </p:sp>
      <p:sp>
        <p:nvSpPr>
          <p:cNvPr id="9" name="cmd_57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1100" dirty="0"/>
          </a:p>
        </p:txBody>
      </p:sp>
      <p:sp>
        <p:nvSpPr>
          <p:cNvPr id="10" name="cmd_571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🤔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INDOVINA</a:t>
            </a:r>
            <a:endParaRPr lang="en-US" sz="1100" dirty="0"/>
          </a:p>
        </p:txBody>
      </p:sp>
      <p:sp>
        <p:nvSpPr>
          <p:cNvPr id="11" name="meta_572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2" name="tag_573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TPRS · reading</a:t>
            </a:r>
            <a:endParaRPr lang="en-US" sz="850" dirty="0"/>
          </a:p>
        </p:txBody>
      </p:sp>
      <p:pic>
        <p:nvPicPr>
          <p:cNvPr id="13" name="logo_57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57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Reading · paragraphs F–G   ·   📖 SB p.17 · article paragraphs F–G</a:t>
            </a:r>
            <a:endParaRPr lang="en-US" sz="800" dirty="0"/>
          </a:p>
        </p:txBody>
      </p:sp>
      <p:sp>
        <p:nvSpPr>
          <p:cNvPr id="15" name="cd_576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sh_577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· After the year    G · Her key tip</a:t>
            </a:r>
            <a:endParaRPr lang="en-US" sz="1700" dirty="0"/>
          </a:p>
        </p:txBody>
      </p:sp>
      <p:sp>
        <p:nvSpPr>
          <p:cNvPr id="17" name="ln_578"/>
          <p:cNvSpPr/>
          <p:nvPr/>
        </p:nvSpPr>
        <p:spPr>
          <a:xfrm>
            <a:off x="548640" y="192024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 But she learned the hard way that you can't really socialize if you don't want to spend money.</a:t>
            </a:r>
            <a:endParaRPr lang="en-US" sz="1050" dirty="0"/>
          </a:p>
        </p:txBody>
      </p:sp>
      <p:sp>
        <p:nvSpPr>
          <p:cNvPr id="18" name="ln_579"/>
          <p:cNvSpPr/>
          <p:nvPr/>
        </p:nvSpPr>
        <p:spPr>
          <a:xfrm>
            <a:off x="548640" y="226885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evening after her year-long challenge ended, she bought all her friends a drink in the pub.</a:t>
            </a:r>
            <a:endParaRPr lang="en-US" sz="1050" dirty="0"/>
          </a:p>
        </p:txBody>
      </p:sp>
      <p:sp>
        <p:nvSpPr>
          <p:cNvPr id="19" name="ln_580"/>
          <p:cNvSpPr/>
          <p:nvPr/>
        </p:nvSpPr>
        <p:spPr>
          <a:xfrm>
            <a:off x="548640" y="261747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she has not gone back to her past spending habits. She occasionally pays to socialize and go on holiday. She has even taken a taxi.</a:t>
            </a:r>
            <a:endParaRPr lang="en-US" sz="1050" dirty="0"/>
          </a:p>
        </p:txBody>
      </p:sp>
      <p:sp>
        <p:nvSpPr>
          <p:cNvPr id="20" name="ln_581"/>
          <p:cNvSpPr/>
          <p:nvPr/>
        </p:nvSpPr>
        <p:spPr>
          <a:xfrm>
            <a:off x="548640" y="296608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after buying a few new clothes and some perfume, she insists, 'I have absolutely no interest in buying anything else.'</a:t>
            </a:r>
            <a:endParaRPr lang="en-US" sz="1050" dirty="0"/>
          </a:p>
        </p:txBody>
      </p:sp>
      <p:sp>
        <p:nvSpPr>
          <p:cNvPr id="21" name="ln_582"/>
          <p:cNvSpPr/>
          <p:nvPr/>
        </p:nvSpPr>
        <p:spPr>
          <a:xfrm>
            <a:off x="548640" y="331470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  So what's her key tip for those who want to save?</a:t>
            </a:r>
            <a:endParaRPr lang="en-US" sz="1050" dirty="0"/>
          </a:p>
        </p:txBody>
      </p:sp>
      <p:sp>
        <p:nvSpPr>
          <p:cNvPr id="22" name="ln_583"/>
          <p:cNvSpPr/>
          <p:nvPr/>
        </p:nvSpPr>
        <p:spPr>
          <a:xfrm>
            <a:off x="548640" y="366331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'Whenever you open your wallet, think about whether what you are buying is something you </a:t>
            </a:r>
            <a:pPr indent="0" marL="0">
              <a:buNone/>
            </a:pPr>
            <a:r>
              <a:rPr lang="en-US" sz="10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(a) ________ 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something you </a:t>
            </a:r>
            <a:pPr indent="0" marL="0">
              <a:buNone/>
            </a:pPr>
            <a:r>
              <a:rPr lang="en-US" sz="10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(b) ________ 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R1_lnA584"/>
          <p:cNvSpPr/>
          <p:nvPr/>
        </p:nvSpPr>
        <p:spPr>
          <a:xfrm>
            <a:off x="548640" y="3663315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'Whenever you open your wallet, think about whether what you are buying is something you </a:t>
            </a:r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need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something you </a:t>
            </a:r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want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050" dirty="0"/>
          </a:p>
        </p:txBody>
      </p:sp>
      <p:sp>
        <p:nvSpPr>
          <p:cNvPr id="24" name="ln_585"/>
          <p:cNvSpPr/>
          <p:nvPr/>
        </p:nvSpPr>
        <p:spPr>
          <a:xfrm>
            <a:off x="548640" y="401193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all say, "I need to buy this." Most of the time, we </a:t>
            </a:r>
            <a:pPr indent="0" marL="0">
              <a:buNone/>
            </a:pPr>
            <a:r>
              <a:rPr lang="en-US" sz="10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(c) ________ 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buy it.</a:t>
            </a:r>
            <a:endParaRPr lang="en-US" sz="1050" dirty="0"/>
          </a:p>
        </p:txBody>
      </p:sp>
      <p:sp>
        <p:nvSpPr>
          <p:cNvPr id="25" name="R2_lnA586"/>
          <p:cNvSpPr/>
          <p:nvPr/>
        </p:nvSpPr>
        <p:spPr>
          <a:xfrm>
            <a:off x="548640" y="4011930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all say, "I need to buy this." Most of the time, we </a:t>
            </a:r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want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buy it.</a:t>
            </a:r>
            <a:endParaRPr lang="en-US" sz="1050" dirty="0"/>
          </a:p>
        </p:txBody>
      </p:sp>
      <p:sp>
        <p:nvSpPr>
          <p:cNvPr id="26" name="ln_587"/>
          <p:cNvSpPr/>
          <p:nvPr/>
        </p:nvSpPr>
        <p:spPr>
          <a:xfrm>
            <a:off x="548640" y="436054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Maybe we don't know the difference between needing something and wanting something any more.'</a:t>
            </a:r>
            <a:endParaRPr lang="en-US" sz="1050" dirty="0"/>
          </a:p>
        </p:txBody>
      </p:sp>
      <p:sp>
        <p:nvSpPr>
          <p:cNvPr id="27" name="pf_588"/>
          <p:cNvSpPr/>
          <p:nvPr/>
        </p:nvSpPr>
        <p:spPr>
          <a:xfrm rot="120000">
            <a:off x="6309360" y="1417320"/>
            <a:ext cx="2560320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8" name="ph_589" descr="/home/claude/lls-course/v2/cache/2a1_cover_jpg_594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1463040"/>
            <a:ext cx="2468880" cy="1417320"/>
          </a:xfrm>
          <a:prstGeom prst="rect">
            <a:avLst/>
          </a:prstGeom>
        </p:spPr>
      </p:pic>
      <p:sp>
        <p:nvSpPr>
          <p:cNvPr id="29" name="cd_590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0" name="ii_591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1" name="ih_592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2" name="il_593"/>
          <p:cNvSpPr/>
          <p:nvPr/>
        </p:nvSpPr>
        <p:spPr>
          <a:xfrm>
            <a:off x="6830568" y="42702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hard way = a sue spese</a:t>
            </a:r>
            <a:endParaRPr lang="en-US" sz="8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= avere bisogno · want = volere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9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19</a:t>
            </a:r>
            <a:endParaRPr lang="en-US" sz="2200" dirty="0"/>
          </a:p>
        </p:txBody>
      </p:sp>
      <p:pic>
        <p:nvPicPr>
          <p:cNvPr id="4" name="brY_59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596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True or false?</a:t>
            </a:r>
            <a:endParaRPr lang="en-US" sz="2500" dirty="0"/>
          </a:p>
        </p:txBody>
      </p:sp>
      <p:pic>
        <p:nvPicPr>
          <p:cNvPr id="6" name="brP_59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424428" cy="402336"/>
          </a:xfrm>
          <a:prstGeom prst="rect">
            <a:avLst/>
          </a:prstGeom>
        </p:spPr>
      </p:pic>
      <p:sp>
        <p:nvSpPr>
          <p:cNvPr id="7" name="ins_598"/>
          <p:cNvSpPr/>
          <p:nvPr/>
        </p:nvSpPr>
        <p:spPr>
          <a:xfrm>
            <a:off x="1353312" y="731520"/>
            <a:ext cx="31683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again. True or false? Why?</a:t>
            </a:r>
            <a:endParaRPr lang="en-US" sz="1250" dirty="0"/>
          </a:p>
        </p:txBody>
      </p:sp>
      <p:sp>
        <p:nvSpPr>
          <p:cNvPr id="8" name="insIT_599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Rileggi. Vero o falso? Perché?</a:t>
            </a:r>
            <a:endParaRPr lang="en-US" sz="950" dirty="0"/>
          </a:p>
        </p:txBody>
      </p:sp>
      <p:sp>
        <p:nvSpPr>
          <p:cNvPr id="9" name="cmd_60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1100" dirty="0"/>
          </a:p>
        </p:txBody>
      </p:sp>
      <p:sp>
        <p:nvSpPr>
          <p:cNvPr id="10" name="cmd_601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CONTROLLA</a:t>
            </a:r>
            <a:endParaRPr lang="en-US" sz="1100" dirty="0"/>
          </a:p>
        </p:txBody>
      </p:sp>
      <p:sp>
        <p:nvSpPr>
          <p:cNvPr id="11" name="meta_602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2" name="tag_603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Controlled practice</a:t>
            </a:r>
            <a:endParaRPr lang="en-US" sz="850" dirty="0"/>
          </a:p>
        </p:txBody>
      </p:sp>
      <p:pic>
        <p:nvPicPr>
          <p:cNvPr id="13" name="logo_60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60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Reading · detail   ·   📖 SB p.17 · 3c, 3d</a:t>
            </a:r>
            <a:endParaRPr lang="en-US" sz="800" dirty="0"/>
          </a:p>
        </p:txBody>
      </p:sp>
      <p:sp>
        <p:nvSpPr>
          <p:cNvPr id="15" name="cd_606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60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ih_60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8" name="il_609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She was a teacher. → F · 'a 34-year-old journalist' (A)</a:t>
            </a:r>
            <a:endParaRPr lang="en-US" sz="1050" dirty="0"/>
          </a:p>
        </p:txBody>
      </p:sp>
      <p:sp>
        <p:nvSpPr>
          <p:cNvPr id="19" name="pf_610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611" descr="/home/claude/lls-course/v2/cache/2a1_cover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1" name="bd_612"/>
          <p:cNvSpPr/>
          <p:nvPr/>
        </p:nvSpPr>
        <p:spPr>
          <a:xfrm>
            <a:off x="3246120" y="1474143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q_613"/>
          <p:cNvSpPr/>
          <p:nvPr/>
        </p:nvSpPr>
        <p:spPr>
          <a:xfrm>
            <a:off x="3630168" y="1417320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could use public transport.</a:t>
            </a:r>
            <a:endParaRPr lang="en-US" sz="1150" dirty="0"/>
          </a:p>
        </p:txBody>
      </p:sp>
      <p:sp>
        <p:nvSpPr>
          <p:cNvPr id="23" name="R1_chip614"/>
          <p:cNvSpPr/>
          <p:nvPr/>
        </p:nvSpPr>
        <p:spPr>
          <a:xfrm>
            <a:off x="5806440" y="1417320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· 'no buses or flights' (A)</a:t>
            </a:r>
            <a:endParaRPr lang="en-US" sz="1000" dirty="0"/>
          </a:p>
        </p:txBody>
      </p:sp>
      <p:sp>
        <p:nvSpPr>
          <p:cNvPr id="24" name="bd_615"/>
          <p:cNvSpPr/>
          <p:nvPr/>
        </p:nvSpPr>
        <p:spPr>
          <a:xfrm>
            <a:off x="3246120" y="194440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q_616"/>
          <p:cNvSpPr/>
          <p:nvPr/>
        </p:nvSpPr>
        <p:spPr>
          <a:xfrm>
            <a:off x="3630168" y="1887583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was often hungry.</a:t>
            </a:r>
            <a:endParaRPr lang="en-US" sz="1150" dirty="0"/>
          </a:p>
        </p:txBody>
      </p:sp>
      <p:sp>
        <p:nvSpPr>
          <p:cNvPr id="26" name="R2_chip617"/>
          <p:cNvSpPr/>
          <p:nvPr/>
        </p:nvSpPr>
        <p:spPr>
          <a:xfrm>
            <a:off x="5806440" y="1887583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· cheap and healthy, but 'really boring' (B)</a:t>
            </a:r>
            <a:endParaRPr lang="en-US" sz="1000" dirty="0"/>
          </a:p>
        </p:txBody>
      </p:sp>
      <p:sp>
        <p:nvSpPr>
          <p:cNvPr id="27" name="bd_618"/>
          <p:cNvSpPr/>
          <p:nvPr/>
        </p:nvSpPr>
        <p:spPr>
          <a:xfrm>
            <a:off x="3246120" y="2414669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q_619"/>
          <p:cNvSpPr/>
          <p:nvPr/>
        </p:nvSpPr>
        <p:spPr>
          <a:xfrm>
            <a:off x="3630168" y="2357846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the wedding, she slept in a tent.</a:t>
            </a:r>
            <a:endParaRPr lang="en-US" sz="1150" dirty="0"/>
          </a:p>
        </p:txBody>
      </p:sp>
      <p:sp>
        <p:nvSpPr>
          <p:cNvPr id="29" name="R3_chip620"/>
          <p:cNvSpPr/>
          <p:nvPr/>
        </p:nvSpPr>
        <p:spPr>
          <a:xfrm>
            <a:off x="5806440" y="2357846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 · 'camped in their garden' (C)</a:t>
            </a:r>
            <a:endParaRPr lang="en-US" sz="1000" dirty="0"/>
          </a:p>
        </p:txBody>
      </p:sp>
      <p:sp>
        <p:nvSpPr>
          <p:cNvPr id="30" name="bd_621"/>
          <p:cNvSpPr/>
          <p:nvPr/>
        </p:nvSpPr>
        <p:spPr>
          <a:xfrm>
            <a:off x="3246120" y="28849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q_622"/>
          <p:cNvSpPr/>
          <p:nvPr/>
        </p:nvSpPr>
        <p:spPr>
          <a:xfrm>
            <a:off x="3630168" y="2828109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never had ready-made food.</a:t>
            </a:r>
            <a:endParaRPr lang="en-US" sz="1150" dirty="0"/>
          </a:p>
        </p:txBody>
      </p:sp>
      <p:sp>
        <p:nvSpPr>
          <p:cNvPr id="32" name="R4_chip623"/>
          <p:cNvSpPr/>
          <p:nvPr/>
        </p:nvSpPr>
        <p:spPr>
          <a:xfrm>
            <a:off x="5806440" y="2828109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· a bag of chips for £1.95 (D)</a:t>
            </a:r>
            <a:endParaRPr lang="en-US" sz="1000" dirty="0"/>
          </a:p>
        </p:txBody>
      </p:sp>
      <p:sp>
        <p:nvSpPr>
          <p:cNvPr id="33" name="bd_624"/>
          <p:cNvSpPr/>
          <p:nvPr/>
        </p:nvSpPr>
        <p:spPr>
          <a:xfrm>
            <a:off x="3246120" y="3355195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q_625"/>
          <p:cNvSpPr/>
          <p:nvPr/>
        </p:nvSpPr>
        <p:spPr>
          <a:xfrm>
            <a:off x="3630168" y="3298371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didn't lose any weight.</a:t>
            </a:r>
            <a:endParaRPr lang="en-US" sz="1150" dirty="0"/>
          </a:p>
        </p:txBody>
      </p:sp>
      <p:sp>
        <p:nvSpPr>
          <p:cNvPr id="35" name="R5_chip626"/>
          <p:cNvSpPr/>
          <p:nvPr/>
        </p:nvSpPr>
        <p:spPr>
          <a:xfrm>
            <a:off x="5806440" y="3298371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· 'much slimmer and fitter' (E)</a:t>
            </a:r>
            <a:endParaRPr lang="en-US" sz="1000" dirty="0"/>
          </a:p>
        </p:txBody>
      </p:sp>
      <p:sp>
        <p:nvSpPr>
          <p:cNvPr id="36" name="bd_627"/>
          <p:cNvSpPr/>
          <p:nvPr/>
        </p:nvSpPr>
        <p:spPr>
          <a:xfrm>
            <a:off x="3246120" y="3825458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q_628"/>
          <p:cNvSpPr/>
          <p:nvPr/>
        </p:nvSpPr>
        <p:spPr>
          <a:xfrm>
            <a:off x="3630168" y="3768634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Now she spends less than she used to.</a:t>
            </a:r>
            <a:endParaRPr lang="en-US" sz="1150" dirty="0"/>
          </a:p>
        </p:txBody>
      </p:sp>
      <p:sp>
        <p:nvSpPr>
          <p:cNvPr id="38" name="R6_chip629"/>
          <p:cNvSpPr/>
          <p:nvPr/>
        </p:nvSpPr>
        <p:spPr>
          <a:xfrm>
            <a:off x="5806440" y="3768634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 · 'not gone back to her past spending habits' (F)</a:t>
            </a:r>
            <a:endParaRPr lang="en-US" sz="1000" dirty="0"/>
          </a:p>
        </p:txBody>
      </p:sp>
      <p:sp>
        <p:nvSpPr>
          <p:cNvPr id="39" name="bd_630"/>
          <p:cNvSpPr/>
          <p:nvPr/>
        </p:nvSpPr>
        <p:spPr>
          <a:xfrm>
            <a:off x="3246120" y="4295721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q_631"/>
          <p:cNvSpPr/>
          <p:nvPr/>
        </p:nvSpPr>
        <p:spPr>
          <a:xfrm>
            <a:off x="3630168" y="4238897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we buy, we should ask ourselves why.</a:t>
            </a:r>
            <a:endParaRPr lang="en-US" sz="1100" dirty="0"/>
          </a:p>
        </p:txBody>
      </p:sp>
      <p:sp>
        <p:nvSpPr>
          <p:cNvPr id="41" name="R7_chip632"/>
          <p:cNvSpPr/>
          <p:nvPr/>
        </p:nvSpPr>
        <p:spPr>
          <a:xfrm>
            <a:off x="5806440" y="4238897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 · need or want? (G)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3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20</a:t>
            </a:r>
            <a:endParaRPr lang="en-US" sz="2200" dirty="0"/>
          </a:p>
        </p:txBody>
      </p:sp>
      <p:pic>
        <p:nvPicPr>
          <p:cNvPr id="4" name="brY_63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635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nouns together</a:t>
            </a:r>
            <a:endParaRPr lang="en-US" sz="2500" dirty="0"/>
          </a:p>
        </p:txBody>
      </p:sp>
      <p:pic>
        <p:nvPicPr>
          <p:cNvPr id="6" name="brP_63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98164" cy="402336"/>
          </a:xfrm>
          <a:prstGeom prst="rect">
            <a:avLst/>
          </a:prstGeom>
        </p:spPr>
      </p:pic>
      <p:sp>
        <p:nvSpPr>
          <p:cNvPr id="7" name="ins_637"/>
          <p:cNvSpPr/>
          <p:nvPr/>
        </p:nvSpPr>
        <p:spPr>
          <a:xfrm>
            <a:off x="1353312" y="731520"/>
            <a:ext cx="3342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 the second word in the text.</a:t>
            </a:r>
            <a:endParaRPr lang="en-US" sz="1250" dirty="0"/>
          </a:p>
        </p:txBody>
      </p:sp>
      <p:sp>
        <p:nvSpPr>
          <p:cNvPr id="8" name="insIT_638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Trova la seconda parola nel testo.</a:t>
            </a:r>
            <a:endParaRPr lang="en-US" sz="950" dirty="0"/>
          </a:p>
        </p:txBody>
      </p:sp>
      <p:sp>
        <p:nvSpPr>
          <p:cNvPr id="9" name="cmd_63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TROVA</a:t>
            </a:r>
            <a:endParaRPr lang="en-US" sz="1100" dirty="0"/>
          </a:p>
        </p:txBody>
      </p:sp>
      <p:sp>
        <p:nvSpPr>
          <p:cNvPr id="10" name="meta_640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1" name="tag_641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Guided discovery</a:t>
            </a:r>
            <a:endParaRPr lang="en-US" sz="850" dirty="0"/>
          </a:p>
        </p:txBody>
      </p:sp>
      <p:pic>
        <p:nvPicPr>
          <p:cNvPr id="12" name="logo_64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64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Reading · compound nouns   ·   📖 SB p.17 · 3e Compound nouns</a:t>
            </a:r>
            <a:endParaRPr lang="en-US" sz="800" dirty="0"/>
          </a:p>
        </p:txBody>
      </p:sp>
      <p:sp>
        <p:nvSpPr>
          <p:cNvPr id="14" name="cd_644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64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64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647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cash + ? → cash machine (say: CASH machine)</a:t>
            </a:r>
            <a:endParaRPr lang="en-US" sz="1050" dirty="0"/>
          </a:p>
        </p:txBody>
      </p:sp>
      <p:sp>
        <p:nvSpPr>
          <p:cNvPr id="18" name="pf_648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649" descr="/home/claude/lls-course/v2/cache/2a1_budget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0" name="bd_650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651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olive…</a:t>
            </a:r>
            <a:endParaRPr lang="en-US" sz="1150" dirty="0"/>
          </a:p>
        </p:txBody>
      </p:sp>
      <p:sp>
        <p:nvSpPr>
          <p:cNvPr id="22" name="R1_chip652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olive oil (B) · olio d'oliva</a:t>
            </a:r>
            <a:endParaRPr lang="en-US" sz="1000" dirty="0"/>
          </a:p>
        </p:txBody>
      </p:sp>
      <p:sp>
        <p:nvSpPr>
          <p:cNvPr id="23" name="bd_653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654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electricity…</a:t>
            </a:r>
            <a:endParaRPr lang="en-US" sz="1150" dirty="0"/>
          </a:p>
        </p:txBody>
      </p:sp>
      <p:sp>
        <p:nvSpPr>
          <p:cNvPr id="25" name="R2_chip655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electricity bill (A) · bolletta della luce</a:t>
            </a:r>
            <a:endParaRPr lang="en-US" sz="1000" dirty="0"/>
          </a:p>
        </p:txBody>
      </p:sp>
      <p:sp>
        <p:nvSpPr>
          <p:cNvPr id="26" name="bd_656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657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cleaning…</a:t>
            </a:r>
            <a:endParaRPr lang="en-US" sz="1150" dirty="0"/>
          </a:p>
        </p:txBody>
      </p:sp>
      <p:sp>
        <p:nvSpPr>
          <p:cNvPr id="28" name="R3_chip658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cleaning products (B) · detersivi</a:t>
            </a:r>
            <a:endParaRPr lang="en-US" sz="1000" dirty="0"/>
          </a:p>
        </p:txBody>
      </p:sp>
      <p:sp>
        <p:nvSpPr>
          <p:cNvPr id="29" name="bd_659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660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cycling…</a:t>
            </a:r>
            <a:endParaRPr lang="en-US" sz="1150" dirty="0"/>
          </a:p>
        </p:txBody>
      </p:sp>
      <p:sp>
        <p:nvSpPr>
          <p:cNvPr id="31" name="R4_chip661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cycling trip (D) · viaggio in bici</a:t>
            </a:r>
            <a:endParaRPr lang="en-US" sz="1000" dirty="0"/>
          </a:p>
        </p:txBody>
      </p:sp>
      <p:sp>
        <p:nvSpPr>
          <p:cNvPr id="32" name="bd_662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q_663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beauty…</a:t>
            </a:r>
            <a:endParaRPr lang="en-US" sz="1150" dirty="0"/>
          </a:p>
        </p:txBody>
      </p:sp>
      <p:sp>
        <p:nvSpPr>
          <p:cNvPr id="34" name="R5_chip664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beauty treatments (B) · trattamenti di bellezza</a:t>
            </a:r>
            <a:endParaRPr lang="en-US" sz="1000" dirty="0"/>
          </a:p>
        </p:txBody>
      </p:sp>
      <p:sp>
        <p:nvSpPr>
          <p:cNvPr id="35" name="bd_665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q_666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tap…</a:t>
            </a:r>
            <a:endParaRPr lang="en-US" sz="1150" dirty="0"/>
          </a:p>
        </p:txBody>
      </p:sp>
      <p:sp>
        <p:nvSpPr>
          <p:cNvPr id="37" name="R6_chip667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tap water (C) · acqua del rubinetto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6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21</a:t>
            </a:r>
            <a:endParaRPr lang="en-US" sz="2200" dirty="0"/>
          </a:p>
        </p:txBody>
      </p:sp>
      <p:pic>
        <p:nvPicPr>
          <p:cNvPr id="4" name="brY_66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670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Could YOU do it?</a:t>
            </a:r>
            <a:endParaRPr lang="en-US" sz="2500" dirty="0"/>
          </a:p>
        </p:txBody>
      </p:sp>
      <p:pic>
        <p:nvPicPr>
          <p:cNvPr id="6" name="brP_67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06240" cy="402336"/>
          </a:xfrm>
          <a:prstGeom prst="rect">
            <a:avLst/>
          </a:prstGeom>
        </p:spPr>
      </p:pic>
      <p:sp>
        <p:nvSpPr>
          <p:cNvPr id="7" name="ins_672"/>
          <p:cNvSpPr/>
          <p:nvPr/>
        </p:nvSpPr>
        <p:spPr>
          <a:xfrm>
            <a:off x="1353312" y="73152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Imagine! Answer with I'd… or I wouldn't…</a:t>
            </a:r>
            <a:endParaRPr lang="en-US" sz="1250" dirty="0"/>
          </a:p>
        </p:txBody>
      </p:sp>
      <p:sp>
        <p:nvSpPr>
          <p:cNvPr id="8" name="insIT_673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Immagina! Rispondi con I'd… o I wouldn't…</a:t>
            </a:r>
            <a:endParaRPr lang="en-US" sz="950" dirty="0"/>
          </a:p>
        </p:txBody>
      </p:sp>
      <p:sp>
        <p:nvSpPr>
          <p:cNvPr id="9" name="cmd_674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675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👨‍👩‍👧 groups</a:t>
            </a:r>
            <a:endParaRPr lang="en-US" sz="950" dirty="0"/>
          </a:p>
        </p:txBody>
      </p:sp>
      <p:sp>
        <p:nvSpPr>
          <p:cNvPr id="11" name="tag_676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</a:t>
            </a:r>
            <a:endParaRPr lang="en-US" sz="850" dirty="0"/>
          </a:p>
        </p:txBody>
      </p:sp>
      <p:pic>
        <p:nvPicPr>
          <p:cNvPr id="12" name="logo_67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67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Speaking · could you do it?   ·   📖 SB p.17 · 3f · would for imaginary situations</a:t>
            </a:r>
            <a:endParaRPr lang="en-US" sz="800" dirty="0"/>
          </a:p>
        </p:txBody>
      </p:sp>
      <p:sp>
        <p:nvSpPr>
          <p:cNvPr id="14" name="pf_679"/>
          <p:cNvSpPr/>
          <p:nvPr/>
        </p:nvSpPr>
        <p:spPr>
          <a:xfrm rot="-120000">
            <a:off x="320040" y="1371600"/>
            <a:ext cx="2788920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680" descr="/home/claude/lls-course/v2/cache/2a1_need_want_jpg_649x42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783080"/>
          </a:xfrm>
          <a:prstGeom prst="rect">
            <a:avLst/>
          </a:prstGeom>
        </p:spPr>
      </p:pic>
      <p:sp>
        <p:nvSpPr>
          <p:cNvPr id="16" name="cd_681"/>
          <p:cNvSpPr/>
          <p:nvPr/>
        </p:nvSpPr>
        <p:spPr>
          <a:xfrm>
            <a:off x="320040" y="3429000"/>
            <a:ext cx="2788920" cy="1325880"/>
          </a:xfrm>
          <a:prstGeom prst="roundRect">
            <a:avLst>
              <a:gd name="adj" fmla="val 9655"/>
            </a:avLst>
          </a:prstGeom>
          <a:solidFill>
            <a:srgbClr val="EEE8FB"/>
          </a:solidFill>
          <a:ln w="19050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682"/>
          <p:cNvSpPr/>
          <p:nvPr/>
        </p:nvSpPr>
        <p:spPr>
          <a:xfrm>
            <a:off x="411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ih_683"/>
          <p:cNvSpPr/>
          <p:nvPr/>
        </p:nvSpPr>
        <p:spPr>
          <a:xfrm>
            <a:off x="88696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9" name="il_684"/>
          <p:cNvSpPr/>
          <p:nvPr/>
        </p:nvSpPr>
        <p:spPr>
          <a:xfrm>
            <a:off x="886968" y="3904488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save money, I'd (= I would)…</a:t>
            </a:r>
            <a:endParaRPr lang="en-US" sz="10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wouldn't…</a:t>
            </a:r>
            <a:endParaRPr lang="en-US" sz="10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I'd find it hard to…</a:t>
            </a:r>
            <a:endParaRPr lang="en-US" sz="1050" dirty="0"/>
          </a:p>
        </p:txBody>
      </p:sp>
      <p:sp>
        <p:nvSpPr>
          <p:cNvPr id="20" name="R1_qb685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R1_sq686"/>
          <p:cNvSpPr/>
          <p:nvPr/>
        </p:nvSpPr>
        <p:spPr>
          <a:xfrm>
            <a:off x="3675888" y="14173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would you spend less on?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I'd spend less on clothes and coffee.</a:t>
            </a:r>
            <a:endParaRPr lang="en-US" sz="1250" dirty="0"/>
          </a:p>
        </p:txBody>
      </p:sp>
      <p:sp>
        <p:nvSpPr>
          <p:cNvPr id="22" name="R2_qb687"/>
          <p:cNvSpPr/>
          <p:nvPr/>
        </p:nvSpPr>
        <p:spPr>
          <a:xfrm>
            <a:off x="3273552" y="201015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R2_sq688"/>
          <p:cNvSpPr/>
          <p:nvPr/>
        </p:nvSpPr>
        <p:spPr>
          <a:xfrm>
            <a:off x="3675888" y="197358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would you eat?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I'd cook pasta at home every day!</a:t>
            </a:r>
            <a:endParaRPr lang="en-US" sz="1250" dirty="0"/>
          </a:p>
        </p:txBody>
      </p:sp>
      <p:sp>
        <p:nvSpPr>
          <p:cNvPr id="24" name="R3_qb689"/>
          <p:cNvSpPr/>
          <p:nvPr/>
        </p:nvSpPr>
        <p:spPr>
          <a:xfrm>
            <a:off x="3273552" y="2566416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R3_sq690"/>
          <p:cNvSpPr/>
          <p:nvPr/>
        </p:nvSpPr>
        <p:spPr>
          <a:xfrm>
            <a:off x="3675888" y="252984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would you get around?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I'd walk or cycle everywhere.</a:t>
            </a:r>
            <a:endParaRPr lang="en-US" sz="1250" dirty="0"/>
          </a:p>
        </p:txBody>
      </p:sp>
      <p:sp>
        <p:nvSpPr>
          <p:cNvPr id="26" name="R4_qb691"/>
          <p:cNvSpPr/>
          <p:nvPr/>
        </p:nvSpPr>
        <p:spPr>
          <a:xfrm>
            <a:off x="3273552" y="3122676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R4_sq692"/>
          <p:cNvSpPr/>
          <p:nvPr/>
        </p:nvSpPr>
        <p:spPr>
          <a:xfrm>
            <a:off x="3675888" y="308610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would you socialize cheaply?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I'd invite my friends home for a pizza.</a:t>
            </a:r>
            <a:endParaRPr lang="en-US" sz="1250" dirty="0"/>
          </a:p>
        </p:txBody>
      </p:sp>
      <p:sp>
        <p:nvSpPr>
          <p:cNvPr id="28" name="R5_qb693"/>
          <p:cNvSpPr/>
          <p:nvPr/>
        </p:nvSpPr>
        <p:spPr>
          <a:xfrm>
            <a:off x="3273552" y="367893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R5_sq694"/>
          <p:cNvSpPr/>
          <p:nvPr/>
        </p:nvSpPr>
        <p:spPr>
          <a:xfrm>
            <a:off x="3675888" y="364236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phone, coffee, new trainers: need it or want it?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 need my phone, but I just want new trainers.</a:t>
            </a:r>
            <a:endParaRPr lang="en-US" sz="1250" dirty="0"/>
          </a:p>
        </p:txBody>
      </p:sp>
      <p:sp>
        <p:nvSpPr>
          <p:cNvPr id="30" name="R6_qb695"/>
          <p:cNvSpPr/>
          <p:nvPr/>
        </p:nvSpPr>
        <p:spPr>
          <a:xfrm>
            <a:off x="3273552" y="423519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R6_sq696"/>
          <p:cNvSpPr/>
          <p:nvPr/>
        </p:nvSpPr>
        <p:spPr>
          <a:xfrm>
            <a:off x="3675888" y="41986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Could you really do a no-spend year? Why (not)?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No way! I'd miss going out with my friends.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9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22</a:t>
            </a:r>
            <a:endParaRPr lang="en-US" sz="2200" dirty="0"/>
          </a:p>
        </p:txBody>
      </p:sp>
      <p:pic>
        <p:nvPicPr>
          <p:cNvPr id="4" name="brY_69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699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70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701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702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cmd_70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704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950" dirty="0"/>
          </a:p>
        </p:txBody>
      </p:sp>
      <p:sp>
        <p:nvSpPr>
          <p:cNvPr id="11" name="tag_705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Reflection</a:t>
            </a:r>
            <a:endParaRPr lang="en-US" sz="850" dirty="0"/>
          </a:p>
        </p:txBody>
      </p:sp>
      <p:pic>
        <p:nvPicPr>
          <p:cNvPr id="12" name="logo_70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70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Review · what did you do today?</a:t>
            </a:r>
            <a:endParaRPr lang="en-US" sz="800" dirty="0"/>
          </a:p>
        </p:txBody>
      </p:sp>
      <p:sp>
        <p:nvSpPr>
          <p:cNvPr id="14" name="cd_708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te_709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6" name="tt_710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Talked about how you spend and save money</a:t>
            </a:r>
            <a:endParaRPr lang="en-US" sz="1350" dirty="0"/>
          </a:p>
        </p:txBody>
      </p:sp>
      <p:sp>
        <p:nvSpPr>
          <p:cNvPr id="17" name="R1_tk711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cd_712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te_713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20" name="tt_714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Learnt about 30 money words</a:t>
            </a:r>
            <a:endParaRPr lang="en-US" sz="1350" dirty="0"/>
          </a:p>
        </p:txBody>
      </p:sp>
      <p:sp>
        <p:nvSpPr>
          <p:cNvPr id="21" name="R2_tk715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cd_716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te_717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24" name="tt_718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Said the letter o in five different ways</a:t>
            </a:r>
            <a:endParaRPr lang="en-US" sz="1350" dirty="0"/>
          </a:p>
        </p:txBody>
      </p:sp>
      <p:sp>
        <p:nvSpPr>
          <p:cNvPr id="25" name="R3_tk719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6" name="cd_720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te_721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8" name="tt_722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a class story and answered questions</a:t>
            </a:r>
            <a:endParaRPr lang="en-US" sz="1350" dirty="0"/>
          </a:p>
        </p:txBody>
      </p:sp>
      <p:sp>
        <p:nvSpPr>
          <p:cNvPr id="29" name="R4_tk723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0" name="cd_724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te_725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👀</a:t>
            </a:r>
            <a:endParaRPr lang="en-US" sz="1800" dirty="0"/>
          </a:p>
        </p:txBody>
      </p:sp>
      <p:sp>
        <p:nvSpPr>
          <p:cNvPr id="32" name="tt_726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about a woman who spent nothing for a year</a:t>
            </a:r>
            <a:endParaRPr lang="en-US" sz="1350" dirty="0"/>
          </a:p>
        </p:txBody>
      </p:sp>
      <p:sp>
        <p:nvSpPr>
          <p:cNvPr id="33" name="R5_tk727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4" name="st_728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2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23</a:t>
            </a:r>
            <a:endParaRPr lang="en-US" sz="2200" dirty="0"/>
          </a:p>
        </p:txBody>
      </p:sp>
      <p:pic>
        <p:nvPicPr>
          <p:cNvPr id="4" name="brY_73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731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73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733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What can you remember?</a:t>
            </a:r>
            <a:endParaRPr lang="en-US" sz="1250" dirty="0"/>
          </a:p>
        </p:txBody>
      </p:sp>
      <p:sp>
        <p:nvSpPr>
          <p:cNvPr id="8" name="insIT_734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Libri chiusi! Cosa ricordi?</a:t>
            </a:r>
            <a:endParaRPr lang="en-US" sz="950" dirty="0"/>
          </a:p>
        </p:txBody>
      </p:sp>
      <p:sp>
        <p:nvSpPr>
          <p:cNvPr id="9" name="meta_735"/>
          <p:cNvSpPr/>
          <p:nvPr/>
        </p:nvSpPr>
        <p:spPr>
          <a:xfrm>
            <a:off x="6583680" y="182880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0" name="tag_736"/>
          <p:cNvSpPr/>
          <p:nvPr/>
        </p:nvSpPr>
        <p:spPr>
          <a:xfrm>
            <a:off x="6510528" y="420624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Retrieval</a:t>
            </a:r>
            <a:endParaRPr lang="en-US" sz="850" dirty="0"/>
          </a:p>
        </p:txBody>
      </p:sp>
      <p:pic>
        <p:nvPicPr>
          <p:cNvPr id="11" name="logo_73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2" name="foot_73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Exit · what can you remember?</a:t>
            </a:r>
            <a:endParaRPr lang="en-US" sz="800" dirty="0"/>
          </a:p>
        </p:txBody>
      </p:sp>
      <p:sp>
        <p:nvSpPr>
          <p:cNvPr id="13" name="bd_739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rt_740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money verbs + their preposition (spend… ON)</a:t>
            </a:r>
            <a:endParaRPr lang="en-US" sz="1400" dirty="0"/>
          </a:p>
        </p:txBody>
      </p:sp>
      <p:sp>
        <p:nvSpPr>
          <p:cNvPr id="15" name="bd_741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rt_742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words where o sounds different (money / borrow)</a:t>
            </a:r>
            <a:endParaRPr lang="en-US" sz="1400" dirty="0"/>
          </a:p>
        </p:txBody>
      </p:sp>
      <p:sp>
        <p:nvSpPr>
          <p:cNvPr id="17" name="bd_743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rt_744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sentence: "To save money, I'd…"</a:t>
            </a:r>
            <a:endParaRPr lang="en-US" sz="1400" dirty="0"/>
          </a:p>
        </p:txBody>
      </p:sp>
      <p:sp>
        <p:nvSpPr>
          <p:cNvPr id="19" name="cd_745"/>
          <p:cNvSpPr/>
          <p:nvPr/>
        </p:nvSpPr>
        <p:spPr>
          <a:xfrm>
            <a:off x="5669280" y="141732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746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1" name="ih_747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2" name="il_748"/>
          <p:cNvSpPr/>
          <p:nvPr/>
        </p:nvSpPr>
        <p:spPr>
          <a:xfrm>
            <a:off x="6236208" y="1892808"/>
            <a:ext cx="2542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Workbook 2A: 1a–1f, 2a, 2b (audio: Online Practice), 2c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Vocabulary Bank Money p.154: cover and test yourself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Homework sheet in the LLS app</a:t>
            </a:r>
            <a:endParaRPr lang="en-US" sz="1150" dirty="0"/>
          </a:p>
        </p:txBody>
      </p:sp>
      <p:sp>
        <p:nvSpPr>
          <p:cNvPr id="23" name="st_749"/>
          <p:cNvSpPr/>
          <p:nvPr/>
        </p:nvSpPr>
        <p:spPr>
          <a:xfrm rot="-180000">
            <a:off x="5806440" y="3931920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2A part 2 · present perfect or past simple? · scams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5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24</a:t>
            </a:r>
            <a:endParaRPr lang="en-US" sz="2200" dirty="0"/>
          </a:p>
        </p:txBody>
      </p:sp>
      <p:pic>
        <p:nvPicPr>
          <p:cNvPr id="4" name="brY_75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752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Which paragraph?</a:t>
            </a:r>
            <a:endParaRPr lang="en-US" sz="2400" dirty="0"/>
          </a:p>
        </p:txBody>
      </p:sp>
      <p:pic>
        <p:nvPicPr>
          <p:cNvPr id="6" name="brP_75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754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article. Match A–G to the topics.</a:t>
            </a:r>
            <a:endParaRPr lang="en-US" sz="1250" dirty="0"/>
          </a:p>
        </p:txBody>
      </p:sp>
      <p:sp>
        <p:nvSpPr>
          <p:cNvPr id="8" name="insIT_755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l'articolo. Abbina A–G agli argomenti.</a:t>
            </a:r>
            <a:endParaRPr lang="en-US" sz="950" dirty="0"/>
          </a:p>
        </p:txBody>
      </p:sp>
      <p:sp>
        <p:nvSpPr>
          <p:cNvPr id="9" name="cmd_756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🔗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MATCH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ABBINA</a:t>
            </a:r>
            <a:endParaRPr lang="en-US" sz="1100" dirty="0"/>
          </a:p>
        </p:txBody>
      </p:sp>
      <p:sp>
        <p:nvSpPr>
          <p:cNvPr id="10" name="meta_757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1" name="tag_758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Controlled practice</a:t>
            </a:r>
            <a:endParaRPr lang="en-US" sz="850" dirty="0"/>
          </a:p>
        </p:txBody>
      </p:sp>
      <p:pic>
        <p:nvPicPr>
          <p:cNvPr id="12" name="logo_75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76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Reading · paragraphs   ·   📖 SB p.17 · 3b</a:t>
            </a:r>
            <a:endParaRPr lang="en-US" sz="800" dirty="0"/>
          </a:p>
        </p:txBody>
      </p:sp>
      <p:sp>
        <p:nvSpPr>
          <p:cNvPr id="14" name="st_761"/>
          <p:cNvSpPr/>
          <p:nvPr/>
        </p:nvSpPr>
        <p:spPr>
          <a:xfrm rot="-180000">
            <a:off x="7315200" y="4773168"/>
            <a:ext cx="1600200" cy="292608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EXTRA · if there's time</a:t>
            </a:r>
            <a:endParaRPr lang="en-US" sz="900" dirty="0"/>
          </a:p>
        </p:txBody>
      </p:sp>
      <p:sp>
        <p:nvSpPr>
          <p:cNvPr id="15" name="cd_762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76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ih_764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8" name="il_765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where she went on holiday → D</a:t>
            </a:r>
            <a:endParaRPr lang="en-US" sz="1050" dirty="0"/>
          </a:p>
        </p:txBody>
      </p:sp>
      <p:sp>
        <p:nvSpPr>
          <p:cNvPr id="19" name="pf_766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767" descr="/home/claude/lls-course/v2/cache/2a1_cycle_holiday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1" name="bd_768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q_769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she decided to save money</a:t>
            </a:r>
            <a:endParaRPr lang="en-US" sz="1150" dirty="0"/>
          </a:p>
        </p:txBody>
      </p:sp>
      <p:sp>
        <p:nvSpPr>
          <p:cNvPr id="23" name="R1_chip770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endParaRPr lang="en-US" sz="1000" dirty="0"/>
          </a:p>
        </p:txBody>
      </p:sp>
      <p:sp>
        <p:nvSpPr>
          <p:cNvPr id="24" name="bd_771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q_772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often she saw her friends</a:t>
            </a:r>
            <a:endParaRPr lang="en-US" sz="1150" dirty="0"/>
          </a:p>
        </p:txBody>
      </p:sp>
      <p:sp>
        <p:nvSpPr>
          <p:cNvPr id="26" name="R2_chip773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</a:t>
            </a:r>
            <a:endParaRPr lang="en-US" sz="1000" dirty="0"/>
          </a:p>
        </p:txBody>
      </p:sp>
      <p:sp>
        <p:nvSpPr>
          <p:cNvPr id="27" name="bd_774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q_775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she achieved</a:t>
            </a:r>
            <a:endParaRPr lang="en-US" sz="1150" dirty="0"/>
          </a:p>
        </p:txBody>
      </p:sp>
      <p:sp>
        <p:nvSpPr>
          <p:cNvPr id="29" name="R3_chip776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</a:t>
            </a:r>
            <a:endParaRPr lang="en-US" sz="1000" dirty="0"/>
          </a:p>
        </p:txBody>
      </p:sp>
      <p:sp>
        <p:nvSpPr>
          <p:cNvPr id="30" name="bd_777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q_778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her advice for other people</a:t>
            </a:r>
            <a:endParaRPr lang="en-US" sz="1150" dirty="0"/>
          </a:p>
        </p:txBody>
      </p:sp>
      <p:sp>
        <p:nvSpPr>
          <p:cNvPr id="32" name="R4_chip779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endParaRPr lang="en-US" sz="1000" dirty="0"/>
          </a:p>
        </p:txBody>
      </p:sp>
      <p:sp>
        <p:nvSpPr>
          <p:cNvPr id="33" name="bd_780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q_781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she saved money at home</a:t>
            </a:r>
            <a:endParaRPr lang="en-US" sz="1150" dirty="0"/>
          </a:p>
        </p:txBody>
      </p:sp>
      <p:sp>
        <p:nvSpPr>
          <p:cNvPr id="35" name="R5_chip782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</a:t>
            </a:r>
            <a:endParaRPr lang="en-US" sz="1000" dirty="0"/>
          </a:p>
        </p:txBody>
      </p:sp>
      <p:sp>
        <p:nvSpPr>
          <p:cNvPr id="36" name="bd_783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q_784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she discovered</a:t>
            </a:r>
            <a:endParaRPr lang="en-US" sz="1150" dirty="0"/>
          </a:p>
        </p:txBody>
      </p:sp>
      <p:sp>
        <p:nvSpPr>
          <p:cNvPr id="38" name="R6_chip785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8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25</a:t>
            </a:r>
            <a:endParaRPr lang="en-US" sz="2200" dirty="0"/>
          </a:p>
        </p:txBody>
      </p:sp>
      <p:pic>
        <p:nvPicPr>
          <p:cNvPr id="4" name="brY_78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788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Describe it!</a:t>
            </a:r>
            <a:endParaRPr lang="en-US" sz="2500" dirty="0"/>
          </a:p>
        </p:txBody>
      </p:sp>
      <p:pic>
        <p:nvPicPr>
          <p:cNvPr id="6" name="brP_78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424428" cy="402336"/>
          </a:xfrm>
          <a:prstGeom prst="rect">
            <a:avLst/>
          </a:prstGeom>
        </p:spPr>
      </p:pic>
      <p:sp>
        <p:nvSpPr>
          <p:cNvPr id="7" name="ins_790"/>
          <p:cNvSpPr/>
          <p:nvPr/>
        </p:nvSpPr>
        <p:spPr>
          <a:xfrm>
            <a:off x="1353312" y="731520"/>
            <a:ext cx="31683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Explain the word. Don't say it!</a:t>
            </a:r>
            <a:endParaRPr lang="en-US" sz="1250" dirty="0"/>
          </a:p>
        </p:txBody>
      </p:sp>
      <p:sp>
        <p:nvSpPr>
          <p:cNvPr id="8" name="insIT_791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Spiega la parola. Non dirla!</a:t>
            </a:r>
            <a:endParaRPr lang="en-US" sz="950" dirty="0"/>
          </a:p>
        </p:txBody>
      </p:sp>
      <p:sp>
        <p:nvSpPr>
          <p:cNvPr id="9" name="cmd_792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793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794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2" name="logo_79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79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2A-1 · Vocabulary game</a:t>
            </a:r>
            <a:endParaRPr lang="en-US" sz="800" dirty="0"/>
          </a:p>
        </p:txBody>
      </p:sp>
      <p:sp>
        <p:nvSpPr>
          <p:cNvPr id="14" name="st_797"/>
          <p:cNvSpPr/>
          <p:nvPr/>
        </p:nvSpPr>
        <p:spPr>
          <a:xfrm rot="-180000">
            <a:off x="7315200" y="4773168"/>
            <a:ext cx="1600200" cy="292608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EXTRA · if there's time</a:t>
            </a:r>
            <a:endParaRPr lang="en-US" sz="900" dirty="0"/>
          </a:p>
        </p:txBody>
      </p:sp>
      <p:sp>
        <p:nvSpPr>
          <p:cNvPr id="15" name="cd_798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79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7" name="ih_800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8" name="il_801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looks at the screen. B turns around.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guarda lo schermo. B si gira.</a:t>
            </a:r>
            <a:endParaRPr lang="en-US" sz="10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explains the word. Don't say 'money'!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spiega la parola. Non dire 'money'!</a:t>
            </a:r>
            <a:endParaRPr lang="en-US" sz="10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guesses. Then swap.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indovina. Poi scambiatevi.</a:t>
            </a:r>
            <a:endParaRPr lang="en-US" sz="1000" dirty="0"/>
          </a:p>
        </p:txBody>
      </p:sp>
      <p:sp>
        <p:nvSpPr>
          <p:cNvPr id="19" name="pf_802"/>
          <p:cNvSpPr/>
          <p:nvPr/>
        </p:nvSpPr>
        <p:spPr>
          <a:xfrm rot="-120000">
            <a:off x="411480" y="3611880"/>
            <a:ext cx="2468880" cy="1143000"/>
          </a:xfrm>
          <a:prstGeom prst="roundRect">
            <a:avLst>
              <a:gd name="adj" fmla="val 1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803" descr="/home/claude/lls-course/v2/cache/2a1_waste_jpg_572x25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3657600"/>
            <a:ext cx="2377440" cy="1051560"/>
          </a:xfrm>
          <a:prstGeom prst="rect">
            <a:avLst/>
          </a:prstGeom>
        </p:spPr>
      </p:pic>
      <p:sp>
        <p:nvSpPr>
          <p:cNvPr id="21" name="rl_804"/>
          <p:cNvSpPr/>
          <p:nvPr/>
        </p:nvSpPr>
        <p:spPr>
          <a:xfrm>
            <a:off x="3246120" y="14173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explains</a:t>
            </a:r>
            <a:endParaRPr lang="en-US" sz="1100" dirty="0"/>
          </a:p>
        </p:txBody>
      </p:sp>
      <p:sp>
        <p:nvSpPr>
          <p:cNvPr id="22" name="R1_w805"/>
          <p:cNvSpPr/>
          <p:nvPr/>
        </p:nvSpPr>
        <p:spPr>
          <a:xfrm>
            <a:off x="3246120" y="185623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mortgage</a:t>
            </a:r>
            <a:endParaRPr lang="en-US" sz="1700" dirty="0"/>
          </a:p>
        </p:txBody>
      </p:sp>
      <p:sp>
        <p:nvSpPr>
          <p:cNvPr id="23" name="R3_w806"/>
          <p:cNvSpPr/>
          <p:nvPr/>
        </p:nvSpPr>
        <p:spPr>
          <a:xfrm>
            <a:off x="3246120" y="258775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salary</a:t>
            </a:r>
            <a:endParaRPr lang="en-US" sz="1700" dirty="0"/>
          </a:p>
        </p:txBody>
      </p:sp>
      <p:sp>
        <p:nvSpPr>
          <p:cNvPr id="24" name="R5_w807"/>
          <p:cNvSpPr/>
          <p:nvPr/>
        </p:nvSpPr>
        <p:spPr>
          <a:xfrm>
            <a:off x="3246120" y="331927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inherit</a:t>
            </a:r>
            <a:endParaRPr lang="en-US" sz="1700" dirty="0"/>
          </a:p>
        </p:txBody>
      </p:sp>
      <p:sp>
        <p:nvSpPr>
          <p:cNvPr id="25" name="R7_w808"/>
          <p:cNvSpPr/>
          <p:nvPr/>
        </p:nvSpPr>
        <p:spPr>
          <a:xfrm>
            <a:off x="3246120" y="405079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borrow</a:t>
            </a:r>
            <a:endParaRPr lang="en-US" sz="1700" dirty="0"/>
          </a:p>
        </p:txBody>
      </p:sp>
      <p:sp>
        <p:nvSpPr>
          <p:cNvPr id="26" name="rl_809"/>
          <p:cNvSpPr/>
          <p:nvPr/>
        </p:nvSpPr>
        <p:spPr>
          <a:xfrm>
            <a:off x="6080760" y="14173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 explains</a:t>
            </a:r>
            <a:endParaRPr lang="en-US" sz="1100" dirty="0"/>
          </a:p>
        </p:txBody>
      </p:sp>
      <p:sp>
        <p:nvSpPr>
          <p:cNvPr id="27" name="R2_w810"/>
          <p:cNvSpPr/>
          <p:nvPr/>
        </p:nvSpPr>
        <p:spPr>
          <a:xfrm>
            <a:off x="6080760" y="185623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bill</a:t>
            </a:r>
            <a:endParaRPr lang="en-US" sz="1700" dirty="0"/>
          </a:p>
        </p:txBody>
      </p:sp>
      <p:sp>
        <p:nvSpPr>
          <p:cNvPr id="28" name="R4_w811"/>
          <p:cNvSpPr/>
          <p:nvPr/>
        </p:nvSpPr>
        <p:spPr>
          <a:xfrm>
            <a:off x="6080760" y="258775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waste</a:t>
            </a:r>
            <a:endParaRPr lang="en-US" sz="1700" dirty="0"/>
          </a:p>
        </p:txBody>
      </p:sp>
      <p:sp>
        <p:nvSpPr>
          <p:cNvPr id="29" name="R6_w812"/>
          <p:cNvSpPr/>
          <p:nvPr/>
        </p:nvSpPr>
        <p:spPr>
          <a:xfrm>
            <a:off x="6080760" y="331927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insurance</a:t>
            </a:r>
            <a:endParaRPr lang="en-US" sz="1700" dirty="0"/>
          </a:p>
        </p:txBody>
      </p:sp>
      <p:sp>
        <p:nvSpPr>
          <p:cNvPr id="30" name="R8_w813"/>
          <p:cNvSpPr/>
          <p:nvPr/>
        </p:nvSpPr>
        <p:spPr>
          <a:xfrm>
            <a:off x="6080760" y="405079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can't afford</a:t>
            </a:r>
            <a:endParaRPr lang="en-US" sz="17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2A-1 Spending money</dc:title>
  <dc:subject>PptxGenJS Presentation</dc:subject>
  <dc:creator>PptxGenJS</dc:creator>
  <cp:lastModifiedBy>PptxGenJS</cp:lastModifiedBy>
  <cp:revision>1</cp:revision>
  <dcterms:created xsi:type="dcterms:W3CDTF">2026-10-12T10:13:53Z</dcterms:created>
  <dcterms:modified xsi:type="dcterms:W3CDTF">2026-10-12T10:13:53Z</dcterms:modified>
</cp:coreProperties>
</file>