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quick show of hands: yes / no / maybe for a month! Take 2–3 reasons (no coffee? no shopping? no pizza?). Read the 'Today you're going to…' list together. Optional lead-in from the TG (books closed): write SPEND on the board, elicit spend TIME + -ing (spend time doing) and spend MONEY ON something. Don't teach the money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Last lesson was the Practical English video; the warmer goes back to 1B part 2 (birth order article + personality adjectives), so revise those. Read the examples; ask 'Which child are YOU?' to one or two students. Drill the stress on the prefixes (imPAtient, unreLIable, disHONest). Then play 'Who am I?'.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 · books closed · format: team clue quiz (different from the 1B-2 warmer). Two teams. Read each clue aloud; teams have 10 seconds to answer. Click once per line. Answers: 1 the oldest child · 2 the middle child · 3 the youngest child · 4 the only child (all from the birth order article, SB p.12) · 5 stubborn · 6 impatient, unreliable, dishonest. Bonus point for the right stress (prefixes are never stressed: imPAtient, unreLIable, disHONest). Fast extra: 'Which one are YOU? Give one adjective.' ICQ: 'Do you need to say the answer or write it?' (say it) · 'How long do you have?' (10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the money quiz (3 min)
LEAD-IN (3 min). Small teams (TG). Teams write their answers for all 7, then click once per line. Answers (TG key): Japan – the yen · Mexico – the peso · Switzerland – the franc · Turkey – the lira · F (the first coins were made around 600 BC by the Lydians of Asia Minor, present-day Turkey) · F (e.g. the Czech Republic, Hungary, Poland don't use the euro) · T. Show of hands: which team got everything right? If you have the book, the full quiz is on p.16 (coins 1–8: Russia rouble · China yuan · Japan yen · Poland zloty · Brazil real · Mexico peso · Switzerland franc · Hungary forint; France euro, Turkey lira; NB the TG's '2 China, lei' is a misprint — the coin says YI YUAN). Other true/false items in the book: b The largest English note is worth £50 (T) · c Bank notes are always made of paper (F – most UK notes are polymer, a plastic). ICQ: 'Do you shout or write?' (write).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money verbs (4 min)
ELICIT FIRST (3 min). Demo item 0 with the class: 'Can you lend me your pen? / Can I borrow your pen?' (TG). Pairs explain each pair of verbs in English, with an example if they can. Click once per item. Meanings follow the Vocabulary Bank / audio 2.1 sentences and the TG notes. Monitor: which verbs are new? ICQs: 'Are you writing?' (no, talking) · 'English or Italian?' (English). Next slide =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in Italian (2 min)
CONSOLIDATION for slower students (2 min). Class says the Italian aloud, then click once per word to show its Italian. Spend 20 seconds on the warning box: Italian 'prestare' covers both lend and borrow; earn = guadagnare (work) ≠ win = vincere; charge = far pagare (not 'caricare' here). CCQ: 'I give you my book. Do I lend or borrow?' (lend) · 'You get €1,000 from your job. Do you earn or win it?' (earn).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practice (3 min)
CONTROLLED PRACTICE (3 min). Pairs guess the verbs first (books closed). Play 2.1 (13 sentences; the slide shows 8 of them), pausing after each one. Click once per sentence. Answers (audio script 2.1): a inherit · b lend · c borrow · d afford · e charges · f owe · g earn · h worth. The other 2.1 sentences: I save money every week · I often waste money · They cost $200 · I want to invest some money · We want to raise money for the new hospital. Drill with the audio (TG). EXTRA SUPPORT (TG): cover the answers and try to remember the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· prepositions (4 min)
GAME 2 (3 min). Pairs. Demo line 1 with a strong student. Round 1: A reads lines 1–4, B answers; round 2: swap for 5–8. Then click once per line to check. Sentences are shortened from audio 2.2 / 2.4. Answers: by · for · on · in · to · from · into · out. Silent b in debt /det/ (TG). Phrasal verbs (2.4, teach in 1 minute after the game): take out (money from a cash machine) · pay back (Can I pay you back next week?) — both separable: pay me the money back · live off = get your money from someone else (live off my parents at university) · live on = have enough for basic needs (difficult to live on one salary). Other 2.2 sentence: They charged us €60 FOR a bottle of wine. ICQ: 'How long does B have?' (3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Vocabulary · money nouns (3 min)
VOCABULARY (3 min). Pairs read each meaning and say the word (books closed; strong classes first, then the class). Click once per line: the word + the Italian. Answers = the eight nouns of Vocabulary Bank 3 (audio 2.3): bill · salary · tax · loan · budget · mortgage · contactless payment · insurance. TG: a loan = money lent by a person or a bank; a mortgage = only money from a bank to buy a house or flat. Pronunciation: mortgage /ˈmɔːɡɪdʒ/ – silent t. Personalised forced choice (no numbers needed): 'Which of these does your family pay every month?' Play 2.3 to drill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o and or (4 min)
PRONUNCIATION (3 min). 2a lead-in (30 sec): 'Three words that rhyme with money?' → sunny · funny · honey (TG). Elicit the sound pictures: up /ʌ/, clock /ɒ/, phone /əʊ/. Pairs say each word aloud and choose the colour; click once per word. Answers (audio 2.5 / 2.6): money /ʌ/ · borrow /ɒ/ · clothes /əʊ/ · worry /ʌ/ · honest /ɒ/ · owe /əʊ/ · afford /ɔː/ · worth /ɜː/. Full lists to drill (2.5): /ʌ/ done, money, nothing, some, won, worry · /ɒ/ borrow, cost, dollar, honest, promise, shopping · /əʊ/ clothes, loan, note, owe, sold. 2.6: afford, mortgage, order, organized, store = /ɔː/ (or is /ɔː/ when stressed); work, worth = /ɜː/ (most wor- + consonant: word, world, worse). Play 2.5 and 2.6: listen and repeat (chorally, then individually). Rules (TG): o between consonants often /ɒ/ (but worry) · o + consonant + e usually /əʊ/ (hope) but some, money = /ʌ/ · ol / oa = /əʊ/ (told, road). Italian speakers say every o the same — exaggerate the mouth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· dictation (3 min)
DICTATION (3 min). Students write only the missing o / or words (the book asks for full sentences – strong classes can write everything). Play 2.7, pausing after each sentence. Pairs compare; play again if needed. Click once per sentence. Answers (audio script 2.7): 1 Let's go shopping for clothes. · 2 Can I borrow some money? · 3 He won a million dollars. · 4 I've done nothing wrong. · 5 They can't afford to pay the mortgage. · 6 I work in a store. Then pairs practise saying them (EXTRA SUPPORT: model and drill first). Listen for won /wʌn/ (= one!), done /dʌn/, work /wɜːk/, afford /əˈfɔːd/. Micro-challenge: who can say sentence 5 three times fast?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class story (TPRS) (4 min)
TPRS CLASS STORY (4 min) – after the money verbs, prepositions, nouns and the o-sounds, and BEFORE 'Money Q&amp;A': students hear the key verbs 15–20 times in a context (earn ≠ win, lend ≠ borrow, owe, can't afford, save for, waste money on, pay back) so they're ready to use them about themselves. Click once per line. For each line: 1) say it, 2) ask the questions in grey round the class (yes/no → either/or → who/what), 3) let the CLASS change details: 'Is Salvo saving for a scooter? No? What is he saving for?' – accept their idea and use it in later lines (change what the sister wastes the money on too!). Students answer with one word or a short phrase – that's fine. Push the classic Italian mistake each time: 'Does she want to LEND or BORROW?' (prestare = both). Listen for the o-sounds from the previous slides: money /ʌ/, borrow /ɒ/, owe /əʊ/, afford /ɔː/.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money and you (5 min)
SPEAKING (4 min). Replaces the book's Communication Money Q&amp;A (pp.106 / 111 are not in our files – if you prefer the book's questions, use them instead). Questions appear ONE PER CLICK: about 40 seconds each, then click. Follow-up rule: after every answer, ask one more question (Why? How much? What happened?). Nobody has to talk about how much they or their family earn or have: teach 'I'd rather not say' first. Monitor for the target words and prepositions (spend ON, pay BY card, lend TO, borrow FROM) and note 4–5 errors for delayed correction. Feedback: the most surprising answer from each pair. ICQ: 'One question or many at once?'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prediction (2 min)
PREDICTION (2 min). 3a (whole class): 'Why do you think someone might decide to have a no-spend year?' Take 2–3 ideas (to save for a house, to pay a loan…). Then pairs look at the number bank and guess what each number is (any sensible guess – wild guesses are fun). They check on the next four slides: the numbers are gaps 1–7 in the article (£230k = £230,000, £23k = £23,000). Pre-teach only 'cycle' and 'budget' if needed (budget was taught on slide 9). ICQ: 'Are you reading the article now?' (no – just 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paragraph A (3 min)
READ FOR SPECIFIC INFORMATION (3 min). Pairs read paragraph A and decide which number from the bank goes in gaps 1–3. Click once per gap: the number appears highlighted IN the text. Answers (SB article): 1 £230,000 (her mortgage – the bank showed it as £230k) · 2 £1,570 (in the pub) · 3 £30 (a week for food and household essentials). Ask: 'Was your guess right?' Check: finances, unnecessarily, radical. 'What couldn't she spend money on?' (clothes, buses or flights, meals out, drinks, cosmetics).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Reading · paragraphs B–C (2 min)
READ FOR SPECIFIC INFORMATION (2 min). Same procedure: gap 4, one click. Answer (SB article): 4 60 (miles to Brighton). Quick questions: 'Was her food good?' (cheap and healthy, but 'really boring') · 'How did she feel when she went out less?' (more isolated) · 'Would you drink tap water in a pub with your friends?'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Reading · paragraphs D–E (2 min)
READ FOR SPECIFIC INFORMATION (2 min). Gaps 5–7, click once per gap. Answers (SB article): 5 £1.95 (a bag of chips) · 6 £23,000 (she saved – the bank showed it as £23k) · 7 6,500 (miles she cycled). Quick question: 'What were the good things about the year?' (£23,000, slimmer and fitter, freer and happier, confidence, a sense of adventure).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Reading · paragraphs F–G (2 min)
READ AND GUESS (2 min). Pairs read F and G and guess need or want for a–c (the meaning makes it clear). Click 1 = a + b together, click 2 = c. Answers (SB article): a need · b want · c want. Quick questions on F: 'What did she do on the first evening after the year?' (bought all her friends a drink) · 'Is she spending a lot again now?' (no – a few clothes, some perfume, a taxi). Her key tip leads into the final speaking task (slide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Reading · detail (3 min)
READ FOR DETAIL (3 min). The 7 sentences are the book's 3c, slightly shortened (one per paragraph – TG). Pairs decide T or F and find the words that prove it (go back to slides 15–18 if needed). Correct the false ones. Click once per sentence: the evidence from the text appears. Answers (TG key): 1 F (She couldn't use buses or flights) · 2 F (She had plenty of cheap food, but it was boring) · 3 T · 4 F (She had a bag of chips in East Anglia) · 5 F (She is much slimmer and fitter) · 6 T · 7 T. 3d (30 sec, whole class): 'Do you agree with her key tip? Why (not)?'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Reading · compound nouns (2 min)
VOCABULARY FROM THE TEXT (2 min). Compound nouns box (SB): two nouns together, the first describes the second (e.g. cash machine); the stress is usually on the FIRST noun. Pairs find the six compound nouns in the article (slides 15–17). Click once per word. Answers (TG): olive oil · electricity bill · cleaning products · cycling trip · beauty treatments · tap water. Drill with first-word stress: OLive oil, eLECtricity bill, CLEANing products. Italian puts the words the other way round (olio d'oliva) – English: describing word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Speaking · could you do it? (5 min)
FREER PRACTICE (4 min). First (1 min) go through the SB box 'would for imaginary situations': We use would to talk about imaginary situations, e.g. To save money, I'd spend less on clothes and I'd cook for myself at home. CCQ: 'Am I doing a no-spend year now?' (no – I'm imagining it). Groups of 3. Questions appear ONE PER CLICK (questions 1–4 are the book's 3f; 5–6 added): about 30–40 seconds each (let groups skip one if short of time). You could tell the class whether YOU could do what Michelle did (TG). Monitor; then 1 minute of delayed error correction on the board (errors from both speaking tasks: spend for → spend ON, I would to… → I'd…, lend/borrow).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Exit · what can you remember? (2 min)
RETRIEVAL EXIT (2 min). Books closed. Pairs: 3 money verbs with their preposition (e.g. spend ON, borrow FROM, lend TO, pay BY card, invest IN), 2 words with a different o sound, 1 sentence with I'd. A few students share. Set homework (on the slide and in the app; easier sheet available). Answers to the Workbook are in the teacher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Reading · paragraphs (3 min)
EXTRA (3 min, if there's time – or use it as the gist task BEFORE the gap slides with a strong class). Book 3b: match paragraphs A–G to topics 1–7 (the topic words in bold in the book: on holiday, why, friends, achieved, advice, at home, discovered). Click once per topic. Answers (TG key A 2 · B 6 · C 3 · D 1 · E 4 · F 7 · G 5): 1 where she went on holiday D · 2 why she decided to save money A · 3 how often she saw her friends C · 4 what she achieved E · 5 her advice G · 6 how she saved money at home B · 7 what she discovered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Vocabulary game (4 min)
EXTRA GAME (4 min) – or a warmer for 2A part 2. Demo first: 'You get it every month from your job' → salary. Click to show each word (round 1 = A explains to B, round 2 = B explains, A turns around). 20 seconds per word. Rule: the word 'money' is banned! ICQ: 'Can you say the word?' (no) · 'Can you say money?'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it, spend it or waste it?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how you spend and save money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🔤  learn about 30 money words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the letter o in five different ways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woman who spent nothing for a year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way! I love buying clothes – I couldn't stop for a year.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year without spending money. Could YOU do it?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1b2_youngest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PE1: meeting the parents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1B: personality, birth order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136702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704588" y="1783080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anxious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815584" y="1783080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sociable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7013448" y="1783080"/>
            <a:ext cx="1367028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stubborn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4443984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charming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5641848" y="218541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spoilt</a:t>
            </a:r>
            <a:endParaRPr lang="en-US" sz="1200" dirty="0"/>
          </a:p>
        </p:txBody>
      </p:sp>
      <p:sp>
        <p:nvSpPr>
          <p:cNvPr id="26" name="lv_40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9" name="cd_43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44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Birth order</a:t>
            </a:r>
            <a:endParaRPr lang="en-US" sz="1100" dirty="0"/>
          </a:p>
        </p:txBody>
      </p:sp>
      <p:sp>
        <p:nvSpPr>
          <p:cNvPr id="31" name="rf_45"/>
          <p:cNvSpPr/>
          <p:nvPr/>
        </p:nvSpPr>
        <p:spPr>
          <a:xfrm>
            <a:off x="3383280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oldest · a middle · a youngest · an only child</a:t>
            </a:r>
            <a:endParaRPr lang="en-US" sz="850" dirty="0"/>
          </a:p>
        </p:txBody>
      </p:sp>
      <p:sp>
        <p:nvSpPr>
          <p:cNvPr id="32" name="R1_rl46"/>
          <p:cNvSpPr/>
          <p:nvPr/>
        </p:nvSpPr>
        <p:spPr>
          <a:xfrm>
            <a:off x="3383280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oldest child is often ambitious.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child sorts out arguments.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youngest is charming but disorganized.</a:t>
            </a:r>
            <a:endParaRPr lang="en-US" sz="950" dirty="0"/>
          </a:p>
        </p:txBody>
      </p:sp>
      <p:sp>
        <p:nvSpPr>
          <p:cNvPr id="33" name="cd_47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48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Opposites: negative prefixes</a:t>
            </a:r>
            <a:endParaRPr lang="en-US" sz="1000" dirty="0"/>
          </a:p>
        </p:txBody>
      </p:sp>
      <p:sp>
        <p:nvSpPr>
          <p:cNvPr id="35" name="rf_49"/>
          <p:cNvSpPr/>
          <p:nvPr/>
        </p:nvSpPr>
        <p:spPr>
          <a:xfrm>
            <a:off x="6249924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prefixes are never stressed: imPAtient</a:t>
            </a:r>
            <a:endParaRPr lang="en-US" sz="850" dirty="0"/>
          </a:p>
        </p:txBody>
      </p:sp>
      <p:sp>
        <p:nvSpPr>
          <p:cNvPr id="36" name="R2_rl50"/>
          <p:cNvSpPr/>
          <p:nvPr/>
        </p:nvSpPr>
        <p:spPr>
          <a:xfrm>
            <a:off x="6249924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so impatient! He can't wait.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unreliable – she's always late.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Telling lies is dishonest.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Who is it? What's the word?</a:t>
            </a:r>
            <a:endParaRPr lang="en-US" sz="1250" dirty="0"/>
          </a:p>
        </p:txBody>
      </p:sp>
      <p:sp>
        <p:nvSpPr>
          <p:cNvPr id="8" name="insIT_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 Chi è? Qual è la parola?</a:t>
            </a:r>
            <a:endParaRPr lang="en-US" sz="950" dirty="0"/>
          </a:p>
        </p:txBody>
      </p:sp>
      <p:sp>
        <p:nvSpPr>
          <p:cNvPr id="9" name="note_5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Warmer · last lesson   ·   📖 Recycles 1B part 2: birth order article, personality adjectives, negative prefixes</a:t>
            </a:r>
            <a:endParaRPr lang="en-US" sz="800" dirty="0"/>
          </a:p>
        </p:txBody>
      </p:sp>
      <p:sp>
        <p:nvSpPr>
          <p:cNvPr id="12" name="cd_60"/>
          <p:cNvSpPr/>
          <p:nvPr/>
        </p:nvSpPr>
        <p:spPr>
          <a:xfrm>
            <a:off x="320040" y="1417320"/>
            <a:ext cx="2697480" cy="2426208"/>
          </a:xfrm>
          <a:prstGeom prst="roundRect">
            <a:avLst>
              <a:gd name="adj" fmla="val 527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63"/>
          <p:cNvSpPr/>
          <p:nvPr/>
        </p:nvSpPr>
        <p:spPr>
          <a:xfrm>
            <a:off x="886968" y="1911096"/>
            <a:ext cx="2039112" cy="1859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the answer in 10 seconds.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 la risposta in 10 secondi.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Right stress = +1!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Accento giusto = +1!</a:t>
            </a:r>
            <a:endParaRPr lang="en-US" sz="1200" dirty="0"/>
          </a:p>
        </p:txBody>
      </p:sp>
      <p:sp>
        <p:nvSpPr>
          <p:cNvPr id="16" name="pf_64"/>
          <p:cNvSpPr/>
          <p:nvPr/>
        </p:nvSpPr>
        <p:spPr>
          <a:xfrm rot="-120000">
            <a:off x="944571" y="3980688"/>
            <a:ext cx="1402697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5" descr="/home/claude/lls-course/v2/cache/spare_1b2_sharing_jpg_315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990291" y="4026408"/>
            <a:ext cx="1311257" cy="1051560"/>
          </a:xfrm>
          <a:prstGeom prst="rect">
            <a:avLst/>
          </a:prstGeom>
        </p:spPr>
      </p:pic>
      <p:sp>
        <p:nvSpPr>
          <p:cNvPr id="18" name="bd_6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6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responsible and ambitious, but a bit anxious."</a:t>
            </a:r>
            <a:endParaRPr lang="en-US" sz="1150" dirty="0"/>
          </a:p>
        </p:txBody>
      </p:sp>
      <p:sp>
        <p:nvSpPr>
          <p:cNvPr id="20" name="chip_6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oldest child</a:t>
            </a:r>
            <a:endParaRPr lang="en-US" sz="1200" dirty="0"/>
          </a:p>
        </p:txBody>
      </p:sp>
      <p:sp>
        <p:nvSpPr>
          <p:cNvPr id="21" name="bd_6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7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sociable. I sort out arguments."</a:t>
            </a:r>
            <a:endParaRPr lang="en-US" sz="1200" dirty="0"/>
          </a:p>
        </p:txBody>
      </p:sp>
      <p:sp>
        <p:nvSpPr>
          <p:cNvPr id="23" name="R1_chip7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middle child</a:t>
            </a:r>
            <a:endParaRPr lang="en-US" sz="1200" dirty="0"/>
          </a:p>
        </p:txBody>
      </p:sp>
      <p:sp>
        <p:nvSpPr>
          <p:cNvPr id="24" name="bd_7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charming, but disorganized. I'm the baby!"</a:t>
            </a:r>
            <a:endParaRPr lang="en-US" sz="1200" dirty="0"/>
          </a:p>
        </p:txBody>
      </p:sp>
      <p:sp>
        <p:nvSpPr>
          <p:cNvPr id="26" name="R2_chip7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youngest child</a:t>
            </a:r>
            <a:endParaRPr lang="en-US" sz="1200" dirty="0"/>
          </a:p>
        </p:txBody>
      </p:sp>
      <p:sp>
        <p:nvSpPr>
          <p:cNvPr id="27" name="bd_7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independent. I spend a lot of time with adults."</a:t>
            </a:r>
            <a:endParaRPr lang="en-US" sz="1200" dirty="0"/>
          </a:p>
        </p:txBody>
      </p:sp>
      <p:sp>
        <p:nvSpPr>
          <p:cNvPr id="29" name="R3_chip7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only child</a:t>
            </a:r>
            <a:endParaRPr lang="en-US" sz="1200" dirty="0"/>
          </a:p>
        </p:txBody>
      </p:sp>
      <p:sp>
        <p:nvSpPr>
          <p:cNvPr id="30" name="bd_7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7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never changes her mind!"</a:t>
            </a:r>
            <a:endParaRPr lang="en-US" sz="1200" dirty="0"/>
          </a:p>
        </p:txBody>
      </p:sp>
      <p:sp>
        <p:nvSpPr>
          <p:cNvPr id="32" name="R4_chip8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STUBborn.</a:t>
            </a:r>
            <a:endParaRPr lang="en-US" sz="1200" dirty="0"/>
          </a:p>
        </p:txBody>
      </p:sp>
      <p:sp>
        <p:nvSpPr>
          <p:cNvPr id="33" name="bd_8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reliable · honest</a:t>
            </a:r>
            <a:endParaRPr lang="en-US" sz="1200" dirty="0"/>
          </a:p>
        </p:txBody>
      </p:sp>
      <p:sp>
        <p:nvSpPr>
          <p:cNvPr id="35" name="R5_chip8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unreLIable · disHONest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money quiz</a:t>
            </a:r>
            <a:endParaRPr lang="en-US" sz="2500" dirty="0"/>
          </a:p>
        </p:txBody>
      </p:sp>
      <p:pic>
        <p:nvPicPr>
          <p:cNvPr id="6" name="brP_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88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currency? True or false?</a:t>
            </a:r>
            <a:endParaRPr lang="en-US" sz="1250" dirty="0"/>
          </a:p>
        </p:txBody>
      </p:sp>
      <p:sp>
        <p:nvSpPr>
          <p:cNvPr id="8" name="insIT_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valuta? Vero o falso?</a:t>
            </a:r>
            <a:endParaRPr lang="en-US" sz="950" dirty="0"/>
          </a:p>
        </p:txBody>
      </p:sp>
      <p:sp>
        <p:nvSpPr>
          <p:cNvPr id="9" name="note_9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Lead-in · the money quiz   ·   📖 SB p.16 · 1a The money quiz</a:t>
            </a:r>
            <a:endParaRPr lang="en-US" sz="800" dirty="0"/>
          </a:p>
        </p:txBody>
      </p:sp>
      <p:sp>
        <p:nvSpPr>
          <p:cNvPr id="12" name="cd_93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96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country or the sentence.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paese o la frase.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write the currency, or T / F.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scrivete la valuta, o V / F.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</a:t>
            </a:r>
            <a:endParaRPr lang="en-US" sz="1150" dirty="0"/>
          </a:p>
        </p:txBody>
      </p:sp>
      <p:sp>
        <p:nvSpPr>
          <p:cNvPr id="16" name="pf_97"/>
          <p:cNvSpPr/>
          <p:nvPr/>
        </p:nvSpPr>
        <p:spPr>
          <a:xfrm rot="-120000">
            <a:off x="899160" y="4069080"/>
            <a:ext cx="149352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98" descr="/home/claude/lls-course/v2/cache/2a1_coins_jpg_337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944880" y="4114800"/>
            <a:ext cx="1402080" cy="1051560"/>
          </a:xfrm>
          <a:prstGeom prst="rect">
            <a:avLst/>
          </a:prstGeom>
        </p:spPr>
      </p:pic>
      <p:sp>
        <p:nvSpPr>
          <p:cNvPr id="18" name="bd_99"/>
          <p:cNvSpPr/>
          <p:nvPr/>
        </p:nvSpPr>
        <p:spPr>
          <a:xfrm>
            <a:off x="3246120" y="1452590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100"/>
          <p:cNvSpPr/>
          <p:nvPr/>
        </p:nvSpPr>
        <p:spPr>
          <a:xfrm>
            <a:off x="3657600" y="1417320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Japan</a:t>
            </a:r>
            <a:endParaRPr lang="en-US" sz="1050" dirty="0"/>
          </a:p>
        </p:txBody>
      </p:sp>
      <p:sp>
        <p:nvSpPr>
          <p:cNvPr id="20" name="chip_101"/>
          <p:cNvSpPr/>
          <p:nvPr/>
        </p:nvSpPr>
        <p:spPr>
          <a:xfrm>
            <a:off x="6263640" y="1417320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yen</a:t>
            </a:r>
            <a:endParaRPr lang="en-US" sz="1050" dirty="0"/>
          </a:p>
        </p:txBody>
      </p:sp>
      <p:sp>
        <p:nvSpPr>
          <p:cNvPr id="21" name="bd_102"/>
          <p:cNvSpPr/>
          <p:nvPr/>
        </p:nvSpPr>
        <p:spPr>
          <a:xfrm>
            <a:off x="3246120" y="1916321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03"/>
          <p:cNvSpPr/>
          <p:nvPr/>
        </p:nvSpPr>
        <p:spPr>
          <a:xfrm>
            <a:off x="3657600" y="1881051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Mexico</a:t>
            </a:r>
            <a:endParaRPr lang="en-US" sz="1050" dirty="0"/>
          </a:p>
        </p:txBody>
      </p:sp>
      <p:sp>
        <p:nvSpPr>
          <p:cNvPr id="23" name="R1_chip104"/>
          <p:cNvSpPr/>
          <p:nvPr/>
        </p:nvSpPr>
        <p:spPr>
          <a:xfrm>
            <a:off x="6263640" y="1881051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peso</a:t>
            </a:r>
            <a:endParaRPr lang="en-US" sz="1050" dirty="0"/>
          </a:p>
        </p:txBody>
      </p:sp>
      <p:sp>
        <p:nvSpPr>
          <p:cNvPr id="24" name="bd_105"/>
          <p:cNvSpPr/>
          <p:nvPr/>
        </p:nvSpPr>
        <p:spPr>
          <a:xfrm>
            <a:off x="3246120" y="2380053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06"/>
          <p:cNvSpPr/>
          <p:nvPr/>
        </p:nvSpPr>
        <p:spPr>
          <a:xfrm>
            <a:off x="3657600" y="2344783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Switzerland</a:t>
            </a:r>
            <a:endParaRPr lang="en-US" sz="1050" dirty="0"/>
          </a:p>
        </p:txBody>
      </p:sp>
      <p:sp>
        <p:nvSpPr>
          <p:cNvPr id="26" name="R2_chip107"/>
          <p:cNvSpPr/>
          <p:nvPr/>
        </p:nvSpPr>
        <p:spPr>
          <a:xfrm>
            <a:off x="6263640" y="2344783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franc</a:t>
            </a:r>
            <a:endParaRPr lang="en-US" sz="1050" dirty="0"/>
          </a:p>
        </p:txBody>
      </p:sp>
      <p:sp>
        <p:nvSpPr>
          <p:cNvPr id="27" name="bd_108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09"/>
          <p:cNvSpPr/>
          <p:nvPr/>
        </p:nvSpPr>
        <p:spPr>
          <a:xfrm>
            <a:off x="3657600" y="2808514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Turkey</a:t>
            </a:r>
            <a:endParaRPr lang="en-US" sz="1050" dirty="0"/>
          </a:p>
        </p:txBody>
      </p:sp>
      <p:sp>
        <p:nvSpPr>
          <p:cNvPr id="29" name="R3_chip110"/>
          <p:cNvSpPr/>
          <p:nvPr/>
        </p:nvSpPr>
        <p:spPr>
          <a:xfrm>
            <a:off x="6263640" y="2808514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lira</a:t>
            </a:r>
            <a:endParaRPr lang="en-US" sz="1050" dirty="0"/>
          </a:p>
        </p:txBody>
      </p:sp>
      <p:sp>
        <p:nvSpPr>
          <p:cNvPr id="30" name="bd_111"/>
          <p:cNvSpPr/>
          <p:nvPr/>
        </p:nvSpPr>
        <p:spPr>
          <a:xfrm>
            <a:off x="3246120" y="3307515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12"/>
          <p:cNvSpPr/>
          <p:nvPr/>
        </p:nvSpPr>
        <p:spPr>
          <a:xfrm>
            <a:off x="3657600" y="3272246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Romans made the first coins.</a:t>
            </a:r>
            <a:endParaRPr lang="en-US" sz="1050" dirty="0"/>
          </a:p>
        </p:txBody>
      </p:sp>
      <p:sp>
        <p:nvSpPr>
          <p:cNvPr id="32" name="R4_chip113"/>
          <p:cNvSpPr/>
          <p:nvPr/>
        </p:nvSpPr>
        <p:spPr>
          <a:xfrm>
            <a:off x="6263640" y="3272246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the Lydians, about 600 BC (today's Turkey)</a:t>
            </a:r>
            <a:endParaRPr lang="en-US" sz="1050" dirty="0"/>
          </a:p>
        </p:txBody>
      </p:sp>
      <p:sp>
        <p:nvSpPr>
          <p:cNvPr id="33" name="bd_114"/>
          <p:cNvSpPr/>
          <p:nvPr/>
        </p:nvSpPr>
        <p:spPr>
          <a:xfrm>
            <a:off x="3246120" y="3771247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115"/>
          <p:cNvSpPr/>
          <p:nvPr/>
        </p:nvSpPr>
        <p:spPr>
          <a:xfrm>
            <a:off x="3657600" y="3735977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All EU countries use the euro.</a:t>
            </a:r>
            <a:endParaRPr lang="en-US" sz="1050" dirty="0"/>
          </a:p>
        </p:txBody>
      </p:sp>
      <p:sp>
        <p:nvSpPr>
          <p:cNvPr id="35" name="R5_chip116"/>
          <p:cNvSpPr/>
          <p:nvPr/>
        </p:nvSpPr>
        <p:spPr>
          <a:xfrm>
            <a:off x="6263640" y="3735977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e.g. Poland, Hungary, Czech Republic</a:t>
            </a:r>
            <a:endParaRPr lang="en-US" sz="1050" dirty="0"/>
          </a:p>
        </p:txBody>
      </p:sp>
      <p:sp>
        <p:nvSpPr>
          <p:cNvPr id="36" name="bd_117"/>
          <p:cNvSpPr/>
          <p:nvPr/>
        </p:nvSpPr>
        <p:spPr>
          <a:xfrm>
            <a:off x="3246120" y="4234978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118"/>
          <p:cNvSpPr/>
          <p:nvPr/>
        </p:nvSpPr>
        <p:spPr>
          <a:xfrm>
            <a:off x="3657600" y="4199709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British pound is the oldest currency still in use.</a:t>
            </a:r>
            <a:endParaRPr lang="en-US" sz="1050" dirty="0"/>
          </a:p>
        </p:txBody>
      </p:sp>
      <p:sp>
        <p:nvSpPr>
          <p:cNvPr id="38" name="R6_chip119"/>
          <p:cNvSpPr/>
          <p:nvPr/>
        </p:nvSpPr>
        <p:spPr>
          <a:xfrm>
            <a:off x="6263640" y="4199709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2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1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2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1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note_12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1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money verbs   ·   📖 Vocabulary Bank Money p.154 · 1 Verbs</a:t>
            </a:r>
            <a:endParaRPr lang="en-US" sz="800" dirty="0"/>
          </a:p>
        </p:txBody>
      </p:sp>
      <p:sp>
        <p:nvSpPr>
          <p:cNvPr id="12" name="cd_129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32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 / borrow → lend = give · borrow = take</a:t>
            </a:r>
            <a:endParaRPr lang="en-US" sz="1050" dirty="0"/>
          </a:p>
        </p:txBody>
      </p:sp>
      <p:sp>
        <p:nvSpPr>
          <p:cNvPr id="16" name="pf_133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34" descr="/home/claude/lls-course/v2/cache/2a1_lend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13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3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/ win</a:t>
            </a:r>
            <a:endParaRPr lang="en-US" sz="1150" dirty="0"/>
          </a:p>
        </p:txBody>
      </p:sp>
      <p:sp>
        <p:nvSpPr>
          <p:cNvPr id="20" name="R1_chip13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= from your job · win = in a game or the lottery</a:t>
            </a:r>
            <a:endParaRPr lang="en-US" sz="950" dirty="0"/>
          </a:p>
        </p:txBody>
      </p:sp>
      <p:sp>
        <p:nvSpPr>
          <p:cNvPr id="21" name="bd_13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3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/ waste</a:t>
            </a:r>
            <a:endParaRPr lang="en-US" sz="1150" dirty="0"/>
          </a:p>
        </p:txBody>
      </p:sp>
      <p:sp>
        <p:nvSpPr>
          <p:cNvPr id="23" name="R2_chip14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= keep for later · waste = spend badly, for nothing</a:t>
            </a:r>
            <a:endParaRPr lang="en-US" sz="950" dirty="0"/>
          </a:p>
        </p:txBody>
      </p:sp>
      <p:sp>
        <p:nvSpPr>
          <p:cNvPr id="24" name="bd_14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4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/ charge</a:t>
            </a:r>
            <a:endParaRPr lang="en-US" sz="1150" dirty="0"/>
          </a:p>
        </p:txBody>
      </p:sp>
      <p:sp>
        <p:nvSpPr>
          <p:cNvPr id="26" name="R3_chip14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costs €200 (the price) · The mechanic charges me €100</a:t>
            </a:r>
            <a:endParaRPr lang="en-US" sz="950" dirty="0"/>
          </a:p>
        </p:txBody>
      </p:sp>
      <p:sp>
        <p:nvSpPr>
          <p:cNvPr id="27" name="bd_14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4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/ afford</a:t>
            </a:r>
            <a:endParaRPr lang="en-US" sz="1150" dirty="0"/>
          </a:p>
        </p:txBody>
      </p:sp>
      <p:sp>
        <p:nvSpPr>
          <p:cNvPr id="29" name="R4_chip14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= you must pay it back · can't afford = not enough money</a:t>
            </a:r>
            <a:endParaRPr lang="en-US" sz="950" dirty="0"/>
          </a:p>
        </p:txBody>
      </p:sp>
      <p:sp>
        <p:nvSpPr>
          <p:cNvPr id="30" name="bd_14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4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/ invest</a:t>
            </a:r>
            <a:endParaRPr lang="en-US" sz="1150" dirty="0"/>
          </a:p>
        </p:txBody>
      </p:sp>
      <p:sp>
        <p:nvSpPr>
          <p:cNvPr id="32" name="R5_chip14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= get money when someone dies · invest = put money in to make more</a:t>
            </a:r>
            <a:endParaRPr lang="en-US" sz="950" dirty="0"/>
          </a:p>
        </p:txBody>
      </p:sp>
      <p:sp>
        <p:nvSpPr>
          <p:cNvPr id="33" name="bd_15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5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 / raise</a:t>
            </a:r>
            <a:endParaRPr lang="en-US" sz="1150" dirty="0"/>
          </a:p>
        </p:txBody>
      </p:sp>
      <p:sp>
        <p:nvSpPr>
          <p:cNvPr id="35" name="R6_chip15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house is worth €200,000 · raise money for a hospital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55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Italian</a:t>
            </a:r>
            <a:endParaRPr lang="en-US" sz="2500" dirty="0"/>
          </a:p>
        </p:txBody>
      </p:sp>
      <p:pic>
        <p:nvPicPr>
          <p:cNvPr id="6" name="brP_1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5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note_15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1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in Italian</a:t>
            </a:r>
            <a:endParaRPr lang="en-US" sz="800" dirty="0"/>
          </a:p>
        </p:txBody>
      </p:sp>
      <p:sp>
        <p:nvSpPr>
          <p:cNvPr id="12" name="cd_162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163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4" name="en_164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lend (to)</a:t>
            </a:r>
            <a:endParaRPr lang="en-US" sz="1200" dirty="0"/>
          </a:p>
        </p:txBody>
      </p:sp>
      <p:sp>
        <p:nvSpPr>
          <p:cNvPr id="15" name="R1_it165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prestare (a qualcuno)</a:t>
            </a:r>
            <a:endParaRPr lang="en-US" sz="900" dirty="0"/>
          </a:p>
        </p:txBody>
      </p:sp>
      <p:sp>
        <p:nvSpPr>
          <p:cNvPr id="16" name="cd_166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167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🙏</a:t>
            </a:r>
            <a:endParaRPr lang="en-US" sz="2000" dirty="0"/>
          </a:p>
        </p:txBody>
      </p:sp>
      <p:sp>
        <p:nvSpPr>
          <p:cNvPr id="18" name="en_168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 (from)</a:t>
            </a:r>
            <a:endParaRPr lang="en-US" sz="1200" dirty="0"/>
          </a:p>
        </p:txBody>
      </p:sp>
      <p:sp>
        <p:nvSpPr>
          <p:cNvPr id="19" name="R2_it169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prendere in prestito (da)</a:t>
            </a:r>
            <a:endParaRPr lang="en-US" sz="800" dirty="0"/>
          </a:p>
        </p:txBody>
      </p:sp>
      <p:sp>
        <p:nvSpPr>
          <p:cNvPr id="20" name="cd_170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71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2" name="en_172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earn</a:t>
            </a:r>
            <a:endParaRPr lang="en-US" sz="1200" dirty="0"/>
          </a:p>
        </p:txBody>
      </p:sp>
      <p:sp>
        <p:nvSpPr>
          <p:cNvPr id="23" name="R3_it173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800" dirty="0"/>
          </a:p>
        </p:txBody>
      </p:sp>
      <p:sp>
        <p:nvSpPr>
          <p:cNvPr id="24" name="cd_174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75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🐷</a:t>
            </a:r>
            <a:endParaRPr lang="en-US" sz="2000" dirty="0"/>
          </a:p>
        </p:txBody>
      </p:sp>
      <p:sp>
        <p:nvSpPr>
          <p:cNvPr id="26" name="en_176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</a:t>
            </a:r>
            <a:endParaRPr lang="en-US" sz="1200" dirty="0"/>
          </a:p>
        </p:txBody>
      </p:sp>
      <p:sp>
        <p:nvSpPr>
          <p:cNvPr id="27" name="R4_it177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</a:t>
            </a:r>
            <a:endParaRPr lang="en-US" sz="1000" dirty="0"/>
          </a:p>
        </p:txBody>
      </p:sp>
      <p:sp>
        <p:nvSpPr>
          <p:cNvPr id="28" name="cd_178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79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🗑️</a:t>
            </a:r>
            <a:endParaRPr lang="en-US" sz="2000" dirty="0"/>
          </a:p>
        </p:txBody>
      </p:sp>
      <p:sp>
        <p:nvSpPr>
          <p:cNvPr id="30" name="en_180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200" dirty="0"/>
          </a:p>
        </p:txBody>
      </p:sp>
      <p:sp>
        <p:nvSpPr>
          <p:cNvPr id="31" name="R5_it181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</a:t>
            </a:r>
            <a:endParaRPr lang="en-US" sz="1000" dirty="0"/>
          </a:p>
        </p:txBody>
      </p:sp>
      <p:sp>
        <p:nvSpPr>
          <p:cNvPr id="32" name="cd_182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183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</a:t>
            </a:r>
            <a:endParaRPr lang="en-US" sz="2000" dirty="0"/>
          </a:p>
        </p:txBody>
      </p:sp>
      <p:sp>
        <p:nvSpPr>
          <p:cNvPr id="34" name="en_184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200" dirty="0"/>
          </a:p>
        </p:txBody>
      </p:sp>
      <p:sp>
        <p:nvSpPr>
          <p:cNvPr id="35" name="R6_it185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850" dirty="0"/>
          </a:p>
        </p:txBody>
      </p:sp>
      <p:sp>
        <p:nvSpPr>
          <p:cNvPr id="36" name="cd_186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187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38" name="en_188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owe</a:t>
            </a:r>
            <a:endParaRPr lang="en-US" sz="1200" dirty="0"/>
          </a:p>
        </p:txBody>
      </p:sp>
      <p:sp>
        <p:nvSpPr>
          <p:cNvPr id="39" name="R7_it189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 a qualcuno)</a:t>
            </a:r>
            <a:endParaRPr lang="en-US" sz="800" dirty="0"/>
          </a:p>
        </p:txBody>
      </p:sp>
      <p:sp>
        <p:nvSpPr>
          <p:cNvPr id="40" name="cd_190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91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42" name="en_192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charge</a:t>
            </a:r>
            <a:endParaRPr lang="en-US" sz="1200" dirty="0"/>
          </a:p>
        </p:txBody>
      </p:sp>
      <p:sp>
        <p:nvSpPr>
          <p:cNvPr id="43" name="R8_it193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pagare</a:t>
            </a:r>
            <a:endParaRPr lang="en-US" sz="1000" dirty="0"/>
          </a:p>
        </p:txBody>
      </p:sp>
      <p:sp>
        <p:nvSpPr>
          <p:cNvPr id="44" name="cd_194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95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46" name="en_196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47" name="R9_it197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ereditare</a:t>
            </a:r>
            <a:endParaRPr lang="en-US" sz="1000" dirty="0"/>
          </a:p>
        </p:txBody>
      </p:sp>
      <p:sp>
        <p:nvSpPr>
          <p:cNvPr id="48" name="cd_198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99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50" name="en_200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invest (in)</a:t>
            </a:r>
            <a:endParaRPr lang="en-US" sz="1200" dirty="0"/>
          </a:p>
        </p:txBody>
      </p:sp>
      <p:sp>
        <p:nvSpPr>
          <p:cNvPr id="51" name="R10_it201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investire (in)</a:t>
            </a:r>
            <a:endParaRPr lang="en-US" sz="1000" dirty="0"/>
          </a:p>
        </p:txBody>
      </p:sp>
      <p:sp>
        <p:nvSpPr>
          <p:cNvPr id="52" name="cd_202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203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🏠</a:t>
            </a:r>
            <a:endParaRPr lang="en-US" sz="2000" dirty="0"/>
          </a:p>
        </p:txBody>
      </p:sp>
      <p:sp>
        <p:nvSpPr>
          <p:cNvPr id="54" name="en_204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worth</a:t>
            </a:r>
            <a:endParaRPr lang="en-US" sz="1200" dirty="0"/>
          </a:p>
        </p:txBody>
      </p:sp>
      <p:sp>
        <p:nvSpPr>
          <p:cNvPr id="55" name="R11_it205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valere</a:t>
            </a:r>
            <a:endParaRPr lang="en-US" sz="1000" dirty="0"/>
          </a:p>
        </p:txBody>
      </p:sp>
      <p:sp>
        <p:nvSpPr>
          <p:cNvPr id="56" name="cd_206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207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❤️</a:t>
            </a:r>
            <a:endParaRPr lang="en-US" sz="2000" dirty="0"/>
          </a:p>
        </p:txBody>
      </p:sp>
      <p:sp>
        <p:nvSpPr>
          <p:cNvPr id="58" name="en_208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raise money</a:t>
            </a:r>
            <a:endParaRPr lang="en-US" sz="1200" dirty="0"/>
          </a:p>
        </p:txBody>
      </p:sp>
      <p:sp>
        <p:nvSpPr>
          <p:cNvPr id="59" name="R12_it209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raccogliere fondi</a:t>
            </a:r>
            <a:endParaRPr lang="en-US" sz="1000" dirty="0"/>
          </a:p>
        </p:txBody>
      </p:sp>
      <p:sp>
        <p:nvSpPr>
          <p:cNvPr id="60" name="R13_wc210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3_w211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prestare = lend · farsi prestare = borrow!  ·  earn ≠ win (vincere)  ·  charge ≠ caricare  ·  spend ON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14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action</a:t>
            </a:r>
            <a:endParaRPr lang="en-US" sz="2500" dirty="0"/>
          </a:p>
        </p:txBody>
      </p:sp>
      <p:pic>
        <p:nvPicPr>
          <p:cNvPr id="6" name="brP_2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16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verb. Then listen and check.</a:t>
            </a:r>
            <a:endParaRPr lang="en-US" sz="1250" dirty="0"/>
          </a:p>
        </p:txBody>
      </p:sp>
      <p:sp>
        <p:nvSpPr>
          <p:cNvPr id="8" name="insIT_2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il verbo. Poi ascolta e controlla.</a:t>
            </a:r>
            <a:endParaRPr lang="en-US" sz="950" dirty="0"/>
          </a:p>
        </p:txBody>
      </p:sp>
      <p:sp>
        <p:nvSpPr>
          <p:cNvPr id="9" name="note_21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Listening for detail</a:t>
            </a:r>
            <a:endParaRPr lang="en-US" sz="1150" dirty="0"/>
          </a:p>
        </p:txBody>
      </p:sp>
      <p:pic>
        <p:nvPicPr>
          <p:cNvPr id="10" name="logo_2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practice   ·   📖 Vocabulary Bank Money p.154 · 1 Verbs · audio 2.1</a:t>
            </a:r>
            <a:endParaRPr lang="en-US" sz="800" dirty="0"/>
          </a:p>
        </p:txBody>
      </p:sp>
      <p:sp>
        <p:nvSpPr>
          <p:cNvPr id="12" name="ap_221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  ·  pause after each sentence</a:t>
            </a:r>
            <a:endParaRPr lang="en-US" sz="1100" dirty="0"/>
          </a:p>
        </p:txBody>
      </p:sp>
      <p:sp>
        <p:nvSpPr>
          <p:cNvPr id="13" name="ah_222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223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22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25" descr="/home/claude/lls-course/v2/cache/2a1_inherit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22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2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2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229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going to ___ £2,000.</a:t>
            </a:r>
            <a:endParaRPr lang="en-US" sz="1200" dirty="0"/>
          </a:p>
        </p:txBody>
      </p:sp>
      <p:sp>
        <p:nvSpPr>
          <p:cNvPr id="23" name="R1_chip230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24" name="gq_231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He has promised to ___ me €50.</a:t>
            </a:r>
            <a:endParaRPr lang="en-US" sz="1200" dirty="0"/>
          </a:p>
        </p:txBody>
      </p:sp>
      <p:sp>
        <p:nvSpPr>
          <p:cNvPr id="25" name="R2_chip232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00" dirty="0"/>
          </a:p>
        </p:txBody>
      </p:sp>
      <p:sp>
        <p:nvSpPr>
          <p:cNvPr id="26" name="gq_233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need to ___ £20 from my mum.</a:t>
            </a:r>
            <a:endParaRPr lang="en-US" sz="1200" dirty="0"/>
          </a:p>
        </p:txBody>
      </p:sp>
      <p:sp>
        <p:nvSpPr>
          <p:cNvPr id="27" name="R3_chip234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8" name="gq_235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 can't ___ to buy that car.</a:t>
            </a:r>
            <a:endParaRPr lang="en-US" sz="1200" dirty="0"/>
          </a:p>
        </p:txBody>
      </p:sp>
      <p:sp>
        <p:nvSpPr>
          <p:cNvPr id="29" name="R4_chip236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0" name="gq_237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 mechanic ___ me £100.</a:t>
            </a:r>
            <a:endParaRPr lang="en-US" sz="1200" dirty="0"/>
          </a:p>
        </p:txBody>
      </p:sp>
      <p:sp>
        <p:nvSpPr>
          <p:cNvPr id="31" name="R5_chip238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charges</a:t>
            </a:r>
            <a:endParaRPr lang="en-US" sz="1200" dirty="0"/>
          </a:p>
        </p:txBody>
      </p:sp>
      <p:sp>
        <p:nvSpPr>
          <p:cNvPr id="32" name="gq_239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Jim £100.</a:t>
            </a:r>
            <a:endParaRPr lang="en-US" sz="1200" dirty="0"/>
          </a:p>
        </p:txBody>
      </p:sp>
      <p:sp>
        <p:nvSpPr>
          <p:cNvPr id="33" name="R6_chip240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4" name="gq_241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 I ___ £1,000 a month.</a:t>
            </a:r>
            <a:endParaRPr lang="en-US" sz="1200" dirty="0"/>
          </a:p>
        </p:txBody>
      </p:sp>
      <p:sp>
        <p:nvSpPr>
          <p:cNvPr id="35" name="R7_chip242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200" dirty="0"/>
          </a:p>
        </p:txBody>
      </p:sp>
      <p:sp>
        <p:nvSpPr>
          <p:cNvPr id="36" name="gq_243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  My house is ___ about €200,000.</a:t>
            </a:r>
            <a:endParaRPr lang="en-US" sz="1200" dirty="0"/>
          </a:p>
        </p:txBody>
      </p:sp>
      <p:sp>
        <p:nvSpPr>
          <p:cNvPr id="37" name="R8_chip244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4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 ping-pong</a:t>
            </a:r>
            <a:endParaRPr lang="en-US" sz="2500" dirty="0"/>
          </a:p>
        </p:txBody>
      </p:sp>
      <p:pic>
        <p:nvPicPr>
          <p:cNvPr id="6" name="brP_2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49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reads. B says the preposition – fast!</a:t>
            </a:r>
            <a:endParaRPr lang="en-US" sz="1250" dirty="0"/>
          </a:p>
        </p:txBody>
      </p:sp>
      <p:sp>
        <p:nvSpPr>
          <p:cNvPr id="8" name="insIT_2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legge. B dice la preposizione – veloce!</a:t>
            </a:r>
            <a:endParaRPr lang="en-US" sz="950" dirty="0"/>
          </a:p>
        </p:txBody>
      </p:sp>
      <p:sp>
        <p:nvSpPr>
          <p:cNvPr id="9" name="note_25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Communicative game</a:t>
            </a:r>
            <a:endParaRPr lang="en-US" sz="1250" dirty="0"/>
          </a:p>
        </p:txBody>
      </p:sp>
      <p:pic>
        <p:nvPicPr>
          <p:cNvPr id="10" name="logo_2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prepositions   ·   📖 Vocabulary Bank Money p.154 · 2 Prepositions, 4 Phrasal verbs · audio 2.2, 2.4</a:t>
            </a:r>
            <a:endParaRPr lang="en-US" sz="800" dirty="0"/>
          </a:p>
        </p:txBody>
      </p:sp>
      <p:sp>
        <p:nvSpPr>
          <p:cNvPr id="12" name="cd_254"/>
          <p:cNvSpPr/>
          <p:nvPr/>
        </p:nvSpPr>
        <p:spPr>
          <a:xfrm>
            <a:off x="320040" y="1417320"/>
            <a:ext cx="2697480" cy="2036064"/>
          </a:xfrm>
          <a:prstGeom prst="roundRect">
            <a:avLst>
              <a:gd name="adj" fmla="val 628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5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5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57"/>
          <p:cNvSpPr/>
          <p:nvPr/>
        </p:nvSpPr>
        <p:spPr>
          <a:xfrm>
            <a:off x="886968" y="1911096"/>
            <a:ext cx="2039112" cy="1469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 the sentence.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legge la frase.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Then swap.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Giusto = 1 punto. Poi scambiatevi.</a:t>
            </a:r>
            <a:endParaRPr lang="en-US" sz="1200" dirty="0"/>
          </a:p>
        </p:txBody>
      </p:sp>
      <p:sp>
        <p:nvSpPr>
          <p:cNvPr id="16" name="pf_258"/>
          <p:cNvSpPr/>
          <p:nvPr/>
        </p:nvSpPr>
        <p:spPr>
          <a:xfrm rot="-120000">
            <a:off x="1119487" y="3590544"/>
            <a:ext cx="1052866" cy="1143000"/>
          </a:xfrm>
          <a:prstGeom prst="roundRect">
            <a:avLst>
              <a:gd name="adj" fmla="val 14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59" descr="/home/claude/lls-course/v2/cache/spare_1a2_bill_jpg_231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165207" y="3636264"/>
            <a:ext cx="961426" cy="1051560"/>
          </a:xfrm>
          <a:prstGeom prst="rect">
            <a:avLst/>
          </a:prstGeom>
        </p:spPr>
      </p:pic>
      <p:sp>
        <p:nvSpPr>
          <p:cNvPr id="18" name="bd_260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261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cash or ___ credit card?</a:t>
            </a:r>
            <a:endParaRPr lang="en-US" sz="900" dirty="0"/>
          </a:p>
        </p:txBody>
      </p:sp>
      <p:sp>
        <p:nvSpPr>
          <p:cNvPr id="20" name="chip_262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by</a:t>
            </a:r>
            <a:endParaRPr lang="en-US" sz="1200" dirty="0"/>
          </a:p>
        </p:txBody>
      </p:sp>
      <p:sp>
        <p:nvSpPr>
          <p:cNvPr id="21" name="bd_263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264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paid ___ the dinner.</a:t>
            </a:r>
            <a:endParaRPr lang="en-US" sz="900" dirty="0"/>
          </a:p>
        </p:txBody>
      </p:sp>
      <p:sp>
        <p:nvSpPr>
          <p:cNvPr id="23" name="R1_chip265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</a:t>
            </a:r>
            <a:endParaRPr lang="en-US" sz="1200" dirty="0"/>
          </a:p>
        </p:txBody>
      </p:sp>
      <p:sp>
        <p:nvSpPr>
          <p:cNvPr id="24" name="bd_266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267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£50 ___ books.</a:t>
            </a:r>
            <a:endParaRPr lang="en-US" sz="900" dirty="0"/>
          </a:p>
        </p:txBody>
      </p:sp>
      <p:sp>
        <p:nvSpPr>
          <p:cNvPr id="26" name="R2_chip268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</a:t>
            </a:r>
            <a:endParaRPr lang="en-US" sz="1200" dirty="0"/>
          </a:p>
        </p:txBody>
      </p:sp>
      <p:sp>
        <p:nvSpPr>
          <p:cNvPr id="27" name="bd_269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270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invested his money ___ property.</a:t>
            </a:r>
            <a:endParaRPr lang="en-US" sz="900" dirty="0"/>
          </a:p>
        </p:txBody>
      </p:sp>
      <p:sp>
        <p:nvSpPr>
          <p:cNvPr id="29" name="R3_chip271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</a:t>
            </a:r>
            <a:endParaRPr lang="en-US" sz="1200" dirty="0"/>
          </a:p>
        </p:txBody>
      </p:sp>
      <p:sp>
        <p:nvSpPr>
          <p:cNvPr id="30" name="bd_272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273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lend money ___ friends.</a:t>
            </a:r>
            <a:endParaRPr lang="en-US" sz="900" dirty="0"/>
          </a:p>
        </p:txBody>
      </p:sp>
      <p:sp>
        <p:nvSpPr>
          <p:cNvPr id="32" name="R4_chip274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200" dirty="0"/>
          </a:p>
        </p:txBody>
      </p:sp>
      <p:sp>
        <p:nvSpPr>
          <p:cNvPr id="33" name="bd_275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276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borrowed money ___ the bank.</a:t>
            </a:r>
            <a:endParaRPr lang="en-US" sz="900" dirty="0"/>
          </a:p>
        </p:txBody>
      </p:sp>
      <p:sp>
        <p:nvSpPr>
          <p:cNvPr id="35" name="R5_chip277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from</a:t>
            </a:r>
            <a:endParaRPr lang="en-US" sz="1200" dirty="0"/>
          </a:p>
        </p:txBody>
      </p:sp>
      <p:sp>
        <p:nvSpPr>
          <p:cNvPr id="36" name="bd_278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279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never get ___ debt /det/.</a:t>
            </a:r>
            <a:endParaRPr lang="en-US" sz="900" dirty="0"/>
          </a:p>
        </p:txBody>
      </p:sp>
      <p:sp>
        <p:nvSpPr>
          <p:cNvPr id="38" name="R6_chip280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into</a:t>
            </a:r>
            <a:endParaRPr lang="en-US" sz="1200" dirty="0"/>
          </a:p>
        </p:txBody>
      </p:sp>
      <p:sp>
        <p:nvSpPr>
          <p:cNvPr id="39" name="bd_281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40" name="gq_282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___ €200 from a cash machine.</a:t>
            </a:r>
            <a:endParaRPr lang="en-US" sz="900" dirty="0"/>
          </a:p>
        </p:txBody>
      </p:sp>
      <p:sp>
        <p:nvSpPr>
          <p:cNvPr id="41" name="R7_chip283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8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word?</a:t>
            </a:r>
            <a:endParaRPr lang="en-US" sz="2500" dirty="0"/>
          </a:p>
        </p:txBody>
      </p:sp>
      <p:pic>
        <p:nvPicPr>
          <p:cNvPr id="6" name="brP_2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88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meaning. Say the word!</a:t>
            </a:r>
            <a:endParaRPr lang="en-US" sz="1250" dirty="0"/>
          </a:p>
        </p:txBody>
      </p:sp>
      <p:sp>
        <p:nvSpPr>
          <p:cNvPr id="8" name="insIT_2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significato. Di' la parola!</a:t>
            </a:r>
            <a:endParaRPr lang="en-US" sz="950" dirty="0"/>
          </a:p>
        </p:txBody>
      </p:sp>
      <p:sp>
        <p:nvSpPr>
          <p:cNvPr id="9" name="note_29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🤔 GUESS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INDOVINA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2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· money nouns   ·   📖 Vocabulary Bank Money p.154 · 3 Nouns · audio 2.3</a:t>
            </a:r>
            <a:endParaRPr lang="en-US" sz="800" dirty="0"/>
          </a:p>
        </p:txBody>
      </p:sp>
      <p:sp>
        <p:nvSpPr>
          <p:cNvPr id="12" name="cd_293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96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for the government → tax</a:t>
            </a:r>
            <a:endParaRPr lang="en-US" sz="900" dirty="0"/>
          </a:p>
        </p:txBody>
      </p:sp>
      <p:sp>
        <p:nvSpPr>
          <p:cNvPr id="16" name="pf_297"/>
          <p:cNvSpPr/>
          <p:nvPr/>
        </p:nvSpPr>
        <p:spPr>
          <a:xfrm rot="-90000">
            <a:off x="365760" y="2632275"/>
            <a:ext cx="2606040" cy="1767185"/>
          </a:xfrm>
          <a:prstGeom prst="roundRect">
            <a:avLst>
              <a:gd name="adj" fmla="val 87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98" descr="/home/claude/lls-course/v2/cache/2a1_bills_jpg_605x40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77995"/>
            <a:ext cx="2514600" cy="1675745"/>
          </a:xfrm>
          <a:prstGeom prst="rect">
            <a:avLst/>
          </a:prstGeom>
        </p:spPr>
      </p:pic>
      <p:sp>
        <p:nvSpPr>
          <p:cNvPr id="18" name="bd_299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00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pay it for gas, phone…</a:t>
            </a:r>
            <a:endParaRPr lang="en-US" sz="1150" dirty="0"/>
          </a:p>
        </p:txBody>
      </p:sp>
      <p:sp>
        <p:nvSpPr>
          <p:cNvPr id="20" name="R1_chip301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bill · bolletta / conto</a:t>
            </a:r>
            <a:endParaRPr lang="en-US" sz="1050" dirty="0"/>
          </a:p>
        </p:txBody>
      </p:sp>
      <p:sp>
        <p:nvSpPr>
          <p:cNvPr id="21" name="bd_302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03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every month for your job</a:t>
            </a:r>
            <a:endParaRPr lang="en-US" sz="1150" dirty="0"/>
          </a:p>
        </p:txBody>
      </p:sp>
      <p:sp>
        <p:nvSpPr>
          <p:cNvPr id="23" name="R2_chip304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salary · stipendio</a:t>
            </a:r>
            <a:endParaRPr lang="en-US" sz="1050" dirty="0"/>
          </a:p>
        </p:txBody>
      </p:sp>
      <p:sp>
        <p:nvSpPr>
          <p:cNvPr id="24" name="bd_305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06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a bank or person lends you</a:t>
            </a:r>
            <a:endParaRPr lang="en-US" sz="1150" dirty="0"/>
          </a:p>
        </p:txBody>
      </p:sp>
      <p:sp>
        <p:nvSpPr>
          <p:cNvPr id="26" name="R3_chip307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loan · prestito</a:t>
            </a:r>
            <a:endParaRPr lang="en-US" sz="1050" dirty="0"/>
          </a:p>
        </p:txBody>
      </p:sp>
      <p:sp>
        <p:nvSpPr>
          <p:cNvPr id="27" name="bd_308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309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plan for how to spend money</a:t>
            </a:r>
            <a:endParaRPr lang="en-US" sz="1150" dirty="0"/>
          </a:p>
        </p:txBody>
      </p:sp>
      <p:sp>
        <p:nvSpPr>
          <p:cNvPr id="29" name="R4_chip310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· budget, bilancio</a:t>
            </a:r>
            <a:endParaRPr lang="en-US" sz="1050" dirty="0"/>
          </a:p>
        </p:txBody>
      </p:sp>
      <p:sp>
        <p:nvSpPr>
          <p:cNvPr id="30" name="bd_311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312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bank loan to buy a house</a:t>
            </a:r>
            <a:endParaRPr lang="en-US" sz="1150" dirty="0"/>
          </a:p>
        </p:txBody>
      </p:sp>
      <p:sp>
        <p:nvSpPr>
          <p:cNvPr id="32" name="R5_chip313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mortgage /ˈmɔːɡɪdʒ/ · mutuo</a:t>
            </a:r>
            <a:endParaRPr lang="en-US" sz="1050" dirty="0"/>
          </a:p>
        </p:txBody>
      </p:sp>
      <p:sp>
        <p:nvSpPr>
          <p:cNvPr id="33" name="bd_314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15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by touching your card</a:t>
            </a:r>
            <a:endParaRPr lang="en-US" sz="1150" dirty="0"/>
          </a:p>
        </p:txBody>
      </p:sp>
      <p:sp>
        <p:nvSpPr>
          <p:cNvPr id="35" name="R6_chip316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contactless payment · pagamento contactless</a:t>
            </a:r>
            <a:endParaRPr lang="en-US" sz="1050" dirty="0"/>
          </a:p>
        </p:txBody>
      </p:sp>
      <p:sp>
        <p:nvSpPr>
          <p:cNvPr id="36" name="bd_317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318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pays if you have an accident</a:t>
            </a:r>
            <a:endParaRPr lang="en-US" sz="1150" dirty="0"/>
          </a:p>
        </p:txBody>
      </p:sp>
      <p:sp>
        <p:nvSpPr>
          <p:cNvPr id="38" name="R7_chip319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insurance · assicurazione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22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ways to say o</a:t>
            </a:r>
            <a:endParaRPr lang="en-US" sz="2500" dirty="0"/>
          </a:p>
        </p:txBody>
      </p:sp>
      <p:pic>
        <p:nvPicPr>
          <p:cNvPr id="6" name="brP_3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24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 aloud. Which sound?</a:t>
            </a:r>
            <a:endParaRPr lang="en-US" sz="1250" dirty="0"/>
          </a:p>
        </p:txBody>
      </p:sp>
      <p:sp>
        <p:nvSpPr>
          <p:cNvPr id="8" name="insIT_3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 ad alta voce. Quale suono?</a:t>
            </a:r>
            <a:endParaRPr lang="en-US" sz="950" dirty="0"/>
          </a:p>
        </p:txBody>
      </p:sp>
      <p:sp>
        <p:nvSpPr>
          <p:cNvPr id="9" name="note_32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PRONUNCIA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Guided discovery</a:t>
            </a:r>
            <a:endParaRPr lang="en-US" sz="1250" dirty="0"/>
          </a:p>
        </p:txBody>
      </p:sp>
      <p:pic>
        <p:nvPicPr>
          <p:cNvPr id="10" name="logo_3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Pronunciation · o and or   ·   📖 SB p.16 · 2a–e · audio 2.5, 2.6</a:t>
            </a:r>
            <a:endParaRPr lang="en-US" sz="800" dirty="0"/>
          </a:p>
        </p:txBody>
      </p:sp>
      <p:sp>
        <p:nvSpPr>
          <p:cNvPr id="12" name="cd_329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3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5" name="lg_33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050" dirty="0"/>
          </a:p>
        </p:txBody>
      </p:sp>
      <p:sp>
        <p:nvSpPr>
          <p:cNvPr id="16" name="lg_33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050" dirty="0"/>
          </a:p>
        </p:txBody>
      </p:sp>
      <p:sp>
        <p:nvSpPr>
          <p:cNvPr id="17" name="lg_33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050" dirty="0"/>
          </a:p>
        </p:txBody>
      </p:sp>
      <p:sp>
        <p:nvSpPr>
          <p:cNvPr id="18" name="lg_335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050" dirty="0"/>
          </a:p>
        </p:txBody>
      </p:sp>
      <p:sp>
        <p:nvSpPr>
          <p:cNvPr id="19" name="lg_336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050" dirty="0"/>
          </a:p>
        </p:txBody>
      </p:sp>
      <p:sp>
        <p:nvSpPr>
          <p:cNvPr id="20" name="sq_337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</a:t>
            </a:r>
            <a:endParaRPr lang="en-US" sz="1200" dirty="0"/>
          </a:p>
        </p:txBody>
      </p:sp>
      <p:sp>
        <p:nvSpPr>
          <p:cNvPr id="21" name="R1_tag338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22" name="sq_339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3" name="R2_tag340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24" name="sq_341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clothes</a:t>
            </a:r>
            <a:endParaRPr lang="en-US" sz="1200" dirty="0"/>
          </a:p>
        </p:txBody>
      </p:sp>
      <p:sp>
        <p:nvSpPr>
          <p:cNvPr id="25" name="R3_tag342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26" name="sq_343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worry</a:t>
            </a:r>
            <a:endParaRPr lang="en-US" sz="1200" dirty="0"/>
          </a:p>
        </p:txBody>
      </p:sp>
      <p:sp>
        <p:nvSpPr>
          <p:cNvPr id="27" name="R4_tag344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28" name="sq_345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200" dirty="0"/>
          </a:p>
        </p:txBody>
      </p:sp>
      <p:sp>
        <p:nvSpPr>
          <p:cNvPr id="29" name="R5_tag346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30" name="sq_347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1" name="R6_tag348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32" name="sq_349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3" name="R7_tag350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150" dirty="0"/>
          </a:p>
        </p:txBody>
      </p:sp>
      <p:sp>
        <p:nvSpPr>
          <p:cNvPr id="34" name="sq_351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  <p:sp>
        <p:nvSpPr>
          <p:cNvPr id="35" name="R8_tag352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150" dirty="0"/>
          </a:p>
        </p:txBody>
      </p:sp>
      <p:sp>
        <p:nvSpPr>
          <p:cNvPr id="36" name="pf_353"/>
          <p:cNvSpPr/>
          <p:nvPr/>
        </p:nvSpPr>
        <p:spPr>
          <a:xfrm rot="-120000">
            <a:off x="1013460" y="3703320"/>
            <a:ext cx="131064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354" descr="/home/claude/lls-course/v2/cache/2a1_coins_jpg_29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59180" y="3749040"/>
            <a:ext cx="121920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57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write</a:t>
            </a:r>
            <a:endParaRPr lang="en-US" sz="2500" dirty="0"/>
          </a:p>
        </p:txBody>
      </p:sp>
      <p:pic>
        <p:nvPicPr>
          <p:cNvPr id="6" name="brP_3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59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the missing words.</a:t>
            </a:r>
            <a:endParaRPr lang="en-US" sz="1250" dirty="0"/>
          </a:p>
        </p:txBody>
      </p:sp>
      <p:sp>
        <p:nvSpPr>
          <p:cNvPr id="8" name="insIT_36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Scrivi le parole mancanti.</a:t>
            </a:r>
            <a:endParaRPr lang="en-US" sz="950" dirty="0"/>
          </a:p>
        </p:txBody>
      </p:sp>
      <p:sp>
        <p:nvSpPr>
          <p:cNvPr id="9" name="note_36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Listening for detail</a:t>
            </a:r>
            <a:endParaRPr lang="en-US" sz="1150" dirty="0"/>
          </a:p>
        </p:txBody>
      </p:sp>
      <p:pic>
        <p:nvPicPr>
          <p:cNvPr id="10" name="logo_3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Pronunciation · dictation   ·   📖 SB p.16 · 2f · audio 2.7</a:t>
            </a:r>
            <a:endParaRPr lang="en-US" sz="800" dirty="0"/>
          </a:p>
        </p:txBody>
      </p:sp>
      <p:sp>
        <p:nvSpPr>
          <p:cNvPr id="12" name="ap_36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  ·  pause after each sentence</a:t>
            </a:r>
            <a:endParaRPr lang="en-US" sz="1100" dirty="0"/>
          </a:p>
        </p:txBody>
      </p:sp>
      <p:sp>
        <p:nvSpPr>
          <p:cNvPr id="13" name="ah_36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36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36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68" descr="/home/claude/lls-course/v2/cache/2a1_mortgag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36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7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37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37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Let's go ___ for ___.</a:t>
            </a:r>
            <a:endParaRPr lang="en-US" sz="1200" dirty="0"/>
          </a:p>
        </p:txBody>
      </p:sp>
      <p:sp>
        <p:nvSpPr>
          <p:cNvPr id="23" name="R1_chip37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· clothes</a:t>
            </a:r>
            <a:endParaRPr lang="en-US" sz="1200" dirty="0"/>
          </a:p>
        </p:txBody>
      </p:sp>
      <p:sp>
        <p:nvSpPr>
          <p:cNvPr id="24" name="gq_37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Can I ___ some ___?</a:t>
            </a:r>
            <a:endParaRPr lang="en-US" sz="1200" dirty="0"/>
          </a:p>
        </p:txBody>
      </p:sp>
      <p:sp>
        <p:nvSpPr>
          <p:cNvPr id="25" name="R2_chip37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· money</a:t>
            </a:r>
            <a:endParaRPr lang="en-US" sz="1200" dirty="0"/>
          </a:p>
        </p:txBody>
      </p:sp>
      <p:sp>
        <p:nvSpPr>
          <p:cNvPr id="26" name="gq_37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He ___ a million ___.</a:t>
            </a:r>
            <a:endParaRPr lang="en-US" sz="1200" dirty="0"/>
          </a:p>
        </p:txBody>
      </p:sp>
      <p:sp>
        <p:nvSpPr>
          <p:cNvPr id="27" name="R3_chip37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 · dollars</a:t>
            </a:r>
            <a:endParaRPr lang="en-US" sz="1200" dirty="0"/>
          </a:p>
        </p:txBody>
      </p:sp>
      <p:sp>
        <p:nvSpPr>
          <p:cNvPr id="28" name="gq_37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I've ___ ___ wrong.</a:t>
            </a:r>
            <a:endParaRPr lang="en-US" sz="1200" dirty="0"/>
          </a:p>
        </p:txBody>
      </p:sp>
      <p:sp>
        <p:nvSpPr>
          <p:cNvPr id="29" name="R4_chip37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 · nothing</a:t>
            </a:r>
            <a:endParaRPr lang="en-US" sz="1200" dirty="0"/>
          </a:p>
        </p:txBody>
      </p:sp>
      <p:sp>
        <p:nvSpPr>
          <p:cNvPr id="30" name="gq_38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They can't ___ to pay the ___.</a:t>
            </a:r>
            <a:endParaRPr lang="en-US" sz="1200" dirty="0"/>
          </a:p>
        </p:txBody>
      </p:sp>
      <p:sp>
        <p:nvSpPr>
          <p:cNvPr id="31" name="R5_chip38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 · mortgage</a:t>
            </a:r>
            <a:endParaRPr lang="en-US" sz="1200" dirty="0"/>
          </a:p>
        </p:txBody>
      </p:sp>
      <p:sp>
        <p:nvSpPr>
          <p:cNvPr id="32" name="gq_382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___ in a ___.</a:t>
            </a:r>
            <a:endParaRPr lang="en-US" sz="1200" dirty="0"/>
          </a:p>
        </p:txBody>
      </p:sp>
      <p:sp>
        <p:nvSpPr>
          <p:cNvPr id="33" name="R6_chip383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·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86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Salvo's scooter money</a:t>
            </a:r>
            <a:endParaRPr lang="en-US" sz="2500" dirty="0"/>
          </a:p>
        </p:txBody>
      </p:sp>
      <p:pic>
        <p:nvPicPr>
          <p:cNvPr id="6" name="brP_3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8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9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class story (TPRS)</a:t>
            </a:r>
            <a:endParaRPr lang="en-US" sz="800" dirty="0"/>
          </a:p>
        </p:txBody>
      </p:sp>
      <p:sp>
        <p:nvSpPr>
          <p:cNvPr id="12" name="pf_393"/>
          <p:cNvSpPr/>
          <p:nvPr/>
        </p:nvSpPr>
        <p:spPr>
          <a:xfrm rot="-90000">
            <a:off x="932911" y="1417320"/>
            <a:ext cx="1517458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94" descr="/home/claude/lls-course/v2/cache/2a1_lend_jpg_343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978631" y="1463040"/>
            <a:ext cx="1426018" cy="1188720"/>
          </a:xfrm>
          <a:prstGeom prst="rect">
            <a:avLst/>
          </a:prstGeom>
        </p:spPr>
      </p:pic>
      <p:sp>
        <p:nvSpPr>
          <p:cNvPr id="14" name="cd_395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96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97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98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guadagnare (lavorando)</a:t>
            </a:r>
            <a:endParaRPr lang="en-US" sz="8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for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risparmiare per</a:t>
            </a:r>
            <a:endParaRPr lang="en-US" sz="8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potersi permettere</a:t>
            </a:r>
            <a:endParaRPr lang="en-US" sz="8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/ lend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farsi prestare / prestare</a:t>
            </a:r>
            <a:endParaRPr lang="en-US" sz="8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dovere (soldi)</a:t>
            </a:r>
            <a:endParaRPr lang="en-US" sz="8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money on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sprecare soldi in</a:t>
            </a:r>
            <a:endParaRPr lang="en-US" sz="800" dirty="0"/>
          </a:p>
        </p:txBody>
      </p:sp>
      <p:sp>
        <p:nvSpPr>
          <p:cNvPr id="18" name="R1_sb399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400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Salvo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€20 a week. He helps in his uncle's bar in Bagheria.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Salvo earn €20 or €200? · Where does he work?</a:t>
            </a:r>
            <a:endParaRPr lang="en-US" sz="1100" dirty="0"/>
          </a:p>
        </p:txBody>
      </p:sp>
      <p:sp>
        <p:nvSpPr>
          <p:cNvPr id="20" name="R2_sb401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402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saving for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scooter, but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yet.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he saving for a scooter or a phone? · Can he afford it?</a:t>
            </a:r>
            <a:endParaRPr lang="en-US" sz="1250" dirty="0"/>
          </a:p>
        </p:txBody>
      </p:sp>
      <p:sp>
        <p:nvSpPr>
          <p:cNvPr id="22" name="R3_sb403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404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sister wants to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€50. 'Please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me the money!'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want to borrow or lend? · How much?</a:t>
            </a:r>
            <a:endParaRPr lang="en-US" sz="1250" dirty="0"/>
          </a:p>
        </p:txBody>
      </p:sp>
      <p:sp>
        <p:nvSpPr>
          <p:cNvPr id="24" name="R4_sb405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406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Salvo says yes. Now his sister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owes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€50.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Who owes the money? · How much does she owe?</a:t>
            </a:r>
            <a:endParaRPr lang="en-US" sz="1250" dirty="0"/>
          </a:p>
        </p:txBody>
      </p:sp>
      <p:sp>
        <p:nvSpPr>
          <p:cNvPr id="26" name="R5_sb407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408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she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wastes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all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sweets and a pink hat!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save it or waste it? · What does she spend it on?</a:t>
            </a:r>
            <a:endParaRPr lang="en-US" sz="1250" dirty="0"/>
          </a:p>
        </p:txBody>
      </p:sp>
      <p:sp>
        <p:nvSpPr>
          <p:cNvPr id="28" name="R6_sb409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410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she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€500 in a competition and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 double!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she earn or win it? · And you – what are you saving for?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1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Q&amp;A</a:t>
            </a:r>
            <a:endParaRPr lang="en-US" sz="2400" dirty="0"/>
          </a:p>
        </p:txBody>
      </p:sp>
      <p:pic>
        <p:nvPicPr>
          <p:cNvPr id="6" name="brP_4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415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Give details!</a:t>
            </a:r>
            <a:endParaRPr lang="en-US" sz="1250" dirty="0"/>
          </a:p>
        </p:txBody>
      </p:sp>
      <p:sp>
        <p:nvSpPr>
          <p:cNvPr id="8" name="insIT_4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e rispondi. Dai dettagli!</a:t>
            </a:r>
            <a:endParaRPr lang="en-US" sz="950" dirty="0"/>
          </a:p>
        </p:txBody>
      </p:sp>
      <p:sp>
        <p:nvSpPr>
          <p:cNvPr id="9" name="note_41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4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money and you   ·   📖 SB p.16 · 2g (in the book: Communication Money Q&amp;A pp.106 / 111)</a:t>
            </a:r>
            <a:endParaRPr lang="en-US" sz="800" dirty="0"/>
          </a:p>
        </p:txBody>
      </p:sp>
      <p:sp>
        <p:nvSpPr>
          <p:cNvPr id="12" name="pf_420"/>
          <p:cNvSpPr/>
          <p:nvPr/>
        </p:nvSpPr>
        <p:spPr>
          <a:xfrm rot="-120000">
            <a:off x="742588" y="1371600"/>
            <a:ext cx="194382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421" descr="/home/claude/lls-course/v2/cache/2a1_cash_card_jpg_44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8308" y="1417320"/>
            <a:ext cx="1852384" cy="1234440"/>
          </a:xfrm>
          <a:prstGeom prst="rect">
            <a:avLst/>
          </a:prstGeom>
        </p:spPr>
      </p:pic>
      <p:sp>
        <p:nvSpPr>
          <p:cNvPr id="14" name="cd_422"/>
          <p:cNvSpPr/>
          <p:nvPr/>
        </p:nvSpPr>
        <p:spPr>
          <a:xfrm>
            <a:off x="320040" y="2880360"/>
            <a:ext cx="2788920" cy="1502664"/>
          </a:xfrm>
          <a:prstGeom prst="roundRect">
            <a:avLst>
              <a:gd name="adj" fmla="val 851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23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424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425"/>
          <p:cNvSpPr/>
          <p:nvPr/>
        </p:nvSpPr>
        <p:spPr>
          <a:xfrm>
            <a:off x="886968" y="3374136"/>
            <a:ext cx="2130552" cy="935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really,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1150" dirty="0"/>
          </a:p>
        </p:txBody>
      </p:sp>
      <p:sp>
        <p:nvSpPr>
          <p:cNvPr id="18" name="R1_qb42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427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usually spend your money on?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Clothes, and pizza with my friends at the weekend.</a:t>
            </a:r>
            <a:endParaRPr lang="en-US" sz="1100" dirty="0"/>
          </a:p>
        </p:txBody>
      </p:sp>
      <p:sp>
        <p:nvSpPr>
          <p:cNvPr id="20" name="R2_qb428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429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to pay cash or by card?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By card – contactless is so easy!</a:t>
            </a:r>
            <a:endParaRPr lang="en-US" sz="1100" dirty="0"/>
          </a:p>
        </p:txBody>
      </p:sp>
      <p:sp>
        <p:nvSpPr>
          <p:cNvPr id="22" name="R3_qb430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431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lend money to friends? Do they pay you back?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Sometimes. My best friend always pays me back.</a:t>
            </a:r>
            <a:endParaRPr lang="en-US" sz="1100" dirty="0"/>
          </a:p>
        </p:txBody>
      </p:sp>
      <p:sp>
        <p:nvSpPr>
          <p:cNvPr id="24" name="R4_qb432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433"/>
          <p:cNvSpPr/>
          <p:nvPr/>
        </p:nvSpPr>
        <p:spPr>
          <a:xfrm>
            <a:off x="3675888" y="308610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saving for something at the moment?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I'm saving for a new phone.</a:t>
            </a:r>
            <a:endParaRPr lang="en-US" sz="1100" dirty="0"/>
          </a:p>
        </p:txBody>
      </p:sp>
      <p:pic>
        <p:nvPicPr>
          <p:cNvPr id="26" name="R4_th434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104388"/>
            <a:ext cx="640080" cy="446532"/>
          </a:xfrm>
          <a:prstGeom prst="rect">
            <a:avLst/>
          </a:prstGeom>
        </p:spPr>
      </p:pic>
      <p:sp>
        <p:nvSpPr>
          <p:cNvPr id="27" name="R5_qb43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436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last thing you wasted money on?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T-shirt – I never wear it!</a:t>
            </a:r>
            <a:endParaRPr lang="en-US" sz="1100" dirty="0"/>
          </a:p>
        </p:txBody>
      </p:sp>
      <p:sp>
        <p:nvSpPr>
          <p:cNvPr id="29" name="R6_qb437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R6_sq438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something you really want but can't afford?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 scooter! They're so expensive.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4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41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400" dirty="0"/>
          </a:p>
        </p:txBody>
      </p:sp>
      <p:pic>
        <p:nvPicPr>
          <p:cNvPr id="6" name="brP_44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43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What are the numbers about?</a:t>
            </a:r>
            <a:endParaRPr lang="en-US" sz="1250" dirty="0"/>
          </a:p>
        </p:txBody>
      </p:sp>
      <p:sp>
        <p:nvSpPr>
          <p:cNvPr id="8" name="insIT_44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Di cosa parlano i numeri?</a:t>
            </a:r>
            <a:endParaRPr lang="en-US" sz="950" dirty="0"/>
          </a:p>
        </p:txBody>
      </p:sp>
      <p:sp>
        <p:nvSpPr>
          <p:cNvPr id="9" name="note_44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🤔 GUESS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Prediction</a:t>
            </a:r>
            <a:endParaRPr lang="en-US" sz="1150" dirty="0"/>
          </a:p>
        </p:txBody>
      </p:sp>
      <p:pic>
        <p:nvPicPr>
          <p:cNvPr id="10" name="logo_4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prediction   ·   📖 SB p.17 · 3a</a:t>
            </a:r>
            <a:endParaRPr lang="en-US" sz="800" dirty="0"/>
          </a:p>
        </p:txBody>
      </p:sp>
      <p:sp>
        <p:nvSpPr>
          <p:cNvPr id="12" name="cd_448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hl_449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no-spend year</a:t>
            </a:r>
            <a:endParaRPr lang="en-US" sz="2800" dirty="0"/>
          </a:p>
        </p:txBody>
      </p:sp>
      <p:sp>
        <p:nvSpPr>
          <p:cNvPr id="14" name="sf_450"/>
          <p:cNvSpPr/>
          <p:nvPr/>
        </p:nvSpPr>
        <p:spPr>
          <a:xfrm>
            <a:off x="521208" y="203911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woman's 'no-spend year', and how she survived. She cycled 120 miles to a wedding, and her lunch budget was just 51p a day.</a:t>
            </a:r>
            <a:endParaRPr lang="en-US" sz="1300" dirty="0"/>
          </a:p>
        </p:txBody>
      </p:sp>
      <p:sp>
        <p:nvSpPr>
          <p:cNvPr id="15" name="nbl_451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16" name="bd_452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£230k</a:t>
            </a:r>
            <a:endParaRPr lang="en-US" sz="800" dirty="0"/>
          </a:p>
        </p:txBody>
      </p:sp>
      <p:sp>
        <p:nvSpPr>
          <p:cNvPr id="17" name="bd_453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£1,570</a:t>
            </a:r>
            <a:endParaRPr lang="en-US" sz="800" dirty="0"/>
          </a:p>
        </p:txBody>
      </p:sp>
      <p:sp>
        <p:nvSpPr>
          <p:cNvPr id="18" name="bd_454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£30</a:t>
            </a:r>
            <a:endParaRPr lang="en-US" sz="1000" dirty="0"/>
          </a:p>
        </p:txBody>
      </p:sp>
      <p:sp>
        <p:nvSpPr>
          <p:cNvPr id="19" name="bd_455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60</a:t>
            </a:r>
            <a:endParaRPr lang="en-US" sz="1400" dirty="0"/>
          </a:p>
        </p:txBody>
      </p:sp>
      <p:sp>
        <p:nvSpPr>
          <p:cNvPr id="20" name="bd_456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£1.95</a:t>
            </a:r>
            <a:endParaRPr lang="en-US" sz="800" dirty="0"/>
          </a:p>
        </p:txBody>
      </p:sp>
      <p:sp>
        <p:nvSpPr>
          <p:cNvPr id="21" name="bd_457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6,500</a:t>
            </a:r>
            <a:endParaRPr lang="en-US" sz="800" dirty="0"/>
          </a:p>
        </p:txBody>
      </p:sp>
      <p:sp>
        <p:nvSpPr>
          <p:cNvPr id="22" name="bd_458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£23k</a:t>
            </a:r>
            <a:endParaRPr lang="en-US" sz="800" dirty="0"/>
          </a:p>
        </p:txBody>
      </p:sp>
      <p:sp>
        <p:nvSpPr>
          <p:cNvPr id="23" name="pf_459"/>
          <p:cNvSpPr/>
          <p:nvPr/>
        </p:nvSpPr>
        <p:spPr>
          <a:xfrm rot="90000">
            <a:off x="5577840" y="1834140"/>
            <a:ext cx="3246120" cy="2183880"/>
          </a:xfrm>
          <a:prstGeom prst="roundRect">
            <a:avLst>
              <a:gd name="adj" fmla="val 7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460" descr="/home/claude/lls-course/v2/cache/2a1_cycle_holiday_jpg_759x50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879860"/>
            <a:ext cx="3154680" cy="2092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6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6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46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note_46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250" dirty="0"/>
          </a:p>
        </p:txBody>
      </p:sp>
      <p:pic>
        <p:nvPicPr>
          <p:cNvPr id="10" name="logo_4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 A   ·   📖 SB p.17 · article paragraph A</a:t>
            </a:r>
            <a:endParaRPr lang="en-US" sz="800" dirty="0"/>
          </a:p>
        </p:txBody>
      </p:sp>
      <p:sp>
        <p:nvSpPr>
          <p:cNvPr id="12" name="cd_47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47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· The plan</a:t>
            </a:r>
            <a:endParaRPr lang="en-US" sz="1700" dirty="0"/>
          </a:p>
        </p:txBody>
      </p:sp>
      <p:sp>
        <p:nvSpPr>
          <p:cNvPr id="14" name="ln_472"/>
          <p:cNvSpPr/>
          <p:nvPr/>
        </p:nvSpPr>
        <p:spPr>
          <a:xfrm>
            <a:off x="548640" y="1920240"/>
            <a:ext cx="5349240" cy="469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50" dirty="0"/>
          </a:p>
        </p:txBody>
      </p:sp>
      <p:sp>
        <p:nvSpPr>
          <p:cNvPr id="15" name="R1_lnA473"/>
          <p:cNvSpPr/>
          <p:nvPr/>
        </p:nvSpPr>
        <p:spPr>
          <a:xfrm>
            <a:off x="548640" y="1920240"/>
            <a:ext cx="5349240" cy="46999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£230,000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50" dirty="0"/>
          </a:p>
        </p:txBody>
      </p:sp>
      <p:sp>
        <p:nvSpPr>
          <p:cNvPr id="16" name="ln_474"/>
          <p:cNvSpPr/>
          <p:nvPr/>
        </p:nvSpPr>
        <p:spPr>
          <a:xfrm>
            <a:off x="548640" y="2390233"/>
            <a:ext cx="5349240" cy="518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November, she looked at her finances and she discovered that every year she spent a lot of money unnecessarily –</a:t>
            </a:r>
            <a:endParaRPr lang="en-US" sz="1250" dirty="0"/>
          </a:p>
        </p:txBody>
      </p:sp>
      <p:sp>
        <p:nvSpPr>
          <p:cNvPr id="17" name="ln_475"/>
          <p:cNvSpPr/>
          <p:nvPr/>
        </p:nvSpPr>
        <p:spPr>
          <a:xfrm>
            <a:off x="548640" y="2908999"/>
            <a:ext cx="5349240" cy="642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50" dirty="0"/>
          </a:p>
        </p:txBody>
      </p:sp>
      <p:sp>
        <p:nvSpPr>
          <p:cNvPr id="18" name="R2_lnA476"/>
          <p:cNvSpPr/>
          <p:nvPr/>
        </p:nvSpPr>
        <p:spPr>
          <a:xfrm>
            <a:off x="548640" y="2908999"/>
            <a:ext cx="5349240" cy="6429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£1,570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50" dirty="0"/>
          </a:p>
        </p:txBody>
      </p:sp>
      <p:sp>
        <p:nvSpPr>
          <p:cNvPr id="19" name="ln_477"/>
          <p:cNvSpPr/>
          <p:nvPr/>
        </p:nvSpPr>
        <p:spPr>
          <a:xfrm>
            <a:off x="548640" y="3551913"/>
            <a:ext cx="5349240" cy="611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50" dirty="0"/>
          </a:p>
        </p:txBody>
      </p:sp>
      <p:sp>
        <p:nvSpPr>
          <p:cNvPr id="20" name="R3_lnA478"/>
          <p:cNvSpPr/>
          <p:nvPr/>
        </p:nvSpPr>
        <p:spPr>
          <a:xfrm>
            <a:off x="548640" y="3551913"/>
            <a:ext cx="5349240" cy="61187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£30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50" dirty="0"/>
          </a:p>
        </p:txBody>
      </p:sp>
      <p:sp>
        <p:nvSpPr>
          <p:cNvPr id="21" name="ln_479"/>
          <p:cNvSpPr/>
          <p:nvPr/>
        </p:nvSpPr>
        <p:spPr>
          <a:xfrm>
            <a:off x="548640" y="4163791"/>
            <a:ext cx="5349240" cy="545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couldn't spend money on anything else – no clothes, no buses or flights, no meals out, no drinks, and no cosmetics.</a:t>
            </a:r>
            <a:endParaRPr lang="en-US" sz="1250" dirty="0"/>
          </a:p>
        </p:txBody>
      </p:sp>
      <p:sp>
        <p:nvSpPr>
          <p:cNvPr id="22" name="pf_480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481" descr="/home/claude/lls-course/v2/cache/2a1_budget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4" name="cd_48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48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48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485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reduce = ridurre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household essentials = cose di casa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90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the gap?</a:t>
            </a:r>
            <a:endParaRPr lang="en-US" sz="1250" dirty="0"/>
          </a:p>
        </p:txBody>
      </p:sp>
      <p:sp>
        <p:nvSpPr>
          <p:cNvPr id="8" name="insIT_4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nello spazio?</a:t>
            </a:r>
            <a:endParaRPr lang="en-US" sz="950" dirty="0"/>
          </a:p>
        </p:txBody>
      </p:sp>
      <p:sp>
        <p:nvSpPr>
          <p:cNvPr id="9" name="note_49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250" dirty="0"/>
          </a:p>
        </p:txBody>
      </p:sp>
      <p:pic>
        <p:nvPicPr>
          <p:cNvPr id="10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B–C   ·   📖 SB p.17 · article paragraphs B–C</a:t>
            </a:r>
            <a:endParaRPr lang="en-US" sz="800" dirty="0"/>
          </a:p>
        </p:txBody>
      </p:sp>
      <p:sp>
        <p:nvSpPr>
          <p:cNvPr id="12" name="cd_49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49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At home    C · Friends</a:t>
            </a:r>
            <a:endParaRPr lang="en-US" sz="1700" dirty="0"/>
          </a:p>
        </p:txBody>
      </p:sp>
      <p:sp>
        <p:nvSpPr>
          <p:cNvPr id="14" name="ln_497"/>
          <p:cNvSpPr/>
          <p:nvPr/>
        </p:nvSpPr>
        <p:spPr>
          <a:xfrm>
            <a:off x="548640" y="1920240"/>
            <a:ext cx="5349240" cy="614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She cooked large quantities of curry and bolognese sauce, which lasted her a week, and which she ate with rice or pasta. It was cheap and healthy, but also 'really boring'.</a:t>
            </a:r>
            <a:endParaRPr lang="en-US" sz="1100" dirty="0"/>
          </a:p>
        </p:txBody>
      </p:sp>
      <p:sp>
        <p:nvSpPr>
          <p:cNvPr id="15" name="ln_498"/>
          <p:cNvSpPr/>
          <p:nvPr/>
        </p:nvSpPr>
        <p:spPr>
          <a:xfrm>
            <a:off x="548640" y="2534926"/>
            <a:ext cx="5349240" cy="674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experimented with home-made cleaning products and beauty treatments, like using vinegar for cleaning or olive oil as moisturiser, but she decided that most of them didn't really work.</a:t>
            </a:r>
            <a:endParaRPr lang="en-US" sz="1100" dirty="0"/>
          </a:p>
        </p:txBody>
      </p:sp>
      <p:sp>
        <p:nvSpPr>
          <p:cNvPr id="16" name="ln_499"/>
          <p:cNvSpPr/>
          <p:nvPr/>
        </p:nvSpPr>
        <p:spPr>
          <a:xfrm>
            <a:off x="548640" y="3209325"/>
            <a:ext cx="5349240" cy="607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At first, she tried to see her friends as often as before. She cycled 120 miles to be at a friend's wedding, and camped in their garden to avoid paying for accommodation.</a:t>
            </a:r>
            <a:endParaRPr lang="en-US" sz="1100" dirty="0"/>
          </a:p>
        </p:txBody>
      </p:sp>
      <p:sp>
        <p:nvSpPr>
          <p:cNvPr id="17" name="ln_500"/>
          <p:cNvSpPr/>
          <p:nvPr/>
        </p:nvSpPr>
        <p:spPr>
          <a:xfrm>
            <a:off x="548640" y="3816987"/>
            <a:ext cx="5349240" cy="63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18" name="R1_lnA501"/>
          <p:cNvSpPr/>
          <p:nvPr/>
        </p:nvSpPr>
        <p:spPr>
          <a:xfrm>
            <a:off x="548640" y="3816987"/>
            <a:ext cx="5349240" cy="63927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19" name="ln_502"/>
          <p:cNvSpPr/>
          <p:nvPr/>
        </p:nvSpPr>
        <p:spPr>
          <a:xfrm>
            <a:off x="548640" y="4456260"/>
            <a:ext cx="5349240" cy="25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end, she simply went out less, which made her feel more isolated.</a:t>
            </a:r>
            <a:endParaRPr lang="en-US" sz="1100" dirty="0"/>
          </a:p>
        </p:txBody>
      </p:sp>
      <p:sp>
        <p:nvSpPr>
          <p:cNvPr id="20" name="pf_503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4" descr="/home/claude/lls-course/v2/cache/2a1_picnic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2" name="cd_50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0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0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5" name="il_508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camp = dormire in tenda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isolated = isolata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1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5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5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note_51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250" dirty="0"/>
          </a:p>
        </p:txBody>
      </p:sp>
      <p:pic>
        <p:nvPicPr>
          <p:cNvPr id="10" name="logo_5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1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D–E   ·   📖 SB p.17 · article paragraphs D–E</a:t>
            </a:r>
            <a:endParaRPr lang="en-US" sz="800" dirty="0"/>
          </a:p>
        </p:txBody>
      </p:sp>
      <p:sp>
        <p:nvSpPr>
          <p:cNvPr id="12" name="cd_51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51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Holidays    E · The result</a:t>
            </a:r>
            <a:endParaRPr lang="en-US" sz="1700" dirty="0"/>
          </a:p>
        </p:txBody>
      </p:sp>
      <p:sp>
        <p:nvSpPr>
          <p:cNvPr id="14" name="ln_520"/>
          <p:cNvSpPr/>
          <p:nvPr/>
        </p:nvSpPr>
        <p:spPr>
          <a:xfrm>
            <a:off x="548640" y="1920240"/>
            <a:ext cx="5349240" cy="807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Of course, she couldn't afford to go abroad, so she missed a trip to Ibiza with friends. Her only holiday was a cycling trip to East Anglia, where again she camped.</a:t>
            </a:r>
            <a:endParaRPr lang="en-US" sz="1250" dirty="0"/>
          </a:p>
        </p:txBody>
      </p:sp>
      <p:sp>
        <p:nvSpPr>
          <p:cNvPr id="15" name="ln_521"/>
          <p:cNvSpPr/>
          <p:nvPr/>
        </p:nvSpPr>
        <p:spPr>
          <a:xfrm>
            <a:off x="548640" y="2727432"/>
            <a:ext cx="5349240" cy="61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R1_lnA522"/>
          <p:cNvSpPr/>
          <p:nvPr/>
        </p:nvSpPr>
        <p:spPr>
          <a:xfrm>
            <a:off x="548640" y="2727432"/>
            <a:ext cx="5349240" cy="6186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£1.95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17" name="ln_523"/>
          <p:cNvSpPr/>
          <p:nvPr/>
        </p:nvSpPr>
        <p:spPr>
          <a:xfrm>
            <a:off x="548640" y="3346118"/>
            <a:ext cx="5349240" cy="265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18" name="R2_lnA524"/>
          <p:cNvSpPr/>
          <p:nvPr/>
        </p:nvSpPr>
        <p:spPr>
          <a:xfrm>
            <a:off x="548640" y="3346118"/>
            <a:ext cx="5349240" cy="26584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£23,000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p:sp>
        <p:nvSpPr>
          <p:cNvPr id="19" name="ln_525"/>
          <p:cNvSpPr/>
          <p:nvPr/>
        </p:nvSpPr>
        <p:spPr>
          <a:xfrm>
            <a:off x="548640" y="3611959"/>
            <a:ext cx="5349240" cy="84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2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250" dirty="0"/>
          </a:p>
        </p:txBody>
      </p:sp>
      <p:sp>
        <p:nvSpPr>
          <p:cNvPr id="20" name="R3_lnA526"/>
          <p:cNvSpPr/>
          <p:nvPr/>
        </p:nvSpPr>
        <p:spPr>
          <a:xfrm>
            <a:off x="548640" y="3611959"/>
            <a:ext cx="5349240" cy="8458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2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6,500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250" dirty="0"/>
          </a:p>
        </p:txBody>
      </p:sp>
      <p:sp>
        <p:nvSpPr>
          <p:cNvPr id="21" name="ln_527"/>
          <p:cNvSpPr/>
          <p:nvPr/>
        </p:nvSpPr>
        <p:spPr>
          <a:xfrm>
            <a:off x="548640" y="4457819"/>
            <a:ext cx="5349240" cy="25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gained confidence and a sense of adventure.</a:t>
            </a:r>
            <a:endParaRPr lang="en-US" sz="1250" dirty="0"/>
          </a:p>
        </p:txBody>
      </p:sp>
      <p:sp>
        <p:nvSpPr>
          <p:cNvPr id="22" name="pf_528"/>
          <p:cNvSpPr/>
          <p:nvPr/>
        </p:nvSpPr>
        <p:spPr>
          <a:xfrm rot="120000">
            <a:off x="6865730" y="1417320"/>
            <a:ext cx="1447581" cy="1508760"/>
          </a:xfrm>
          <a:prstGeom prst="roundRect">
            <a:avLst>
              <a:gd name="adj" fmla="val 107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529" descr="/home/claude/lls-course/v2/cache/spare_future_money_jpg_326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911450" y="1463040"/>
            <a:ext cx="1356141" cy="1417320"/>
          </a:xfrm>
          <a:prstGeom prst="rect">
            <a:avLst/>
          </a:prstGeom>
        </p:spPr>
      </p:pic>
      <p:sp>
        <p:nvSpPr>
          <p:cNvPr id="24" name="cd_530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531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532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533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slimmer and fitter = più magra e in forma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gain confidence = acquistare sicurezza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3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Michelle's key tip</a:t>
            </a:r>
            <a:endParaRPr lang="en-US" sz="2500" dirty="0"/>
          </a:p>
        </p:txBody>
      </p:sp>
      <p:pic>
        <p:nvPicPr>
          <p:cNvPr id="6" name="brP_5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38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Guess a–c: need or want?</a:t>
            </a:r>
            <a:endParaRPr lang="en-US" sz="1250" dirty="0"/>
          </a:p>
        </p:txBody>
      </p:sp>
      <p:sp>
        <p:nvSpPr>
          <p:cNvPr id="8" name="insIT_5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Indovina a–c: need o want?</a:t>
            </a:r>
            <a:endParaRPr lang="en-US" sz="950" dirty="0"/>
          </a:p>
        </p:txBody>
      </p:sp>
      <p:sp>
        <p:nvSpPr>
          <p:cNvPr id="9" name="note_54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🤔 GUESS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150" dirty="0"/>
          </a:p>
        </p:txBody>
      </p:sp>
      <p:pic>
        <p:nvPicPr>
          <p:cNvPr id="10" name="logo_5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F–G   ·   📖 SB p.17 · article paragraphs F–G</a:t>
            </a:r>
            <a:endParaRPr lang="en-US" sz="800" dirty="0"/>
          </a:p>
        </p:txBody>
      </p:sp>
      <p:sp>
        <p:nvSpPr>
          <p:cNvPr id="12" name="cd_54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54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After the year    G · Her key tip</a:t>
            </a:r>
            <a:endParaRPr lang="en-US" sz="1700" dirty="0"/>
          </a:p>
        </p:txBody>
      </p:sp>
      <p:sp>
        <p:nvSpPr>
          <p:cNvPr id="14" name="ln_545"/>
          <p:cNvSpPr/>
          <p:nvPr/>
        </p:nvSpPr>
        <p:spPr>
          <a:xfrm>
            <a:off x="548640" y="1920240"/>
            <a:ext cx="5349240" cy="33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 But she learned the hard way that you can't really socialize if you don't want to spend money.</a:t>
            </a:r>
            <a:endParaRPr lang="en-US" sz="950" dirty="0"/>
          </a:p>
        </p:txBody>
      </p:sp>
      <p:sp>
        <p:nvSpPr>
          <p:cNvPr id="15" name="ln_546"/>
          <p:cNvSpPr/>
          <p:nvPr/>
        </p:nvSpPr>
        <p:spPr>
          <a:xfrm>
            <a:off x="548640" y="2259244"/>
            <a:ext cx="5349240" cy="332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evening after her year-long challenge ended, she bought all her friends a drink in the pub.</a:t>
            </a:r>
            <a:endParaRPr lang="en-US" sz="950" dirty="0"/>
          </a:p>
        </p:txBody>
      </p:sp>
      <p:sp>
        <p:nvSpPr>
          <p:cNvPr id="16" name="ln_547"/>
          <p:cNvSpPr/>
          <p:nvPr/>
        </p:nvSpPr>
        <p:spPr>
          <a:xfrm>
            <a:off x="548640" y="2591258"/>
            <a:ext cx="5349240" cy="471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has not gone back to her past spending habits. She occasionally pays to socialize and go on holiday. She has even taken a taxi.</a:t>
            </a:r>
            <a:endParaRPr lang="en-US" sz="950" dirty="0"/>
          </a:p>
        </p:txBody>
      </p:sp>
      <p:sp>
        <p:nvSpPr>
          <p:cNvPr id="17" name="ln_548"/>
          <p:cNvSpPr/>
          <p:nvPr/>
        </p:nvSpPr>
        <p:spPr>
          <a:xfrm>
            <a:off x="548640" y="3063068"/>
            <a:ext cx="5349240" cy="426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after buying a few new clothes and some perfume, she insists, 'I have absolutely no interest in buying anything else.'</a:t>
            </a:r>
            <a:endParaRPr lang="en-US" sz="950" dirty="0"/>
          </a:p>
        </p:txBody>
      </p:sp>
      <p:sp>
        <p:nvSpPr>
          <p:cNvPr id="18" name="ln_549"/>
          <p:cNvSpPr/>
          <p:nvPr/>
        </p:nvSpPr>
        <p:spPr>
          <a:xfrm>
            <a:off x="548640" y="3489444"/>
            <a:ext cx="5349240" cy="181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 So what's her key tip for those who want to save?</a:t>
            </a:r>
            <a:endParaRPr lang="en-US" sz="950" dirty="0"/>
          </a:p>
        </p:txBody>
      </p:sp>
      <p:sp>
        <p:nvSpPr>
          <p:cNvPr id="19" name="ln_550"/>
          <p:cNvSpPr/>
          <p:nvPr/>
        </p:nvSpPr>
        <p:spPr>
          <a:xfrm>
            <a:off x="548640" y="3671178"/>
            <a:ext cx="5349240" cy="44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(a) ________ 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(b) ________ 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</p:txBody>
      </p:sp>
      <p:sp>
        <p:nvSpPr>
          <p:cNvPr id="20" name="R1_lnA551"/>
          <p:cNvSpPr/>
          <p:nvPr/>
        </p:nvSpPr>
        <p:spPr>
          <a:xfrm>
            <a:off x="548640" y="3671178"/>
            <a:ext cx="5349240" cy="44734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50" dirty="0"/>
          </a:p>
        </p:txBody>
      </p:sp>
      <p:sp>
        <p:nvSpPr>
          <p:cNvPr id="21" name="ln_552"/>
          <p:cNvSpPr/>
          <p:nvPr/>
        </p:nvSpPr>
        <p:spPr>
          <a:xfrm>
            <a:off x="548640" y="4118524"/>
            <a:ext cx="5349240" cy="26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9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(c) ________ 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950" dirty="0"/>
          </a:p>
        </p:txBody>
      </p:sp>
      <p:sp>
        <p:nvSpPr>
          <p:cNvPr id="22" name="R2_lnA553"/>
          <p:cNvSpPr/>
          <p:nvPr/>
        </p:nvSpPr>
        <p:spPr>
          <a:xfrm>
            <a:off x="548640" y="4118524"/>
            <a:ext cx="5349240" cy="26561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950" dirty="0"/>
          </a:p>
        </p:txBody>
      </p:sp>
      <p:sp>
        <p:nvSpPr>
          <p:cNvPr id="23" name="ln_554"/>
          <p:cNvSpPr/>
          <p:nvPr/>
        </p:nvSpPr>
        <p:spPr>
          <a:xfrm>
            <a:off x="548640" y="4384135"/>
            <a:ext cx="5349240" cy="325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Maybe we don't know the difference between needing something and wanting something any more.'</a:t>
            </a:r>
            <a:endParaRPr lang="en-US" sz="950" dirty="0"/>
          </a:p>
        </p:txBody>
      </p:sp>
      <p:sp>
        <p:nvSpPr>
          <p:cNvPr id="24" name="pf_555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556" descr="/home/claude/lls-course/v2/cache/2a1_cover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6" name="cd_55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55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55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560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hard way = a sue spese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need = avere bisogno · want = volere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6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65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again. True or false? Why?</a:t>
            </a:r>
            <a:endParaRPr lang="en-US" sz="1250" dirty="0"/>
          </a:p>
        </p:txBody>
      </p:sp>
      <p:sp>
        <p:nvSpPr>
          <p:cNvPr id="8" name="insIT_56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Rileggi. Vero o falso? Perché?</a:t>
            </a:r>
            <a:endParaRPr lang="en-US" sz="950" dirty="0"/>
          </a:p>
        </p:txBody>
      </p:sp>
      <p:sp>
        <p:nvSpPr>
          <p:cNvPr id="9" name="note_56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150" dirty="0"/>
          </a:p>
        </p:txBody>
      </p:sp>
      <p:pic>
        <p:nvPicPr>
          <p:cNvPr id="10" name="logo_5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detail   ·   📖 SB p.17 · 3c, 3d</a:t>
            </a:r>
            <a:endParaRPr lang="en-US" sz="800" dirty="0"/>
          </a:p>
        </p:txBody>
      </p:sp>
      <p:sp>
        <p:nvSpPr>
          <p:cNvPr id="12" name="cd_570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5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5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573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a teacher. → F · 'a 34-year-old journalist' (A)</a:t>
            </a:r>
            <a:endParaRPr lang="en-US" sz="1050" dirty="0"/>
          </a:p>
        </p:txBody>
      </p:sp>
      <p:sp>
        <p:nvSpPr>
          <p:cNvPr id="16" name="pf_574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575" descr="/home/claude/lls-course/v2/cache/2a1_cover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576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577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could use public transport.</a:t>
            </a:r>
            <a:endParaRPr lang="en-US" sz="1150" dirty="0"/>
          </a:p>
        </p:txBody>
      </p:sp>
      <p:sp>
        <p:nvSpPr>
          <p:cNvPr id="20" name="R1_chip578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'no buses or flights' (A)</a:t>
            </a:r>
            <a:endParaRPr lang="en-US" sz="1050" dirty="0"/>
          </a:p>
        </p:txBody>
      </p:sp>
      <p:sp>
        <p:nvSpPr>
          <p:cNvPr id="21" name="bd_579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580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often hungry.</a:t>
            </a:r>
            <a:endParaRPr lang="en-US" sz="1150" dirty="0"/>
          </a:p>
        </p:txBody>
      </p:sp>
      <p:sp>
        <p:nvSpPr>
          <p:cNvPr id="23" name="R2_chip581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cheap and healthy, but 'really boring' (B)</a:t>
            </a:r>
            <a:endParaRPr lang="en-US" sz="1050" dirty="0"/>
          </a:p>
        </p:txBody>
      </p:sp>
      <p:sp>
        <p:nvSpPr>
          <p:cNvPr id="24" name="bd_582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583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the wedding, she slept in a tent.</a:t>
            </a:r>
            <a:endParaRPr lang="en-US" sz="1150" dirty="0"/>
          </a:p>
        </p:txBody>
      </p:sp>
      <p:sp>
        <p:nvSpPr>
          <p:cNvPr id="26" name="R3_chip584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'camped in their garden' (C)</a:t>
            </a:r>
            <a:endParaRPr lang="en-US" sz="1050" dirty="0"/>
          </a:p>
        </p:txBody>
      </p:sp>
      <p:sp>
        <p:nvSpPr>
          <p:cNvPr id="27" name="bd_585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586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never had ready-made food.</a:t>
            </a:r>
            <a:endParaRPr lang="en-US" sz="1150" dirty="0"/>
          </a:p>
        </p:txBody>
      </p:sp>
      <p:sp>
        <p:nvSpPr>
          <p:cNvPr id="29" name="R4_chip587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a bag of chips for £1.95 (D)</a:t>
            </a:r>
            <a:endParaRPr lang="en-US" sz="1050" dirty="0"/>
          </a:p>
        </p:txBody>
      </p:sp>
      <p:sp>
        <p:nvSpPr>
          <p:cNvPr id="30" name="bd_588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589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didn't lose any weight.</a:t>
            </a:r>
            <a:endParaRPr lang="en-US" sz="1150" dirty="0"/>
          </a:p>
        </p:txBody>
      </p:sp>
      <p:sp>
        <p:nvSpPr>
          <p:cNvPr id="32" name="R5_chip590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'much slimmer and fitter' (E)</a:t>
            </a:r>
            <a:endParaRPr lang="en-US" sz="1050" dirty="0"/>
          </a:p>
        </p:txBody>
      </p:sp>
      <p:sp>
        <p:nvSpPr>
          <p:cNvPr id="33" name="bd_591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592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she spends less than she used to.</a:t>
            </a:r>
            <a:endParaRPr lang="en-US" sz="1150" dirty="0"/>
          </a:p>
        </p:txBody>
      </p:sp>
      <p:sp>
        <p:nvSpPr>
          <p:cNvPr id="35" name="R6_chip593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'not gone back to her past spending habits' (F)</a:t>
            </a:r>
            <a:endParaRPr lang="en-US" sz="1050" dirty="0"/>
          </a:p>
        </p:txBody>
      </p:sp>
      <p:sp>
        <p:nvSpPr>
          <p:cNvPr id="36" name="bd_594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595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buy, we should ask ourselves why.</a:t>
            </a:r>
            <a:endParaRPr lang="en-US" sz="1100" dirty="0"/>
          </a:p>
        </p:txBody>
      </p:sp>
      <p:sp>
        <p:nvSpPr>
          <p:cNvPr id="38" name="R7_chip596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need or want? (G)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9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nouns together</a:t>
            </a:r>
            <a:endParaRPr lang="en-US" sz="2500" dirty="0"/>
          </a:p>
        </p:txBody>
      </p:sp>
      <p:pic>
        <p:nvPicPr>
          <p:cNvPr id="6" name="brP_6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01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second word in the text.</a:t>
            </a:r>
            <a:endParaRPr lang="en-US" sz="1250" dirty="0"/>
          </a:p>
        </p:txBody>
      </p:sp>
      <p:sp>
        <p:nvSpPr>
          <p:cNvPr id="8" name="insIT_60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la seconda parola nel testo.</a:t>
            </a:r>
            <a:endParaRPr lang="en-US" sz="950" dirty="0"/>
          </a:p>
        </p:txBody>
      </p:sp>
      <p:sp>
        <p:nvSpPr>
          <p:cNvPr id="9" name="note_60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TROVA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Guided discovery</a:t>
            </a:r>
            <a:endParaRPr lang="en-US" sz="1250" dirty="0"/>
          </a:p>
        </p:txBody>
      </p:sp>
      <p:pic>
        <p:nvPicPr>
          <p:cNvPr id="10" name="logo_6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compound nouns   ·   📖 SB p.17 · 3e Compound nouns</a:t>
            </a:r>
            <a:endParaRPr lang="en-US" sz="800" dirty="0"/>
          </a:p>
        </p:txBody>
      </p:sp>
      <p:sp>
        <p:nvSpPr>
          <p:cNvPr id="12" name="cd_606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60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60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609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cash + ? → cash machine (say: CASH machine)</a:t>
            </a:r>
            <a:endParaRPr lang="en-US" sz="1050" dirty="0"/>
          </a:p>
        </p:txBody>
      </p:sp>
      <p:sp>
        <p:nvSpPr>
          <p:cNvPr id="16" name="pf_610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11" descr="/home/claude/lls-course/v2/cache/2a1_budget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61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61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olive…</a:t>
            </a:r>
            <a:endParaRPr lang="en-US" sz="1150" dirty="0"/>
          </a:p>
        </p:txBody>
      </p:sp>
      <p:sp>
        <p:nvSpPr>
          <p:cNvPr id="20" name="R1_chip61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 oil (B) · olio d'oliva</a:t>
            </a:r>
            <a:endParaRPr lang="en-US" sz="1050" dirty="0"/>
          </a:p>
        </p:txBody>
      </p:sp>
      <p:sp>
        <p:nvSpPr>
          <p:cNvPr id="21" name="bd_61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61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electricity…</a:t>
            </a:r>
            <a:endParaRPr lang="en-US" sz="1150" dirty="0"/>
          </a:p>
        </p:txBody>
      </p:sp>
      <p:sp>
        <p:nvSpPr>
          <p:cNvPr id="23" name="R2_chip61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 bill (A) · bolletta della luce</a:t>
            </a:r>
            <a:endParaRPr lang="en-US" sz="1050" dirty="0"/>
          </a:p>
        </p:txBody>
      </p:sp>
      <p:sp>
        <p:nvSpPr>
          <p:cNvPr id="24" name="bd_61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61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cleaning…</a:t>
            </a:r>
            <a:endParaRPr lang="en-US" sz="1150" dirty="0"/>
          </a:p>
        </p:txBody>
      </p:sp>
      <p:sp>
        <p:nvSpPr>
          <p:cNvPr id="26" name="R3_chip62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 products (B) · detersivi</a:t>
            </a:r>
            <a:endParaRPr lang="en-US" sz="1050" dirty="0"/>
          </a:p>
        </p:txBody>
      </p:sp>
      <p:sp>
        <p:nvSpPr>
          <p:cNvPr id="27" name="bd_62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62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cycling…</a:t>
            </a:r>
            <a:endParaRPr lang="en-US" sz="1150" dirty="0"/>
          </a:p>
        </p:txBody>
      </p:sp>
      <p:sp>
        <p:nvSpPr>
          <p:cNvPr id="29" name="R4_chip62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 trip (D) · viaggio in bici</a:t>
            </a:r>
            <a:endParaRPr lang="en-US" sz="1050" dirty="0"/>
          </a:p>
        </p:txBody>
      </p:sp>
      <p:sp>
        <p:nvSpPr>
          <p:cNvPr id="30" name="bd_62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62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beauty…</a:t>
            </a:r>
            <a:endParaRPr lang="en-US" sz="1150" dirty="0"/>
          </a:p>
        </p:txBody>
      </p:sp>
      <p:sp>
        <p:nvSpPr>
          <p:cNvPr id="32" name="R5_chip62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 treatments (B) · trattamenti di bellezza</a:t>
            </a:r>
            <a:endParaRPr lang="en-US" sz="1050" dirty="0"/>
          </a:p>
        </p:txBody>
      </p:sp>
      <p:sp>
        <p:nvSpPr>
          <p:cNvPr id="33" name="bd_62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62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tap…</a:t>
            </a:r>
            <a:endParaRPr lang="en-US" sz="1150" dirty="0"/>
          </a:p>
        </p:txBody>
      </p:sp>
      <p:sp>
        <p:nvSpPr>
          <p:cNvPr id="35" name="R6_chip62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 water (C) · acqua del rubinetto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3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 YOU do it?</a:t>
            </a:r>
            <a:endParaRPr lang="en-US" sz="2500" dirty="0"/>
          </a:p>
        </p:txBody>
      </p:sp>
      <p:pic>
        <p:nvPicPr>
          <p:cNvPr id="6" name="brP_6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63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Imagine! Answer with I'd… or I wouldn't…</a:t>
            </a:r>
            <a:endParaRPr lang="en-US" sz="1250" dirty="0"/>
          </a:p>
        </p:txBody>
      </p:sp>
      <p:sp>
        <p:nvSpPr>
          <p:cNvPr id="8" name="insIT_63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Immagina! Rispondi con I'd… o I wouldn't…</a:t>
            </a:r>
            <a:endParaRPr lang="en-US" sz="950" dirty="0"/>
          </a:p>
        </p:txBody>
      </p:sp>
      <p:sp>
        <p:nvSpPr>
          <p:cNvPr id="9" name="note_63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6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Speaking · could you do it?   ·   📖 SB p.17 · 3f · would for imaginary situations</a:t>
            </a:r>
            <a:endParaRPr lang="en-US" sz="800" dirty="0"/>
          </a:p>
        </p:txBody>
      </p:sp>
      <p:sp>
        <p:nvSpPr>
          <p:cNvPr id="12" name="pf_639"/>
          <p:cNvSpPr/>
          <p:nvPr/>
        </p:nvSpPr>
        <p:spPr>
          <a:xfrm rot="-120000">
            <a:off x="742588" y="1371600"/>
            <a:ext cx="194382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640" descr="/home/claude/lls-course/v2/cache/2a1_need_want_jpg_44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8308" y="1417320"/>
            <a:ext cx="1852384" cy="1234440"/>
          </a:xfrm>
          <a:prstGeom prst="rect">
            <a:avLst/>
          </a:prstGeom>
        </p:spPr>
      </p:pic>
      <p:sp>
        <p:nvSpPr>
          <p:cNvPr id="14" name="cd_641"/>
          <p:cNvSpPr/>
          <p:nvPr/>
        </p:nvSpPr>
        <p:spPr>
          <a:xfrm>
            <a:off x="320040" y="288036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42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643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644"/>
          <p:cNvSpPr/>
          <p:nvPr/>
        </p:nvSpPr>
        <p:spPr>
          <a:xfrm>
            <a:off x="886968" y="337413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(= I would)…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wouldn't…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find it hard to…</a:t>
            </a:r>
            <a:endParaRPr lang="en-US" sz="1150" dirty="0"/>
          </a:p>
        </p:txBody>
      </p:sp>
      <p:sp>
        <p:nvSpPr>
          <p:cNvPr id="18" name="R1_qb64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646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spend less on?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spend less on clothes and coffee.</a:t>
            </a:r>
            <a:endParaRPr lang="en-US" sz="1150" dirty="0"/>
          </a:p>
        </p:txBody>
      </p:sp>
      <p:sp>
        <p:nvSpPr>
          <p:cNvPr id="20" name="R2_qb647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648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eat?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cook pasta at home every day!</a:t>
            </a:r>
            <a:endParaRPr lang="en-US" sz="1150" dirty="0"/>
          </a:p>
        </p:txBody>
      </p:sp>
      <p:sp>
        <p:nvSpPr>
          <p:cNvPr id="22" name="R3_qb649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650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get around?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walk or cycle everywhere.</a:t>
            </a:r>
            <a:endParaRPr lang="en-US" sz="1150" dirty="0"/>
          </a:p>
        </p:txBody>
      </p:sp>
      <p:sp>
        <p:nvSpPr>
          <p:cNvPr id="24" name="R4_qb651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652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socialize cheaply?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invite my friends home for a pizza.</a:t>
            </a:r>
            <a:endParaRPr lang="en-US" sz="1150" dirty="0"/>
          </a:p>
        </p:txBody>
      </p:sp>
      <p:sp>
        <p:nvSpPr>
          <p:cNvPr id="26" name="R5_qb653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654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phone, coffee, new trainers: need it or want it?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need my phone, but I just want new trainers.</a:t>
            </a:r>
            <a:endParaRPr lang="en-US" sz="1150" dirty="0"/>
          </a:p>
        </p:txBody>
      </p:sp>
      <p:sp>
        <p:nvSpPr>
          <p:cNvPr id="28" name="R6_qb655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656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really do a no-spend year? Why (not)?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way! I'd miss going out with my friends.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5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6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663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6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Exit · what can you remember?</a:t>
            </a:r>
            <a:endParaRPr lang="en-US" sz="800" dirty="0"/>
          </a:p>
        </p:txBody>
      </p:sp>
      <p:sp>
        <p:nvSpPr>
          <p:cNvPr id="12" name="bd_66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66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money verbs + their preposition (spend… ON)</a:t>
            </a:r>
            <a:endParaRPr lang="en-US" sz="1400" dirty="0"/>
          </a:p>
        </p:txBody>
      </p:sp>
      <p:sp>
        <p:nvSpPr>
          <p:cNvPr id="14" name="bd_66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66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words where o sounds different (money / borrow)</a:t>
            </a:r>
            <a:endParaRPr lang="en-US" sz="1400" dirty="0"/>
          </a:p>
        </p:txBody>
      </p:sp>
      <p:sp>
        <p:nvSpPr>
          <p:cNvPr id="16" name="bd_67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67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sentence: "To save money, I'd…"</a:t>
            </a:r>
            <a:endParaRPr lang="en-US" sz="1400" dirty="0"/>
          </a:p>
        </p:txBody>
      </p:sp>
      <p:sp>
        <p:nvSpPr>
          <p:cNvPr id="18" name="cd_672"/>
          <p:cNvSpPr/>
          <p:nvPr/>
        </p:nvSpPr>
        <p:spPr>
          <a:xfrm>
            <a:off x="5669280" y="1417320"/>
            <a:ext cx="3200400" cy="1837944"/>
          </a:xfrm>
          <a:prstGeom prst="roundRect">
            <a:avLst>
              <a:gd name="adj" fmla="val 69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67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67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675"/>
          <p:cNvSpPr/>
          <p:nvPr/>
        </p:nvSpPr>
        <p:spPr>
          <a:xfrm>
            <a:off x="6236208" y="1911096"/>
            <a:ext cx="25420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2A: 1a–1f, 2a, 2b (audio: Online Practice), 2c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Money p.154: cover and test yourself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676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2A part 2 · present perfect or past simple? · scams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7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8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6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6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Review · what did you do today?</a:t>
            </a:r>
            <a:endParaRPr lang="en-US" sz="800" dirty="0"/>
          </a:p>
        </p:txBody>
      </p:sp>
      <p:sp>
        <p:nvSpPr>
          <p:cNvPr id="12" name="cd_686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687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4" name="tt_688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how you spend and save money</a:t>
            </a:r>
            <a:endParaRPr lang="en-US" sz="1350" dirty="0"/>
          </a:p>
        </p:txBody>
      </p:sp>
      <p:sp>
        <p:nvSpPr>
          <p:cNvPr id="15" name="R1_tk689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690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691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🔤</a:t>
            </a:r>
            <a:endParaRPr lang="en-US" sz="1800" dirty="0"/>
          </a:p>
        </p:txBody>
      </p:sp>
      <p:sp>
        <p:nvSpPr>
          <p:cNvPr id="18" name="tt_692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about 30 money words</a:t>
            </a:r>
            <a:endParaRPr lang="en-US" sz="1350" dirty="0"/>
          </a:p>
        </p:txBody>
      </p:sp>
      <p:sp>
        <p:nvSpPr>
          <p:cNvPr id="19" name="R2_tk693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694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695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2" name="tt_696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the letter o in five different ways</a:t>
            </a:r>
            <a:endParaRPr lang="en-US" sz="1350" dirty="0"/>
          </a:p>
        </p:txBody>
      </p:sp>
      <p:sp>
        <p:nvSpPr>
          <p:cNvPr id="23" name="R3_tk697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698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699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700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701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702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703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30" name="tt_704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woman who spent nothing for a year</a:t>
            </a:r>
            <a:endParaRPr lang="en-US" sz="1350" dirty="0"/>
          </a:p>
        </p:txBody>
      </p:sp>
      <p:sp>
        <p:nvSpPr>
          <p:cNvPr id="31" name="R5_tk705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706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707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708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709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710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</a:t>
            </a:r>
            <a:endParaRPr lang="en-US" sz="2200" dirty="0"/>
          </a:p>
        </p:txBody>
      </p:sp>
      <p:pic>
        <p:nvPicPr>
          <p:cNvPr id="4" name="brY_7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71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paragraph?</a:t>
            </a:r>
            <a:endParaRPr lang="en-US" sz="2400" dirty="0"/>
          </a:p>
        </p:txBody>
      </p:sp>
      <p:pic>
        <p:nvPicPr>
          <p:cNvPr id="6" name="brP_7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71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Match A–G to the topics.</a:t>
            </a:r>
            <a:endParaRPr lang="en-US" sz="1250" dirty="0"/>
          </a:p>
        </p:txBody>
      </p:sp>
      <p:sp>
        <p:nvSpPr>
          <p:cNvPr id="8" name="insIT_7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l'articolo. Abbina A–G agli argomenti.</a:t>
            </a:r>
            <a:endParaRPr lang="en-US" sz="950" dirty="0"/>
          </a:p>
        </p:txBody>
      </p:sp>
      <p:sp>
        <p:nvSpPr>
          <p:cNvPr id="9" name="note_71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🔗 MATCH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ABBINA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250" dirty="0"/>
          </a:p>
        </p:txBody>
      </p:sp>
      <p:pic>
        <p:nvPicPr>
          <p:cNvPr id="10" name="logo_7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Reading · paragraphs   ·   📖 SB p.17 · 3b</a:t>
            </a:r>
            <a:endParaRPr lang="en-US" sz="800" dirty="0"/>
          </a:p>
        </p:txBody>
      </p:sp>
      <p:sp>
        <p:nvSpPr>
          <p:cNvPr id="12" name="ext_720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721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72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72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724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she went on holiday → D</a:t>
            </a:r>
            <a:endParaRPr lang="en-US" sz="950" dirty="0"/>
          </a:p>
        </p:txBody>
      </p:sp>
      <p:sp>
        <p:nvSpPr>
          <p:cNvPr id="17" name="pf_725"/>
          <p:cNvSpPr/>
          <p:nvPr/>
        </p:nvSpPr>
        <p:spPr>
          <a:xfrm rot="-90000">
            <a:off x="365760" y="2636204"/>
            <a:ext cx="2606040" cy="1759327"/>
          </a:xfrm>
          <a:prstGeom prst="roundRect">
            <a:avLst>
              <a:gd name="adj" fmla="val 88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726" descr="/home/claude/lls-course/v2/cache/2a1_cycle_holiday_jpg_605x40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81924"/>
            <a:ext cx="2514600" cy="1667887"/>
          </a:xfrm>
          <a:prstGeom prst="rect">
            <a:avLst/>
          </a:prstGeom>
        </p:spPr>
      </p:pic>
      <p:sp>
        <p:nvSpPr>
          <p:cNvPr id="19" name="bd_72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72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she decided to save money</a:t>
            </a:r>
            <a:endParaRPr lang="en-US" sz="1150" dirty="0"/>
          </a:p>
        </p:txBody>
      </p:sp>
      <p:sp>
        <p:nvSpPr>
          <p:cNvPr id="21" name="R1_chip72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bd_73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73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she saw her friends</a:t>
            </a:r>
            <a:endParaRPr lang="en-US" sz="1150" dirty="0"/>
          </a:p>
        </p:txBody>
      </p:sp>
      <p:sp>
        <p:nvSpPr>
          <p:cNvPr id="24" name="R2_chip73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25" name="bd_73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73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achieved</a:t>
            </a:r>
            <a:endParaRPr lang="en-US" sz="1150" dirty="0"/>
          </a:p>
        </p:txBody>
      </p:sp>
      <p:sp>
        <p:nvSpPr>
          <p:cNvPr id="27" name="R3_chip73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050" dirty="0"/>
          </a:p>
        </p:txBody>
      </p:sp>
      <p:sp>
        <p:nvSpPr>
          <p:cNvPr id="28" name="bd_73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73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advice for other people</a:t>
            </a:r>
            <a:endParaRPr lang="en-US" sz="1150" dirty="0"/>
          </a:p>
        </p:txBody>
      </p:sp>
      <p:sp>
        <p:nvSpPr>
          <p:cNvPr id="30" name="R4_chip73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endParaRPr lang="en-US" sz="1050" dirty="0"/>
          </a:p>
        </p:txBody>
      </p:sp>
      <p:sp>
        <p:nvSpPr>
          <p:cNvPr id="31" name="bd_73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74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she saved money at home</a:t>
            </a:r>
            <a:endParaRPr lang="en-US" sz="1150" dirty="0"/>
          </a:p>
        </p:txBody>
      </p:sp>
      <p:sp>
        <p:nvSpPr>
          <p:cNvPr id="33" name="R5_chip74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1050" dirty="0"/>
          </a:p>
        </p:txBody>
      </p:sp>
      <p:sp>
        <p:nvSpPr>
          <p:cNvPr id="34" name="bd_74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74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discovered</a:t>
            </a:r>
            <a:endParaRPr lang="en-US" sz="1150" dirty="0"/>
          </a:p>
        </p:txBody>
      </p:sp>
      <p:sp>
        <p:nvSpPr>
          <p:cNvPr id="36" name="R6_chip74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26</a:t>
            </a:r>
            <a:endParaRPr lang="en-US" sz="2200" dirty="0"/>
          </a:p>
        </p:txBody>
      </p:sp>
      <p:pic>
        <p:nvPicPr>
          <p:cNvPr id="4" name="brY_7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747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7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749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7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note_75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Communicative game</a:t>
            </a:r>
            <a:endParaRPr lang="en-US" sz="1250" dirty="0"/>
          </a:p>
        </p:txBody>
      </p:sp>
      <p:pic>
        <p:nvPicPr>
          <p:cNvPr id="10" name="logo_7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2A-1 · Vocabulary game</a:t>
            </a:r>
            <a:endParaRPr lang="en-US" sz="800" dirty="0"/>
          </a:p>
        </p:txBody>
      </p:sp>
      <p:sp>
        <p:nvSpPr>
          <p:cNvPr id="12" name="ext_754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75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75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75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75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turns around.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si gira.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Don't say 'money'!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Non dire 'money'!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guesses. Then swap.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indovina. Poi scambiatevi.</a:t>
            </a:r>
            <a:endParaRPr lang="en-US" sz="1000" dirty="0"/>
          </a:p>
        </p:txBody>
      </p:sp>
      <p:sp>
        <p:nvSpPr>
          <p:cNvPr id="17" name="pf_759"/>
          <p:cNvSpPr/>
          <p:nvPr/>
        </p:nvSpPr>
        <p:spPr>
          <a:xfrm rot="-120000">
            <a:off x="811222" y="4069080"/>
            <a:ext cx="1669396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760" descr="/home/claude/lls-course/v2/cache/2a1_waste_jpg_380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856942" y="4114800"/>
            <a:ext cx="1577956" cy="1051560"/>
          </a:xfrm>
          <a:prstGeom prst="rect">
            <a:avLst/>
          </a:prstGeom>
        </p:spPr>
      </p:pic>
      <p:sp>
        <p:nvSpPr>
          <p:cNvPr id="19" name="rl_761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0" name="R1_w762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mortgage</a:t>
            </a:r>
            <a:endParaRPr lang="en-US" sz="1700" dirty="0"/>
          </a:p>
        </p:txBody>
      </p:sp>
      <p:sp>
        <p:nvSpPr>
          <p:cNvPr id="21" name="R3_w763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salary</a:t>
            </a:r>
            <a:endParaRPr lang="en-US" sz="1700" dirty="0"/>
          </a:p>
        </p:txBody>
      </p:sp>
      <p:sp>
        <p:nvSpPr>
          <p:cNvPr id="22" name="R5_w764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700" dirty="0"/>
          </a:p>
        </p:txBody>
      </p:sp>
      <p:sp>
        <p:nvSpPr>
          <p:cNvPr id="23" name="R7_w765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</a:t>
            </a:r>
            <a:endParaRPr lang="en-US" sz="1700" dirty="0"/>
          </a:p>
        </p:txBody>
      </p:sp>
      <p:sp>
        <p:nvSpPr>
          <p:cNvPr id="24" name="rl_766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5" name="R2_w767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bill</a:t>
            </a:r>
            <a:endParaRPr lang="en-US" sz="1700" dirty="0"/>
          </a:p>
        </p:txBody>
      </p:sp>
      <p:sp>
        <p:nvSpPr>
          <p:cNvPr id="26" name="R4_w768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700" dirty="0"/>
          </a:p>
        </p:txBody>
      </p:sp>
      <p:sp>
        <p:nvSpPr>
          <p:cNvPr id="27" name="R6_w769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insurance</a:t>
            </a:r>
            <a:endParaRPr lang="en-US" sz="1700" dirty="0"/>
          </a:p>
        </p:txBody>
      </p:sp>
      <p:sp>
        <p:nvSpPr>
          <p:cNvPr id="28" name="R8_w770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2A-1 Spending money</dc:title>
  <dc:subject>PptxGenJS Presentation</dc:subject>
  <dc:creator>PptxGenJS</dc:creator>
  <cp:lastModifiedBy>PptxGenJS</cp:lastModifiedBy>
  <cp:revision>1</cp:revision>
  <dcterms:created xsi:type="dcterms:W3CDTF">2026-10-21T09:54:56Z</dcterms:created>
  <dcterms:modified xsi:type="dcterms:W3CDTF">2026-10-21T09:54:56Z</dcterms:modified>
</cp:coreProperties>
</file>