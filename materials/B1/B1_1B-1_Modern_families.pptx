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mp3" ContentType="audio/mpeg"/>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OPENING (2 min)
Show the photo. Ask the THINK question; take 3–4 ideas (e.g. step-families, fewer children, everyone on their phones…). Read the 'Today you're going to…' list together: students know where the lesson is going. Don't teach words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Revision · last lesson (2 min)
REVISION (2 min) before the warmer game. Read the examples with the class; elicit one more example for each column from students (e.g. 'What are you doing these days?'). Point at the time words: they tell you which tense. Then play 'Answers first!' – the answers in the game use exactly these two tenses and food words.
HOW TO RUN IT (active recap): pairs. Words: A points at a word, B says what it means (⭐); then a sentence with it (⭐⭐); strong students make it negative or a question (⭐⭐⭐). Grammar: pairs make their own example for each use (offer, plan…) BEFORE you click – then click to show the model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Warmer · last lesson (3 min)
RETRIEVAL WARMER (4 min). Two teams. Click once per line to show a possible question (accept any correct question in the right tense). Point for a correct question, +1 if the tense matches the answer (do/does vs am/is/are). ICQ: 'Are you writing answers or questions?'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Vocabulary · family (5 min)
ELICIT FIRST (4 min). Demo item 0 with the class. Pairs explain each pair of words in English (Italian allowed only as a last resort). Click once per item to reveal. Monitor and note which words are new. ICQs: 'Are you writing?' (no, talking) · 'In English or Italian?' (English). Next slide gives the Italian for slower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Vocabulary · in Italian (2 min)
CONSOLIDATION for slower students (2 min). Class says the Italian aloud for each word, then click once per word to show its Italian. Spend 20 seconds on the warning: 'parents' is NOT 'parenti' (false friend), and English has two words for 'nipote'. Quick CCQ: 'My dad's new wife – is she my mum?' (no) 'So she's my…?' (stepmother).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Vocabulary · practice (3 min)
CONTROLLED PRACTICE (2 min). Pairs: 'Number 1 is her great-grandmother.' Click once per number. Fast finishers: invent the next relationship (e.g. 'the baby is her niece'). The people and relationships are invented for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Vocabulary game (3 min)
GAME 2 (3 min). Demo first with a strong student: 'It's your dad's wife, but not your mum' → stepmother. Click to show each word (round 1 = 4 words for A, round 2 = 4 words for B, B faces the screen). 20 seconds per word. ICQ: 'Can you say the word?'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Reading · prediction (2 min)
PREDICTION (2 min). Read the introduction aloud. Check 'survey' (sondaggio) and 'statistics'. Pairs look at the number bank and commit to guesses on the next two slides — every pair must guess before checking. ICQ: 'Are you checking or guessing?' (guessing).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Reading · Family structure (3 min)
READ + CHECK (3 min). Pairs write their guesses for gaps 1–5. Play 1.14 (or read the text aloud if the audio isn't in the deck yet). Click once per gap: the answer appears highlighted IN the text. Answers (audio script): 1 14% · 2 45% · 3 40% · 4 30 · 5 32. Ask: 'Which number surprises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Reading · Family habits (3 min)
READ + CHECK (3 min). Same procedure. Answers: 6 10% · 7 17% · 8 2. Vocabulary from context: row /raʊ/ = argument (litigio) – NOT row /rəʊ/ (fila); refuse = say no. The photo is the clue for 'rows'. Extra slide (after the exit) = 'Find in the text' if there's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Speaking · Sicily vs the UK (5 min)
SPEAKING (4 min). Questions appear ONE PER CLICK: give groups about 40 seconds per question, then click. Teach the polite refusal first (yellow box): anyone can use it — no one has to talk about their family. Monitor and note 4–5 errors for delayed correction (don't interrupt). Feedback on question 1: what's different in Sicily?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Listening · gist (3 min)
GIST (3 min). Pictures (left to right) = A, B, C. Before listening: 'Who are the people? Where are they?' Play 1.15 ONCE. Pairs compare, then click once per conversation. Answers (TG): 1 C – what Adam's going to do next year · 2 A – a party she's going to · 3 B – whether he can borrow her car.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Listening · detail (4 min)
DETAIL (4 min). Pairs guess first (extra challenge from the TG). Play again, pausing after each conversation. Click once per sentence. Answers: a going to go · b Shall I make · c 'm staying · d 's going to be · e 'll drive · f 'll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Noticing · the conversations (2 min)
NOTICING (2 min). Text from the audio script. Pairs underline the future forms; click once per line to highlight them. This leads straight into the next slide (what does each form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Grammar · future forms (3 min)
GUIDED DISCOVERY (3 min). Pairs match a–f to the five uses. Click once per sentence. Answers (TG): plan a · prediction d, e · offer b · arrangement c · promise f. CCQ for c: 'Has she already organised it?' (yes – Katie knows) → arrangement.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Grammar · the rule (3 min)
RULE (3 min). Click once per column: the examples appear (meaning first, then form). Optional: play 1.16 (Grammar Bank listen and repeat). Last click = the Italian-speaker warning. CCQs: 'It's going to rain – can you see something?' (yes, clouds) · 'I'll carry it – did I decide before?' (no,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Speaking · class story (TPRS) (4 min)
TPRS CLASS STORY (4 min) – this comes straight after the rule, so students hear all five future uses (arrangement, plan, offer, promise, prediction with evidence) 15–20 times in a context BEFORE the 'Quick! Say it!' game and the pronunciation and mingle tasks. It also recycles today's family words (stepsister, grandpa). Click once per line. For each line: 1) say it, 2) ask the questions in grey round the class (yes/no → either/or → who/what), 3) let the CLASS change details: 'Is Giada getting married? No? Who is getting married?' – accept their idea and use it in later lines (change the food in line 6 too!). Students answer with one word or a short phrase – that's fine. As you go, point at the form and ask 'Plan or promise?' (line 2 plan · 3 offer · 4 promise · 5 prediction – we can SEE the dog · 6 instant decision). Finish: 'What happens next?' – one or two ideas, then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Grammar game (4 min)
GAME 3 (3 min). Read each situation; teams have 10 seconds to say (or write) a reply with the right future form. Click to show a model answer. Accept any correct reply. Point only if the future form is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Pronunciation · sentence stress (3 min)
PRONUNCIATION (3 min). Model first: 'I'm going to LOOK for a JOB' (audio 1.20) – the small words are fast and weak (going to = /ɡəʊɪŋ tə/). Play 1.21, pausing. Click 1 = the stressed words, click 2 = the full sentence (for each sentence). Then drill: chorally, then individually. Italian speakers give every word equal stress – exaggerate the big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Speaking · future plans (4 min)
FREER PRACTICE (3 min). Mingle. Questions appear one per click (show all 5, then let them mingle). Model the rhythm first. Feedback: 2–3 students report one thing they found out. Then 1 minute of delayed error correction (errors noted during both speaking tasks): write them on the board, students correct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Exit · what can you remember? (2 min)
RETRIEVAL EXIT (2 min). Books closed. Pairs: 3 family words, 2 future sentences, 1 weekend plan. A few students share. Set homework (on the slide and in the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Review · what did you do today? (1 min)
TODAY YOU… (1 min). Read each line (one per click: the tick appears). Students show thumbs up / middle / down: can they do it now? Note any thumbs down for the next lesson's recap.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OPTIONAL EXTENSIONS
The lesson ended on the previous slide ("Today you…"). Use the next slides only if there is time left, or keep them for a quick start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 Reading · vocabulary from the text (2 min)
EXTRA (2 min, if there's time). Vocabulary from context. Click once per 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jpe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audio" Target="../media/media-9-5.mp3"/><Relationship Id="rId6" Type="http://schemas.microsoft.com/office/2007/relationships/media" Target="../media/media-9-5.mp3"/><Relationship Id="rId7" Type="http://schemas.openxmlformats.org/officeDocument/2006/relationships/image" Target="../media/image-9-7.png"/><Relationship Id="rId8" Type="http://schemas.openxmlformats.org/officeDocument/2006/relationships/audio" Target="../media/media-9-8.mp3"/><Relationship Id="rId9" Type="http://schemas.microsoft.com/office/2007/relationships/media" Target="../media/media-9-8.mp3"/><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slideLayout" Target="../slideLayouts/slideLayout1.xml"/><Relationship Id="rId1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audio" Target="../media/media-10-5.mp3"/><Relationship Id="rId6" Type="http://schemas.microsoft.com/office/2007/relationships/media" Target="../media/media-10-5.mp3"/><Relationship Id="rId7" Type="http://schemas.openxmlformats.org/officeDocument/2006/relationships/image" Target="../media/image-10-7.png"/><Relationship Id="rId8" Type="http://schemas.openxmlformats.org/officeDocument/2006/relationships/audio" Target="../media/media-10-8.mp3"/><Relationship Id="rId9" Type="http://schemas.microsoft.com/office/2007/relationships/media" Target="../media/media-10-8.mp3"/><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slideLayout" Target="../slideLayouts/slideLayout1.xml"/><Relationship Id="rId1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slideLayout" Target="../slideLayouts/slideLayout1.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audio" Target="../media/media-12-5.mp3"/><Relationship Id="rId6" Type="http://schemas.microsoft.com/office/2007/relationships/media" Target="../media/media-12-5.mp3"/><Relationship Id="rId7" Type="http://schemas.openxmlformats.org/officeDocument/2006/relationships/image" Target="../media/image-12-7.png"/><Relationship Id="rId8" Type="http://schemas.openxmlformats.org/officeDocument/2006/relationships/audio" Target="../media/media-12-8.mp3"/><Relationship Id="rId9" Type="http://schemas.microsoft.com/office/2007/relationships/media" Target="../media/media-12-8.mp3"/><Relationship Id="rId10" Type="http://schemas.openxmlformats.org/officeDocument/2006/relationships/image" Target="../media/image-12-10.png"/><Relationship Id="rId11" Type="http://schemas.openxmlformats.org/officeDocument/2006/relationships/image" Target="../media/image-12-11.png"/><Relationship Id="rId12" Type="http://schemas.openxmlformats.org/officeDocument/2006/relationships/image" Target="../media/image-12-12.png"/><Relationship Id="rId13" Type="http://schemas.openxmlformats.org/officeDocument/2006/relationships/image" Target="../media/image-12-13.png"/><Relationship Id="rId14" Type="http://schemas.openxmlformats.org/officeDocument/2006/relationships/slideLayout" Target="../slideLayouts/slideLayout1.xml"/><Relationship Id="rId1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audio" Target="../media/media-13-5.mp3"/><Relationship Id="rId6" Type="http://schemas.microsoft.com/office/2007/relationships/media" Target="../media/media-13-5.mp3"/><Relationship Id="rId7" Type="http://schemas.openxmlformats.org/officeDocument/2006/relationships/image" Target="../media/image-13-7.png"/><Relationship Id="rId8" Type="http://schemas.openxmlformats.org/officeDocument/2006/relationships/audio" Target="../media/media-13-8.mp3"/><Relationship Id="rId9" Type="http://schemas.microsoft.com/office/2007/relationships/media" Target="../media/media-13-8.mp3"/><Relationship Id="rId10" Type="http://schemas.openxmlformats.org/officeDocument/2006/relationships/image" Target="../media/image-13-10.png"/><Relationship Id="rId11" Type="http://schemas.openxmlformats.org/officeDocument/2006/relationships/image" Target="../media/image-13-11.png"/><Relationship Id="rId12" Type="http://schemas.openxmlformats.org/officeDocument/2006/relationships/slideLayout" Target="../slideLayouts/slideLayout1.xml"/><Relationship Id="rId1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jpe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jpe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audio" Target="../media/media-16-5.mp3"/><Relationship Id="rId6" Type="http://schemas.microsoft.com/office/2007/relationships/media" Target="../media/media-16-5.mp3"/><Relationship Id="rId7" Type="http://schemas.openxmlformats.org/officeDocument/2006/relationships/image" Target="../media/image-16-7.png"/><Relationship Id="rId8" Type="http://schemas.openxmlformats.org/officeDocument/2006/relationships/audio" Target="../media/media-16-8.mp3"/><Relationship Id="rId9" Type="http://schemas.microsoft.com/office/2007/relationships/media" Target="../media/media-16-8.mp3"/><Relationship Id="rId10" Type="http://schemas.openxmlformats.org/officeDocument/2006/relationships/image" Target="../media/image-16-10.png"/><Relationship Id="rId11" Type="http://schemas.openxmlformats.org/officeDocument/2006/relationships/image" Target="../media/image-16-11.png"/><Relationship Id="rId12" Type="http://schemas.openxmlformats.org/officeDocument/2006/relationships/image" Target="../media/image-16-12.png"/><Relationship Id="rId13" Type="http://schemas.openxmlformats.org/officeDocument/2006/relationships/image" Target="../media/image-16-13.png"/><Relationship Id="rId14" Type="http://schemas.openxmlformats.org/officeDocument/2006/relationships/image" Target="../media/image-16-14.png"/><Relationship Id="rId15" Type="http://schemas.openxmlformats.org/officeDocument/2006/relationships/slideLayout" Target="../slideLayouts/slideLayout1.xml"/><Relationship Id="rId1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jpe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1.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jpe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jpe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audio" Target="../media/media-19-5.mp3"/><Relationship Id="rId6" Type="http://schemas.microsoft.com/office/2007/relationships/media" Target="../media/media-19-5.mp3"/><Relationship Id="rId7" Type="http://schemas.openxmlformats.org/officeDocument/2006/relationships/image" Target="../media/image-19-7.png"/><Relationship Id="rId8" Type="http://schemas.openxmlformats.org/officeDocument/2006/relationships/audio" Target="../media/media-19-8.mp3"/><Relationship Id="rId9" Type="http://schemas.microsoft.com/office/2007/relationships/media" Target="../media/media-19-8.mp3"/><Relationship Id="rId10" Type="http://schemas.openxmlformats.org/officeDocument/2006/relationships/image" Target="../media/image-19-10.png"/><Relationship Id="rId11" Type="http://schemas.openxmlformats.org/officeDocument/2006/relationships/image" Target="../media/image-19-11.png"/><Relationship Id="rId12" Type="http://schemas.openxmlformats.org/officeDocument/2006/relationships/slideLayout" Target="../slideLayouts/slideLayout1.xml"/><Relationship Id="rId1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jpe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slideLayout" Target="../slideLayouts/slideLayout1.xml"/><Relationship Id="rId10"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jpe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jpe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jpe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jpe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slideLayout" Target="../slideLayouts/slideLayout1.xml"/><Relationship Id="rId7"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crs_1"/>
          <p:cNvSpPr/>
          <p:nvPr/>
        </p:nvSpPr>
        <p:spPr>
          <a:xfrm>
            <a:off x="411480" y="292608"/>
            <a:ext cx="4114800" cy="274320"/>
          </a:xfrm>
          <a:prstGeom prst="rect">
            <a:avLst/>
          </a:prstGeom>
          <a:noFill/>
          <a:ln/>
        </p:spPr>
        <p:txBody>
          <a:bodyPr wrap="square" lIns="0" tIns="0" rIns="0" bIns="0" rtlCol="0" anchor="ctr"/>
          <a:lstStyle/>
          <a:p>
            <a:pPr indent="0" marL="0">
              <a:buNone/>
            </a:pPr>
            <a:r>
              <a:rPr lang="en-US" sz="1000" spc="100" kern="0" dirty="0">
                <a:solidFill>
                  <a:srgbClr val="5B6785"/>
                </a:solidFill>
                <a:latin typeface="Segoe UI Semibold" pitchFamily="34" charset="0"/>
                <a:ea typeface="Segoe UI Semibold" pitchFamily="34" charset="-122"/>
                <a:cs typeface="Segoe UI Semibold" pitchFamily="34" charset="-120"/>
              </a:rPr>
              <a:t>English File B1 · SB pp.10–11</a:t>
            </a:r>
            <a:endParaRPr lang="en-US" sz="1000" dirty="0"/>
          </a:p>
        </p:txBody>
      </p:sp>
      <p:sp>
        <p:nvSpPr>
          <p:cNvPr id="4" name="bd_2"/>
          <p:cNvSpPr/>
          <p:nvPr/>
        </p:nvSpPr>
        <p:spPr>
          <a:xfrm>
            <a:off x="365760" y="640080"/>
            <a:ext cx="1051560" cy="1051560"/>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600" dirty="0">
                <a:solidFill>
                  <a:srgbClr val="FFFFFF"/>
                </a:solidFill>
                <a:latin typeface="Arial Rounded MT Bold" pitchFamily="34" charset="0"/>
                <a:ea typeface="Arial Rounded MT Bold" pitchFamily="34" charset="-122"/>
                <a:cs typeface="Arial Rounded MT Bold" pitchFamily="34" charset="-120"/>
              </a:rPr>
              <a:t>1B-1</a:t>
            </a:r>
            <a:endParaRPr lang="en-US" sz="1600" dirty="0"/>
          </a:p>
        </p:txBody>
      </p:sp>
      <p:pic>
        <p:nvPicPr>
          <p:cNvPr id="5" name="bry_3" descr="/home/claude/lls-course/v2/assets/brush-yellow.png">    </p:cNvPr>
          <p:cNvPicPr>
            <a:picLocks noChangeAspect="1"/>
          </p:cNvPicPr>
          <p:nvPr/>
        </p:nvPicPr>
        <p:blipFill>
          <a:blip r:embed="rId2"/>
          <a:stretch>
            <a:fillRect/>
          </a:stretch>
        </p:blipFill>
        <p:spPr>
          <a:xfrm>
            <a:off x="1463040" y="713232"/>
            <a:ext cx="3566160" cy="868680"/>
          </a:xfrm>
          <a:prstGeom prst="rect">
            <a:avLst/>
          </a:prstGeom>
        </p:spPr>
      </p:pic>
      <p:sp>
        <p:nvSpPr>
          <p:cNvPr id="6" name="t_4"/>
          <p:cNvSpPr/>
          <p:nvPr/>
        </p:nvSpPr>
        <p:spPr>
          <a:xfrm>
            <a:off x="1645920" y="731520"/>
            <a:ext cx="3108960" cy="822960"/>
          </a:xfrm>
          <a:prstGeom prst="rect">
            <a:avLst/>
          </a:prstGeom>
          <a:noFill/>
          <a:ln/>
        </p:spPr>
        <p:txBody>
          <a:bodyPr wrap="square" lIns="0" tIns="0" rIns="0" bIns="0" rtlCol="0" anchor="ctr">
            <a:normAutofit/>
          </a:bodyPr>
          <a:lstStyle/>
          <a:p>
            <a:pPr indent="0" marL="0">
              <a:buNone/>
            </a:pPr>
            <a:r>
              <a:rPr lang="en-US" sz="2200" dirty="0">
                <a:solidFill>
                  <a:srgbClr val="1B2559"/>
                </a:solidFill>
                <a:latin typeface="Arial Rounded MT Bold" pitchFamily="34" charset="0"/>
                <a:ea typeface="Arial Rounded MT Bold" pitchFamily="34" charset="-122"/>
                <a:cs typeface="Arial Rounded MT Bold" pitchFamily="34" charset="-120"/>
              </a:rPr>
              <a:t>Modern families</a:t>
            </a:r>
            <a:endParaRPr lang="en-US" sz="2200" dirty="0"/>
          </a:p>
        </p:txBody>
      </p:sp>
      <p:pic>
        <p:nvPicPr>
          <p:cNvPr id="7" name="brp_5" descr="/home/claude/lls-course/v2/assets/brush-pink.png">    </p:cNvPr>
          <p:cNvPicPr>
            <a:picLocks noChangeAspect="1"/>
          </p:cNvPicPr>
          <p:nvPr/>
        </p:nvPicPr>
        <p:blipFill>
          <a:blip r:embed="rId3"/>
          <a:stretch>
            <a:fillRect/>
          </a:stretch>
        </p:blipFill>
        <p:spPr>
          <a:xfrm>
            <a:off x="1554480" y="1517904"/>
            <a:ext cx="3017520" cy="384048"/>
          </a:xfrm>
          <a:prstGeom prst="rect">
            <a:avLst/>
          </a:prstGeom>
        </p:spPr>
      </p:pic>
      <p:sp>
        <p:nvSpPr>
          <p:cNvPr id="8" name="st_6"/>
          <p:cNvSpPr/>
          <p:nvPr/>
        </p:nvSpPr>
        <p:spPr>
          <a:xfrm>
            <a:off x="1691640" y="1517904"/>
            <a:ext cx="2834640" cy="384048"/>
          </a:xfrm>
          <a:prstGeom prst="rect">
            <a:avLst/>
          </a:prstGeom>
          <a:noFill/>
          <a:ln/>
        </p:spPr>
        <p:txBody>
          <a:bodyPr wrap="square" lIns="0" tIns="0" rIns="0" bIns="0" rtlCol="0" anchor="ct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Families, plans and the future</a:t>
            </a:r>
            <a:endParaRPr lang="en-US" sz="1250" dirty="0"/>
          </a:p>
        </p:txBody>
      </p:sp>
      <p:sp>
        <p:nvSpPr>
          <p:cNvPr id="9" name="cd_7"/>
          <p:cNvSpPr/>
          <p:nvPr/>
        </p:nvSpPr>
        <p:spPr>
          <a:xfrm>
            <a:off x="365760" y="2148840"/>
            <a:ext cx="4206240" cy="1691640"/>
          </a:xfrm>
          <a:prstGeom prst="roundRect">
            <a:avLst>
              <a:gd name="adj" fmla="val 7568"/>
            </a:avLst>
          </a:prstGeom>
          <a:solidFill>
            <a:srgbClr val="E3F1FD"/>
          </a:solidFill>
          <a:ln w="28575">
            <a:solidFill>
              <a:srgbClr val="A9D3F5"/>
            </a:solidFill>
            <a:prstDash val="solid"/>
          </a:ln>
          <a:effectLst>
            <a:outerShdw sx="100000" sy="100000" kx="0" ky="0" algn="bl" rotWithShape="0" blurRad="88900" dist="31750" dir="5400000">
              <a:srgbClr val="1B2559">
                <a:alpha val="12000"/>
              </a:srgbClr>
            </a:outerShdw>
          </a:effectLst>
        </p:spPr>
      </p:sp>
      <p:sp>
        <p:nvSpPr>
          <p:cNvPr id="10" name="ii_8"/>
          <p:cNvSpPr/>
          <p:nvPr/>
        </p:nvSpPr>
        <p:spPr>
          <a:xfrm>
            <a:off x="457200" y="222199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1" name="ih_9"/>
          <p:cNvSpPr/>
          <p:nvPr/>
        </p:nvSpPr>
        <p:spPr>
          <a:xfrm>
            <a:off x="932688" y="2240280"/>
            <a:ext cx="3566160" cy="365760"/>
          </a:xfrm>
          <a:prstGeom prst="rect">
            <a:avLst/>
          </a:prstGeom>
          <a:noFill/>
          <a:ln/>
        </p:spPr>
        <p:txBody>
          <a:bodyPr wrap="square" lIns="0" tIns="0" rIns="0" bIns="0" rtlCol="0" anchor="ctr"/>
          <a:lstStyle/>
          <a:p>
            <a:pPr indent="0" marL="0">
              <a:buNone/>
            </a:pPr>
            <a:r>
              <a:rPr lang="en-US" sz="1600" dirty="0">
                <a:solidFill>
                  <a:srgbClr val="1B2559"/>
                </a:solidFill>
                <a:latin typeface="Arial Rounded MT Bold" pitchFamily="34" charset="0"/>
                <a:ea typeface="Arial Rounded MT Bold" pitchFamily="34" charset="-122"/>
                <a:cs typeface="Arial Rounded MT Bold" pitchFamily="34" charset="-120"/>
              </a:rPr>
              <a:t>Today you're going to…</a:t>
            </a:r>
            <a:endParaRPr lang="en-US" sz="1600" dirty="0"/>
          </a:p>
        </p:txBody>
      </p:sp>
      <p:sp>
        <p:nvSpPr>
          <p:cNvPr id="12" name="il_10"/>
          <p:cNvSpPr/>
          <p:nvPr/>
        </p:nvSpPr>
        <p:spPr>
          <a:xfrm>
            <a:off x="932688" y="2642616"/>
            <a:ext cx="3547872" cy="1124712"/>
          </a:xfrm>
          <a:prstGeom prst="rect">
            <a:avLst/>
          </a:prstGeom>
          <a:noFill/>
          <a:ln/>
        </p:spPr>
        <p:txBody>
          <a:bodyPr wrap="square" lIns="0" tIns="0" rIns="0" bIns="0" rtlCol="0" anchor="t">
            <a:normAutofit/>
          </a:bodyPr>
          <a:lstStyle/>
          <a:p>
            <a:pPr indent="0" marL="0">
              <a:spcAft>
                <a:spcPts val="200"/>
              </a:spcAft>
              <a:buNone/>
            </a:pPr>
            <a:r>
              <a:rPr lang="en-US" sz="850" dirty="0">
                <a:solidFill>
                  <a:srgbClr val="1B2559"/>
                </a:solidFill>
                <a:latin typeface="Segoe UI Semibold" pitchFamily="34" charset="0"/>
                <a:ea typeface="Segoe UI Semibold" pitchFamily="34" charset="-122"/>
                <a:cs typeface="Segoe UI Semibold" pitchFamily="34" charset="-120"/>
              </a:rPr>
              <a:t>💬  talk about your family</a:t>
            </a:r>
            <a:endParaRPr lang="en-US" sz="850" dirty="0"/>
          </a:p>
          <a:p>
            <a:pPr indent="0" marL="0">
              <a:spcBef>
                <a:spcPts val="600"/>
              </a:spcBef>
              <a:spcAft>
                <a:spcPts val="200"/>
              </a:spcAft>
              <a:buNone/>
            </a:pPr>
            <a:r>
              <a:rPr lang="en-US" sz="850" dirty="0">
                <a:solidFill>
                  <a:srgbClr val="1B2559"/>
                </a:solidFill>
                <a:latin typeface="Segoe UI Semibold" pitchFamily="34" charset="0"/>
                <a:ea typeface="Segoe UI Semibold" pitchFamily="34" charset="-122"/>
                <a:cs typeface="Segoe UI Semibold" pitchFamily="34" charset="-120"/>
              </a:rPr>
              <a:t>👀  read a survey about British families</a:t>
            </a:r>
            <a:endParaRPr lang="en-US" sz="850" dirty="0"/>
          </a:p>
          <a:p>
            <a:pPr indent="0" marL="0">
              <a:spcBef>
                <a:spcPts val="600"/>
              </a:spcBef>
              <a:spcAft>
                <a:spcPts val="200"/>
              </a:spcAft>
              <a:buNone/>
            </a:pPr>
            <a:r>
              <a:rPr lang="en-US" sz="850" dirty="0">
                <a:solidFill>
                  <a:srgbClr val="1B2559"/>
                </a:solidFill>
                <a:latin typeface="Segoe UI Semibold" pitchFamily="34" charset="0"/>
                <a:ea typeface="Segoe UI Semibold" pitchFamily="34" charset="-122"/>
                <a:cs typeface="Segoe UI Semibold" pitchFamily="34" charset="-120"/>
              </a:rPr>
              <a:t>🎧  listen to three family conversations</a:t>
            </a:r>
            <a:endParaRPr lang="en-US" sz="850" dirty="0"/>
          </a:p>
          <a:p>
            <a:pPr indent="0" marL="0">
              <a:spcBef>
                <a:spcPts val="600"/>
              </a:spcBef>
              <a:spcAft>
                <a:spcPts val="200"/>
              </a:spcAft>
              <a:buNone/>
            </a:pPr>
            <a:r>
              <a:rPr lang="en-US" sz="850" dirty="0">
                <a:solidFill>
                  <a:srgbClr val="1B2559"/>
                </a:solidFill>
                <a:latin typeface="Segoe UI Semibold" pitchFamily="34" charset="0"/>
                <a:ea typeface="Segoe UI Semibold" pitchFamily="34" charset="-122"/>
                <a:cs typeface="Segoe UI Semibold" pitchFamily="34" charset="-120"/>
              </a:rPr>
              <a:t>📖  listen to a class story and answer questions</a:t>
            </a:r>
            <a:endParaRPr lang="en-US" sz="850" dirty="0"/>
          </a:p>
          <a:p>
            <a:pPr indent="0" marL="0">
              <a:spcBef>
                <a:spcPts val="600"/>
              </a:spcBef>
              <a:spcAft>
                <a:spcPts val="200"/>
              </a:spcAft>
              <a:buNone/>
            </a:pPr>
            <a:r>
              <a:rPr lang="en-US" sz="850" dirty="0">
                <a:solidFill>
                  <a:srgbClr val="1B2559"/>
                </a:solidFill>
                <a:latin typeface="Segoe UI Semibold" pitchFamily="34" charset="0"/>
                <a:ea typeface="Segoe UI Semibold" pitchFamily="34" charset="-122"/>
                <a:cs typeface="Segoe UI Semibold" pitchFamily="34" charset="-120"/>
              </a:rPr>
              <a:t>✏️  talk about the future: plans, offers, promises</a:t>
            </a:r>
            <a:endParaRPr lang="en-US" sz="850" dirty="0"/>
          </a:p>
        </p:txBody>
      </p:sp>
      <p:sp>
        <p:nvSpPr>
          <p:cNvPr id="13" name="R1_ex11"/>
          <p:cNvSpPr/>
          <p:nvPr/>
        </p:nvSpPr>
        <p:spPr>
          <a:xfrm>
            <a:off x="365760" y="3950208"/>
            <a:ext cx="4206240" cy="603504"/>
          </a:xfrm>
          <a:prstGeom prst="roundRect">
            <a:avLst>
              <a:gd name="adj" fmla="val 18182"/>
            </a:avLst>
          </a:prstGeom>
          <a:solidFill>
            <a:srgbClr val="FFF6CC"/>
          </a:solidFill>
          <a:ln w="28575">
            <a:solidFill>
              <a:srgbClr val="FFE07A"/>
            </a:solidFill>
          </a:ln>
        </p:spPr>
        <p:txBody>
          <a:bodyPr wrap="square" lIns="152400" tIns="25400" rIns="152400" bIns="25400" rtlCol="0" anchor="ctr">
            <a:normAutofit/>
          </a:bodyPr>
          <a:lstStyle/>
          <a:p>
            <a:pPr indent="0" marL="0">
              <a:buNone/>
            </a:pPr>
            <a:r>
              <a:rPr lang="en-US" sz="1000" dirty="0">
                <a:solidFill>
                  <a:srgbClr val="E8508F"/>
                </a:solidFill>
                <a:latin typeface="Segoe UI Black" pitchFamily="34" charset="0"/>
                <a:ea typeface="Segoe UI Black" pitchFamily="34" charset="-122"/>
                <a:cs typeface="Segoe UI Black" pitchFamily="34" charset="-120"/>
              </a:rPr>
              <a:t>EXAMPLE  </a:t>
            </a:r>
            <a:pPr indent="0" marL="0">
              <a:buNone/>
            </a:pPr>
            <a:r>
              <a:rPr lang="en-US" sz="1300" i="1" dirty="0">
                <a:solidFill>
                  <a:srgbClr val="1B2559"/>
                </a:solidFill>
                <a:latin typeface="Segoe UI Semibold" pitchFamily="34" charset="0"/>
                <a:ea typeface="Segoe UI Semibold" pitchFamily="34" charset="-122"/>
                <a:cs typeface="Segoe UI Semibold" pitchFamily="34" charset="-120"/>
              </a:rPr>
              <a:t>I think families are smaller now, and everyone is on their phone!</a:t>
            </a:r>
            <a:endParaRPr lang="en-US" sz="1000" dirty="0"/>
          </a:p>
        </p:txBody>
      </p:sp>
      <p:sp>
        <p:nvSpPr>
          <p:cNvPr id="14" name="pf_12"/>
          <p:cNvSpPr/>
          <p:nvPr/>
        </p:nvSpPr>
        <p:spPr>
          <a:xfrm rot="90000">
            <a:off x="4846320" y="1242594"/>
            <a:ext cx="3977640" cy="2269692"/>
          </a:xfrm>
          <a:prstGeom prst="roundRect">
            <a:avLst>
              <a:gd name="adj" fmla="val 6849"/>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5" name="ph_13" descr="/home/claude/lls-course/v2/cache/1b1_cover_jpg_935x524_31.png">    </p:cNvPr>
          <p:cNvPicPr>
            <a:picLocks noChangeAspect="1"/>
          </p:cNvPicPr>
          <p:nvPr/>
        </p:nvPicPr>
        <p:blipFill>
          <a:blip r:embed="rId4"/>
          <a:stretch>
            <a:fillRect/>
          </a:stretch>
        </p:blipFill>
        <p:spPr>
          <a:xfrm rot="90000">
            <a:off x="4892040" y="1288314"/>
            <a:ext cx="3886200" cy="2178252"/>
          </a:xfrm>
          <a:prstGeom prst="rect">
            <a:avLst/>
          </a:prstGeom>
        </p:spPr>
      </p:pic>
      <p:sp>
        <p:nvSpPr>
          <p:cNvPr id="16" name="bb_14"/>
          <p:cNvSpPr/>
          <p:nvPr/>
        </p:nvSpPr>
        <p:spPr>
          <a:xfrm>
            <a:off x="5120640" y="3611880"/>
            <a:ext cx="3566160" cy="822960"/>
          </a:xfrm>
          <a:prstGeom prst="wedgeRoundRectCallout">
            <a:avLst/>
          </a:prstGeom>
          <a:solidFill>
            <a:srgbClr val="FFFFFF"/>
          </a:solidFill>
          <a:ln w="28575">
            <a:solidFill>
              <a:srgbClr val="F7A6C4"/>
            </a:solidFill>
          </a:ln>
          <a:effectLst>
            <a:outerShdw sx="100000" sy="100000" kx="0" ky="0" algn="bl" rotWithShape="0" blurRad="88900" dist="31750" dir="5400000">
              <a:srgbClr val="1B2559">
                <a:alpha val="10000"/>
              </a:srgbClr>
            </a:outerShdw>
          </a:effectLst>
        </p:spPr>
        <p:txBody>
          <a:bodyPr wrap="square" lIns="127000" tIns="50800" rIns="127000" bIns="50800" rtlCol="0" anchor="ctr">
            <a:normAutofit/>
          </a:bodyPr>
          <a:lstStyle/>
          <a:p>
            <a:pPr algn="ctr" indent="0" marL="0">
              <a:buNone/>
            </a:pPr>
            <a:r>
              <a:rPr lang="en-US" sz="1600" dirty="0">
                <a:solidFill>
                  <a:srgbClr val="1B2559"/>
                </a:solidFill>
                <a:latin typeface="Arial Rounded MT Bold" pitchFamily="34" charset="0"/>
                <a:ea typeface="Arial Rounded MT Bold" pitchFamily="34" charset="-122"/>
                <a:cs typeface="Arial Rounded MT Bold" pitchFamily="34" charset="-120"/>
              </a:rPr>
              <a:t>What makes a family "modern"?</a:t>
            </a:r>
            <a:endParaRPr lang="en-US" sz="1600" dirty="0"/>
          </a:p>
        </p:txBody>
      </p:sp>
      <p:sp>
        <p:nvSpPr>
          <p:cNvPr id="17" name="st_15"/>
          <p:cNvSpPr/>
          <p:nvPr/>
        </p:nvSpPr>
        <p:spPr>
          <a:xfrm rot="360000">
            <a:off x="7543800" y="502920"/>
            <a:ext cx="1325880" cy="38404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950" dirty="0">
                <a:solidFill>
                  <a:srgbClr val="1B2559"/>
                </a:solidFill>
                <a:latin typeface="Arial Rounded MT Bold" pitchFamily="34" charset="0"/>
                <a:ea typeface="Arial Rounded MT Bold" pitchFamily="34" charset="-122"/>
                <a:cs typeface="Arial Rounded MT Bold" pitchFamily="34" charset="-120"/>
              </a:rPr>
              <a:t>💡 THINK · PENSA</a:t>
            </a:r>
            <a:endParaRPr lang="en-US" sz="950" dirty="0"/>
          </a:p>
        </p:txBody>
      </p:sp>
      <p:pic>
        <p:nvPicPr>
          <p:cNvPr id="18" name="logo_16" descr="/home/claude/lls-course/v2/img/logo.png">    </p:cNvPr>
          <p:cNvPicPr>
            <a:picLocks noChangeAspect="1"/>
          </p:cNvPicPr>
          <p:nvPr/>
        </p:nvPicPr>
        <p:blipFill>
          <a:blip r:embed="rId5"/>
          <a:stretch>
            <a:fillRect/>
          </a:stretch>
        </p:blipFill>
        <p:spPr>
          <a:xfrm>
            <a:off x="8485632" y="4526280"/>
            <a:ext cx="502920" cy="502920"/>
          </a:xfrm>
          <a:prstGeom prst="rect">
            <a:avLst/>
          </a:prstGeom>
        </p:spPr>
      </p:pic>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7"/>
          <p:cNvSpPr/>
          <p:nvPr/>
        </p:nvSpPr>
        <p:spPr>
          <a:xfrm>
            <a:off x="201168" y="164592"/>
            <a:ext cx="841248" cy="8412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2</a:t>
            </a:r>
            <a:endParaRPr lang="en-US" sz="2800" dirty="0"/>
          </a:p>
        </p:txBody>
      </p:sp>
      <p:pic>
        <p:nvPicPr>
          <p:cNvPr id="4" name="brY_18" descr="/home/claude/lls-course/v2/assets/brush-yellow.png">    </p:cNvPr>
          <p:cNvPicPr>
            <a:picLocks noChangeAspect="1"/>
          </p:cNvPicPr>
          <p:nvPr/>
        </p:nvPicPr>
        <p:blipFill>
          <a:blip r:embed="rId2"/>
          <a:stretch>
            <a:fillRect/>
          </a:stretch>
        </p:blipFill>
        <p:spPr>
          <a:xfrm>
            <a:off x="1097280" y="146304"/>
            <a:ext cx="4034333" cy="621792"/>
          </a:xfrm>
          <a:prstGeom prst="rect">
            <a:avLst/>
          </a:prstGeom>
        </p:spPr>
      </p:pic>
      <p:sp>
        <p:nvSpPr>
          <p:cNvPr id="5" name="title_19"/>
          <p:cNvSpPr/>
          <p:nvPr/>
        </p:nvSpPr>
        <p:spPr>
          <a:xfrm>
            <a:off x="1261872" y="164592"/>
            <a:ext cx="3760013"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Remember last lesson?</a:t>
            </a:r>
            <a:endParaRPr lang="en-US" sz="2400" dirty="0"/>
          </a:p>
        </p:txBody>
      </p:sp>
      <p:pic>
        <p:nvPicPr>
          <p:cNvPr id="6" name="brP_20"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21"/>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Can you remember? Say it – then use it in a sentence!</a:t>
            </a:r>
            <a:endParaRPr lang="en-US" sz="1250" dirty="0"/>
          </a:p>
        </p:txBody>
      </p:sp>
      <p:sp>
        <p:nvSpPr>
          <p:cNvPr id="8" name="insIT_22"/>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Ti ricordi? Dillo – poi usalo in una frase!</a:t>
            </a:r>
            <a:endParaRPr lang="en-US" sz="950" dirty="0"/>
          </a:p>
        </p:txBody>
      </p:sp>
      <p:sp>
        <p:nvSpPr>
          <p:cNvPr id="9" name="note_23"/>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THINK</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TALK</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2 min   👥 pairs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Revision · Retrieval</a:t>
            </a:r>
            <a:endParaRPr lang="en-US" sz="1150" dirty="0"/>
          </a:p>
        </p:txBody>
      </p:sp>
      <p:pic>
        <p:nvPicPr>
          <p:cNvPr id="10" name="logo_24"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25"/>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1B-1 · Revision · last lesson</a:t>
            </a:r>
            <a:endParaRPr lang="en-US" sz="800" dirty="0"/>
          </a:p>
        </p:txBody>
      </p:sp>
      <p:sp>
        <p:nvSpPr>
          <p:cNvPr id="12" name="pf_26"/>
          <p:cNvSpPr/>
          <p:nvPr/>
        </p:nvSpPr>
        <p:spPr>
          <a:xfrm rot="-120000">
            <a:off x="365760" y="1371600"/>
            <a:ext cx="2651760" cy="1645920"/>
          </a:xfrm>
          <a:prstGeom prst="roundRect">
            <a:avLst>
              <a:gd name="adj" fmla="val 9444"/>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3" name="ph_27" descr="/home/claude/lls-course/v2/cache/1a2_dad_cooks_jpg_616x374_31.png">    </p:cNvPr>
          <p:cNvPicPr>
            <a:picLocks noChangeAspect="1"/>
          </p:cNvPicPr>
          <p:nvPr/>
        </p:nvPicPr>
        <p:blipFill>
          <a:blip r:embed="rId5"/>
          <a:stretch>
            <a:fillRect/>
          </a:stretch>
        </p:blipFill>
        <p:spPr>
          <a:xfrm rot="-120000">
            <a:off x="411480" y="1417320"/>
            <a:ext cx="2560320" cy="1554480"/>
          </a:xfrm>
          <a:prstGeom prst="rect">
            <a:avLst/>
          </a:prstGeom>
        </p:spPr>
      </p:pic>
      <p:sp>
        <p:nvSpPr>
          <p:cNvPr id="14" name="cd_28"/>
          <p:cNvSpPr/>
          <p:nvPr/>
        </p:nvSpPr>
        <p:spPr>
          <a:xfrm>
            <a:off x="320040" y="3200400"/>
            <a:ext cx="2743200" cy="1508760"/>
          </a:xfrm>
          <a:prstGeom prst="roundRect">
            <a:avLst>
              <a:gd name="adj" fmla="val 8485"/>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5" name="ii_29"/>
          <p:cNvSpPr/>
          <p:nvPr/>
        </p:nvSpPr>
        <p:spPr>
          <a:xfrm>
            <a:off x="411480" y="327355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30"/>
          <p:cNvSpPr/>
          <p:nvPr/>
        </p:nvSpPr>
        <p:spPr>
          <a:xfrm>
            <a:off x="886968" y="3291840"/>
            <a:ext cx="210312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Last lesson…</a:t>
            </a:r>
            <a:endParaRPr lang="en-US" sz="1300" dirty="0"/>
          </a:p>
        </p:txBody>
      </p:sp>
      <p:sp>
        <p:nvSpPr>
          <p:cNvPr id="17" name="il_31"/>
          <p:cNvSpPr/>
          <p:nvPr/>
        </p:nvSpPr>
        <p:spPr>
          <a:xfrm>
            <a:off x="886968" y="3694176"/>
            <a:ext cx="2084832" cy="941832"/>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00" dirty="0">
                <a:solidFill>
                  <a:srgbClr val="1B2559"/>
                </a:solidFill>
                <a:latin typeface="Segoe UI Semibold" pitchFamily="34" charset="0"/>
                <a:ea typeface="Segoe UI Semibold" pitchFamily="34" charset="-122"/>
                <a:cs typeface="Segoe UI Semibold" pitchFamily="34" charset="-120"/>
              </a:rPr>
              <a:t>1A: food, cooking and eating habits</a:t>
            </a:r>
            <a:endParaRPr lang="en-US" sz="1100" dirty="0"/>
          </a:p>
          <a:p>
            <a:pPr marL="152400" indent="-152400">
              <a:spcBef>
                <a:spcPts val="600"/>
              </a:spcBef>
              <a:spcAft>
                <a:spcPts val="200"/>
              </a:spcAft>
              <a:buSzPct val="100000"/>
              <a:buChar char="•"/>
            </a:pPr>
            <a:r>
              <a:rPr lang="en-US" sz="1100" dirty="0">
                <a:solidFill>
                  <a:srgbClr val="1B2559"/>
                </a:solidFill>
                <a:latin typeface="Segoe UI Semibold" pitchFamily="34" charset="0"/>
                <a:ea typeface="Segoe UI Semibold" pitchFamily="34" charset="-122"/>
                <a:cs typeface="Segoe UI Semibold" pitchFamily="34" charset="-120"/>
              </a:rPr>
              <a:t>present simple vs continuous</a:t>
            </a:r>
            <a:endParaRPr lang="en-US" sz="1100" dirty="0"/>
          </a:p>
        </p:txBody>
      </p:sp>
      <p:sp>
        <p:nvSpPr>
          <p:cNvPr id="18" name="kw_32"/>
          <p:cNvSpPr/>
          <p:nvPr/>
        </p:nvSpPr>
        <p:spPr>
          <a:xfrm>
            <a:off x="3246120" y="1417320"/>
            <a:ext cx="5623560" cy="292608"/>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 Can you remember these words? What do they mean?</a:t>
            </a:r>
            <a:endParaRPr lang="en-US" sz="1200" dirty="0"/>
          </a:p>
        </p:txBody>
      </p:sp>
      <p:sp>
        <p:nvSpPr>
          <p:cNvPr id="19" name="w_33"/>
          <p:cNvSpPr/>
          <p:nvPr/>
        </p:nvSpPr>
        <p:spPr>
          <a:xfrm>
            <a:off x="3246120" y="1783080"/>
            <a:ext cx="845820" cy="347472"/>
          </a:xfrm>
          <a:prstGeom prst="roundRect">
            <a:avLst>
              <a:gd name="adj" fmla="val 50000"/>
            </a:avLst>
          </a:prstGeom>
          <a:solidFill>
            <a:srgbClr val="FFE3EE"/>
          </a:solidFill>
          <a:ln w="28575">
            <a:solidFill>
              <a:srgbClr val="F7A6C4"/>
            </a:solidFill>
          </a:ln>
        </p:spPr>
        <p:txBody>
          <a:bodyPr wrap="square" lIns="0" tIns="0" rIns="0" bIns="0" rtlCol="0" anchor="ctr"/>
          <a:lstStyle/>
          <a:p>
            <a:pPr algn="ctr" indent="0" marL="0">
              <a:buNone/>
            </a:pPr>
            <a:r>
              <a:rPr lang="en-US" sz="1200" dirty="0">
                <a:solidFill>
                  <a:srgbClr val="1B2559"/>
                </a:solidFill>
                <a:latin typeface="Segoe UI Semibold" pitchFamily="34" charset="0"/>
                <a:ea typeface="Segoe UI Semibold" pitchFamily="34" charset="-122"/>
                <a:cs typeface="Segoe UI Semibold" pitchFamily="34" charset="-120"/>
              </a:rPr>
              <a:t>spicy</a:t>
            </a:r>
            <a:endParaRPr lang="en-US" sz="1200" dirty="0"/>
          </a:p>
        </p:txBody>
      </p:sp>
      <p:sp>
        <p:nvSpPr>
          <p:cNvPr id="20" name="w_34"/>
          <p:cNvSpPr/>
          <p:nvPr/>
        </p:nvSpPr>
        <p:spPr>
          <a:xfrm>
            <a:off x="4183380" y="1783080"/>
            <a:ext cx="1106424" cy="347472"/>
          </a:xfrm>
          <a:prstGeom prst="roundRect">
            <a:avLst>
              <a:gd name="adj" fmla="val 50000"/>
            </a:avLst>
          </a:prstGeom>
          <a:solidFill>
            <a:srgbClr val="E3F1FD"/>
          </a:solidFill>
          <a:ln w="28575">
            <a:solidFill>
              <a:srgbClr val="A9D3F5"/>
            </a:solidFill>
          </a:ln>
        </p:spPr>
        <p:txBody>
          <a:bodyPr wrap="square" lIns="0" tIns="0" rIns="0" bIns="0" rtlCol="0" anchor="ctr"/>
          <a:lstStyle/>
          <a:p>
            <a:pPr algn="ctr" indent="0" marL="0">
              <a:buNone/>
            </a:pPr>
            <a:r>
              <a:rPr lang="en-US" sz="1200" dirty="0">
                <a:solidFill>
                  <a:srgbClr val="1B2559"/>
                </a:solidFill>
                <a:latin typeface="Segoe UI Semibold" pitchFamily="34" charset="0"/>
                <a:ea typeface="Segoe UI Semibold" pitchFamily="34" charset="-122"/>
                <a:cs typeface="Segoe UI Semibold" pitchFamily="34" charset="-120"/>
              </a:rPr>
              <a:t>takeaway</a:t>
            </a:r>
            <a:endParaRPr lang="en-US" sz="1200" dirty="0"/>
          </a:p>
        </p:txBody>
      </p:sp>
      <p:sp>
        <p:nvSpPr>
          <p:cNvPr id="21" name="w_35"/>
          <p:cNvSpPr/>
          <p:nvPr/>
        </p:nvSpPr>
        <p:spPr>
          <a:xfrm>
            <a:off x="5381244" y="1783080"/>
            <a:ext cx="1019556" cy="347472"/>
          </a:xfrm>
          <a:prstGeom prst="roundRect">
            <a:avLst>
              <a:gd name="adj" fmla="val 50000"/>
            </a:avLst>
          </a:prstGeom>
          <a:solidFill>
            <a:srgbClr val="E3F7EA"/>
          </a:solidFill>
          <a:ln w="28575">
            <a:solidFill>
              <a:srgbClr val="A8E5BE"/>
            </a:solidFill>
          </a:ln>
        </p:spPr>
        <p:txBody>
          <a:bodyPr wrap="square" lIns="0" tIns="0" rIns="0" bIns="0" rtlCol="0" anchor="ctr"/>
          <a:lstStyle/>
          <a:p>
            <a:pPr algn="ctr" indent="0" marL="0">
              <a:buNone/>
            </a:pPr>
            <a:r>
              <a:rPr lang="en-US" sz="1200" dirty="0">
                <a:solidFill>
                  <a:srgbClr val="1B2559"/>
                </a:solidFill>
                <a:latin typeface="Segoe UI Semibold" pitchFamily="34" charset="0"/>
                <a:ea typeface="Segoe UI Semibold" pitchFamily="34" charset="-122"/>
                <a:cs typeface="Segoe UI Semibold" pitchFamily="34" charset="-120"/>
              </a:rPr>
              <a:t>eat out</a:t>
            </a:r>
            <a:endParaRPr lang="en-US" sz="1200" dirty="0"/>
          </a:p>
        </p:txBody>
      </p:sp>
      <p:sp>
        <p:nvSpPr>
          <p:cNvPr id="22" name="w_36"/>
          <p:cNvSpPr/>
          <p:nvPr/>
        </p:nvSpPr>
        <p:spPr>
          <a:xfrm>
            <a:off x="6492240" y="1783080"/>
            <a:ext cx="672084" cy="347472"/>
          </a:xfrm>
          <a:prstGeom prst="roundRect">
            <a:avLst>
              <a:gd name="adj" fmla="val 50000"/>
            </a:avLst>
          </a:prstGeom>
          <a:solidFill>
            <a:srgbClr val="FFF6CC"/>
          </a:solidFill>
          <a:ln w="28575">
            <a:solidFill>
              <a:srgbClr val="FFE07A"/>
            </a:solidFill>
          </a:ln>
        </p:spPr>
        <p:txBody>
          <a:bodyPr wrap="square" lIns="0" tIns="0" rIns="0" bIns="0" rtlCol="0" anchor="ctr"/>
          <a:lstStyle/>
          <a:p>
            <a:pPr algn="ctr" indent="0" marL="0">
              <a:buNone/>
            </a:pPr>
            <a:r>
              <a:rPr lang="en-US" sz="1200" dirty="0">
                <a:solidFill>
                  <a:srgbClr val="1B2559"/>
                </a:solidFill>
                <a:latin typeface="Segoe UI Semibold" pitchFamily="34" charset="0"/>
                <a:ea typeface="Segoe UI Semibold" pitchFamily="34" charset="-122"/>
                <a:cs typeface="Segoe UI Semibold" pitchFamily="34" charset="-120"/>
              </a:rPr>
              <a:t>raw</a:t>
            </a:r>
            <a:endParaRPr lang="en-US" sz="1200" dirty="0"/>
          </a:p>
        </p:txBody>
      </p:sp>
      <p:sp>
        <p:nvSpPr>
          <p:cNvPr id="23" name="w_37"/>
          <p:cNvSpPr/>
          <p:nvPr/>
        </p:nvSpPr>
        <p:spPr>
          <a:xfrm>
            <a:off x="7255764" y="1783080"/>
            <a:ext cx="932688" cy="347472"/>
          </a:xfrm>
          <a:prstGeom prst="roundRect">
            <a:avLst>
              <a:gd name="adj" fmla="val 50000"/>
            </a:avLst>
          </a:prstGeom>
          <a:solidFill>
            <a:srgbClr val="FFE3EE"/>
          </a:solidFill>
          <a:ln w="28575">
            <a:solidFill>
              <a:srgbClr val="F7A6C4"/>
            </a:solidFill>
          </a:ln>
        </p:spPr>
        <p:txBody>
          <a:bodyPr wrap="square" lIns="0" tIns="0" rIns="0" bIns="0" rtlCol="0" anchor="ctr"/>
          <a:lstStyle/>
          <a:p>
            <a:pPr algn="ctr" indent="0" marL="0">
              <a:buNone/>
            </a:pPr>
            <a:r>
              <a:rPr lang="en-US" sz="1200" dirty="0">
                <a:solidFill>
                  <a:srgbClr val="1B2559"/>
                </a:solidFill>
                <a:latin typeface="Segoe UI Semibold" pitchFamily="34" charset="0"/>
                <a:ea typeface="Segoe UI Semibold" pitchFamily="34" charset="-122"/>
                <a:cs typeface="Segoe UI Semibold" pitchFamily="34" charset="-120"/>
              </a:rPr>
              <a:t>frozen</a:t>
            </a:r>
            <a:endParaRPr lang="en-US" sz="1200" dirty="0"/>
          </a:p>
        </p:txBody>
      </p:sp>
      <p:sp>
        <p:nvSpPr>
          <p:cNvPr id="24" name="w_38"/>
          <p:cNvSpPr/>
          <p:nvPr/>
        </p:nvSpPr>
        <p:spPr>
          <a:xfrm>
            <a:off x="3246120" y="2185416"/>
            <a:ext cx="845820" cy="347472"/>
          </a:xfrm>
          <a:prstGeom prst="roundRect">
            <a:avLst>
              <a:gd name="adj" fmla="val 50000"/>
            </a:avLst>
          </a:prstGeom>
          <a:solidFill>
            <a:srgbClr val="E3F1FD"/>
          </a:solidFill>
          <a:ln w="28575">
            <a:solidFill>
              <a:srgbClr val="A9D3F5"/>
            </a:solidFill>
          </a:ln>
        </p:spPr>
        <p:txBody>
          <a:bodyPr wrap="square" lIns="0" tIns="0" rIns="0" bIns="0" rtlCol="0" anchor="ctr"/>
          <a:lstStyle/>
          <a:p>
            <a:pPr algn="ctr" indent="0" marL="0">
              <a:buNone/>
            </a:pPr>
            <a:r>
              <a:rPr lang="en-US" sz="1200" dirty="0">
                <a:solidFill>
                  <a:srgbClr val="1B2559"/>
                </a:solidFill>
                <a:latin typeface="Segoe UI Semibold" pitchFamily="34" charset="0"/>
                <a:ea typeface="Segoe UI Semibold" pitchFamily="34" charset="-122"/>
                <a:cs typeface="Segoe UI Semibold" pitchFamily="34" charset="-120"/>
              </a:rPr>
              <a:t>roast</a:t>
            </a:r>
            <a:endParaRPr lang="en-US" sz="1200" dirty="0"/>
          </a:p>
        </p:txBody>
      </p:sp>
      <p:sp>
        <p:nvSpPr>
          <p:cNvPr id="25" name="w_39"/>
          <p:cNvSpPr/>
          <p:nvPr/>
        </p:nvSpPr>
        <p:spPr>
          <a:xfrm>
            <a:off x="4183380" y="2185416"/>
            <a:ext cx="1367028" cy="347472"/>
          </a:xfrm>
          <a:prstGeom prst="roundRect">
            <a:avLst>
              <a:gd name="adj" fmla="val 50000"/>
            </a:avLst>
          </a:prstGeom>
          <a:solidFill>
            <a:srgbClr val="E3F7EA"/>
          </a:solidFill>
          <a:ln w="28575">
            <a:solidFill>
              <a:srgbClr val="A8E5BE"/>
            </a:solidFill>
          </a:ln>
        </p:spPr>
        <p:txBody>
          <a:bodyPr wrap="square" lIns="0" tIns="0" rIns="0" bIns="0" rtlCol="0" anchor="ctr"/>
          <a:lstStyle/>
          <a:p>
            <a:pPr algn="ctr" indent="0" marL="0">
              <a:buNone/>
            </a:pPr>
            <a:r>
              <a:rPr lang="en-US" sz="1200" dirty="0">
                <a:solidFill>
                  <a:srgbClr val="1B2559"/>
                </a:solidFill>
                <a:latin typeface="Segoe UI Semibold" pitchFamily="34" charset="0"/>
                <a:ea typeface="Segoe UI Semibold" pitchFamily="34" charset="-122"/>
                <a:cs typeface="Segoe UI Semibold" pitchFamily="34" charset="-120"/>
              </a:rPr>
              <a:t>cut down on</a:t>
            </a:r>
            <a:endParaRPr lang="en-US" sz="1200" dirty="0"/>
          </a:p>
        </p:txBody>
      </p:sp>
      <p:sp>
        <p:nvSpPr>
          <p:cNvPr id="26" name="lv_40"/>
          <p:cNvSpPr/>
          <p:nvPr/>
        </p:nvSpPr>
        <p:spPr>
          <a:xfrm>
            <a:off x="3246120" y="2642616"/>
            <a:ext cx="1813560" cy="384048"/>
          </a:xfrm>
          <a:prstGeom prst="roundRect">
            <a:avLst>
              <a:gd name="adj" fmla="val 28571"/>
            </a:avLst>
          </a:prstGeom>
          <a:solidFill>
            <a:srgbClr val="FFFFFF"/>
          </a:solidFill>
          <a:ln w="28575">
            <a:solidFill>
              <a:srgbClr val="CDBFF3"/>
            </a:solidFill>
          </a:ln>
        </p:spPr>
        <p:txBody>
          <a:bodyPr wrap="square" lIns="50800" tIns="0" rIns="50800" bIns="0" rtlCol="0" anchor="ctr">
            <a:normAutofit/>
          </a:bodyPr>
          <a:lstStyle/>
          <a:p>
            <a:pPr algn="ctr" indent="0" marL="0">
              <a:buNone/>
            </a:pPr>
            <a:r>
              <a:rPr lang="en-US" sz="1000" dirty="0">
                <a:solidFill>
                  <a:srgbClr val="000000"/>
                </a:solidFill>
              </a:rPr>
              <a:t>⭐ </a:t>
            </a:r>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What does it mean?</a:t>
            </a:r>
            <a:endParaRPr lang="en-US" sz="1000" dirty="0"/>
          </a:p>
        </p:txBody>
      </p:sp>
      <p:sp>
        <p:nvSpPr>
          <p:cNvPr id="27" name="lv_41"/>
          <p:cNvSpPr/>
          <p:nvPr/>
        </p:nvSpPr>
        <p:spPr>
          <a:xfrm>
            <a:off x="5151120" y="2642616"/>
            <a:ext cx="1813560" cy="384048"/>
          </a:xfrm>
          <a:prstGeom prst="roundRect">
            <a:avLst>
              <a:gd name="adj" fmla="val 28571"/>
            </a:avLst>
          </a:prstGeom>
          <a:solidFill>
            <a:srgbClr val="FFFFFF"/>
          </a:solidFill>
          <a:ln w="28575">
            <a:solidFill>
              <a:srgbClr val="CDBFF3"/>
            </a:solidFill>
          </a:ln>
        </p:spPr>
        <p:txBody>
          <a:bodyPr wrap="square" lIns="50800" tIns="0" rIns="50800" bIns="0" rtlCol="0" anchor="ctr">
            <a:normAutofit/>
          </a:bodyPr>
          <a:lstStyle/>
          <a:p>
            <a:pPr algn="ctr" indent="0" marL="0">
              <a:buNone/>
            </a:pPr>
            <a:r>
              <a:rPr lang="en-US" sz="1000" dirty="0">
                <a:solidFill>
                  <a:srgbClr val="000000"/>
                </a:solidFill>
              </a:rPr>
              <a:t>⭐⭐ </a:t>
            </a:r>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Use it in a sentence.</a:t>
            </a:r>
            <a:endParaRPr lang="en-US" sz="1000" dirty="0"/>
          </a:p>
        </p:txBody>
      </p:sp>
      <p:sp>
        <p:nvSpPr>
          <p:cNvPr id="28" name="lv_42"/>
          <p:cNvSpPr/>
          <p:nvPr/>
        </p:nvSpPr>
        <p:spPr>
          <a:xfrm>
            <a:off x="7056120" y="2642616"/>
            <a:ext cx="1813560" cy="384048"/>
          </a:xfrm>
          <a:prstGeom prst="roundRect">
            <a:avLst>
              <a:gd name="adj" fmla="val 28571"/>
            </a:avLst>
          </a:prstGeom>
          <a:solidFill>
            <a:srgbClr val="FFFFFF"/>
          </a:solidFill>
          <a:ln w="28575">
            <a:solidFill>
              <a:srgbClr val="CDBFF3"/>
            </a:solidFill>
          </a:ln>
        </p:spPr>
        <p:txBody>
          <a:bodyPr wrap="square" lIns="50800" tIns="0" rIns="50800" bIns="0" rtlCol="0" anchor="ctr">
            <a:normAutofit/>
          </a:bodyPr>
          <a:lstStyle/>
          <a:p>
            <a:pPr algn="ctr" indent="0" marL="0">
              <a:buNone/>
            </a:pPr>
            <a:r>
              <a:rPr lang="en-US" sz="950" dirty="0">
                <a:solidFill>
                  <a:srgbClr val="000000"/>
                </a:solidFill>
              </a:rPr>
              <a:t>⭐⭐⭐ </a:t>
            </a:r>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Make it negative or a question!</a:t>
            </a:r>
            <a:endParaRPr lang="en-US" sz="950" dirty="0"/>
          </a:p>
        </p:txBody>
      </p:sp>
      <p:sp>
        <p:nvSpPr>
          <p:cNvPr id="29" name="cd_43"/>
          <p:cNvSpPr/>
          <p:nvPr/>
        </p:nvSpPr>
        <p:spPr>
          <a:xfrm>
            <a:off x="3246120" y="3172968"/>
            <a:ext cx="2756916" cy="1581912"/>
          </a:xfrm>
          <a:prstGeom prst="roundRect">
            <a:avLst>
              <a:gd name="adj" fmla="val 8092"/>
            </a:avLst>
          </a:prstGeom>
          <a:solidFill>
            <a:srgbClr val="FFFFFF"/>
          </a:solidFill>
          <a:ln w="28575">
            <a:solidFill>
              <a:srgbClr val="F7A6C4"/>
            </a:solidFill>
            <a:prstDash val="solid"/>
          </a:ln>
          <a:effectLst>
            <a:outerShdw sx="100000" sy="100000" kx="0" ky="0" algn="bl" rotWithShape="0" blurRad="88900" dist="31750" dir="5400000">
              <a:srgbClr val="1B2559">
                <a:alpha val="12000"/>
              </a:srgbClr>
            </a:outerShdw>
          </a:effectLst>
        </p:spPr>
      </p:sp>
      <p:sp>
        <p:nvSpPr>
          <p:cNvPr id="30" name="rh_44"/>
          <p:cNvSpPr/>
          <p:nvPr/>
        </p:nvSpPr>
        <p:spPr>
          <a:xfrm>
            <a:off x="3337560" y="3246120"/>
            <a:ext cx="2574036" cy="310896"/>
          </a:xfrm>
          <a:prstGeom prst="roundRect">
            <a:avLst>
              <a:gd name="adj" fmla="val 50000"/>
            </a:avLst>
          </a:prstGeom>
          <a:solidFill>
            <a:srgbClr val="E8508F"/>
          </a:solidFill>
          <a:ln/>
        </p:spPr>
        <p:txBody>
          <a:bodyPr wrap="square" lIns="0" tIns="0" rIns="0" bIns="0" rtlCol="0" anchor="ctr">
            <a:normAutofit/>
          </a:bodyP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Your turn: </a:t>
            </a:r>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Present simple = habits</a:t>
            </a:r>
            <a:endParaRPr lang="en-US" sz="1100" dirty="0"/>
          </a:p>
        </p:txBody>
      </p:sp>
      <p:sp>
        <p:nvSpPr>
          <p:cNvPr id="31" name="rf_45"/>
          <p:cNvSpPr/>
          <p:nvPr/>
        </p:nvSpPr>
        <p:spPr>
          <a:xfrm>
            <a:off x="3383280" y="3593592"/>
            <a:ext cx="2482596" cy="292608"/>
          </a:xfrm>
          <a:prstGeom prst="rect">
            <a:avLst/>
          </a:prstGeom>
          <a:noFill/>
          <a:ln/>
        </p:spPr>
        <p:txBody>
          <a:bodyPr wrap="square" lIns="0" tIns="0" rIns="0" bIns="0" rtlCol="0" anchor="ctr">
            <a:normAutofit/>
          </a:bodyPr>
          <a:lstStyle/>
          <a:p>
            <a:pPr indent="0" marL="0">
              <a:buNone/>
            </a:pPr>
            <a:r>
              <a:rPr lang="en-US" sz="900" i="1" dirty="0">
                <a:solidFill>
                  <a:srgbClr val="5B6785"/>
                </a:solidFill>
                <a:latin typeface="Segoe UI Semibold" pitchFamily="34" charset="0"/>
                <a:ea typeface="Segoe UI Semibold" pitchFamily="34" charset="-122"/>
                <a:cs typeface="Segoe UI Semibold" pitchFamily="34" charset="-120"/>
              </a:rPr>
              <a:t>Make an every day · an usually · a never</a:t>
            </a:r>
            <a:endParaRPr lang="en-US" sz="900" dirty="0"/>
          </a:p>
        </p:txBody>
      </p:sp>
      <p:sp>
        <p:nvSpPr>
          <p:cNvPr id="32" name="R1_rl46"/>
          <p:cNvSpPr/>
          <p:nvPr/>
        </p:nvSpPr>
        <p:spPr>
          <a:xfrm>
            <a:off x="3383280" y="3922776"/>
            <a:ext cx="2482596" cy="758952"/>
          </a:xfrm>
          <a:prstGeom prst="rect">
            <a:avLst/>
          </a:prstGeom>
          <a:solidFill>
            <a:srgbClr val="FFFFFF"/>
          </a:solidFill>
          <a:ln/>
        </p:spPr>
        <p:txBody>
          <a:bodyPr wrap="square" lIns="0" tIns="0" rIns="0" bIns="0" rtlCol="0" anchor="t">
            <a:normAutofit/>
          </a:bodyPr>
          <a:lstStyle/>
          <a:p>
            <a:pPr indent="0" marL="0">
              <a:spcAft>
                <a:spcPts val="300"/>
              </a:spcAft>
              <a:buNone/>
            </a:pPr>
            <a:r>
              <a:rPr lang="en-US" sz="1100" dirty="0">
                <a:solidFill>
                  <a:srgbClr val="1B2559"/>
                </a:solidFill>
                <a:latin typeface="Segoe UI Semibold" pitchFamily="34" charset="0"/>
                <a:ea typeface="Segoe UI Semibold" pitchFamily="34" charset="-122"/>
                <a:cs typeface="Segoe UI Semibold" pitchFamily="34" charset="-120"/>
              </a:rPr>
              <a:t>I usually have pasta on Sundays.</a:t>
            </a:r>
            <a:endParaRPr lang="en-US" sz="1100" dirty="0"/>
          </a:p>
          <a:p>
            <a:pPr indent="0" marL="0">
              <a:spcAft>
                <a:spcPts val="300"/>
              </a:spcAft>
              <a:buNone/>
            </a:pPr>
            <a:r>
              <a:rPr lang="en-US" sz="1100" dirty="0">
                <a:solidFill>
                  <a:srgbClr val="1B2559"/>
                </a:solidFill>
                <a:latin typeface="Segoe UI Semibold" pitchFamily="34" charset="0"/>
                <a:ea typeface="Segoe UI Semibold" pitchFamily="34" charset="-122"/>
                <a:cs typeface="Segoe UI Semibold" pitchFamily="34" charset="-120"/>
              </a:rPr>
              <a:t>How often do you eat out?</a:t>
            </a:r>
            <a:endParaRPr lang="en-US" sz="1100" dirty="0"/>
          </a:p>
          <a:p>
            <a:pPr indent="0" marL="0">
              <a:spcAft>
                <a:spcPts val="300"/>
              </a:spcAft>
              <a:buNone/>
            </a:pPr>
            <a:r>
              <a:rPr lang="en-US" sz="1100" dirty="0">
                <a:solidFill>
                  <a:srgbClr val="1B2559"/>
                </a:solidFill>
                <a:latin typeface="Segoe UI Semibold" pitchFamily="34" charset="0"/>
                <a:ea typeface="Segoe UI Semibold" pitchFamily="34" charset="-122"/>
                <a:cs typeface="Segoe UI Semibold" pitchFamily="34" charset="-120"/>
              </a:rPr>
              <a:t>She doesn't like spicy food.</a:t>
            </a:r>
            <a:endParaRPr lang="en-US" sz="1100" dirty="0"/>
          </a:p>
        </p:txBody>
      </p:sp>
      <p:sp>
        <p:nvSpPr>
          <p:cNvPr id="33" name="cd_47"/>
          <p:cNvSpPr/>
          <p:nvPr/>
        </p:nvSpPr>
        <p:spPr>
          <a:xfrm>
            <a:off x="6112764" y="3172968"/>
            <a:ext cx="2756916" cy="1581912"/>
          </a:xfrm>
          <a:prstGeom prst="roundRect">
            <a:avLst>
              <a:gd name="adj" fmla="val 8092"/>
            </a:avLst>
          </a:prstGeom>
          <a:solidFill>
            <a:srgbClr val="FFFFFF"/>
          </a:solidFill>
          <a:ln w="28575">
            <a:solidFill>
              <a:srgbClr val="A9D3F5"/>
            </a:solidFill>
            <a:prstDash val="solid"/>
          </a:ln>
          <a:effectLst>
            <a:outerShdw sx="100000" sy="100000" kx="0" ky="0" algn="bl" rotWithShape="0" blurRad="88900" dist="31750" dir="5400000">
              <a:srgbClr val="1B2559">
                <a:alpha val="12000"/>
              </a:srgbClr>
            </a:outerShdw>
          </a:effectLst>
        </p:spPr>
      </p:sp>
      <p:sp>
        <p:nvSpPr>
          <p:cNvPr id="34" name="rh_48"/>
          <p:cNvSpPr/>
          <p:nvPr/>
        </p:nvSpPr>
        <p:spPr>
          <a:xfrm>
            <a:off x="6204204" y="3246120"/>
            <a:ext cx="2574036" cy="310896"/>
          </a:xfrm>
          <a:prstGeom prst="roundRect">
            <a:avLst>
              <a:gd name="adj" fmla="val 50000"/>
            </a:avLst>
          </a:prstGeom>
          <a:solidFill>
            <a:srgbClr val="2F8DE4"/>
          </a:solidFill>
          <a:ln/>
        </p:spPr>
        <p:txBody>
          <a:bodyPr wrap="square" lIns="0" tIns="0" rIns="0" bIns="0" rtlCol="0" anchor="ctr">
            <a:normAutofit/>
          </a:bodyPr>
          <a:lstStyle/>
          <a:p>
            <a:pPr algn="ctr" indent="0" marL="0">
              <a:buNone/>
            </a:pPr>
            <a:r>
              <a:rPr lang="en-US" sz="950" dirty="0">
                <a:solidFill>
                  <a:srgbClr val="FFFFFF"/>
                </a:solidFill>
                <a:latin typeface="Arial Rounded MT Bold" pitchFamily="34" charset="0"/>
                <a:ea typeface="Arial Rounded MT Bold" pitchFamily="34" charset="-122"/>
                <a:cs typeface="Arial Rounded MT Bold" pitchFamily="34" charset="-120"/>
              </a:rPr>
              <a:t>Your turn: </a:t>
            </a:r>
            <a:pPr algn="ctr" indent="0" marL="0">
              <a:buNone/>
            </a:pPr>
            <a:r>
              <a:rPr lang="en-US" sz="950" dirty="0">
                <a:solidFill>
                  <a:srgbClr val="FFFFFF"/>
                </a:solidFill>
                <a:latin typeface="Arial Rounded MT Bold" pitchFamily="34" charset="0"/>
                <a:ea typeface="Arial Rounded MT Bold" pitchFamily="34" charset="-122"/>
                <a:cs typeface="Arial Rounded MT Bold" pitchFamily="34" charset="-120"/>
              </a:rPr>
              <a:t>Present continuous = now / these days</a:t>
            </a:r>
            <a:endParaRPr lang="en-US" sz="950" dirty="0"/>
          </a:p>
        </p:txBody>
      </p:sp>
      <p:sp>
        <p:nvSpPr>
          <p:cNvPr id="35" name="rf_49"/>
          <p:cNvSpPr/>
          <p:nvPr/>
        </p:nvSpPr>
        <p:spPr>
          <a:xfrm>
            <a:off x="6249924" y="3593592"/>
            <a:ext cx="2482596" cy="292608"/>
          </a:xfrm>
          <a:prstGeom prst="rect">
            <a:avLst/>
          </a:prstGeom>
          <a:noFill/>
          <a:ln/>
        </p:spPr>
        <p:txBody>
          <a:bodyPr wrap="square" lIns="0" tIns="0" rIns="0" bIns="0" rtlCol="0" anchor="ctr">
            <a:normAutofit/>
          </a:bodyPr>
          <a:lstStyle/>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Make a now · an at the moment · a this week</a:t>
            </a:r>
            <a:endParaRPr lang="en-US" sz="850" dirty="0"/>
          </a:p>
        </p:txBody>
      </p:sp>
      <p:sp>
        <p:nvSpPr>
          <p:cNvPr id="36" name="R2_rl50"/>
          <p:cNvSpPr/>
          <p:nvPr/>
        </p:nvSpPr>
        <p:spPr>
          <a:xfrm>
            <a:off x="6249924" y="3922776"/>
            <a:ext cx="2482596" cy="758952"/>
          </a:xfrm>
          <a:prstGeom prst="rect">
            <a:avLst/>
          </a:prstGeom>
          <a:solidFill>
            <a:srgbClr val="FFFFFF"/>
          </a:solidFill>
          <a:ln/>
        </p:spPr>
        <p:txBody>
          <a:bodyPr wrap="square" lIns="0" tIns="0" rIns="0" bIns="0" rtlCol="0" anchor="t">
            <a:normAutofit/>
          </a:bodyPr>
          <a:lstStyle/>
          <a:p>
            <a:pPr indent="0" marL="0">
              <a:spcAft>
                <a:spcPts val="300"/>
              </a:spcAft>
              <a:buNone/>
            </a:pPr>
            <a:r>
              <a:rPr lang="en-US" sz="1100" dirty="0">
                <a:solidFill>
                  <a:srgbClr val="1B2559"/>
                </a:solidFill>
                <a:latin typeface="Segoe UI Semibold" pitchFamily="34" charset="0"/>
                <a:ea typeface="Segoe UI Semibold" pitchFamily="34" charset="-122"/>
                <a:cs typeface="Segoe UI Semibold" pitchFamily="34" charset="-120"/>
              </a:rPr>
              <a:t>I'm cooking dinner right now.</a:t>
            </a:r>
            <a:endParaRPr lang="en-US" sz="1100" dirty="0"/>
          </a:p>
          <a:p>
            <a:pPr indent="0" marL="0">
              <a:spcAft>
                <a:spcPts val="300"/>
              </a:spcAft>
              <a:buNone/>
            </a:pPr>
            <a:r>
              <a:rPr lang="en-US" sz="1100" dirty="0">
                <a:solidFill>
                  <a:srgbClr val="1B2559"/>
                </a:solidFill>
                <a:latin typeface="Segoe UI Semibold" pitchFamily="34" charset="0"/>
                <a:ea typeface="Segoe UI Semibold" pitchFamily="34" charset="-122"/>
                <a:cs typeface="Segoe UI Semibold" pitchFamily="34" charset="-120"/>
              </a:rPr>
              <a:t>We're trying to eat less sugar.</a:t>
            </a:r>
            <a:endParaRPr lang="en-US" sz="1100" dirty="0"/>
          </a:p>
          <a:p>
            <a:pPr indent="0" marL="0">
              <a:spcAft>
                <a:spcPts val="300"/>
              </a:spcAft>
              <a:buNone/>
            </a:pPr>
            <a:r>
              <a:rPr lang="en-US" sz="1100" dirty="0">
                <a:solidFill>
                  <a:srgbClr val="1B2559"/>
                </a:solidFill>
                <a:latin typeface="Segoe UI Semibold" pitchFamily="34" charset="0"/>
                <a:ea typeface="Segoe UI Semibold" pitchFamily="34" charset="-122"/>
                <a:cs typeface="Segoe UI Semibold" pitchFamily="34" charset="-120"/>
              </a:rPr>
              <a:t>Are you watching TV?</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4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fade">
                                      <p:cBhvr>
                                        <p:cTn id="12"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51"/>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3</a:t>
            </a:r>
            <a:endParaRPr lang="en-US" sz="2800" dirty="0"/>
          </a:p>
        </p:txBody>
      </p:sp>
      <p:pic>
        <p:nvPicPr>
          <p:cNvPr id="4" name="brY_52" descr="/home/claude/lls-course/v2/assets/brush-yellow.png">    </p:cNvPr>
          <p:cNvPicPr>
            <a:picLocks noChangeAspect="1"/>
          </p:cNvPicPr>
          <p:nvPr/>
        </p:nvPicPr>
        <p:blipFill>
          <a:blip r:embed="rId2"/>
          <a:stretch>
            <a:fillRect/>
          </a:stretch>
        </p:blipFill>
        <p:spPr>
          <a:xfrm>
            <a:off x="1097280" y="146304"/>
            <a:ext cx="2933395" cy="621792"/>
          </a:xfrm>
          <a:prstGeom prst="rect">
            <a:avLst/>
          </a:prstGeom>
        </p:spPr>
      </p:pic>
      <p:sp>
        <p:nvSpPr>
          <p:cNvPr id="5" name="title_53"/>
          <p:cNvSpPr/>
          <p:nvPr/>
        </p:nvSpPr>
        <p:spPr>
          <a:xfrm>
            <a:off x="1261872" y="164592"/>
            <a:ext cx="2659075"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Answers first!</a:t>
            </a:r>
            <a:endParaRPr lang="en-US" sz="2500" dirty="0"/>
          </a:p>
        </p:txBody>
      </p:sp>
      <p:pic>
        <p:nvPicPr>
          <p:cNvPr id="6" name="brP_54" descr="/home/claude/lls-course/v2/assets/brush-pink.png">    </p:cNvPr>
          <p:cNvPicPr>
            <a:picLocks noChangeAspect="1"/>
          </p:cNvPicPr>
          <p:nvPr/>
        </p:nvPicPr>
        <p:blipFill>
          <a:blip r:embed="rId3"/>
          <a:stretch>
            <a:fillRect/>
          </a:stretch>
        </p:blipFill>
        <p:spPr>
          <a:xfrm>
            <a:off x="1207008" y="731520"/>
            <a:ext cx="3858768" cy="402336"/>
          </a:xfrm>
          <a:prstGeom prst="rect">
            <a:avLst/>
          </a:prstGeom>
        </p:spPr>
      </p:pic>
      <p:sp>
        <p:nvSpPr>
          <p:cNvPr id="7" name="ins_55"/>
          <p:cNvSpPr/>
          <p:nvPr/>
        </p:nvSpPr>
        <p:spPr>
          <a:xfrm>
            <a:off x="1353312" y="731520"/>
            <a:ext cx="360273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Read the answer. Write the question!</a:t>
            </a:r>
            <a:endParaRPr lang="en-US" sz="1250" dirty="0"/>
          </a:p>
        </p:txBody>
      </p:sp>
      <p:sp>
        <p:nvSpPr>
          <p:cNvPr id="8" name="insIT_56"/>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Leggi la risposta. Scrivi la domanda!</a:t>
            </a:r>
            <a:endParaRPr lang="en-US" sz="950" dirty="0"/>
          </a:p>
        </p:txBody>
      </p:sp>
      <p:sp>
        <p:nvSpPr>
          <p:cNvPr id="9" name="note_57"/>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PLAY</a:t>
            </a:r>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 GIOCA</a:t>
            </a:r>
            <a:endParaRPr lang="en-US" sz="12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3 min   🏆 teams</a:t>
            </a:r>
            <a:endParaRPr lang="en-US" sz="12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Revision · Communicative game</a:t>
            </a:r>
            <a:endParaRPr lang="en-US" sz="1250" dirty="0"/>
          </a:p>
        </p:txBody>
      </p:sp>
      <p:pic>
        <p:nvPicPr>
          <p:cNvPr id="10" name="logo_58"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59"/>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1B-1 · Warmer · last lesson   ·   📖 Recycles 30 Sept: present simple and continuous, food</a:t>
            </a:r>
            <a:endParaRPr lang="en-US" sz="800" dirty="0"/>
          </a:p>
        </p:txBody>
      </p:sp>
      <p:sp>
        <p:nvSpPr>
          <p:cNvPr id="12" name="cd_60"/>
          <p:cNvSpPr/>
          <p:nvPr/>
        </p:nvSpPr>
        <p:spPr>
          <a:xfrm>
            <a:off x="320040" y="1417320"/>
            <a:ext cx="2697480" cy="1569720"/>
          </a:xfrm>
          <a:prstGeom prst="roundRect">
            <a:avLst>
              <a:gd name="adj" fmla="val 8155"/>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3" name="ii_61"/>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4" name="ih_62"/>
          <p:cNvSpPr/>
          <p:nvPr/>
        </p:nvSpPr>
        <p:spPr>
          <a:xfrm>
            <a:off x="886968" y="1508760"/>
            <a:ext cx="205740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How to play</a:t>
            </a:r>
            <a:endParaRPr lang="en-US" sz="1400" dirty="0"/>
          </a:p>
        </p:txBody>
      </p:sp>
      <p:sp>
        <p:nvSpPr>
          <p:cNvPr id="15" name="il_63"/>
          <p:cNvSpPr/>
          <p:nvPr/>
        </p:nvSpPr>
        <p:spPr>
          <a:xfrm>
            <a:off x="886968" y="1911096"/>
            <a:ext cx="2039112" cy="1002792"/>
          </a:xfrm>
          <a:prstGeom prst="rect">
            <a:avLst/>
          </a:prstGeom>
          <a:noFill/>
          <a:ln/>
        </p:spPr>
        <p:txBody>
          <a:bodyPr wrap="square" lIns="0" tIns="0" rIns="0" bIns="0" rtlCol="0" anchor="t">
            <a:normAutofit/>
          </a:bodyPr>
          <a:lstStyle/>
          <a:p>
            <a:pPr marL="152400" indent="-152400">
              <a:spcAft>
                <a:spcPts val="200"/>
              </a:spcAft>
              <a:buSzPct val="100000"/>
              <a:buChar char="•"/>
            </a:pPr>
            <a:r>
              <a:rPr lang="en-US" sz="1200" dirty="0">
                <a:solidFill>
                  <a:srgbClr val="1B2559"/>
                </a:solidFill>
                <a:latin typeface="Segoe UI Semibold" pitchFamily="34" charset="0"/>
                <a:ea typeface="Segoe UI Semibold" pitchFamily="34" charset="-122"/>
                <a:cs typeface="Segoe UI Semibold" pitchFamily="34" charset="-120"/>
              </a:rPr>
              <a:t>Correct question = 1 point.</a:t>
            </a:r>
            <a:endParaRPr lang="en-US" sz="1200" dirty="0"/>
          </a:p>
          <a:p>
            <a:pPr marL="152400" indent="-152400">
              <a:spcAft>
                <a:spcPts val="200"/>
              </a:spcAft>
              <a:buSzPct val="100000"/>
              <a:buChar char=" "/>
            </a:pPr>
            <a:r>
              <a:rPr lang="en-US" sz="1200" dirty="0">
                <a:solidFill>
                  <a:srgbClr val="5B6785"/>
                </a:solidFill>
                <a:latin typeface="Segoe UI Semibold" pitchFamily="34" charset="0"/>
                <a:ea typeface="Segoe UI Semibold" pitchFamily="34" charset="-122"/>
                <a:cs typeface="Segoe UI Semibold" pitchFamily="34" charset="-120"/>
              </a:rPr>
              <a:t>Domanda corretta = 1 punto.</a:t>
            </a:r>
            <a:endParaRPr lang="en-US" sz="1200" dirty="0"/>
          </a:p>
        </p:txBody>
      </p:sp>
      <p:sp>
        <p:nvSpPr>
          <p:cNvPr id="16" name="st_64"/>
          <p:cNvSpPr/>
          <p:nvPr/>
        </p:nvSpPr>
        <p:spPr>
          <a:xfrm rot="-180000">
            <a:off x="502920" y="3169920"/>
            <a:ext cx="2286000" cy="777240"/>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TEAM A  ☆☆☆☆☆</a:t>
            </a:r>
            <a:endParaRPr lang="en-US" sz="1250" dirty="0"/>
          </a:p>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TEAM B  ☆☆☆☆☆</a:t>
            </a:r>
            <a:endParaRPr lang="en-US" sz="1250" dirty="0"/>
          </a:p>
        </p:txBody>
      </p:sp>
      <p:sp>
        <p:nvSpPr>
          <p:cNvPr id="17" name="bd_65"/>
          <p:cNvSpPr/>
          <p:nvPr/>
        </p:nvSpPr>
        <p:spPr>
          <a:xfrm>
            <a:off x="3246120" y="1491234"/>
            <a:ext cx="329184" cy="329184"/>
          </a:xfrm>
          <a:prstGeom prst="ellipse">
            <a:avLst/>
          </a:prstGeom>
          <a:solidFill>
            <a:srgbClr val="7B5CD6"/>
          </a:solidFill>
          <a:ln w="28575">
            <a:solidFill>
              <a:srgbClr val="CDBFF3"/>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500" dirty="0">
                <a:solidFill>
                  <a:srgbClr val="FFFFFF"/>
                </a:solidFill>
                <a:latin typeface="Arial Rounded MT Bold" pitchFamily="34" charset="0"/>
                <a:ea typeface="Arial Rounded MT Bold" pitchFamily="34" charset="-122"/>
                <a:cs typeface="Arial Rounded MT Bold" pitchFamily="34" charset="-120"/>
              </a:rPr>
              <a:t>e.g.</a:t>
            </a:r>
            <a:endParaRPr lang="en-US" sz="500" dirty="0"/>
          </a:p>
        </p:txBody>
      </p:sp>
      <p:sp>
        <p:nvSpPr>
          <p:cNvPr id="18" name="gq_66"/>
          <p:cNvSpPr/>
          <p:nvPr/>
        </p:nvSpPr>
        <p:spPr>
          <a:xfrm>
            <a:off x="3657600" y="1417320"/>
            <a:ext cx="2514600" cy="477012"/>
          </a:xfrm>
          <a:prstGeom prst="roundRect">
            <a:avLst>
              <a:gd name="adj" fmla="val 19169"/>
            </a:avLst>
          </a:prstGeom>
          <a:solidFill>
            <a:srgbClr val="EEE8FB"/>
          </a:solidFill>
          <a:ln w="28575">
            <a:solidFill>
              <a:srgbClr val="CDBFF3"/>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"Twice a week. I love it!"</a:t>
            </a:r>
            <a:endParaRPr lang="en-US" sz="1250" dirty="0"/>
          </a:p>
        </p:txBody>
      </p:sp>
      <p:sp>
        <p:nvSpPr>
          <p:cNvPr id="19" name="chip_67"/>
          <p:cNvSpPr/>
          <p:nvPr/>
        </p:nvSpPr>
        <p:spPr>
          <a:xfrm>
            <a:off x="6263640" y="1417320"/>
            <a:ext cx="2560320" cy="477012"/>
          </a:xfrm>
          <a:prstGeom prst="roundRect">
            <a:avLst>
              <a:gd name="adj" fmla="val 19169"/>
            </a:avLst>
          </a:prstGeom>
          <a:solidFill>
            <a:srgbClr val="EEE8FB"/>
          </a:solidFill>
          <a:ln w="28575">
            <a:solidFill>
              <a:srgbClr val="CDBFF3"/>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How often do you eat pizza?</a:t>
            </a:r>
            <a:endParaRPr lang="en-US" sz="1200" dirty="0"/>
          </a:p>
        </p:txBody>
      </p:sp>
      <p:sp>
        <p:nvSpPr>
          <p:cNvPr id="20" name="bd_68"/>
          <p:cNvSpPr/>
          <p:nvPr/>
        </p:nvSpPr>
        <p:spPr>
          <a:xfrm>
            <a:off x="3246120" y="2032254"/>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1" name="gq_69"/>
          <p:cNvSpPr/>
          <p:nvPr/>
        </p:nvSpPr>
        <p:spPr>
          <a:xfrm>
            <a:off x="3657600" y="1958340"/>
            <a:ext cx="2514600" cy="477012"/>
          </a:xfrm>
          <a:prstGeom prst="roundRect">
            <a:avLst>
              <a:gd name="adj" fmla="val 19169"/>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"No, I'm not. I'm doing my homework."</a:t>
            </a:r>
            <a:endParaRPr lang="en-US" sz="1250" dirty="0"/>
          </a:p>
        </p:txBody>
      </p:sp>
      <p:sp>
        <p:nvSpPr>
          <p:cNvPr id="22" name="R1_chip70"/>
          <p:cNvSpPr/>
          <p:nvPr/>
        </p:nvSpPr>
        <p:spPr>
          <a:xfrm>
            <a:off x="6263640" y="1958340"/>
            <a:ext cx="2560320" cy="477012"/>
          </a:xfrm>
          <a:prstGeom prst="roundRect">
            <a:avLst>
              <a:gd name="adj" fmla="val 19169"/>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Are you watching TV?</a:t>
            </a:r>
            <a:endParaRPr lang="en-US" sz="1200" dirty="0"/>
          </a:p>
        </p:txBody>
      </p:sp>
      <p:sp>
        <p:nvSpPr>
          <p:cNvPr id="23" name="bd_71"/>
          <p:cNvSpPr/>
          <p:nvPr/>
        </p:nvSpPr>
        <p:spPr>
          <a:xfrm>
            <a:off x="3246120" y="2573274"/>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4" name="gq_72"/>
          <p:cNvSpPr/>
          <p:nvPr/>
        </p:nvSpPr>
        <p:spPr>
          <a:xfrm>
            <a:off x="3657600" y="2499360"/>
            <a:ext cx="2514600" cy="477012"/>
          </a:xfrm>
          <a:prstGeom prst="roundRect">
            <a:avLst>
              <a:gd name="adj" fmla="val 19169"/>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"No, I don't. It's too spicy."</a:t>
            </a:r>
            <a:endParaRPr lang="en-US" sz="1250" dirty="0"/>
          </a:p>
        </p:txBody>
      </p:sp>
      <p:sp>
        <p:nvSpPr>
          <p:cNvPr id="25" name="R2_chip73"/>
          <p:cNvSpPr/>
          <p:nvPr/>
        </p:nvSpPr>
        <p:spPr>
          <a:xfrm>
            <a:off x="6263640" y="2499360"/>
            <a:ext cx="2560320" cy="477012"/>
          </a:xfrm>
          <a:prstGeom prst="roundRect">
            <a:avLst>
              <a:gd name="adj" fmla="val 19169"/>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Do you like chilli?</a:t>
            </a:r>
            <a:endParaRPr lang="en-US" sz="1200" dirty="0"/>
          </a:p>
        </p:txBody>
      </p:sp>
      <p:sp>
        <p:nvSpPr>
          <p:cNvPr id="26" name="bd_74"/>
          <p:cNvSpPr/>
          <p:nvPr/>
        </p:nvSpPr>
        <p:spPr>
          <a:xfrm>
            <a:off x="3246120" y="3114294"/>
            <a:ext cx="329184" cy="329184"/>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7" name="gq_75"/>
          <p:cNvSpPr/>
          <p:nvPr/>
        </p:nvSpPr>
        <p:spPr>
          <a:xfrm>
            <a:off x="3657600" y="3040380"/>
            <a:ext cx="2514600" cy="477012"/>
          </a:xfrm>
          <a:prstGeom prst="roundRect">
            <a:avLst>
              <a:gd name="adj" fmla="val 19169"/>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"Because I'm trying to eat less sugar."</a:t>
            </a:r>
            <a:endParaRPr lang="en-US" sz="1250" dirty="0"/>
          </a:p>
        </p:txBody>
      </p:sp>
      <p:sp>
        <p:nvSpPr>
          <p:cNvPr id="28" name="R3_chip76"/>
          <p:cNvSpPr/>
          <p:nvPr/>
        </p:nvSpPr>
        <p:spPr>
          <a:xfrm>
            <a:off x="6263640" y="3040380"/>
            <a:ext cx="2560320" cy="477012"/>
          </a:xfrm>
          <a:prstGeom prst="roundRect">
            <a:avLst>
              <a:gd name="adj" fmla="val 19169"/>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Why aren't you having dessert?</a:t>
            </a:r>
            <a:endParaRPr lang="en-US" sz="1200" dirty="0"/>
          </a:p>
        </p:txBody>
      </p:sp>
      <p:sp>
        <p:nvSpPr>
          <p:cNvPr id="29" name="bd_77"/>
          <p:cNvSpPr/>
          <p:nvPr/>
        </p:nvSpPr>
        <p:spPr>
          <a:xfrm>
            <a:off x="3246120" y="3655314"/>
            <a:ext cx="329184" cy="329184"/>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30" name="gq_78"/>
          <p:cNvSpPr/>
          <p:nvPr/>
        </p:nvSpPr>
        <p:spPr>
          <a:xfrm>
            <a:off x="3657600" y="3581400"/>
            <a:ext cx="2514600" cy="477012"/>
          </a:xfrm>
          <a:prstGeom prst="roundRect">
            <a:avLst>
              <a:gd name="adj" fmla="val 19169"/>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"At my nonna's, every Sunday."</a:t>
            </a:r>
            <a:endParaRPr lang="en-US" sz="1250" dirty="0"/>
          </a:p>
        </p:txBody>
      </p:sp>
      <p:sp>
        <p:nvSpPr>
          <p:cNvPr id="31" name="R4_chip79"/>
          <p:cNvSpPr/>
          <p:nvPr/>
        </p:nvSpPr>
        <p:spPr>
          <a:xfrm>
            <a:off x="6263640" y="3581400"/>
            <a:ext cx="2560320" cy="477012"/>
          </a:xfrm>
          <a:prstGeom prst="roundRect">
            <a:avLst>
              <a:gd name="adj" fmla="val 19169"/>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Where do you have lunch on Sundays?</a:t>
            </a:r>
            <a:endParaRPr lang="en-US" sz="1200" dirty="0"/>
          </a:p>
        </p:txBody>
      </p:sp>
      <p:sp>
        <p:nvSpPr>
          <p:cNvPr id="32" name="bd_80"/>
          <p:cNvSpPr/>
          <p:nvPr/>
        </p:nvSpPr>
        <p:spPr>
          <a:xfrm>
            <a:off x="3246120" y="4196334"/>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33" name="gq_81"/>
          <p:cNvSpPr/>
          <p:nvPr/>
        </p:nvSpPr>
        <p:spPr>
          <a:xfrm>
            <a:off x="3657600" y="4122420"/>
            <a:ext cx="2514600" cy="477012"/>
          </a:xfrm>
          <a:prstGeom prst="roundRect">
            <a:avLst>
              <a:gd name="adj" fmla="val 19169"/>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"Pasta with sardines!"</a:t>
            </a:r>
            <a:endParaRPr lang="en-US" sz="1250" dirty="0"/>
          </a:p>
        </p:txBody>
      </p:sp>
      <p:sp>
        <p:nvSpPr>
          <p:cNvPr id="34" name="R5_chip82"/>
          <p:cNvSpPr/>
          <p:nvPr/>
        </p:nvSpPr>
        <p:spPr>
          <a:xfrm>
            <a:off x="6263640" y="4122420"/>
            <a:ext cx="2560320" cy="477012"/>
          </a:xfrm>
          <a:prstGeom prst="roundRect">
            <a:avLst>
              <a:gd name="adj" fmla="val 19169"/>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What are you cooking?</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4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4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83"/>
          <p:cNvSpPr/>
          <p:nvPr/>
        </p:nvSpPr>
        <p:spPr>
          <a:xfrm>
            <a:off x="201168" y="164592"/>
            <a:ext cx="841248" cy="8412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4</a:t>
            </a:r>
            <a:endParaRPr lang="en-US" sz="2800" dirty="0"/>
          </a:p>
        </p:txBody>
      </p:sp>
      <p:pic>
        <p:nvPicPr>
          <p:cNvPr id="4" name="brY_84" descr="/home/claude/lls-course/v2/assets/brush-yellow.png">    </p:cNvPr>
          <p:cNvPicPr>
            <a:picLocks noChangeAspect="1"/>
          </p:cNvPicPr>
          <p:nvPr/>
        </p:nvPicPr>
        <p:blipFill>
          <a:blip r:embed="rId2"/>
          <a:stretch>
            <a:fillRect/>
          </a:stretch>
        </p:blipFill>
        <p:spPr>
          <a:xfrm>
            <a:off x="1097280" y="146304"/>
            <a:ext cx="4191610" cy="621792"/>
          </a:xfrm>
          <a:prstGeom prst="rect">
            <a:avLst/>
          </a:prstGeom>
        </p:spPr>
      </p:pic>
      <p:sp>
        <p:nvSpPr>
          <p:cNvPr id="5" name="title_85"/>
          <p:cNvSpPr/>
          <p:nvPr/>
        </p:nvSpPr>
        <p:spPr>
          <a:xfrm>
            <a:off x="1261872" y="164592"/>
            <a:ext cx="3917290"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What's the difference?</a:t>
            </a:r>
            <a:endParaRPr lang="en-US" sz="2500" dirty="0"/>
          </a:p>
        </p:txBody>
      </p:sp>
      <p:pic>
        <p:nvPicPr>
          <p:cNvPr id="6" name="brP_86" descr="/home/claude/lls-course/v2/assets/brush-pink.png">    </p:cNvPr>
          <p:cNvPicPr>
            <a:picLocks noChangeAspect="1"/>
          </p:cNvPicPr>
          <p:nvPr/>
        </p:nvPicPr>
        <p:blipFill>
          <a:blip r:embed="rId3"/>
          <a:stretch>
            <a:fillRect/>
          </a:stretch>
        </p:blipFill>
        <p:spPr>
          <a:xfrm>
            <a:off x="1207008" y="731520"/>
            <a:ext cx="4119372" cy="402336"/>
          </a:xfrm>
          <a:prstGeom prst="rect">
            <a:avLst/>
          </a:prstGeom>
        </p:spPr>
      </p:pic>
      <p:sp>
        <p:nvSpPr>
          <p:cNvPr id="7" name="ins_87"/>
          <p:cNvSpPr/>
          <p:nvPr/>
        </p:nvSpPr>
        <p:spPr>
          <a:xfrm>
            <a:off x="1353312" y="731520"/>
            <a:ext cx="386334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Explain the difference to your partner.</a:t>
            </a:r>
            <a:endParaRPr lang="en-US" sz="1250" dirty="0"/>
          </a:p>
        </p:txBody>
      </p:sp>
      <p:sp>
        <p:nvSpPr>
          <p:cNvPr id="8" name="insIT_88"/>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Spiega la differenza al compagno.</a:t>
            </a:r>
            <a:endParaRPr lang="en-US" sz="950" dirty="0"/>
          </a:p>
        </p:txBody>
      </p:sp>
      <p:sp>
        <p:nvSpPr>
          <p:cNvPr id="9" name="note_89"/>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TALK</a:t>
            </a:r>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 PARLA</a:t>
            </a:r>
            <a:endParaRPr lang="en-US" sz="12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5 min   👥 pairs</a:t>
            </a:r>
            <a:endParaRPr lang="en-US" sz="12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Vocabulary · Controlled practice</a:t>
            </a:r>
            <a:endParaRPr lang="en-US" sz="1250" dirty="0"/>
          </a:p>
        </p:txBody>
      </p:sp>
      <p:pic>
        <p:nvPicPr>
          <p:cNvPr id="10" name="logo_90"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91"/>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1B-1 · Vocabulary · family   ·   📖 SB p.10 · 1a</a:t>
            </a:r>
            <a:endParaRPr lang="en-US" sz="800" dirty="0"/>
          </a:p>
        </p:txBody>
      </p:sp>
      <p:sp>
        <p:nvSpPr>
          <p:cNvPr id="12" name="cd_92"/>
          <p:cNvSpPr/>
          <p:nvPr/>
        </p:nvSpPr>
        <p:spPr>
          <a:xfrm>
            <a:off x="320040" y="1417320"/>
            <a:ext cx="2697480" cy="969264"/>
          </a:xfrm>
          <a:prstGeom prst="roundRect">
            <a:avLst>
              <a:gd name="adj" fmla="val 13208"/>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3" name="ii_93"/>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4" name="ih_94"/>
          <p:cNvSpPr/>
          <p:nvPr/>
        </p:nvSpPr>
        <p:spPr>
          <a:xfrm>
            <a:off x="886968" y="150876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Example</a:t>
            </a:r>
            <a:endParaRPr lang="en-US" sz="1300" dirty="0"/>
          </a:p>
        </p:txBody>
      </p:sp>
      <p:sp>
        <p:nvSpPr>
          <p:cNvPr id="15" name="il_95"/>
          <p:cNvSpPr/>
          <p:nvPr/>
        </p:nvSpPr>
        <p:spPr>
          <a:xfrm>
            <a:off x="886968" y="1911096"/>
            <a:ext cx="2039112" cy="402336"/>
          </a:xfrm>
          <a:prstGeom prst="rect">
            <a:avLst/>
          </a:prstGeom>
          <a:noFill/>
          <a:ln/>
        </p:spPr>
        <p:txBody>
          <a:bodyPr wrap="square" lIns="0" tIns="0" rIns="0" bIns="0" rtlCol="0" anchor="t">
            <a:normAutofit/>
          </a:bodyPr>
          <a:lstStyle/>
          <a:p>
            <a:pPr indent="0" marL="0">
              <a:spcAft>
                <a:spcPts val="200"/>
              </a:spcAft>
              <a:buNone/>
            </a:pPr>
            <a:r>
              <a:rPr lang="en-US" sz="750" dirty="0">
                <a:solidFill>
                  <a:srgbClr val="1B2559"/>
                </a:solidFill>
                <a:latin typeface="Segoe UI Semibold" pitchFamily="34" charset="0"/>
                <a:ea typeface="Segoe UI Semibold" pitchFamily="34" charset="-122"/>
                <a:cs typeface="Segoe UI Semibold" pitchFamily="34" charset="-120"/>
              </a:rPr>
              <a:t>mum / grandmother → your grandmother is your mum's or dad's mum</a:t>
            </a:r>
            <a:endParaRPr lang="en-US" sz="750" dirty="0"/>
          </a:p>
        </p:txBody>
      </p:sp>
      <p:sp>
        <p:nvSpPr>
          <p:cNvPr id="16" name="pf_96"/>
          <p:cNvSpPr/>
          <p:nvPr/>
        </p:nvSpPr>
        <p:spPr>
          <a:xfrm rot="-90000">
            <a:off x="365760" y="2811173"/>
            <a:ext cx="2606040" cy="1610558"/>
          </a:xfrm>
          <a:prstGeom prst="roundRect">
            <a:avLst>
              <a:gd name="adj" fmla="val 9652"/>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7" name="ph_97" descr="/home/claude/lls-course/v2/cache/1b1_wedding_jpg_605x365_31.png">    </p:cNvPr>
          <p:cNvPicPr>
            <a:picLocks noChangeAspect="1"/>
          </p:cNvPicPr>
          <p:nvPr/>
        </p:nvPicPr>
        <p:blipFill>
          <a:blip r:embed="rId5"/>
          <a:stretch>
            <a:fillRect/>
          </a:stretch>
        </p:blipFill>
        <p:spPr>
          <a:xfrm rot="-90000">
            <a:off x="411480" y="2856893"/>
            <a:ext cx="2514600" cy="1519118"/>
          </a:xfrm>
          <a:prstGeom prst="rect">
            <a:avLst/>
          </a:prstGeom>
        </p:spPr>
      </p:pic>
      <p:sp>
        <p:nvSpPr>
          <p:cNvPr id="18" name="bd_98"/>
          <p:cNvSpPr/>
          <p:nvPr/>
        </p:nvSpPr>
        <p:spPr>
          <a:xfrm>
            <a:off x="3246120" y="1444752"/>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19" name="q_99"/>
          <p:cNvSpPr/>
          <p:nvPr/>
        </p:nvSpPr>
        <p:spPr>
          <a:xfrm>
            <a:off x="3630168" y="1417320"/>
            <a:ext cx="2103120" cy="365760"/>
          </a:xfrm>
          <a:prstGeom prst="roundRect">
            <a:avLst>
              <a:gd name="adj" fmla="val 25000"/>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950" b="1" dirty="0">
                <a:solidFill>
                  <a:srgbClr val="1B2559"/>
                </a:solidFill>
                <a:latin typeface="Segoe UI Semibold" pitchFamily="34" charset="0"/>
                <a:ea typeface="Segoe UI Semibold" pitchFamily="34" charset="-122"/>
                <a:cs typeface="Segoe UI Semibold" pitchFamily="34" charset="-120"/>
              </a:rPr>
              <a:t>father / parent</a:t>
            </a:r>
            <a:endParaRPr lang="en-US" sz="950" dirty="0"/>
          </a:p>
        </p:txBody>
      </p:sp>
      <p:sp>
        <p:nvSpPr>
          <p:cNvPr id="20" name="R1_chip100"/>
          <p:cNvSpPr/>
          <p:nvPr/>
        </p:nvSpPr>
        <p:spPr>
          <a:xfrm>
            <a:off x="5806440" y="1417320"/>
            <a:ext cx="3063240" cy="365760"/>
          </a:xfrm>
          <a:prstGeom prst="roundRect">
            <a:avLst>
              <a:gd name="adj" fmla="val 25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950" b="1" dirty="0">
                <a:solidFill>
                  <a:srgbClr val="1B2559"/>
                </a:solidFill>
                <a:latin typeface="Segoe UI Semibold" pitchFamily="34" charset="0"/>
                <a:ea typeface="Segoe UI Semibold" pitchFamily="34" charset="-122"/>
                <a:cs typeface="Segoe UI Semibold" pitchFamily="34" charset="-120"/>
              </a:rPr>
              <a:t>father = male parent · parent = mum or dad</a:t>
            </a:r>
            <a:endParaRPr lang="en-US" sz="950" dirty="0"/>
          </a:p>
        </p:txBody>
      </p:sp>
      <p:sp>
        <p:nvSpPr>
          <p:cNvPr id="21" name="bd_101"/>
          <p:cNvSpPr/>
          <p:nvPr/>
        </p:nvSpPr>
        <p:spPr>
          <a:xfrm>
            <a:off x="3246120" y="1856232"/>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22" name="q_102"/>
          <p:cNvSpPr/>
          <p:nvPr/>
        </p:nvSpPr>
        <p:spPr>
          <a:xfrm>
            <a:off x="3630168" y="1828800"/>
            <a:ext cx="2103120" cy="365760"/>
          </a:xfrm>
          <a:prstGeom prst="roundRect">
            <a:avLst>
              <a:gd name="adj" fmla="val 25000"/>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950" b="1" dirty="0">
                <a:solidFill>
                  <a:srgbClr val="1B2559"/>
                </a:solidFill>
                <a:latin typeface="Segoe UI Semibold" pitchFamily="34" charset="0"/>
                <a:ea typeface="Segoe UI Semibold" pitchFamily="34" charset="-122"/>
                <a:cs typeface="Segoe UI Semibold" pitchFamily="34" charset="-120"/>
              </a:rPr>
              <a:t>mother / stepmother</a:t>
            </a:r>
            <a:endParaRPr lang="en-US" sz="950" dirty="0"/>
          </a:p>
        </p:txBody>
      </p:sp>
      <p:sp>
        <p:nvSpPr>
          <p:cNvPr id="23" name="R2_chip103"/>
          <p:cNvSpPr/>
          <p:nvPr/>
        </p:nvSpPr>
        <p:spPr>
          <a:xfrm>
            <a:off x="5806440" y="1828800"/>
            <a:ext cx="3063240" cy="365760"/>
          </a:xfrm>
          <a:prstGeom prst="roundRect">
            <a:avLst>
              <a:gd name="adj" fmla="val 25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950" b="1" dirty="0">
                <a:solidFill>
                  <a:srgbClr val="1B2559"/>
                </a:solidFill>
                <a:latin typeface="Segoe UI Semibold" pitchFamily="34" charset="0"/>
                <a:ea typeface="Segoe UI Semibold" pitchFamily="34" charset="-122"/>
                <a:cs typeface="Segoe UI Semibold" pitchFamily="34" charset="-120"/>
              </a:rPr>
              <a:t>stepmother = your dad's wife, not your mum</a:t>
            </a:r>
            <a:endParaRPr lang="en-US" sz="950" dirty="0"/>
          </a:p>
        </p:txBody>
      </p:sp>
      <p:sp>
        <p:nvSpPr>
          <p:cNvPr id="24" name="bd_104"/>
          <p:cNvSpPr/>
          <p:nvPr/>
        </p:nvSpPr>
        <p:spPr>
          <a:xfrm>
            <a:off x="3246120" y="2267712"/>
            <a:ext cx="310896" cy="310896"/>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25" name="q_105"/>
          <p:cNvSpPr/>
          <p:nvPr/>
        </p:nvSpPr>
        <p:spPr>
          <a:xfrm>
            <a:off x="3630168" y="2240280"/>
            <a:ext cx="2103120" cy="365760"/>
          </a:xfrm>
          <a:prstGeom prst="roundRect">
            <a:avLst>
              <a:gd name="adj" fmla="val 25000"/>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950" b="1" dirty="0">
                <a:solidFill>
                  <a:srgbClr val="1B2559"/>
                </a:solidFill>
                <a:latin typeface="Segoe UI Semibold" pitchFamily="34" charset="0"/>
                <a:ea typeface="Segoe UI Semibold" pitchFamily="34" charset="-122"/>
                <a:cs typeface="Segoe UI Semibold" pitchFamily="34" charset="-120"/>
              </a:rPr>
              <a:t>brother / brother-in-law</a:t>
            </a:r>
            <a:endParaRPr lang="en-US" sz="950" dirty="0"/>
          </a:p>
        </p:txBody>
      </p:sp>
      <p:sp>
        <p:nvSpPr>
          <p:cNvPr id="26" name="R3_chip106"/>
          <p:cNvSpPr/>
          <p:nvPr/>
        </p:nvSpPr>
        <p:spPr>
          <a:xfrm>
            <a:off x="5806440" y="2240280"/>
            <a:ext cx="3063240" cy="365760"/>
          </a:xfrm>
          <a:prstGeom prst="roundRect">
            <a:avLst>
              <a:gd name="adj" fmla="val 25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950" b="1" dirty="0">
                <a:solidFill>
                  <a:srgbClr val="1B2559"/>
                </a:solidFill>
                <a:latin typeface="Segoe UI Semibold" pitchFamily="34" charset="0"/>
                <a:ea typeface="Segoe UI Semibold" pitchFamily="34" charset="-122"/>
                <a:cs typeface="Segoe UI Semibold" pitchFamily="34" charset="-120"/>
              </a:rPr>
              <a:t>your sister's husband or your partner's brother</a:t>
            </a:r>
            <a:endParaRPr lang="en-US" sz="950" dirty="0"/>
          </a:p>
        </p:txBody>
      </p:sp>
      <p:sp>
        <p:nvSpPr>
          <p:cNvPr id="27" name="bd_107"/>
          <p:cNvSpPr/>
          <p:nvPr/>
        </p:nvSpPr>
        <p:spPr>
          <a:xfrm>
            <a:off x="3246120" y="2679192"/>
            <a:ext cx="310896" cy="310896"/>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28" name="q_108"/>
          <p:cNvSpPr/>
          <p:nvPr/>
        </p:nvSpPr>
        <p:spPr>
          <a:xfrm>
            <a:off x="3630168" y="2651760"/>
            <a:ext cx="2103120" cy="365760"/>
          </a:xfrm>
          <a:prstGeom prst="roundRect">
            <a:avLst>
              <a:gd name="adj" fmla="val 25000"/>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950" b="1" dirty="0">
                <a:solidFill>
                  <a:srgbClr val="1B2559"/>
                </a:solidFill>
                <a:latin typeface="Segoe UI Semibold" pitchFamily="34" charset="0"/>
                <a:ea typeface="Segoe UI Semibold" pitchFamily="34" charset="-122"/>
                <a:cs typeface="Segoe UI Semibold" pitchFamily="34" charset="-120"/>
              </a:rPr>
              <a:t>stepsister / half-sister</a:t>
            </a:r>
            <a:endParaRPr lang="en-US" sz="950" dirty="0"/>
          </a:p>
        </p:txBody>
      </p:sp>
      <p:sp>
        <p:nvSpPr>
          <p:cNvPr id="29" name="R4_chip109"/>
          <p:cNvSpPr/>
          <p:nvPr/>
        </p:nvSpPr>
        <p:spPr>
          <a:xfrm>
            <a:off x="5806440" y="2651760"/>
            <a:ext cx="3063240" cy="365760"/>
          </a:xfrm>
          <a:prstGeom prst="roundRect">
            <a:avLst>
              <a:gd name="adj" fmla="val 25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950" b="1" dirty="0">
                <a:solidFill>
                  <a:srgbClr val="1B2559"/>
                </a:solidFill>
                <a:latin typeface="Segoe UI Semibold" pitchFamily="34" charset="0"/>
                <a:ea typeface="Segoe UI Semibold" pitchFamily="34" charset="-122"/>
                <a:cs typeface="Segoe UI Semibold" pitchFamily="34" charset="-120"/>
              </a:rPr>
              <a:t>step = no parent in common · half = one parent in common</a:t>
            </a:r>
            <a:endParaRPr lang="en-US" sz="950" dirty="0"/>
          </a:p>
        </p:txBody>
      </p:sp>
      <p:sp>
        <p:nvSpPr>
          <p:cNvPr id="30" name="bd_110"/>
          <p:cNvSpPr/>
          <p:nvPr/>
        </p:nvSpPr>
        <p:spPr>
          <a:xfrm>
            <a:off x="3246120" y="3090672"/>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31" name="q_111"/>
          <p:cNvSpPr/>
          <p:nvPr/>
        </p:nvSpPr>
        <p:spPr>
          <a:xfrm>
            <a:off x="3630168" y="3063240"/>
            <a:ext cx="2103120" cy="365760"/>
          </a:xfrm>
          <a:prstGeom prst="roundRect">
            <a:avLst>
              <a:gd name="adj" fmla="val 25000"/>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950" b="1" dirty="0">
                <a:solidFill>
                  <a:srgbClr val="1B2559"/>
                </a:solidFill>
                <a:latin typeface="Segoe UI Semibold" pitchFamily="34" charset="0"/>
                <a:ea typeface="Segoe UI Semibold" pitchFamily="34" charset="-122"/>
                <a:cs typeface="Segoe UI Semibold" pitchFamily="34" charset="-120"/>
              </a:rPr>
              <a:t>grandfather / great-grandfather</a:t>
            </a:r>
            <a:endParaRPr lang="en-US" sz="950" dirty="0"/>
          </a:p>
        </p:txBody>
      </p:sp>
      <p:sp>
        <p:nvSpPr>
          <p:cNvPr id="32" name="R5_chip112"/>
          <p:cNvSpPr/>
          <p:nvPr/>
        </p:nvSpPr>
        <p:spPr>
          <a:xfrm>
            <a:off x="5806440" y="3063240"/>
            <a:ext cx="3063240" cy="365760"/>
          </a:xfrm>
          <a:prstGeom prst="roundRect">
            <a:avLst>
              <a:gd name="adj" fmla="val 25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950" b="1" dirty="0">
                <a:solidFill>
                  <a:srgbClr val="1B2559"/>
                </a:solidFill>
                <a:latin typeface="Segoe UI Semibold" pitchFamily="34" charset="0"/>
                <a:ea typeface="Segoe UI Semibold" pitchFamily="34" charset="-122"/>
                <a:cs typeface="Segoe UI Semibold" pitchFamily="34" charset="-120"/>
              </a:rPr>
              <a:t>great-grandfather = your grandparent's father</a:t>
            </a:r>
            <a:endParaRPr lang="en-US" sz="950" dirty="0"/>
          </a:p>
        </p:txBody>
      </p:sp>
      <p:sp>
        <p:nvSpPr>
          <p:cNvPr id="33" name="bd_113"/>
          <p:cNvSpPr/>
          <p:nvPr/>
        </p:nvSpPr>
        <p:spPr>
          <a:xfrm>
            <a:off x="3246120" y="3502152"/>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6</a:t>
            </a:r>
            <a:endParaRPr lang="en-US" sz="1000" dirty="0"/>
          </a:p>
        </p:txBody>
      </p:sp>
      <p:sp>
        <p:nvSpPr>
          <p:cNvPr id="34" name="q_114"/>
          <p:cNvSpPr/>
          <p:nvPr/>
        </p:nvSpPr>
        <p:spPr>
          <a:xfrm>
            <a:off x="3630168" y="3474720"/>
            <a:ext cx="2103120" cy="365760"/>
          </a:xfrm>
          <a:prstGeom prst="roundRect">
            <a:avLst>
              <a:gd name="adj" fmla="val 25000"/>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950" b="1" dirty="0">
                <a:solidFill>
                  <a:srgbClr val="1B2559"/>
                </a:solidFill>
                <a:latin typeface="Segoe UI Semibold" pitchFamily="34" charset="0"/>
                <a:ea typeface="Segoe UI Semibold" pitchFamily="34" charset="-122"/>
                <a:cs typeface="Segoe UI Semibold" pitchFamily="34" charset="-120"/>
              </a:rPr>
              <a:t>adopted child / only child</a:t>
            </a:r>
            <a:endParaRPr lang="en-US" sz="950" dirty="0"/>
          </a:p>
        </p:txBody>
      </p:sp>
      <p:sp>
        <p:nvSpPr>
          <p:cNvPr id="35" name="R6_chip115"/>
          <p:cNvSpPr/>
          <p:nvPr/>
        </p:nvSpPr>
        <p:spPr>
          <a:xfrm>
            <a:off x="5806440" y="3474720"/>
            <a:ext cx="3063240" cy="365760"/>
          </a:xfrm>
          <a:prstGeom prst="roundRect">
            <a:avLst>
              <a:gd name="adj" fmla="val 25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950" b="1" dirty="0">
                <a:solidFill>
                  <a:srgbClr val="1B2559"/>
                </a:solidFill>
                <a:latin typeface="Segoe UI Semibold" pitchFamily="34" charset="0"/>
                <a:ea typeface="Segoe UI Semibold" pitchFamily="34" charset="-122"/>
                <a:cs typeface="Segoe UI Semibold" pitchFamily="34" charset="-120"/>
              </a:rPr>
              <a:t>joined a new family / no brothers or sisters</a:t>
            </a:r>
            <a:endParaRPr lang="en-US" sz="950" dirty="0"/>
          </a:p>
        </p:txBody>
      </p:sp>
      <p:sp>
        <p:nvSpPr>
          <p:cNvPr id="36" name="bd_116"/>
          <p:cNvSpPr/>
          <p:nvPr/>
        </p:nvSpPr>
        <p:spPr>
          <a:xfrm>
            <a:off x="3246120" y="3913632"/>
            <a:ext cx="310896" cy="310896"/>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7</a:t>
            </a:r>
            <a:endParaRPr lang="en-US" sz="1000" dirty="0"/>
          </a:p>
        </p:txBody>
      </p:sp>
      <p:sp>
        <p:nvSpPr>
          <p:cNvPr id="37" name="q_117"/>
          <p:cNvSpPr/>
          <p:nvPr/>
        </p:nvSpPr>
        <p:spPr>
          <a:xfrm>
            <a:off x="3630168" y="3886200"/>
            <a:ext cx="2103120" cy="365760"/>
          </a:xfrm>
          <a:prstGeom prst="roundRect">
            <a:avLst>
              <a:gd name="adj" fmla="val 25000"/>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950" b="1" dirty="0">
                <a:solidFill>
                  <a:srgbClr val="1B2559"/>
                </a:solidFill>
                <a:latin typeface="Segoe UI Semibold" pitchFamily="34" charset="0"/>
                <a:ea typeface="Segoe UI Semibold" pitchFamily="34" charset="-122"/>
                <a:cs typeface="Segoe UI Semibold" pitchFamily="34" charset="-120"/>
              </a:rPr>
              <a:t>brothers and sisters / siblings</a:t>
            </a:r>
            <a:endParaRPr lang="en-US" sz="950" dirty="0"/>
          </a:p>
        </p:txBody>
      </p:sp>
      <p:sp>
        <p:nvSpPr>
          <p:cNvPr id="38" name="R7_chip118"/>
          <p:cNvSpPr/>
          <p:nvPr/>
        </p:nvSpPr>
        <p:spPr>
          <a:xfrm>
            <a:off x="5806440" y="3886200"/>
            <a:ext cx="3063240" cy="365760"/>
          </a:xfrm>
          <a:prstGeom prst="roundRect">
            <a:avLst>
              <a:gd name="adj" fmla="val 25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950" b="1" dirty="0">
                <a:solidFill>
                  <a:srgbClr val="1B2559"/>
                </a:solidFill>
                <a:latin typeface="Segoe UI Semibold" pitchFamily="34" charset="0"/>
                <a:ea typeface="Segoe UI Semibold" pitchFamily="34" charset="-122"/>
                <a:cs typeface="Segoe UI Semibold" pitchFamily="34" charset="-120"/>
              </a:rPr>
              <a:t>same meaning · siblings is more formal</a:t>
            </a:r>
            <a:endParaRPr lang="en-US" sz="950" dirty="0"/>
          </a:p>
        </p:txBody>
      </p:sp>
      <p:sp>
        <p:nvSpPr>
          <p:cNvPr id="39" name="bd_119"/>
          <p:cNvSpPr/>
          <p:nvPr/>
        </p:nvSpPr>
        <p:spPr>
          <a:xfrm>
            <a:off x="3246120" y="4325112"/>
            <a:ext cx="310896" cy="310896"/>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8</a:t>
            </a:r>
            <a:endParaRPr lang="en-US" sz="1000" dirty="0"/>
          </a:p>
        </p:txBody>
      </p:sp>
      <p:sp>
        <p:nvSpPr>
          <p:cNvPr id="40" name="q_120"/>
          <p:cNvSpPr/>
          <p:nvPr/>
        </p:nvSpPr>
        <p:spPr>
          <a:xfrm>
            <a:off x="3630168" y="4297680"/>
            <a:ext cx="2103120" cy="365760"/>
          </a:xfrm>
          <a:prstGeom prst="roundRect">
            <a:avLst>
              <a:gd name="adj" fmla="val 25000"/>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950" b="1" dirty="0">
                <a:solidFill>
                  <a:srgbClr val="1B2559"/>
                </a:solidFill>
                <a:latin typeface="Segoe UI Semibold" pitchFamily="34" charset="0"/>
                <a:ea typeface="Segoe UI Semibold" pitchFamily="34" charset="-122"/>
                <a:cs typeface="Segoe UI Semibold" pitchFamily="34" charset="-120"/>
              </a:rPr>
              <a:t>immediate / extended family</a:t>
            </a:r>
            <a:endParaRPr lang="en-US" sz="950" dirty="0"/>
          </a:p>
        </p:txBody>
      </p:sp>
      <p:sp>
        <p:nvSpPr>
          <p:cNvPr id="41" name="R8_chip121"/>
          <p:cNvSpPr/>
          <p:nvPr/>
        </p:nvSpPr>
        <p:spPr>
          <a:xfrm>
            <a:off x="5806440" y="4297680"/>
            <a:ext cx="3063240" cy="365760"/>
          </a:xfrm>
          <a:prstGeom prst="roundRect">
            <a:avLst>
              <a:gd name="adj" fmla="val 25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950" b="1" dirty="0">
                <a:solidFill>
                  <a:srgbClr val="1B2559"/>
                </a:solidFill>
                <a:latin typeface="Segoe UI Semibold" pitchFamily="34" charset="0"/>
                <a:ea typeface="Segoe UI Semibold" pitchFamily="34" charset="-122"/>
                <a:cs typeface="Segoe UI Semibold" pitchFamily="34" charset="-120"/>
              </a:rPr>
              <a:t>parents, children, siblings / uncles, cousins, grandparents…</a:t>
            </a:r>
            <a:endParaRPr lang="en-US" sz="9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4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fade">
                                      <p:cBhvr>
                                        <p:cTn id="17" dur="400"/>
                                        <p:tgtEl>
                                          <p:spTgt spid="2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400"/>
                                        <p:tgtEl>
                                          <p:spTgt spid="2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fade">
                                      <p:cBhvr>
                                        <p:cTn id="27" dur="400"/>
                                        <p:tgtEl>
                                          <p:spTgt spid="3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5"/>
                                        </p:tgtEl>
                                        <p:attrNameLst>
                                          <p:attrName>style.visibility</p:attrName>
                                        </p:attrNameLst>
                                      </p:cBhvr>
                                      <p:to>
                                        <p:strVal val="visible"/>
                                      </p:to>
                                    </p:set>
                                    <p:animEffect transition="in" filter="fade">
                                      <p:cBhvr>
                                        <p:cTn id="32" dur="400"/>
                                        <p:tgtEl>
                                          <p:spTgt spid="3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8"/>
                                        </p:tgtEl>
                                        <p:attrNameLst>
                                          <p:attrName>style.visibility</p:attrName>
                                        </p:attrNameLst>
                                      </p:cBhvr>
                                      <p:to>
                                        <p:strVal val="visible"/>
                                      </p:to>
                                    </p:set>
                                    <p:animEffect transition="in" filter="fade">
                                      <p:cBhvr>
                                        <p:cTn id="37" dur="400"/>
                                        <p:tgtEl>
                                          <p:spTgt spid="38"/>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1"/>
                                        </p:tgtEl>
                                        <p:attrNameLst>
                                          <p:attrName>style.visibility</p:attrName>
                                        </p:attrNameLst>
                                      </p:cBhvr>
                                      <p:to>
                                        <p:strVal val="visible"/>
                                      </p:to>
                                    </p:set>
                                    <p:animEffect transition="in" filter="fade">
                                      <p:cBhvr>
                                        <p:cTn id="42" dur="4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22"/>
          <p:cNvSpPr/>
          <p:nvPr/>
        </p:nvSpPr>
        <p:spPr>
          <a:xfrm>
            <a:off x="201168" y="164592"/>
            <a:ext cx="841248" cy="841248"/>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5</a:t>
            </a:r>
            <a:endParaRPr lang="en-US" sz="2800" dirty="0"/>
          </a:p>
        </p:txBody>
      </p:sp>
      <p:pic>
        <p:nvPicPr>
          <p:cNvPr id="4" name="brY_123" descr="/home/claude/lls-course/v2/assets/brush-yellow.png">    </p:cNvPr>
          <p:cNvPicPr>
            <a:picLocks noChangeAspect="1"/>
          </p:cNvPicPr>
          <p:nvPr/>
        </p:nvPicPr>
        <p:blipFill>
          <a:blip r:embed="rId2"/>
          <a:stretch>
            <a:fillRect/>
          </a:stretch>
        </p:blipFill>
        <p:spPr>
          <a:xfrm>
            <a:off x="1097280" y="146304"/>
            <a:ext cx="4348886" cy="621792"/>
          </a:xfrm>
          <a:prstGeom prst="rect">
            <a:avLst/>
          </a:prstGeom>
        </p:spPr>
      </p:pic>
      <p:sp>
        <p:nvSpPr>
          <p:cNvPr id="5" name="title_124"/>
          <p:cNvSpPr/>
          <p:nvPr/>
        </p:nvSpPr>
        <p:spPr>
          <a:xfrm>
            <a:off x="1261872" y="164592"/>
            <a:ext cx="4074566"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Family words in Italian</a:t>
            </a:r>
            <a:endParaRPr lang="en-US" sz="2500" dirty="0"/>
          </a:p>
        </p:txBody>
      </p:sp>
      <p:pic>
        <p:nvPicPr>
          <p:cNvPr id="6" name="brP_125" descr="/home/claude/lls-course/v2/assets/brush-pink.png">    </p:cNvPr>
          <p:cNvPicPr>
            <a:picLocks noChangeAspect="1"/>
          </p:cNvPicPr>
          <p:nvPr/>
        </p:nvPicPr>
        <p:blipFill>
          <a:blip r:embed="rId3"/>
          <a:stretch>
            <a:fillRect/>
          </a:stretch>
        </p:blipFill>
        <p:spPr>
          <a:xfrm>
            <a:off x="1207008" y="731520"/>
            <a:ext cx="3337560" cy="402336"/>
          </a:xfrm>
          <a:prstGeom prst="rect">
            <a:avLst/>
          </a:prstGeom>
        </p:spPr>
      </p:pic>
      <p:sp>
        <p:nvSpPr>
          <p:cNvPr id="7" name="ins_126"/>
          <p:cNvSpPr/>
          <p:nvPr/>
        </p:nvSpPr>
        <p:spPr>
          <a:xfrm>
            <a:off x="1353312" y="731520"/>
            <a:ext cx="308152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Say it in Italian. Then click!</a:t>
            </a:r>
            <a:endParaRPr lang="en-US" sz="1250" dirty="0"/>
          </a:p>
        </p:txBody>
      </p:sp>
      <p:sp>
        <p:nvSpPr>
          <p:cNvPr id="8" name="insIT_127"/>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Dillo in italiano. Poi clicca!</a:t>
            </a:r>
            <a:endParaRPr lang="en-US" sz="950" dirty="0"/>
          </a:p>
        </p:txBody>
      </p:sp>
      <p:sp>
        <p:nvSpPr>
          <p:cNvPr id="9" name="note_128"/>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CHECK</a:t>
            </a:r>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 CONTROLLA</a:t>
            </a:r>
            <a:endParaRPr lang="en-US" sz="12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2 min   🙋 whole class</a:t>
            </a:r>
            <a:endParaRPr lang="en-US" sz="12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Vocabulary · TPRS · meaning</a:t>
            </a:r>
            <a:endParaRPr lang="en-US" sz="1250" dirty="0"/>
          </a:p>
        </p:txBody>
      </p:sp>
      <p:pic>
        <p:nvPicPr>
          <p:cNvPr id="10" name="logo_129"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130"/>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1B-1 · Vocabulary · in Italian</a:t>
            </a:r>
            <a:endParaRPr lang="en-US" sz="800" dirty="0"/>
          </a:p>
        </p:txBody>
      </p:sp>
      <p:sp>
        <p:nvSpPr>
          <p:cNvPr id="12" name="cd_131"/>
          <p:cNvSpPr/>
          <p:nvPr/>
        </p:nvSpPr>
        <p:spPr>
          <a:xfrm>
            <a:off x="320040" y="1417320"/>
            <a:ext cx="2075688" cy="731520"/>
          </a:xfrm>
          <a:prstGeom prst="roundRect">
            <a:avLst>
              <a:gd name="adj" fmla="val 17500"/>
            </a:avLst>
          </a:prstGeom>
          <a:solidFill>
            <a:srgbClr val="FFFFFF"/>
          </a:solidFill>
          <a:ln w="28575">
            <a:solidFill>
              <a:srgbClr val="F7A6C4"/>
            </a:solidFill>
            <a:prstDash val="solid"/>
          </a:ln>
          <a:effectLst>
            <a:outerShdw sx="100000" sy="100000" kx="0" ky="0" algn="bl" rotWithShape="0" blurRad="88900" dist="31750" dir="5400000">
              <a:srgbClr val="1B2559">
                <a:alpha val="12000"/>
              </a:srgbClr>
            </a:outerShdw>
          </a:effectLst>
        </p:spPr>
      </p:sp>
      <p:sp>
        <p:nvSpPr>
          <p:cNvPr id="13" name="e_132"/>
          <p:cNvSpPr/>
          <p:nvPr/>
        </p:nvSpPr>
        <p:spPr>
          <a:xfrm>
            <a:off x="393192" y="1527048"/>
            <a:ext cx="512064" cy="512064"/>
          </a:xfrm>
          <a:prstGeom prst="ellipse">
            <a:avLst/>
          </a:prstGeom>
          <a:solidFill>
            <a:srgbClr val="FFE3EE"/>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4" name="en_133"/>
          <p:cNvSpPr/>
          <p:nvPr/>
        </p:nvSpPr>
        <p:spPr>
          <a:xfrm>
            <a:off x="978408"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stepmother</a:t>
            </a:r>
            <a:endParaRPr lang="en-US" sz="1200" dirty="0"/>
          </a:p>
        </p:txBody>
      </p:sp>
      <p:sp>
        <p:nvSpPr>
          <p:cNvPr id="15" name="R1_it134"/>
          <p:cNvSpPr/>
          <p:nvPr/>
        </p:nvSpPr>
        <p:spPr>
          <a:xfrm>
            <a:off x="978408" y="180136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matrigna</a:t>
            </a:r>
            <a:endParaRPr lang="en-US" sz="1000" dirty="0"/>
          </a:p>
        </p:txBody>
      </p:sp>
      <p:sp>
        <p:nvSpPr>
          <p:cNvPr id="16" name="cd_135"/>
          <p:cNvSpPr/>
          <p:nvPr/>
        </p:nvSpPr>
        <p:spPr>
          <a:xfrm>
            <a:off x="2487168" y="1417320"/>
            <a:ext cx="2075688" cy="731520"/>
          </a:xfrm>
          <a:prstGeom prst="roundRect">
            <a:avLst>
              <a:gd name="adj" fmla="val 17500"/>
            </a:avLst>
          </a:prstGeom>
          <a:solidFill>
            <a:srgbClr val="FFFFFF"/>
          </a:solidFill>
          <a:ln w="28575">
            <a:solidFill>
              <a:srgbClr val="A9D3F5"/>
            </a:solidFill>
            <a:prstDash val="solid"/>
          </a:ln>
          <a:effectLst>
            <a:outerShdw sx="100000" sy="100000" kx="0" ky="0" algn="bl" rotWithShape="0" blurRad="88900" dist="31750" dir="5400000">
              <a:srgbClr val="1B2559">
                <a:alpha val="12000"/>
              </a:srgbClr>
            </a:outerShdw>
          </a:effectLst>
        </p:spPr>
      </p:sp>
      <p:sp>
        <p:nvSpPr>
          <p:cNvPr id="17" name="e_136"/>
          <p:cNvSpPr/>
          <p:nvPr/>
        </p:nvSpPr>
        <p:spPr>
          <a:xfrm>
            <a:off x="2560320" y="1527048"/>
            <a:ext cx="512064" cy="512064"/>
          </a:xfrm>
          <a:prstGeom prst="ellipse">
            <a:avLst/>
          </a:prstGeom>
          <a:solidFill>
            <a:srgbClr val="E3F1FD"/>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8" name="en_137"/>
          <p:cNvSpPr/>
          <p:nvPr/>
        </p:nvSpPr>
        <p:spPr>
          <a:xfrm>
            <a:off x="3145536"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stepfather</a:t>
            </a:r>
            <a:endParaRPr lang="en-US" sz="1200" dirty="0"/>
          </a:p>
        </p:txBody>
      </p:sp>
      <p:sp>
        <p:nvSpPr>
          <p:cNvPr id="19" name="R2_it138"/>
          <p:cNvSpPr/>
          <p:nvPr/>
        </p:nvSpPr>
        <p:spPr>
          <a:xfrm>
            <a:off x="3145536" y="180136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patrigno</a:t>
            </a:r>
            <a:endParaRPr lang="en-US" sz="1000" dirty="0"/>
          </a:p>
        </p:txBody>
      </p:sp>
      <p:sp>
        <p:nvSpPr>
          <p:cNvPr id="20" name="cd_139"/>
          <p:cNvSpPr/>
          <p:nvPr/>
        </p:nvSpPr>
        <p:spPr>
          <a:xfrm>
            <a:off x="4654296" y="1417320"/>
            <a:ext cx="2075688" cy="731520"/>
          </a:xfrm>
          <a:prstGeom prst="roundRect">
            <a:avLst>
              <a:gd name="adj" fmla="val 17500"/>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21" name="e_140"/>
          <p:cNvSpPr/>
          <p:nvPr/>
        </p:nvSpPr>
        <p:spPr>
          <a:xfrm>
            <a:off x="4727448" y="1527048"/>
            <a:ext cx="512064" cy="512064"/>
          </a:xfrm>
          <a:prstGeom prst="ellipse">
            <a:avLst/>
          </a:prstGeom>
          <a:solidFill>
            <a:srgbClr val="E3F7EA"/>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2" name="en_141"/>
          <p:cNvSpPr/>
          <p:nvPr/>
        </p:nvSpPr>
        <p:spPr>
          <a:xfrm>
            <a:off x="5312664"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stepsister</a:t>
            </a:r>
            <a:endParaRPr lang="en-US" sz="1200" dirty="0"/>
          </a:p>
        </p:txBody>
      </p:sp>
      <p:sp>
        <p:nvSpPr>
          <p:cNvPr id="23" name="R3_it142"/>
          <p:cNvSpPr/>
          <p:nvPr/>
        </p:nvSpPr>
        <p:spPr>
          <a:xfrm>
            <a:off x="5312664" y="1801368"/>
            <a:ext cx="1362456" cy="292608"/>
          </a:xfrm>
          <a:prstGeom prst="rect">
            <a:avLst/>
          </a:prstGeom>
          <a:noFill/>
          <a:ln/>
        </p:spPr>
        <p:txBody>
          <a:bodyPr wrap="square" lIns="0" tIns="0" rIns="0" bIns="0" rtlCol="0" anchor="ctr">
            <a:normAutofit/>
          </a:bodyPr>
          <a:lstStyle/>
          <a:p>
            <a:pPr indent="0" marL="0">
              <a:buNone/>
            </a:pPr>
            <a:r>
              <a:rPr lang="en-US" sz="800" i="1" dirty="0">
                <a:solidFill>
                  <a:srgbClr val="2EB872"/>
                </a:solidFill>
                <a:latin typeface="Segoe UI Semibold" pitchFamily="34" charset="0"/>
                <a:ea typeface="Segoe UI Semibold" pitchFamily="34" charset="-122"/>
                <a:cs typeface="Segoe UI Semibold" pitchFamily="34" charset="-120"/>
              </a:rPr>
              <a:t>sorellastra (nessun genitore in comune)</a:t>
            </a:r>
            <a:endParaRPr lang="en-US" sz="800" dirty="0"/>
          </a:p>
        </p:txBody>
      </p:sp>
      <p:sp>
        <p:nvSpPr>
          <p:cNvPr id="24" name="cd_143"/>
          <p:cNvSpPr/>
          <p:nvPr/>
        </p:nvSpPr>
        <p:spPr>
          <a:xfrm>
            <a:off x="6821424" y="1417320"/>
            <a:ext cx="2075688" cy="731520"/>
          </a:xfrm>
          <a:prstGeom prst="roundRect">
            <a:avLst>
              <a:gd name="adj" fmla="val 17500"/>
            </a:avLst>
          </a:prstGeom>
          <a:solidFill>
            <a:srgbClr val="FFFFFF"/>
          </a:solidFill>
          <a:ln w="28575">
            <a:solidFill>
              <a:srgbClr val="FFE07A"/>
            </a:solidFill>
            <a:prstDash val="solid"/>
          </a:ln>
          <a:effectLst>
            <a:outerShdw sx="100000" sy="100000" kx="0" ky="0" algn="bl" rotWithShape="0" blurRad="88900" dist="31750" dir="5400000">
              <a:srgbClr val="1B2559">
                <a:alpha val="12000"/>
              </a:srgbClr>
            </a:outerShdw>
          </a:effectLst>
        </p:spPr>
      </p:sp>
      <p:sp>
        <p:nvSpPr>
          <p:cNvPr id="25" name="e_144"/>
          <p:cNvSpPr/>
          <p:nvPr/>
        </p:nvSpPr>
        <p:spPr>
          <a:xfrm>
            <a:off x="6894576" y="1527048"/>
            <a:ext cx="512064" cy="512064"/>
          </a:xfrm>
          <a:prstGeom prst="ellipse">
            <a:avLst/>
          </a:prstGeom>
          <a:solidFill>
            <a:srgbClr val="FFF6CC"/>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6" name="en_145"/>
          <p:cNvSpPr/>
          <p:nvPr/>
        </p:nvSpPr>
        <p:spPr>
          <a:xfrm>
            <a:off x="7479792"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half-sister</a:t>
            </a:r>
            <a:endParaRPr lang="en-US" sz="1200" dirty="0"/>
          </a:p>
        </p:txBody>
      </p:sp>
      <p:sp>
        <p:nvSpPr>
          <p:cNvPr id="27" name="R4_it146"/>
          <p:cNvSpPr/>
          <p:nvPr/>
        </p:nvSpPr>
        <p:spPr>
          <a:xfrm>
            <a:off x="7479792" y="1801368"/>
            <a:ext cx="1362456" cy="292608"/>
          </a:xfrm>
          <a:prstGeom prst="rect">
            <a:avLst/>
          </a:prstGeom>
          <a:noFill/>
          <a:ln/>
        </p:spPr>
        <p:txBody>
          <a:bodyPr wrap="square" lIns="0" tIns="0" rIns="0" bIns="0" rtlCol="0" anchor="ctr">
            <a:normAutofit/>
          </a:bodyPr>
          <a:lstStyle/>
          <a:p>
            <a:pPr indent="0" marL="0">
              <a:buNone/>
            </a:pPr>
            <a:r>
              <a:rPr lang="en-US" sz="800" i="1" dirty="0">
                <a:solidFill>
                  <a:srgbClr val="2EB872"/>
                </a:solidFill>
                <a:latin typeface="Segoe UI Semibold" pitchFamily="34" charset="0"/>
                <a:ea typeface="Segoe UI Semibold" pitchFamily="34" charset="-122"/>
                <a:cs typeface="Segoe UI Semibold" pitchFamily="34" charset="-120"/>
              </a:rPr>
              <a:t>sorella da parte di padre / madre</a:t>
            </a:r>
            <a:endParaRPr lang="en-US" sz="800" dirty="0"/>
          </a:p>
        </p:txBody>
      </p:sp>
      <p:sp>
        <p:nvSpPr>
          <p:cNvPr id="28" name="cd_147"/>
          <p:cNvSpPr/>
          <p:nvPr/>
        </p:nvSpPr>
        <p:spPr>
          <a:xfrm>
            <a:off x="320040" y="2240280"/>
            <a:ext cx="2075688" cy="731520"/>
          </a:xfrm>
          <a:prstGeom prst="roundRect">
            <a:avLst>
              <a:gd name="adj" fmla="val 17500"/>
            </a:avLst>
          </a:prstGeom>
          <a:solidFill>
            <a:srgbClr val="FFFFFF"/>
          </a:solidFill>
          <a:ln w="28575">
            <a:solidFill>
              <a:srgbClr val="F7A6C4"/>
            </a:solidFill>
            <a:prstDash val="solid"/>
          </a:ln>
          <a:effectLst>
            <a:outerShdw sx="100000" sy="100000" kx="0" ky="0" algn="bl" rotWithShape="0" blurRad="88900" dist="31750" dir="5400000">
              <a:srgbClr val="1B2559">
                <a:alpha val="12000"/>
              </a:srgbClr>
            </a:outerShdw>
          </a:effectLst>
        </p:spPr>
      </p:sp>
      <p:sp>
        <p:nvSpPr>
          <p:cNvPr id="29" name="e_148"/>
          <p:cNvSpPr/>
          <p:nvPr/>
        </p:nvSpPr>
        <p:spPr>
          <a:xfrm>
            <a:off x="393192" y="2350008"/>
            <a:ext cx="512064" cy="512064"/>
          </a:xfrm>
          <a:prstGeom prst="ellipse">
            <a:avLst/>
          </a:prstGeom>
          <a:solidFill>
            <a:srgbClr val="FFE3EE"/>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0" name="en_149"/>
          <p:cNvSpPr/>
          <p:nvPr/>
        </p:nvSpPr>
        <p:spPr>
          <a:xfrm>
            <a:off x="978408" y="229514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brother-in-law</a:t>
            </a:r>
            <a:endParaRPr lang="en-US" sz="1200" dirty="0"/>
          </a:p>
        </p:txBody>
      </p:sp>
      <p:sp>
        <p:nvSpPr>
          <p:cNvPr id="31" name="R5_it150"/>
          <p:cNvSpPr/>
          <p:nvPr/>
        </p:nvSpPr>
        <p:spPr>
          <a:xfrm>
            <a:off x="978408" y="262432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cognato</a:t>
            </a:r>
            <a:endParaRPr lang="en-US" sz="1000" dirty="0"/>
          </a:p>
        </p:txBody>
      </p:sp>
      <p:sp>
        <p:nvSpPr>
          <p:cNvPr id="32" name="cd_151"/>
          <p:cNvSpPr/>
          <p:nvPr/>
        </p:nvSpPr>
        <p:spPr>
          <a:xfrm>
            <a:off x="2487168" y="2240280"/>
            <a:ext cx="2075688" cy="731520"/>
          </a:xfrm>
          <a:prstGeom prst="roundRect">
            <a:avLst>
              <a:gd name="adj" fmla="val 17500"/>
            </a:avLst>
          </a:prstGeom>
          <a:solidFill>
            <a:srgbClr val="FFFFFF"/>
          </a:solidFill>
          <a:ln w="28575">
            <a:solidFill>
              <a:srgbClr val="A9D3F5"/>
            </a:solidFill>
            <a:prstDash val="solid"/>
          </a:ln>
          <a:effectLst>
            <a:outerShdw sx="100000" sy="100000" kx="0" ky="0" algn="bl" rotWithShape="0" blurRad="88900" dist="31750" dir="5400000">
              <a:srgbClr val="1B2559">
                <a:alpha val="12000"/>
              </a:srgbClr>
            </a:outerShdw>
          </a:effectLst>
        </p:spPr>
      </p:sp>
      <p:sp>
        <p:nvSpPr>
          <p:cNvPr id="33" name="e_152"/>
          <p:cNvSpPr/>
          <p:nvPr/>
        </p:nvSpPr>
        <p:spPr>
          <a:xfrm>
            <a:off x="2560320" y="2350008"/>
            <a:ext cx="512064" cy="512064"/>
          </a:xfrm>
          <a:prstGeom prst="ellipse">
            <a:avLst/>
          </a:prstGeom>
          <a:solidFill>
            <a:srgbClr val="E3F1FD"/>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4" name="en_153"/>
          <p:cNvSpPr/>
          <p:nvPr/>
        </p:nvSpPr>
        <p:spPr>
          <a:xfrm>
            <a:off x="3145536" y="229514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sister-in-law</a:t>
            </a:r>
            <a:endParaRPr lang="en-US" sz="1200" dirty="0"/>
          </a:p>
        </p:txBody>
      </p:sp>
      <p:sp>
        <p:nvSpPr>
          <p:cNvPr id="35" name="R6_it154"/>
          <p:cNvSpPr/>
          <p:nvPr/>
        </p:nvSpPr>
        <p:spPr>
          <a:xfrm>
            <a:off x="3145536" y="262432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cognata</a:t>
            </a:r>
            <a:endParaRPr lang="en-US" sz="1000" dirty="0"/>
          </a:p>
        </p:txBody>
      </p:sp>
      <p:sp>
        <p:nvSpPr>
          <p:cNvPr id="36" name="cd_155"/>
          <p:cNvSpPr/>
          <p:nvPr/>
        </p:nvSpPr>
        <p:spPr>
          <a:xfrm>
            <a:off x="4654296" y="2240280"/>
            <a:ext cx="2075688" cy="731520"/>
          </a:xfrm>
          <a:prstGeom prst="roundRect">
            <a:avLst>
              <a:gd name="adj" fmla="val 17500"/>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37" name="e_156"/>
          <p:cNvSpPr/>
          <p:nvPr/>
        </p:nvSpPr>
        <p:spPr>
          <a:xfrm>
            <a:off x="4727448" y="2350008"/>
            <a:ext cx="512064" cy="512064"/>
          </a:xfrm>
          <a:prstGeom prst="ellipse">
            <a:avLst/>
          </a:prstGeom>
          <a:solidFill>
            <a:srgbClr val="E3F7EA"/>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8" name="en_157"/>
          <p:cNvSpPr/>
          <p:nvPr/>
        </p:nvSpPr>
        <p:spPr>
          <a:xfrm>
            <a:off x="5312664" y="229514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great-grandfather</a:t>
            </a:r>
            <a:endParaRPr lang="en-US" sz="1200" dirty="0"/>
          </a:p>
        </p:txBody>
      </p:sp>
      <p:sp>
        <p:nvSpPr>
          <p:cNvPr id="39" name="R7_it158"/>
          <p:cNvSpPr/>
          <p:nvPr/>
        </p:nvSpPr>
        <p:spPr>
          <a:xfrm>
            <a:off x="5312664" y="262432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bisnonno</a:t>
            </a:r>
            <a:endParaRPr lang="en-US" sz="1000" dirty="0"/>
          </a:p>
        </p:txBody>
      </p:sp>
      <p:sp>
        <p:nvSpPr>
          <p:cNvPr id="40" name="cd_159"/>
          <p:cNvSpPr/>
          <p:nvPr/>
        </p:nvSpPr>
        <p:spPr>
          <a:xfrm>
            <a:off x="6821424" y="2240280"/>
            <a:ext cx="2075688" cy="731520"/>
          </a:xfrm>
          <a:prstGeom prst="roundRect">
            <a:avLst>
              <a:gd name="adj" fmla="val 17500"/>
            </a:avLst>
          </a:prstGeom>
          <a:solidFill>
            <a:srgbClr val="FFFFFF"/>
          </a:solidFill>
          <a:ln w="28575">
            <a:solidFill>
              <a:srgbClr val="FFE07A"/>
            </a:solidFill>
            <a:prstDash val="solid"/>
          </a:ln>
          <a:effectLst>
            <a:outerShdw sx="100000" sy="100000" kx="0" ky="0" algn="bl" rotWithShape="0" blurRad="88900" dist="31750" dir="5400000">
              <a:srgbClr val="1B2559">
                <a:alpha val="12000"/>
              </a:srgbClr>
            </a:outerShdw>
          </a:effectLst>
        </p:spPr>
      </p:sp>
      <p:sp>
        <p:nvSpPr>
          <p:cNvPr id="41" name="e_160"/>
          <p:cNvSpPr/>
          <p:nvPr/>
        </p:nvSpPr>
        <p:spPr>
          <a:xfrm>
            <a:off x="6894576" y="2350008"/>
            <a:ext cx="512064" cy="512064"/>
          </a:xfrm>
          <a:prstGeom prst="ellipse">
            <a:avLst/>
          </a:prstGeom>
          <a:solidFill>
            <a:srgbClr val="FFF6CC"/>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42" name="en_161"/>
          <p:cNvSpPr/>
          <p:nvPr/>
        </p:nvSpPr>
        <p:spPr>
          <a:xfrm>
            <a:off x="7479792" y="229514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only child</a:t>
            </a:r>
            <a:endParaRPr lang="en-US" sz="1200" dirty="0"/>
          </a:p>
        </p:txBody>
      </p:sp>
      <p:sp>
        <p:nvSpPr>
          <p:cNvPr id="43" name="R8_it162"/>
          <p:cNvSpPr/>
          <p:nvPr/>
        </p:nvSpPr>
        <p:spPr>
          <a:xfrm>
            <a:off x="7479792" y="2624328"/>
            <a:ext cx="1362456" cy="292608"/>
          </a:xfrm>
          <a:prstGeom prst="rect">
            <a:avLst/>
          </a:prstGeom>
          <a:noFill/>
          <a:ln/>
        </p:spPr>
        <p:txBody>
          <a:bodyPr wrap="square" lIns="0" tIns="0" rIns="0" bIns="0" rtlCol="0" anchor="ctr">
            <a:normAutofit/>
          </a:bodyPr>
          <a:lstStyle/>
          <a:p>
            <a:pPr indent="0" marL="0">
              <a:buNone/>
            </a:pPr>
            <a:r>
              <a:rPr lang="en-US" sz="800" i="1" dirty="0">
                <a:solidFill>
                  <a:srgbClr val="2EB872"/>
                </a:solidFill>
                <a:latin typeface="Segoe UI Semibold" pitchFamily="34" charset="0"/>
                <a:ea typeface="Segoe UI Semibold" pitchFamily="34" charset="-122"/>
                <a:cs typeface="Segoe UI Semibold" pitchFamily="34" charset="-120"/>
              </a:rPr>
              <a:t>figlio unico / figlia unica</a:t>
            </a:r>
            <a:endParaRPr lang="en-US" sz="800" dirty="0"/>
          </a:p>
        </p:txBody>
      </p:sp>
      <p:sp>
        <p:nvSpPr>
          <p:cNvPr id="44" name="cd_163"/>
          <p:cNvSpPr/>
          <p:nvPr/>
        </p:nvSpPr>
        <p:spPr>
          <a:xfrm>
            <a:off x="320040" y="3063240"/>
            <a:ext cx="2075688" cy="731520"/>
          </a:xfrm>
          <a:prstGeom prst="roundRect">
            <a:avLst>
              <a:gd name="adj" fmla="val 17500"/>
            </a:avLst>
          </a:prstGeom>
          <a:solidFill>
            <a:srgbClr val="FFFFFF"/>
          </a:solidFill>
          <a:ln w="28575">
            <a:solidFill>
              <a:srgbClr val="F7A6C4"/>
            </a:solidFill>
            <a:prstDash val="solid"/>
          </a:ln>
          <a:effectLst>
            <a:outerShdw sx="100000" sy="100000" kx="0" ky="0" algn="bl" rotWithShape="0" blurRad="88900" dist="31750" dir="5400000">
              <a:srgbClr val="1B2559">
                <a:alpha val="12000"/>
              </a:srgbClr>
            </a:outerShdw>
          </a:effectLst>
        </p:spPr>
      </p:sp>
      <p:sp>
        <p:nvSpPr>
          <p:cNvPr id="45" name="e_164"/>
          <p:cNvSpPr/>
          <p:nvPr/>
        </p:nvSpPr>
        <p:spPr>
          <a:xfrm>
            <a:off x="393192" y="3172968"/>
            <a:ext cx="512064" cy="512064"/>
          </a:xfrm>
          <a:prstGeom prst="ellipse">
            <a:avLst/>
          </a:prstGeom>
          <a:solidFill>
            <a:srgbClr val="FFE3EE"/>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46" name="en_165"/>
          <p:cNvSpPr/>
          <p:nvPr/>
        </p:nvSpPr>
        <p:spPr>
          <a:xfrm>
            <a:off x="978408" y="311810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adopted child</a:t>
            </a:r>
            <a:endParaRPr lang="en-US" sz="1200" dirty="0"/>
          </a:p>
        </p:txBody>
      </p:sp>
      <p:sp>
        <p:nvSpPr>
          <p:cNvPr id="47" name="R9_it166"/>
          <p:cNvSpPr/>
          <p:nvPr/>
        </p:nvSpPr>
        <p:spPr>
          <a:xfrm>
            <a:off x="978408" y="344728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figlio adottivo</a:t>
            </a:r>
            <a:endParaRPr lang="en-US" sz="1000" dirty="0"/>
          </a:p>
        </p:txBody>
      </p:sp>
      <p:sp>
        <p:nvSpPr>
          <p:cNvPr id="48" name="cd_167"/>
          <p:cNvSpPr/>
          <p:nvPr/>
        </p:nvSpPr>
        <p:spPr>
          <a:xfrm>
            <a:off x="2487168" y="3063240"/>
            <a:ext cx="2075688" cy="731520"/>
          </a:xfrm>
          <a:prstGeom prst="roundRect">
            <a:avLst>
              <a:gd name="adj" fmla="val 17500"/>
            </a:avLst>
          </a:prstGeom>
          <a:solidFill>
            <a:srgbClr val="FFFFFF"/>
          </a:solidFill>
          <a:ln w="28575">
            <a:solidFill>
              <a:srgbClr val="A9D3F5"/>
            </a:solidFill>
            <a:prstDash val="solid"/>
          </a:ln>
          <a:effectLst>
            <a:outerShdw sx="100000" sy="100000" kx="0" ky="0" algn="bl" rotWithShape="0" blurRad="88900" dist="31750" dir="5400000">
              <a:srgbClr val="1B2559">
                <a:alpha val="12000"/>
              </a:srgbClr>
            </a:outerShdw>
          </a:effectLst>
        </p:spPr>
      </p:sp>
      <p:sp>
        <p:nvSpPr>
          <p:cNvPr id="49" name="e_168"/>
          <p:cNvSpPr/>
          <p:nvPr/>
        </p:nvSpPr>
        <p:spPr>
          <a:xfrm>
            <a:off x="2560320" y="3172968"/>
            <a:ext cx="512064" cy="512064"/>
          </a:xfrm>
          <a:prstGeom prst="ellipse">
            <a:avLst/>
          </a:prstGeom>
          <a:solidFill>
            <a:srgbClr val="E3F1FD"/>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50" name="en_169"/>
          <p:cNvSpPr/>
          <p:nvPr/>
        </p:nvSpPr>
        <p:spPr>
          <a:xfrm>
            <a:off x="3145536" y="311810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siblings</a:t>
            </a:r>
            <a:endParaRPr lang="en-US" sz="1200" dirty="0"/>
          </a:p>
        </p:txBody>
      </p:sp>
      <p:sp>
        <p:nvSpPr>
          <p:cNvPr id="51" name="R10_it170"/>
          <p:cNvSpPr/>
          <p:nvPr/>
        </p:nvSpPr>
        <p:spPr>
          <a:xfrm>
            <a:off x="3145536" y="344728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fratelli e sorelle</a:t>
            </a:r>
            <a:endParaRPr lang="en-US" sz="1000" dirty="0"/>
          </a:p>
        </p:txBody>
      </p:sp>
      <p:sp>
        <p:nvSpPr>
          <p:cNvPr id="52" name="cd_171"/>
          <p:cNvSpPr/>
          <p:nvPr/>
        </p:nvSpPr>
        <p:spPr>
          <a:xfrm>
            <a:off x="4654296" y="3063240"/>
            <a:ext cx="2075688" cy="731520"/>
          </a:xfrm>
          <a:prstGeom prst="roundRect">
            <a:avLst>
              <a:gd name="adj" fmla="val 17500"/>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53" name="e_172"/>
          <p:cNvSpPr/>
          <p:nvPr/>
        </p:nvSpPr>
        <p:spPr>
          <a:xfrm>
            <a:off x="4727448" y="3172968"/>
            <a:ext cx="512064" cy="512064"/>
          </a:xfrm>
          <a:prstGeom prst="ellipse">
            <a:avLst/>
          </a:prstGeom>
          <a:solidFill>
            <a:srgbClr val="E3F7EA"/>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54" name="en_173"/>
          <p:cNvSpPr/>
          <p:nvPr/>
        </p:nvSpPr>
        <p:spPr>
          <a:xfrm>
            <a:off x="5312664" y="311810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nephew / niece</a:t>
            </a:r>
            <a:endParaRPr lang="en-US" sz="1200" dirty="0"/>
          </a:p>
        </p:txBody>
      </p:sp>
      <p:sp>
        <p:nvSpPr>
          <p:cNvPr id="55" name="R11_it174"/>
          <p:cNvSpPr/>
          <p:nvPr/>
        </p:nvSpPr>
        <p:spPr>
          <a:xfrm>
            <a:off x="5312664" y="344728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nipote (di zio/zia)</a:t>
            </a:r>
            <a:endParaRPr lang="en-US" sz="1000" dirty="0"/>
          </a:p>
        </p:txBody>
      </p:sp>
      <p:sp>
        <p:nvSpPr>
          <p:cNvPr id="56" name="cd_175"/>
          <p:cNvSpPr/>
          <p:nvPr/>
        </p:nvSpPr>
        <p:spPr>
          <a:xfrm>
            <a:off x="6821424" y="3063240"/>
            <a:ext cx="2075688" cy="731520"/>
          </a:xfrm>
          <a:prstGeom prst="roundRect">
            <a:avLst>
              <a:gd name="adj" fmla="val 17500"/>
            </a:avLst>
          </a:prstGeom>
          <a:solidFill>
            <a:srgbClr val="FFFFFF"/>
          </a:solidFill>
          <a:ln w="28575">
            <a:solidFill>
              <a:srgbClr val="FFE07A"/>
            </a:solidFill>
            <a:prstDash val="solid"/>
          </a:ln>
          <a:effectLst>
            <a:outerShdw sx="100000" sy="100000" kx="0" ky="0" algn="bl" rotWithShape="0" blurRad="88900" dist="31750" dir="5400000">
              <a:srgbClr val="1B2559">
                <a:alpha val="12000"/>
              </a:srgbClr>
            </a:outerShdw>
          </a:effectLst>
        </p:spPr>
      </p:sp>
      <p:sp>
        <p:nvSpPr>
          <p:cNvPr id="57" name="e_176"/>
          <p:cNvSpPr/>
          <p:nvPr/>
        </p:nvSpPr>
        <p:spPr>
          <a:xfrm>
            <a:off x="6894576" y="3172968"/>
            <a:ext cx="512064" cy="512064"/>
          </a:xfrm>
          <a:prstGeom prst="ellipse">
            <a:avLst/>
          </a:prstGeom>
          <a:solidFill>
            <a:srgbClr val="FFF6CC"/>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58" name="en_177"/>
          <p:cNvSpPr/>
          <p:nvPr/>
        </p:nvSpPr>
        <p:spPr>
          <a:xfrm>
            <a:off x="7479792" y="311810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extended family</a:t>
            </a:r>
            <a:endParaRPr lang="en-US" sz="1200" dirty="0"/>
          </a:p>
        </p:txBody>
      </p:sp>
      <p:sp>
        <p:nvSpPr>
          <p:cNvPr id="59" name="R12_it178"/>
          <p:cNvSpPr/>
          <p:nvPr/>
        </p:nvSpPr>
        <p:spPr>
          <a:xfrm>
            <a:off x="7479792" y="3447288"/>
            <a:ext cx="1362456" cy="292608"/>
          </a:xfrm>
          <a:prstGeom prst="rect">
            <a:avLst/>
          </a:prstGeom>
          <a:noFill/>
          <a:ln/>
        </p:spPr>
        <p:txBody>
          <a:bodyPr wrap="square" lIns="0" tIns="0" rIns="0" bIns="0" rtlCol="0" anchor="ctr">
            <a:normAutofit/>
          </a:bodyPr>
          <a:lstStyle/>
          <a:p>
            <a:pPr indent="0" marL="0">
              <a:buNone/>
            </a:pPr>
            <a:r>
              <a:rPr lang="en-US" sz="800" i="1" dirty="0">
                <a:solidFill>
                  <a:srgbClr val="2EB872"/>
                </a:solidFill>
                <a:latin typeface="Segoe UI Semibold" pitchFamily="34" charset="0"/>
                <a:ea typeface="Segoe UI Semibold" pitchFamily="34" charset="-122"/>
                <a:cs typeface="Segoe UI Semibold" pitchFamily="34" charset="-120"/>
              </a:rPr>
              <a:t>i parenti (zii, cugini, nonni)</a:t>
            </a:r>
            <a:endParaRPr lang="en-US" sz="800" dirty="0"/>
          </a:p>
        </p:txBody>
      </p:sp>
      <p:sp>
        <p:nvSpPr>
          <p:cNvPr id="60" name="R13_wc179"/>
          <p:cNvSpPr/>
          <p:nvPr/>
        </p:nvSpPr>
        <p:spPr>
          <a:xfrm>
            <a:off x="320040" y="3931920"/>
            <a:ext cx="8549640" cy="457200"/>
          </a:xfrm>
          <a:prstGeom prst="roundRect">
            <a:avLst>
              <a:gd name="adj" fmla="val 28000"/>
            </a:avLst>
          </a:prstGeom>
          <a:solidFill>
            <a:srgbClr val="FFE3EE"/>
          </a:solidFill>
          <a:ln w="28575">
            <a:solidFill>
              <a:srgbClr val="F7A6C4"/>
            </a:solidFill>
            <a:prstDash val="solid"/>
          </a:ln>
          <a:effectLst>
            <a:outerShdw sx="100000" sy="100000" kx="0" ky="0" algn="bl" rotWithShape="0" blurRad="88900" dist="31750" dir="5400000">
              <a:srgbClr val="1B2559">
                <a:alpha val="12000"/>
              </a:srgbClr>
            </a:outerShdw>
          </a:effectLst>
        </p:spPr>
      </p:sp>
      <p:sp>
        <p:nvSpPr>
          <p:cNvPr id="61" name="R13_w180"/>
          <p:cNvSpPr/>
          <p:nvPr/>
        </p:nvSpPr>
        <p:spPr>
          <a:xfrm>
            <a:off x="457200" y="3931920"/>
            <a:ext cx="8321040" cy="457200"/>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 Watch out!  parents = genitori  ·  relatives = parenti   |   nipote = nephew / niece OR grandson / granddaughter</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4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4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400"/>
                                        <p:tgtEl>
                                          <p:spTgt spid="3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5"/>
                                        </p:tgtEl>
                                        <p:attrNameLst>
                                          <p:attrName>style.visibility</p:attrName>
                                        </p:attrNameLst>
                                      </p:cBhvr>
                                      <p:to>
                                        <p:strVal val="visible"/>
                                      </p:to>
                                    </p:set>
                                    <p:animEffect transition="in" filter="fade">
                                      <p:cBhvr>
                                        <p:cTn id="32" dur="400"/>
                                        <p:tgtEl>
                                          <p:spTgt spid="3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9"/>
                                        </p:tgtEl>
                                        <p:attrNameLst>
                                          <p:attrName>style.visibility</p:attrName>
                                        </p:attrNameLst>
                                      </p:cBhvr>
                                      <p:to>
                                        <p:strVal val="visible"/>
                                      </p:to>
                                    </p:set>
                                    <p:animEffect transition="in" filter="fade">
                                      <p:cBhvr>
                                        <p:cTn id="37" dur="400"/>
                                        <p:tgtEl>
                                          <p:spTgt spid="3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3"/>
                                        </p:tgtEl>
                                        <p:attrNameLst>
                                          <p:attrName>style.visibility</p:attrName>
                                        </p:attrNameLst>
                                      </p:cBhvr>
                                      <p:to>
                                        <p:strVal val="visible"/>
                                      </p:to>
                                    </p:set>
                                    <p:animEffect transition="in" filter="fade">
                                      <p:cBhvr>
                                        <p:cTn id="42" dur="400"/>
                                        <p:tgtEl>
                                          <p:spTgt spid="43"/>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47"/>
                                        </p:tgtEl>
                                        <p:attrNameLst>
                                          <p:attrName>style.visibility</p:attrName>
                                        </p:attrNameLst>
                                      </p:cBhvr>
                                      <p:to>
                                        <p:strVal val="visible"/>
                                      </p:to>
                                    </p:set>
                                    <p:animEffect transition="in" filter="fade">
                                      <p:cBhvr>
                                        <p:cTn id="47" dur="400"/>
                                        <p:tgtEl>
                                          <p:spTgt spid="47"/>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51"/>
                                        </p:tgtEl>
                                        <p:attrNameLst>
                                          <p:attrName>style.visibility</p:attrName>
                                        </p:attrNameLst>
                                      </p:cBhvr>
                                      <p:to>
                                        <p:strVal val="visible"/>
                                      </p:to>
                                    </p:set>
                                    <p:animEffect transition="in" filter="fade">
                                      <p:cBhvr>
                                        <p:cTn id="52" dur="400"/>
                                        <p:tgtEl>
                                          <p:spTgt spid="51"/>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55"/>
                                        </p:tgtEl>
                                        <p:attrNameLst>
                                          <p:attrName>style.visibility</p:attrName>
                                        </p:attrNameLst>
                                      </p:cBhvr>
                                      <p:to>
                                        <p:strVal val="visible"/>
                                      </p:to>
                                    </p:set>
                                    <p:animEffect transition="in" filter="fade">
                                      <p:cBhvr>
                                        <p:cTn id="57" dur="400"/>
                                        <p:tgtEl>
                                          <p:spTgt spid="55"/>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59"/>
                                        </p:tgtEl>
                                        <p:attrNameLst>
                                          <p:attrName>style.visibility</p:attrName>
                                        </p:attrNameLst>
                                      </p:cBhvr>
                                      <p:to>
                                        <p:strVal val="visible"/>
                                      </p:to>
                                    </p:set>
                                    <p:animEffect transition="in" filter="fade">
                                      <p:cBhvr>
                                        <p:cTn id="62" dur="400"/>
                                        <p:tgtEl>
                                          <p:spTgt spid="59"/>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60"/>
                                        </p:tgtEl>
                                        <p:attrNameLst>
                                          <p:attrName>style.visibility</p:attrName>
                                        </p:attrNameLst>
                                      </p:cBhvr>
                                      <p:to>
                                        <p:strVal val="visible"/>
                                      </p:to>
                                    </p:set>
                                    <p:animEffect transition="in" filter="fade">
                                      <p:cBhvr>
                                        <p:cTn id="67" dur="400"/>
                                        <p:tgtEl>
                                          <p:spTgt spid="60"/>
                                        </p:tgtEl>
                                      </p:cBhvr>
                                    </p:animEffect>
                                  </p:childTnLst>
                                </p:cTn>
                              </p:par>
                              <p:par>
                                <p:cTn id="68" presetID="10" presetClass="entr" presetSubtype="0" fill="hold" nodeType="withEffect">
                                  <p:stCondLst>
                                    <p:cond delay="0"/>
                                  </p:stCondLst>
                                  <p:childTnLst>
                                    <p:set>
                                      <p:cBhvr>
                                        <p:cTn id="69" dur="1" fill="hold">
                                          <p:stCondLst>
                                            <p:cond delay="0"/>
                                          </p:stCondLst>
                                        </p:cTn>
                                        <p:tgtEl>
                                          <p:spTgt spid="61"/>
                                        </p:tgtEl>
                                        <p:attrNameLst>
                                          <p:attrName>style.visibility</p:attrName>
                                        </p:attrNameLst>
                                      </p:cBhvr>
                                      <p:to>
                                        <p:strVal val="visible"/>
                                      </p:to>
                                    </p:set>
                                    <p:animEffect transition="in" filter="fade">
                                      <p:cBhvr>
                                        <p:cTn id="70" dur="4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81"/>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6</a:t>
            </a:r>
            <a:endParaRPr lang="en-US" sz="2800" dirty="0"/>
          </a:p>
        </p:txBody>
      </p:sp>
      <p:pic>
        <p:nvPicPr>
          <p:cNvPr id="4" name="brY_182" descr="/home/claude/lls-course/v2/assets/brush-yellow.png">    </p:cNvPr>
          <p:cNvPicPr>
            <a:picLocks noChangeAspect="1"/>
          </p:cNvPicPr>
          <p:nvPr/>
        </p:nvPicPr>
        <p:blipFill>
          <a:blip r:embed="rId2"/>
          <a:stretch>
            <a:fillRect/>
          </a:stretch>
        </p:blipFill>
        <p:spPr>
          <a:xfrm>
            <a:off x="1097280" y="146304"/>
            <a:ext cx="5135270" cy="621792"/>
          </a:xfrm>
          <a:prstGeom prst="rect">
            <a:avLst/>
          </a:prstGeom>
        </p:spPr>
      </p:pic>
      <p:sp>
        <p:nvSpPr>
          <p:cNvPr id="5" name="title_183"/>
          <p:cNvSpPr/>
          <p:nvPr/>
        </p:nvSpPr>
        <p:spPr>
          <a:xfrm>
            <a:off x="1261872" y="164592"/>
            <a:ext cx="4860950"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Who's who at Sara's wedding?</a:t>
            </a:r>
            <a:endParaRPr lang="en-US" sz="2400" dirty="0"/>
          </a:p>
        </p:txBody>
      </p:sp>
      <p:pic>
        <p:nvPicPr>
          <p:cNvPr id="6" name="brP_184" descr="/home/claude/lls-course/v2/assets/brush-pink.png">    </p:cNvPr>
          <p:cNvPicPr>
            <a:picLocks noChangeAspect="1"/>
          </p:cNvPicPr>
          <p:nvPr/>
        </p:nvPicPr>
        <p:blipFill>
          <a:blip r:embed="rId3"/>
          <a:stretch>
            <a:fillRect/>
          </a:stretch>
        </p:blipFill>
        <p:spPr>
          <a:xfrm>
            <a:off x="1207008" y="731520"/>
            <a:ext cx="3424428" cy="402336"/>
          </a:xfrm>
          <a:prstGeom prst="rect">
            <a:avLst/>
          </a:prstGeom>
        </p:spPr>
      </p:pic>
      <p:sp>
        <p:nvSpPr>
          <p:cNvPr id="7" name="ins_185"/>
          <p:cNvSpPr/>
          <p:nvPr/>
        </p:nvSpPr>
        <p:spPr>
          <a:xfrm>
            <a:off x="1353312" y="731520"/>
            <a:ext cx="316839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Sara is the bride. Who are 1–6?</a:t>
            </a:r>
            <a:endParaRPr lang="en-US" sz="1250" dirty="0"/>
          </a:p>
        </p:txBody>
      </p:sp>
      <p:sp>
        <p:nvSpPr>
          <p:cNvPr id="8" name="insIT_186"/>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Sara è la sposa. Chi sono 1–6?</a:t>
            </a:r>
            <a:endParaRPr lang="en-US" sz="950" dirty="0"/>
          </a:p>
        </p:txBody>
      </p:sp>
      <p:sp>
        <p:nvSpPr>
          <p:cNvPr id="9" name="note_187"/>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TALK</a:t>
            </a:r>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 PARLA</a:t>
            </a:r>
            <a:endParaRPr lang="en-US" sz="12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3 min   👥 pairs</a:t>
            </a:r>
            <a:endParaRPr lang="en-US" sz="12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Vocabulary · Communicative</a:t>
            </a:r>
            <a:endParaRPr lang="en-US" sz="1250" dirty="0"/>
          </a:p>
        </p:txBody>
      </p:sp>
      <p:pic>
        <p:nvPicPr>
          <p:cNvPr id="10" name="logo_188"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189"/>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1B-1 · Vocabulary · practice   ·   📖 Practice of SB p.10 · 1a words</a:t>
            </a:r>
            <a:endParaRPr lang="en-US" sz="800" dirty="0"/>
          </a:p>
        </p:txBody>
      </p:sp>
      <p:sp>
        <p:nvSpPr>
          <p:cNvPr id="12" name="pf_190"/>
          <p:cNvSpPr/>
          <p:nvPr/>
        </p:nvSpPr>
        <p:spPr>
          <a:xfrm rot="-60000">
            <a:off x="365760" y="1417320"/>
            <a:ext cx="4937760" cy="3291840"/>
          </a:xfrm>
          <a:prstGeom prst="roundRect">
            <a:avLst>
              <a:gd name="adj" fmla="val 4722"/>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3" name="ph_191" descr="/home/claude/lls-course/v2/cache/1b1_wedding_jpg_1166x770_31.png">    </p:cNvPr>
          <p:cNvPicPr>
            <a:picLocks noChangeAspect="1"/>
          </p:cNvPicPr>
          <p:nvPr/>
        </p:nvPicPr>
        <p:blipFill>
          <a:blip r:embed="rId5"/>
          <a:stretch>
            <a:fillRect/>
          </a:stretch>
        </p:blipFill>
        <p:spPr>
          <a:xfrm rot="-60000">
            <a:off x="411480" y="1463040"/>
            <a:ext cx="4846320" cy="3200400"/>
          </a:xfrm>
          <a:prstGeom prst="rect">
            <a:avLst/>
          </a:prstGeom>
        </p:spPr>
      </p:pic>
      <p:sp>
        <p:nvSpPr>
          <p:cNvPr id="14" name="bd_192"/>
          <p:cNvSpPr/>
          <p:nvPr/>
        </p:nvSpPr>
        <p:spPr>
          <a:xfrm>
            <a:off x="2497226" y="4023360"/>
            <a:ext cx="384048" cy="3840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300" dirty="0">
                <a:solidFill>
                  <a:srgbClr val="FFFFFF"/>
                </a:solidFill>
                <a:latin typeface="Arial Rounded MT Bold" pitchFamily="34" charset="0"/>
                <a:ea typeface="Arial Rounded MT Bold" pitchFamily="34" charset="-122"/>
                <a:cs typeface="Arial Rounded MT Bold" pitchFamily="34" charset="-120"/>
              </a:rPr>
              <a:t>1</a:t>
            </a:r>
            <a:endParaRPr lang="en-US" sz="1300" dirty="0"/>
          </a:p>
        </p:txBody>
      </p:sp>
      <p:sp>
        <p:nvSpPr>
          <p:cNvPr id="15" name="bd_193"/>
          <p:cNvSpPr/>
          <p:nvPr/>
        </p:nvSpPr>
        <p:spPr>
          <a:xfrm>
            <a:off x="607162" y="2871216"/>
            <a:ext cx="384048" cy="3840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300" dirty="0">
                <a:solidFill>
                  <a:srgbClr val="FFFFFF"/>
                </a:solidFill>
                <a:latin typeface="Arial Rounded MT Bold" pitchFamily="34" charset="0"/>
                <a:ea typeface="Arial Rounded MT Bold" pitchFamily="34" charset="-122"/>
                <a:cs typeface="Arial Rounded MT Bold" pitchFamily="34" charset="-120"/>
              </a:rPr>
              <a:t>2</a:t>
            </a:r>
            <a:endParaRPr lang="en-US" sz="1300" dirty="0"/>
          </a:p>
        </p:txBody>
      </p:sp>
      <p:sp>
        <p:nvSpPr>
          <p:cNvPr id="16" name="bd_194"/>
          <p:cNvSpPr/>
          <p:nvPr/>
        </p:nvSpPr>
        <p:spPr>
          <a:xfrm>
            <a:off x="1964131" y="2871216"/>
            <a:ext cx="384048" cy="384048"/>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300" dirty="0">
                <a:solidFill>
                  <a:srgbClr val="FFFFFF"/>
                </a:solidFill>
                <a:latin typeface="Arial Rounded MT Bold" pitchFamily="34" charset="0"/>
                <a:ea typeface="Arial Rounded MT Bold" pitchFamily="34" charset="-122"/>
                <a:cs typeface="Arial Rounded MT Bold" pitchFamily="34" charset="-120"/>
              </a:rPr>
              <a:t>3</a:t>
            </a:r>
            <a:endParaRPr lang="en-US" sz="1300" dirty="0"/>
          </a:p>
        </p:txBody>
      </p:sp>
      <p:sp>
        <p:nvSpPr>
          <p:cNvPr id="17" name="bd_195"/>
          <p:cNvSpPr/>
          <p:nvPr/>
        </p:nvSpPr>
        <p:spPr>
          <a:xfrm>
            <a:off x="4581144" y="2295144"/>
            <a:ext cx="384048" cy="3840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300" dirty="0">
                <a:solidFill>
                  <a:srgbClr val="FFFFFF"/>
                </a:solidFill>
                <a:latin typeface="Arial Rounded MT Bold" pitchFamily="34" charset="0"/>
                <a:ea typeface="Arial Rounded MT Bold" pitchFamily="34" charset="-122"/>
                <a:cs typeface="Arial Rounded MT Bold" pitchFamily="34" charset="-120"/>
              </a:rPr>
              <a:t>4</a:t>
            </a:r>
            <a:endParaRPr lang="en-US" sz="1300" dirty="0"/>
          </a:p>
        </p:txBody>
      </p:sp>
      <p:sp>
        <p:nvSpPr>
          <p:cNvPr id="18" name="bd_196"/>
          <p:cNvSpPr/>
          <p:nvPr/>
        </p:nvSpPr>
        <p:spPr>
          <a:xfrm>
            <a:off x="4096512" y="3255264"/>
            <a:ext cx="384048" cy="3840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300" dirty="0">
                <a:solidFill>
                  <a:srgbClr val="FFFFFF"/>
                </a:solidFill>
                <a:latin typeface="Arial Rounded MT Bold" pitchFamily="34" charset="0"/>
                <a:ea typeface="Arial Rounded MT Bold" pitchFamily="34" charset="-122"/>
                <a:cs typeface="Arial Rounded MT Bold" pitchFamily="34" charset="-120"/>
              </a:rPr>
              <a:t>5</a:t>
            </a:r>
            <a:endParaRPr lang="en-US" sz="1300" dirty="0"/>
          </a:p>
        </p:txBody>
      </p:sp>
      <p:sp>
        <p:nvSpPr>
          <p:cNvPr id="19" name="bd_197"/>
          <p:cNvSpPr/>
          <p:nvPr/>
        </p:nvSpPr>
        <p:spPr>
          <a:xfrm>
            <a:off x="1091794" y="3831336"/>
            <a:ext cx="384048" cy="3840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300" dirty="0">
                <a:solidFill>
                  <a:srgbClr val="FFFFFF"/>
                </a:solidFill>
                <a:latin typeface="Arial Rounded MT Bold" pitchFamily="34" charset="0"/>
                <a:ea typeface="Arial Rounded MT Bold" pitchFamily="34" charset="-122"/>
                <a:cs typeface="Arial Rounded MT Bold" pitchFamily="34" charset="-120"/>
              </a:rPr>
              <a:t>6</a:t>
            </a:r>
            <a:endParaRPr lang="en-US" sz="1300" dirty="0"/>
          </a:p>
        </p:txBody>
      </p:sp>
      <p:sp>
        <p:nvSpPr>
          <p:cNvPr id="20" name="st_198"/>
          <p:cNvSpPr/>
          <p:nvPr/>
        </p:nvSpPr>
        <p:spPr>
          <a:xfrm rot="-240000">
            <a:off x="2907792" y="3282696"/>
            <a:ext cx="822960" cy="310896"/>
          </a:xfrm>
          <a:prstGeom prst="rect">
            <a:avLst/>
          </a:prstGeom>
          <a:solidFill>
            <a:srgbClr val="FFE07A"/>
          </a:solidFill>
          <a:ln>
            <a:solidFill>
              <a:srgbClr val="FFE07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00" dirty="0">
                <a:solidFill>
                  <a:srgbClr val="1B2559"/>
                </a:solidFill>
                <a:latin typeface="Arial Rounded MT Bold" pitchFamily="34" charset="0"/>
                <a:ea typeface="Arial Rounded MT Bold" pitchFamily="34" charset="-122"/>
                <a:cs typeface="Arial Rounded MT Bold" pitchFamily="34" charset="-120"/>
              </a:rPr>
              <a:t>★ Sara</a:t>
            </a:r>
            <a:endParaRPr lang="en-US" sz="1100" dirty="0"/>
          </a:p>
        </p:txBody>
      </p:sp>
      <p:sp>
        <p:nvSpPr>
          <p:cNvPr id="21" name="bd_199"/>
          <p:cNvSpPr/>
          <p:nvPr/>
        </p:nvSpPr>
        <p:spPr>
          <a:xfrm>
            <a:off x="5532120" y="1435608"/>
            <a:ext cx="292608" cy="29260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22" name="q_200"/>
          <p:cNvSpPr/>
          <p:nvPr/>
        </p:nvSpPr>
        <p:spPr>
          <a:xfrm>
            <a:off x="5897880" y="1417320"/>
            <a:ext cx="2971800" cy="256032"/>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Her grandmother's mother</a:t>
            </a:r>
            <a:endParaRPr lang="en-US" sz="1100" dirty="0"/>
          </a:p>
        </p:txBody>
      </p:sp>
      <p:sp>
        <p:nvSpPr>
          <p:cNvPr id="23" name="R1_chip201"/>
          <p:cNvSpPr/>
          <p:nvPr/>
        </p:nvSpPr>
        <p:spPr>
          <a:xfrm>
            <a:off x="5897880" y="1682496"/>
            <a:ext cx="2377440" cy="292608"/>
          </a:xfrm>
          <a:prstGeom prst="roundRect">
            <a:avLst>
              <a:gd name="adj" fmla="val 3125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great-grandmother</a:t>
            </a:r>
            <a:endParaRPr lang="en-US" sz="1000" dirty="0"/>
          </a:p>
        </p:txBody>
      </p:sp>
      <p:sp>
        <p:nvSpPr>
          <p:cNvPr id="24" name="bd_202"/>
          <p:cNvSpPr/>
          <p:nvPr/>
        </p:nvSpPr>
        <p:spPr>
          <a:xfrm>
            <a:off x="5532120" y="1999488"/>
            <a:ext cx="292608" cy="29260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25" name="q_203"/>
          <p:cNvSpPr/>
          <p:nvPr/>
        </p:nvSpPr>
        <p:spPr>
          <a:xfrm>
            <a:off x="5897880" y="1981200"/>
            <a:ext cx="2971800" cy="256032"/>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Same dad, different mum</a:t>
            </a:r>
            <a:endParaRPr lang="en-US" sz="1100" dirty="0"/>
          </a:p>
        </p:txBody>
      </p:sp>
      <p:sp>
        <p:nvSpPr>
          <p:cNvPr id="26" name="R2_chip204"/>
          <p:cNvSpPr/>
          <p:nvPr/>
        </p:nvSpPr>
        <p:spPr>
          <a:xfrm>
            <a:off x="5897880" y="2246376"/>
            <a:ext cx="2377440" cy="292608"/>
          </a:xfrm>
          <a:prstGeom prst="roundRect">
            <a:avLst>
              <a:gd name="adj" fmla="val 3125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half-sister</a:t>
            </a:r>
            <a:endParaRPr lang="en-US" sz="1000" dirty="0"/>
          </a:p>
        </p:txBody>
      </p:sp>
      <p:sp>
        <p:nvSpPr>
          <p:cNvPr id="27" name="bd_205"/>
          <p:cNvSpPr/>
          <p:nvPr/>
        </p:nvSpPr>
        <p:spPr>
          <a:xfrm>
            <a:off x="5532120" y="2563368"/>
            <a:ext cx="292608" cy="292608"/>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28" name="q_206"/>
          <p:cNvSpPr/>
          <p:nvPr/>
        </p:nvSpPr>
        <p:spPr>
          <a:xfrm>
            <a:off x="5897880" y="2545080"/>
            <a:ext cx="2971800" cy="256032"/>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Her dad's second wife</a:t>
            </a:r>
            <a:endParaRPr lang="en-US" sz="1100" dirty="0"/>
          </a:p>
        </p:txBody>
      </p:sp>
      <p:sp>
        <p:nvSpPr>
          <p:cNvPr id="29" name="R3_chip207"/>
          <p:cNvSpPr/>
          <p:nvPr/>
        </p:nvSpPr>
        <p:spPr>
          <a:xfrm>
            <a:off x="5897880" y="2810256"/>
            <a:ext cx="2377440" cy="292608"/>
          </a:xfrm>
          <a:prstGeom prst="roundRect">
            <a:avLst>
              <a:gd name="adj" fmla="val 3125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stepmother</a:t>
            </a:r>
            <a:endParaRPr lang="en-US" sz="1000" dirty="0"/>
          </a:p>
        </p:txBody>
      </p:sp>
      <p:sp>
        <p:nvSpPr>
          <p:cNvPr id="30" name="bd_208"/>
          <p:cNvSpPr/>
          <p:nvPr/>
        </p:nvSpPr>
        <p:spPr>
          <a:xfrm>
            <a:off x="5532120" y="3127248"/>
            <a:ext cx="292608" cy="29260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31" name="q_209"/>
          <p:cNvSpPr/>
          <p:nvPr/>
        </p:nvSpPr>
        <p:spPr>
          <a:xfrm>
            <a:off x="5897880" y="3108960"/>
            <a:ext cx="2971800" cy="256032"/>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Her husband's brother</a:t>
            </a:r>
            <a:endParaRPr lang="en-US" sz="1100" dirty="0"/>
          </a:p>
        </p:txBody>
      </p:sp>
      <p:sp>
        <p:nvSpPr>
          <p:cNvPr id="32" name="R4_chip210"/>
          <p:cNvSpPr/>
          <p:nvPr/>
        </p:nvSpPr>
        <p:spPr>
          <a:xfrm>
            <a:off x="5897880" y="3374136"/>
            <a:ext cx="2377440" cy="292608"/>
          </a:xfrm>
          <a:prstGeom prst="roundRect">
            <a:avLst>
              <a:gd name="adj" fmla="val 3125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brother-in-law</a:t>
            </a:r>
            <a:endParaRPr lang="en-US" sz="1000" dirty="0"/>
          </a:p>
        </p:txBody>
      </p:sp>
      <p:sp>
        <p:nvSpPr>
          <p:cNvPr id="33" name="bd_211"/>
          <p:cNvSpPr/>
          <p:nvPr/>
        </p:nvSpPr>
        <p:spPr>
          <a:xfrm>
            <a:off x="5532120" y="3691128"/>
            <a:ext cx="292608" cy="29260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34" name="q_212"/>
          <p:cNvSpPr/>
          <p:nvPr/>
        </p:nvSpPr>
        <p:spPr>
          <a:xfrm>
            <a:off x="5897880" y="3672840"/>
            <a:ext cx="2971800" cy="256032"/>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Her husband's sister</a:t>
            </a:r>
            <a:endParaRPr lang="en-US" sz="1100" dirty="0"/>
          </a:p>
        </p:txBody>
      </p:sp>
      <p:sp>
        <p:nvSpPr>
          <p:cNvPr id="35" name="R5_chip213"/>
          <p:cNvSpPr/>
          <p:nvPr/>
        </p:nvSpPr>
        <p:spPr>
          <a:xfrm>
            <a:off x="5897880" y="3938016"/>
            <a:ext cx="2377440" cy="292608"/>
          </a:xfrm>
          <a:prstGeom prst="roundRect">
            <a:avLst>
              <a:gd name="adj" fmla="val 3125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sister-in-law</a:t>
            </a:r>
            <a:endParaRPr lang="en-US" sz="1000" dirty="0"/>
          </a:p>
        </p:txBody>
      </p:sp>
      <p:sp>
        <p:nvSpPr>
          <p:cNvPr id="36" name="bd_214"/>
          <p:cNvSpPr/>
          <p:nvPr/>
        </p:nvSpPr>
        <p:spPr>
          <a:xfrm>
            <a:off x="5532120" y="4255008"/>
            <a:ext cx="292608" cy="29260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6</a:t>
            </a:r>
            <a:endParaRPr lang="en-US" sz="1000" dirty="0"/>
          </a:p>
        </p:txBody>
      </p:sp>
      <p:sp>
        <p:nvSpPr>
          <p:cNvPr id="37" name="q_215"/>
          <p:cNvSpPr/>
          <p:nvPr/>
        </p:nvSpPr>
        <p:spPr>
          <a:xfrm>
            <a:off x="5897880" y="4236720"/>
            <a:ext cx="2971800" cy="256032"/>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Her brother's son</a:t>
            </a:r>
            <a:endParaRPr lang="en-US" sz="1100" dirty="0"/>
          </a:p>
        </p:txBody>
      </p:sp>
      <p:sp>
        <p:nvSpPr>
          <p:cNvPr id="38" name="R6_chip216"/>
          <p:cNvSpPr/>
          <p:nvPr/>
        </p:nvSpPr>
        <p:spPr>
          <a:xfrm>
            <a:off x="5897880" y="4501896"/>
            <a:ext cx="2377440" cy="292608"/>
          </a:xfrm>
          <a:prstGeom prst="roundRect">
            <a:avLst>
              <a:gd name="adj" fmla="val 3125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nephew</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4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4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400"/>
                                        <p:tgtEl>
                                          <p:spTgt spid="3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fade">
                                      <p:cBhvr>
                                        <p:cTn id="27" dur="400"/>
                                        <p:tgtEl>
                                          <p:spTgt spid="3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8"/>
                                        </p:tgtEl>
                                        <p:attrNameLst>
                                          <p:attrName>style.visibility</p:attrName>
                                        </p:attrNameLst>
                                      </p:cBhvr>
                                      <p:to>
                                        <p:strVal val="visible"/>
                                      </p:to>
                                    </p:set>
                                    <p:animEffect transition="in" filter="fade">
                                      <p:cBhvr>
                                        <p:cTn id="32" dur="4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17"/>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7</a:t>
            </a:r>
            <a:endParaRPr lang="en-US" sz="2800" dirty="0"/>
          </a:p>
        </p:txBody>
      </p:sp>
      <p:pic>
        <p:nvPicPr>
          <p:cNvPr id="4" name="brY_218" descr="/home/claude/lls-course/v2/assets/brush-yellow.png">    </p:cNvPr>
          <p:cNvPicPr>
            <a:picLocks noChangeAspect="1"/>
          </p:cNvPicPr>
          <p:nvPr/>
        </p:nvPicPr>
        <p:blipFill>
          <a:blip r:embed="rId2"/>
          <a:stretch>
            <a:fillRect/>
          </a:stretch>
        </p:blipFill>
        <p:spPr>
          <a:xfrm>
            <a:off x="1097280" y="146304"/>
            <a:ext cx="2618842" cy="621792"/>
          </a:xfrm>
          <a:prstGeom prst="rect">
            <a:avLst/>
          </a:prstGeom>
        </p:spPr>
      </p:pic>
      <p:sp>
        <p:nvSpPr>
          <p:cNvPr id="5" name="title_219"/>
          <p:cNvSpPr/>
          <p:nvPr/>
        </p:nvSpPr>
        <p:spPr>
          <a:xfrm>
            <a:off x="1261872" y="164592"/>
            <a:ext cx="234452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Describe it!</a:t>
            </a:r>
            <a:endParaRPr lang="en-US" sz="2500" dirty="0"/>
          </a:p>
        </p:txBody>
      </p:sp>
      <p:pic>
        <p:nvPicPr>
          <p:cNvPr id="6" name="brP_220" descr="/home/claude/lls-course/v2/assets/brush-pink.png">    </p:cNvPr>
          <p:cNvPicPr>
            <a:picLocks noChangeAspect="1"/>
          </p:cNvPicPr>
          <p:nvPr/>
        </p:nvPicPr>
        <p:blipFill>
          <a:blip r:embed="rId3"/>
          <a:stretch>
            <a:fillRect/>
          </a:stretch>
        </p:blipFill>
        <p:spPr>
          <a:xfrm>
            <a:off x="1207008" y="731520"/>
            <a:ext cx="3424428" cy="402336"/>
          </a:xfrm>
          <a:prstGeom prst="rect">
            <a:avLst/>
          </a:prstGeom>
        </p:spPr>
      </p:pic>
      <p:sp>
        <p:nvSpPr>
          <p:cNvPr id="7" name="ins_221"/>
          <p:cNvSpPr/>
          <p:nvPr/>
        </p:nvSpPr>
        <p:spPr>
          <a:xfrm>
            <a:off x="1353312" y="731520"/>
            <a:ext cx="316839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Explain the word. Don't say it!</a:t>
            </a:r>
            <a:endParaRPr lang="en-US" sz="1250" dirty="0"/>
          </a:p>
        </p:txBody>
      </p:sp>
      <p:sp>
        <p:nvSpPr>
          <p:cNvPr id="8" name="insIT_222"/>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Spiega la parola. Non dirla!</a:t>
            </a:r>
            <a:endParaRPr lang="en-US" sz="950" dirty="0"/>
          </a:p>
        </p:txBody>
      </p:sp>
      <p:sp>
        <p:nvSpPr>
          <p:cNvPr id="9" name="note_223"/>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PLAY</a:t>
            </a:r>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 GIOCA</a:t>
            </a:r>
            <a:endParaRPr lang="en-US" sz="12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3 min   👥 pairs</a:t>
            </a:r>
            <a:endParaRPr lang="en-US" sz="12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Vocabulary · Communicative game</a:t>
            </a:r>
            <a:endParaRPr lang="en-US" sz="1250" dirty="0"/>
          </a:p>
        </p:txBody>
      </p:sp>
      <p:pic>
        <p:nvPicPr>
          <p:cNvPr id="10" name="logo_224"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225"/>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1B-1 · Vocabulary game</a:t>
            </a:r>
            <a:endParaRPr lang="en-US" sz="800" dirty="0"/>
          </a:p>
        </p:txBody>
      </p:sp>
      <p:sp>
        <p:nvSpPr>
          <p:cNvPr id="12" name="cd_226"/>
          <p:cNvSpPr/>
          <p:nvPr/>
        </p:nvSpPr>
        <p:spPr>
          <a:xfrm>
            <a:off x="320040" y="1417320"/>
            <a:ext cx="2697480" cy="2231136"/>
          </a:xfrm>
          <a:prstGeom prst="roundRect">
            <a:avLst>
              <a:gd name="adj" fmla="val 5738"/>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3" name="ii_227"/>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4" name="ih_228"/>
          <p:cNvSpPr/>
          <p:nvPr/>
        </p:nvSpPr>
        <p:spPr>
          <a:xfrm>
            <a:off x="886968" y="1508760"/>
            <a:ext cx="205740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How to play</a:t>
            </a:r>
            <a:endParaRPr lang="en-US" sz="1400" dirty="0"/>
          </a:p>
        </p:txBody>
      </p:sp>
      <p:sp>
        <p:nvSpPr>
          <p:cNvPr id="15" name="il_229"/>
          <p:cNvSpPr/>
          <p:nvPr/>
        </p:nvSpPr>
        <p:spPr>
          <a:xfrm>
            <a:off x="886968" y="1911096"/>
            <a:ext cx="2039112" cy="1664208"/>
          </a:xfrm>
          <a:prstGeom prst="rect">
            <a:avLst/>
          </a:prstGeom>
          <a:noFill/>
          <a:ln/>
        </p:spPr>
        <p:txBody>
          <a:bodyPr wrap="square" lIns="0" tIns="0" rIns="0" bIns="0" rtlCol="0" anchor="t">
            <a:normAutofit/>
          </a:bodyPr>
          <a:lstStyle/>
          <a:p>
            <a:pPr marL="152400" indent="-152400">
              <a:spcAft>
                <a:spcPts val="200"/>
              </a:spcAft>
              <a:buSzPct val="100000"/>
              <a:buChar char="•"/>
            </a:pPr>
            <a:r>
              <a:rPr lang="en-US" sz="1200" dirty="0">
                <a:solidFill>
                  <a:srgbClr val="1B2559"/>
                </a:solidFill>
                <a:latin typeface="Segoe UI Semibold" pitchFamily="34" charset="0"/>
                <a:ea typeface="Segoe UI Semibold" pitchFamily="34" charset="-122"/>
                <a:cs typeface="Segoe UI Semibold" pitchFamily="34" charset="-120"/>
              </a:rPr>
              <a:t>A looks at the screen. B turns around.</a:t>
            </a:r>
            <a:endParaRPr lang="en-US" sz="1200" dirty="0"/>
          </a:p>
          <a:p>
            <a:pPr marL="152400" indent="-152400">
              <a:spcAft>
                <a:spcPts val="200"/>
              </a:spcAft>
              <a:buSzPct val="100000"/>
              <a:buChar char=" "/>
            </a:pPr>
            <a:r>
              <a:rPr lang="en-US" sz="1200" dirty="0">
                <a:solidFill>
                  <a:srgbClr val="5B6785"/>
                </a:solidFill>
                <a:latin typeface="Segoe UI Semibold" pitchFamily="34" charset="0"/>
                <a:ea typeface="Segoe UI Semibold" pitchFamily="34" charset="-122"/>
                <a:cs typeface="Segoe UI Semibold" pitchFamily="34" charset="-120"/>
              </a:rPr>
              <a:t>A guarda lo schermo. B si gira.</a:t>
            </a:r>
            <a:endParaRPr lang="en-US" sz="1200" dirty="0"/>
          </a:p>
          <a:p>
            <a:pPr marL="152400" indent="-152400">
              <a:spcBef>
                <a:spcPts val="600"/>
              </a:spcBef>
              <a:spcAft>
                <a:spcPts val="200"/>
              </a:spcAft>
              <a:buSzPct val="100000"/>
              <a:buChar char="•"/>
            </a:pPr>
            <a:r>
              <a:rPr lang="en-US" sz="1200" dirty="0">
                <a:solidFill>
                  <a:srgbClr val="1B2559"/>
                </a:solidFill>
                <a:latin typeface="Segoe UI Semibold" pitchFamily="34" charset="0"/>
                <a:ea typeface="Segoe UI Semibold" pitchFamily="34" charset="-122"/>
                <a:cs typeface="Segoe UI Semibold" pitchFamily="34" charset="-120"/>
              </a:rPr>
              <a:t>B guesses. Then swap.</a:t>
            </a:r>
            <a:endParaRPr lang="en-US" sz="1200" dirty="0"/>
          </a:p>
          <a:p>
            <a:pPr marL="152400" indent="-152400">
              <a:spcAft>
                <a:spcPts val="200"/>
              </a:spcAft>
              <a:buSzPct val="100000"/>
              <a:buChar char=" "/>
            </a:pPr>
            <a:r>
              <a:rPr lang="en-US" sz="1200" dirty="0">
                <a:solidFill>
                  <a:srgbClr val="5B6785"/>
                </a:solidFill>
                <a:latin typeface="Segoe UI Semibold" pitchFamily="34" charset="0"/>
                <a:ea typeface="Segoe UI Semibold" pitchFamily="34" charset="-122"/>
                <a:cs typeface="Segoe UI Semibold" pitchFamily="34" charset="-120"/>
              </a:rPr>
              <a:t>B indovina. Poi scambiatevi.</a:t>
            </a:r>
            <a:endParaRPr lang="en-US" sz="1200" dirty="0"/>
          </a:p>
        </p:txBody>
      </p:sp>
      <p:sp>
        <p:nvSpPr>
          <p:cNvPr id="16" name="pf_230"/>
          <p:cNvSpPr/>
          <p:nvPr/>
        </p:nvSpPr>
        <p:spPr>
          <a:xfrm rot="-120000">
            <a:off x="811530" y="3785616"/>
            <a:ext cx="1668780" cy="1143000"/>
          </a:xfrm>
          <a:prstGeom prst="roundRect">
            <a:avLst>
              <a:gd name="adj" fmla="val 136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7" name="ph_231" descr="/home/claude/lls-course/v2/cache/1b1_dinner_jpg_379x253_31.png">    </p:cNvPr>
          <p:cNvPicPr>
            <a:picLocks noChangeAspect="1"/>
          </p:cNvPicPr>
          <p:nvPr/>
        </p:nvPicPr>
        <p:blipFill>
          <a:blip r:embed="rId5"/>
          <a:stretch>
            <a:fillRect/>
          </a:stretch>
        </p:blipFill>
        <p:spPr>
          <a:xfrm rot="-120000">
            <a:off x="857250" y="3831336"/>
            <a:ext cx="1577340" cy="1051560"/>
          </a:xfrm>
          <a:prstGeom prst="rect">
            <a:avLst/>
          </a:prstGeom>
        </p:spPr>
      </p:pic>
      <p:sp>
        <p:nvSpPr>
          <p:cNvPr id="18" name="rl_232"/>
          <p:cNvSpPr/>
          <p:nvPr/>
        </p:nvSpPr>
        <p:spPr>
          <a:xfrm>
            <a:off x="3246120" y="1417320"/>
            <a:ext cx="2651760" cy="310896"/>
          </a:xfrm>
          <a:prstGeom prst="roundRect">
            <a:avLst>
              <a:gd name="adj" fmla="val 50000"/>
            </a:avLst>
          </a:prstGeom>
          <a:solidFill>
            <a:srgbClr val="E8508F"/>
          </a:solidFill>
          <a:ln/>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A explains</a:t>
            </a:r>
            <a:endParaRPr lang="en-US" sz="1100" dirty="0"/>
          </a:p>
        </p:txBody>
      </p:sp>
      <p:sp>
        <p:nvSpPr>
          <p:cNvPr id="19" name="R1_w233"/>
          <p:cNvSpPr/>
          <p:nvPr/>
        </p:nvSpPr>
        <p:spPr>
          <a:xfrm>
            <a:off x="3246120" y="1856232"/>
            <a:ext cx="2651760" cy="621792"/>
          </a:xfrm>
          <a:prstGeom prst="roundRect">
            <a:avLst>
              <a:gd name="adj" fmla="val 20588"/>
            </a:avLst>
          </a:prstGeom>
          <a:solidFill>
            <a:srgbClr val="FFFFFF"/>
          </a:solidFill>
          <a:ln w="28575">
            <a:solidFill>
              <a:srgbClr val="F7A6C4"/>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stepmother</a:t>
            </a:r>
            <a:endParaRPr lang="en-US" sz="1700" dirty="0"/>
          </a:p>
        </p:txBody>
      </p:sp>
      <p:sp>
        <p:nvSpPr>
          <p:cNvPr id="20" name="R3_w234"/>
          <p:cNvSpPr/>
          <p:nvPr/>
        </p:nvSpPr>
        <p:spPr>
          <a:xfrm>
            <a:off x="3246120" y="2587752"/>
            <a:ext cx="2651760" cy="621792"/>
          </a:xfrm>
          <a:prstGeom prst="roundRect">
            <a:avLst>
              <a:gd name="adj" fmla="val 20588"/>
            </a:avLst>
          </a:prstGeom>
          <a:solidFill>
            <a:srgbClr val="FFFFFF"/>
          </a:solidFill>
          <a:ln w="28575">
            <a:solidFill>
              <a:srgbClr val="F7A6C4"/>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only child</a:t>
            </a:r>
            <a:endParaRPr lang="en-US" sz="1700" dirty="0"/>
          </a:p>
        </p:txBody>
      </p:sp>
      <p:sp>
        <p:nvSpPr>
          <p:cNvPr id="21" name="R5_w235"/>
          <p:cNvSpPr/>
          <p:nvPr/>
        </p:nvSpPr>
        <p:spPr>
          <a:xfrm>
            <a:off x="3246120" y="3319272"/>
            <a:ext cx="2651760" cy="621792"/>
          </a:xfrm>
          <a:prstGeom prst="roundRect">
            <a:avLst>
              <a:gd name="adj" fmla="val 20588"/>
            </a:avLst>
          </a:prstGeom>
          <a:solidFill>
            <a:srgbClr val="FFFFFF"/>
          </a:solidFill>
          <a:ln w="28575">
            <a:solidFill>
              <a:srgbClr val="F7A6C4"/>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brother-in-law</a:t>
            </a:r>
            <a:endParaRPr lang="en-US" sz="1700" dirty="0"/>
          </a:p>
        </p:txBody>
      </p:sp>
      <p:sp>
        <p:nvSpPr>
          <p:cNvPr id="22" name="R7_w236"/>
          <p:cNvSpPr/>
          <p:nvPr/>
        </p:nvSpPr>
        <p:spPr>
          <a:xfrm>
            <a:off x="3246120" y="4050792"/>
            <a:ext cx="2651760" cy="621792"/>
          </a:xfrm>
          <a:prstGeom prst="roundRect">
            <a:avLst>
              <a:gd name="adj" fmla="val 20588"/>
            </a:avLst>
          </a:prstGeom>
          <a:solidFill>
            <a:srgbClr val="FFFFFF"/>
          </a:solidFill>
          <a:ln w="28575">
            <a:solidFill>
              <a:srgbClr val="F7A6C4"/>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siblings</a:t>
            </a:r>
            <a:endParaRPr lang="en-US" sz="1700" dirty="0"/>
          </a:p>
        </p:txBody>
      </p:sp>
      <p:sp>
        <p:nvSpPr>
          <p:cNvPr id="23" name="rl_237"/>
          <p:cNvSpPr/>
          <p:nvPr/>
        </p:nvSpPr>
        <p:spPr>
          <a:xfrm>
            <a:off x="6080760" y="1417320"/>
            <a:ext cx="2651760" cy="310896"/>
          </a:xfrm>
          <a:prstGeom prst="roundRect">
            <a:avLst>
              <a:gd name="adj" fmla="val 50000"/>
            </a:avLst>
          </a:prstGeom>
          <a:solidFill>
            <a:srgbClr val="2F8DE4"/>
          </a:solidFill>
          <a:ln/>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B explains</a:t>
            </a:r>
            <a:endParaRPr lang="en-US" sz="1100" dirty="0"/>
          </a:p>
        </p:txBody>
      </p:sp>
      <p:sp>
        <p:nvSpPr>
          <p:cNvPr id="24" name="R2_w238"/>
          <p:cNvSpPr/>
          <p:nvPr/>
        </p:nvSpPr>
        <p:spPr>
          <a:xfrm>
            <a:off x="6080760" y="1856232"/>
            <a:ext cx="2651760" cy="621792"/>
          </a:xfrm>
          <a:prstGeom prst="roundRect">
            <a:avLst>
              <a:gd name="adj" fmla="val 20588"/>
            </a:avLst>
          </a:prstGeom>
          <a:solidFill>
            <a:srgbClr val="FFFFFF"/>
          </a:solidFill>
          <a:ln w="28575">
            <a:solidFill>
              <a:srgbClr val="A9D3F5"/>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half-sister</a:t>
            </a:r>
            <a:endParaRPr lang="en-US" sz="1700" dirty="0"/>
          </a:p>
        </p:txBody>
      </p:sp>
      <p:sp>
        <p:nvSpPr>
          <p:cNvPr id="25" name="R4_w239"/>
          <p:cNvSpPr/>
          <p:nvPr/>
        </p:nvSpPr>
        <p:spPr>
          <a:xfrm>
            <a:off x="6080760" y="2587752"/>
            <a:ext cx="2651760" cy="621792"/>
          </a:xfrm>
          <a:prstGeom prst="roundRect">
            <a:avLst>
              <a:gd name="adj" fmla="val 20588"/>
            </a:avLst>
          </a:prstGeom>
          <a:solidFill>
            <a:srgbClr val="FFFFFF"/>
          </a:solidFill>
          <a:ln w="28575">
            <a:solidFill>
              <a:srgbClr val="A9D3F5"/>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great-grandfather</a:t>
            </a:r>
            <a:endParaRPr lang="en-US" sz="1700" dirty="0"/>
          </a:p>
        </p:txBody>
      </p:sp>
      <p:sp>
        <p:nvSpPr>
          <p:cNvPr id="26" name="R6_w240"/>
          <p:cNvSpPr/>
          <p:nvPr/>
        </p:nvSpPr>
        <p:spPr>
          <a:xfrm>
            <a:off x="6080760" y="3319272"/>
            <a:ext cx="2651760" cy="621792"/>
          </a:xfrm>
          <a:prstGeom prst="roundRect">
            <a:avLst>
              <a:gd name="adj" fmla="val 20588"/>
            </a:avLst>
          </a:prstGeom>
          <a:solidFill>
            <a:srgbClr val="FFFFFF"/>
          </a:solidFill>
          <a:ln w="28575">
            <a:solidFill>
              <a:srgbClr val="A9D3F5"/>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adopted child</a:t>
            </a:r>
            <a:endParaRPr lang="en-US" sz="1700" dirty="0"/>
          </a:p>
        </p:txBody>
      </p:sp>
      <p:sp>
        <p:nvSpPr>
          <p:cNvPr id="27" name="R8_w241"/>
          <p:cNvSpPr/>
          <p:nvPr/>
        </p:nvSpPr>
        <p:spPr>
          <a:xfrm>
            <a:off x="6080760" y="4050792"/>
            <a:ext cx="2651760" cy="621792"/>
          </a:xfrm>
          <a:prstGeom prst="roundRect">
            <a:avLst>
              <a:gd name="adj" fmla="val 20588"/>
            </a:avLst>
          </a:prstGeom>
          <a:solidFill>
            <a:srgbClr val="FFFFFF"/>
          </a:solidFill>
          <a:ln w="28575">
            <a:solidFill>
              <a:srgbClr val="A9D3F5"/>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extended family</a:t>
            </a:r>
            <a:endParaRPr lang="en-US" sz="17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4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4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400"/>
                                        <p:tgtEl>
                                          <p:spTgt spid="2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400"/>
                                        <p:tgtEl>
                                          <p:spTgt spid="2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fade">
                                      <p:cBhvr>
                                        <p:cTn id="32" dur="400"/>
                                        <p:tgtEl>
                                          <p:spTgt spid="2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fade">
                                      <p:cBhvr>
                                        <p:cTn id="37" dur="400"/>
                                        <p:tgtEl>
                                          <p:spTgt spid="22"/>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7"/>
                                        </p:tgtEl>
                                        <p:attrNameLst>
                                          <p:attrName>style.visibility</p:attrName>
                                        </p:attrNameLst>
                                      </p:cBhvr>
                                      <p:to>
                                        <p:strVal val="visible"/>
                                      </p:to>
                                    </p:set>
                                    <p:animEffect transition="in" filter="fade">
                                      <p:cBhvr>
                                        <p:cTn id="42"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42"/>
          <p:cNvSpPr/>
          <p:nvPr/>
        </p:nvSpPr>
        <p:spPr>
          <a:xfrm>
            <a:off x="201168" y="164592"/>
            <a:ext cx="841248" cy="841248"/>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8</a:t>
            </a:r>
            <a:endParaRPr lang="en-US" sz="2800" dirty="0"/>
          </a:p>
        </p:txBody>
      </p:sp>
      <p:pic>
        <p:nvPicPr>
          <p:cNvPr id="4" name="brY_243" descr="/home/claude/lls-course/v2/assets/brush-yellow.png">    </p:cNvPr>
          <p:cNvPicPr>
            <a:picLocks noChangeAspect="1"/>
          </p:cNvPicPr>
          <p:nvPr/>
        </p:nvPicPr>
        <p:blipFill>
          <a:blip r:embed="rId2"/>
          <a:stretch>
            <a:fillRect/>
          </a:stretch>
        </p:blipFill>
        <p:spPr>
          <a:xfrm>
            <a:off x="1097280" y="146304"/>
            <a:ext cx="3405226" cy="621792"/>
          </a:xfrm>
          <a:prstGeom prst="rect">
            <a:avLst/>
          </a:prstGeom>
        </p:spPr>
      </p:pic>
      <p:sp>
        <p:nvSpPr>
          <p:cNvPr id="5" name="title_244"/>
          <p:cNvSpPr/>
          <p:nvPr/>
        </p:nvSpPr>
        <p:spPr>
          <a:xfrm>
            <a:off x="1261872" y="164592"/>
            <a:ext cx="3130906"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Guess the numbers</a:t>
            </a:r>
            <a:endParaRPr lang="en-US" sz="2400" dirty="0"/>
          </a:p>
        </p:txBody>
      </p:sp>
      <p:pic>
        <p:nvPicPr>
          <p:cNvPr id="6" name="brP_245" descr="/home/claude/lls-course/v2/assets/brush-pink.png">    </p:cNvPr>
          <p:cNvPicPr>
            <a:picLocks noChangeAspect="1"/>
          </p:cNvPicPr>
          <p:nvPr/>
        </p:nvPicPr>
        <p:blipFill>
          <a:blip r:embed="rId3"/>
          <a:stretch>
            <a:fillRect/>
          </a:stretch>
        </p:blipFill>
        <p:spPr>
          <a:xfrm>
            <a:off x="1207008" y="731520"/>
            <a:ext cx="4206240" cy="402336"/>
          </a:xfrm>
          <a:prstGeom prst="rect">
            <a:avLst/>
          </a:prstGeom>
        </p:spPr>
      </p:pic>
      <p:sp>
        <p:nvSpPr>
          <p:cNvPr id="7" name="ins_246"/>
          <p:cNvSpPr/>
          <p:nvPr/>
        </p:nvSpPr>
        <p:spPr>
          <a:xfrm>
            <a:off x="1353312" y="731520"/>
            <a:ext cx="395020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Read the intro. 8 numbers – 8 gaps next!</a:t>
            </a:r>
            <a:endParaRPr lang="en-US" sz="1250" dirty="0"/>
          </a:p>
        </p:txBody>
      </p:sp>
      <p:sp>
        <p:nvSpPr>
          <p:cNvPr id="8" name="insIT_247"/>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Leggi l'intro. 8 numeri – 8 spazi dopo!</a:t>
            </a:r>
            <a:endParaRPr lang="en-US" sz="950" dirty="0"/>
          </a:p>
        </p:txBody>
      </p:sp>
      <p:sp>
        <p:nvSpPr>
          <p:cNvPr id="9" name="note_248"/>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READ</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GUESS</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2 min   👥 pairs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Reading · Prediction</a:t>
            </a:r>
            <a:endParaRPr lang="en-US" sz="1150" dirty="0"/>
          </a:p>
        </p:txBody>
      </p:sp>
      <p:pic>
        <p:nvPicPr>
          <p:cNvPr id="10" name="logo_249"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250"/>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1B-1 · Reading · prediction   ·   📖 SB p.10 · 1b</a:t>
            </a:r>
            <a:endParaRPr lang="en-US" sz="800" dirty="0"/>
          </a:p>
        </p:txBody>
      </p:sp>
      <p:sp>
        <p:nvSpPr>
          <p:cNvPr id="12" name="cd_251"/>
          <p:cNvSpPr/>
          <p:nvPr/>
        </p:nvSpPr>
        <p:spPr>
          <a:xfrm>
            <a:off x="320040" y="1417320"/>
            <a:ext cx="5029200" cy="1965960"/>
          </a:xfrm>
          <a:prstGeom prst="roundRect">
            <a:avLst>
              <a:gd name="adj" fmla="val 6512"/>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13" name="hl_252"/>
          <p:cNvSpPr/>
          <p:nvPr/>
        </p:nvSpPr>
        <p:spPr>
          <a:xfrm>
            <a:off x="502920" y="1508760"/>
            <a:ext cx="4663440" cy="548640"/>
          </a:xfrm>
          <a:prstGeom prst="rect">
            <a:avLst/>
          </a:prstGeom>
          <a:noFill/>
          <a:ln/>
        </p:spPr>
        <p:txBody>
          <a:bodyPr wrap="square" lIns="0" tIns="0" rIns="0" bIns="0" rtlCol="0" anchor="ctr"/>
          <a:lstStyle/>
          <a:p>
            <a:pPr indent="0" marL="0">
              <a:buNone/>
            </a:pPr>
            <a:r>
              <a:rPr lang="en-US" sz="2800" b="1" dirty="0">
                <a:solidFill>
                  <a:srgbClr val="1F6F43"/>
                </a:solidFill>
                <a:latin typeface="Georgia" pitchFamily="34" charset="0"/>
                <a:ea typeface="Georgia" pitchFamily="34" charset="-122"/>
                <a:cs typeface="Georgia" pitchFamily="34" charset="-120"/>
              </a:rPr>
              <a:t>The modern family</a:t>
            </a:r>
            <a:endParaRPr lang="en-US" sz="2800" dirty="0"/>
          </a:p>
        </p:txBody>
      </p:sp>
      <p:sp>
        <p:nvSpPr>
          <p:cNvPr id="14" name="nx_253"/>
          <p:cNvSpPr/>
          <p:nvPr/>
        </p:nvSpPr>
        <p:spPr>
          <a:xfrm>
            <a:off x="457200" y="2807208"/>
            <a:ext cx="4754880" cy="512064"/>
          </a:xfrm>
          <a:prstGeom prst="roundRect">
            <a:avLst>
              <a:gd name="adj" fmla="val 17857"/>
            </a:avLst>
          </a:prstGeom>
          <a:solidFill>
            <a:srgbClr val="E3F7EA"/>
          </a:solidFill>
          <a:ln w="28575">
            <a:solidFill>
              <a:srgbClr val="A8E5BE"/>
            </a:solidFill>
          </a:ln>
        </p:spPr>
        <p:txBody>
          <a:bodyPr wrap="square" lIns="127000" tIns="25400" rIns="127000" bIns="25400" rtlCol="0" anchor="ctr">
            <a:normAutofit/>
          </a:bodyPr>
          <a:lstStyle/>
          <a:p>
            <a:pPr indent="0" marL="0">
              <a:buNone/>
            </a:pPr>
            <a:r>
              <a:rPr lang="en-US" sz="1000" dirty="0">
                <a:solidFill>
                  <a:srgbClr val="2EB872"/>
                </a:solidFill>
                <a:latin typeface="Segoe UI Black" pitchFamily="34" charset="0"/>
                <a:ea typeface="Segoe UI Black" pitchFamily="34" charset="-122"/>
                <a:cs typeface="Segoe UI Black" pitchFamily="34" charset="-120"/>
              </a:rPr>
              <a:t>➡ NEXT  </a:t>
            </a:r>
            <a:pPr indent="0" marL="0">
              <a:buNone/>
            </a:pPr>
            <a:r>
              <a:rPr lang="en-US" sz="1200" dirty="0">
                <a:solidFill>
                  <a:srgbClr val="1B2559"/>
                </a:solidFill>
                <a:latin typeface="Segoe UI Semibold" pitchFamily="34" charset="0"/>
                <a:ea typeface="Segoe UI Semibold" pitchFamily="34" charset="-122"/>
                <a:cs typeface="Segoe UI Semibold" pitchFamily="34" charset="-120"/>
              </a:rPr>
              <a:t>The survey on the next 2 slides has 8 gaps. Write your guess for each gap, then listen and check.</a:t>
            </a:r>
            <a:endParaRPr lang="en-US" sz="1000" dirty="0"/>
          </a:p>
        </p:txBody>
      </p:sp>
      <p:sp>
        <p:nvSpPr>
          <p:cNvPr id="15" name="sf_254"/>
          <p:cNvSpPr/>
          <p:nvPr/>
        </p:nvSpPr>
        <p:spPr>
          <a:xfrm>
            <a:off x="521208" y="2039112"/>
            <a:ext cx="4663440" cy="731520"/>
          </a:xfrm>
          <a:prstGeom prst="rect">
            <a:avLst/>
          </a:prstGeom>
          <a:noFill/>
          <a:ln/>
        </p:spPr>
        <p:txBody>
          <a:bodyPr wrap="square" lIns="0" tIns="0" rIns="0" bIns="0" rtlCol="0" anchor="t">
            <a:normAutofit/>
          </a:bodyPr>
          <a:lstStyle/>
          <a:p>
            <a:pPr indent="0" marL="0">
              <a:buNone/>
            </a:pPr>
            <a:r>
              <a:rPr lang="en-US" sz="1150" i="1" dirty="0">
                <a:solidFill>
                  <a:srgbClr val="1B2559"/>
                </a:solidFill>
                <a:latin typeface="Georgia" pitchFamily="34" charset="0"/>
                <a:ea typeface="Georgia" pitchFamily="34" charset="-122"/>
                <a:cs typeface="Georgia" pitchFamily="34" charset="-120"/>
              </a:rPr>
              <a:t>Family life is changing all over the world – not just the structure of the family, but also its habits. A recent survey of British family life showed some surprising statistics.</a:t>
            </a:r>
            <a:endParaRPr lang="en-US" sz="1150" dirty="0"/>
          </a:p>
        </p:txBody>
      </p:sp>
      <p:sp>
        <p:nvSpPr>
          <p:cNvPr id="16" name="nbl_255"/>
          <p:cNvSpPr/>
          <p:nvPr/>
        </p:nvSpPr>
        <p:spPr>
          <a:xfrm>
            <a:off x="365760" y="3566160"/>
            <a:ext cx="4937760" cy="274320"/>
          </a:xfrm>
          <a:prstGeom prst="rect">
            <a:avLst/>
          </a:prstGeom>
          <a:noFill/>
          <a:ln/>
        </p:spPr>
        <p:txBody>
          <a:bodyPr wrap="square" lIns="0" tIns="0" rIns="0" bIns="0" rtlCol="0" anchor="ctr"/>
          <a:lstStyle/>
          <a:p>
            <a:pPr indent="0" marL="0">
              <a:buNone/>
            </a:pPr>
            <a:r>
              <a:rPr lang="en-US" sz="1100" dirty="0">
                <a:solidFill>
                  <a:srgbClr val="1B2559"/>
                </a:solidFill>
                <a:latin typeface="Arial Rounded MT Bold" pitchFamily="34" charset="0"/>
                <a:ea typeface="Arial Rounded MT Bold" pitchFamily="34" charset="-122"/>
                <a:cs typeface="Arial Rounded MT Bold" pitchFamily="34" charset="-120"/>
              </a:rPr>
              <a:t>🔢 NUMBER BANK · guess where they go!</a:t>
            </a:r>
            <a:endParaRPr lang="en-US" sz="1100" dirty="0"/>
          </a:p>
        </p:txBody>
      </p:sp>
      <p:sp>
        <p:nvSpPr>
          <p:cNvPr id="17" name="bd_256"/>
          <p:cNvSpPr/>
          <p:nvPr/>
        </p:nvSpPr>
        <p:spPr>
          <a:xfrm>
            <a:off x="365760" y="3931920"/>
            <a:ext cx="548640" cy="548640"/>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800" dirty="0">
                <a:solidFill>
                  <a:srgbClr val="FFFFFF"/>
                </a:solidFill>
                <a:latin typeface="Arial Rounded MT Bold" pitchFamily="34" charset="0"/>
                <a:ea typeface="Arial Rounded MT Bold" pitchFamily="34" charset="-122"/>
                <a:cs typeface="Arial Rounded MT Bold" pitchFamily="34" charset="-120"/>
              </a:rPr>
              <a:t>2</a:t>
            </a:r>
            <a:endParaRPr lang="en-US" sz="1800" dirty="0"/>
          </a:p>
        </p:txBody>
      </p:sp>
      <p:sp>
        <p:nvSpPr>
          <p:cNvPr id="18" name="bd_257"/>
          <p:cNvSpPr/>
          <p:nvPr/>
        </p:nvSpPr>
        <p:spPr>
          <a:xfrm>
            <a:off x="987552" y="3931920"/>
            <a:ext cx="548640" cy="548640"/>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10%</a:t>
            </a:r>
            <a:endParaRPr lang="en-US" sz="1000" dirty="0"/>
          </a:p>
        </p:txBody>
      </p:sp>
      <p:sp>
        <p:nvSpPr>
          <p:cNvPr id="19" name="bd_258"/>
          <p:cNvSpPr/>
          <p:nvPr/>
        </p:nvSpPr>
        <p:spPr>
          <a:xfrm>
            <a:off x="1609344" y="3931920"/>
            <a:ext cx="548640" cy="548640"/>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14%</a:t>
            </a:r>
            <a:endParaRPr lang="en-US" sz="1000" dirty="0"/>
          </a:p>
        </p:txBody>
      </p:sp>
      <p:sp>
        <p:nvSpPr>
          <p:cNvPr id="20" name="bd_259"/>
          <p:cNvSpPr/>
          <p:nvPr/>
        </p:nvSpPr>
        <p:spPr>
          <a:xfrm>
            <a:off x="2231136" y="3931920"/>
            <a:ext cx="548640" cy="548640"/>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17%</a:t>
            </a:r>
            <a:endParaRPr lang="en-US" sz="1000" dirty="0"/>
          </a:p>
        </p:txBody>
      </p:sp>
      <p:sp>
        <p:nvSpPr>
          <p:cNvPr id="21" name="bd_260"/>
          <p:cNvSpPr/>
          <p:nvPr/>
        </p:nvSpPr>
        <p:spPr>
          <a:xfrm>
            <a:off x="2852928" y="3931920"/>
            <a:ext cx="548640" cy="548640"/>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400" dirty="0">
                <a:solidFill>
                  <a:srgbClr val="FFFFFF"/>
                </a:solidFill>
                <a:latin typeface="Arial Rounded MT Bold" pitchFamily="34" charset="0"/>
                <a:ea typeface="Arial Rounded MT Bold" pitchFamily="34" charset="-122"/>
                <a:cs typeface="Arial Rounded MT Bold" pitchFamily="34" charset="-120"/>
              </a:rPr>
              <a:t>30</a:t>
            </a:r>
            <a:endParaRPr lang="en-US" sz="1400" dirty="0"/>
          </a:p>
        </p:txBody>
      </p:sp>
      <p:sp>
        <p:nvSpPr>
          <p:cNvPr id="22" name="bd_261"/>
          <p:cNvSpPr/>
          <p:nvPr/>
        </p:nvSpPr>
        <p:spPr>
          <a:xfrm>
            <a:off x="3474720" y="3931920"/>
            <a:ext cx="548640" cy="548640"/>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400" dirty="0">
                <a:solidFill>
                  <a:srgbClr val="FFFFFF"/>
                </a:solidFill>
                <a:latin typeface="Arial Rounded MT Bold" pitchFamily="34" charset="0"/>
                <a:ea typeface="Arial Rounded MT Bold" pitchFamily="34" charset="-122"/>
                <a:cs typeface="Arial Rounded MT Bold" pitchFamily="34" charset="-120"/>
              </a:rPr>
              <a:t>32</a:t>
            </a:r>
            <a:endParaRPr lang="en-US" sz="1400" dirty="0"/>
          </a:p>
        </p:txBody>
      </p:sp>
      <p:sp>
        <p:nvSpPr>
          <p:cNvPr id="23" name="bd_262"/>
          <p:cNvSpPr/>
          <p:nvPr/>
        </p:nvSpPr>
        <p:spPr>
          <a:xfrm>
            <a:off x="4096512" y="3931920"/>
            <a:ext cx="548640" cy="548640"/>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40%</a:t>
            </a:r>
            <a:endParaRPr lang="en-US" sz="1000" dirty="0"/>
          </a:p>
        </p:txBody>
      </p:sp>
      <p:sp>
        <p:nvSpPr>
          <p:cNvPr id="24" name="bd_263"/>
          <p:cNvSpPr/>
          <p:nvPr/>
        </p:nvSpPr>
        <p:spPr>
          <a:xfrm>
            <a:off x="4718304" y="3931920"/>
            <a:ext cx="548640" cy="548640"/>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45%</a:t>
            </a:r>
            <a:endParaRPr lang="en-US" sz="1000" dirty="0"/>
          </a:p>
        </p:txBody>
      </p:sp>
      <p:sp>
        <p:nvSpPr>
          <p:cNvPr id="25" name="pf_264"/>
          <p:cNvSpPr/>
          <p:nvPr/>
        </p:nvSpPr>
        <p:spPr>
          <a:xfrm rot="90000">
            <a:off x="5577840" y="1651989"/>
            <a:ext cx="3246120" cy="2548182"/>
          </a:xfrm>
          <a:prstGeom prst="roundRect">
            <a:avLst>
              <a:gd name="adj" fmla="val 61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6" name="ph_265" descr="/home/claude/lls-course/v2/cache/1b1_single_dad_jpg_759x591_31.png">    </p:cNvPr>
          <p:cNvPicPr>
            <a:picLocks noChangeAspect="1"/>
          </p:cNvPicPr>
          <p:nvPr/>
        </p:nvPicPr>
        <p:blipFill>
          <a:blip r:embed="rId5"/>
          <a:stretch>
            <a:fillRect/>
          </a:stretch>
        </p:blipFill>
        <p:spPr>
          <a:xfrm rot="90000">
            <a:off x="5623560" y="1697709"/>
            <a:ext cx="3154680" cy="2456742"/>
          </a:xfrm>
          <a:prstGeom prst="rect">
            <a:avLst/>
          </a:prstGeom>
        </p:spPr>
      </p:pic>
    </p:spTree>
  </p:cSld>
  <p:clrMapOvr>
    <a:masterClrMapping/>
  </p:clrMapOvr>
  <p:transition spd="med">
    <p:push dir="l"/>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66"/>
          <p:cNvSpPr/>
          <p:nvPr/>
        </p:nvSpPr>
        <p:spPr>
          <a:xfrm>
            <a:off x="201168" y="164592"/>
            <a:ext cx="841248" cy="841248"/>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9</a:t>
            </a:r>
            <a:endParaRPr lang="en-US" sz="2800" dirty="0"/>
          </a:p>
        </p:txBody>
      </p:sp>
      <p:pic>
        <p:nvPicPr>
          <p:cNvPr id="4" name="brY_267" descr="/home/claude/lls-course/v2/assets/brush-yellow.png">    </p:cNvPr>
          <p:cNvPicPr>
            <a:picLocks noChangeAspect="1"/>
          </p:cNvPicPr>
          <p:nvPr/>
        </p:nvPicPr>
        <p:blipFill>
          <a:blip r:embed="rId2"/>
          <a:stretch>
            <a:fillRect/>
          </a:stretch>
        </p:blipFill>
        <p:spPr>
          <a:xfrm>
            <a:off x="1097280" y="146304"/>
            <a:ext cx="3562502" cy="621792"/>
          </a:xfrm>
          <a:prstGeom prst="rect">
            <a:avLst/>
          </a:prstGeom>
        </p:spPr>
      </p:pic>
      <p:sp>
        <p:nvSpPr>
          <p:cNvPr id="5" name="title_268"/>
          <p:cNvSpPr/>
          <p:nvPr/>
        </p:nvSpPr>
        <p:spPr>
          <a:xfrm>
            <a:off x="1261872" y="164592"/>
            <a:ext cx="328818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Read and check 1/2</a:t>
            </a:r>
            <a:endParaRPr lang="en-US" sz="2500" dirty="0"/>
          </a:p>
        </p:txBody>
      </p:sp>
      <p:pic>
        <p:nvPicPr>
          <p:cNvPr id="6" name="brP_269" descr="/home/claude/lls-course/v2/assets/brush-pink.png">    </p:cNvPr>
          <p:cNvPicPr>
            <a:picLocks noChangeAspect="1"/>
          </p:cNvPicPr>
          <p:nvPr/>
        </p:nvPicPr>
        <p:blipFill>
          <a:blip r:embed="rId3"/>
          <a:stretch>
            <a:fillRect/>
          </a:stretch>
        </p:blipFill>
        <p:spPr>
          <a:xfrm>
            <a:off x="1207008" y="731520"/>
            <a:ext cx="4206240" cy="402336"/>
          </a:xfrm>
          <a:prstGeom prst="rect">
            <a:avLst/>
          </a:prstGeom>
        </p:spPr>
      </p:pic>
      <p:sp>
        <p:nvSpPr>
          <p:cNvPr id="7" name="ins_270"/>
          <p:cNvSpPr/>
          <p:nvPr/>
        </p:nvSpPr>
        <p:spPr>
          <a:xfrm>
            <a:off x="1353312" y="731520"/>
            <a:ext cx="395020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Write a number in gaps 1–5. Then listen.</a:t>
            </a:r>
            <a:endParaRPr lang="en-US" sz="1250" dirty="0"/>
          </a:p>
        </p:txBody>
      </p:sp>
      <p:sp>
        <p:nvSpPr>
          <p:cNvPr id="8" name="insIT_271"/>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Scrivi un numero negli spazi 1–5. Poi ascolta.</a:t>
            </a:r>
            <a:endParaRPr lang="en-US" sz="950" dirty="0"/>
          </a:p>
        </p:txBody>
      </p:sp>
      <p:sp>
        <p:nvSpPr>
          <p:cNvPr id="9" name="note_272"/>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READ</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LISTEN</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3 min   👥 pairs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Reading · TPRS · reading</a:t>
            </a:r>
            <a:endParaRPr lang="en-US" sz="1150" dirty="0"/>
          </a:p>
        </p:txBody>
      </p:sp>
      <p:pic>
        <p:nvPicPr>
          <p:cNvPr id="10" name="logo_273"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274"/>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1B-1 · Reading · Family structure   ·   📖 SB p.10 · 1b, 1c · audio 1.14</a:t>
            </a:r>
            <a:endParaRPr lang="en-US" sz="800" dirty="0"/>
          </a:p>
        </p:txBody>
      </p:sp>
      <p:sp>
        <p:nvSpPr>
          <p:cNvPr id="12" name="cd_275"/>
          <p:cNvSpPr/>
          <p:nvPr/>
        </p:nvSpPr>
        <p:spPr>
          <a:xfrm>
            <a:off x="320040" y="1417320"/>
            <a:ext cx="5715000" cy="3337560"/>
          </a:xfrm>
          <a:prstGeom prst="roundRect">
            <a:avLst>
              <a:gd name="adj" fmla="val 3836"/>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13" name="sh_276"/>
          <p:cNvSpPr/>
          <p:nvPr/>
        </p:nvSpPr>
        <p:spPr>
          <a:xfrm>
            <a:off x="320040" y="1417320"/>
            <a:ext cx="5715000" cy="438912"/>
          </a:xfrm>
          <a:prstGeom prst="rect">
            <a:avLst/>
          </a:prstGeom>
          <a:solidFill>
            <a:srgbClr val="E3F7EA"/>
          </a:solidFill>
          <a:ln/>
        </p:spPr>
        <p:txBody>
          <a:bodyPr wrap="square" lIns="203200" tIns="0" rIns="203200" bIns="0" rtlCol="0" anchor="ctr"/>
          <a:lstStyle/>
          <a:p>
            <a:pPr indent="0" marL="0">
              <a:buNone/>
            </a:pPr>
            <a:r>
              <a:rPr lang="en-US" sz="1700" b="1" dirty="0">
                <a:solidFill>
                  <a:srgbClr val="1F6F43"/>
                </a:solidFill>
                <a:latin typeface="Georgia" pitchFamily="34" charset="0"/>
                <a:ea typeface="Georgia" pitchFamily="34" charset="-122"/>
                <a:cs typeface="Georgia" pitchFamily="34" charset="-120"/>
              </a:rPr>
              <a:t>Family structure</a:t>
            </a:r>
            <a:endParaRPr lang="en-US" sz="1700" dirty="0"/>
          </a:p>
        </p:txBody>
      </p:sp>
      <p:sp>
        <p:nvSpPr>
          <p:cNvPr id="14" name="ln_277"/>
          <p:cNvSpPr/>
          <p:nvPr/>
        </p:nvSpPr>
        <p:spPr>
          <a:xfrm>
            <a:off x="548640" y="1920240"/>
            <a:ext cx="5349240" cy="366963"/>
          </a:xfrm>
          <a:prstGeom prst="rect">
            <a:avLst/>
          </a:prstGeom>
          <a:noFill/>
          <a:ln/>
        </p:spPr>
        <p:txBody>
          <a:bodyPr wrap="square" lIns="0" tIns="0" rIns="0" bIns="0" rtlCol="0" anchor="t"/>
          <a:lstStyle/>
          <a:p>
            <a:pPr indent="0" marL="0">
              <a:buNone/>
            </a:pPr>
            <a:r>
              <a:rPr lang="en-US" sz="1300" dirty="0">
                <a:solidFill>
                  <a:srgbClr val="1B2559"/>
                </a:solidFill>
                <a:latin typeface="Georgia" pitchFamily="34" charset="0"/>
                <a:ea typeface="Georgia" pitchFamily="34" charset="-122"/>
                <a:cs typeface="Georgia" pitchFamily="34" charset="-120"/>
              </a:rPr>
              <a:t>60% of families have married parents.</a:t>
            </a:r>
            <a:endParaRPr lang="en-US" sz="1300" dirty="0"/>
          </a:p>
        </p:txBody>
      </p:sp>
      <p:sp>
        <p:nvSpPr>
          <p:cNvPr id="15" name="ln_278"/>
          <p:cNvSpPr/>
          <p:nvPr/>
        </p:nvSpPr>
        <p:spPr>
          <a:xfrm>
            <a:off x="548640" y="2287203"/>
            <a:ext cx="5349240" cy="706404"/>
          </a:xfrm>
          <a:prstGeom prst="rect">
            <a:avLst/>
          </a:prstGeom>
          <a:noFill/>
          <a:ln/>
        </p:spPr>
        <p:txBody>
          <a:bodyPr wrap="square" lIns="0" tIns="0" rIns="0" bIns="0" rtlCol="0" anchor="t"/>
          <a:lstStyle/>
          <a:p>
            <a:pPr indent="0" marL="0">
              <a:buNone/>
            </a:pPr>
            <a:r>
              <a:rPr lang="en-US" sz="1300" dirty="0">
                <a:solidFill>
                  <a:srgbClr val="1B2559"/>
                </a:solidFill>
                <a:latin typeface="Georgia" pitchFamily="34" charset="0"/>
                <a:ea typeface="Georgia" pitchFamily="34" charset="-122"/>
                <a:cs typeface="Georgia" pitchFamily="34" charset="-120"/>
              </a:rPr>
              <a:t>22% are single-parent families. Only </a:t>
            </a:r>
            <a:pPr indent="0" marL="0">
              <a:buNone/>
            </a:pPr>
            <a:r>
              <a:rPr lang="en-US" sz="1300" b="1" dirty="0">
                <a:solidFill>
                  <a:srgbClr val="2EB872"/>
                </a:solidFill>
                <a:latin typeface="Georgia" pitchFamily="34" charset="0"/>
                <a:ea typeface="Georgia" pitchFamily="34" charset="-122"/>
                <a:cs typeface="Georgia" pitchFamily="34" charset="-120"/>
              </a:rPr>
              <a:t> (1) ________ </a:t>
            </a:r>
            <a:pPr indent="0" marL="0">
              <a:buNone/>
            </a:pPr>
            <a:r>
              <a:rPr lang="en-US" sz="1300" dirty="0">
                <a:solidFill>
                  <a:srgbClr val="1B2559"/>
                </a:solidFill>
                <a:latin typeface="Georgia" pitchFamily="34" charset="0"/>
                <a:ea typeface="Georgia" pitchFamily="34" charset="-122"/>
                <a:cs typeface="Georgia" pitchFamily="34" charset="-120"/>
              </a:rPr>
              <a:t> of the single parents are men.</a:t>
            </a:r>
            <a:endParaRPr lang="en-US" sz="1300" dirty="0"/>
          </a:p>
        </p:txBody>
      </p:sp>
      <p:sp>
        <p:nvSpPr>
          <p:cNvPr id="16" name="R1_lnA279"/>
          <p:cNvSpPr/>
          <p:nvPr/>
        </p:nvSpPr>
        <p:spPr>
          <a:xfrm>
            <a:off x="548640" y="2287203"/>
            <a:ext cx="5349240" cy="706404"/>
          </a:xfrm>
          <a:prstGeom prst="rect">
            <a:avLst/>
          </a:prstGeom>
          <a:solidFill>
            <a:srgbClr val="FFFFFF"/>
          </a:solidFill>
          <a:ln/>
        </p:spPr>
        <p:txBody>
          <a:bodyPr wrap="square" lIns="0" tIns="0" rIns="0" bIns="0" rtlCol="0" anchor="t"/>
          <a:lstStyle/>
          <a:p>
            <a:pPr indent="0" marL="0">
              <a:buNone/>
            </a:pPr>
            <a:r>
              <a:rPr lang="en-US" sz="1300" dirty="0">
                <a:solidFill>
                  <a:srgbClr val="1B2559"/>
                </a:solidFill>
                <a:latin typeface="Georgia" pitchFamily="34" charset="0"/>
                <a:ea typeface="Georgia" pitchFamily="34" charset="-122"/>
                <a:cs typeface="Georgia" pitchFamily="34" charset="-120"/>
              </a:rPr>
              <a:t>22% are single-parent families. Only </a:t>
            </a:r>
            <a:pPr indent="0" marL="0">
              <a:buNone/>
            </a:pPr>
            <a:r>
              <a:rPr lang="en-US" sz="1300" b="1" dirty="0">
                <a:solidFill>
                  <a:srgbClr val="1B2559"/>
                </a:solidFill>
                <a:highlight>
                  <a:srgbClr val="FFE066"/>
                </a:highlight>
                <a:latin typeface="Georgia" pitchFamily="34" charset="0"/>
                <a:ea typeface="Georgia" pitchFamily="34" charset="-122"/>
                <a:cs typeface="Georgia" pitchFamily="34" charset="-120"/>
              </a:rPr>
              <a:t>14%</a:t>
            </a:r>
            <a:pPr indent="0" marL="0">
              <a:buNone/>
            </a:pPr>
            <a:r>
              <a:rPr lang="en-US" sz="1300" dirty="0">
                <a:solidFill>
                  <a:srgbClr val="1B2559"/>
                </a:solidFill>
                <a:latin typeface="Georgia" pitchFamily="34" charset="0"/>
                <a:ea typeface="Georgia" pitchFamily="34" charset="-122"/>
                <a:cs typeface="Georgia" pitchFamily="34" charset="-120"/>
              </a:rPr>
              <a:t> of the single parents are men.</a:t>
            </a:r>
            <a:endParaRPr lang="en-US" sz="1300" dirty="0"/>
          </a:p>
        </p:txBody>
      </p:sp>
      <p:sp>
        <p:nvSpPr>
          <p:cNvPr id="17" name="ln_280"/>
          <p:cNvSpPr/>
          <p:nvPr/>
        </p:nvSpPr>
        <p:spPr>
          <a:xfrm>
            <a:off x="548640" y="2993607"/>
            <a:ext cx="5349240" cy="779797"/>
          </a:xfrm>
          <a:prstGeom prst="rect">
            <a:avLst/>
          </a:prstGeom>
          <a:noFill/>
          <a:ln/>
        </p:spPr>
        <p:txBody>
          <a:bodyPr wrap="square" lIns="0" tIns="0" rIns="0" bIns="0" rtlCol="0" anchor="t"/>
          <a:lstStyle/>
          <a:p>
            <a:pPr indent="0" marL="0">
              <a:buNone/>
            </a:pPr>
            <a:r>
              <a:rPr lang="en-US" sz="1300" b="1" dirty="0">
                <a:solidFill>
                  <a:srgbClr val="2EB872"/>
                </a:solidFill>
                <a:latin typeface="Georgia" pitchFamily="34" charset="0"/>
                <a:ea typeface="Georgia" pitchFamily="34" charset="-122"/>
                <a:cs typeface="Georgia" pitchFamily="34" charset="-120"/>
              </a:rPr>
              <a:t> (2) ________ </a:t>
            </a:r>
            <a:pPr indent="0" marL="0">
              <a:buNone/>
            </a:pPr>
            <a:r>
              <a:rPr lang="en-US" sz="1300" dirty="0">
                <a:solidFill>
                  <a:srgbClr val="1B2559"/>
                </a:solidFill>
                <a:latin typeface="Georgia" pitchFamily="34" charset="0"/>
                <a:ea typeface="Georgia" pitchFamily="34" charset="-122"/>
                <a:cs typeface="Georgia" pitchFamily="34" charset="-120"/>
              </a:rPr>
              <a:t> of families have one child, </a:t>
            </a:r>
            <a:pPr indent="0" marL="0">
              <a:buNone/>
            </a:pPr>
            <a:r>
              <a:rPr lang="en-US" sz="1300" b="1" dirty="0">
                <a:solidFill>
                  <a:srgbClr val="2EB872"/>
                </a:solidFill>
                <a:latin typeface="Georgia" pitchFamily="34" charset="0"/>
                <a:ea typeface="Georgia" pitchFamily="34" charset="-122"/>
                <a:cs typeface="Georgia" pitchFamily="34" charset="-120"/>
              </a:rPr>
              <a:t> (3) ________ </a:t>
            </a:r>
            <a:pPr indent="0" marL="0">
              <a:buNone/>
            </a:pPr>
            <a:r>
              <a:rPr lang="en-US" sz="1300" dirty="0">
                <a:solidFill>
                  <a:srgbClr val="1B2559"/>
                </a:solidFill>
                <a:latin typeface="Georgia" pitchFamily="34" charset="0"/>
                <a:ea typeface="Georgia" pitchFamily="34" charset="-122"/>
                <a:cs typeface="Georgia" pitchFamily="34" charset="-120"/>
              </a:rPr>
              <a:t> have two, and 15% have three or more.</a:t>
            </a:r>
            <a:endParaRPr lang="en-US" sz="1300" dirty="0"/>
          </a:p>
        </p:txBody>
      </p:sp>
      <p:sp>
        <p:nvSpPr>
          <p:cNvPr id="18" name="R2_lnA281"/>
          <p:cNvSpPr/>
          <p:nvPr/>
        </p:nvSpPr>
        <p:spPr>
          <a:xfrm>
            <a:off x="548640" y="2993607"/>
            <a:ext cx="5349240" cy="779797"/>
          </a:xfrm>
          <a:prstGeom prst="rect">
            <a:avLst/>
          </a:prstGeom>
          <a:solidFill>
            <a:srgbClr val="FFFFFF"/>
          </a:solidFill>
          <a:ln/>
        </p:spPr>
        <p:txBody>
          <a:bodyPr wrap="square" lIns="0" tIns="0" rIns="0" bIns="0" rtlCol="0" anchor="t"/>
          <a:lstStyle/>
          <a:p>
            <a:pPr indent="0" marL="0">
              <a:buNone/>
            </a:pPr>
            <a:r>
              <a:rPr lang="en-US" sz="1300" b="1" dirty="0">
                <a:solidFill>
                  <a:srgbClr val="1B2559"/>
                </a:solidFill>
                <a:highlight>
                  <a:srgbClr val="FFE066"/>
                </a:highlight>
                <a:latin typeface="Georgia" pitchFamily="34" charset="0"/>
                <a:ea typeface="Georgia" pitchFamily="34" charset="-122"/>
                <a:cs typeface="Georgia" pitchFamily="34" charset="-120"/>
              </a:rPr>
              <a:t>45%</a:t>
            </a:r>
            <a:pPr indent="0" marL="0">
              <a:buNone/>
            </a:pPr>
            <a:r>
              <a:rPr lang="en-US" sz="1300" dirty="0">
                <a:solidFill>
                  <a:srgbClr val="1B2559"/>
                </a:solidFill>
                <a:latin typeface="Georgia" pitchFamily="34" charset="0"/>
                <a:ea typeface="Georgia" pitchFamily="34" charset="-122"/>
                <a:cs typeface="Georgia" pitchFamily="34" charset="-120"/>
              </a:rPr>
              <a:t> of families have one child, </a:t>
            </a:r>
            <a:pPr indent="0" marL="0">
              <a:buNone/>
            </a:pPr>
            <a:r>
              <a:rPr lang="en-US" sz="1300" b="1" dirty="0">
                <a:solidFill>
                  <a:srgbClr val="1B2559"/>
                </a:solidFill>
                <a:highlight>
                  <a:srgbClr val="FFE066"/>
                </a:highlight>
                <a:latin typeface="Georgia" pitchFamily="34" charset="0"/>
                <a:ea typeface="Georgia" pitchFamily="34" charset="-122"/>
                <a:cs typeface="Georgia" pitchFamily="34" charset="-120"/>
              </a:rPr>
              <a:t>40%</a:t>
            </a:r>
            <a:pPr indent="0" marL="0">
              <a:buNone/>
            </a:pPr>
            <a:r>
              <a:rPr lang="en-US" sz="1300" dirty="0">
                <a:solidFill>
                  <a:srgbClr val="1B2559"/>
                </a:solidFill>
                <a:latin typeface="Georgia" pitchFamily="34" charset="0"/>
                <a:ea typeface="Georgia" pitchFamily="34" charset="-122"/>
                <a:cs typeface="Georgia" pitchFamily="34" charset="-120"/>
              </a:rPr>
              <a:t> have two, and 15% have three or more.</a:t>
            </a:r>
            <a:endParaRPr lang="en-US" sz="1300" dirty="0"/>
          </a:p>
        </p:txBody>
      </p:sp>
      <p:sp>
        <p:nvSpPr>
          <p:cNvPr id="19" name="ln_282"/>
          <p:cNvSpPr/>
          <p:nvPr/>
        </p:nvSpPr>
        <p:spPr>
          <a:xfrm>
            <a:off x="548640" y="3773404"/>
            <a:ext cx="5349240" cy="366963"/>
          </a:xfrm>
          <a:prstGeom prst="rect">
            <a:avLst/>
          </a:prstGeom>
          <a:noFill/>
          <a:ln/>
        </p:spPr>
        <p:txBody>
          <a:bodyPr wrap="square" lIns="0" tIns="0" rIns="0" bIns="0" rtlCol="0" anchor="t"/>
          <a:lstStyle/>
          <a:p>
            <a:pPr indent="0" marL="0">
              <a:buNone/>
            </a:pPr>
            <a:r>
              <a:rPr lang="en-US" sz="1300" dirty="0">
                <a:solidFill>
                  <a:srgbClr val="1B2559"/>
                </a:solidFill>
                <a:latin typeface="Georgia" pitchFamily="34" charset="0"/>
                <a:ea typeface="Georgia" pitchFamily="34" charset="-122"/>
                <a:cs typeface="Georgia" pitchFamily="34" charset="-120"/>
              </a:rPr>
              <a:t>11% of families have stepchildren.</a:t>
            </a:r>
            <a:endParaRPr lang="en-US" sz="1300" dirty="0"/>
          </a:p>
        </p:txBody>
      </p:sp>
      <p:sp>
        <p:nvSpPr>
          <p:cNvPr id="20" name="ln_283"/>
          <p:cNvSpPr/>
          <p:nvPr/>
        </p:nvSpPr>
        <p:spPr>
          <a:xfrm>
            <a:off x="548640" y="4140367"/>
            <a:ext cx="5349240" cy="568793"/>
          </a:xfrm>
          <a:prstGeom prst="rect">
            <a:avLst/>
          </a:prstGeom>
          <a:noFill/>
          <a:ln/>
        </p:spPr>
        <p:txBody>
          <a:bodyPr wrap="square" lIns="0" tIns="0" rIns="0" bIns="0" rtlCol="0" anchor="t"/>
          <a:lstStyle/>
          <a:p>
            <a:pPr indent="0" marL="0">
              <a:buNone/>
            </a:pPr>
            <a:r>
              <a:rPr lang="en-US" sz="1300" dirty="0">
                <a:solidFill>
                  <a:srgbClr val="1B2559"/>
                </a:solidFill>
                <a:latin typeface="Georgia" pitchFamily="34" charset="0"/>
                <a:ea typeface="Georgia" pitchFamily="34" charset="-122"/>
                <a:cs typeface="Georgia" pitchFamily="34" charset="-120"/>
              </a:rPr>
              <a:t>On average, women get married at </a:t>
            </a:r>
            <a:pPr indent="0" marL="0">
              <a:buNone/>
            </a:pPr>
            <a:r>
              <a:rPr lang="en-US" sz="1300" b="1" dirty="0">
                <a:solidFill>
                  <a:srgbClr val="2EB872"/>
                </a:solidFill>
                <a:latin typeface="Georgia" pitchFamily="34" charset="0"/>
                <a:ea typeface="Georgia" pitchFamily="34" charset="-122"/>
                <a:cs typeface="Georgia" pitchFamily="34" charset="-120"/>
              </a:rPr>
              <a:t> (4) ________ </a:t>
            </a:r>
            <a:pPr indent="0" marL="0">
              <a:buNone/>
            </a:pPr>
            <a:r>
              <a:rPr lang="en-US" sz="1300" dirty="0">
                <a:solidFill>
                  <a:srgbClr val="1B2559"/>
                </a:solidFill>
                <a:latin typeface="Georgia" pitchFamily="34" charset="0"/>
                <a:ea typeface="Georgia" pitchFamily="34" charset="-122"/>
                <a:cs typeface="Georgia" pitchFamily="34" charset="-120"/>
              </a:rPr>
              <a:t> and men at </a:t>
            </a:r>
            <a:pPr indent="0" marL="0">
              <a:buNone/>
            </a:pPr>
            <a:r>
              <a:rPr lang="en-US" sz="1300" b="1" dirty="0">
                <a:solidFill>
                  <a:srgbClr val="2EB872"/>
                </a:solidFill>
                <a:latin typeface="Georgia" pitchFamily="34" charset="0"/>
                <a:ea typeface="Georgia" pitchFamily="34" charset="-122"/>
                <a:cs typeface="Georgia" pitchFamily="34" charset="-120"/>
              </a:rPr>
              <a:t> (5) ________ </a:t>
            </a:r>
            <a:pPr indent="0" marL="0">
              <a:buNone/>
            </a:pPr>
            <a:r>
              <a:rPr lang="en-US" sz="1300" dirty="0">
                <a:solidFill>
                  <a:srgbClr val="1B2559"/>
                </a:solidFill>
                <a:latin typeface="Georgia" pitchFamily="34" charset="0"/>
                <a:ea typeface="Georgia" pitchFamily="34" charset="-122"/>
                <a:cs typeface="Georgia" pitchFamily="34" charset="-120"/>
              </a:rPr>
              <a:t>.</a:t>
            </a:r>
            <a:endParaRPr lang="en-US" sz="1300" dirty="0"/>
          </a:p>
        </p:txBody>
      </p:sp>
      <p:sp>
        <p:nvSpPr>
          <p:cNvPr id="21" name="R3_lnA284"/>
          <p:cNvSpPr/>
          <p:nvPr/>
        </p:nvSpPr>
        <p:spPr>
          <a:xfrm>
            <a:off x="548640" y="4140367"/>
            <a:ext cx="5349240" cy="568793"/>
          </a:xfrm>
          <a:prstGeom prst="rect">
            <a:avLst/>
          </a:prstGeom>
          <a:solidFill>
            <a:srgbClr val="FFFFFF"/>
          </a:solidFill>
          <a:ln/>
        </p:spPr>
        <p:txBody>
          <a:bodyPr wrap="square" lIns="0" tIns="0" rIns="0" bIns="0" rtlCol="0" anchor="t"/>
          <a:lstStyle/>
          <a:p>
            <a:pPr indent="0" marL="0">
              <a:buNone/>
            </a:pPr>
            <a:r>
              <a:rPr lang="en-US" sz="1300" dirty="0">
                <a:solidFill>
                  <a:srgbClr val="1B2559"/>
                </a:solidFill>
                <a:latin typeface="Georgia" pitchFamily="34" charset="0"/>
                <a:ea typeface="Georgia" pitchFamily="34" charset="-122"/>
                <a:cs typeface="Georgia" pitchFamily="34" charset="-120"/>
              </a:rPr>
              <a:t>On average, women get married at </a:t>
            </a:r>
            <a:pPr indent="0" marL="0">
              <a:buNone/>
            </a:pPr>
            <a:r>
              <a:rPr lang="en-US" sz="1300" b="1" dirty="0">
                <a:solidFill>
                  <a:srgbClr val="1B2559"/>
                </a:solidFill>
                <a:highlight>
                  <a:srgbClr val="FFE066"/>
                </a:highlight>
                <a:latin typeface="Georgia" pitchFamily="34" charset="0"/>
                <a:ea typeface="Georgia" pitchFamily="34" charset="-122"/>
                <a:cs typeface="Georgia" pitchFamily="34" charset="-120"/>
              </a:rPr>
              <a:t>30</a:t>
            </a:r>
            <a:pPr indent="0" marL="0">
              <a:buNone/>
            </a:pPr>
            <a:r>
              <a:rPr lang="en-US" sz="1300" dirty="0">
                <a:solidFill>
                  <a:srgbClr val="1B2559"/>
                </a:solidFill>
                <a:latin typeface="Georgia" pitchFamily="34" charset="0"/>
                <a:ea typeface="Georgia" pitchFamily="34" charset="-122"/>
                <a:cs typeface="Georgia" pitchFamily="34" charset="-120"/>
              </a:rPr>
              <a:t> and men at </a:t>
            </a:r>
            <a:pPr indent="0" marL="0">
              <a:buNone/>
            </a:pPr>
            <a:r>
              <a:rPr lang="en-US" sz="1300" b="1" dirty="0">
                <a:solidFill>
                  <a:srgbClr val="1B2559"/>
                </a:solidFill>
                <a:highlight>
                  <a:srgbClr val="FFE066"/>
                </a:highlight>
                <a:latin typeface="Georgia" pitchFamily="34" charset="0"/>
                <a:ea typeface="Georgia" pitchFamily="34" charset="-122"/>
                <a:cs typeface="Georgia" pitchFamily="34" charset="-120"/>
              </a:rPr>
              <a:t>32</a:t>
            </a:r>
            <a:pPr indent="0" marL="0">
              <a:buNone/>
            </a:pPr>
            <a:r>
              <a:rPr lang="en-US" sz="1300" dirty="0">
                <a:solidFill>
                  <a:srgbClr val="1B2559"/>
                </a:solidFill>
                <a:latin typeface="Georgia" pitchFamily="34" charset="0"/>
                <a:ea typeface="Georgia" pitchFamily="34" charset="-122"/>
                <a:cs typeface="Georgia" pitchFamily="34" charset="-120"/>
              </a:rPr>
              <a:t>.</a:t>
            </a:r>
            <a:endParaRPr lang="en-US" sz="1300" dirty="0"/>
          </a:p>
        </p:txBody>
      </p:sp>
      <p:sp>
        <p:nvSpPr>
          <p:cNvPr id="22" name="ap_285"/>
          <p:cNvSpPr/>
          <p:nvPr/>
        </p:nvSpPr>
        <p:spPr>
          <a:xfrm>
            <a:off x="6263640" y="1417320"/>
            <a:ext cx="2011680" cy="402336"/>
          </a:xfrm>
          <a:prstGeom prst="roundRect">
            <a:avLst>
              <a:gd name="adj" fmla="val 50000"/>
            </a:avLst>
          </a:prstGeom>
          <a:solidFill>
            <a:srgbClr val="E3F1FD"/>
          </a:solidFill>
          <a:ln w="28575">
            <a:solidFill>
              <a:srgbClr val="A9D3F5"/>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1.14</a:t>
            </a:r>
            <a:endParaRPr lang="en-US" sz="1100" dirty="0"/>
          </a:p>
        </p:txBody>
      </p:sp>
      <p:sp>
        <p:nvSpPr>
          <p:cNvPr id="23" name="ah_286"/>
          <p:cNvSpPr/>
          <p:nvPr/>
        </p:nvSpPr>
        <p:spPr>
          <a:xfrm>
            <a:off x="4636008" y="4572000"/>
            <a:ext cx="978408" cy="365760"/>
          </a:xfrm>
          <a:prstGeom prst="rect">
            <a:avLst/>
          </a:prstGeom>
          <a:noFill/>
          <a:ln/>
        </p:spPr>
        <p:txBody>
          <a:bodyPr wrap="square" lIns="0" tIns="0" rIns="0" bIns="0" rtlCol="0" anchor="ctr"/>
          <a:lstStyle/>
          <a:p>
            <a:pPr algn="r" indent="0" marL="0">
              <a:buNone/>
            </a:pPr>
            <a:r>
              <a:rPr lang="en-US" sz="1000" b="1" dirty="0">
                <a:solidFill>
                  <a:srgbClr val="2F8DE4"/>
                </a:solidFill>
                <a:latin typeface="Segoe UI Semibold" pitchFamily="34" charset="0"/>
                <a:ea typeface="Segoe UI Semibold" pitchFamily="34" charset="-122"/>
                <a:cs typeface="Segoe UI Semibold" pitchFamily="34" charset="-120"/>
              </a:rPr>
              <a:t>▶ normal</a:t>
            </a:r>
            <a:endParaRPr lang="en-US" sz="1000" dirty="0"/>
          </a:p>
        </p:txBody>
      </p:sp>
      <p:pic>
        <p:nvPicPr>
          <p:cNvPr id="24"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5687568" y="4553712"/>
            <a:ext cx="411480" cy="411480"/>
          </a:xfrm>
          <a:prstGeom prst="rect">
            <a:avLst/>
          </a:prstGeom>
        </p:spPr>
      </p:pic>
      <p:sp>
        <p:nvSpPr>
          <p:cNvPr id="25" name="ah_287"/>
          <p:cNvSpPr/>
          <p:nvPr/>
        </p:nvSpPr>
        <p:spPr>
          <a:xfrm>
            <a:off x="7470648" y="4572000"/>
            <a:ext cx="932688" cy="365760"/>
          </a:xfrm>
          <a:prstGeom prst="rect">
            <a:avLst/>
          </a:prstGeom>
          <a:noFill/>
          <a:ln/>
        </p:spPr>
        <p:txBody>
          <a:bodyPr wrap="square" lIns="0" tIns="0" rIns="0" bIns="0" rtlCol="0" anchor="ctr"/>
          <a:lstStyle/>
          <a:p>
            <a:pPr algn="r" indent="0" marL="0">
              <a:buNone/>
            </a:pPr>
            <a:r>
              <a:rPr lang="en-US" sz="1000" b="1" dirty="0">
                <a:solidFill>
                  <a:srgbClr val="2F8DE4"/>
                </a:solidFill>
                <a:latin typeface="Segoe UI Semibold" pitchFamily="34" charset="0"/>
                <a:ea typeface="Segoe UI Semibold" pitchFamily="34" charset="-122"/>
                <a:cs typeface="Segoe UI Semibold" pitchFamily="34" charset="-120"/>
              </a:rPr>
              <a:t>🐢 slower</a:t>
            </a:r>
            <a:endParaRPr lang="en-US" sz="1000" dirty="0"/>
          </a:p>
        </p:txBody>
      </p:sp>
      <p:pic>
        <p:nvPicPr>
          <p:cNvPr id="26"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476488" y="4553712"/>
            <a:ext cx="411480" cy="411480"/>
          </a:xfrm>
          <a:prstGeom prst="rect">
            <a:avLst/>
          </a:prstGeom>
        </p:spPr>
      </p:pic>
      <p:sp>
        <p:nvSpPr>
          <p:cNvPr id="27" name="pf_288"/>
          <p:cNvSpPr/>
          <p:nvPr/>
        </p:nvSpPr>
        <p:spPr>
          <a:xfrm rot="120000">
            <a:off x="6633816" y="1965960"/>
            <a:ext cx="1911408" cy="1508760"/>
          </a:xfrm>
          <a:prstGeom prst="roundRect">
            <a:avLst>
              <a:gd name="adj" fmla="val 1030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8" name="ph_289" descr="/home/claude/lls-course/v2/cache/1b1_single_dad_jpg_438x341_31.png">    </p:cNvPr>
          <p:cNvPicPr>
            <a:picLocks noChangeAspect="1"/>
          </p:cNvPicPr>
          <p:nvPr/>
        </p:nvPicPr>
        <p:blipFill>
          <a:blip r:embed="rId11"/>
          <a:stretch>
            <a:fillRect/>
          </a:stretch>
        </p:blipFill>
        <p:spPr>
          <a:xfrm rot="120000">
            <a:off x="6679536" y="2011680"/>
            <a:ext cx="1819968" cy="1417320"/>
          </a:xfrm>
          <a:prstGeom prst="rect">
            <a:avLst/>
          </a:prstGeom>
        </p:spPr>
      </p:pic>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4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18" restart="whenNotActive" fill="hold" evtFilter="cancelBubble" nodeType="interactiveSeq">
                <p:stCondLst>
                  <p:cond evt="onClick" delay="0">
                    <p:tgtEl>
                      <p:spTgt spid="24"/>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24"/>
                                        </p:tgtEl>
                                      </p:cBhvr>
                                    </p:cmd>
                                  </p:childTnLst>
                                </p:cTn>
                              </p:par>
                            </p:childTnLst>
                          </p:cTn>
                        </p:par>
                      </p:childTnLst>
                    </p:cTn>
                  </p:par>
                </p:childTnLst>
              </p:cTn>
              <p:nextCondLst>
                <p:cond evt="onClick" delay="0">
                  <p:tgtEl>
                    <p:spTgt spid="24"/>
                  </p:tgtEl>
                </p:cond>
              </p:nextCondLst>
            </p:seq>
            <p:seq concurrent="1" nextAc="seek">
              <p:cTn id="23" restart="whenNotActive" fill="hold" evtFilter="cancelBubble" nodeType="interactiveSeq">
                <p:stCondLst>
                  <p:cond evt="onClick" delay="0">
                    <p:tgtEl>
                      <p:spTgt spid="26"/>
                    </p:tgtEl>
                  </p:cond>
                </p:stCondLst>
                <p:endSync evt="end" delay="0">
                  <p:rtn val="all"/>
                </p:endSync>
                <p:childTnLst>
                  <p:par>
                    <p:cTn id="24" fill="hold">
                      <p:stCondLst>
                        <p:cond delay="0"/>
                      </p:stCondLst>
                      <p:childTnLst>
                        <p:par>
                          <p:cTn id="25" fill="hold">
                            <p:stCondLst>
                              <p:cond delay="0"/>
                            </p:stCondLst>
                            <p:childTnLst>
                              <p:par>
                                <p:cTn id="26" presetID="2" presetClass="mediacall" presetSubtype="0" fill="hold" nodeType="clickEffect">
                                  <p:stCondLst>
                                    <p:cond delay="0"/>
                                  </p:stCondLst>
                                  <p:childTnLst>
                                    <p:cmd type="call" cmd="togglePause">
                                      <p:cBhvr>
                                        <p:cTn id="27" dur="1" fill="hold"/>
                                        <p:tgtEl>
                                          <p:spTgt spid="26"/>
                                        </p:tgtEl>
                                      </p:cBhvr>
                                    </p:cmd>
                                  </p:childTnLst>
                                </p:cTn>
                              </p:par>
                            </p:childTnLst>
                          </p:cTn>
                        </p:par>
                      </p:childTnLst>
                    </p:cTn>
                  </p:par>
                </p:childTnLst>
              </p:cTn>
              <p:nextCondLst>
                <p:cond evt="onClick" delay="0">
                  <p:tgtEl>
                    <p:spTgt spid="26"/>
                  </p:tgtEl>
                </p:cond>
              </p:nextCondLst>
            </p:seq>
            <p:audio>
              <p:cMediaNode vol="80000">
                <p:cTn id="28" fill="hold" display="0">
                  <p:stCondLst>
                    <p:cond delay="indefinite"/>
                  </p:stCondLst>
                  <p:endCondLst>
                    <p:cond evt="onStopAudio" delay="0">
                      <p:tgtEl>
                        <p:sldTgt/>
                      </p:tgtEl>
                    </p:cond>
                  </p:endCondLst>
                </p:cTn>
                <p:tgtEl>
                  <p:spTgt spid="24"/>
                </p:tgtEl>
              </p:cMediaNode>
            </p:audio>
            <p:audio>
              <p:cMediaNode vol="80000">
                <p:cTn id="29" fill="hold" display="0">
                  <p:stCondLst>
                    <p:cond delay="indefinite"/>
                  </p:stCondLst>
                  <p:endCondLst>
                    <p:cond evt="onStopAudio" delay="0">
                      <p:tgtEl>
                        <p:sldTgt/>
                      </p:tgtEl>
                    </p:cond>
                  </p:endCondLst>
                </p:cTn>
                <p:tgtEl>
                  <p:spTgt spid="26"/>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90"/>
          <p:cNvSpPr/>
          <p:nvPr/>
        </p:nvSpPr>
        <p:spPr>
          <a:xfrm>
            <a:off x="201168" y="164592"/>
            <a:ext cx="841248" cy="841248"/>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10</a:t>
            </a:r>
            <a:endParaRPr lang="en-US" sz="2200" dirty="0"/>
          </a:p>
        </p:txBody>
      </p:sp>
      <p:pic>
        <p:nvPicPr>
          <p:cNvPr id="4" name="brY_291" descr="/home/claude/lls-course/v2/assets/brush-yellow.png">    </p:cNvPr>
          <p:cNvPicPr>
            <a:picLocks noChangeAspect="1"/>
          </p:cNvPicPr>
          <p:nvPr/>
        </p:nvPicPr>
        <p:blipFill>
          <a:blip r:embed="rId2"/>
          <a:stretch>
            <a:fillRect/>
          </a:stretch>
        </p:blipFill>
        <p:spPr>
          <a:xfrm>
            <a:off x="1097280" y="146304"/>
            <a:ext cx="3562502" cy="621792"/>
          </a:xfrm>
          <a:prstGeom prst="rect">
            <a:avLst/>
          </a:prstGeom>
        </p:spPr>
      </p:pic>
      <p:sp>
        <p:nvSpPr>
          <p:cNvPr id="5" name="title_292"/>
          <p:cNvSpPr/>
          <p:nvPr/>
        </p:nvSpPr>
        <p:spPr>
          <a:xfrm>
            <a:off x="1261872" y="164592"/>
            <a:ext cx="328818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Read and check 2/2</a:t>
            </a:r>
            <a:endParaRPr lang="en-US" sz="2500" dirty="0"/>
          </a:p>
        </p:txBody>
      </p:sp>
      <p:pic>
        <p:nvPicPr>
          <p:cNvPr id="6" name="brP_293" descr="/home/claude/lls-course/v2/assets/brush-pink.png">    </p:cNvPr>
          <p:cNvPicPr>
            <a:picLocks noChangeAspect="1"/>
          </p:cNvPicPr>
          <p:nvPr/>
        </p:nvPicPr>
        <p:blipFill>
          <a:blip r:embed="rId3"/>
          <a:stretch>
            <a:fillRect/>
          </a:stretch>
        </p:blipFill>
        <p:spPr>
          <a:xfrm>
            <a:off x="1207008" y="731520"/>
            <a:ext cx="4206240" cy="402336"/>
          </a:xfrm>
          <a:prstGeom prst="rect">
            <a:avLst/>
          </a:prstGeom>
        </p:spPr>
      </p:pic>
      <p:sp>
        <p:nvSpPr>
          <p:cNvPr id="7" name="ins_294"/>
          <p:cNvSpPr/>
          <p:nvPr/>
        </p:nvSpPr>
        <p:spPr>
          <a:xfrm>
            <a:off x="1353312" y="731520"/>
            <a:ext cx="395020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Write a number in gaps 6–8. Then listen.</a:t>
            </a:r>
            <a:endParaRPr lang="en-US" sz="1250" dirty="0"/>
          </a:p>
        </p:txBody>
      </p:sp>
      <p:sp>
        <p:nvSpPr>
          <p:cNvPr id="8" name="insIT_295"/>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Scrivi un numero negli spazi 6–8. Poi ascolta.</a:t>
            </a:r>
            <a:endParaRPr lang="en-US" sz="950" dirty="0"/>
          </a:p>
        </p:txBody>
      </p:sp>
      <p:sp>
        <p:nvSpPr>
          <p:cNvPr id="9" name="note_296"/>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READ</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LISTEN</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3 min   👥 pairs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Reading · TPRS · reading</a:t>
            </a:r>
            <a:endParaRPr lang="en-US" sz="1150" dirty="0"/>
          </a:p>
        </p:txBody>
      </p:sp>
      <p:pic>
        <p:nvPicPr>
          <p:cNvPr id="10" name="logo_297"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298"/>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1B-1 · Reading · Family habits   ·   📖 SB p.10 · 1b, 1c · audio 1.14</a:t>
            </a:r>
            <a:endParaRPr lang="en-US" sz="800" dirty="0"/>
          </a:p>
        </p:txBody>
      </p:sp>
      <p:sp>
        <p:nvSpPr>
          <p:cNvPr id="12" name="cd_299"/>
          <p:cNvSpPr/>
          <p:nvPr/>
        </p:nvSpPr>
        <p:spPr>
          <a:xfrm>
            <a:off x="320040" y="1417320"/>
            <a:ext cx="5715000" cy="3337560"/>
          </a:xfrm>
          <a:prstGeom prst="roundRect">
            <a:avLst>
              <a:gd name="adj" fmla="val 3836"/>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13" name="sh_300"/>
          <p:cNvSpPr/>
          <p:nvPr/>
        </p:nvSpPr>
        <p:spPr>
          <a:xfrm>
            <a:off x="320040" y="1417320"/>
            <a:ext cx="5715000" cy="438912"/>
          </a:xfrm>
          <a:prstGeom prst="rect">
            <a:avLst/>
          </a:prstGeom>
          <a:solidFill>
            <a:srgbClr val="E3F7EA"/>
          </a:solidFill>
          <a:ln/>
        </p:spPr>
        <p:txBody>
          <a:bodyPr wrap="square" lIns="203200" tIns="0" rIns="203200" bIns="0" rtlCol="0" anchor="ctr"/>
          <a:lstStyle/>
          <a:p>
            <a:pPr indent="0" marL="0">
              <a:buNone/>
            </a:pPr>
            <a:r>
              <a:rPr lang="en-US" sz="1700" b="1" dirty="0">
                <a:solidFill>
                  <a:srgbClr val="1F6F43"/>
                </a:solidFill>
                <a:latin typeface="Georgia" pitchFamily="34" charset="0"/>
                <a:ea typeface="Georgia" pitchFamily="34" charset="-122"/>
                <a:cs typeface="Georgia" pitchFamily="34" charset="-120"/>
              </a:rPr>
              <a:t>Family habits</a:t>
            </a:r>
            <a:endParaRPr lang="en-US" sz="1700" dirty="0"/>
          </a:p>
        </p:txBody>
      </p:sp>
      <p:sp>
        <p:nvSpPr>
          <p:cNvPr id="14" name="ln_301"/>
          <p:cNvSpPr/>
          <p:nvPr/>
        </p:nvSpPr>
        <p:spPr>
          <a:xfrm>
            <a:off x="548640" y="1920240"/>
            <a:ext cx="5349240" cy="612048"/>
          </a:xfrm>
          <a:prstGeom prst="rect">
            <a:avLst/>
          </a:prstGeom>
          <a:noFill/>
          <a:ln/>
        </p:spPr>
        <p:txBody>
          <a:bodyPr wrap="square" lIns="0" tIns="0" rIns="0" bIns="0" rtlCol="0" anchor="t"/>
          <a:lstStyle/>
          <a:p>
            <a:pPr indent="0" marL="0">
              <a:buNone/>
            </a:pPr>
            <a:r>
              <a:rPr lang="en-US" sz="1300" dirty="0">
                <a:solidFill>
                  <a:srgbClr val="1B2559"/>
                </a:solidFill>
                <a:latin typeface="Georgia" pitchFamily="34" charset="0"/>
                <a:ea typeface="Georgia" pitchFamily="34" charset="-122"/>
                <a:cs typeface="Georgia" pitchFamily="34" charset="-120"/>
              </a:rPr>
              <a:t>20% of families only eat together once or twice a week, and </a:t>
            </a:r>
            <a:pPr indent="0" marL="0">
              <a:buNone/>
            </a:pPr>
            <a:r>
              <a:rPr lang="en-US" sz="1300" b="1" dirty="0">
                <a:solidFill>
                  <a:srgbClr val="2EB872"/>
                </a:solidFill>
                <a:latin typeface="Georgia" pitchFamily="34" charset="0"/>
                <a:ea typeface="Georgia" pitchFamily="34" charset="-122"/>
                <a:cs typeface="Georgia" pitchFamily="34" charset="-120"/>
              </a:rPr>
              <a:t> (6) ________ </a:t>
            </a:r>
            <a:pPr indent="0" marL="0">
              <a:buNone/>
            </a:pPr>
            <a:r>
              <a:rPr lang="en-US" sz="1300" dirty="0">
                <a:solidFill>
                  <a:srgbClr val="1B2559"/>
                </a:solidFill>
                <a:latin typeface="Georgia" pitchFamily="34" charset="0"/>
                <a:ea typeface="Georgia" pitchFamily="34" charset="-122"/>
                <a:cs typeface="Georgia" pitchFamily="34" charset="-120"/>
              </a:rPr>
              <a:t> never eat at the same time.</a:t>
            </a:r>
            <a:endParaRPr lang="en-US" sz="1300" dirty="0"/>
          </a:p>
        </p:txBody>
      </p:sp>
      <p:sp>
        <p:nvSpPr>
          <p:cNvPr id="15" name="R1_lnA302"/>
          <p:cNvSpPr/>
          <p:nvPr/>
        </p:nvSpPr>
        <p:spPr>
          <a:xfrm>
            <a:off x="548640" y="1920240"/>
            <a:ext cx="5349240" cy="612048"/>
          </a:xfrm>
          <a:prstGeom prst="rect">
            <a:avLst/>
          </a:prstGeom>
          <a:solidFill>
            <a:srgbClr val="FFFFFF"/>
          </a:solidFill>
          <a:ln/>
        </p:spPr>
        <p:txBody>
          <a:bodyPr wrap="square" lIns="0" tIns="0" rIns="0" bIns="0" rtlCol="0" anchor="t"/>
          <a:lstStyle/>
          <a:p>
            <a:pPr indent="0" marL="0">
              <a:buNone/>
            </a:pPr>
            <a:r>
              <a:rPr lang="en-US" sz="1300" dirty="0">
                <a:solidFill>
                  <a:srgbClr val="1B2559"/>
                </a:solidFill>
                <a:latin typeface="Georgia" pitchFamily="34" charset="0"/>
                <a:ea typeface="Georgia" pitchFamily="34" charset="-122"/>
                <a:cs typeface="Georgia" pitchFamily="34" charset="-120"/>
              </a:rPr>
              <a:t>20% of families only eat together once or twice a week, and </a:t>
            </a:r>
            <a:pPr indent="0" marL="0">
              <a:buNone/>
            </a:pPr>
            <a:r>
              <a:rPr lang="en-US" sz="1300" b="1" dirty="0">
                <a:solidFill>
                  <a:srgbClr val="1B2559"/>
                </a:solidFill>
                <a:highlight>
                  <a:srgbClr val="FFE066"/>
                </a:highlight>
                <a:latin typeface="Georgia" pitchFamily="34" charset="0"/>
                <a:ea typeface="Georgia" pitchFamily="34" charset="-122"/>
                <a:cs typeface="Georgia" pitchFamily="34" charset="-120"/>
              </a:rPr>
              <a:t>10%</a:t>
            </a:r>
            <a:pPr indent="0" marL="0">
              <a:buNone/>
            </a:pPr>
            <a:r>
              <a:rPr lang="en-US" sz="1300" dirty="0">
                <a:solidFill>
                  <a:srgbClr val="1B2559"/>
                </a:solidFill>
                <a:latin typeface="Georgia" pitchFamily="34" charset="0"/>
                <a:ea typeface="Georgia" pitchFamily="34" charset="-122"/>
                <a:cs typeface="Georgia" pitchFamily="34" charset="-120"/>
              </a:rPr>
              <a:t> never eat at the same time.</a:t>
            </a:r>
            <a:endParaRPr lang="en-US" sz="1300" dirty="0"/>
          </a:p>
        </p:txBody>
      </p:sp>
      <p:sp>
        <p:nvSpPr>
          <p:cNvPr id="16" name="ln_303"/>
          <p:cNvSpPr/>
          <p:nvPr/>
        </p:nvSpPr>
        <p:spPr>
          <a:xfrm>
            <a:off x="548640" y="2532288"/>
            <a:ext cx="5349240" cy="328108"/>
          </a:xfrm>
          <a:prstGeom prst="rect">
            <a:avLst/>
          </a:prstGeom>
          <a:noFill/>
          <a:ln/>
        </p:spPr>
        <p:txBody>
          <a:bodyPr wrap="square" lIns="0" tIns="0" rIns="0" bIns="0" rtlCol="0" anchor="t"/>
          <a:lstStyle/>
          <a:p>
            <a:pPr indent="0" marL="0">
              <a:buNone/>
            </a:pPr>
            <a:r>
              <a:rPr lang="en-US" sz="1300" dirty="0">
                <a:solidFill>
                  <a:srgbClr val="1B2559"/>
                </a:solidFill>
                <a:latin typeface="Georgia" pitchFamily="34" charset="0"/>
                <a:ea typeface="Georgia" pitchFamily="34" charset="-122"/>
                <a:cs typeface="Georgia" pitchFamily="34" charset="-120"/>
              </a:rPr>
              <a:t>They visit friends or extended family twice a month.</a:t>
            </a:r>
            <a:endParaRPr lang="en-US" sz="1300" dirty="0"/>
          </a:p>
        </p:txBody>
      </p:sp>
      <p:sp>
        <p:nvSpPr>
          <p:cNvPr id="17" name="ln_304"/>
          <p:cNvSpPr/>
          <p:nvPr/>
        </p:nvSpPr>
        <p:spPr>
          <a:xfrm>
            <a:off x="548640" y="2860396"/>
            <a:ext cx="5349240" cy="473233"/>
          </a:xfrm>
          <a:prstGeom prst="rect">
            <a:avLst/>
          </a:prstGeom>
          <a:noFill/>
          <a:ln/>
        </p:spPr>
        <p:txBody>
          <a:bodyPr wrap="square" lIns="0" tIns="0" rIns="0" bIns="0" rtlCol="0" anchor="t"/>
          <a:lstStyle/>
          <a:p>
            <a:pPr indent="0" marL="0">
              <a:buNone/>
            </a:pPr>
            <a:r>
              <a:rPr lang="en-US" sz="1300" b="1" dirty="0">
                <a:solidFill>
                  <a:srgbClr val="2EB872"/>
                </a:solidFill>
                <a:latin typeface="Georgia" pitchFamily="34" charset="0"/>
                <a:ea typeface="Georgia" pitchFamily="34" charset="-122"/>
                <a:cs typeface="Georgia" pitchFamily="34" charset="-120"/>
              </a:rPr>
              <a:t> (7) ________ </a:t>
            </a:r>
            <a:pPr indent="0" marL="0">
              <a:buNone/>
            </a:pPr>
            <a:r>
              <a:rPr lang="en-US" sz="1300" dirty="0">
                <a:solidFill>
                  <a:srgbClr val="1B2559"/>
                </a:solidFill>
                <a:latin typeface="Georgia" pitchFamily="34" charset="0"/>
                <a:ea typeface="Georgia" pitchFamily="34" charset="-122"/>
                <a:cs typeface="Georgia" pitchFamily="34" charset="-120"/>
              </a:rPr>
              <a:t> of people have family members who they never speak to or contact.</a:t>
            </a:r>
            <a:endParaRPr lang="en-US" sz="1300" dirty="0"/>
          </a:p>
        </p:txBody>
      </p:sp>
      <p:sp>
        <p:nvSpPr>
          <p:cNvPr id="18" name="R2_lnA305"/>
          <p:cNvSpPr/>
          <p:nvPr/>
        </p:nvSpPr>
        <p:spPr>
          <a:xfrm>
            <a:off x="548640" y="2860396"/>
            <a:ext cx="5349240" cy="473233"/>
          </a:xfrm>
          <a:prstGeom prst="rect">
            <a:avLst/>
          </a:prstGeom>
          <a:solidFill>
            <a:srgbClr val="FFFFFF"/>
          </a:solidFill>
          <a:ln/>
        </p:spPr>
        <p:txBody>
          <a:bodyPr wrap="square" lIns="0" tIns="0" rIns="0" bIns="0" rtlCol="0" anchor="t"/>
          <a:lstStyle/>
          <a:p>
            <a:pPr indent="0" marL="0">
              <a:buNone/>
            </a:pPr>
            <a:r>
              <a:rPr lang="en-US" sz="1300" b="1" dirty="0">
                <a:solidFill>
                  <a:srgbClr val="1B2559"/>
                </a:solidFill>
                <a:highlight>
                  <a:srgbClr val="FFE066"/>
                </a:highlight>
                <a:latin typeface="Georgia" pitchFamily="34" charset="0"/>
                <a:ea typeface="Georgia" pitchFamily="34" charset="-122"/>
                <a:cs typeface="Georgia" pitchFamily="34" charset="-120"/>
              </a:rPr>
              <a:t>17%</a:t>
            </a:r>
            <a:pPr indent="0" marL="0">
              <a:buNone/>
            </a:pPr>
            <a:r>
              <a:rPr lang="en-US" sz="1300" dirty="0">
                <a:solidFill>
                  <a:srgbClr val="1B2559"/>
                </a:solidFill>
                <a:latin typeface="Georgia" pitchFamily="34" charset="0"/>
                <a:ea typeface="Georgia" pitchFamily="34" charset="-122"/>
                <a:cs typeface="Georgia" pitchFamily="34" charset="-120"/>
              </a:rPr>
              <a:t> of people have family members who they never speak to or contact.</a:t>
            </a:r>
            <a:endParaRPr lang="en-US" sz="1300" dirty="0"/>
          </a:p>
        </p:txBody>
      </p:sp>
      <p:sp>
        <p:nvSpPr>
          <p:cNvPr id="19" name="ln_306"/>
          <p:cNvSpPr/>
          <p:nvPr/>
        </p:nvSpPr>
        <p:spPr>
          <a:xfrm>
            <a:off x="548640" y="3333629"/>
            <a:ext cx="5349240" cy="473233"/>
          </a:xfrm>
          <a:prstGeom prst="rect">
            <a:avLst/>
          </a:prstGeom>
          <a:noFill/>
          <a:ln/>
        </p:spPr>
        <p:txBody>
          <a:bodyPr wrap="square" lIns="0" tIns="0" rIns="0" bIns="0" rtlCol="0" anchor="t"/>
          <a:lstStyle/>
          <a:p>
            <a:pPr indent="0" marL="0">
              <a:buNone/>
            </a:pPr>
            <a:r>
              <a:rPr lang="en-US" sz="1300" dirty="0">
                <a:solidFill>
                  <a:srgbClr val="1B2559"/>
                </a:solidFill>
                <a:latin typeface="Georgia" pitchFamily="34" charset="0"/>
                <a:ea typeface="Georgia" pitchFamily="34" charset="-122"/>
                <a:cs typeface="Georgia" pitchFamily="34" charset="-120"/>
              </a:rPr>
              <a:t>75% of people are happiest with their families, and 17% with their friends.</a:t>
            </a:r>
            <a:endParaRPr lang="en-US" sz="1300" dirty="0"/>
          </a:p>
        </p:txBody>
      </p:sp>
      <p:sp>
        <p:nvSpPr>
          <p:cNvPr id="20" name="ln_307"/>
          <p:cNvSpPr/>
          <p:nvPr/>
        </p:nvSpPr>
        <p:spPr>
          <a:xfrm>
            <a:off x="548640" y="3806862"/>
            <a:ext cx="5349240" cy="902298"/>
          </a:xfrm>
          <a:prstGeom prst="rect">
            <a:avLst/>
          </a:prstGeom>
          <a:noFill/>
          <a:ln/>
        </p:spPr>
        <p:txBody>
          <a:bodyPr wrap="square" lIns="0" tIns="0" rIns="0" bIns="0" rtlCol="0" anchor="t"/>
          <a:lstStyle/>
          <a:p>
            <a:pPr indent="0" marL="0">
              <a:buNone/>
            </a:pPr>
            <a:r>
              <a:rPr lang="en-US" sz="1300" dirty="0">
                <a:solidFill>
                  <a:srgbClr val="1B2559"/>
                </a:solidFill>
                <a:latin typeface="Georgia" pitchFamily="34" charset="0"/>
                <a:ea typeface="Georgia" pitchFamily="34" charset="-122"/>
                <a:cs typeface="Georgia" pitchFamily="34" charset="-120"/>
              </a:rPr>
              <a:t>The average family has </a:t>
            </a:r>
            <a:pPr indent="0" marL="0">
              <a:buNone/>
            </a:pPr>
            <a:r>
              <a:rPr lang="en-US" sz="1300" b="1" dirty="0">
                <a:solidFill>
                  <a:srgbClr val="2EB872"/>
                </a:solidFill>
                <a:latin typeface="Georgia" pitchFamily="34" charset="0"/>
                <a:ea typeface="Georgia" pitchFamily="34" charset="-122"/>
                <a:cs typeface="Georgia" pitchFamily="34" charset="-120"/>
              </a:rPr>
              <a:t> (8) ________ </a:t>
            </a:r>
            <a:pPr indent="0" marL="0">
              <a:buNone/>
            </a:pPr>
            <a:r>
              <a:rPr lang="en-US" sz="1300" dirty="0">
                <a:solidFill>
                  <a:srgbClr val="1B2559"/>
                </a:solidFill>
                <a:latin typeface="Georgia" pitchFamily="34" charset="0"/>
                <a:ea typeface="Georgia" pitchFamily="34" charset="-122"/>
                <a:cs typeface="Georgia" pitchFamily="34" charset="-120"/>
              </a:rPr>
              <a:t> rows /raʊz/ each day. The most common cause: children or teenagers refusing to put down their phones or tablets.</a:t>
            </a:r>
            <a:endParaRPr lang="en-US" sz="1300" dirty="0"/>
          </a:p>
        </p:txBody>
      </p:sp>
      <p:sp>
        <p:nvSpPr>
          <p:cNvPr id="21" name="R3_lnA308"/>
          <p:cNvSpPr/>
          <p:nvPr/>
        </p:nvSpPr>
        <p:spPr>
          <a:xfrm>
            <a:off x="548640" y="3806862"/>
            <a:ext cx="5349240" cy="902298"/>
          </a:xfrm>
          <a:prstGeom prst="rect">
            <a:avLst/>
          </a:prstGeom>
          <a:solidFill>
            <a:srgbClr val="FFFFFF"/>
          </a:solidFill>
          <a:ln/>
        </p:spPr>
        <p:txBody>
          <a:bodyPr wrap="square" lIns="0" tIns="0" rIns="0" bIns="0" rtlCol="0" anchor="t"/>
          <a:lstStyle/>
          <a:p>
            <a:pPr indent="0" marL="0">
              <a:buNone/>
            </a:pPr>
            <a:r>
              <a:rPr lang="en-US" sz="1300" dirty="0">
                <a:solidFill>
                  <a:srgbClr val="1B2559"/>
                </a:solidFill>
                <a:latin typeface="Georgia" pitchFamily="34" charset="0"/>
                <a:ea typeface="Georgia" pitchFamily="34" charset="-122"/>
                <a:cs typeface="Georgia" pitchFamily="34" charset="-120"/>
              </a:rPr>
              <a:t>The average family has </a:t>
            </a:r>
            <a:pPr indent="0" marL="0">
              <a:buNone/>
            </a:pPr>
            <a:r>
              <a:rPr lang="en-US" sz="1300" b="1" dirty="0">
                <a:solidFill>
                  <a:srgbClr val="1B2559"/>
                </a:solidFill>
                <a:highlight>
                  <a:srgbClr val="FFE066"/>
                </a:highlight>
                <a:latin typeface="Georgia" pitchFamily="34" charset="0"/>
                <a:ea typeface="Georgia" pitchFamily="34" charset="-122"/>
                <a:cs typeface="Georgia" pitchFamily="34" charset="-120"/>
              </a:rPr>
              <a:t>2</a:t>
            </a:r>
            <a:pPr indent="0" marL="0">
              <a:buNone/>
            </a:pPr>
            <a:r>
              <a:rPr lang="en-US" sz="1300" dirty="0">
                <a:solidFill>
                  <a:srgbClr val="1B2559"/>
                </a:solidFill>
                <a:latin typeface="Georgia" pitchFamily="34" charset="0"/>
                <a:ea typeface="Georgia" pitchFamily="34" charset="-122"/>
                <a:cs typeface="Georgia" pitchFamily="34" charset="-120"/>
              </a:rPr>
              <a:t> rows /raʊz/ each day. The most common cause: children or teenagers refusing to put down their phones or tablets.</a:t>
            </a:r>
            <a:endParaRPr lang="en-US" sz="1300" dirty="0"/>
          </a:p>
        </p:txBody>
      </p:sp>
      <p:sp>
        <p:nvSpPr>
          <p:cNvPr id="22" name="ap_309"/>
          <p:cNvSpPr/>
          <p:nvPr/>
        </p:nvSpPr>
        <p:spPr>
          <a:xfrm>
            <a:off x="6263640" y="1417320"/>
            <a:ext cx="2011680" cy="402336"/>
          </a:xfrm>
          <a:prstGeom prst="roundRect">
            <a:avLst>
              <a:gd name="adj" fmla="val 50000"/>
            </a:avLst>
          </a:prstGeom>
          <a:solidFill>
            <a:srgbClr val="E3F1FD"/>
          </a:solidFill>
          <a:ln w="28575">
            <a:solidFill>
              <a:srgbClr val="A9D3F5"/>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1.14</a:t>
            </a:r>
            <a:endParaRPr lang="en-US" sz="1100" dirty="0"/>
          </a:p>
        </p:txBody>
      </p:sp>
      <p:sp>
        <p:nvSpPr>
          <p:cNvPr id="23" name="ah_310"/>
          <p:cNvSpPr/>
          <p:nvPr/>
        </p:nvSpPr>
        <p:spPr>
          <a:xfrm>
            <a:off x="4636008" y="4572000"/>
            <a:ext cx="978408" cy="365760"/>
          </a:xfrm>
          <a:prstGeom prst="rect">
            <a:avLst/>
          </a:prstGeom>
          <a:noFill/>
          <a:ln/>
        </p:spPr>
        <p:txBody>
          <a:bodyPr wrap="square" lIns="0" tIns="0" rIns="0" bIns="0" rtlCol="0" anchor="ctr"/>
          <a:lstStyle/>
          <a:p>
            <a:pPr algn="r" indent="0" marL="0">
              <a:buNone/>
            </a:pPr>
            <a:r>
              <a:rPr lang="en-US" sz="1000" b="1" dirty="0">
                <a:solidFill>
                  <a:srgbClr val="2F8DE4"/>
                </a:solidFill>
                <a:latin typeface="Segoe UI Semibold" pitchFamily="34" charset="0"/>
                <a:ea typeface="Segoe UI Semibold" pitchFamily="34" charset="-122"/>
                <a:cs typeface="Segoe UI Semibold" pitchFamily="34" charset="-120"/>
              </a:rPr>
              <a:t>▶ normal</a:t>
            </a:r>
            <a:endParaRPr lang="en-US" sz="1000" dirty="0"/>
          </a:p>
        </p:txBody>
      </p:sp>
      <p:pic>
        <p:nvPicPr>
          <p:cNvPr id="24"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5687568" y="4553712"/>
            <a:ext cx="411480" cy="411480"/>
          </a:xfrm>
          <a:prstGeom prst="rect">
            <a:avLst/>
          </a:prstGeom>
        </p:spPr>
      </p:pic>
      <p:sp>
        <p:nvSpPr>
          <p:cNvPr id="25" name="ah_311"/>
          <p:cNvSpPr/>
          <p:nvPr/>
        </p:nvSpPr>
        <p:spPr>
          <a:xfrm>
            <a:off x="7470648" y="4572000"/>
            <a:ext cx="932688" cy="365760"/>
          </a:xfrm>
          <a:prstGeom prst="rect">
            <a:avLst/>
          </a:prstGeom>
          <a:noFill/>
          <a:ln/>
        </p:spPr>
        <p:txBody>
          <a:bodyPr wrap="square" lIns="0" tIns="0" rIns="0" bIns="0" rtlCol="0" anchor="ctr"/>
          <a:lstStyle/>
          <a:p>
            <a:pPr algn="r" indent="0" marL="0">
              <a:buNone/>
            </a:pPr>
            <a:r>
              <a:rPr lang="en-US" sz="1000" b="1" dirty="0">
                <a:solidFill>
                  <a:srgbClr val="2F8DE4"/>
                </a:solidFill>
                <a:latin typeface="Segoe UI Semibold" pitchFamily="34" charset="0"/>
                <a:ea typeface="Segoe UI Semibold" pitchFamily="34" charset="-122"/>
                <a:cs typeface="Segoe UI Semibold" pitchFamily="34" charset="-120"/>
              </a:rPr>
              <a:t>🐢 slower</a:t>
            </a:r>
            <a:endParaRPr lang="en-US" sz="1000" dirty="0"/>
          </a:p>
        </p:txBody>
      </p:sp>
      <p:pic>
        <p:nvPicPr>
          <p:cNvPr id="26"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476488" y="4553712"/>
            <a:ext cx="411480" cy="411480"/>
          </a:xfrm>
          <a:prstGeom prst="rect">
            <a:avLst/>
          </a:prstGeom>
        </p:spPr>
      </p:pic>
      <p:sp>
        <p:nvSpPr>
          <p:cNvPr id="27" name="pf_312"/>
          <p:cNvSpPr/>
          <p:nvPr/>
        </p:nvSpPr>
        <p:spPr>
          <a:xfrm rot="120000">
            <a:off x="6674945" y="1965960"/>
            <a:ext cx="1829150" cy="1508760"/>
          </a:xfrm>
          <a:prstGeom prst="roundRect">
            <a:avLst>
              <a:gd name="adj" fmla="val 1030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8" name="ph_313" descr="/home/claude/lls-course/v2/cache/1b1_phone_row_jpg_418x341_31.png">    </p:cNvPr>
          <p:cNvPicPr>
            <a:picLocks noChangeAspect="1"/>
          </p:cNvPicPr>
          <p:nvPr/>
        </p:nvPicPr>
        <p:blipFill>
          <a:blip r:embed="rId11"/>
          <a:stretch>
            <a:fillRect/>
          </a:stretch>
        </p:blipFill>
        <p:spPr>
          <a:xfrm rot="120000">
            <a:off x="6720665" y="2011680"/>
            <a:ext cx="1737710" cy="1417320"/>
          </a:xfrm>
          <a:prstGeom prst="rect">
            <a:avLst/>
          </a:prstGeom>
        </p:spPr>
      </p:pic>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4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18" restart="whenNotActive" fill="hold" evtFilter="cancelBubble" nodeType="interactiveSeq">
                <p:stCondLst>
                  <p:cond evt="onClick" delay="0">
                    <p:tgtEl>
                      <p:spTgt spid="24"/>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24"/>
                                        </p:tgtEl>
                                      </p:cBhvr>
                                    </p:cmd>
                                  </p:childTnLst>
                                </p:cTn>
                              </p:par>
                            </p:childTnLst>
                          </p:cTn>
                        </p:par>
                      </p:childTnLst>
                    </p:cTn>
                  </p:par>
                </p:childTnLst>
              </p:cTn>
              <p:nextCondLst>
                <p:cond evt="onClick" delay="0">
                  <p:tgtEl>
                    <p:spTgt spid="24"/>
                  </p:tgtEl>
                </p:cond>
              </p:nextCondLst>
            </p:seq>
            <p:seq concurrent="1" nextAc="seek">
              <p:cTn id="23" restart="whenNotActive" fill="hold" evtFilter="cancelBubble" nodeType="interactiveSeq">
                <p:stCondLst>
                  <p:cond evt="onClick" delay="0">
                    <p:tgtEl>
                      <p:spTgt spid="26"/>
                    </p:tgtEl>
                  </p:cond>
                </p:stCondLst>
                <p:endSync evt="end" delay="0">
                  <p:rtn val="all"/>
                </p:endSync>
                <p:childTnLst>
                  <p:par>
                    <p:cTn id="24" fill="hold">
                      <p:stCondLst>
                        <p:cond delay="0"/>
                      </p:stCondLst>
                      <p:childTnLst>
                        <p:par>
                          <p:cTn id="25" fill="hold">
                            <p:stCondLst>
                              <p:cond delay="0"/>
                            </p:stCondLst>
                            <p:childTnLst>
                              <p:par>
                                <p:cTn id="26" presetID="2" presetClass="mediacall" presetSubtype="0" fill="hold" nodeType="clickEffect">
                                  <p:stCondLst>
                                    <p:cond delay="0"/>
                                  </p:stCondLst>
                                  <p:childTnLst>
                                    <p:cmd type="call" cmd="togglePause">
                                      <p:cBhvr>
                                        <p:cTn id="27" dur="1" fill="hold"/>
                                        <p:tgtEl>
                                          <p:spTgt spid="26"/>
                                        </p:tgtEl>
                                      </p:cBhvr>
                                    </p:cmd>
                                  </p:childTnLst>
                                </p:cTn>
                              </p:par>
                            </p:childTnLst>
                          </p:cTn>
                        </p:par>
                      </p:childTnLst>
                    </p:cTn>
                  </p:par>
                </p:childTnLst>
              </p:cTn>
              <p:nextCondLst>
                <p:cond evt="onClick" delay="0">
                  <p:tgtEl>
                    <p:spTgt spid="26"/>
                  </p:tgtEl>
                </p:cond>
              </p:nextCondLst>
            </p:seq>
            <p:audio>
              <p:cMediaNode vol="80000">
                <p:cTn id="28" fill="hold" display="0">
                  <p:stCondLst>
                    <p:cond delay="indefinite"/>
                  </p:stCondLst>
                  <p:endCondLst>
                    <p:cond evt="onStopAudio" delay="0">
                      <p:tgtEl>
                        <p:sldTgt/>
                      </p:tgtEl>
                    </p:cond>
                  </p:endCondLst>
                </p:cTn>
                <p:tgtEl>
                  <p:spTgt spid="24"/>
                </p:tgtEl>
              </p:cMediaNode>
            </p:audio>
            <p:audio>
              <p:cMediaNode vol="80000">
                <p:cTn id="29" fill="hold" display="0">
                  <p:stCondLst>
                    <p:cond delay="indefinite"/>
                  </p:stCondLst>
                  <p:endCondLst>
                    <p:cond evt="onStopAudio" delay="0">
                      <p:tgtEl>
                        <p:sldTgt/>
                      </p:tgtEl>
                    </p:cond>
                  </p:endCondLst>
                </p:cTn>
                <p:tgtEl>
                  <p:spTgt spid="26"/>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14"/>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11</a:t>
            </a:r>
            <a:endParaRPr lang="en-US" sz="2200" dirty="0"/>
          </a:p>
        </p:txBody>
      </p:sp>
      <p:pic>
        <p:nvPicPr>
          <p:cNvPr id="4" name="brY_315" descr="/home/claude/lls-course/v2/assets/brush-yellow.png">    </p:cNvPr>
          <p:cNvPicPr>
            <a:picLocks noChangeAspect="1"/>
          </p:cNvPicPr>
          <p:nvPr/>
        </p:nvPicPr>
        <p:blipFill>
          <a:blip r:embed="rId2"/>
          <a:stretch>
            <a:fillRect/>
          </a:stretch>
        </p:blipFill>
        <p:spPr>
          <a:xfrm>
            <a:off x="1097280" y="146304"/>
            <a:ext cx="3247949" cy="621792"/>
          </a:xfrm>
          <a:prstGeom prst="rect">
            <a:avLst/>
          </a:prstGeom>
        </p:spPr>
      </p:pic>
      <p:sp>
        <p:nvSpPr>
          <p:cNvPr id="5" name="title_316"/>
          <p:cNvSpPr/>
          <p:nvPr/>
        </p:nvSpPr>
        <p:spPr>
          <a:xfrm>
            <a:off x="1261872" y="164592"/>
            <a:ext cx="2973629"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Sicily vs the UK</a:t>
            </a:r>
            <a:endParaRPr lang="en-US" sz="2500" dirty="0"/>
          </a:p>
        </p:txBody>
      </p:sp>
      <p:pic>
        <p:nvPicPr>
          <p:cNvPr id="6" name="brP_317" descr="/home/claude/lls-course/v2/assets/brush-pink.png">    </p:cNvPr>
          <p:cNvPicPr>
            <a:picLocks noChangeAspect="1"/>
          </p:cNvPicPr>
          <p:nvPr/>
        </p:nvPicPr>
        <p:blipFill>
          <a:blip r:embed="rId3"/>
          <a:stretch>
            <a:fillRect/>
          </a:stretch>
        </p:blipFill>
        <p:spPr>
          <a:xfrm>
            <a:off x="1207008" y="731520"/>
            <a:ext cx="3858768" cy="402336"/>
          </a:xfrm>
          <a:prstGeom prst="rect">
            <a:avLst/>
          </a:prstGeom>
        </p:spPr>
      </p:pic>
      <p:sp>
        <p:nvSpPr>
          <p:cNvPr id="7" name="ins_318"/>
          <p:cNvSpPr/>
          <p:nvPr/>
        </p:nvSpPr>
        <p:spPr>
          <a:xfrm>
            <a:off x="1353312" y="731520"/>
            <a:ext cx="360273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Answer with a reason. Then ask: Why?</a:t>
            </a:r>
            <a:endParaRPr lang="en-US" sz="1250" dirty="0"/>
          </a:p>
        </p:txBody>
      </p:sp>
      <p:sp>
        <p:nvSpPr>
          <p:cNvPr id="8" name="insIT_319"/>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Rispondi con un motivo. Poi chiedi: Perché?</a:t>
            </a:r>
            <a:endParaRPr lang="en-US" sz="950" dirty="0"/>
          </a:p>
        </p:txBody>
      </p:sp>
      <p:sp>
        <p:nvSpPr>
          <p:cNvPr id="9" name="note_320"/>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TALK</a:t>
            </a:r>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 PARLA</a:t>
            </a:r>
            <a:endParaRPr lang="en-US" sz="12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5 min   👨‍👩‍👧 groups</a:t>
            </a:r>
            <a:endParaRPr lang="en-US" sz="12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Speaking · Communicative</a:t>
            </a:r>
            <a:endParaRPr lang="en-US" sz="1250" dirty="0"/>
          </a:p>
        </p:txBody>
      </p:sp>
      <p:pic>
        <p:nvPicPr>
          <p:cNvPr id="10" name="logo_321"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322"/>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1B-1 · Speaking · Sicily vs the UK   ·   📖 SB p.10 · 1c, 1d</a:t>
            </a:r>
            <a:endParaRPr lang="en-US" sz="800" dirty="0"/>
          </a:p>
        </p:txBody>
      </p:sp>
      <p:sp>
        <p:nvSpPr>
          <p:cNvPr id="12" name="pf_323"/>
          <p:cNvSpPr/>
          <p:nvPr/>
        </p:nvSpPr>
        <p:spPr>
          <a:xfrm rot="-120000">
            <a:off x="651904" y="1371600"/>
            <a:ext cx="2125192" cy="1325880"/>
          </a:xfrm>
          <a:prstGeom prst="roundRect">
            <a:avLst>
              <a:gd name="adj" fmla="val 11724"/>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3" name="ph_324" descr="/home/claude/lls-course/v2/cache/1b1_sunday_lunch_jpg_489x297_31.png">    </p:cNvPr>
          <p:cNvPicPr>
            <a:picLocks noChangeAspect="1"/>
          </p:cNvPicPr>
          <p:nvPr/>
        </p:nvPicPr>
        <p:blipFill>
          <a:blip r:embed="rId5"/>
          <a:stretch>
            <a:fillRect/>
          </a:stretch>
        </p:blipFill>
        <p:spPr>
          <a:xfrm rot="-120000">
            <a:off x="697624" y="1417320"/>
            <a:ext cx="2033752" cy="1234440"/>
          </a:xfrm>
          <a:prstGeom prst="rect">
            <a:avLst/>
          </a:prstGeom>
        </p:spPr>
      </p:pic>
      <p:sp>
        <p:nvSpPr>
          <p:cNvPr id="14" name="cd_325"/>
          <p:cNvSpPr/>
          <p:nvPr/>
        </p:nvSpPr>
        <p:spPr>
          <a:xfrm>
            <a:off x="320040" y="2880360"/>
            <a:ext cx="2788920" cy="1163320"/>
          </a:xfrm>
          <a:prstGeom prst="roundRect">
            <a:avLst>
              <a:gd name="adj" fmla="val 11004"/>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5" name="ii_326"/>
          <p:cNvSpPr/>
          <p:nvPr/>
        </p:nvSpPr>
        <p:spPr>
          <a:xfrm>
            <a:off x="411480" y="29535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327"/>
          <p:cNvSpPr/>
          <p:nvPr/>
        </p:nvSpPr>
        <p:spPr>
          <a:xfrm>
            <a:off x="886968" y="2971800"/>
            <a:ext cx="214884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Useful phrases</a:t>
            </a:r>
            <a:endParaRPr lang="en-US" sz="1300" dirty="0"/>
          </a:p>
        </p:txBody>
      </p:sp>
      <p:sp>
        <p:nvSpPr>
          <p:cNvPr id="17" name="il_328"/>
          <p:cNvSpPr/>
          <p:nvPr/>
        </p:nvSpPr>
        <p:spPr>
          <a:xfrm>
            <a:off x="886968" y="3374136"/>
            <a:ext cx="2130552" cy="596392"/>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I'm sorry, I'd rather not talk about that.</a:t>
            </a:r>
            <a:endParaRPr lang="en-US" sz="1150" dirty="0"/>
          </a:p>
        </p:txBody>
      </p:sp>
      <p:sp>
        <p:nvSpPr>
          <p:cNvPr id="18" name="R1_qb329"/>
          <p:cNvSpPr/>
          <p:nvPr/>
        </p:nvSpPr>
        <p:spPr>
          <a:xfrm>
            <a:off x="3273552" y="1453896"/>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19" name="R1_sq330"/>
          <p:cNvSpPr/>
          <p:nvPr/>
        </p:nvSpPr>
        <p:spPr>
          <a:xfrm>
            <a:off x="3675888" y="1417320"/>
            <a:ext cx="5193792" cy="483108"/>
          </a:xfrm>
          <a:prstGeom prst="roundRect">
            <a:avLst>
              <a:gd name="adj" fmla="val 22713"/>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000" dirty="0">
                <a:solidFill>
                  <a:srgbClr val="1B2559"/>
                </a:solidFill>
                <a:latin typeface="Segoe UI Semibold" pitchFamily="34" charset="0"/>
                <a:ea typeface="Segoe UI Semibold" pitchFamily="34" charset="-122"/>
                <a:cs typeface="Segoe UI Semibold" pitchFamily="34" charset="-120"/>
              </a:rPr>
              <a:t>In the UK, 20% of families rarely eat together. And in Sicily?</a:t>
            </a:r>
            <a:endParaRPr lang="en-US" sz="100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No! In Sicily most families eat together every day.</a:t>
            </a:r>
            <a:endParaRPr lang="en-US" sz="1000" dirty="0"/>
          </a:p>
        </p:txBody>
      </p:sp>
      <p:sp>
        <p:nvSpPr>
          <p:cNvPr id="20" name="R2_qb331"/>
          <p:cNvSpPr/>
          <p:nvPr/>
        </p:nvSpPr>
        <p:spPr>
          <a:xfrm>
            <a:off x="3273552" y="2010156"/>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1" name="R2_sq332"/>
          <p:cNvSpPr/>
          <p:nvPr/>
        </p:nvSpPr>
        <p:spPr>
          <a:xfrm>
            <a:off x="3675888" y="1973580"/>
            <a:ext cx="5193792" cy="483108"/>
          </a:xfrm>
          <a:prstGeom prst="roundRect">
            <a:avLst>
              <a:gd name="adj" fmla="val 22713"/>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000" dirty="0">
                <a:solidFill>
                  <a:srgbClr val="1B2559"/>
                </a:solidFill>
                <a:latin typeface="Segoe UI Semibold" pitchFamily="34" charset="0"/>
                <a:ea typeface="Segoe UI Semibold" pitchFamily="34" charset="-122"/>
                <a:cs typeface="Segoe UI Semibold" pitchFamily="34" charset="-120"/>
              </a:rPr>
              <a:t>Who do you live with? Is your family big or small?</a:t>
            </a:r>
            <a:endParaRPr lang="en-US" sz="100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I live with my mum, my dad and my little brother.</a:t>
            </a:r>
            <a:endParaRPr lang="en-US" sz="1000" dirty="0"/>
          </a:p>
        </p:txBody>
      </p:sp>
      <p:sp>
        <p:nvSpPr>
          <p:cNvPr id="22" name="R3_qb333"/>
          <p:cNvSpPr/>
          <p:nvPr/>
        </p:nvSpPr>
        <p:spPr>
          <a:xfrm>
            <a:off x="3273552" y="2566416"/>
            <a:ext cx="329184" cy="329184"/>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3" name="R3_sq334"/>
          <p:cNvSpPr/>
          <p:nvPr/>
        </p:nvSpPr>
        <p:spPr>
          <a:xfrm>
            <a:off x="3675888" y="2529840"/>
            <a:ext cx="5193792" cy="483108"/>
          </a:xfrm>
          <a:prstGeom prst="roundRect">
            <a:avLst>
              <a:gd name="adj" fmla="val 22713"/>
            </a:avLst>
          </a:prstGeom>
          <a:solidFill>
            <a:srgbClr val="FFFFFF"/>
          </a:solidFill>
          <a:ln w="2857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000" dirty="0">
                <a:solidFill>
                  <a:srgbClr val="1B2559"/>
                </a:solidFill>
                <a:latin typeface="Segoe UI Semibold" pitchFamily="34" charset="0"/>
                <a:ea typeface="Segoe UI Semibold" pitchFamily="34" charset="-122"/>
                <a:cs typeface="Segoe UI Semibold" pitchFamily="34" charset="-120"/>
              </a:rPr>
              <a:t>How often do you see your extended family?</a:t>
            </a:r>
            <a:endParaRPr lang="en-US" sz="100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Every Sunday – we have lunch at my nonna's!</a:t>
            </a:r>
            <a:endParaRPr lang="en-US" sz="1000" dirty="0"/>
          </a:p>
        </p:txBody>
      </p:sp>
      <p:sp>
        <p:nvSpPr>
          <p:cNvPr id="24" name="R4_qb335"/>
          <p:cNvSpPr/>
          <p:nvPr/>
        </p:nvSpPr>
        <p:spPr>
          <a:xfrm>
            <a:off x="3273552" y="3122676"/>
            <a:ext cx="329184" cy="329184"/>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5" name="R4_sq336"/>
          <p:cNvSpPr/>
          <p:nvPr/>
        </p:nvSpPr>
        <p:spPr>
          <a:xfrm>
            <a:off x="3675888" y="3086100"/>
            <a:ext cx="5193792" cy="483108"/>
          </a:xfrm>
          <a:prstGeom prst="roundRect">
            <a:avLst>
              <a:gd name="adj" fmla="val 22713"/>
            </a:avLst>
          </a:prstGeom>
          <a:solidFill>
            <a:srgbClr val="FFFFFF"/>
          </a:solidFill>
          <a:ln w="28575">
            <a:solidFill>
              <a:srgbClr val="FFE07A"/>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000" dirty="0">
                <a:solidFill>
                  <a:srgbClr val="1B2559"/>
                </a:solidFill>
                <a:latin typeface="Segoe UI Semibold" pitchFamily="34" charset="0"/>
                <a:ea typeface="Segoe UI Semibold" pitchFamily="34" charset="-122"/>
                <a:cs typeface="Segoe UI Semibold" pitchFamily="34" charset="-120"/>
              </a:rPr>
              <a:t>Free time: family or friends? Why?</a:t>
            </a:r>
            <a:endParaRPr lang="en-US" sz="100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Friends, because we like the same things.</a:t>
            </a:r>
            <a:endParaRPr lang="en-US" sz="1000" dirty="0"/>
          </a:p>
        </p:txBody>
      </p:sp>
      <p:sp>
        <p:nvSpPr>
          <p:cNvPr id="26" name="R5_qb337"/>
          <p:cNvSpPr/>
          <p:nvPr/>
        </p:nvSpPr>
        <p:spPr>
          <a:xfrm>
            <a:off x="3273552" y="3678936"/>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27" name="R5_sq338"/>
          <p:cNvSpPr/>
          <p:nvPr/>
        </p:nvSpPr>
        <p:spPr>
          <a:xfrm>
            <a:off x="3675888" y="3642360"/>
            <a:ext cx="4507992" cy="483108"/>
          </a:xfrm>
          <a:prstGeom prst="roundRect">
            <a:avLst>
              <a:gd name="adj" fmla="val 22713"/>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000" dirty="0">
                <a:solidFill>
                  <a:srgbClr val="1B2559"/>
                </a:solidFill>
                <a:latin typeface="Segoe UI Semibold" pitchFamily="34" charset="0"/>
                <a:ea typeface="Segoe UI Semibold" pitchFamily="34" charset="-122"/>
                <a:cs typeface="Segoe UI Semibold" pitchFamily="34" charset="-120"/>
              </a:rPr>
              <a:t>Is there anyone in your family you don't get on with?</a:t>
            </a:r>
            <a:endParaRPr lang="en-US" sz="100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My cousin – he always takes my things!</a:t>
            </a:r>
            <a:endParaRPr lang="en-US" sz="1000" dirty="0"/>
          </a:p>
        </p:txBody>
      </p:sp>
      <p:pic>
        <p:nvPicPr>
          <p:cNvPr id="28" name="R5_th339" descr="/home/claude/lls-course/v2/cache/1b1_dont_get_on_jpg_154x107_18.png">    </p:cNvPr>
          <p:cNvPicPr>
            <a:picLocks noChangeAspect="1"/>
          </p:cNvPicPr>
          <p:nvPr/>
        </p:nvPicPr>
        <p:blipFill>
          <a:blip r:embed="rId6"/>
          <a:stretch>
            <a:fillRect/>
          </a:stretch>
        </p:blipFill>
        <p:spPr>
          <a:xfrm>
            <a:off x="8257032" y="3660648"/>
            <a:ext cx="640080" cy="446532"/>
          </a:xfrm>
          <a:prstGeom prst="rect">
            <a:avLst/>
          </a:prstGeom>
        </p:spPr>
      </p:pic>
      <p:sp>
        <p:nvSpPr>
          <p:cNvPr id="29" name="R6_qb340"/>
          <p:cNvSpPr/>
          <p:nvPr/>
        </p:nvSpPr>
        <p:spPr>
          <a:xfrm>
            <a:off x="3273552" y="4235196"/>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6</a:t>
            </a:r>
            <a:endParaRPr lang="en-US" sz="1100" dirty="0"/>
          </a:p>
        </p:txBody>
      </p:sp>
      <p:sp>
        <p:nvSpPr>
          <p:cNvPr id="30" name="R6_sq341"/>
          <p:cNvSpPr/>
          <p:nvPr/>
        </p:nvSpPr>
        <p:spPr>
          <a:xfrm>
            <a:off x="3675888" y="4198620"/>
            <a:ext cx="4507992" cy="483108"/>
          </a:xfrm>
          <a:prstGeom prst="roundRect">
            <a:avLst>
              <a:gd name="adj" fmla="val 22713"/>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000" dirty="0">
                <a:solidFill>
                  <a:srgbClr val="1B2559"/>
                </a:solidFill>
                <a:latin typeface="Segoe UI Semibold" pitchFamily="34" charset="0"/>
                <a:ea typeface="Segoe UI Semibold" pitchFamily="34" charset="-122"/>
                <a:cs typeface="Segoe UI Semibold" pitchFamily="34" charset="-120"/>
              </a:rPr>
              <a:t>What do you argue about at home? Phones?</a:t>
            </a:r>
            <a:endParaRPr lang="en-US" sz="100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My mum says I'm always on my phone at dinner.</a:t>
            </a:r>
            <a:endParaRPr lang="en-US" sz="1000" dirty="0"/>
          </a:p>
        </p:txBody>
      </p:sp>
      <p:pic>
        <p:nvPicPr>
          <p:cNvPr id="31" name="R6_th342" descr="/home/claude/lls-course/v2/cache/1b1_phone_row_jpg_154x107_18.png">    </p:cNvPr>
          <p:cNvPicPr>
            <a:picLocks noChangeAspect="1"/>
          </p:cNvPicPr>
          <p:nvPr/>
        </p:nvPicPr>
        <p:blipFill>
          <a:blip r:embed="rId7"/>
          <a:stretch>
            <a:fillRect/>
          </a:stretch>
        </p:blipFill>
        <p:spPr>
          <a:xfrm>
            <a:off x="8257032" y="4216908"/>
            <a:ext cx="640080" cy="446532"/>
          </a:xfrm>
          <a:prstGeom prst="rect">
            <a:avLst/>
          </a:prstGeom>
        </p:spPr>
      </p:pic>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400"/>
                                        <p:tgtEl>
                                          <p:spTgt spid="22"/>
                                        </p:tgtEl>
                                      </p:cBhvr>
                                    </p:animEffect>
                                  </p:childTnLst>
                                </p:cTn>
                              </p:par>
                              <p:par>
                                <p:cTn id="24" presetID="10" presetClass="entr" presetSubtype="0" fill="hold" nodeType="with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400"/>
                                        <p:tgtEl>
                                          <p:spTgt spid="2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400"/>
                                        <p:tgtEl>
                                          <p:spTgt spid="24"/>
                                        </p:tgtEl>
                                      </p:cBhvr>
                                    </p:animEffect>
                                  </p:childTnLst>
                                </p:cTn>
                              </p:par>
                              <p:par>
                                <p:cTn id="32" presetID="10" presetClass="entr" presetSubtype="0" fill="hold" nodeType="withEffect">
                                  <p:stCondLst>
                                    <p:cond delay="0"/>
                                  </p:stCondLst>
                                  <p:childTnLst>
                                    <p:set>
                                      <p:cBhvr>
                                        <p:cTn id="33" dur="1" fill="hold">
                                          <p:stCondLst>
                                            <p:cond delay="0"/>
                                          </p:stCondLst>
                                        </p:cTn>
                                        <p:tgtEl>
                                          <p:spTgt spid="25"/>
                                        </p:tgtEl>
                                        <p:attrNameLst>
                                          <p:attrName>style.visibility</p:attrName>
                                        </p:attrNameLst>
                                      </p:cBhvr>
                                      <p:to>
                                        <p:strVal val="visible"/>
                                      </p:to>
                                    </p:set>
                                    <p:animEffect transition="in" filter="fade">
                                      <p:cBhvr>
                                        <p:cTn id="34" dur="400"/>
                                        <p:tgtEl>
                                          <p:spTgt spid="25"/>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6"/>
                                        </p:tgtEl>
                                        <p:attrNameLst>
                                          <p:attrName>style.visibility</p:attrName>
                                        </p:attrNameLst>
                                      </p:cBhvr>
                                      <p:to>
                                        <p:strVal val="visible"/>
                                      </p:to>
                                    </p:set>
                                    <p:animEffect transition="in" filter="fade">
                                      <p:cBhvr>
                                        <p:cTn id="39" dur="400"/>
                                        <p:tgtEl>
                                          <p:spTgt spid="26"/>
                                        </p:tgtEl>
                                      </p:cBhvr>
                                    </p:animEffect>
                                  </p:childTnLst>
                                </p:cTn>
                              </p:par>
                              <p:par>
                                <p:cTn id="40" presetID="10" presetClass="entr" presetSubtype="0" fill="hold" nodeType="withEffect">
                                  <p:stCondLst>
                                    <p:cond delay="0"/>
                                  </p:stCondLst>
                                  <p:childTnLst>
                                    <p:set>
                                      <p:cBhvr>
                                        <p:cTn id="41" dur="1" fill="hold">
                                          <p:stCondLst>
                                            <p:cond delay="0"/>
                                          </p:stCondLst>
                                        </p:cTn>
                                        <p:tgtEl>
                                          <p:spTgt spid="27"/>
                                        </p:tgtEl>
                                        <p:attrNameLst>
                                          <p:attrName>style.visibility</p:attrName>
                                        </p:attrNameLst>
                                      </p:cBhvr>
                                      <p:to>
                                        <p:strVal val="visible"/>
                                      </p:to>
                                    </p:set>
                                    <p:animEffect transition="in" filter="fade">
                                      <p:cBhvr>
                                        <p:cTn id="42" dur="400"/>
                                        <p:tgtEl>
                                          <p:spTgt spid="27"/>
                                        </p:tgtEl>
                                      </p:cBhvr>
                                    </p:animEffect>
                                  </p:childTnLst>
                                </p:cTn>
                              </p:par>
                              <p:par>
                                <p:cTn id="43" presetID="10" presetClass="entr" presetSubtype="0" fill="hold" nodeType="withEffect">
                                  <p:stCondLst>
                                    <p:cond delay="0"/>
                                  </p:stCondLst>
                                  <p:childTnLst>
                                    <p:set>
                                      <p:cBhvr>
                                        <p:cTn id="44" dur="1" fill="hold">
                                          <p:stCondLst>
                                            <p:cond delay="0"/>
                                          </p:stCondLst>
                                        </p:cTn>
                                        <p:tgtEl>
                                          <p:spTgt spid="28"/>
                                        </p:tgtEl>
                                        <p:attrNameLst>
                                          <p:attrName>style.visibility</p:attrName>
                                        </p:attrNameLst>
                                      </p:cBhvr>
                                      <p:to>
                                        <p:strVal val="visible"/>
                                      </p:to>
                                    </p:set>
                                    <p:animEffect transition="in" filter="fade">
                                      <p:cBhvr>
                                        <p:cTn id="45" dur="400"/>
                                        <p:tgtEl>
                                          <p:spTgt spid="28"/>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29"/>
                                        </p:tgtEl>
                                        <p:attrNameLst>
                                          <p:attrName>style.visibility</p:attrName>
                                        </p:attrNameLst>
                                      </p:cBhvr>
                                      <p:to>
                                        <p:strVal val="visible"/>
                                      </p:to>
                                    </p:set>
                                    <p:animEffect transition="in" filter="fade">
                                      <p:cBhvr>
                                        <p:cTn id="50" dur="400"/>
                                        <p:tgtEl>
                                          <p:spTgt spid="29"/>
                                        </p:tgtEl>
                                      </p:cBhvr>
                                    </p:animEffect>
                                  </p:childTnLst>
                                </p:cTn>
                              </p:par>
                              <p:par>
                                <p:cTn id="51" presetID="10" presetClass="entr" presetSubtype="0" fill="hold" nodeType="withEffect">
                                  <p:stCondLst>
                                    <p:cond delay="0"/>
                                  </p:stCondLst>
                                  <p:childTnLst>
                                    <p:set>
                                      <p:cBhvr>
                                        <p:cTn id="52" dur="1" fill="hold">
                                          <p:stCondLst>
                                            <p:cond delay="0"/>
                                          </p:stCondLst>
                                        </p:cTn>
                                        <p:tgtEl>
                                          <p:spTgt spid="30"/>
                                        </p:tgtEl>
                                        <p:attrNameLst>
                                          <p:attrName>style.visibility</p:attrName>
                                        </p:attrNameLst>
                                      </p:cBhvr>
                                      <p:to>
                                        <p:strVal val="visible"/>
                                      </p:to>
                                    </p:set>
                                    <p:animEffect transition="in" filter="fade">
                                      <p:cBhvr>
                                        <p:cTn id="53" dur="400"/>
                                        <p:tgtEl>
                                          <p:spTgt spid="30"/>
                                        </p:tgtEl>
                                      </p:cBhvr>
                                    </p:animEffect>
                                  </p:childTnLst>
                                </p:cTn>
                              </p:par>
                              <p:par>
                                <p:cTn id="54" presetID="10" presetClass="entr" presetSubtype="0" fill="hold" nodeType="withEffect">
                                  <p:stCondLst>
                                    <p:cond delay="0"/>
                                  </p:stCondLst>
                                  <p:childTnLst>
                                    <p:set>
                                      <p:cBhvr>
                                        <p:cTn id="55" dur="1" fill="hold">
                                          <p:stCondLst>
                                            <p:cond delay="0"/>
                                          </p:stCondLst>
                                        </p:cTn>
                                        <p:tgtEl>
                                          <p:spTgt spid="31"/>
                                        </p:tgtEl>
                                        <p:attrNameLst>
                                          <p:attrName>style.visibility</p:attrName>
                                        </p:attrNameLst>
                                      </p:cBhvr>
                                      <p:to>
                                        <p:strVal val="visible"/>
                                      </p:to>
                                    </p:set>
                                    <p:animEffect transition="in" filter="fade">
                                      <p:cBhvr>
                                        <p:cTn id="56"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43"/>
          <p:cNvSpPr/>
          <p:nvPr/>
        </p:nvSpPr>
        <p:spPr>
          <a:xfrm>
            <a:off x="201168" y="164592"/>
            <a:ext cx="841248" cy="8412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12</a:t>
            </a:r>
            <a:endParaRPr lang="en-US" sz="2200" dirty="0"/>
          </a:p>
        </p:txBody>
      </p:sp>
      <p:pic>
        <p:nvPicPr>
          <p:cNvPr id="4" name="brY_344" descr="/home/claude/lls-course/v2/assets/brush-yellow.png">    </p:cNvPr>
          <p:cNvPicPr>
            <a:picLocks noChangeAspect="1"/>
          </p:cNvPicPr>
          <p:nvPr/>
        </p:nvPicPr>
        <p:blipFill>
          <a:blip r:embed="rId2"/>
          <a:stretch>
            <a:fillRect/>
          </a:stretch>
        </p:blipFill>
        <p:spPr>
          <a:xfrm>
            <a:off x="1097280" y="146304"/>
            <a:ext cx="3719779" cy="621792"/>
          </a:xfrm>
          <a:prstGeom prst="rect">
            <a:avLst/>
          </a:prstGeom>
        </p:spPr>
      </p:pic>
      <p:sp>
        <p:nvSpPr>
          <p:cNvPr id="5" name="title_345"/>
          <p:cNvSpPr/>
          <p:nvPr/>
        </p:nvSpPr>
        <p:spPr>
          <a:xfrm>
            <a:off x="1261872" y="164592"/>
            <a:ext cx="3445459"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Three conversations</a:t>
            </a:r>
            <a:endParaRPr lang="en-US" sz="2500" dirty="0"/>
          </a:p>
        </p:txBody>
      </p:sp>
      <p:pic>
        <p:nvPicPr>
          <p:cNvPr id="6" name="brP_346" descr="/home/claude/lls-course/v2/assets/brush-pink.png">    </p:cNvPr>
          <p:cNvPicPr>
            <a:picLocks noChangeAspect="1"/>
          </p:cNvPicPr>
          <p:nvPr/>
        </p:nvPicPr>
        <p:blipFill>
          <a:blip r:embed="rId3"/>
          <a:stretch>
            <a:fillRect/>
          </a:stretch>
        </p:blipFill>
        <p:spPr>
          <a:xfrm>
            <a:off x="1207008" y="731520"/>
            <a:ext cx="3858768" cy="402336"/>
          </a:xfrm>
          <a:prstGeom prst="rect">
            <a:avLst/>
          </a:prstGeom>
        </p:spPr>
      </p:pic>
      <p:sp>
        <p:nvSpPr>
          <p:cNvPr id="7" name="ins_347"/>
          <p:cNvSpPr/>
          <p:nvPr/>
        </p:nvSpPr>
        <p:spPr>
          <a:xfrm>
            <a:off x="1353312" y="731520"/>
            <a:ext cx="360273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Listen. Match 1–3 to the photos A–C.</a:t>
            </a:r>
            <a:endParaRPr lang="en-US" sz="1250" dirty="0"/>
          </a:p>
        </p:txBody>
      </p:sp>
      <p:sp>
        <p:nvSpPr>
          <p:cNvPr id="8" name="insIT_348"/>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Ascolta. Abbina 1–3 alle foto A–C.</a:t>
            </a:r>
            <a:endParaRPr lang="en-US" sz="950" dirty="0"/>
          </a:p>
        </p:txBody>
      </p:sp>
      <p:sp>
        <p:nvSpPr>
          <p:cNvPr id="9" name="note_349"/>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LISTEN</a:t>
            </a:r>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 ASCOLTA</a:t>
            </a:r>
            <a:endParaRPr lang="en-US" sz="12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3 min   👤 alone</a:t>
            </a:r>
            <a:endParaRPr lang="en-US" sz="12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Listening · for gist</a:t>
            </a:r>
            <a:endParaRPr lang="en-US" sz="1250" dirty="0"/>
          </a:p>
        </p:txBody>
      </p:sp>
      <p:pic>
        <p:nvPicPr>
          <p:cNvPr id="10" name="logo_350"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351"/>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1B-1 · Listening · gist   ·   📖 SB p.11 · 2a · audio 1.15</a:t>
            </a:r>
            <a:endParaRPr lang="en-US" sz="800" dirty="0"/>
          </a:p>
        </p:txBody>
      </p:sp>
      <p:sp>
        <p:nvSpPr>
          <p:cNvPr id="12" name="ap_352"/>
          <p:cNvSpPr/>
          <p:nvPr/>
        </p:nvSpPr>
        <p:spPr>
          <a:xfrm>
            <a:off x="365760" y="1417320"/>
            <a:ext cx="2651760" cy="402336"/>
          </a:xfrm>
          <a:prstGeom prst="roundRect">
            <a:avLst>
              <a:gd name="adj" fmla="val 50000"/>
            </a:avLst>
          </a:prstGeom>
          <a:solidFill>
            <a:srgbClr val="E3F1FD"/>
          </a:solidFill>
          <a:ln w="28575">
            <a:solidFill>
              <a:srgbClr val="A9D3F5"/>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1.15  ·  play once</a:t>
            </a:r>
            <a:endParaRPr lang="en-US" sz="1100" dirty="0"/>
          </a:p>
        </p:txBody>
      </p:sp>
      <p:sp>
        <p:nvSpPr>
          <p:cNvPr id="13" name="ah_353"/>
          <p:cNvSpPr/>
          <p:nvPr/>
        </p:nvSpPr>
        <p:spPr>
          <a:xfrm>
            <a:off x="4636008" y="4572000"/>
            <a:ext cx="978408" cy="365760"/>
          </a:xfrm>
          <a:prstGeom prst="rect">
            <a:avLst/>
          </a:prstGeom>
          <a:noFill/>
          <a:ln/>
        </p:spPr>
        <p:txBody>
          <a:bodyPr wrap="square" lIns="0" tIns="0" rIns="0" bIns="0" rtlCol="0" anchor="ctr"/>
          <a:lstStyle/>
          <a:p>
            <a:pPr algn="r" indent="0" marL="0">
              <a:buNone/>
            </a:pPr>
            <a:r>
              <a:rPr lang="en-US" sz="1000" b="1" dirty="0">
                <a:solidFill>
                  <a:srgbClr val="2F8DE4"/>
                </a:solidFill>
                <a:latin typeface="Segoe UI Semibold" pitchFamily="34" charset="0"/>
                <a:ea typeface="Segoe UI Semibold" pitchFamily="34" charset="-122"/>
                <a:cs typeface="Segoe UI Semibold" pitchFamily="34" charset="-120"/>
              </a:rPr>
              <a:t>▶ normal</a:t>
            </a:r>
            <a:endParaRPr lang="en-US" sz="1000" dirty="0"/>
          </a:p>
        </p:txBody>
      </p:sp>
      <p:pic>
        <p:nvPicPr>
          <p:cNvPr id="14"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5687568" y="4553712"/>
            <a:ext cx="411480" cy="411480"/>
          </a:xfrm>
          <a:prstGeom prst="rect">
            <a:avLst/>
          </a:prstGeom>
        </p:spPr>
      </p:pic>
      <p:sp>
        <p:nvSpPr>
          <p:cNvPr id="15" name="ah_354"/>
          <p:cNvSpPr/>
          <p:nvPr/>
        </p:nvSpPr>
        <p:spPr>
          <a:xfrm>
            <a:off x="7470648" y="4572000"/>
            <a:ext cx="932688" cy="365760"/>
          </a:xfrm>
          <a:prstGeom prst="rect">
            <a:avLst/>
          </a:prstGeom>
          <a:noFill/>
          <a:ln/>
        </p:spPr>
        <p:txBody>
          <a:bodyPr wrap="square" lIns="0" tIns="0" rIns="0" bIns="0" rtlCol="0" anchor="ctr"/>
          <a:lstStyle/>
          <a:p>
            <a:pPr algn="r" indent="0" marL="0">
              <a:buNone/>
            </a:pPr>
            <a:r>
              <a:rPr lang="en-US" sz="1000" b="1" dirty="0">
                <a:solidFill>
                  <a:srgbClr val="2F8DE4"/>
                </a:solidFill>
                <a:latin typeface="Segoe UI Semibold" pitchFamily="34" charset="0"/>
                <a:ea typeface="Segoe UI Semibold" pitchFamily="34" charset="-122"/>
                <a:cs typeface="Segoe UI Semibold" pitchFamily="34" charset="-120"/>
              </a:rPr>
              <a:t>🐢 slower</a:t>
            </a:r>
            <a:endParaRPr lang="en-US" sz="1000" dirty="0"/>
          </a:p>
        </p:txBody>
      </p:sp>
      <p:pic>
        <p:nvPicPr>
          <p:cNvPr id="16"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476488" y="4553712"/>
            <a:ext cx="411480" cy="411480"/>
          </a:xfrm>
          <a:prstGeom prst="rect">
            <a:avLst/>
          </a:prstGeom>
        </p:spPr>
      </p:pic>
      <p:sp>
        <p:nvSpPr>
          <p:cNvPr id="17" name="ah2_355"/>
          <p:cNvSpPr/>
          <p:nvPr/>
        </p:nvSpPr>
        <p:spPr>
          <a:xfrm>
            <a:off x="3090672" y="1417320"/>
            <a:ext cx="1737360" cy="402336"/>
          </a:xfrm>
          <a:prstGeom prst="rect">
            <a:avLst/>
          </a:prstGeom>
          <a:noFill/>
          <a:ln/>
        </p:spPr>
        <p:txBody>
          <a:bodyPr wrap="square" lIns="0" tIns="0" rIns="0" bIns="0" rtlCol="0" anchor="ctr"/>
          <a:lstStyle/>
          <a:p>
            <a:pPr indent="0" marL="0">
              <a:buNone/>
            </a:pPr>
            <a:r>
              <a:rPr lang="en-US" sz="900" i="1" dirty="0">
                <a:solidFill>
                  <a:srgbClr val="5B6785"/>
                </a:solidFill>
                <a:latin typeface="Segoe UI Semibold" pitchFamily="34" charset="0"/>
                <a:ea typeface="Segoe UI Semibold" pitchFamily="34" charset="-122"/>
                <a:cs typeface="Segoe UI Semibold" pitchFamily="34" charset="-120"/>
              </a:rPr>
              <a:t>↘ speaker bottom right</a:t>
            </a:r>
            <a:endParaRPr lang="en-US" sz="900" dirty="0"/>
          </a:p>
        </p:txBody>
      </p:sp>
      <p:sp>
        <p:nvSpPr>
          <p:cNvPr id="18" name="pf_356"/>
          <p:cNvSpPr/>
          <p:nvPr/>
        </p:nvSpPr>
        <p:spPr>
          <a:xfrm rot="-90000">
            <a:off x="635350" y="2057400"/>
            <a:ext cx="1335339" cy="1325880"/>
          </a:xfrm>
          <a:prstGeom prst="roundRect">
            <a:avLst>
              <a:gd name="adj" fmla="val 11724"/>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9" name="ph_357" descr="/home/claude/lls-course/v2/cache/1b1_conv_a_jpg_299x297_31.png">    </p:cNvPr>
          <p:cNvPicPr>
            <a:picLocks noChangeAspect="1"/>
          </p:cNvPicPr>
          <p:nvPr/>
        </p:nvPicPr>
        <p:blipFill>
          <a:blip r:embed="rId11"/>
          <a:stretch>
            <a:fillRect/>
          </a:stretch>
        </p:blipFill>
        <p:spPr>
          <a:xfrm rot="-90000">
            <a:off x="681070" y="2103120"/>
            <a:ext cx="1243899" cy="1234440"/>
          </a:xfrm>
          <a:prstGeom prst="rect">
            <a:avLst/>
          </a:prstGeom>
        </p:spPr>
      </p:pic>
      <p:sp>
        <p:nvSpPr>
          <p:cNvPr id="20" name="bd_358"/>
          <p:cNvSpPr/>
          <p:nvPr/>
        </p:nvSpPr>
        <p:spPr>
          <a:xfrm>
            <a:off x="534766" y="1956816"/>
            <a:ext cx="420624" cy="42062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400" dirty="0">
                <a:solidFill>
                  <a:srgbClr val="FFFFFF"/>
                </a:solidFill>
                <a:latin typeface="Arial Rounded MT Bold" pitchFamily="34" charset="0"/>
                <a:ea typeface="Arial Rounded MT Bold" pitchFamily="34" charset="-122"/>
                <a:cs typeface="Arial Rounded MT Bold" pitchFamily="34" charset="-120"/>
              </a:rPr>
              <a:t>A</a:t>
            </a:r>
            <a:endParaRPr lang="en-US" sz="1400" dirty="0"/>
          </a:p>
        </p:txBody>
      </p:sp>
      <p:sp>
        <p:nvSpPr>
          <p:cNvPr id="21" name="pf_359"/>
          <p:cNvSpPr/>
          <p:nvPr/>
        </p:nvSpPr>
        <p:spPr>
          <a:xfrm rot="90000">
            <a:off x="2286000" y="2057400"/>
            <a:ext cx="1783080" cy="1325880"/>
          </a:xfrm>
          <a:prstGeom prst="roundRect">
            <a:avLst>
              <a:gd name="adj" fmla="val 11724"/>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2" name="ph_360" descr="/home/claude/lls-course/v2/cache/1b1_conv_b_jpg_407x297_31.png">    </p:cNvPr>
          <p:cNvPicPr>
            <a:picLocks noChangeAspect="1"/>
          </p:cNvPicPr>
          <p:nvPr/>
        </p:nvPicPr>
        <p:blipFill>
          <a:blip r:embed="rId12"/>
          <a:stretch>
            <a:fillRect/>
          </a:stretch>
        </p:blipFill>
        <p:spPr>
          <a:xfrm rot="90000">
            <a:off x="2331720" y="2103120"/>
            <a:ext cx="1691640" cy="1234440"/>
          </a:xfrm>
          <a:prstGeom prst="rect">
            <a:avLst/>
          </a:prstGeom>
        </p:spPr>
      </p:pic>
      <p:sp>
        <p:nvSpPr>
          <p:cNvPr id="23" name="bd_361"/>
          <p:cNvSpPr/>
          <p:nvPr/>
        </p:nvSpPr>
        <p:spPr>
          <a:xfrm>
            <a:off x="2185416" y="1956816"/>
            <a:ext cx="420624" cy="42062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400" dirty="0">
                <a:solidFill>
                  <a:srgbClr val="FFFFFF"/>
                </a:solidFill>
                <a:latin typeface="Arial Rounded MT Bold" pitchFamily="34" charset="0"/>
                <a:ea typeface="Arial Rounded MT Bold" pitchFamily="34" charset="-122"/>
                <a:cs typeface="Arial Rounded MT Bold" pitchFamily="34" charset="-120"/>
              </a:rPr>
              <a:t>B</a:t>
            </a:r>
            <a:endParaRPr lang="en-US" sz="1400" dirty="0"/>
          </a:p>
        </p:txBody>
      </p:sp>
      <p:sp>
        <p:nvSpPr>
          <p:cNvPr id="24" name="pf_362"/>
          <p:cNvSpPr/>
          <p:nvPr/>
        </p:nvSpPr>
        <p:spPr>
          <a:xfrm rot="-90000">
            <a:off x="4160520" y="2057400"/>
            <a:ext cx="1783080" cy="1325880"/>
          </a:xfrm>
          <a:prstGeom prst="roundRect">
            <a:avLst>
              <a:gd name="adj" fmla="val 11724"/>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5" name="ph_363" descr="/home/claude/lls-course/v2/cache/1b1_conv_c_jpg_407x297_31.png">    </p:cNvPr>
          <p:cNvPicPr>
            <a:picLocks noChangeAspect="1"/>
          </p:cNvPicPr>
          <p:nvPr/>
        </p:nvPicPr>
        <p:blipFill>
          <a:blip r:embed="rId13"/>
          <a:stretch>
            <a:fillRect/>
          </a:stretch>
        </p:blipFill>
        <p:spPr>
          <a:xfrm rot="-90000">
            <a:off x="4206240" y="2103120"/>
            <a:ext cx="1691640" cy="1234440"/>
          </a:xfrm>
          <a:prstGeom prst="rect">
            <a:avLst/>
          </a:prstGeom>
        </p:spPr>
      </p:pic>
      <p:sp>
        <p:nvSpPr>
          <p:cNvPr id="26" name="bd_364"/>
          <p:cNvSpPr/>
          <p:nvPr/>
        </p:nvSpPr>
        <p:spPr>
          <a:xfrm>
            <a:off x="4059936" y="1956816"/>
            <a:ext cx="420624" cy="420624"/>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400" dirty="0">
                <a:solidFill>
                  <a:srgbClr val="FFFFFF"/>
                </a:solidFill>
                <a:latin typeface="Arial Rounded MT Bold" pitchFamily="34" charset="0"/>
                <a:ea typeface="Arial Rounded MT Bold" pitchFamily="34" charset="-122"/>
                <a:cs typeface="Arial Rounded MT Bold" pitchFamily="34" charset="-120"/>
              </a:rPr>
              <a:t>C</a:t>
            </a:r>
            <a:endParaRPr lang="en-US" sz="1400" dirty="0"/>
          </a:p>
        </p:txBody>
      </p:sp>
      <p:sp>
        <p:nvSpPr>
          <p:cNvPr id="27" name="cd_365"/>
          <p:cNvSpPr/>
          <p:nvPr/>
        </p:nvSpPr>
        <p:spPr>
          <a:xfrm>
            <a:off x="365760" y="3611880"/>
            <a:ext cx="5440680" cy="1097280"/>
          </a:xfrm>
          <a:prstGeom prst="roundRect">
            <a:avLst>
              <a:gd name="adj" fmla="val 11667"/>
            </a:avLst>
          </a:prstGeom>
          <a:solidFill>
            <a:srgbClr val="E3F1FD"/>
          </a:solidFill>
          <a:ln w="28575">
            <a:solidFill>
              <a:srgbClr val="A9D3F5"/>
            </a:solidFill>
            <a:prstDash val="solid"/>
          </a:ln>
          <a:effectLst>
            <a:outerShdw sx="100000" sy="100000" kx="0" ky="0" algn="bl" rotWithShape="0" blurRad="88900" dist="31750" dir="5400000">
              <a:srgbClr val="1B2559">
                <a:alpha val="12000"/>
              </a:srgbClr>
            </a:outerShdw>
          </a:effectLst>
        </p:spPr>
      </p:sp>
      <p:sp>
        <p:nvSpPr>
          <p:cNvPr id="28" name="ii_366"/>
          <p:cNvSpPr/>
          <p:nvPr/>
        </p:nvSpPr>
        <p:spPr>
          <a:xfrm>
            <a:off x="457200" y="368503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9" name="ih_367"/>
          <p:cNvSpPr/>
          <p:nvPr/>
        </p:nvSpPr>
        <p:spPr>
          <a:xfrm>
            <a:off x="932688" y="3703320"/>
            <a:ext cx="48006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While you listen</a:t>
            </a:r>
            <a:endParaRPr lang="en-US" sz="1300" dirty="0"/>
          </a:p>
        </p:txBody>
      </p:sp>
      <p:sp>
        <p:nvSpPr>
          <p:cNvPr id="30" name="il_368"/>
          <p:cNvSpPr/>
          <p:nvPr/>
        </p:nvSpPr>
        <p:spPr>
          <a:xfrm>
            <a:off x="932688" y="4105656"/>
            <a:ext cx="4782312" cy="530352"/>
          </a:xfrm>
          <a:prstGeom prst="rect">
            <a:avLst/>
          </a:prstGeom>
          <a:noFill/>
          <a:ln/>
        </p:spPr>
        <p:txBody>
          <a:bodyPr wrap="square" lIns="0" tIns="0" rIns="0" bIns="0" rtlCol="0" anchor="t">
            <a:normAutofit/>
          </a:bodyPr>
          <a:lstStyle/>
          <a:p>
            <a:pPr marL="152400" indent="-152400">
              <a:spcAft>
                <a:spcPts val="200"/>
              </a:spcAft>
              <a:buSzPct val="100000"/>
              <a:buChar char="•"/>
            </a:pPr>
            <a:r>
              <a:rPr lang="en-US" sz="700" dirty="0">
                <a:solidFill>
                  <a:srgbClr val="1B2559"/>
                </a:solidFill>
                <a:latin typeface="Segoe UI Semibold" pitchFamily="34" charset="0"/>
                <a:ea typeface="Segoe UI Semibold" pitchFamily="34" charset="-122"/>
                <a:cs typeface="Segoe UI Semibold" pitchFamily="34" charset="-120"/>
              </a:rPr>
              <a:t>Look at A, B and C. Who are they?</a:t>
            </a:r>
            <a:endParaRPr lang="en-US" sz="700" dirty="0"/>
          </a:p>
          <a:p>
            <a:pPr marL="152400" indent="-152400">
              <a:spcAft>
                <a:spcPts val="200"/>
              </a:spcAft>
              <a:buSzPct val="100000"/>
              <a:buChar char=" "/>
            </a:pPr>
            <a:r>
              <a:rPr lang="en-US" sz="700" dirty="0">
                <a:solidFill>
                  <a:srgbClr val="5B6785"/>
                </a:solidFill>
                <a:latin typeface="Segoe UI Semibold" pitchFamily="34" charset="0"/>
                <a:ea typeface="Segoe UI Semibold" pitchFamily="34" charset="-122"/>
                <a:cs typeface="Segoe UI Semibold" pitchFamily="34" charset="-120"/>
              </a:rPr>
              <a:t>Guarda A, B e C. Chi sono?</a:t>
            </a:r>
            <a:endParaRPr lang="en-US" sz="700" dirty="0"/>
          </a:p>
          <a:p>
            <a:pPr marL="152400" indent="-152400">
              <a:spcBef>
                <a:spcPts val="600"/>
              </a:spcBef>
              <a:spcAft>
                <a:spcPts val="200"/>
              </a:spcAft>
              <a:buSzPct val="100000"/>
              <a:buChar char="•"/>
            </a:pPr>
            <a:r>
              <a:rPr lang="en-US" sz="700" dirty="0">
                <a:solidFill>
                  <a:srgbClr val="1B2559"/>
                </a:solidFill>
                <a:latin typeface="Segoe UI Semibold" pitchFamily="34" charset="0"/>
                <a:ea typeface="Segoe UI Semibold" pitchFamily="34" charset="-122"/>
                <a:cs typeface="Segoe UI Semibold" pitchFamily="34" charset="-120"/>
              </a:rPr>
              <a:t>Listen. Match conversations 1–3 to A–C.</a:t>
            </a:r>
            <a:endParaRPr lang="en-US" sz="700" dirty="0"/>
          </a:p>
          <a:p>
            <a:pPr marL="152400" indent="-152400">
              <a:spcAft>
                <a:spcPts val="200"/>
              </a:spcAft>
              <a:buSzPct val="100000"/>
              <a:buChar char=" "/>
            </a:pPr>
            <a:r>
              <a:rPr lang="en-US" sz="700" dirty="0">
                <a:solidFill>
                  <a:srgbClr val="5B6785"/>
                </a:solidFill>
                <a:latin typeface="Segoe UI Semibold" pitchFamily="34" charset="0"/>
                <a:ea typeface="Segoe UI Semibold" pitchFamily="34" charset="-122"/>
                <a:cs typeface="Segoe UI Semibold" pitchFamily="34" charset="-120"/>
              </a:rPr>
              <a:t>Ascolta. Abbina le conversazioni 1–3 alle foto A–C.</a:t>
            </a:r>
            <a:endParaRPr lang="en-US" sz="700" dirty="0"/>
          </a:p>
        </p:txBody>
      </p:sp>
      <p:sp>
        <p:nvSpPr>
          <p:cNvPr id="31" name="lq_369"/>
          <p:cNvSpPr/>
          <p:nvPr/>
        </p:nvSpPr>
        <p:spPr>
          <a:xfrm>
            <a:off x="6035040" y="2103120"/>
            <a:ext cx="1234440" cy="566928"/>
          </a:xfrm>
          <a:prstGeom prst="roundRect">
            <a:avLst>
              <a:gd name="adj" fmla="val 16129"/>
            </a:avLst>
          </a:prstGeom>
          <a:solidFill>
            <a:srgbClr val="FFFFFF"/>
          </a:solidFill>
          <a:ln w="28575">
            <a:solidFill>
              <a:srgbClr val="F7A6C4"/>
            </a:solidFill>
          </a:ln>
        </p:spPr>
        <p:txBody>
          <a:bodyPr wrap="square" lIns="76200" tIns="0" rIns="762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Conversation 1</a:t>
            </a:r>
            <a:endParaRPr lang="en-US" sz="1100" dirty="0"/>
          </a:p>
        </p:txBody>
      </p:sp>
      <p:sp>
        <p:nvSpPr>
          <p:cNvPr id="32" name="R1_chip370"/>
          <p:cNvSpPr/>
          <p:nvPr/>
        </p:nvSpPr>
        <p:spPr>
          <a:xfrm>
            <a:off x="7315200" y="2103120"/>
            <a:ext cx="1554480" cy="566928"/>
          </a:xfrm>
          <a:prstGeom prst="roundRect">
            <a:avLst>
              <a:gd name="adj" fmla="val 16129"/>
            </a:avLst>
          </a:prstGeom>
          <a:solidFill>
            <a:srgbClr val="FFF6CC"/>
          </a:solidFill>
          <a:ln w="28575">
            <a:solidFill>
              <a:srgbClr val="FFE07A"/>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C · his plans for next year</a:t>
            </a:r>
            <a:endParaRPr lang="en-US" sz="1050" dirty="0"/>
          </a:p>
        </p:txBody>
      </p:sp>
      <p:sp>
        <p:nvSpPr>
          <p:cNvPr id="33" name="lq_371"/>
          <p:cNvSpPr/>
          <p:nvPr/>
        </p:nvSpPr>
        <p:spPr>
          <a:xfrm>
            <a:off x="6035040" y="2761488"/>
            <a:ext cx="1234440" cy="566928"/>
          </a:xfrm>
          <a:prstGeom prst="roundRect">
            <a:avLst>
              <a:gd name="adj" fmla="val 16129"/>
            </a:avLst>
          </a:prstGeom>
          <a:solidFill>
            <a:srgbClr val="FFFFFF"/>
          </a:solidFill>
          <a:ln w="28575">
            <a:solidFill>
              <a:srgbClr val="A9D3F5"/>
            </a:solidFill>
          </a:ln>
        </p:spPr>
        <p:txBody>
          <a:bodyPr wrap="square" lIns="76200" tIns="0" rIns="762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Conversation 2</a:t>
            </a:r>
            <a:endParaRPr lang="en-US" sz="1100" dirty="0"/>
          </a:p>
        </p:txBody>
      </p:sp>
      <p:sp>
        <p:nvSpPr>
          <p:cNvPr id="34" name="R2_chip372"/>
          <p:cNvSpPr/>
          <p:nvPr/>
        </p:nvSpPr>
        <p:spPr>
          <a:xfrm>
            <a:off x="7315200" y="2761488"/>
            <a:ext cx="1554480" cy="566928"/>
          </a:xfrm>
          <a:prstGeom prst="roundRect">
            <a:avLst>
              <a:gd name="adj" fmla="val 16129"/>
            </a:avLst>
          </a:prstGeom>
          <a:solidFill>
            <a:srgbClr val="FFF6CC"/>
          </a:solidFill>
          <a:ln w="28575">
            <a:solidFill>
              <a:srgbClr val="FFE07A"/>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A · a party at Katie's</a:t>
            </a:r>
            <a:endParaRPr lang="en-US" sz="1050" dirty="0"/>
          </a:p>
        </p:txBody>
      </p:sp>
      <p:sp>
        <p:nvSpPr>
          <p:cNvPr id="35" name="lq_373"/>
          <p:cNvSpPr/>
          <p:nvPr/>
        </p:nvSpPr>
        <p:spPr>
          <a:xfrm>
            <a:off x="6035040" y="3419856"/>
            <a:ext cx="1234440" cy="566928"/>
          </a:xfrm>
          <a:prstGeom prst="roundRect">
            <a:avLst>
              <a:gd name="adj" fmla="val 16129"/>
            </a:avLst>
          </a:prstGeom>
          <a:solidFill>
            <a:srgbClr val="FFFFFF"/>
          </a:solidFill>
          <a:ln w="28575">
            <a:solidFill>
              <a:srgbClr val="A8E5BE"/>
            </a:solidFill>
          </a:ln>
        </p:spPr>
        <p:txBody>
          <a:bodyPr wrap="square" lIns="76200" tIns="0" rIns="762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Conversation 3</a:t>
            </a:r>
            <a:endParaRPr lang="en-US" sz="1100" dirty="0"/>
          </a:p>
        </p:txBody>
      </p:sp>
      <p:sp>
        <p:nvSpPr>
          <p:cNvPr id="36" name="R3_chip374"/>
          <p:cNvSpPr/>
          <p:nvPr/>
        </p:nvSpPr>
        <p:spPr>
          <a:xfrm>
            <a:off x="7315200" y="3419856"/>
            <a:ext cx="1554480" cy="566928"/>
          </a:xfrm>
          <a:prstGeom prst="roundRect">
            <a:avLst>
              <a:gd name="adj" fmla="val 16129"/>
            </a:avLst>
          </a:prstGeom>
          <a:solidFill>
            <a:srgbClr val="FFF6CC"/>
          </a:solidFill>
          <a:ln w="28575">
            <a:solidFill>
              <a:srgbClr val="FFE07A"/>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B · borrowing the car</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4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fade">
                                      <p:cBhvr>
                                        <p:cTn id="12" dur="400"/>
                                        <p:tgtEl>
                                          <p:spTgt spid="3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fade">
                                      <p:cBhvr>
                                        <p:cTn id="17"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18" restart="whenNotActive" fill="hold" evtFilter="cancelBubble" nodeType="interactiveSeq">
                <p:stCondLst>
                  <p:cond evt="onClick" delay="0">
                    <p:tgtEl>
                      <p:spTgt spid="14"/>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14"/>
                                        </p:tgtEl>
                                      </p:cBhvr>
                                    </p:cmd>
                                  </p:childTnLst>
                                </p:cTn>
                              </p:par>
                            </p:childTnLst>
                          </p:cTn>
                        </p:par>
                      </p:childTnLst>
                    </p:cTn>
                  </p:par>
                </p:childTnLst>
              </p:cTn>
              <p:nextCondLst>
                <p:cond evt="onClick" delay="0">
                  <p:tgtEl>
                    <p:spTgt spid="14"/>
                  </p:tgtEl>
                </p:cond>
              </p:nextCondLst>
            </p:seq>
            <p:seq concurrent="1" nextAc="seek">
              <p:cTn id="23" restart="whenNotActive" fill="hold" evtFilter="cancelBubble" nodeType="interactiveSeq">
                <p:stCondLst>
                  <p:cond evt="onClick" delay="0">
                    <p:tgtEl>
                      <p:spTgt spid="16"/>
                    </p:tgtEl>
                  </p:cond>
                </p:stCondLst>
                <p:endSync evt="end" delay="0">
                  <p:rtn val="all"/>
                </p:endSync>
                <p:childTnLst>
                  <p:par>
                    <p:cTn id="24" fill="hold">
                      <p:stCondLst>
                        <p:cond delay="0"/>
                      </p:stCondLst>
                      <p:childTnLst>
                        <p:par>
                          <p:cTn id="25" fill="hold">
                            <p:stCondLst>
                              <p:cond delay="0"/>
                            </p:stCondLst>
                            <p:childTnLst>
                              <p:par>
                                <p:cTn id="26" presetID="2" presetClass="mediacall" presetSubtype="0" fill="hold" nodeType="clickEffect">
                                  <p:stCondLst>
                                    <p:cond delay="0"/>
                                  </p:stCondLst>
                                  <p:childTnLst>
                                    <p:cmd type="call" cmd="togglePause">
                                      <p:cBhvr>
                                        <p:cTn id="27" dur="1" fill="hold"/>
                                        <p:tgtEl>
                                          <p:spTgt spid="16"/>
                                        </p:tgtEl>
                                      </p:cBhvr>
                                    </p:cmd>
                                  </p:childTnLst>
                                </p:cTn>
                              </p:par>
                            </p:childTnLst>
                          </p:cTn>
                        </p:par>
                      </p:childTnLst>
                    </p:cTn>
                  </p:par>
                </p:childTnLst>
              </p:cTn>
              <p:nextCondLst>
                <p:cond evt="onClick" delay="0">
                  <p:tgtEl>
                    <p:spTgt spid="16"/>
                  </p:tgtEl>
                </p:cond>
              </p:nextCondLst>
            </p:seq>
            <p:audio>
              <p:cMediaNode vol="80000">
                <p:cTn id="28" fill="hold" display="0">
                  <p:stCondLst>
                    <p:cond delay="indefinite"/>
                  </p:stCondLst>
                  <p:endCondLst>
                    <p:cond evt="onStopAudio" delay="0">
                      <p:tgtEl>
                        <p:sldTgt/>
                      </p:tgtEl>
                    </p:cond>
                  </p:endCondLst>
                </p:cTn>
                <p:tgtEl>
                  <p:spTgt spid="14"/>
                </p:tgtEl>
              </p:cMediaNode>
            </p:audio>
            <p:audio>
              <p:cMediaNode vol="80000">
                <p:cTn id="29" fill="hold" display="0">
                  <p:stCondLst>
                    <p:cond delay="indefinite"/>
                  </p:stCondLst>
                  <p:endCondLst>
                    <p:cond evt="onStopAudio" delay="0">
                      <p:tgtEl>
                        <p:sldTgt/>
                      </p:tgtEl>
                    </p:cond>
                  </p:endCondLst>
                </p:cTn>
                <p:tgtEl>
                  <p:spTgt spid="16"/>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75"/>
          <p:cNvSpPr/>
          <p:nvPr/>
        </p:nvSpPr>
        <p:spPr>
          <a:xfrm>
            <a:off x="201168" y="164592"/>
            <a:ext cx="841248" cy="8412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13</a:t>
            </a:r>
            <a:endParaRPr lang="en-US" sz="2200" dirty="0"/>
          </a:p>
        </p:txBody>
      </p:sp>
      <p:pic>
        <p:nvPicPr>
          <p:cNvPr id="4" name="brY_376" descr="/home/claude/lls-course/v2/assets/brush-yellow.png">    </p:cNvPr>
          <p:cNvPicPr>
            <a:picLocks noChangeAspect="1"/>
          </p:cNvPicPr>
          <p:nvPr/>
        </p:nvPicPr>
        <p:blipFill>
          <a:blip r:embed="rId2"/>
          <a:stretch>
            <a:fillRect/>
          </a:stretch>
        </p:blipFill>
        <p:spPr>
          <a:xfrm>
            <a:off x="1097280" y="146304"/>
            <a:ext cx="4191610" cy="621792"/>
          </a:xfrm>
          <a:prstGeom prst="rect">
            <a:avLst/>
          </a:prstGeom>
        </p:spPr>
      </p:pic>
      <p:sp>
        <p:nvSpPr>
          <p:cNvPr id="5" name="title_377"/>
          <p:cNvSpPr/>
          <p:nvPr/>
        </p:nvSpPr>
        <p:spPr>
          <a:xfrm>
            <a:off x="1261872" y="164592"/>
            <a:ext cx="3917290"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Listen again: complete</a:t>
            </a:r>
            <a:endParaRPr lang="en-US" sz="2500" dirty="0"/>
          </a:p>
        </p:txBody>
      </p:sp>
      <p:pic>
        <p:nvPicPr>
          <p:cNvPr id="6" name="brP_378" descr="/home/claude/lls-course/v2/assets/brush-pink.png">    </p:cNvPr>
          <p:cNvPicPr>
            <a:picLocks noChangeAspect="1"/>
          </p:cNvPicPr>
          <p:nvPr/>
        </p:nvPicPr>
        <p:blipFill>
          <a:blip r:embed="rId3"/>
          <a:stretch>
            <a:fillRect/>
          </a:stretch>
        </p:blipFill>
        <p:spPr>
          <a:xfrm>
            <a:off x="1207008" y="731520"/>
            <a:ext cx="3771900" cy="402336"/>
          </a:xfrm>
          <a:prstGeom prst="rect">
            <a:avLst/>
          </a:prstGeom>
        </p:spPr>
      </p:pic>
      <p:sp>
        <p:nvSpPr>
          <p:cNvPr id="7" name="ins_379"/>
          <p:cNvSpPr/>
          <p:nvPr/>
        </p:nvSpPr>
        <p:spPr>
          <a:xfrm>
            <a:off x="1353312" y="731520"/>
            <a:ext cx="351586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Guess the words. Then listen again.</a:t>
            </a:r>
            <a:endParaRPr lang="en-US" sz="1250" dirty="0"/>
          </a:p>
        </p:txBody>
      </p:sp>
      <p:sp>
        <p:nvSpPr>
          <p:cNvPr id="8" name="insIT_380"/>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Indovina le parole. Poi riascolta.</a:t>
            </a:r>
            <a:endParaRPr lang="en-US" sz="950" dirty="0"/>
          </a:p>
        </p:txBody>
      </p:sp>
      <p:sp>
        <p:nvSpPr>
          <p:cNvPr id="9" name="note_381"/>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LISTEN</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FILL THE GAPS</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4 min   👥 pairs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Listening · for detail</a:t>
            </a:r>
            <a:endParaRPr lang="en-US" sz="1150" dirty="0"/>
          </a:p>
        </p:txBody>
      </p:sp>
      <p:pic>
        <p:nvPicPr>
          <p:cNvPr id="10" name="logo_382"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383"/>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1B-1 · Listening · detail   ·   📖 SB p.11 · 2b · audio 1.15</a:t>
            </a:r>
            <a:endParaRPr lang="en-US" sz="800" dirty="0"/>
          </a:p>
        </p:txBody>
      </p:sp>
      <p:sp>
        <p:nvSpPr>
          <p:cNvPr id="12" name="ap_384"/>
          <p:cNvSpPr/>
          <p:nvPr/>
        </p:nvSpPr>
        <p:spPr>
          <a:xfrm>
            <a:off x="365760" y="1417320"/>
            <a:ext cx="2194560" cy="402336"/>
          </a:xfrm>
          <a:prstGeom prst="roundRect">
            <a:avLst>
              <a:gd name="adj" fmla="val 50000"/>
            </a:avLst>
          </a:prstGeom>
          <a:solidFill>
            <a:srgbClr val="E3F1FD"/>
          </a:solidFill>
          <a:ln w="28575">
            <a:solidFill>
              <a:srgbClr val="A9D3F5"/>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1.15  ·  pause after each conversation</a:t>
            </a:r>
            <a:endParaRPr lang="en-US" sz="1100" dirty="0"/>
          </a:p>
        </p:txBody>
      </p:sp>
      <p:sp>
        <p:nvSpPr>
          <p:cNvPr id="13" name="ah_385"/>
          <p:cNvSpPr/>
          <p:nvPr/>
        </p:nvSpPr>
        <p:spPr>
          <a:xfrm>
            <a:off x="4636008" y="4572000"/>
            <a:ext cx="978408" cy="365760"/>
          </a:xfrm>
          <a:prstGeom prst="rect">
            <a:avLst/>
          </a:prstGeom>
          <a:noFill/>
          <a:ln/>
        </p:spPr>
        <p:txBody>
          <a:bodyPr wrap="square" lIns="0" tIns="0" rIns="0" bIns="0" rtlCol="0" anchor="ctr"/>
          <a:lstStyle/>
          <a:p>
            <a:pPr algn="r" indent="0" marL="0">
              <a:buNone/>
            </a:pPr>
            <a:r>
              <a:rPr lang="en-US" sz="1000" b="1" dirty="0">
                <a:solidFill>
                  <a:srgbClr val="2F8DE4"/>
                </a:solidFill>
                <a:latin typeface="Segoe UI Semibold" pitchFamily="34" charset="0"/>
                <a:ea typeface="Segoe UI Semibold" pitchFamily="34" charset="-122"/>
                <a:cs typeface="Segoe UI Semibold" pitchFamily="34" charset="-120"/>
              </a:rPr>
              <a:t>▶ normal</a:t>
            </a:r>
            <a:endParaRPr lang="en-US" sz="1000" dirty="0"/>
          </a:p>
        </p:txBody>
      </p:sp>
      <p:pic>
        <p:nvPicPr>
          <p:cNvPr id="14"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5687568" y="4553712"/>
            <a:ext cx="411480" cy="411480"/>
          </a:xfrm>
          <a:prstGeom prst="rect">
            <a:avLst/>
          </a:prstGeom>
        </p:spPr>
      </p:pic>
      <p:sp>
        <p:nvSpPr>
          <p:cNvPr id="15" name="ah_386"/>
          <p:cNvSpPr/>
          <p:nvPr/>
        </p:nvSpPr>
        <p:spPr>
          <a:xfrm>
            <a:off x="7470648" y="4572000"/>
            <a:ext cx="932688" cy="365760"/>
          </a:xfrm>
          <a:prstGeom prst="rect">
            <a:avLst/>
          </a:prstGeom>
          <a:noFill/>
          <a:ln/>
        </p:spPr>
        <p:txBody>
          <a:bodyPr wrap="square" lIns="0" tIns="0" rIns="0" bIns="0" rtlCol="0" anchor="ctr"/>
          <a:lstStyle/>
          <a:p>
            <a:pPr algn="r" indent="0" marL="0">
              <a:buNone/>
            </a:pPr>
            <a:r>
              <a:rPr lang="en-US" sz="1000" b="1" dirty="0">
                <a:solidFill>
                  <a:srgbClr val="2F8DE4"/>
                </a:solidFill>
                <a:latin typeface="Segoe UI Semibold" pitchFamily="34" charset="0"/>
                <a:ea typeface="Segoe UI Semibold" pitchFamily="34" charset="-122"/>
                <a:cs typeface="Segoe UI Semibold" pitchFamily="34" charset="-120"/>
              </a:rPr>
              <a:t>🐢 slower</a:t>
            </a:r>
            <a:endParaRPr lang="en-US" sz="1000" dirty="0"/>
          </a:p>
        </p:txBody>
      </p:sp>
      <p:pic>
        <p:nvPicPr>
          <p:cNvPr id="16"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476488" y="4553712"/>
            <a:ext cx="411480" cy="411480"/>
          </a:xfrm>
          <a:prstGeom prst="rect">
            <a:avLst/>
          </a:prstGeom>
        </p:spPr>
      </p:pic>
      <p:sp>
        <p:nvSpPr>
          <p:cNvPr id="17" name="pf_387"/>
          <p:cNvSpPr/>
          <p:nvPr/>
        </p:nvSpPr>
        <p:spPr>
          <a:xfrm rot="-90000">
            <a:off x="411480" y="2057400"/>
            <a:ext cx="2697480" cy="1783080"/>
          </a:xfrm>
          <a:prstGeom prst="roundRect">
            <a:avLst>
              <a:gd name="adj" fmla="val 8718"/>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8" name="ph_388" descr="/home/claude/lls-course/v2/cache/1b1_conv_c_jpg_627x407_31.png">    </p:cNvPr>
          <p:cNvPicPr>
            <a:picLocks noChangeAspect="1"/>
          </p:cNvPicPr>
          <p:nvPr/>
        </p:nvPicPr>
        <p:blipFill>
          <a:blip r:embed="rId11"/>
          <a:stretch>
            <a:fillRect/>
          </a:stretch>
        </p:blipFill>
        <p:spPr>
          <a:xfrm rot="-90000">
            <a:off x="457200" y="2103120"/>
            <a:ext cx="2606040" cy="1691640"/>
          </a:xfrm>
          <a:prstGeom prst="rect">
            <a:avLst/>
          </a:prstGeom>
        </p:spPr>
      </p:pic>
      <p:sp>
        <p:nvSpPr>
          <p:cNvPr id="19" name="cd_389"/>
          <p:cNvSpPr/>
          <p:nvPr/>
        </p:nvSpPr>
        <p:spPr>
          <a:xfrm>
            <a:off x="320040" y="4023360"/>
            <a:ext cx="2788920" cy="731520"/>
          </a:xfrm>
          <a:prstGeom prst="roundRect">
            <a:avLst>
              <a:gd name="adj" fmla="val 17500"/>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20" name="ii_390"/>
          <p:cNvSpPr/>
          <p:nvPr/>
        </p:nvSpPr>
        <p:spPr>
          <a:xfrm>
            <a:off x="411480" y="40965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1" name="ih_391"/>
          <p:cNvSpPr/>
          <p:nvPr/>
        </p:nvSpPr>
        <p:spPr>
          <a:xfrm>
            <a:off x="886968" y="4114800"/>
            <a:ext cx="214884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Guess first, then listen!</a:t>
            </a:r>
            <a:endParaRPr lang="en-US" sz="1200" dirty="0"/>
          </a:p>
        </p:txBody>
      </p:sp>
      <p:sp>
        <p:nvSpPr>
          <p:cNvPr id="22" name="gq_392"/>
          <p:cNvSpPr/>
          <p:nvPr/>
        </p:nvSpPr>
        <p:spPr>
          <a:xfrm>
            <a:off x="3383280" y="1417320"/>
            <a:ext cx="3337560" cy="457200"/>
          </a:xfrm>
          <a:prstGeom prst="roundRect">
            <a:avLst>
              <a:gd name="adj" fmla="val 20000"/>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a  I'm not ___ to university.</a:t>
            </a:r>
            <a:endParaRPr lang="en-US" sz="1200" dirty="0"/>
          </a:p>
        </p:txBody>
      </p:sp>
      <p:sp>
        <p:nvSpPr>
          <p:cNvPr id="23" name="R1_chip393"/>
          <p:cNvSpPr/>
          <p:nvPr/>
        </p:nvSpPr>
        <p:spPr>
          <a:xfrm>
            <a:off x="6812280" y="1417320"/>
            <a:ext cx="2057400" cy="457200"/>
          </a:xfrm>
          <a:prstGeom prst="roundRect">
            <a:avLst>
              <a:gd name="adj" fmla="val 20000"/>
            </a:avLst>
          </a:prstGeom>
          <a:solidFill>
            <a:srgbClr val="FFF6CC"/>
          </a:solidFill>
          <a:ln w="28575">
            <a:solidFill>
              <a:srgbClr val="FFE07A"/>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going to go</a:t>
            </a:r>
            <a:endParaRPr lang="en-US" sz="1200" dirty="0"/>
          </a:p>
        </p:txBody>
      </p:sp>
      <p:sp>
        <p:nvSpPr>
          <p:cNvPr id="24" name="gq_394"/>
          <p:cNvSpPr/>
          <p:nvPr/>
        </p:nvSpPr>
        <p:spPr>
          <a:xfrm>
            <a:off x="3383280" y="1938528"/>
            <a:ext cx="3337560" cy="457200"/>
          </a:xfrm>
          <a:prstGeom prst="roundRect">
            <a:avLst>
              <a:gd name="adj" fmla="val 20000"/>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b  ___ you a cup of tea?</a:t>
            </a:r>
            <a:endParaRPr lang="en-US" sz="1200" dirty="0"/>
          </a:p>
        </p:txBody>
      </p:sp>
      <p:sp>
        <p:nvSpPr>
          <p:cNvPr id="25" name="R2_chip395"/>
          <p:cNvSpPr/>
          <p:nvPr/>
        </p:nvSpPr>
        <p:spPr>
          <a:xfrm>
            <a:off x="6812280" y="1938528"/>
            <a:ext cx="2057400" cy="457200"/>
          </a:xfrm>
          <a:prstGeom prst="roundRect">
            <a:avLst>
              <a:gd name="adj" fmla="val 20000"/>
            </a:avLst>
          </a:prstGeom>
          <a:solidFill>
            <a:srgbClr val="FFF6CC"/>
          </a:solidFill>
          <a:ln w="28575">
            <a:solidFill>
              <a:srgbClr val="FFE07A"/>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Shall I make</a:t>
            </a:r>
            <a:endParaRPr lang="en-US" sz="1200" dirty="0"/>
          </a:p>
        </p:txBody>
      </p:sp>
      <p:sp>
        <p:nvSpPr>
          <p:cNvPr id="26" name="gq_396"/>
          <p:cNvSpPr/>
          <p:nvPr/>
        </p:nvSpPr>
        <p:spPr>
          <a:xfrm>
            <a:off x="3383280" y="2459736"/>
            <a:ext cx="3337560" cy="457200"/>
          </a:xfrm>
          <a:prstGeom prst="roundRect">
            <a:avLst>
              <a:gd name="adj" fmla="val 20000"/>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c  I ___ the night there.</a:t>
            </a:r>
            <a:endParaRPr lang="en-US" sz="1200" dirty="0"/>
          </a:p>
        </p:txBody>
      </p:sp>
      <p:sp>
        <p:nvSpPr>
          <p:cNvPr id="27" name="R3_chip397"/>
          <p:cNvSpPr/>
          <p:nvPr/>
        </p:nvSpPr>
        <p:spPr>
          <a:xfrm>
            <a:off x="6812280" y="2459736"/>
            <a:ext cx="2057400" cy="457200"/>
          </a:xfrm>
          <a:prstGeom prst="roundRect">
            <a:avLst>
              <a:gd name="adj" fmla="val 20000"/>
            </a:avLst>
          </a:prstGeom>
          <a:solidFill>
            <a:srgbClr val="FFF6CC"/>
          </a:solidFill>
          <a:ln w="28575">
            <a:solidFill>
              <a:srgbClr val="FFE07A"/>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'm staying</a:t>
            </a:r>
            <a:endParaRPr lang="en-US" sz="1200" dirty="0"/>
          </a:p>
        </p:txBody>
      </p:sp>
      <p:sp>
        <p:nvSpPr>
          <p:cNvPr id="28" name="gq_398"/>
          <p:cNvSpPr/>
          <p:nvPr/>
        </p:nvSpPr>
        <p:spPr>
          <a:xfrm>
            <a:off x="3383280" y="2980944"/>
            <a:ext cx="3337560" cy="457200"/>
          </a:xfrm>
          <a:prstGeom prst="roundRect">
            <a:avLst>
              <a:gd name="adj" fmla="val 20000"/>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d  It ___ cold tonight.</a:t>
            </a:r>
            <a:endParaRPr lang="en-US" sz="1200" dirty="0"/>
          </a:p>
        </p:txBody>
      </p:sp>
      <p:sp>
        <p:nvSpPr>
          <p:cNvPr id="29" name="R4_chip399"/>
          <p:cNvSpPr/>
          <p:nvPr/>
        </p:nvSpPr>
        <p:spPr>
          <a:xfrm>
            <a:off x="6812280" y="2980944"/>
            <a:ext cx="2057400" cy="457200"/>
          </a:xfrm>
          <a:prstGeom prst="roundRect">
            <a:avLst>
              <a:gd name="adj" fmla="val 20000"/>
            </a:avLst>
          </a:prstGeom>
          <a:solidFill>
            <a:srgbClr val="FFF6CC"/>
          </a:solidFill>
          <a:ln w="28575">
            <a:solidFill>
              <a:srgbClr val="FFE07A"/>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's going to be</a:t>
            </a:r>
            <a:endParaRPr lang="en-US" sz="1200" dirty="0"/>
          </a:p>
        </p:txBody>
      </p:sp>
      <p:sp>
        <p:nvSpPr>
          <p:cNvPr id="30" name="gq_400"/>
          <p:cNvSpPr/>
          <p:nvPr/>
        </p:nvSpPr>
        <p:spPr>
          <a:xfrm>
            <a:off x="3383280" y="3502152"/>
            <a:ext cx="3337560" cy="457200"/>
          </a:xfrm>
          <a:prstGeom prst="roundRect">
            <a:avLst>
              <a:gd name="adj" fmla="val 20000"/>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e  You ___ too fast.</a:t>
            </a:r>
            <a:endParaRPr lang="en-US" sz="1200" dirty="0"/>
          </a:p>
        </p:txBody>
      </p:sp>
      <p:sp>
        <p:nvSpPr>
          <p:cNvPr id="31" name="R5_chip401"/>
          <p:cNvSpPr/>
          <p:nvPr/>
        </p:nvSpPr>
        <p:spPr>
          <a:xfrm>
            <a:off x="6812280" y="3502152"/>
            <a:ext cx="2057400" cy="457200"/>
          </a:xfrm>
          <a:prstGeom prst="roundRect">
            <a:avLst>
              <a:gd name="adj" fmla="val 20000"/>
            </a:avLst>
          </a:prstGeom>
          <a:solidFill>
            <a:srgbClr val="FFF6CC"/>
          </a:solidFill>
          <a:ln w="28575">
            <a:solidFill>
              <a:srgbClr val="FFE07A"/>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'll drive</a:t>
            </a:r>
            <a:endParaRPr lang="en-US" sz="1200" dirty="0"/>
          </a:p>
        </p:txBody>
      </p:sp>
      <p:sp>
        <p:nvSpPr>
          <p:cNvPr id="32" name="gq_402"/>
          <p:cNvSpPr/>
          <p:nvPr/>
        </p:nvSpPr>
        <p:spPr>
          <a:xfrm>
            <a:off x="3383280" y="4023360"/>
            <a:ext cx="3337560" cy="457200"/>
          </a:xfrm>
          <a:prstGeom prst="roundRect">
            <a:avLst>
              <a:gd name="adj" fmla="val 20000"/>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f  I ___ really careful.</a:t>
            </a:r>
            <a:endParaRPr lang="en-US" sz="1200" dirty="0"/>
          </a:p>
        </p:txBody>
      </p:sp>
      <p:sp>
        <p:nvSpPr>
          <p:cNvPr id="33" name="R6_chip403"/>
          <p:cNvSpPr/>
          <p:nvPr/>
        </p:nvSpPr>
        <p:spPr>
          <a:xfrm>
            <a:off x="6812280" y="4023360"/>
            <a:ext cx="2057400" cy="457200"/>
          </a:xfrm>
          <a:prstGeom prst="roundRect">
            <a:avLst>
              <a:gd name="adj" fmla="val 20000"/>
            </a:avLst>
          </a:prstGeom>
          <a:solidFill>
            <a:srgbClr val="FFF6CC"/>
          </a:solidFill>
          <a:ln w="28575">
            <a:solidFill>
              <a:srgbClr val="FFE07A"/>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'll be</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4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4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400"/>
                                        <p:tgtEl>
                                          <p:spTgt spid="2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400"/>
                                        <p:tgtEl>
                                          <p:spTgt spid="2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400"/>
                                        <p:tgtEl>
                                          <p:spTgt spid="3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3"/>
                                        </p:tgtEl>
                                        <p:attrNameLst>
                                          <p:attrName>style.visibility</p:attrName>
                                        </p:attrNameLst>
                                      </p:cBhvr>
                                      <p:to>
                                        <p:strVal val="visible"/>
                                      </p:to>
                                    </p:set>
                                    <p:animEffect transition="in" filter="fade">
                                      <p:cBhvr>
                                        <p:cTn id="32"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33" restart="whenNotActive" fill="hold" evtFilter="cancelBubble" nodeType="interactiveSeq">
                <p:stCondLst>
                  <p:cond evt="onClick" delay="0">
                    <p:tgtEl>
                      <p:spTgt spid="14"/>
                    </p:tgtEl>
                  </p:cond>
                </p:stCondLst>
                <p:endSync evt="end" delay="0">
                  <p:rtn val="all"/>
                </p:endSync>
                <p:childTnLst>
                  <p:par>
                    <p:cTn id="34" fill="hold">
                      <p:stCondLst>
                        <p:cond delay="0"/>
                      </p:stCondLst>
                      <p:childTnLst>
                        <p:par>
                          <p:cTn id="35" fill="hold">
                            <p:stCondLst>
                              <p:cond delay="0"/>
                            </p:stCondLst>
                            <p:childTnLst>
                              <p:par>
                                <p:cTn id="36" presetID="2" presetClass="mediacall" presetSubtype="0" fill="hold" nodeType="clickEffect">
                                  <p:stCondLst>
                                    <p:cond delay="0"/>
                                  </p:stCondLst>
                                  <p:childTnLst>
                                    <p:cmd type="call" cmd="togglePause">
                                      <p:cBhvr>
                                        <p:cTn id="37" dur="1" fill="hold"/>
                                        <p:tgtEl>
                                          <p:spTgt spid="14"/>
                                        </p:tgtEl>
                                      </p:cBhvr>
                                    </p:cmd>
                                  </p:childTnLst>
                                </p:cTn>
                              </p:par>
                            </p:childTnLst>
                          </p:cTn>
                        </p:par>
                      </p:childTnLst>
                    </p:cTn>
                  </p:par>
                </p:childTnLst>
              </p:cTn>
              <p:nextCondLst>
                <p:cond evt="onClick" delay="0">
                  <p:tgtEl>
                    <p:spTgt spid="14"/>
                  </p:tgtEl>
                </p:cond>
              </p:nextCondLst>
            </p:seq>
            <p:seq concurrent="1" nextAc="seek">
              <p:cTn id="38" restart="whenNotActive" fill="hold" evtFilter="cancelBubble" nodeType="interactiveSeq">
                <p:stCondLst>
                  <p:cond evt="onClick" delay="0">
                    <p:tgtEl>
                      <p:spTgt spid="16"/>
                    </p:tgtEl>
                  </p:cond>
                </p:stCondLst>
                <p:endSync evt="end" delay="0">
                  <p:rtn val="all"/>
                </p:endSync>
                <p:childTnLst>
                  <p:par>
                    <p:cTn id="39" fill="hold">
                      <p:stCondLst>
                        <p:cond delay="0"/>
                      </p:stCondLst>
                      <p:childTnLst>
                        <p:par>
                          <p:cTn id="40" fill="hold">
                            <p:stCondLst>
                              <p:cond delay="0"/>
                            </p:stCondLst>
                            <p:childTnLst>
                              <p:par>
                                <p:cTn id="41" presetID="2" presetClass="mediacall" presetSubtype="0" fill="hold" nodeType="clickEffect">
                                  <p:stCondLst>
                                    <p:cond delay="0"/>
                                  </p:stCondLst>
                                  <p:childTnLst>
                                    <p:cmd type="call" cmd="togglePause">
                                      <p:cBhvr>
                                        <p:cTn id="42" dur="1" fill="hold"/>
                                        <p:tgtEl>
                                          <p:spTgt spid="16"/>
                                        </p:tgtEl>
                                      </p:cBhvr>
                                    </p:cmd>
                                  </p:childTnLst>
                                </p:cTn>
                              </p:par>
                            </p:childTnLst>
                          </p:cTn>
                        </p:par>
                      </p:childTnLst>
                    </p:cTn>
                  </p:par>
                </p:childTnLst>
              </p:cTn>
              <p:nextCondLst>
                <p:cond evt="onClick" delay="0">
                  <p:tgtEl>
                    <p:spTgt spid="16"/>
                  </p:tgtEl>
                </p:cond>
              </p:nextCondLst>
            </p:seq>
            <p:audio>
              <p:cMediaNode vol="80000">
                <p:cTn id="43" fill="hold" display="0">
                  <p:stCondLst>
                    <p:cond delay="indefinite"/>
                  </p:stCondLst>
                  <p:endCondLst>
                    <p:cond evt="onStopAudio" delay="0">
                      <p:tgtEl>
                        <p:sldTgt/>
                      </p:tgtEl>
                    </p:cond>
                  </p:endCondLst>
                </p:cTn>
                <p:tgtEl>
                  <p:spTgt spid="14"/>
                </p:tgtEl>
              </p:cMediaNode>
            </p:audio>
            <p:audio>
              <p:cMediaNode vol="80000">
                <p:cTn id="44" fill="hold" display="0">
                  <p:stCondLst>
                    <p:cond delay="indefinite"/>
                  </p:stCondLst>
                  <p:endCondLst>
                    <p:cond evt="onStopAudio" delay="0">
                      <p:tgtEl>
                        <p:sldTgt/>
                      </p:tgtEl>
                    </p:cond>
                  </p:endCondLst>
                </p:cTn>
                <p:tgtEl>
                  <p:spTgt spid="16"/>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04"/>
          <p:cNvSpPr/>
          <p:nvPr/>
        </p:nvSpPr>
        <p:spPr>
          <a:xfrm>
            <a:off x="201168" y="164592"/>
            <a:ext cx="841248" cy="8412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14</a:t>
            </a:r>
            <a:endParaRPr lang="en-US" sz="2200" dirty="0"/>
          </a:p>
        </p:txBody>
      </p:sp>
      <p:pic>
        <p:nvPicPr>
          <p:cNvPr id="4" name="brY_405" descr="/home/claude/lls-course/v2/assets/brush-yellow.png">    </p:cNvPr>
          <p:cNvPicPr>
            <a:picLocks noChangeAspect="1"/>
          </p:cNvPicPr>
          <p:nvPr/>
        </p:nvPicPr>
        <p:blipFill>
          <a:blip r:embed="rId2"/>
          <a:stretch>
            <a:fillRect/>
          </a:stretch>
        </p:blipFill>
        <p:spPr>
          <a:xfrm>
            <a:off x="1097280" y="146304"/>
            <a:ext cx="3090672" cy="621792"/>
          </a:xfrm>
          <a:prstGeom prst="rect">
            <a:avLst/>
          </a:prstGeom>
        </p:spPr>
      </p:pic>
      <p:sp>
        <p:nvSpPr>
          <p:cNvPr id="5" name="title_406"/>
          <p:cNvSpPr/>
          <p:nvPr/>
        </p:nvSpPr>
        <p:spPr>
          <a:xfrm>
            <a:off x="1261872" y="164592"/>
            <a:ext cx="281635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Find the future</a:t>
            </a:r>
            <a:endParaRPr lang="en-US" sz="2500" dirty="0"/>
          </a:p>
        </p:txBody>
      </p:sp>
      <p:pic>
        <p:nvPicPr>
          <p:cNvPr id="6" name="brP_407" descr="/home/claude/lls-course/v2/assets/brush-pink.png">    </p:cNvPr>
          <p:cNvPicPr>
            <a:picLocks noChangeAspect="1"/>
          </p:cNvPicPr>
          <p:nvPr/>
        </p:nvPicPr>
        <p:blipFill>
          <a:blip r:embed="rId3"/>
          <a:stretch>
            <a:fillRect/>
          </a:stretch>
        </p:blipFill>
        <p:spPr>
          <a:xfrm>
            <a:off x="1207008" y="731520"/>
            <a:ext cx="3771900" cy="402336"/>
          </a:xfrm>
          <a:prstGeom prst="rect">
            <a:avLst/>
          </a:prstGeom>
        </p:spPr>
      </p:pic>
      <p:sp>
        <p:nvSpPr>
          <p:cNvPr id="7" name="ins_408"/>
          <p:cNvSpPr/>
          <p:nvPr/>
        </p:nvSpPr>
        <p:spPr>
          <a:xfrm>
            <a:off x="1353312" y="731520"/>
            <a:ext cx="351586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Find the future forms in the lines.</a:t>
            </a:r>
            <a:endParaRPr lang="en-US" sz="1250" dirty="0"/>
          </a:p>
        </p:txBody>
      </p:sp>
      <p:sp>
        <p:nvSpPr>
          <p:cNvPr id="8" name="insIT_409"/>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Trova le forme del futuro.</a:t>
            </a:r>
            <a:endParaRPr lang="en-US" sz="950" dirty="0"/>
          </a:p>
        </p:txBody>
      </p:sp>
      <p:sp>
        <p:nvSpPr>
          <p:cNvPr id="9" name="note_410"/>
          <p:cNvSpPr/>
          <p:nvPr/>
        </p:nvSpPr>
        <p:spPr>
          <a:xfrm rot="180000">
            <a:off x="6382512" y="128016"/>
            <a:ext cx="2029968" cy="74980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FIND</a:t>
            </a:r>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 TROVA</a:t>
            </a:r>
            <a:endParaRPr lang="en-US" sz="12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2 min   👥 pairs</a:t>
            </a:r>
            <a:endParaRPr lang="en-US" sz="1250" dirty="0"/>
          </a:p>
        </p:txBody>
      </p:sp>
      <p:pic>
        <p:nvPicPr>
          <p:cNvPr id="10" name="logo_411"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412"/>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1B-1 · Noticing · the conversations   ·   📖 SB audio script 1.15 (p.124)</a:t>
            </a:r>
            <a:endParaRPr lang="en-US" sz="800" dirty="0"/>
          </a:p>
        </p:txBody>
      </p:sp>
      <p:sp>
        <p:nvSpPr>
          <p:cNvPr id="12" name="pf_413"/>
          <p:cNvSpPr/>
          <p:nvPr/>
        </p:nvSpPr>
        <p:spPr>
          <a:xfrm rot="-120000">
            <a:off x="677742" y="1371600"/>
            <a:ext cx="1844916" cy="1691640"/>
          </a:xfrm>
          <a:prstGeom prst="roundRect">
            <a:avLst>
              <a:gd name="adj" fmla="val 9189"/>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3" name="ph_414" descr="/home/claude/lls-course/v2/cache/1b1_conv_b_jpg_422x385_31.png">    </p:cNvPr>
          <p:cNvPicPr>
            <a:picLocks noChangeAspect="1"/>
          </p:cNvPicPr>
          <p:nvPr/>
        </p:nvPicPr>
        <p:blipFill>
          <a:blip r:embed="rId5"/>
          <a:stretch>
            <a:fillRect/>
          </a:stretch>
        </p:blipFill>
        <p:spPr>
          <a:xfrm rot="-120000">
            <a:off x="723462" y="1417320"/>
            <a:ext cx="1753476" cy="1600200"/>
          </a:xfrm>
          <a:prstGeom prst="rect">
            <a:avLst/>
          </a:prstGeom>
        </p:spPr>
      </p:pic>
      <p:sp>
        <p:nvSpPr>
          <p:cNvPr id="14" name="cd_415"/>
          <p:cNvSpPr/>
          <p:nvPr/>
        </p:nvSpPr>
        <p:spPr>
          <a:xfrm>
            <a:off x="320040" y="3246120"/>
            <a:ext cx="2606040" cy="1463040"/>
          </a:xfrm>
          <a:prstGeom prst="roundRect">
            <a:avLst>
              <a:gd name="adj" fmla="val 8750"/>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5" name="ii_416"/>
          <p:cNvSpPr/>
          <p:nvPr/>
        </p:nvSpPr>
        <p:spPr>
          <a:xfrm>
            <a:off x="411480" y="33192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417"/>
          <p:cNvSpPr/>
          <p:nvPr/>
        </p:nvSpPr>
        <p:spPr>
          <a:xfrm>
            <a:off x="886968" y="3337560"/>
            <a:ext cx="196596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Find it!</a:t>
            </a:r>
            <a:endParaRPr lang="en-US" sz="1300" dirty="0"/>
          </a:p>
        </p:txBody>
      </p:sp>
      <p:sp>
        <p:nvSpPr>
          <p:cNvPr id="17" name="il_418"/>
          <p:cNvSpPr/>
          <p:nvPr/>
        </p:nvSpPr>
        <p:spPr>
          <a:xfrm>
            <a:off x="886968" y="3739896"/>
            <a:ext cx="1947672" cy="896112"/>
          </a:xfrm>
          <a:prstGeom prst="rect">
            <a:avLst/>
          </a:prstGeom>
          <a:noFill/>
          <a:ln/>
        </p:spPr>
        <p:txBody>
          <a:bodyPr wrap="square" lIns="0" tIns="0" rIns="0" bIns="0" rtlCol="0" anchor="t">
            <a:normAutofit/>
          </a:bodyPr>
          <a:lstStyle/>
          <a:p>
            <a:pPr marL="152400" indent="-152400">
              <a:spcAft>
                <a:spcPts val="200"/>
              </a:spcAft>
              <a:buSzPct val="100000"/>
              <a:buChar char="•"/>
            </a:pPr>
            <a:r>
              <a:rPr lang="en-US" sz="950" dirty="0">
                <a:solidFill>
                  <a:srgbClr val="1B2559"/>
                </a:solidFill>
                <a:latin typeface="Segoe UI Semibold" pitchFamily="34" charset="0"/>
                <a:ea typeface="Segoe UI Semibold" pitchFamily="34" charset="-122"/>
                <a:cs typeface="Segoe UI Semibold" pitchFamily="34" charset="-120"/>
              </a:rPr>
              <a:t>going to</a:t>
            </a:r>
            <a:endParaRPr lang="en-US" sz="950" dirty="0"/>
          </a:p>
          <a:p>
            <a:pPr marL="152400" indent="-152400">
              <a:spcBef>
                <a:spcPts val="600"/>
              </a:spcBef>
              <a:spcAft>
                <a:spcPts val="200"/>
              </a:spcAft>
              <a:buSzPct val="100000"/>
              <a:buChar char="•"/>
            </a:pPr>
            <a:r>
              <a:rPr lang="en-US" sz="950" dirty="0">
                <a:solidFill>
                  <a:srgbClr val="1B2559"/>
                </a:solidFill>
                <a:latin typeface="Segoe UI Semibold" pitchFamily="34" charset="0"/>
                <a:ea typeface="Segoe UI Semibold" pitchFamily="34" charset="-122"/>
                <a:cs typeface="Segoe UI Semibold" pitchFamily="34" charset="-120"/>
              </a:rPr>
              <a:t>present continuous</a:t>
            </a:r>
            <a:endParaRPr lang="en-US" sz="950" dirty="0"/>
          </a:p>
          <a:p>
            <a:pPr marL="152400" indent="-152400">
              <a:spcBef>
                <a:spcPts val="600"/>
              </a:spcBef>
              <a:spcAft>
                <a:spcPts val="200"/>
              </a:spcAft>
              <a:buSzPct val="100000"/>
              <a:buChar char="•"/>
            </a:pPr>
            <a:r>
              <a:rPr lang="en-US" sz="950" dirty="0">
                <a:solidFill>
                  <a:srgbClr val="1B2559"/>
                </a:solidFill>
                <a:latin typeface="Segoe UI Semibold" pitchFamily="34" charset="0"/>
                <a:ea typeface="Segoe UI Semibold" pitchFamily="34" charset="-122"/>
                <a:cs typeface="Segoe UI Semibold" pitchFamily="34" charset="-120"/>
              </a:rPr>
              <a:t>will / won't</a:t>
            </a:r>
            <a:endParaRPr lang="en-US" sz="950" dirty="0"/>
          </a:p>
          <a:p>
            <a:pPr marL="152400" indent="-152400">
              <a:spcBef>
                <a:spcPts val="600"/>
              </a:spcBef>
              <a:spcAft>
                <a:spcPts val="200"/>
              </a:spcAft>
              <a:buSzPct val="100000"/>
              <a:buChar char="•"/>
            </a:pPr>
            <a:r>
              <a:rPr lang="en-US" sz="950" dirty="0">
                <a:solidFill>
                  <a:srgbClr val="1B2559"/>
                </a:solidFill>
                <a:latin typeface="Segoe UI Semibold" pitchFamily="34" charset="0"/>
                <a:ea typeface="Segoe UI Semibold" pitchFamily="34" charset="-122"/>
                <a:cs typeface="Segoe UI Semibold" pitchFamily="34" charset="-120"/>
              </a:rPr>
              <a:t>Shall I…?</a:t>
            </a:r>
            <a:endParaRPr lang="en-US" sz="950" dirty="0"/>
          </a:p>
        </p:txBody>
      </p:sp>
      <p:sp>
        <p:nvSpPr>
          <p:cNvPr id="18" name="who_419"/>
          <p:cNvSpPr/>
          <p:nvPr/>
        </p:nvSpPr>
        <p:spPr>
          <a:xfrm>
            <a:off x="3108960" y="1463040"/>
            <a:ext cx="914400" cy="365760"/>
          </a:xfrm>
          <a:prstGeom prst="roundRect">
            <a:avLst>
              <a:gd name="adj" fmla="val 30000"/>
            </a:avLst>
          </a:prstGeom>
          <a:solidFill>
            <a:srgbClr val="FFE3EE"/>
          </a:solidFill>
          <a:ln/>
        </p:spPr>
        <p:txBody>
          <a:bodyPr wrap="square" lIns="0" tIns="0" rIns="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1 · Gran</a:t>
            </a:r>
            <a:endParaRPr lang="en-US" sz="950" dirty="0"/>
          </a:p>
        </p:txBody>
      </p:sp>
      <p:sp>
        <p:nvSpPr>
          <p:cNvPr id="19" name="sl_420"/>
          <p:cNvSpPr/>
          <p:nvPr/>
        </p:nvSpPr>
        <p:spPr>
          <a:xfrm>
            <a:off x="4114800" y="1444752"/>
            <a:ext cx="4754880" cy="402336"/>
          </a:xfrm>
          <a:prstGeom prst="roundRect">
            <a:avLst>
              <a:gd name="adj" fmla="val 27273"/>
            </a:avLst>
          </a:prstGeom>
          <a:solidFill>
            <a:srgbClr val="FFFFFF"/>
          </a:solidFill>
          <a:ln w="28575">
            <a:solidFill>
              <a:srgbClr val="F7A6C4"/>
            </a:solidFill>
          </a:ln>
        </p:spPr>
        <p:txBody>
          <a:bodyPr wrap="square" lIns="127000" tIns="0" rIns="127000" bIns="0" rtlCol="0" anchor="ctr">
            <a:normAutofit/>
          </a:bodyPr>
          <a:lstStyle/>
          <a:p>
            <a:pPr indent="0" marL="0">
              <a:buNone/>
            </a:pPr>
            <a:r>
              <a:rPr lang="en-US" sz="1150" dirty="0">
                <a:solidFill>
                  <a:srgbClr val="1B2559"/>
                </a:solidFill>
                <a:latin typeface="Segoe UI Semibold" pitchFamily="34" charset="0"/>
                <a:ea typeface="Segoe UI Semibold" pitchFamily="34" charset="-122"/>
                <a:cs typeface="Segoe UI Semibold" pitchFamily="34" charset="-120"/>
              </a:rPr>
              <a:t>So what </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are you going to do</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 next year, dear?</a:t>
            </a:r>
            <a:endParaRPr lang="en-US" sz="1150" dirty="0"/>
          </a:p>
        </p:txBody>
      </p:sp>
      <p:sp>
        <p:nvSpPr>
          <p:cNvPr id="20" name="R1_slA421"/>
          <p:cNvSpPr/>
          <p:nvPr/>
        </p:nvSpPr>
        <p:spPr>
          <a:xfrm>
            <a:off x="4114800" y="1444752"/>
            <a:ext cx="4754880" cy="402336"/>
          </a:xfrm>
          <a:prstGeom prst="roundRect">
            <a:avLst>
              <a:gd name="adj" fmla="val 27273"/>
            </a:avLst>
          </a:prstGeom>
          <a:solidFill>
            <a:srgbClr val="FFFFFF"/>
          </a:solidFill>
          <a:ln w="28575">
            <a:solidFill>
              <a:srgbClr val="F7A6C4"/>
            </a:solidFill>
          </a:ln>
        </p:spPr>
        <p:txBody>
          <a:bodyPr wrap="square" lIns="127000" tIns="0" rIns="127000" bIns="0" rtlCol="0" anchor="ctr">
            <a:normAutofit/>
          </a:bodyPr>
          <a:lstStyle/>
          <a:p>
            <a:pPr indent="0" marL="0">
              <a:buNone/>
            </a:pPr>
            <a:r>
              <a:rPr lang="en-US" sz="1150" dirty="0">
                <a:solidFill>
                  <a:srgbClr val="1B2559"/>
                </a:solidFill>
                <a:latin typeface="Segoe UI Semibold" pitchFamily="34" charset="0"/>
                <a:ea typeface="Segoe UI Semibold" pitchFamily="34" charset="-122"/>
                <a:cs typeface="Segoe UI Semibold" pitchFamily="34" charset="-120"/>
              </a:rPr>
              <a:t>So what </a:t>
            </a:r>
            <a:pPr indent="0" marL="0">
              <a:buNone/>
            </a:pPr>
            <a:r>
              <a:rPr lang="en-US" sz="1150" b="1" dirty="0">
                <a:solidFill>
                  <a:srgbClr val="1B2559"/>
                </a:solidFill>
                <a:highlight>
                  <a:srgbClr val="FFE066"/>
                </a:highlight>
                <a:latin typeface="Segoe UI Semibold" pitchFamily="34" charset="0"/>
                <a:ea typeface="Segoe UI Semibold" pitchFamily="34" charset="-122"/>
                <a:cs typeface="Segoe UI Semibold" pitchFamily="34" charset="-120"/>
              </a:rPr>
              <a:t>are you going to do</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 next year, dear?</a:t>
            </a:r>
            <a:endParaRPr lang="en-US" sz="1150" dirty="0"/>
          </a:p>
        </p:txBody>
      </p:sp>
      <p:sp>
        <p:nvSpPr>
          <p:cNvPr id="21" name="who_422"/>
          <p:cNvSpPr/>
          <p:nvPr/>
        </p:nvSpPr>
        <p:spPr>
          <a:xfrm>
            <a:off x="3108960" y="1920240"/>
            <a:ext cx="914400" cy="365760"/>
          </a:xfrm>
          <a:prstGeom prst="roundRect">
            <a:avLst>
              <a:gd name="adj" fmla="val 30000"/>
            </a:avLst>
          </a:prstGeom>
          <a:solidFill>
            <a:srgbClr val="FFE3EE"/>
          </a:solidFill>
          <a:ln/>
        </p:spPr>
        <p:txBody>
          <a:bodyPr wrap="square" lIns="0" tIns="0" rIns="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1 · Adam</a:t>
            </a:r>
            <a:endParaRPr lang="en-US" sz="950" dirty="0"/>
          </a:p>
        </p:txBody>
      </p:sp>
      <p:sp>
        <p:nvSpPr>
          <p:cNvPr id="22" name="sl_423"/>
          <p:cNvSpPr/>
          <p:nvPr/>
        </p:nvSpPr>
        <p:spPr>
          <a:xfrm>
            <a:off x="4114800" y="1901952"/>
            <a:ext cx="4754880" cy="402336"/>
          </a:xfrm>
          <a:prstGeom prst="roundRect">
            <a:avLst>
              <a:gd name="adj" fmla="val 27273"/>
            </a:avLst>
          </a:prstGeom>
          <a:solidFill>
            <a:srgbClr val="FFFFFF"/>
          </a:solidFill>
          <a:ln w="28575">
            <a:solidFill>
              <a:srgbClr val="F7A6C4"/>
            </a:solidFill>
          </a:ln>
        </p:spPr>
        <p:txBody>
          <a:bodyPr wrap="square" lIns="127000" tIns="0" rIns="127000" bIns="0" rtlCol="0" anchor="ctr">
            <a:normAutofit/>
          </a:bodyPr>
          <a:lstStyle/>
          <a:p>
            <a:pPr indent="0" marL="0">
              <a:buNone/>
            </a:pPr>
            <a:r>
              <a:rPr lang="en-US" sz="1150" dirty="0">
                <a:solidFill>
                  <a:srgbClr val="1B2559"/>
                </a:solidFill>
                <a:latin typeface="Segoe UI Semibold" pitchFamily="34" charset="0"/>
                <a:ea typeface="Segoe UI Semibold" pitchFamily="34" charset="-122"/>
                <a:cs typeface="Segoe UI Semibold" pitchFamily="34" charset="-120"/>
              </a:rPr>
              <a:t>I</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'm not going to go</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 to university. I</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'm going to look</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 for a job.</a:t>
            </a:r>
            <a:endParaRPr lang="en-US" sz="1150" dirty="0"/>
          </a:p>
        </p:txBody>
      </p:sp>
      <p:sp>
        <p:nvSpPr>
          <p:cNvPr id="23" name="R2_slA424"/>
          <p:cNvSpPr/>
          <p:nvPr/>
        </p:nvSpPr>
        <p:spPr>
          <a:xfrm>
            <a:off x="4114800" y="1901952"/>
            <a:ext cx="4754880" cy="402336"/>
          </a:xfrm>
          <a:prstGeom prst="roundRect">
            <a:avLst>
              <a:gd name="adj" fmla="val 27273"/>
            </a:avLst>
          </a:prstGeom>
          <a:solidFill>
            <a:srgbClr val="FFFFFF"/>
          </a:solidFill>
          <a:ln w="28575">
            <a:solidFill>
              <a:srgbClr val="F7A6C4"/>
            </a:solidFill>
          </a:ln>
        </p:spPr>
        <p:txBody>
          <a:bodyPr wrap="square" lIns="127000" tIns="0" rIns="127000" bIns="0" rtlCol="0" anchor="ctr">
            <a:normAutofit/>
          </a:bodyPr>
          <a:lstStyle/>
          <a:p>
            <a:pPr indent="0" marL="0">
              <a:buNone/>
            </a:pPr>
            <a:r>
              <a:rPr lang="en-US" sz="1150" dirty="0">
                <a:solidFill>
                  <a:srgbClr val="1B2559"/>
                </a:solidFill>
                <a:latin typeface="Segoe UI Semibold" pitchFamily="34" charset="0"/>
                <a:ea typeface="Segoe UI Semibold" pitchFamily="34" charset="-122"/>
                <a:cs typeface="Segoe UI Semibold" pitchFamily="34" charset="-120"/>
              </a:rPr>
              <a:t>I</a:t>
            </a:r>
            <a:pPr indent="0" marL="0">
              <a:buNone/>
            </a:pPr>
            <a:r>
              <a:rPr lang="en-US" sz="1150" b="1" dirty="0">
                <a:solidFill>
                  <a:srgbClr val="1B2559"/>
                </a:solidFill>
                <a:highlight>
                  <a:srgbClr val="FFE066"/>
                </a:highlight>
                <a:latin typeface="Segoe UI Semibold" pitchFamily="34" charset="0"/>
                <a:ea typeface="Segoe UI Semibold" pitchFamily="34" charset="-122"/>
                <a:cs typeface="Segoe UI Semibold" pitchFamily="34" charset="-120"/>
              </a:rPr>
              <a:t>'m not going to go</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 to university. I</a:t>
            </a:r>
            <a:pPr indent="0" marL="0">
              <a:buNone/>
            </a:pPr>
            <a:r>
              <a:rPr lang="en-US" sz="1150" b="1" dirty="0">
                <a:solidFill>
                  <a:srgbClr val="1B2559"/>
                </a:solidFill>
                <a:highlight>
                  <a:srgbClr val="FFE066"/>
                </a:highlight>
                <a:latin typeface="Segoe UI Semibold" pitchFamily="34" charset="0"/>
                <a:ea typeface="Segoe UI Semibold" pitchFamily="34" charset="-122"/>
                <a:cs typeface="Segoe UI Semibold" pitchFamily="34" charset="-120"/>
              </a:rPr>
              <a:t>'m going to look</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 for a job.</a:t>
            </a:r>
            <a:endParaRPr lang="en-US" sz="1150" dirty="0"/>
          </a:p>
        </p:txBody>
      </p:sp>
      <p:sp>
        <p:nvSpPr>
          <p:cNvPr id="24" name="who_425"/>
          <p:cNvSpPr/>
          <p:nvPr/>
        </p:nvSpPr>
        <p:spPr>
          <a:xfrm>
            <a:off x="3108960" y="2377440"/>
            <a:ext cx="914400" cy="365760"/>
          </a:xfrm>
          <a:prstGeom prst="roundRect">
            <a:avLst>
              <a:gd name="adj" fmla="val 30000"/>
            </a:avLst>
          </a:prstGeom>
          <a:solidFill>
            <a:srgbClr val="FFE3EE"/>
          </a:solidFill>
          <a:ln/>
        </p:spPr>
        <p:txBody>
          <a:bodyPr wrap="square" lIns="0" tIns="0" rIns="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1 · Adam</a:t>
            </a:r>
            <a:endParaRPr lang="en-US" sz="950" dirty="0"/>
          </a:p>
        </p:txBody>
      </p:sp>
      <p:sp>
        <p:nvSpPr>
          <p:cNvPr id="25" name="sl_426"/>
          <p:cNvSpPr/>
          <p:nvPr/>
        </p:nvSpPr>
        <p:spPr>
          <a:xfrm>
            <a:off x="4114800" y="2359152"/>
            <a:ext cx="4754880" cy="402336"/>
          </a:xfrm>
          <a:prstGeom prst="roundRect">
            <a:avLst>
              <a:gd name="adj" fmla="val 27273"/>
            </a:avLst>
          </a:prstGeom>
          <a:solidFill>
            <a:srgbClr val="FFFFFF"/>
          </a:solidFill>
          <a:ln w="28575">
            <a:solidFill>
              <a:srgbClr val="F7A6C4"/>
            </a:solidFill>
          </a:ln>
        </p:spPr>
        <p:txBody>
          <a:bodyPr wrap="square" lIns="127000" tIns="0" rIns="127000" bIns="0" rtlCol="0" anchor="ctr">
            <a:normAutofit/>
          </a:bodyPr>
          <a:lstStyle/>
          <a:p>
            <a:pPr indent="0" marL="0">
              <a:buNone/>
            </a:pPr>
            <a:r>
              <a:rPr lang="en-US" sz="1150" dirty="0">
                <a:solidFill>
                  <a:srgbClr val="1B2559"/>
                </a:solidFill>
                <a:latin typeface="Segoe UI Semibold" pitchFamily="34" charset="0"/>
                <a:ea typeface="Segoe UI Semibold" pitchFamily="34" charset="-122"/>
                <a:cs typeface="Segoe UI Semibold" pitchFamily="34" charset="-120"/>
              </a:rPr>
              <a:t>Shall I make</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 you a cup of tea?</a:t>
            </a:r>
            <a:endParaRPr lang="en-US" sz="1150" dirty="0"/>
          </a:p>
        </p:txBody>
      </p:sp>
      <p:sp>
        <p:nvSpPr>
          <p:cNvPr id="26" name="R3_slA427"/>
          <p:cNvSpPr/>
          <p:nvPr/>
        </p:nvSpPr>
        <p:spPr>
          <a:xfrm>
            <a:off x="4114800" y="2359152"/>
            <a:ext cx="4754880" cy="402336"/>
          </a:xfrm>
          <a:prstGeom prst="roundRect">
            <a:avLst>
              <a:gd name="adj" fmla="val 27273"/>
            </a:avLst>
          </a:prstGeom>
          <a:solidFill>
            <a:srgbClr val="FFFFFF"/>
          </a:solidFill>
          <a:ln w="28575">
            <a:solidFill>
              <a:srgbClr val="F7A6C4"/>
            </a:solidFill>
          </a:ln>
        </p:spPr>
        <p:txBody>
          <a:bodyPr wrap="square" lIns="127000" tIns="0" rIns="127000" bIns="0" rtlCol="0" anchor="ctr">
            <a:normAutofit/>
          </a:bodyPr>
          <a:lstStyle/>
          <a:p>
            <a:pPr indent="0" marL="0">
              <a:buNone/>
            </a:pPr>
            <a:r>
              <a:rPr lang="en-US" sz="1150" b="1" dirty="0">
                <a:solidFill>
                  <a:srgbClr val="1B2559"/>
                </a:solidFill>
                <a:highlight>
                  <a:srgbClr val="FFE066"/>
                </a:highlight>
                <a:latin typeface="Segoe UI Semibold" pitchFamily="34" charset="0"/>
                <a:ea typeface="Segoe UI Semibold" pitchFamily="34" charset="-122"/>
                <a:cs typeface="Segoe UI Semibold" pitchFamily="34" charset="-120"/>
              </a:rPr>
              <a:t>Shall I make</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 you a cup of tea?</a:t>
            </a:r>
            <a:endParaRPr lang="en-US" sz="1150" dirty="0"/>
          </a:p>
        </p:txBody>
      </p:sp>
      <p:sp>
        <p:nvSpPr>
          <p:cNvPr id="27" name="who_428"/>
          <p:cNvSpPr/>
          <p:nvPr/>
        </p:nvSpPr>
        <p:spPr>
          <a:xfrm>
            <a:off x="3108960" y="2834640"/>
            <a:ext cx="914400" cy="365760"/>
          </a:xfrm>
          <a:prstGeom prst="roundRect">
            <a:avLst>
              <a:gd name="adj" fmla="val 30000"/>
            </a:avLst>
          </a:prstGeom>
          <a:solidFill>
            <a:srgbClr val="E3F1FD"/>
          </a:solidFill>
          <a:ln/>
        </p:spPr>
        <p:txBody>
          <a:bodyPr wrap="square" lIns="0" tIns="0" rIns="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2 · Girl</a:t>
            </a:r>
            <a:endParaRPr lang="en-US" sz="950" dirty="0"/>
          </a:p>
        </p:txBody>
      </p:sp>
      <p:sp>
        <p:nvSpPr>
          <p:cNvPr id="28" name="sl_429"/>
          <p:cNvSpPr/>
          <p:nvPr/>
        </p:nvSpPr>
        <p:spPr>
          <a:xfrm>
            <a:off x="4114800" y="2816352"/>
            <a:ext cx="4754880" cy="402336"/>
          </a:xfrm>
          <a:prstGeom prst="roundRect">
            <a:avLst>
              <a:gd name="adj" fmla="val 27273"/>
            </a:avLst>
          </a:prstGeom>
          <a:solidFill>
            <a:srgbClr val="FFFFFF"/>
          </a:solidFill>
          <a:ln w="28575">
            <a:solidFill>
              <a:srgbClr val="A9D3F5"/>
            </a:solidFill>
          </a:ln>
        </p:spPr>
        <p:txBody>
          <a:bodyPr wrap="square" lIns="127000" tIns="0" rIns="127000" bIns="0" rtlCol="0" anchor="ctr">
            <a:normAutofit/>
          </a:bodyPr>
          <a:lstStyle/>
          <a:p>
            <a:pPr indent="0" marL="0">
              <a:buNone/>
            </a:pPr>
            <a:r>
              <a:rPr lang="en-US" sz="1150" dirty="0">
                <a:solidFill>
                  <a:srgbClr val="1B2559"/>
                </a:solidFill>
                <a:latin typeface="Segoe UI Semibold" pitchFamily="34" charset="0"/>
                <a:ea typeface="Segoe UI Semibold" pitchFamily="34" charset="-122"/>
                <a:cs typeface="Segoe UI Semibold" pitchFamily="34" charset="-120"/>
              </a:rPr>
              <a:t>I</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'm going</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 to a party at Katie's. I</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'm staying</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 the night there.</a:t>
            </a:r>
            <a:endParaRPr lang="en-US" sz="1150" dirty="0"/>
          </a:p>
        </p:txBody>
      </p:sp>
      <p:sp>
        <p:nvSpPr>
          <p:cNvPr id="29" name="R4_slA430"/>
          <p:cNvSpPr/>
          <p:nvPr/>
        </p:nvSpPr>
        <p:spPr>
          <a:xfrm>
            <a:off x="4114800" y="2816352"/>
            <a:ext cx="4754880" cy="402336"/>
          </a:xfrm>
          <a:prstGeom prst="roundRect">
            <a:avLst>
              <a:gd name="adj" fmla="val 27273"/>
            </a:avLst>
          </a:prstGeom>
          <a:solidFill>
            <a:srgbClr val="FFFFFF"/>
          </a:solidFill>
          <a:ln w="28575">
            <a:solidFill>
              <a:srgbClr val="A9D3F5"/>
            </a:solidFill>
          </a:ln>
        </p:spPr>
        <p:txBody>
          <a:bodyPr wrap="square" lIns="127000" tIns="0" rIns="127000" bIns="0" rtlCol="0" anchor="ctr">
            <a:normAutofit/>
          </a:bodyPr>
          <a:lstStyle/>
          <a:p>
            <a:pPr indent="0" marL="0">
              <a:buNone/>
            </a:pPr>
            <a:r>
              <a:rPr lang="en-US" sz="1150" dirty="0">
                <a:solidFill>
                  <a:srgbClr val="1B2559"/>
                </a:solidFill>
                <a:latin typeface="Segoe UI Semibold" pitchFamily="34" charset="0"/>
                <a:ea typeface="Segoe UI Semibold" pitchFamily="34" charset="-122"/>
                <a:cs typeface="Segoe UI Semibold" pitchFamily="34" charset="-120"/>
              </a:rPr>
              <a:t>I</a:t>
            </a:r>
            <a:pPr indent="0" marL="0">
              <a:buNone/>
            </a:pPr>
            <a:r>
              <a:rPr lang="en-US" sz="1150" b="1" dirty="0">
                <a:solidFill>
                  <a:srgbClr val="1B2559"/>
                </a:solidFill>
                <a:highlight>
                  <a:srgbClr val="FFE066"/>
                </a:highlight>
                <a:latin typeface="Segoe UI Semibold" pitchFamily="34" charset="0"/>
                <a:ea typeface="Segoe UI Semibold" pitchFamily="34" charset="-122"/>
                <a:cs typeface="Segoe UI Semibold" pitchFamily="34" charset="-120"/>
              </a:rPr>
              <a:t>'m going</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 to a party at Katie's. I</a:t>
            </a:r>
            <a:pPr indent="0" marL="0">
              <a:buNone/>
            </a:pPr>
            <a:r>
              <a:rPr lang="en-US" sz="1150" b="1" dirty="0">
                <a:solidFill>
                  <a:srgbClr val="1B2559"/>
                </a:solidFill>
                <a:highlight>
                  <a:srgbClr val="FFE066"/>
                </a:highlight>
                <a:latin typeface="Segoe UI Semibold" pitchFamily="34" charset="0"/>
                <a:ea typeface="Segoe UI Semibold" pitchFamily="34" charset="-122"/>
                <a:cs typeface="Segoe UI Semibold" pitchFamily="34" charset="-120"/>
              </a:rPr>
              <a:t>'m staying</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 the night there.</a:t>
            </a:r>
            <a:endParaRPr lang="en-US" sz="1150" dirty="0"/>
          </a:p>
        </p:txBody>
      </p:sp>
      <p:sp>
        <p:nvSpPr>
          <p:cNvPr id="30" name="who_431"/>
          <p:cNvSpPr/>
          <p:nvPr/>
        </p:nvSpPr>
        <p:spPr>
          <a:xfrm>
            <a:off x="3108960" y="3291840"/>
            <a:ext cx="914400" cy="365760"/>
          </a:xfrm>
          <a:prstGeom prst="roundRect">
            <a:avLst>
              <a:gd name="adj" fmla="val 30000"/>
            </a:avLst>
          </a:prstGeom>
          <a:solidFill>
            <a:srgbClr val="E3F1FD"/>
          </a:solidFill>
          <a:ln/>
        </p:spPr>
        <p:txBody>
          <a:bodyPr wrap="square" lIns="0" tIns="0" rIns="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2 · Dad</a:t>
            </a:r>
            <a:endParaRPr lang="en-US" sz="950" dirty="0"/>
          </a:p>
        </p:txBody>
      </p:sp>
      <p:sp>
        <p:nvSpPr>
          <p:cNvPr id="31" name="sl_432"/>
          <p:cNvSpPr/>
          <p:nvPr/>
        </p:nvSpPr>
        <p:spPr>
          <a:xfrm>
            <a:off x="4114800" y="3273552"/>
            <a:ext cx="4754880" cy="402336"/>
          </a:xfrm>
          <a:prstGeom prst="roundRect">
            <a:avLst>
              <a:gd name="adj" fmla="val 27273"/>
            </a:avLst>
          </a:prstGeom>
          <a:solidFill>
            <a:srgbClr val="FFFFFF"/>
          </a:solidFill>
          <a:ln w="28575">
            <a:solidFill>
              <a:srgbClr val="A9D3F5"/>
            </a:solidFill>
          </a:ln>
        </p:spPr>
        <p:txBody>
          <a:bodyPr wrap="square" lIns="127000" tIns="0" rIns="127000" bIns="0" rtlCol="0" anchor="ctr">
            <a:normAutofit/>
          </a:bodyPr>
          <a:lstStyle/>
          <a:p>
            <a:pPr indent="0" marL="0">
              <a:buNone/>
            </a:pPr>
            <a:r>
              <a:rPr lang="en-US" sz="1150" dirty="0">
                <a:solidFill>
                  <a:srgbClr val="1B2559"/>
                </a:solidFill>
                <a:latin typeface="Segoe UI Semibold" pitchFamily="34" charset="0"/>
                <a:ea typeface="Segoe UI Semibold" pitchFamily="34" charset="-122"/>
                <a:cs typeface="Segoe UI Semibold" pitchFamily="34" charset="-120"/>
              </a:rPr>
              <a:t>Where's your coat? It</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's going to be</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 cold tonight!</a:t>
            </a:r>
            <a:endParaRPr lang="en-US" sz="1150" dirty="0"/>
          </a:p>
        </p:txBody>
      </p:sp>
      <p:sp>
        <p:nvSpPr>
          <p:cNvPr id="32" name="R5_slA433"/>
          <p:cNvSpPr/>
          <p:nvPr/>
        </p:nvSpPr>
        <p:spPr>
          <a:xfrm>
            <a:off x="4114800" y="3273552"/>
            <a:ext cx="4754880" cy="402336"/>
          </a:xfrm>
          <a:prstGeom prst="roundRect">
            <a:avLst>
              <a:gd name="adj" fmla="val 27273"/>
            </a:avLst>
          </a:prstGeom>
          <a:solidFill>
            <a:srgbClr val="FFFFFF"/>
          </a:solidFill>
          <a:ln w="28575">
            <a:solidFill>
              <a:srgbClr val="A9D3F5"/>
            </a:solidFill>
          </a:ln>
        </p:spPr>
        <p:txBody>
          <a:bodyPr wrap="square" lIns="127000" tIns="0" rIns="127000" bIns="0" rtlCol="0" anchor="ctr">
            <a:normAutofit/>
          </a:bodyPr>
          <a:lstStyle/>
          <a:p>
            <a:pPr indent="0" marL="0">
              <a:buNone/>
            </a:pPr>
            <a:r>
              <a:rPr lang="en-US" sz="1150" dirty="0">
                <a:solidFill>
                  <a:srgbClr val="1B2559"/>
                </a:solidFill>
                <a:latin typeface="Segoe UI Semibold" pitchFamily="34" charset="0"/>
                <a:ea typeface="Segoe UI Semibold" pitchFamily="34" charset="-122"/>
                <a:cs typeface="Segoe UI Semibold" pitchFamily="34" charset="-120"/>
              </a:rPr>
              <a:t>Where's your coat? It</a:t>
            </a:r>
            <a:pPr indent="0" marL="0">
              <a:buNone/>
            </a:pPr>
            <a:r>
              <a:rPr lang="en-US" sz="1150" b="1" dirty="0">
                <a:solidFill>
                  <a:srgbClr val="1B2559"/>
                </a:solidFill>
                <a:highlight>
                  <a:srgbClr val="FFE066"/>
                </a:highlight>
                <a:latin typeface="Segoe UI Semibold" pitchFamily="34" charset="0"/>
                <a:ea typeface="Segoe UI Semibold" pitchFamily="34" charset="-122"/>
                <a:cs typeface="Segoe UI Semibold" pitchFamily="34" charset="-120"/>
              </a:rPr>
              <a:t>'s going to be</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 cold tonight!</a:t>
            </a:r>
            <a:endParaRPr lang="en-US" sz="1150" dirty="0"/>
          </a:p>
        </p:txBody>
      </p:sp>
      <p:sp>
        <p:nvSpPr>
          <p:cNvPr id="33" name="who_434"/>
          <p:cNvSpPr/>
          <p:nvPr/>
        </p:nvSpPr>
        <p:spPr>
          <a:xfrm>
            <a:off x="3108960" y="3749040"/>
            <a:ext cx="914400" cy="365760"/>
          </a:xfrm>
          <a:prstGeom prst="roundRect">
            <a:avLst>
              <a:gd name="adj" fmla="val 30000"/>
            </a:avLst>
          </a:prstGeom>
          <a:solidFill>
            <a:srgbClr val="E3F7EA"/>
          </a:solidFill>
          <a:ln/>
        </p:spPr>
        <p:txBody>
          <a:bodyPr wrap="square" lIns="0" tIns="0" rIns="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3 · Woman</a:t>
            </a:r>
            <a:endParaRPr lang="en-US" sz="950" dirty="0"/>
          </a:p>
        </p:txBody>
      </p:sp>
      <p:sp>
        <p:nvSpPr>
          <p:cNvPr id="34" name="sl_435"/>
          <p:cNvSpPr/>
          <p:nvPr/>
        </p:nvSpPr>
        <p:spPr>
          <a:xfrm>
            <a:off x="4114800" y="3730752"/>
            <a:ext cx="4754880" cy="402336"/>
          </a:xfrm>
          <a:prstGeom prst="roundRect">
            <a:avLst>
              <a:gd name="adj" fmla="val 27273"/>
            </a:avLst>
          </a:prstGeom>
          <a:solidFill>
            <a:srgbClr val="FFFFFF"/>
          </a:solidFill>
          <a:ln w="28575">
            <a:solidFill>
              <a:srgbClr val="A8E5BE"/>
            </a:solidFill>
          </a:ln>
        </p:spPr>
        <p:txBody>
          <a:bodyPr wrap="square" lIns="127000" tIns="0" rIns="127000" bIns="0" rtlCol="0" anchor="ctr">
            <a:normAutofit/>
          </a:bodyPr>
          <a:lstStyle/>
          <a:p>
            <a:pPr indent="0" marL="0">
              <a:buNone/>
            </a:pPr>
            <a:r>
              <a:rPr lang="en-US" sz="1150" dirty="0">
                <a:solidFill>
                  <a:srgbClr val="1B2559"/>
                </a:solidFill>
                <a:latin typeface="Segoe UI Semibold" pitchFamily="34" charset="0"/>
                <a:ea typeface="Segoe UI Semibold" pitchFamily="34" charset="-122"/>
                <a:cs typeface="Segoe UI Semibold" pitchFamily="34" charset="-120"/>
              </a:rPr>
              <a:t>You </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won't look after</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 it. You</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'll drive</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 too fast.</a:t>
            </a:r>
            <a:endParaRPr lang="en-US" sz="1150" dirty="0"/>
          </a:p>
        </p:txBody>
      </p:sp>
      <p:sp>
        <p:nvSpPr>
          <p:cNvPr id="35" name="R6_slA436"/>
          <p:cNvSpPr/>
          <p:nvPr/>
        </p:nvSpPr>
        <p:spPr>
          <a:xfrm>
            <a:off x="4114800" y="3730752"/>
            <a:ext cx="4754880" cy="402336"/>
          </a:xfrm>
          <a:prstGeom prst="roundRect">
            <a:avLst>
              <a:gd name="adj" fmla="val 27273"/>
            </a:avLst>
          </a:prstGeom>
          <a:solidFill>
            <a:srgbClr val="FFFFFF"/>
          </a:solidFill>
          <a:ln w="28575">
            <a:solidFill>
              <a:srgbClr val="A8E5BE"/>
            </a:solidFill>
          </a:ln>
        </p:spPr>
        <p:txBody>
          <a:bodyPr wrap="square" lIns="127000" tIns="0" rIns="127000" bIns="0" rtlCol="0" anchor="ctr">
            <a:normAutofit/>
          </a:bodyPr>
          <a:lstStyle/>
          <a:p>
            <a:pPr indent="0" marL="0">
              <a:buNone/>
            </a:pPr>
            <a:r>
              <a:rPr lang="en-US" sz="1150" dirty="0">
                <a:solidFill>
                  <a:srgbClr val="1B2559"/>
                </a:solidFill>
                <a:latin typeface="Segoe UI Semibold" pitchFamily="34" charset="0"/>
                <a:ea typeface="Segoe UI Semibold" pitchFamily="34" charset="-122"/>
                <a:cs typeface="Segoe UI Semibold" pitchFamily="34" charset="-120"/>
              </a:rPr>
              <a:t>You </a:t>
            </a:r>
            <a:pPr indent="0" marL="0">
              <a:buNone/>
            </a:pPr>
            <a:r>
              <a:rPr lang="en-US" sz="1150" b="1" dirty="0">
                <a:solidFill>
                  <a:srgbClr val="1B2559"/>
                </a:solidFill>
                <a:highlight>
                  <a:srgbClr val="FFE066"/>
                </a:highlight>
                <a:latin typeface="Segoe UI Semibold" pitchFamily="34" charset="0"/>
                <a:ea typeface="Segoe UI Semibold" pitchFamily="34" charset="-122"/>
                <a:cs typeface="Segoe UI Semibold" pitchFamily="34" charset="-120"/>
              </a:rPr>
              <a:t>won't look after</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 it. You</a:t>
            </a:r>
            <a:pPr indent="0" marL="0">
              <a:buNone/>
            </a:pPr>
            <a:r>
              <a:rPr lang="en-US" sz="1150" b="1" dirty="0">
                <a:solidFill>
                  <a:srgbClr val="1B2559"/>
                </a:solidFill>
                <a:highlight>
                  <a:srgbClr val="FFE066"/>
                </a:highlight>
                <a:latin typeface="Segoe UI Semibold" pitchFamily="34" charset="0"/>
                <a:ea typeface="Segoe UI Semibold" pitchFamily="34" charset="-122"/>
                <a:cs typeface="Segoe UI Semibold" pitchFamily="34" charset="-120"/>
              </a:rPr>
              <a:t>'ll drive</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 too fast.</a:t>
            </a:r>
            <a:endParaRPr lang="en-US" sz="1150" dirty="0"/>
          </a:p>
        </p:txBody>
      </p:sp>
      <p:sp>
        <p:nvSpPr>
          <p:cNvPr id="36" name="who_437"/>
          <p:cNvSpPr/>
          <p:nvPr/>
        </p:nvSpPr>
        <p:spPr>
          <a:xfrm>
            <a:off x="3108960" y="4206240"/>
            <a:ext cx="914400" cy="365760"/>
          </a:xfrm>
          <a:prstGeom prst="roundRect">
            <a:avLst>
              <a:gd name="adj" fmla="val 30000"/>
            </a:avLst>
          </a:prstGeom>
          <a:solidFill>
            <a:srgbClr val="E3F7EA"/>
          </a:solidFill>
          <a:ln/>
        </p:spPr>
        <p:txBody>
          <a:bodyPr wrap="square" lIns="0" tIns="0" rIns="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3 · Man</a:t>
            </a:r>
            <a:endParaRPr lang="en-US" sz="950" dirty="0"/>
          </a:p>
        </p:txBody>
      </p:sp>
      <p:sp>
        <p:nvSpPr>
          <p:cNvPr id="37" name="sl_438"/>
          <p:cNvSpPr/>
          <p:nvPr/>
        </p:nvSpPr>
        <p:spPr>
          <a:xfrm>
            <a:off x="4114800" y="4187952"/>
            <a:ext cx="4754880" cy="402336"/>
          </a:xfrm>
          <a:prstGeom prst="roundRect">
            <a:avLst>
              <a:gd name="adj" fmla="val 27273"/>
            </a:avLst>
          </a:prstGeom>
          <a:solidFill>
            <a:srgbClr val="FFFFFF"/>
          </a:solidFill>
          <a:ln w="28575">
            <a:solidFill>
              <a:srgbClr val="A8E5BE"/>
            </a:solidFill>
          </a:ln>
        </p:spPr>
        <p:txBody>
          <a:bodyPr wrap="square" lIns="127000" tIns="0" rIns="127000" bIns="0" rtlCol="0" anchor="ctr">
            <a:normAutofit/>
          </a:bodyPr>
          <a:lstStyle/>
          <a:p>
            <a:pPr indent="0" marL="0">
              <a:buNone/>
            </a:pPr>
            <a:r>
              <a:rPr lang="en-US" sz="1150" dirty="0">
                <a:solidFill>
                  <a:srgbClr val="1B2559"/>
                </a:solidFill>
                <a:latin typeface="Segoe UI Semibold" pitchFamily="34" charset="0"/>
                <a:ea typeface="Segoe UI Semibold" pitchFamily="34" charset="-122"/>
                <a:cs typeface="Segoe UI Semibold" pitchFamily="34" charset="-120"/>
              </a:rPr>
              <a:t>I </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won't</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 I promise. I</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'll be</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 really careful.</a:t>
            </a:r>
            <a:endParaRPr lang="en-US" sz="1150" dirty="0"/>
          </a:p>
        </p:txBody>
      </p:sp>
      <p:sp>
        <p:nvSpPr>
          <p:cNvPr id="38" name="R7_slA439"/>
          <p:cNvSpPr/>
          <p:nvPr/>
        </p:nvSpPr>
        <p:spPr>
          <a:xfrm>
            <a:off x="4114800" y="4187952"/>
            <a:ext cx="4754880" cy="402336"/>
          </a:xfrm>
          <a:prstGeom prst="roundRect">
            <a:avLst>
              <a:gd name="adj" fmla="val 27273"/>
            </a:avLst>
          </a:prstGeom>
          <a:solidFill>
            <a:srgbClr val="FFFFFF"/>
          </a:solidFill>
          <a:ln w="28575">
            <a:solidFill>
              <a:srgbClr val="A8E5BE"/>
            </a:solidFill>
          </a:ln>
        </p:spPr>
        <p:txBody>
          <a:bodyPr wrap="square" lIns="127000" tIns="0" rIns="127000" bIns="0" rtlCol="0" anchor="ctr">
            <a:normAutofit/>
          </a:bodyPr>
          <a:lstStyle/>
          <a:p>
            <a:pPr indent="0" marL="0">
              <a:buNone/>
            </a:pPr>
            <a:r>
              <a:rPr lang="en-US" sz="1150" dirty="0">
                <a:solidFill>
                  <a:srgbClr val="1B2559"/>
                </a:solidFill>
                <a:latin typeface="Segoe UI Semibold" pitchFamily="34" charset="0"/>
                <a:ea typeface="Segoe UI Semibold" pitchFamily="34" charset="-122"/>
                <a:cs typeface="Segoe UI Semibold" pitchFamily="34" charset="-120"/>
              </a:rPr>
              <a:t>I </a:t>
            </a:r>
            <a:pPr indent="0" marL="0">
              <a:buNone/>
            </a:pPr>
            <a:r>
              <a:rPr lang="en-US" sz="1150" b="1" dirty="0">
                <a:solidFill>
                  <a:srgbClr val="1B2559"/>
                </a:solidFill>
                <a:highlight>
                  <a:srgbClr val="FFE066"/>
                </a:highlight>
                <a:latin typeface="Segoe UI Semibold" pitchFamily="34" charset="0"/>
                <a:ea typeface="Segoe UI Semibold" pitchFamily="34" charset="-122"/>
                <a:cs typeface="Segoe UI Semibold" pitchFamily="34" charset="-120"/>
              </a:rPr>
              <a:t>won't</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 I promise. I</a:t>
            </a:r>
            <a:pPr indent="0" marL="0">
              <a:buNone/>
            </a:pPr>
            <a:r>
              <a:rPr lang="en-US" sz="1150" b="1" dirty="0">
                <a:solidFill>
                  <a:srgbClr val="1B2559"/>
                </a:solidFill>
                <a:highlight>
                  <a:srgbClr val="FFE066"/>
                </a:highlight>
                <a:latin typeface="Segoe UI Semibold" pitchFamily="34" charset="0"/>
                <a:ea typeface="Segoe UI Semibold" pitchFamily="34" charset="-122"/>
                <a:cs typeface="Segoe UI Semibold" pitchFamily="34" charset="-120"/>
              </a:rPr>
              <a:t>'ll be</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 really careful.</a:t>
            </a:r>
            <a:endParaRPr lang="en-US" sz="11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4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fade">
                                      <p:cBhvr>
                                        <p:cTn id="17" dur="400"/>
                                        <p:tgtEl>
                                          <p:spTgt spid="2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400"/>
                                        <p:tgtEl>
                                          <p:spTgt spid="2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fade">
                                      <p:cBhvr>
                                        <p:cTn id="27" dur="400"/>
                                        <p:tgtEl>
                                          <p:spTgt spid="3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5"/>
                                        </p:tgtEl>
                                        <p:attrNameLst>
                                          <p:attrName>style.visibility</p:attrName>
                                        </p:attrNameLst>
                                      </p:cBhvr>
                                      <p:to>
                                        <p:strVal val="visible"/>
                                      </p:to>
                                    </p:set>
                                    <p:animEffect transition="in" filter="fade">
                                      <p:cBhvr>
                                        <p:cTn id="32" dur="400"/>
                                        <p:tgtEl>
                                          <p:spTgt spid="3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8"/>
                                        </p:tgtEl>
                                        <p:attrNameLst>
                                          <p:attrName>style.visibility</p:attrName>
                                        </p:attrNameLst>
                                      </p:cBhvr>
                                      <p:to>
                                        <p:strVal val="visible"/>
                                      </p:to>
                                    </p:set>
                                    <p:animEffect transition="in" filter="fade">
                                      <p:cBhvr>
                                        <p:cTn id="37" dur="4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40"/>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15</a:t>
            </a:r>
            <a:endParaRPr lang="en-US" sz="2200" dirty="0"/>
          </a:p>
        </p:txBody>
      </p:sp>
      <p:pic>
        <p:nvPicPr>
          <p:cNvPr id="4" name="brY_441" descr="/home/claude/lls-course/v2/assets/brush-yellow.png">    </p:cNvPr>
          <p:cNvPicPr>
            <a:picLocks noChangeAspect="1"/>
          </p:cNvPicPr>
          <p:nvPr/>
        </p:nvPicPr>
        <p:blipFill>
          <a:blip r:embed="rId2"/>
          <a:stretch>
            <a:fillRect/>
          </a:stretch>
        </p:blipFill>
        <p:spPr>
          <a:xfrm>
            <a:off x="1097280" y="146304"/>
            <a:ext cx="5135270" cy="621792"/>
          </a:xfrm>
          <a:prstGeom prst="rect">
            <a:avLst/>
          </a:prstGeom>
        </p:spPr>
      </p:pic>
      <p:sp>
        <p:nvSpPr>
          <p:cNvPr id="5" name="title_442"/>
          <p:cNvSpPr/>
          <p:nvPr/>
        </p:nvSpPr>
        <p:spPr>
          <a:xfrm>
            <a:off x="1261872" y="164592"/>
            <a:ext cx="4860950"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Plan, prediction or promise?</a:t>
            </a:r>
            <a:endParaRPr lang="en-US" sz="2500" dirty="0"/>
          </a:p>
        </p:txBody>
      </p:sp>
      <p:pic>
        <p:nvPicPr>
          <p:cNvPr id="6" name="brP_443" descr="/home/claude/lls-course/v2/assets/brush-pink.png">    </p:cNvPr>
          <p:cNvPicPr>
            <a:picLocks noChangeAspect="1"/>
          </p:cNvPicPr>
          <p:nvPr/>
        </p:nvPicPr>
        <p:blipFill>
          <a:blip r:embed="rId3"/>
          <a:stretch>
            <a:fillRect/>
          </a:stretch>
        </p:blipFill>
        <p:spPr>
          <a:xfrm>
            <a:off x="1207008" y="731520"/>
            <a:ext cx="4466844" cy="402336"/>
          </a:xfrm>
          <a:prstGeom prst="rect">
            <a:avLst/>
          </a:prstGeom>
        </p:spPr>
      </p:pic>
      <p:sp>
        <p:nvSpPr>
          <p:cNvPr id="7" name="ins_444"/>
          <p:cNvSpPr/>
          <p:nvPr/>
        </p:nvSpPr>
        <p:spPr>
          <a:xfrm>
            <a:off x="1353312" y="731520"/>
            <a:ext cx="4210812"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Plan, prediction, offer…? Match the colour.</a:t>
            </a:r>
            <a:endParaRPr lang="en-US" sz="1250" dirty="0"/>
          </a:p>
        </p:txBody>
      </p:sp>
      <p:sp>
        <p:nvSpPr>
          <p:cNvPr id="8" name="insIT_445"/>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Piano, previsione, offerta…? Abbina il colore.</a:t>
            </a:r>
            <a:endParaRPr lang="en-US" sz="950" dirty="0"/>
          </a:p>
        </p:txBody>
      </p:sp>
      <p:sp>
        <p:nvSpPr>
          <p:cNvPr id="9" name="note_446"/>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MATCH</a:t>
            </a:r>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 ABBINA</a:t>
            </a:r>
            <a:endParaRPr lang="en-US" sz="12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3 min   👥 pairs</a:t>
            </a:r>
            <a:endParaRPr lang="en-US" sz="12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Grammar · Guided discovery</a:t>
            </a:r>
            <a:endParaRPr lang="en-US" sz="1250" dirty="0"/>
          </a:p>
        </p:txBody>
      </p:sp>
      <p:pic>
        <p:nvPicPr>
          <p:cNvPr id="10" name="logo_447"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448"/>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1B-1 · Grammar · future forms   ·   📖 SB p.11 · 2c</a:t>
            </a:r>
            <a:endParaRPr lang="en-US" sz="800" dirty="0"/>
          </a:p>
        </p:txBody>
      </p:sp>
      <p:sp>
        <p:nvSpPr>
          <p:cNvPr id="12" name="cd_449"/>
          <p:cNvSpPr/>
          <p:nvPr/>
        </p:nvSpPr>
        <p:spPr>
          <a:xfrm>
            <a:off x="320040" y="1417320"/>
            <a:ext cx="2697480" cy="2295144"/>
          </a:xfrm>
          <a:prstGeom prst="roundRect">
            <a:avLst>
              <a:gd name="adj" fmla="val 5578"/>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3" name="ii_450"/>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4" name="ih_451"/>
          <p:cNvSpPr/>
          <p:nvPr/>
        </p:nvSpPr>
        <p:spPr>
          <a:xfrm>
            <a:off x="886968" y="150876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The colours</a:t>
            </a:r>
            <a:endParaRPr lang="en-US" sz="1300" dirty="0"/>
          </a:p>
        </p:txBody>
      </p:sp>
      <p:sp>
        <p:nvSpPr>
          <p:cNvPr id="15" name="lg_452"/>
          <p:cNvSpPr/>
          <p:nvPr/>
        </p:nvSpPr>
        <p:spPr>
          <a:xfrm>
            <a:off x="457200" y="1984248"/>
            <a:ext cx="1188720" cy="310896"/>
          </a:xfrm>
          <a:prstGeom prst="roundRect">
            <a:avLst>
              <a:gd name="adj" fmla="val 50000"/>
            </a:avLst>
          </a:prstGeom>
          <a:solidFill>
            <a:srgbClr val="F7A6C4"/>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plan</a:t>
            </a:r>
            <a:endParaRPr lang="en-US" sz="1050" dirty="0"/>
          </a:p>
        </p:txBody>
      </p:sp>
      <p:sp>
        <p:nvSpPr>
          <p:cNvPr id="16" name="lg_453"/>
          <p:cNvSpPr/>
          <p:nvPr/>
        </p:nvSpPr>
        <p:spPr>
          <a:xfrm>
            <a:off x="1719072" y="1984248"/>
            <a:ext cx="1188720" cy="310896"/>
          </a:xfrm>
          <a:prstGeom prst="roundRect">
            <a:avLst>
              <a:gd name="adj" fmla="val 50000"/>
            </a:avLst>
          </a:prstGeom>
          <a:solidFill>
            <a:srgbClr val="8FC9F2"/>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prediction</a:t>
            </a:r>
            <a:endParaRPr lang="en-US" sz="1050" dirty="0"/>
          </a:p>
        </p:txBody>
      </p:sp>
      <p:sp>
        <p:nvSpPr>
          <p:cNvPr id="17" name="lg_454"/>
          <p:cNvSpPr/>
          <p:nvPr/>
        </p:nvSpPr>
        <p:spPr>
          <a:xfrm>
            <a:off x="457200" y="2368296"/>
            <a:ext cx="1188720" cy="310896"/>
          </a:xfrm>
          <a:prstGeom prst="roundRect">
            <a:avLst>
              <a:gd name="adj" fmla="val 50000"/>
            </a:avLst>
          </a:prstGeom>
          <a:solidFill>
            <a:srgbClr val="FFD966"/>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offer</a:t>
            </a:r>
            <a:endParaRPr lang="en-US" sz="1050" dirty="0"/>
          </a:p>
        </p:txBody>
      </p:sp>
      <p:sp>
        <p:nvSpPr>
          <p:cNvPr id="18" name="lg_455"/>
          <p:cNvSpPr/>
          <p:nvPr/>
        </p:nvSpPr>
        <p:spPr>
          <a:xfrm>
            <a:off x="1719072" y="2368296"/>
            <a:ext cx="1188720" cy="310896"/>
          </a:xfrm>
          <a:prstGeom prst="roundRect">
            <a:avLst>
              <a:gd name="adj" fmla="val 50000"/>
            </a:avLst>
          </a:prstGeom>
          <a:solidFill>
            <a:srgbClr val="8FD9A8"/>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arrangement</a:t>
            </a:r>
            <a:endParaRPr lang="en-US" sz="1050" dirty="0"/>
          </a:p>
        </p:txBody>
      </p:sp>
      <p:sp>
        <p:nvSpPr>
          <p:cNvPr id="19" name="lg_456"/>
          <p:cNvSpPr/>
          <p:nvPr/>
        </p:nvSpPr>
        <p:spPr>
          <a:xfrm>
            <a:off x="457200" y="2752344"/>
            <a:ext cx="1188720" cy="310896"/>
          </a:xfrm>
          <a:prstGeom prst="roundRect">
            <a:avLst>
              <a:gd name="adj" fmla="val 50000"/>
            </a:avLst>
          </a:prstGeom>
          <a:solidFill>
            <a:srgbClr val="C8E6FA"/>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promise</a:t>
            </a:r>
            <a:endParaRPr lang="en-US" sz="1050" dirty="0"/>
          </a:p>
        </p:txBody>
      </p:sp>
      <p:sp>
        <p:nvSpPr>
          <p:cNvPr id="20" name="sq_457"/>
          <p:cNvSpPr/>
          <p:nvPr/>
        </p:nvSpPr>
        <p:spPr>
          <a:xfrm>
            <a:off x="3246120" y="1417320"/>
            <a:ext cx="3840480" cy="475488"/>
          </a:xfrm>
          <a:prstGeom prst="roundRect">
            <a:avLst>
              <a:gd name="adj" fmla="val 19231"/>
            </a:avLst>
          </a:prstGeom>
          <a:solidFill>
            <a:srgbClr val="FFFFFF"/>
          </a:solidFill>
          <a:ln w="28575">
            <a:solidFill>
              <a:srgbClr val="F7A6C4"/>
            </a:solidFill>
          </a:ln>
        </p:spPr>
        <p:txBody>
          <a:bodyPr wrap="square" lIns="101600" tIns="0" rIns="101600" bIns="0" rtlCol="0" anchor="ct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a  I'm not going to go to university.</a:t>
            </a:r>
            <a:endParaRPr lang="en-US" sz="1200" dirty="0"/>
          </a:p>
        </p:txBody>
      </p:sp>
      <p:sp>
        <p:nvSpPr>
          <p:cNvPr id="21" name="R1_tag458"/>
          <p:cNvSpPr/>
          <p:nvPr/>
        </p:nvSpPr>
        <p:spPr>
          <a:xfrm>
            <a:off x="7178040" y="1417320"/>
            <a:ext cx="1691640" cy="475488"/>
          </a:xfrm>
          <a:prstGeom prst="roundRect">
            <a:avLst>
              <a:gd name="adj" fmla="val 48077"/>
            </a:avLst>
          </a:prstGeom>
          <a:solidFill>
            <a:srgbClr val="F7A6C4"/>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plan</a:t>
            </a:r>
            <a:endParaRPr lang="en-US" sz="1150" dirty="0"/>
          </a:p>
        </p:txBody>
      </p:sp>
      <p:sp>
        <p:nvSpPr>
          <p:cNvPr id="22" name="sq_459"/>
          <p:cNvSpPr/>
          <p:nvPr/>
        </p:nvSpPr>
        <p:spPr>
          <a:xfrm>
            <a:off x="3246120" y="1956816"/>
            <a:ext cx="3840480" cy="475488"/>
          </a:xfrm>
          <a:prstGeom prst="roundRect">
            <a:avLst>
              <a:gd name="adj" fmla="val 19231"/>
            </a:avLst>
          </a:prstGeom>
          <a:solidFill>
            <a:srgbClr val="FFFFFF"/>
          </a:solidFill>
          <a:ln w="28575">
            <a:solidFill>
              <a:srgbClr val="A9D3F5"/>
            </a:solidFill>
          </a:ln>
        </p:spPr>
        <p:txBody>
          <a:bodyPr wrap="square" lIns="101600" tIns="0" rIns="101600" bIns="0" rtlCol="0" anchor="ct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b  Shall I make you a cup of tea?</a:t>
            </a:r>
            <a:endParaRPr lang="en-US" sz="1200" dirty="0"/>
          </a:p>
        </p:txBody>
      </p:sp>
      <p:sp>
        <p:nvSpPr>
          <p:cNvPr id="23" name="R2_tag460"/>
          <p:cNvSpPr/>
          <p:nvPr/>
        </p:nvSpPr>
        <p:spPr>
          <a:xfrm>
            <a:off x="7178040" y="1956816"/>
            <a:ext cx="1691640" cy="475488"/>
          </a:xfrm>
          <a:prstGeom prst="roundRect">
            <a:avLst>
              <a:gd name="adj" fmla="val 48077"/>
            </a:avLst>
          </a:prstGeom>
          <a:solidFill>
            <a:srgbClr val="FFD966"/>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offer</a:t>
            </a:r>
            <a:endParaRPr lang="en-US" sz="1150" dirty="0"/>
          </a:p>
        </p:txBody>
      </p:sp>
      <p:sp>
        <p:nvSpPr>
          <p:cNvPr id="24" name="sq_461"/>
          <p:cNvSpPr/>
          <p:nvPr/>
        </p:nvSpPr>
        <p:spPr>
          <a:xfrm>
            <a:off x="3246120" y="2496312"/>
            <a:ext cx="3840480" cy="475488"/>
          </a:xfrm>
          <a:prstGeom prst="roundRect">
            <a:avLst>
              <a:gd name="adj" fmla="val 19231"/>
            </a:avLst>
          </a:prstGeom>
          <a:solidFill>
            <a:srgbClr val="FFFFFF"/>
          </a:solidFill>
          <a:ln w="28575">
            <a:solidFill>
              <a:srgbClr val="A8E5BE"/>
            </a:solidFill>
          </a:ln>
        </p:spPr>
        <p:txBody>
          <a:bodyPr wrap="square" lIns="101600" tIns="0" rIns="101600" bIns="0" rtlCol="0" anchor="ct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c  I'm staying the night there.</a:t>
            </a:r>
            <a:endParaRPr lang="en-US" sz="1200" dirty="0"/>
          </a:p>
        </p:txBody>
      </p:sp>
      <p:sp>
        <p:nvSpPr>
          <p:cNvPr id="25" name="R3_tag462"/>
          <p:cNvSpPr/>
          <p:nvPr/>
        </p:nvSpPr>
        <p:spPr>
          <a:xfrm>
            <a:off x="7178040" y="2496312"/>
            <a:ext cx="1691640" cy="475488"/>
          </a:xfrm>
          <a:prstGeom prst="roundRect">
            <a:avLst>
              <a:gd name="adj" fmla="val 48077"/>
            </a:avLst>
          </a:prstGeom>
          <a:solidFill>
            <a:srgbClr val="8FD9A8"/>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arrangement</a:t>
            </a:r>
            <a:endParaRPr lang="en-US" sz="1150" dirty="0"/>
          </a:p>
        </p:txBody>
      </p:sp>
      <p:sp>
        <p:nvSpPr>
          <p:cNvPr id="26" name="sq_463"/>
          <p:cNvSpPr/>
          <p:nvPr/>
        </p:nvSpPr>
        <p:spPr>
          <a:xfrm>
            <a:off x="3246120" y="3035808"/>
            <a:ext cx="3840480" cy="475488"/>
          </a:xfrm>
          <a:prstGeom prst="roundRect">
            <a:avLst>
              <a:gd name="adj" fmla="val 19231"/>
            </a:avLst>
          </a:prstGeom>
          <a:solidFill>
            <a:srgbClr val="FFFFFF"/>
          </a:solidFill>
          <a:ln w="28575">
            <a:solidFill>
              <a:srgbClr val="FFE07A"/>
            </a:solidFill>
          </a:ln>
        </p:spPr>
        <p:txBody>
          <a:bodyPr wrap="square" lIns="101600" tIns="0" rIns="101600" bIns="0" rtlCol="0" anchor="ct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d  It's going to be cold tonight.</a:t>
            </a:r>
            <a:endParaRPr lang="en-US" sz="1200" dirty="0"/>
          </a:p>
        </p:txBody>
      </p:sp>
      <p:sp>
        <p:nvSpPr>
          <p:cNvPr id="27" name="R4_tag464"/>
          <p:cNvSpPr/>
          <p:nvPr/>
        </p:nvSpPr>
        <p:spPr>
          <a:xfrm>
            <a:off x="7178040" y="3035808"/>
            <a:ext cx="1691640" cy="475488"/>
          </a:xfrm>
          <a:prstGeom prst="roundRect">
            <a:avLst>
              <a:gd name="adj" fmla="val 48077"/>
            </a:avLst>
          </a:prstGeom>
          <a:solidFill>
            <a:srgbClr val="8FC9F2"/>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prediction</a:t>
            </a:r>
            <a:endParaRPr lang="en-US" sz="1150" dirty="0"/>
          </a:p>
        </p:txBody>
      </p:sp>
      <p:sp>
        <p:nvSpPr>
          <p:cNvPr id="28" name="sq_465"/>
          <p:cNvSpPr/>
          <p:nvPr/>
        </p:nvSpPr>
        <p:spPr>
          <a:xfrm>
            <a:off x="3246120" y="3575304"/>
            <a:ext cx="3840480" cy="475488"/>
          </a:xfrm>
          <a:prstGeom prst="roundRect">
            <a:avLst>
              <a:gd name="adj" fmla="val 19231"/>
            </a:avLst>
          </a:prstGeom>
          <a:solidFill>
            <a:srgbClr val="FFFFFF"/>
          </a:solidFill>
          <a:ln w="28575">
            <a:solidFill>
              <a:srgbClr val="F7A6C4"/>
            </a:solidFill>
          </a:ln>
        </p:spPr>
        <p:txBody>
          <a:bodyPr wrap="square" lIns="101600" tIns="0" rIns="101600" bIns="0" rtlCol="0" anchor="ct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e  You'll drive too fast.</a:t>
            </a:r>
            <a:endParaRPr lang="en-US" sz="1200" dirty="0"/>
          </a:p>
        </p:txBody>
      </p:sp>
      <p:sp>
        <p:nvSpPr>
          <p:cNvPr id="29" name="R5_tag466"/>
          <p:cNvSpPr/>
          <p:nvPr/>
        </p:nvSpPr>
        <p:spPr>
          <a:xfrm>
            <a:off x="7178040" y="3575304"/>
            <a:ext cx="1691640" cy="475488"/>
          </a:xfrm>
          <a:prstGeom prst="roundRect">
            <a:avLst>
              <a:gd name="adj" fmla="val 48077"/>
            </a:avLst>
          </a:prstGeom>
          <a:solidFill>
            <a:srgbClr val="8FC9F2"/>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prediction</a:t>
            </a:r>
            <a:endParaRPr lang="en-US" sz="1150" dirty="0"/>
          </a:p>
        </p:txBody>
      </p:sp>
      <p:sp>
        <p:nvSpPr>
          <p:cNvPr id="30" name="sq_467"/>
          <p:cNvSpPr/>
          <p:nvPr/>
        </p:nvSpPr>
        <p:spPr>
          <a:xfrm>
            <a:off x="3246120" y="4114800"/>
            <a:ext cx="3840480" cy="475488"/>
          </a:xfrm>
          <a:prstGeom prst="roundRect">
            <a:avLst>
              <a:gd name="adj" fmla="val 19231"/>
            </a:avLst>
          </a:prstGeom>
          <a:solidFill>
            <a:srgbClr val="FFFFFF"/>
          </a:solidFill>
          <a:ln w="28575">
            <a:solidFill>
              <a:srgbClr val="A9D3F5"/>
            </a:solidFill>
          </a:ln>
        </p:spPr>
        <p:txBody>
          <a:bodyPr wrap="square" lIns="101600" tIns="0" rIns="101600" bIns="0" rtlCol="0" anchor="ct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f  I'll be really careful.</a:t>
            </a:r>
            <a:endParaRPr lang="en-US" sz="1200" dirty="0"/>
          </a:p>
        </p:txBody>
      </p:sp>
      <p:sp>
        <p:nvSpPr>
          <p:cNvPr id="31" name="R6_tag468"/>
          <p:cNvSpPr/>
          <p:nvPr/>
        </p:nvSpPr>
        <p:spPr>
          <a:xfrm>
            <a:off x="7178040" y="4114800"/>
            <a:ext cx="1691640" cy="475488"/>
          </a:xfrm>
          <a:prstGeom prst="roundRect">
            <a:avLst>
              <a:gd name="adj" fmla="val 48077"/>
            </a:avLst>
          </a:prstGeom>
          <a:solidFill>
            <a:srgbClr val="C8E6FA"/>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promise</a:t>
            </a:r>
            <a:endParaRPr lang="en-US" sz="11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4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4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4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400"/>
                                        <p:tgtEl>
                                          <p:spTgt spid="2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69"/>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16</a:t>
            </a:r>
            <a:endParaRPr lang="en-US" sz="2200" dirty="0"/>
          </a:p>
        </p:txBody>
      </p:sp>
      <p:pic>
        <p:nvPicPr>
          <p:cNvPr id="4" name="brY_470" descr="/home/claude/lls-course/v2/assets/brush-yellow.png">    </p:cNvPr>
          <p:cNvPicPr>
            <a:picLocks noChangeAspect="1"/>
          </p:cNvPicPr>
          <p:nvPr/>
        </p:nvPicPr>
        <p:blipFill>
          <a:blip r:embed="rId2"/>
          <a:stretch>
            <a:fillRect/>
          </a:stretch>
        </p:blipFill>
        <p:spPr>
          <a:xfrm>
            <a:off x="1097280" y="146304"/>
            <a:ext cx="4506163" cy="621792"/>
          </a:xfrm>
          <a:prstGeom prst="rect">
            <a:avLst/>
          </a:prstGeom>
        </p:spPr>
      </p:pic>
      <p:sp>
        <p:nvSpPr>
          <p:cNvPr id="5" name="title_471"/>
          <p:cNvSpPr/>
          <p:nvPr/>
        </p:nvSpPr>
        <p:spPr>
          <a:xfrm>
            <a:off x="1261872" y="164592"/>
            <a:ext cx="4231843"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Talking about the future</a:t>
            </a:r>
            <a:endParaRPr lang="en-US" sz="2500" dirty="0"/>
          </a:p>
        </p:txBody>
      </p:sp>
      <p:pic>
        <p:nvPicPr>
          <p:cNvPr id="6" name="brP_472" descr="/home/claude/lls-course/v2/assets/brush-pink.png">    </p:cNvPr>
          <p:cNvPicPr>
            <a:picLocks noChangeAspect="1"/>
          </p:cNvPicPr>
          <p:nvPr/>
        </p:nvPicPr>
        <p:blipFill>
          <a:blip r:embed="rId3"/>
          <a:stretch>
            <a:fillRect/>
          </a:stretch>
        </p:blipFill>
        <p:spPr>
          <a:xfrm>
            <a:off x="1207008" y="731520"/>
            <a:ext cx="3598164" cy="402336"/>
          </a:xfrm>
          <a:prstGeom prst="rect">
            <a:avLst/>
          </a:prstGeom>
        </p:spPr>
      </p:pic>
      <p:sp>
        <p:nvSpPr>
          <p:cNvPr id="7" name="ins_473"/>
          <p:cNvSpPr/>
          <p:nvPr/>
        </p:nvSpPr>
        <p:spPr>
          <a:xfrm>
            <a:off x="1353312" y="731520"/>
            <a:ext cx="3342132"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Look at the examples. Which form?</a:t>
            </a:r>
            <a:endParaRPr lang="en-US" sz="1250" dirty="0"/>
          </a:p>
        </p:txBody>
      </p:sp>
      <p:sp>
        <p:nvSpPr>
          <p:cNvPr id="8" name="insIT_474"/>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Guarda gli esempi. Quale forma?</a:t>
            </a:r>
            <a:endParaRPr lang="en-US" sz="950" dirty="0"/>
          </a:p>
        </p:txBody>
      </p:sp>
      <p:sp>
        <p:nvSpPr>
          <p:cNvPr id="9" name="note_475"/>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LOOK</a:t>
            </a:r>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 GUARDA</a:t>
            </a:r>
            <a:endParaRPr lang="en-US" sz="12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3 min   🙋 whole class</a:t>
            </a:r>
            <a:endParaRPr lang="en-US" sz="12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Grammar · Guided discovery</a:t>
            </a:r>
            <a:endParaRPr lang="en-US" sz="1250" dirty="0"/>
          </a:p>
        </p:txBody>
      </p:sp>
      <p:pic>
        <p:nvPicPr>
          <p:cNvPr id="10" name="logo_476"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477"/>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1B-1 · Grammar · the rule   ·   📖 Grammar Bank 1B p.133 · audio 1.16</a:t>
            </a:r>
            <a:endParaRPr lang="en-US" sz="800" dirty="0"/>
          </a:p>
        </p:txBody>
      </p:sp>
      <p:sp>
        <p:nvSpPr>
          <p:cNvPr id="12" name="ah_478"/>
          <p:cNvSpPr/>
          <p:nvPr/>
        </p:nvSpPr>
        <p:spPr>
          <a:xfrm>
            <a:off x="3675888" y="4572000"/>
            <a:ext cx="1938528" cy="365760"/>
          </a:xfrm>
          <a:prstGeom prst="rect">
            <a:avLst/>
          </a:prstGeom>
          <a:noFill/>
          <a:ln/>
        </p:spPr>
        <p:txBody>
          <a:bodyPr wrap="square" lIns="0" tIns="0" rIns="0" bIns="0" rtlCol="0" anchor="ctr"/>
          <a:lstStyle/>
          <a:p>
            <a:pPr algn="r" indent="0" marL="0">
              <a:buNone/>
            </a:pPr>
            <a:r>
              <a:rPr lang="en-US" sz="1000" b="1" dirty="0">
                <a:solidFill>
                  <a:srgbClr val="2F8DE4"/>
                </a:solidFill>
                <a:latin typeface="Segoe UI Semibold" pitchFamily="34" charset="0"/>
                <a:ea typeface="Segoe UI Semibold" pitchFamily="34" charset="-122"/>
                <a:cs typeface="Segoe UI Semibold" pitchFamily="34" charset="-120"/>
              </a:rPr>
              <a:t>🎧 1.16   ▶ normal</a:t>
            </a:r>
            <a:endParaRPr lang="en-US" sz="1000" dirty="0"/>
          </a:p>
        </p:txBody>
      </p:sp>
      <p:pic>
        <p:nvPicPr>
          <p:cNvPr id="13"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5687568" y="4553712"/>
            <a:ext cx="411480" cy="411480"/>
          </a:xfrm>
          <a:prstGeom prst="rect">
            <a:avLst/>
          </a:prstGeom>
        </p:spPr>
      </p:pic>
      <p:sp>
        <p:nvSpPr>
          <p:cNvPr id="14" name="ah_479"/>
          <p:cNvSpPr/>
          <p:nvPr/>
        </p:nvSpPr>
        <p:spPr>
          <a:xfrm>
            <a:off x="7470648" y="4572000"/>
            <a:ext cx="932688" cy="365760"/>
          </a:xfrm>
          <a:prstGeom prst="rect">
            <a:avLst/>
          </a:prstGeom>
          <a:noFill/>
          <a:ln/>
        </p:spPr>
        <p:txBody>
          <a:bodyPr wrap="square" lIns="0" tIns="0" rIns="0" bIns="0" rtlCol="0" anchor="ctr"/>
          <a:lstStyle/>
          <a:p>
            <a:pPr algn="r" indent="0" marL="0">
              <a:buNone/>
            </a:pPr>
            <a:r>
              <a:rPr lang="en-US" sz="1000" b="1" dirty="0">
                <a:solidFill>
                  <a:srgbClr val="2F8DE4"/>
                </a:solidFill>
                <a:latin typeface="Segoe UI Semibold" pitchFamily="34" charset="0"/>
                <a:ea typeface="Segoe UI Semibold" pitchFamily="34" charset="-122"/>
                <a:cs typeface="Segoe UI Semibold" pitchFamily="34" charset="-120"/>
              </a:rPr>
              <a:t>🐢 slower</a:t>
            </a:r>
            <a:endParaRPr lang="en-US" sz="1000" dirty="0"/>
          </a:p>
        </p:txBody>
      </p:sp>
      <p:pic>
        <p:nvPicPr>
          <p:cNvPr id="15"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476488" y="4553712"/>
            <a:ext cx="411480" cy="411480"/>
          </a:xfrm>
          <a:prstGeom prst="rect">
            <a:avLst/>
          </a:prstGeom>
        </p:spPr>
      </p:pic>
      <p:sp>
        <p:nvSpPr>
          <p:cNvPr id="16" name="cd_480"/>
          <p:cNvSpPr/>
          <p:nvPr/>
        </p:nvSpPr>
        <p:spPr>
          <a:xfrm>
            <a:off x="320040" y="1417320"/>
            <a:ext cx="2034540" cy="3017520"/>
          </a:xfrm>
          <a:prstGeom prst="roundRect">
            <a:avLst>
              <a:gd name="adj" fmla="val 6292"/>
            </a:avLst>
          </a:prstGeom>
          <a:solidFill>
            <a:srgbClr val="FFFFFF"/>
          </a:solidFill>
          <a:ln w="28575">
            <a:solidFill>
              <a:srgbClr val="F7A6C4"/>
            </a:solidFill>
            <a:prstDash val="solid"/>
          </a:ln>
          <a:effectLst>
            <a:outerShdw sx="100000" sy="100000" kx="0" ky="0" algn="bl" rotWithShape="0" blurRad="88900" dist="31750" dir="5400000">
              <a:srgbClr val="1B2559">
                <a:alpha val="12000"/>
              </a:srgbClr>
            </a:outerShdw>
          </a:effectLst>
        </p:spPr>
      </p:sp>
      <p:sp>
        <p:nvSpPr>
          <p:cNvPr id="17" name="rh_481"/>
          <p:cNvSpPr/>
          <p:nvPr/>
        </p:nvSpPr>
        <p:spPr>
          <a:xfrm>
            <a:off x="429768" y="1508760"/>
            <a:ext cx="1815084" cy="365760"/>
          </a:xfrm>
          <a:prstGeom prst="roundRect">
            <a:avLst>
              <a:gd name="adj" fmla="val 50000"/>
            </a:avLst>
          </a:prstGeom>
          <a:solidFill>
            <a:srgbClr val="E8508F"/>
          </a:solidFill>
          <a:ln/>
        </p:spPr>
        <p:txBody>
          <a:bodyPr wrap="square" lIns="0" tIns="0" rIns="0" bIns="0" rtlCol="0" anchor="ctr">
            <a:normAutofit/>
          </a:bodyPr>
          <a:lstStyle/>
          <a:p>
            <a:pPr algn="ctr" indent="0" marL="0">
              <a:buNone/>
            </a:pPr>
            <a:r>
              <a:rPr lang="en-US" sz="1250" dirty="0">
                <a:solidFill>
                  <a:srgbClr val="FFFFFF"/>
                </a:solidFill>
                <a:latin typeface="Arial Rounded MT Bold" pitchFamily="34" charset="0"/>
                <a:ea typeface="Arial Rounded MT Bold" pitchFamily="34" charset="-122"/>
                <a:cs typeface="Arial Rounded MT Bold" pitchFamily="34" charset="-120"/>
              </a:rPr>
              <a:t>be going to</a:t>
            </a:r>
            <a:endParaRPr lang="en-US" sz="1250" dirty="0"/>
          </a:p>
        </p:txBody>
      </p:sp>
      <p:sp>
        <p:nvSpPr>
          <p:cNvPr id="18" name="pf_482"/>
          <p:cNvSpPr/>
          <p:nvPr/>
        </p:nvSpPr>
        <p:spPr>
          <a:xfrm>
            <a:off x="840480" y="1938528"/>
            <a:ext cx="993660" cy="960120"/>
          </a:xfrm>
          <a:prstGeom prst="roundRect">
            <a:avLst>
              <a:gd name="adj" fmla="val 1619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9" name="ph_483" descr="/home/claude/lls-course/v2/cache/1b1_clouds_jpg_217x209_31.png">    </p:cNvPr>
          <p:cNvPicPr>
            <a:picLocks noChangeAspect="1"/>
          </p:cNvPicPr>
          <p:nvPr/>
        </p:nvPicPr>
        <p:blipFill>
          <a:blip r:embed="rId11"/>
          <a:stretch>
            <a:fillRect/>
          </a:stretch>
        </p:blipFill>
        <p:spPr>
          <a:xfrm>
            <a:off x="886200" y="1984248"/>
            <a:ext cx="902220" cy="868680"/>
          </a:xfrm>
          <a:prstGeom prst="rect">
            <a:avLst/>
          </a:prstGeom>
        </p:spPr>
      </p:pic>
      <p:sp>
        <p:nvSpPr>
          <p:cNvPr id="20" name="ru_484"/>
          <p:cNvSpPr/>
          <p:nvPr/>
        </p:nvSpPr>
        <p:spPr>
          <a:xfrm>
            <a:off x="411480" y="2926080"/>
            <a:ext cx="1851660" cy="384048"/>
          </a:xfrm>
          <a:prstGeom prst="rect">
            <a:avLst/>
          </a:prstGeom>
          <a:noFill/>
          <a:ln/>
        </p:spPr>
        <p:txBody>
          <a:bodyPr wrap="square" lIns="0" tIns="0" rIns="0" bIns="0" rtlCol="0" anchor="ctr">
            <a:normAutofit/>
          </a:bodyPr>
          <a:lstStyle/>
          <a:p>
            <a:pPr algn="ctr" indent="0" marL="0">
              <a:buNone/>
            </a:pPr>
            <a:r>
              <a:rPr lang="en-US" sz="1050" dirty="0">
                <a:solidFill>
                  <a:srgbClr val="E8508F"/>
                </a:solidFill>
                <a:latin typeface="Arial Rounded MT Bold" pitchFamily="34" charset="0"/>
                <a:ea typeface="Arial Rounded MT Bold" pitchFamily="34" charset="-122"/>
                <a:cs typeface="Arial Rounded MT Bold" pitchFamily="34" charset="-120"/>
              </a:rPr>
              <a:t>plans · predictions you can SEE</a:t>
            </a:r>
            <a:endParaRPr lang="en-US" sz="1050" dirty="0"/>
          </a:p>
        </p:txBody>
      </p:sp>
      <p:sp>
        <p:nvSpPr>
          <p:cNvPr id="21" name="R1_rx485"/>
          <p:cNvSpPr/>
          <p:nvPr/>
        </p:nvSpPr>
        <p:spPr>
          <a:xfrm>
            <a:off x="411480" y="3319272"/>
            <a:ext cx="1851660" cy="749808"/>
          </a:xfrm>
          <a:prstGeom prst="rect">
            <a:avLst/>
          </a:prstGeom>
          <a:noFill/>
          <a:ln/>
        </p:spPr>
        <p:txBody>
          <a:bodyPr wrap="square" lIns="0" tIns="0" rIns="0" bIns="0" rtlCol="0" anchor="ctr">
            <a:normAutofit/>
          </a:bodyP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I'm going to look for a job.</a:t>
            </a:r>
            <a:endParaRPr lang="en-US" sz="1050" dirty="0"/>
          </a:p>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Look at the clouds! It's going to rain.</a:t>
            </a:r>
            <a:endParaRPr lang="en-US" sz="1050" dirty="0"/>
          </a:p>
        </p:txBody>
      </p:sp>
      <p:sp>
        <p:nvSpPr>
          <p:cNvPr id="22" name="R1_ri486"/>
          <p:cNvSpPr/>
          <p:nvPr/>
        </p:nvSpPr>
        <p:spPr>
          <a:xfrm>
            <a:off x="411480" y="4087368"/>
            <a:ext cx="1851660" cy="274320"/>
          </a:xfrm>
          <a:prstGeom prst="rect">
            <a:avLst/>
          </a:prstGeom>
          <a:noFill/>
          <a:ln/>
        </p:spPr>
        <p:txBody>
          <a:bodyPr wrap="square" lIns="0" tIns="0" rIns="0" bIns="0" rtlCol="0" anchor="ctr">
            <a:normAutofit/>
          </a:bodyPr>
          <a:lstStyle/>
          <a:p>
            <a:pPr algn="ctr" indent="0" marL="0">
              <a:buNone/>
            </a:pPr>
            <a:r>
              <a:rPr lang="en-US" sz="900" i="1" dirty="0">
                <a:solidFill>
                  <a:srgbClr val="5B6785"/>
                </a:solidFill>
                <a:latin typeface="Segoe UI Semibold" pitchFamily="34" charset="0"/>
                <a:ea typeface="Segoe UI Semibold" pitchFamily="34" charset="-122"/>
                <a:cs typeface="Segoe UI Semibold" pitchFamily="34" charset="-120"/>
              </a:rPr>
              <a:t>intenzione · sta per…</a:t>
            </a:r>
            <a:endParaRPr lang="en-US" sz="900" dirty="0"/>
          </a:p>
        </p:txBody>
      </p:sp>
      <p:sp>
        <p:nvSpPr>
          <p:cNvPr id="23" name="cd_487"/>
          <p:cNvSpPr/>
          <p:nvPr/>
        </p:nvSpPr>
        <p:spPr>
          <a:xfrm>
            <a:off x="2491740" y="1417320"/>
            <a:ext cx="2034540" cy="3017520"/>
          </a:xfrm>
          <a:prstGeom prst="roundRect">
            <a:avLst>
              <a:gd name="adj" fmla="val 6292"/>
            </a:avLst>
          </a:prstGeom>
          <a:solidFill>
            <a:srgbClr val="FFFFFF"/>
          </a:solidFill>
          <a:ln w="28575">
            <a:solidFill>
              <a:srgbClr val="A9D3F5"/>
            </a:solidFill>
            <a:prstDash val="solid"/>
          </a:ln>
          <a:effectLst>
            <a:outerShdw sx="100000" sy="100000" kx="0" ky="0" algn="bl" rotWithShape="0" blurRad="88900" dist="31750" dir="5400000">
              <a:srgbClr val="1B2559">
                <a:alpha val="12000"/>
              </a:srgbClr>
            </a:outerShdw>
          </a:effectLst>
        </p:spPr>
      </p:sp>
      <p:sp>
        <p:nvSpPr>
          <p:cNvPr id="24" name="rh_488"/>
          <p:cNvSpPr/>
          <p:nvPr/>
        </p:nvSpPr>
        <p:spPr>
          <a:xfrm>
            <a:off x="2601468" y="1508760"/>
            <a:ext cx="1815084" cy="365760"/>
          </a:xfrm>
          <a:prstGeom prst="roundRect">
            <a:avLst>
              <a:gd name="adj" fmla="val 50000"/>
            </a:avLst>
          </a:prstGeom>
          <a:solidFill>
            <a:srgbClr val="2F8DE4"/>
          </a:solidFill>
          <a:ln/>
        </p:spPr>
        <p:txBody>
          <a:bodyPr wrap="square" lIns="0" tIns="0" rIns="0" bIns="0" rtlCol="0" anchor="ctr">
            <a:normAutofit/>
          </a:bodyPr>
          <a:lstStyle/>
          <a:p>
            <a:pPr algn="ctr" indent="0" marL="0">
              <a:buNone/>
            </a:pPr>
            <a:r>
              <a:rPr lang="en-US" sz="1250" dirty="0">
                <a:solidFill>
                  <a:srgbClr val="FFFFFF"/>
                </a:solidFill>
                <a:latin typeface="Arial Rounded MT Bold" pitchFamily="34" charset="0"/>
                <a:ea typeface="Arial Rounded MT Bold" pitchFamily="34" charset="-122"/>
                <a:cs typeface="Arial Rounded MT Bold" pitchFamily="34" charset="-120"/>
              </a:rPr>
              <a:t>present continuous</a:t>
            </a:r>
            <a:endParaRPr lang="en-US" sz="1250" dirty="0"/>
          </a:p>
        </p:txBody>
      </p:sp>
      <p:sp>
        <p:nvSpPr>
          <p:cNvPr id="25" name="pf_489"/>
          <p:cNvSpPr/>
          <p:nvPr/>
        </p:nvSpPr>
        <p:spPr>
          <a:xfrm>
            <a:off x="3080937" y="1938528"/>
            <a:ext cx="856147" cy="960120"/>
          </a:xfrm>
          <a:prstGeom prst="roundRect">
            <a:avLst>
              <a:gd name="adj" fmla="val 18157"/>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6" name="ph_490" descr="/home/claude/lls-course/v2/cache/1b1_diary_jpg_184x209_31.png">    </p:cNvPr>
          <p:cNvPicPr>
            <a:picLocks noChangeAspect="1"/>
          </p:cNvPicPr>
          <p:nvPr/>
        </p:nvPicPr>
        <p:blipFill>
          <a:blip r:embed="rId12"/>
          <a:stretch>
            <a:fillRect/>
          </a:stretch>
        </p:blipFill>
        <p:spPr>
          <a:xfrm>
            <a:off x="3126657" y="1984248"/>
            <a:ext cx="764707" cy="868680"/>
          </a:xfrm>
          <a:prstGeom prst="rect">
            <a:avLst/>
          </a:prstGeom>
        </p:spPr>
      </p:pic>
      <p:sp>
        <p:nvSpPr>
          <p:cNvPr id="27" name="ru_491"/>
          <p:cNvSpPr/>
          <p:nvPr/>
        </p:nvSpPr>
        <p:spPr>
          <a:xfrm>
            <a:off x="2583180" y="2926080"/>
            <a:ext cx="1851660" cy="384048"/>
          </a:xfrm>
          <a:prstGeom prst="rect">
            <a:avLst/>
          </a:prstGeom>
          <a:noFill/>
          <a:ln/>
        </p:spPr>
        <p:txBody>
          <a:bodyPr wrap="square" lIns="0" tIns="0" rIns="0" bIns="0" rtlCol="0" anchor="ctr">
            <a:normAutofit/>
          </a:bodyPr>
          <a:lstStyle/>
          <a:p>
            <a:pPr algn="ctr" indent="0" marL="0">
              <a:buNone/>
            </a:pPr>
            <a:r>
              <a:rPr lang="en-US" sz="1050" dirty="0">
                <a:solidFill>
                  <a:srgbClr val="2F8DE4"/>
                </a:solidFill>
                <a:latin typeface="Arial Rounded MT Bold" pitchFamily="34" charset="0"/>
                <a:ea typeface="Arial Rounded MT Bold" pitchFamily="34" charset="-122"/>
                <a:cs typeface="Arial Rounded MT Bold" pitchFamily="34" charset="-120"/>
              </a:rPr>
              <a:t>arrangements (day, time, place fixed)</a:t>
            </a:r>
            <a:endParaRPr lang="en-US" sz="1050" dirty="0"/>
          </a:p>
        </p:txBody>
      </p:sp>
      <p:sp>
        <p:nvSpPr>
          <p:cNvPr id="28" name="R2_rx492"/>
          <p:cNvSpPr/>
          <p:nvPr/>
        </p:nvSpPr>
        <p:spPr>
          <a:xfrm>
            <a:off x="2583180" y="3319272"/>
            <a:ext cx="1851660" cy="749808"/>
          </a:xfrm>
          <a:prstGeom prst="rect">
            <a:avLst/>
          </a:prstGeom>
          <a:noFill/>
          <a:ln/>
        </p:spPr>
        <p:txBody>
          <a:bodyPr wrap="square" lIns="0" tIns="0" rIns="0" bIns="0" rtlCol="0" anchor="ctr">
            <a:normAutofit/>
          </a:bodyP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I'm staying at Katie's tonight.</a:t>
            </a:r>
            <a:endParaRPr lang="en-US" sz="1050" dirty="0"/>
          </a:p>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We're going to a wedding on Saturday.</a:t>
            </a:r>
            <a:endParaRPr lang="en-US" sz="1050" dirty="0"/>
          </a:p>
        </p:txBody>
      </p:sp>
      <p:sp>
        <p:nvSpPr>
          <p:cNvPr id="29" name="R2_ri493"/>
          <p:cNvSpPr/>
          <p:nvPr/>
        </p:nvSpPr>
        <p:spPr>
          <a:xfrm>
            <a:off x="2583180" y="4087368"/>
            <a:ext cx="1851660" cy="274320"/>
          </a:xfrm>
          <a:prstGeom prst="rect">
            <a:avLst/>
          </a:prstGeom>
          <a:noFill/>
          <a:ln/>
        </p:spPr>
        <p:txBody>
          <a:bodyPr wrap="square" lIns="0" tIns="0" rIns="0" bIns="0" rtlCol="0" anchor="ctr">
            <a:normAutofit/>
          </a:bodyPr>
          <a:lstStyle/>
          <a:p>
            <a:pPr algn="ctr" indent="0" marL="0">
              <a:buNone/>
            </a:pPr>
            <a:r>
              <a:rPr lang="en-US" sz="900" i="1" dirty="0">
                <a:solidFill>
                  <a:srgbClr val="5B6785"/>
                </a:solidFill>
                <a:latin typeface="Segoe UI Semibold" pitchFamily="34" charset="0"/>
                <a:ea typeface="Segoe UI Semibold" pitchFamily="34" charset="-122"/>
                <a:cs typeface="Segoe UI Semibold" pitchFamily="34" charset="-120"/>
              </a:rPr>
              <a:t>già organizzato</a:t>
            </a:r>
            <a:endParaRPr lang="en-US" sz="900" dirty="0"/>
          </a:p>
        </p:txBody>
      </p:sp>
      <p:sp>
        <p:nvSpPr>
          <p:cNvPr id="30" name="cd_494"/>
          <p:cNvSpPr/>
          <p:nvPr/>
        </p:nvSpPr>
        <p:spPr>
          <a:xfrm>
            <a:off x="4663440" y="1417320"/>
            <a:ext cx="2034540" cy="3017520"/>
          </a:xfrm>
          <a:prstGeom prst="roundRect">
            <a:avLst>
              <a:gd name="adj" fmla="val 6292"/>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31" name="rh_495"/>
          <p:cNvSpPr/>
          <p:nvPr/>
        </p:nvSpPr>
        <p:spPr>
          <a:xfrm>
            <a:off x="4773168" y="1508760"/>
            <a:ext cx="1815084" cy="365760"/>
          </a:xfrm>
          <a:prstGeom prst="roundRect">
            <a:avLst>
              <a:gd name="adj" fmla="val 50000"/>
            </a:avLst>
          </a:prstGeom>
          <a:solidFill>
            <a:srgbClr val="2EB872"/>
          </a:solidFill>
          <a:ln/>
        </p:spPr>
        <p:txBody>
          <a:bodyPr wrap="square" lIns="0" tIns="0" rIns="0" bIns="0" rtlCol="0" anchor="ctr">
            <a:normAutofit/>
          </a:bodyPr>
          <a:lstStyle/>
          <a:p>
            <a:pPr algn="ctr" indent="0" marL="0">
              <a:buNone/>
            </a:pPr>
            <a:r>
              <a:rPr lang="en-US" sz="1250" dirty="0">
                <a:solidFill>
                  <a:srgbClr val="FFFFFF"/>
                </a:solidFill>
                <a:latin typeface="Arial Rounded MT Bold" pitchFamily="34" charset="0"/>
                <a:ea typeface="Arial Rounded MT Bold" pitchFamily="34" charset="-122"/>
                <a:cs typeface="Arial Rounded MT Bold" pitchFamily="34" charset="-120"/>
              </a:rPr>
              <a:t>will / won't</a:t>
            </a:r>
            <a:endParaRPr lang="en-US" sz="1250" dirty="0"/>
          </a:p>
        </p:txBody>
      </p:sp>
      <p:sp>
        <p:nvSpPr>
          <p:cNvPr id="32" name="pf_496"/>
          <p:cNvSpPr/>
          <p:nvPr/>
        </p:nvSpPr>
        <p:spPr>
          <a:xfrm>
            <a:off x="5264376" y="1938528"/>
            <a:ext cx="832669" cy="960120"/>
          </a:xfrm>
          <a:prstGeom prst="roundRect">
            <a:avLst>
              <a:gd name="adj" fmla="val 18669"/>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33" name="ph_497" descr="/home/claude/lls-course/v2/cache/1b1_bags_jpg_178x209_31.png">    </p:cNvPr>
          <p:cNvPicPr>
            <a:picLocks noChangeAspect="1"/>
          </p:cNvPicPr>
          <p:nvPr/>
        </p:nvPicPr>
        <p:blipFill>
          <a:blip r:embed="rId13"/>
          <a:stretch>
            <a:fillRect/>
          </a:stretch>
        </p:blipFill>
        <p:spPr>
          <a:xfrm>
            <a:off x="5310096" y="1984248"/>
            <a:ext cx="741229" cy="868680"/>
          </a:xfrm>
          <a:prstGeom prst="rect">
            <a:avLst/>
          </a:prstGeom>
        </p:spPr>
      </p:pic>
      <p:sp>
        <p:nvSpPr>
          <p:cNvPr id="34" name="ru_498"/>
          <p:cNvSpPr/>
          <p:nvPr/>
        </p:nvSpPr>
        <p:spPr>
          <a:xfrm>
            <a:off x="4754880" y="2926080"/>
            <a:ext cx="1851660" cy="384048"/>
          </a:xfrm>
          <a:prstGeom prst="rect">
            <a:avLst/>
          </a:prstGeom>
          <a:noFill/>
          <a:ln/>
        </p:spPr>
        <p:txBody>
          <a:bodyPr wrap="square" lIns="0" tIns="0" rIns="0" bIns="0" rtlCol="0" anchor="ctr">
            <a:normAutofit/>
          </a:bodyPr>
          <a:lstStyle/>
          <a:p>
            <a:pPr algn="ctr" indent="0" marL="0">
              <a:buNone/>
            </a:pPr>
            <a:r>
              <a:rPr lang="en-US" sz="1050" dirty="0">
                <a:solidFill>
                  <a:srgbClr val="2EB872"/>
                </a:solidFill>
                <a:latin typeface="Arial Rounded MT Bold" pitchFamily="34" charset="0"/>
                <a:ea typeface="Arial Rounded MT Bold" pitchFamily="34" charset="-122"/>
                <a:cs typeface="Arial Rounded MT Bold" pitchFamily="34" charset="-120"/>
              </a:rPr>
              <a:t>offers · promises · instant decisions · predictions</a:t>
            </a:r>
            <a:endParaRPr lang="en-US" sz="1050" dirty="0"/>
          </a:p>
        </p:txBody>
      </p:sp>
      <p:sp>
        <p:nvSpPr>
          <p:cNvPr id="35" name="R3_rx499"/>
          <p:cNvSpPr/>
          <p:nvPr/>
        </p:nvSpPr>
        <p:spPr>
          <a:xfrm>
            <a:off x="4754880" y="3319272"/>
            <a:ext cx="1851660" cy="749808"/>
          </a:xfrm>
          <a:prstGeom prst="rect">
            <a:avLst/>
          </a:prstGeom>
          <a:noFill/>
          <a:ln/>
        </p:spPr>
        <p:txBody>
          <a:bodyPr wrap="square" lIns="0" tIns="0" rIns="0" bIns="0" rtlCol="0" anchor="ctr">
            <a:normAutofit/>
          </a:bodyP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I'll carry that for you!</a:t>
            </a:r>
            <a:endParaRPr lang="en-US" sz="1050" dirty="0"/>
          </a:p>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I won't tell anybody.</a:t>
            </a:r>
            <a:endParaRPr lang="en-US" sz="1050" dirty="0"/>
          </a:p>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I think you'll pass.</a:t>
            </a:r>
            <a:endParaRPr lang="en-US" sz="1050" dirty="0"/>
          </a:p>
        </p:txBody>
      </p:sp>
      <p:sp>
        <p:nvSpPr>
          <p:cNvPr id="36" name="R3_ri500"/>
          <p:cNvSpPr/>
          <p:nvPr/>
        </p:nvSpPr>
        <p:spPr>
          <a:xfrm>
            <a:off x="4754880" y="4087368"/>
            <a:ext cx="1851660" cy="274320"/>
          </a:xfrm>
          <a:prstGeom prst="rect">
            <a:avLst/>
          </a:prstGeom>
          <a:noFill/>
          <a:ln/>
        </p:spPr>
        <p:txBody>
          <a:bodyPr wrap="square" lIns="0" tIns="0" rIns="0" bIns="0" rtlCol="0" anchor="ctr">
            <a:normAutofit/>
          </a:bodyPr>
          <a:lstStyle/>
          <a:p>
            <a:pPr algn="ctr" indent="0" marL="0">
              <a:buNone/>
            </a:pPr>
            <a:r>
              <a:rPr lang="en-US" sz="750" i="1" dirty="0">
                <a:solidFill>
                  <a:srgbClr val="5B6785"/>
                </a:solidFill>
                <a:latin typeface="Segoe UI Semibold" pitchFamily="34" charset="0"/>
                <a:ea typeface="Segoe UI Semibold" pitchFamily="34" charset="-122"/>
                <a:cs typeface="Segoe UI Semibold" pitchFamily="34" charset="-120"/>
              </a:rPr>
              <a:t>decisione sul momento, promessa</a:t>
            </a:r>
            <a:endParaRPr lang="en-US" sz="750" dirty="0"/>
          </a:p>
        </p:txBody>
      </p:sp>
      <p:sp>
        <p:nvSpPr>
          <p:cNvPr id="37" name="cd_501"/>
          <p:cNvSpPr/>
          <p:nvPr/>
        </p:nvSpPr>
        <p:spPr>
          <a:xfrm>
            <a:off x="6835140" y="1417320"/>
            <a:ext cx="2034540" cy="3017520"/>
          </a:xfrm>
          <a:prstGeom prst="roundRect">
            <a:avLst>
              <a:gd name="adj" fmla="val 6292"/>
            </a:avLst>
          </a:prstGeom>
          <a:solidFill>
            <a:srgbClr val="FFFFFF"/>
          </a:solidFill>
          <a:ln w="28575">
            <a:solidFill>
              <a:srgbClr val="FFE07A"/>
            </a:solidFill>
            <a:prstDash val="solid"/>
          </a:ln>
          <a:effectLst>
            <a:outerShdw sx="100000" sy="100000" kx="0" ky="0" algn="bl" rotWithShape="0" blurRad="88900" dist="31750" dir="5400000">
              <a:srgbClr val="1B2559">
                <a:alpha val="12000"/>
              </a:srgbClr>
            </a:outerShdw>
          </a:effectLst>
        </p:spPr>
      </p:sp>
      <p:sp>
        <p:nvSpPr>
          <p:cNvPr id="38" name="rh_502"/>
          <p:cNvSpPr/>
          <p:nvPr/>
        </p:nvSpPr>
        <p:spPr>
          <a:xfrm>
            <a:off x="6944868" y="1508760"/>
            <a:ext cx="1815084" cy="365760"/>
          </a:xfrm>
          <a:prstGeom prst="roundRect">
            <a:avLst>
              <a:gd name="adj" fmla="val 50000"/>
            </a:avLst>
          </a:prstGeom>
          <a:solidFill>
            <a:srgbClr val="F2B705"/>
          </a:solidFill>
          <a:ln/>
        </p:spPr>
        <p:txBody>
          <a:bodyPr wrap="square" lIns="0" tIns="0" rIns="0" bIns="0" rtlCol="0" anchor="ctr">
            <a:normAutofit/>
          </a:bodyPr>
          <a:lstStyle/>
          <a:p>
            <a:pPr algn="ctr" indent="0" marL="0">
              <a:buNone/>
            </a:pPr>
            <a:r>
              <a:rPr lang="en-US" sz="1250" dirty="0">
                <a:solidFill>
                  <a:srgbClr val="FFFFFF"/>
                </a:solidFill>
                <a:latin typeface="Arial Rounded MT Bold" pitchFamily="34" charset="0"/>
                <a:ea typeface="Arial Rounded MT Bold" pitchFamily="34" charset="-122"/>
                <a:cs typeface="Arial Rounded MT Bold" pitchFamily="34" charset="-120"/>
              </a:rPr>
              <a:t>Shall I / we…?</a:t>
            </a:r>
            <a:endParaRPr lang="en-US" sz="1250" dirty="0"/>
          </a:p>
        </p:txBody>
      </p:sp>
      <p:sp>
        <p:nvSpPr>
          <p:cNvPr id="39" name="pf_503"/>
          <p:cNvSpPr/>
          <p:nvPr/>
        </p:nvSpPr>
        <p:spPr>
          <a:xfrm>
            <a:off x="7244211" y="1938528"/>
            <a:ext cx="1216397" cy="960120"/>
          </a:xfrm>
          <a:prstGeom prst="roundRect">
            <a:avLst>
              <a:gd name="adj" fmla="val 1619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40" name="ph_504" descr="/home/claude/lls-course/v2/cache/1b1_conv_c_jpg_271x209_31.png">    </p:cNvPr>
          <p:cNvPicPr>
            <a:picLocks noChangeAspect="1"/>
          </p:cNvPicPr>
          <p:nvPr/>
        </p:nvPicPr>
        <p:blipFill>
          <a:blip r:embed="rId14"/>
          <a:stretch>
            <a:fillRect/>
          </a:stretch>
        </p:blipFill>
        <p:spPr>
          <a:xfrm>
            <a:off x="7289931" y="1984248"/>
            <a:ext cx="1124957" cy="868680"/>
          </a:xfrm>
          <a:prstGeom prst="rect">
            <a:avLst/>
          </a:prstGeom>
        </p:spPr>
      </p:pic>
      <p:sp>
        <p:nvSpPr>
          <p:cNvPr id="41" name="ru_505"/>
          <p:cNvSpPr/>
          <p:nvPr/>
        </p:nvSpPr>
        <p:spPr>
          <a:xfrm>
            <a:off x="6926580" y="2926080"/>
            <a:ext cx="1851660" cy="384048"/>
          </a:xfrm>
          <a:prstGeom prst="rect">
            <a:avLst/>
          </a:prstGeom>
          <a:noFill/>
          <a:ln/>
        </p:spPr>
        <p:txBody>
          <a:bodyPr wrap="square" lIns="0" tIns="0" rIns="0" bIns="0" rtlCol="0" anchor="ctr">
            <a:normAutofit/>
          </a:bodyPr>
          <a:lstStyle/>
          <a:p>
            <a:pPr algn="ctr" indent="0" marL="0">
              <a:buNone/>
            </a:pPr>
            <a:r>
              <a:rPr lang="en-US" sz="1050" dirty="0">
                <a:solidFill>
                  <a:srgbClr val="F2B705"/>
                </a:solidFill>
                <a:latin typeface="Arial Rounded MT Bold" pitchFamily="34" charset="0"/>
                <a:ea typeface="Arial Rounded MT Bold" pitchFamily="34" charset="-122"/>
                <a:cs typeface="Arial Rounded MT Bold" pitchFamily="34" charset="-120"/>
              </a:rPr>
              <a:t>offers &amp; suggestions (questions)</a:t>
            </a:r>
            <a:endParaRPr lang="en-US" sz="1050" dirty="0"/>
          </a:p>
        </p:txBody>
      </p:sp>
      <p:sp>
        <p:nvSpPr>
          <p:cNvPr id="42" name="R4_rx506"/>
          <p:cNvSpPr/>
          <p:nvPr/>
        </p:nvSpPr>
        <p:spPr>
          <a:xfrm>
            <a:off x="6926580" y="3319272"/>
            <a:ext cx="1851660" cy="749808"/>
          </a:xfrm>
          <a:prstGeom prst="rect">
            <a:avLst/>
          </a:prstGeom>
          <a:noFill/>
          <a:ln/>
        </p:spPr>
        <p:txBody>
          <a:bodyPr wrap="square" lIns="0" tIns="0" rIns="0" bIns="0" rtlCol="0" anchor="ctr">
            <a:normAutofit/>
          </a:bodyP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Shall I make you a cup of tea?</a:t>
            </a:r>
            <a:endParaRPr lang="en-US" sz="1050" dirty="0"/>
          </a:p>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Shall we eat out tonight?</a:t>
            </a:r>
            <a:endParaRPr lang="en-US" sz="1050" dirty="0"/>
          </a:p>
        </p:txBody>
      </p:sp>
      <p:sp>
        <p:nvSpPr>
          <p:cNvPr id="43" name="R4_ri507"/>
          <p:cNvSpPr/>
          <p:nvPr/>
        </p:nvSpPr>
        <p:spPr>
          <a:xfrm>
            <a:off x="6926580" y="4087368"/>
            <a:ext cx="1851660" cy="274320"/>
          </a:xfrm>
          <a:prstGeom prst="rect">
            <a:avLst/>
          </a:prstGeom>
          <a:noFill/>
          <a:ln/>
        </p:spPr>
        <p:txBody>
          <a:bodyPr wrap="square" lIns="0" tIns="0" rIns="0" bIns="0" rtlCol="0" anchor="ctr">
            <a:normAutofit/>
          </a:bodyPr>
          <a:lstStyle/>
          <a:p>
            <a:pPr algn="ctr" indent="0" marL="0">
              <a:buNone/>
            </a:pPr>
            <a:r>
              <a:rPr lang="en-US" sz="850" i="1" dirty="0">
                <a:solidFill>
                  <a:srgbClr val="5B6785"/>
                </a:solidFill>
                <a:latin typeface="Segoe UI Semibold" pitchFamily="34" charset="0"/>
                <a:ea typeface="Segoe UI Semibold" pitchFamily="34" charset="-122"/>
                <a:cs typeface="Segoe UI Semibold" pitchFamily="34" charset="-120"/>
              </a:rPr>
              <a:t>Vuoi che…? · Che ne dici se…?</a:t>
            </a:r>
            <a:endParaRPr lang="en-US" sz="850" dirty="0"/>
          </a:p>
        </p:txBody>
      </p:sp>
      <p:sp>
        <p:nvSpPr>
          <p:cNvPr id="44" name="R5_wc508"/>
          <p:cNvSpPr/>
          <p:nvPr/>
        </p:nvSpPr>
        <p:spPr>
          <a:xfrm>
            <a:off x="320040" y="4544568"/>
            <a:ext cx="3172968" cy="329184"/>
          </a:xfrm>
          <a:prstGeom prst="roundRect">
            <a:avLst>
              <a:gd name="adj" fmla="val 38889"/>
            </a:avLst>
          </a:prstGeom>
          <a:solidFill>
            <a:srgbClr val="FFE3EE"/>
          </a:solidFill>
          <a:ln w="28575">
            <a:solidFill>
              <a:srgbClr val="F7A6C4"/>
            </a:solidFill>
            <a:prstDash val="solid"/>
          </a:ln>
          <a:effectLst>
            <a:outerShdw sx="100000" sy="100000" kx="0" ky="0" algn="bl" rotWithShape="0" blurRad="88900" dist="31750" dir="5400000">
              <a:srgbClr val="1B2559">
                <a:alpha val="12000"/>
              </a:srgbClr>
            </a:outerShdw>
          </a:effectLst>
        </p:spPr>
      </p:sp>
      <p:sp>
        <p:nvSpPr>
          <p:cNvPr id="45" name="R5_w509"/>
          <p:cNvSpPr/>
          <p:nvPr/>
        </p:nvSpPr>
        <p:spPr>
          <a:xfrm>
            <a:off x="457200" y="4544568"/>
            <a:ext cx="2944368" cy="329184"/>
          </a:xfrm>
          <a:prstGeom prst="rect">
            <a:avLst/>
          </a:prstGeom>
          <a:noFill/>
          <a:ln/>
        </p:spPr>
        <p:txBody>
          <a:bodyPr wrap="square" lIns="0" tIns="0" rIns="0" bIns="0" rtlCol="0" anchor="ctr">
            <a:normAutofit/>
          </a:bodyPr>
          <a:lstStyle/>
          <a:p>
            <a:pPr indent="0" marL="0">
              <a:buNone/>
            </a:pPr>
            <a:r>
              <a:rPr lang="en-US" sz="700" dirty="0">
                <a:solidFill>
                  <a:srgbClr val="1B2559"/>
                </a:solidFill>
                <a:latin typeface="Segoe UI Semibold" pitchFamily="34" charset="0"/>
                <a:ea typeface="Segoe UI Semibold" pitchFamily="34" charset="-122"/>
                <a:cs typeface="Segoe UI Semibold" pitchFamily="34" charset="-120"/>
              </a:rPr>
              <a:t>⚠ Italian present ≠ English future:  ✗ Tomorrow I go to Palermo → ✓ I'm going to Palermo tomorrow.   ✗ I carry your bag → ✓ I'll carry it.</a:t>
            </a:r>
            <a:endParaRPr lang="en-US" sz="7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400"/>
                                        <p:tgtEl>
                                          <p:spTgt spid="21"/>
                                        </p:tgtEl>
                                      </p:cBhvr>
                                    </p:animEffect>
                                  </p:childTnLst>
                                </p:cTn>
                              </p:par>
                              <p:par>
                                <p:cTn id="8" presetID="10" presetClass="entr" presetSubtype="0" fill="hold"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400"/>
                                        <p:tgtEl>
                                          <p:spTgt spid="2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8"/>
                                        </p:tgtEl>
                                        <p:attrNameLst>
                                          <p:attrName>style.visibility</p:attrName>
                                        </p:attrNameLst>
                                      </p:cBhvr>
                                      <p:to>
                                        <p:strVal val="visible"/>
                                      </p:to>
                                    </p:set>
                                    <p:animEffect transition="in" filter="fade">
                                      <p:cBhvr>
                                        <p:cTn id="15" dur="400"/>
                                        <p:tgtEl>
                                          <p:spTgt spid="28"/>
                                        </p:tgtEl>
                                      </p:cBhvr>
                                    </p:animEffect>
                                  </p:childTnLst>
                                </p:cTn>
                              </p:par>
                              <p:par>
                                <p:cTn id="16" presetID="10" presetClass="entr" presetSubtype="0" fill="hold" nodeType="withEffect">
                                  <p:stCondLst>
                                    <p:cond delay="0"/>
                                  </p:stCondLst>
                                  <p:childTnLst>
                                    <p:set>
                                      <p:cBhvr>
                                        <p:cTn id="17" dur="1" fill="hold">
                                          <p:stCondLst>
                                            <p:cond delay="0"/>
                                          </p:stCondLst>
                                        </p:cTn>
                                        <p:tgtEl>
                                          <p:spTgt spid="29"/>
                                        </p:tgtEl>
                                        <p:attrNameLst>
                                          <p:attrName>style.visibility</p:attrName>
                                        </p:attrNameLst>
                                      </p:cBhvr>
                                      <p:to>
                                        <p:strVal val="visible"/>
                                      </p:to>
                                    </p:set>
                                    <p:animEffect transition="in" filter="fade">
                                      <p:cBhvr>
                                        <p:cTn id="18" dur="400"/>
                                        <p:tgtEl>
                                          <p:spTgt spid="2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5"/>
                                        </p:tgtEl>
                                        <p:attrNameLst>
                                          <p:attrName>style.visibility</p:attrName>
                                        </p:attrNameLst>
                                      </p:cBhvr>
                                      <p:to>
                                        <p:strVal val="visible"/>
                                      </p:to>
                                    </p:set>
                                    <p:animEffect transition="in" filter="fade">
                                      <p:cBhvr>
                                        <p:cTn id="23" dur="400"/>
                                        <p:tgtEl>
                                          <p:spTgt spid="35"/>
                                        </p:tgtEl>
                                      </p:cBhvr>
                                    </p:animEffect>
                                  </p:childTnLst>
                                </p:cTn>
                              </p:par>
                              <p:par>
                                <p:cTn id="24" presetID="10" presetClass="entr" presetSubtype="0" fill="hold" nodeType="withEffect">
                                  <p:stCondLst>
                                    <p:cond delay="0"/>
                                  </p:stCondLst>
                                  <p:childTnLst>
                                    <p:set>
                                      <p:cBhvr>
                                        <p:cTn id="25" dur="1" fill="hold">
                                          <p:stCondLst>
                                            <p:cond delay="0"/>
                                          </p:stCondLst>
                                        </p:cTn>
                                        <p:tgtEl>
                                          <p:spTgt spid="36"/>
                                        </p:tgtEl>
                                        <p:attrNameLst>
                                          <p:attrName>style.visibility</p:attrName>
                                        </p:attrNameLst>
                                      </p:cBhvr>
                                      <p:to>
                                        <p:strVal val="visible"/>
                                      </p:to>
                                    </p:set>
                                    <p:animEffect transition="in" filter="fade">
                                      <p:cBhvr>
                                        <p:cTn id="26" dur="400"/>
                                        <p:tgtEl>
                                          <p:spTgt spid="3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42"/>
                                        </p:tgtEl>
                                        <p:attrNameLst>
                                          <p:attrName>style.visibility</p:attrName>
                                        </p:attrNameLst>
                                      </p:cBhvr>
                                      <p:to>
                                        <p:strVal val="visible"/>
                                      </p:to>
                                    </p:set>
                                    <p:animEffect transition="in" filter="fade">
                                      <p:cBhvr>
                                        <p:cTn id="31" dur="400"/>
                                        <p:tgtEl>
                                          <p:spTgt spid="42"/>
                                        </p:tgtEl>
                                      </p:cBhvr>
                                    </p:animEffect>
                                  </p:childTnLst>
                                </p:cTn>
                              </p:par>
                              <p:par>
                                <p:cTn id="32" presetID="10" presetClass="entr" presetSubtype="0" fill="hold" nodeType="withEffect">
                                  <p:stCondLst>
                                    <p:cond delay="0"/>
                                  </p:stCondLst>
                                  <p:childTnLst>
                                    <p:set>
                                      <p:cBhvr>
                                        <p:cTn id="33" dur="1" fill="hold">
                                          <p:stCondLst>
                                            <p:cond delay="0"/>
                                          </p:stCondLst>
                                        </p:cTn>
                                        <p:tgtEl>
                                          <p:spTgt spid="43"/>
                                        </p:tgtEl>
                                        <p:attrNameLst>
                                          <p:attrName>style.visibility</p:attrName>
                                        </p:attrNameLst>
                                      </p:cBhvr>
                                      <p:to>
                                        <p:strVal val="visible"/>
                                      </p:to>
                                    </p:set>
                                    <p:animEffect transition="in" filter="fade">
                                      <p:cBhvr>
                                        <p:cTn id="34" dur="400"/>
                                        <p:tgtEl>
                                          <p:spTgt spid="43"/>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44"/>
                                        </p:tgtEl>
                                        <p:attrNameLst>
                                          <p:attrName>style.visibility</p:attrName>
                                        </p:attrNameLst>
                                      </p:cBhvr>
                                      <p:to>
                                        <p:strVal val="visible"/>
                                      </p:to>
                                    </p:set>
                                    <p:animEffect transition="in" filter="fade">
                                      <p:cBhvr>
                                        <p:cTn id="39" dur="400"/>
                                        <p:tgtEl>
                                          <p:spTgt spid="44"/>
                                        </p:tgtEl>
                                      </p:cBhvr>
                                    </p:animEffect>
                                  </p:childTnLst>
                                </p:cTn>
                              </p:par>
                              <p:par>
                                <p:cTn id="40" presetID="10" presetClass="entr" presetSubtype="0" fill="hold" nodeType="withEffect">
                                  <p:stCondLst>
                                    <p:cond delay="0"/>
                                  </p:stCondLst>
                                  <p:childTnLst>
                                    <p:set>
                                      <p:cBhvr>
                                        <p:cTn id="41" dur="1" fill="hold">
                                          <p:stCondLst>
                                            <p:cond delay="0"/>
                                          </p:stCondLst>
                                        </p:cTn>
                                        <p:tgtEl>
                                          <p:spTgt spid="45"/>
                                        </p:tgtEl>
                                        <p:attrNameLst>
                                          <p:attrName>style.visibility</p:attrName>
                                        </p:attrNameLst>
                                      </p:cBhvr>
                                      <p:to>
                                        <p:strVal val="visible"/>
                                      </p:to>
                                    </p:set>
                                    <p:animEffect transition="in" filter="fade">
                                      <p:cBhvr>
                                        <p:cTn id="42"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43" restart="whenNotActive" fill="hold" evtFilter="cancelBubble" nodeType="interactiveSeq">
                <p:stCondLst>
                  <p:cond evt="onClick" delay="0">
                    <p:tgtEl>
                      <p:spTgt spid="13"/>
                    </p:tgtEl>
                  </p:cond>
                </p:stCondLst>
                <p:endSync evt="end" delay="0">
                  <p:rtn val="all"/>
                </p:endSync>
                <p:childTnLst>
                  <p:par>
                    <p:cTn id="44" fill="hold">
                      <p:stCondLst>
                        <p:cond delay="0"/>
                      </p:stCondLst>
                      <p:childTnLst>
                        <p:par>
                          <p:cTn id="45" fill="hold">
                            <p:stCondLst>
                              <p:cond delay="0"/>
                            </p:stCondLst>
                            <p:childTnLst>
                              <p:par>
                                <p:cTn id="46" presetID="2" presetClass="mediacall" presetSubtype="0" fill="hold" nodeType="clickEffect">
                                  <p:stCondLst>
                                    <p:cond delay="0"/>
                                  </p:stCondLst>
                                  <p:childTnLst>
                                    <p:cmd type="call" cmd="togglePause">
                                      <p:cBhvr>
                                        <p:cTn id="47" dur="1" fill="hold"/>
                                        <p:tgtEl>
                                          <p:spTgt spid="13"/>
                                        </p:tgtEl>
                                      </p:cBhvr>
                                    </p:cmd>
                                  </p:childTnLst>
                                </p:cTn>
                              </p:par>
                            </p:childTnLst>
                          </p:cTn>
                        </p:par>
                      </p:childTnLst>
                    </p:cTn>
                  </p:par>
                </p:childTnLst>
              </p:cTn>
              <p:nextCondLst>
                <p:cond evt="onClick" delay="0">
                  <p:tgtEl>
                    <p:spTgt spid="13"/>
                  </p:tgtEl>
                </p:cond>
              </p:nextCondLst>
            </p:seq>
            <p:seq concurrent="1" nextAc="seek">
              <p:cTn id="48" restart="whenNotActive" fill="hold" evtFilter="cancelBubble" nodeType="interactiveSeq">
                <p:stCondLst>
                  <p:cond evt="onClick" delay="0">
                    <p:tgtEl>
                      <p:spTgt spid="15"/>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15"/>
                                        </p:tgtEl>
                                      </p:cBhvr>
                                    </p:cmd>
                                  </p:childTnLst>
                                </p:cTn>
                              </p:par>
                            </p:childTnLst>
                          </p:cTn>
                        </p:par>
                      </p:childTnLst>
                    </p:cTn>
                  </p:par>
                </p:childTnLst>
              </p:cTn>
              <p:nextCondLst>
                <p:cond evt="onClick" delay="0">
                  <p:tgtEl>
                    <p:spTgt spid="15"/>
                  </p:tgtEl>
                </p:cond>
              </p:nextCondLst>
            </p:seq>
            <p:audio>
              <p:cMediaNode vol="80000">
                <p:cTn id="53" fill="hold" display="0">
                  <p:stCondLst>
                    <p:cond delay="indefinite"/>
                  </p:stCondLst>
                  <p:endCondLst>
                    <p:cond evt="onStopAudio" delay="0">
                      <p:tgtEl>
                        <p:sldTgt/>
                      </p:tgtEl>
                    </p:cond>
                  </p:endCondLst>
                </p:cTn>
                <p:tgtEl>
                  <p:spTgt spid="13"/>
                </p:tgtEl>
              </p:cMediaNode>
            </p:audio>
            <p:audio>
              <p:cMediaNode vol="80000">
                <p:cTn id="54" fill="hold" display="0">
                  <p:stCondLst>
                    <p:cond delay="indefinite"/>
                  </p:stCondLst>
                  <p:endCondLst>
                    <p:cond evt="onStopAudio" delay="0">
                      <p:tgtEl>
                        <p:sldTgt/>
                      </p:tgtEl>
                    </p:cond>
                  </p:endCondLst>
                </p:cTn>
                <p:tgtEl>
                  <p:spTgt spid="15"/>
                </p:tgtEl>
              </p:cMediaNode>
            </p:audi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510"/>
          <p:cNvSpPr/>
          <p:nvPr/>
        </p:nvSpPr>
        <p:spPr>
          <a:xfrm>
            <a:off x="201168" y="164592"/>
            <a:ext cx="841248" cy="841248"/>
          </a:xfrm>
          <a:prstGeom prst="ellipse">
            <a:avLst/>
          </a:prstGeom>
          <a:solidFill>
            <a:srgbClr val="7B5CD6"/>
          </a:solidFill>
          <a:ln w="28575">
            <a:solidFill>
              <a:srgbClr val="CDBFF3"/>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17</a:t>
            </a:r>
            <a:endParaRPr lang="en-US" sz="2200" dirty="0"/>
          </a:p>
        </p:txBody>
      </p:sp>
      <p:pic>
        <p:nvPicPr>
          <p:cNvPr id="4" name="brY_511" descr="/home/claude/lls-course/v2/assets/brush-yellow.png">    </p:cNvPr>
          <p:cNvPicPr>
            <a:picLocks noChangeAspect="1"/>
          </p:cNvPicPr>
          <p:nvPr/>
        </p:nvPicPr>
        <p:blipFill>
          <a:blip r:embed="rId2"/>
          <a:stretch>
            <a:fillRect/>
          </a:stretch>
        </p:blipFill>
        <p:spPr>
          <a:xfrm>
            <a:off x="1097280" y="146304"/>
            <a:ext cx="4663440" cy="621792"/>
          </a:xfrm>
          <a:prstGeom prst="rect">
            <a:avLst/>
          </a:prstGeom>
        </p:spPr>
      </p:pic>
      <p:sp>
        <p:nvSpPr>
          <p:cNvPr id="5" name="title_512"/>
          <p:cNvSpPr/>
          <p:nvPr/>
        </p:nvSpPr>
        <p:spPr>
          <a:xfrm>
            <a:off x="1261872" y="164592"/>
            <a:ext cx="4389120"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Luca and the wedding cake</a:t>
            </a:r>
            <a:endParaRPr lang="en-US" sz="2400" dirty="0"/>
          </a:p>
        </p:txBody>
      </p:sp>
      <p:pic>
        <p:nvPicPr>
          <p:cNvPr id="6" name="brP_513" descr="/home/claude/lls-course/v2/assets/brush-pink.png">    </p:cNvPr>
          <p:cNvPicPr>
            <a:picLocks noChangeAspect="1"/>
          </p:cNvPicPr>
          <p:nvPr/>
        </p:nvPicPr>
        <p:blipFill>
          <a:blip r:embed="rId3"/>
          <a:stretch>
            <a:fillRect/>
          </a:stretch>
        </p:blipFill>
        <p:spPr>
          <a:xfrm>
            <a:off x="1207008" y="731520"/>
            <a:ext cx="4379976" cy="402336"/>
          </a:xfrm>
          <a:prstGeom prst="rect">
            <a:avLst/>
          </a:prstGeom>
        </p:spPr>
      </p:pic>
      <p:sp>
        <p:nvSpPr>
          <p:cNvPr id="7" name="ins_514"/>
          <p:cNvSpPr/>
          <p:nvPr/>
        </p:nvSpPr>
        <p:spPr>
          <a:xfrm>
            <a:off x="1353312" y="731520"/>
            <a:ext cx="412394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Listen to the story. Answer the questions!</a:t>
            </a:r>
            <a:endParaRPr lang="en-US" sz="1250" dirty="0"/>
          </a:p>
        </p:txBody>
      </p:sp>
      <p:sp>
        <p:nvSpPr>
          <p:cNvPr id="8" name="insIT_515"/>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Ascolta la storia. Rispondi alle domande!</a:t>
            </a:r>
            <a:endParaRPr lang="en-US" sz="950" dirty="0"/>
          </a:p>
        </p:txBody>
      </p:sp>
      <p:sp>
        <p:nvSpPr>
          <p:cNvPr id="9" name="note_516"/>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READ</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TALK</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4 min   🙋 whole class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Speaking · TPRS · story</a:t>
            </a:r>
            <a:endParaRPr lang="en-US" sz="1150" dirty="0"/>
          </a:p>
        </p:txBody>
      </p:sp>
      <p:pic>
        <p:nvPicPr>
          <p:cNvPr id="10" name="logo_517"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518"/>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1B-1 · Speaking · class story (TPRS)</a:t>
            </a:r>
            <a:endParaRPr lang="en-US" sz="800" dirty="0"/>
          </a:p>
        </p:txBody>
      </p:sp>
      <p:sp>
        <p:nvSpPr>
          <p:cNvPr id="12" name="pf_519"/>
          <p:cNvSpPr/>
          <p:nvPr/>
        </p:nvSpPr>
        <p:spPr>
          <a:xfrm rot="-90000">
            <a:off x="411480" y="1417320"/>
            <a:ext cx="2560320" cy="1280160"/>
          </a:xfrm>
          <a:prstGeom prst="roundRect">
            <a:avLst>
              <a:gd name="adj" fmla="val 1214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3" name="ph_520" descr="/home/claude/lls-course/v2/cache/1b1_wedding_jpg_594x286_31.png">    </p:cNvPr>
          <p:cNvPicPr>
            <a:picLocks noChangeAspect="1"/>
          </p:cNvPicPr>
          <p:nvPr/>
        </p:nvPicPr>
        <p:blipFill>
          <a:blip r:embed="rId5"/>
          <a:stretch>
            <a:fillRect/>
          </a:stretch>
        </p:blipFill>
        <p:spPr>
          <a:xfrm rot="-90000">
            <a:off x="457200" y="1463040"/>
            <a:ext cx="2468880" cy="1188720"/>
          </a:xfrm>
          <a:prstGeom prst="rect">
            <a:avLst/>
          </a:prstGeom>
        </p:spPr>
      </p:pic>
      <p:sp>
        <p:nvSpPr>
          <p:cNvPr id="14" name="cd_521"/>
          <p:cNvSpPr/>
          <p:nvPr/>
        </p:nvSpPr>
        <p:spPr>
          <a:xfrm>
            <a:off x="320040" y="2834640"/>
            <a:ext cx="2697480" cy="1920240"/>
          </a:xfrm>
          <a:prstGeom prst="roundRect">
            <a:avLst>
              <a:gd name="adj" fmla="val 6667"/>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5" name="ii_522"/>
          <p:cNvSpPr/>
          <p:nvPr/>
        </p:nvSpPr>
        <p:spPr>
          <a:xfrm>
            <a:off x="411480" y="290779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523"/>
          <p:cNvSpPr/>
          <p:nvPr/>
        </p:nvSpPr>
        <p:spPr>
          <a:xfrm>
            <a:off x="886968" y="292608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Story phrases</a:t>
            </a:r>
            <a:endParaRPr lang="en-US" sz="1300" dirty="0"/>
          </a:p>
        </p:txBody>
      </p:sp>
      <p:sp>
        <p:nvSpPr>
          <p:cNvPr id="17" name="il_524"/>
          <p:cNvSpPr/>
          <p:nvPr/>
        </p:nvSpPr>
        <p:spPr>
          <a:xfrm>
            <a:off x="886968" y="3328416"/>
            <a:ext cx="2039112" cy="1353312"/>
          </a:xfrm>
          <a:prstGeom prst="rect">
            <a:avLst/>
          </a:prstGeom>
          <a:noFill/>
          <a:ln/>
        </p:spPr>
        <p:txBody>
          <a:bodyPr wrap="square" lIns="0" tIns="0" rIns="0" bIns="0" rtlCol="0" anchor="t">
            <a:normAutofit/>
          </a:bodyPr>
          <a:lstStyle/>
          <a:p>
            <a:pPr indent="0" marL="0">
              <a:spcAft>
                <a:spcPts val="200"/>
              </a:spcAft>
              <a:buNone/>
            </a:pPr>
            <a:r>
              <a:rPr lang="en-US" sz="700" dirty="0">
                <a:solidFill>
                  <a:srgbClr val="1B2559"/>
                </a:solidFill>
                <a:latin typeface="Segoe UI Semibold" pitchFamily="34" charset="0"/>
                <a:ea typeface="Segoe UI Semibold" pitchFamily="34" charset="-122"/>
                <a:cs typeface="Segoe UI Semibold" pitchFamily="34" charset="-120"/>
              </a:rPr>
              <a:t>is getting married (on Saturday)</a:t>
            </a:r>
            <a:pPr indent="0" marL="0">
              <a:spcAft>
                <a:spcPts val="200"/>
              </a:spcAft>
              <a:buNone/>
            </a:pPr>
            <a:r>
              <a:rPr lang="en-US" sz="700" dirty="0">
                <a:solidFill>
                  <a:srgbClr val="5B6785"/>
                </a:solidFill>
                <a:latin typeface="Segoe UI Semibold" pitchFamily="34" charset="0"/>
                <a:ea typeface="Segoe UI Semibold" pitchFamily="34" charset="-122"/>
                <a:cs typeface="Segoe UI Semibold" pitchFamily="34" charset="-120"/>
              </a:rPr>
              <a:t>  – si sposa (già organizzato)</a:t>
            </a:r>
            <a:endParaRPr lang="en-US" sz="700" dirty="0"/>
          </a:p>
          <a:p>
            <a:pPr indent="0" marL="0">
              <a:spcBef>
                <a:spcPts val="600"/>
              </a:spcBef>
              <a:spcAft>
                <a:spcPts val="200"/>
              </a:spcAft>
              <a:buNone/>
            </a:pPr>
            <a:r>
              <a:rPr lang="en-US" sz="700" dirty="0">
                <a:solidFill>
                  <a:srgbClr val="1B2559"/>
                </a:solidFill>
                <a:latin typeface="Segoe UI Semibold" pitchFamily="34" charset="0"/>
                <a:ea typeface="Segoe UI Semibold" pitchFamily="34" charset="-122"/>
                <a:cs typeface="Segoe UI Semibold" pitchFamily="34" charset="-120"/>
              </a:rPr>
              <a:t>is going to make</a:t>
            </a:r>
            <a:pPr indent="0" marL="0">
              <a:spcAft>
                <a:spcPts val="200"/>
              </a:spcAft>
              <a:buNone/>
            </a:pPr>
            <a:r>
              <a:rPr lang="en-US" sz="700" dirty="0">
                <a:solidFill>
                  <a:srgbClr val="5B6785"/>
                </a:solidFill>
                <a:latin typeface="Segoe UI Semibold" pitchFamily="34" charset="0"/>
                <a:ea typeface="Segoe UI Semibold" pitchFamily="34" charset="-122"/>
                <a:cs typeface="Segoe UI Semibold" pitchFamily="34" charset="-120"/>
              </a:rPr>
              <a:t>  – ha intenzione di preparare</a:t>
            </a:r>
            <a:endParaRPr lang="en-US" sz="700" dirty="0"/>
          </a:p>
          <a:p>
            <a:pPr indent="0" marL="0">
              <a:spcBef>
                <a:spcPts val="600"/>
              </a:spcBef>
              <a:spcAft>
                <a:spcPts val="200"/>
              </a:spcAft>
              <a:buNone/>
            </a:pPr>
            <a:r>
              <a:rPr lang="en-US" sz="700" dirty="0">
                <a:solidFill>
                  <a:srgbClr val="1B2559"/>
                </a:solidFill>
                <a:latin typeface="Segoe UI Semibold" pitchFamily="34" charset="0"/>
                <a:ea typeface="Segoe UI Semibold" pitchFamily="34" charset="-122"/>
                <a:cs typeface="Segoe UI Semibold" pitchFamily="34" charset="-120"/>
              </a:rPr>
              <a:t>Shall I help you?</a:t>
            </a:r>
            <a:pPr indent="0" marL="0">
              <a:spcAft>
                <a:spcPts val="200"/>
              </a:spcAft>
              <a:buNone/>
            </a:pPr>
            <a:r>
              <a:rPr lang="en-US" sz="700" dirty="0">
                <a:solidFill>
                  <a:srgbClr val="5B6785"/>
                </a:solidFill>
                <a:latin typeface="Segoe UI Semibold" pitchFamily="34" charset="0"/>
                <a:ea typeface="Segoe UI Semibold" pitchFamily="34" charset="-122"/>
                <a:cs typeface="Segoe UI Semibold" pitchFamily="34" charset="-120"/>
              </a:rPr>
              <a:t>  – Vuoi che ti aiuti?</a:t>
            </a:r>
            <a:endParaRPr lang="en-US" sz="700" dirty="0"/>
          </a:p>
          <a:p>
            <a:pPr indent="0" marL="0">
              <a:spcBef>
                <a:spcPts val="600"/>
              </a:spcBef>
              <a:spcAft>
                <a:spcPts val="200"/>
              </a:spcAft>
              <a:buNone/>
            </a:pPr>
            <a:r>
              <a:rPr lang="en-US" sz="700" dirty="0">
                <a:solidFill>
                  <a:srgbClr val="1B2559"/>
                </a:solidFill>
                <a:latin typeface="Segoe UI Semibold" pitchFamily="34" charset="0"/>
                <a:ea typeface="Segoe UI Semibold" pitchFamily="34" charset="-122"/>
                <a:cs typeface="Segoe UI Semibold" pitchFamily="34" charset="-120"/>
              </a:rPr>
              <a:t>I'll be careful (promise)</a:t>
            </a:r>
            <a:pPr indent="0" marL="0">
              <a:spcAft>
                <a:spcPts val="200"/>
              </a:spcAft>
              <a:buNone/>
            </a:pPr>
            <a:r>
              <a:rPr lang="en-US" sz="700" dirty="0">
                <a:solidFill>
                  <a:srgbClr val="5B6785"/>
                </a:solidFill>
                <a:latin typeface="Segoe UI Semibold" pitchFamily="34" charset="0"/>
                <a:ea typeface="Segoe UI Semibold" pitchFamily="34" charset="-122"/>
                <a:cs typeface="Segoe UI Semibold" pitchFamily="34" charset="-120"/>
              </a:rPr>
              <a:t>  – starò attento (promessa)</a:t>
            </a:r>
            <a:endParaRPr lang="en-US" sz="700" dirty="0"/>
          </a:p>
          <a:p>
            <a:pPr indent="0" marL="0">
              <a:spcBef>
                <a:spcPts val="600"/>
              </a:spcBef>
              <a:spcAft>
                <a:spcPts val="200"/>
              </a:spcAft>
              <a:buNone/>
            </a:pPr>
            <a:r>
              <a:rPr lang="en-US" sz="700" dirty="0">
                <a:solidFill>
                  <a:srgbClr val="1B2559"/>
                </a:solidFill>
                <a:latin typeface="Segoe UI Semibold" pitchFamily="34" charset="0"/>
                <a:ea typeface="Segoe UI Semibold" pitchFamily="34" charset="-122"/>
                <a:cs typeface="Segoe UI Semibold" pitchFamily="34" charset="-120"/>
              </a:rPr>
              <a:t>is going to fall</a:t>
            </a:r>
            <a:pPr indent="0" marL="0">
              <a:spcAft>
                <a:spcPts val="200"/>
              </a:spcAft>
              <a:buNone/>
            </a:pPr>
            <a:r>
              <a:rPr lang="en-US" sz="700" dirty="0">
                <a:solidFill>
                  <a:srgbClr val="5B6785"/>
                </a:solidFill>
                <a:latin typeface="Segoe UI Semibold" pitchFamily="34" charset="0"/>
                <a:ea typeface="Segoe UI Semibold" pitchFamily="34" charset="-122"/>
                <a:cs typeface="Segoe UI Semibold" pitchFamily="34" charset="-120"/>
              </a:rPr>
              <a:t>  – sta per cadere</a:t>
            </a:r>
            <a:endParaRPr lang="en-US" sz="700" dirty="0"/>
          </a:p>
          <a:p>
            <a:pPr indent="0" marL="0">
              <a:spcBef>
                <a:spcPts val="600"/>
              </a:spcBef>
              <a:spcAft>
                <a:spcPts val="200"/>
              </a:spcAft>
              <a:buNone/>
            </a:pPr>
            <a:r>
              <a:rPr lang="en-US" sz="700" dirty="0">
                <a:solidFill>
                  <a:srgbClr val="1B2559"/>
                </a:solidFill>
                <a:latin typeface="Segoe UI Semibold" pitchFamily="34" charset="0"/>
                <a:ea typeface="Segoe UI Semibold" pitchFamily="34" charset="-122"/>
                <a:cs typeface="Segoe UI Semibold" pitchFamily="34" charset="-120"/>
              </a:rPr>
              <a:t>We'll eat… (decision now)</a:t>
            </a:r>
            <a:pPr indent="0" marL="0">
              <a:spcAft>
                <a:spcPts val="200"/>
              </a:spcAft>
              <a:buNone/>
            </a:pPr>
            <a:r>
              <a:rPr lang="en-US" sz="700" dirty="0">
                <a:solidFill>
                  <a:srgbClr val="5B6785"/>
                </a:solidFill>
                <a:latin typeface="Segoe UI Semibold" pitchFamily="34" charset="0"/>
                <a:ea typeface="Segoe UI Semibold" pitchFamily="34" charset="-122"/>
                <a:cs typeface="Segoe UI Semibold" pitchFamily="34" charset="-120"/>
              </a:rPr>
              <a:t>  – mangeremo… (decisione ora)</a:t>
            </a:r>
            <a:endParaRPr lang="en-US" sz="700" dirty="0"/>
          </a:p>
        </p:txBody>
      </p:sp>
      <p:sp>
        <p:nvSpPr>
          <p:cNvPr id="18" name="R1_sb525"/>
          <p:cNvSpPr/>
          <p:nvPr/>
        </p:nvSpPr>
        <p:spPr>
          <a:xfrm>
            <a:off x="3200400" y="1453896"/>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19" name="R1_sl526"/>
          <p:cNvSpPr/>
          <p:nvPr/>
        </p:nvSpPr>
        <p:spPr>
          <a:xfrm>
            <a:off x="3584448" y="1417320"/>
            <a:ext cx="5303520" cy="499872"/>
          </a:xfrm>
          <a:prstGeom prst="roundRect">
            <a:avLst>
              <a:gd name="adj" fmla="val 21951"/>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lstStyle/>
          <a:p>
            <a:pPr indent="0" marL="0">
              <a:buNone/>
            </a:pPr>
            <a:r>
              <a:rPr lang="en-US" sz="1000" dirty="0">
                <a:solidFill>
                  <a:srgbClr val="1B2559"/>
                </a:solidFill>
                <a:latin typeface="Segoe UI Semibold" pitchFamily="34" charset="0"/>
                <a:ea typeface="Segoe UI Semibold" pitchFamily="34" charset="-122"/>
                <a:cs typeface="Segoe UI Semibold" pitchFamily="34" charset="-120"/>
              </a:rPr>
              <a:t>Luca's stepsister, Giada, </a:t>
            </a:r>
            <a:pPr indent="0" marL="0">
              <a:buNone/>
            </a:pPr>
            <a:r>
              <a:rPr lang="en-US" sz="1000" b="1" dirty="0">
                <a:solidFill>
                  <a:srgbClr val="7B5CD6"/>
                </a:solidFill>
                <a:highlight>
                  <a:srgbClr val="FFF1A8"/>
                </a:highlight>
                <a:latin typeface="Segoe UI Semibold" pitchFamily="34" charset="0"/>
                <a:ea typeface="Segoe UI Semibold" pitchFamily="34" charset="-122"/>
                <a:cs typeface="Segoe UI Semibold" pitchFamily="34" charset="-120"/>
              </a:rPr>
              <a:t>is getting married</a:t>
            </a:r>
            <a:pPr indent="0" marL="0">
              <a:buNone/>
            </a:pPr>
            <a:r>
              <a:rPr lang="en-US" sz="1000" dirty="0">
                <a:solidFill>
                  <a:srgbClr val="1B2559"/>
                </a:solidFill>
                <a:latin typeface="Segoe UI Semibold" pitchFamily="34" charset="0"/>
                <a:ea typeface="Segoe UI Semibold" pitchFamily="34" charset="-122"/>
                <a:cs typeface="Segoe UI Semibold" pitchFamily="34" charset="-120"/>
              </a:rPr>
              <a:t> on Saturday. It's all arranged!</a:t>
            </a:r>
            <a:endParaRPr lang="en-US" sz="1000" dirty="0"/>
          </a:p>
          <a:p>
            <a:pPr indent="0" marL="0">
              <a:buNone/>
            </a:pPr>
            <a:r>
              <a:rPr lang="en-US" sz="750" i="1" dirty="0">
                <a:solidFill>
                  <a:srgbClr val="5B6785"/>
                </a:solidFill>
                <a:latin typeface="Segoe UI Semibold" pitchFamily="34" charset="0"/>
                <a:ea typeface="Segoe UI Semibold" pitchFamily="34" charset="-122"/>
                <a:cs typeface="Segoe UI Semibold" pitchFamily="34" charset="-120"/>
              </a:rPr>
              <a:t>❓ Is Giada getting married on Saturday or Sunday? · Who is she?</a:t>
            </a:r>
            <a:endParaRPr lang="en-US" sz="1000" dirty="0"/>
          </a:p>
        </p:txBody>
      </p:sp>
      <p:sp>
        <p:nvSpPr>
          <p:cNvPr id="20" name="R2_sb527"/>
          <p:cNvSpPr/>
          <p:nvPr/>
        </p:nvSpPr>
        <p:spPr>
          <a:xfrm>
            <a:off x="3200400" y="2017776"/>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21" name="R2_sl528"/>
          <p:cNvSpPr/>
          <p:nvPr/>
        </p:nvSpPr>
        <p:spPr>
          <a:xfrm>
            <a:off x="3584448" y="1981200"/>
            <a:ext cx="5303520" cy="499872"/>
          </a:xfrm>
          <a:prstGeom prst="roundRect">
            <a:avLst>
              <a:gd name="adj" fmla="val 21951"/>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lstStyle/>
          <a:p>
            <a:pPr indent="0" marL="0">
              <a:buNone/>
            </a:pPr>
            <a:r>
              <a:rPr lang="en-US" sz="1150" dirty="0">
                <a:solidFill>
                  <a:srgbClr val="1B2559"/>
                </a:solidFill>
                <a:latin typeface="Segoe UI Semibold" pitchFamily="34" charset="0"/>
                <a:ea typeface="Segoe UI Semibold" pitchFamily="34" charset="-122"/>
                <a:cs typeface="Segoe UI Semibold" pitchFamily="34" charset="-120"/>
              </a:rPr>
              <a:t>Luca </a:t>
            </a:r>
            <a:pPr indent="0" marL="0">
              <a:buNone/>
            </a:pPr>
            <a:r>
              <a:rPr lang="en-US" sz="1150" b="1" dirty="0">
                <a:solidFill>
                  <a:srgbClr val="7B5CD6"/>
                </a:solidFill>
                <a:highlight>
                  <a:srgbClr val="FFF1A8"/>
                </a:highlight>
                <a:latin typeface="Segoe UI Semibold" pitchFamily="34" charset="0"/>
                <a:ea typeface="Segoe UI Semibold" pitchFamily="34" charset="-122"/>
                <a:cs typeface="Segoe UI Semibold" pitchFamily="34" charset="-120"/>
              </a:rPr>
              <a:t>is going to make</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 the wedding cake. That's his big plan.</a:t>
            </a:r>
            <a:endParaRPr lang="en-US" sz="1150" dirty="0"/>
          </a:p>
          <a:p>
            <a:pPr indent="0" marL="0">
              <a:buNone/>
            </a:pPr>
            <a:r>
              <a:rPr lang="en-US" sz="900" i="1" dirty="0">
                <a:solidFill>
                  <a:srgbClr val="5B6785"/>
                </a:solidFill>
                <a:latin typeface="Segoe UI Semibold" pitchFamily="34" charset="0"/>
                <a:ea typeface="Segoe UI Semibold" pitchFamily="34" charset="-122"/>
                <a:cs typeface="Segoe UI Semibold" pitchFamily="34" charset="-120"/>
              </a:rPr>
              <a:t>❓ Is Luca going to make the cake or the music? · What's his plan?</a:t>
            </a:r>
            <a:endParaRPr lang="en-US" sz="1150" dirty="0"/>
          </a:p>
        </p:txBody>
      </p:sp>
      <p:sp>
        <p:nvSpPr>
          <p:cNvPr id="22" name="R3_sb529"/>
          <p:cNvSpPr/>
          <p:nvPr/>
        </p:nvSpPr>
        <p:spPr>
          <a:xfrm>
            <a:off x="3200400" y="2581656"/>
            <a:ext cx="310896" cy="310896"/>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23" name="R3_sl530"/>
          <p:cNvSpPr/>
          <p:nvPr/>
        </p:nvSpPr>
        <p:spPr>
          <a:xfrm>
            <a:off x="3584448" y="2545080"/>
            <a:ext cx="5303520" cy="499872"/>
          </a:xfrm>
          <a:prstGeom prst="roundRect">
            <a:avLst>
              <a:gd name="adj" fmla="val 21951"/>
            </a:avLst>
          </a:prstGeom>
          <a:solidFill>
            <a:srgbClr val="FFFFFF"/>
          </a:solidFill>
          <a:ln w="2857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lstStyle/>
          <a:p>
            <a:pPr indent="0" marL="0">
              <a:buNone/>
            </a:pPr>
            <a:r>
              <a:rPr lang="en-US" sz="1050" dirty="0">
                <a:solidFill>
                  <a:srgbClr val="1B2559"/>
                </a:solidFill>
                <a:latin typeface="Segoe UI Semibold" pitchFamily="34" charset="0"/>
                <a:ea typeface="Segoe UI Semibold" pitchFamily="34" charset="-122"/>
                <a:cs typeface="Segoe UI Semibold" pitchFamily="34" charset="-120"/>
              </a:rPr>
              <a:t>On Saturday the cake is enormous. Grandpa says, '</a:t>
            </a:r>
            <a:pPr indent="0" marL="0">
              <a:buNone/>
            </a:pPr>
            <a:r>
              <a:rPr lang="en-US" sz="1050" b="1" dirty="0">
                <a:solidFill>
                  <a:srgbClr val="7B5CD6"/>
                </a:solidFill>
                <a:highlight>
                  <a:srgbClr val="FFF1A8"/>
                </a:highlight>
                <a:latin typeface="Segoe UI Semibold" pitchFamily="34" charset="0"/>
                <a:ea typeface="Segoe UI Semibold" pitchFamily="34" charset="-122"/>
                <a:cs typeface="Segoe UI Semibold" pitchFamily="34" charset="-120"/>
              </a:rPr>
              <a:t>Shall I help</a:t>
            </a:r>
            <a:pPr indent="0" marL="0">
              <a:buNone/>
            </a:pPr>
            <a:r>
              <a:rPr lang="en-US" sz="1050" dirty="0">
                <a:solidFill>
                  <a:srgbClr val="1B2559"/>
                </a:solidFill>
                <a:latin typeface="Segoe UI Semibold" pitchFamily="34" charset="0"/>
                <a:ea typeface="Segoe UI Semibold" pitchFamily="34" charset="-122"/>
                <a:cs typeface="Segoe UI Semibold" pitchFamily="34" charset="-120"/>
              </a:rPr>
              <a:t> you?'</a:t>
            </a:r>
            <a:endParaRPr lang="en-US" sz="1050" dirty="0"/>
          </a:p>
          <a:p>
            <a:pPr indent="0" marL="0">
              <a:buNone/>
            </a:pPr>
            <a:r>
              <a:rPr lang="en-US" sz="800" i="1" dirty="0">
                <a:solidFill>
                  <a:srgbClr val="5B6785"/>
                </a:solidFill>
                <a:latin typeface="Segoe UI Semibold" pitchFamily="34" charset="0"/>
                <a:ea typeface="Segoe UI Semibold" pitchFamily="34" charset="-122"/>
                <a:cs typeface="Segoe UI Semibold" pitchFamily="34" charset="-120"/>
              </a:rPr>
              <a:t>❓ Is the cake small or enormous? · Who offers to help?</a:t>
            </a:r>
            <a:endParaRPr lang="en-US" sz="1050" dirty="0"/>
          </a:p>
        </p:txBody>
      </p:sp>
      <p:sp>
        <p:nvSpPr>
          <p:cNvPr id="24" name="R4_sb531"/>
          <p:cNvSpPr/>
          <p:nvPr/>
        </p:nvSpPr>
        <p:spPr>
          <a:xfrm>
            <a:off x="3200400" y="3145536"/>
            <a:ext cx="310896" cy="310896"/>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25" name="R4_sl532"/>
          <p:cNvSpPr/>
          <p:nvPr/>
        </p:nvSpPr>
        <p:spPr>
          <a:xfrm>
            <a:off x="3584448" y="3108960"/>
            <a:ext cx="5303520" cy="499872"/>
          </a:xfrm>
          <a:prstGeom prst="roundRect">
            <a:avLst>
              <a:gd name="adj" fmla="val 21951"/>
            </a:avLst>
          </a:prstGeom>
          <a:solidFill>
            <a:srgbClr val="FFFFFF"/>
          </a:solidFill>
          <a:ln w="28575">
            <a:solidFill>
              <a:srgbClr val="FFE07A"/>
            </a:solidFill>
          </a:ln>
          <a:effectLst>
            <a:outerShdw sx="100000" sy="100000" kx="0" ky="0" algn="bl" rotWithShape="0" blurRad="88900" dist="31750" dir="5400000">
              <a:srgbClr val="1B2559">
                <a:alpha val="8000"/>
              </a:srgbClr>
            </a:outerShdw>
          </a:effectLst>
        </p:spPr>
        <p:txBody>
          <a:bodyPr wrap="square" lIns="127000" tIns="25400" rIns="127000" bIns="25400" rtlCol="0" anchor="ctr"/>
          <a:lstStyle/>
          <a:p>
            <a:pPr indent="0" marL="0">
              <a:buNone/>
            </a:pPr>
            <a:r>
              <a:rPr lang="en-US" sz="1150" dirty="0">
                <a:solidFill>
                  <a:srgbClr val="1B2559"/>
                </a:solidFill>
                <a:latin typeface="Segoe UI Semibold" pitchFamily="34" charset="0"/>
                <a:ea typeface="Segoe UI Semibold" pitchFamily="34" charset="-122"/>
                <a:cs typeface="Segoe UI Semibold" pitchFamily="34" charset="-120"/>
              </a:rPr>
              <a:t>'No, thanks! </a:t>
            </a:r>
            <a:pPr indent="0" marL="0">
              <a:buNone/>
            </a:pPr>
            <a:r>
              <a:rPr lang="en-US" sz="1150" b="1" dirty="0">
                <a:solidFill>
                  <a:srgbClr val="7B5CD6"/>
                </a:solidFill>
                <a:highlight>
                  <a:srgbClr val="FFF1A8"/>
                </a:highlight>
                <a:latin typeface="Segoe UI Semibold" pitchFamily="34" charset="0"/>
                <a:ea typeface="Segoe UI Semibold" pitchFamily="34" charset="-122"/>
                <a:cs typeface="Segoe UI Semibold" pitchFamily="34" charset="-120"/>
              </a:rPr>
              <a:t>I'll be</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 really careful,' Luca promises.</a:t>
            </a:r>
            <a:endParaRPr lang="en-US" sz="1150" dirty="0"/>
          </a:p>
          <a:p>
            <a:pPr indent="0" marL="0">
              <a:buNone/>
            </a:pPr>
            <a:r>
              <a:rPr lang="en-US" sz="900" i="1" dirty="0">
                <a:solidFill>
                  <a:srgbClr val="5B6785"/>
                </a:solidFill>
                <a:latin typeface="Segoe UI Semibold" pitchFamily="34" charset="0"/>
                <a:ea typeface="Segoe UI Semibold" pitchFamily="34" charset="-122"/>
                <a:cs typeface="Segoe UI Semibold" pitchFamily="34" charset="-120"/>
              </a:rPr>
              <a:t>❓ Does Luca want help? · What does he promise?</a:t>
            </a:r>
            <a:endParaRPr lang="en-US" sz="1150" dirty="0"/>
          </a:p>
        </p:txBody>
      </p:sp>
      <p:sp>
        <p:nvSpPr>
          <p:cNvPr id="26" name="R5_sb533"/>
          <p:cNvSpPr/>
          <p:nvPr/>
        </p:nvSpPr>
        <p:spPr>
          <a:xfrm>
            <a:off x="3200400" y="3709416"/>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27" name="R5_sl534"/>
          <p:cNvSpPr/>
          <p:nvPr/>
        </p:nvSpPr>
        <p:spPr>
          <a:xfrm>
            <a:off x="3584448" y="3672840"/>
            <a:ext cx="5303520" cy="499872"/>
          </a:xfrm>
          <a:prstGeom prst="roundRect">
            <a:avLst>
              <a:gd name="adj" fmla="val 21951"/>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lstStyle/>
          <a:p>
            <a:pPr indent="0" marL="0">
              <a:buNone/>
            </a:pPr>
            <a:r>
              <a:rPr lang="en-US" sz="1150" dirty="0">
                <a:solidFill>
                  <a:srgbClr val="1B2559"/>
                </a:solidFill>
                <a:latin typeface="Segoe UI Semibold" pitchFamily="34" charset="0"/>
                <a:ea typeface="Segoe UI Semibold" pitchFamily="34" charset="-122"/>
                <a:cs typeface="Segoe UI Semibold" pitchFamily="34" charset="-120"/>
              </a:rPr>
              <a:t>But look – there's a dog on the stairs! Luca </a:t>
            </a:r>
            <a:pPr indent="0" marL="0">
              <a:buNone/>
            </a:pPr>
            <a:r>
              <a:rPr lang="en-US" sz="1150" b="1" dirty="0">
                <a:solidFill>
                  <a:srgbClr val="7B5CD6"/>
                </a:solidFill>
                <a:highlight>
                  <a:srgbClr val="FFF1A8"/>
                </a:highlight>
                <a:latin typeface="Segoe UI Semibold" pitchFamily="34" charset="0"/>
                <a:ea typeface="Segoe UI Semibold" pitchFamily="34" charset="-122"/>
                <a:cs typeface="Segoe UI Semibold" pitchFamily="34" charset="-120"/>
              </a:rPr>
              <a:t>is going to fall</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a:t>
            </a:r>
            <a:endParaRPr lang="en-US" sz="1150" dirty="0"/>
          </a:p>
          <a:p>
            <a:pPr indent="0" marL="0">
              <a:buNone/>
            </a:pPr>
            <a:r>
              <a:rPr lang="en-US" sz="900" i="1" dirty="0">
                <a:solidFill>
                  <a:srgbClr val="5B6785"/>
                </a:solidFill>
                <a:latin typeface="Segoe UI Semibold" pitchFamily="34" charset="0"/>
                <a:ea typeface="Segoe UI Semibold" pitchFamily="34" charset="-122"/>
                <a:cs typeface="Segoe UI Semibold" pitchFamily="34" charset="-120"/>
              </a:rPr>
              <a:t>❓ Is it a dog or a cat? · What's going to happen?</a:t>
            </a:r>
            <a:endParaRPr lang="en-US" sz="1150" dirty="0"/>
          </a:p>
        </p:txBody>
      </p:sp>
      <p:sp>
        <p:nvSpPr>
          <p:cNvPr id="28" name="R6_sb535"/>
          <p:cNvSpPr/>
          <p:nvPr/>
        </p:nvSpPr>
        <p:spPr>
          <a:xfrm>
            <a:off x="3200400" y="4273296"/>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6</a:t>
            </a:r>
            <a:endParaRPr lang="en-US" sz="1000" dirty="0"/>
          </a:p>
        </p:txBody>
      </p:sp>
      <p:sp>
        <p:nvSpPr>
          <p:cNvPr id="29" name="R6_sl536"/>
          <p:cNvSpPr/>
          <p:nvPr/>
        </p:nvSpPr>
        <p:spPr>
          <a:xfrm>
            <a:off x="3584448" y="4236720"/>
            <a:ext cx="5303520" cy="499872"/>
          </a:xfrm>
          <a:prstGeom prst="roundRect">
            <a:avLst>
              <a:gd name="adj" fmla="val 21951"/>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lstStyle/>
          <a:p>
            <a:pPr indent="0" marL="0">
              <a:buNone/>
            </a:pPr>
            <a:r>
              <a:rPr lang="en-US" sz="1150" dirty="0">
                <a:solidFill>
                  <a:srgbClr val="1B2559"/>
                </a:solidFill>
                <a:latin typeface="Segoe UI Semibold" pitchFamily="34" charset="0"/>
                <a:ea typeface="Segoe UI Semibold" pitchFamily="34" charset="-122"/>
                <a:cs typeface="Segoe UI Semibold" pitchFamily="34" charset="-120"/>
              </a:rPr>
              <a:t>Crash! Giada laughs: 'Don't worry. </a:t>
            </a:r>
            <a:pPr indent="0" marL="0">
              <a:buNone/>
            </a:pPr>
            <a:r>
              <a:rPr lang="en-US" sz="1150" b="1" dirty="0">
                <a:solidFill>
                  <a:srgbClr val="7B5CD6"/>
                </a:solidFill>
                <a:highlight>
                  <a:srgbClr val="FFF1A8"/>
                </a:highlight>
                <a:latin typeface="Segoe UI Semibold" pitchFamily="34" charset="0"/>
                <a:ea typeface="Segoe UI Semibold" pitchFamily="34" charset="-122"/>
                <a:cs typeface="Segoe UI Semibold" pitchFamily="34" charset="-120"/>
              </a:rPr>
              <a:t>We'll eat</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 arancine instead!'</a:t>
            </a:r>
            <a:endParaRPr lang="en-US" sz="1150" dirty="0"/>
          </a:p>
          <a:p>
            <a:pPr indent="0" marL="0">
              <a:buNone/>
            </a:pPr>
            <a:r>
              <a:rPr lang="en-US" sz="900" i="1" dirty="0">
                <a:solidFill>
                  <a:srgbClr val="5B6785"/>
                </a:solidFill>
                <a:latin typeface="Segoe UI Semibold" pitchFamily="34" charset="0"/>
                <a:ea typeface="Segoe UI Semibold" pitchFamily="34" charset="-122"/>
                <a:cs typeface="Segoe UI Semibold" pitchFamily="34" charset="-120"/>
              </a:rPr>
              <a:t>❓ Is Giada angry? · And you – what are you going to do this weekend?</a:t>
            </a:r>
            <a:endParaRPr lang="en-US" sz="11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400"/>
                                        <p:tgtEl>
                                          <p:spTgt spid="22"/>
                                        </p:tgtEl>
                                      </p:cBhvr>
                                    </p:animEffect>
                                  </p:childTnLst>
                                </p:cTn>
                              </p:par>
                              <p:par>
                                <p:cTn id="24" presetID="10" presetClass="entr" presetSubtype="0" fill="hold" nodeType="with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400"/>
                                        <p:tgtEl>
                                          <p:spTgt spid="2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400"/>
                                        <p:tgtEl>
                                          <p:spTgt spid="24"/>
                                        </p:tgtEl>
                                      </p:cBhvr>
                                    </p:animEffect>
                                  </p:childTnLst>
                                </p:cTn>
                              </p:par>
                              <p:par>
                                <p:cTn id="32" presetID="10" presetClass="entr" presetSubtype="0" fill="hold" nodeType="withEffect">
                                  <p:stCondLst>
                                    <p:cond delay="0"/>
                                  </p:stCondLst>
                                  <p:childTnLst>
                                    <p:set>
                                      <p:cBhvr>
                                        <p:cTn id="33" dur="1" fill="hold">
                                          <p:stCondLst>
                                            <p:cond delay="0"/>
                                          </p:stCondLst>
                                        </p:cTn>
                                        <p:tgtEl>
                                          <p:spTgt spid="25"/>
                                        </p:tgtEl>
                                        <p:attrNameLst>
                                          <p:attrName>style.visibility</p:attrName>
                                        </p:attrNameLst>
                                      </p:cBhvr>
                                      <p:to>
                                        <p:strVal val="visible"/>
                                      </p:to>
                                    </p:set>
                                    <p:animEffect transition="in" filter="fade">
                                      <p:cBhvr>
                                        <p:cTn id="34" dur="400"/>
                                        <p:tgtEl>
                                          <p:spTgt spid="25"/>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6"/>
                                        </p:tgtEl>
                                        <p:attrNameLst>
                                          <p:attrName>style.visibility</p:attrName>
                                        </p:attrNameLst>
                                      </p:cBhvr>
                                      <p:to>
                                        <p:strVal val="visible"/>
                                      </p:to>
                                    </p:set>
                                    <p:animEffect transition="in" filter="fade">
                                      <p:cBhvr>
                                        <p:cTn id="39" dur="400"/>
                                        <p:tgtEl>
                                          <p:spTgt spid="26"/>
                                        </p:tgtEl>
                                      </p:cBhvr>
                                    </p:animEffect>
                                  </p:childTnLst>
                                </p:cTn>
                              </p:par>
                              <p:par>
                                <p:cTn id="40" presetID="10" presetClass="entr" presetSubtype="0" fill="hold" nodeType="withEffect">
                                  <p:stCondLst>
                                    <p:cond delay="0"/>
                                  </p:stCondLst>
                                  <p:childTnLst>
                                    <p:set>
                                      <p:cBhvr>
                                        <p:cTn id="41" dur="1" fill="hold">
                                          <p:stCondLst>
                                            <p:cond delay="0"/>
                                          </p:stCondLst>
                                        </p:cTn>
                                        <p:tgtEl>
                                          <p:spTgt spid="27"/>
                                        </p:tgtEl>
                                        <p:attrNameLst>
                                          <p:attrName>style.visibility</p:attrName>
                                        </p:attrNameLst>
                                      </p:cBhvr>
                                      <p:to>
                                        <p:strVal val="visible"/>
                                      </p:to>
                                    </p:set>
                                    <p:animEffect transition="in" filter="fade">
                                      <p:cBhvr>
                                        <p:cTn id="42" dur="400"/>
                                        <p:tgtEl>
                                          <p:spTgt spid="27"/>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8"/>
                                        </p:tgtEl>
                                        <p:attrNameLst>
                                          <p:attrName>style.visibility</p:attrName>
                                        </p:attrNameLst>
                                      </p:cBhvr>
                                      <p:to>
                                        <p:strVal val="visible"/>
                                      </p:to>
                                    </p:set>
                                    <p:animEffect transition="in" filter="fade">
                                      <p:cBhvr>
                                        <p:cTn id="47" dur="400"/>
                                        <p:tgtEl>
                                          <p:spTgt spid="28"/>
                                        </p:tgtEl>
                                      </p:cBhvr>
                                    </p:animEffect>
                                  </p:childTnLst>
                                </p:cTn>
                              </p:par>
                              <p:par>
                                <p:cTn id="48" presetID="10" presetClass="entr" presetSubtype="0" fill="hold" nodeType="withEffect">
                                  <p:stCondLst>
                                    <p:cond delay="0"/>
                                  </p:stCondLst>
                                  <p:childTnLst>
                                    <p:set>
                                      <p:cBhvr>
                                        <p:cTn id="49" dur="1" fill="hold">
                                          <p:stCondLst>
                                            <p:cond delay="0"/>
                                          </p:stCondLst>
                                        </p:cTn>
                                        <p:tgtEl>
                                          <p:spTgt spid="29"/>
                                        </p:tgtEl>
                                        <p:attrNameLst>
                                          <p:attrName>style.visibility</p:attrName>
                                        </p:attrNameLst>
                                      </p:cBhvr>
                                      <p:to>
                                        <p:strVal val="visible"/>
                                      </p:to>
                                    </p:set>
                                    <p:animEffect transition="in" filter="fade">
                                      <p:cBhvr>
                                        <p:cTn id="50"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537"/>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18</a:t>
            </a:r>
            <a:endParaRPr lang="en-US" sz="2200" dirty="0"/>
          </a:p>
        </p:txBody>
      </p:sp>
      <p:pic>
        <p:nvPicPr>
          <p:cNvPr id="4" name="brY_538" descr="/home/claude/lls-course/v2/assets/brush-yellow.png">    </p:cNvPr>
          <p:cNvPicPr>
            <a:picLocks noChangeAspect="1"/>
          </p:cNvPicPr>
          <p:nvPr/>
        </p:nvPicPr>
        <p:blipFill>
          <a:blip r:embed="rId2"/>
          <a:stretch>
            <a:fillRect/>
          </a:stretch>
        </p:blipFill>
        <p:spPr>
          <a:xfrm>
            <a:off x="1097280" y="146304"/>
            <a:ext cx="2933395" cy="621792"/>
          </a:xfrm>
          <a:prstGeom prst="rect">
            <a:avLst/>
          </a:prstGeom>
        </p:spPr>
      </p:pic>
      <p:sp>
        <p:nvSpPr>
          <p:cNvPr id="5" name="title_539"/>
          <p:cNvSpPr/>
          <p:nvPr/>
        </p:nvSpPr>
        <p:spPr>
          <a:xfrm>
            <a:off x="1261872" y="164592"/>
            <a:ext cx="2659075"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Quick! Say it!</a:t>
            </a:r>
            <a:endParaRPr lang="en-US" sz="2500" dirty="0"/>
          </a:p>
        </p:txBody>
      </p:sp>
      <p:pic>
        <p:nvPicPr>
          <p:cNvPr id="6" name="brP_540" descr="/home/claude/lls-course/v2/assets/brush-pink.png">    </p:cNvPr>
          <p:cNvPicPr>
            <a:picLocks noChangeAspect="1"/>
          </p:cNvPicPr>
          <p:nvPr/>
        </p:nvPicPr>
        <p:blipFill>
          <a:blip r:embed="rId3"/>
          <a:stretch>
            <a:fillRect/>
          </a:stretch>
        </p:blipFill>
        <p:spPr>
          <a:xfrm>
            <a:off x="1207008" y="731520"/>
            <a:ext cx="3685032" cy="402336"/>
          </a:xfrm>
          <a:prstGeom prst="rect">
            <a:avLst/>
          </a:prstGeom>
        </p:spPr>
      </p:pic>
      <p:sp>
        <p:nvSpPr>
          <p:cNvPr id="7" name="ins_541"/>
          <p:cNvSpPr/>
          <p:nvPr/>
        </p:nvSpPr>
        <p:spPr>
          <a:xfrm>
            <a:off x="1353312" y="731520"/>
            <a:ext cx="342900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Read the situation. Say the reply!</a:t>
            </a:r>
            <a:endParaRPr lang="en-US" sz="1250" dirty="0"/>
          </a:p>
        </p:txBody>
      </p:sp>
      <p:sp>
        <p:nvSpPr>
          <p:cNvPr id="8" name="insIT_542"/>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Leggi la situazione. Di' la risposta!</a:t>
            </a:r>
            <a:endParaRPr lang="en-US" sz="950" dirty="0"/>
          </a:p>
        </p:txBody>
      </p:sp>
      <p:sp>
        <p:nvSpPr>
          <p:cNvPr id="9" name="note_543"/>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PLAY</a:t>
            </a:r>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 GIOCA</a:t>
            </a:r>
            <a:endParaRPr lang="en-US" sz="12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4 min   🏆 teams</a:t>
            </a:r>
            <a:endParaRPr lang="en-US" sz="12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Grammar · Communicative game</a:t>
            </a:r>
            <a:endParaRPr lang="en-US" sz="1250" dirty="0"/>
          </a:p>
        </p:txBody>
      </p:sp>
      <p:pic>
        <p:nvPicPr>
          <p:cNvPr id="10" name="logo_544"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545"/>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1B-1 · Grammar game</a:t>
            </a:r>
            <a:endParaRPr lang="en-US" sz="800" dirty="0"/>
          </a:p>
        </p:txBody>
      </p:sp>
      <p:sp>
        <p:nvSpPr>
          <p:cNvPr id="12" name="cd_546"/>
          <p:cNvSpPr/>
          <p:nvPr/>
        </p:nvSpPr>
        <p:spPr>
          <a:xfrm>
            <a:off x="320040" y="1417320"/>
            <a:ext cx="2697480" cy="2231136"/>
          </a:xfrm>
          <a:prstGeom prst="roundRect">
            <a:avLst>
              <a:gd name="adj" fmla="val 5738"/>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3" name="ii_547"/>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4" name="ih_548"/>
          <p:cNvSpPr/>
          <p:nvPr/>
        </p:nvSpPr>
        <p:spPr>
          <a:xfrm>
            <a:off x="886968" y="1508760"/>
            <a:ext cx="205740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How to play</a:t>
            </a:r>
            <a:endParaRPr lang="en-US" sz="1400" dirty="0"/>
          </a:p>
        </p:txBody>
      </p:sp>
      <p:sp>
        <p:nvSpPr>
          <p:cNvPr id="15" name="il_549"/>
          <p:cNvSpPr/>
          <p:nvPr/>
        </p:nvSpPr>
        <p:spPr>
          <a:xfrm>
            <a:off x="886968" y="1911096"/>
            <a:ext cx="2039112" cy="1664208"/>
          </a:xfrm>
          <a:prstGeom prst="rect">
            <a:avLst/>
          </a:prstGeom>
          <a:noFill/>
          <a:ln/>
        </p:spPr>
        <p:txBody>
          <a:bodyPr wrap="square" lIns="0" tIns="0" rIns="0" bIns="0" rtlCol="0" anchor="t">
            <a:normAutofit/>
          </a:bodyPr>
          <a:lstStyle/>
          <a:p>
            <a:pPr marL="152400" indent="-152400">
              <a:spcAft>
                <a:spcPts val="200"/>
              </a:spcAft>
              <a:buSzPct val="100000"/>
              <a:buChar char="•"/>
            </a:pPr>
            <a:r>
              <a:rPr lang="en-US" sz="1200" dirty="0">
                <a:solidFill>
                  <a:srgbClr val="1B2559"/>
                </a:solidFill>
                <a:latin typeface="Segoe UI Semibold" pitchFamily="34" charset="0"/>
                <a:ea typeface="Segoe UI Semibold" pitchFamily="34" charset="-122"/>
                <a:cs typeface="Segoe UI Semibold" pitchFamily="34" charset="-120"/>
              </a:rPr>
              <a:t>Teams: say the reply in 10 seconds.</a:t>
            </a:r>
            <a:endParaRPr lang="en-US" sz="1200" dirty="0"/>
          </a:p>
          <a:p>
            <a:pPr marL="152400" indent="-152400">
              <a:spcAft>
                <a:spcPts val="200"/>
              </a:spcAft>
              <a:buSzPct val="100000"/>
              <a:buChar char=" "/>
            </a:pPr>
            <a:r>
              <a:rPr lang="en-US" sz="1200" dirty="0">
                <a:solidFill>
                  <a:srgbClr val="5B6785"/>
                </a:solidFill>
                <a:latin typeface="Segoe UI Semibold" pitchFamily="34" charset="0"/>
                <a:ea typeface="Segoe UI Semibold" pitchFamily="34" charset="-122"/>
                <a:cs typeface="Segoe UI Semibold" pitchFamily="34" charset="-120"/>
              </a:rPr>
              <a:t>Squadre: dite la risposta in 10 secondi.</a:t>
            </a:r>
            <a:endParaRPr lang="en-US" sz="1200" dirty="0"/>
          </a:p>
          <a:p>
            <a:pPr marL="152400" indent="-152400">
              <a:spcBef>
                <a:spcPts val="600"/>
              </a:spcBef>
              <a:spcAft>
                <a:spcPts val="200"/>
              </a:spcAft>
              <a:buSzPct val="100000"/>
              <a:buChar char="•"/>
            </a:pPr>
            <a:r>
              <a:rPr lang="en-US" sz="1200" dirty="0">
                <a:solidFill>
                  <a:srgbClr val="1B2559"/>
                </a:solidFill>
                <a:latin typeface="Segoe UI Semibold" pitchFamily="34" charset="0"/>
                <a:ea typeface="Segoe UI Semibold" pitchFamily="34" charset="-122"/>
                <a:cs typeface="Segoe UI Semibold" pitchFamily="34" charset="-120"/>
              </a:rPr>
              <a:t>Right future form = 1 point.</a:t>
            </a:r>
            <a:endParaRPr lang="en-US" sz="1200" dirty="0"/>
          </a:p>
          <a:p>
            <a:pPr marL="152400" indent="-152400">
              <a:spcAft>
                <a:spcPts val="200"/>
              </a:spcAft>
              <a:buSzPct val="100000"/>
              <a:buChar char=" "/>
            </a:pPr>
            <a:r>
              <a:rPr lang="en-US" sz="1200" dirty="0">
                <a:solidFill>
                  <a:srgbClr val="5B6785"/>
                </a:solidFill>
                <a:latin typeface="Segoe UI Semibold" pitchFamily="34" charset="0"/>
                <a:ea typeface="Segoe UI Semibold" pitchFamily="34" charset="-122"/>
                <a:cs typeface="Segoe UI Semibold" pitchFamily="34" charset="-120"/>
              </a:rPr>
              <a:t>Forma giusta = 1 punto.</a:t>
            </a:r>
            <a:endParaRPr lang="en-US" sz="1200" dirty="0"/>
          </a:p>
        </p:txBody>
      </p:sp>
      <p:sp>
        <p:nvSpPr>
          <p:cNvPr id="16" name="st_550"/>
          <p:cNvSpPr/>
          <p:nvPr/>
        </p:nvSpPr>
        <p:spPr>
          <a:xfrm rot="-180000">
            <a:off x="502920" y="3831336"/>
            <a:ext cx="2286000" cy="777240"/>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TEAM A  ☆☆☆☆☆</a:t>
            </a:r>
            <a:endParaRPr lang="en-US" sz="1250" dirty="0"/>
          </a:p>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TEAM B  ☆☆☆☆☆</a:t>
            </a:r>
            <a:endParaRPr lang="en-US" sz="1250" dirty="0"/>
          </a:p>
        </p:txBody>
      </p:sp>
      <p:sp>
        <p:nvSpPr>
          <p:cNvPr id="17" name="bd_551"/>
          <p:cNvSpPr/>
          <p:nvPr/>
        </p:nvSpPr>
        <p:spPr>
          <a:xfrm>
            <a:off x="3246120" y="1491234"/>
            <a:ext cx="329184" cy="329184"/>
          </a:xfrm>
          <a:prstGeom prst="ellipse">
            <a:avLst/>
          </a:prstGeom>
          <a:solidFill>
            <a:srgbClr val="7B5CD6"/>
          </a:solidFill>
          <a:ln w="28575">
            <a:solidFill>
              <a:srgbClr val="CDBFF3"/>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500" dirty="0">
                <a:solidFill>
                  <a:srgbClr val="FFFFFF"/>
                </a:solidFill>
                <a:latin typeface="Arial Rounded MT Bold" pitchFamily="34" charset="0"/>
                <a:ea typeface="Arial Rounded MT Bold" pitchFamily="34" charset="-122"/>
                <a:cs typeface="Arial Rounded MT Bold" pitchFamily="34" charset="-120"/>
              </a:rPr>
              <a:t>e.g.</a:t>
            </a:r>
            <a:endParaRPr lang="en-US" sz="500" dirty="0"/>
          </a:p>
        </p:txBody>
      </p:sp>
      <p:sp>
        <p:nvSpPr>
          <p:cNvPr id="18" name="gq_552"/>
          <p:cNvSpPr/>
          <p:nvPr/>
        </p:nvSpPr>
        <p:spPr>
          <a:xfrm>
            <a:off x="3657600" y="1417320"/>
            <a:ext cx="2514600" cy="477012"/>
          </a:xfrm>
          <a:prstGeom prst="roundRect">
            <a:avLst>
              <a:gd name="adj" fmla="val 19169"/>
            </a:avLst>
          </a:prstGeom>
          <a:solidFill>
            <a:srgbClr val="EEE8FB"/>
          </a:solidFill>
          <a:ln w="28575">
            <a:solidFill>
              <a:srgbClr val="CDBFF3"/>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"It's really hot in here."</a:t>
            </a:r>
            <a:endParaRPr lang="en-US" sz="1250" dirty="0"/>
          </a:p>
        </p:txBody>
      </p:sp>
      <p:sp>
        <p:nvSpPr>
          <p:cNvPr id="19" name="chip_553"/>
          <p:cNvSpPr/>
          <p:nvPr/>
        </p:nvSpPr>
        <p:spPr>
          <a:xfrm>
            <a:off x="6263640" y="1417320"/>
            <a:ext cx="2560320" cy="477012"/>
          </a:xfrm>
          <a:prstGeom prst="roundRect">
            <a:avLst>
              <a:gd name="adj" fmla="val 19169"/>
            </a:avLst>
          </a:prstGeom>
          <a:solidFill>
            <a:srgbClr val="EEE8FB"/>
          </a:solidFill>
          <a:ln w="28575">
            <a:solidFill>
              <a:srgbClr val="CDBFF3"/>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Shall I open the window? (offer)</a:t>
            </a:r>
            <a:endParaRPr lang="en-US" sz="1200" dirty="0"/>
          </a:p>
        </p:txBody>
      </p:sp>
      <p:sp>
        <p:nvSpPr>
          <p:cNvPr id="20" name="bd_554"/>
          <p:cNvSpPr/>
          <p:nvPr/>
        </p:nvSpPr>
        <p:spPr>
          <a:xfrm>
            <a:off x="3246120" y="2032254"/>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1" name="gq_555"/>
          <p:cNvSpPr/>
          <p:nvPr/>
        </p:nvSpPr>
        <p:spPr>
          <a:xfrm>
            <a:off x="3657600" y="1958340"/>
            <a:ext cx="2514600" cy="477012"/>
          </a:xfrm>
          <a:prstGeom prst="roundRect">
            <a:avLst>
              <a:gd name="adj" fmla="val 19169"/>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"Look at those black clouds!"</a:t>
            </a:r>
            <a:endParaRPr lang="en-US" sz="1250" dirty="0"/>
          </a:p>
        </p:txBody>
      </p:sp>
      <p:sp>
        <p:nvSpPr>
          <p:cNvPr id="22" name="R1_chip556"/>
          <p:cNvSpPr/>
          <p:nvPr/>
        </p:nvSpPr>
        <p:spPr>
          <a:xfrm>
            <a:off x="6263640" y="1958340"/>
            <a:ext cx="2560320" cy="477012"/>
          </a:xfrm>
          <a:prstGeom prst="roundRect">
            <a:avLst>
              <a:gd name="adj" fmla="val 19169"/>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It's going to rain. (prediction)</a:t>
            </a:r>
            <a:endParaRPr lang="en-US" sz="1200" dirty="0"/>
          </a:p>
        </p:txBody>
      </p:sp>
      <p:sp>
        <p:nvSpPr>
          <p:cNvPr id="23" name="bd_557"/>
          <p:cNvSpPr/>
          <p:nvPr/>
        </p:nvSpPr>
        <p:spPr>
          <a:xfrm>
            <a:off x="3246120" y="2573274"/>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4" name="gq_558"/>
          <p:cNvSpPr/>
          <p:nvPr/>
        </p:nvSpPr>
        <p:spPr>
          <a:xfrm>
            <a:off x="3657600" y="2499360"/>
            <a:ext cx="2514600" cy="477012"/>
          </a:xfrm>
          <a:prstGeom prst="roundRect">
            <a:avLst>
              <a:gd name="adj" fmla="val 19169"/>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"Don't tell anyone my secret!"</a:t>
            </a:r>
            <a:endParaRPr lang="en-US" sz="1250" dirty="0"/>
          </a:p>
        </p:txBody>
      </p:sp>
      <p:sp>
        <p:nvSpPr>
          <p:cNvPr id="25" name="R2_chip559"/>
          <p:cNvSpPr/>
          <p:nvPr/>
        </p:nvSpPr>
        <p:spPr>
          <a:xfrm>
            <a:off x="6263640" y="2499360"/>
            <a:ext cx="2560320" cy="477012"/>
          </a:xfrm>
          <a:prstGeom prst="roundRect">
            <a:avLst>
              <a:gd name="adj" fmla="val 19169"/>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I won't tell anybody, I promise.</a:t>
            </a:r>
            <a:endParaRPr lang="en-US" sz="1200" dirty="0"/>
          </a:p>
        </p:txBody>
      </p:sp>
      <p:sp>
        <p:nvSpPr>
          <p:cNvPr id="26" name="bd_560"/>
          <p:cNvSpPr/>
          <p:nvPr/>
        </p:nvSpPr>
        <p:spPr>
          <a:xfrm>
            <a:off x="3246120" y="3114294"/>
            <a:ext cx="329184" cy="329184"/>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7" name="gq_561"/>
          <p:cNvSpPr/>
          <p:nvPr/>
        </p:nvSpPr>
        <p:spPr>
          <a:xfrm>
            <a:off x="3657600" y="3040380"/>
            <a:ext cx="2514600" cy="477012"/>
          </a:xfrm>
          <a:prstGeom prst="roundRect">
            <a:avLst>
              <a:gd name="adj" fmla="val 19169"/>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Waiter: "Pizza or pasta?"</a:t>
            </a:r>
            <a:endParaRPr lang="en-US" sz="1250" dirty="0"/>
          </a:p>
        </p:txBody>
      </p:sp>
      <p:sp>
        <p:nvSpPr>
          <p:cNvPr id="28" name="R3_chip562"/>
          <p:cNvSpPr/>
          <p:nvPr/>
        </p:nvSpPr>
        <p:spPr>
          <a:xfrm>
            <a:off x="6263640" y="3040380"/>
            <a:ext cx="2560320" cy="477012"/>
          </a:xfrm>
          <a:prstGeom prst="roundRect">
            <a:avLst>
              <a:gd name="adj" fmla="val 19169"/>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I'll have the pizza, please.</a:t>
            </a:r>
            <a:endParaRPr lang="en-US" sz="1200" dirty="0"/>
          </a:p>
        </p:txBody>
      </p:sp>
      <p:sp>
        <p:nvSpPr>
          <p:cNvPr id="29" name="bd_563"/>
          <p:cNvSpPr/>
          <p:nvPr/>
        </p:nvSpPr>
        <p:spPr>
          <a:xfrm>
            <a:off x="3246120" y="3655314"/>
            <a:ext cx="329184" cy="329184"/>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30" name="gq_564"/>
          <p:cNvSpPr/>
          <p:nvPr/>
        </p:nvSpPr>
        <p:spPr>
          <a:xfrm>
            <a:off x="3657600" y="3581400"/>
            <a:ext cx="2514600" cy="477012"/>
          </a:xfrm>
          <a:prstGeom prst="roundRect">
            <a:avLst>
              <a:gd name="adj" fmla="val 19169"/>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"Free on Saturday?" (dinner with cousins – booked)</a:t>
            </a:r>
            <a:endParaRPr lang="en-US" sz="1200" dirty="0"/>
          </a:p>
        </p:txBody>
      </p:sp>
      <p:sp>
        <p:nvSpPr>
          <p:cNvPr id="31" name="R4_chip565"/>
          <p:cNvSpPr/>
          <p:nvPr/>
        </p:nvSpPr>
        <p:spPr>
          <a:xfrm>
            <a:off x="6263640" y="3581400"/>
            <a:ext cx="2560320" cy="477012"/>
          </a:xfrm>
          <a:prstGeom prst="roundRect">
            <a:avLst>
              <a:gd name="adj" fmla="val 19169"/>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No, I'm having dinner with my cousins.</a:t>
            </a:r>
            <a:endParaRPr lang="en-US" sz="1200" dirty="0"/>
          </a:p>
        </p:txBody>
      </p:sp>
      <p:sp>
        <p:nvSpPr>
          <p:cNvPr id="32" name="bd_566"/>
          <p:cNvSpPr/>
          <p:nvPr/>
        </p:nvSpPr>
        <p:spPr>
          <a:xfrm>
            <a:off x="3246120" y="4196334"/>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33" name="gq_567"/>
          <p:cNvSpPr/>
          <p:nvPr/>
        </p:nvSpPr>
        <p:spPr>
          <a:xfrm>
            <a:off x="3657600" y="4122420"/>
            <a:ext cx="2514600" cy="477012"/>
          </a:xfrm>
          <a:prstGeom prst="roundRect">
            <a:avLst>
              <a:gd name="adj" fmla="val 19169"/>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Your mum's bags are really heavy.</a:t>
            </a:r>
            <a:endParaRPr lang="en-US" sz="1250" dirty="0"/>
          </a:p>
        </p:txBody>
      </p:sp>
      <p:sp>
        <p:nvSpPr>
          <p:cNvPr id="34" name="R5_chip568"/>
          <p:cNvSpPr/>
          <p:nvPr/>
        </p:nvSpPr>
        <p:spPr>
          <a:xfrm>
            <a:off x="6263640" y="4122420"/>
            <a:ext cx="2560320" cy="477012"/>
          </a:xfrm>
          <a:prstGeom prst="roundRect">
            <a:avLst>
              <a:gd name="adj" fmla="val 19169"/>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I'll carry them for you!</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4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4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569"/>
          <p:cNvSpPr/>
          <p:nvPr/>
        </p:nvSpPr>
        <p:spPr>
          <a:xfrm>
            <a:off x="201168" y="164592"/>
            <a:ext cx="841248" cy="841248"/>
          </a:xfrm>
          <a:prstGeom prst="ellipse">
            <a:avLst/>
          </a:prstGeom>
          <a:solidFill>
            <a:srgbClr val="7B5CD6"/>
          </a:solidFill>
          <a:ln w="28575">
            <a:solidFill>
              <a:srgbClr val="CDBFF3"/>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19</a:t>
            </a:r>
            <a:endParaRPr lang="en-US" sz="2200" dirty="0"/>
          </a:p>
        </p:txBody>
      </p:sp>
      <p:pic>
        <p:nvPicPr>
          <p:cNvPr id="4" name="brY_570" descr="/home/claude/lls-course/v2/assets/brush-yellow.png">    </p:cNvPr>
          <p:cNvPicPr>
            <a:picLocks noChangeAspect="1"/>
          </p:cNvPicPr>
          <p:nvPr/>
        </p:nvPicPr>
        <p:blipFill>
          <a:blip r:embed="rId2"/>
          <a:stretch>
            <a:fillRect/>
          </a:stretch>
        </p:blipFill>
        <p:spPr>
          <a:xfrm>
            <a:off x="1097280" y="146304"/>
            <a:ext cx="3562502" cy="621792"/>
          </a:xfrm>
          <a:prstGeom prst="rect">
            <a:avLst/>
          </a:prstGeom>
        </p:spPr>
      </p:pic>
      <p:sp>
        <p:nvSpPr>
          <p:cNvPr id="5" name="title_571"/>
          <p:cNvSpPr/>
          <p:nvPr/>
        </p:nvSpPr>
        <p:spPr>
          <a:xfrm>
            <a:off x="1261872" y="164592"/>
            <a:ext cx="328818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Hear the BIG words</a:t>
            </a:r>
            <a:endParaRPr lang="en-US" sz="2500" dirty="0"/>
          </a:p>
        </p:txBody>
      </p:sp>
      <p:pic>
        <p:nvPicPr>
          <p:cNvPr id="6" name="brP_572" descr="/home/claude/lls-course/v2/assets/brush-pink.png">    </p:cNvPr>
          <p:cNvPicPr>
            <a:picLocks noChangeAspect="1"/>
          </p:cNvPicPr>
          <p:nvPr/>
        </p:nvPicPr>
        <p:blipFill>
          <a:blip r:embed="rId3"/>
          <a:stretch>
            <a:fillRect/>
          </a:stretch>
        </p:blipFill>
        <p:spPr>
          <a:xfrm>
            <a:off x="1207008" y="731520"/>
            <a:ext cx="3598164" cy="402336"/>
          </a:xfrm>
          <a:prstGeom prst="rect">
            <a:avLst/>
          </a:prstGeom>
        </p:spPr>
      </p:pic>
      <p:sp>
        <p:nvSpPr>
          <p:cNvPr id="7" name="ins_573"/>
          <p:cNvSpPr/>
          <p:nvPr/>
        </p:nvSpPr>
        <p:spPr>
          <a:xfrm>
            <a:off x="1353312" y="731520"/>
            <a:ext cx="3342132"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Listen. Write only the BIG words.</a:t>
            </a:r>
            <a:endParaRPr lang="en-US" sz="1250" dirty="0"/>
          </a:p>
        </p:txBody>
      </p:sp>
      <p:sp>
        <p:nvSpPr>
          <p:cNvPr id="8" name="insIT_574"/>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Ascolta. Scrivi solo le parole forti.</a:t>
            </a:r>
            <a:endParaRPr lang="en-US" sz="950" dirty="0"/>
          </a:p>
        </p:txBody>
      </p:sp>
      <p:sp>
        <p:nvSpPr>
          <p:cNvPr id="9" name="note_575"/>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LISTEN</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SAY IT</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3 min   👥 pairs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Pronunciation · Drilling</a:t>
            </a:r>
            <a:endParaRPr lang="en-US" sz="1150" dirty="0"/>
          </a:p>
        </p:txBody>
      </p:sp>
      <p:pic>
        <p:nvPicPr>
          <p:cNvPr id="10" name="logo_576"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577"/>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1B-1 · Pronunciation · sentence stress   ·   📖 SB p.11 · 3b, 3c, 3d · audio 1.21</a:t>
            </a:r>
            <a:endParaRPr lang="en-US" sz="800" dirty="0"/>
          </a:p>
        </p:txBody>
      </p:sp>
      <p:sp>
        <p:nvSpPr>
          <p:cNvPr id="12" name="ap_578"/>
          <p:cNvSpPr/>
          <p:nvPr/>
        </p:nvSpPr>
        <p:spPr>
          <a:xfrm>
            <a:off x="365760" y="1417320"/>
            <a:ext cx="2331720" cy="402336"/>
          </a:xfrm>
          <a:prstGeom prst="roundRect">
            <a:avLst>
              <a:gd name="adj" fmla="val 50000"/>
            </a:avLst>
          </a:prstGeom>
          <a:solidFill>
            <a:srgbClr val="E3F1FD"/>
          </a:solidFill>
          <a:ln w="28575">
            <a:solidFill>
              <a:srgbClr val="A9D3F5"/>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1.21  ·  pause after each sentence</a:t>
            </a:r>
            <a:endParaRPr lang="en-US" sz="1100" dirty="0"/>
          </a:p>
        </p:txBody>
      </p:sp>
      <p:sp>
        <p:nvSpPr>
          <p:cNvPr id="13" name="ah_579"/>
          <p:cNvSpPr/>
          <p:nvPr/>
        </p:nvSpPr>
        <p:spPr>
          <a:xfrm>
            <a:off x="4636008" y="4572000"/>
            <a:ext cx="978408" cy="365760"/>
          </a:xfrm>
          <a:prstGeom prst="rect">
            <a:avLst/>
          </a:prstGeom>
          <a:noFill/>
          <a:ln/>
        </p:spPr>
        <p:txBody>
          <a:bodyPr wrap="square" lIns="0" tIns="0" rIns="0" bIns="0" rtlCol="0" anchor="ctr"/>
          <a:lstStyle/>
          <a:p>
            <a:pPr algn="r" indent="0" marL="0">
              <a:buNone/>
            </a:pPr>
            <a:r>
              <a:rPr lang="en-US" sz="1000" b="1" dirty="0">
                <a:solidFill>
                  <a:srgbClr val="2F8DE4"/>
                </a:solidFill>
                <a:latin typeface="Segoe UI Semibold" pitchFamily="34" charset="0"/>
                <a:ea typeface="Segoe UI Semibold" pitchFamily="34" charset="-122"/>
                <a:cs typeface="Segoe UI Semibold" pitchFamily="34" charset="-120"/>
              </a:rPr>
              <a:t>▶ normal</a:t>
            </a:r>
            <a:endParaRPr lang="en-US" sz="1000" dirty="0"/>
          </a:p>
        </p:txBody>
      </p:sp>
      <p:pic>
        <p:nvPicPr>
          <p:cNvPr id="14"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5687568" y="4553712"/>
            <a:ext cx="411480" cy="411480"/>
          </a:xfrm>
          <a:prstGeom prst="rect">
            <a:avLst/>
          </a:prstGeom>
        </p:spPr>
      </p:pic>
      <p:sp>
        <p:nvSpPr>
          <p:cNvPr id="15" name="ah_580"/>
          <p:cNvSpPr/>
          <p:nvPr/>
        </p:nvSpPr>
        <p:spPr>
          <a:xfrm>
            <a:off x="7470648" y="4572000"/>
            <a:ext cx="932688" cy="365760"/>
          </a:xfrm>
          <a:prstGeom prst="rect">
            <a:avLst/>
          </a:prstGeom>
          <a:noFill/>
          <a:ln/>
        </p:spPr>
        <p:txBody>
          <a:bodyPr wrap="square" lIns="0" tIns="0" rIns="0" bIns="0" rtlCol="0" anchor="ctr"/>
          <a:lstStyle/>
          <a:p>
            <a:pPr algn="r" indent="0" marL="0">
              <a:buNone/>
            </a:pPr>
            <a:r>
              <a:rPr lang="en-US" sz="1000" b="1" dirty="0">
                <a:solidFill>
                  <a:srgbClr val="2F8DE4"/>
                </a:solidFill>
                <a:latin typeface="Segoe UI Semibold" pitchFamily="34" charset="0"/>
                <a:ea typeface="Segoe UI Semibold" pitchFamily="34" charset="-122"/>
                <a:cs typeface="Segoe UI Semibold" pitchFamily="34" charset="-120"/>
              </a:rPr>
              <a:t>🐢 slower</a:t>
            </a:r>
            <a:endParaRPr lang="en-US" sz="1000" dirty="0"/>
          </a:p>
        </p:txBody>
      </p:sp>
      <p:pic>
        <p:nvPicPr>
          <p:cNvPr id="16"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476488" y="4553712"/>
            <a:ext cx="411480" cy="411480"/>
          </a:xfrm>
          <a:prstGeom prst="rect">
            <a:avLst/>
          </a:prstGeom>
        </p:spPr>
      </p:pic>
      <p:sp>
        <p:nvSpPr>
          <p:cNvPr id="17" name="cd_581"/>
          <p:cNvSpPr/>
          <p:nvPr/>
        </p:nvSpPr>
        <p:spPr>
          <a:xfrm>
            <a:off x="320040" y="2011680"/>
            <a:ext cx="2743200" cy="1463040"/>
          </a:xfrm>
          <a:prstGeom prst="roundRect">
            <a:avLst>
              <a:gd name="adj" fmla="val 8750"/>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8" name="ii_582"/>
          <p:cNvSpPr/>
          <p:nvPr/>
        </p:nvSpPr>
        <p:spPr>
          <a:xfrm>
            <a:off x="411480" y="208483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9" name="ih_583"/>
          <p:cNvSpPr/>
          <p:nvPr/>
        </p:nvSpPr>
        <p:spPr>
          <a:xfrm>
            <a:off x="886968" y="2103120"/>
            <a:ext cx="2103120" cy="365760"/>
          </a:xfrm>
          <a:prstGeom prst="rect">
            <a:avLst/>
          </a:prstGeom>
          <a:noFill/>
          <a:ln/>
        </p:spPr>
        <p:txBody>
          <a:bodyPr wrap="square" lIns="0" tIns="0" rIns="0" bIns="0" rtlCol="0" anchor="ctr"/>
          <a:lstStyle/>
          <a:p>
            <a:pP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Big words = STRESSED</a:t>
            </a:r>
            <a:endParaRPr lang="en-US" sz="1250" dirty="0"/>
          </a:p>
        </p:txBody>
      </p:sp>
      <p:sp>
        <p:nvSpPr>
          <p:cNvPr id="20" name="il_584"/>
          <p:cNvSpPr/>
          <p:nvPr/>
        </p:nvSpPr>
        <p:spPr>
          <a:xfrm>
            <a:off x="886968" y="2505456"/>
            <a:ext cx="2084832" cy="896112"/>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50" dirty="0">
                <a:solidFill>
                  <a:srgbClr val="1B2559"/>
                </a:solidFill>
                <a:latin typeface="Segoe UI Semibold" pitchFamily="34" charset="0"/>
                <a:ea typeface="Segoe UI Semibold" pitchFamily="34" charset="-122"/>
                <a:cs typeface="Segoe UI Semibold" pitchFamily="34" charset="-120"/>
              </a:rPr>
              <a:t>nouns, verbs, adjectives are strong</a:t>
            </a:r>
            <a:endParaRPr lang="en-US" sz="1050" dirty="0"/>
          </a:p>
          <a:p>
            <a:pPr marL="152400" indent="-152400">
              <a:spcBef>
                <a:spcPts val="600"/>
              </a:spcBef>
              <a:spcAft>
                <a:spcPts val="200"/>
              </a:spcAft>
              <a:buSzPct val="100000"/>
              <a:buChar char="•"/>
            </a:pPr>
            <a:r>
              <a:rPr lang="en-US" sz="1050" dirty="0">
                <a:solidFill>
                  <a:srgbClr val="1B2559"/>
                </a:solidFill>
                <a:latin typeface="Segoe UI Semibold" pitchFamily="34" charset="0"/>
                <a:ea typeface="Segoe UI Semibold" pitchFamily="34" charset="-122"/>
                <a:cs typeface="Segoe UI Semibold" pitchFamily="34" charset="-120"/>
              </a:rPr>
              <a:t>to, a, the, of are weak and fast</a:t>
            </a:r>
            <a:endParaRPr lang="en-US" sz="1050" dirty="0"/>
          </a:p>
        </p:txBody>
      </p:sp>
      <p:sp>
        <p:nvSpPr>
          <p:cNvPr id="21" name="pf_585"/>
          <p:cNvSpPr/>
          <p:nvPr/>
        </p:nvSpPr>
        <p:spPr>
          <a:xfrm rot="-120000">
            <a:off x="1485749" y="3611880"/>
            <a:ext cx="411783" cy="1143000"/>
          </a:xfrm>
          <a:prstGeom prst="roundRect">
            <a:avLst>
              <a:gd name="adj" fmla="val 3775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2" name="ph_586" descr="/home/claude/lls-course/v2/cache/sb_pregnant_jpg_77x253_31.png">    </p:cNvPr>
          <p:cNvPicPr>
            <a:picLocks noChangeAspect="1"/>
          </p:cNvPicPr>
          <p:nvPr/>
        </p:nvPicPr>
        <p:blipFill>
          <a:blip r:embed="rId11"/>
          <a:stretch>
            <a:fillRect/>
          </a:stretch>
        </p:blipFill>
        <p:spPr>
          <a:xfrm rot="-120000">
            <a:off x="1531469" y="3657600"/>
            <a:ext cx="320343" cy="1051560"/>
          </a:xfrm>
          <a:prstGeom prst="rect">
            <a:avLst/>
          </a:prstGeom>
        </p:spPr>
      </p:pic>
      <p:sp>
        <p:nvSpPr>
          <p:cNvPr id="23" name="bd_587"/>
          <p:cNvSpPr/>
          <p:nvPr/>
        </p:nvSpPr>
        <p:spPr>
          <a:xfrm>
            <a:off x="3291840" y="1444752"/>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4" name="R1_sw588"/>
          <p:cNvSpPr/>
          <p:nvPr/>
        </p:nvSpPr>
        <p:spPr>
          <a:xfrm>
            <a:off x="3749040" y="1417320"/>
            <a:ext cx="960120" cy="365760"/>
          </a:xfrm>
          <a:prstGeom prst="roundRect">
            <a:avLst>
              <a:gd name="adj" fmla="val 25000"/>
            </a:avLst>
          </a:prstGeom>
          <a:solidFill>
            <a:srgbClr val="FFE3EE"/>
          </a:solidFill>
          <a:ln w="28575">
            <a:solidFill>
              <a:srgbClr val="F7A6C4"/>
            </a:solidFill>
          </a:ln>
        </p:spPr>
        <p:txBody>
          <a:bodyPr wrap="square" lIns="0" tIns="0" rIns="0" bIns="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sister's</a:t>
            </a:r>
            <a:endParaRPr lang="en-US" sz="1150" dirty="0"/>
          </a:p>
        </p:txBody>
      </p:sp>
      <p:sp>
        <p:nvSpPr>
          <p:cNvPr id="25" name="R1_sw589"/>
          <p:cNvSpPr/>
          <p:nvPr/>
        </p:nvSpPr>
        <p:spPr>
          <a:xfrm>
            <a:off x="4773168" y="1417320"/>
            <a:ext cx="960120" cy="365760"/>
          </a:xfrm>
          <a:prstGeom prst="roundRect">
            <a:avLst>
              <a:gd name="adj" fmla="val 25000"/>
            </a:avLst>
          </a:prstGeom>
          <a:solidFill>
            <a:srgbClr val="FFE3EE"/>
          </a:solidFill>
          <a:ln w="28575">
            <a:solidFill>
              <a:srgbClr val="F7A6C4"/>
            </a:solidFill>
          </a:ln>
        </p:spPr>
        <p:txBody>
          <a:bodyPr wrap="square" lIns="0" tIns="0" rIns="0" bIns="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having</a:t>
            </a:r>
            <a:endParaRPr lang="en-US" sz="1150" dirty="0"/>
          </a:p>
        </p:txBody>
      </p:sp>
      <p:sp>
        <p:nvSpPr>
          <p:cNvPr id="26" name="R1_sw590"/>
          <p:cNvSpPr/>
          <p:nvPr/>
        </p:nvSpPr>
        <p:spPr>
          <a:xfrm>
            <a:off x="5797296" y="1417320"/>
            <a:ext cx="960120" cy="365760"/>
          </a:xfrm>
          <a:prstGeom prst="roundRect">
            <a:avLst>
              <a:gd name="adj" fmla="val 25000"/>
            </a:avLst>
          </a:prstGeom>
          <a:solidFill>
            <a:srgbClr val="FFE3EE"/>
          </a:solidFill>
          <a:ln w="28575">
            <a:solidFill>
              <a:srgbClr val="F7A6C4"/>
            </a:solidFill>
          </a:ln>
        </p:spPr>
        <p:txBody>
          <a:bodyPr wrap="square" lIns="0" tIns="0" rIns="0" bIns="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baby</a:t>
            </a:r>
            <a:endParaRPr lang="en-US" sz="1150" dirty="0"/>
          </a:p>
        </p:txBody>
      </p:sp>
      <p:sp>
        <p:nvSpPr>
          <p:cNvPr id="27" name="R1_sw591"/>
          <p:cNvSpPr/>
          <p:nvPr/>
        </p:nvSpPr>
        <p:spPr>
          <a:xfrm>
            <a:off x="6821424" y="1417320"/>
            <a:ext cx="960120" cy="365760"/>
          </a:xfrm>
          <a:prstGeom prst="roundRect">
            <a:avLst>
              <a:gd name="adj" fmla="val 25000"/>
            </a:avLst>
          </a:prstGeom>
          <a:solidFill>
            <a:srgbClr val="FFE3EE"/>
          </a:solidFill>
          <a:ln w="28575">
            <a:solidFill>
              <a:srgbClr val="F7A6C4"/>
            </a:solidFill>
          </a:ln>
        </p:spPr>
        <p:txBody>
          <a:bodyPr wrap="square" lIns="0" tIns="0" rIns="0" bIns="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April</a:t>
            </a:r>
            <a:endParaRPr lang="en-US" sz="1150" dirty="0"/>
          </a:p>
        </p:txBody>
      </p:sp>
      <p:sp>
        <p:nvSpPr>
          <p:cNvPr id="28" name="R2_sf592"/>
          <p:cNvSpPr/>
          <p:nvPr/>
        </p:nvSpPr>
        <p:spPr>
          <a:xfrm>
            <a:off x="3749040" y="1810512"/>
            <a:ext cx="5120640" cy="274320"/>
          </a:xfrm>
          <a:prstGeom prst="rect">
            <a:avLst/>
          </a:prstGeom>
          <a:noFill/>
          <a:ln/>
        </p:spPr>
        <p:txBody>
          <a:bodyPr wrap="square" lIns="0" tIns="0" rIns="0" bIns="0" rtlCol="0" anchor="ctr"/>
          <a:lstStyle/>
          <a:p>
            <a:pPr indent="0" marL="0">
              <a:buNone/>
            </a:pPr>
            <a:r>
              <a:rPr lang="en-US" sz="1100" i="1" dirty="0">
                <a:solidFill>
                  <a:srgbClr val="7B5CD6"/>
                </a:solidFill>
                <a:latin typeface="Segoe UI Semibold" pitchFamily="34" charset="0"/>
                <a:ea typeface="Segoe UI Semibold" pitchFamily="34" charset="-122"/>
                <a:cs typeface="Segoe UI Semibold" pitchFamily="34" charset="-120"/>
              </a:rPr>
              <a:t>My sister's having a baby in April.</a:t>
            </a:r>
            <a:endParaRPr lang="en-US" sz="1100" dirty="0"/>
          </a:p>
        </p:txBody>
      </p:sp>
      <p:sp>
        <p:nvSpPr>
          <p:cNvPr id="29" name="bd_593"/>
          <p:cNvSpPr/>
          <p:nvPr/>
        </p:nvSpPr>
        <p:spPr>
          <a:xfrm>
            <a:off x="3291840" y="2221992"/>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30" name="R3_sw594"/>
          <p:cNvSpPr/>
          <p:nvPr/>
        </p:nvSpPr>
        <p:spPr>
          <a:xfrm>
            <a:off x="3749040" y="2194560"/>
            <a:ext cx="960120" cy="365760"/>
          </a:xfrm>
          <a:prstGeom prst="roundRect">
            <a:avLst>
              <a:gd name="adj" fmla="val 25000"/>
            </a:avLst>
          </a:prstGeom>
          <a:solidFill>
            <a:srgbClr val="FFE3EE"/>
          </a:solidFill>
          <a:ln w="28575">
            <a:solidFill>
              <a:srgbClr val="F7A6C4"/>
            </a:solidFill>
          </a:ln>
        </p:spPr>
        <p:txBody>
          <a:bodyPr wrap="square" lIns="0" tIns="0" rIns="0" bIns="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anyone</a:t>
            </a:r>
            <a:endParaRPr lang="en-US" sz="1150" dirty="0"/>
          </a:p>
        </p:txBody>
      </p:sp>
      <p:sp>
        <p:nvSpPr>
          <p:cNvPr id="31" name="R3_sw595"/>
          <p:cNvSpPr/>
          <p:nvPr/>
        </p:nvSpPr>
        <p:spPr>
          <a:xfrm>
            <a:off x="4773168" y="2194560"/>
            <a:ext cx="960120" cy="365760"/>
          </a:xfrm>
          <a:prstGeom prst="roundRect">
            <a:avLst>
              <a:gd name="adj" fmla="val 25000"/>
            </a:avLst>
          </a:prstGeom>
          <a:solidFill>
            <a:srgbClr val="FFE3EE"/>
          </a:solidFill>
          <a:ln w="28575">
            <a:solidFill>
              <a:srgbClr val="F7A6C4"/>
            </a:solidFill>
          </a:ln>
        </p:spPr>
        <p:txBody>
          <a:bodyPr wrap="square" lIns="0" tIns="0" rIns="0" bIns="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family</a:t>
            </a:r>
            <a:endParaRPr lang="en-US" sz="1150" dirty="0"/>
          </a:p>
        </p:txBody>
      </p:sp>
      <p:sp>
        <p:nvSpPr>
          <p:cNvPr id="32" name="R3_sw596"/>
          <p:cNvSpPr/>
          <p:nvPr/>
        </p:nvSpPr>
        <p:spPr>
          <a:xfrm>
            <a:off x="5797296" y="2194560"/>
            <a:ext cx="960120" cy="365760"/>
          </a:xfrm>
          <a:prstGeom prst="roundRect">
            <a:avLst>
              <a:gd name="adj" fmla="val 25000"/>
            </a:avLst>
          </a:prstGeom>
          <a:solidFill>
            <a:srgbClr val="FFE3EE"/>
          </a:solidFill>
          <a:ln w="28575">
            <a:solidFill>
              <a:srgbClr val="F7A6C4"/>
            </a:solidFill>
          </a:ln>
        </p:spPr>
        <p:txBody>
          <a:bodyPr wrap="square" lIns="0" tIns="0" rIns="0" bIns="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moving</a:t>
            </a:r>
            <a:endParaRPr lang="en-US" sz="1150" dirty="0"/>
          </a:p>
        </p:txBody>
      </p:sp>
      <p:sp>
        <p:nvSpPr>
          <p:cNvPr id="33" name="R3_sw597"/>
          <p:cNvSpPr/>
          <p:nvPr/>
        </p:nvSpPr>
        <p:spPr>
          <a:xfrm>
            <a:off x="6821424" y="2194560"/>
            <a:ext cx="960120" cy="365760"/>
          </a:xfrm>
          <a:prstGeom prst="roundRect">
            <a:avLst>
              <a:gd name="adj" fmla="val 25000"/>
            </a:avLst>
          </a:prstGeom>
          <a:solidFill>
            <a:srgbClr val="FFE3EE"/>
          </a:solidFill>
          <a:ln w="28575">
            <a:solidFill>
              <a:srgbClr val="F7A6C4"/>
            </a:solidFill>
          </a:ln>
        </p:spPr>
        <p:txBody>
          <a:bodyPr wrap="square" lIns="0" tIns="0" rIns="0" bIns="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house</a:t>
            </a:r>
            <a:endParaRPr lang="en-US" sz="1150" dirty="0"/>
          </a:p>
        </p:txBody>
      </p:sp>
      <p:sp>
        <p:nvSpPr>
          <p:cNvPr id="34" name="R3_sw598"/>
          <p:cNvSpPr/>
          <p:nvPr/>
        </p:nvSpPr>
        <p:spPr>
          <a:xfrm>
            <a:off x="7845552" y="2194560"/>
            <a:ext cx="960120" cy="365760"/>
          </a:xfrm>
          <a:prstGeom prst="roundRect">
            <a:avLst>
              <a:gd name="adj" fmla="val 25000"/>
            </a:avLst>
          </a:prstGeom>
          <a:solidFill>
            <a:srgbClr val="FFE3EE"/>
          </a:solidFill>
          <a:ln w="28575">
            <a:solidFill>
              <a:srgbClr val="F7A6C4"/>
            </a:solidFill>
          </a:ln>
        </p:spPr>
        <p:txBody>
          <a:bodyPr wrap="square" lIns="0" tIns="0" rIns="0" bIns="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soon</a:t>
            </a:r>
            <a:endParaRPr lang="en-US" sz="1150" dirty="0"/>
          </a:p>
        </p:txBody>
      </p:sp>
      <p:sp>
        <p:nvSpPr>
          <p:cNvPr id="35" name="R4_sf599"/>
          <p:cNvSpPr/>
          <p:nvPr/>
        </p:nvSpPr>
        <p:spPr>
          <a:xfrm>
            <a:off x="3749040" y="2587752"/>
            <a:ext cx="5120640" cy="274320"/>
          </a:xfrm>
          <a:prstGeom prst="rect">
            <a:avLst/>
          </a:prstGeom>
          <a:noFill/>
          <a:ln/>
        </p:spPr>
        <p:txBody>
          <a:bodyPr wrap="square" lIns="0" tIns="0" rIns="0" bIns="0" rtlCol="0" anchor="ctr"/>
          <a:lstStyle/>
          <a:p>
            <a:pPr indent="0" marL="0">
              <a:buNone/>
            </a:pPr>
            <a:r>
              <a:rPr lang="en-US" sz="1100" i="1" dirty="0">
                <a:solidFill>
                  <a:srgbClr val="7B5CD6"/>
                </a:solidFill>
                <a:latin typeface="Segoe UI Semibold" pitchFamily="34" charset="0"/>
                <a:ea typeface="Segoe UI Semibold" pitchFamily="34" charset="-122"/>
                <a:cs typeface="Segoe UI Semibold" pitchFamily="34" charset="-120"/>
              </a:rPr>
              <a:t>Is anyone in your family moving house soon?</a:t>
            </a:r>
            <a:endParaRPr lang="en-US" sz="1100" dirty="0"/>
          </a:p>
        </p:txBody>
      </p:sp>
      <p:sp>
        <p:nvSpPr>
          <p:cNvPr id="36" name="bd_600"/>
          <p:cNvSpPr/>
          <p:nvPr/>
        </p:nvSpPr>
        <p:spPr>
          <a:xfrm>
            <a:off x="3291840" y="2999232"/>
            <a:ext cx="329184" cy="329184"/>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37" name="R5_sw601"/>
          <p:cNvSpPr/>
          <p:nvPr/>
        </p:nvSpPr>
        <p:spPr>
          <a:xfrm>
            <a:off x="3749040" y="2971800"/>
            <a:ext cx="960120" cy="365760"/>
          </a:xfrm>
          <a:prstGeom prst="roundRect">
            <a:avLst>
              <a:gd name="adj" fmla="val 25000"/>
            </a:avLst>
          </a:prstGeom>
          <a:solidFill>
            <a:srgbClr val="FFE3EE"/>
          </a:solidFill>
          <a:ln w="28575">
            <a:solidFill>
              <a:srgbClr val="F7A6C4"/>
            </a:solidFill>
          </a:ln>
        </p:spPr>
        <p:txBody>
          <a:bodyPr wrap="square" lIns="0" tIns="0" rIns="0" bIns="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see</a:t>
            </a:r>
            <a:endParaRPr lang="en-US" sz="1150" dirty="0"/>
          </a:p>
        </p:txBody>
      </p:sp>
      <p:sp>
        <p:nvSpPr>
          <p:cNvPr id="38" name="R5_sw602"/>
          <p:cNvSpPr/>
          <p:nvPr/>
        </p:nvSpPr>
        <p:spPr>
          <a:xfrm>
            <a:off x="4773168" y="2971800"/>
            <a:ext cx="960120" cy="365760"/>
          </a:xfrm>
          <a:prstGeom prst="roundRect">
            <a:avLst>
              <a:gd name="adj" fmla="val 25000"/>
            </a:avLst>
          </a:prstGeom>
          <a:solidFill>
            <a:srgbClr val="FFE3EE"/>
          </a:solidFill>
          <a:ln w="28575">
            <a:solidFill>
              <a:srgbClr val="F7A6C4"/>
            </a:solidFill>
          </a:ln>
        </p:spPr>
        <p:txBody>
          <a:bodyPr wrap="square" lIns="0" tIns="0" rIns="0" bIns="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parents</a:t>
            </a:r>
            <a:endParaRPr lang="en-US" sz="1150" dirty="0"/>
          </a:p>
        </p:txBody>
      </p:sp>
      <p:sp>
        <p:nvSpPr>
          <p:cNvPr id="39" name="R5_sw603"/>
          <p:cNvSpPr/>
          <p:nvPr/>
        </p:nvSpPr>
        <p:spPr>
          <a:xfrm>
            <a:off x="5797296" y="2971800"/>
            <a:ext cx="960120" cy="365760"/>
          </a:xfrm>
          <a:prstGeom prst="roundRect">
            <a:avLst>
              <a:gd name="adj" fmla="val 25000"/>
            </a:avLst>
          </a:prstGeom>
          <a:solidFill>
            <a:srgbClr val="FFE3EE"/>
          </a:solidFill>
          <a:ln w="28575">
            <a:solidFill>
              <a:srgbClr val="F7A6C4"/>
            </a:solidFill>
          </a:ln>
        </p:spPr>
        <p:txBody>
          <a:bodyPr wrap="square" lIns="0" tIns="0" rIns="0" bIns="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weekend</a:t>
            </a:r>
            <a:endParaRPr lang="en-US" sz="1150" dirty="0"/>
          </a:p>
        </p:txBody>
      </p:sp>
      <p:sp>
        <p:nvSpPr>
          <p:cNvPr id="40" name="R6_sf604"/>
          <p:cNvSpPr/>
          <p:nvPr/>
        </p:nvSpPr>
        <p:spPr>
          <a:xfrm>
            <a:off x="3749040" y="3364992"/>
            <a:ext cx="5120640" cy="274320"/>
          </a:xfrm>
          <a:prstGeom prst="rect">
            <a:avLst/>
          </a:prstGeom>
          <a:noFill/>
          <a:ln/>
        </p:spPr>
        <p:txBody>
          <a:bodyPr wrap="square" lIns="0" tIns="0" rIns="0" bIns="0" rtlCol="0" anchor="ctr"/>
          <a:lstStyle/>
          <a:p>
            <a:pPr indent="0" marL="0">
              <a:buNone/>
            </a:pPr>
            <a:r>
              <a:rPr lang="en-US" sz="1100" i="1" dirty="0">
                <a:solidFill>
                  <a:srgbClr val="7B5CD6"/>
                </a:solidFill>
                <a:latin typeface="Segoe UI Semibold" pitchFamily="34" charset="0"/>
                <a:ea typeface="Segoe UI Semibold" pitchFamily="34" charset="-122"/>
                <a:cs typeface="Segoe UI Semibold" pitchFamily="34" charset="-120"/>
              </a:rPr>
              <a:t>Are you going to see your parents at the weekend?</a:t>
            </a:r>
            <a:endParaRPr lang="en-US" sz="1100" dirty="0"/>
          </a:p>
        </p:txBody>
      </p:sp>
      <p:sp>
        <p:nvSpPr>
          <p:cNvPr id="41" name="bd_605"/>
          <p:cNvSpPr/>
          <p:nvPr/>
        </p:nvSpPr>
        <p:spPr>
          <a:xfrm>
            <a:off x="3291840" y="3776472"/>
            <a:ext cx="329184" cy="329184"/>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42" name="R7_sw606"/>
          <p:cNvSpPr/>
          <p:nvPr/>
        </p:nvSpPr>
        <p:spPr>
          <a:xfrm>
            <a:off x="3749040" y="3749040"/>
            <a:ext cx="960120" cy="365760"/>
          </a:xfrm>
          <a:prstGeom prst="roundRect">
            <a:avLst>
              <a:gd name="adj" fmla="val 25000"/>
            </a:avLst>
          </a:prstGeom>
          <a:solidFill>
            <a:srgbClr val="FFE3EE"/>
          </a:solidFill>
          <a:ln w="28575">
            <a:solidFill>
              <a:srgbClr val="F7A6C4"/>
            </a:solidFill>
          </a:ln>
        </p:spPr>
        <p:txBody>
          <a:bodyPr wrap="square" lIns="0" tIns="0" rIns="0" bIns="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think</a:t>
            </a:r>
            <a:endParaRPr lang="en-US" sz="1150" dirty="0"/>
          </a:p>
        </p:txBody>
      </p:sp>
      <p:sp>
        <p:nvSpPr>
          <p:cNvPr id="43" name="R7_sw607"/>
          <p:cNvSpPr/>
          <p:nvPr/>
        </p:nvSpPr>
        <p:spPr>
          <a:xfrm>
            <a:off x="4773168" y="3749040"/>
            <a:ext cx="960120" cy="365760"/>
          </a:xfrm>
          <a:prstGeom prst="roundRect">
            <a:avLst>
              <a:gd name="adj" fmla="val 25000"/>
            </a:avLst>
          </a:prstGeom>
          <a:solidFill>
            <a:srgbClr val="FFE3EE"/>
          </a:solidFill>
          <a:ln w="28575">
            <a:solidFill>
              <a:srgbClr val="F7A6C4"/>
            </a:solidFill>
          </a:ln>
        </p:spPr>
        <p:txBody>
          <a:bodyPr wrap="square" lIns="0" tIns="0" rIns="0" bIns="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live</a:t>
            </a:r>
            <a:endParaRPr lang="en-US" sz="1150" dirty="0"/>
          </a:p>
        </p:txBody>
      </p:sp>
      <p:sp>
        <p:nvSpPr>
          <p:cNvPr id="44" name="R7_sw608"/>
          <p:cNvSpPr/>
          <p:nvPr/>
        </p:nvSpPr>
        <p:spPr>
          <a:xfrm>
            <a:off x="5797296" y="3749040"/>
            <a:ext cx="960120" cy="365760"/>
          </a:xfrm>
          <a:prstGeom prst="roundRect">
            <a:avLst>
              <a:gd name="adj" fmla="val 25000"/>
            </a:avLst>
          </a:prstGeom>
          <a:solidFill>
            <a:srgbClr val="FFE3EE"/>
          </a:solidFill>
          <a:ln w="28575">
            <a:solidFill>
              <a:srgbClr val="F7A6C4"/>
            </a:solidFill>
          </a:ln>
        </p:spPr>
        <p:txBody>
          <a:bodyPr wrap="square" lIns="0" tIns="0" rIns="0" bIns="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home</a:t>
            </a:r>
            <a:endParaRPr lang="en-US" sz="1150" dirty="0"/>
          </a:p>
        </p:txBody>
      </p:sp>
      <p:sp>
        <p:nvSpPr>
          <p:cNvPr id="45" name="R7_sw609"/>
          <p:cNvSpPr/>
          <p:nvPr/>
        </p:nvSpPr>
        <p:spPr>
          <a:xfrm>
            <a:off x="6821424" y="3749040"/>
            <a:ext cx="960120" cy="365760"/>
          </a:xfrm>
          <a:prstGeom prst="roundRect">
            <a:avLst>
              <a:gd name="adj" fmla="val 25000"/>
            </a:avLst>
          </a:prstGeom>
          <a:solidFill>
            <a:srgbClr val="FFE3EE"/>
          </a:solidFill>
          <a:ln w="28575">
            <a:solidFill>
              <a:srgbClr val="F7A6C4"/>
            </a:solidFill>
          </a:ln>
        </p:spPr>
        <p:txBody>
          <a:bodyPr wrap="square" lIns="0" tIns="0" rIns="0" bIns="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next</a:t>
            </a:r>
            <a:endParaRPr lang="en-US" sz="1150" dirty="0"/>
          </a:p>
        </p:txBody>
      </p:sp>
      <p:sp>
        <p:nvSpPr>
          <p:cNvPr id="46" name="R7_sw610"/>
          <p:cNvSpPr/>
          <p:nvPr/>
        </p:nvSpPr>
        <p:spPr>
          <a:xfrm>
            <a:off x="7845552" y="3749040"/>
            <a:ext cx="960120" cy="365760"/>
          </a:xfrm>
          <a:prstGeom prst="roundRect">
            <a:avLst>
              <a:gd name="adj" fmla="val 25000"/>
            </a:avLst>
          </a:prstGeom>
          <a:solidFill>
            <a:srgbClr val="FFE3EE"/>
          </a:solidFill>
          <a:ln w="28575">
            <a:solidFill>
              <a:srgbClr val="F7A6C4"/>
            </a:solidFill>
          </a:ln>
        </p:spPr>
        <p:txBody>
          <a:bodyPr wrap="square" lIns="0" tIns="0" rIns="0" bIns="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year</a:t>
            </a:r>
            <a:endParaRPr lang="en-US" sz="1150" dirty="0"/>
          </a:p>
        </p:txBody>
      </p:sp>
      <p:sp>
        <p:nvSpPr>
          <p:cNvPr id="47" name="R8_sf611"/>
          <p:cNvSpPr/>
          <p:nvPr/>
        </p:nvSpPr>
        <p:spPr>
          <a:xfrm>
            <a:off x="3749040" y="4142232"/>
            <a:ext cx="5120640" cy="274320"/>
          </a:xfrm>
          <a:prstGeom prst="rect">
            <a:avLst/>
          </a:prstGeom>
          <a:noFill/>
          <a:ln/>
        </p:spPr>
        <p:txBody>
          <a:bodyPr wrap="square" lIns="0" tIns="0" rIns="0" bIns="0" rtlCol="0" anchor="ctr"/>
          <a:lstStyle/>
          <a:p>
            <a:pPr indent="0" marL="0">
              <a:buNone/>
            </a:pPr>
            <a:r>
              <a:rPr lang="en-US" sz="1100" i="1" dirty="0">
                <a:solidFill>
                  <a:srgbClr val="7B5CD6"/>
                </a:solidFill>
                <a:latin typeface="Segoe UI Semibold" pitchFamily="34" charset="0"/>
                <a:ea typeface="Segoe UI Semibold" pitchFamily="34" charset="-122"/>
                <a:cs typeface="Segoe UI Semibold" pitchFamily="34" charset="-120"/>
              </a:rPr>
              <a:t>Do you think you'll live at home next year?</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400"/>
                                        <p:tgtEl>
                                          <p:spTgt spid="24"/>
                                        </p:tgtEl>
                                      </p:cBhvr>
                                    </p:animEffect>
                                  </p:childTnLst>
                                </p:cTn>
                              </p:par>
                              <p:par>
                                <p:cTn id="8" presetID="10" presetClass="entr" presetSubtype="0" fill="hold"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fade">
                                      <p:cBhvr>
                                        <p:cTn id="10" dur="400"/>
                                        <p:tgtEl>
                                          <p:spTgt spid="25"/>
                                        </p:tgtEl>
                                      </p:cBhvr>
                                    </p:animEffect>
                                  </p:childTnLst>
                                </p:cTn>
                              </p:par>
                              <p:par>
                                <p:cTn id="11" presetID="10" presetClass="entr" presetSubtype="0" fill="hold" nodeType="with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fade">
                                      <p:cBhvr>
                                        <p:cTn id="13" dur="400"/>
                                        <p:tgtEl>
                                          <p:spTgt spid="26"/>
                                        </p:tgtEl>
                                      </p:cBhvr>
                                    </p:animEffect>
                                  </p:childTnLst>
                                </p:cTn>
                              </p:par>
                              <p:par>
                                <p:cTn id="14" presetID="10" presetClass="entr" presetSubtype="0" fill="hold" nodeType="withEffect">
                                  <p:stCondLst>
                                    <p:cond delay="0"/>
                                  </p:stCondLst>
                                  <p:childTnLst>
                                    <p:set>
                                      <p:cBhvr>
                                        <p:cTn id="15" dur="1" fill="hold">
                                          <p:stCondLst>
                                            <p:cond delay="0"/>
                                          </p:stCondLst>
                                        </p:cTn>
                                        <p:tgtEl>
                                          <p:spTgt spid="27"/>
                                        </p:tgtEl>
                                        <p:attrNameLst>
                                          <p:attrName>style.visibility</p:attrName>
                                        </p:attrNameLst>
                                      </p:cBhvr>
                                      <p:to>
                                        <p:strVal val="visible"/>
                                      </p:to>
                                    </p:set>
                                    <p:animEffect transition="in" filter="fade">
                                      <p:cBhvr>
                                        <p:cTn id="16" dur="400"/>
                                        <p:tgtEl>
                                          <p:spTgt spid="2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8"/>
                                        </p:tgtEl>
                                        <p:attrNameLst>
                                          <p:attrName>style.visibility</p:attrName>
                                        </p:attrNameLst>
                                      </p:cBhvr>
                                      <p:to>
                                        <p:strVal val="visible"/>
                                      </p:to>
                                    </p:set>
                                    <p:animEffect transition="in" filter="fade">
                                      <p:cBhvr>
                                        <p:cTn id="21" dur="400"/>
                                        <p:tgtEl>
                                          <p:spTgt spid="28"/>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0"/>
                                        </p:tgtEl>
                                        <p:attrNameLst>
                                          <p:attrName>style.visibility</p:attrName>
                                        </p:attrNameLst>
                                      </p:cBhvr>
                                      <p:to>
                                        <p:strVal val="visible"/>
                                      </p:to>
                                    </p:set>
                                    <p:animEffect transition="in" filter="fade">
                                      <p:cBhvr>
                                        <p:cTn id="26" dur="400"/>
                                        <p:tgtEl>
                                          <p:spTgt spid="30"/>
                                        </p:tgtEl>
                                      </p:cBhvr>
                                    </p:animEffect>
                                  </p:childTnLst>
                                </p:cTn>
                              </p:par>
                              <p:par>
                                <p:cTn id="27" presetID="10" presetClass="entr" presetSubtype="0" fill="hold" nodeType="with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400"/>
                                        <p:tgtEl>
                                          <p:spTgt spid="31"/>
                                        </p:tgtEl>
                                      </p:cBhvr>
                                    </p:animEffect>
                                  </p:childTnLst>
                                </p:cTn>
                              </p:par>
                              <p:par>
                                <p:cTn id="30" presetID="10" presetClass="entr" presetSubtype="0" fill="hold" nodeType="withEffect">
                                  <p:stCondLst>
                                    <p:cond delay="0"/>
                                  </p:stCondLst>
                                  <p:childTnLst>
                                    <p:set>
                                      <p:cBhvr>
                                        <p:cTn id="31" dur="1" fill="hold">
                                          <p:stCondLst>
                                            <p:cond delay="0"/>
                                          </p:stCondLst>
                                        </p:cTn>
                                        <p:tgtEl>
                                          <p:spTgt spid="32"/>
                                        </p:tgtEl>
                                        <p:attrNameLst>
                                          <p:attrName>style.visibility</p:attrName>
                                        </p:attrNameLst>
                                      </p:cBhvr>
                                      <p:to>
                                        <p:strVal val="visible"/>
                                      </p:to>
                                    </p:set>
                                    <p:animEffect transition="in" filter="fade">
                                      <p:cBhvr>
                                        <p:cTn id="32" dur="400"/>
                                        <p:tgtEl>
                                          <p:spTgt spid="32"/>
                                        </p:tgtEl>
                                      </p:cBhvr>
                                    </p:animEffect>
                                  </p:childTnLst>
                                </p:cTn>
                              </p:par>
                              <p:par>
                                <p:cTn id="33" presetID="10" presetClass="entr" presetSubtype="0" fill="hold" nodeType="withEffect">
                                  <p:stCondLst>
                                    <p:cond delay="0"/>
                                  </p:stCondLst>
                                  <p:childTnLst>
                                    <p:set>
                                      <p:cBhvr>
                                        <p:cTn id="34" dur="1" fill="hold">
                                          <p:stCondLst>
                                            <p:cond delay="0"/>
                                          </p:stCondLst>
                                        </p:cTn>
                                        <p:tgtEl>
                                          <p:spTgt spid="33"/>
                                        </p:tgtEl>
                                        <p:attrNameLst>
                                          <p:attrName>style.visibility</p:attrName>
                                        </p:attrNameLst>
                                      </p:cBhvr>
                                      <p:to>
                                        <p:strVal val="visible"/>
                                      </p:to>
                                    </p:set>
                                    <p:animEffect transition="in" filter="fade">
                                      <p:cBhvr>
                                        <p:cTn id="35" dur="400"/>
                                        <p:tgtEl>
                                          <p:spTgt spid="33"/>
                                        </p:tgtEl>
                                      </p:cBhvr>
                                    </p:animEffect>
                                  </p:childTnLst>
                                </p:cTn>
                              </p:par>
                              <p:par>
                                <p:cTn id="36" presetID="10" presetClass="entr" presetSubtype="0" fill="hold" nodeType="withEffect">
                                  <p:stCondLst>
                                    <p:cond delay="0"/>
                                  </p:stCondLst>
                                  <p:childTnLst>
                                    <p:set>
                                      <p:cBhvr>
                                        <p:cTn id="37" dur="1" fill="hold">
                                          <p:stCondLst>
                                            <p:cond delay="0"/>
                                          </p:stCondLst>
                                        </p:cTn>
                                        <p:tgtEl>
                                          <p:spTgt spid="34"/>
                                        </p:tgtEl>
                                        <p:attrNameLst>
                                          <p:attrName>style.visibility</p:attrName>
                                        </p:attrNameLst>
                                      </p:cBhvr>
                                      <p:to>
                                        <p:strVal val="visible"/>
                                      </p:to>
                                    </p:set>
                                    <p:animEffect transition="in" filter="fade">
                                      <p:cBhvr>
                                        <p:cTn id="38" dur="400"/>
                                        <p:tgtEl>
                                          <p:spTgt spid="34"/>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35"/>
                                        </p:tgtEl>
                                        <p:attrNameLst>
                                          <p:attrName>style.visibility</p:attrName>
                                        </p:attrNameLst>
                                      </p:cBhvr>
                                      <p:to>
                                        <p:strVal val="visible"/>
                                      </p:to>
                                    </p:set>
                                    <p:animEffect transition="in" filter="fade">
                                      <p:cBhvr>
                                        <p:cTn id="43" dur="400"/>
                                        <p:tgtEl>
                                          <p:spTgt spid="35"/>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37"/>
                                        </p:tgtEl>
                                        <p:attrNameLst>
                                          <p:attrName>style.visibility</p:attrName>
                                        </p:attrNameLst>
                                      </p:cBhvr>
                                      <p:to>
                                        <p:strVal val="visible"/>
                                      </p:to>
                                    </p:set>
                                    <p:animEffect transition="in" filter="fade">
                                      <p:cBhvr>
                                        <p:cTn id="48" dur="400"/>
                                        <p:tgtEl>
                                          <p:spTgt spid="37"/>
                                        </p:tgtEl>
                                      </p:cBhvr>
                                    </p:animEffect>
                                  </p:childTnLst>
                                </p:cTn>
                              </p:par>
                              <p:par>
                                <p:cTn id="49" presetID="10" presetClass="entr" presetSubtype="0" fill="hold" nodeType="withEffect">
                                  <p:stCondLst>
                                    <p:cond delay="0"/>
                                  </p:stCondLst>
                                  <p:childTnLst>
                                    <p:set>
                                      <p:cBhvr>
                                        <p:cTn id="50" dur="1" fill="hold">
                                          <p:stCondLst>
                                            <p:cond delay="0"/>
                                          </p:stCondLst>
                                        </p:cTn>
                                        <p:tgtEl>
                                          <p:spTgt spid="38"/>
                                        </p:tgtEl>
                                        <p:attrNameLst>
                                          <p:attrName>style.visibility</p:attrName>
                                        </p:attrNameLst>
                                      </p:cBhvr>
                                      <p:to>
                                        <p:strVal val="visible"/>
                                      </p:to>
                                    </p:set>
                                    <p:animEffect transition="in" filter="fade">
                                      <p:cBhvr>
                                        <p:cTn id="51" dur="400"/>
                                        <p:tgtEl>
                                          <p:spTgt spid="38"/>
                                        </p:tgtEl>
                                      </p:cBhvr>
                                    </p:animEffect>
                                  </p:childTnLst>
                                </p:cTn>
                              </p:par>
                              <p:par>
                                <p:cTn id="52" presetID="10" presetClass="entr" presetSubtype="0" fill="hold" nodeType="withEffect">
                                  <p:stCondLst>
                                    <p:cond delay="0"/>
                                  </p:stCondLst>
                                  <p:childTnLst>
                                    <p:set>
                                      <p:cBhvr>
                                        <p:cTn id="53" dur="1" fill="hold">
                                          <p:stCondLst>
                                            <p:cond delay="0"/>
                                          </p:stCondLst>
                                        </p:cTn>
                                        <p:tgtEl>
                                          <p:spTgt spid="39"/>
                                        </p:tgtEl>
                                        <p:attrNameLst>
                                          <p:attrName>style.visibility</p:attrName>
                                        </p:attrNameLst>
                                      </p:cBhvr>
                                      <p:to>
                                        <p:strVal val="visible"/>
                                      </p:to>
                                    </p:set>
                                    <p:animEffect transition="in" filter="fade">
                                      <p:cBhvr>
                                        <p:cTn id="54" dur="400"/>
                                        <p:tgtEl>
                                          <p:spTgt spid="39"/>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40"/>
                                        </p:tgtEl>
                                        <p:attrNameLst>
                                          <p:attrName>style.visibility</p:attrName>
                                        </p:attrNameLst>
                                      </p:cBhvr>
                                      <p:to>
                                        <p:strVal val="visible"/>
                                      </p:to>
                                    </p:set>
                                    <p:animEffect transition="in" filter="fade">
                                      <p:cBhvr>
                                        <p:cTn id="59" dur="400"/>
                                        <p:tgtEl>
                                          <p:spTgt spid="40"/>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42"/>
                                        </p:tgtEl>
                                        <p:attrNameLst>
                                          <p:attrName>style.visibility</p:attrName>
                                        </p:attrNameLst>
                                      </p:cBhvr>
                                      <p:to>
                                        <p:strVal val="visible"/>
                                      </p:to>
                                    </p:set>
                                    <p:animEffect transition="in" filter="fade">
                                      <p:cBhvr>
                                        <p:cTn id="64" dur="400"/>
                                        <p:tgtEl>
                                          <p:spTgt spid="42"/>
                                        </p:tgtEl>
                                      </p:cBhvr>
                                    </p:animEffect>
                                  </p:childTnLst>
                                </p:cTn>
                              </p:par>
                              <p:par>
                                <p:cTn id="65" presetID="10" presetClass="entr" presetSubtype="0" fill="hold" nodeType="withEffect">
                                  <p:stCondLst>
                                    <p:cond delay="0"/>
                                  </p:stCondLst>
                                  <p:childTnLst>
                                    <p:set>
                                      <p:cBhvr>
                                        <p:cTn id="66" dur="1" fill="hold">
                                          <p:stCondLst>
                                            <p:cond delay="0"/>
                                          </p:stCondLst>
                                        </p:cTn>
                                        <p:tgtEl>
                                          <p:spTgt spid="43"/>
                                        </p:tgtEl>
                                        <p:attrNameLst>
                                          <p:attrName>style.visibility</p:attrName>
                                        </p:attrNameLst>
                                      </p:cBhvr>
                                      <p:to>
                                        <p:strVal val="visible"/>
                                      </p:to>
                                    </p:set>
                                    <p:animEffect transition="in" filter="fade">
                                      <p:cBhvr>
                                        <p:cTn id="67" dur="400"/>
                                        <p:tgtEl>
                                          <p:spTgt spid="43"/>
                                        </p:tgtEl>
                                      </p:cBhvr>
                                    </p:animEffect>
                                  </p:childTnLst>
                                </p:cTn>
                              </p:par>
                              <p:par>
                                <p:cTn id="68" presetID="10" presetClass="entr" presetSubtype="0" fill="hold" nodeType="withEffect">
                                  <p:stCondLst>
                                    <p:cond delay="0"/>
                                  </p:stCondLst>
                                  <p:childTnLst>
                                    <p:set>
                                      <p:cBhvr>
                                        <p:cTn id="69" dur="1" fill="hold">
                                          <p:stCondLst>
                                            <p:cond delay="0"/>
                                          </p:stCondLst>
                                        </p:cTn>
                                        <p:tgtEl>
                                          <p:spTgt spid="44"/>
                                        </p:tgtEl>
                                        <p:attrNameLst>
                                          <p:attrName>style.visibility</p:attrName>
                                        </p:attrNameLst>
                                      </p:cBhvr>
                                      <p:to>
                                        <p:strVal val="visible"/>
                                      </p:to>
                                    </p:set>
                                    <p:animEffect transition="in" filter="fade">
                                      <p:cBhvr>
                                        <p:cTn id="70" dur="400"/>
                                        <p:tgtEl>
                                          <p:spTgt spid="44"/>
                                        </p:tgtEl>
                                      </p:cBhvr>
                                    </p:animEffect>
                                  </p:childTnLst>
                                </p:cTn>
                              </p:par>
                              <p:par>
                                <p:cTn id="71" presetID="10" presetClass="entr" presetSubtype="0" fill="hold" nodeType="withEffect">
                                  <p:stCondLst>
                                    <p:cond delay="0"/>
                                  </p:stCondLst>
                                  <p:childTnLst>
                                    <p:set>
                                      <p:cBhvr>
                                        <p:cTn id="72" dur="1" fill="hold">
                                          <p:stCondLst>
                                            <p:cond delay="0"/>
                                          </p:stCondLst>
                                        </p:cTn>
                                        <p:tgtEl>
                                          <p:spTgt spid="45"/>
                                        </p:tgtEl>
                                        <p:attrNameLst>
                                          <p:attrName>style.visibility</p:attrName>
                                        </p:attrNameLst>
                                      </p:cBhvr>
                                      <p:to>
                                        <p:strVal val="visible"/>
                                      </p:to>
                                    </p:set>
                                    <p:animEffect transition="in" filter="fade">
                                      <p:cBhvr>
                                        <p:cTn id="73" dur="400"/>
                                        <p:tgtEl>
                                          <p:spTgt spid="45"/>
                                        </p:tgtEl>
                                      </p:cBhvr>
                                    </p:animEffect>
                                  </p:childTnLst>
                                </p:cTn>
                              </p:par>
                              <p:par>
                                <p:cTn id="74" presetID="10" presetClass="entr" presetSubtype="0" fill="hold" nodeType="withEffect">
                                  <p:stCondLst>
                                    <p:cond delay="0"/>
                                  </p:stCondLst>
                                  <p:childTnLst>
                                    <p:set>
                                      <p:cBhvr>
                                        <p:cTn id="75" dur="1" fill="hold">
                                          <p:stCondLst>
                                            <p:cond delay="0"/>
                                          </p:stCondLst>
                                        </p:cTn>
                                        <p:tgtEl>
                                          <p:spTgt spid="46"/>
                                        </p:tgtEl>
                                        <p:attrNameLst>
                                          <p:attrName>style.visibility</p:attrName>
                                        </p:attrNameLst>
                                      </p:cBhvr>
                                      <p:to>
                                        <p:strVal val="visible"/>
                                      </p:to>
                                    </p:set>
                                    <p:animEffect transition="in" filter="fade">
                                      <p:cBhvr>
                                        <p:cTn id="76" dur="400"/>
                                        <p:tgtEl>
                                          <p:spTgt spid="46"/>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nodeType="clickEffect">
                                  <p:stCondLst>
                                    <p:cond delay="0"/>
                                  </p:stCondLst>
                                  <p:childTnLst>
                                    <p:set>
                                      <p:cBhvr>
                                        <p:cTn id="80" dur="1" fill="hold">
                                          <p:stCondLst>
                                            <p:cond delay="0"/>
                                          </p:stCondLst>
                                        </p:cTn>
                                        <p:tgtEl>
                                          <p:spTgt spid="47"/>
                                        </p:tgtEl>
                                        <p:attrNameLst>
                                          <p:attrName>style.visibility</p:attrName>
                                        </p:attrNameLst>
                                      </p:cBhvr>
                                      <p:to>
                                        <p:strVal val="visible"/>
                                      </p:to>
                                    </p:set>
                                    <p:animEffect transition="in" filter="fade">
                                      <p:cBhvr>
                                        <p:cTn id="81" dur="4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82" restart="whenNotActive" fill="hold" evtFilter="cancelBubble" nodeType="interactiveSeq">
                <p:stCondLst>
                  <p:cond evt="onClick" delay="0">
                    <p:tgtEl>
                      <p:spTgt spid="14"/>
                    </p:tgtEl>
                  </p:cond>
                </p:stCondLst>
                <p:endSync evt="end" delay="0">
                  <p:rtn val="all"/>
                </p:endSync>
                <p:childTnLst>
                  <p:par>
                    <p:cTn id="83" fill="hold">
                      <p:stCondLst>
                        <p:cond delay="0"/>
                      </p:stCondLst>
                      <p:childTnLst>
                        <p:par>
                          <p:cTn id="84" fill="hold">
                            <p:stCondLst>
                              <p:cond delay="0"/>
                            </p:stCondLst>
                            <p:childTnLst>
                              <p:par>
                                <p:cTn id="85" presetID="2" presetClass="mediacall" presetSubtype="0" fill="hold" nodeType="clickEffect">
                                  <p:stCondLst>
                                    <p:cond delay="0"/>
                                  </p:stCondLst>
                                  <p:childTnLst>
                                    <p:cmd type="call" cmd="togglePause">
                                      <p:cBhvr>
                                        <p:cTn id="86" dur="1" fill="hold"/>
                                        <p:tgtEl>
                                          <p:spTgt spid="14"/>
                                        </p:tgtEl>
                                      </p:cBhvr>
                                    </p:cmd>
                                  </p:childTnLst>
                                </p:cTn>
                              </p:par>
                            </p:childTnLst>
                          </p:cTn>
                        </p:par>
                      </p:childTnLst>
                    </p:cTn>
                  </p:par>
                </p:childTnLst>
              </p:cTn>
              <p:nextCondLst>
                <p:cond evt="onClick" delay="0">
                  <p:tgtEl>
                    <p:spTgt spid="14"/>
                  </p:tgtEl>
                </p:cond>
              </p:nextCondLst>
            </p:seq>
            <p:seq concurrent="1" nextAc="seek">
              <p:cTn id="87" restart="whenNotActive" fill="hold" evtFilter="cancelBubble" nodeType="interactiveSeq">
                <p:stCondLst>
                  <p:cond evt="onClick" delay="0">
                    <p:tgtEl>
                      <p:spTgt spid="16"/>
                    </p:tgtEl>
                  </p:cond>
                </p:stCondLst>
                <p:endSync evt="end" delay="0">
                  <p:rtn val="all"/>
                </p:endSync>
                <p:childTnLst>
                  <p:par>
                    <p:cTn id="88" fill="hold">
                      <p:stCondLst>
                        <p:cond delay="0"/>
                      </p:stCondLst>
                      <p:childTnLst>
                        <p:par>
                          <p:cTn id="89" fill="hold">
                            <p:stCondLst>
                              <p:cond delay="0"/>
                            </p:stCondLst>
                            <p:childTnLst>
                              <p:par>
                                <p:cTn id="90" presetID="2" presetClass="mediacall" presetSubtype="0" fill="hold" nodeType="clickEffect">
                                  <p:stCondLst>
                                    <p:cond delay="0"/>
                                  </p:stCondLst>
                                  <p:childTnLst>
                                    <p:cmd type="call" cmd="togglePause">
                                      <p:cBhvr>
                                        <p:cTn id="91" dur="1" fill="hold"/>
                                        <p:tgtEl>
                                          <p:spTgt spid="16"/>
                                        </p:tgtEl>
                                      </p:cBhvr>
                                    </p:cmd>
                                  </p:childTnLst>
                                </p:cTn>
                              </p:par>
                            </p:childTnLst>
                          </p:cTn>
                        </p:par>
                      </p:childTnLst>
                    </p:cTn>
                  </p:par>
                </p:childTnLst>
              </p:cTn>
              <p:nextCondLst>
                <p:cond evt="onClick" delay="0">
                  <p:tgtEl>
                    <p:spTgt spid="16"/>
                  </p:tgtEl>
                </p:cond>
              </p:nextCondLst>
            </p:seq>
            <p:audio>
              <p:cMediaNode vol="80000">
                <p:cTn id="92" fill="hold" display="0">
                  <p:stCondLst>
                    <p:cond delay="indefinite"/>
                  </p:stCondLst>
                  <p:endCondLst>
                    <p:cond evt="onStopAudio" delay="0">
                      <p:tgtEl>
                        <p:sldTgt/>
                      </p:tgtEl>
                    </p:cond>
                  </p:endCondLst>
                </p:cTn>
                <p:tgtEl>
                  <p:spTgt spid="14"/>
                </p:tgtEl>
              </p:cMediaNode>
            </p:audio>
            <p:audio>
              <p:cMediaNode vol="80000">
                <p:cTn id="93" fill="hold" display="0">
                  <p:stCondLst>
                    <p:cond delay="indefinite"/>
                  </p:stCondLst>
                  <p:endCondLst>
                    <p:cond evt="onStopAudio" delay="0">
                      <p:tgtEl>
                        <p:sldTgt/>
                      </p:tgtEl>
                    </p:cond>
                  </p:endCondLst>
                </p:cTn>
                <p:tgtEl>
                  <p:spTgt spid="16"/>
                </p:tgtEl>
              </p:cMediaNode>
            </p:audio>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612"/>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20</a:t>
            </a:r>
            <a:endParaRPr lang="en-US" sz="2200" dirty="0"/>
          </a:p>
        </p:txBody>
      </p:sp>
      <p:pic>
        <p:nvPicPr>
          <p:cNvPr id="4" name="brY_613" descr="/home/claude/lls-course/v2/assets/brush-yellow.png">    </p:cNvPr>
          <p:cNvPicPr>
            <a:picLocks noChangeAspect="1"/>
          </p:cNvPicPr>
          <p:nvPr/>
        </p:nvPicPr>
        <p:blipFill>
          <a:blip r:embed="rId2"/>
          <a:stretch>
            <a:fillRect/>
          </a:stretch>
        </p:blipFill>
        <p:spPr>
          <a:xfrm>
            <a:off x="1097280" y="146304"/>
            <a:ext cx="4820717" cy="621792"/>
          </a:xfrm>
          <a:prstGeom prst="rect">
            <a:avLst/>
          </a:prstGeom>
        </p:spPr>
      </p:pic>
      <p:sp>
        <p:nvSpPr>
          <p:cNvPr id="5" name="title_614"/>
          <p:cNvSpPr/>
          <p:nvPr/>
        </p:nvSpPr>
        <p:spPr>
          <a:xfrm>
            <a:off x="1261872" y="164592"/>
            <a:ext cx="4546397"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Is anyone in your family…?</a:t>
            </a:r>
            <a:endParaRPr lang="en-US" sz="2500" dirty="0"/>
          </a:p>
        </p:txBody>
      </p:sp>
      <p:pic>
        <p:nvPicPr>
          <p:cNvPr id="6" name="brP_615" descr="/home/claude/lls-course/v2/assets/brush-pink.png">    </p:cNvPr>
          <p:cNvPicPr>
            <a:picLocks noChangeAspect="1"/>
          </p:cNvPicPr>
          <p:nvPr/>
        </p:nvPicPr>
        <p:blipFill>
          <a:blip r:embed="rId3"/>
          <a:stretch>
            <a:fillRect/>
          </a:stretch>
        </p:blipFill>
        <p:spPr>
          <a:xfrm>
            <a:off x="1207008" y="731520"/>
            <a:ext cx="3076956" cy="402336"/>
          </a:xfrm>
          <a:prstGeom prst="rect">
            <a:avLst/>
          </a:prstGeom>
        </p:spPr>
      </p:pic>
      <p:sp>
        <p:nvSpPr>
          <p:cNvPr id="7" name="ins_616"/>
          <p:cNvSpPr/>
          <p:nvPr/>
        </p:nvSpPr>
        <p:spPr>
          <a:xfrm>
            <a:off x="1353312" y="731520"/>
            <a:ext cx="282092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Stand up! Ask 3 classmates.</a:t>
            </a:r>
            <a:endParaRPr lang="en-US" sz="1250" dirty="0"/>
          </a:p>
        </p:txBody>
      </p:sp>
      <p:sp>
        <p:nvSpPr>
          <p:cNvPr id="8" name="insIT_617"/>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Alzati! Chiedi a 3 compagni.</a:t>
            </a:r>
            <a:endParaRPr lang="en-US" sz="950" dirty="0"/>
          </a:p>
        </p:txBody>
      </p:sp>
      <p:sp>
        <p:nvSpPr>
          <p:cNvPr id="9" name="note_618"/>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TALK</a:t>
            </a:r>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 PARLA</a:t>
            </a:r>
            <a:endParaRPr lang="en-US" sz="12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4 min   🚶 mingle</a:t>
            </a:r>
            <a:endParaRPr lang="en-US" sz="12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Speaking · Communicative</a:t>
            </a:r>
            <a:endParaRPr lang="en-US" sz="1250" dirty="0"/>
          </a:p>
        </p:txBody>
      </p:sp>
      <p:pic>
        <p:nvPicPr>
          <p:cNvPr id="10" name="logo_619"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620"/>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1B-1 · Speaking · future plans   ·   📖 SB p.11 · 3e</a:t>
            </a:r>
            <a:endParaRPr lang="en-US" sz="800" dirty="0"/>
          </a:p>
        </p:txBody>
      </p:sp>
      <p:sp>
        <p:nvSpPr>
          <p:cNvPr id="12" name="pf_621"/>
          <p:cNvSpPr/>
          <p:nvPr/>
        </p:nvSpPr>
        <p:spPr>
          <a:xfrm rot="-120000">
            <a:off x="1154033" y="1371600"/>
            <a:ext cx="1120934" cy="1325880"/>
          </a:xfrm>
          <a:prstGeom prst="roundRect">
            <a:avLst>
              <a:gd name="adj" fmla="val 13868"/>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3" name="ph_622" descr="/home/claude/lls-course/v2/cache/1b1_birthday_jpg_248x297_31.png">    </p:cNvPr>
          <p:cNvPicPr>
            <a:picLocks noChangeAspect="1"/>
          </p:cNvPicPr>
          <p:nvPr/>
        </p:nvPicPr>
        <p:blipFill>
          <a:blip r:embed="rId5"/>
          <a:stretch>
            <a:fillRect/>
          </a:stretch>
        </p:blipFill>
        <p:spPr>
          <a:xfrm rot="-120000">
            <a:off x="1199753" y="1417320"/>
            <a:ext cx="1029494" cy="1234440"/>
          </a:xfrm>
          <a:prstGeom prst="rect">
            <a:avLst/>
          </a:prstGeom>
        </p:spPr>
      </p:pic>
      <p:sp>
        <p:nvSpPr>
          <p:cNvPr id="14" name="cd_623"/>
          <p:cNvSpPr/>
          <p:nvPr/>
        </p:nvSpPr>
        <p:spPr>
          <a:xfrm>
            <a:off x="320040" y="2880360"/>
            <a:ext cx="2788920" cy="1350264"/>
          </a:xfrm>
          <a:prstGeom prst="roundRect">
            <a:avLst>
              <a:gd name="adj" fmla="val 9481"/>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5" name="ii_624"/>
          <p:cNvSpPr/>
          <p:nvPr/>
        </p:nvSpPr>
        <p:spPr>
          <a:xfrm>
            <a:off x="411480" y="29535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625"/>
          <p:cNvSpPr/>
          <p:nvPr/>
        </p:nvSpPr>
        <p:spPr>
          <a:xfrm>
            <a:off x="886968" y="2971800"/>
            <a:ext cx="214884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Useful phrases</a:t>
            </a:r>
            <a:endParaRPr lang="en-US" sz="1300" dirty="0"/>
          </a:p>
        </p:txBody>
      </p:sp>
      <p:sp>
        <p:nvSpPr>
          <p:cNvPr id="17" name="il_626"/>
          <p:cNvSpPr/>
          <p:nvPr/>
        </p:nvSpPr>
        <p:spPr>
          <a:xfrm>
            <a:off x="886968" y="3374136"/>
            <a:ext cx="2130552" cy="783336"/>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Maybe · Probably · I don't think so · I have no idea… because…</a:t>
            </a:r>
            <a:endParaRPr lang="en-US" sz="1150" dirty="0"/>
          </a:p>
        </p:txBody>
      </p:sp>
      <p:sp>
        <p:nvSpPr>
          <p:cNvPr id="18" name="R1_qb627"/>
          <p:cNvSpPr/>
          <p:nvPr/>
        </p:nvSpPr>
        <p:spPr>
          <a:xfrm>
            <a:off x="3273552" y="1453896"/>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19" name="R1_sq628"/>
          <p:cNvSpPr/>
          <p:nvPr/>
        </p:nvSpPr>
        <p:spPr>
          <a:xfrm>
            <a:off x="3675888" y="1417320"/>
            <a:ext cx="5193792" cy="530352"/>
          </a:xfrm>
          <a:prstGeom prst="roundRect">
            <a:avLst>
              <a:gd name="adj" fmla="val 20690"/>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Is anyone in your family getting married soon?</a:t>
            </a:r>
            <a:endParaRPr lang="en-US" sz="1250" dirty="0"/>
          </a:p>
          <a:p>
            <a:pPr indent="0" marL="0">
              <a:buNone/>
            </a:pPr>
            <a:r>
              <a:rPr lang="en-US" sz="1000" i="1" dirty="0">
                <a:solidFill>
                  <a:srgbClr val="5B6785"/>
                </a:solidFill>
                <a:latin typeface="Segoe UI Semibold" pitchFamily="34" charset="0"/>
                <a:ea typeface="Segoe UI Semibold" pitchFamily="34" charset="-122"/>
                <a:cs typeface="Segoe UI Semibold" pitchFamily="34" charset="-120"/>
              </a:rPr>
              <a:t>e.g. Yes! My cousin is getting married in June.</a:t>
            </a:r>
            <a:endParaRPr lang="en-US" sz="1250" dirty="0"/>
          </a:p>
        </p:txBody>
      </p:sp>
      <p:sp>
        <p:nvSpPr>
          <p:cNvPr id="20" name="R2_qb629"/>
          <p:cNvSpPr/>
          <p:nvPr/>
        </p:nvSpPr>
        <p:spPr>
          <a:xfrm>
            <a:off x="3273552" y="2057400"/>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1" name="R2_sq630"/>
          <p:cNvSpPr/>
          <p:nvPr/>
        </p:nvSpPr>
        <p:spPr>
          <a:xfrm>
            <a:off x="3675888" y="2020824"/>
            <a:ext cx="4507992" cy="530352"/>
          </a:xfrm>
          <a:prstGeom prst="roundRect">
            <a:avLst>
              <a:gd name="adj" fmla="val 20690"/>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Is anyone celebrating their birthday soon?</a:t>
            </a:r>
            <a:endParaRPr lang="en-US" sz="1250" dirty="0"/>
          </a:p>
          <a:p>
            <a:pPr indent="0" marL="0">
              <a:buNone/>
            </a:pPr>
            <a:r>
              <a:rPr lang="en-US" sz="1000" i="1" dirty="0">
                <a:solidFill>
                  <a:srgbClr val="5B6785"/>
                </a:solidFill>
                <a:latin typeface="Segoe UI Semibold" pitchFamily="34" charset="0"/>
                <a:ea typeface="Segoe UI Semibold" pitchFamily="34" charset="-122"/>
                <a:cs typeface="Segoe UI Semibold" pitchFamily="34" charset="-120"/>
              </a:rPr>
              <a:t>e.g. My dad is – he's going to be 50!</a:t>
            </a:r>
            <a:endParaRPr lang="en-US" sz="1250" dirty="0"/>
          </a:p>
        </p:txBody>
      </p:sp>
      <p:pic>
        <p:nvPicPr>
          <p:cNvPr id="22" name="R2_th631" descr="/home/claude/lls-course/v2/cache/1b1_birthday_jpg_154x119_18.png">    </p:cNvPr>
          <p:cNvPicPr>
            <a:picLocks noChangeAspect="1"/>
          </p:cNvPicPr>
          <p:nvPr/>
        </p:nvPicPr>
        <p:blipFill>
          <a:blip r:embed="rId6"/>
          <a:stretch>
            <a:fillRect/>
          </a:stretch>
        </p:blipFill>
        <p:spPr>
          <a:xfrm>
            <a:off x="8257032" y="2039112"/>
            <a:ext cx="640080" cy="493776"/>
          </a:xfrm>
          <a:prstGeom prst="rect">
            <a:avLst/>
          </a:prstGeom>
        </p:spPr>
      </p:pic>
      <p:sp>
        <p:nvSpPr>
          <p:cNvPr id="23" name="R3_qb632"/>
          <p:cNvSpPr/>
          <p:nvPr/>
        </p:nvSpPr>
        <p:spPr>
          <a:xfrm>
            <a:off x="3273552" y="2660904"/>
            <a:ext cx="329184" cy="329184"/>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4" name="R3_sq633"/>
          <p:cNvSpPr/>
          <p:nvPr/>
        </p:nvSpPr>
        <p:spPr>
          <a:xfrm>
            <a:off x="3675888" y="2624328"/>
            <a:ext cx="5193792" cy="530352"/>
          </a:xfrm>
          <a:prstGeom prst="roundRect">
            <a:avLst>
              <a:gd name="adj" fmla="val 20690"/>
            </a:avLst>
          </a:prstGeom>
          <a:solidFill>
            <a:srgbClr val="FFFFFF"/>
          </a:solidFill>
          <a:ln w="2857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Are you going to do something with your family this week?</a:t>
            </a:r>
            <a:endParaRPr lang="en-US" sz="1200" dirty="0"/>
          </a:p>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e.g. We're going to the beach on Sunday.</a:t>
            </a:r>
            <a:endParaRPr lang="en-US" sz="1200" dirty="0"/>
          </a:p>
        </p:txBody>
      </p:sp>
      <p:sp>
        <p:nvSpPr>
          <p:cNvPr id="25" name="R4_qb634"/>
          <p:cNvSpPr/>
          <p:nvPr/>
        </p:nvSpPr>
        <p:spPr>
          <a:xfrm>
            <a:off x="3273552" y="3264408"/>
            <a:ext cx="329184" cy="329184"/>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6" name="R4_sq635"/>
          <p:cNvSpPr/>
          <p:nvPr/>
        </p:nvSpPr>
        <p:spPr>
          <a:xfrm>
            <a:off x="3675888" y="3227832"/>
            <a:ext cx="4507992" cy="530352"/>
          </a:xfrm>
          <a:prstGeom prst="roundRect">
            <a:avLst>
              <a:gd name="adj" fmla="val 20690"/>
            </a:avLst>
          </a:prstGeom>
          <a:solidFill>
            <a:srgbClr val="FFFFFF"/>
          </a:solidFill>
          <a:ln w="28575">
            <a:solidFill>
              <a:srgbClr val="FFE07A"/>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050" dirty="0">
                <a:solidFill>
                  <a:srgbClr val="1B2559"/>
                </a:solidFill>
                <a:latin typeface="Segoe UI Semibold" pitchFamily="34" charset="0"/>
                <a:ea typeface="Segoe UI Semibold" pitchFamily="34" charset="-122"/>
                <a:cs typeface="Segoe UI Semibold" pitchFamily="34" charset="-120"/>
              </a:rPr>
              <a:t>Are you going to go on holiday with your family this year?</a:t>
            </a:r>
            <a:endParaRPr lang="en-US" sz="105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I don't think so. Maybe next year.</a:t>
            </a:r>
            <a:endParaRPr lang="en-US" sz="1050" dirty="0"/>
          </a:p>
        </p:txBody>
      </p:sp>
      <p:pic>
        <p:nvPicPr>
          <p:cNvPr id="27" name="R4_th636" descr="/home/claude/lls-course/v2/cache/1b1_holiday_jpg_154x119_18.png">    </p:cNvPr>
          <p:cNvPicPr>
            <a:picLocks noChangeAspect="1"/>
          </p:cNvPicPr>
          <p:nvPr/>
        </p:nvPicPr>
        <p:blipFill>
          <a:blip r:embed="rId7"/>
          <a:stretch>
            <a:fillRect/>
          </a:stretch>
        </p:blipFill>
        <p:spPr>
          <a:xfrm>
            <a:off x="8257032" y="3246120"/>
            <a:ext cx="640080" cy="493776"/>
          </a:xfrm>
          <a:prstGeom prst="rect">
            <a:avLst/>
          </a:prstGeom>
        </p:spPr>
      </p:pic>
      <p:sp>
        <p:nvSpPr>
          <p:cNvPr id="28" name="R5_qb637"/>
          <p:cNvSpPr/>
          <p:nvPr/>
        </p:nvSpPr>
        <p:spPr>
          <a:xfrm>
            <a:off x="3273552" y="3867912"/>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29" name="R5_sq638"/>
          <p:cNvSpPr/>
          <p:nvPr/>
        </p:nvSpPr>
        <p:spPr>
          <a:xfrm>
            <a:off x="3675888" y="3831336"/>
            <a:ext cx="4507992" cy="530352"/>
          </a:xfrm>
          <a:prstGeom prst="roundRect">
            <a:avLst>
              <a:gd name="adj" fmla="val 20690"/>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Do you think you'll move away from Bagheria one day?</a:t>
            </a:r>
            <a:endParaRPr lang="en-US" sz="1100" dirty="0"/>
          </a:p>
          <a:p>
            <a:pPr indent="0" marL="0">
              <a:buNone/>
            </a:pPr>
            <a:r>
              <a:rPr lang="en-US" sz="900" i="1" dirty="0">
                <a:solidFill>
                  <a:srgbClr val="5B6785"/>
                </a:solidFill>
                <a:latin typeface="Segoe UI Semibold" pitchFamily="34" charset="0"/>
                <a:ea typeface="Segoe UI Semibold" pitchFamily="34" charset="-122"/>
                <a:cs typeface="Segoe UI Semibold" pitchFamily="34" charset="-120"/>
              </a:rPr>
              <a:t>e.g. Maybe. I'd like to study in Milan.</a:t>
            </a:r>
            <a:endParaRPr lang="en-US" sz="1100" dirty="0"/>
          </a:p>
        </p:txBody>
      </p:sp>
      <p:pic>
        <p:nvPicPr>
          <p:cNvPr id="30" name="R5_th639" descr="/home/claude/lls-course/v2/cache/1b1_moving_jpg_154x119_18.png">    </p:cNvPr>
          <p:cNvPicPr>
            <a:picLocks noChangeAspect="1"/>
          </p:cNvPicPr>
          <p:nvPr/>
        </p:nvPicPr>
        <p:blipFill>
          <a:blip r:embed="rId8"/>
          <a:stretch>
            <a:fillRect/>
          </a:stretch>
        </p:blipFill>
        <p:spPr>
          <a:xfrm>
            <a:off x="8257032" y="3849624"/>
            <a:ext cx="640080" cy="493776"/>
          </a:xfrm>
          <a:prstGeom prst="rect">
            <a:avLst/>
          </a:prstGeom>
        </p:spPr>
      </p:pic>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childTnLst>
                                </p:cTn>
                              </p:par>
                              <p:par>
                                <p:cTn id="19" presetID="10" presetClass="entr" presetSubtype="0" fill="hold"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400"/>
                                        <p:tgtEl>
                                          <p:spTgt spid="22"/>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400"/>
                                        <p:tgtEl>
                                          <p:spTgt spid="23"/>
                                        </p:tgtEl>
                                      </p:cBhvr>
                                    </p:animEffect>
                                  </p:childTnLst>
                                </p:cTn>
                              </p:par>
                              <p:par>
                                <p:cTn id="27" presetID="10" presetClass="entr" presetSubtype="0" fill="hold" nodeType="with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400"/>
                                        <p:tgtEl>
                                          <p:spTgt spid="24"/>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25"/>
                                        </p:tgtEl>
                                        <p:attrNameLst>
                                          <p:attrName>style.visibility</p:attrName>
                                        </p:attrNameLst>
                                      </p:cBhvr>
                                      <p:to>
                                        <p:strVal val="visible"/>
                                      </p:to>
                                    </p:set>
                                    <p:animEffect transition="in" filter="fade">
                                      <p:cBhvr>
                                        <p:cTn id="34" dur="400"/>
                                        <p:tgtEl>
                                          <p:spTgt spid="25"/>
                                        </p:tgtEl>
                                      </p:cBhvr>
                                    </p:animEffect>
                                  </p:childTnLst>
                                </p:cTn>
                              </p:par>
                              <p:par>
                                <p:cTn id="35" presetID="10" presetClass="entr" presetSubtype="0" fill="hold" nodeType="with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fade">
                                      <p:cBhvr>
                                        <p:cTn id="37" dur="400"/>
                                        <p:tgtEl>
                                          <p:spTgt spid="26"/>
                                        </p:tgtEl>
                                      </p:cBhvr>
                                    </p:animEffect>
                                  </p:childTnLst>
                                </p:cTn>
                              </p:par>
                              <p:par>
                                <p:cTn id="38" presetID="10" presetClass="entr" presetSubtype="0" fill="hold" nodeType="with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fade">
                                      <p:cBhvr>
                                        <p:cTn id="40" dur="400"/>
                                        <p:tgtEl>
                                          <p:spTgt spid="27"/>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8"/>
                                        </p:tgtEl>
                                        <p:attrNameLst>
                                          <p:attrName>style.visibility</p:attrName>
                                        </p:attrNameLst>
                                      </p:cBhvr>
                                      <p:to>
                                        <p:strVal val="visible"/>
                                      </p:to>
                                    </p:set>
                                    <p:animEffect transition="in" filter="fade">
                                      <p:cBhvr>
                                        <p:cTn id="45" dur="400"/>
                                        <p:tgtEl>
                                          <p:spTgt spid="28"/>
                                        </p:tgtEl>
                                      </p:cBhvr>
                                    </p:animEffect>
                                  </p:childTnLst>
                                </p:cTn>
                              </p:par>
                              <p:par>
                                <p:cTn id="46" presetID="10" presetClass="entr" presetSubtype="0" fill="hold" nodeType="withEffect">
                                  <p:stCondLst>
                                    <p:cond delay="0"/>
                                  </p:stCondLst>
                                  <p:childTnLst>
                                    <p:set>
                                      <p:cBhvr>
                                        <p:cTn id="47" dur="1" fill="hold">
                                          <p:stCondLst>
                                            <p:cond delay="0"/>
                                          </p:stCondLst>
                                        </p:cTn>
                                        <p:tgtEl>
                                          <p:spTgt spid="29"/>
                                        </p:tgtEl>
                                        <p:attrNameLst>
                                          <p:attrName>style.visibility</p:attrName>
                                        </p:attrNameLst>
                                      </p:cBhvr>
                                      <p:to>
                                        <p:strVal val="visible"/>
                                      </p:to>
                                    </p:set>
                                    <p:animEffect transition="in" filter="fade">
                                      <p:cBhvr>
                                        <p:cTn id="48" dur="400"/>
                                        <p:tgtEl>
                                          <p:spTgt spid="29"/>
                                        </p:tgtEl>
                                      </p:cBhvr>
                                    </p:animEffect>
                                  </p:childTnLst>
                                </p:cTn>
                              </p:par>
                              <p:par>
                                <p:cTn id="49" presetID="10" presetClass="entr" presetSubtype="0" fill="hold" nodeType="withEffect">
                                  <p:stCondLst>
                                    <p:cond delay="0"/>
                                  </p:stCondLst>
                                  <p:childTnLst>
                                    <p:set>
                                      <p:cBhvr>
                                        <p:cTn id="50" dur="1" fill="hold">
                                          <p:stCondLst>
                                            <p:cond delay="0"/>
                                          </p:stCondLst>
                                        </p:cTn>
                                        <p:tgtEl>
                                          <p:spTgt spid="30"/>
                                        </p:tgtEl>
                                        <p:attrNameLst>
                                          <p:attrName>style.visibility</p:attrName>
                                        </p:attrNameLst>
                                      </p:cBhvr>
                                      <p:to>
                                        <p:strVal val="visible"/>
                                      </p:to>
                                    </p:set>
                                    <p:animEffect transition="in" filter="fade">
                                      <p:cBhvr>
                                        <p:cTn id="51"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640"/>
          <p:cNvSpPr/>
          <p:nvPr/>
        </p:nvSpPr>
        <p:spPr>
          <a:xfrm>
            <a:off x="201168" y="164592"/>
            <a:ext cx="841248" cy="8412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21</a:t>
            </a:r>
            <a:endParaRPr lang="en-US" sz="2200" dirty="0"/>
          </a:p>
        </p:txBody>
      </p:sp>
      <p:pic>
        <p:nvPicPr>
          <p:cNvPr id="4" name="brY_641" descr="/home/claude/lls-course/v2/assets/brush-yellow.png">    </p:cNvPr>
          <p:cNvPicPr>
            <a:picLocks noChangeAspect="1"/>
          </p:cNvPicPr>
          <p:nvPr/>
        </p:nvPicPr>
        <p:blipFill>
          <a:blip r:embed="rId2"/>
          <a:stretch>
            <a:fillRect/>
          </a:stretch>
        </p:blipFill>
        <p:spPr>
          <a:xfrm>
            <a:off x="1097280" y="146304"/>
            <a:ext cx="2147011" cy="621792"/>
          </a:xfrm>
          <a:prstGeom prst="rect">
            <a:avLst/>
          </a:prstGeom>
        </p:spPr>
      </p:pic>
      <p:sp>
        <p:nvSpPr>
          <p:cNvPr id="5" name="title_642"/>
          <p:cNvSpPr/>
          <p:nvPr/>
        </p:nvSpPr>
        <p:spPr>
          <a:xfrm>
            <a:off x="1261872" y="164592"/>
            <a:ext cx="1872691"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3 · 2 · 1</a:t>
            </a:r>
            <a:endParaRPr lang="en-US" sz="2500" dirty="0"/>
          </a:p>
        </p:txBody>
      </p:sp>
      <p:pic>
        <p:nvPicPr>
          <p:cNvPr id="6" name="brP_643" descr="/home/claude/lls-course/v2/assets/brush-pink.png">    </p:cNvPr>
          <p:cNvPicPr>
            <a:picLocks noChangeAspect="1"/>
          </p:cNvPicPr>
          <p:nvPr/>
        </p:nvPicPr>
        <p:blipFill>
          <a:blip r:embed="rId3"/>
          <a:stretch>
            <a:fillRect/>
          </a:stretch>
        </p:blipFill>
        <p:spPr>
          <a:xfrm>
            <a:off x="1207008" y="731520"/>
            <a:ext cx="3858768" cy="402336"/>
          </a:xfrm>
          <a:prstGeom prst="rect">
            <a:avLst/>
          </a:prstGeom>
        </p:spPr>
      </p:pic>
      <p:sp>
        <p:nvSpPr>
          <p:cNvPr id="7" name="ins_644"/>
          <p:cNvSpPr/>
          <p:nvPr/>
        </p:nvSpPr>
        <p:spPr>
          <a:xfrm>
            <a:off x="1353312" y="731520"/>
            <a:ext cx="360273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Books closed! What can you remember?</a:t>
            </a:r>
            <a:endParaRPr lang="en-US" sz="1250" dirty="0"/>
          </a:p>
        </p:txBody>
      </p:sp>
      <p:sp>
        <p:nvSpPr>
          <p:cNvPr id="8" name="insIT_645"/>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Libri chiusi! Cosa ricordi?</a:t>
            </a:r>
            <a:endParaRPr lang="en-US" sz="950" dirty="0"/>
          </a:p>
        </p:txBody>
      </p:sp>
      <p:sp>
        <p:nvSpPr>
          <p:cNvPr id="9" name="note_646"/>
          <p:cNvSpPr/>
          <p:nvPr/>
        </p:nvSpPr>
        <p:spPr>
          <a:xfrm rot="180000">
            <a:off x="6382512" y="128016"/>
            <a:ext cx="2029968" cy="74980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2 min   👥 pairs</a:t>
            </a:r>
            <a:endParaRPr lang="en-US" sz="110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Revision · Retrieval</a:t>
            </a:r>
            <a:endParaRPr lang="en-US" sz="1100" dirty="0"/>
          </a:p>
        </p:txBody>
      </p:sp>
      <p:pic>
        <p:nvPicPr>
          <p:cNvPr id="10" name="logo_647"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648"/>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1B-1 · Exit · what can you remember?</a:t>
            </a:r>
            <a:endParaRPr lang="en-US" sz="800" dirty="0"/>
          </a:p>
        </p:txBody>
      </p:sp>
      <p:sp>
        <p:nvSpPr>
          <p:cNvPr id="12" name="bd_649"/>
          <p:cNvSpPr/>
          <p:nvPr/>
        </p:nvSpPr>
        <p:spPr>
          <a:xfrm>
            <a:off x="457200" y="1508760"/>
            <a:ext cx="777240" cy="777240"/>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3</a:t>
            </a:r>
            <a:endParaRPr lang="en-US" sz="2600" dirty="0"/>
          </a:p>
        </p:txBody>
      </p:sp>
      <p:sp>
        <p:nvSpPr>
          <p:cNvPr id="13" name="rt_650"/>
          <p:cNvSpPr/>
          <p:nvPr/>
        </p:nvSpPr>
        <p:spPr>
          <a:xfrm>
            <a:off x="1417320" y="1581912"/>
            <a:ext cx="3931920" cy="640080"/>
          </a:xfrm>
          <a:prstGeom prst="roundRect">
            <a:avLst>
              <a:gd name="adj" fmla="val 20000"/>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Tell me 3 family words from today (no looking!)</a:t>
            </a:r>
            <a:endParaRPr lang="en-US" sz="1400" dirty="0"/>
          </a:p>
        </p:txBody>
      </p:sp>
      <p:sp>
        <p:nvSpPr>
          <p:cNvPr id="14" name="bd_651"/>
          <p:cNvSpPr/>
          <p:nvPr/>
        </p:nvSpPr>
        <p:spPr>
          <a:xfrm>
            <a:off x="457200" y="2468880"/>
            <a:ext cx="777240" cy="777240"/>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2</a:t>
            </a:r>
            <a:endParaRPr lang="en-US" sz="2600" dirty="0"/>
          </a:p>
        </p:txBody>
      </p:sp>
      <p:sp>
        <p:nvSpPr>
          <p:cNvPr id="15" name="rt_652"/>
          <p:cNvSpPr/>
          <p:nvPr/>
        </p:nvSpPr>
        <p:spPr>
          <a:xfrm>
            <a:off x="1417320" y="2542032"/>
            <a:ext cx="3931920" cy="640080"/>
          </a:xfrm>
          <a:prstGeom prst="roundRect">
            <a:avLst>
              <a:gd name="adj" fmla="val 20000"/>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Tell me 2 sentences with two different future forms</a:t>
            </a:r>
            <a:endParaRPr lang="en-US" sz="1400" dirty="0"/>
          </a:p>
        </p:txBody>
      </p:sp>
      <p:sp>
        <p:nvSpPr>
          <p:cNvPr id="16" name="bd_653"/>
          <p:cNvSpPr/>
          <p:nvPr/>
        </p:nvSpPr>
        <p:spPr>
          <a:xfrm>
            <a:off x="457200" y="3429000"/>
            <a:ext cx="777240" cy="777240"/>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1</a:t>
            </a:r>
            <a:endParaRPr lang="en-US" sz="2600" dirty="0"/>
          </a:p>
        </p:txBody>
      </p:sp>
      <p:sp>
        <p:nvSpPr>
          <p:cNvPr id="17" name="rt_654"/>
          <p:cNvSpPr/>
          <p:nvPr/>
        </p:nvSpPr>
        <p:spPr>
          <a:xfrm>
            <a:off x="1417320" y="3502152"/>
            <a:ext cx="3931920" cy="640080"/>
          </a:xfrm>
          <a:prstGeom prst="roundRect">
            <a:avLst>
              <a:gd name="adj" fmla="val 20000"/>
            </a:avLst>
          </a:prstGeom>
          <a:solidFill>
            <a:srgbClr val="FFFFFF"/>
          </a:solidFill>
          <a:ln w="28575">
            <a:solidFill>
              <a:srgbClr val="A8E5BE"/>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Tell me 1 plan for this weekend: "I'm going to…"</a:t>
            </a:r>
            <a:endParaRPr lang="en-US" sz="1400" dirty="0"/>
          </a:p>
        </p:txBody>
      </p:sp>
      <p:sp>
        <p:nvSpPr>
          <p:cNvPr id="18" name="cd_655"/>
          <p:cNvSpPr/>
          <p:nvPr/>
        </p:nvSpPr>
        <p:spPr>
          <a:xfrm>
            <a:off x="5669280" y="1417320"/>
            <a:ext cx="3200400" cy="1689608"/>
          </a:xfrm>
          <a:prstGeom prst="roundRect">
            <a:avLst>
              <a:gd name="adj" fmla="val 7577"/>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9" name="ii_656"/>
          <p:cNvSpPr/>
          <p:nvPr/>
        </p:nvSpPr>
        <p:spPr>
          <a:xfrm>
            <a:off x="576072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0" name="ih_657"/>
          <p:cNvSpPr/>
          <p:nvPr/>
        </p:nvSpPr>
        <p:spPr>
          <a:xfrm>
            <a:off x="6236208" y="1508760"/>
            <a:ext cx="256032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Homework · Compiti</a:t>
            </a:r>
            <a:endParaRPr lang="en-US" sz="1400" dirty="0"/>
          </a:p>
        </p:txBody>
      </p:sp>
      <p:sp>
        <p:nvSpPr>
          <p:cNvPr id="21" name="il_658"/>
          <p:cNvSpPr/>
          <p:nvPr/>
        </p:nvSpPr>
        <p:spPr>
          <a:xfrm>
            <a:off x="6236208" y="1911096"/>
            <a:ext cx="2542032" cy="112268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Workbook 1B: 1a, 2a, 2b</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Grammar Bank 1B p.133: a 6–9, b 5–8</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Homework sheet in the LLS app</a:t>
            </a:r>
            <a:endParaRPr lang="en-US" sz="1150" dirty="0"/>
          </a:p>
        </p:txBody>
      </p:sp>
      <p:sp>
        <p:nvSpPr>
          <p:cNvPr id="22" name="st_659"/>
          <p:cNvSpPr/>
          <p:nvPr/>
        </p:nvSpPr>
        <p:spPr>
          <a:xfrm rot="-180000">
            <a:off x="5806440" y="3483864"/>
            <a:ext cx="2926080" cy="685800"/>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00" dirty="0">
                <a:solidFill>
                  <a:srgbClr val="1B2559"/>
                </a:solidFill>
                <a:latin typeface="Arial Rounded MT Bold" pitchFamily="34" charset="0"/>
                <a:ea typeface="Arial Rounded MT Bold" pitchFamily="34" charset="-122"/>
                <a:cs typeface="Arial Rounded MT Bold" pitchFamily="34" charset="-120"/>
              </a:rPr>
              <a:t>Next lesson: 1B part 2 · personality adjectives (audio 1.22) · birth order</a:t>
            </a:r>
            <a:endParaRPr lang="en-US" sz="1100" dirty="0"/>
          </a:p>
        </p:txBody>
      </p:sp>
    </p:spTree>
  </p:cSld>
  <p:clrMapOvr>
    <a:masterClrMapping/>
  </p:clrMapOvr>
  <p:transition spd="med">
    <p:push dir="l"/>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660"/>
          <p:cNvSpPr/>
          <p:nvPr/>
        </p:nvSpPr>
        <p:spPr>
          <a:xfrm>
            <a:off x="201168" y="164592"/>
            <a:ext cx="841248" cy="841248"/>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22</a:t>
            </a:r>
            <a:endParaRPr lang="en-US" sz="2200" dirty="0"/>
          </a:p>
        </p:txBody>
      </p:sp>
      <p:pic>
        <p:nvPicPr>
          <p:cNvPr id="4" name="brY_661" descr="/home/claude/lls-course/v2/assets/brush-yellow.png">    </p:cNvPr>
          <p:cNvPicPr>
            <a:picLocks noChangeAspect="1"/>
          </p:cNvPicPr>
          <p:nvPr/>
        </p:nvPicPr>
        <p:blipFill>
          <a:blip r:embed="rId2"/>
          <a:stretch>
            <a:fillRect/>
          </a:stretch>
        </p:blipFill>
        <p:spPr>
          <a:xfrm>
            <a:off x="1097280" y="146304"/>
            <a:ext cx="2304288" cy="621792"/>
          </a:xfrm>
          <a:prstGeom prst="rect">
            <a:avLst/>
          </a:prstGeom>
        </p:spPr>
      </p:pic>
      <p:sp>
        <p:nvSpPr>
          <p:cNvPr id="5" name="title_662"/>
          <p:cNvSpPr/>
          <p:nvPr/>
        </p:nvSpPr>
        <p:spPr>
          <a:xfrm>
            <a:off x="1261872" y="164592"/>
            <a:ext cx="2029968"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Today you…</a:t>
            </a:r>
            <a:endParaRPr lang="en-US" sz="2400" dirty="0"/>
          </a:p>
        </p:txBody>
      </p:sp>
      <p:pic>
        <p:nvPicPr>
          <p:cNvPr id="6" name="brP_663" descr="/home/claude/lls-course/v2/assets/brush-pink.png">    </p:cNvPr>
          <p:cNvPicPr>
            <a:picLocks noChangeAspect="1"/>
          </p:cNvPicPr>
          <p:nvPr/>
        </p:nvPicPr>
        <p:blipFill>
          <a:blip r:embed="rId3"/>
          <a:stretch>
            <a:fillRect/>
          </a:stretch>
        </p:blipFill>
        <p:spPr>
          <a:xfrm>
            <a:off x="1207008" y="731520"/>
            <a:ext cx="4553712" cy="402336"/>
          </a:xfrm>
          <a:prstGeom prst="rect">
            <a:avLst/>
          </a:prstGeom>
        </p:spPr>
      </p:pic>
      <p:sp>
        <p:nvSpPr>
          <p:cNvPr id="7" name="ins_664"/>
          <p:cNvSpPr/>
          <p:nvPr/>
        </p:nvSpPr>
        <p:spPr>
          <a:xfrm>
            <a:off x="1353312" y="731520"/>
            <a:ext cx="429768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Can you do it now? Thumbs up or thumbs down!</a:t>
            </a:r>
            <a:endParaRPr lang="en-US" sz="1250" dirty="0"/>
          </a:p>
        </p:txBody>
      </p:sp>
      <p:sp>
        <p:nvSpPr>
          <p:cNvPr id="8" name="insIT_665"/>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Ora sai farlo? Pollice su o pollice giù!</a:t>
            </a:r>
            <a:endParaRPr lang="en-US" sz="950" dirty="0"/>
          </a:p>
        </p:txBody>
      </p:sp>
      <p:sp>
        <p:nvSpPr>
          <p:cNvPr id="9" name="note_666"/>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THINK</a:t>
            </a:r>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 PENSA</a:t>
            </a:r>
            <a:endParaRPr lang="en-US" sz="12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1 min   🙋 whole class</a:t>
            </a:r>
            <a:endParaRPr lang="en-US" sz="12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Revision · Reflection</a:t>
            </a:r>
            <a:endParaRPr lang="en-US" sz="1250" dirty="0"/>
          </a:p>
        </p:txBody>
      </p:sp>
      <p:pic>
        <p:nvPicPr>
          <p:cNvPr id="10" name="logo_667"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668"/>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1B-1 · Review · what did you do today?</a:t>
            </a:r>
            <a:endParaRPr lang="en-US" sz="800" dirty="0"/>
          </a:p>
        </p:txBody>
      </p:sp>
      <p:sp>
        <p:nvSpPr>
          <p:cNvPr id="12" name="cd_669"/>
          <p:cNvSpPr/>
          <p:nvPr/>
        </p:nvSpPr>
        <p:spPr>
          <a:xfrm>
            <a:off x="548640" y="1417320"/>
            <a:ext cx="6035040" cy="530352"/>
          </a:xfrm>
          <a:prstGeom prst="roundRect">
            <a:avLst>
              <a:gd name="adj" fmla="val 24138"/>
            </a:avLst>
          </a:prstGeom>
          <a:solidFill>
            <a:srgbClr val="FFFFFF"/>
          </a:solidFill>
          <a:ln w="28575">
            <a:solidFill>
              <a:srgbClr val="F7A6C4"/>
            </a:solidFill>
            <a:prstDash val="solid"/>
          </a:ln>
          <a:effectLst>
            <a:outerShdw sx="100000" sy="100000" kx="0" ky="0" algn="bl" rotWithShape="0" blurRad="88900" dist="31750" dir="5400000">
              <a:srgbClr val="1B2559">
                <a:alpha val="12000"/>
              </a:srgbClr>
            </a:outerShdw>
          </a:effectLst>
        </p:spPr>
      </p:sp>
      <p:sp>
        <p:nvSpPr>
          <p:cNvPr id="13" name="te_670"/>
          <p:cNvSpPr/>
          <p:nvPr/>
        </p:nvSpPr>
        <p:spPr>
          <a:xfrm>
            <a:off x="640080" y="1453896"/>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4" name="tt_671"/>
          <p:cNvSpPr/>
          <p:nvPr/>
        </p:nvSpPr>
        <p:spPr>
          <a:xfrm>
            <a:off x="1188720" y="1417320"/>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Talked about your family</a:t>
            </a:r>
            <a:endParaRPr lang="en-US" sz="1350" dirty="0"/>
          </a:p>
        </p:txBody>
      </p:sp>
      <p:sp>
        <p:nvSpPr>
          <p:cNvPr id="15" name="R1_tk672"/>
          <p:cNvSpPr/>
          <p:nvPr/>
        </p:nvSpPr>
        <p:spPr>
          <a:xfrm>
            <a:off x="5989320" y="1453896"/>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6" name="cd_673"/>
          <p:cNvSpPr/>
          <p:nvPr/>
        </p:nvSpPr>
        <p:spPr>
          <a:xfrm>
            <a:off x="548640" y="2020824"/>
            <a:ext cx="6035040" cy="530352"/>
          </a:xfrm>
          <a:prstGeom prst="roundRect">
            <a:avLst>
              <a:gd name="adj" fmla="val 24138"/>
            </a:avLst>
          </a:prstGeom>
          <a:solidFill>
            <a:srgbClr val="FFFFFF"/>
          </a:solidFill>
          <a:ln w="28575">
            <a:solidFill>
              <a:srgbClr val="A9D3F5"/>
            </a:solidFill>
            <a:prstDash val="solid"/>
          </a:ln>
          <a:effectLst>
            <a:outerShdw sx="100000" sy="100000" kx="0" ky="0" algn="bl" rotWithShape="0" blurRad="88900" dist="31750" dir="5400000">
              <a:srgbClr val="1B2559">
                <a:alpha val="12000"/>
              </a:srgbClr>
            </a:outerShdw>
          </a:effectLst>
        </p:spPr>
      </p:sp>
      <p:sp>
        <p:nvSpPr>
          <p:cNvPr id="17" name="te_674"/>
          <p:cNvSpPr/>
          <p:nvPr/>
        </p:nvSpPr>
        <p:spPr>
          <a:xfrm>
            <a:off x="640080" y="2057400"/>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8" name="tt_675"/>
          <p:cNvSpPr/>
          <p:nvPr/>
        </p:nvSpPr>
        <p:spPr>
          <a:xfrm>
            <a:off x="1188720" y="2020824"/>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Read a survey about British families</a:t>
            </a:r>
            <a:endParaRPr lang="en-US" sz="1350" dirty="0"/>
          </a:p>
        </p:txBody>
      </p:sp>
      <p:sp>
        <p:nvSpPr>
          <p:cNvPr id="19" name="R2_tk676"/>
          <p:cNvSpPr/>
          <p:nvPr/>
        </p:nvSpPr>
        <p:spPr>
          <a:xfrm>
            <a:off x="5989320" y="2057400"/>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0" name="cd_677"/>
          <p:cNvSpPr/>
          <p:nvPr/>
        </p:nvSpPr>
        <p:spPr>
          <a:xfrm>
            <a:off x="548640" y="2624328"/>
            <a:ext cx="6035040" cy="530352"/>
          </a:xfrm>
          <a:prstGeom prst="roundRect">
            <a:avLst>
              <a:gd name="adj" fmla="val 24138"/>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21" name="te_678"/>
          <p:cNvSpPr/>
          <p:nvPr/>
        </p:nvSpPr>
        <p:spPr>
          <a:xfrm>
            <a:off x="640080" y="2660904"/>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2" name="tt_679"/>
          <p:cNvSpPr/>
          <p:nvPr/>
        </p:nvSpPr>
        <p:spPr>
          <a:xfrm>
            <a:off x="1188720" y="2624328"/>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Listened to three family conversations</a:t>
            </a:r>
            <a:endParaRPr lang="en-US" sz="1350" dirty="0"/>
          </a:p>
        </p:txBody>
      </p:sp>
      <p:sp>
        <p:nvSpPr>
          <p:cNvPr id="23" name="R3_tk680"/>
          <p:cNvSpPr/>
          <p:nvPr/>
        </p:nvSpPr>
        <p:spPr>
          <a:xfrm>
            <a:off x="5989320" y="2660904"/>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4" name="cd_681"/>
          <p:cNvSpPr/>
          <p:nvPr/>
        </p:nvSpPr>
        <p:spPr>
          <a:xfrm>
            <a:off x="548640" y="3227832"/>
            <a:ext cx="6035040" cy="530352"/>
          </a:xfrm>
          <a:prstGeom prst="roundRect">
            <a:avLst>
              <a:gd name="adj" fmla="val 24138"/>
            </a:avLst>
          </a:prstGeom>
          <a:solidFill>
            <a:srgbClr val="FFFFFF"/>
          </a:solidFill>
          <a:ln w="28575">
            <a:solidFill>
              <a:srgbClr val="FFE07A"/>
            </a:solidFill>
            <a:prstDash val="solid"/>
          </a:ln>
          <a:effectLst>
            <a:outerShdw sx="100000" sy="100000" kx="0" ky="0" algn="bl" rotWithShape="0" blurRad="88900" dist="31750" dir="5400000">
              <a:srgbClr val="1B2559">
                <a:alpha val="12000"/>
              </a:srgbClr>
            </a:outerShdw>
          </a:effectLst>
        </p:spPr>
      </p:sp>
      <p:sp>
        <p:nvSpPr>
          <p:cNvPr id="25" name="te_682"/>
          <p:cNvSpPr/>
          <p:nvPr/>
        </p:nvSpPr>
        <p:spPr>
          <a:xfrm>
            <a:off x="640080" y="3264408"/>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6" name="tt_683"/>
          <p:cNvSpPr/>
          <p:nvPr/>
        </p:nvSpPr>
        <p:spPr>
          <a:xfrm>
            <a:off x="1188720" y="3227832"/>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Listened to a class story and answered questions</a:t>
            </a:r>
            <a:endParaRPr lang="en-US" sz="1350" dirty="0"/>
          </a:p>
        </p:txBody>
      </p:sp>
      <p:sp>
        <p:nvSpPr>
          <p:cNvPr id="27" name="R4_tk684"/>
          <p:cNvSpPr/>
          <p:nvPr/>
        </p:nvSpPr>
        <p:spPr>
          <a:xfrm>
            <a:off x="5989320" y="3264408"/>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8" name="cd_685"/>
          <p:cNvSpPr/>
          <p:nvPr/>
        </p:nvSpPr>
        <p:spPr>
          <a:xfrm>
            <a:off x="548640" y="3831336"/>
            <a:ext cx="6035040" cy="530352"/>
          </a:xfrm>
          <a:prstGeom prst="roundRect">
            <a:avLst>
              <a:gd name="adj" fmla="val 24138"/>
            </a:avLst>
          </a:prstGeom>
          <a:solidFill>
            <a:srgbClr val="FFFFFF"/>
          </a:solidFill>
          <a:ln w="28575">
            <a:solidFill>
              <a:srgbClr val="F7A6C4"/>
            </a:solidFill>
            <a:prstDash val="solid"/>
          </a:ln>
          <a:effectLst>
            <a:outerShdw sx="100000" sy="100000" kx="0" ky="0" algn="bl" rotWithShape="0" blurRad="88900" dist="31750" dir="5400000">
              <a:srgbClr val="1B2559">
                <a:alpha val="12000"/>
              </a:srgbClr>
            </a:outerShdw>
          </a:effectLst>
        </p:spPr>
      </p:sp>
      <p:sp>
        <p:nvSpPr>
          <p:cNvPr id="29" name="te_686"/>
          <p:cNvSpPr/>
          <p:nvPr/>
        </p:nvSpPr>
        <p:spPr>
          <a:xfrm>
            <a:off x="640080" y="3867912"/>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0" name="tt_687"/>
          <p:cNvSpPr/>
          <p:nvPr/>
        </p:nvSpPr>
        <p:spPr>
          <a:xfrm>
            <a:off x="1188720" y="3831336"/>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Talked about the future: plans, offers, promises</a:t>
            </a:r>
            <a:endParaRPr lang="en-US" sz="1350" dirty="0"/>
          </a:p>
        </p:txBody>
      </p:sp>
      <p:sp>
        <p:nvSpPr>
          <p:cNvPr id="31" name="R5_tk688"/>
          <p:cNvSpPr/>
          <p:nvPr/>
        </p:nvSpPr>
        <p:spPr>
          <a:xfrm>
            <a:off x="5989320" y="3867912"/>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2" name="st_689"/>
          <p:cNvSpPr/>
          <p:nvPr/>
        </p:nvSpPr>
        <p:spPr>
          <a:xfrm rot="180000">
            <a:off x="6949440" y="1691640"/>
            <a:ext cx="1828800" cy="1188720"/>
          </a:xfrm>
          <a:prstGeom prst="rect">
            <a:avLst/>
          </a:prstGeom>
          <a:solidFill>
            <a:srgbClr val="FFE07A"/>
          </a:solidFill>
          <a:ln>
            <a:solidFill>
              <a:srgbClr val="FFE07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  👌  👎</a:t>
            </a:r>
            <a:endParaRPr lang="en-US" sz="1300" dirty="0"/>
          </a:p>
          <a:p>
            <a:pPr algn="ct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Can you do it now?</a:t>
            </a:r>
            <a:endParaRPr lang="en-US" sz="1300" dirty="0"/>
          </a:p>
          <a:p>
            <a:pPr algn="ct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Ora sai farlo?</a:t>
            </a:r>
            <a:endParaRPr lang="en-US" sz="13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4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4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dv_690"/>
          <p:cNvSpPr/>
          <p:nvPr/>
        </p:nvSpPr>
        <p:spPr>
          <a:xfrm>
            <a:off x="4023360" y="914400"/>
            <a:ext cx="1097280" cy="914400"/>
          </a:xfrm>
          <a:prstGeom prst="rect">
            <a:avLst/>
          </a:prstGeom>
          <a:noFill/>
          <a:ln/>
        </p:spPr>
        <p:txBody>
          <a:bodyPr wrap="square" lIns="0" tIns="0" rIns="0" bIns="0" rtlCol="0" anchor="ctr"/>
          <a:lstStyle/>
          <a:p>
            <a:pPr algn="ctr" indent="0" marL="0">
              <a:buNone/>
            </a:pPr>
            <a:r>
              <a:rPr lang="en-US" sz="5400" dirty="0">
                <a:solidFill>
                  <a:srgbClr val="000000"/>
                </a:solidFill>
              </a:rPr>
              <a:t>⭐</a:t>
            </a:r>
            <a:endParaRPr lang="en-US" sz="5400" dirty="0"/>
          </a:p>
        </p:txBody>
      </p:sp>
      <p:sp>
        <p:nvSpPr>
          <p:cNvPr id="4" name="dvt_691"/>
          <p:cNvSpPr/>
          <p:nvPr/>
        </p:nvSpPr>
        <p:spPr>
          <a:xfrm>
            <a:off x="914400" y="1828800"/>
            <a:ext cx="7315200" cy="731520"/>
          </a:xfrm>
          <a:prstGeom prst="rect">
            <a:avLst/>
          </a:prstGeom>
          <a:noFill/>
          <a:ln/>
        </p:spPr>
        <p:txBody>
          <a:bodyPr wrap="square" lIns="0" tIns="0" rIns="0" bIns="0" rtlCol="0" anchor="ctr"/>
          <a:lstStyle/>
          <a:p>
            <a:pPr algn="ctr" indent="0" marL="0">
              <a:buNone/>
            </a:pPr>
            <a:r>
              <a:rPr lang="en-US" sz="3400" dirty="0">
                <a:solidFill>
                  <a:srgbClr val="1B2559"/>
                </a:solidFill>
                <a:latin typeface="Arial Rounded MT Bold" pitchFamily="34" charset="0"/>
                <a:ea typeface="Arial Rounded MT Bold" pitchFamily="34" charset="-122"/>
                <a:cs typeface="Arial Rounded MT Bold" pitchFamily="34" charset="-120"/>
              </a:rPr>
              <a:t>Optional extensions</a:t>
            </a:r>
            <a:endParaRPr lang="en-US" sz="3400" dirty="0"/>
          </a:p>
        </p:txBody>
      </p:sp>
      <p:sp>
        <p:nvSpPr>
          <p:cNvPr id="5" name="dvs_692"/>
          <p:cNvSpPr/>
          <p:nvPr/>
        </p:nvSpPr>
        <p:spPr>
          <a:xfrm>
            <a:off x="914400" y="2606040"/>
            <a:ext cx="7315200" cy="457200"/>
          </a:xfrm>
          <a:prstGeom prst="rect">
            <a:avLst/>
          </a:prstGeom>
          <a:noFill/>
          <a:ln/>
        </p:spPr>
        <p:txBody>
          <a:bodyPr wrap="square" lIns="0" tIns="0" rIns="0" bIns="0" rtlCol="0" anchor="ctr"/>
          <a:lstStyle/>
          <a:p>
            <a:pPr algn="ctr" indent="0" marL="0">
              <a:buNone/>
            </a:pPr>
            <a:r>
              <a:rPr lang="en-US" sz="1250" i="1" dirty="0">
                <a:solidFill>
                  <a:srgbClr val="5B6785"/>
                </a:solidFill>
                <a:latin typeface="Segoe UI Semibold" pitchFamily="34" charset="0"/>
                <a:ea typeface="Segoe UI Semibold" pitchFamily="34" charset="-122"/>
                <a:cs typeface="Segoe UI Semibold" pitchFamily="34" charset="-120"/>
              </a:rPr>
              <a:t>Only if there's time – the lesson is finished. · Solo se c'è tempo – la lezione è finita.</a:t>
            </a:r>
            <a:endParaRPr lang="en-US" sz="1250" dirty="0"/>
          </a:p>
        </p:txBody>
      </p:sp>
      <p:pic>
        <p:nvPicPr>
          <p:cNvPr id="6" name="logo_693" descr="/home/claude/lls-course/v2/img/logo.png">    </p:cNvPr>
          <p:cNvPicPr>
            <a:picLocks noChangeAspect="1"/>
          </p:cNvPicPr>
          <p:nvPr/>
        </p:nvPicPr>
        <p:blipFill>
          <a:blip r:embed="rId2"/>
          <a:stretch>
            <a:fillRect/>
          </a:stretch>
        </p:blipFill>
        <p:spPr>
          <a:xfrm>
            <a:off x="8485632" y="4526280"/>
            <a:ext cx="502920" cy="502920"/>
          </a:xfrm>
          <a:prstGeom prst="rect">
            <a:avLst/>
          </a:prstGeom>
        </p:spPr>
      </p:pic>
    </p:spTree>
  </p:cSld>
  <p:clrMapOvr>
    <a:masterClrMapping/>
  </p:clrMapOvr>
  <p:transition spd="med">
    <p:push dir="l"/>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694"/>
          <p:cNvSpPr/>
          <p:nvPr/>
        </p:nvSpPr>
        <p:spPr>
          <a:xfrm>
            <a:off x="201168" y="164592"/>
            <a:ext cx="841248" cy="841248"/>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24</a:t>
            </a:r>
            <a:endParaRPr lang="en-US" sz="2200" dirty="0"/>
          </a:p>
        </p:txBody>
      </p:sp>
      <p:pic>
        <p:nvPicPr>
          <p:cNvPr id="4" name="brY_695" descr="/home/claude/lls-course/v2/assets/brush-yellow.png">    </p:cNvPr>
          <p:cNvPicPr>
            <a:picLocks noChangeAspect="1"/>
          </p:cNvPicPr>
          <p:nvPr/>
        </p:nvPicPr>
        <p:blipFill>
          <a:blip r:embed="rId2"/>
          <a:stretch>
            <a:fillRect/>
          </a:stretch>
        </p:blipFill>
        <p:spPr>
          <a:xfrm>
            <a:off x="1097280" y="146304"/>
            <a:ext cx="3247949" cy="621792"/>
          </a:xfrm>
          <a:prstGeom prst="rect">
            <a:avLst/>
          </a:prstGeom>
        </p:spPr>
      </p:pic>
      <p:sp>
        <p:nvSpPr>
          <p:cNvPr id="5" name="title_696"/>
          <p:cNvSpPr/>
          <p:nvPr/>
        </p:nvSpPr>
        <p:spPr>
          <a:xfrm>
            <a:off x="1261872" y="164592"/>
            <a:ext cx="2973629"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Find in the text</a:t>
            </a:r>
            <a:endParaRPr lang="en-US" sz="2500" dirty="0"/>
          </a:p>
        </p:txBody>
      </p:sp>
      <p:pic>
        <p:nvPicPr>
          <p:cNvPr id="6" name="brP_697" descr="/home/claude/lls-course/v2/assets/brush-pink.png">    </p:cNvPr>
          <p:cNvPicPr>
            <a:picLocks noChangeAspect="1"/>
          </p:cNvPicPr>
          <p:nvPr/>
        </p:nvPicPr>
        <p:blipFill>
          <a:blip r:embed="rId3"/>
          <a:stretch>
            <a:fillRect/>
          </a:stretch>
        </p:blipFill>
        <p:spPr>
          <a:xfrm>
            <a:off x="1207008" y="731520"/>
            <a:ext cx="3771900" cy="402336"/>
          </a:xfrm>
          <a:prstGeom prst="rect">
            <a:avLst/>
          </a:prstGeom>
        </p:spPr>
      </p:pic>
      <p:sp>
        <p:nvSpPr>
          <p:cNvPr id="7" name="ins_698"/>
          <p:cNvSpPr/>
          <p:nvPr/>
        </p:nvSpPr>
        <p:spPr>
          <a:xfrm>
            <a:off x="1353312" y="731520"/>
            <a:ext cx="351586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Find a word in the text that means…</a:t>
            </a:r>
            <a:endParaRPr lang="en-US" sz="1250" dirty="0"/>
          </a:p>
        </p:txBody>
      </p:sp>
      <p:sp>
        <p:nvSpPr>
          <p:cNvPr id="8" name="insIT_699"/>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Trova nel testo una parola che significa…</a:t>
            </a:r>
            <a:endParaRPr lang="en-US" sz="950" dirty="0"/>
          </a:p>
        </p:txBody>
      </p:sp>
      <p:sp>
        <p:nvSpPr>
          <p:cNvPr id="9" name="note_700"/>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FIND</a:t>
            </a:r>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 TROVA</a:t>
            </a:r>
            <a:endParaRPr lang="en-US" sz="12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2 min   👥 pairs</a:t>
            </a:r>
            <a:endParaRPr lang="en-US" sz="12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Vocabulary · Guided discovery</a:t>
            </a:r>
            <a:endParaRPr lang="en-US" sz="1250" dirty="0"/>
          </a:p>
        </p:txBody>
      </p:sp>
      <p:pic>
        <p:nvPicPr>
          <p:cNvPr id="10" name="logo_701"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702"/>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1B-1 · Reading · vocabulary from the text</a:t>
            </a:r>
            <a:endParaRPr lang="en-US" sz="800" dirty="0"/>
          </a:p>
        </p:txBody>
      </p:sp>
      <p:sp>
        <p:nvSpPr>
          <p:cNvPr id="12" name="ext_703"/>
          <p:cNvSpPr/>
          <p:nvPr/>
        </p:nvSpPr>
        <p:spPr>
          <a:xfrm>
            <a:off x="5120640" y="4727448"/>
            <a:ext cx="3291840" cy="310896"/>
          </a:xfrm>
          <a:prstGeom prst="roundRect">
            <a:avLst>
              <a:gd name="adj" fmla="val 50000"/>
            </a:avLst>
          </a:prstGeom>
          <a:solidFill>
            <a:srgbClr val="EEE8FB"/>
          </a:solidFill>
          <a:ln w="28575">
            <a:solidFill>
              <a:srgbClr val="CDBFF3"/>
            </a:solidFill>
          </a:ln>
        </p:spPr>
        <p:txBody>
          <a:bodyPr wrap="square" lIns="0" tIns="0" rIns="0" bIns="0" rtlCol="0" anchor="ctr"/>
          <a:lstStyle/>
          <a:p>
            <a:pPr algn="ctr" indent="0" marL="0">
              <a:buNone/>
            </a:pPr>
            <a:r>
              <a:rPr lang="en-US" sz="1050" dirty="0">
                <a:solidFill>
                  <a:srgbClr val="7B5CD6"/>
                </a:solidFill>
                <a:latin typeface="Arial Rounded MT Bold" pitchFamily="34" charset="0"/>
                <a:ea typeface="Arial Rounded MT Bold" pitchFamily="34" charset="-122"/>
                <a:cs typeface="Arial Rounded MT Bold" pitchFamily="34" charset="-120"/>
              </a:rPr>
              <a:t>⭐ OPTIONAL EXTENSION · only if there's time</a:t>
            </a:r>
            <a:endParaRPr lang="en-US" sz="1050" dirty="0"/>
          </a:p>
        </p:txBody>
      </p:sp>
      <p:sp>
        <p:nvSpPr>
          <p:cNvPr id="13" name="pf_704"/>
          <p:cNvSpPr/>
          <p:nvPr/>
        </p:nvSpPr>
        <p:spPr>
          <a:xfrm rot="-90000">
            <a:off x="365760" y="1900595"/>
            <a:ext cx="2606040" cy="2142411"/>
          </a:xfrm>
          <a:prstGeom prst="roundRect">
            <a:avLst>
              <a:gd name="adj" fmla="val 7256"/>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4" name="ph_705" descr="/home/claude/lls-course/v2/cache/1b1_phone_row_jpg_605x493_31.png">    </p:cNvPr>
          <p:cNvPicPr>
            <a:picLocks noChangeAspect="1"/>
          </p:cNvPicPr>
          <p:nvPr/>
        </p:nvPicPr>
        <p:blipFill>
          <a:blip r:embed="rId5"/>
          <a:stretch>
            <a:fillRect/>
          </a:stretch>
        </p:blipFill>
        <p:spPr>
          <a:xfrm rot="-90000">
            <a:off x="411480" y="1946315"/>
            <a:ext cx="2514600" cy="2050971"/>
          </a:xfrm>
          <a:prstGeom prst="rect">
            <a:avLst/>
          </a:prstGeom>
        </p:spPr>
      </p:pic>
      <p:sp>
        <p:nvSpPr>
          <p:cNvPr id="15" name="bd_706"/>
          <p:cNvSpPr/>
          <p:nvPr/>
        </p:nvSpPr>
        <p:spPr>
          <a:xfrm>
            <a:off x="3246120" y="1490472"/>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16" name="q_707"/>
          <p:cNvSpPr/>
          <p:nvPr/>
        </p:nvSpPr>
        <p:spPr>
          <a:xfrm>
            <a:off x="3630168" y="1417320"/>
            <a:ext cx="2103120" cy="457200"/>
          </a:xfrm>
          <a:prstGeom prst="roundRect">
            <a:avLst>
              <a:gd name="adj" fmla="val 20000"/>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arguments</a:t>
            </a:r>
            <a:endParaRPr lang="en-US" sz="1150" dirty="0"/>
          </a:p>
        </p:txBody>
      </p:sp>
      <p:sp>
        <p:nvSpPr>
          <p:cNvPr id="17" name="R1_chip708"/>
          <p:cNvSpPr/>
          <p:nvPr/>
        </p:nvSpPr>
        <p:spPr>
          <a:xfrm>
            <a:off x="5806440" y="1417320"/>
            <a:ext cx="3063240" cy="457200"/>
          </a:xfrm>
          <a:prstGeom prst="roundRect">
            <a:avLst>
              <a:gd name="adj" fmla="val 20000"/>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rows</a:t>
            </a:r>
            <a:endParaRPr lang="en-US" sz="1050" dirty="0"/>
          </a:p>
        </p:txBody>
      </p:sp>
      <p:sp>
        <p:nvSpPr>
          <p:cNvPr id="18" name="bd_709"/>
          <p:cNvSpPr/>
          <p:nvPr/>
        </p:nvSpPr>
        <p:spPr>
          <a:xfrm>
            <a:off x="3246120" y="1993392"/>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19" name="q_710"/>
          <p:cNvSpPr/>
          <p:nvPr/>
        </p:nvSpPr>
        <p:spPr>
          <a:xfrm>
            <a:off x="3630168" y="1920240"/>
            <a:ext cx="2103120" cy="457200"/>
          </a:xfrm>
          <a:prstGeom prst="roundRect">
            <a:avLst>
              <a:gd name="adj" fmla="val 20000"/>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a family with only a mum or only a dad</a:t>
            </a:r>
            <a:endParaRPr lang="en-US" sz="1150" dirty="0"/>
          </a:p>
        </p:txBody>
      </p:sp>
      <p:sp>
        <p:nvSpPr>
          <p:cNvPr id="20" name="R2_chip711"/>
          <p:cNvSpPr/>
          <p:nvPr/>
        </p:nvSpPr>
        <p:spPr>
          <a:xfrm>
            <a:off x="5806440" y="1920240"/>
            <a:ext cx="3063240" cy="457200"/>
          </a:xfrm>
          <a:prstGeom prst="roundRect">
            <a:avLst>
              <a:gd name="adj" fmla="val 20000"/>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a single-parent family</a:t>
            </a:r>
            <a:endParaRPr lang="en-US" sz="1050" dirty="0"/>
          </a:p>
        </p:txBody>
      </p:sp>
      <p:sp>
        <p:nvSpPr>
          <p:cNvPr id="21" name="bd_712"/>
          <p:cNvSpPr/>
          <p:nvPr/>
        </p:nvSpPr>
        <p:spPr>
          <a:xfrm>
            <a:off x="3246120" y="2496312"/>
            <a:ext cx="310896" cy="310896"/>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22" name="q_713"/>
          <p:cNvSpPr/>
          <p:nvPr/>
        </p:nvSpPr>
        <p:spPr>
          <a:xfrm>
            <a:off x="3630168" y="2423160"/>
            <a:ext cx="2103120" cy="457200"/>
          </a:xfrm>
          <a:prstGeom prst="roundRect">
            <a:avLst>
              <a:gd name="adj" fmla="val 20000"/>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your husband's or wife's children from before</a:t>
            </a:r>
            <a:endParaRPr lang="en-US" sz="1100" dirty="0"/>
          </a:p>
        </p:txBody>
      </p:sp>
      <p:sp>
        <p:nvSpPr>
          <p:cNvPr id="23" name="R3_chip714"/>
          <p:cNvSpPr/>
          <p:nvPr/>
        </p:nvSpPr>
        <p:spPr>
          <a:xfrm>
            <a:off x="5806440" y="2423160"/>
            <a:ext cx="3063240" cy="457200"/>
          </a:xfrm>
          <a:prstGeom prst="roundRect">
            <a:avLst>
              <a:gd name="adj" fmla="val 20000"/>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stepchildren</a:t>
            </a:r>
            <a:endParaRPr lang="en-US" sz="1050" dirty="0"/>
          </a:p>
        </p:txBody>
      </p:sp>
      <p:sp>
        <p:nvSpPr>
          <p:cNvPr id="24" name="bd_715"/>
          <p:cNvSpPr/>
          <p:nvPr/>
        </p:nvSpPr>
        <p:spPr>
          <a:xfrm>
            <a:off x="3246120" y="2999232"/>
            <a:ext cx="310896" cy="310896"/>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25" name="q_716"/>
          <p:cNvSpPr/>
          <p:nvPr/>
        </p:nvSpPr>
        <p:spPr>
          <a:xfrm>
            <a:off x="3630168" y="2926080"/>
            <a:ext cx="2103120" cy="457200"/>
          </a:xfrm>
          <a:prstGeom prst="roundRect">
            <a:avLst>
              <a:gd name="adj" fmla="val 20000"/>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usually · as a number</a:t>
            </a:r>
            <a:endParaRPr lang="en-US" sz="1150" dirty="0"/>
          </a:p>
        </p:txBody>
      </p:sp>
      <p:sp>
        <p:nvSpPr>
          <p:cNvPr id="26" name="R4_chip717"/>
          <p:cNvSpPr/>
          <p:nvPr/>
        </p:nvSpPr>
        <p:spPr>
          <a:xfrm>
            <a:off x="5806440" y="2926080"/>
            <a:ext cx="3063240" cy="457200"/>
          </a:xfrm>
          <a:prstGeom prst="roundRect">
            <a:avLst>
              <a:gd name="adj" fmla="val 20000"/>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on average</a:t>
            </a:r>
            <a:endParaRPr lang="en-US" sz="1050" dirty="0"/>
          </a:p>
        </p:txBody>
      </p:sp>
      <p:sp>
        <p:nvSpPr>
          <p:cNvPr id="27" name="bd_718"/>
          <p:cNvSpPr/>
          <p:nvPr/>
        </p:nvSpPr>
        <p:spPr>
          <a:xfrm>
            <a:off x="3246120" y="3502152"/>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28" name="q_719"/>
          <p:cNvSpPr/>
          <p:nvPr/>
        </p:nvSpPr>
        <p:spPr>
          <a:xfrm>
            <a:off x="3630168" y="3429000"/>
            <a:ext cx="2103120" cy="457200"/>
          </a:xfrm>
          <a:prstGeom prst="roundRect">
            <a:avLst>
              <a:gd name="adj" fmla="val 20000"/>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say 'no' to doing something</a:t>
            </a:r>
            <a:endParaRPr lang="en-US" sz="1150" dirty="0"/>
          </a:p>
        </p:txBody>
      </p:sp>
      <p:sp>
        <p:nvSpPr>
          <p:cNvPr id="29" name="R5_chip720"/>
          <p:cNvSpPr/>
          <p:nvPr/>
        </p:nvSpPr>
        <p:spPr>
          <a:xfrm>
            <a:off x="5806440" y="3429000"/>
            <a:ext cx="3063240" cy="457200"/>
          </a:xfrm>
          <a:prstGeom prst="roundRect">
            <a:avLst>
              <a:gd name="adj" fmla="val 20000"/>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refuse (refusing to)</a:t>
            </a:r>
            <a:endParaRPr lang="en-US" sz="1050" dirty="0"/>
          </a:p>
        </p:txBody>
      </p:sp>
      <p:sp>
        <p:nvSpPr>
          <p:cNvPr id="30" name="bd_721"/>
          <p:cNvSpPr/>
          <p:nvPr/>
        </p:nvSpPr>
        <p:spPr>
          <a:xfrm>
            <a:off x="3246120" y="4005072"/>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6</a:t>
            </a:r>
            <a:endParaRPr lang="en-US" sz="1000" dirty="0"/>
          </a:p>
        </p:txBody>
      </p:sp>
      <p:sp>
        <p:nvSpPr>
          <p:cNvPr id="31" name="q_722"/>
          <p:cNvSpPr/>
          <p:nvPr/>
        </p:nvSpPr>
        <p:spPr>
          <a:xfrm>
            <a:off x="3630168" y="3931920"/>
            <a:ext cx="2103120" cy="457200"/>
          </a:xfrm>
          <a:prstGeom prst="roundRect">
            <a:avLst>
              <a:gd name="adj" fmla="val 20000"/>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have no contact with</a:t>
            </a:r>
            <a:endParaRPr lang="en-US" sz="1150" dirty="0"/>
          </a:p>
        </p:txBody>
      </p:sp>
      <p:sp>
        <p:nvSpPr>
          <p:cNvPr id="32" name="R6_chip723"/>
          <p:cNvSpPr/>
          <p:nvPr/>
        </p:nvSpPr>
        <p:spPr>
          <a:xfrm>
            <a:off x="5806440" y="3931920"/>
            <a:ext cx="3063240" cy="457200"/>
          </a:xfrm>
          <a:prstGeom prst="roundRect">
            <a:avLst>
              <a:gd name="adj" fmla="val 20000"/>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never speak to</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4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400"/>
                                        <p:tgtEl>
                                          <p:spTgt spid="2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400"/>
                                        <p:tgtEl>
                                          <p:spTgt spid="2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2"/>
                                        </p:tgtEl>
                                        <p:attrNameLst>
                                          <p:attrName>style.visibility</p:attrName>
                                        </p:attrNameLst>
                                      </p:cBhvr>
                                      <p:to>
                                        <p:strVal val="visible"/>
                                      </p:to>
                                    </p:set>
                                    <p:animEffect transition="in" filter="fade">
                                      <p:cBhvr>
                                        <p:cTn id="32"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1B-1 Modern families</dc:title>
  <dc:subject>PptxGenJS Presentation</dc:subject>
  <dc:creator>PptxGenJS</dc:creator>
  <cp:lastModifiedBy>PptxGenJS</cp:lastModifiedBy>
  <cp:revision>1</cp:revision>
  <dcterms:created xsi:type="dcterms:W3CDTF">2026-10-21T09:54:48Z</dcterms:created>
  <dcterms:modified xsi:type="dcterms:W3CDTF">2026-10-21T09:54:48Z</dcterms:modified>
</cp:coreProperties>
</file>