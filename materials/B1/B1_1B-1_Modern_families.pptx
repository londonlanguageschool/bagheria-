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take 3–4 ideas (e.g. step-families, fewer children, everyone on their phones…). Read the 'Today you're going to…' list together: students know where the lesson is going. Don't teach words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column from students (e.g. 'What are you doing these days?'). Point at the time words: they tell you which tense. Then play 'Answers first!' – the answers in the game use exactly these two tenses and food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Two teams. Click once per line to show a possible question (accept any correct question in the right tense). Point for a correct question, +1 if the tense matches the answer (do/does vs am/is/are). ICQ: 'Are you writing answers or questions?'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family (5 min)
ELICIT FIRST (4 min). Demo item 0 with the class. Pairs explain each pair of words in English (Italian allowed only as a last resort). Click once per item to reveal. Monitor and note which words are new. ICQs: 'Are you writing?' (no, talking) · 'In English or Italian?' (English).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Spend 20 seconds on the warning: 'parents' is NOT 'parenti' (false friend), and English has two words for 'nipote'. Quick CCQ: 'My dad's new wife – is she my mum?' (no) 'So she's my…?' (stepmother).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practice (3 min)
CONTROLLED PRACTICE (2 min). Pairs: 'Number 1 is her great-grandmother.' Click once per number. Fast finishers: invent the next relationship (e.g. 'the baby is her niece'). The people and relationships are invented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2 (3 min). Demo first with a strong student: 'It's your dad's wife, but not your mum' → stepmother. Click to show each word (round 1 = 4 words for A, round 2 = 4 words for B, B faces the screen).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(2 min)
PREDICTION (2 min). Read the introduction aloud. Check 'survey' (sondaggio) and 'statistics'. Pairs look at the number bank and commit to guesses on the next two slides — every pair must guess before checking. ICQ: 'Are you checking or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Family structure (3 min)
READ + CHECK (3 min). Pairs write their guesses for gaps 1–5. Play 1.14 (or read the text aloud if the audio isn't in the deck yet). Click once per gap: the answer appears highlighted IN the text. Answers (audio script): 1 14% · 2 45% · 3 40% · 4 30 · 5 32. Ask: 'Which number surprises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Family habits (3 min)
READ + CHECK (3 min). Same procedure. Answers: 6 10% · 7 17% · 8 2. Vocabulary from context: row /raʊ/ = argument (litigio) – NOT row /rəʊ/ (fila); refuse = say no. The photo is the clue for 'rows'. Extra slide (after the exit) = 'Find in the text' if there's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Sicily vs the UK (5 min)
SPEAKING (4 min). Questions appear ONE PER CLICK: give groups about 40 seconds per question, then click. Teach the polite refusal first (yellow box): anyone can use it — no one has to talk about their family. Monitor and note 4–5 errors for delayed correction (don't interrupt). Feedback on question 1: what's different in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gist (3 min)
GIST (3 min). Pictures (left to right) = A, B, C. Before listening: 'Who are the people? Where are they?' Play 1.15 ONCE. Pairs compare, then click once per conversation. Answers (TG): 1 C – what Adam's going to do next year · 2 A – a party she's going to · 3 B – whether he can borrow her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detail (4 min)
DETAIL (4 min). Pairs guess first (extra challenge from the TG). Play again, pausing after each conversation. Click once per sentence. Answers: a going to go · b Shall I make · c 'm staying · d 's going to be · e 'll drive · f 'll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Noticing · the conversations (2 min)
NOTICING (2 min). Text from the audio script. Pairs underline the future forms; click once per line to highlight them. This leads straight into the next slide (what does each form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future forms (3 min)
GUIDED DISCOVERY (3 min). Pairs match a–f to the five uses. Click once per sentence. Answers (TG): plan a · prediction d, e · offer b · arrangement c · promise f. CCQ for c: 'Has she already organised it?' (yes – Katie knows) →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the rule (3 min)
RULE (3 min). Click once per column: the examples appear (meaning first, then form). Optional: play 1.16 (Grammar Bank listen and repeat). Last click = the Italian-speaker warning. CCQs: 'It's going to rain – can you see something?' (yes, clouds) · 'I'll carry it – did I decide before?' (no,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class story (TPRS) (4 min)
TPRS CLASS STORY (4 min) – this comes straight after the rule, so students hear all five future uses (arrangement, plan, offer, promise, prediction with evidence) 15–20 times in a context BEFORE the 'Quick! Say it!' game and the pronunciation and mingle tasks. It also recycles today's family words (stepsister, grandpa). Click once per line. For each line: 1) say it, 2) ask the questions in grey round the class (yes/no → either/or → who/what), 3) let the CLASS change details: 'Is Giada getting married? No? Who is getting married?' – accept their idea and use it in later lines (change the food in line 6 too!). Students answer with one word or a short phrase – that's fine. As you go, point at the form and ask 'Plan or promise?' (line 2 plan · 3 offer · 4 promise · 5 prediction – we can SEE the dog · 6 instant decision).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3 (3 min). Read each situation; teams have 10 seconds to say (or write) a reply with the right future form. Click to show a model answer. Accept any correct reply. Point only if the future form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Pronunciation · sentence stress (3 min)
PRONUNCIATION (3 min). Model first: 'I'm going to LOOK for a JOB' (audio 1.20) – the small words are fast and weak (going to = /ɡəʊɪŋ tə/). Play 1.21, pausing. Click 1 = the stressed words, click 2 = the full sentence (for each sentence). Then drill: chorally, then individually. Italian speakers give every word equal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future plans (4 min)
FREER PRACTICE (3 min). Mingle. Questions appear one per click (show all 5, then let them mingle). Model the rhythm first. Feedback: 2–3 students report one thing they found out. Then 1 minute of delayed error correction (errors noted during both speaking tasks): write them on the board,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family words, 2 future sentences, 1 weekend plan. A few students share. Set homework (on the slide and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Reading · vocabulary from the text (2 min)
EXTRA (2 min, if there's time). Vocabulary from context.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slideLayout" Target="../slideLayouts/slideLayout1.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pp.10–11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Families, plans and the future</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your family</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 survey about British families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three family conversations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the future: plans, offers, promises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families are smaller now, and everyone is on their phone!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makes a family "modern"?</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2_dad_cook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1A: food, cooking and eating habits</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present simple vs continuous</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usually have pasta on Sundays.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often do you eat out?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doesn't like spicy food.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every day · usually · never</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continuous = now / these days</a:t>
            </a:r>
            <a:endParaRPr lang="en-US" sz="11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cooking dinner right now.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trying to eat less sugar.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you watching TV?</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at the moment · this week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spicy</a:t>
            </a:r>
            <a:endParaRPr lang="en-US" sz="1050" dirty="0"/>
          </a:p>
        </p:txBody>
      </p:sp>
      <p:sp>
        <p:nvSpPr>
          <p:cNvPr id="28" name="w_42"/>
          <p:cNvSpPr/>
          <p:nvPr/>
        </p:nvSpPr>
        <p:spPr>
          <a:xfrm>
            <a:off x="4027932"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29" name="w_43"/>
          <p:cNvSpPr/>
          <p:nvPr/>
        </p:nvSpPr>
        <p:spPr>
          <a:xfrm>
            <a:off x="5042916"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eat out</a:t>
            </a:r>
            <a:endParaRPr lang="en-US" sz="1050" dirty="0"/>
          </a:p>
        </p:txBody>
      </p:sp>
      <p:sp>
        <p:nvSpPr>
          <p:cNvPr id="30" name="w_44"/>
          <p:cNvSpPr/>
          <p:nvPr/>
        </p:nvSpPr>
        <p:spPr>
          <a:xfrm>
            <a:off x="5980176" y="4178808"/>
            <a:ext cx="55321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1" name="w_45"/>
          <p:cNvSpPr/>
          <p:nvPr/>
        </p:nvSpPr>
        <p:spPr>
          <a:xfrm>
            <a:off x="660654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2" name="w_46"/>
          <p:cNvSpPr/>
          <p:nvPr/>
        </p:nvSpPr>
        <p:spPr>
          <a:xfrm>
            <a:off x="746607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roast</a:t>
            </a:r>
            <a:endParaRPr lang="en-US" sz="1050" dirty="0"/>
          </a:p>
        </p:txBody>
      </p:sp>
      <p:sp>
        <p:nvSpPr>
          <p:cNvPr id="33" name="w_47"/>
          <p:cNvSpPr/>
          <p:nvPr/>
        </p:nvSpPr>
        <p:spPr>
          <a:xfrm>
            <a:off x="3246120"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cut down on</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Answers first!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answer. Write the question!</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risposta. Scrivi la domanda!</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Warmer · last lesson   ·   📖 Recycles 30 Sept: present simple and continuous, food</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ANSWER.</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la RISPOSTA.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In teams, write the QUESTION.</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In squadra, scrivete la DOMANDA.</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Correct question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Domanda corretta = 1 punto.</a:t>
            </a:r>
            <a:endParaRPr lang="en-US" sz="110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"Twice a week. I love it!"</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often do you eat pizza?</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 I'm not. I'm doing my homework."</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watching TV?</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 I don't. It's too spicy."</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like chilli?</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"Because I'm trying to eat less sugar."</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Why aren't you having dessert?</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my nonna's, every Sunday."</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do you have lunch on Sundays?</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"Pasta with sardines!"</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8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difference?</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difference to your partner.</a:t>
            </a:r>
            <a:endParaRPr lang="en-US" sz="1250" dirty="0"/>
          </a:p>
        </p:txBody>
      </p:sp>
      <p:sp>
        <p:nvSpPr>
          <p:cNvPr id="8" name="insIT_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differenza al compagno.</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9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Vocabulary · family   ·   📖 SB p.10 · 1a</a:t>
            </a:r>
            <a:endParaRPr lang="en-US" sz="800" dirty="0"/>
          </a:p>
        </p:txBody>
      </p:sp>
      <p:sp>
        <p:nvSpPr>
          <p:cNvPr id="14" name="cd_9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6"/>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mum / grandmother → your grandmother is your mum's or dad's mum</a:t>
            </a:r>
            <a:endParaRPr lang="en-US" sz="1050" dirty="0"/>
          </a:p>
        </p:txBody>
      </p:sp>
      <p:sp>
        <p:nvSpPr>
          <p:cNvPr id="18" name="pf_9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8" descr="/home/claude/lls-course/v2/cache/1b1_wedd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9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father / parent</a:t>
            </a:r>
            <a:endParaRPr lang="en-US" sz="1150" dirty="0"/>
          </a:p>
        </p:txBody>
      </p:sp>
      <p:sp>
        <p:nvSpPr>
          <p:cNvPr id="22" name="R1_chip101"/>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father = male parent · parent = mum or dad</a:t>
            </a:r>
            <a:endParaRPr lang="en-US" sz="1000" dirty="0"/>
          </a:p>
        </p:txBody>
      </p:sp>
      <p:sp>
        <p:nvSpPr>
          <p:cNvPr id="23" name="bd_10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mother / stepmother</a:t>
            </a:r>
            <a:endParaRPr lang="en-US" sz="1150" dirty="0"/>
          </a:p>
        </p:txBody>
      </p:sp>
      <p:sp>
        <p:nvSpPr>
          <p:cNvPr id="25" name="R2_chip104"/>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stepmother = your dad's wife, not your mum</a:t>
            </a:r>
            <a:endParaRPr lang="en-US" sz="1000" dirty="0"/>
          </a:p>
        </p:txBody>
      </p:sp>
      <p:sp>
        <p:nvSpPr>
          <p:cNvPr id="26" name="bd_10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brother / brother-in-law</a:t>
            </a:r>
            <a:endParaRPr lang="en-US" sz="1150" dirty="0"/>
          </a:p>
        </p:txBody>
      </p:sp>
      <p:sp>
        <p:nvSpPr>
          <p:cNvPr id="28" name="R3_chip107"/>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sister's husband or your partner's brother</a:t>
            </a:r>
            <a:endParaRPr lang="en-US" sz="1000" dirty="0"/>
          </a:p>
        </p:txBody>
      </p:sp>
      <p:sp>
        <p:nvSpPr>
          <p:cNvPr id="29" name="bd_10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stepsister / half-sister</a:t>
            </a:r>
            <a:endParaRPr lang="en-US" sz="1150" dirty="0"/>
          </a:p>
        </p:txBody>
      </p:sp>
      <p:sp>
        <p:nvSpPr>
          <p:cNvPr id="31" name="R4_chip110"/>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 = no parent in common · half = one parent in common</a:t>
            </a:r>
            <a:endParaRPr lang="en-US" sz="1000" dirty="0"/>
          </a:p>
        </p:txBody>
      </p:sp>
      <p:sp>
        <p:nvSpPr>
          <p:cNvPr id="32" name="bd_11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grandfather / great-grandfather</a:t>
            </a:r>
            <a:endParaRPr lang="en-US" sz="1050" dirty="0"/>
          </a:p>
        </p:txBody>
      </p:sp>
      <p:sp>
        <p:nvSpPr>
          <p:cNvPr id="34" name="R5_chip113"/>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great-grandfather = your grandparent's father</a:t>
            </a:r>
            <a:endParaRPr lang="en-US" sz="1000" dirty="0"/>
          </a:p>
        </p:txBody>
      </p:sp>
      <p:sp>
        <p:nvSpPr>
          <p:cNvPr id="35" name="bd_11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adopted child / only child</a:t>
            </a:r>
            <a:endParaRPr lang="en-US" sz="1100" dirty="0"/>
          </a:p>
        </p:txBody>
      </p:sp>
      <p:sp>
        <p:nvSpPr>
          <p:cNvPr id="37" name="R6_chip116"/>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joined a new family / no brothers or sisters</a:t>
            </a:r>
            <a:endParaRPr lang="en-US" sz="1000" dirty="0"/>
          </a:p>
        </p:txBody>
      </p:sp>
      <p:sp>
        <p:nvSpPr>
          <p:cNvPr id="38" name="bd_11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1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brothers and sisters / siblings</a:t>
            </a:r>
            <a:endParaRPr lang="en-US" sz="1050" dirty="0"/>
          </a:p>
        </p:txBody>
      </p:sp>
      <p:sp>
        <p:nvSpPr>
          <p:cNvPr id="40" name="R7_chip119"/>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same meaning · siblings is more formal</a:t>
            </a:r>
            <a:endParaRPr lang="en-US" sz="1000" dirty="0"/>
          </a:p>
        </p:txBody>
      </p:sp>
      <p:sp>
        <p:nvSpPr>
          <p:cNvPr id="41" name="bd_12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immediate / extended family</a:t>
            </a:r>
            <a:endParaRPr lang="en-US" sz="1050" dirty="0"/>
          </a:p>
        </p:txBody>
      </p:sp>
      <p:sp>
        <p:nvSpPr>
          <p:cNvPr id="43" name="R8_chip122"/>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parents, children, siblings / uncles, cousins, grandparents…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Family words in Italian</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Vocabulary · in Italian</a:t>
            </a:r>
            <a:endParaRPr lang="en-US" sz="800" dirty="0"/>
          </a:p>
        </p:txBody>
      </p:sp>
      <p:sp>
        <p:nvSpPr>
          <p:cNvPr id="14" name="cd_13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3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3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stepmother</a:t>
            </a:r>
            <a:endParaRPr lang="en-US" sz="1200" dirty="0"/>
          </a:p>
        </p:txBody>
      </p:sp>
      <p:sp>
        <p:nvSpPr>
          <p:cNvPr id="17" name="R1_it13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matrigna</a:t>
            </a:r>
            <a:endParaRPr lang="en-US" sz="1000" dirty="0"/>
          </a:p>
        </p:txBody>
      </p:sp>
      <p:sp>
        <p:nvSpPr>
          <p:cNvPr id="18" name="cd_13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3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stepfather</a:t>
            </a:r>
            <a:endParaRPr lang="en-US" sz="1200" dirty="0"/>
          </a:p>
        </p:txBody>
      </p:sp>
      <p:sp>
        <p:nvSpPr>
          <p:cNvPr id="21" name="R2_it14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patrigno</a:t>
            </a:r>
            <a:endParaRPr lang="en-US" sz="1000" dirty="0"/>
          </a:p>
        </p:txBody>
      </p:sp>
      <p:sp>
        <p:nvSpPr>
          <p:cNvPr id="22" name="cd_14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4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stepsister</a:t>
            </a:r>
            <a:endParaRPr lang="en-US" sz="1200" dirty="0"/>
          </a:p>
        </p:txBody>
      </p:sp>
      <p:sp>
        <p:nvSpPr>
          <p:cNvPr id="25" name="R3_it14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sorellastra (nessun genitore in comune)</a:t>
            </a:r>
            <a:endParaRPr lang="en-US" sz="800" dirty="0"/>
          </a:p>
        </p:txBody>
      </p:sp>
      <p:sp>
        <p:nvSpPr>
          <p:cNvPr id="26" name="cd_14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4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4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half-sister</a:t>
            </a:r>
            <a:endParaRPr lang="en-US" sz="1200" dirty="0"/>
          </a:p>
        </p:txBody>
      </p:sp>
      <p:sp>
        <p:nvSpPr>
          <p:cNvPr id="29" name="R4_it14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sorella da parte di padre / madre</a:t>
            </a:r>
            <a:endParaRPr lang="en-US" sz="800" dirty="0"/>
          </a:p>
        </p:txBody>
      </p:sp>
      <p:sp>
        <p:nvSpPr>
          <p:cNvPr id="30" name="cd_15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5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brother-in-law</a:t>
            </a:r>
            <a:endParaRPr lang="en-US" sz="1200" dirty="0"/>
          </a:p>
        </p:txBody>
      </p:sp>
      <p:sp>
        <p:nvSpPr>
          <p:cNvPr id="33" name="R5_it15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cognato</a:t>
            </a:r>
            <a:endParaRPr lang="en-US" sz="1000" dirty="0"/>
          </a:p>
        </p:txBody>
      </p:sp>
      <p:sp>
        <p:nvSpPr>
          <p:cNvPr id="34" name="cd_15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5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5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sister-in-law</a:t>
            </a:r>
            <a:endParaRPr lang="en-US" sz="1200" dirty="0"/>
          </a:p>
        </p:txBody>
      </p:sp>
      <p:sp>
        <p:nvSpPr>
          <p:cNvPr id="37" name="R6_it15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cognata</a:t>
            </a:r>
            <a:endParaRPr lang="en-US" sz="1000" dirty="0"/>
          </a:p>
        </p:txBody>
      </p:sp>
      <p:sp>
        <p:nvSpPr>
          <p:cNvPr id="38" name="cd_15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5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great-grandfather</a:t>
            </a:r>
            <a:endParaRPr lang="en-US" sz="1200" dirty="0"/>
          </a:p>
        </p:txBody>
      </p:sp>
      <p:sp>
        <p:nvSpPr>
          <p:cNvPr id="41" name="R7_it16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bisnonno</a:t>
            </a:r>
            <a:endParaRPr lang="en-US" sz="1000" dirty="0"/>
          </a:p>
        </p:txBody>
      </p:sp>
      <p:sp>
        <p:nvSpPr>
          <p:cNvPr id="42" name="cd_16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6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only child</a:t>
            </a:r>
            <a:endParaRPr lang="en-US" sz="1200" dirty="0"/>
          </a:p>
        </p:txBody>
      </p:sp>
      <p:sp>
        <p:nvSpPr>
          <p:cNvPr id="45" name="R8_it16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figlio unico / figlia unica</a:t>
            </a:r>
            <a:endParaRPr lang="en-US" sz="800" dirty="0"/>
          </a:p>
        </p:txBody>
      </p:sp>
      <p:sp>
        <p:nvSpPr>
          <p:cNvPr id="46" name="cd_16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6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6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adopted child</a:t>
            </a:r>
            <a:endParaRPr lang="en-US" sz="1200" dirty="0"/>
          </a:p>
        </p:txBody>
      </p:sp>
      <p:sp>
        <p:nvSpPr>
          <p:cNvPr id="49" name="R9_it16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figlio adottivo</a:t>
            </a:r>
            <a:endParaRPr lang="en-US" sz="1000" dirty="0"/>
          </a:p>
        </p:txBody>
      </p:sp>
      <p:sp>
        <p:nvSpPr>
          <p:cNvPr id="50" name="cd_17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7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siblings</a:t>
            </a:r>
            <a:endParaRPr lang="en-US" sz="1200" dirty="0"/>
          </a:p>
        </p:txBody>
      </p:sp>
      <p:sp>
        <p:nvSpPr>
          <p:cNvPr id="53" name="R10_it17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fratelli e sorelle</a:t>
            </a:r>
            <a:endParaRPr lang="en-US" sz="1000" dirty="0"/>
          </a:p>
        </p:txBody>
      </p:sp>
      <p:sp>
        <p:nvSpPr>
          <p:cNvPr id="54" name="cd_17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7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7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nephew / niece</a:t>
            </a:r>
            <a:endParaRPr lang="en-US" sz="1200" dirty="0"/>
          </a:p>
        </p:txBody>
      </p:sp>
      <p:sp>
        <p:nvSpPr>
          <p:cNvPr id="57" name="R11_it17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nipote (di zio/zia)</a:t>
            </a:r>
            <a:endParaRPr lang="en-US" sz="1000" dirty="0"/>
          </a:p>
        </p:txBody>
      </p:sp>
      <p:sp>
        <p:nvSpPr>
          <p:cNvPr id="58" name="cd_17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7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extended family</a:t>
            </a:r>
            <a:endParaRPr lang="en-US" sz="1200" dirty="0"/>
          </a:p>
        </p:txBody>
      </p:sp>
      <p:sp>
        <p:nvSpPr>
          <p:cNvPr id="61" name="R12_it18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 parenti (zii, cugini, nonni)</a:t>
            </a:r>
            <a:endParaRPr lang="en-US" sz="800" dirty="0"/>
          </a:p>
        </p:txBody>
      </p:sp>
      <p:sp>
        <p:nvSpPr>
          <p:cNvPr id="62" name="R13_wc18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8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parents = genitori  ·  relatives = parenti   |   nipote = nephew / niece OR grandson / granddaughter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5"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186"/>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Who's who at Sara's wedding?</a:t>
            </a:r>
            <a:endParaRPr lang="en-US" sz="2400" dirty="0"/>
          </a:p>
        </p:txBody>
      </p:sp>
      <p:pic>
        <p:nvPicPr>
          <p:cNvPr id="6" name="brP_1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Sara is the bride. Who are 1–6?</a:t>
            </a:r>
            <a:endParaRPr lang="en-US" sz="1250" dirty="0"/>
          </a:p>
        </p:txBody>
      </p:sp>
      <p:sp>
        <p:nvSpPr>
          <p:cNvPr id="8" name="insIT_1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Sara è la sposa. Chi sono 1–6?</a:t>
            </a:r>
            <a:endParaRPr lang="en-US" sz="950" dirty="0"/>
          </a:p>
        </p:txBody>
      </p:sp>
      <p:sp>
        <p:nvSpPr>
          <p:cNvPr id="9" name="cmd_19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Vocabulary · practice   ·   📖 Practice of SB p.10 · 1a words</a:t>
            </a:r>
            <a:endParaRPr lang="en-US" sz="800" dirty="0"/>
          </a:p>
        </p:txBody>
      </p:sp>
      <p:sp>
        <p:nvSpPr>
          <p:cNvPr id="14" name="pf_195"/>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96" descr="/home/claude/lls-course/v2/cache/1b1_wedding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197"/>
          <p:cNvSpPr/>
          <p:nvPr/>
        </p:nvSpPr>
        <p:spPr>
          <a:xfrm>
            <a:off x="2497226" y="402336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198"/>
          <p:cNvSpPr/>
          <p:nvPr/>
        </p:nvSpPr>
        <p:spPr>
          <a:xfrm>
            <a:off x="607162" y="287121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199"/>
          <p:cNvSpPr/>
          <p:nvPr/>
        </p:nvSpPr>
        <p:spPr>
          <a:xfrm>
            <a:off x="1964131" y="287121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00"/>
          <p:cNvSpPr/>
          <p:nvPr/>
        </p:nvSpPr>
        <p:spPr>
          <a:xfrm>
            <a:off x="4581144" y="229514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01"/>
          <p:cNvSpPr/>
          <p:nvPr/>
        </p:nvSpPr>
        <p:spPr>
          <a:xfrm>
            <a:off x="4096512" y="325526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02"/>
          <p:cNvSpPr/>
          <p:nvPr/>
        </p:nvSpPr>
        <p:spPr>
          <a:xfrm>
            <a:off x="1091794" y="383133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st_203"/>
          <p:cNvSpPr/>
          <p:nvPr/>
        </p:nvSpPr>
        <p:spPr>
          <a:xfrm rot="-240000">
            <a:off x="2907792" y="3282696"/>
            <a:ext cx="822960" cy="310896"/>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Sara</a:t>
            </a:r>
            <a:endParaRPr lang="en-US" sz="1100" dirty="0"/>
          </a:p>
        </p:txBody>
      </p:sp>
      <p:sp>
        <p:nvSpPr>
          <p:cNvPr id="23" name="bd_204"/>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05"/>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grandmother's mother</a:t>
            </a:r>
            <a:endParaRPr lang="en-US" sz="1100" dirty="0"/>
          </a:p>
        </p:txBody>
      </p:sp>
      <p:sp>
        <p:nvSpPr>
          <p:cNvPr id="25" name="R1_chip206"/>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great-grandmother</a:t>
            </a:r>
            <a:endParaRPr lang="en-US" sz="1000" dirty="0"/>
          </a:p>
        </p:txBody>
      </p:sp>
      <p:sp>
        <p:nvSpPr>
          <p:cNvPr id="26" name="bd_207"/>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08"/>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Same dad, different mum</a:t>
            </a:r>
            <a:endParaRPr lang="en-US" sz="1100" dirty="0"/>
          </a:p>
        </p:txBody>
      </p:sp>
      <p:sp>
        <p:nvSpPr>
          <p:cNvPr id="28" name="R2_chip209"/>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half-sister</a:t>
            </a:r>
            <a:endParaRPr lang="en-US" sz="1000" dirty="0"/>
          </a:p>
        </p:txBody>
      </p:sp>
      <p:sp>
        <p:nvSpPr>
          <p:cNvPr id="29" name="bd_210"/>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11"/>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dad's second wife</a:t>
            </a:r>
            <a:endParaRPr lang="en-US" sz="1100" dirty="0"/>
          </a:p>
        </p:txBody>
      </p:sp>
      <p:sp>
        <p:nvSpPr>
          <p:cNvPr id="31" name="R3_chip212"/>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stepmother</a:t>
            </a:r>
            <a:endParaRPr lang="en-US" sz="1000" dirty="0"/>
          </a:p>
        </p:txBody>
      </p:sp>
      <p:sp>
        <p:nvSpPr>
          <p:cNvPr id="32" name="bd_213"/>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14"/>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husband's brother</a:t>
            </a:r>
            <a:endParaRPr lang="en-US" sz="1100" dirty="0"/>
          </a:p>
        </p:txBody>
      </p:sp>
      <p:sp>
        <p:nvSpPr>
          <p:cNvPr id="34" name="R4_chip215"/>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brother-in-law</a:t>
            </a:r>
            <a:endParaRPr lang="en-US" sz="1000" dirty="0"/>
          </a:p>
        </p:txBody>
      </p:sp>
      <p:sp>
        <p:nvSpPr>
          <p:cNvPr id="35" name="bd_216"/>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17"/>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husband's sister</a:t>
            </a:r>
            <a:endParaRPr lang="en-US" sz="1100" dirty="0"/>
          </a:p>
        </p:txBody>
      </p:sp>
      <p:sp>
        <p:nvSpPr>
          <p:cNvPr id="37" name="R5_chip218"/>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sister-in-law</a:t>
            </a:r>
            <a:endParaRPr lang="en-US" sz="1000" dirty="0"/>
          </a:p>
        </p:txBody>
      </p:sp>
      <p:sp>
        <p:nvSpPr>
          <p:cNvPr id="38" name="bd_219"/>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220"/>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brother's son</a:t>
            </a:r>
            <a:endParaRPr lang="en-US" sz="1100" dirty="0"/>
          </a:p>
        </p:txBody>
      </p:sp>
      <p:sp>
        <p:nvSpPr>
          <p:cNvPr id="40" name="R6_chip221"/>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nephew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3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Vocabulary game</a:t>
            </a:r>
            <a:endParaRPr lang="en-US" sz="800" dirty="0"/>
          </a:p>
        </p:txBody>
      </p:sp>
      <p:sp>
        <p:nvSpPr>
          <p:cNvPr id="14" name="cd_23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3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A explains the word. Don't say it!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spiega la parola. Non dirla!</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B guesses. Then swap.</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100" dirty="0"/>
          </a:p>
        </p:txBody>
      </p:sp>
      <p:sp>
        <p:nvSpPr>
          <p:cNvPr id="18" name="pf_2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8" descr="/home/claude/lls-course/v2/cache/1b1_dinn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9"/>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40"/>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stepmother</a:t>
            </a:r>
            <a:endParaRPr lang="en-US" sz="1700" dirty="0"/>
          </a:p>
        </p:txBody>
      </p:sp>
      <p:sp>
        <p:nvSpPr>
          <p:cNvPr id="22" name="R3_w241"/>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only child</a:t>
            </a:r>
            <a:endParaRPr lang="en-US" sz="1700" dirty="0"/>
          </a:p>
        </p:txBody>
      </p:sp>
      <p:sp>
        <p:nvSpPr>
          <p:cNvPr id="23" name="R5_w242"/>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brother-in-law</a:t>
            </a:r>
            <a:endParaRPr lang="en-US" sz="1700" dirty="0"/>
          </a:p>
        </p:txBody>
      </p:sp>
      <p:sp>
        <p:nvSpPr>
          <p:cNvPr id="24" name="R7_w243"/>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siblings</a:t>
            </a:r>
            <a:endParaRPr lang="en-US" sz="1700" dirty="0"/>
          </a:p>
        </p:txBody>
      </p:sp>
      <p:sp>
        <p:nvSpPr>
          <p:cNvPr id="25" name="rl_244"/>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45"/>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half-sister</a:t>
            </a:r>
            <a:endParaRPr lang="en-US" sz="1700" dirty="0"/>
          </a:p>
        </p:txBody>
      </p:sp>
      <p:sp>
        <p:nvSpPr>
          <p:cNvPr id="27" name="R4_w246"/>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great-grandfather</a:t>
            </a:r>
            <a:endParaRPr lang="en-US" sz="1700" dirty="0"/>
          </a:p>
        </p:txBody>
      </p:sp>
      <p:sp>
        <p:nvSpPr>
          <p:cNvPr id="28" name="R6_w247"/>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adopted child</a:t>
            </a:r>
            <a:endParaRPr lang="en-US" sz="1700" dirty="0"/>
          </a:p>
        </p:txBody>
      </p:sp>
      <p:sp>
        <p:nvSpPr>
          <p:cNvPr id="29" name="R8_w248"/>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extended family</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5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5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5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5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8 numbers – 8 gaps next!</a:t>
            </a:r>
            <a:endParaRPr lang="en-US" sz="1250" dirty="0"/>
          </a:p>
        </p:txBody>
      </p:sp>
      <p:sp>
        <p:nvSpPr>
          <p:cNvPr id="8" name="insIT_2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8 numeri – 8 spazi dopo!</a:t>
            </a:r>
            <a:endParaRPr lang="en-US" sz="950" dirty="0"/>
          </a:p>
        </p:txBody>
      </p:sp>
      <p:sp>
        <p:nvSpPr>
          <p:cNvPr id="9" name="cmd_25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5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Reading · prediction   ·   📖 SB p.10 · 1b</a:t>
            </a:r>
            <a:endParaRPr lang="en-US" sz="800" dirty="0"/>
          </a:p>
        </p:txBody>
      </p:sp>
      <p:sp>
        <p:nvSpPr>
          <p:cNvPr id="15" name="cd_261"/>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6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The modern family</a:t>
            </a:r>
            <a:endParaRPr lang="en-US" sz="2800" dirty="0"/>
          </a:p>
        </p:txBody>
      </p:sp>
      <p:sp>
        <p:nvSpPr>
          <p:cNvPr id="17" name="nx_263"/>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survey on the next 2 slides has 8 gaps. Write your guess for each gap, then listen and check.</a:t>
            </a:r>
            <a:endParaRPr lang="en-US" sz="1000" dirty="0"/>
          </a:p>
        </p:txBody>
      </p:sp>
      <p:sp>
        <p:nvSpPr>
          <p:cNvPr id="18" name="sf_26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Family life is changing all over the world – not just the structure of the family, but also its habits. A recent survey of British family life showed some surprising statistics.</a:t>
            </a:r>
            <a:endParaRPr lang="en-US" sz="1150" dirty="0"/>
          </a:p>
        </p:txBody>
      </p:sp>
      <p:sp>
        <p:nvSpPr>
          <p:cNvPr id="19" name="nbl_26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66"/>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2</a:t>
            </a:r>
            <a:endParaRPr lang="en-US" sz="1800" dirty="0"/>
          </a:p>
        </p:txBody>
      </p:sp>
      <p:sp>
        <p:nvSpPr>
          <p:cNvPr id="21" name="bd_267"/>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a:t>
            </a:r>
            <a:endParaRPr lang="en-US" sz="1000" dirty="0"/>
          </a:p>
        </p:txBody>
      </p:sp>
      <p:sp>
        <p:nvSpPr>
          <p:cNvPr id="22" name="bd_268"/>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14%</a:t>
            </a:r>
            <a:endParaRPr lang="en-US" sz="1000" dirty="0"/>
          </a:p>
        </p:txBody>
      </p:sp>
      <p:sp>
        <p:nvSpPr>
          <p:cNvPr id="23" name="bd_269"/>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17%</a:t>
            </a:r>
            <a:endParaRPr lang="en-US" sz="1000" dirty="0"/>
          </a:p>
        </p:txBody>
      </p:sp>
      <p:sp>
        <p:nvSpPr>
          <p:cNvPr id="24" name="bd_270"/>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5" name="bd_271"/>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32</a:t>
            </a:r>
            <a:endParaRPr lang="en-US" sz="1400" dirty="0"/>
          </a:p>
        </p:txBody>
      </p:sp>
      <p:sp>
        <p:nvSpPr>
          <p:cNvPr id="26" name="bd_272"/>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40%</a:t>
            </a:r>
            <a:endParaRPr lang="en-US" sz="1000" dirty="0"/>
          </a:p>
        </p:txBody>
      </p:sp>
      <p:sp>
        <p:nvSpPr>
          <p:cNvPr id="27" name="bd_273"/>
          <p:cNvSpPr/>
          <p:nvPr/>
        </p:nvSpPr>
        <p:spPr>
          <a:xfrm>
            <a:off x="4718304"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45%</a:t>
            </a:r>
            <a:endParaRPr lang="en-US" sz="1000" dirty="0"/>
          </a:p>
        </p:txBody>
      </p:sp>
      <p:sp>
        <p:nvSpPr>
          <p:cNvPr id="28" name="pf_274"/>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275" descr="/home/claude/lls-course/v2/cache/1b1_single_dad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8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number in gaps 1–5. Then listen.</a:t>
            </a:r>
            <a:endParaRPr lang="en-US" sz="1250" dirty="0"/>
          </a:p>
        </p:txBody>
      </p:sp>
      <p:sp>
        <p:nvSpPr>
          <p:cNvPr id="8" name="insIT_2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un numero negli spazi 1–5. Poi ascolta.</a:t>
            </a:r>
            <a:endParaRPr lang="en-US" sz="950" dirty="0"/>
          </a:p>
        </p:txBody>
      </p:sp>
      <p:sp>
        <p:nvSpPr>
          <p:cNvPr id="9" name="cmd_28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8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28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8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Reading · Family structure   ·   📖 SB p.10 · 1b, 1c · audio 1.14</a:t>
            </a:r>
            <a:endParaRPr lang="en-US" sz="800" dirty="0"/>
          </a:p>
        </p:txBody>
      </p:sp>
      <p:sp>
        <p:nvSpPr>
          <p:cNvPr id="15" name="cd_28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Family structure</a:t>
            </a:r>
            <a:endParaRPr lang="en-US" sz="1700" dirty="0"/>
          </a:p>
        </p:txBody>
      </p:sp>
      <p:sp>
        <p:nvSpPr>
          <p:cNvPr id="17" name="ln_29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60% of families have married parents.</a:t>
            </a:r>
            <a:endParaRPr lang="en-US" sz="1250" dirty="0"/>
          </a:p>
        </p:txBody>
      </p:sp>
      <p:sp>
        <p:nvSpPr>
          <p:cNvPr id="18" name="ln_29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22% are single-parent families. Only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of the single parents are men.</a:t>
            </a:r>
            <a:endParaRPr lang="en-US" sz="1250" dirty="0"/>
          </a:p>
        </p:txBody>
      </p:sp>
      <p:sp>
        <p:nvSpPr>
          <p:cNvPr id="19" name="R1_lnA29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22% are single-parent families. Only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14%</a:t>
            </a:r>
            <a:pPr indent="0" marL="0">
              <a:buNone/>
            </a:pPr>
            <a:r>
              <a:rPr lang="en-US" sz="1250" dirty="0">
                <a:solidFill>
                  <a:srgbClr val="1B2559"/>
                </a:solidFill>
                <a:latin typeface="Georgia" pitchFamily="34" charset="0"/>
                <a:ea typeface="Georgia" pitchFamily="34" charset="-122"/>
                <a:cs typeface="Georgia" pitchFamily="34" charset="-120"/>
              </a:rPr>
              <a:t> of the single parents are men.</a:t>
            </a:r>
            <a:endParaRPr lang="en-US" sz="1250" dirty="0"/>
          </a:p>
        </p:txBody>
      </p:sp>
      <p:sp>
        <p:nvSpPr>
          <p:cNvPr id="20" name="ln_29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of families have one child,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have two, and 15% have three or more.</a:t>
            </a:r>
            <a:endParaRPr lang="en-US" sz="1250" dirty="0"/>
          </a:p>
        </p:txBody>
      </p:sp>
      <p:sp>
        <p:nvSpPr>
          <p:cNvPr id="21" name="R2_lnA29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45%</a:t>
            </a:r>
            <a:pPr indent="0" marL="0">
              <a:buNone/>
            </a:pPr>
            <a:r>
              <a:rPr lang="en-US" sz="1250" dirty="0">
                <a:solidFill>
                  <a:srgbClr val="1B2559"/>
                </a:solidFill>
                <a:latin typeface="Georgia" pitchFamily="34" charset="0"/>
                <a:ea typeface="Georgia" pitchFamily="34" charset="-122"/>
                <a:cs typeface="Georgia" pitchFamily="34" charset="-120"/>
              </a:rPr>
              <a:t> of families have one child,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40%</a:t>
            </a:r>
            <a:pPr indent="0" marL="0">
              <a:buNone/>
            </a:pPr>
            <a:r>
              <a:rPr lang="en-US" sz="1250" dirty="0">
                <a:solidFill>
                  <a:srgbClr val="1B2559"/>
                </a:solidFill>
                <a:latin typeface="Georgia" pitchFamily="34" charset="0"/>
                <a:ea typeface="Georgia" pitchFamily="34" charset="-122"/>
                <a:cs typeface="Georgia" pitchFamily="34" charset="-120"/>
              </a:rPr>
              <a:t> have two, and 15% have three or more.</a:t>
            </a:r>
            <a:endParaRPr lang="en-US" sz="1250" dirty="0"/>
          </a:p>
        </p:txBody>
      </p:sp>
      <p:sp>
        <p:nvSpPr>
          <p:cNvPr id="22" name="ln_29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11% of families have stepchildren.</a:t>
            </a:r>
            <a:endParaRPr lang="en-US" sz="1250" dirty="0"/>
          </a:p>
        </p:txBody>
      </p:sp>
      <p:sp>
        <p:nvSpPr>
          <p:cNvPr id="23" name="ln_29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On average, women get married at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and men at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4" name="R3_lnA29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On average, women get married 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30</a:t>
            </a:r>
            <a:pPr indent="0" marL="0">
              <a:buNone/>
            </a:pPr>
            <a:r>
              <a:rPr lang="en-US" sz="1250" dirty="0">
                <a:solidFill>
                  <a:srgbClr val="1B2559"/>
                </a:solidFill>
                <a:latin typeface="Georgia" pitchFamily="34" charset="0"/>
                <a:ea typeface="Georgia" pitchFamily="34" charset="-122"/>
                <a:cs typeface="Georgia" pitchFamily="34" charset="-120"/>
              </a:rPr>
              <a:t> and men 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32</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5" name="ap_298"/>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1.14</a:t>
            </a:r>
            <a:endParaRPr lang="en-US" sz="1100" dirty="0"/>
          </a:p>
        </p:txBody>
      </p:sp>
      <p:sp>
        <p:nvSpPr>
          <p:cNvPr id="26" name="ah_29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8" name="ah_30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0" name="pf_301"/>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302" descr="/home/claude/lls-course/v2/cache/1b1_single_dad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audio>
              <p:cMediaNode vol="80000">
                <p:cTn id="28" fill="hold" display="0">
                  <p:stCondLst>
                    <p:cond delay="indefinite"/>
                  </p:stCondLst>
                  <p:endCondLst>
                    <p:cond evt="onStopAudio" delay="0">
                      <p:tgtEl>
                        <p:sldTgt/>
                      </p:tgtEl>
                    </p:cond>
                  </p:endCondLst>
                </p:cTn>
                <p:tgtEl>
                  <p:spTgt spid="27"/>
                </p:tgtEl>
              </p:cMediaNode>
            </p:audio>
            <p:audio>
              <p:cMediaNode vol="80000">
                <p:cTn id="29" fill="hold" display="0">
                  <p:stCondLst>
                    <p:cond delay="indefinite"/>
                  </p:stCondLst>
                  <p:endCondLst>
                    <p:cond evt="onStopAudio" delay="0">
                      <p:tgtEl>
                        <p:sldTgt/>
                      </p:tgtEl>
                    </p:cond>
                  </p:endCondLst>
                </p:cTn>
                <p:tgtEl>
                  <p:spTgt spid="29"/>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0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30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0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number in gaps 6–8. Then listen.</a:t>
            </a:r>
            <a:endParaRPr lang="en-US" sz="1250" dirty="0"/>
          </a:p>
        </p:txBody>
      </p:sp>
      <p:sp>
        <p:nvSpPr>
          <p:cNvPr id="8" name="insIT_3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un numero negli spazi 6–8. Poi ascolta.</a:t>
            </a:r>
            <a:endParaRPr lang="en-US" sz="950" dirty="0"/>
          </a:p>
        </p:txBody>
      </p:sp>
      <p:sp>
        <p:nvSpPr>
          <p:cNvPr id="9" name="cmd_30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1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1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3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Reading · Family habits   ·   📖 SB p.10 · 1b, 1c · audio 1.14</a:t>
            </a:r>
            <a:endParaRPr lang="en-US" sz="800" dirty="0"/>
          </a:p>
        </p:txBody>
      </p:sp>
      <p:sp>
        <p:nvSpPr>
          <p:cNvPr id="15" name="cd_31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1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Family habits</a:t>
            </a:r>
            <a:endParaRPr lang="en-US" sz="1700" dirty="0"/>
          </a:p>
        </p:txBody>
      </p:sp>
      <p:sp>
        <p:nvSpPr>
          <p:cNvPr id="17" name="ln_31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20% of families only eat together once or twice a week, and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never eat at the same time.</a:t>
            </a:r>
            <a:endParaRPr lang="en-US" sz="1250" dirty="0"/>
          </a:p>
        </p:txBody>
      </p:sp>
      <p:sp>
        <p:nvSpPr>
          <p:cNvPr id="18" name="R1_lnA31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20% of families only eat together once or twice a week, and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10%</a:t>
            </a:r>
            <a:pPr indent="0" marL="0">
              <a:buNone/>
            </a:pPr>
            <a:r>
              <a:rPr lang="en-US" sz="1250" dirty="0">
                <a:solidFill>
                  <a:srgbClr val="1B2559"/>
                </a:solidFill>
                <a:latin typeface="Georgia" pitchFamily="34" charset="0"/>
                <a:ea typeface="Georgia" pitchFamily="34" charset="-122"/>
                <a:cs typeface="Georgia" pitchFamily="34" charset="-120"/>
              </a:rPr>
              <a:t> never eat at the same time.</a:t>
            </a:r>
            <a:endParaRPr lang="en-US" sz="1250" dirty="0"/>
          </a:p>
        </p:txBody>
      </p:sp>
      <p:sp>
        <p:nvSpPr>
          <p:cNvPr id="19" name="ln_31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They visit friends or extended family twice a month.</a:t>
            </a:r>
            <a:endParaRPr lang="en-US" sz="1250" dirty="0"/>
          </a:p>
        </p:txBody>
      </p:sp>
      <p:sp>
        <p:nvSpPr>
          <p:cNvPr id="20" name="ln_32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(7) ________ </a:t>
            </a:r>
            <a:pPr indent="0" marL="0">
              <a:buNone/>
            </a:pPr>
            <a:r>
              <a:rPr lang="en-US" sz="1250" dirty="0">
                <a:solidFill>
                  <a:srgbClr val="1B2559"/>
                </a:solidFill>
                <a:latin typeface="Georgia" pitchFamily="34" charset="0"/>
                <a:ea typeface="Georgia" pitchFamily="34" charset="-122"/>
                <a:cs typeface="Georgia" pitchFamily="34" charset="-120"/>
              </a:rPr>
              <a:t> of people have family members who they never speak to or contact.</a:t>
            </a:r>
            <a:endParaRPr lang="en-US" sz="1250" dirty="0"/>
          </a:p>
        </p:txBody>
      </p:sp>
      <p:sp>
        <p:nvSpPr>
          <p:cNvPr id="21" name="R2_lnA32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17%</a:t>
            </a:r>
            <a:pPr indent="0" marL="0">
              <a:buNone/>
            </a:pPr>
            <a:r>
              <a:rPr lang="en-US" sz="1250" dirty="0">
                <a:solidFill>
                  <a:srgbClr val="1B2559"/>
                </a:solidFill>
                <a:latin typeface="Georgia" pitchFamily="34" charset="0"/>
                <a:ea typeface="Georgia" pitchFamily="34" charset="-122"/>
                <a:cs typeface="Georgia" pitchFamily="34" charset="-120"/>
              </a:rPr>
              <a:t> of people have family members who they never speak to or contact.</a:t>
            </a:r>
            <a:endParaRPr lang="en-US" sz="1250" dirty="0"/>
          </a:p>
        </p:txBody>
      </p:sp>
      <p:sp>
        <p:nvSpPr>
          <p:cNvPr id="22" name="ln_32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75% of people are happiest with their families, and 17% with their friends.</a:t>
            </a:r>
            <a:endParaRPr lang="en-US" sz="1250" dirty="0"/>
          </a:p>
        </p:txBody>
      </p:sp>
      <p:sp>
        <p:nvSpPr>
          <p:cNvPr id="23" name="ln_32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average family has </a:t>
            </a:r>
            <a:pPr indent="0" marL="0">
              <a:buNone/>
            </a:pPr>
            <a:r>
              <a:rPr lang="en-US" sz="1100" b="1" dirty="0">
                <a:solidFill>
                  <a:srgbClr val="2EB872"/>
                </a:solidFill>
                <a:latin typeface="Georgia" pitchFamily="34" charset="0"/>
                <a:ea typeface="Georgia" pitchFamily="34" charset="-122"/>
                <a:cs typeface="Georgia" pitchFamily="34" charset="-120"/>
              </a:rPr>
              <a:t> (8) ________ </a:t>
            </a:r>
            <a:pPr indent="0" marL="0">
              <a:buNone/>
            </a:pPr>
            <a:r>
              <a:rPr lang="en-US" sz="1100" dirty="0">
                <a:solidFill>
                  <a:srgbClr val="1B2559"/>
                </a:solidFill>
                <a:latin typeface="Georgia" pitchFamily="34" charset="0"/>
                <a:ea typeface="Georgia" pitchFamily="34" charset="-122"/>
                <a:cs typeface="Georgia" pitchFamily="34" charset="-120"/>
              </a:rPr>
              <a:t> rows /raʊz/ each day. The most common cause: children or teenagers refusing to put down their phones or tablets.</a:t>
            </a:r>
            <a:endParaRPr lang="en-US" sz="1100" dirty="0"/>
          </a:p>
        </p:txBody>
      </p:sp>
      <p:sp>
        <p:nvSpPr>
          <p:cNvPr id="24" name="R3_lnA32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The average family has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2</a:t>
            </a:r>
            <a:pPr indent="0" marL="0">
              <a:buNone/>
            </a:pPr>
            <a:r>
              <a:rPr lang="en-US" sz="1250" dirty="0">
                <a:solidFill>
                  <a:srgbClr val="1B2559"/>
                </a:solidFill>
                <a:latin typeface="Georgia" pitchFamily="34" charset="0"/>
                <a:ea typeface="Georgia" pitchFamily="34" charset="-122"/>
                <a:cs typeface="Georgia" pitchFamily="34" charset="-120"/>
              </a:rPr>
              <a:t> rows /raʊz/ each day. The most common cause: children or teenagers refusing to put down their phones or tablets.</a:t>
            </a:r>
            <a:endParaRPr lang="en-US" sz="1250" dirty="0"/>
          </a:p>
        </p:txBody>
      </p:sp>
      <p:sp>
        <p:nvSpPr>
          <p:cNvPr id="25" name="ap_325"/>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1.14</a:t>
            </a:r>
            <a:endParaRPr lang="en-US" sz="1100" dirty="0"/>
          </a:p>
        </p:txBody>
      </p:sp>
      <p:sp>
        <p:nvSpPr>
          <p:cNvPr id="26" name="ah_32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8" name="ah_32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0" name="pf_32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329" descr="/home/claude/lls-course/v2/cache/1b1_phone_row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audio>
              <p:cMediaNode vol="80000">
                <p:cTn id="28" fill="hold" display="0">
                  <p:stCondLst>
                    <p:cond delay="indefinite"/>
                  </p:stCondLst>
                  <p:endCondLst>
                    <p:cond evt="onStopAudio" delay="0">
                      <p:tgtEl>
                        <p:sldTgt/>
                      </p:tgtEl>
                    </p:cond>
                  </p:endCondLst>
                </p:cTn>
                <p:tgtEl>
                  <p:spTgt spid="27"/>
                </p:tgtEl>
              </p:cMediaNode>
            </p:audio>
            <p:audio>
              <p:cMediaNode vol="80000">
                <p:cTn id="29" fill="hold" display="0">
                  <p:stCondLst>
                    <p:cond delay="indefinite"/>
                  </p:stCondLst>
                  <p:endCondLst>
                    <p:cond evt="onStopAudio" delay="0">
                      <p:tgtEl>
                        <p:sldTgt/>
                      </p:tgtEl>
                    </p:cond>
                  </p:endCondLst>
                </p:cTn>
                <p:tgtEl>
                  <p:spTgt spid="29"/>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33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Sicily vs the UK</a:t>
            </a:r>
            <a:endParaRPr lang="en-US" sz="2500" dirty="0"/>
          </a:p>
        </p:txBody>
      </p:sp>
      <p:pic>
        <p:nvPicPr>
          <p:cNvPr id="6" name="brP_33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3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Why?</a:t>
            </a:r>
            <a:endParaRPr lang="en-US" sz="1250" dirty="0"/>
          </a:p>
        </p:txBody>
      </p:sp>
      <p:sp>
        <p:nvSpPr>
          <p:cNvPr id="8" name="insIT_3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motivo. Poi chiedi: Perché?</a:t>
            </a:r>
            <a:endParaRPr lang="en-US" sz="950" dirty="0"/>
          </a:p>
        </p:txBody>
      </p:sp>
      <p:sp>
        <p:nvSpPr>
          <p:cNvPr id="9" name="cmd_33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3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3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Speaking · Sicily vs the UK   ·   📖 SB p.10 · 1c, 1d</a:t>
            </a:r>
            <a:endParaRPr lang="en-US" sz="800" dirty="0"/>
          </a:p>
        </p:txBody>
      </p:sp>
      <p:sp>
        <p:nvSpPr>
          <p:cNvPr id="14" name="pf_34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42" descr="/home/claude/lls-course/v2/cache/1b1_sunday_lunch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4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4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4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4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I'm sorry, I'd rather not talk about that.</a:t>
            </a:r>
            <a:endParaRPr lang="en-US" sz="1050" dirty="0"/>
          </a:p>
        </p:txBody>
      </p:sp>
      <p:sp>
        <p:nvSpPr>
          <p:cNvPr id="20" name="R1_qb34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4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the UK, 20% of families rarely eat together. And in Sicily?</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No! In Sicily most families eat together every day.</a:t>
            </a:r>
            <a:endParaRPr lang="en-US" sz="1200" dirty="0"/>
          </a:p>
        </p:txBody>
      </p:sp>
      <p:sp>
        <p:nvSpPr>
          <p:cNvPr id="22" name="R2_qb34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5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do you live with? Is your family big or small?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live with my mum, my dad and my little brother.</a:t>
            </a:r>
            <a:endParaRPr lang="en-US" sz="1250" dirty="0"/>
          </a:p>
        </p:txBody>
      </p:sp>
      <p:sp>
        <p:nvSpPr>
          <p:cNvPr id="24" name="R3_qb35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5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see your extended family?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Every Sunday – we have lunch at my nonna's!</a:t>
            </a:r>
            <a:endParaRPr lang="en-US" sz="1250" dirty="0"/>
          </a:p>
        </p:txBody>
      </p:sp>
      <p:sp>
        <p:nvSpPr>
          <p:cNvPr id="26" name="R4_qb35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5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Free time: family or friends?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Friends, because we like the same things.</a:t>
            </a:r>
            <a:endParaRPr lang="en-US" sz="1250" dirty="0"/>
          </a:p>
        </p:txBody>
      </p:sp>
      <p:sp>
        <p:nvSpPr>
          <p:cNvPr id="28" name="R5_qb35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56"/>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anyone in your family you don't get on with?</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My cousin – he always takes my things!</a:t>
            </a:r>
            <a:endParaRPr lang="en-US" sz="1100" dirty="0"/>
          </a:p>
        </p:txBody>
      </p:sp>
      <p:pic>
        <p:nvPicPr>
          <p:cNvPr id="30" name="R5_th357" descr="/home/claude/lls-course/v2/cache/1b1_dont_get_on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35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359"/>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argue about at home? Phones?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mum says I'm always on my phone at dinner.</a:t>
            </a:r>
            <a:endParaRPr lang="en-US" sz="1250" dirty="0"/>
          </a:p>
        </p:txBody>
      </p:sp>
      <p:pic>
        <p:nvPicPr>
          <p:cNvPr id="33" name="R6_th360" descr="/home/claude/lls-course/v2/cache/1b1_phone_row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6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conversations</a:t>
            </a:r>
            <a:endParaRPr lang="en-US" sz="2500" dirty="0"/>
          </a:p>
        </p:txBody>
      </p:sp>
      <p:pic>
        <p:nvPicPr>
          <p:cNvPr id="6" name="brP_36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6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Match 1–3 to the photos A–C.</a:t>
            </a:r>
            <a:endParaRPr lang="en-US" sz="1250" dirty="0"/>
          </a:p>
        </p:txBody>
      </p:sp>
      <p:sp>
        <p:nvSpPr>
          <p:cNvPr id="8" name="insIT_3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Abbina 1–3 alle foto A–C.</a:t>
            </a:r>
            <a:endParaRPr lang="en-US" sz="950" dirty="0"/>
          </a:p>
        </p:txBody>
      </p:sp>
      <p:sp>
        <p:nvSpPr>
          <p:cNvPr id="9" name="cmd_36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6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6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Listening · gist   ·   📖 SB p.11 · 2a · audio 1.15</a:t>
            </a:r>
            <a:endParaRPr lang="en-US" sz="800" dirty="0"/>
          </a:p>
        </p:txBody>
      </p:sp>
      <p:sp>
        <p:nvSpPr>
          <p:cNvPr id="14" name="ap_37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1.15  ·  play once</a:t>
            </a:r>
            <a:endParaRPr lang="en-US" sz="1100" dirty="0"/>
          </a:p>
        </p:txBody>
      </p:sp>
      <p:sp>
        <p:nvSpPr>
          <p:cNvPr id="15" name="ah_37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7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375"/>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37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77" descr="/home/claude/lls-course/v2/cache/1b1_conv_a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37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37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380" descr="/home/claude/lls-course/v2/cache/1b1_conv_b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38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382"/>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383" descr="/home/claude/lls-course/v2/cache/1b1_conv_c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384"/>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38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38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38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388"/>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B and C. Who are they?</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B e C. Chi sono?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Match conversations 1–3 to A–C.</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Abbina le conversazioni 1–3 alle foto A–C.</a:t>
            </a:r>
            <a:endParaRPr lang="en-US" sz="700" dirty="0"/>
          </a:p>
        </p:txBody>
      </p:sp>
      <p:sp>
        <p:nvSpPr>
          <p:cNvPr id="33" name="lq_38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1</a:t>
            </a:r>
            <a:endParaRPr lang="en-US" sz="1100" dirty="0"/>
          </a:p>
        </p:txBody>
      </p:sp>
      <p:sp>
        <p:nvSpPr>
          <p:cNvPr id="34" name="R1_chip39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his plans for next year</a:t>
            </a:r>
            <a:endParaRPr lang="en-US" sz="1050" dirty="0"/>
          </a:p>
        </p:txBody>
      </p:sp>
      <p:sp>
        <p:nvSpPr>
          <p:cNvPr id="35" name="lq_39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2</a:t>
            </a:r>
            <a:endParaRPr lang="en-US" sz="1100" dirty="0"/>
          </a:p>
        </p:txBody>
      </p:sp>
      <p:sp>
        <p:nvSpPr>
          <p:cNvPr id="36" name="R2_chip39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a party at Katie's</a:t>
            </a:r>
            <a:endParaRPr lang="en-US" sz="1050" dirty="0"/>
          </a:p>
        </p:txBody>
      </p:sp>
      <p:sp>
        <p:nvSpPr>
          <p:cNvPr id="37" name="lq_39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3</a:t>
            </a:r>
            <a:endParaRPr lang="en-US" sz="1100" dirty="0"/>
          </a:p>
        </p:txBody>
      </p:sp>
      <p:sp>
        <p:nvSpPr>
          <p:cNvPr id="38" name="R3_chip39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borrowing the car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9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39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9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4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riascolta.</a:t>
            </a:r>
            <a:endParaRPr lang="en-US" sz="950" dirty="0"/>
          </a:p>
        </p:txBody>
      </p:sp>
      <p:sp>
        <p:nvSpPr>
          <p:cNvPr id="9" name="cmd_4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0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40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Listening · detail   ·   📖 SB p.11 · 2b · audio 1.15</a:t>
            </a:r>
            <a:endParaRPr lang="en-US" sz="800" dirty="0"/>
          </a:p>
        </p:txBody>
      </p:sp>
      <p:sp>
        <p:nvSpPr>
          <p:cNvPr id="15" name="ap_40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1.15  ·  pause after each conversation</a:t>
            </a:r>
            <a:endParaRPr lang="en-US" sz="1100" dirty="0"/>
          </a:p>
        </p:txBody>
      </p:sp>
      <p:sp>
        <p:nvSpPr>
          <p:cNvPr id="16" name="ah_40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0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41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11" descr="/home/claude/lls-course/v2/cache/1b1_conv_c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41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1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1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41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41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I'm not ___ to university.</a:t>
            </a:r>
            <a:endParaRPr lang="en-US" sz="1200" dirty="0"/>
          </a:p>
        </p:txBody>
      </p:sp>
      <p:sp>
        <p:nvSpPr>
          <p:cNvPr id="27" name="R1_chip41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going to go</a:t>
            </a:r>
            <a:endParaRPr lang="en-US" sz="1200" dirty="0"/>
          </a:p>
        </p:txBody>
      </p:sp>
      <p:sp>
        <p:nvSpPr>
          <p:cNvPr id="28" name="gq_41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___ you a cup of tea?</a:t>
            </a:r>
            <a:endParaRPr lang="en-US" sz="1200" dirty="0"/>
          </a:p>
        </p:txBody>
      </p:sp>
      <p:sp>
        <p:nvSpPr>
          <p:cNvPr id="29" name="R2_chip41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Shall I make</a:t>
            </a:r>
            <a:endParaRPr lang="en-US" sz="1200" dirty="0"/>
          </a:p>
        </p:txBody>
      </p:sp>
      <p:sp>
        <p:nvSpPr>
          <p:cNvPr id="30" name="gq_42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 ___ the night there.</a:t>
            </a:r>
            <a:endParaRPr lang="en-US" sz="1200" dirty="0"/>
          </a:p>
        </p:txBody>
      </p:sp>
      <p:sp>
        <p:nvSpPr>
          <p:cNvPr id="31" name="R3_chip42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 staying</a:t>
            </a:r>
            <a:endParaRPr lang="en-US" sz="1200" dirty="0"/>
          </a:p>
        </p:txBody>
      </p:sp>
      <p:sp>
        <p:nvSpPr>
          <p:cNvPr id="32" name="gq_42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It ___ cold tonight.</a:t>
            </a:r>
            <a:endParaRPr lang="en-US" sz="1200" dirty="0"/>
          </a:p>
        </p:txBody>
      </p:sp>
      <p:sp>
        <p:nvSpPr>
          <p:cNvPr id="33" name="R4_chip42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 going to be</a:t>
            </a:r>
            <a:endParaRPr lang="en-US" sz="1200" dirty="0"/>
          </a:p>
        </p:txBody>
      </p:sp>
      <p:sp>
        <p:nvSpPr>
          <p:cNvPr id="34" name="gq_42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You ___ too fast.</a:t>
            </a:r>
            <a:endParaRPr lang="en-US" sz="1200" dirty="0"/>
          </a:p>
        </p:txBody>
      </p:sp>
      <p:sp>
        <p:nvSpPr>
          <p:cNvPr id="35" name="R5_chip42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'll drive</a:t>
            </a:r>
            <a:endParaRPr lang="en-US" sz="1200" dirty="0"/>
          </a:p>
        </p:txBody>
      </p:sp>
      <p:sp>
        <p:nvSpPr>
          <p:cNvPr id="36" name="gq_42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 ___ really careful.</a:t>
            </a:r>
            <a:endParaRPr lang="en-US" sz="1200" dirty="0"/>
          </a:p>
        </p:txBody>
      </p:sp>
      <p:sp>
        <p:nvSpPr>
          <p:cNvPr id="37" name="R6_chip42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'll be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3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future</a:t>
            </a:r>
            <a:endParaRPr lang="en-US" sz="25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3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future forms in the lines.</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forme del futuro.</a:t>
            </a:r>
            <a:endParaRPr lang="en-US" sz="950" dirty="0"/>
          </a:p>
        </p:txBody>
      </p:sp>
      <p:sp>
        <p:nvSpPr>
          <p:cNvPr id="9" name="cmd_43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3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Noticing · the conversations   ·   📖 SB audio script 1.15 (p.124)</a:t>
            </a:r>
            <a:endParaRPr lang="en-US" sz="800" dirty="0"/>
          </a:p>
        </p:txBody>
      </p:sp>
      <p:sp>
        <p:nvSpPr>
          <p:cNvPr id="13" name="pf_438"/>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39" descr="/home/claude/lls-course/v2/cache/1b1_conv_b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5" name="cd_440"/>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41"/>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42"/>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43"/>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going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present continuous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will / won't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Shall I…?</a:t>
            </a:r>
            <a:endParaRPr lang="en-US" sz="1050" dirty="0"/>
          </a:p>
        </p:txBody>
      </p:sp>
      <p:sp>
        <p:nvSpPr>
          <p:cNvPr id="19" name="who_444"/>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Gran</a:t>
            </a:r>
            <a:endParaRPr lang="en-US" sz="950" dirty="0"/>
          </a:p>
        </p:txBody>
      </p:sp>
      <p:sp>
        <p:nvSpPr>
          <p:cNvPr id="20" name="sl_445"/>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what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are you going 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next year, dear?</a:t>
            </a:r>
            <a:endParaRPr lang="en-US" sz="1150" dirty="0"/>
          </a:p>
        </p:txBody>
      </p:sp>
      <p:sp>
        <p:nvSpPr>
          <p:cNvPr id="21" name="R1_slA446"/>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what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are you going 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next year, dear?</a:t>
            </a:r>
            <a:endParaRPr lang="en-US" sz="1150" dirty="0"/>
          </a:p>
        </p:txBody>
      </p:sp>
      <p:sp>
        <p:nvSpPr>
          <p:cNvPr id="22" name="who_447"/>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Adam</a:t>
            </a:r>
            <a:endParaRPr lang="en-US" sz="950" dirty="0"/>
          </a:p>
        </p:txBody>
      </p:sp>
      <p:sp>
        <p:nvSpPr>
          <p:cNvPr id="23" name="sl_448"/>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 not going to go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 university. 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 going to look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a job.</a:t>
            </a:r>
            <a:endParaRPr lang="en-US" sz="1150" dirty="0"/>
          </a:p>
        </p:txBody>
      </p:sp>
      <p:sp>
        <p:nvSpPr>
          <p:cNvPr id="24" name="R2_slA449"/>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 not going to go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 university. 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 going to look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a job.</a:t>
            </a:r>
            <a:endParaRPr lang="en-US" sz="1150" dirty="0"/>
          </a:p>
        </p:txBody>
      </p:sp>
      <p:sp>
        <p:nvSpPr>
          <p:cNvPr id="25" name="who_450"/>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Adam</a:t>
            </a:r>
            <a:endParaRPr lang="en-US" sz="950" dirty="0"/>
          </a:p>
        </p:txBody>
      </p:sp>
      <p:sp>
        <p:nvSpPr>
          <p:cNvPr id="26" name="sl_451"/>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Shall I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 a cup of tea?</a:t>
            </a:r>
            <a:endParaRPr lang="en-US" sz="1150" dirty="0"/>
          </a:p>
        </p:txBody>
      </p:sp>
      <p:sp>
        <p:nvSpPr>
          <p:cNvPr id="27" name="R3_slA452"/>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Shall I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 a cup of tea?</a:t>
            </a:r>
            <a:endParaRPr lang="en-US" sz="1150" dirty="0"/>
          </a:p>
        </p:txBody>
      </p:sp>
      <p:sp>
        <p:nvSpPr>
          <p:cNvPr id="28" name="who_453"/>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Girl</a:t>
            </a:r>
            <a:endParaRPr lang="en-US" sz="950" dirty="0"/>
          </a:p>
        </p:txBody>
      </p:sp>
      <p:sp>
        <p:nvSpPr>
          <p:cNvPr id="29" name="sl_454"/>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 going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 a party at Katie's. 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 staying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night there.</a:t>
            </a:r>
            <a:endParaRPr lang="en-US" sz="1150" dirty="0"/>
          </a:p>
        </p:txBody>
      </p:sp>
      <p:sp>
        <p:nvSpPr>
          <p:cNvPr id="30" name="R4_slA455"/>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 going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 a party at Katie's. 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 staying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night there.</a:t>
            </a:r>
            <a:endParaRPr lang="en-US" sz="1150" dirty="0"/>
          </a:p>
        </p:txBody>
      </p:sp>
      <p:sp>
        <p:nvSpPr>
          <p:cNvPr id="31" name="who_456"/>
          <p:cNvSpPr/>
          <p:nvPr/>
        </p:nvSpPr>
        <p:spPr>
          <a:xfrm>
            <a:off x="3108960" y="32918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Dad</a:t>
            </a:r>
            <a:endParaRPr lang="en-US" sz="950" dirty="0"/>
          </a:p>
        </p:txBody>
      </p:sp>
      <p:sp>
        <p:nvSpPr>
          <p:cNvPr id="32" name="sl_457"/>
          <p:cNvSpPr/>
          <p:nvPr/>
        </p:nvSpPr>
        <p:spPr>
          <a:xfrm>
            <a:off x="4114800" y="32735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Where's your coat? It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's going to be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cold tonight!</a:t>
            </a:r>
            <a:endParaRPr lang="en-US" sz="1150" dirty="0"/>
          </a:p>
        </p:txBody>
      </p:sp>
      <p:sp>
        <p:nvSpPr>
          <p:cNvPr id="33" name="R5_slA458"/>
          <p:cNvSpPr/>
          <p:nvPr/>
        </p:nvSpPr>
        <p:spPr>
          <a:xfrm>
            <a:off x="4114800" y="32735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Where's your coat? It</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's going to be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cold tonight!</a:t>
            </a:r>
            <a:endParaRPr lang="en-US" sz="1150" dirty="0"/>
          </a:p>
        </p:txBody>
      </p:sp>
      <p:sp>
        <p:nvSpPr>
          <p:cNvPr id="34" name="who_459"/>
          <p:cNvSpPr/>
          <p:nvPr/>
        </p:nvSpPr>
        <p:spPr>
          <a:xfrm>
            <a:off x="3108960" y="37490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Woman</a:t>
            </a:r>
            <a:endParaRPr lang="en-US" sz="950" dirty="0"/>
          </a:p>
        </p:txBody>
      </p:sp>
      <p:sp>
        <p:nvSpPr>
          <p:cNvPr id="35" name="sl_460"/>
          <p:cNvSpPr/>
          <p:nvPr/>
        </p:nvSpPr>
        <p:spPr>
          <a:xfrm>
            <a:off x="4114800" y="37307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won't look after</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 You</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'll drive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too fast.</a:t>
            </a:r>
            <a:endParaRPr lang="en-US" sz="1150" dirty="0"/>
          </a:p>
        </p:txBody>
      </p:sp>
      <p:sp>
        <p:nvSpPr>
          <p:cNvPr id="36" name="R6_slA461"/>
          <p:cNvSpPr/>
          <p:nvPr/>
        </p:nvSpPr>
        <p:spPr>
          <a:xfrm>
            <a:off x="4114800" y="37307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won't look after</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 You</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'll drive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too fast.</a:t>
            </a:r>
            <a:endParaRPr lang="en-US" sz="1150" dirty="0"/>
          </a:p>
        </p:txBody>
      </p:sp>
      <p:sp>
        <p:nvSpPr>
          <p:cNvPr id="37" name="who_462"/>
          <p:cNvSpPr/>
          <p:nvPr/>
        </p:nvSpPr>
        <p:spPr>
          <a:xfrm>
            <a:off x="3108960" y="42062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Man</a:t>
            </a:r>
            <a:endParaRPr lang="en-US" sz="950" dirty="0"/>
          </a:p>
        </p:txBody>
      </p:sp>
      <p:sp>
        <p:nvSpPr>
          <p:cNvPr id="38" name="sl_463"/>
          <p:cNvSpPr/>
          <p:nvPr/>
        </p:nvSpPr>
        <p:spPr>
          <a:xfrm>
            <a:off x="4114800" y="41879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won't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 promise. 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'll be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careful.</a:t>
            </a:r>
            <a:endParaRPr lang="en-US" sz="1150" dirty="0"/>
          </a:p>
        </p:txBody>
      </p:sp>
      <p:sp>
        <p:nvSpPr>
          <p:cNvPr id="39" name="R7_slA464"/>
          <p:cNvSpPr/>
          <p:nvPr/>
        </p:nvSpPr>
        <p:spPr>
          <a:xfrm>
            <a:off x="4114800" y="41879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won't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 promise. 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'll be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careful.</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6"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67"/>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prediction or promise?</a:t>
            </a:r>
            <a:endParaRPr lang="en-US" sz="2500" dirty="0"/>
          </a:p>
        </p:txBody>
      </p:sp>
      <p:pic>
        <p:nvPicPr>
          <p:cNvPr id="6" name="brP_468"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69"/>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prediction, offer…? Match the colour.</a:t>
            </a:r>
            <a:endParaRPr lang="en-US" sz="1250" dirty="0"/>
          </a:p>
        </p:txBody>
      </p:sp>
      <p:sp>
        <p:nvSpPr>
          <p:cNvPr id="8" name="insIT_4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Piano, previsione, offerta…? Abbina il colore.</a:t>
            </a:r>
            <a:endParaRPr lang="en-US" sz="950" dirty="0"/>
          </a:p>
        </p:txBody>
      </p:sp>
      <p:sp>
        <p:nvSpPr>
          <p:cNvPr id="9" name="cmd_47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7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Grammar · future forms   ·   📖 SB p.11 · 2c</a:t>
            </a:r>
            <a:endParaRPr lang="en-US" sz="800" dirty="0"/>
          </a:p>
        </p:txBody>
      </p:sp>
      <p:sp>
        <p:nvSpPr>
          <p:cNvPr id="14" name="cd_476"/>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79"/>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80"/>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plan</a:t>
            </a:r>
            <a:endParaRPr lang="en-US" sz="1050" dirty="0"/>
          </a:p>
        </p:txBody>
      </p:sp>
      <p:sp>
        <p:nvSpPr>
          <p:cNvPr id="19" name="lg_481"/>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prediction</a:t>
            </a:r>
            <a:endParaRPr lang="en-US" sz="1050" dirty="0"/>
          </a:p>
        </p:txBody>
      </p:sp>
      <p:sp>
        <p:nvSpPr>
          <p:cNvPr id="20" name="lg_482"/>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offer</a:t>
            </a:r>
            <a:endParaRPr lang="en-US" sz="1050" dirty="0"/>
          </a:p>
        </p:txBody>
      </p:sp>
      <p:sp>
        <p:nvSpPr>
          <p:cNvPr id="21" name="lg_483"/>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arrangement</a:t>
            </a:r>
            <a:endParaRPr lang="en-US" sz="1050" dirty="0"/>
          </a:p>
        </p:txBody>
      </p:sp>
      <p:sp>
        <p:nvSpPr>
          <p:cNvPr id="22" name="lg_484"/>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promise</a:t>
            </a:r>
            <a:endParaRPr lang="en-US" sz="1050" dirty="0"/>
          </a:p>
        </p:txBody>
      </p:sp>
      <p:sp>
        <p:nvSpPr>
          <p:cNvPr id="23" name="sq_485"/>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I'm not going to go to university.</a:t>
            </a:r>
            <a:endParaRPr lang="en-US" sz="1200" dirty="0"/>
          </a:p>
        </p:txBody>
      </p:sp>
      <p:sp>
        <p:nvSpPr>
          <p:cNvPr id="24" name="R1_tag486"/>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plan</a:t>
            </a:r>
            <a:endParaRPr lang="en-US" sz="1150" dirty="0"/>
          </a:p>
        </p:txBody>
      </p:sp>
      <p:sp>
        <p:nvSpPr>
          <p:cNvPr id="25" name="sq_487"/>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Shall I make you a cup of tea?</a:t>
            </a:r>
            <a:endParaRPr lang="en-US" sz="1200" dirty="0"/>
          </a:p>
        </p:txBody>
      </p:sp>
      <p:sp>
        <p:nvSpPr>
          <p:cNvPr id="26" name="R2_tag488"/>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offer</a:t>
            </a:r>
            <a:endParaRPr lang="en-US" sz="1150" dirty="0"/>
          </a:p>
        </p:txBody>
      </p:sp>
      <p:sp>
        <p:nvSpPr>
          <p:cNvPr id="27" name="sq_489"/>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staying the night there.</a:t>
            </a:r>
            <a:endParaRPr lang="en-US" sz="1200" dirty="0"/>
          </a:p>
        </p:txBody>
      </p:sp>
      <p:sp>
        <p:nvSpPr>
          <p:cNvPr id="28" name="R3_tag490"/>
          <p:cNvSpPr/>
          <p:nvPr/>
        </p:nvSpPr>
        <p:spPr>
          <a:xfrm>
            <a:off x="7178040" y="2496312"/>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arrangement</a:t>
            </a:r>
            <a:endParaRPr lang="en-US" sz="1150" dirty="0"/>
          </a:p>
        </p:txBody>
      </p:sp>
      <p:sp>
        <p:nvSpPr>
          <p:cNvPr id="29" name="sq_491"/>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It's going to be cold tonight.</a:t>
            </a:r>
            <a:endParaRPr lang="en-US" sz="1200" dirty="0"/>
          </a:p>
        </p:txBody>
      </p:sp>
      <p:sp>
        <p:nvSpPr>
          <p:cNvPr id="30" name="R4_tag492"/>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prediction</a:t>
            </a:r>
            <a:endParaRPr lang="en-US" sz="1150" dirty="0"/>
          </a:p>
        </p:txBody>
      </p:sp>
      <p:sp>
        <p:nvSpPr>
          <p:cNvPr id="31" name="sq_493"/>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You'll drive too fast.</a:t>
            </a:r>
            <a:endParaRPr lang="en-US" sz="1200" dirty="0"/>
          </a:p>
        </p:txBody>
      </p:sp>
      <p:sp>
        <p:nvSpPr>
          <p:cNvPr id="32" name="R5_tag494"/>
          <p:cNvSpPr/>
          <p:nvPr/>
        </p:nvSpPr>
        <p:spPr>
          <a:xfrm>
            <a:off x="7178040" y="3575304"/>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prediction</a:t>
            </a:r>
            <a:endParaRPr lang="en-US" sz="1150" dirty="0"/>
          </a:p>
        </p:txBody>
      </p:sp>
      <p:sp>
        <p:nvSpPr>
          <p:cNvPr id="33" name="sq_495"/>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I'll be really careful.</a:t>
            </a:r>
            <a:endParaRPr lang="en-US" sz="1200" dirty="0"/>
          </a:p>
        </p:txBody>
      </p:sp>
      <p:sp>
        <p:nvSpPr>
          <p:cNvPr id="34" name="R6_tag496"/>
          <p:cNvSpPr/>
          <p:nvPr/>
        </p:nvSpPr>
        <p:spPr>
          <a:xfrm>
            <a:off x="7178040" y="4114800"/>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promise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9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about the future</a:t>
            </a:r>
            <a:endParaRPr lang="en-US" sz="2500" dirty="0"/>
          </a:p>
        </p:txBody>
      </p:sp>
      <p:pic>
        <p:nvPicPr>
          <p:cNvPr id="6" name="brP_50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0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Which form?</a:t>
            </a:r>
            <a:endParaRPr lang="en-US" sz="1250" dirty="0"/>
          </a:p>
        </p:txBody>
      </p:sp>
      <p:sp>
        <p:nvSpPr>
          <p:cNvPr id="8" name="insIT_5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gli esempi. Quale forma?</a:t>
            </a:r>
            <a:endParaRPr lang="en-US" sz="950" dirty="0"/>
          </a:p>
        </p:txBody>
      </p:sp>
      <p:sp>
        <p:nvSpPr>
          <p:cNvPr id="9" name="cmd_5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50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0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5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Grammar · the rule   ·   📖 Grammar Bank 1B p.133 · audio 1.16</a:t>
            </a:r>
            <a:endParaRPr lang="en-US" sz="800" dirty="0"/>
          </a:p>
        </p:txBody>
      </p:sp>
      <p:sp>
        <p:nvSpPr>
          <p:cNvPr id="14" name="ah_508"/>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1.16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50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51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51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going to</a:t>
            </a:r>
            <a:endParaRPr lang="en-US" sz="1250" dirty="0"/>
          </a:p>
        </p:txBody>
      </p:sp>
      <p:sp>
        <p:nvSpPr>
          <p:cNvPr id="20" name="pf_51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3" descr="/home/claude/lls-course/v2/cache/1b1_cloud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51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plans · predictions you can SEE</a:t>
            </a:r>
            <a:endParaRPr lang="en-US" sz="1050" dirty="0"/>
          </a:p>
        </p:txBody>
      </p:sp>
      <p:sp>
        <p:nvSpPr>
          <p:cNvPr id="23" name="R1_rx51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050" dirty="0"/>
          </a:p>
        </p:txBody>
      </p:sp>
      <p:sp>
        <p:nvSpPr>
          <p:cNvPr id="24" name="R1_ri51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intenzione · sta per…</a:t>
            </a:r>
            <a:endParaRPr lang="en-US" sz="900" dirty="0"/>
          </a:p>
        </p:txBody>
      </p:sp>
      <p:sp>
        <p:nvSpPr>
          <p:cNvPr id="25" name="cd_51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51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7" name="pf_51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20" descr="/home/claude/lls-course/v2/cache/1b1_diary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52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arrangements (day, time, place fixed)</a:t>
            </a:r>
            <a:endParaRPr lang="en-US" sz="1050" dirty="0"/>
          </a:p>
        </p:txBody>
      </p:sp>
      <p:sp>
        <p:nvSpPr>
          <p:cNvPr id="30" name="R2_rx52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staying at Katie's tonight.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We're going to a wedding on Saturday.</a:t>
            </a:r>
            <a:endParaRPr lang="en-US" sz="1050" dirty="0"/>
          </a:p>
        </p:txBody>
      </p:sp>
      <p:sp>
        <p:nvSpPr>
          <p:cNvPr id="31" name="R2_ri52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già organizzato</a:t>
            </a:r>
            <a:endParaRPr lang="en-US" sz="900" dirty="0"/>
          </a:p>
        </p:txBody>
      </p:sp>
      <p:sp>
        <p:nvSpPr>
          <p:cNvPr id="32" name="cd_52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52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will / won't</a:t>
            </a:r>
            <a:endParaRPr lang="en-US" sz="1250" dirty="0"/>
          </a:p>
        </p:txBody>
      </p:sp>
      <p:sp>
        <p:nvSpPr>
          <p:cNvPr id="34" name="pf_52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527" descr="/home/claude/lls-course/v2/cache/1b1_bags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52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offers · promises · instant decisions · predictions</a:t>
            </a:r>
            <a:endParaRPr lang="en-US" sz="1050" dirty="0"/>
          </a:p>
        </p:txBody>
      </p:sp>
      <p:sp>
        <p:nvSpPr>
          <p:cNvPr id="37" name="R3_rx52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I'll carry that for you!</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won't tell anybody.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you'll pass.</a:t>
            </a:r>
            <a:endParaRPr lang="en-US" sz="1050" dirty="0"/>
          </a:p>
        </p:txBody>
      </p:sp>
      <p:sp>
        <p:nvSpPr>
          <p:cNvPr id="38" name="R3_ri53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decisione sul momento, promessa</a:t>
            </a:r>
            <a:endParaRPr lang="en-US" sz="750" dirty="0"/>
          </a:p>
        </p:txBody>
      </p:sp>
      <p:sp>
        <p:nvSpPr>
          <p:cNvPr id="39" name="cd_53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53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Shall I / we…?</a:t>
            </a:r>
            <a:endParaRPr lang="en-US" sz="1250" dirty="0"/>
          </a:p>
        </p:txBody>
      </p:sp>
      <p:sp>
        <p:nvSpPr>
          <p:cNvPr id="41" name="pf_53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534" descr="/home/claude/lls-course/v2/cache/1b1_conv_c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53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offers &amp; suggestions (questions)</a:t>
            </a:r>
            <a:endParaRPr lang="en-US" sz="1050" dirty="0"/>
          </a:p>
        </p:txBody>
      </p:sp>
      <p:sp>
        <p:nvSpPr>
          <p:cNvPr id="44" name="R4_rx53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Shall we eat out tonight?</a:t>
            </a:r>
            <a:endParaRPr lang="en-US" sz="1050" dirty="0"/>
          </a:p>
        </p:txBody>
      </p:sp>
      <p:sp>
        <p:nvSpPr>
          <p:cNvPr id="45" name="R4_ri53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850" i="1" dirty="0">
                <a:solidFill>
                  <a:srgbClr val="5B6785"/>
                </a:solidFill>
                <a:latin typeface="Segoe UI Semibold" pitchFamily="34" charset="0"/>
                <a:ea typeface="Segoe UI Semibold" pitchFamily="34" charset="-122"/>
                <a:cs typeface="Segoe UI Semibold" pitchFamily="34" charset="-120"/>
              </a:rPr>
              <a:t>Vuoi che…? · Che ne dici se…?</a:t>
            </a:r>
            <a:endParaRPr lang="en-US" sz="850" dirty="0"/>
          </a:p>
        </p:txBody>
      </p:sp>
      <p:sp>
        <p:nvSpPr>
          <p:cNvPr id="46" name="R5_wc538"/>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539"/>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Italian present ≠ English future:  ✗ Tomorrow I go to Palermo → ✓ I'm going to Palermo tomorrow.   ✗ I carry your bag → ✓ I'll carry it.</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4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Luca and the wedding cake</a:t>
            </a:r>
            <a:endParaRPr lang="en-US" sz="2400" dirty="0"/>
          </a:p>
        </p:txBody>
      </p:sp>
      <p:pic>
        <p:nvPicPr>
          <p:cNvPr id="6" name="brP_54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4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54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4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4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4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Speaking · class story (TPRS)</a:t>
            </a:r>
            <a:endParaRPr lang="en-US" sz="800" dirty="0"/>
          </a:p>
        </p:txBody>
      </p:sp>
      <p:sp>
        <p:nvSpPr>
          <p:cNvPr id="15" name="cd_55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5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5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5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 getting married (on Saturday)</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si sposa (già organizzato)</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 going to make</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ha intenzione di preparare</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Shall I help you?</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Vuoi che ti aiuti?</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I'll be careful (promise)</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starò attento (promessa)</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 going to fall</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sta per cadere</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We'll eat… (decision now)</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mangeremo… (decisione ora)</a:t>
            </a:r>
            <a:endParaRPr lang="en-US" sz="950" dirty="0"/>
          </a:p>
        </p:txBody>
      </p:sp>
      <p:sp>
        <p:nvSpPr>
          <p:cNvPr id="19" name="R1_sb55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5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Luca's stepsister, Giada,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getting married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on Saturday. It's all arranged!</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Giada getting married on Saturday or Sunday? · Who is she?</a:t>
            </a:r>
            <a:endParaRPr lang="en-US" sz="1000" dirty="0"/>
          </a:p>
        </p:txBody>
      </p:sp>
      <p:sp>
        <p:nvSpPr>
          <p:cNvPr id="21" name="R2_sb55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5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Luca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is going to make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the wedding cake. That's his big plan.</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Luca going to make the cake or the music? · What's his plan?</a:t>
            </a:r>
            <a:endParaRPr lang="en-US" sz="1200" dirty="0"/>
          </a:p>
        </p:txBody>
      </p:sp>
      <p:sp>
        <p:nvSpPr>
          <p:cNvPr id="23" name="R3_sb56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6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Saturday the cake is enormous. Grandpa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Shall I help</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you?'</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the cake small or enormous? · Who offers to help?</a:t>
            </a:r>
            <a:endParaRPr lang="en-US" sz="1050" dirty="0"/>
          </a:p>
        </p:txBody>
      </p:sp>
      <p:sp>
        <p:nvSpPr>
          <p:cNvPr id="25" name="R4_sb56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6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 thanks!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I'll be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really careful,' Luca promises.</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Luca want help? · What does he promise?</a:t>
            </a:r>
            <a:endParaRPr lang="en-US" sz="1250" dirty="0"/>
          </a:p>
        </p:txBody>
      </p:sp>
      <p:sp>
        <p:nvSpPr>
          <p:cNvPr id="27" name="R5_sb56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6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But look – there's a dog on the stairs! Luca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going to fall</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it a dog or a cat? · What's going to happen?</a:t>
            </a:r>
            <a:endParaRPr lang="en-US" sz="1250" dirty="0"/>
          </a:p>
        </p:txBody>
      </p:sp>
      <p:sp>
        <p:nvSpPr>
          <p:cNvPr id="29" name="R6_sb56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6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 Giada laughs: 'Don't worry.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We'll eat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arancine instead!'</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Giada angry? · And you – what are you going to do this weekend?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7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Quick! Say it!</a:t>
            </a:r>
            <a:endParaRPr lang="en-US" sz="25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7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reply!</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 risposta!</a:t>
            </a:r>
            <a:endParaRPr lang="en-US" sz="950" dirty="0"/>
          </a:p>
        </p:txBody>
      </p:sp>
      <p:sp>
        <p:nvSpPr>
          <p:cNvPr id="9" name="cmd_57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Grammar game</a:t>
            </a:r>
            <a:endParaRPr lang="en-US" sz="800" dirty="0"/>
          </a:p>
        </p:txBody>
      </p:sp>
      <p:sp>
        <p:nvSpPr>
          <p:cNvPr id="14" name="cd_57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8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situation.</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la situazione.</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Teams: say the reply in 10 seconds.</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Squadre: dite la risposta in 10 secondi.</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Right future form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Forma giusta = 1 punto.</a:t>
            </a:r>
            <a:endParaRPr lang="en-US" sz="1100" dirty="0"/>
          </a:p>
        </p:txBody>
      </p:sp>
      <p:sp>
        <p:nvSpPr>
          <p:cNvPr id="18" name="st_58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8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8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really hot in here."</a:t>
            </a:r>
            <a:endParaRPr lang="en-US" sz="1100" dirty="0"/>
          </a:p>
        </p:txBody>
      </p:sp>
      <p:sp>
        <p:nvSpPr>
          <p:cNvPr id="21" name="R1_chip58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Shall I open the window? (offer)</a:t>
            </a:r>
            <a:endParaRPr lang="en-US" sz="1100" dirty="0"/>
          </a:p>
        </p:txBody>
      </p:sp>
      <p:sp>
        <p:nvSpPr>
          <p:cNvPr id="22" name="bd_58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8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those black clouds!"</a:t>
            </a:r>
            <a:endParaRPr lang="en-US" sz="1100" dirty="0"/>
          </a:p>
        </p:txBody>
      </p:sp>
      <p:sp>
        <p:nvSpPr>
          <p:cNvPr id="24" name="R2_chip58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going to rain. (prediction)</a:t>
            </a:r>
            <a:endParaRPr lang="en-US" sz="1100" dirty="0"/>
          </a:p>
        </p:txBody>
      </p:sp>
      <p:sp>
        <p:nvSpPr>
          <p:cNvPr id="25" name="bd_59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9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tell anyone my secret!"</a:t>
            </a:r>
            <a:endParaRPr lang="en-US" sz="1100" dirty="0"/>
          </a:p>
        </p:txBody>
      </p:sp>
      <p:sp>
        <p:nvSpPr>
          <p:cNvPr id="27" name="R3_chip59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I promise.</a:t>
            </a:r>
            <a:endParaRPr lang="en-US" sz="1100" dirty="0"/>
          </a:p>
        </p:txBody>
      </p:sp>
      <p:sp>
        <p:nvSpPr>
          <p:cNvPr id="28" name="bd_59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9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 "Pizza or pasta?"</a:t>
            </a:r>
            <a:endParaRPr lang="en-US" sz="1100" dirty="0"/>
          </a:p>
        </p:txBody>
      </p:sp>
      <p:sp>
        <p:nvSpPr>
          <p:cNvPr id="30" name="R4_chip59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have the pizza, please.</a:t>
            </a:r>
            <a:endParaRPr lang="en-US" sz="1100" dirty="0"/>
          </a:p>
        </p:txBody>
      </p:sp>
      <p:sp>
        <p:nvSpPr>
          <p:cNvPr id="31" name="bd_59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9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"Free on Saturday?" (dinner with cousins – booked)</a:t>
            </a:r>
            <a:endParaRPr lang="en-US" sz="1100" dirty="0"/>
          </a:p>
        </p:txBody>
      </p:sp>
      <p:sp>
        <p:nvSpPr>
          <p:cNvPr id="33" name="R5_chip59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I'm having dinner with my cousins.</a:t>
            </a:r>
            <a:endParaRPr lang="en-US" sz="1100" dirty="0"/>
          </a:p>
        </p:txBody>
      </p:sp>
      <p:sp>
        <p:nvSpPr>
          <p:cNvPr id="34" name="bd_59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60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mum's bags are really heavy.</a:t>
            </a:r>
            <a:endParaRPr lang="en-US" sz="1100" dirty="0"/>
          </a:p>
        </p:txBody>
      </p:sp>
      <p:sp>
        <p:nvSpPr>
          <p:cNvPr id="36" name="R6_chip60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them for you!</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0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60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0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6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cmd_6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0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61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1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6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Pronunciation · sentence stress   ·   📖 SB p.11 · 3b, 3c, 3d · audio 1.21</a:t>
            </a:r>
            <a:endParaRPr lang="en-US" sz="800" dirty="0"/>
          </a:p>
        </p:txBody>
      </p:sp>
      <p:sp>
        <p:nvSpPr>
          <p:cNvPr id="15" name="ap_614"/>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1.21  ·  pause after each sentence</a:t>
            </a:r>
            <a:endParaRPr lang="en-US" sz="1100" dirty="0"/>
          </a:p>
        </p:txBody>
      </p:sp>
      <p:sp>
        <p:nvSpPr>
          <p:cNvPr id="16" name="ah_61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1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617"/>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618"/>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619"/>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3" name="il_620"/>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4" name="pf_621"/>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22" descr="/home/claude/lls-course/v2/cache/sb_pregnant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6" name="bd_623"/>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624"/>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sister's</a:t>
            </a:r>
            <a:endParaRPr lang="en-US" sz="1150" dirty="0"/>
          </a:p>
        </p:txBody>
      </p:sp>
      <p:sp>
        <p:nvSpPr>
          <p:cNvPr id="28" name="R1_sw625"/>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having</a:t>
            </a:r>
            <a:endParaRPr lang="en-US" sz="1150" dirty="0"/>
          </a:p>
        </p:txBody>
      </p:sp>
      <p:sp>
        <p:nvSpPr>
          <p:cNvPr id="29" name="R1_sw626"/>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baby</a:t>
            </a:r>
            <a:endParaRPr lang="en-US" sz="1150" dirty="0"/>
          </a:p>
        </p:txBody>
      </p:sp>
      <p:sp>
        <p:nvSpPr>
          <p:cNvPr id="30" name="R1_sw627"/>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April</a:t>
            </a:r>
            <a:endParaRPr lang="en-US" sz="1150" dirty="0"/>
          </a:p>
        </p:txBody>
      </p:sp>
      <p:sp>
        <p:nvSpPr>
          <p:cNvPr id="31" name="R2_sf628"/>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My sister's having a baby in April.</a:t>
            </a:r>
            <a:endParaRPr lang="en-US" sz="1100" dirty="0"/>
          </a:p>
        </p:txBody>
      </p:sp>
      <p:sp>
        <p:nvSpPr>
          <p:cNvPr id="32" name="bd_629"/>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3" name="R3_sw630"/>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anyone</a:t>
            </a:r>
            <a:endParaRPr lang="en-US" sz="1150" dirty="0"/>
          </a:p>
        </p:txBody>
      </p:sp>
      <p:sp>
        <p:nvSpPr>
          <p:cNvPr id="34" name="R3_sw631"/>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family</a:t>
            </a:r>
            <a:endParaRPr lang="en-US" sz="1150" dirty="0"/>
          </a:p>
        </p:txBody>
      </p:sp>
      <p:sp>
        <p:nvSpPr>
          <p:cNvPr id="35" name="R3_sw632"/>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moving</a:t>
            </a:r>
            <a:endParaRPr lang="en-US" sz="1150" dirty="0"/>
          </a:p>
        </p:txBody>
      </p:sp>
      <p:sp>
        <p:nvSpPr>
          <p:cNvPr id="36" name="R3_sw633"/>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house</a:t>
            </a:r>
            <a:endParaRPr lang="en-US" sz="1150" dirty="0"/>
          </a:p>
        </p:txBody>
      </p:sp>
      <p:sp>
        <p:nvSpPr>
          <p:cNvPr id="37" name="R3_sw634"/>
          <p:cNvSpPr/>
          <p:nvPr/>
        </p:nvSpPr>
        <p:spPr>
          <a:xfrm>
            <a:off x="7845552"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soon</a:t>
            </a:r>
            <a:endParaRPr lang="en-US" sz="1150" dirty="0"/>
          </a:p>
        </p:txBody>
      </p:sp>
      <p:sp>
        <p:nvSpPr>
          <p:cNvPr id="38" name="R4_sf635"/>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Is anyone in your family moving house soon?</a:t>
            </a:r>
            <a:endParaRPr lang="en-US" sz="1100" dirty="0"/>
          </a:p>
        </p:txBody>
      </p:sp>
      <p:sp>
        <p:nvSpPr>
          <p:cNvPr id="39" name="bd_636"/>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40" name="R5_sw637"/>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see</a:t>
            </a:r>
            <a:endParaRPr lang="en-US" sz="1150" dirty="0"/>
          </a:p>
        </p:txBody>
      </p:sp>
      <p:sp>
        <p:nvSpPr>
          <p:cNvPr id="41" name="R5_sw638"/>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parents</a:t>
            </a:r>
            <a:endParaRPr lang="en-US" sz="1150" dirty="0"/>
          </a:p>
        </p:txBody>
      </p:sp>
      <p:sp>
        <p:nvSpPr>
          <p:cNvPr id="42" name="R5_sw639"/>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weekend</a:t>
            </a:r>
            <a:endParaRPr lang="en-US" sz="1150" dirty="0"/>
          </a:p>
        </p:txBody>
      </p:sp>
      <p:sp>
        <p:nvSpPr>
          <p:cNvPr id="43" name="R6_sf640"/>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Are you going to see your parents at the weekend?</a:t>
            </a:r>
            <a:endParaRPr lang="en-US" sz="1100" dirty="0"/>
          </a:p>
        </p:txBody>
      </p:sp>
      <p:sp>
        <p:nvSpPr>
          <p:cNvPr id="44" name="bd_641"/>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5" name="R7_sw642"/>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46" name="R7_sw643"/>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live</a:t>
            </a:r>
            <a:endParaRPr lang="en-US" sz="1150" dirty="0"/>
          </a:p>
        </p:txBody>
      </p:sp>
      <p:sp>
        <p:nvSpPr>
          <p:cNvPr id="47" name="R7_sw644"/>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home</a:t>
            </a:r>
            <a:endParaRPr lang="en-US" sz="1150" dirty="0"/>
          </a:p>
        </p:txBody>
      </p:sp>
      <p:sp>
        <p:nvSpPr>
          <p:cNvPr id="48" name="R7_sw645"/>
          <p:cNvSpPr/>
          <p:nvPr/>
        </p:nvSpPr>
        <p:spPr>
          <a:xfrm>
            <a:off x="6821424"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next</a:t>
            </a:r>
            <a:endParaRPr lang="en-US" sz="1150" dirty="0"/>
          </a:p>
        </p:txBody>
      </p:sp>
      <p:sp>
        <p:nvSpPr>
          <p:cNvPr id="49" name="R7_sw646"/>
          <p:cNvSpPr/>
          <p:nvPr/>
        </p:nvSpPr>
        <p:spPr>
          <a:xfrm>
            <a:off x="7845552"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a:t>
            </a:r>
            <a:endParaRPr lang="en-US" sz="1150" dirty="0"/>
          </a:p>
        </p:txBody>
      </p:sp>
      <p:sp>
        <p:nvSpPr>
          <p:cNvPr id="50" name="R8_sf647"/>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 you think you'll live at home next year?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par>
                                <p:cTn id="14" presetID="10" presetClass="entr" presetSubtype="0" fill="hold"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4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40"/>
                                        </p:tgtEl>
                                        <p:attrNameLst>
                                          <p:attrName>style.visibility</p:attrName>
                                        </p:attrNameLst>
                                      </p:cBhvr>
                                      <p:to>
                                        <p:strVal val="visible"/>
                                      </p:to>
                                    </p:set>
                                    <p:animEffect transition="in" filter="fade">
                                      <p:cBhvr>
                                        <p:cTn id="48" dur="400"/>
                                        <p:tgtEl>
                                          <p:spTgt spid="40"/>
                                        </p:tgtEl>
                                      </p:cBhvr>
                                    </p:animEffect>
                                  </p:childTnLst>
                                </p:cTn>
                              </p:par>
                              <p:par>
                                <p:cTn id="49" presetID="10" presetClass="entr" presetSubtype="0" fill="hold" nodeType="withEffect">
                                  <p:stCondLst>
                                    <p:cond delay="0"/>
                                  </p:stCondLst>
                                  <p:childTnLst>
                                    <p:set>
                                      <p:cBhvr>
                                        <p:cTn id="50" dur="1" fill="hold">
                                          <p:stCondLst>
                                            <p:cond delay="0"/>
                                          </p:stCondLst>
                                        </p:cTn>
                                        <p:tgtEl>
                                          <p:spTgt spid="41"/>
                                        </p:tgtEl>
                                        <p:attrNameLst>
                                          <p:attrName>style.visibility</p:attrName>
                                        </p:attrNameLst>
                                      </p:cBhvr>
                                      <p:to>
                                        <p:strVal val="visible"/>
                                      </p:to>
                                    </p:set>
                                    <p:animEffect transition="in" filter="fade">
                                      <p:cBhvr>
                                        <p:cTn id="51" dur="400"/>
                                        <p:tgtEl>
                                          <p:spTgt spid="41"/>
                                        </p:tgtEl>
                                      </p:cBhvr>
                                    </p:animEffect>
                                  </p:childTnLst>
                                </p:cTn>
                              </p:par>
                              <p:par>
                                <p:cTn id="52" presetID="10" presetClass="entr" presetSubtype="0" fill="hold"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400"/>
                                        <p:tgtEl>
                                          <p:spTgt spid="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3"/>
                                        </p:tgtEl>
                                        <p:attrNameLst>
                                          <p:attrName>style.visibility</p:attrName>
                                        </p:attrNameLst>
                                      </p:cBhvr>
                                      <p:to>
                                        <p:strVal val="visible"/>
                                      </p:to>
                                    </p:set>
                                    <p:animEffect transition="in" filter="fade">
                                      <p:cBhvr>
                                        <p:cTn id="59" dur="400"/>
                                        <p:tgtEl>
                                          <p:spTgt spid="43"/>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400"/>
                                        <p:tgtEl>
                                          <p:spTgt spid="45"/>
                                        </p:tgtEl>
                                      </p:cBhvr>
                                    </p:animEffect>
                                  </p:childTnLst>
                                </p:cTn>
                              </p:par>
                              <p:par>
                                <p:cTn id="65" presetID="10" presetClass="entr" presetSubtype="0" fill="hold" nodeType="with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400"/>
                                        <p:tgtEl>
                                          <p:spTgt spid="46"/>
                                        </p:tgtEl>
                                      </p:cBhvr>
                                    </p:animEffect>
                                  </p:childTnLst>
                                </p:cTn>
                              </p:par>
                              <p:par>
                                <p:cTn id="68" presetID="10" presetClass="entr" presetSubtype="0" fill="hold" nodeType="withEffect">
                                  <p:stCondLst>
                                    <p:cond delay="0"/>
                                  </p:stCondLst>
                                  <p:childTnLst>
                                    <p:set>
                                      <p:cBhvr>
                                        <p:cTn id="69" dur="1" fill="hold">
                                          <p:stCondLst>
                                            <p:cond delay="0"/>
                                          </p:stCondLst>
                                        </p:cTn>
                                        <p:tgtEl>
                                          <p:spTgt spid="47"/>
                                        </p:tgtEl>
                                        <p:attrNameLst>
                                          <p:attrName>style.visibility</p:attrName>
                                        </p:attrNameLst>
                                      </p:cBhvr>
                                      <p:to>
                                        <p:strVal val="visible"/>
                                      </p:to>
                                    </p:set>
                                    <p:animEffect transition="in" filter="fade">
                                      <p:cBhvr>
                                        <p:cTn id="70" dur="400"/>
                                        <p:tgtEl>
                                          <p:spTgt spid="47"/>
                                        </p:tgtEl>
                                      </p:cBhvr>
                                    </p:animEffect>
                                  </p:childTnLst>
                                </p:cTn>
                              </p:par>
                              <p:par>
                                <p:cTn id="71" presetID="10" presetClass="entr" presetSubtype="0" fill="hold" nodeType="withEffect">
                                  <p:stCondLst>
                                    <p:cond delay="0"/>
                                  </p:stCondLst>
                                  <p:childTnLst>
                                    <p:set>
                                      <p:cBhvr>
                                        <p:cTn id="72" dur="1" fill="hold">
                                          <p:stCondLst>
                                            <p:cond delay="0"/>
                                          </p:stCondLst>
                                        </p:cTn>
                                        <p:tgtEl>
                                          <p:spTgt spid="48"/>
                                        </p:tgtEl>
                                        <p:attrNameLst>
                                          <p:attrName>style.visibility</p:attrName>
                                        </p:attrNameLst>
                                      </p:cBhvr>
                                      <p:to>
                                        <p:strVal val="visible"/>
                                      </p:to>
                                    </p:set>
                                    <p:animEffect transition="in" filter="fade">
                                      <p:cBhvr>
                                        <p:cTn id="73" dur="400"/>
                                        <p:tgtEl>
                                          <p:spTgt spid="48"/>
                                        </p:tgtEl>
                                      </p:cBhvr>
                                    </p:animEffect>
                                  </p:childTnLst>
                                </p:cTn>
                              </p:par>
                              <p:par>
                                <p:cTn id="74" presetID="10" presetClass="entr" presetSubtype="0" fill="hold" nodeType="withEffect">
                                  <p:stCondLst>
                                    <p:cond delay="0"/>
                                  </p:stCondLst>
                                  <p:childTnLst>
                                    <p:set>
                                      <p:cBhvr>
                                        <p:cTn id="75" dur="1" fill="hold">
                                          <p:stCondLst>
                                            <p:cond delay="0"/>
                                          </p:stCondLst>
                                        </p:cTn>
                                        <p:tgtEl>
                                          <p:spTgt spid="49"/>
                                        </p:tgtEl>
                                        <p:attrNameLst>
                                          <p:attrName>style.visibility</p:attrName>
                                        </p:attrNameLst>
                                      </p:cBhvr>
                                      <p:to>
                                        <p:strVal val="visible"/>
                                      </p:to>
                                    </p:set>
                                    <p:animEffect transition="in" filter="fade">
                                      <p:cBhvr>
                                        <p:cTn id="76" dur="400"/>
                                        <p:tgtEl>
                                          <p:spTgt spid="49"/>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2" restart="whenNotActive" fill="hold" evtFilter="cancelBubble" nodeType="interactiveSeq">
                <p:stCondLst>
                  <p:cond evt="onClick" delay="0">
                    <p:tgtEl>
                      <p:spTgt spid="17"/>
                    </p:tgtEl>
                  </p:cond>
                </p:stCondLst>
                <p:endSync evt="end" delay="0">
                  <p:rtn val="all"/>
                </p:endSync>
                <p:childTnLst>
                  <p:par>
                    <p:cTn id="83" fill="hold">
                      <p:stCondLst>
                        <p:cond delay="0"/>
                      </p:stCondLst>
                      <p:childTnLst>
                        <p:par>
                          <p:cTn id="84" fill="hold">
                            <p:stCondLst>
                              <p:cond delay="0"/>
                            </p:stCondLst>
                            <p:childTnLst>
                              <p:par>
                                <p:cTn id="85" presetID="2" presetClass="mediacall" presetSubtype="0" fill="hold" nodeType="clickEffect">
                                  <p:stCondLst>
                                    <p:cond delay="0"/>
                                  </p:stCondLst>
                                  <p:childTnLst>
                                    <p:cmd type="call" cmd="togglePause">
                                      <p:cBhvr>
                                        <p:cTn id="86" dur="1" fill="hold"/>
                                        <p:tgtEl>
                                          <p:spTgt spid="17"/>
                                        </p:tgtEl>
                                      </p:cBhvr>
                                    </p:cmd>
                                  </p:childTnLst>
                                </p:cTn>
                              </p:par>
                            </p:childTnLst>
                          </p:cTn>
                        </p:par>
                      </p:childTnLst>
                    </p:cTn>
                  </p:par>
                </p:childTnLst>
              </p:cTn>
              <p:nextCondLst>
                <p:cond evt="onClick" delay="0">
                  <p:tgtEl>
                    <p:spTgt spid="17"/>
                  </p:tgtEl>
                </p:cond>
              </p:nextCondLst>
            </p:seq>
            <p:seq concurrent="1" nextAc="seek">
              <p:cTn id="87" restart="whenNotActive" fill="hold" evtFilter="cancelBubble" nodeType="interactiveSeq">
                <p:stCondLst>
                  <p:cond evt="onClick" delay="0">
                    <p:tgtEl>
                      <p:spTgt spid="19"/>
                    </p:tgtEl>
                  </p:cond>
                </p:stCondLst>
                <p:endSync evt="end" delay="0">
                  <p:rtn val="all"/>
                </p:endSync>
                <p:childTnLst>
                  <p:par>
                    <p:cTn id="88" fill="hold">
                      <p:stCondLst>
                        <p:cond delay="0"/>
                      </p:stCondLst>
                      <p:childTnLst>
                        <p:par>
                          <p:cTn id="89" fill="hold">
                            <p:stCondLst>
                              <p:cond delay="0"/>
                            </p:stCondLst>
                            <p:childTnLst>
                              <p:par>
                                <p:cTn id="90" presetID="2" presetClass="mediacall" presetSubtype="0" fill="hold" nodeType="clickEffect">
                                  <p:stCondLst>
                                    <p:cond delay="0"/>
                                  </p:stCondLst>
                                  <p:childTnLst>
                                    <p:cmd type="call" cmd="togglePause">
                                      <p:cBhvr>
                                        <p:cTn id="91" dur="1" fill="hold"/>
                                        <p:tgtEl>
                                          <p:spTgt spid="19"/>
                                        </p:tgtEl>
                                      </p:cBhvr>
                                    </p:cmd>
                                  </p:childTnLst>
                                </p:cTn>
                              </p:par>
                            </p:childTnLst>
                          </p:cTn>
                        </p:par>
                      </p:childTnLst>
                    </p:cTn>
                  </p:par>
                </p:childTnLst>
              </p:cTn>
              <p:nextCondLst>
                <p:cond evt="onClick" delay="0">
                  <p:tgtEl>
                    <p:spTgt spid="19"/>
                  </p:tgtEl>
                </p:cond>
              </p:nextCondLst>
            </p:seq>
            <p:audio>
              <p:cMediaNode vol="80000">
                <p:cTn id="92" fill="hold" display="0">
                  <p:stCondLst>
                    <p:cond delay="indefinite"/>
                  </p:stCondLst>
                  <p:endCondLst>
                    <p:cond evt="onStopAudio" delay="0">
                      <p:tgtEl>
                        <p:sldTgt/>
                      </p:tgtEl>
                    </p:cond>
                  </p:endCondLst>
                </p:cTn>
                <p:tgtEl>
                  <p:spTgt spid="17"/>
                </p:tgtEl>
              </p:cMediaNode>
            </p:audio>
            <p:audio>
              <p:cMediaNode vol="80000">
                <p:cTn id="93" fill="hold" display="0">
                  <p:stCondLst>
                    <p:cond delay="indefinite"/>
                  </p:stCondLst>
                  <p:endCondLst>
                    <p:cond evt="onStopAudio" delay="0">
                      <p:tgtEl>
                        <p:sldTgt/>
                      </p:tgtEl>
                    </p:cond>
                  </p:endCondLst>
                </p:cTn>
                <p:tgtEl>
                  <p:spTgt spid="19"/>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650"/>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anyone in your family…?</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65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Ask 3 classmates.</a:t>
            </a:r>
            <a:endParaRPr lang="en-US" sz="1250" dirty="0"/>
          </a:p>
        </p:txBody>
      </p:sp>
      <p:sp>
        <p:nvSpPr>
          <p:cNvPr id="8" name="insIT_6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Alzati! Chiedi a 3 compagni.</a:t>
            </a:r>
            <a:endParaRPr lang="en-US" sz="950" dirty="0"/>
          </a:p>
        </p:txBody>
      </p:sp>
      <p:sp>
        <p:nvSpPr>
          <p:cNvPr id="9" name="cmd_65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mingle</a:t>
            </a:r>
            <a:endParaRPr lang="en-US" sz="950" dirty="0"/>
          </a:p>
        </p:txBody>
      </p:sp>
      <p:sp>
        <p:nvSpPr>
          <p:cNvPr id="11" name="tag_6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Speaking · future plans   ·   📖 SB p.11 · 3e</a:t>
            </a:r>
            <a:endParaRPr lang="en-US" sz="800" dirty="0"/>
          </a:p>
        </p:txBody>
      </p:sp>
      <p:sp>
        <p:nvSpPr>
          <p:cNvPr id="14" name="pf_65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60" descr="/home/claude/lls-course/v2/cache/1b1_birth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6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6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6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6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Maybe · Probably · I don't think so · I have no idea… because…</a:t>
            </a:r>
            <a:endParaRPr lang="en-US" sz="1050" dirty="0"/>
          </a:p>
        </p:txBody>
      </p:sp>
      <p:sp>
        <p:nvSpPr>
          <p:cNvPr id="20" name="R1_qb66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6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anyone in your family getting married soon?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My cousin is getting married in June.</a:t>
            </a:r>
            <a:endParaRPr lang="en-US" sz="1250" dirty="0"/>
          </a:p>
        </p:txBody>
      </p:sp>
      <p:sp>
        <p:nvSpPr>
          <p:cNvPr id="22" name="R2_qb66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68"/>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anyone celebrating their birthday soon?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dad is – he's going to be 50!</a:t>
            </a:r>
            <a:endParaRPr lang="en-US" sz="1250" dirty="0"/>
          </a:p>
        </p:txBody>
      </p:sp>
      <p:pic>
        <p:nvPicPr>
          <p:cNvPr id="24" name="R2_th669" descr="/home/claude/lls-course/v2/cache/1b1_birthday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67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7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you going to do something with your family this week?</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We're going to the beach on Sunday.</a:t>
            </a:r>
            <a:endParaRPr lang="en-US" sz="1200" dirty="0"/>
          </a:p>
        </p:txBody>
      </p:sp>
      <p:sp>
        <p:nvSpPr>
          <p:cNvPr id="27" name="R4_qb67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73"/>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Are you going to go on holiday with your family this year?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Maybe next year.</a:t>
            </a:r>
            <a:endParaRPr lang="en-US" sz="1050" dirty="0"/>
          </a:p>
        </p:txBody>
      </p:sp>
      <p:pic>
        <p:nvPicPr>
          <p:cNvPr id="29" name="R4_th674" descr="/home/claude/lls-course/v2/cache/1b1_holiday_jpg_154x119_18.png">    </p:cNvPr>
          <p:cNvPicPr>
            <a:picLocks noChangeAspect="1"/>
          </p:cNvPicPr>
          <p:nvPr/>
        </p:nvPicPr>
        <p:blipFill>
          <a:blip r:embed="rId7"/>
          <a:stretch>
            <a:fillRect/>
          </a:stretch>
        </p:blipFill>
        <p:spPr>
          <a:xfrm>
            <a:off x="8257032" y="3246120"/>
            <a:ext cx="640080" cy="493776"/>
          </a:xfrm>
          <a:prstGeom prst="rect">
            <a:avLst/>
          </a:prstGeom>
        </p:spPr>
      </p:pic>
      <p:sp>
        <p:nvSpPr>
          <p:cNvPr id="30" name="R5_qb67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676"/>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think you'll move away from Bagheria one day?</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Maybe. I'd like to study in Milan.</a:t>
            </a:r>
            <a:endParaRPr lang="en-US" sz="1100" dirty="0"/>
          </a:p>
        </p:txBody>
      </p:sp>
      <p:pic>
        <p:nvPicPr>
          <p:cNvPr id="32" name="R5_th677" descr="/home/claude/lls-course/v2/cache/1b1_moving_jpg_154x119_18.png">    </p:cNvPr>
          <p:cNvPicPr>
            <a:picLocks noChangeAspect="1"/>
          </p:cNvPicPr>
          <p:nvPr/>
        </p:nvPicPr>
        <p:blipFill>
          <a:blip r:embed="rId8"/>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7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8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8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8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84"/>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85"/>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Exit · what can you remember?</a:t>
            </a:r>
            <a:endParaRPr lang="en-US" sz="800" dirty="0"/>
          </a:p>
        </p:txBody>
      </p:sp>
      <p:sp>
        <p:nvSpPr>
          <p:cNvPr id="13" name="bd_68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8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family words from today (no looking!)</a:t>
            </a:r>
            <a:endParaRPr lang="en-US" sz="1400" dirty="0"/>
          </a:p>
        </p:txBody>
      </p:sp>
      <p:sp>
        <p:nvSpPr>
          <p:cNvPr id="15" name="bd_69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9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with two different future forms</a:t>
            </a:r>
            <a:endParaRPr lang="en-US" sz="1400" dirty="0"/>
          </a:p>
        </p:txBody>
      </p:sp>
      <p:sp>
        <p:nvSpPr>
          <p:cNvPr id="17" name="bd_69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9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plan for this weekend: "I'm going to…"</a:t>
            </a:r>
            <a:endParaRPr lang="en-US" sz="1400" dirty="0"/>
          </a:p>
        </p:txBody>
      </p:sp>
      <p:sp>
        <p:nvSpPr>
          <p:cNvPr id="19" name="cd_69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9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9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9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1a, 2a, 2b</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1B p.133: a 6–9, b 5–8</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9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2 · personality adjectives (audio 1.22) · birth order</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0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0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02"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03"/>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0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Review · what did you do today?</a:t>
            </a:r>
            <a:endParaRPr lang="en-US" sz="800" dirty="0"/>
          </a:p>
        </p:txBody>
      </p:sp>
      <p:sp>
        <p:nvSpPr>
          <p:cNvPr id="14" name="cd_710"/>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11"/>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12"/>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your family</a:t>
            </a:r>
            <a:endParaRPr lang="en-US" sz="1350" dirty="0"/>
          </a:p>
        </p:txBody>
      </p:sp>
      <p:sp>
        <p:nvSpPr>
          <p:cNvPr id="17" name="R1_tk713"/>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14"/>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15"/>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16"/>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survey about British families</a:t>
            </a:r>
            <a:endParaRPr lang="en-US" sz="1350" dirty="0"/>
          </a:p>
        </p:txBody>
      </p:sp>
      <p:sp>
        <p:nvSpPr>
          <p:cNvPr id="21" name="R2_tk717"/>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18"/>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19"/>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20"/>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three family conversations</a:t>
            </a:r>
            <a:endParaRPr lang="en-US" sz="1350" dirty="0"/>
          </a:p>
        </p:txBody>
      </p:sp>
      <p:sp>
        <p:nvSpPr>
          <p:cNvPr id="25" name="R3_tk721"/>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22"/>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23"/>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24"/>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725"/>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26"/>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27"/>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28"/>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the future: plans, offers, promises</a:t>
            </a:r>
            <a:endParaRPr lang="en-US" sz="1350" dirty="0"/>
          </a:p>
        </p:txBody>
      </p:sp>
      <p:sp>
        <p:nvSpPr>
          <p:cNvPr id="33" name="R5_tk729"/>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730"/>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32"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733"/>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in the text</a:t>
            </a:r>
            <a:endParaRPr lang="en-US" sz="2500" dirty="0"/>
          </a:p>
        </p:txBody>
      </p:sp>
      <p:pic>
        <p:nvPicPr>
          <p:cNvPr id="6" name="brP_73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3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a word in the text that means…</a:t>
            </a:r>
            <a:endParaRPr lang="en-US" sz="1250" dirty="0"/>
          </a:p>
        </p:txBody>
      </p:sp>
      <p:sp>
        <p:nvSpPr>
          <p:cNvPr id="8" name="insIT_7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nel testo una parola che significa…</a:t>
            </a:r>
            <a:endParaRPr lang="en-US" sz="950" dirty="0"/>
          </a:p>
        </p:txBody>
      </p:sp>
      <p:sp>
        <p:nvSpPr>
          <p:cNvPr id="9" name="cmd_73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3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73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7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Reading · vocabulary from the text</a:t>
            </a:r>
            <a:endParaRPr lang="en-US" sz="800" dirty="0"/>
          </a:p>
        </p:txBody>
      </p:sp>
      <p:sp>
        <p:nvSpPr>
          <p:cNvPr id="14" name="st_74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43"/>
          <p:cNvSpPr/>
          <p:nvPr/>
        </p:nvSpPr>
        <p:spPr>
          <a:xfrm rot="-90000">
            <a:off x="365760" y="1371600"/>
            <a:ext cx="2606040" cy="3200400"/>
          </a:xfrm>
          <a:prstGeom prst="roundRect">
            <a:avLst>
              <a:gd name="adj" fmla="val 596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44" descr="/home/claude/lls-course/v2/cache/1b1_phone_row_jpg_605x748_31.png">    </p:cNvPr>
          <p:cNvPicPr>
            <a:picLocks noChangeAspect="1"/>
          </p:cNvPicPr>
          <p:nvPr/>
        </p:nvPicPr>
        <p:blipFill>
          <a:blip r:embed="rId5"/>
          <a:stretch>
            <a:fillRect/>
          </a:stretch>
        </p:blipFill>
        <p:spPr>
          <a:xfrm rot="-90000">
            <a:off x="411480" y="1417320"/>
            <a:ext cx="2514600" cy="3108960"/>
          </a:xfrm>
          <a:prstGeom prst="rect">
            <a:avLst/>
          </a:prstGeom>
        </p:spPr>
      </p:pic>
      <p:sp>
        <p:nvSpPr>
          <p:cNvPr id="17" name="bd_74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8" name="q_74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arguments</a:t>
            </a:r>
            <a:endParaRPr lang="en-US" sz="1150" dirty="0"/>
          </a:p>
        </p:txBody>
      </p:sp>
      <p:sp>
        <p:nvSpPr>
          <p:cNvPr id="19" name="R1_chip747"/>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rows</a:t>
            </a:r>
            <a:endParaRPr lang="en-US" sz="1000" dirty="0"/>
          </a:p>
        </p:txBody>
      </p:sp>
      <p:sp>
        <p:nvSpPr>
          <p:cNvPr id="20" name="bd_74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q_74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family with only a mum or only a dad</a:t>
            </a:r>
            <a:endParaRPr lang="en-US" sz="1150" dirty="0"/>
          </a:p>
        </p:txBody>
      </p:sp>
      <p:sp>
        <p:nvSpPr>
          <p:cNvPr id="22" name="R2_chip750"/>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single-parent family</a:t>
            </a:r>
            <a:endParaRPr lang="en-US" sz="1000" dirty="0"/>
          </a:p>
        </p:txBody>
      </p:sp>
      <p:sp>
        <p:nvSpPr>
          <p:cNvPr id="23" name="bd_75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q_75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your husband's or wife's children from before</a:t>
            </a:r>
            <a:endParaRPr lang="en-US" sz="1100" dirty="0"/>
          </a:p>
        </p:txBody>
      </p:sp>
      <p:sp>
        <p:nvSpPr>
          <p:cNvPr id="25" name="R3_chip753"/>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stepchildren</a:t>
            </a:r>
            <a:endParaRPr lang="en-US" sz="1000" dirty="0"/>
          </a:p>
        </p:txBody>
      </p:sp>
      <p:sp>
        <p:nvSpPr>
          <p:cNvPr id="26" name="bd_75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q_75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usually · as a number</a:t>
            </a:r>
            <a:endParaRPr lang="en-US" sz="1150" dirty="0"/>
          </a:p>
        </p:txBody>
      </p:sp>
      <p:sp>
        <p:nvSpPr>
          <p:cNvPr id="28" name="R4_chip756"/>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average</a:t>
            </a:r>
            <a:endParaRPr lang="en-US" sz="1000" dirty="0"/>
          </a:p>
        </p:txBody>
      </p:sp>
      <p:sp>
        <p:nvSpPr>
          <p:cNvPr id="29" name="bd_75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q_75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'no' to doing something</a:t>
            </a:r>
            <a:endParaRPr lang="en-US" sz="1150" dirty="0"/>
          </a:p>
        </p:txBody>
      </p:sp>
      <p:sp>
        <p:nvSpPr>
          <p:cNvPr id="31" name="R5_chip759"/>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refuse (refusing to)</a:t>
            </a:r>
            <a:endParaRPr lang="en-US" sz="1000" dirty="0"/>
          </a:p>
        </p:txBody>
      </p:sp>
      <p:sp>
        <p:nvSpPr>
          <p:cNvPr id="32" name="bd_76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3" name="q_76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no contact with</a:t>
            </a:r>
            <a:endParaRPr lang="en-US" sz="1150" dirty="0"/>
          </a:p>
        </p:txBody>
      </p:sp>
      <p:sp>
        <p:nvSpPr>
          <p:cNvPr id="34" name="R6_chip762"/>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speak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1B-1 Modern families</dc:title>
  <dc:subject>PptxGenJS Presentation</dc:subject>
  <dc:creator>PptxGenJS</dc:creator>
  <cp:lastModifiedBy>PptxGenJS</cp:lastModifiedBy>
  <cp:revision>1</cp:revision>
  <dcterms:created xsi:type="dcterms:W3CDTF">2026-10-15T08:37:16Z</dcterms:created>
  <dcterms:modified xsi:type="dcterms:W3CDTF">2026-10-15T08:37:16Z</dcterms:modified>
</cp:coreProperties>
</file>