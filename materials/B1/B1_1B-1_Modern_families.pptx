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take 3–4 ideas (e.g. step-families, fewer children, everyone on their phones…). Read the 'Today you're going to…' list together: students know where the lesson is going. Don't teach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elicit one more example for each column from students (e.g. 'What are you doing these days?'). Point at the time words: they tell you which tense. Then play 'Answers first!' – the answers in the game use exactly these two tenses and food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teams. Click once per line to show a possible question (accept any correct question in the right tense). Point for a correct question, +1 if the tense matches the answer (do/does vs am/is/are). ICQ: 'Are you writing answers or questions?' (questions).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family (5 min)
ELICIT FIRST (5 min). Demo item 0 with the class. Pairs explain each pair of words in English (Italian allowed only as a last resort). Click once per item to reveal. Monitor and note which words are new. ICQs: 'Are you writing?' (no, talking) · 'In English or Italian?' (English). Next slide gives the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in Italian (2 min)
CONSOLIDATION for slower students (2 min). Class says the Italian aloud for each word, then ONE click shows all the Italian. Spend 20 seconds on the warning: 'parents' is NOT 'parenti' (false friend), and English has two words for 'nipote'. Quick CCQ: 'My dad's new wife – is she my mum?' (no) 'So she's my…?' (stepmother).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practice (3 min)
CONTROLLED PRACTICE (3 min). Pairs: 'Number 1 is her great-grandmother.' Click once per number. Fast finishers: invent the next relationship (e.g. 'the baby is her niece'). The people and relationships are invented for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game (3 min)
GAME 2 (3 min). Demo first with a strong student: 'It's your dad's wife, but not your mum' → stepmother. Click to show each word (round 1 = 4 words for A, round 2 = 4 words for B, B faces the screen). 20 seconds per word. ICQ: 'Can you say the word?'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prediction (2 min)
PREDICTION (2 min). Read the introduction aloud. Check 'survey' (sondaggio) and 'statistics'. Pairs look at the number bank and commit to guesses on the next two slides — every pair must guess before checking. ICQ: 'Are you checking or guessing?' (guessing).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Reading · Family structure (3 min)
READ + CHECK (3 min). Pairs write their guesses for gaps 1–5. Play 1.14 (or read the text aloud if the audio isn't in the deck yet). Click once per gap: the answer appears highlighted IN the text. Answers (audio script): 1 14% · 2 45% · 3 40% · 4 30 · 5 32. Ask: 'Which number surprises you?'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Reading · Family habits (3 min)
READ + CHECK (3 min). Same procedure. Answers: 6 10% · 7 17% · 8 2. Vocabulary from context: row /raʊ/ = argument (litigio) – NOT row /rəʊ/ (fila); refuse = say no. The photo is the clue for 'rows'. Extra slide (after the exit) = 'Find in the text'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Sicily vs the UK (5 min)
SPEAKING (5 min). Questions appear ONE PER CLICK: give groups about 45 seconds per question, then click. Teach the polite refusal first (yellow box): anyone can use it — no one has to talk about their family. Monitor and note 4–5 errors for delayed correction (don't interrupt). Feedback on question 1: what's different in Sicily?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Listening · gist (3 min)
GIST (3 min). Pictures (left to right) = A, B, C. Before listening: 'Who are the people? Where are they?' Play 1.15 ONCE. Pairs compare, then click once per conversation. Answers (TG): 1 C – what Adam's going to do next year · 2 A – a party she's going to · 3 B – whether he can borrow her 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Listening · detail (4 min)
DETAIL (4 min). Pairs guess first (extra challenge from the TG). Play again, pausing after each conversation. Click once per sentence. Answers: a going to go · b Shall I make · c 'm staying · d 's going to be · e 'll drive · f 'll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Noticing · the conversations (2 min)
NOTICING (2 min). Text from the audio script. Pairs underline the future forms; click once per line to highlight them. This leads straight into the next slide (what does each form do?).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Grammar · future forms (3 min)
GUIDED DISCOVERY (3 min). Pairs match a–f to the five uses. Click once per sentence. Answers (TG): plan a · prediction d, e · offer b · arrangement c · promise f. CCQ for c: 'Has she already organised it?' (yes – Katie knows) → arrangement.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Grammar · the rule (3 min)
RULE (3 min). Click once per column: the examples appear (meaning first, then form). Optional: play 1.16 (Grammar Bank listen and repeat). Last click = the Italian-speaker warning. CCQs: 'It's going to rain – can you see something?' (yes, clouds) · 'I'll carry it – did I decide before?' (no, now).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Grammar game (4 min)
GAME 3 (4 min). Read each situation; teams have 10 seconds to say (or write) a reply with the right future form. Click to show a model answer. Accept any correct reply. Point only if the future form is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Pronunciation · sentence stress (3 min)
PRONUNCIATION (3 min). Model first: 'I'm going to LOOK for a JOB' (audio 1.20) – the small words are fast and weak (going to = /ɡəʊɪŋ tə/). Play 1.21, pausing. Click 1 = the stressed words, click 2 = the full sentence (for each sentence). Then drill: chorally, then individually. Italian speakers give every word equal stress – exaggerate the big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Speaking · future plans (4 min)
FREER PRACTICE (4 min). Mingle. Questions appear one per click (show all 5, then let them mingle). Model the rhythm first. Feedback: 2–3 students report one thing they found out. Then 2 minutes of delayed error correction (errors noted during both speaking tasks): write them on the board,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Exit · what can you remember? (2 min)
RETRIEVAL EXIT (2 min). Books closed. Pairs: 3 family words, 2 future sentences, 1 weekend plan. A few students share. Set homework (on the slide and in the app).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Reading · vocabulary from the text (2 min)
EXTRA (2 min, if there's time). Vocabulary from context. Click once per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audio" Target="../media/media-18-5.mp3"/><Relationship Id="rId6" Type="http://schemas.microsoft.com/office/2007/relationships/media" Target="../media/media-18-5.mp3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pp.10–11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Modern families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Families, plans and the future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family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 survey about British families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three family conversations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talk about the future: plans, offers, promises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families are smaller now, and everyone is on their phone!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1b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makes a family "modern"?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1a2_dad_cooks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1A: food, cooking and eating habits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simple vs continuous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simple = habits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have pasta on Sundays.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doesn't like spicy food.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every day · usually · never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 = now / these days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cooking dinner right now.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trying to eat less sugar.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watching TV?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now · at the moment · this week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spicy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02793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takeaway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504291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eat out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98017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raw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60654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frozen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46607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roast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down on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pic>
        <p:nvPicPr>
          <p:cNvPr id="11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Warmer · last lesson   ·   📖 Recycles 30 Sept: present simple and continuous, food</a:t>
            </a:r>
            <a:endParaRPr lang="en-US" sz="800" dirty="0"/>
          </a:p>
        </p:txBody>
      </p:sp>
      <p:sp>
        <p:nvSpPr>
          <p:cNvPr id="13" name="cd_57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60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teams, write the QUESTION.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</p:txBody>
      </p:sp>
      <p:sp>
        <p:nvSpPr>
          <p:cNvPr id="17" name="st_61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6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6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"Twice a week. I love it!"</a:t>
            </a:r>
            <a:endParaRPr lang="en-US" sz="1100" dirty="0"/>
          </a:p>
        </p:txBody>
      </p:sp>
      <p:sp>
        <p:nvSpPr>
          <p:cNvPr id="20" name="R1_chip6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often do you eat pizza?</a:t>
            </a:r>
            <a:endParaRPr lang="en-US" sz="1100" dirty="0"/>
          </a:p>
        </p:txBody>
      </p:sp>
      <p:sp>
        <p:nvSpPr>
          <p:cNvPr id="21" name="bd_6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6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I'm not. I'm doing my homework."</a:t>
            </a:r>
            <a:endParaRPr lang="en-US" sz="1100" dirty="0"/>
          </a:p>
        </p:txBody>
      </p:sp>
      <p:sp>
        <p:nvSpPr>
          <p:cNvPr id="23" name="R2_chip6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Are you watching TV?</a:t>
            </a:r>
            <a:endParaRPr lang="en-US" sz="1100" dirty="0"/>
          </a:p>
        </p:txBody>
      </p:sp>
      <p:sp>
        <p:nvSpPr>
          <p:cNvPr id="24" name="bd_6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6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I don't. It's too spicy."</a:t>
            </a:r>
            <a:endParaRPr lang="en-US" sz="1100" dirty="0"/>
          </a:p>
        </p:txBody>
      </p:sp>
      <p:sp>
        <p:nvSpPr>
          <p:cNvPr id="26" name="R3_chip7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Do you like chilli?</a:t>
            </a:r>
            <a:endParaRPr lang="en-US" sz="1100" dirty="0"/>
          </a:p>
        </p:txBody>
      </p:sp>
      <p:sp>
        <p:nvSpPr>
          <p:cNvPr id="27" name="bd_7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7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"Because I'm trying to eat less sugar."</a:t>
            </a:r>
            <a:endParaRPr lang="en-US" sz="1100" dirty="0"/>
          </a:p>
        </p:txBody>
      </p:sp>
      <p:sp>
        <p:nvSpPr>
          <p:cNvPr id="29" name="R4_chip7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Why aren't you having dessert?</a:t>
            </a:r>
            <a:endParaRPr lang="en-US" sz="1100" dirty="0"/>
          </a:p>
        </p:txBody>
      </p:sp>
      <p:sp>
        <p:nvSpPr>
          <p:cNvPr id="30" name="bd_7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7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"At my nonna's, every Sunday."</a:t>
            </a:r>
            <a:endParaRPr lang="en-US" sz="1100" dirty="0"/>
          </a:p>
        </p:txBody>
      </p:sp>
      <p:sp>
        <p:nvSpPr>
          <p:cNvPr id="32" name="R5_chip7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do you have lunch on Sundays?</a:t>
            </a:r>
            <a:endParaRPr lang="en-US" sz="1100" dirty="0"/>
          </a:p>
        </p:txBody>
      </p:sp>
      <p:sp>
        <p:nvSpPr>
          <p:cNvPr id="33" name="bd_7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7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"Pasta with sardines!"</a:t>
            </a:r>
            <a:endParaRPr lang="en-US" sz="1100" dirty="0"/>
          </a:p>
        </p:txBody>
      </p:sp>
      <p:sp>
        <p:nvSpPr>
          <p:cNvPr id="35" name="R6_chip7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are you cooking?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82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8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8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8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8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· family   ·   📖 SB p.10 · 1a</a:t>
            </a:r>
            <a:endParaRPr lang="en-US" sz="800" dirty="0"/>
          </a:p>
        </p:txBody>
      </p:sp>
      <p:sp>
        <p:nvSpPr>
          <p:cNvPr id="13" name="cd_9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9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9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9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mum / grandmother → your grandmother is your mum's or dad's mum</a:t>
            </a:r>
            <a:endParaRPr lang="en-US" sz="1050" dirty="0"/>
          </a:p>
        </p:txBody>
      </p:sp>
      <p:sp>
        <p:nvSpPr>
          <p:cNvPr id="17" name="pf_9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95" descr="/home/claude/lls-course/v2/cache/1b1_weddin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96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97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father / parent</a:t>
            </a:r>
            <a:endParaRPr lang="en-US" sz="1150" dirty="0"/>
          </a:p>
        </p:txBody>
      </p:sp>
      <p:sp>
        <p:nvSpPr>
          <p:cNvPr id="21" name="R1_chip98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father = male parent · parent = mum or dad</a:t>
            </a:r>
            <a:endParaRPr lang="en-US" sz="1000" dirty="0"/>
          </a:p>
        </p:txBody>
      </p:sp>
      <p:sp>
        <p:nvSpPr>
          <p:cNvPr id="22" name="bd_99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100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mother / stepmother</a:t>
            </a:r>
            <a:endParaRPr lang="en-US" sz="1150" dirty="0"/>
          </a:p>
        </p:txBody>
      </p:sp>
      <p:sp>
        <p:nvSpPr>
          <p:cNvPr id="24" name="R2_chip101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stepmother = your dad's wife, not your mum</a:t>
            </a:r>
            <a:endParaRPr lang="en-US" sz="1000" dirty="0"/>
          </a:p>
        </p:txBody>
      </p:sp>
      <p:sp>
        <p:nvSpPr>
          <p:cNvPr id="25" name="bd_102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03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brother / brother-in-law</a:t>
            </a:r>
            <a:endParaRPr lang="en-US" sz="1150" dirty="0"/>
          </a:p>
        </p:txBody>
      </p:sp>
      <p:sp>
        <p:nvSpPr>
          <p:cNvPr id="27" name="R3_chip104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sister's husband or your partner's brother</a:t>
            </a:r>
            <a:endParaRPr lang="en-US" sz="1000" dirty="0"/>
          </a:p>
        </p:txBody>
      </p:sp>
      <p:sp>
        <p:nvSpPr>
          <p:cNvPr id="28" name="bd_105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06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stepsister / half-sister</a:t>
            </a:r>
            <a:endParaRPr lang="en-US" sz="1150" dirty="0"/>
          </a:p>
        </p:txBody>
      </p:sp>
      <p:sp>
        <p:nvSpPr>
          <p:cNvPr id="30" name="R4_chip107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= no parent in common · half = one parent in common</a:t>
            </a:r>
            <a:endParaRPr lang="en-US" sz="1000" dirty="0"/>
          </a:p>
        </p:txBody>
      </p:sp>
      <p:sp>
        <p:nvSpPr>
          <p:cNvPr id="31" name="bd_108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09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grandfather / great-grandfather</a:t>
            </a:r>
            <a:endParaRPr lang="en-US" sz="1150" dirty="0"/>
          </a:p>
        </p:txBody>
      </p:sp>
      <p:sp>
        <p:nvSpPr>
          <p:cNvPr id="33" name="R5_chip110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great-grandfather = your grandparent's father</a:t>
            </a:r>
            <a:endParaRPr lang="en-US" sz="1000" dirty="0"/>
          </a:p>
        </p:txBody>
      </p:sp>
      <p:sp>
        <p:nvSpPr>
          <p:cNvPr id="34" name="bd_11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12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adopted child / only child</a:t>
            </a:r>
            <a:endParaRPr lang="en-US" sz="1150" dirty="0"/>
          </a:p>
        </p:txBody>
      </p:sp>
      <p:sp>
        <p:nvSpPr>
          <p:cNvPr id="36" name="R6_chip113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joined a new family / no brothers or sisters</a:t>
            </a:r>
            <a:endParaRPr lang="en-US" sz="1000" dirty="0"/>
          </a:p>
        </p:txBody>
      </p:sp>
      <p:sp>
        <p:nvSpPr>
          <p:cNvPr id="37" name="bd_114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115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brothers and sisters / siblings</a:t>
            </a:r>
            <a:endParaRPr lang="en-US" sz="1150" dirty="0"/>
          </a:p>
        </p:txBody>
      </p:sp>
      <p:sp>
        <p:nvSpPr>
          <p:cNvPr id="39" name="R7_chip116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meaning · siblings is more formal</a:t>
            </a:r>
            <a:endParaRPr lang="en-US" sz="1000" dirty="0"/>
          </a:p>
        </p:txBody>
      </p:sp>
      <p:sp>
        <p:nvSpPr>
          <p:cNvPr id="40" name="bd_117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118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immediate / extended family</a:t>
            </a:r>
            <a:endParaRPr lang="en-US" sz="1150" dirty="0"/>
          </a:p>
        </p:txBody>
      </p:sp>
      <p:sp>
        <p:nvSpPr>
          <p:cNvPr id="42" name="R8_chip119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parents, children, siblings / uncles, cousins, grandparents…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22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Family words in Italian</a:t>
            </a:r>
            <a:endParaRPr lang="en-US" sz="2500" dirty="0"/>
          </a:p>
        </p:txBody>
      </p:sp>
      <p:pic>
        <p:nvPicPr>
          <p:cNvPr id="6" name="brP_1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24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2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2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12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1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· in Italian</a:t>
            </a:r>
            <a:endParaRPr lang="en-US" sz="800" dirty="0"/>
          </a:p>
        </p:txBody>
      </p:sp>
      <p:sp>
        <p:nvSpPr>
          <p:cNvPr id="13" name="cd_130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131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👩</a:t>
            </a:r>
            <a:endParaRPr lang="en-US" sz="2000" dirty="0"/>
          </a:p>
        </p:txBody>
      </p:sp>
      <p:sp>
        <p:nvSpPr>
          <p:cNvPr id="15" name="en_132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stepmother</a:t>
            </a:r>
            <a:endParaRPr lang="en-US" sz="1200" dirty="0"/>
          </a:p>
        </p:txBody>
      </p:sp>
      <p:sp>
        <p:nvSpPr>
          <p:cNvPr id="16" name="R1_it133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matrigna</a:t>
            </a:r>
            <a:endParaRPr lang="en-US" sz="1000" dirty="0"/>
          </a:p>
        </p:txBody>
      </p:sp>
      <p:sp>
        <p:nvSpPr>
          <p:cNvPr id="17" name="cd_134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135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</a:t>
            </a:r>
            <a:endParaRPr lang="en-US" sz="2000" dirty="0"/>
          </a:p>
        </p:txBody>
      </p:sp>
      <p:sp>
        <p:nvSpPr>
          <p:cNvPr id="19" name="en_136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stepfather</a:t>
            </a:r>
            <a:endParaRPr lang="en-US" sz="1200" dirty="0"/>
          </a:p>
        </p:txBody>
      </p:sp>
      <p:sp>
        <p:nvSpPr>
          <p:cNvPr id="20" name="R1_it137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patrigno</a:t>
            </a:r>
            <a:endParaRPr lang="en-US" sz="1000" dirty="0"/>
          </a:p>
        </p:txBody>
      </p:sp>
      <p:sp>
        <p:nvSpPr>
          <p:cNvPr id="21" name="cd_138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139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👧</a:t>
            </a:r>
            <a:endParaRPr lang="en-US" sz="2000" dirty="0"/>
          </a:p>
        </p:txBody>
      </p:sp>
      <p:sp>
        <p:nvSpPr>
          <p:cNvPr id="23" name="en_140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stepsister</a:t>
            </a:r>
            <a:endParaRPr lang="en-US" sz="1200" dirty="0"/>
          </a:p>
        </p:txBody>
      </p:sp>
      <p:sp>
        <p:nvSpPr>
          <p:cNvPr id="24" name="R1_it141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sorellastra (nessun genitore in comune)</a:t>
            </a:r>
            <a:endParaRPr lang="en-US" sz="1000" dirty="0"/>
          </a:p>
        </p:txBody>
      </p:sp>
      <p:sp>
        <p:nvSpPr>
          <p:cNvPr id="25" name="cd_142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43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👭</a:t>
            </a:r>
            <a:endParaRPr lang="en-US" sz="2000" dirty="0"/>
          </a:p>
        </p:txBody>
      </p:sp>
      <p:sp>
        <p:nvSpPr>
          <p:cNvPr id="27" name="en_144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half-sister</a:t>
            </a:r>
            <a:endParaRPr lang="en-US" sz="1200" dirty="0"/>
          </a:p>
        </p:txBody>
      </p:sp>
      <p:sp>
        <p:nvSpPr>
          <p:cNvPr id="28" name="R1_it145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sorella da parte di padre / madre</a:t>
            </a:r>
            <a:endParaRPr lang="en-US" sz="1000" dirty="0"/>
          </a:p>
        </p:txBody>
      </p:sp>
      <p:sp>
        <p:nvSpPr>
          <p:cNvPr id="29" name="cd_146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47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31" name="en_148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brother-in-law</a:t>
            </a:r>
            <a:endParaRPr lang="en-US" sz="1200" dirty="0"/>
          </a:p>
        </p:txBody>
      </p:sp>
      <p:sp>
        <p:nvSpPr>
          <p:cNvPr id="32" name="R1_it149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cognato</a:t>
            </a:r>
            <a:endParaRPr lang="en-US" sz="1000" dirty="0"/>
          </a:p>
        </p:txBody>
      </p:sp>
      <p:sp>
        <p:nvSpPr>
          <p:cNvPr id="33" name="cd_150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51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👰</a:t>
            </a:r>
            <a:endParaRPr lang="en-US" sz="2000" dirty="0"/>
          </a:p>
        </p:txBody>
      </p:sp>
      <p:sp>
        <p:nvSpPr>
          <p:cNvPr id="35" name="en_152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sister-in-law</a:t>
            </a:r>
            <a:endParaRPr lang="en-US" sz="1200" dirty="0"/>
          </a:p>
        </p:txBody>
      </p:sp>
      <p:sp>
        <p:nvSpPr>
          <p:cNvPr id="36" name="R1_it153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cognata</a:t>
            </a:r>
            <a:endParaRPr lang="en-US" sz="1000" dirty="0"/>
          </a:p>
        </p:txBody>
      </p:sp>
      <p:sp>
        <p:nvSpPr>
          <p:cNvPr id="37" name="cd_154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155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👴</a:t>
            </a:r>
            <a:endParaRPr lang="en-US" sz="2000" dirty="0"/>
          </a:p>
        </p:txBody>
      </p:sp>
      <p:sp>
        <p:nvSpPr>
          <p:cNvPr id="39" name="en_156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great-grandfather</a:t>
            </a:r>
            <a:endParaRPr lang="en-US" sz="1200" dirty="0"/>
          </a:p>
        </p:txBody>
      </p:sp>
      <p:sp>
        <p:nvSpPr>
          <p:cNvPr id="40" name="R1_it157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bisnonno</a:t>
            </a:r>
            <a:endParaRPr lang="en-US" sz="1000" dirty="0"/>
          </a:p>
        </p:txBody>
      </p:sp>
      <p:sp>
        <p:nvSpPr>
          <p:cNvPr id="41" name="cd_158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159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🧒</a:t>
            </a:r>
            <a:endParaRPr lang="en-US" sz="2000" dirty="0"/>
          </a:p>
        </p:txBody>
      </p:sp>
      <p:sp>
        <p:nvSpPr>
          <p:cNvPr id="43" name="en_160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only child</a:t>
            </a:r>
            <a:endParaRPr lang="en-US" sz="1200" dirty="0"/>
          </a:p>
        </p:txBody>
      </p:sp>
      <p:sp>
        <p:nvSpPr>
          <p:cNvPr id="44" name="R1_it161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figlio unico / figlia unica</a:t>
            </a:r>
            <a:endParaRPr lang="en-US" sz="1000" dirty="0"/>
          </a:p>
        </p:txBody>
      </p:sp>
      <p:sp>
        <p:nvSpPr>
          <p:cNvPr id="45" name="cd_162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63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🍼</a:t>
            </a:r>
            <a:endParaRPr lang="en-US" sz="2000" dirty="0"/>
          </a:p>
        </p:txBody>
      </p:sp>
      <p:sp>
        <p:nvSpPr>
          <p:cNvPr id="47" name="en_164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adopted child</a:t>
            </a:r>
            <a:endParaRPr lang="en-US" sz="1200" dirty="0"/>
          </a:p>
        </p:txBody>
      </p:sp>
      <p:sp>
        <p:nvSpPr>
          <p:cNvPr id="48" name="R1_it165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figlio adottivo</a:t>
            </a:r>
            <a:endParaRPr lang="en-US" sz="1000" dirty="0"/>
          </a:p>
        </p:txBody>
      </p:sp>
      <p:sp>
        <p:nvSpPr>
          <p:cNvPr id="49" name="cd_166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67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👫</a:t>
            </a:r>
            <a:endParaRPr lang="en-US" sz="2000" dirty="0"/>
          </a:p>
        </p:txBody>
      </p:sp>
      <p:sp>
        <p:nvSpPr>
          <p:cNvPr id="51" name="en_168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siblings</a:t>
            </a:r>
            <a:endParaRPr lang="en-US" sz="1200" dirty="0"/>
          </a:p>
        </p:txBody>
      </p:sp>
      <p:sp>
        <p:nvSpPr>
          <p:cNvPr id="52" name="R1_it169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fratelli e sorelle</a:t>
            </a:r>
            <a:endParaRPr lang="en-US" sz="1000" dirty="0"/>
          </a:p>
        </p:txBody>
      </p:sp>
      <p:sp>
        <p:nvSpPr>
          <p:cNvPr id="53" name="cd_170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171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👦</a:t>
            </a:r>
            <a:endParaRPr lang="en-US" sz="2000" dirty="0"/>
          </a:p>
        </p:txBody>
      </p:sp>
      <p:sp>
        <p:nvSpPr>
          <p:cNvPr id="55" name="en_172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nephew / niece</a:t>
            </a:r>
            <a:endParaRPr lang="en-US" sz="1200" dirty="0"/>
          </a:p>
        </p:txBody>
      </p:sp>
      <p:sp>
        <p:nvSpPr>
          <p:cNvPr id="56" name="R1_it173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nipote (di zio/zia)</a:t>
            </a:r>
            <a:endParaRPr lang="en-US" sz="1000" dirty="0"/>
          </a:p>
        </p:txBody>
      </p:sp>
      <p:sp>
        <p:nvSpPr>
          <p:cNvPr id="57" name="cd_174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175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👨‍👩‍👧‍👦</a:t>
            </a:r>
            <a:endParaRPr lang="en-US" sz="2000" dirty="0"/>
          </a:p>
        </p:txBody>
      </p:sp>
      <p:sp>
        <p:nvSpPr>
          <p:cNvPr id="59" name="en_176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extended family</a:t>
            </a:r>
            <a:endParaRPr lang="en-US" sz="1200" dirty="0"/>
          </a:p>
        </p:txBody>
      </p:sp>
      <p:sp>
        <p:nvSpPr>
          <p:cNvPr id="60" name="R1_it177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parenti (zii, cugini, nonni)</a:t>
            </a:r>
            <a:endParaRPr lang="en-US" sz="1000" dirty="0"/>
          </a:p>
        </p:txBody>
      </p:sp>
      <p:sp>
        <p:nvSpPr>
          <p:cNvPr id="61" name="R1_wc178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_w179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parents = genitori  ·  relatives = parenti   |   nipote = nephew / niece OR grandson / granddaughter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82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who at Sara's wedding?</a:t>
            </a:r>
            <a:endParaRPr lang="en-US" sz="2500" dirty="0"/>
          </a:p>
        </p:txBody>
      </p:sp>
      <p:pic>
        <p:nvPicPr>
          <p:cNvPr id="6" name="brP_1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84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is the bride. Who are 1–6?</a:t>
            </a:r>
            <a:endParaRPr lang="en-US" sz="1250" dirty="0"/>
          </a:p>
        </p:txBody>
      </p:sp>
      <p:sp>
        <p:nvSpPr>
          <p:cNvPr id="8" name="insIT_18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Sara è la sposa. Chi sono 1–6?</a:t>
            </a:r>
            <a:endParaRPr lang="en-US" sz="950" dirty="0"/>
          </a:p>
        </p:txBody>
      </p:sp>
      <p:sp>
        <p:nvSpPr>
          <p:cNvPr id="9" name="cmd_18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18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1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· practice   ·   📖 Practice of SB p.10 · 1a words</a:t>
            </a:r>
            <a:endParaRPr lang="en-US" sz="800" dirty="0"/>
          </a:p>
        </p:txBody>
      </p:sp>
      <p:sp>
        <p:nvSpPr>
          <p:cNvPr id="13" name="pf_190"/>
          <p:cNvSpPr/>
          <p:nvPr/>
        </p:nvSpPr>
        <p:spPr>
          <a:xfrm rot="-60000">
            <a:off x="365760" y="1417320"/>
            <a:ext cx="4937760" cy="3291840"/>
          </a:xfrm>
          <a:prstGeom prst="roundRect">
            <a:avLst>
              <a:gd name="adj" fmla="val 47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191" descr="/home/claude/lls-course/v2/cache/1b1_wedding_jpg_1166x77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">
            <a:off x="411480" y="1463040"/>
            <a:ext cx="4846320" cy="3200400"/>
          </a:xfrm>
          <a:prstGeom prst="rect">
            <a:avLst/>
          </a:prstGeom>
        </p:spPr>
      </p:pic>
      <p:sp>
        <p:nvSpPr>
          <p:cNvPr id="15" name="bd_192"/>
          <p:cNvSpPr/>
          <p:nvPr/>
        </p:nvSpPr>
        <p:spPr>
          <a:xfrm>
            <a:off x="2497226" y="4023360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bd_193"/>
          <p:cNvSpPr/>
          <p:nvPr/>
        </p:nvSpPr>
        <p:spPr>
          <a:xfrm>
            <a:off x="607162" y="2871216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bd_194"/>
          <p:cNvSpPr/>
          <p:nvPr/>
        </p:nvSpPr>
        <p:spPr>
          <a:xfrm>
            <a:off x="1964131" y="2871216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bd_195"/>
          <p:cNvSpPr/>
          <p:nvPr/>
        </p:nvSpPr>
        <p:spPr>
          <a:xfrm>
            <a:off x="4581144" y="2295144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bd_196"/>
          <p:cNvSpPr/>
          <p:nvPr/>
        </p:nvSpPr>
        <p:spPr>
          <a:xfrm>
            <a:off x="4096512" y="3255264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bd_197"/>
          <p:cNvSpPr/>
          <p:nvPr/>
        </p:nvSpPr>
        <p:spPr>
          <a:xfrm>
            <a:off x="1091794" y="3831336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st_198"/>
          <p:cNvSpPr/>
          <p:nvPr/>
        </p:nvSpPr>
        <p:spPr>
          <a:xfrm rot="-240000">
            <a:off x="2907792" y="3282696"/>
            <a:ext cx="822960" cy="310896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★ Sara</a:t>
            </a:r>
            <a:endParaRPr lang="en-US" sz="1100" dirty="0"/>
          </a:p>
        </p:txBody>
      </p:sp>
      <p:sp>
        <p:nvSpPr>
          <p:cNvPr id="22" name="bd_199"/>
          <p:cNvSpPr/>
          <p:nvPr/>
        </p:nvSpPr>
        <p:spPr>
          <a:xfrm>
            <a:off x="5532120" y="143560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200"/>
          <p:cNvSpPr/>
          <p:nvPr/>
        </p:nvSpPr>
        <p:spPr>
          <a:xfrm>
            <a:off x="589788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grandmother's mother</a:t>
            </a:r>
            <a:endParaRPr lang="en-US" sz="1100" dirty="0"/>
          </a:p>
        </p:txBody>
      </p:sp>
      <p:sp>
        <p:nvSpPr>
          <p:cNvPr id="24" name="R1_chip201"/>
          <p:cNvSpPr/>
          <p:nvPr/>
        </p:nvSpPr>
        <p:spPr>
          <a:xfrm>
            <a:off x="5897880" y="16824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great-grandmother</a:t>
            </a:r>
            <a:endParaRPr lang="en-US" sz="1000" dirty="0"/>
          </a:p>
        </p:txBody>
      </p:sp>
      <p:sp>
        <p:nvSpPr>
          <p:cNvPr id="25" name="bd_202"/>
          <p:cNvSpPr/>
          <p:nvPr/>
        </p:nvSpPr>
        <p:spPr>
          <a:xfrm>
            <a:off x="5532120" y="1999488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203"/>
          <p:cNvSpPr/>
          <p:nvPr/>
        </p:nvSpPr>
        <p:spPr>
          <a:xfrm>
            <a:off x="5897880" y="1981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dad, different mum</a:t>
            </a:r>
            <a:endParaRPr lang="en-US" sz="1100" dirty="0"/>
          </a:p>
        </p:txBody>
      </p:sp>
      <p:sp>
        <p:nvSpPr>
          <p:cNvPr id="27" name="R2_chip204"/>
          <p:cNvSpPr/>
          <p:nvPr/>
        </p:nvSpPr>
        <p:spPr>
          <a:xfrm>
            <a:off x="5897880" y="224637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half-sister</a:t>
            </a:r>
            <a:endParaRPr lang="en-US" sz="1000" dirty="0"/>
          </a:p>
        </p:txBody>
      </p:sp>
      <p:sp>
        <p:nvSpPr>
          <p:cNvPr id="28" name="bd_205"/>
          <p:cNvSpPr/>
          <p:nvPr/>
        </p:nvSpPr>
        <p:spPr>
          <a:xfrm>
            <a:off x="5532120" y="2563368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206"/>
          <p:cNvSpPr/>
          <p:nvPr/>
        </p:nvSpPr>
        <p:spPr>
          <a:xfrm>
            <a:off x="5897880" y="25450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dad's second wife</a:t>
            </a:r>
            <a:endParaRPr lang="en-US" sz="1100" dirty="0"/>
          </a:p>
        </p:txBody>
      </p:sp>
      <p:sp>
        <p:nvSpPr>
          <p:cNvPr id="30" name="R3_chip207"/>
          <p:cNvSpPr/>
          <p:nvPr/>
        </p:nvSpPr>
        <p:spPr>
          <a:xfrm>
            <a:off x="5897880" y="281025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stepmother</a:t>
            </a:r>
            <a:endParaRPr lang="en-US" sz="1000" dirty="0"/>
          </a:p>
        </p:txBody>
      </p:sp>
      <p:sp>
        <p:nvSpPr>
          <p:cNvPr id="31" name="bd_208"/>
          <p:cNvSpPr/>
          <p:nvPr/>
        </p:nvSpPr>
        <p:spPr>
          <a:xfrm>
            <a:off x="5532120" y="312724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209"/>
          <p:cNvSpPr/>
          <p:nvPr/>
        </p:nvSpPr>
        <p:spPr>
          <a:xfrm>
            <a:off x="5897880" y="3108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husband's brother</a:t>
            </a:r>
            <a:endParaRPr lang="en-US" sz="1100" dirty="0"/>
          </a:p>
        </p:txBody>
      </p:sp>
      <p:sp>
        <p:nvSpPr>
          <p:cNvPr id="33" name="R4_chip210"/>
          <p:cNvSpPr/>
          <p:nvPr/>
        </p:nvSpPr>
        <p:spPr>
          <a:xfrm>
            <a:off x="5897880" y="337413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brother-in-law</a:t>
            </a:r>
            <a:endParaRPr lang="en-US" sz="1000" dirty="0"/>
          </a:p>
        </p:txBody>
      </p:sp>
      <p:sp>
        <p:nvSpPr>
          <p:cNvPr id="34" name="bd_211"/>
          <p:cNvSpPr/>
          <p:nvPr/>
        </p:nvSpPr>
        <p:spPr>
          <a:xfrm>
            <a:off x="5532120" y="369112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212"/>
          <p:cNvSpPr/>
          <p:nvPr/>
        </p:nvSpPr>
        <p:spPr>
          <a:xfrm>
            <a:off x="5897880" y="367284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husband's sister</a:t>
            </a:r>
            <a:endParaRPr lang="en-US" sz="1100" dirty="0"/>
          </a:p>
        </p:txBody>
      </p:sp>
      <p:sp>
        <p:nvSpPr>
          <p:cNvPr id="36" name="R5_chip213"/>
          <p:cNvSpPr/>
          <p:nvPr/>
        </p:nvSpPr>
        <p:spPr>
          <a:xfrm>
            <a:off x="5897880" y="393801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sister-in-law</a:t>
            </a:r>
            <a:endParaRPr lang="en-US" sz="1000" dirty="0"/>
          </a:p>
        </p:txBody>
      </p:sp>
      <p:sp>
        <p:nvSpPr>
          <p:cNvPr id="37" name="bd_214"/>
          <p:cNvSpPr/>
          <p:nvPr/>
        </p:nvSpPr>
        <p:spPr>
          <a:xfrm>
            <a:off x="5532120" y="4255008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215"/>
          <p:cNvSpPr/>
          <p:nvPr/>
        </p:nvSpPr>
        <p:spPr>
          <a:xfrm>
            <a:off x="5897880" y="42367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brother's son</a:t>
            </a:r>
            <a:endParaRPr lang="en-US" sz="1100" dirty="0"/>
          </a:p>
        </p:txBody>
      </p:sp>
      <p:sp>
        <p:nvSpPr>
          <p:cNvPr id="39" name="R6_chip216"/>
          <p:cNvSpPr/>
          <p:nvPr/>
        </p:nvSpPr>
        <p:spPr>
          <a:xfrm>
            <a:off x="5897880" y="45018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219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2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21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2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2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2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game</a:t>
            </a:r>
            <a:endParaRPr lang="en-US" sz="800" dirty="0"/>
          </a:p>
        </p:txBody>
      </p:sp>
      <p:sp>
        <p:nvSpPr>
          <p:cNvPr id="13" name="cd_227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2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22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230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turns around.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word. Don't say it!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guesses. Then swap.</a:t>
            </a:r>
            <a:endParaRPr lang="en-US" sz="1150" dirty="0"/>
          </a:p>
        </p:txBody>
      </p:sp>
      <p:sp>
        <p:nvSpPr>
          <p:cNvPr id="17" name="pf_231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32" descr="/home/claude/lls-course/v2/cache/1b1_dinner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rl_233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explains</a:t>
            </a:r>
            <a:endParaRPr lang="en-US" sz="1100" dirty="0"/>
          </a:p>
        </p:txBody>
      </p:sp>
      <p:sp>
        <p:nvSpPr>
          <p:cNvPr id="20" name="R1_w234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stepmother</a:t>
            </a:r>
            <a:endParaRPr lang="en-US" sz="1700" dirty="0"/>
          </a:p>
        </p:txBody>
      </p:sp>
      <p:sp>
        <p:nvSpPr>
          <p:cNvPr id="21" name="R2_w235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only child</a:t>
            </a:r>
            <a:endParaRPr lang="en-US" sz="1700" dirty="0"/>
          </a:p>
        </p:txBody>
      </p:sp>
      <p:sp>
        <p:nvSpPr>
          <p:cNvPr id="22" name="R3_w236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brother-in-law</a:t>
            </a:r>
            <a:endParaRPr lang="en-US" sz="1700" dirty="0"/>
          </a:p>
        </p:txBody>
      </p:sp>
      <p:sp>
        <p:nvSpPr>
          <p:cNvPr id="23" name="R4_w237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siblings</a:t>
            </a:r>
            <a:endParaRPr lang="en-US" sz="1700" dirty="0"/>
          </a:p>
        </p:txBody>
      </p:sp>
      <p:sp>
        <p:nvSpPr>
          <p:cNvPr id="24" name="rl_238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explains</a:t>
            </a:r>
            <a:endParaRPr lang="en-US" sz="1100" dirty="0"/>
          </a:p>
        </p:txBody>
      </p:sp>
      <p:sp>
        <p:nvSpPr>
          <p:cNvPr id="25" name="R5_w239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half-sister</a:t>
            </a:r>
            <a:endParaRPr lang="en-US" sz="1700" dirty="0"/>
          </a:p>
        </p:txBody>
      </p:sp>
      <p:sp>
        <p:nvSpPr>
          <p:cNvPr id="26" name="R6_w240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great-grandfather</a:t>
            </a:r>
            <a:endParaRPr lang="en-US" sz="1700" dirty="0"/>
          </a:p>
        </p:txBody>
      </p:sp>
      <p:sp>
        <p:nvSpPr>
          <p:cNvPr id="27" name="R7_w241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adopted child</a:t>
            </a:r>
            <a:endParaRPr lang="en-US" sz="1700" dirty="0"/>
          </a:p>
        </p:txBody>
      </p:sp>
      <p:sp>
        <p:nvSpPr>
          <p:cNvPr id="28" name="R8_w242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extended family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45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500" dirty="0"/>
          </a:p>
        </p:txBody>
      </p:sp>
      <p:pic>
        <p:nvPicPr>
          <p:cNvPr id="6" name="brP_2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4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intro. 8 numbers – 8 gaps next!</a:t>
            </a:r>
            <a:endParaRPr lang="en-US" sz="1250" dirty="0"/>
          </a:p>
        </p:txBody>
      </p:sp>
      <p:sp>
        <p:nvSpPr>
          <p:cNvPr id="8" name="insIT_2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l'intro. 8 numeri – 8 spazi dopo!</a:t>
            </a:r>
            <a:endParaRPr lang="en-US" sz="950" dirty="0"/>
          </a:p>
        </p:txBody>
      </p:sp>
      <p:sp>
        <p:nvSpPr>
          <p:cNvPr id="9" name="cmd_24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250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300" dirty="0"/>
          </a:p>
        </p:txBody>
      </p:sp>
      <p:sp>
        <p:nvSpPr>
          <p:cNvPr id="11" name="meta_25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2" name="logo_2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prediction   ·   📖 SB p.10 · 1b</a:t>
            </a:r>
            <a:endParaRPr lang="en-US" sz="800" dirty="0"/>
          </a:p>
        </p:txBody>
      </p:sp>
      <p:sp>
        <p:nvSpPr>
          <p:cNvPr id="14" name="cd_25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25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 family</a:t>
            </a:r>
            <a:endParaRPr lang="en-US" sz="2800" dirty="0"/>
          </a:p>
        </p:txBody>
      </p:sp>
      <p:sp>
        <p:nvSpPr>
          <p:cNvPr id="16" name="nx_256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survey on the next 2 slides has 8 gaps. Write your guess for each gap, then listen and check.</a:t>
            </a:r>
            <a:endParaRPr lang="en-US" sz="1000" dirty="0"/>
          </a:p>
        </p:txBody>
      </p:sp>
      <p:sp>
        <p:nvSpPr>
          <p:cNvPr id="17" name="sf_257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life is changing all over the world – not just the structure of the family, but also its habits. A recent survey of British family life showed some surprising statistics.</a:t>
            </a:r>
            <a:endParaRPr lang="en-US" sz="1150" dirty="0"/>
          </a:p>
        </p:txBody>
      </p:sp>
      <p:sp>
        <p:nvSpPr>
          <p:cNvPr id="18" name="nbl_258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9" name="bd_259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bd_260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10%</a:t>
            </a:r>
            <a:endParaRPr lang="en-US" sz="1000" dirty="0"/>
          </a:p>
        </p:txBody>
      </p:sp>
      <p:sp>
        <p:nvSpPr>
          <p:cNvPr id="21" name="bd_261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14%</a:t>
            </a:r>
            <a:endParaRPr lang="en-US" sz="1000" dirty="0"/>
          </a:p>
        </p:txBody>
      </p:sp>
      <p:sp>
        <p:nvSpPr>
          <p:cNvPr id="22" name="bd_262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17%</a:t>
            </a:r>
            <a:endParaRPr lang="en-US" sz="1000" dirty="0"/>
          </a:p>
        </p:txBody>
      </p:sp>
      <p:sp>
        <p:nvSpPr>
          <p:cNvPr id="23" name="bd_263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30</a:t>
            </a:r>
            <a:endParaRPr lang="en-US" sz="1400" dirty="0"/>
          </a:p>
        </p:txBody>
      </p:sp>
      <p:sp>
        <p:nvSpPr>
          <p:cNvPr id="24" name="bd_264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32</a:t>
            </a:r>
            <a:endParaRPr lang="en-US" sz="1400" dirty="0"/>
          </a:p>
        </p:txBody>
      </p:sp>
      <p:sp>
        <p:nvSpPr>
          <p:cNvPr id="25" name="bd_265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40%</a:t>
            </a:r>
            <a:endParaRPr lang="en-US" sz="1000" dirty="0"/>
          </a:p>
        </p:txBody>
      </p:sp>
      <p:sp>
        <p:nvSpPr>
          <p:cNvPr id="26" name="bd_266"/>
          <p:cNvSpPr/>
          <p:nvPr/>
        </p:nvSpPr>
        <p:spPr>
          <a:xfrm>
            <a:off x="4718304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45%</a:t>
            </a:r>
            <a:endParaRPr lang="en-US" sz="1000" dirty="0"/>
          </a:p>
        </p:txBody>
      </p:sp>
      <p:sp>
        <p:nvSpPr>
          <p:cNvPr id="27" name="pf_267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268" descr="/home/claude/lls-course/v2/cache/1b1_single_dad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27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 1/2</a:t>
            </a:r>
            <a:endParaRPr lang="en-US" sz="2500" dirty="0"/>
          </a:p>
        </p:txBody>
      </p:sp>
      <p:pic>
        <p:nvPicPr>
          <p:cNvPr id="6" name="brP_2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73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a number in gaps 1–5. Then listen.</a:t>
            </a:r>
            <a:endParaRPr lang="en-US" sz="1250" dirty="0"/>
          </a:p>
        </p:txBody>
      </p:sp>
      <p:sp>
        <p:nvSpPr>
          <p:cNvPr id="8" name="insIT_27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un numero negli spazi 1–5. Poi ascolta.</a:t>
            </a:r>
            <a:endParaRPr lang="en-US" sz="950" dirty="0"/>
          </a:p>
        </p:txBody>
      </p:sp>
      <p:sp>
        <p:nvSpPr>
          <p:cNvPr id="9" name="cmd_27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276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1" name="meta_27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2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Family structure   ·   📖 SB p.10 · 1b, 1c · audio 1.14</a:t>
            </a:r>
            <a:endParaRPr lang="en-US" sz="800" dirty="0"/>
          </a:p>
        </p:txBody>
      </p:sp>
      <p:sp>
        <p:nvSpPr>
          <p:cNvPr id="14" name="cd_28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28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structure</a:t>
            </a:r>
            <a:endParaRPr lang="en-US" sz="1700" dirty="0"/>
          </a:p>
        </p:txBody>
      </p:sp>
      <p:sp>
        <p:nvSpPr>
          <p:cNvPr id="16" name="ln_28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 of families have married parents.</a:t>
            </a:r>
            <a:endParaRPr lang="en-US" sz="1250" dirty="0"/>
          </a:p>
        </p:txBody>
      </p:sp>
      <p:sp>
        <p:nvSpPr>
          <p:cNvPr id="17" name="ln_283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are single-parent families. Only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single parents are men.</a:t>
            </a:r>
            <a:endParaRPr lang="en-US" sz="1250" dirty="0"/>
          </a:p>
        </p:txBody>
      </p:sp>
      <p:sp>
        <p:nvSpPr>
          <p:cNvPr id="18" name="R1_lnA28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are single-parent families. Only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14%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single parents are men.</a:t>
            </a:r>
            <a:endParaRPr lang="en-US" sz="1250" dirty="0"/>
          </a:p>
        </p:txBody>
      </p:sp>
      <p:sp>
        <p:nvSpPr>
          <p:cNvPr id="19" name="ln_28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families have one child,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two, and 15% have three or more.</a:t>
            </a:r>
            <a:endParaRPr lang="en-US" sz="1250" dirty="0"/>
          </a:p>
        </p:txBody>
      </p:sp>
      <p:sp>
        <p:nvSpPr>
          <p:cNvPr id="20" name="R2_lnA28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45%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families have one child,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two, and 15% have three or more.</a:t>
            </a:r>
            <a:endParaRPr lang="en-US" sz="1250" dirty="0"/>
          </a:p>
        </p:txBody>
      </p:sp>
      <p:sp>
        <p:nvSpPr>
          <p:cNvPr id="21" name="ln_28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11% of families have stepchildren.</a:t>
            </a:r>
            <a:endParaRPr lang="en-US" sz="1250" dirty="0"/>
          </a:p>
        </p:txBody>
      </p:sp>
      <p:sp>
        <p:nvSpPr>
          <p:cNvPr id="22" name="ln_288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average, women get married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men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23" name="R3_lnA289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average, women get married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men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24" name="ap_290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1.14</a:t>
            </a:r>
            <a:endParaRPr lang="en-US" sz="1100" dirty="0"/>
          </a:p>
        </p:txBody>
      </p:sp>
      <p:sp>
        <p:nvSpPr>
          <p:cNvPr id="25" name="ah_291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2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27" name="pf_29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293" descr="/home/claude/lls-course/v2/cache/1b1_single_dad_jpg_594x352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audio>
              <p:cMediaNode vol="8000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29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 2/2</a:t>
            </a:r>
            <a:endParaRPr lang="en-US" sz="2500" dirty="0"/>
          </a:p>
        </p:txBody>
      </p:sp>
      <p:pic>
        <p:nvPicPr>
          <p:cNvPr id="6" name="brP_2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98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a number in gaps 6–8. Then listen.</a:t>
            </a:r>
            <a:endParaRPr lang="en-US" sz="1250" dirty="0"/>
          </a:p>
        </p:txBody>
      </p:sp>
      <p:sp>
        <p:nvSpPr>
          <p:cNvPr id="8" name="insIT_2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un numero negli spazi 6–8. Poi ascolta.</a:t>
            </a:r>
            <a:endParaRPr lang="en-US" sz="950" dirty="0"/>
          </a:p>
        </p:txBody>
      </p:sp>
      <p:sp>
        <p:nvSpPr>
          <p:cNvPr id="9" name="cmd_30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301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1" name="meta_30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3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Family habits   ·   📖 SB p.10 · 1b, 1c · audio 1.14</a:t>
            </a:r>
            <a:endParaRPr lang="en-US" sz="800" dirty="0"/>
          </a:p>
        </p:txBody>
      </p:sp>
      <p:sp>
        <p:nvSpPr>
          <p:cNvPr id="14" name="cd_30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0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habits</a:t>
            </a:r>
            <a:endParaRPr lang="en-US" sz="1700" dirty="0"/>
          </a:p>
        </p:txBody>
      </p:sp>
      <p:sp>
        <p:nvSpPr>
          <p:cNvPr id="16" name="ln_30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 of families only eat together once or twice a week, and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never eat at the same time.</a:t>
            </a:r>
            <a:endParaRPr lang="en-US" sz="1250" dirty="0"/>
          </a:p>
        </p:txBody>
      </p:sp>
      <p:sp>
        <p:nvSpPr>
          <p:cNvPr id="17" name="R1_lnA308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 of families only eat together once or twice a week, and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never eat at the same time.</a:t>
            </a:r>
            <a:endParaRPr lang="en-US" sz="1250" dirty="0"/>
          </a:p>
        </p:txBody>
      </p:sp>
      <p:sp>
        <p:nvSpPr>
          <p:cNvPr id="18" name="ln_309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visit friends or extended family twice a month.</a:t>
            </a:r>
            <a:endParaRPr lang="en-US" sz="1250" dirty="0"/>
          </a:p>
        </p:txBody>
      </p:sp>
      <p:sp>
        <p:nvSpPr>
          <p:cNvPr id="19" name="ln_310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people have family members who they never speak to or contact.</a:t>
            </a:r>
            <a:endParaRPr lang="en-US" sz="1250" dirty="0"/>
          </a:p>
        </p:txBody>
      </p:sp>
      <p:sp>
        <p:nvSpPr>
          <p:cNvPr id="20" name="R2_lnA311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17%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people have family members who they never speak to or contact.</a:t>
            </a:r>
            <a:endParaRPr lang="en-US" sz="1250" dirty="0"/>
          </a:p>
        </p:txBody>
      </p:sp>
      <p:sp>
        <p:nvSpPr>
          <p:cNvPr id="21" name="ln_312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 of people are happiest with their families, and 17% with their friends.</a:t>
            </a:r>
            <a:endParaRPr lang="en-US" sz="1250" dirty="0"/>
          </a:p>
        </p:txBody>
      </p:sp>
      <p:sp>
        <p:nvSpPr>
          <p:cNvPr id="22" name="ln_313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average family has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 /raʊz/ each day. The most common cause: children or teenagers refusing to put down their phones or tablets.</a:t>
            </a:r>
            <a:endParaRPr lang="en-US" sz="1250" dirty="0"/>
          </a:p>
        </p:txBody>
      </p:sp>
      <p:sp>
        <p:nvSpPr>
          <p:cNvPr id="23" name="R3_lnA314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average family has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 /raʊz/ each day. The most common cause: children or teenagers refusing to put down their phones or tablets.</a:t>
            </a:r>
            <a:endParaRPr lang="en-US" sz="1250" dirty="0"/>
          </a:p>
        </p:txBody>
      </p:sp>
      <p:sp>
        <p:nvSpPr>
          <p:cNvPr id="24" name="ap_315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1.14</a:t>
            </a:r>
            <a:endParaRPr lang="en-US" sz="1100" dirty="0"/>
          </a:p>
        </p:txBody>
      </p:sp>
      <p:sp>
        <p:nvSpPr>
          <p:cNvPr id="25" name="ah_316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2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27" name="pf_317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318" descr="/home/claude/lls-course/v2/cache/1b1_phone_row_jpg_594x352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audio>
              <p:cMediaNode vol="8000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21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Sicily vs the UK</a:t>
            </a:r>
            <a:endParaRPr lang="en-US" sz="2500" dirty="0"/>
          </a:p>
        </p:txBody>
      </p:sp>
      <p:pic>
        <p:nvPicPr>
          <p:cNvPr id="6" name="brP_3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32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reason. Then ask: Why?</a:t>
            </a:r>
            <a:endParaRPr lang="en-US" sz="1250" dirty="0"/>
          </a:p>
        </p:txBody>
      </p:sp>
      <p:sp>
        <p:nvSpPr>
          <p:cNvPr id="8" name="insIT_3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con un motivo. Poi chiedi: Perché?</a:t>
            </a:r>
            <a:endParaRPr lang="en-US" sz="950" dirty="0"/>
          </a:p>
        </p:txBody>
      </p:sp>
      <p:sp>
        <p:nvSpPr>
          <p:cNvPr id="9" name="cmd_32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3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pic>
        <p:nvPicPr>
          <p:cNvPr id="11" name="logo_3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Speaking · Sicily vs the UK   ·   📖 SB p.10 · 1c, 1d</a:t>
            </a:r>
            <a:endParaRPr lang="en-US" sz="800" dirty="0"/>
          </a:p>
        </p:txBody>
      </p:sp>
      <p:sp>
        <p:nvSpPr>
          <p:cNvPr id="13" name="pf_329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330" descr="/home/claude/lls-course/v2/cache/1b1_sunday_lunch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331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2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333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334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I'm sorry, I'd rather not talk about that.</a:t>
            </a:r>
            <a:endParaRPr lang="en-US" sz="1050" dirty="0"/>
          </a:p>
        </p:txBody>
      </p:sp>
      <p:sp>
        <p:nvSpPr>
          <p:cNvPr id="19" name="R1_qb33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33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UK, 20% of families rarely eat together. And in Sicily?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No! In Sicily most families eat together every day.</a:t>
            </a:r>
            <a:endParaRPr lang="en-US" sz="1250" dirty="0"/>
          </a:p>
        </p:txBody>
      </p:sp>
      <p:sp>
        <p:nvSpPr>
          <p:cNvPr id="21" name="R2_qb33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33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do you live with? Is your family big or small?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live with my mum, my dad and my little brother.</a:t>
            </a:r>
            <a:endParaRPr lang="en-US" sz="1250" dirty="0"/>
          </a:p>
        </p:txBody>
      </p:sp>
      <p:sp>
        <p:nvSpPr>
          <p:cNvPr id="23" name="R3_qb33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34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see your extended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Every Sunday – we have lunch at my nonna's!</a:t>
            </a:r>
            <a:endParaRPr lang="en-US" sz="1250" dirty="0"/>
          </a:p>
        </p:txBody>
      </p:sp>
      <p:sp>
        <p:nvSpPr>
          <p:cNvPr id="25" name="R4_qb34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34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 time: family or friends? Why?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Friends, because we like the same things.</a:t>
            </a:r>
            <a:endParaRPr lang="en-US" sz="1250" dirty="0"/>
          </a:p>
        </p:txBody>
      </p:sp>
      <p:sp>
        <p:nvSpPr>
          <p:cNvPr id="27" name="R5_qb34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344"/>
          <p:cNvSpPr/>
          <p:nvPr/>
        </p:nvSpPr>
        <p:spPr>
          <a:xfrm>
            <a:off x="3675888" y="364236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 anyone in your family you don't get on with?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cousin – he always takes my things!</a:t>
            </a:r>
            <a:endParaRPr lang="en-US" sz="1250" dirty="0"/>
          </a:p>
        </p:txBody>
      </p:sp>
      <p:pic>
        <p:nvPicPr>
          <p:cNvPr id="29" name="R5_th345" descr="/home/claude/lls-course/v2/cache/1b1_dont_get_on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660648"/>
            <a:ext cx="640080" cy="446532"/>
          </a:xfrm>
          <a:prstGeom prst="rect">
            <a:avLst/>
          </a:prstGeom>
        </p:spPr>
      </p:pic>
      <p:sp>
        <p:nvSpPr>
          <p:cNvPr id="30" name="R6_qb346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347"/>
          <p:cNvSpPr/>
          <p:nvPr/>
        </p:nvSpPr>
        <p:spPr>
          <a:xfrm>
            <a:off x="3675888" y="41986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argue about at home? Phones?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mum says I'm always on my phone at dinner.</a:t>
            </a:r>
            <a:endParaRPr lang="en-US" sz="1250" dirty="0"/>
          </a:p>
        </p:txBody>
      </p:sp>
      <p:pic>
        <p:nvPicPr>
          <p:cNvPr id="32" name="R6_th348" descr="/home/claude/lls-course/v2/cache/1b1_phone_row_jpg_154x107_1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4216908"/>
            <a:ext cx="640080" cy="446532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5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conversations</a:t>
            </a:r>
            <a:endParaRPr lang="en-US" sz="2500" dirty="0"/>
          </a:p>
        </p:txBody>
      </p:sp>
      <p:pic>
        <p:nvPicPr>
          <p:cNvPr id="6" name="brP_3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35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Match 1–3 to the photos A–C.</a:t>
            </a:r>
            <a:endParaRPr lang="en-US" sz="1250" dirty="0"/>
          </a:p>
        </p:txBody>
      </p:sp>
      <p:sp>
        <p:nvSpPr>
          <p:cNvPr id="8" name="insIT_3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Abbina 1–3 alle foto A–C.</a:t>
            </a:r>
            <a:endParaRPr lang="en-US" sz="950" dirty="0"/>
          </a:p>
        </p:txBody>
      </p:sp>
      <p:sp>
        <p:nvSpPr>
          <p:cNvPr id="9" name="cmd_35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meta_35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pic>
        <p:nvPicPr>
          <p:cNvPr id="11" name="logo_3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Listening · gist   ·   📖 SB p.11 · 2a · audio 1.15</a:t>
            </a:r>
            <a:endParaRPr lang="en-US" sz="800" dirty="0"/>
          </a:p>
        </p:txBody>
      </p:sp>
      <p:sp>
        <p:nvSpPr>
          <p:cNvPr id="13" name="ap_359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1.15  ·  play once</a:t>
            </a:r>
            <a:endParaRPr lang="en-US" sz="1100" dirty="0"/>
          </a:p>
        </p:txBody>
      </p:sp>
      <p:sp>
        <p:nvSpPr>
          <p:cNvPr id="14" name="ah_360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6" name="ah2_361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7" name="pf_362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63" descr="/home/claude/lls-course/v2/cache/1b1_conv_a_jpg_407x29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19" name="bd_364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0" name="pf_365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366" descr="/home/claude/lls-course/v2/cache/1b1_conv_b_jpg_407x297_3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2" name="bd_367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pf_368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69" descr="/home/claude/lls-course/v2/cache/1b1_conv_c_jpg_407x297_3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5" name="bd_370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6" name="cd_371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372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28" name="ih_373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29" name="il_374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A, B and C. Who are they?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Match conversations 1–3 to A–C.</a:t>
            </a:r>
            <a:endParaRPr lang="en-US" sz="1100" dirty="0"/>
          </a:p>
        </p:txBody>
      </p:sp>
      <p:sp>
        <p:nvSpPr>
          <p:cNvPr id="30" name="lq_375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Conversation 1</a:t>
            </a:r>
            <a:endParaRPr lang="en-US" sz="1100" dirty="0"/>
          </a:p>
        </p:txBody>
      </p:sp>
      <p:sp>
        <p:nvSpPr>
          <p:cNvPr id="31" name="R1_chip376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his plans for next year</a:t>
            </a:r>
            <a:endParaRPr lang="en-US" sz="1050" dirty="0"/>
          </a:p>
        </p:txBody>
      </p:sp>
      <p:sp>
        <p:nvSpPr>
          <p:cNvPr id="32" name="lq_377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Conversation 2</a:t>
            </a:r>
            <a:endParaRPr lang="en-US" sz="1100" dirty="0"/>
          </a:p>
        </p:txBody>
      </p:sp>
      <p:sp>
        <p:nvSpPr>
          <p:cNvPr id="33" name="R2_chip378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a party at Katie's</a:t>
            </a:r>
            <a:endParaRPr lang="en-US" sz="1050" dirty="0"/>
          </a:p>
        </p:txBody>
      </p:sp>
      <p:sp>
        <p:nvSpPr>
          <p:cNvPr id="34" name="lq_379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Conversation 3</a:t>
            </a:r>
            <a:endParaRPr lang="en-US" sz="1100" dirty="0"/>
          </a:p>
        </p:txBody>
      </p:sp>
      <p:sp>
        <p:nvSpPr>
          <p:cNvPr id="35" name="R3_chip380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borrowing the car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audio>
              <p:cMediaNode vol="8000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8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3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38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3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38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38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1" name="meta_38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3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Listening · detail   ·   📖 SB p.11 · 2b · audio 1.15</a:t>
            </a:r>
            <a:endParaRPr lang="en-US" sz="800" dirty="0"/>
          </a:p>
        </p:txBody>
      </p:sp>
      <p:sp>
        <p:nvSpPr>
          <p:cNvPr id="14" name="ap_39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1.15  ·  pause after each conversation</a:t>
            </a:r>
            <a:endParaRPr lang="en-US" sz="1100" dirty="0"/>
          </a:p>
        </p:txBody>
      </p:sp>
      <p:sp>
        <p:nvSpPr>
          <p:cNvPr id="15" name="ah_393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7" name="pf_39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95" descr="/home/claude/lls-course/v2/cache/1b1_conv_c_jpg_627x40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39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9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9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39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40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not ___ to university.</a:t>
            </a:r>
            <a:endParaRPr lang="en-US" sz="1200" dirty="0"/>
          </a:p>
        </p:txBody>
      </p:sp>
      <p:sp>
        <p:nvSpPr>
          <p:cNvPr id="24" name="R1_chip40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going to go</a:t>
            </a:r>
            <a:endParaRPr lang="en-US" sz="1200" dirty="0"/>
          </a:p>
        </p:txBody>
      </p:sp>
      <p:sp>
        <p:nvSpPr>
          <p:cNvPr id="25" name="gq_40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___ you a cup of tea?</a:t>
            </a:r>
            <a:endParaRPr lang="en-US" sz="1200" dirty="0"/>
          </a:p>
        </p:txBody>
      </p:sp>
      <p:sp>
        <p:nvSpPr>
          <p:cNvPr id="26" name="R2_chip40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make</a:t>
            </a:r>
            <a:endParaRPr lang="en-US" sz="1200" dirty="0"/>
          </a:p>
        </p:txBody>
      </p:sp>
      <p:sp>
        <p:nvSpPr>
          <p:cNvPr id="27" name="gq_40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___ the night there.</a:t>
            </a:r>
            <a:endParaRPr lang="en-US" sz="1200" dirty="0"/>
          </a:p>
        </p:txBody>
      </p:sp>
      <p:sp>
        <p:nvSpPr>
          <p:cNvPr id="28" name="R3_chip40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staying</a:t>
            </a:r>
            <a:endParaRPr lang="en-US" sz="1200" dirty="0"/>
          </a:p>
        </p:txBody>
      </p:sp>
      <p:sp>
        <p:nvSpPr>
          <p:cNvPr id="29" name="gq_40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___ cold tonight.</a:t>
            </a:r>
            <a:endParaRPr lang="en-US" sz="1200" dirty="0"/>
          </a:p>
        </p:txBody>
      </p:sp>
      <p:sp>
        <p:nvSpPr>
          <p:cNvPr id="30" name="R4_chip40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 be</a:t>
            </a:r>
            <a:endParaRPr lang="en-US" sz="1200" dirty="0"/>
          </a:p>
        </p:txBody>
      </p:sp>
      <p:sp>
        <p:nvSpPr>
          <p:cNvPr id="31" name="gq_40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You ___ too fast.</a:t>
            </a:r>
            <a:endParaRPr lang="en-US" sz="1200" dirty="0"/>
          </a:p>
        </p:txBody>
      </p:sp>
      <p:sp>
        <p:nvSpPr>
          <p:cNvPr id="32" name="R5_chip40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'll drive</a:t>
            </a:r>
            <a:endParaRPr lang="en-US" sz="1200" dirty="0"/>
          </a:p>
        </p:txBody>
      </p:sp>
      <p:sp>
        <p:nvSpPr>
          <p:cNvPr id="33" name="gq_410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really careful.</a:t>
            </a:r>
            <a:endParaRPr lang="en-US" sz="1200" dirty="0"/>
          </a:p>
        </p:txBody>
      </p:sp>
      <p:sp>
        <p:nvSpPr>
          <p:cNvPr id="34" name="R6_chip411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'll be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14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the future</a:t>
            </a:r>
            <a:endParaRPr lang="en-US" sz="2500" dirty="0"/>
          </a:p>
        </p:txBody>
      </p:sp>
      <p:pic>
        <p:nvPicPr>
          <p:cNvPr id="6" name="brP_4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1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future forms in the lines.</a:t>
            </a:r>
            <a:endParaRPr lang="en-US" sz="1250" dirty="0"/>
          </a:p>
        </p:txBody>
      </p:sp>
      <p:sp>
        <p:nvSpPr>
          <p:cNvPr id="8" name="insIT_41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le forme del futuro.</a:t>
            </a:r>
            <a:endParaRPr lang="en-US" sz="950" dirty="0"/>
          </a:p>
        </p:txBody>
      </p:sp>
      <p:sp>
        <p:nvSpPr>
          <p:cNvPr id="9" name="cmd_41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10" name="meta_41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4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Noticing · the conversations   ·   📖 SB audio script 1.15 (p.124)</a:t>
            </a:r>
            <a:endParaRPr lang="en-US" sz="800" dirty="0"/>
          </a:p>
        </p:txBody>
      </p:sp>
      <p:sp>
        <p:nvSpPr>
          <p:cNvPr id="13" name="pf_422"/>
          <p:cNvSpPr/>
          <p:nvPr/>
        </p:nvSpPr>
        <p:spPr>
          <a:xfrm rot="-120000">
            <a:off x="365760" y="1371600"/>
            <a:ext cx="2468880" cy="1691640"/>
          </a:xfrm>
          <a:prstGeom prst="roundRect">
            <a:avLst>
              <a:gd name="adj" fmla="val 91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423" descr="/home/claude/lls-course/v2/cache/1b1_conv_b_jpg_572x385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377440" cy="1600200"/>
          </a:xfrm>
          <a:prstGeom prst="rect">
            <a:avLst/>
          </a:prstGeom>
        </p:spPr>
      </p:pic>
      <p:sp>
        <p:nvSpPr>
          <p:cNvPr id="15" name="cd_424"/>
          <p:cNvSpPr/>
          <p:nvPr/>
        </p:nvSpPr>
        <p:spPr>
          <a:xfrm>
            <a:off x="320040" y="324612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25"/>
          <p:cNvSpPr/>
          <p:nvPr/>
        </p:nvSpPr>
        <p:spPr>
          <a:xfrm>
            <a:off x="41148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7" name="ih_426"/>
          <p:cNvSpPr/>
          <p:nvPr/>
        </p:nvSpPr>
        <p:spPr>
          <a:xfrm>
            <a:off x="886968" y="3337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it!</a:t>
            </a:r>
            <a:endParaRPr lang="en-US" sz="1300" dirty="0"/>
          </a:p>
        </p:txBody>
      </p:sp>
      <p:sp>
        <p:nvSpPr>
          <p:cNvPr id="18" name="il_427"/>
          <p:cNvSpPr/>
          <p:nvPr/>
        </p:nvSpPr>
        <p:spPr>
          <a:xfrm>
            <a:off x="886968" y="3721608"/>
            <a:ext cx="1947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going to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continuous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will / won't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Shall I…?</a:t>
            </a:r>
            <a:endParaRPr lang="en-US" sz="1050" dirty="0"/>
          </a:p>
        </p:txBody>
      </p:sp>
      <p:sp>
        <p:nvSpPr>
          <p:cNvPr id="19" name="who_428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Gran</a:t>
            </a:r>
            <a:endParaRPr lang="en-US" sz="950" dirty="0"/>
          </a:p>
        </p:txBody>
      </p:sp>
      <p:sp>
        <p:nvSpPr>
          <p:cNvPr id="20" name="sl_429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what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next year, dear?</a:t>
            </a:r>
            <a:endParaRPr lang="en-US" sz="1150" dirty="0"/>
          </a:p>
        </p:txBody>
      </p:sp>
      <p:sp>
        <p:nvSpPr>
          <p:cNvPr id="21" name="R1_slA430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next year, dear?</a:t>
            </a:r>
            <a:endParaRPr lang="en-US" sz="1150" dirty="0"/>
          </a:p>
        </p:txBody>
      </p:sp>
      <p:sp>
        <p:nvSpPr>
          <p:cNvPr id="22" name="who_431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Adam</a:t>
            </a:r>
            <a:endParaRPr lang="en-US" sz="950" dirty="0"/>
          </a:p>
        </p:txBody>
      </p:sp>
      <p:sp>
        <p:nvSpPr>
          <p:cNvPr id="23" name="sl_432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not going to go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university.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 to look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a job.</a:t>
            </a:r>
            <a:endParaRPr lang="en-US" sz="1150" dirty="0"/>
          </a:p>
        </p:txBody>
      </p:sp>
      <p:sp>
        <p:nvSpPr>
          <p:cNvPr id="24" name="R2_slA433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not going to go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university.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 to look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a job.</a:t>
            </a:r>
            <a:endParaRPr lang="en-US" sz="1150" dirty="0"/>
          </a:p>
        </p:txBody>
      </p:sp>
      <p:sp>
        <p:nvSpPr>
          <p:cNvPr id="25" name="who_434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Adam</a:t>
            </a:r>
            <a:endParaRPr lang="en-US" sz="950" dirty="0"/>
          </a:p>
        </p:txBody>
      </p:sp>
      <p:sp>
        <p:nvSpPr>
          <p:cNvPr id="26" name="sl_435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Shall I make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 cup of tea?</a:t>
            </a:r>
            <a:endParaRPr lang="en-US" sz="1150" dirty="0"/>
          </a:p>
        </p:txBody>
      </p:sp>
      <p:sp>
        <p:nvSpPr>
          <p:cNvPr id="27" name="R3_slA436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Shall I make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 cup of tea?</a:t>
            </a:r>
            <a:endParaRPr lang="en-US" sz="1150" dirty="0"/>
          </a:p>
        </p:txBody>
      </p:sp>
      <p:sp>
        <p:nvSpPr>
          <p:cNvPr id="28" name="who_437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1F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Girl</a:t>
            </a:r>
            <a:endParaRPr lang="en-US" sz="950" dirty="0"/>
          </a:p>
        </p:txBody>
      </p:sp>
      <p:sp>
        <p:nvSpPr>
          <p:cNvPr id="29" name="sl_438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a party at Katie's.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staying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night there.</a:t>
            </a:r>
            <a:endParaRPr lang="en-US" sz="1150" dirty="0"/>
          </a:p>
        </p:txBody>
      </p:sp>
      <p:sp>
        <p:nvSpPr>
          <p:cNvPr id="30" name="R4_slA439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a party at Katie's.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staying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night there.</a:t>
            </a:r>
            <a:endParaRPr lang="en-US" sz="1150" dirty="0"/>
          </a:p>
        </p:txBody>
      </p:sp>
      <p:sp>
        <p:nvSpPr>
          <p:cNvPr id="31" name="who_440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1F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Dad</a:t>
            </a:r>
            <a:endParaRPr lang="en-US" sz="950" dirty="0"/>
          </a:p>
        </p:txBody>
      </p:sp>
      <p:sp>
        <p:nvSpPr>
          <p:cNvPr id="32" name="sl_441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Where's your coat? 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's going to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cold tonight!</a:t>
            </a:r>
            <a:endParaRPr lang="en-US" sz="1150" dirty="0"/>
          </a:p>
        </p:txBody>
      </p:sp>
      <p:sp>
        <p:nvSpPr>
          <p:cNvPr id="33" name="R5_slA442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Where's your coat? It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's going to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cold tonight!</a:t>
            </a:r>
            <a:endParaRPr lang="en-US" sz="1150" dirty="0"/>
          </a:p>
        </p:txBody>
      </p:sp>
      <p:sp>
        <p:nvSpPr>
          <p:cNvPr id="34" name="who_443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7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Woman</a:t>
            </a:r>
            <a:endParaRPr lang="en-US" sz="950" dirty="0"/>
          </a:p>
        </p:txBody>
      </p:sp>
      <p:sp>
        <p:nvSpPr>
          <p:cNvPr id="35" name="sl_444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won't look after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it. You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'll drive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too fast.</a:t>
            </a:r>
            <a:endParaRPr lang="en-US" sz="1150" dirty="0"/>
          </a:p>
        </p:txBody>
      </p:sp>
      <p:sp>
        <p:nvSpPr>
          <p:cNvPr id="36" name="R6_slA445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won't look after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it. You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'll drive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too fast.</a:t>
            </a:r>
            <a:endParaRPr lang="en-US" sz="1150" dirty="0"/>
          </a:p>
        </p:txBody>
      </p:sp>
      <p:sp>
        <p:nvSpPr>
          <p:cNvPr id="37" name="who_446"/>
          <p:cNvSpPr/>
          <p:nvPr/>
        </p:nvSpPr>
        <p:spPr>
          <a:xfrm>
            <a:off x="3108960" y="4206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7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Man</a:t>
            </a:r>
            <a:endParaRPr lang="en-US" sz="950" dirty="0"/>
          </a:p>
        </p:txBody>
      </p:sp>
      <p:sp>
        <p:nvSpPr>
          <p:cNvPr id="38" name="sl_447"/>
          <p:cNvSpPr/>
          <p:nvPr/>
        </p:nvSpPr>
        <p:spPr>
          <a:xfrm>
            <a:off x="4114800" y="4187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won't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 promise.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'll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really careful.</a:t>
            </a:r>
            <a:endParaRPr lang="en-US" sz="1150" dirty="0"/>
          </a:p>
        </p:txBody>
      </p:sp>
      <p:sp>
        <p:nvSpPr>
          <p:cNvPr id="39" name="R7_slA448"/>
          <p:cNvSpPr/>
          <p:nvPr/>
        </p:nvSpPr>
        <p:spPr>
          <a:xfrm>
            <a:off x="4114800" y="4187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won't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 promise.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'll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really careful.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451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Plan, prediction or promise?</a:t>
            </a:r>
            <a:endParaRPr lang="en-US" sz="2500" dirty="0"/>
          </a:p>
        </p:txBody>
      </p:sp>
      <p:pic>
        <p:nvPicPr>
          <p:cNvPr id="6" name="brP_4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453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Plan, prediction, offer…? Match the colour.</a:t>
            </a:r>
            <a:endParaRPr lang="en-US" sz="1250" dirty="0"/>
          </a:p>
        </p:txBody>
      </p:sp>
      <p:sp>
        <p:nvSpPr>
          <p:cNvPr id="8" name="insIT_4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Piano, previsione, offerta…? Abbina il colore.</a:t>
            </a:r>
            <a:endParaRPr lang="en-US" sz="950" dirty="0"/>
          </a:p>
        </p:txBody>
      </p:sp>
      <p:sp>
        <p:nvSpPr>
          <p:cNvPr id="9" name="cmd_45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300" dirty="0"/>
          </a:p>
        </p:txBody>
      </p:sp>
      <p:sp>
        <p:nvSpPr>
          <p:cNvPr id="10" name="meta_45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4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Grammar · future forms   ·   📖 SB p.11 · 2c</a:t>
            </a:r>
            <a:endParaRPr lang="en-US" sz="800" dirty="0"/>
          </a:p>
        </p:txBody>
      </p:sp>
      <p:sp>
        <p:nvSpPr>
          <p:cNvPr id="13" name="cd_459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4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4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462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463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</a:t>
            </a:r>
            <a:endParaRPr lang="en-US" sz="1050" dirty="0"/>
          </a:p>
        </p:txBody>
      </p:sp>
      <p:sp>
        <p:nvSpPr>
          <p:cNvPr id="18" name="lg_464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</a:t>
            </a:r>
            <a:endParaRPr lang="en-US" sz="1050" dirty="0"/>
          </a:p>
        </p:txBody>
      </p:sp>
      <p:sp>
        <p:nvSpPr>
          <p:cNvPr id="19" name="lg_465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</a:t>
            </a:r>
            <a:endParaRPr lang="en-US" sz="1050" dirty="0"/>
          </a:p>
        </p:txBody>
      </p:sp>
      <p:sp>
        <p:nvSpPr>
          <p:cNvPr id="20" name="lg_466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</a:t>
            </a:r>
            <a:endParaRPr lang="en-US" sz="1050" dirty="0"/>
          </a:p>
        </p:txBody>
      </p:sp>
      <p:sp>
        <p:nvSpPr>
          <p:cNvPr id="21" name="lg_467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promise</a:t>
            </a:r>
            <a:endParaRPr lang="en-US" sz="1050" dirty="0"/>
          </a:p>
        </p:txBody>
      </p:sp>
      <p:sp>
        <p:nvSpPr>
          <p:cNvPr id="22" name="sq_468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not going to go to university.</a:t>
            </a:r>
            <a:endParaRPr lang="en-US" sz="1200" dirty="0"/>
          </a:p>
        </p:txBody>
      </p:sp>
      <p:sp>
        <p:nvSpPr>
          <p:cNvPr id="23" name="R1_tag469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</a:t>
            </a:r>
            <a:endParaRPr lang="en-US" sz="1150" dirty="0"/>
          </a:p>
        </p:txBody>
      </p:sp>
      <p:sp>
        <p:nvSpPr>
          <p:cNvPr id="24" name="sq_470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Shall I make you a cup of tea?</a:t>
            </a:r>
            <a:endParaRPr lang="en-US" sz="1200" dirty="0"/>
          </a:p>
        </p:txBody>
      </p:sp>
      <p:sp>
        <p:nvSpPr>
          <p:cNvPr id="25" name="R2_tag471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</a:t>
            </a:r>
            <a:endParaRPr lang="en-US" sz="1150" dirty="0"/>
          </a:p>
        </p:txBody>
      </p:sp>
      <p:sp>
        <p:nvSpPr>
          <p:cNvPr id="26" name="sq_472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I'm staying the night there.</a:t>
            </a:r>
            <a:endParaRPr lang="en-US" sz="1200" dirty="0"/>
          </a:p>
        </p:txBody>
      </p:sp>
      <p:sp>
        <p:nvSpPr>
          <p:cNvPr id="27" name="R3_tag473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</a:t>
            </a:r>
            <a:endParaRPr lang="en-US" sz="1150" dirty="0"/>
          </a:p>
        </p:txBody>
      </p:sp>
      <p:sp>
        <p:nvSpPr>
          <p:cNvPr id="28" name="sq_474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It's going to be cold tonight.</a:t>
            </a:r>
            <a:endParaRPr lang="en-US" sz="1200" dirty="0"/>
          </a:p>
        </p:txBody>
      </p:sp>
      <p:sp>
        <p:nvSpPr>
          <p:cNvPr id="29" name="R4_tag475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</a:t>
            </a:r>
            <a:endParaRPr lang="en-US" sz="1150" dirty="0"/>
          </a:p>
        </p:txBody>
      </p:sp>
      <p:sp>
        <p:nvSpPr>
          <p:cNvPr id="30" name="sq_476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You'll drive too fast.</a:t>
            </a:r>
            <a:endParaRPr lang="en-US" sz="1200" dirty="0"/>
          </a:p>
        </p:txBody>
      </p:sp>
      <p:sp>
        <p:nvSpPr>
          <p:cNvPr id="31" name="R5_tag477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</a:t>
            </a:r>
            <a:endParaRPr lang="en-US" sz="1150" dirty="0"/>
          </a:p>
        </p:txBody>
      </p:sp>
      <p:sp>
        <p:nvSpPr>
          <p:cNvPr id="32" name="sq_478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I'll be really careful.</a:t>
            </a:r>
            <a:endParaRPr lang="en-US" sz="1200" dirty="0"/>
          </a:p>
        </p:txBody>
      </p:sp>
      <p:sp>
        <p:nvSpPr>
          <p:cNvPr id="33" name="R6_tag479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promise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82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Talking about the future</a:t>
            </a:r>
            <a:endParaRPr lang="en-US" sz="2500" dirty="0"/>
          </a:p>
        </p:txBody>
      </p:sp>
      <p:pic>
        <p:nvPicPr>
          <p:cNvPr id="6" name="brP_4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84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examples. Which form?</a:t>
            </a:r>
            <a:endParaRPr lang="en-US" sz="1250" dirty="0"/>
          </a:p>
        </p:txBody>
      </p:sp>
      <p:sp>
        <p:nvSpPr>
          <p:cNvPr id="8" name="insIT_48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gli esempi. Quale forma?</a:t>
            </a:r>
            <a:endParaRPr lang="en-US" sz="950" dirty="0"/>
          </a:p>
        </p:txBody>
      </p:sp>
      <p:sp>
        <p:nvSpPr>
          <p:cNvPr id="9" name="cmd_48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48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4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Grammar · the rule   ·   📖 Grammar Bank 1B p.133 · audio 1.16</a:t>
            </a:r>
            <a:endParaRPr lang="en-US" sz="800" dirty="0"/>
          </a:p>
        </p:txBody>
      </p:sp>
      <p:sp>
        <p:nvSpPr>
          <p:cNvPr id="13" name="ap_490"/>
          <p:cNvSpPr/>
          <p:nvPr/>
        </p:nvSpPr>
        <p:spPr>
          <a:xfrm>
            <a:off x="4526280" y="78638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1.16</a:t>
            </a:r>
            <a:endParaRPr lang="en-US" sz="1100" dirty="0"/>
          </a:p>
        </p:txBody>
      </p:sp>
      <p:sp>
        <p:nvSpPr>
          <p:cNvPr id="14" name="ah_491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6" name="cd_492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493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</a:t>
            </a:r>
            <a:endParaRPr lang="en-US" sz="1250" dirty="0"/>
          </a:p>
        </p:txBody>
      </p:sp>
      <p:sp>
        <p:nvSpPr>
          <p:cNvPr id="18" name="pf_494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95" descr="/home/claude/lls-course/v2/cache/1b1_clouds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0" name="ru_496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plans · predictions you can SEE</a:t>
            </a:r>
            <a:endParaRPr lang="en-US" sz="1050" dirty="0"/>
          </a:p>
        </p:txBody>
      </p:sp>
      <p:sp>
        <p:nvSpPr>
          <p:cNvPr id="21" name="R1_rx497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look for a job.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clouds! It's going to rain.</a:t>
            </a:r>
            <a:endParaRPr lang="en-US" sz="1050" dirty="0"/>
          </a:p>
        </p:txBody>
      </p:sp>
      <p:sp>
        <p:nvSpPr>
          <p:cNvPr id="22" name="R1_ri498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intenzione · sta per…</a:t>
            </a:r>
            <a:endParaRPr lang="en-US" sz="900" dirty="0"/>
          </a:p>
        </p:txBody>
      </p:sp>
      <p:sp>
        <p:nvSpPr>
          <p:cNvPr id="23" name="cd_499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500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</a:t>
            </a:r>
            <a:endParaRPr lang="en-US" sz="1250" dirty="0"/>
          </a:p>
        </p:txBody>
      </p:sp>
      <p:sp>
        <p:nvSpPr>
          <p:cNvPr id="25" name="pf_501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502" descr="/home/claude/lls-course/v2/cache/1b1_diary_jpg_415x209_3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7" name="ru_503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arrangements (day, time, place fixed)</a:t>
            </a:r>
            <a:endParaRPr lang="en-US" sz="1050" dirty="0"/>
          </a:p>
        </p:txBody>
      </p:sp>
      <p:sp>
        <p:nvSpPr>
          <p:cNvPr id="28" name="R2_rx504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staying at Katie's tonight.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going to a wedding on Saturday.</a:t>
            </a:r>
            <a:endParaRPr lang="en-US" sz="1050" dirty="0"/>
          </a:p>
        </p:txBody>
      </p:sp>
      <p:sp>
        <p:nvSpPr>
          <p:cNvPr id="29" name="R2_ri505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già organizzato</a:t>
            </a:r>
            <a:endParaRPr lang="en-US" sz="900" dirty="0"/>
          </a:p>
        </p:txBody>
      </p:sp>
      <p:sp>
        <p:nvSpPr>
          <p:cNvPr id="30" name="cd_506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507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will / won't</a:t>
            </a:r>
            <a:endParaRPr lang="en-US" sz="1250" dirty="0"/>
          </a:p>
        </p:txBody>
      </p:sp>
      <p:sp>
        <p:nvSpPr>
          <p:cNvPr id="32" name="pf_508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509" descr="/home/claude/lls-course/v2/cache/1b1_bags_jpg_415x209_3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4" name="ru_510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offers · promises · instant decisions · predictions</a:t>
            </a:r>
            <a:endParaRPr lang="en-US" sz="1050" dirty="0"/>
          </a:p>
        </p:txBody>
      </p:sp>
      <p:sp>
        <p:nvSpPr>
          <p:cNvPr id="35" name="R3_rx511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carry that for you!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won't tell anybody.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you'll pass.</a:t>
            </a:r>
            <a:endParaRPr lang="en-US" sz="1050" dirty="0"/>
          </a:p>
        </p:txBody>
      </p:sp>
      <p:sp>
        <p:nvSpPr>
          <p:cNvPr id="36" name="R3_ri512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 sul momento, promessa</a:t>
            </a:r>
            <a:endParaRPr lang="en-US" sz="900" dirty="0"/>
          </a:p>
        </p:txBody>
      </p:sp>
      <p:sp>
        <p:nvSpPr>
          <p:cNvPr id="37" name="cd_513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rh_514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Shall I / we…?</a:t>
            </a:r>
            <a:endParaRPr lang="en-US" sz="1250" dirty="0"/>
          </a:p>
        </p:txBody>
      </p:sp>
      <p:sp>
        <p:nvSpPr>
          <p:cNvPr id="39" name="pf_515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0" name="ph_516" descr="/home/claude/lls-course/v2/cache/1b1_conv_c_jpg_41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1" name="ru_517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offers &amp; suggestions (questions)</a:t>
            </a:r>
            <a:endParaRPr lang="en-US" sz="1050" dirty="0"/>
          </a:p>
        </p:txBody>
      </p:sp>
      <p:sp>
        <p:nvSpPr>
          <p:cNvPr id="42" name="R4_rx518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make you a cup of tea?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 eat out tonight?</a:t>
            </a:r>
            <a:endParaRPr lang="en-US" sz="1050" dirty="0"/>
          </a:p>
        </p:txBody>
      </p:sp>
      <p:sp>
        <p:nvSpPr>
          <p:cNvPr id="43" name="R4_ri519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Vuoi che…? · Che ne dici se…?</a:t>
            </a:r>
            <a:endParaRPr lang="en-US" sz="900" dirty="0"/>
          </a:p>
        </p:txBody>
      </p:sp>
      <p:sp>
        <p:nvSpPr>
          <p:cNvPr id="44" name="R5_wc52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R5_w52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Italian present ≠ English future:  ✗ Tomorrow I go to Palermo → ✓ I'm going to Palermo tomorrow.   ✗ I carry your bag → ✓ I'll carry it.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audio>
              <p:cMediaNode vol="80000">
                <p:cTn id="4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2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Quick! Say it!</a:t>
            </a:r>
            <a:endParaRPr lang="en-US" sz="2500" dirty="0"/>
          </a:p>
        </p:txBody>
      </p:sp>
      <p:pic>
        <p:nvPicPr>
          <p:cNvPr id="6" name="brP_5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526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situation. Say the reply!</a:t>
            </a:r>
            <a:endParaRPr lang="en-US" sz="1250" dirty="0"/>
          </a:p>
        </p:txBody>
      </p:sp>
      <p:sp>
        <p:nvSpPr>
          <p:cNvPr id="8" name="insIT_52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situazione. Di' la risposta!</a:t>
            </a:r>
            <a:endParaRPr lang="en-US" sz="950" dirty="0"/>
          </a:p>
        </p:txBody>
      </p:sp>
      <p:sp>
        <p:nvSpPr>
          <p:cNvPr id="9" name="cmd_52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2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1" name="logo_5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Grammar game</a:t>
            </a:r>
            <a:endParaRPr lang="en-US" sz="800" dirty="0"/>
          </a:p>
        </p:txBody>
      </p:sp>
      <p:sp>
        <p:nvSpPr>
          <p:cNvPr id="13" name="cd_532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535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situation.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the reply in 10 seconds.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future form = 1 point.</a:t>
            </a:r>
            <a:endParaRPr lang="en-US" sz="1150" dirty="0"/>
          </a:p>
        </p:txBody>
      </p:sp>
      <p:sp>
        <p:nvSpPr>
          <p:cNvPr id="17" name="st_53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53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53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really hot in here."</a:t>
            </a:r>
            <a:endParaRPr lang="en-US" sz="1100" dirty="0"/>
          </a:p>
        </p:txBody>
      </p:sp>
      <p:sp>
        <p:nvSpPr>
          <p:cNvPr id="20" name="R1_chip53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Shall I open the window? (offer)</a:t>
            </a:r>
            <a:endParaRPr lang="en-US" sz="1100" dirty="0"/>
          </a:p>
        </p:txBody>
      </p:sp>
      <p:sp>
        <p:nvSpPr>
          <p:cNvPr id="21" name="bd_54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54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"Look at those black clouds!"</a:t>
            </a:r>
            <a:endParaRPr lang="en-US" sz="1100" dirty="0"/>
          </a:p>
        </p:txBody>
      </p:sp>
      <p:sp>
        <p:nvSpPr>
          <p:cNvPr id="23" name="R2_chip54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going to rain. (prediction)</a:t>
            </a:r>
            <a:endParaRPr lang="en-US" sz="1100" dirty="0"/>
          </a:p>
        </p:txBody>
      </p:sp>
      <p:sp>
        <p:nvSpPr>
          <p:cNvPr id="24" name="bd_54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54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"Don't tell anyone my secret!"</a:t>
            </a:r>
            <a:endParaRPr lang="en-US" sz="1100" dirty="0"/>
          </a:p>
        </p:txBody>
      </p:sp>
      <p:sp>
        <p:nvSpPr>
          <p:cNvPr id="26" name="R3_chip54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won't tell anybody, I promise.</a:t>
            </a:r>
            <a:endParaRPr lang="en-US" sz="1100" dirty="0"/>
          </a:p>
        </p:txBody>
      </p:sp>
      <p:sp>
        <p:nvSpPr>
          <p:cNvPr id="27" name="bd_54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54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Waiter: "Pizza or pasta?"</a:t>
            </a:r>
            <a:endParaRPr lang="en-US" sz="1100" dirty="0"/>
          </a:p>
        </p:txBody>
      </p:sp>
      <p:sp>
        <p:nvSpPr>
          <p:cNvPr id="29" name="R4_chip54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I'll have the pizza, please.</a:t>
            </a:r>
            <a:endParaRPr lang="en-US" sz="1100" dirty="0"/>
          </a:p>
        </p:txBody>
      </p:sp>
      <p:sp>
        <p:nvSpPr>
          <p:cNvPr id="30" name="bd_54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55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"Free on Saturday?" (dinner with cousins – booked)</a:t>
            </a:r>
            <a:endParaRPr lang="en-US" sz="1100" dirty="0"/>
          </a:p>
        </p:txBody>
      </p:sp>
      <p:sp>
        <p:nvSpPr>
          <p:cNvPr id="32" name="R5_chip55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I'm having dinner with my cousins.</a:t>
            </a:r>
            <a:endParaRPr lang="en-US" sz="1100" dirty="0"/>
          </a:p>
        </p:txBody>
      </p:sp>
      <p:sp>
        <p:nvSpPr>
          <p:cNvPr id="33" name="bd_55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55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mum's bags are really heavy.</a:t>
            </a:r>
            <a:endParaRPr lang="en-US" sz="1100" dirty="0"/>
          </a:p>
        </p:txBody>
      </p:sp>
      <p:sp>
        <p:nvSpPr>
          <p:cNvPr id="35" name="R6_chip55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I'll carry them for you!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5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Hear the BIG words</a:t>
            </a:r>
            <a:endParaRPr lang="en-US" sz="2500" dirty="0"/>
          </a:p>
        </p:txBody>
      </p:sp>
      <p:pic>
        <p:nvPicPr>
          <p:cNvPr id="6" name="brP_5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55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only the BIG words.</a:t>
            </a:r>
            <a:endParaRPr lang="en-US" sz="1250" dirty="0"/>
          </a:p>
        </p:txBody>
      </p:sp>
      <p:sp>
        <p:nvSpPr>
          <p:cNvPr id="8" name="insIT_5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solo le parole forti.</a:t>
            </a:r>
            <a:endParaRPr lang="en-US" sz="950" dirty="0"/>
          </a:p>
        </p:txBody>
      </p:sp>
      <p:sp>
        <p:nvSpPr>
          <p:cNvPr id="9" name="cmd_56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562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1" name="meta_56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5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Pronunciation · sentence stress   ·   📖 SB p.11 · 3b, 3c, 3d · audio 1.21</a:t>
            </a:r>
            <a:endParaRPr lang="en-US" sz="800" dirty="0"/>
          </a:p>
        </p:txBody>
      </p:sp>
      <p:sp>
        <p:nvSpPr>
          <p:cNvPr id="14" name="ap_566"/>
          <p:cNvSpPr/>
          <p:nvPr/>
        </p:nvSpPr>
        <p:spPr>
          <a:xfrm>
            <a:off x="365760" y="1417320"/>
            <a:ext cx="233172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1.21  ·  pause after each sentence</a:t>
            </a:r>
            <a:endParaRPr lang="en-US" sz="1100" dirty="0"/>
          </a:p>
        </p:txBody>
      </p:sp>
      <p:sp>
        <p:nvSpPr>
          <p:cNvPr id="15" name="ah_567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7" name="cd_568"/>
          <p:cNvSpPr/>
          <p:nvPr/>
        </p:nvSpPr>
        <p:spPr>
          <a:xfrm>
            <a:off x="320040" y="2011680"/>
            <a:ext cx="2743200" cy="1463040"/>
          </a:xfrm>
          <a:prstGeom prst="roundRect">
            <a:avLst>
              <a:gd name="adj" fmla="val 8750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569"/>
          <p:cNvSpPr/>
          <p:nvPr/>
        </p:nvSpPr>
        <p:spPr>
          <a:xfrm>
            <a:off x="41148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🔊</a:t>
            </a:r>
            <a:endParaRPr lang="en-US" sz="2200" dirty="0"/>
          </a:p>
        </p:txBody>
      </p:sp>
      <p:sp>
        <p:nvSpPr>
          <p:cNvPr id="19" name="ih_570"/>
          <p:cNvSpPr/>
          <p:nvPr/>
        </p:nvSpPr>
        <p:spPr>
          <a:xfrm>
            <a:off x="8869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words = STRESSED</a:t>
            </a:r>
            <a:endParaRPr lang="en-US" sz="1250" dirty="0"/>
          </a:p>
        </p:txBody>
      </p:sp>
      <p:sp>
        <p:nvSpPr>
          <p:cNvPr id="20" name="il_571"/>
          <p:cNvSpPr/>
          <p:nvPr/>
        </p:nvSpPr>
        <p:spPr>
          <a:xfrm>
            <a:off x="886968" y="2487168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nouns, verbs, adjectives are strong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to, a, the, of are weak and fast</a:t>
            </a:r>
            <a:endParaRPr lang="en-US" sz="1050" dirty="0"/>
          </a:p>
        </p:txBody>
      </p:sp>
      <p:sp>
        <p:nvSpPr>
          <p:cNvPr id="21" name="pf_572"/>
          <p:cNvSpPr/>
          <p:nvPr/>
        </p:nvSpPr>
        <p:spPr>
          <a:xfrm rot="-120000">
            <a:off x="777240" y="3611880"/>
            <a:ext cx="182880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573" descr="/home/claude/lls-course/v2/cache/sb_pregnant_jpg_418x253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120000">
            <a:off x="822960" y="3657600"/>
            <a:ext cx="1737360" cy="1051560"/>
          </a:xfrm>
          <a:prstGeom prst="rect">
            <a:avLst/>
          </a:prstGeom>
        </p:spPr>
      </p:pic>
      <p:sp>
        <p:nvSpPr>
          <p:cNvPr id="23" name="bd_574"/>
          <p:cNvSpPr/>
          <p:nvPr/>
        </p:nvSpPr>
        <p:spPr>
          <a:xfrm>
            <a:off x="3291840" y="144475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R1_sw575"/>
          <p:cNvSpPr/>
          <p:nvPr/>
        </p:nvSpPr>
        <p:spPr>
          <a:xfrm>
            <a:off x="3749040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sister's</a:t>
            </a:r>
            <a:endParaRPr lang="en-US" sz="1150" dirty="0"/>
          </a:p>
        </p:txBody>
      </p:sp>
      <p:sp>
        <p:nvSpPr>
          <p:cNvPr id="25" name="R1_sw576"/>
          <p:cNvSpPr/>
          <p:nvPr/>
        </p:nvSpPr>
        <p:spPr>
          <a:xfrm>
            <a:off x="4773168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having</a:t>
            </a:r>
            <a:endParaRPr lang="en-US" sz="1150" dirty="0"/>
          </a:p>
        </p:txBody>
      </p:sp>
      <p:sp>
        <p:nvSpPr>
          <p:cNvPr id="26" name="R1_sw577"/>
          <p:cNvSpPr/>
          <p:nvPr/>
        </p:nvSpPr>
        <p:spPr>
          <a:xfrm>
            <a:off x="5797296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baby</a:t>
            </a:r>
            <a:endParaRPr lang="en-US" sz="1150" dirty="0"/>
          </a:p>
        </p:txBody>
      </p:sp>
      <p:sp>
        <p:nvSpPr>
          <p:cNvPr id="27" name="R1_sw578"/>
          <p:cNvSpPr/>
          <p:nvPr/>
        </p:nvSpPr>
        <p:spPr>
          <a:xfrm>
            <a:off x="6821424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April</a:t>
            </a:r>
            <a:endParaRPr lang="en-US" sz="1150" dirty="0"/>
          </a:p>
        </p:txBody>
      </p:sp>
      <p:sp>
        <p:nvSpPr>
          <p:cNvPr id="28" name="R2_sf579"/>
          <p:cNvSpPr/>
          <p:nvPr/>
        </p:nvSpPr>
        <p:spPr>
          <a:xfrm>
            <a:off x="3749040" y="18105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sister's having a baby in April.</a:t>
            </a:r>
            <a:endParaRPr lang="en-US" sz="1100" dirty="0"/>
          </a:p>
        </p:txBody>
      </p:sp>
      <p:sp>
        <p:nvSpPr>
          <p:cNvPr id="29" name="bd_580"/>
          <p:cNvSpPr/>
          <p:nvPr/>
        </p:nvSpPr>
        <p:spPr>
          <a:xfrm>
            <a:off x="3291840" y="222199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R3_sw581"/>
          <p:cNvSpPr/>
          <p:nvPr/>
        </p:nvSpPr>
        <p:spPr>
          <a:xfrm>
            <a:off x="3749040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anyone</a:t>
            </a:r>
            <a:endParaRPr lang="en-US" sz="1150" dirty="0"/>
          </a:p>
        </p:txBody>
      </p:sp>
      <p:sp>
        <p:nvSpPr>
          <p:cNvPr id="31" name="R3_sw582"/>
          <p:cNvSpPr/>
          <p:nvPr/>
        </p:nvSpPr>
        <p:spPr>
          <a:xfrm>
            <a:off x="4773168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family</a:t>
            </a:r>
            <a:endParaRPr lang="en-US" sz="1150" dirty="0"/>
          </a:p>
        </p:txBody>
      </p:sp>
      <p:sp>
        <p:nvSpPr>
          <p:cNvPr id="32" name="R3_sw583"/>
          <p:cNvSpPr/>
          <p:nvPr/>
        </p:nvSpPr>
        <p:spPr>
          <a:xfrm>
            <a:off x="5797296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moving</a:t>
            </a:r>
            <a:endParaRPr lang="en-US" sz="1150" dirty="0"/>
          </a:p>
        </p:txBody>
      </p:sp>
      <p:sp>
        <p:nvSpPr>
          <p:cNvPr id="33" name="R3_sw584"/>
          <p:cNvSpPr/>
          <p:nvPr/>
        </p:nvSpPr>
        <p:spPr>
          <a:xfrm>
            <a:off x="6821424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house</a:t>
            </a:r>
            <a:endParaRPr lang="en-US" sz="1150" dirty="0"/>
          </a:p>
        </p:txBody>
      </p:sp>
      <p:sp>
        <p:nvSpPr>
          <p:cNvPr id="34" name="R3_sw585"/>
          <p:cNvSpPr/>
          <p:nvPr/>
        </p:nvSpPr>
        <p:spPr>
          <a:xfrm>
            <a:off x="7845552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soon</a:t>
            </a:r>
            <a:endParaRPr lang="en-US" sz="1150" dirty="0"/>
          </a:p>
        </p:txBody>
      </p:sp>
      <p:sp>
        <p:nvSpPr>
          <p:cNvPr id="35" name="R4_sf586"/>
          <p:cNvSpPr/>
          <p:nvPr/>
        </p:nvSpPr>
        <p:spPr>
          <a:xfrm>
            <a:off x="3749040" y="2587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anyone in your family moving house soon?</a:t>
            </a:r>
            <a:endParaRPr lang="en-US" sz="1100" dirty="0"/>
          </a:p>
        </p:txBody>
      </p:sp>
      <p:sp>
        <p:nvSpPr>
          <p:cNvPr id="36" name="bd_587"/>
          <p:cNvSpPr/>
          <p:nvPr/>
        </p:nvSpPr>
        <p:spPr>
          <a:xfrm>
            <a:off x="3291840" y="2999232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R5_sw588"/>
          <p:cNvSpPr/>
          <p:nvPr/>
        </p:nvSpPr>
        <p:spPr>
          <a:xfrm>
            <a:off x="3749040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see</a:t>
            </a:r>
            <a:endParaRPr lang="en-US" sz="1150" dirty="0"/>
          </a:p>
        </p:txBody>
      </p:sp>
      <p:sp>
        <p:nvSpPr>
          <p:cNvPr id="38" name="R5_sw589"/>
          <p:cNvSpPr/>
          <p:nvPr/>
        </p:nvSpPr>
        <p:spPr>
          <a:xfrm>
            <a:off x="4773168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parents</a:t>
            </a:r>
            <a:endParaRPr lang="en-US" sz="1150" dirty="0"/>
          </a:p>
        </p:txBody>
      </p:sp>
      <p:sp>
        <p:nvSpPr>
          <p:cNvPr id="39" name="R5_sw590"/>
          <p:cNvSpPr/>
          <p:nvPr/>
        </p:nvSpPr>
        <p:spPr>
          <a:xfrm>
            <a:off x="5797296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weekend</a:t>
            </a:r>
            <a:endParaRPr lang="en-US" sz="1150" dirty="0"/>
          </a:p>
        </p:txBody>
      </p:sp>
      <p:sp>
        <p:nvSpPr>
          <p:cNvPr id="40" name="R6_sf591"/>
          <p:cNvSpPr/>
          <p:nvPr/>
        </p:nvSpPr>
        <p:spPr>
          <a:xfrm>
            <a:off x="3749040" y="3364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see your parents at the weekend?</a:t>
            </a:r>
            <a:endParaRPr lang="en-US" sz="1100" dirty="0"/>
          </a:p>
        </p:txBody>
      </p:sp>
      <p:sp>
        <p:nvSpPr>
          <p:cNvPr id="41" name="bd_592"/>
          <p:cNvSpPr/>
          <p:nvPr/>
        </p:nvSpPr>
        <p:spPr>
          <a:xfrm>
            <a:off x="3291840" y="377647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R7_sw593"/>
          <p:cNvSpPr/>
          <p:nvPr/>
        </p:nvSpPr>
        <p:spPr>
          <a:xfrm>
            <a:off x="3749040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endParaRPr lang="en-US" sz="1150" dirty="0"/>
          </a:p>
        </p:txBody>
      </p:sp>
      <p:sp>
        <p:nvSpPr>
          <p:cNvPr id="43" name="R7_sw594"/>
          <p:cNvSpPr/>
          <p:nvPr/>
        </p:nvSpPr>
        <p:spPr>
          <a:xfrm>
            <a:off x="4773168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live</a:t>
            </a:r>
            <a:endParaRPr lang="en-US" sz="1150" dirty="0"/>
          </a:p>
        </p:txBody>
      </p:sp>
      <p:sp>
        <p:nvSpPr>
          <p:cNvPr id="44" name="R7_sw595"/>
          <p:cNvSpPr/>
          <p:nvPr/>
        </p:nvSpPr>
        <p:spPr>
          <a:xfrm>
            <a:off x="5797296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</a:t>
            </a:r>
            <a:endParaRPr lang="en-US" sz="1150" dirty="0"/>
          </a:p>
        </p:txBody>
      </p:sp>
      <p:sp>
        <p:nvSpPr>
          <p:cNvPr id="45" name="R7_sw596"/>
          <p:cNvSpPr/>
          <p:nvPr/>
        </p:nvSpPr>
        <p:spPr>
          <a:xfrm>
            <a:off x="6821424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</a:t>
            </a:r>
            <a:endParaRPr lang="en-US" sz="1150" dirty="0"/>
          </a:p>
        </p:txBody>
      </p:sp>
      <p:sp>
        <p:nvSpPr>
          <p:cNvPr id="46" name="R7_sw597"/>
          <p:cNvSpPr/>
          <p:nvPr/>
        </p:nvSpPr>
        <p:spPr>
          <a:xfrm>
            <a:off x="7845552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year</a:t>
            </a:r>
            <a:endParaRPr lang="en-US" sz="1150" dirty="0"/>
          </a:p>
        </p:txBody>
      </p:sp>
      <p:sp>
        <p:nvSpPr>
          <p:cNvPr id="47" name="R8_sf598"/>
          <p:cNvSpPr/>
          <p:nvPr/>
        </p:nvSpPr>
        <p:spPr>
          <a:xfrm>
            <a:off x="3749040" y="4142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think you'll live at home next year?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8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8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601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anyone in your family…?</a:t>
            </a:r>
            <a:endParaRPr lang="en-US" sz="2500" dirty="0"/>
          </a:p>
        </p:txBody>
      </p:sp>
      <p:pic>
        <p:nvPicPr>
          <p:cNvPr id="6" name="brP_6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603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Ask 3 classmates.</a:t>
            </a:r>
            <a:endParaRPr lang="en-US" sz="1250" dirty="0"/>
          </a:p>
        </p:txBody>
      </p:sp>
      <p:sp>
        <p:nvSpPr>
          <p:cNvPr id="8" name="insIT_60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Alzati! Chiedi a 3 compagni.</a:t>
            </a:r>
            <a:endParaRPr lang="en-US" sz="950" dirty="0"/>
          </a:p>
        </p:txBody>
      </p:sp>
      <p:sp>
        <p:nvSpPr>
          <p:cNvPr id="9" name="cmd_60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60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🚶 mingle</a:t>
            </a:r>
            <a:endParaRPr lang="en-US" sz="950" dirty="0"/>
          </a:p>
        </p:txBody>
      </p:sp>
      <p:pic>
        <p:nvPicPr>
          <p:cNvPr id="11" name="logo_6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Speaking · future plans   ·   📖 SB p.11 · 3e</a:t>
            </a:r>
            <a:endParaRPr lang="en-US" sz="800" dirty="0"/>
          </a:p>
        </p:txBody>
      </p:sp>
      <p:sp>
        <p:nvSpPr>
          <p:cNvPr id="13" name="pf_609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610" descr="/home/claude/lls-course/v2/cache/1b1_birthda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611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12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613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614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Maybe · Probably · I don't think so · I have no idea… because…</a:t>
            </a:r>
            <a:endParaRPr lang="en-US" sz="1050" dirty="0"/>
          </a:p>
        </p:txBody>
      </p:sp>
      <p:sp>
        <p:nvSpPr>
          <p:cNvPr id="19" name="R1_qb61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61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anyone in your family getting married soon?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Yes! My cousin is getting married in June.</a:t>
            </a:r>
            <a:endParaRPr lang="en-US" sz="1250" dirty="0"/>
          </a:p>
        </p:txBody>
      </p:sp>
      <p:sp>
        <p:nvSpPr>
          <p:cNvPr id="21" name="R2_qb61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618"/>
          <p:cNvSpPr/>
          <p:nvPr/>
        </p:nvSpPr>
        <p:spPr>
          <a:xfrm>
            <a:off x="3675888" y="2020824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anyone celebrating their birthday soon?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dad is – he's going to be 50!</a:t>
            </a:r>
            <a:endParaRPr lang="en-US" sz="1250" dirty="0"/>
          </a:p>
        </p:txBody>
      </p:sp>
      <p:pic>
        <p:nvPicPr>
          <p:cNvPr id="23" name="R2_th619" descr="/home/claude/lls-course/v2/cache/1b1_birthda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2039112"/>
            <a:ext cx="640080" cy="493776"/>
          </a:xfrm>
          <a:prstGeom prst="rect">
            <a:avLst/>
          </a:prstGeom>
        </p:spPr>
      </p:pic>
      <p:sp>
        <p:nvSpPr>
          <p:cNvPr id="24" name="R3_qb62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2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do something with your family this week?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We're going to the beach on Sunday.</a:t>
            </a:r>
            <a:endParaRPr lang="en-US" sz="1250" dirty="0"/>
          </a:p>
        </p:txBody>
      </p:sp>
      <p:sp>
        <p:nvSpPr>
          <p:cNvPr id="26" name="R4_qb62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623"/>
          <p:cNvSpPr/>
          <p:nvPr/>
        </p:nvSpPr>
        <p:spPr>
          <a:xfrm>
            <a:off x="3675888" y="3227832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go on holiday with your family this year?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don't think so. Maybe next year.</a:t>
            </a:r>
            <a:endParaRPr lang="en-US" sz="1250" dirty="0"/>
          </a:p>
        </p:txBody>
      </p:sp>
      <p:pic>
        <p:nvPicPr>
          <p:cNvPr id="28" name="R4_th624" descr="/home/claude/lls-course/v2/cache/1b1_holiday_jpg_154x119_1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3246120"/>
            <a:ext cx="640080" cy="493776"/>
          </a:xfrm>
          <a:prstGeom prst="rect">
            <a:avLst/>
          </a:prstGeom>
        </p:spPr>
      </p:pic>
      <p:sp>
        <p:nvSpPr>
          <p:cNvPr id="29" name="R5_qb625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626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think you'll move away from Bagheria one day?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Maybe. I'd like to study in Milan.</a:t>
            </a:r>
            <a:endParaRPr lang="en-US" sz="1250" dirty="0"/>
          </a:p>
        </p:txBody>
      </p:sp>
      <p:pic>
        <p:nvPicPr>
          <p:cNvPr id="31" name="R5_th627" descr="/home/claude/lls-course/v2/cache/1b1_moving_jpg_154x119_1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3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3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34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0" name="logo_6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Exit · what can you remember?</a:t>
            </a:r>
            <a:endParaRPr lang="en-US" sz="800" dirty="0"/>
          </a:p>
        </p:txBody>
      </p:sp>
      <p:sp>
        <p:nvSpPr>
          <p:cNvPr id="12" name="bd_63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63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family words from today (no looking!)</a:t>
            </a:r>
            <a:endParaRPr lang="en-US" sz="1400" dirty="0"/>
          </a:p>
        </p:txBody>
      </p:sp>
      <p:sp>
        <p:nvSpPr>
          <p:cNvPr id="14" name="bd_63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64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 with two different future forms</a:t>
            </a:r>
            <a:endParaRPr lang="en-US" sz="1400" dirty="0"/>
          </a:p>
        </p:txBody>
      </p:sp>
      <p:sp>
        <p:nvSpPr>
          <p:cNvPr id="16" name="bd_64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64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for this weekend: "I'm going to…"</a:t>
            </a:r>
            <a:endParaRPr lang="en-US" sz="1400" dirty="0"/>
          </a:p>
        </p:txBody>
      </p:sp>
      <p:sp>
        <p:nvSpPr>
          <p:cNvPr id="18" name="cd_64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64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64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64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1B: 1a, 2a, 2b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1B p.133: a 6–9, b 5–8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64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1B part 2 · personality adjectives (audio 1.22) · birth order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5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in the text</a:t>
            </a:r>
            <a:endParaRPr lang="en-US" sz="2500" dirty="0"/>
          </a:p>
        </p:txBody>
      </p:sp>
      <p:pic>
        <p:nvPicPr>
          <p:cNvPr id="6" name="brP_6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5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a word in the text that means…</a:t>
            </a:r>
            <a:endParaRPr lang="en-US" sz="1250" dirty="0"/>
          </a:p>
        </p:txBody>
      </p:sp>
      <p:sp>
        <p:nvSpPr>
          <p:cNvPr id="8" name="insIT_6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nel testo una parola che significa…</a:t>
            </a:r>
            <a:endParaRPr lang="en-US" sz="950" dirty="0"/>
          </a:p>
        </p:txBody>
      </p:sp>
      <p:sp>
        <p:nvSpPr>
          <p:cNvPr id="9" name="cmd_65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10" name="meta_6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6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vocabulary from the text</a:t>
            </a:r>
            <a:endParaRPr lang="en-US" sz="800" dirty="0"/>
          </a:p>
        </p:txBody>
      </p:sp>
      <p:sp>
        <p:nvSpPr>
          <p:cNvPr id="13" name="st_658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659"/>
          <p:cNvSpPr/>
          <p:nvPr/>
        </p:nvSpPr>
        <p:spPr>
          <a:xfrm rot="-90000">
            <a:off x="365760" y="1371600"/>
            <a:ext cx="2606040" cy="3200400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60" descr="/home/claude/lls-course/v2/cache/1b1_phone_row_jpg_605x74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1417320"/>
            <a:ext cx="2514600" cy="3108960"/>
          </a:xfrm>
          <a:prstGeom prst="rect">
            <a:avLst/>
          </a:prstGeom>
        </p:spPr>
      </p:pic>
      <p:sp>
        <p:nvSpPr>
          <p:cNvPr id="16" name="bd_66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q_66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arguments</a:t>
            </a:r>
            <a:endParaRPr lang="en-US" sz="1150" dirty="0"/>
          </a:p>
        </p:txBody>
      </p:sp>
      <p:sp>
        <p:nvSpPr>
          <p:cNvPr id="18" name="R1_chip66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rows</a:t>
            </a:r>
            <a:endParaRPr lang="en-US" sz="1000" dirty="0"/>
          </a:p>
        </p:txBody>
      </p:sp>
      <p:sp>
        <p:nvSpPr>
          <p:cNvPr id="19" name="bd_66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q_66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family with only a mum or only a dad</a:t>
            </a:r>
            <a:endParaRPr lang="en-US" sz="1150" dirty="0"/>
          </a:p>
        </p:txBody>
      </p:sp>
      <p:sp>
        <p:nvSpPr>
          <p:cNvPr id="21" name="R2_chip66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single-parent family</a:t>
            </a:r>
            <a:endParaRPr lang="en-US" sz="1000" dirty="0"/>
          </a:p>
        </p:txBody>
      </p:sp>
      <p:sp>
        <p:nvSpPr>
          <p:cNvPr id="22" name="bd_66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q_66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husband's or wife's children from before</a:t>
            </a:r>
            <a:endParaRPr lang="en-US" sz="1150" dirty="0"/>
          </a:p>
        </p:txBody>
      </p:sp>
      <p:sp>
        <p:nvSpPr>
          <p:cNvPr id="24" name="R3_chip66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stepchildren</a:t>
            </a:r>
            <a:endParaRPr lang="en-US" sz="1000" dirty="0"/>
          </a:p>
        </p:txBody>
      </p:sp>
      <p:sp>
        <p:nvSpPr>
          <p:cNvPr id="25" name="bd_67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q_67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usually · as a number</a:t>
            </a:r>
            <a:endParaRPr lang="en-US" sz="1150" dirty="0"/>
          </a:p>
        </p:txBody>
      </p:sp>
      <p:sp>
        <p:nvSpPr>
          <p:cNvPr id="27" name="R4_chip67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average</a:t>
            </a:r>
            <a:endParaRPr lang="en-US" sz="1000" dirty="0"/>
          </a:p>
        </p:txBody>
      </p:sp>
      <p:sp>
        <p:nvSpPr>
          <p:cNvPr id="28" name="bd_67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q_67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'no' to doing something</a:t>
            </a:r>
            <a:endParaRPr lang="en-US" sz="1150" dirty="0"/>
          </a:p>
        </p:txBody>
      </p:sp>
      <p:sp>
        <p:nvSpPr>
          <p:cNvPr id="30" name="R5_chip67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refuse (refusing to)</a:t>
            </a:r>
            <a:endParaRPr lang="en-US" sz="1000" dirty="0"/>
          </a:p>
        </p:txBody>
      </p:sp>
      <p:sp>
        <p:nvSpPr>
          <p:cNvPr id="31" name="bd_676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q_677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no contact with</a:t>
            </a:r>
            <a:endParaRPr lang="en-US" sz="1150" dirty="0"/>
          </a:p>
        </p:txBody>
      </p:sp>
      <p:sp>
        <p:nvSpPr>
          <p:cNvPr id="33" name="R6_chip678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speak 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1B-1 Modern families</dc:title>
  <dc:subject>PptxGenJS Presentation</dc:subject>
  <dc:creator>PptxGenJS</dc:creator>
  <cp:lastModifiedBy>PptxGenJS</cp:lastModifiedBy>
  <cp:revision>1</cp:revision>
  <dcterms:created xsi:type="dcterms:W3CDTF">2026-10-08T08:17:42Z</dcterms:created>
  <dcterms:modified xsi:type="dcterms:W3CDTF">2026-10-08T08:17:42Z</dcterms:modified>
</cp:coreProperties>
</file>