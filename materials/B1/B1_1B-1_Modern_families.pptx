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take 3–4 ideas (e.g. step-families, fewer children, everyone on their phones…). Read the 'Today you're going to…' list together: students know where the lesson is going. Don't teach words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column from students (e.g. 'What are you doing these days?'). Point at the time words: they tell you which tense. Then play 'Answers first!' – the answers in the game use exactly these two tenses and food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Two teams. Click once per line to show a possible question (accept any correct question in the right tense). Point for a correct question, +1 if the tense matches the answer (do/does vs am/is/are). ICQ: 'Are you writing answers or questions?'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family (5 min)
ELICIT FIRST (5 min). Demo item 0 with the class. Pairs explain each pair of words in English (Italian allowed only as a last resort). Click once per item to reveal. Monitor and note which words are new. ICQs: 'Are you writing?' (no, talking) · 'In English or Italian?' (English).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Spend 20 seconds on the warning: 'parents' is NOT 'parenti' (false friend), and English has two words for 'nipote'. Quick CCQ: 'My dad's new wife – is she my mum?' (no) 'So she's my…?' (stepmother).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practice (3 min)
CONTROLLED PRACTICE (3 min). Pairs: 'Number 1 is her great-grandmother.' Click once per number. Fast finishers: invent the next relationship (e.g. 'the baby is her niece'). The people and relationships are invented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2 (3 min). Demo first with a strong student: 'It's your dad's wife, but not your mum' → stepmother. Click to show each word (round 1 = 4 words for A, round 2 = 4 words for B, B faces the screen).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prediction (2 min)
PREDICTION (2 min). Read the introduction aloud. Check 'survey' (sondaggio) and 'statistics'. Pairs look at the number bank and commit to guesses on the next two slides — every pair must guess before checking. ICQ: 'Are you checking or guessing?'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Family structure (3 min)
READ + CHECK (3 min). Pairs write their guesses for gaps 1–5. Play 1.14 (or read the text aloud if the audio isn't in the deck yet). Click once per gap: the answer appears highlighted IN the text. Answers (audio script): 1 14% · 2 45% · 3 40% · 4 30 · 5 32. Ask: 'Which number surprises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Family habits (3 min)
READ + CHECK (3 min). Same procedure. Answers: 6 10% · 7 17% · 8 2. Vocabulary from context: row /raʊ/ = argument (litigio) – NOT row /rəʊ/ (fila); refuse = say no. The photo is the clue for 'rows'. Extra slide (after the exit) = 'Find in the text'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Sicily vs the UK (5 min)
SPEAKING (5 min). Questions appear ONE PER CLICK: give groups about 45 seconds per question, then click. Teach the polite refusal first (yellow box): anyone can use it — no one has to talk about their family. Monitor and note 4–5 errors for delayed correction (don't interrupt). Feedback on question 1: what's different in Sicily?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gist (3 min)
GIST (3 min). Pictures (left to right) = A, B, C. Before listening: 'Who are the people? Where are they?' Play 1.15 ONCE. Pairs compare, then click once per conversation. Answers (TG): 1 C – what Adam's going to do next year · 2 A – a party she's going to · 3 B – whether he can borrow her 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detail (4 min)
DETAIL (4 min). Pairs guess first (extra challenge from the TG). Play again, pausing after each conversation. Click once per sentence. Answers: a going to go · b Shall I make · c 'm staying · d 's going to be · e 'll drive · f 'll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Noticing · the conversations (2 min)
NOTICING (2 min). Text from the audio script. Pairs underline the future forms; click once per line to highlight them. This leads straight into the next slide (what does each form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future forms (3 min)
GUIDED DISCOVERY (3 min). Pairs match a–f to the five uses. Click once per sentence. Answers (TG): plan a · prediction d, e · offer b · arrangement c · promise f. CCQ for c: 'Has she already organised it?' (yes – Katie knows) →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the rule (3 min)
RULE (3 min). Click once per column: the examples appear (meaning first, then form). Optional: play 1.16 (Grammar Bank listen and repeat). Last click = the Italian-speaker warning. CCQs: 'It's going to rain – can you see something?' (yes, clouds) · 'I'll carry it – did I decide before?' (no,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game (4 min)
GAME 3 (4 min). Read each situation; teams have 10 seconds to say (or write) a reply with the right future form. Click to show a model answer. Accept any correct reply. Point only if the future form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Pronunciation · sentence stress (3 min)
PRONUNCIATION (3 min). Model first: 'I'm going to LOOK for a JOB' (audio 1.20) – the small words are fast and weak (going to = /ɡəʊɪŋ tə/). Play 1.21, pausing. Click 1 = the stressed words, click 2 = the full sentence (for each sentence). Then drill: chorally, then individually. Italian speakers give every word equal stress – exaggerate the big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future plans (4 min)
FREER PRACTICE (4 min). Mingle. Questions appear one per click (show all 5, then let them mingle). Model the rhythm first. Feedback: 2–3 students report one thing they found out. Then 2 minutes of delayed error correction (errors noted during both speaking tasks): write them on the board,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family words, 2 future sentences, 1 weekend plan. A few students share. Set homework (on the slide and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vocabulary from the text (2 min)
EXTRA (2 min, if there's time). Vocabulary from context.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slideLayout" Target="../slideLayouts/slideLayout1.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pp.10–11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Families, plans and the future</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100" dirty="0">
                <a:solidFill>
                  <a:srgbClr val="1B2559"/>
                </a:solidFill>
                <a:latin typeface="Segoe UI" pitchFamily="34" charset="0"/>
                <a:ea typeface="Segoe UI" pitchFamily="34" charset="-122"/>
                <a:cs typeface="Segoe UI" pitchFamily="34" charset="-120"/>
              </a:rPr>
              <a:t>💬  talk about your family</a:t>
            </a:r>
            <a:endParaRPr lang="en-US" sz="1100" dirty="0"/>
          </a:p>
          <a:p>
            <a:pPr indent="0" marL="0">
              <a:spcBef>
                <a:spcPts val="500"/>
              </a:spcBef>
              <a:spcAft>
                <a:spcPts val="200"/>
              </a:spcAft>
              <a:buNone/>
            </a:pPr>
            <a:r>
              <a:rPr lang="en-US" sz="1100" dirty="0">
                <a:solidFill>
                  <a:srgbClr val="1B2559"/>
                </a:solidFill>
                <a:latin typeface="Segoe UI" pitchFamily="34" charset="0"/>
                <a:ea typeface="Segoe UI" pitchFamily="34" charset="-122"/>
                <a:cs typeface="Segoe UI" pitchFamily="34" charset="-120"/>
              </a:rPr>
              <a:t>👀  read a survey about British families</a:t>
            </a:r>
            <a:endParaRPr lang="en-US" sz="1100" dirty="0"/>
          </a:p>
          <a:p>
            <a:pPr indent="0" marL="0">
              <a:spcBef>
                <a:spcPts val="500"/>
              </a:spcBef>
              <a:spcAft>
                <a:spcPts val="200"/>
              </a:spcAft>
              <a:buNone/>
            </a:pPr>
            <a:r>
              <a:rPr lang="en-US" sz="1100" dirty="0">
                <a:solidFill>
                  <a:srgbClr val="1B2559"/>
                </a:solidFill>
                <a:latin typeface="Segoe UI" pitchFamily="34" charset="0"/>
                <a:ea typeface="Segoe UI" pitchFamily="34" charset="-122"/>
                <a:cs typeface="Segoe UI" pitchFamily="34" charset="-120"/>
              </a:rPr>
              <a:t>🎧  listen to three family conversations</a:t>
            </a:r>
            <a:endParaRPr lang="en-US" sz="1100" dirty="0"/>
          </a:p>
          <a:p>
            <a:pPr indent="0" marL="0">
              <a:spcBef>
                <a:spcPts val="500"/>
              </a:spcBef>
              <a:spcAft>
                <a:spcPts val="200"/>
              </a:spcAft>
              <a:buNone/>
            </a:pPr>
            <a:r>
              <a:rPr lang="en-US" sz="1100" dirty="0">
                <a:solidFill>
                  <a:srgbClr val="1B2559"/>
                </a:solidFill>
                <a:latin typeface="Segoe UI" pitchFamily="34" charset="0"/>
                <a:ea typeface="Segoe UI" pitchFamily="34" charset="-122"/>
                <a:cs typeface="Segoe UI" pitchFamily="34" charset="-120"/>
              </a:rPr>
              <a:t>✏️  talk about the future: plans, offers, promises</a:t>
            </a:r>
            <a:endParaRPr lang="en-US" sz="11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families are smaller now, and everyone is on their phone!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makes a family "modern"?</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2_dad_cook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food, cooking and eating habits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simple vs continuous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usually have pasta on Sundays.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often do you eat out?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doesn't like spicy food.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every day · usually · never</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these days</a:t>
            </a:r>
            <a:endParaRPr lang="en-US" sz="11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cooking dinner right now.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trying to eat less sugar.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you watching TV?</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at the moment · this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spicy</a:t>
            </a:r>
            <a:endParaRPr lang="en-US" sz="1050" dirty="0"/>
          </a:p>
        </p:txBody>
      </p:sp>
      <p:sp>
        <p:nvSpPr>
          <p:cNvPr id="28" name="w_42"/>
          <p:cNvSpPr/>
          <p:nvPr/>
        </p:nvSpPr>
        <p:spPr>
          <a:xfrm>
            <a:off x="4027932"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29" name="w_43"/>
          <p:cNvSpPr/>
          <p:nvPr/>
        </p:nvSpPr>
        <p:spPr>
          <a:xfrm>
            <a:off x="5042916"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eat out</a:t>
            </a:r>
            <a:endParaRPr lang="en-US" sz="1050" dirty="0"/>
          </a:p>
        </p:txBody>
      </p:sp>
      <p:sp>
        <p:nvSpPr>
          <p:cNvPr id="30" name="w_44"/>
          <p:cNvSpPr/>
          <p:nvPr/>
        </p:nvSpPr>
        <p:spPr>
          <a:xfrm>
            <a:off x="5980176" y="4178808"/>
            <a:ext cx="55321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1" name="w_45"/>
          <p:cNvSpPr/>
          <p:nvPr/>
        </p:nvSpPr>
        <p:spPr>
          <a:xfrm>
            <a:off x="660654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2" name="w_46"/>
          <p:cNvSpPr/>
          <p:nvPr/>
        </p:nvSpPr>
        <p:spPr>
          <a:xfrm>
            <a:off x="746607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roast</a:t>
            </a:r>
            <a:endParaRPr lang="en-US" sz="1050" dirty="0"/>
          </a:p>
        </p:txBody>
      </p:sp>
      <p:sp>
        <p:nvSpPr>
          <p:cNvPr id="33" name="w_47"/>
          <p:cNvSpPr/>
          <p:nvPr/>
        </p:nvSpPr>
        <p:spPr>
          <a:xfrm>
            <a:off x="3246120" y="454456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cut down on</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Answers first!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answer. Write the question!</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risposta. Scrivi la domanda!</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Warmer · last lesson   ·   📖 Recycles 30 Sept: present simple and continuous, food</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ANSWER.</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RISPOSTA.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In teams, write the QUESTION.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In squadra, scrivete la DOMANDA.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Correct question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Domanda corretta = 1 punto.</a:t>
            </a:r>
            <a:endParaRPr lang="en-US" sz="115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"Twice a week. I love it!"</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often do you eat pizza?</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I'm not. I'm doing my homework."</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watching TV?</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 I don't. It's too spicy."</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like chilli?</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"Because I'm trying to eat less sugar."</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Why aren't you having dessert?</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my nonna's, every Sunday."</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do you have lunch on Sundays?</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"Pasta with sardines!"</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8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the difference?</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difference to your partner.</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differenza al compagno.</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9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 family   ·   📖 SB p.10 · 1a</a:t>
            </a:r>
            <a:endParaRPr lang="en-US" sz="800" dirty="0"/>
          </a:p>
        </p:txBody>
      </p:sp>
      <p:sp>
        <p:nvSpPr>
          <p:cNvPr id="14" name="cd_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mum / grandmother → your grandmother is your mum's or dad's mum</a:t>
            </a:r>
            <a:endParaRPr lang="en-US" sz="1050" dirty="0"/>
          </a:p>
        </p:txBody>
      </p:sp>
      <p:sp>
        <p:nvSpPr>
          <p:cNvPr id="18" name="pf_9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8" descr="/home/claude/lls-course/v2/cache/1b1_wedd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father / parent</a:t>
            </a:r>
            <a:endParaRPr lang="en-US" sz="1150" dirty="0"/>
          </a:p>
        </p:txBody>
      </p:sp>
      <p:sp>
        <p:nvSpPr>
          <p:cNvPr id="22" name="R1_chip101"/>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father = male parent · parent = mum or dad</a:t>
            </a:r>
            <a:endParaRPr lang="en-US" sz="1000" dirty="0"/>
          </a:p>
        </p:txBody>
      </p:sp>
      <p:sp>
        <p:nvSpPr>
          <p:cNvPr id="23" name="bd_10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mother / stepmother</a:t>
            </a:r>
            <a:endParaRPr lang="en-US" sz="1150" dirty="0"/>
          </a:p>
        </p:txBody>
      </p:sp>
      <p:sp>
        <p:nvSpPr>
          <p:cNvPr id="25" name="R2_chip104"/>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 = your dad's wife, not your mum</a:t>
            </a:r>
            <a:endParaRPr lang="en-US" sz="1000" dirty="0"/>
          </a:p>
        </p:txBody>
      </p:sp>
      <p:sp>
        <p:nvSpPr>
          <p:cNvPr id="26" name="bd_10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brother / brother-in-law</a:t>
            </a:r>
            <a:endParaRPr lang="en-US" sz="1150" dirty="0"/>
          </a:p>
        </p:txBody>
      </p:sp>
      <p:sp>
        <p:nvSpPr>
          <p:cNvPr id="28" name="R3_chip107"/>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sister's husband or your partner's brother</a:t>
            </a:r>
            <a:endParaRPr lang="en-US" sz="1000" dirty="0"/>
          </a:p>
        </p:txBody>
      </p:sp>
      <p:sp>
        <p:nvSpPr>
          <p:cNvPr id="29" name="bd_10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stepsister / half-sister</a:t>
            </a:r>
            <a:endParaRPr lang="en-US" sz="1150" dirty="0"/>
          </a:p>
        </p:txBody>
      </p:sp>
      <p:sp>
        <p:nvSpPr>
          <p:cNvPr id="31" name="R4_chip110"/>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 = no parent in common · half = one parent in common</a:t>
            </a:r>
            <a:endParaRPr lang="en-US" sz="1000" dirty="0"/>
          </a:p>
        </p:txBody>
      </p:sp>
      <p:sp>
        <p:nvSpPr>
          <p:cNvPr id="32" name="bd_11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grandfather / great-grandfather</a:t>
            </a:r>
            <a:endParaRPr lang="en-US" sz="1050" dirty="0"/>
          </a:p>
        </p:txBody>
      </p:sp>
      <p:sp>
        <p:nvSpPr>
          <p:cNvPr id="34" name="R5_chip113"/>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great-grandfather = your grandparent's father</a:t>
            </a:r>
            <a:endParaRPr lang="en-US" sz="1000" dirty="0"/>
          </a:p>
        </p:txBody>
      </p:sp>
      <p:sp>
        <p:nvSpPr>
          <p:cNvPr id="35" name="bd_11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adopted child / only child</a:t>
            </a:r>
            <a:endParaRPr lang="en-US" sz="1100" dirty="0"/>
          </a:p>
        </p:txBody>
      </p:sp>
      <p:sp>
        <p:nvSpPr>
          <p:cNvPr id="37" name="R6_chip116"/>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joined a new family / no brothers or sisters</a:t>
            </a:r>
            <a:endParaRPr lang="en-US" sz="1000" dirty="0"/>
          </a:p>
        </p:txBody>
      </p:sp>
      <p:sp>
        <p:nvSpPr>
          <p:cNvPr id="38" name="bd_11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brothers and sisters / siblings</a:t>
            </a:r>
            <a:endParaRPr lang="en-US" sz="1050" dirty="0"/>
          </a:p>
        </p:txBody>
      </p:sp>
      <p:sp>
        <p:nvSpPr>
          <p:cNvPr id="40" name="R7_chip119"/>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same meaning · siblings is more formal</a:t>
            </a:r>
            <a:endParaRPr lang="en-US" sz="1000" dirty="0"/>
          </a:p>
        </p:txBody>
      </p:sp>
      <p:sp>
        <p:nvSpPr>
          <p:cNvPr id="41" name="bd_12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immediate / extended family</a:t>
            </a:r>
            <a:endParaRPr lang="en-US" sz="1050" dirty="0"/>
          </a:p>
        </p:txBody>
      </p:sp>
      <p:sp>
        <p:nvSpPr>
          <p:cNvPr id="43" name="R8_chip122"/>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parents, children, siblings / uncles, cousins, grandparents…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Family words in Italian</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 in Italian</a:t>
            </a:r>
            <a:endParaRPr lang="en-US" sz="800" dirty="0"/>
          </a:p>
        </p:txBody>
      </p:sp>
      <p:sp>
        <p:nvSpPr>
          <p:cNvPr id="14" name="cd_1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stepmother</a:t>
            </a:r>
            <a:endParaRPr lang="en-US" sz="1200" dirty="0"/>
          </a:p>
        </p:txBody>
      </p:sp>
      <p:sp>
        <p:nvSpPr>
          <p:cNvPr id="17" name="R1_it1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matrigna</a:t>
            </a:r>
            <a:endParaRPr lang="en-US" sz="1000" dirty="0"/>
          </a:p>
        </p:txBody>
      </p:sp>
      <p:sp>
        <p:nvSpPr>
          <p:cNvPr id="18" name="cd_1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stepfather</a:t>
            </a:r>
            <a:endParaRPr lang="en-US" sz="1200" dirty="0"/>
          </a:p>
        </p:txBody>
      </p:sp>
      <p:sp>
        <p:nvSpPr>
          <p:cNvPr id="21" name="R2_it1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patrigno</a:t>
            </a:r>
            <a:endParaRPr lang="en-US" sz="1000" dirty="0"/>
          </a:p>
        </p:txBody>
      </p:sp>
      <p:sp>
        <p:nvSpPr>
          <p:cNvPr id="22" name="cd_1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stepsister</a:t>
            </a:r>
            <a:endParaRPr lang="en-US" sz="1200" dirty="0"/>
          </a:p>
        </p:txBody>
      </p:sp>
      <p:sp>
        <p:nvSpPr>
          <p:cNvPr id="25" name="R3_it1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sorellastra (nessun genitore in comune)</a:t>
            </a:r>
            <a:endParaRPr lang="en-US" sz="800" dirty="0"/>
          </a:p>
        </p:txBody>
      </p:sp>
      <p:sp>
        <p:nvSpPr>
          <p:cNvPr id="26" name="cd_1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half-sister</a:t>
            </a:r>
            <a:endParaRPr lang="en-US" sz="1200" dirty="0"/>
          </a:p>
        </p:txBody>
      </p:sp>
      <p:sp>
        <p:nvSpPr>
          <p:cNvPr id="29" name="R4_it1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sorella da parte di padre / madre</a:t>
            </a:r>
            <a:endParaRPr lang="en-US" sz="800" dirty="0"/>
          </a:p>
        </p:txBody>
      </p:sp>
      <p:sp>
        <p:nvSpPr>
          <p:cNvPr id="30" name="cd_1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brother-in-law</a:t>
            </a:r>
            <a:endParaRPr lang="en-US" sz="1200" dirty="0"/>
          </a:p>
        </p:txBody>
      </p:sp>
      <p:sp>
        <p:nvSpPr>
          <p:cNvPr id="33" name="R5_it1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cognato</a:t>
            </a:r>
            <a:endParaRPr lang="en-US" sz="1000" dirty="0"/>
          </a:p>
        </p:txBody>
      </p:sp>
      <p:sp>
        <p:nvSpPr>
          <p:cNvPr id="34" name="cd_1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sister-in-law</a:t>
            </a:r>
            <a:endParaRPr lang="en-US" sz="1200" dirty="0"/>
          </a:p>
        </p:txBody>
      </p:sp>
      <p:sp>
        <p:nvSpPr>
          <p:cNvPr id="37" name="R6_it1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cognata</a:t>
            </a:r>
            <a:endParaRPr lang="en-US" sz="1000" dirty="0"/>
          </a:p>
        </p:txBody>
      </p:sp>
      <p:sp>
        <p:nvSpPr>
          <p:cNvPr id="38" name="cd_1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200" dirty="0"/>
          </a:p>
        </p:txBody>
      </p:sp>
      <p:sp>
        <p:nvSpPr>
          <p:cNvPr id="41" name="R7_it1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bisnonno</a:t>
            </a:r>
            <a:endParaRPr lang="en-US" sz="1000" dirty="0"/>
          </a:p>
        </p:txBody>
      </p:sp>
      <p:sp>
        <p:nvSpPr>
          <p:cNvPr id="42" name="cd_1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only child</a:t>
            </a:r>
            <a:endParaRPr lang="en-US" sz="1200" dirty="0"/>
          </a:p>
        </p:txBody>
      </p:sp>
      <p:sp>
        <p:nvSpPr>
          <p:cNvPr id="45" name="R8_it1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figlio unico / figlia unica</a:t>
            </a:r>
            <a:endParaRPr lang="en-US" sz="800" dirty="0"/>
          </a:p>
        </p:txBody>
      </p:sp>
      <p:sp>
        <p:nvSpPr>
          <p:cNvPr id="46" name="cd_1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adopted child</a:t>
            </a:r>
            <a:endParaRPr lang="en-US" sz="1200" dirty="0"/>
          </a:p>
        </p:txBody>
      </p:sp>
      <p:sp>
        <p:nvSpPr>
          <p:cNvPr id="49" name="R9_it1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figlio adottivo</a:t>
            </a:r>
            <a:endParaRPr lang="en-US" sz="1000" dirty="0"/>
          </a:p>
        </p:txBody>
      </p:sp>
      <p:sp>
        <p:nvSpPr>
          <p:cNvPr id="50" name="cd_1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siblings</a:t>
            </a:r>
            <a:endParaRPr lang="en-US" sz="1200" dirty="0"/>
          </a:p>
        </p:txBody>
      </p:sp>
      <p:sp>
        <p:nvSpPr>
          <p:cNvPr id="53" name="R10_it1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fratelli e sorelle</a:t>
            </a:r>
            <a:endParaRPr lang="en-US" sz="1000" dirty="0"/>
          </a:p>
        </p:txBody>
      </p:sp>
      <p:sp>
        <p:nvSpPr>
          <p:cNvPr id="54" name="cd_1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nephew / niece</a:t>
            </a:r>
            <a:endParaRPr lang="en-US" sz="1200" dirty="0"/>
          </a:p>
        </p:txBody>
      </p:sp>
      <p:sp>
        <p:nvSpPr>
          <p:cNvPr id="57" name="R11_it1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nipote (di zio/zia)</a:t>
            </a:r>
            <a:endParaRPr lang="en-US" sz="1000" dirty="0"/>
          </a:p>
        </p:txBody>
      </p:sp>
      <p:sp>
        <p:nvSpPr>
          <p:cNvPr id="58" name="cd_1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200" dirty="0"/>
          </a:p>
        </p:txBody>
      </p:sp>
      <p:sp>
        <p:nvSpPr>
          <p:cNvPr id="61" name="R12_it1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 parenti (zii, cugini, nonni)</a:t>
            </a:r>
            <a:endParaRPr lang="en-US" sz="800" dirty="0"/>
          </a:p>
        </p:txBody>
      </p:sp>
      <p:sp>
        <p:nvSpPr>
          <p:cNvPr id="62" name="R13_wc1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parents = genitori  ·  relatives = parenti   |   nipote = nephew / niece OR grandson / granddaughter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18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Who's who at Sara's wedding?</a:t>
            </a:r>
            <a:endParaRPr lang="en-US" sz="2400" dirty="0"/>
          </a:p>
        </p:txBody>
      </p:sp>
      <p:pic>
        <p:nvPicPr>
          <p:cNvPr id="6" name="brP_1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Sara is the bride. Who are 1–6?</a:t>
            </a:r>
            <a:endParaRPr lang="en-US" sz="1250" dirty="0"/>
          </a:p>
        </p:txBody>
      </p:sp>
      <p:sp>
        <p:nvSpPr>
          <p:cNvPr id="8" name="insIT_1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Sara è la sposa. Chi sono 1–6?</a:t>
            </a:r>
            <a:endParaRPr lang="en-US" sz="950" dirty="0"/>
          </a:p>
        </p:txBody>
      </p:sp>
      <p:sp>
        <p:nvSpPr>
          <p:cNvPr id="9" name="cmd_19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 practice   ·   📖 Practice of SB p.10 · 1a words</a:t>
            </a:r>
            <a:endParaRPr lang="en-US" sz="800" dirty="0"/>
          </a:p>
        </p:txBody>
      </p:sp>
      <p:sp>
        <p:nvSpPr>
          <p:cNvPr id="14" name="pf_195"/>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6" descr="/home/claude/lls-course/v2/cache/1b1_wedding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197"/>
          <p:cNvSpPr/>
          <p:nvPr/>
        </p:nvSpPr>
        <p:spPr>
          <a:xfrm>
            <a:off x="2497226" y="402336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198"/>
          <p:cNvSpPr/>
          <p:nvPr/>
        </p:nvSpPr>
        <p:spPr>
          <a:xfrm>
            <a:off x="607162" y="287121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199"/>
          <p:cNvSpPr/>
          <p:nvPr/>
        </p:nvSpPr>
        <p:spPr>
          <a:xfrm>
            <a:off x="1964131" y="287121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00"/>
          <p:cNvSpPr/>
          <p:nvPr/>
        </p:nvSpPr>
        <p:spPr>
          <a:xfrm>
            <a:off x="4581144" y="229514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01"/>
          <p:cNvSpPr/>
          <p:nvPr/>
        </p:nvSpPr>
        <p:spPr>
          <a:xfrm>
            <a:off x="4096512" y="325526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02"/>
          <p:cNvSpPr/>
          <p:nvPr/>
        </p:nvSpPr>
        <p:spPr>
          <a:xfrm>
            <a:off x="1091794" y="383133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st_203"/>
          <p:cNvSpPr/>
          <p:nvPr/>
        </p:nvSpPr>
        <p:spPr>
          <a:xfrm rot="-240000">
            <a:off x="2907792" y="3282696"/>
            <a:ext cx="822960" cy="310896"/>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Sara</a:t>
            </a:r>
            <a:endParaRPr lang="en-US" sz="1100" dirty="0"/>
          </a:p>
        </p:txBody>
      </p:sp>
      <p:sp>
        <p:nvSpPr>
          <p:cNvPr id="23" name="bd_204"/>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05"/>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grandmother's mother</a:t>
            </a:r>
            <a:endParaRPr lang="en-US" sz="1100" dirty="0"/>
          </a:p>
        </p:txBody>
      </p:sp>
      <p:sp>
        <p:nvSpPr>
          <p:cNvPr id="25" name="R1_chip206"/>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great-grandmother</a:t>
            </a:r>
            <a:endParaRPr lang="en-US" sz="1000" dirty="0"/>
          </a:p>
        </p:txBody>
      </p:sp>
      <p:sp>
        <p:nvSpPr>
          <p:cNvPr id="26" name="bd_207"/>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08"/>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Same dad, different mum</a:t>
            </a:r>
            <a:endParaRPr lang="en-US" sz="1100" dirty="0"/>
          </a:p>
        </p:txBody>
      </p:sp>
      <p:sp>
        <p:nvSpPr>
          <p:cNvPr id="28" name="R2_chip209"/>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half-sister</a:t>
            </a:r>
            <a:endParaRPr lang="en-US" sz="1000" dirty="0"/>
          </a:p>
        </p:txBody>
      </p:sp>
      <p:sp>
        <p:nvSpPr>
          <p:cNvPr id="29" name="bd_210"/>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11"/>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dad's second wife</a:t>
            </a:r>
            <a:endParaRPr lang="en-US" sz="1100" dirty="0"/>
          </a:p>
        </p:txBody>
      </p:sp>
      <p:sp>
        <p:nvSpPr>
          <p:cNvPr id="31" name="R3_chip212"/>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stepmother</a:t>
            </a:r>
            <a:endParaRPr lang="en-US" sz="1000" dirty="0"/>
          </a:p>
        </p:txBody>
      </p:sp>
      <p:sp>
        <p:nvSpPr>
          <p:cNvPr id="32" name="bd_213"/>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14"/>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brother</a:t>
            </a:r>
            <a:endParaRPr lang="en-US" sz="1100" dirty="0"/>
          </a:p>
        </p:txBody>
      </p:sp>
      <p:sp>
        <p:nvSpPr>
          <p:cNvPr id="34" name="R4_chip215"/>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brother-in-law</a:t>
            </a:r>
            <a:endParaRPr lang="en-US" sz="1000" dirty="0"/>
          </a:p>
        </p:txBody>
      </p:sp>
      <p:sp>
        <p:nvSpPr>
          <p:cNvPr id="35" name="bd_216"/>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17"/>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husband's sister</a:t>
            </a:r>
            <a:endParaRPr lang="en-US" sz="1100" dirty="0"/>
          </a:p>
        </p:txBody>
      </p:sp>
      <p:sp>
        <p:nvSpPr>
          <p:cNvPr id="37" name="R5_chip218"/>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sister-in-law</a:t>
            </a:r>
            <a:endParaRPr lang="en-US" sz="1000" dirty="0"/>
          </a:p>
        </p:txBody>
      </p:sp>
      <p:sp>
        <p:nvSpPr>
          <p:cNvPr id="38" name="bd_219"/>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20"/>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son</a:t>
            </a:r>
            <a:endParaRPr lang="en-US" sz="1100" dirty="0"/>
          </a:p>
        </p:txBody>
      </p:sp>
      <p:sp>
        <p:nvSpPr>
          <p:cNvPr id="40" name="R6_chip221"/>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nephew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3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Vocabulary game</a:t>
            </a:r>
            <a:endParaRPr lang="en-US" sz="800" dirty="0"/>
          </a:p>
        </p:txBody>
      </p:sp>
      <p:sp>
        <p:nvSpPr>
          <p:cNvPr id="14" name="cd_23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la parola.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2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8" descr="/home/claude/lls-course/v2/cache/1b1_dinn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9"/>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40"/>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stepmother</a:t>
            </a:r>
            <a:endParaRPr lang="en-US" sz="1700" dirty="0"/>
          </a:p>
        </p:txBody>
      </p:sp>
      <p:sp>
        <p:nvSpPr>
          <p:cNvPr id="22" name="R3_w241"/>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only child</a:t>
            </a:r>
            <a:endParaRPr lang="en-US" sz="1700" dirty="0"/>
          </a:p>
        </p:txBody>
      </p:sp>
      <p:sp>
        <p:nvSpPr>
          <p:cNvPr id="23" name="R5_w242"/>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brother-in-law</a:t>
            </a:r>
            <a:endParaRPr lang="en-US" sz="1700" dirty="0"/>
          </a:p>
        </p:txBody>
      </p:sp>
      <p:sp>
        <p:nvSpPr>
          <p:cNvPr id="24" name="R7_w243"/>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siblings</a:t>
            </a:r>
            <a:endParaRPr lang="en-US" sz="1700" dirty="0"/>
          </a:p>
        </p:txBody>
      </p:sp>
      <p:sp>
        <p:nvSpPr>
          <p:cNvPr id="25" name="rl_244"/>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5"/>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half-sister</a:t>
            </a:r>
            <a:endParaRPr lang="en-US" sz="1700" dirty="0"/>
          </a:p>
        </p:txBody>
      </p:sp>
      <p:sp>
        <p:nvSpPr>
          <p:cNvPr id="27" name="R4_w246"/>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great-grandfather</a:t>
            </a:r>
            <a:endParaRPr lang="en-US" sz="1700" dirty="0"/>
          </a:p>
        </p:txBody>
      </p:sp>
      <p:sp>
        <p:nvSpPr>
          <p:cNvPr id="28" name="R6_w247"/>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adopted child</a:t>
            </a:r>
            <a:endParaRPr lang="en-US" sz="1700" dirty="0"/>
          </a:p>
        </p:txBody>
      </p:sp>
      <p:sp>
        <p:nvSpPr>
          <p:cNvPr id="29" name="R8_w248"/>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extended family</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5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8 numbers – 8 gaps next!</a:t>
            </a:r>
            <a:endParaRPr lang="en-US" sz="1250" dirty="0"/>
          </a:p>
        </p:txBody>
      </p:sp>
      <p:sp>
        <p:nvSpPr>
          <p:cNvPr id="8" name="insIT_2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8 numeri – 8 spazi dopo!</a:t>
            </a:r>
            <a:endParaRPr lang="en-US" sz="950" dirty="0"/>
          </a:p>
        </p:txBody>
      </p:sp>
      <p:sp>
        <p:nvSpPr>
          <p:cNvPr id="9" name="cmd_25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5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prediction   ·   📖 SB p.10 · 1b</a:t>
            </a:r>
            <a:endParaRPr lang="en-US" sz="800" dirty="0"/>
          </a:p>
        </p:txBody>
      </p:sp>
      <p:sp>
        <p:nvSpPr>
          <p:cNvPr id="15" name="cd_26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6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The modern family</a:t>
            </a:r>
            <a:endParaRPr lang="en-US" sz="2800" dirty="0"/>
          </a:p>
        </p:txBody>
      </p:sp>
      <p:sp>
        <p:nvSpPr>
          <p:cNvPr id="17" name="nx_26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survey on the next 2 slides has 8 gaps. Write your guess for each gap, then listen and check.</a:t>
            </a:r>
            <a:endParaRPr lang="en-US" sz="1000" dirty="0"/>
          </a:p>
        </p:txBody>
      </p:sp>
      <p:sp>
        <p:nvSpPr>
          <p:cNvPr id="18" name="sf_26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Family life is changing all over the world – not just the structure of the family, but also its habits. A recent survey of British family life showed some surprising statistics.</a:t>
            </a:r>
            <a:endParaRPr lang="en-US" sz="1150" dirty="0"/>
          </a:p>
        </p:txBody>
      </p:sp>
      <p:sp>
        <p:nvSpPr>
          <p:cNvPr id="19" name="nbl_26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6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2</a:t>
            </a:r>
            <a:endParaRPr lang="en-US" sz="1800" dirty="0"/>
          </a:p>
        </p:txBody>
      </p:sp>
      <p:sp>
        <p:nvSpPr>
          <p:cNvPr id="21" name="bd_26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a:t>
            </a:r>
            <a:endParaRPr lang="en-US" sz="1000" dirty="0"/>
          </a:p>
        </p:txBody>
      </p:sp>
      <p:sp>
        <p:nvSpPr>
          <p:cNvPr id="22" name="bd_26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14%</a:t>
            </a:r>
            <a:endParaRPr lang="en-US" sz="1000" dirty="0"/>
          </a:p>
        </p:txBody>
      </p:sp>
      <p:sp>
        <p:nvSpPr>
          <p:cNvPr id="23" name="bd_26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17%</a:t>
            </a:r>
            <a:endParaRPr lang="en-US" sz="1000" dirty="0"/>
          </a:p>
        </p:txBody>
      </p:sp>
      <p:sp>
        <p:nvSpPr>
          <p:cNvPr id="24" name="bd_27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30</a:t>
            </a:r>
            <a:endParaRPr lang="en-US" sz="1400" dirty="0"/>
          </a:p>
        </p:txBody>
      </p:sp>
      <p:sp>
        <p:nvSpPr>
          <p:cNvPr id="25" name="bd_271"/>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32</a:t>
            </a:r>
            <a:endParaRPr lang="en-US" sz="1400" dirty="0"/>
          </a:p>
        </p:txBody>
      </p:sp>
      <p:sp>
        <p:nvSpPr>
          <p:cNvPr id="26" name="bd_272"/>
          <p:cNvSpPr/>
          <p:nvPr/>
        </p:nvSpPr>
        <p:spPr>
          <a:xfrm>
            <a:off x="4096512"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40%</a:t>
            </a:r>
            <a:endParaRPr lang="en-US" sz="1000" dirty="0"/>
          </a:p>
        </p:txBody>
      </p:sp>
      <p:sp>
        <p:nvSpPr>
          <p:cNvPr id="27" name="bd_273"/>
          <p:cNvSpPr/>
          <p:nvPr/>
        </p:nvSpPr>
        <p:spPr>
          <a:xfrm>
            <a:off x="4718304"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45%</a:t>
            </a:r>
            <a:endParaRPr lang="en-US" sz="1000" dirty="0"/>
          </a:p>
        </p:txBody>
      </p:sp>
      <p:sp>
        <p:nvSpPr>
          <p:cNvPr id="28" name="pf_27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275" descr="/home/claude/lls-course/v2/cache/1b1_single_dad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8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1–5. Then listen.</a:t>
            </a:r>
            <a:endParaRPr lang="en-US" sz="1250" dirty="0"/>
          </a:p>
        </p:txBody>
      </p:sp>
      <p:sp>
        <p:nvSpPr>
          <p:cNvPr id="8" name="insIT_2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un numero negli spazi 1–5. Poi ascolta.</a:t>
            </a:r>
            <a:endParaRPr lang="en-US" sz="950" dirty="0"/>
          </a:p>
        </p:txBody>
      </p:sp>
      <p:sp>
        <p:nvSpPr>
          <p:cNvPr id="9" name="cmd_28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8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28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8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Family structure   ·   📖 SB p.10 · 1b, 1c · audio 1.14</a:t>
            </a:r>
            <a:endParaRPr lang="en-US" sz="800" dirty="0"/>
          </a:p>
        </p:txBody>
      </p:sp>
      <p:sp>
        <p:nvSpPr>
          <p:cNvPr id="15" name="cd_28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structure</a:t>
            </a:r>
            <a:endParaRPr lang="en-US" sz="1700" dirty="0"/>
          </a:p>
        </p:txBody>
      </p:sp>
      <p:sp>
        <p:nvSpPr>
          <p:cNvPr id="17" name="ln_29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60% of families have married parents.</a:t>
            </a:r>
            <a:endParaRPr lang="en-US" sz="1250" dirty="0"/>
          </a:p>
        </p:txBody>
      </p:sp>
      <p:sp>
        <p:nvSpPr>
          <p:cNvPr id="18" name="ln_29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2EB872"/>
                </a:solidFill>
                <a:latin typeface="Georgia" pitchFamily="34" charset="0"/>
                <a:ea typeface="Georgia" pitchFamily="34" charset="-122"/>
                <a:cs typeface="Georgia" pitchFamily="34" charset="-120"/>
              </a:rPr>
              <a:t> (1) _____ </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19" name="R1_lnA29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22% are single-parent families. Only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14%</a:t>
            </a:r>
            <a:pPr indent="0" marL="0">
              <a:buNone/>
            </a:pPr>
            <a:r>
              <a:rPr lang="en-US" sz="1250" dirty="0">
                <a:solidFill>
                  <a:srgbClr val="1B2559"/>
                </a:solidFill>
                <a:latin typeface="Georgia" pitchFamily="34" charset="0"/>
                <a:ea typeface="Georgia" pitchFamily="34" charset="-122"/>
                <a:cs typeface="Georgia" pitchFamily="34" charset="-120"/>
              </a:rPr>
              <a:t> of the single parents are men.</a:t>
            </a:r>
            <a:endParaRPr lang="en-US" sz="1250" dirty="0"/>
          </a:p>
        </p:txBody>
      </p:sp>
      <p:sp>
        <p:nvSpPr>
          <p:cNvPr id="20" name="ln_29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1" name="R2_lnA29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45%</a:t>
            </a:r>
            <a:pPr indent="0" marL="0">
              <a:buNone/>
            </a:pPr>
            <a:r>
              <a:rPr lang="en-US" sz="1250" dirty="0">
                <a:solidFill>
                  <a:srgbClr val="1B2559"/>
                </a:solidFill>
                <a:latin typeface="Georgia" pitchFamily="34" charset="0"/>
                <a:ea typeface="Georgia" pitchFamily="34" charset="-122"/>
                <a:cs typeface="Georgia" pitchFamily="34" charset="-120"/>
              </a:rPr>
              <a:t> of families have one child,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40%</a:t>
            </a:r>
            <a:pPr indent="0" marL="0">
              <a:buNone/>
            </a:pPr>
            <a:r>
              <a:rPr lang="en-US" sz="1250" dirty="0">
                <a:solidFill>
                  <a:srgbClr val="1B2559"/>
                </a:solidFill>
                <a:latin typeface="Georgia" pitchFamily="34" charset="0"/>
                <a:ea typeface="Georgia" pitchFamily="34" charset="-122"/>
                <a:cs typeface="Georgia" pitchFamily="34" charset="-120"/>
              </a:rPr>
              <a:t> have two, and 15% have three or more.</a:t>
            </a:r>
            <a:endParaRPr lang="en-US" sz="1250" dirty="0"/>
          </a:p>
        </p:txBody>
      </p:sp>
      <p:sp>
        <p:nvSpPr>
          <p:cNvPr id="22" name="ln_29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11% of families have stepchildren.</a:t>
            </a:r>
            <a:endParaRPr lang="en-US" sz="1250" dirty="0"/>
          </a:p>
        </p:txBody>
      </p:sp>
      <p:sp>
        <p:nvSpPr>
          <p:cNvPr id="23" name="ln_29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4" name="R3_lnA297"/>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On average, women get married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30</a:t>
            </a:r>
            <a:pPr indent="0" marL="0">
              <a:buNone/>
            </a:pPr>
            <a:r>
              <a:rPr lang="en-US" sz="1250" dirty="0">
                <a:solidFill>
                  <a:srgbClr val="1B2559"/>
                </a:solidFill>
                <a:latin typeface="Georgia" pitchFamily="34" charset="0"/>
                <a:ea typeface="Georgia" pitchFamily="34" charset="-122"/>
                <a:cs typeface="Georgia" pitchFamily="34" charset="-120"/>
              </a:rPr>
              <a:t> and men 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32</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5" name="ap_29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29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9" name="pf_30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01" descr="/home/claude/lls-course/v2/cache/1b1_single_dad_jpg_594x352_31.png">    </p:cNvPr>
          <p:cNvPicPr>
            <a:picLocks noChangeAspect="1"/>
          </p:cNvPicPr>
          <p:nvPr/>
        </p:nvPicPr>
        <p:blipFill>
          <a:blip r:embed="rId11"/>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8"/>
                                        </p:tgtEl>
                                      </p:cBhvr>
                                    </p:cmd>
                                  </p:childTnLst>
                                </p:cTn>
                              </p:par>
                            </p:childTnLst>
                          </p:cTn>
                        </p:par>
                      </p:childTnLst>
                    </p:cTn>
                  </p:par>
                </p:childTnLst>
              </p:cTn>
              <p:nextCondLst>
                <p:cond evt="onClick" delay="0">
                  <p:tgtEl>
                    <p:spTgt spid="28"/>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8"/>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0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number in gaps 6–8. Then listen.</a:t>
            </a:r>
            <a:endParaRPr lang="en-US" sz="1250" dirty="0"/>
          </a:p>
        </p:txBody>
      </p:sp>
      <p:sp>
        <p:nvSpPr>
          <p:cNvPr id="8" name="insIT_3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un numero negli spazi 6–8. Poi ascolta.</a:t>
            </a:r>
            <a:endParaRPr lang="en-US" sz="950" dirty="0"/>
          </a:p>
        </p:txBody>
      </p:sp>
      <p:sp>
        <p:nvSpPr>
          <p:cNvPr id="9" name="cmd_30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0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1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Family habits   ·   📖 SB p.10 · 1b, 1c · audio 1.14</a:t>
            </a:r>
            <a:endParaRPr lang="en-US" sz="800" dirty="0"/>
          </a:p>
        </p:txBody>
      </p:sp>
      <p:sp>
        <p:nvSpPr>
          <p:cNvPr id="15" name="cd_31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Family habits</a:t>
            </a:r>
            <a:endParaRPr lang="en-US" sz="1700" dirty="0"/>
          </a:p>
        </p:txBody>
      </p:sp>
      <p:sp>
        <p:nvSpPr>
          <p:cNvPr id="17" name="ln_31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2EB872"/>
                </a:solidFill>
                <a:latin typeface="Georgia" pitchFamily="34" charset="0"/>
                <a:ea typeface="Georgia" pitchFamily="34" charset="-122"/>
                <a:cs typeface="Georgia" pitchFamily="34" charset="-120"/>
              </a:rPr>
              <a:t> (6) _____ </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8" name="R1_lnA31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20% of families only eat together once or twice a week, and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10%</a:t>
            </a:r>
            <a:pPr indent="0" marL="0">
              <a:buNone/>
            </a:pPr>
            <a:r>
              <a:rPr lang="en-US" sz="1250" dirty="0">
                <a:solidFill>
                  <a:srgbClr val="1B2559"/>
                </a:solidFill>
                <a:latin typeface="Georgia" pitchFamily="34" charset="0"/>
                <a:ea typeface="Georgia" pitchFamily="34" charset="-122"/>
                <a:cs typeface="Georgia" pitchFamily="34" charset="-120"/>
              </a:rPr>
              <a:t> never eat at the same time.</a:t>
            </a:r>
            <a:endParaRPr lang="en-US" sz="1250" dirty="0"/>
          </a:p>
        </p:txBody>
      </p:sp>
      <p:sp>
        <p:nvSpPr>
          <p:cNvPr id="19" name="ln_31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They visit friends or extended family twice a month.</a:t>
            </a:r>
            <a:endParaRPr lang="en-US" sz="1250" dirty="0"/>
          </a:p>
        </p:txBody>
      </p:sp>
      <p:sp>
        <p:nvSpPr>
          <p:cNvPr id="20" name="ln_31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(7) _____ </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1" name="R2_lnA32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17%</a:t>
            </a:r>
            <a:pPr indent="0" marL="0">
              <a:buNone/>
            </a:pPr>
            <a:r>
              <a:rPr lang="en-US" sz="1250" dirty="0">
                <a:solidFill>
                  <a:srgbClr val="1B2559"/>
                </a:solidFill>
                <a:latin typeface="Georgia" pitchFamily="34" charset="0"/>
                <a:ea typeface="Georgia" pitchFamily="34" charset="-122"/>
                <a:cs typeface="Georgia" pitchFamily="34" charset="-120"/>
              </a:rPr>
              <a:t> of people have family members who they never speak to or contact.</a:t>
            </a:r>
            <a:endParaRPr lang="en-US" sz="1250" dirty="0"/>
          </a:p>
        </p:txBody>
      </p:sp>
      <p:sp>
        <p:nvSpPr>
          <p:cNvPr id="22" name="ln_32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75% of people are happiest with their families, and 17% with their friends.</a:t>
            </a:r>
            <a:endParaRPr lang="en-US" sz="1250" dirty="0"/>
          </a:p>
        </p:txBody>
      </p:sp>
      <p:sp>
        <p:nvSpPr>
          <p:cNvPr id="23" name="ln_322"/>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average family has </a:t>
            </a:r>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200" dirty="0"/>
          </a:p>
        </p:txBody>
      </p:sp>
      <p:sp>
        <p:nvSpPr>
          <p:cNvPr id="24" name="R3_lnA323"/>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The average family has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2</a:t>
            </a:r>
            <a:pPr indent="0" marL="0">
              <a:buNone/>
            </a:pPr>
            <a:r>
              <a:rPr lang="en-US" sz="1250" dirty="0">
                <a:solidFill>
                  <a:srgbClr val="1B2559"/>
                </a:solidFill>
                <a:latin typeface="Georgia" pitchFamily="34" charset="0"/>
                <a:ea typeface="Georgia" pitchFamily="34" charset="-122"/>
                <a:cs typeface="Georgia" pitchFamily="34" charset="-120"/>
              </a:rPr>
              <a:t> rows /raʊz/ each day. The most common cause: children or teenagers refusing to put down their phones or tablets.</a:t>
            </a:r>
            <a:endParaRPr lang="en-US" sz="1250" dirty="0"/>
          </a:p>
        </p:txBody>
      </p:sp>
      <p:sp>
        <p:nvSpPr>
          <p:cNvPr id="25" name="ap_324"/>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1.14</a:t>
            </a:r>
            <a:endParaRPr lang="en-US" sz="1100" dirty="0"/>
          </a:p>
        </p:txBody>
      </p:sp>
      <p:sp>
        <p:nvSpPr>
          <p:cNvPr id="26" name="ah_32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9" name="pf_32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27" descr="/home/claude/lls-course/v2/cache/1b1_phone_row_jpg_594x352_31.png">    </p:cNvPr>
          <p:cNvPicPr>
            <a:picLocks noChangeAspect="1"/>
          </p:cNvPicPr>
          <p:nvPr/>
        </p:nvPicPr>
        <p:blipFill>
          <a:blip r:embed="rId11"/>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8"/>
                                        </p:tgtEl>
                                      </p:cBhvr>
                                    </p:cmd>
                                  </p:childTnLst>
                                </p:cTn>
                              </p:par>
                            </p:childTnLst>
                          </p:cTn>
                        </p:par>
                      </p:childTnLst>
                    </p:cTn>
                  </p:par>
                </p:childTnLst>
              </p:cTn>
              <p:nextCondLst>
                <p:cond evt="onClick" delay="0">
                  <p:tgtEl>
                    <p:spTgt spid="28"/>
                  </p:tgtEl>
                </p:cond>
              </p:nextCondLst>
            </p:seq>
            <p:audio>
              <p:cMediaNode vol="80000">
                <p:cTn id="28" fill="hold" display="0">
                  <p:stCondLst>
                    <p:cond delay="indefinite"/>
                  </p:stCondLst>
                  <p:endCondLst>
                    <p:cond evt="onStopAudio" delay="0">
                      <p:tgtEl>
                        <p:sldTgt/>
                      </p:tgtEl>
                    </p:cond>
                  </p:endCondLst>
                </p:cTn>
                <p:tgtEl>
                  <p:spTgt spid="27"/>
                </p:tgtEl>
              </p:cMediaNode>
            </p:audio>
            <p:audio>
              <p:cMediaNode vol="80000">
                <p:cTn id="29" fill="hold" display="0">
                  <p:stCondLst>
                    <p:cond delay="indefinite"/>
                  </p:stCondLst>
                  <p:endCondLst>
                    <p:cond evt="onStopAudio" delay="0">
                      <p:tgtEl>
                        <p:sldTgt/>
                      </p:tgtEl>
                    </p:cond>
                  </p:endCondLst>
                </p:cTn>
                <p:tgtEl>
                  <p:spTgt spid="2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9"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330"/>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Sicily vs the UK</a:t>
            </a:r>
            <a:endParaRPr lang="en-US" sz="2500" dirty="0"/>
          </a:p>
        </p:txBody>
      </p:sp>
      <p:pic>
        <p:nvPicPr>
          <p:cNvPr id="6" name="brP_33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Why?</a:t>
            </a:r>
            <a:endParaRPr lang="en-US" sz="1250" dirty="0"/>
          </a:p>
        </p:txBody>
      </p:sp>
      <p:sp>
        <p:nvSpPr>
          <p:cNvPr id="8" name="insIT_33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Poi chiedi: Perché?</a:t>
            </a:r>
            <a:endParaRPr lang="en-US" sz="950" dirty="0"/>
          </a:p>
        </p:txBody>
      </p:sp>
      <p:sp>
        <p:nvSpPr>
          <p:cNvPr id="9" name="cmd_33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3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33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Speaking · Sicily vs the UK   ·   📖 SB p.10 · 1c, 1d</a:t>
            </a:r>
            <a:endParaRPr lang="en-US" sz="800" dirty="0"/>
          </a:p>
        </p:txBody>
      </p:sp>
      <p:sp>
        <p:nvSpPr>
          <p:cNvPr id="14" name="pf_33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40" descr="/home/claude/lls-course/v2/cache/1b1_sunday_lunch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4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4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4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4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sorry, I'd rather not talk about that.</a:t>
            </a:r>
            <a:endParaRPr lang="en-US" sz="1050" dirty="0"/>
          </a:p>
        </p:txBody>
      </p:sp>
      <p:sp>
        <p:nvSpPr>
          <p:cNvPr id="20" name="R1_qb34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46"/>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 the UK, 20% of families rarely eat together. And in Sicily?</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No! In Sicily most families eat together every day.</a:t>
            </a:r>
            <a:endParaRPr lang="en-US" sz="1200" dirty="0"/>
          </a:p>
        </p:txBody>
      </p:sp>
      <p:sp>
        <p:nvSpPr>
          <p:cNvPr id="22" name="R2_qb34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4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do you live with? Is your family big or small?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live with my mum, my dad and my little brother.</a:t>
            </a:r>
            <a:endParaRPr lang="en-US" sz="1250" dirty="0"/>
          </a:p>
        </p:txBody>
      </p:sp>
      <p:sp>
        <p:nvSpPr>
          <p:cNvPr id="24" name="R3_qb34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50"/>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see your extended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Every Sunday – we have lunch at my nonna's!</a:t>
            </a:r>
            <a:endParaRPr lang="en-US" sz="1250" dirty="0"/>
          </a:p>
        </p:txBody>
      </p:sp>
      <p:sp>
        <p:nvSpPr>
          <p:cNvPr id="26" name="R4_qb351"/>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52"/>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Free time: family or friends?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Friends, because we like the same things.</a:t>
            </a:r>
            <a:endParaRPr lang="en-US" sz="1250" dirty="0"/>
          </a:p>
        </p:txBody>
      </p:sp>
      <p:sp>
        <p:nvSpPr>
          <p:cNvPr id="28" name="R5_qb353"/>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54"/>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anyone in your family you don't get on with?</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My cousin – he always takes my things!</a:t>
            </a:r>
            <a:endParaRPr lang="en-US" sz="1100" dirty="0"/>
          </a:p>
        </p:txBody>
      </p:sp>
      <p:pic>
        <p:nvPicPr>
          <p:cNvPr id="30" name="R5_th355" descr="/home/claude/lls-course/v2/cache/1b1_dont_get_on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356"/>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57"/>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argue about at home? Phones?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says I'm always on my phone at dinner.</a:t>
            </a:r>
            <a:endParaRPr lang="en-US" sz="1250" dirty="0"/>
          </a:p>
        </p:txBody>
      </p:sp>
      <p:pic>
        <p:nvPicPr>
          <p:cNvPr id="33" name="R6_th358" descr="/home/claude/lls-course/v2/cache/1b1_phone_row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6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conversations</a:t>
            </a:r>
            <a:endParaRPr lang="en-US" sz="2500" dirty="0"/>
          </a:p>
        </p:txBody>
      </p:sp>
      <p:pic>
        <p:nvPicPr>
          <p:cNvPr id="6" name="brP_36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6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Match 1–3 to the photos A–C.</a:t>
            </a:r>
            <a:endParaRPr lang="en-US" sz="1250" dirty="0"/>
          </a:p>
        </p:txBody>
      </p:sp>
      <p:sp>
        <p:nvSpPr>
          <p:cNvPr id="8" name="insIT_3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Abbina 1–3 alle foto A–C.</a:t>
            </a:r>
            <a:endParaRPr lang="en-US" sz="950" dirty="0"/>
          </a:p>
        </p:txBody>
      </p:sp>
      <p:sp>
        <p:nvSpPr>
          <p:cNvPr id="9" name="cmd_36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6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6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Listening · gist   ·   📖 SB p.11 · 2a · audio 1.15</a:t>
            </a:r>
            <a:endParaRPr lang="en-US" sz="800" dirty="0"/>
          </a:p>
        </p:txBody>
      </p:sp>
      <p:sp>
        <p:nvSpPr>
          <p:cNvPr id="14" name="ap_37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play once</a:t>
            </a:r>
            <a:endParaRPr lang="en-US" sz="1100" dirty="0"/>
          </a:p>
        </p:txBody>
      </p:sp>
      <p:sp>
        <p:nvSpPr>
          <p:cNvPr id="15" name="ah_37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7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7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74" descr="/home/claude/lls-course/v2/cache/1b1_conv_a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7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37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377" descr="/home/claude/lls-course/v2/cache/1b1_conv_b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37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37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80" descr="/home/claude/lls-course/v2/cache/1b1_conv_c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38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38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38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8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38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B and C. Who are they?</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B e C. Chi sono?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Match conversations 1–3 to A–C.</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Abbina le conversazioni 1–3 alle foto A–C.</a:t>
            </a:r>
            <a:endParaRPr lang="en-US" sz="700" dirty="0"/>
          </a:p>
        </p:txBody>
      </p:sp>
      <p:sp>
        <p:nvSpPr>
          <p:cNvPr id="32" name="lq_38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1</a:t>
            </a:r>
            <a:endParaRPr lang="en-US" sz="1100" dirty="0"/>
          </a:p>
        </p:txBody>
      </p:sp>
      <p:sp>
        <p:nvSpPr>
          <p:cNvPr id="33" name="R1_chip38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 · his plans for next year</a:t>
            </a:r>
            <a:endParaRPr lang="en-US" sz="1050" dirty="0"/>
          </a:p>
        </p:txBody>
      </p:sp>
      <p:sp>
        <p:nvSpPr>
          <p:cNvPr id="34" name="lq_38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2</a:t>
            </a:r>
            <a:endParaRPr lang="en-US" sz="1100" dirty="0"/>
          </a:p>
        </p:txBody>
      </p:sp>
      <p:sp>
        <p:nvSpPr>
          <p:cNvPr id="35" name="R2_chip38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a party at Katie's</a:t>
            </a:r>
            <a:endParaRPr lang="en-US" sz="1050" dirty="0"/>
          </a:p>
        </p:txBody>
      </p:sp>
      <p:sp>
        <p:nvSpPr>
          <p:cNvPr id="36" name="lq_39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Conversation 3</a:t>
            </a:r>
            <a:endParaRPr lang="en-US" sz="1100" dirty="0"/>
          </a:p>
        </p:txBody>
      </p:sp>
      <p:sp>
        <p:nvSpPr>
          <p:cNvPr id="37" name="R3_chip39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borrowing the car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9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complete</a:t>
            </a:r>
            <a:endParaRPr lang="en-US" sz="2500" dirty="0"/>
          </a:p>
        </p:txBody>
      </p:sp>
      <p:pic>
        <p:nvPicPr>
          <p:cNvPr id="6" name="brP_39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again.</a:t>
            </a:r>
            <a:endParaRPr lang="en-US" sz="1250" dirty="0"/>
          </a:p>
        </p:txBody>
      </p:sp>
      <p:sp>
        <p:nvSpPr>
          <p:cNvPr id="8" name="insIT_39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riascolta.</a:t>
            </a:r>
            <a:endParaRPr lang="en-US" sz="950" dirty="0"/>
          </a:p>
        </p:txBody>
      </p:sp>
      <p:sp>
        <p:nvSpPr>
          <p:cNvPr id="9" name="cmd_39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40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Listening · detail   ·   📖 SB p.11 · 2b · audio 1.15</a:t>
            </a:r>
            <a:endParaRPr lang="en-US" sz="800" dirty="0"/>
          </a:p>
        </p:txBody>
      </p:sp>
      <p:sp>
        <p:nvSpPr>
          <p:cNvPr id="15" name="ap_40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1.15  ·  pause after each conversation</a:t>
            </a:r>
            <a:endParaRPr lang="en-US" sz="1100" dirty="0"/>
          </a:p>
        </p:txBody>
      </p:sp>
      <p:sp>
        <p:nvSpPr>
          <p:cNvPr id="16" name="ah_40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0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7" descr="/home/claude/lls-course/v2/cache/1b1_conv_c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0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0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1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1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1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___ to university.</a:t>
            </a:r>
            <a:endParaRPr lang="en-US" sz="1200" dirty="0"/>
          </a:p>
        </p:txBody>
      </p:sp>
      <p:sp>
        <p:nvSpPr>
          <p:cNvPr id="26" name="R1_chip41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going to go</a:t>
            </a:r>
            <a:endParaRPr lang="en-US" sz="1200" dirty="0"/>
          </a:p>
        </p:txBody>
      </p:sp>
      <p:sp>
        <p:nvSpPr>
          <p:cNvPr id="27" name="gq_41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___ you a cup of tea?</a:t>
            </a:r>
            <a:endParaRPr lang="en-US" sz="1200" dirty="0"/>
          </a:p>
        </p:txBody>
      </p:sp>
      <p:sp>
        <p:nvSpPr>
          <p:cNvPr id="28" name="R2_chip41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Shall I make</a:t>
            </a:r>
            <a:endParaRPr lang="en-US" sz="1200" dirty="0"/>
          </a:p>
        </p:txBody>
      </p:sp>
      <p:sp>
        <p:nvSpPr>
          <p:cNvPr id="29" name="gq_41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 ___ the night there.</a:t>
            </a:r>
            <a:endParaRPr lang="en-US" sz="1200" dirty="0"/>
          </a:p>
        </p:txBody>
      </p:sp>
      <p:sp>
        <p:nvSpPr>
          <p:cNvPr id="30" name="R3_chip41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 staying</a:t>
            </a:r>
            <a:endParaRPr lang="en-US" sz="1200" dirty="0"/>
          </a:p>
        </p:txBody>
      </p:sp>
      <p:sp>
        <p:nvSpPr>
          <p:cNvPr id="31" name="gq_41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 ___ cold tonight.</a:t>
            </a:r>
            <a:endParaRPr lang="en-US" sz="1200" dirty="0"/>
          </a:p>
        </p:txBody>
      </p:sp>
      <p:sp>
        <p:nvSpPr>
          <p:cNvPr id="32" name="R4_chip41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 going to be</a:t>
            </a:r>
            <a:endParaRPr lang="en-US" sz="1200" dirty="0"/>
          </a:p>
        </p:txBody>
      </p:sp>
      <p:sp>
        <p:nvSpPr>
          <p:cNvPr id="33" name="gq_42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 ___ too fast.</a:t>
            </a:r>
            <a:endParaRPr lang="en-US" sz="1200" dirty="0"/>
          </a:p>
        </p:txBody>
      </p:sp>
      <p:sp>
        <p:nvSpPr>
          <p:cNvPr id="34" name="R5_chip42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drive</a:t>
            </a:r>
            <a:endParaRPr lang="en-US" sz="1200" dirty="0"/>
          </a:p>
        </p:txBody>
      </p:sp>
      <p:sp>
        <p:nvSpPr>
          <p:cNvPr id="35" name="gq_42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 ___ really careful.</a:t>
            </a:r>
            <a:endParaRPr lang="en-US" sz="1200" dirty="0"/>
          </a:p>
        </p:txBody>
      </p:sp>
      <p:sp>
        <p:nvSpPr>
          <p:cNvPr id="36" name="R6_chip42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'll be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future</a:t>
            </a:r>
            <a:endParaRPr lang="en-US" sz="2500" dirty="0"/>
          </a:p>
        </p:txBody>
      </p:sp>
      <p:pic>
        <p:nvPicPr>
          <p:cNvPr id="6" name="brP_42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2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future forms in the lines.</a:t>
            </a:r>
            <a:endParaRPr lang="en-US" sz="1250" dirty="0"/>
          </a:p>
        </p:txBody>
      </p:sp>
      <p:sp>
        <p:nvSpPr>
          <p:cNvPr id="8" name="insIT_4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 forme del futuro.</a:t>
            </a:r>
            <a:endParaRPr lang="en-US" sz="950" dirty="0"/>
          </a:p>
        </p:txBody>
      </p:sp>
      <p:sp>
        <p:nvSpPr>
          <p:cNvPr id="9" name="cmd_43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3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Noticing · the conversations   ·   📖 SB audio script 1.15 (p.124)</a:t>
            </a:r>
            <a:endParaRPr lang="en-US" sz="800" dirty="0"/>
          </a:p>
        </p:txBody>
      </p:sp>
      <p:sp>
        <p:nvSpPr>
          <p:cNvPr id="13" name="pf_434"/>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35" descr="/home/claude/lls-course/v2/cache/1b1_conv_b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5" name="cd_436"/>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7"/>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8"/>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39"/>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going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present continuous</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will / won't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Shall I…?</a:t>
            </a:r>
            <a:endParaRPr lang="en-US" sz="1050" dirty="0"/>
          </a:p>
        </p:txBody>
      </p:sp>
      <p:sp>
        <p:nvSpPr>
          <p:cNvPr id="19" name="who_440"/>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Gran</a:t>
            </a:r>
            <a:endParaRPr lang="en-US" sz="950" dirty="0"/>
          </a:p>
        </p:txBody>
      </p:sp>
      <p:sp>
        <p:nvSpPr>
          <p:cNvPr id="20" name="sl_441"/>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So what </a:t>
            </a:r>
            <a:pPr indent="0" marL="0">
              <a:buNone/>
            </a:pPr>
            <a:r>
              <a:rPr lang="en-US" sz="1150" dirty="0">
                <a:solidFill>
                  <a:srgbClr val="1B2559"/>
                </a:solidFill>
                <a:latin typeface="Segoe UI" pitchFamily="34" charset="0"/>
                <a:ea typeface="Segoe UI" pitchFamily="34" charset="-122"/>
                <a:cs typeface="Segoe UI" pitchFamily="34" charset="-120"/>
              </a:rPr>
              <a:t>are you going to do</a:t>
            </a:r>
            <a:pPr indent="0" marL="0">
              <a:buNone/>
            </a:pPr>
            <a:r>
              <a:rPr lang="en-US" sz="1150" dirty="0">
                <a:solidFill>
                  <a:srgbClr val="1B2559"/>
                </a:solidFill>
                <a:latin typeface="Segoe UI" pitchFamily="34" charset="0"/>
                <a:ea typeface="Segoe UI" pitchFamily="34" charset="-122"/>
                <a:cs typeface="Segoe UI" pitchFamily="34" charset="-120"/>
              </a:rPr>
              <a:t> next year, dear?</a:t>
            </a:r>
            <a:endParaRPr lang="en-US" sz="1150" dirty="0"/>
          </a:p>
        </p:txBody>
      </p:sp>
      <p:sp>
        <p:nvSpPr>
          <p:cNvPr id="21" name="R1_slA442"/>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So what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are you going to do</a:t>
            </a:r>
            <a:pPr indent="0" marL="0">
              <a:buNone/>
            </a:pPr>
            <a:r>
              <a:rPr lang="en-US" sz="1150" dirty="0">
                <a:solidFill>
                  <a:srgbClr val="1B2559"/>
                </a:solidFill>
                <a:latin typeface="Segoe UI" pitchFamily="34" charset="0"/>
                <a:ea typeface="Segoe UI" pitchFamily="34" charset="-122"/>
                <a:cs typeface="Segoe UI" pitchFamily="34" charset="-120"/>
              </a:rPr>
              <a:t> next year, dear?</a:t>
            </a:r>
            <a:endParaRPr lang="en-US" sz="1150" dirty="0"/>
          </a:p>
        </p:txBody>
      </p:sp>
      <p:sp>
        <p:nvSpPr>
          <p:cNvPr id="22" name="who_443"/>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3" name="sl_444"/>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dirty="0">
                <a:solidFill>
                  <a:srgbClr val="1B2559"/>
                </a:solidFill>
                <a:latin typeface="Segoe UI" pitchFamily="34" charset="0"/>
                <a:ea typeface="Segoe UI" pitchFamily="34" charset="-122"/>
                <a:cs typeface="Segoe UI" pitchFamily="34" charset="-120"/>
              </a:rPr>
              <a:t>'m not going to go</a:t>
            </a:r>
            <a:pPr indent="0" marL="0">
              <a:buNone/>
            </a:pPr>
            <a:r>
              <a:rPr lang="en-US" sz="1150" dirty="0">
                <a:solidFill>
                  <a:srgbClr val="1B2559"/>
                </a:solidFill>
                <a:latin typeface="Segoe UI" pitchFamily="34" charset="0"/>
                <a:ea typeface="Segoe UI" pitchFamily="34" charset="-122"/>
                <a:cs typeface="Segoe UI" pitchFamily="34" charset="-120"/>
              </a:rPr>
              <a:t> to university. I</a:t>
            </a:r>
            <a:pPr indent="0" marL="0">
              <a:buNone/>
            </a:pPr>
            <a:r>
              <a:rPr lang="en-US" sz="1150" dirty="0">
                <a:solidFill>
                  <a:srgbClr val="1B2559"/>
                </a:solidFill>
                <a:latin typeface="Segoe UI" pitchFamily="34" charset="0"/>
                <a:ea typeface="Segoe UI" pitchFamily="34" charset="-122"/>
                <a:cs typeface="Segoe UI" pitchFamily="34" charset="-120"/>
              </a:rPr>
              <a:t>'m going to look</a:t>
            </a:r>
            <a:pPr indent="0" marL="0">
              <a:buNone/>
            </a:pPr>
            <a:r>
              <a:rPr lang="en-US" sz="1150" dirty="0">
                <a:solidFill>
                  <a:srgbClr val="1B2559"/>
                </a:solidFill>
                <a:latin typeface="Segoe UI" pitchFamily="34" charset="0"/>
                <a:ea typeface="Segoe UI" pitchFamily="34" charset="-122"/>
                <a:cs typeface="Segoe UI" pitchFamily="34" charset="-120"/>
              </a:rPr>
              <a:t> for a job.</a:t>
            </a:r>
            <a:endParaRPr lang="en-US" sz="1150" dirty="0"/>
          </a:p>
        </p:txBody>
      </p:sp>
      <p:sp>
        <p:nvSpPr>
          <p:cNvPr id="24" name="R2_slA445"/>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not going to go</a:t>
            </a:r>
            <a:pPr indent="0" marL="0">
              <a:buNone/>
            </a:pPr>
            <a:r>
              <a:rPr lang="en-US" sz="1150" dirty="0">
                <a:solidFill>
                  <a:srgbClr val="1B2559"/>
                </a:solidFill>
                <a:latin typeface="Segoe UI" pitchFamily="34" charset="0"/>
                <a:ea typeface="Segoe UI" pitchFamily="34" charset="-122"/>
                <a:cs typeface="Segoe UI" pitchFamily="34" charset="-120"/>
              </a:rPr>
              <a:t> to university. 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going to look</a:t>
            </a:r>
            <a:pPr indent="0" marL="0">
              <a:buNone/>
            </a:pPr>
            <a:r>
              <a:rPr lang="en-US" sz="1150" dirty="0">
                <a:solidFill>
                  <a:srgbClr val="1B2559"/>
                </a:solidFill>
                <a:latin typeface="Segoe UI" pitchFamily="34" charset="0"/>
                <a:ea typeface="Segoe UI" pitchFamily="34" charset="-122"/>
                <a:cs typeface="Segoe UI" pitchFamily="34" charset="-120"/>
              </a:rPr>
              <a:t> for a job.</a:t>
            </a:r>
            <a:endParaRPr lang="en-US" sz="1150" dirty="0"/>
          </a:p>
        </p:txBody>
      </p:sp>
      <p:sp>
        <p:nvSpPr>
          <p:cNvPr id="25" name="who_446"/>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Adam</a:t>
            </a:r>
            <a:endParaRPr lang="en-US" sz="950" dirty="0"/>
          </a:p>
        </p:txBody>
      </p:sp>
      <p:sp>
        <p:nvSpPr>
          <p:cNvPr id="26" name="sl_447"/>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Shall I make</a:t>
            </a:r>
            <a:pPr indent="0" marL="0">
              <a:buNone/>
            </a:pPr>
            <a:r>
              <a:rPr lang="en-US" sz="1150" dirty="0">
                <a:solidFill>
                  <a:srgbClr val="1B2559"/>
                </a:solidFill>
                <a:latin typeface="Segoe UI" pitchFamily="34" charset="0"/>
                <a:ea typeface="Segoe UI" pitchFamily="34" charset="-122"/>
                <a:cs typeface="Segoe UI" pitchFamily="34" charset="-120"/>
              </a:rPr>
              <a:t> you a cup of tea?</a:t>
            </a:r>
            <a:endParaRPr lang="en-US" sz="1150" dirty="0"/>
          </a:p>
        </p:txBody>
      </p:sp>
      <p:sp>
        <p:nvSpPr>
          <p:cNvPr id="27" name="R3_slA448"/>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Shall I make</a:t>
            </a:r>
            <a:pPr indent="0" marL="0">
              <a:buNone/>
            </a:pPr>
            <a:r>
              <a:rPr lang="en-US" sz="1150" dirty="0">
                <a:solidFill>
                  <a:srgbClr val="1B2559"/>
                </a:solidFill>
                <a:latin typeface="Segoe UI" pitchFamily="34" charset="0"/>
                <a:ea typeface="Segoe UI" pitchFamily="34" charset="-122"/>
                <a:cs typeface="Segoe UI" pitchFamily="34" charset="-120"/>
              </a:rPr>
              <a:t> you a cup of tea?</a:t>
            </a:r>
            <a:endParaRPr lang="en-US" sz="1150" dirty="0"/>
          </a:p>
        </p:txBody>
      </p:sp>
      <p:sp>
        <p:nvSpPr>
          <p:cNvPr id="28" name="who_449"/>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Girl</a:t>
            </a:r>
            <a:endParaRPr lang="en-US" sz="950" dirty="0"/>
          </a:p>
        </p:txBody>
      </p:sp>
      <p:sp>
        <p:nvSpPr>
          <p:cNvPr id="29" name="sl_450"/>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dirty="0">
                <a:solidFill>
                  <a:srgbClr val="1B2559"/>
                </a:solidFill>
                <a:latin typeface="Segoe UI" pitchFamily="34" charset="0"/>
                <a:ea typeface="Segoe UI" pitchFamily="34" charset="-122"/>
                <a:cs typeface="Segoe UI" pitchFamily="34" charset="-120"/>
              </a:rPr>
              <a:t>'m going</a:t>
            </a:r>
            <a:pPr indent="0" marL="0">
              <a:buNone/>
            </a:pPr>
            <a:r>
              <a:rPr lang="en-US" sz="1150" dirty="0">
                <a:solidFill>
                  <a:srgbClr val="1B2559"/>
                </a:solidFill>
                <a:latin typeface="Segoe UI" pitchFamily="34" charset="0"/>
                <a:ea typeface="Segoe UI" pitchFamily="34" charset="-122"/>
                <a:cs typeface="Segoe UI" pitchFamily="34" charset="-120"/>
              </a:rPr>
              <a:t> to a party at Katie's. I</a:t>
            </a:r>
            <a:pPr indent="0" marL="0">
              <a:buNone/>
            </a:pPr>
            <a:r>
              <a:rPr lang="en-US" sz="1150" dirty="0">
                <a:solidFill>
                  <a:srgbClr val="1B2559"/>
                </a:solidFill>
                <a:latin typeface="Segoe UI" pitchFamily="34" charset="0"/>
                <a:ea typeface="Segoe UI" pitchFamily="34" charset="-122"/>
                <a:cs typeface="Segoe UI" pitchFamily="34" charset="-120"/>
              </a:rPr>
              <a:t>'m staying</a:t>
            </a:r>
            <a:pPr indent="0" marL="0">
              <a:buNone/>
            </a:pPr>
            <a:r>
              <a:rPr lang="en-US" sz="1150" dirty="0">
                <a:solidFill>
                  <a:srgbClr val="1B2559"/>
                </a:solidFill>
                <a:latin typeface="Segoe UI" pitchFamily="34" charset="0"/>
                <a:ea typeface="Segoe UI" pitchFamily="34" charset="-122"/>
                <a:cs typeface="Segoe UI" pitchFamily="34" charset="-120"/>
              </a:rPr>
              <a:t> the night there.</a:t>
            </a:r>
            <a:endParaRPr lang="en-US" sz="1150" dirty="0"/>
          </a:p>
        </p:txBody>
      </p:sp>
      <p:sp>
        <p:nvSpPr>
          <p:cNvPr id="30" name="R4_slA451"/>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going</a:t>
            </a:r>
            <a:pPr indent="0" marL="0">
              <a:buNone/>
            </a:pPr>
            <a:r>
              <a:rPr lang="en-US" sz="1150" dirty="0">
                <a:solidFill>
                  <a:srgbClr val="1B2559"/>
                </a:solidFill>
                <a:latin typeface="Segoe UI" pitchFamily="34" charset="0"/>
                <a:ea typeface="Segoe UI" pitchFamily="34" charset="-122"/>
                <a:cs typeface="Segoe UI" pitchFamily="34" charset="-120"/>
              </a:rPr>
              <a:t> to a party at Katie's. 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'm staying</a:t>
            </a:r>
            <a:pPr indent="0" marL="0">
              <a:buNone/>
            </a:pPr>
            <a:r>
              <a:rPr lang="en-US" sz="1150" dirty="0">
                <a:solidFill>
                  <a:srgbClr val="1B2559"/>
                </a:solidFill>
                <a:latin typeface="Segoe UI" pitchFamily="34" charset="0"/>
                <a:ea typeface="Segoe UI" pitchFamily="34" charset="-122"/>
                <a:cs typeface="Segoe UI" pitchFamily="34" charset="-120"/>
              </a:rPr>
              <a:t> the night there.</a:t>
            </a:r>
            <a:endParaRPr lang="en-US" sz="1150" dirty="0"/>
          </a:p>
        </p:txBody>
      </p:sp>
      <p:sp>
        <p:nvSpPr>
          <p:cNvPr id="31" name="who_452"/>
          <p:cNvSpPr/>
          <p:nvPr/>
        </p:nvSpPr>
        <p:spPr>
          <a:xfrm>
            <a:off x="3108960" y="32918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Dad</a:t>
            </a:r>
            <a:endParaRPr lang="en-US" sz="950" dirty="0"/>
          </a:p>
        </p:txBody>
      </p:sp>
      <p:sp>
        <p:nvSpPr>
          <p:cNvPr id="32" name="sl_453"/>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Where's your coat? It</a:t>
            </a:r>
            <a:pPr indent="0" marL="0">
              <a:buNone/>
            </a:pPr>
            <a:r>
              <a:rPr lang="en-US" sz="1150" dirty="0">
                <a:solidFill>
                  <a:srgbClr val="1B2559"/>
                </a:solidFill>
                <a:latin typeface="Segoe UI" pitchFamily="34" charset="0"/>
                <a:ea typeface="Segoe UI" pitchFamily="34" charset="-122"/>
                <a:cs typeface="Segoe UI" pitchFamily="34" charset="-120"/>
              </a:rPr>
              <a:t>'s going to be</a:t>
            </a:r>
            <a:pPr indent="0" marL="0">
              <a:buNone/>
            </a:pPr>
            <a:r>
              <a:rPr lang="en-US" sz="1150" dirty="0">
                <a:solidFill>
                  <a:srgbClr val="1B2559"/>
                </a:solidFill>
                <a:latin typeface="Segoe UI" pitchFamily="34" charset="0"/>
                <a:ea typeface="Segoe UI" pitchFamily="34" charset="-122"/>
                <a:cs typeface="Segoe UI" pitchFamily="34" charset="-120"/>
              </a:rPr>
              <a:t> cold tonight!</a:t>
            </a:r>
            <a:endParaRPr lang="en-US" sz="1150" dirty="0"/>
          </a:p>
        </p:txBody>
      </p:sp>
      <p:sp>
        <p:nvSpPr>
          <p:cNvPr id="33" name="R5_slA454"/>
          <p:cNvSpPr/>
          <p:nvPr/>
        </p:nvSpPr>
        <p:spPr>
          <a:xfrm>
            <a:off x="4114800" y="32735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Where's your coat? It</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's going to be</a:t>
            </a:r>
            <a:pPr indent="0" marL="0">
              <a:buNone/>
            </a:pPr>
            <a:r>
              <a:rPr lang="en-US" sz="1150" dirty="0">
                <a:solidFill>
                  <a:srgbClr val="1B2559"/>
                </a:solidFill>
                <a:latin typeface="Segoe UI" pitchFamily="34" charset="0"/>
                <a:ea typeface="Segoe UI" pitchFamily="34" charset="-122"/>
                <a:cs typeface="Segoe UI" pitchFamily="34" charset="-120"/>
              </a:rPr>
              <a:t> cold tonight!</a:t>
            </a:r>
            <a:endParaRPr lang="en-US" sz="1150" dirty="0"/>
          </a:p>
        </p:txBody>
      </p:sp>
      <p:sp>
        <p:nvSpPr>
          <p:cNvPr id="34" name="who_455"/>
          <p:cNvSpPr/>
          <p:nvPr/>
        </p:nvSpPr>
        <p:spPr>
          <a:xfrm>
            <a:off x="3108960" y="37490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Woman</a:t>
            </a:r>
            <a:endParaRPr lang="en-US" sz="950" dirty="0"/>
          </a:p>
        </p:txBody>
      </p:sp>
      <p:sp>
        <p:nvSpPr>
          <p:cNvPr id="35" name="sl_456"/>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 </a:t>
            </a:r>
            <a:pPr indent="0" marL="0">
              <a:buNone/>
            </a:pPr>
            <a:r>
              <a:rPr lang="en-US" sz="1150" dirty="0">
                <a:solidFill>
                  <a:srgbClr val="1B2559"/>
                </a:solidFill>
                <a:latin typeface="Segoe UI" pitchFamily="34" charset="0"/>
                <a:ea typeface="Segoe UI" pitchFamily="34" charset="-122"/>
                <a:cs typeface="Segoe UI" pitchFamily="34" charset="-120"/>
              </a:rPr>
              <a:t>won't look after</a:t>
            </a:r>
            <a:pPr indent="0" marL="0">
              <a:buNone/>
            </a:pPr>
            <a:r>
              <a:rPr lang="en-US" sz="1150" dirty="0">
                <a:solidFill>
                  <a:srgbClr val="1B2559"/>
                </a:solidFill>
                <a:latin typeface="Segoe UI" pitchFamily="34" charset="0"/>
                <a:ea typeface="Segoe UI" pitchFamily="34" charset="-122"/>
                <a:cs typeface="Segoe UI" pitchFamily="34" charset="-120"/>
              </a:rPr>
              <a:t> it. You</a:t>
            </a:r>
            <a:pPr indent="0" marL="0">
              <a:buNone/>
            </a:pPr>
            <a:r>
              <a:rPr lang="en-US" sz="1150" dirty="0">
                <a:solidFill>
                  <a:srgbClr val="1B2559"/>
                </a:solidFill>
                <a:latin typeface="Segoe UI" pitchFamily="34" charset="0"/>
                <a:ea typeface="Segoe UI" pitchFamily="34" charset="-122"/>
                <a:cs typeface="Segoe UI" pitchFamily="34" charset="-120"/>
              </a:rPr>
              <a:t>'ll drive</a:t>
            </a:r>
            <a:pPr indent="0" marL="0">
              <a:buNone/>
            </a:pPr>
            <a:r>
              <a:rPr lang="en-US" sz="1150" dirty="0">
                <a:solidFill>
                  <a:srgbClr val="1B2559"/>
                </a:solidFill>
                <a:latin typeface="Segoe UI" pitchFamily="34" charset="0"/>
                <a:ea typeface="Segoe UI" pitchFamily="34" charset="-122"/>
                <a:cs typeface="Segoe UI" pitchFamily="34" charset="-120"/>
              </a:rPr>
              <a:t> too fast.</a:t>
            </a:r>
            <a:endParaRPr lang="en-US" sz="1150" dirty="0"/>
          </a:p>
        </p:txBody>
      </p:sp>
      <p:sp>
        <p:nvSpPr>
          <p:cNvPr id="36" name="R6_slA457"/>
          <p:cNvSpPr/>
          <p:nvPr/>
        </p:nvSpPr>
        <p:spPr>
          <a:xfrm>
            <a:off x="4114800" y="37307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won't look after</a:t>
            </a:r>
            <a:pPr indent="0" marL="0">
              <a:buNone/>
            </a:pPr>
            <a:r>
              <a:rPr lang="en-US" sz="1150" dirty="0">
                <a:solidFill>
                  <a:srgbClr val="1B2559"/>
                </a:solidFill>
                <a:latin typeface="Segoe UI" pitchFamily="34" charset="0"/>
                <a:ea typeface="Segoe UI" pitchFamily="34" charset="-122"/>
                <a:cs typeface="Segoe UI" pitchFamily="34" charset="-120"/>
              </a:rPr>
              <a:t> it. You</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'll drive</a:t>
            </a:r>
            <a:pPr indent="0" marL="0">
              <a:buNone/>
            </a:pPr>
            <a:r>
              <a:rPr lang="en-US" sz="1150" dirty="0">
                <a:solidFill>
                  <a:srgbClr val="1B2559"/>
                </a:solidFill>
                <a:latin typeface="Segoe UI" pitchFamily="34" charset="0"/>
                <a:ea typeface="Segoe UI" pitchFamily="34" charset="-122"/>
                <a:cs typeface="Segoe UI" pitchFamily="34" charset="-120"/>
              </a:rPr>
              <a:t> too fast.</a:t>
            </a:r>
            <a:endParaRPr lang="en-US" sz="1150" dirty="0"/>
          </a:p>
        </p:txBody>
      </p:sp>
      <p:sp>
        <p:nvSpPr>
          <p:cNvPr id="37" name="who_458"/>
          <p:cNvSpPr/>
          <p:nvPr/>
        </p:nvSpPr>
        <p:spPr>
          <a:xfrm>
            <a:off x="3108960" y="42062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Man</a:t>
            </a:r>
            <a:endParaRPr lang="en-US" sz="950" dirty="0"/>
          </a:p>
        </p:txBody>
      </p:sp>
      <p:sp>
        <p:nvSpPr>
          <p:cNvPr id="38" name="sl_459"/>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won't</a:t>
            </a:r>
            <a:pPr indent="0" marL="0">
              <a:buNone/>
            </a:pPr>
            <a:r>
              <a:rPr lang="en-US" sz="1150" dirty="0">
                <a:solidFill>
                  <a:srgbClr val="1B2559"/>
                </a:solidFill>
                <a:latin typeface="Segoe UI" pitchFamily="34" charset="0"/>
                <a:ea typeface="Segoe UI" pitchFamily="34" charset="-122"/>
                <a:cs typeface="Segoe UI" pitchFamily="34" charset="-120"/>
              </a:rPr>
              <a:t>, I promise. I</a:t>
            </a:r>
            <a:pPr indent="0" marL="0">
              <a:buNone/>
            </a:pPr>
            <a:r>
              <a:rPr lang="en-US" sz="1150" dirty="0">
                <a:solidFill>
                  <a:srgbClr val="1B2559"/>
                </a:solidFill>
                <a:latin typeface="Segoe UI" pitchFamily="34" charset="0"/>
                <a:ea typeface="Segoe UI" pitchFamily="34" charset="-122"/>
                <a:cs typeface="Segoe UI" pitchFamily="34" charset="-120"/>
              </a:rPr>
              <a:t>'ll be</a:t>
            </a:r>
            <a:pPr indent="0" marL="0">
              <a:buNone/>
            </a:pPr>
            <a:r>
              <a:rPr lang="en-US" sz="1150" dirty="0">
                <a:solidFill>
                  <a:srgbClr val="1B2559"/>
                </a:solidFill>
                <a:latin typeface="Segoe UI" pitchFamily="34" charset="0"/>
                <a:ea typeface="Segoe UI" pitchFamily="34" charset="-122"/>
                <a:cs typeface="Segoe UI" pitchFamily="34" charset="-120"/>
              </a:rPr>
              <a:t> really careful.</a:t>
            </a:r>
            <a:endParaRPr lang="en-US" sz="1150" dirty="0"/>
          </a:p>
        </p:txBody>
      </p:sp>
      <p:sp>
        <p:nvSpPr>
          <p:cNvPr id="39" name="R7_slA460"/>
          <p:cNvSpPr/>
          <p:nvPr/>
        </p:nvSpPr>
        <p:spPr>
          <a:xfrm>
            <a:off x="4114800" y="41879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won't</a:t>
            </a:r>
            <a:pPr indent="0" marL="0">
              <a:buNone/>
            </a:pPr>
            <a:r>
              <a:rPr lang="en-US" sz="1150" dirty="0">
                <a:solidFill>
                  <a:srgbClr val="1B2559"/>
                </a:solidFill>
                <a:latin typeface="Segoe UI" pitchFamily="34" charset="0"/>
                <a:ea typeface="Segoe UI" pitchFamily="34" charset="-122"/>
                <a:cs typeface="Segoe UI" pitchFamily="34" charset="-120"/>
              </a:rPr>
              <a:t>, I promise. I</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'll be</a:t>
            </a:r>
            <a:pPr indent="0" marL="0">
              <a:buNone/>
            </a:pPr>
            <a:r>
              <a:rPr lang="en-US" sz="1150" dirty="0">
                <a:solidFill>
                  <a:srgbClr val="1B2559"/>
                </a:solidFill>
                <a:latin typeface="Segoe UI" pitchFamily="34" charset="0"/>
                <a:ea typeface="Segoe UI" pitchFamily="34" charset="-122"/>
                <a:cs typeface="Segoe UI" pitchFamily="34" charset="-120"/>
              </a:rPr>
              <a:t> really careful.</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2"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63"/>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Plan, prediction or promise?</a:t>
            </a:r>
            <a:endParaRPr lang="en-US" sz="2500" dirty="0"/>
          </a:p>
        </p:txBody>
      </p:sp>
      <p:pic>
        <p:nvPicPr>
          <p:cNvPr id="6" name="brP_464"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65"/>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Plan, prediction, offer…? Match the colour.</a:t>
            </a:r>
            <a:endParaRPr lang="en-US" sz="1250" dirty="0"/>
          </a:p>
        </p:txBody>
      </p:sp>
      <p:sp>
        <p:nvSpPr>
          <p:cNvPr id="8" name="insIT_4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Piano, previsione, offerta…? Abbina il colore.</a:t>
            </a:r>
            <a:endParaRPr lang="en-US" sz="950" dirty="0"/>
          </a:p>
        </p:txBody>
      </p:sp>
      <p:sp>
        <p:nvSpPr>
          <p:cNvPr id="9" name="cmd_46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6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6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Grammar · future forms   ·   📖 SB p.11 · 2c</a:t>
            </a:r>
            <a:endParaRPr lang="en-US" sz="800" dirty="0"/>
          </a:p>
        </p:txBody>
      </p:sp>
      <p:sp>
        <p:nvSpPr>
          <p:cNvPr id="14" name="cd_472"/>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75"/>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7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plan</a:t>
            </a:r>
            <a:endParaRPr lang="en-US" sz="1050" dirty="0"/>
          </a:p>
        </p:txBody>
      </p:sp>
      <p:sp>
        <p:nvSpPr>
          <p:cNvPr id="19" name="lg_47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prediction</a:t>
            </a:r>
            <a:endParaRPr lang="en-US" sz="1050" dirty="0"/>
          </a:p>
        </p:txBody>
      </p:sp>
      <p:sp>
        <p:nvSpPr>
          <p:cNvPr id="20" name="lg_47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offer</a:t>
            </a:r>
            <a:endParaRPr lang="en-US" sz="1050" dirty="0"/>
          </a:p>
        </p:txBody>
      </p:sp>
      <p:sp>
        <p:nvSpPr>
          <p:cNvPr id="21" name="lg_47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arrangement</a:t>
            </a:r>
            <a:endParaRPr lang="en-US" sz="1050" dirty="0"/>
          </a:p>
        </p:txBody>
      </p:sp>
      <p:sp>
        <p:nvSpPr>
          <p:cNvPr id="22" name="lg_480"/>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promise</a:t>
            </a:r>
            <a:endParaRPr lang="en-US" sz="1050" dirty="0"/>
          </a:p>
        </p:txBody>
      </p:sp>
      <p:sp>
        <p:nvSpPr>
          <p:cNvPr id="23" name="sq_481"/>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I'm not going to go to university.</a:t>
            </a:r>
            <a:endParaRPr lang="en-US" sz="1200" dirty="0"/>
          </a:p>
        </p:txBody>
      </p:sp>
      <p:sp>
        <p:nvSpPr>
          <p:cNvPr id="24" name="R1_tag482"/>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plan</a:t>
            </a:r>
            <a:endParaRPr lang="en-US" sz="1150" dirty="0"/>
          </a:p>
        </p:txBody>
      </p:sp>
      <p:sp>
        <p:nvSpPr>
          <p:cNvPr id="25" name="sq_483"/>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Shall I make you a cup of tea?</a:t>
            </a:r>
            <a:endParaRPr lang="en-US" sz="1200" dirty="0"/>
          </a:p>
        </p:txBody>
      </p:sp>
      <p:sp>
        <p:nvSpPr>
          <p:cNvPr id="26" name="R2_tag484"/>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offer</a:t>
            </a:r>
            <a:endParaRPr lang="en-US" sz="1150" dirty="0"/>
          </a:p>
        </p:txBody>
      </p:sp>
      <p:sp>
        <p:nvSpPr>
          <p:cNvPr id="27" name="sq_485"/>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staying the night there.</a:t>
            </a:r>
            <a:endParaRPr lang="en-US" sz="1200" dirty="0"/>
          </a:p>
        </p:txBody>
      </p:sp>
      <p:sp>
        <p:nvSpPr>
          <p:cNvPr id="28" name="R3_tag486"/>
          <p:cNvSpPr/>
          <p:nvPr/>
        </p:nvSpPr>
        <p:spPr>
          <a:xfrm>
            <a:off x="7178040" y="2496312"/>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arrangement</a:t>
            </a:r>
            <a:endParaRPr lang="en-US" sz="1150" dirty="0"/>
          </a:p>
        </p:txBody>
      </p:sp>
      <p:sp>
        <p:nvSpPr>
          <p:cNvPr id="29" name="sq_487"/>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It's going to be cold tonight.</a:t>
            </a:r>
            <a:endParaRPr lang="en-US" sz="1200" dirty="0"/>
          </a:p>
        </p:txBody>
      </p:sp>
      <p:sp>
        <p:nvSpPr>
          <p:cNvPr id="30" name="R4_tag488"/>
          <p:cNvSpPr/>
          <p:nvPr/>
        </p:nvSpPr>
        <p:spPr>
          <a:xfrm>
            <a:off x="7178040" y="3035808"/>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1" name="sq_489"/>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You'll drive too fast.</a:t>
            </a:r>
            <a:endParaRPr lang="en-US" sz="1200" dirty="0"/>
          </a:p>
        </p:txBody>
      </p:sp>
      <p:sp>
        <p:nvSpPr>
          <p:cNvPr id="32" name="R5_tag490"/>
          <p:cNvSpPr/>
          <p:nvPr/>
        </p:nvSpPr>
        <p:spPr>
          <a:xfrm>
            <a:off x="7178040" y="3575304"/>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prediction</a:t>
            </a:r>
            <a:endParaRPr lang="en-US" sz="1150" dirty="0"/>
          </a:p>
        </p:txBody>
      </p:sp>
      <p:sp>
        <p:nvSpPr>
          <p:cNvPr id="33" name="sq_491"/>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I'll be really careful.</a:t>
            </a:r>
            <a:endParaRPr lang="en-US" sz="1200" dirty="0"/>
          </a:p>
        </p:txBody>
      </p:sp>
      <p:sp>
        <p:nvSpPr>
          <p:cNvPr id="34" name="R6_tag492"/>
          <p:cNvSpPr/>
          <p:nvPr/>
        </p:nvSpPr>
        <p:spPr>
          <a:xfrm>
            <a:off x="7178040" y="4114800"/>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promise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9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about the future</a:t>
            </a:r>
            <a:endParaRPr lang="en-US" sz="2500" dirty="0"/>
          </a:p>
        </p:txBody>
      </p:sp>
      <p:pic>
        <p:nvPicPr>
          <p:cNvPr id="6" name="brP_49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9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Which form?</a:t>
            </a:r>
            <a:endParaRPr lang="en-US" sz="1250" dirty="0"/>
          </a:p>
        </p:txBody>
      </p:sp>
      <p:sp>
        <p:nvSpPr>
          <p:cNvPr id="8" name="insIT_4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Quale forma?</a:t>
            </a:r>
            <a:endParaRPr lang="en-US" sz="950" dirty="0"/>
          </a:p>
        </p:txBody>
      </p:sp>
      <p:sp>
        <p:nvSpPr>
          <p:cNvPr id="9" name="cmd_4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5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Grammar · the rule   ·   📖 Grammar Bank 1B p.133 · audio 1.16</a:t>
            </a:r>
            <a:endParaRPr lang="en-US" sz="800" dirty="0"/>
          </a:p>
        </p:txBody>
      </p:sp>
      <p:sp>
        <p:nvSpPr>
          <p:cNvPr id="14" name="ap_504"/>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1.16</a:t>
            </a:r>
            <a:endParaRPr lang="en-US" sz="1100" dirty="0"/>
          </a:p>
        </p:txBody>
      </p:sp>
      <p:sp>
        <p:nvSpPr>
          <p:cNvPr id="15" name="ah_50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506"/>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07"/>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going to</a:t>
            </a:r>
            <a:endParaRPr lang="en-US" sz="1250" dirty="0"/>
          </a:p>
        </p:txBody>
      </p:sp>
      <p:sp>
        <p:nvSpPr>
          <p:cNvPr id="20" name="pf_508"/>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09" descr="/home/claude/lls-course/v2/cache/1b1_cloud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51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plans · predictions you can SEE</a:t>
            </a:r>
            <a:endParaRPr lang="en-US" sz="1050" dirty="0"/>
          </a:p>
        </p:txBody>
      </p:sp>
      <p:sp>
        <p:nvSpPr>
          <p:cNvPr id="23" name="R1_rx51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050" dirty="0"/>
          </a:p>
        </p:txBody>
      </p:sp>
      <p:sp>
        <p:nvSpPr>
          <p:cNvPr id="24" name="R1_ri51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intenzione · sta per…</a:t>
            </a:r>
            <a:endParaRPr lang="en-US" sz="900" dirty="0"/>
          </a:p>
        </p:txBody>
      </p:sp>
      <p:sp>
        <p:nvSpPr>
          <p:cNvPr id="25" name="cd_513"/>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14"/>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515"/>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16" descr="/home/claude/lls-course/v2/cache/1b1_diary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51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arrangements (day, time, place fixed)</a:t>
            </a:r>
            <a:endParaRPr lang="en-US" sz="1050" dirty="0"/>
          </a:p>
        </p:txBody>
      </p:sp>
      <p:sp>
        <p:nvSpPr>
          <p:cNvPr id="30" name="R2_rx51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staying at Katie's tonight.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We're going to a wedding on Saturday.</a:t>
            </a:r>
            <a:endParaRPr lang="en-US" sz="1050" dirty="0"/>
          </a:p>
        </p:txBody>
      </p:sp>
      <p:sp>
        <p:nvSpPr>
          <p:cNvPr id="31" name="R2_ri51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già organizzato</a:t>
            </a:r>
            <a:endParaRPr lang="en-US" sz="900" dirty="0"/>
          </a:p>
        </p:txBody>
      </p:sp>
      <p:sp>
        <p:nvSpPr>
          <p:cNvPr id="32" name="cd_520"/>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2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will / won't</a:t>
            </a:r>
            <a:endParaRPr lang="en-US" sz="1250" dirty="0"/>
          </a:p>
        </p:txBody>
      </p:sp>
      <p:sp>
        <p:nvSpPr>
          <p:cNvPr id="34" name="pf_522"/>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23" descr="/home/claude/lls-course/v2/cache/1b1_bags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52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offers · promises · instant decisions · predictions</a:t>
            </a:r>
            <a:endParaRPr lang="en-US" sz="1050" dirty="0"/>
          </a:p>
        </p:txBody>
      </p:sp>
      <p:sp>
        <p:nvSpPr>
          <p:cNvPr id="37" name="R3_rx52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I'll carry that for you!</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won't tell anybody.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you'll pass.</a:t>
            </a:r>
            <a:endParaRPr lang="en-US" sz="1050" dirty="0"/>
          </a:p>
        </p:txBody>
      </p:sp>
      <p:sp>
        <p:nvSpPr>
          <p:cNvPr id="38" name="R3_ri52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850" i="1" dirty="0">
                <a:solidFill>
                  <a:srgbClr val="5B6785"/>
                </a:solidFill>
                <a:latin typeface="Segoe UI" pitchFamily="34" charset="0"/>
                <a:ea typeface="Segoe UI" pitchFamily="34" charset="-122"/>
                <a:cs typeface="Segoe UI" pitchFamily="34" charset="-120"/>
              </a:rPr>
              <a:t>decisione sul momento, promessa</a:t>
            </a:r>
            <a:endParaRPr lang="en-US" sz="850" dirty="0"/>
          </a:p>
        </p:txBody>
      </p:sp>
      <p:sp>
        <p:nvSpPr>
          <p:cNvPr id="39" name="cd_527"/>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52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Shall I / we…?</a:t>
            </a:r>
            <a:endParaRPr lang="en-US" sz="1250" dirty="0"/>
          </a:p>
        </p:txBody>
      </p:sp>
      <p:sp>
        <p:nvSpPr>
          <p:cNvPr id="41" name="pf_529"/>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530" descr="/home/claude/lls-course/v2/cache/1b1_conv_c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53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offers &amp; suggestions (questions)</a:t>
            </a:r>
            <a:endParaRPr lang="en-US" sz="1050" dirty="0"/>
          </a:p>
        </p:txBody>
      </p:sp>
      <p:sp>
        <p:nvSpPr>
          <p:cNvPr id="44" name="R4_rx53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Shall we eat out tonight?</a:t>
            </a:r>
            <a:endParaRPr lang="en-US" sz="1050" dirty="0"/>
          </a:p>
        </p:txBody>
      </p:sp>
      <p:sp>
        <p:nvSpPr>
          <p:cNvPr id="45" name="R4_ri53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Vuoi che…? · Che ne dici se…?</a:t>
            </a:r>
            <a:endParaRPr lang="en-US" sz="900" dirty="0"/>
          </a:p>
        </p:txBody>
      </p:sp>
      <p:sp>
        <p:nvSpPr>
          <p:cNvPr id="46" name="R5_wc53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53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Italian present ≠ English future:  ✗ Tomorrow I go to Palermo → ✓ I'm going to Palermo tomorrow.   ✗ I carry your bag → ✓ I'll carry 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3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Quick! Say it!</a:t>
            </a:r>
            <a:endParaRPr lang="en-US" sz="25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4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reply!</a:t>
            </a:r>
            <a:endParaRPr lang="en-US" sz="1250" dirty="0"/>
          </a:p>
        </p:txBody>
      </p:sp>
      <p:sp>
        <p:nvSpPr>
          <p:cNvPr id="8" name="insIT_5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situazione. Di' la risposta!</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Grammar game</a:t>
            </a:r>
            <a:endParaRPr lang="en-US" sz="800" dirty="0"/>
          </a:p>
        </p:txBody>
      </p:sp>
      <p:sp>
        <p:nvSpPr>
          <p:cNvPr id="14" name="cd_54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5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Read the situation.</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Leggi la situazione.</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Teams: say the reply in 10 seconds.</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Squadre: dite la risposta in 10 secondi.</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Right future form = 1 point.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Forma giusta = 1 punto.</a:t>
            </a:r>
            <a:endParaRPr lang="en-US" sz="1150" dirty="0"/>
          </a:p>
        </p:txBody>
      </p:sp>
      <p:sp>
        <p:nvSpPr>
          <p:cNvPr id="18" name="st_551"/>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5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5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really hot in here."</a:t>
            </a:r>
            <a:endParaRPr lang="en-US" sz="1100" dirty="0"/>
          </a:p>
        </p:txBody>
      </p:sp>
      <p:sp>
        <p:nvSpPr>
          <p:cNvPr id="21" name="R1_chip55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Shall I open the window? (offer)</a:t>
            </a:r>
            <a:endParaRPr lang="en-US" sz="1100" dirty="0"/>
          </a:p>
        </p:txBody>
      </p:sp>
      <p:sp>
        <p:nvSpPr>
          <p:cNvPr id="22" name="bd_55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5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those black clouds!"</a:t>
            </a:r>
            <a:endParaRPr lang="en-US" sz="1100" dirty="0"/>
          </a:p>
        </p:txBody>
      </p:sp>
      <p:sp>
        <p:nvSpPr>
          <p:cNvPr id="24" name="R2_chip55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going to rain. (prediction)</a:t>
            </a:r>
            <a:endParaRPr lang="en-US" sz="1100" dirty="0"/>
          </a:p>
        </p:txBody>
      </p:sp>
      <p:sp>
        <p:nvSpPr>
          <p:cNvPr id="25" name="bd_55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5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tell anyone my secret!"</a:t>
            </a:r>
            <a:endParaRPr lang="en-US" sz="1100" dirty="0"/>
          </a:p>
        </p:txBody>
      </p:sp>
      <p:sp>
        <p:nvSpPr>
          <p:cNvPr id="27" name="R3_chip56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I promise.</a:t>
            </a:r>
            <a:endParaRPr lang="en-US" sz="1100" dirty="0"/>
          </a:p>
        </p:txBody>
      </p:sp>
      <p:sp>
        <p:nvSpPr>
          <p:cNvPr id="28" name="bd_56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6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Waiter: "Pizza or pasta?"</a:t>
            </a:r>
            <a:endParaRPr lang="en-US" sz="1100" dirty="0"/>
          </a:p>
        </p:txBody>
      </p:sp>
      <p:sp>
        <p:nvSpPr>
          <p:cNvPr id="30" name="R4_chip56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have the pizza, please.</a:t>
            </a:r>
            <a:endParaRPr lang="en-US" sz="1100" dirty="0"/>
          </a:p>
        </p:txBody>
      </p:sp>
      <p:sp>
        <p:nvSpPr>
          <p:cNvPr id="31" name="bd_56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6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"Free on Saturday?" (dinner with cousins – booked)</a:t>
            </a:r>
            <a:endParaRPr lang="en-US" sz="1100" dirty="0"/>
          </a:p>
        </p:txBody>
      </p:sp>
      <p:sp>
        <p:nvSpPr>
          <p:cNvPr id="33" name="R5_chip56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I'm having dinner with my cousins.</a:t>
            </a:r>
            <a:endParaRPr lang="en-US" sz="1100" dirty="0"/>
          </a:p>
        </p:txBody>
      </p:sp>
      <p:sp>
        <p:nvSpPr>
          <p:cNvPr id="34" name="bd_56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6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mum's bags are really heavy.</a:t>
            </a:r>
            <a:endParaRPr lang="en-US" sz="1100" dirty="0"/>
          </a:p>
        </p:txBody>
      </p:sp>
      <p:sp>
        <p:nvSpPr>
          <p:cNvPr id="36" name="R6_chip56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them for you!</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7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7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5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77"/>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7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Pronunciation · sentence stress   ·   📖 SB p.11 · 3b, 3c, 3d · audio 1.21</a:t>
            </a:r>
            <a:endParaRPr lang="en-US" sz="800" dirty="0"/>
          </a:p>
        </p:txBody>
      </p:sp>
      <p:sp>
        <p:nvSpPr>
          <p:cNvPr id="15" name="ap_582"/>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1.21  ·  pause after each sentence</a:t>
            </a:r>
            <a:endParaRPr lang="en-US" sz="1100" dirty="0"/>
          </a:p>
        </p:txBody>
      </p:sp>
      <p:sp>
        <p:nvSpPr>
          <p:cNvPr id="16" name="ah_58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584"/>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585"/>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6"/>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587"/>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3" name="pf_588"/>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89" descr="/home/claude/lls-course/v2/cache/sb_pregnant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5" name="bd_590"/>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591"/>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sister's</a:t>
            </a:r>
            <a:endParaRPr lang="en-US" sz="1150" dirty="0"/>
          </a:p>
        </p:txBody>
      </p:sp>
      <p:sp>
        <p:nvSpPr>
          <p:cNvPr id="27" name="R1_sw592"/>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having</a:t>
            </a:r>
            <a:endParaRPr lang="en-US" sz="1150" dirty="0"/>
          </a:p>
        </p:txBody>
      </p:sp>
      <p:sp>
        <p:nvSpPr>
          <p:cNvPr id="28" name="R1_sw593"/>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baby</a:t>
            </a:r>
            <a:endParaRPr lang="en-US" sz="1150" dirty="0"/>
          </a:p>
        </p:txBody>
      </p:sp>
      <p:sp>
        <p:nvSpPr>
          <p:cNvPr id="29" name="R1_sw594"/>
          <p:cNvSpPr/>
          <p:nvPr/>
        </p:nvSpPr>
        <p:spPr>
          <a:xfrm>
            <a:off x="6821424"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April</a:t>
            </a:r>
            <a:endParaRPr lang="en-US" sz="1150" dirty="0"/>
          </a:p>
        </p:txBody>
      </p:sp>
      <p:sp>
        <p:nvSpPr>
          <p:cNvPr id="30" name="R2_sf595"/>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My sister's having a baby in April.</a:t>
            </a:r>
            <a:endParaRPr lang="en-US" sz="1100" dirty="0"/>
          </a:p>
        </p:txBody>
      </p:sp>
      <p:sp>
        <p:nvSpPr>
          <p:cNvPr id="31" name="bd_596"/>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597"/>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anyone</a:t>
            </a:r>
            <a:endParaRPr lang="en-US" sz="1150" dirty="0"/>
          </a:p>
        </p:txBody>
      </p:sp>
      <p:sp>
        <p:nvSpPr>
          <p:cNvPr id="33" name="R3_sw598"/>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family</a:t>
            </a:r>
            <a:endParaRPr lang="en-US" sz="1150" dirty="0"/>
          </a:p>
        </p:txBody>
      </p:sp>
      <p:sp>
        <p:nvSpPr>
          <p:cNvPr id="34" name="R3_sw599"/>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moving</a:t>
            </a:r>
            <a:endParaRPr lang="en-US" sz="1150" dirty="0"/>
          </a:p>
        </p:txBody>
      </p:sp>
      <p:sp>
        <p:nvSpPr>
          <p:cNvPr id="35" name="R3_sw600"/>
          <p:cNvSpPr/>
          <p:nvPr/>
        </p:nvSpPr>
        <p:spPr>
          <a:xfrm>
            <a:off x="6821424"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house</a:t>
            </a:r>
            <a:endParaRPr lang="en-US" sz="1150" dirty="0"/>
          </a:p>
        </p:txBody>
      </p:sp>
      <p:sp>
        <p:nvSpPr>
          <p:cNvPr id="36" name="R3_sw601"/>
          <p:cNvSpPr/>
          <p:nvPr/>
        </p:nvSpPr>
        <p:spPr>
          <a:xfrm>
            <a:off x="7845552"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soon</a:t>
            </a:r>
            <a:endParaRPr lang="en-US" sz="1150" dirty="0"/>
          </a:p>
        </p:txBody>
      </p:sp>
      <p:sp>
        <p:nvSpPr>
          <p:cNvPr id="37" name="R4_sf602"/>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Is anyone in your family moving house soon?</a:t>
            </a:r>
            <a:endParaRPr lang="en-US" sz="1100" dirty="0"/>
          </a:p>
        </p:txBody>
      </p:sp>
      <p:sp>
        <p:nvSpPr>
          <p:cNvPr id="38" name="bd_603"/>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9" name="R5_sw604"/>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see</a:t>
            </a:r>
            <a:endParaRPr lang="en-US" sz="1150" dirty="0"/>
          </a:p>
        </p:txBody>
      </p:sp>
      <p:sp>
        <p:nvSpPr>
          <p:cNvPr id="40" name="R5_sw605"/>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parents</a:t>
            </a:r>
            <a:endParaRPr lang="en-US" sz="1150" dirty="0"/>
          </a:p>
        </p:txBody>
      </p:sp>
      <p:sp>
        <p:nvSpPr>
          <p:cNvPr id="41" name="R5_sw606"/>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weekend</a:t>
            </a:r>
            <a:endParaRPr lang="en-US" sz="1150" dirty="0"/>
          </a:p>
        </p:txBody>
      </p:sp>
      <p:sp>
        <p:nvSpPr>
          <p:cNvPr id="42" name="R6_sf607"/>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Are you going to see your parents at the weekend?</a:t>
            </a:r>
            <a:endParaRPr lang="en-US" sz="1100" dirty="0"/>
          </a:p>
        </p:txBody>
      </p:sp>
      <p:sp>
        <p:nvSpPr>
          <p:cNvPr id="43" name="bd_608"/>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4" name="R7_sw609"/>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think</a:t>
            </a:r>
            <a:endParaRPr lang="en-US" sz="1150" dirty="0"/>
          </a:p>
        </p:txBody>
      </p:sp>
      <p:sp>
        <p:nvSpPr>
          <p:cNvPr id="45" name="R7_sw610"/>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live</a:t>
            </a:r>
            <a:endParaRPr lang="en-US" sz="1150" dirty="0"/>
          </a:p>
        </p:txBody>
      </p:sp>
      <p:sp>
        <p:nvSpPr>
          <p:cNvPr id="46" name="R7_sw611"/>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home</a:t>
            </a:r>
            <a:endParaRPr lang="en-US" sz="1150" dirty="0"/>
          </a:p>
        </p:txBody>
      </p:sp>
      <p:sp>
        <p:nvSpPr>
          <p:cNvPr id="47" name="R7_sw612"/>
          <p:cNvSpPr/>
          <p:nvPr/>
        </p:nvSpPr>
        <p:spPr>
          <a:xfrm>
            <a:off x="6821424"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next</a:t>
            </a:r>
            <a:endParaRPr lang="en-US" sz="1150" dirty="0"/>
          </a:p>
        </p:txBody>
      </p:sp>
      <p:sp>
        <p:nvSpPr>
          <p:cNvPr id="48" name="R7_sw613"/>
          <p:cNvSpPr/>
          <p:nvPr/>
        </p:nvSpPr>
        <p:spPr>
          <a:xfrm>
            <a:off x="7845552"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year</a:t>
            </a:r>
            <a:endParaRPr lang="en-US" sz="1150" dirty="0"/>
          </a:p>
        </p:txBody>
      </p:sp>
      <p:sp>
        <p:nvSpPr>
          <p:cNvPr id="49" name="R8_sf614"/>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Do you think you'll live at home next year?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400"/>
                                        <p:tgtEl>
                                          <p:spTgt spid="3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9"/>
                                        </p:tgtEl>
                                        <p:attrNameLst>
                                          <p:attrName>style.visibility</p:attrName>
                                        </p:attrNameLst>
                                      </p:cBhvr>
                                      <p:to>
                                        <p:strVal val="visible"/>
                                      </p:to>
                                    </p:set>
                                    <p:animEffect transition="in" filter="fade">
                                      <p:cBhvr>
                                        <p:cTn id="48" dur="400"/>
                                        <p:tgtEl>
                                          <p:spTgt spid="39"/>
                                        </p:tgtEl>
                                      </p:cBhvr>
                                    </p:animEffect>
                                  </p:childTnLst>
                                </p:cTn>
                              </p:par>
                              <p:par>
                                <p:cTn id="49" presetID="10" presetClass="entr" presetSubtype="0" fill="hold"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400"/>
                                        <p:tgtEl>
                                          <p:spTgt spid="4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49"/>
                                        </p:tgtEl>
                                        <p:attrNameLst>
                                          <p:attrName>style.visibility</p:attrName>
                                        </p:attrNameLst>
                                      </p:cBhvr>
                                      <p:to>
                                        <p:strVal val="visible"/>
                                      </p:to>
                                    </p:set>
                                    <p:animEffect transition="in" filter="fade">
                                      <p:cBhvr>
                                        <p:cTn id="81"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2" restart="whenNotActive" fill="hold" evtFilter="cancelBubble" nodeType="interactiveSeq">
                <p:stCondLst>
                  <p:cond evt="onClick" delay="0">
                    <p:tgtEl>
                      <p:spTgt spid="17"/>
                    </p:tgtEl>
                  </p:cond>
                </p:stCondLst>
                <p:endSync evt="end" delay="0">
                  <p:rtn val="all"/>
                </p:endSync>
                <p:childTnLst>
                  <p:par>
                    <p:cTn id="83" fill="hold">
                      <p:stCondLst>
                        <p:cond delay="0"/>
                      </p:stCondLst>
                      <p:childTnLst>
                        <p:par>
                          <p:cTn id="84" fill="hold">
                            <p:stCondLst>
                              <p:cond delay="0"/>
                            </p:stCondLst>
                            <p:childTnLst>
                              <p:par>
                                <p:cTn id="85" presetID="2" presetClass="mediacall" presetSubtype="0" fill="hold" nodeType="clickEffect">
                                  <p:stCondLst>
                                    <p:cond delay="0"/>
                                  </p:stCondLst>
                                  <p:childTnLst>
                                    <p:cmd type="call" cmd="togglePause">
                                      <p:cBhvr>
                                        <p:cTn id="86" dur="1" fill="hold"/>
                                        <p:tgtEl>
                                          <p:spTgt spid="17"/>
                                        </p:tgtEl>
                                      </p:cBhvr>
                                    </p:cmd>
                                  </p:childTnLst>
                                </p:cTn>
                              </p:par>
                            </p:childTnLst>
                          </p:cTn>
                        </p:par>
                      </p:childTnLst>
                    </p:cTn>
                  </p:par>
                </p:childTnLst>
              </p:cTn>
              <p:nextCondLst>
                <p:cond evt="onClick" delay="0">
                  <p:tgtEl>
                    <p:spTgt spid="17"/>
                  </p:tgtEl>
                </p:cond>
              </p:nextCondLst>
            </p:seq>
            <p:seq concurrent="1" nextAc="seek">
              <p:cTn id="87" restart="whenNotActive" fill="hold" evtFilter="cancelBubble" nodeType="interactiveSeq">
                <p:stCondLst>
                  <p:cond evt="onClick" delay="0">
                    <p:tgtEl>
                      <p:spTgt spid="18"/>
                    </p:tgtEl>
                  </p:cond>
                </p:stCondLst>
                <p:endSync evt="end" delay="0">
                  <p:rtn val="all"/>
                </p:endSync>
                <p:childTnLst>
                  <p:par>
                    <p:cTn id="88" fill="hold">
                      <p:stCondLst>
                        <p:cond delay="0"/>
                      </p:stCondLst>
                      <p:childTnLst>
                        <p:par>
                          <p:cTn id="89" fill="hold">
                            <p:stCondLst>
                              <p:cond delay="0"/>
                            </p:stCondLst>
                            <p:childTnLst>
                              <p:par>
                                <p:cTn id="90" presetID="2" presetClass="mediacall" presetSubtype="0" fill="hold" nodeType="clickEffect">
                                  <p:stCondLst>
                                    <p:cond delay="0"/>
                                  </p:stCondLst>
                                  <p:childTnLst>
                                    <p:cmd type="call" cmd="togglePause">
                                      <p:cBhvr>
                                        <p:cTn id="91" dur="1" fill="hold"/>
                                        <p:tgtEl>
                                          <p:spTgt spid="18"/>
                                        </p:tgtEl>
                                      </p:cBhvr>
                                    </p:cmd>
                                  </p:childTnLst>
                                </p:cTn>
                              </p:par>
                            </p:childTnLst>
                          </p:cTn>
                        </p:par>
                      </p:childTnLst>
                    </p:cTn>
                  </p:par>
                </p:childTnLst>
              </p:cTn>
              <p:nextCondLst>
                <p:cond evt="onClick" delay="0">
                  <p:tgtEl>
                    <p:spTgt spid="18"/>
                  </p:tgtEl>
                </p:cond>
              </p:nextCondLst>
            </p:seq>
            <p:audio>
              <p:cMediaNode vol="80000">
                <p:cTn id="92" fill="hold" display="0">
                  <p:stCondLst>
                    <p:cond delay="indefinite"/>
                  </p:stCondLst>
                  <p:endCondLst>
                    <p:cond evt="onStopAudio" delay="0">
                      <p:tgtEl>
                        <p:sldTgt/>
                      </p:tgtEl>
                    </p:cond>
                  </p:endCondLst>
                </p:cTn>
                <p:tgtEl>
                  <p:spTgt spid="17"/>
                </p:tgtEl>
              </p:cMediaNode>
            </p:audio>
            <p:audio>
              <p:cMediaNode vol="80000">
                <p:cTn id="93" fill="hold" display="0">
                  <p:stCondLst>
                    <p:cond delay="indefinite"/>
                  </p:stCondLst>
                  <p:endCondLst>
                    <p:cond evt="onStopAudio" delay="0">
                      <p:tgtEl>
                        <p:sldTgt/>
                      </p:tgtEl>
                    </p:cond>
                  </p:endCondLst>
                </p:cTn>
                <p:tgtEl>
                  <p:spTgt spid="18"/>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6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anyone in your family…?</a:t>
            </a:r>
            <a:endParaRPr lang="en-US" sz="2500" dirty="0"/>
          </a:p>
        </p:txBody>
      </p:sp>
      <p:pic>
        <p:nvPicPr>
          <p:cNvPr id="6" name="brP_618"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619"/>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Stand up! Ask 3 classmates.</a:t>
            </a:r>
            <a:endParaRPr lang="en-US" sz="1250" dirty="0"/>
          </a:p>
        </p:txBody>
      </p:sp>
      <p:sp>
        <p:nvSpPr>
          <p:cNvPr id="8" name="insIT_6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Alzati! Chiedi a 3 compagni.</a:t>
            </a:r>
            <a:endParaRPr lang="en-US" sz="950" dirty="0"/>
          </a:p>
        </p:txBody>
      </p:sp>
      <p:sp>
        <p:nvSpPr>
          <p:cNvPr id="9" name="cmd_6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mingle</a:t>
            </a:r>
            <a:endParaRPr lang="en-US" sz="950" dirty="0"/>
          </a:p>
        </p:txBody>
      </p:sp>
      <p:sp>
        <p:nvSpPr>
          <p:cNvPr id="11" name="tag_6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Speaking · future plans   ·   📖 SB p.11 · 3e</a:t>
            </a:r>
            <a:endParaRPr lang="en-US" sz="800" dirty="0"/>
          </a:p>
        </p:txBody>
      </p:sp>
      <p:sp>
        <p:nvSpPr>
          <p:cNvPr id="14" name="pf_62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27" descr="/home/claude/lls-course/v2/cache/1b1_birth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2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2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Maybe · Probably · I don't think so · I have no idea… because…</a:t>
            </a:r>
            <a:endParaRPr lang="en-US" sz="1050" dirty="0"/>
          </a:p>
        </p:txBody>
      </p:sp>
      <p:sp>
        <p:nvSpPr>
          <p:cNvPr id="20" name="R1_qb63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in your family getting married soon?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My cousin is getting married in June.</a:t>
            </a:r>
            <a:endParaRPr lang="en-US" sz="1250" dirty="0"/>
          </a:p>
        </p:txBody>
      </p:sp>
      <p:sp>
        <p:nvSpPr>
          <p:cNvPr id="22" name="R2_qb63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5"/>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anyone celebrating their birthday soon?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 he's going to be 50!</a:t>
            </a:r>
            <a:endParaRPr lang="en-US" sz="1250" dirty="0"/>
          </a:p>
        </p:txBody>
      </p:sp>
      <p:pic>
        <p:nvPicPr>
          <p:cNvPr id="24" name="R2_th636" descr="/home/claude/lls-course/v2/cache/1b1_birthday_jpg_154x119_18.png">    </p:cNvPr>
          <p:cNvPicPr>
            <a:picLocks noChangeAspect="1"/>
          </p:cNvPicPr>
          <p:nvPr/>
        </p:nvPicPr>
        <p:blipFill>
          <a:blip r:embed="rId6"/>
          <a:stretch>
            <a:fillRect/>
          </a:stretch>
        </p:blipFill>
        <p:spPr>
          <a:xfrm>
            <a:off x="8257032" y="2039112"/>
            <a:ext cx="640080" cy="493776"/>
          </a:xfrm>
          <a:prstGeom prst="rect">
            <a:avLst/>
          </a:prstGeom>
        </p:spPr>
      </p:pic>
      <p:sp>
        <p:nvSpPr>
          <p:cNvPr id="25" name="R3_qb63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3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Are you going to do something with your family this week?</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We're going to the beach on Sunday.</a:t>
            </a:r>
            <a:endParaRPr lang="en-US" sz="1200" dirty="0"/>
          </a:p>
        </p:txBody>
      </p:sp>
      <p:sp>
        <p:nvSpPr>
          <p:cNvPr id="27" name="R4_qb6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40"/>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Are you going to go on holiday with your family this year?</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 don't think so. Maybe next year.</a:t>
            </a:r>
            <a:endParaRPr lang="en-US" sz="1050" dirty="0"/>
          </a:p>
        </p:txBody>
      </p:sp>
      <p:pic>
        <p:nvPicPr>
          <p:cNvPr id="29" name="R4_th641" descr="/home/claude/lls-course/v2/cache/1b1_holiday_jpg_154x119_18.png">    </p:cNvPr>
          <p:cNvPicPr>
            <a:picLocks noChangeAspect="1"/>
          </p:cNvPicPr>
          <p:nvPr/>
        </p:nvPicPr>
        <p:blipFill>
          <a:blip r:embed="rId7"/>
          <a:stretch>
            <a:fillRect/>
          </a:stretch>
        </p:blipFill>
        <p:spPr>
          <a:xfrm>
            <a:off x="8257032" y="3246120"/>
            <a:ext cx="640080" cy="493776"/>
          </a:xfrm>
          <a:prstGeom prst="rect">
            <a:avLst/>
          </a:prstGeom>
        </p:spPr>
      </p:pic>
      <p:sp>
        <p:nvSpPr>
          <p:cNvPr id="30" name="R5_qb64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643"/>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think you'll move away from Bagheria one day?</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Maybe. I'd like to study in Milan.</a:t>
            </a:r>
            <a:endParaRPr lang="en-US" sz="1100" dirty="0"/>
          </a:p>
        </p:txBody>
      </p:sp>
      <p:pic>
        <p:nvPicPr>
          <p:cNvPr id="32" name="R5_th644" descr="/home/claude/lls-course/v2/cache/1b1_moving_jpg_154x119_18.png">    </p:cNvPr>
          <p:cNvPicPr>
            <a:picLocks noChangeAspect="1"/>
          </p:cNvPicPr>
          <p:nvPr/>
        </p:nvPicPr>
        <p:blipFill>
          <a:blip r:embed="rId8"/>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4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4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4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51"/>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52"/>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Exit · what can you remember?</a:t>
            </a:r>
            <a:endParaRPr lang="en-US" sz="800" dirty="0"/>
          </a:p>
        </p:txBody>
      </p:sp>
      <p:sp>
        <p:nvSpPr>
          <p:cNvPr id="13" name="bd_65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5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family words from today (no looking!)</a:t>
            </a:r>
            <a:endParaRPr lang="en-US" sz="1400" dirty="0"/>
          </a:p>
        </p:txBody>
      </p:sp>
      <p:sp>
        <p:nvSpPr>
          <p:cNvPr id="15" name="bd_65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5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with two different future forms</a:t>
            </a:r>
            <a:endParaRPr lang="en-US" sz="1400" dirty="0"/>
          </a:p>
        </p:txBody>
      </p:sp>
      <p:sp>
        <p:nvSpPr>
          <p:cNvPr id="17" name="bd_65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6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plan for this weekend: "I'm going to…"</a:t>
            </a:r>
            <a:endParaRPr lang="en-US" sz="1400" dirty="0"/>
          </a:p>
        </p:txBody>
      </p:sp>
      <p:sp>
        <p:nvSpPr>
          <p:cNvPr id="19" name="cd_66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6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6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6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1B: 1a, 2a, 2b</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1B p.133: a 6–9, b 5–8</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6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2 · personality adjectives (audio 1.22) · birth order</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6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in the text</a:t>
            </a:r>
            <a:endParaRPr lang="en-US" sz="2500" dirty="0"/>
          </a:p>
        </p:txBody>
      </p:sp>
      <p:pic>
        <p:nvPicPr>
          <p:cNvPr id="6" name="brP_66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67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a word in the text that means…</a:t>
            </a:r>
            <a:endParaRPr lang="en-US" sz="1250" dirty="0"/>
          </a:p>
        </p:txBody>
      </p:sp>
      <p:sp>
        <p:nvSpPr>
          <p:cNvPr id="8" name="insIT_6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nel testo una parola che significa…</a:t>
            </a:r>
            <a:endParaRPr lang="en-US" sz="950" dirty="0"/>
          </a:p>
        </p:txBody>
      </p:sp>
      <p:sp>
        <p:nvSpPr>
          <p:cNvPr id="9" name="cmd_6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67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7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6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1B-1 · Reading · vocabulary from the text</a:t>
            </a:r>
            <a:endParaRPr lang="en-US" sz="800" dirty="0"/>
          </a:p>
        </p:txBody>
      </p:sp>
      <p:sp>
        <p:nvSpPr>
          <p:cNvPr id="14" name="st_67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78"/>
          <p:cNvSpPr/>
          <p:nvPr/>
        </p:nvSpPr>
        <p:spPr>
          <a:xfrm rot="-90000">
            <a:off x="365760" y="1371600"/>
            <a:ext cx="2606040" cy="3200400"/>
          </a:xfrm>
          <a:prstGeom prst="roundRect">
            <a:avLst>
              <a:gd name="adj" fmla="val 596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79" descr="/home/claude/lls-course/v2/cache/1b1_phone_row_jpg_605x748_31.png">    </p:cNvPr>
          <p:cNvPicPr>
            <a:picLocks noChangeAspect="1"/>
          </p:cNvPicPr>
          <p:nvPr/>
        </p:nvPicPr>
        <p:blipFill>
          <a:blip r:embed="rId5"/>
          <a:stretch>
            <a:fillRect/>
          </a:stretch>
        </p:blipFill>
        <p:spPr>
          <a:xfrm rot="-90000">
            <a:off x="411480" y="1417320"/>
            <a:ext cx="2514600" cy="3108960"/>
          </a:xfrm>
          <a:prstGeom prst="rect">
            <a:avLst/>
          </a:prstGeom>
        </p:spPr>
      </p:pic>
      <p:sp>
        <p:nvSpPr>
          <p:cNvPr id="17" name="bd_68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8" name="q_68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arguments</a:t>
            </a:r>
            <a:endParaRPr lang="en-US" sz="1150" dirty="0"/>
          </a:p>
        </p:txBody>
      </p:sp>
      <p:sp>
        <p:nvSpPr>
          <p:cNvPr id="19" name="R1_chip682"/>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rows</a:t>
            </a:r>
            <a:endParaRPr lang="en-US" sz="1000" dirty="0"/>
          </a:p>
        </p:txBody>
      </p:sp>
      <p:sp>
        <p:nvSpPr>
          <p:cNvPr id="20" name="bd_68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q_68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family with only a mum or only a dad</a:t>
            </a:r>
            <a:endParaRPr lang="en-US" sz="1150" dirty="0"/>
          </a:p>
        </p:txBody>
      </p:sp>
      <p:sp>
        <p:nvSpPr>
          <p:cNvPr id="22" name="R2_chip685"/>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single-parent family</a:t>
            </a:r>
            <a:endParaRPr lang="en-US" sz="1000" dirty="0"/>
          </a:p>
        </p:txBody>
      </p:sp>
      <p:sp>
        <p:nvSpPr>
          <p:cNvPr id="23" name="bd_68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q_68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your husband's or wife's children from before</a:t>
            </a:r>
            <a:endParaRPr lang="en-US" sz="1100" dirty="0"/>
          </a:p>
        </p:txBody>
      </p:sp>
      <p:sp>
        <p:nvSpPr>
          <p:cNvPr id="25" name="R3_chip688"/>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stepchildren</a:t>
            </a:r>
            <a:endParaRPr lang="en-US" sz="1000" dirty="0"/>
          </a:p>
        </p:txBody>
      </p:sp>
      <p:sp>
        <p:nvSpPr>
          <p:cNvPr id="26" name="bd_68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q_69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usually · as a number</a:t>
            </a:r>
            <a:endParaRPr lang="en-US" sz="1150" dirty="0"/>
          </a:p>
        </p:txBody>
      </p:sp>
      <p:sp>
        <p:nvSpPr>
          <p:cNvPr id="28" name="R4_chip691"/>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average</a:t>
            </a:r>
            <a:endParaRPr lang="en-US" sz="1000" dirty="0"/>
          </a:p>
        </p:txBody>
      </p:sp>
      <p:sp>
        <p:nvSpPr>
          <p:cNvPr id="29" name="bd_69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q_69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'no' to doing something</a:t>
            </a:r>
            <a:endParaRPr lang="en-US" sz="1150" dirty="0"/>
          </a:p>
        </p:txBody>
      </p:sp>
      <p:sp>
        <p:nvSpPr>
          <p:cNvPr id="31" name="R5_chip694"/>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refuse (refusing to)</a:t>
            </a:r>
            <a:endParaRPr lang="en-US" sz="1000" dirty="0"/>
          </a:p>
        </p:txBody>
      </p:sp>
      <p:sp>
        <p:nvSpPr>
          <p:cNvPr id="32" name="bd_695"/>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3" name="q_696"/>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no contact with</a:t>
            </a:r>
            <a:endParaRPr lang="en-US" sz="1150" dirty="0"/>
          </a:p>
        </p:txBody>
      </p:sp>
      <p:sp>
        <p:nvSpPr>
          <p:cNvPr id="34" name="R6_chip697"/>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speak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1B-1 Modern families</dc:title>
  <dc:subject>PptxGenJS Presentation</dc:subject>
  <dc:creator>PptxGenJS</dc:creator>
  <cp:lastModifiedBy>PptxGenJS</cp:lastModifiedBy>
  <cp:revision>1</cp:revision>
  <dcterms:created xsi:type="dcterms:W3CDTF">2026-10-12T09:12:01Z</dcterms:created>
  <dcterms:modified xsi:type="dcterms:W3CDTF">2026-10-12T09:12:01Z</dcterms:modified>
</cp:coreProperties>
</file>