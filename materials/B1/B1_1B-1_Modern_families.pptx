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mp3" ContentType="audio/mpeg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OPENING (2 min)
Show the photo. Ask the THINK question; take 3–4 ideas (e.g. step-families, fewer children, everyone on their phones…). Read the 'Today you're going to…' list together: students know where the lesson is going. Don't teach words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Revision · last lesson (2 min)
REVISION (2 min) before the warmer game. Read the examples with the class; elicit one more example for each column from students (e.g. 'What are you doing these days?'). Point at the time words: they tell you which tense. Then play 'Answers first!' – the answers in the game use exactly these two tenses and food words.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Warmer · last lesson (3 min)
RETRIEVAL WARMER (4 min). Two teams. Click once per line to show a possible question (accept any correct question in the right tense). Point for a correct question, +1 if the tense matches the answer (do/does vs am/is/are). ICQ: 'Are you writing answers or questions?' (questions).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Vocabulary · family (5 min)
ELICIT FIRST (5 min). Demo item 0 with the class. Pairs explain each pair of words in English (Italian allowed only as a last resort). Click once per item to reveal. Monitor and note which words are new. ICQs: 'Are you writing?' (no, talking) · 'In English or Italian?' (English). Next slide gives the Italian for slower students.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Vocabulary · in Italian (2 min)
CONSOLIDATION for slower students (2 min). Class says the Italian aloud for each word, then ONE click shows all the Italian. Spend 20 seconds on the warning: 'parents' is NOT 'parenti' (false friend), and English has two words for 'nipote'. Quick CCQ: 'My dad's new wife – is she my mum?' (no) 'So she's my…?' (stepmother).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Vocabulary · practice (3 min)
CONTROLLED PRACTICE (3 min). Pairs: 'Number 1 is her great-grandmother.' Click once per number. Fast finishers: invent the next relationship (e.g. 'the baby is her niece'). The people and relationships are invented for practice.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Vocabulary game (3 min)
GAME 2 (3 min). Demo first with a strong student: 'It's your dad's wife, but not your mum' → stepmother. Click to show each word (round 1 = 4 words for A, round 2 = 4 words for B, B faces the screen). 20 seconds per word. ICQ: 'Can you say the word?' (no).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Reading · prediction (2 min)
PREDICTION (2 min). Read the introduction aloud. Check 'survey' (sondaggio) and 'statistics'. Pairs look at the number bank and commit to guesses on the next two slides — every pair must guess before checking. ICQ: 'Are you checking or guessing?' (guessing).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Reading · Family structure (3 min)
READ + CHECK (3 min). Pairs write their guesses for gaps 1–5. Play 1.14 (or read the text aloud if the audio isn't in the deck yet). Click once per gap: the answer appears highlighted IN the text. Answers (audio script): 1 14% · 2 45% · 3 40% · 4 30 · 5 32. Ask: 'Which number surprises you?'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Reading · Family habits (3 min)
READ + CHECK (3 min). Same procedure. Answers: 6 10% · 7 17% · 8 2. Vocabulary from context: row /raʊ/ = argument (litigio) – NOT row /rəʊ/ (fila); refuse = say no. The photo is the clue for 'rows'. Extra slide (after the exit) = 'Find in the text' if there's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Speaking · Sicily vs the UK (5 min)
SPEAKING (5 min). Questions appear ONE PER CLICK: give groups about 45 seconds per question, then click. Teach the polite refusal first (yellow box): anyone can use it — no one has to talk about their family. Monitor and note 4–5 errors for delayed correction (don't interrupt). Feedback on question 1: what's different in Sicily?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Listening · gist (3 min)
GIST (3 min). Pictures (left to right) = A, B, C. Before listening: 'Who are the people? Where are they?' Play 1.15 ONCE. Pairs compare, then click once per conversation. Answers (TG): 1 C – what Adam's going to do next year · 2 A – a party she's going to · 3 B – whether he can borrow her car.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Listening · detail (4 min)
DETAIL (4 min). Pairs guess first (extra challenge from the TG). Play again, pausing after each conversation. Click once per sentence. Answers: a going to go · b Shall I make · c 'm staying · d 's going to be · e 'll drive · f 'll 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14. Noticing · the conversations (2 min)
NOTICING (2 min). Text from the audio script. Pairs underline the future forms; click once per line to highlight them. This leads straight into the next slide (what does each form do?).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15. Grammar · future forms (3 min)
GUIDED DISCOVERY (3 min). Pairs match a–f to the five uses. Click once per sentence. Answers (TG): plan a · prediction d, e · offer b · arrangement c · promise f. CCQ for c: 'Has she already organised it?' (yes – Katie knows) → arrangement.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16. Grammar · the rule (3 min)
RULE (3 min). Click once per column: the examples appear (meaning first, then form). Optional: play 1.16 (Grammar Bank listen and repeat). Last click = the Italian-speaker warning. CCQs: 'It's going to rain – can you see something?' (yes, clouds) · 'I'll carry it – did I decide before?' (no, now).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17. Grammar game (4 min)
GAME 3 (4 min). Read each situation; teams have 10 seconds to say (or write) a reply with the right future form. Click to show a model answer. Accept any correct reply. Point only if the future form is right.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18. Pronunciation · sentence stress (3 min)
PRONUNCIATION (3 min). Model first: 'I'm going to LOOK for a JOB' (audio 1.20) – the small words are fast and weak (going to = /ɡəʊɪŋ tə/). Play 1.21, pausing. Click 1 = the stressed words, click 2 = the full sentence (for each sentence). Then drill: chorally, then individually. Italian speakers give every word equal stress – exaggerate the big words.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19. Speaking · future plans (4 min)
FREER PRACTICE (4 min). Mingle. Questions appear one per click (show all 5, then let them mingle). Model the rhythm first. Feedback: 2–3 students report one thing they found out. Then 2 minutes of delayed error correction (errors noted during both speaking tasks): write them on the board, students correct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20. Exit · what can you remember? (2 min)
RETRIEVAL EXIT (2 min). Books closed. Pairs: 3 family words, 2 future sentences, 1 weekend plan. A few students share. Set homework (on the slide and in the app).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21. Reading · vocabulary from the text (2 min)
EXTRA (2 min, if there's time). Vocabulary from context. Click once per item.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audio" Target="../media/media-9-5.mp3"/><Relationship Id="rId6" Type="http://schemas.microsoft.com/office/2007/relationships/media" Target="../media/media-9-5.mp3"/><Relationship Id="rId7" Type="http://schemas.openxmlformats.org/officeDocument/2006/relationships/image" Target="../media/image-9-7.png"/><Relationship Id="rId8" Type="http://schemas.openxmlformats.org/officeDocument/2006/relationships/audio" Target="../media/media-9-8.mp3"/><Relationship Id="rId9" Type="http://schemas.microsoft.com/office/2007/relationships/media" Target="../media/media-9-8.mp3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audio" Target="../media/media-10-5.mp3"/><Relationship Id="rId6" Type="http://schemas.microsoft.com/office/2007/relationships/media" Target="../media/media-10-5.mp3"/><Relationship Id="rId7" Type="http://schemas.openxmlformats.org/officeDocument/2006/relationships/image" Target="../media/image-10-7.png"/><Relationship Id="rId8" Type="http://schemas.openxmlformats.org/officeDocument/2006/relationships/audio" Target="../media/media-10-8.mp3"/><Relationship Id="rId9" Type="http://schemas.microsoft.com/office/2007/relationships/media" Target="../media/media-10-8.mp3"/><Relationship Id="rId10" Type="http://schemas.openxmlformats.org/officeDocument/2006/relationships/image" Target="../media/image-10-10.png"/><Relationship Id="rId11" Type="http://schemas.openxmlformats.org/officeDocument/2006/relationships/image" Target="../media/image-10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audio" Target="../media/media-12-5.mp3"/><Relationship Id="rId6" Type="http://schemas.microsoft.com/office/2007/relationships/media" Target="../media/media-12-5.mp3"/><Relationship Id="rId7" Type="http://schemas.openxmlformats.org/officeDocument/2006/relationships/image" Target="../media/image-12-7.png"/><Relationship Id="rId8" Type="http://schemas.openxmlformats.org/officeDocument/2006/relationships/audio" Target="../media/media-12-8.mp3"/><Relationship Id="rId9" Type="http://schemas.microsoft.com/office/2007/relationships/media" Target="../media/media-12-8.mp3"/><Relationship Id="rId10" Type="http://schemas.openxmlformats.org/officeDocument/2006/relationships/image" Target="../media/image-12-10.png"/><Relationship Id="rId11" Type="http://schemas.openxmlformats.org/officeDocument/2006/relationships/image" Target="../media/image-12-11.png"/><Relationship Id="rId12" Type="http://schemas.openxmlformats.org/officeDocument/2006/relationships/image" Target="../media/image-12-12.png"/><Relationship Id="rId13" Type="http://schemas.openxmlformats.org/officeDocument/2006/relationships/image" Target="../media/image-12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audio" Target="../media/media-13-5.mp3"/><Relationship Id="rId6" Type="http://schemas.microsoft.com/office/2007/relationships/media" Target="../media/media-13-5.mp3"/><Relationship Id="rId7" Type="http://schemas.openxmlformats.org/officeDocument/2006/relationships/image" Target="../media/image-13-7.png"/><Relationship Id="rId8" Type="http://schemas.openxmlformats.org/officeDocument/2006/relationships/audio" Target="../media/media-13-8.mp3"/><Relationship Id="rId9" Type="http://schemas.microsoft.com/office/2007/relationships/media" Target="../media/media-13-8.mp3"/><Relationship Id="rId10" Type="http://schemas.openxmlformats.org/officeDocument/2006/relationships/image" Target="../media/image-13-10.png"/><Relationship Id="rId11" Type="http://schemas.openxmlformats.org/officeDocument/2006/relationships/image" Target="../media/image-13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audio" Target="../media/media-16-5.mp3"/><Relationship Id="rId6" Type="http://schemas.microsoft.com/office/2007/relationships/media" Target="../media/media-16-5.mp3"/><Relationship Id="rId7" Type="http://schemas.openxmlformats.org/officeDocument/2006/relationships/image" Target="../media/image-16-7.png"/><Relationship Id="rId8" Type="http://schemas.openxmlformats.org/officeDocument/2006/relationships/audio" Target="../media/media-16-8.mp3"/><Relationship Id="rId9" Type="http://schemas.microsoft.com/office/2007/relationships/media" Target="../media/media-16-8.mp3"/><Relationship Id="rId10" Type="http://schemas.openxmlformats.org/officeDocument/2006/relationships/image" Target="../media/image-16-10.png"/><Relationship Id="rId11" Type="http://schemas.openxmlformats.org/officeDocument/2006/relationships/image" Target="../media/image-16-11.png"/><Relationship Id="rId12" Type="http://schemas.openxmlformats.org/officeDocument/2006/relationships/image" Target="../media/image-16-12.png"/><Relationship Id="rId13" Type="http://schemas.openxmlformats.org/officeDocument/2006/relationships/image" Target="../media/image-16-13.png"/><Relationship Id="rId14" Type="http://schemas.openxmlformats.org/officeDocument/2006/relationships/image" Target="../media/image-16-1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audio" Target="../media/media-18-5.mp3"/><Relationship Id="rId6" Type="http://schemas.microsoft.com/office/2007/relationships/media" Target="../media/media-18-5.mp3"/><Relationship Id="rId7" Type="http://schemas.openxmlformats.org/officeDocument/2006/relationships/image" Target="../media/image-18-7.png"/><Relationship Id="rId8" Type="http://schemas.openxmlformats.org/officeDocument/2006/relationships/audio" Target="../media/media-18-8.mp3"/><Relationship Id="rId9" Type="http://schemas.microsoft.com/office/2007/relationships/media" Target="../media/media-18-8.mp3"/><Relationship Id="rId10" Type="http://schemas.openxmlformats.org/officeDocument/2006/relationships/image" Target="../media/image-18-10.png"/><Relationship Id="rId11" Type="http://schemas.openxmlformats.org/officeDocument/2006/relationships/image" Target="../media/image-18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jpe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image" Target="../media/image-19-7.png"/><Relationship Id="rId8" Type="http://schemas.openxmlformats.org/officeDocument/2006/relationships/image" Target="../media/image-19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jpe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rs_1"/>
          <p:cNvSpPr/>
          <p:nvPr/>
        </p:nvSpPr>
        <p:spPr>
          <a:xfrm>
            <a:off x="411480" y="2926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English File B1 · SB pp.10–11</a:t>
            </a:r>
            <a:endParaRPr lang="en-US" sz="1000" dirty="0"/>
          </a:p>
        </p:txBody>
      </p:sp>
      <p:sp>
        <p:nvSpPr>
          <p:cNvPr id="4" name="bd_2"/>
          <p:cNvSpPr/>
          <p:nvPr/>
        </p:nvSpPr>
        <p:spPr>
          <a:xfrm>
            <a:off x="365760" y="640080"/>
            <a:ext cx="1051560" cy="105156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1B-1</a:t>
            </a:r>
            <a:endParaRPr lang="en-US" sz="1600" dirty="0"/>
          </a:p>
        </p:txBody>
      </p:sp>
      <p:pic>
        <p:nvPicPr>
          <p:cNvPr id="5" name="bry_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713232"/>
            <a:ext cx="3566160" cy="868680"/>
          </a:xfrm>
          <a:prstGeom prst="rect">
            <a:avLst/>
          </a:prstGeom>
        </p:spPr>
      </p:pic>
      <p:sp>
        <p:nvSpPr>
          <p:cNvPr id="6" name="t_4"/>
          <p:cNvSpPr/>
          <p:nvPr/>
        </p:nvSpPr>
        <p:spPr>
          <a:xfrm>
            <a:off x="1645920" y="7315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Modern families</a:t>
            </a:r>
            <a:endParaRPr lang="en-US" sz="2200" dirty="0"/>
          </a:p>
        </p:txBody>
      </p:sp>
      <p:pic>
        <p:nvPicPr>
          <p:cNvPr id="7" name="brp_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517904"/>
            <a:ext cx="3017520" cy="384048"/>
          </a:xfrm>
          <a:prstGeom prst="rect">
            <a:avLst/>
          </a:prstGeom>
        </p:spPr>
      </p:pic>
      <p:sp>
        <p:nvSpPr>
          <p:cNvPr id="8" name="st_6"/>
          <p:cNvSpPr/>
          <p:nvPr/>
        </p:nvSpPr>
        <p:spPr>
          <a:xfrm>
            <a:off x="1691640" y="151790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Families, plans and the future</a:t>
            </a:r>
            <a:endParaRPr lang="en-US" sz="1250" dirty="0"/>
          </a:p>
        </p:txBody>
      </p:sp>
      <p:sp>
        <p:nvSpPr>
          <p:cNvPr id="9" name="cd_7"/>
          <p:cNvSpPr/>
          <p:nvPr/>
        </p:nvSpPr>
        <p:spPr>
          <a:xfrm>
            <a:off x="365760" y="2148840"/>
            <a:ext cx="4206240" cy="1691640"/>
          </a:xfrm>
          <a:prstGeom prst="roundRect">
            <a:avLst>
              <a:gd name="adj" fmla="val 7568"/>
            </a:avLst>
          </a:prstGeom>
          <a:solidFill>
            <a:srgbClr val="E3F1FD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0" name="ii_8"/>
          <p:cNvSpPr/>
          <p:nvPr/>
        </p:nvSpPr>
        <p:spPr>
          <a:xfrm>
            <a:off x="457200" y="2221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11" name="ih_9"/>
          <p:cNvSpPr/>
          <p:nvPr/>
        </p:nvSpPr>
        <p:spPr>
          <a:xfrm>
            <a:off x="932688" y="2240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you're going to…</a:t>
            </a:r>
            <a:endParaRPr lang="en-US" sz="1600" dirty="0"/>
          </a:p>
        </p:txBody>
      </p:sp>
      <p:sp>
        <p:nvSpPr>
          <p:cNvPr id="12" name="il_10"/>
          <p:cNvSpPr/>
          <p:nvPr/>
        </p:nvSpPr>
        <p:spPr>
          <a:xfrm>
            <a:off x="932688" y="2624328"/>
            <a:ext cx="35478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💬  talk about your family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👀  read a survey about British families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🎧  listen to three family conversations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✏️  talk about the future: plans, offers, promises</a:t>
            </a:r>
            <a:endParaRPr lang="en-US" sz="1250" dirty="0"/>
          </a:p>
        </p:txBody>
      </p:sp>
      <p:sp>
        <p:nvSpPr>
          <p:cNvPr id="13" name="R1_ex11"/>
          <p:cNvSpPr/>
          <p:nvPr/>
        </p:nvSpPr>
        <p:spPr>
          <a:xfrm>
            <a:off x="365760" y="3950208"/>
            <a:ext cx="4206240" cy="603504"/>
          </a:xfrm>
          <a:prstGeom prst="roundRect">
            <a:avLst>
              <a:gd name="adj" fmla="val 18182"/>
            </a:avLst>
          </a:prstGeom>
          <a:solidFill>
            <a:srgbClr val="FFF6CC"/>
          </a:solidFill>
          <a:ln w="19050">
            <a:solidFill>
              <a:srgbClr val="FFE07A"/>
            </a:solidFill>
          </a:ln>
        </p:spPr>
        <p:txBody>
          <a:bodyPr wrap="square" lIns="152400" tIns="25400" rIns="1524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E8508F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EXAMPLE  </a:t>
            </a:r>
            <a:pPr indent="0" marL="0">
              <a:buNone/>
            </a:pPr>
            <a:r>
              <a:rPr lang="en-US" sz="13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think families are smaller now, and everyone is on their phone!</a:t>
            </a:r>
            <a:endParaRPr lang="en-US" sz="1000" dirty="0"/>
          </a:p>
        </p:txBody>
      </p:sp>
      <p:sp>
        <p:nvSpPr>
          <p:cNvPr id="14" name="pf_12"/>
          <p:cNvSpPr/>
          <p:nvPr/>
        </p:nvSpPr>
        <p:spPr>
          <a:xfrm rot="90000">
            <a:off x="4846320" y="777240"/>
            <a:ext cx="3977640" cy="3200400"/>
          </a:xfrm>
          <a:prstGeom prst="roundRect">
            <a:avLst>
              <a:gd name="adj" fmla="val 4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13" descr="/home/claude/lls-course/v2/cache/1b1_cover_jpg_935x748_3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0000">
            <a:off x="4892040" y="822960"/>
            <a:ext cx="3886200" cy="3108960"/>
          </a:xfrm>
          <a:prstGeom prst="rect">
            <a:avLst/>
          </a:prstGeom>
        </p:spPr>
      </p:pic>
      <p:sp>
        <p:nvSpPr>
          <p:cNvPr id="16" name="bb_14"/>
          <p:cNvSpPr/>
          <p:nvPr/>
        </p:nvSpPr>
        <p:spPr>
          <a:xfrm>
            <a:off x="5120640" y="3611880"/>
            <a:ext cx="3566160" cy="822960"/>
          </a:xfrm>
          <a:prstGeom prst="wedgeRoundRectCallout">
            <a:avLst/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lIns="127000" tIns="50800" rIns="1270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 makes a family "modern"?</a:t>
            </a:r>
            <a:endParaRPr lang="en-US" sz="1600" dirty="0"/>
          </a:p>
        </p:txBody>
      </p:sp>
      <p:sp>
        <p:nvSpPr>
          <p:cNvPr id="17" name="st_15"/>
          <p:cNvSpPr/>
          <p:nvPr/>
        </p:nvSpPr>
        <p:spPr>
          <a:xfrm rot="360000">
            <a:off x="7543800" y="502920"/>
            <a:ext cx="1325880" cy="38404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 · PENSA</a:t>
            </a:r>
            <a:endParaRPr lang="en-US" sz="950" dirty="0"/>
          </a:p>
        </p:txBody>
      </p:sp>
      <p:pic>
        <p:nvPicPr>
          <p:cNvPr id="18" name="logo_16" descr="/home/claude/lls-course/v2/img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800" dirty="0"/>
          </a:p>
        </p:txBody>
      </p:sp>
      <p:pic>
        <p:nvPicPr>
          <p:cNvPr id="4" name="brY_1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19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 last lesson?</a:t>
            </a:r>
            <a:endParaRPr lang="en-US" sz="2400" dirty="0"/>
          </a:p>
        </p:txBody>
      </p:sp>
      <p:pic>
        <p:nvPicPr>
          <p:cNvPr id="6" name="brP_2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945636" cy="402336"/>
          </a:xfrm>
          <a:prstGeom prst="rect">
            <a:avLst/>
          </a:prstGeom>
        </p:spPr>
      </p:pic>
      <p:sp>
        <p:nvSpPr>
          <p:cNvPr id="7" name="ins_21"/>
          <p:cNvSpPr/>
          <p:nvPr/>
        </p:nvSpPr>
        <p:spPr>
          <a:xfrm>
            <a:off x="1353312" y="731520"/>
            <a:ext cx="36896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did we learn? Read the examples.</a:t>
            </a:r>
            <a:endParaRPr lang="en-US" sz="1250" dirty="0"/>
          </a:p>
        </p:txBody>
      </p:sp>
      <p:sp>
        <p:nvSpPr>
          <p:cNvPr id="8" name="insIT_22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Cosa abbiamo imparato? Leggi gli esempi.</a:t>
            </a:r>
            <a:endParaRPr lang="en-US" sz="950" dirty="0"/>
          </a:p>
        </p:txBody>
      </p:sp>
      <p:sp>
        <p:nvSpPr>
          <p:cNvPr id="9" name="cmd_23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100" dirty="0"/>
          </a:p>
        </p:txBody>
      </p:sp>
      <p:sp>
        <p:nvSpPr>
          <p:cNvPr id="10" name="meta_24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🙋 whole class</a:t>
            </a:r>
            <a:endParaRPr lang="en-US" sz="950" dirty="0"/>
          </a:p>
        </p:txBody>
      </p:sp>
      <p:sp>
        <p:nvSpPr>
          <p:cNvPr id="11" name="tag_25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Revision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Retrieval</a:t>
            </a:r>
            <a:endParaRPr lang="en-US" sz="850" dirty="0"/>
          </a:p>
        </p:txBody>
      </p:sp>
      <p:pic>
        <p:nvPicPr>
          <p:cNvPr id="12" name="logo_2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1B-1 · Revision · last lesson</a:t>
            </a:r>
            <a:endParaRPr lang="en-US" sz="800" dirty="0"/>
          </a:p>
        </p:txBody>
      </p:sp>
      <p:sp>
        <p:nvSpPr>
          <p:cNvPr id="14" name="pf_28"/>
          <p:cNvSpPr/>
          <p:nvPr/>
        </p:nvSpPr>
        <p:spPr>
          <a:xfrm rot="-120000">
            <a:off x="365760" y="1371600"/>
            <a:ext cx="2651760" cy="1828800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29" descr="/home/claude/lls-course/v2/cache/1a2_dad_cooks_jpg_616x418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11480" y="1417320"/>
            <a:ext cx="2560320" cy="1737360"/>
          </a:xfrm>
          <a:prstGeom prst="rect">
            <a:avLst/>
          </a:prstGeom>
        </p:spPr>
      </p:pic>
      <p:sp>
        <p:nvSpPr>
          <p:cNvPr id="16" name="cd_30"/>
          <p:cNvSpPr/>
          <p:nvPr/>
        </p:nvSpPr>
        <p:spPr>
          <a:xfrm>
            <a:off x="320040" y="3383280"/>
            <a:ext cx="2743200" cy="1325880"/>
          </a:xfrm>
          <a:prstGeom prst="roundRect">
            <a:avLst>
              <a:gd name="adj" fmla="val 9655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31"/>
          <p:cNvSpPr/>
          <p:nvPr/>
        </p:nvSpPr>
        <p:spPr>
          <a:xfrm>
            <a:off x="411480" y="34564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📅</a:t>
            </a:r>
            <a:endParaRPr lang="en-US" sz="2200" dirty="0"/>
          </a:p>
        </p:txBody>
      </p:sp>
      <p:sp>
        <p:nvSpPr>
          <p:cNvPr id="18" name="ih_32"/>
          <p:cNvSpPr/>
          <p:nvPr/>
        </p:nvSpPr>
        <p:spPr>
          <a:xfrm>
            <a:off x="886968" y="34747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Last lesson…</a:t>
            </a:r>
            <a:endParaRPr lang="en-US" sz="1300" dirty="0"/>
          </a:p>
        </p:txBody>
      </p:sp>
      <p:sp>
        <p:nvSpPr>
          <p:cNvPr id="19" name="il_33"/>
          <p:cNvSpPr/>
          <p:nvPr/>
        </p:nvSpPr>
        <p:spPr>
          <a:xfrm>
            <a:off x="886968" y="3858768"/>
            <a:ext cx="20848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1A: food, cooking and eating habits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present simple vs continuous</a:t>
            </a:r>
            <a:endParaRPr lang="en-US" sz="1100" dirty="0"/>
          </a:p>
        </p:txBody>
      </p:sp>
      <p:sp>
        <p:nvSpPr>
          <p:cNvPr id="20" name="cd_34"/>
          <p:cNvSpPr/>
          <p:nvPr/>
        </p:nvSpPr>
        <p:spPr>
          <a:xfrm>
            <a:off x="3246120" y="1417320"/>
            <a:ext cx="278892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2540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1" name="rh_35"/>
          <p:cNvSpPr/>
          <p:nvPr/>
        </p:nvSpPr>
        <p:spPr>
          <a:xfrm>
            <a:off x="3355848" y="1508760"/>
            <a:ext cx="2569464" cy="347472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Present simple = habits</a:t>
            </a:r>
            <a:endParaRPr lang="en-US" sz="1200" dirty="0"/>
          </a:p>
        </p:txBody>
      </p:sp>
      <p:sp>
        <p:nvSpPr>
          <p:cNvPr id="22" name="rl_36"/>
          <p:cNvSpPr/>
          <p:nvPr/>
        </p:nvSpPr>
        <p:spPr>
          <a:xfrm>
            <a:off x="3383280" y="1920240"/>
            <a:ext cx="2514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usually have pasta on Sundays.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often do you eat out?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doesn't like spicy food.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every day · usually · never</a:t>
            </a:r>
            <a:endParaRPr lang="en-US" sz="1150" dirty="0"/>
          </a:p>
        </p:txBody>
      </p:sp>
      <p:sp>
        <p:nvSpPr>
          <p:cNvPr id="23" name="cd_37"/>
          <p:cNvSpPr/>
          <p:nvPr/>
        </p:nvSpPr>
        <p:spPr>
          <a:xfrm>
            <a:off x="6126480" y="1417320"/>
            <a:ext cx="278892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2540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4" name="rh_38"/>
          <p:cNvSpPr/>
          <p:nvPr/>
        </p:nvSpPr>
        <p:spPr>
          <a:xfrm>
            <a:off x="6236208" y="1508760"/>
            <a:ext cx="2569464" cy="347472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Present continuous = now / these days</a:t>
            </a:r>
            <a:endParaRPr lang="en-US" sz="1100" dirty="0"/>
          </a:p>
        </p:txBody>
      </p:sp>
      <p:sp>
        <p:nvSpPr>
          <p:cNvPr id="25" name="rl_39"/>
          <p:cNvSpPr/>
          <p:nvPr/>
        </p:nvSpPr>
        <p:spPr>
          <a:xfrm>
            <a:off x="6263640" y="1920240"/>
            <a:ext cx="2514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I'm cooking dinner right now.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We're trying to eat less sugar.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Are you watching TV?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now · at the moment · this week</a:t>
            </a:r>
            <a:endParaRPr lang="en-US" sz="1150" dirty="0"/>
          </a:p>
        </p:txBody>
      </p:sp>
      <p:sp>
        <p:nvSpPr>
          <p:cNvPr id="26" name="kw_40"/>
          <p:cNvSpPr/>
          <p:nvPr/>
        </p:nvSpPr>
        <p:spPr>
          <a:xfrm>
            <a:off x="3246120" y="38679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🔤 KEY WORDS</a:t>
            </a:r>
            <a:endParaRPr lang="en-US" sz="1100" dirty="0"/>
          </a:p>
        </p:txBody>
      </p:sp>
      <p:sp>
        <p:nvSpPr>
          <p:cNvPr id="27" name="w_41"/>
          <p:cNvSpPr/>
          <p:nvPr/>
        </p:nvSpPr>
        <p:spPr>
          <a:xfrm>
            <a:off x="3246120" y="4178808"/>
            <a:ext cx="708660" cy="310896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spicy</a:t>
            </a:r>
            <a:endParaRPr lang="en-US" sz="1050" dirty="0"/>
          </a:p>
        </p:txBody>
      </p:sp>
      <p:sp>
        <p:nvSpPr>
          <p:cNvPr id="28" name="w_42"/>
          <p:cNvSpPr/>
          <p:nvPr/>
        </p:nvSpPr>
        <p:spPr>
          <a:xfrm>
            <a:off x="4027932" y="4178808"/>
            <a:ext cx="941832" cy="31089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takeaway</a:t>
            </a:r>
            <a:endParaRPr lang="en-US" sz="1050" dirty="0"/>
          </a:p>
        </p:txBody>
      </p:sp>
      <p:sp>
        <p:nvSpPr>
          <p:cNvPr id="29" name="w_43"/>
          <p:cNvSpPr/>
          <p:nvPr/>
        </p:nvSpPr>
        <p:spPr>
          <a:xfrm>
            <a:off x="5042916" y="4178808"/>
            <a:ext cx="864108" cy="310896"/>
          </a:xfrm>
          <a:prstGeom prst="roundRect">
            <a:avLst>
              <a:gd name="adj" fmla="val 50000"/>
            </a:avLst>
          </a:prstGeom>
          <a:solidFill>
            <a:srgbClr val="E3F7EA"/>
          </a:solidFill>
          <a:ln>
            <a:solidFill>
              <a:srgbClr val="A8E5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eat out</a:t>
            </a:r>
            <a:endParaRPr lang="en-US" sz="1050" dirty="0"/>
          </a:p>
        </p:txBody>
      </p:sp>
      <p:sp>
        <p:nvSpPr>
          <p:cNvPr id="30" name="w_44"/>
          <p:cNvSpPr/>
          <p:nvPr/>
        </p:nvSpPr>
        <p:spPr>
          <a:xfrm>
            <a:off x="5980176" y="4178808"/>
            <a:ext cx="553212" cy="310896"/>
          </a:xfrm>
          <a:prstGeom prst="roundRect">
            <a:avLst>
              <a:gd name="adj" fmla="val 50000"/>
            </a:avLst>
          </a:prstGeom>
          <a:solidFill>
            <a:srgbClr val="FFF6CC"/>
          </a:solidFill>
          <a:ln>
            <a:solidFill>
              <a:srgbClr val="FFE07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raw</a:t>
            </a:r>
            <a:endParaRPr lang="en-US" sz="1050" dirty="0"/>
          </a:p>
        </p:txBody>
      </p:sp>
      <p:sp>
        <p:nvSpPr>
          <p:cNvPr id="31" name="w_45"/>
          <p:cNvSpPr/>
          <p:nvPr/>
        </p:nvSpPr>
        <p:spPr>
          <a:xfrm>
            <a:off x="6606540" y="4178808"/>
            <a:ext cx="786384" cy="310896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frozen</a:t>
            </a:r>
            <a:endParaRPr lang="en-US" sz="1050" dirty="0"/>
          </a:p>
        </p:txBody>
      </p:sp>
      <p:sp>
        <p:nvSpPr>
          <p:cNvPr id="32" name="w_46"/>
          <p:cNvSpPr/>
          <p:nvPr/>
        </p:nvSpPr>
        <p:spPr>
          <a:xfrm>
            <a:off x="7466076" y="4178808"/>
            <a:ext cx="708660" cy="31089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roast</a:t>
            </a:r>
            <a:endParaRPr lang="en-US" sz="1050" dirty="0"/>
          </a:p>
        </p:txBody>
      </p:sp>
      <p:sp>
        <p:nvSpPr>
          <p:cNvPr id="33" name="w_47"/>
          <p:cNvSpPr/>
          <p:nvPr/>
        </p:nvSpPr>
        <p:spPr>
          <a:xfrm>
            <a:off x="3246120" y="4544568"/>
            <a:ext cx="1175004" cy="310896"/>
          </a:xfrm>
          <a:prstGeom prst="roundRect">
            <a:avLst>
              <a:gd name="adj" fmla="val 50000"/>
            </a:avLst>
          </a:prstGeom>
          <a:solidFill>
            <a:srgbClr val="E3F7EA"/>
          </a:solidFill>
          <a:ln>
            <a:solidFill>
              <a:srgbClr val="A8E5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cut down on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800" dirty="0"/>
          </a:p>
        </p:txBody>
      </p:sp>
      <p:pic>
        <p:nvPicPr>
          <p:cNvPr id="4" name="brY_4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50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Answers first!</a:t>
            </a:r>
            <a:endParaRPr lang="en-US" sz="2500" dirty="0"/>
          </a:p>
        </p:txBody>
      </p:sp>
      <p:pic>
        <p:nvPicPr>
          <p:cNvPr id="6" name="brP_5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52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answer. Write the question!</a:t>
            </a:r>
            <a:endParaRPr lang="en-US" sz="1250" dirty="0"/>
          </a:p>
        </p:txBody>
      </p:sp>
      <p:sp>
        <p:nvSpPr>
          <p:cNvPr id="8" name="insIT_53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Leggi la risposta. Scrivi la domanda!</a:t>
            </a:r>
            <a:endParaRPr lang="en-US" sz="950" dirty="0"/>
          </a:p>
        </p:txBody>
      </p:sp>
      <p:sp>
        <p:nvSpPr>
          <p:cNvPr id="9" name="cmd_54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meta_55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🏆 teams</a:t>
            </a:r>
            <a:endParaRPr lang="en-US" sz="950" dirty="0"/>
          </a:p>
        </p:txBody>
      </p:sp>
      <p:sp>
        <p:nvSpPr>
          <p:cNvPr id="11" name="tag_56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Revision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Communicative game</a:t>
            </a:r>
            <a:endParaRPr lang="en-US" sz="850" dirty="0"/>
          </a:p>
        </p:txBody>
      </p:sp>
      <p:pic>
        <p:nvPicPr>
          <p:cNvPr id="12" name="logo_5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5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1B-1 · Warmer · last lesson   ·   📖 Recycles 30 Sept: present simple and continuous, food</a:t>
            </a:r>
            <a:endParaRPr lang="en-US" sz="800" dirty="0"/>
          </a:p>
        </p:txBody>
      </p:sp>
      <p:sp>
        <p:nvSpPr>
          <p:cNvPr id="14" name="cd_59"/>
          <p:cNvSpPr/>
          <p:nvPr/>
        </p:nvSpPr>
        <p:spPr>
          <a:xfrm>
            <a:off x="320040" y="1417320"/>
            <a:ext cx="2697480" cy="2057400"/>
          </a:xfrm>
          <a:prstGeom prst="roundRect">
            <a:avLst>
              <a:gd name="adj" fmla="val 6222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60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6" name="ih_61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500" dirty="0"/>
          </a:p>
        </p:txBody>
      </p:sp>
      <p:sp>
        <p:nvSpPr>
          <p:cNvPr id="17" name="il_62"/>
          <p:cNvSpPr/>
          <p:nvPr/>
        </p:nvSpPr>
        <p:spPr>
          <a:xfrm>
            <a:off x="886968" y="1892808"/>
            <a:ext cx="203911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 the ANSWER.</a:t>
            </a:r>
            <a:endParaRPr lang="en-US" sz="1150" dirty="0"/>
          </a:p>
          <a:p>
            <a:pPr marL="177800" indent="-1778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teams, write the QUESTION.</a:t>
            </a:r>
            <a:endParaRPr lang="en-US" sz="1150" dirty="0"/>
          </a:p>
          <a:p>
            <a:pPr marL="177800" indent="-1778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Correct question = 1 point.</a:t>
            </a:r>
            <a:endParaRPr lang="en-US" sz="1150" dirty="0"/>
          </a:p>
        </p:txBody>
      </p:sp>
      <p:sp>
        <p:nvSpPr>
          <p:cNvPr id="18" name="st_63"/>
          <p:cNvSpPr/>
          <p:nvPr/>
        </p:nvSpPr>
        <p:spPr>
          <a:xfrm rot="-180000">
            <a:off x="502920" y="3703320"/>
            <a:ext cx="2286000" cy="77724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250" dirty="0"/>
          </a:p>
        </p:txBody>
      </p:sp>
      <p:sp>
        <p:nvSpPr>
          <p:cNvPr id="19" name="bd_64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gq_65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"Twice a week. I love it!"</a:t>
            </a:r>
            <a:endParaRPr lang="en-US" sz="1100" dirty="0"/>
          </a:p>
        </p:txBody>
      </p:sp>
      <p:sp>
        <p:nvSpPr>
          <p:cNvPr id="21" name="R1_chip66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How often do you eat pizza?</a:t>
            </a:r>
            <a:endParaRPr lang="en-US" sz="1100" dirty="0"/>
          </a:p>
        </p:txBody>
      </p:sp>
      <p:sp>
        <p:nvSpPr>
          <p:cNvPr id="22" name="bd_67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gq_68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"No, I'm not. I'm doing my homework."</a:t>
            </a:r>
            <a:endParaRPr lang="en-US" sz="1100" dirty="0"/>
          </a:p>
        </p:txBody>
      </p:sp>
      <p:sp>
        <p:nvSpPr>
          <p:cNvPr id="24" name="R2_chip69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Are you watching TV?</a:t>
            </a:r>
            <a:endParaRPr lang="en-US" sz="1100" dirty="0"/>
          </a:p>
        </p:txBody>
      </p:sp>
      <p:sp>
        <p:nvSpPr>
          <p:cNvPr id="25" name="bd_70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gq_71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"No, I don't. It's too spicy."</a:t>
            </a:r>
            <a:endParaRPr lang="en-US" sz="1100" dirty="0"/>
          </a:p>
        </p:txBody>
      </p:sp>
      <p:sp>
        <p:nvSpPr>
          <p:cNvPr id="27" name="R3_chip72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Do you like chilli?</a:t>
            </a:r>
            <a:endParaRPr lang="en-US" sz="1100" dirty="0"/>
          </a:p>
        </p:txBody>
      </p:sp>
      <p:sp>
        <p:nvSpPr>
          <p:cNvPr id="28" name="bd_73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9" name="gq_74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"Because I'm trying to eat less sugar."</a:t>
            </a:r>
            <a:endParaRPr lang="en-US" sz="1100" dirty="0"/>
          </a:p>
        </p:txBody>
      </p:sp>
      <p:sp>
        <p:nvSpPr>
          <p:cNvPr id="30" name="R4_chip75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Why aren't you having dessert?</a:t>
            </a:r>
            <a:endParaRPr lang="en-US" sz="1100" dirty="0"/>
          </a:p>
        </p:txBody>
      </p:sp>
      <p:sp>
        <p:nvSpPr>
          <p:cNvPr id="31" name="bd_76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2" name="gq_77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"At my nonna's, every Sunday."</a:t>
            </a:r>
            <a:endParaRPr lang="en-US" sz="1100" dirty="0"/>
          </a:p>
        </p:txBody>
      </p:sp>
      <p:sp>
        <p:nvSpPr>
          <p:cNvPr id="33" name="R5_chip78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Where do you have lunch on Sundays?</a:t>
            </a:r>
            <a:endParaRPr lang="en-US" sz="1100" dirty="0"/>
          </a:p>
        </p:txBody>
      </p:sp>
      <p:sp>
        <p:nvSpPr>
          <p:cNvPr id="34" name="bd_79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5" name="gq_80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"Pasta with sardines!"</a:t>
            </a:r>
            <a:endParaRPr lang="en-US" sz="1100" dirty="0"/>
          </a:p>
        </p:txBody>
      </p:sp>
      <p:sp>
        <p:nvSpPr>
          <p:cNvPr id="36" name="R6_chip81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What are you cooking?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8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2800" dirty="0"/>
          </a:p>
        </p:txBody>
      </p:sp>
      <p:pic>
        <p:nvPicPr>
          <p:cNvPr id="4" name="brY_8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191610" cy="621792"/>
          </a:xfrm>
          <a:prstGeom prst="rect">
            <a:avLst/>
          </a:prstGeom>
        </p:spPr>
      </p:pic>
      <p:sp>
        <p:nvSpPr>
          <p:cNvPr id="5" name="title_84"/>
          <p:cNvSpPr/>
          <p:nvPr/>
        </p:nvSpPr>
        <p:spPr>
          <a:xfrm>
            <a:off x="1261872" y="164592"/>
            <a:ext cx="39172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What's the difference?</a:t>
            </a:r>
            <a:endParaRPr lang="en-US" sz="2500" dirty="0"/>
          </a:p>
        </p:txBody>
      </p:sp>
      <p:pic>
        <p:nvPicPr>
          <p:cNvPr id="6" name="brP_8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119372" cy="402336"/>
          </a:xfrm>
          <a:prstGeom prst="rect">
            <a:avLst/>
          </a:prstGeom>
        </p:spPr>
      </p:pic>
      <p:sp>
        <p:nvSpPr>
          <p:cNvPr id="7" name="ins_86"/>
          <p:cNvSpPr/>
          <p:nvPr/>
        </p:nvSpPr>
        <p:spPr>
          <a:xfrm>
            <a:off x="1353312" y="731520"/>
            <a:ext cx="38633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Explain the difference to your partner.</a:t>
            </a:r>
            <a:endParaRPr lang="en-US" sz="1250" dirty="0"/>
          </a:p>
        </p:txBody>
      </p:sp>
      <p:sp>
        <p:nvSpPr>
          <p:cNvPr id="8" name="insIT_87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Spiega la differenza al compagno.</a:t>
            </a:r>
            <a:endParaRPr lang="en-US" sz="950" dirty="0"/>
          </a:p>
        </p:txBody>
      </p:sp>
      <p:sp>
        <p:nvSpPr>
          <p:cNvPr id="9" name="cmd_88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0" name="meta_89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950" dirty="0"/>
          </a:p>
        </p:txBody>
      </p:sp>
      <p:sp>
        <p:nvSpPr>
          <p:cNvPr id="11" name="tag_90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Vocabulary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Controlled practice</a:t>
            </a:r>
            <a:endParaRPr lang="en-US" sz="850" dirty="0"/>
          </a:p>
        </p:txBody>
      </p:sp>
      <p:pic>
        <p:nvPicPr>
          <p:cNvPr id="12" name="logo_9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9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1B-1 · Vocabulary · family   ·   📖 SB p.10 · 1a</a:t>
            </a:r>
            <a:endParaRPr lang="en-US" sz="800" dirty="0"/>
          </a:p>
        </p:txBody>
      </p:sp>
      <p:sp>
        <p:nvSpPr>
          <p:cNvPr id="14" name="cd_93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94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6" name="ih_95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7" name="il_96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 mum / grandmother → your grandmother is your mum's or dad's mum</a:t>
            </a:r>
            <a:endParaRPr lang="en-US" sz="1050" dirty="0"/>
          </a:p>
        </p:txBody>
      </p:sp>
      <p:sp>
        <p:nvSpPr>
          <p:cNvPr id="18" name="pf_97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98" descr="/home/claude/lls-course/v2/cache/1b1_wedding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20" name="bd_99"/>
          <p:cNvSpPr/>
          <p:nvPr/>
        </p:nvSpPr>
        <p:spPr>
          <a:xfrm>
            <a:off x="3246120" y="14447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1" name="q_100"/>
          <p:cNvSpPr/>
          <p:nvPr/>
        </p:nvSpPr>
        <p:spPr>
          <a:xfrm>
            <a:off x="3630168" y="141732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father / parent</a:t>
            </a:r>
            <a:endParaRPr lang="en-US" sz="1150" dirty="0"/>
          </a:p>
        </p:txBody>
      </p:sp>
      <p:sp>
        <p:nvSpPr>
          <p:cNvPr id="22" name="R1_chip101"/>
          <p:cNvSpPr/>
          <p:nvPr/>
        </p:nvSpPr>
        <p:spPr>
          <a:xfrm>
            <a:off x="5806440" y="141732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father = male parent · parent = mum or dad</a:t>
            </a:r>
            <a:endParaRPr lang="en-US" sz="1000" dirty="0"/>
          </a:p>
        </p:txBody>
      </p:sp>
      <p:sp>
        <p:nvSpPr>
          <p:cNvPr id="23" name="bd_102"/>
          <p:cNvSpPr/>
          <p:nvPr/>
        </p:nvSpPr>
        <p:spPr>
          <a:xfrm>
            <a:off x="3246120" y="185623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4" name="q_103"/>
          <p:cNvSpPr/>
          <p:nvPr/>
        </p:nvSpPr>
        <p:spPr>
          <a:xfrm>
            <a:off x="3630168" y="182880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mother / stepmother</a:t>
            </a:r>
            <a:endParaRPr lang="en-US" sz="1150" dirty="0"/>
          </a:p>
        </p:txBody>
      </p:sp>
      <p:sp>
        <p:nvSpPr>
          <p:cNvPr id="25" name="R2_chip104"/>
          <p:cNvSpPr/>
          <p:nvPr/>
        </p:nvSpPr>
        <p:spPr>
          <a:xfrm>
            <a:off x="5806440" y="182880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stepmother = your dad's wife, not your mum</a:t>
            </a:r>
            <a:endParaRPr lang="en-US" sz="1000" dirty="0"/>
          </a:p>
        </p:txBody>
      </p:sp>
      <p:sp>
        <p:nvSpPr>
          <p:cNvPr id="26" name="bd_105"/>
          <p:cNvSpPr/>
          <p:nvPr/>
        </p:nvSpPr>
        <p:spPr>
          <a:xfrm>
            <a:off x="3246120" y="22677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7" name="q_106"/>
          <p:cNvSpPr/>
          <p:nvPr/>
        </p:nvSpPr>
        <p:spPr>
          <a:xfrm>
            <a:off x="3630168" y="224028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brother / brother-in-law</a:t>
            </a:r>
            <a:endParaRPr lang="en-US" sz="1150" dirty="0"/>
          </a:p>
        </p:txBody>
      </p:sp>
      <p:sp>
        <p:nvSpPr>
          <p:cNvPr id="28" name="R3_chip107"/>
          <p:cNvSpPr/>
          <p:nvPr/>
        </p:nvSpPr>
        <p:spPr>
          <a:xfrm>
            <a:off x="5806440" y="224028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sister's husband or your partner's brother</a:t>
            </a:r>
            <a:endParaRPr lang="en-US" sz="1000" dirty="0"/>
          </a:p>
        </p:txBody>
      </p:sp>
      <p:sp>
        <p:nvSpPr>
          <p:cNvPr id="29" name="bd_108"/>
          <p:cNvSpPr/>
          <p:nvPr/>
        </p:nvSpPr>
        <p:spPr>
          <a:xfrm>
            <a:off x="3246120" y="267919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q_109"/>
          <p:cNvSpPr/>
          <p:nvPr/>
        </p:nvSpPr>
        <p:spPr>
          <a:xfrm>
            <a:off x="3630168" y="265176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stepsister / half-sister</a:t>
            </a:r>
            <a:endParaRPr lang="en-US" sz="1150" dirty="0"/>
          </a:p>
        </p:txBody>
      </p:sp>
      <p:sp>
        <p:nvSpPr>
          <p:cNvPr id="31" name="R4_chip110"/>
          <p:cNvSpPr/>
          <p:nvPr/>
        </p:nvSpPr>
        <p:spPr>
          <a:xfrm>
            <a:off x="5806440" y="265176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step = no parent in common · half = one parent in common</a:t>
            </a:r>
            <a:endParaRPr lang="en-US" sz="1000" dirty="0"/>
          </a:p>
        </p:txBody>
      </p:sp>
      <p:sp>
        <p:nvSpPr>
          <p:cNvPr id="32" name="bd_111"/>
          <p:cNvSpPr/>
          <p:nvPr/>
        </p:nvSpPr>
        <p:spPr>
          <a:xfrm>
            <a:off x="3246120" y="30906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q_112"/>
          <p:cNvSpPr/>
          <p:nvPr/>
        </p:nvSpPr>
        <p:spPr>
          <a:xfrm>
            <a:off x="3630168" y="306324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grandfather / great-grandfather</a:t>
            </a:r>
            <a:endParaRPr lang="en-US" sz="1050" dirty="0"/>
          </a:p>
        </p:txBody>
      </p:sp>
      <p:sp>
        <p:nvSpPr>
          <p:cNvPr id="34" name="R5_chip113"/>
          <p:cNvSpPr/>
          <p:nvPr/>
        </p:nvSpPr>
        <p:spPr>
          <a:xfrm>
            <a:off x="5806440" y="306324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great-grandfather = your grandparent's father</a:t>
            </a:r>
            <a:endParaRPr lang="en-US" sz="1000" dirty="0"/>
          </a:p>
        </p:txBody>
      </p:sp>
      <p:sp>
        <p:nvSpPr>
          <p:cNvPr id="35" name="bd_114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6" name="q_115"/>
          <p:cNvSpPr/>
          <p:nvPr/>
        </p:nvSpPr>
        <p:spPr>
          <a:xfrm>
            <a:off x="3630168" y="347472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adopted child / only child</a:t>
            </a:r>
            <a:endParaRPr lang="en-US" sz="1100" dirty="0"/>
          </a:p>
        </p:txBody>
      </p:sp>
      <p:sp>
        <p:nvSpPr>
          <p:cNvPr id="37" name="R6_chip116"/>
          <p:cNvSpPr/>
          <p:nvPr/>
        </p:nvSpPr>
        <p:spPr>
          <a:xfrm>
            <a:off x="5806440" y="347472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joined a new family / no brothers or sisters</a:t>
            </a:r>
            <a:endParaRPr lang="en-US" sz="1000" dirty="0"/>
          </a:p>
        </p:txBody>
      </p:sp>
      <p:sp>
        <p:nvSpPr>
          <p:cNvPr id="38" name="bd_117"/>
          <p:cNvSpPr/>
          <p:nvPr/>
        </p:nvSpPr>
        <p:spPr>
          <a:xfrm>
            <a:off x="3246120" y="391363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000" dirty="0"/>
          </a:p>
        </p:txBody>
      </p:sp>
      <p:sp>
        <p:nvSpPr>
          <p:cNvPr id="39" name="q_118"/>
          <p:cNvSpPr/>
          <p:nvPr/>
        </p:nvSpPr>
        <p:spPr>
          <a:xfrm>
            <a:off x="3630168" y="388620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brothers and sisters / siblings</a:t>
            </a:r>
            <a:endParaRPr lang="en-US" sz="1050" dirty="0"/>
          </a:p>
        </p:txBody>
      </p:sp>
      <p:sp>
        <p:nvSpPr>
          <p:cNvPr id="40" name="R7_chip119"/>
          <p:cNvSpPr/>
          <p:nvPr/>
        </p:nvSpPr>
        <p:spPr>
          <a:xfrm>
            <a:off x="5806440" y="388620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same meaning · siblings is more formal</a:t>
            </a:r>
            <a:endParaRPr lang="en-US" sz="1000" dirty="0"/>
          </a:p>
        </p:txBody>
      </p:sp>
      <p:sp>
        <p:nvSpPr>
          <p:cNvPr id="41" name="bd_120"/>
          <p:cNvSpPr/>
          <p:nvPr/>
        </p:nvSpPr>
        <p:spPr>
          <a:xfrm>
            <a:off x="3246120" y="432511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1000" dirty="0"/>
          </a:p>
        </p:txBody>
      </p:sp>
      <p:sp>
        <p:nvSpPr>
          <p:cNvPr id="42" name="q_121"/>
          <p:cNvSpPr/>
          <p:nvPr/>
        </p:nvSpPr>
        <p:spPr>
          <a:xfrm>
            <a:off x="3630168" y="429768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immediate / extended family</a:t>
            </a:r>
            <a:endParaRPr lang="en-US" sz="1050" dirty="0"/>
          </a:p>
        </p:txBody>
      </p:sp>
      <p:sp>
        <p:nvSpPr>
          <p:cNvPr id="43" name="R8_chip122"/>
          <p:cNvSpPr/>
          <p:nvPr/>
        </p:nvSpPr>
        <p:spPr>
          <a:xfrm>
            <a:off x="5806440" y="429768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parents, children, siblings / uncles, cousins, grandparents…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2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2800" dirty="0"/>
          </a:p>
        </p:txBody>
      </p:sp>
      <p:pic>
        <p:nvPicPr>
          <p:cNvPr id="4" name="brY_12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348886" cy="621792"/>
          </a:xfrm>
          <a:prstGeom prst="rect">
            <a:avLst/>
          </a:prstGeom>
        </p:spPr>
      </p:pic>
      <p:sp>
        <p:nvSpPr>
          <p:cNvPr id="5" name="title_125"/>
          <p:cNvSpPr/>
          <p:nvPr/>
        </p:nvSpPr>
        <p:spPr>
          <a:xfrm>
            <a:off x="1261872" y="164592"/>
            <a:ext cx="40745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Family words in Italian</a:t>
            </a:r>
            <a:endParaRPr lang="en-US" sz="2500" dirty="0"/>
          </a:p>
        </p:txBody>
      </p:sp>
      <p:pic>
        <p:nvPicPr>
          <p:cNvPr id="6" name="brP_12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337560" cy="402336"/>
          </a:xfrm>
          <a:prstGeom prst="rect">
            <a:avLst/>
          </a:prstGeom>
        </p:spPr>
      </p:pic>
      <p:sp>
        <p:nvSpPr>
          <p:cNvPr id="7" name="ins_127"/>
          <p:cNvSpPr/>
          <p:nvPr/>
        </p:nvSpPr>
        <p:spPr>
          <a:xfrm>
            <a:off x="1353312" y="731520"/>
            <a:ext cx="3081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it in Italian. Then click!</a:t>
            </a:r>
            <a:endParaRPr lang="en-US" sz="1250" dirty="0"/>
          </a:p>
        </p:txBody>
      </p:sp>
      <p:sp>
        <p:nvSpPr>
          <p:cNvPr id="8" name="insIT_128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Dillo in italiano. Poi clicca!</a:t>
            </a:r>
            <a:endParaRPr lang="en-US" sz="950" dirty="0"/>
          </a:p>
        </p:txBody>
      </p:sp>
      <p:sp>
        <p:nvSpPr>
          <p:cNvPr id="9" name="cmd_129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✅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CHECK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CONTROLLA</a:t>
            </a:r>
            <a:endParaRPr lang="en-US" sz="1100" dirty="0"/>
          </a:p>
        </p:txBody>
      </p:sp>
      <p:sp>
        <p:nvSpPr>
          <p:cNvPr id="10" name="meta_130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🙋 whole class</a:t>
            </a:r>
            <a:endParaRPr lang="en-US" sz="950" dirty="0"/>
          </a:p>
        </p:txBody>
      </p:sp>
      <p:sp>
        <p:nvSpPr>
          <p:cNvPr id="11" name="tag_131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Vocabulary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TPRS · meaning</a:t>
            </a:r>
            <a:endParaRPr lang="en-US" sz="850" dirty="0"/>
          </a:p>
        </p:txBody>
      </p:sp>
      <p:pic>
        <p:nvPicPr>
          <p:cNvPr id="12" name="logo_13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13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1B-1 · Vocabulary · in Italian</a:t>
            </a:r>
            <a:endParaRPr lang="en-US" sz="800" dirty="0"/>
          </a:p>
        </p:txBody>
      </p:sp>
      <p:sp>
        <p:nvSpPr>
          <p:cNvPr id="14" name="cd_134"/>
          <p:cNvSpPr/>
          <p:nvPr/>
        </p:nvSpPr>
        <p:spPr>
          <a:xfrm>
            <a:off x="320040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e_135"/>
          <p:cNvSpPr/>
          <p:nvPr/>
        </p:nvSpPr>
        <p:spPr>
          <a:xfrm>
            <a:off x="393192" y="152704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👩</a:t>
            </a:r>
            <a:endParaRPr lang="en-US" sz="2000" dirty="0"/>
          </a:p>
        </p:txBody>
      </p:sp>
      <p:sp>
        <p:nvSpPr>
          <p:cNvPr id="16" name="en_136"/>
          <p:cNvSpPr/>
          <p:nvPr/>
        </p:nvSpPr>
        <p:spPr>
          <a:xfrm>
            <a:off x="978408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stepmother</a:t>
            </a:r>
            <a:endParaRPr lang="en-US" sz="1200" dirty="0"/>
          </a:p>
        </p:txBody>
      </p:sp>
      <p:sp>
        <p:nvSpPr>
          <p:cNvPr id="17" name="R1_it137"/>
          <p:cNvSpPr/>
          <p:nvPr/>
        </p:nvSpPr>
        <p:spPr>
          <a:xfrm>
            <a:off x="978408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matrigna</a:t>
            </a:r>
            <a:endParaRPr lang="en-US" sz="1000" dirty="0"/>
          </a:p>
        </p:txBody>
      </p:sp>
      <p:sp>
        <p:nvSpPr>
          <p:cNvPr id="18" name="cd_138"/>
          <p:cNvSpPr/>
          <p:nvPr/>
        </p:nvSpPr>
        <p:spPr>
          <a:xfrm>
            <a:off x="2487168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9" name="e_139"/>
          <p:cNvSpPr/>
          <p:nvPr/>
        </p:nvSpPr>
        <p:spPr>
          <a:xfrm>
            <a:off x="2560320" y="152704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👨</a:t>
            </a:r>
            <a:endParaRPr lang="en-US" sz="2000" dirty="0"/>
          </a:p>
        </p:txBody>
      </p:sp>
      <p:sp>
        <p:nvSpPr>
          <p:cNvPr id="20" name="en_140"/>
          <p:cNvSpPr/>
          <p:nvPr/>
        </p:nvSpPr>
        <p:spPr>
          <a:xfrm>
            <a:off x="3145536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stepfather</a:t>
            </a:r>
            <a:endParaRPr lang="en-US" sz="1200" dirty="0"/>
          </a:p>
        </p:txBody>
      </p:sp>
      <p:sp>
        <p:nvSpPr>
          <p:cNvPr id="21" name="R1_it141"/>
          <p:cNvSpPr/>
          <p:nvPr/>
        </p:nvSpPr>
        <p:spPr>
          <a:xfrm>
            <a:off x="3145536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patrigno</a:t>
            </a:r>
            <a:endParaRPr lang="en-US" sz="1000" dirty="0"/>
          </a:p>
        </p:txBody>
      </p:sp>
      <p:sp>
        <p:nvSpPr>
          <p:cNvPr id="22" name="cd_142"/>
          <p:cNvSpPr/>
          <p:nvPr/>
        </p:nvSpPr>
        <p:spPr>
          <a:xfrm>
            <a:off x="4654296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3" name="e_143"/>
          <p:cNvSpPr/>
          <p:nvPr/>
        </p:nvSpPr>
        <p:spPr>
          <a:xfrm>
            <a:off x="4727448" y="152704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👧</a:t>
            </a:r>
            <a:endParaRPr lang="en-US" sz="2000" dirty="0"/>
          </a:p>
        </p:txBody>
      </p:sp>
      <p:sp>
        <p:nvSpPr>
          <p:cNvPr id="24" name="en_144"/>
          <p:cNvSpPr/>
          <p:nvPr/>
        </p:nvSpPr>
        <p:spPr>
          <a:xfrm>
            <a:off x="5312664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stepsister</a:t>
            </a:r>
            <a:endParaRPr lang="en-US" sz="1200" dirty="0"/>
          </a:p>
        </p:txBody>
      </p:sp>
      <p:sp>
        <p:nvSpPr>
          <p:cNvPr id="25" name="R1_it145"/>
          <p:cNvSpPr/>
          <p:nvPr/>
        </p:nvSpPr>
        <p:spPr>
          <a:xfrm>
            <a:off x="5312664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sorellastra (nessun genitore in comune)</a:t>
            </a:r>
            <a:endParaRPr lang="en-US" sz="800" dirty="0"/>
          </a:p>
        </p:txBody>
      </p:sp>
      <p:sp>
        <p:nvSpPr>
          <p:cNvPr id="26" name="cd_146"/>
          <p:cNvSpPr/>
          <p:nvPr/>
        </p:nvSpPr>
        <p:spPr>
          <a:xfrm>
            <a:off x="6821424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7" name="e_147"/>
          <p:cNvSpPr/>
          <p:nvPr/>
        </p:nvSpPr>
        <p:spPr>
          <a:xfrm>
            <a:off x="6894576" y="152704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👭</a:t>
            </a:r>
            <a:endParaRPr lang="en-US" sz="2000" dirty="0"/>
          </a:p>
        </p:txBody>
      </p:sp>
      <p:sp>
        <p:nvSpPr>
          <p:cNvPr id="28" name="en_148"/>
          <p:cNvSpPr/>
          <p:nvPr/>
        </p:nvSpPr>
        <p:spPr>
          <a:xfrm>
            <a:off x="7479792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half-sister</a:t>
            </a:r>
            <a:endParaRPr lang="en-US" sz="1200" dirty="0"/>
          </a:p>
        </p:txBody>
      </p:sp>
      <p:sp>
        <p:nvSpPr>
          <p:cNvPr id="29" name="R1_it149"/>
          <p:cNvSpPr/>
          <p:nvPr/>
        </p:nvSpPr>
        <p:spPr>
          <a:xfrm>
            <a:off x="7479792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sorella da parte di padre / madre</a:t>
            </a:r>
            <a:endParaRPr lang="en-US" sz="800" dirty="0"/>
          </a:p>
        </p:txBody>
      </p:sp>
      <p:sp>
        <p:nvSpPr>
          <p:cNvPr id="30" name="cd_150"/>
          <p:cNvSpPr/>
          <p:nvPr/>
        </p:nvSpPr>
        <p:spPr>
          <a:xfrm>
            <a:off x="320040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1" name="e_151"/>
          <p:cNvSpPr/>
          <p:nvPr/>
        </p:nvSpPr>
        <p:spPr>
          <a:xfrm>
            <a:off x="393192" y="235000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🤵</a:t>
            </a:r>
            <a:endParaRPr lang="en-US" sz="2000" dirty="0"/>
          </a:p>
        </p:txBody>
      </p:sp>
      <p:sp>
        <p:nvSpPr>
          <p:cNvPr id="32" name="en_152"/>
          <p:cNvSpPr/>
          <p:nvPr/>
        </p:nvSpPr>
        <p:spPr>
          <a:xfrm>
            <a:off x="978408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brother-in-law</a:t>
            </a:r>
            <a:endParaRPr lang="en-US" sz="1200" dirty="0"/>
          </a:p>
        </p:txBody>
      </p:sp>
      <p:sp>
        <p:nvSpPr>
          <p:cNvPr id="33" name="R1_it153"/>
          <p:cNvSpPr/>
          <p:nvPr/>
        </p:nvSpPr>
        <p:spPr>
          <a:xfrm>
            <a:off x="978408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cognato</a:t>
            </a:r>
            <a:endParaRPr lang="en-US" sz="1000" dirty="0"/>
          </a:p>
        </p:txBody>
      </p:sp>
      <p:sp>
        <p:nvSpPr>
          <p:cNvPr id="34" name="cd_154"/>
          <p:cNvSpPr/>
          <p:nvPr/>
        </p:nvSpPr>
        <p:spPr>
          <a:xfrm>
            <a:off x="2487168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5" name="e_155"/>
          <p:cNvSpPr/>
          <p:nvPr/>
        </p:nvSpPr>
        <p:spPr>
          <a:xfrm>
            <a:off x="2560320" y="235000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👰</a:t>
            </a:r>
            <a:endParaRPr lang="en-US" sz="2000" dirty="0"/>
          </a:p>
        </p:txBody>
      </p:sp>
      <p:sp>
        <p:nvSpPr>
          <p:cNvPr id="36" name="en_156"/>
          <p:cNvSpPr/>
          <p:nvPr/>
        </p:nvSpPr>
        <p:spPr>
          <a:xfrm>
            <a:off x="3145536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sister-in-law</a:t>
            </a:r>
            <a:endParaRPr lang="en-US" sz="1200" dirty="0"/>
          </a:p>
        </p:txBody>
      </p:sp>
      <p:sp>
        <p:nvSpPr>
          <p:cNvPr id="37" name="R1_it157"/>
          <p:cNvSpPr/>
          <p:nvPr/>
        </p:nvSpPr>
        <p:spPr>
          <a:xfrm>
            <a:off x="3145536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cognata</a:t>
            </a:r>
            <a:endParaRPr lang="en-US" sz="1000" dirty="0"/>
          </a:p>
        </p:txBody>
      </p:sp>
      <p:sp>
        <p:nvSpPr>
          <p:cNvPr id="38" name="cd_158"/>
          <p:cNvSpPr/>
          <p:nvPr/>
        </p:nvSpPr>
        <p:spPr>
          <a:xfrm>
            <a:off x="4654296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9" name="e_159"/>
          <p:cNvSpPr/>
          <p:nvPr/>
        </p:nvSpPr>
        <p:spPr>
          <a:xfrm>
            <a:off x="4727448" y="235000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👴</a:t>
            </a:r>
            <a:endParaRPr lang="en-US" sz="2000" dirty="0"/>
          </a:p>
        </p:txBody>
      </p:sp>
      <p:sp>
        <p:nvSpPr>
          <p:cNvPr id="40" name="en_160"/>
          <p:cNvSpPr/>
          <p:nvPr/>
        </p:nvSpPr>
        <p:spPr>
          <a:xfrm>
            <a:off x="5312664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great-grandfather</a:t>
            </a:r>
            <a:endParaRPr lang="en-US" sz="1200" dirty="0"/>
          </a:p>
        </p:txBody>
      </p:sp>
      <p:sp>
        <p:nvSpPr>
          <p:cNvPr id="41" name="R1_it161"/>
          <p:cNvSpPr/>
          <p:nvPr/>
        </p:nvSpPr>
        <p:spPr>
          <a:xfrm>
            <a:off x="5312664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bisnonno</a:t>
            </a:r>
            <a:endParaRPr lang="en-US" sz="1000" dirty="0"/>
          </a:p>
        </p:txBody>
      </p:sp>
      <p:sp>
        <p:nvSpPr>
          <p:cNvPr id="42" name="cd_162"/>
          <p:cNvSpPr/>
          <p:nvPr/>
        </p:nvSpPr>
        <p:spPr>
          <a:xfrm>
            <a:off x="6821424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3" name="e_163"/>
          <p:cNvSpPr/>
          <p:nvPr/>
        </p:nvSpPr>
        <p:spPr>
          <a:xfrm>
            <a:off x="6894576" y="235000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🧒</a:t>
            </a:r>
            <a:endParaRPr lang="en-US" sz="2000" dirty="0"/>
          </a:p>
        </p:txBody>
      </p:sp>
      <p:sp>
        <p:nvSpPr>
          <p:cNvPr id="44" name="en_164"/>
          <p:cNvSpPr/>
          <p:nvPr/>
        </p:nvSpPr>
        <p:spPr>
          <a:xfrm>
            <a:off x="7479792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only child</a:t>
            </a:r>
            <a:endParaRPr lang="en-US" sz="1200" dirty="0"/>
          </a:p>
        </p:txBody>
      </p:sp>
      <p:sp>
        <p:nvSpPr>
          <p:cNvPr id="45" name="R1_it165"/>
          <p:cNvSpPr/>
          <p:nvPr/>
        </p:nvSpPr>
        <p:spPr>
          <a:xfrm>
            <a:off x="7479792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figlio unico / figlia unica</a:t>
            </a:r>
            <a:endParaRPr lang="en-US" sz="800" dirty="0"/>
          </a:p>
        </p:txBody>
      </p:sp>
      <p:sp>
        <p:nvSpPr>
          <p:cNvPr id="46" name="cd_166"/>
          <p:cNvSpPr/>
          <p:nvPr/>
        </p:nvSpPr>
        <p:spPr>
          <a:xfrm>
            <a:off x="320040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7" name="e_167"/>
          <p:cNvSpPr/>
          <p:nvPr/>
        </p:nvSpPr>
        <p:spPr>
          <a:xfrm>
            <a:off x="393192" y="317296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🍼</a:t>
            </a:r>
            <a:endParaRPr lang="en-US" sz="2000" dirty="0"/>
          </a:p>
        </p:txBody>
      </p:sp>
      <p:sp>
        <p:nvSpPr>
          <p:cNvPr id="48" name="en_168"/>
          <p:cNvSpPr/>
          <p:nvPr/>
        </p:nvSpPr>
        <p:spPr>
          <a:xfrm>
            <a:off x="978408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adopted child</a:t>
            </a:r>
            <a:endParaRPr lang="en-US" sz="1200" dirty="0"/>
          </a:p>
        </p:txBody>
      </p:sp>
      <p:sp>
        <p:nvSpPr>
          <p:cNvPr id="49" name="R1_it169"/>
          <p:cNvSpPr/>
          <p:nvPr/>
        </p:nvSpPr>
        <p:spPr>
          <a:xfrm>
            <a:off x="978408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figlio adottivo</a:t>
            </a:r>
            <a:endParaRPr lang="en-US" sz="1000" dirty="0"/>
          </a:p>
        </p:txBody>
      </p:sp>
      <p:sp>
        <p:nvSpPr>
          <p:cNvPr id="50" name="cd_170"/>
          <p:cNvSpPr/>
          <p:nvPr/>
        </p:nvSpPr>
        <p:spPr>
          <a:xfrm>
            <a:off x="2487168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1" name="e_171"/>
          <p:cNvSpPr/>
          <p:nvPr/>
        </p:nvSpPr>
        <p:spPr>
          <a:xfrm>
            <a:off x="2560320" y="317296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👫</a:t>
            </a:r>
            <a:endParaRPr lang="en-US" sz="2000" dirty="0"/>
          </a:p>
        </p:txBody>
      </p:sp>
      <p:sp>
        <p:nvSpPr>
          <p:cNvPr id="52" name="en_172"/>
          <p:cNvSpPr/>
          <p:nvPr/>
        </p:nvSpPr>
        <p:spPr>
          <a:xfrm>
            <a:off x="3145536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siblings</a:t>
            </a:r>
            <a:endParaRPr lang="en-US" sz="1200" dirty="0"/>
          </a:p>
        </p:txBody>
      </p:sp>
      <p:sp>
        <p:nvSpPr>
          <p:cNvPr id="53" name="R1_it173"/>
          <p:cNvSpPr/>
          <p:nvPr/>
        </p:nvSpPr>
        <p:spPr>
          <a:xfrm>
            <a:off x="3145536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fratelli e sorelle</a:t>
            </a:r>
            <a:endParaRPr lang="en-US" sz="1000" dirty="0"/>
          </a:p>
        </p:txBody>
      </p:sp>
      <p:sp>
        <p:nvSpPr>
          <p:cNvPr id="54" name="cd_174"/>
          <p:cNvSpPr/>
          <p:nvPr/>
        </p:nvSpPr>
        <p:spPr>
          <a:xfrm>
            <a:off x="4654296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5" name="e_175"/>
          <p:cNvSpPr/>
          <p:nvPr/>
        </p:nvSpPr>
        <p:spPr>
          <a:xfrm>
            <a:off x="4727448" y="317296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👦</a:t>
            </a:r>
            <a:endParaRPr lang="en-US" sz="2000" dirty="0"/>
          </a:p>
        </p:txBody>
      </p:sp>
      <p:sp>
        <p:nvSpPr>
          <p:cNvPr id="56" name="en_176"/>
          <p:cNvSpPr/>
          <p:nvPr/>
        </p:nvSpPr>
        <p:spPr>
          <a:xfrm>
            <a:off x="5312664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nephew / niece</a:t>
            </a:r>
            <a:endParaRPr lang="en-US" sz="1200" dirty="0"/>
          </a:p>
        </p:txBody>
      </p:sp>
      <p:sp>
        <p:nvSpPr>
          <p:cNvPr id="57" name="R1_it177"/>
          <p:cNvSpPr/>
          <p:nvPr/>
        </p:nvSpPr>
        <p:spPr>
          <a:xfrm>
            <a:off x="5312664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nipote (di zio/zia)</a:t>
            </a:r>
            <a:endParaRPr lang="en-US" sz="1000" dirty="0"/>
          </a:p>
        </p:txBody>
      </p:sp>
      <p:sp>
        <p:nvSpPr>
          <p:cNvPr id="58" name="cd_178"/>
          <p:cNvSpPr/>
          <p:nvPr/>
        </p:nvSpPr>
        <p:spPr>
          <a:xfrm>
            <a:off x="6821424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9" name="e_179"/>
          <p:cNvSpPr/>
          <p:nvPr/>
        </p:nvSpPr>
        <p:spPr>
          <a:xfrm>
            <a:off x="6894576" y="317296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👨‍👩‍👧‍👦</a:t>
            </a:r>
            <a:endParaRPr lang="en-US" sz="2000" dirty="0"/>
          </a:p>
        </p:txBody>
      </p:sp>
      <p:sp>
        <p:nvSpPr>
          <p:cNvPr id="60" name="en_180"/>
          <p:cNvSpPr/>
          <p:nvPr/>
        </p:nvSpPr>
        <p:spPr>
          <a:xfrm>
            <a:off x="7479792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extended family</a:t>
            </a:r>
            <a:endParaRPr lang="en-US" sz="1200" dirty="0"/>
          </a:p>
        </p:txBody>
      </p:sp>
      <p:sp>
        <p:nvSpPr>
          <p:cNvPr id="61" name="R1_it181"/>
          <p:cNvSpPr/>
          <p:nvPr/>
        </p:nvSpPr>
        <p:spPr>
          <a:xfrm>
            <a:off x="7479792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parenti (zii, cugini, nonni)</a:t>
            </a:r>
            <a:endParaRPr lang="en-US" sz="800" dirty="0"/>
          </a:p>
        </p:txBody>
      </p:sp>
      <p:sp>
        <p:nvSpPr>
          <p:cNvPr id="62" name="R1_wc182"/>
          <p:cNvSpPr/>
          <p:nvPr/>
        </p:nvSpPr>
        <p:spPr>
          <a:xfrm>
            <a:off x="320040" y="3931920"/>
            <a:ext cx="8549640" cy="457200"/>
          </a:xfrm>
          <a:prstGeom prst="roundRect">
            <a:avLst>
              <a:gd name="adj" fmla="val 28000"/>
            </a:avLst>
          </a:prstGeom>
          <a:solidFill>
            <a:srgbClr val="FFE3EE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63" name="R1_w183"/>
          <p:cNvSpPr/>
          <p:nvPr/>
        </p:nvSpPr>
        <p:spPr>
          <a:xfrm>
            <a:off x="457200" y="393192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Watch out!  parents = genitori  ·  relatives = parenti   |   nipote = nephew / niece OR grandson / granddaughter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8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2800" dirty="0"/>
          </a:p>
        </p:txBody>
      </p:sp>
      <p:pic>
        <p:nvPicPr>
          <p:cNvPr id="4" name="brY_18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5135270" cy="621792"/>
          </a:xfrm>
          <a:prstGeom prst="rect">
            <a:avLst/>
          </a:prstGeom>
        </p:spPr>
      </p:pic>
      <p:sp>
        <p:nvSpPr>
          <p:cNvPr id="5" name="title_186"/>
          <p:cNvSpPr/>
          <p:nvPr/>
        </p:nvSpPr>
        <p:spPr>
          <a:xfrm>
            <a:off x="1261872" y="164592"/>
            <a:ext cx="486095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Who's who at Sara's wedding?</a:t>
            </a:r>
            <a:endParaRPr lang="en-US" sz="2400" dirty="0"/>
          </a:p>
        </p:txBody>
      </p:sp>
      <p:pic>
        <p:nvPicPr>
          <p:cNvPr id="6" name="brP_18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424428" cy="402336"/>
          </a:xfrm>
          <a:prstGeom prst="rect">
            <a:avLst/>
          </a:prstGeom>
        </p:spPr>
      </p:pic>
      <p:sp>
        <p:nvSpPr>
          <p:cNvPr id="7" name="ins_188"/>
          <p:cNvSpPr/>
          <p:nvPr/>
        </p:nvSpPr>
        <p:spPr>
          <a:xfrm>
            <a:off x="1353312" y="731520"/>
            <a:ext cx="31683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Sara is the bride. Who are 1–6?</a:t>
            </a:r>
            <a:endParaRPr lang="en-US" sz="1250" dirty="0"/>
          </a:p>
        </p:txBody>
      </p:sp>
      <p:sp>
        <p:nvSpPr>
          <p:cNvPr id="8" name="insIT_189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Sara è la sposa. Chi sono 1–6?</a:t>
            </a:r>
            <a:endParaRPr lang="en-US" sz="950" dirty="0"/>
          </a:p>
        </p:txBody>
      </p:sp>
      <p:sp>
        <p:nvSpPr>
          <p:cNvPr id="9" name="cmd_190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0" name="meta_191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1" name="tag_192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Vocabulary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Communicative</a:t>
            </a:r>
            <a:endParaRPr lang="en-US" sz="850" dirty="0"/>
          </a:p>
        </p:txBody>
      </p:sp>
      <p:pic>
        <p:nvPicPr>
          <p:cNvPr id="12" name="logo_19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19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1B-1 · Vocabulary · practice   ·   📖 Practice of SB p.10 · 1a words</a:t>
            </a:r>
            <a:endParaRPr lang="en-US" sz="800" dirty="0"/>
          </a:p>
        </p:txBody>
      </p:sp>
      <p:sp>
        <p:nvSpPr>
          <p:cNvPr id="14" name="pf_195"/>
          <p:cNvSpPr/>
          <p:nvPr/>
        </p:nvSpPr>
        <p:spPr>
          <a:xfrm rot="-60000">
            <a:off x="365760" y="1417320"/>
            <a:ext cx="4937760" cy="3291840"/>
          </a:xfrm>
          <a:prstGeom prst="roundRect">
            <a:avLst>
              <a:gd name="adj" fmla="val 47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196" descr="/home/claude/lls-course/v2/cache/1b1_wedding_jpg_1166x770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60000">
            <a:off x="411480" y="1463040"/>
            <a:ext cx="4846320" cy="3200400"/>
          </a:xfrm>
          <a:prstGeom prst="rect">
            <a:avLst/>
          </a:prstGeom>
        </p:spPr>
      </p:pic>
      <p:sp>
        <p:nvSpPr>
          <p:cNvPr id="16" name="bd_197"/>
          <p:cNvSpPr/>
          <p:nvPr/>
        </p:nvSpPr>
        <p:spPr>
          <a:xfrm>
            <a:off x="2497226" y="4023360"/>
            <a:ext cx="384048" cy="3840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300" dirty="0"/>
          </a:p>
        </p:txBody>
      </p:sp>
      <p:sp>
        <p:nvSpPr>
          <p:cNvPr id="17" name="bd_198"/>
          <p:cNvSpPr/>
          <p:nvPr/>
        </p:nvSpPr>
        <p:spPr>
          <a:xfrm>
            <a:off x="607162" y="2871216"/>
            <a:ext cx="384048" cy="3840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300" dirty="0"/>
          </a:p>
        </p:txBody>
      </p:sp>
      <p:sp>
        <p:nvSpPr>
          <p:cNvPr id="18" name="bd_199"/>
          <p:cNvSpPr/>
          <p:nvPr/>
        </p:nvSpPr>
        <p:spPr>
          <a:xfrm>
            <a:off x="1964131" y="2871216"/>
            <a:ext cx="384048" cy="3840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bd_200"/>
          <p:cNvSpPr/>
          <p:nvPr/>
        </p:nvSpPr>
        <p:spPr>
          <a:xfrm>
            <a:off x="4581144" y="2295144"/>
            <a:ext cx="384048" cy="3840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bd_201"/>
          <p:cNvSpPr/>
          <p:nvPr/>
        </p:nvSpPr>
        <p:spPr>
          <a:xfrm>
            <a:off x="4096512" y="3255264"/>
            <a:ext cx="384048" cy="3840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bd_202"/>
          <p:cNvSpPr/>
          <p:nvPr/>
        </p:nvSpPr>
        <p:spPr>
          <a:xfrm>
            <a:off x="1091794" y="3831336"/>
            <a:ext cx="384048" cy="3840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300" dirty="0"/>
          </a:p>
        </p:txBody>
      </p:sp>
      <p:sp>
        <p:nvSpPr>
          <p:cNvPr id="22" name="st_203"/>
          <p:cNvSpPr/>
          <p:nvPr/>
        </p:nvSpPr>
        <p:spPr>
          <a:xfrm rot="-240000">
            <a:off x="2907792" y="3282696"/>
            <a:ext cx="822960" cy="310896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★ Sara</a:t>
            </a:r>
            <a:endParaRPr lang="en-US" sz="1100" dirty="0"/>
          </a:p>
        </p:txBody>
      </p:sp>
      <p:sp>
        <p:nvSpPr>
          <p:cNvPr id="23" name="bd_204"/>
          <p:cNvSpPr/>
          <p:nvPr/>
        </p:nvSpPr>
        <p:spPr>
          <a:xfrm>
            <a:off x="5532120" y="1435608"/>
            <a:ext cx="292608" cy="29260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4" name="q_205"/>
          <p:cNvSpPr/>
          <p:nvPr/>
        </p:nvSpPr>
        <p:spPr>
          <a:xfrm>
            <a:off x="5897880" y="141732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Her grandmother's mother</a:t>
            </a:r>
            <a:endParaRPr lang="en-US" sz="1100" dirty="0"/>
          </a:p>
        </p:txBody>
      </p:sp>
      <p:sp>
        <p:nvSpPr>
          <p:cNvPr id="25" name="R1_chip206"/>
          <p:cNvSpPr/>
          <p:nvPr/>
        </p:nvSpPr>
        <p:spPr>
          <a:xfrm>
            <a:off x="5897880" y="1682496"/>
            <a:ext cx="2377440" cy="292608"/>
          </a:xfrm>
          <a:prstGeom prst="roundRect">
            <a:avLst>
              <a:gd name="adj" fmla="val 3125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great-grandmother</a:t>
            </a:r>
            <a:endParaRPr lang="en-US" sz="1000" dirty="0"/>
          </a:p>
        </p:txBody>
      </p:sp>
      <p:sp>
        <p:nvSpPr>
          <p:cNvPr id="26" name="bd_207"/>
          <p:cNvSpPr/>
          <p:nvPr/>
        </p:nvSpPr>
        <p:spPr>
          <a:xfrm>
            <a:off x="5532120" y="1999488"/>
            <a:ext cx="292608" cy="29260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7" name="q_208"/>
          <p:cNvSpPr/>
          <p:nvPr/>
        </p:nvSpPr>
        <p:spPr>
          <a:xfrm>
            <a:off x="5897880" y="198120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Same dad, different mum</a:t>
            </a:r>
            <a:endParaRPr lang="en-US" sz="1100" dirty="0"/>
          </a:p>
        </p:txBody>
      </p:sp>
      <p:sp>
        <p:nvSpPr>
          <p:cNvPr id="28" name="R2_chip209"/>
          <p:cNvSpPr/>
          <p:nvPr/>
        </p:nvSpPr>
        <p:spPr>
          <a:xfrm>
            <a:off x="5897880" y="2246376"/>
            <a:ext cx="2377440" cy="292608"/>
          </a:xfrm>
          <a:prstGeom prst="roundRect">
            <a:avLst>
              <a:gd name="adj" fmla="val 3125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half-sister</a:t>
            </a:r>
            <a:endParaRPr lang="en-US" sz="1000" dirty="0"/>
          </a:p>
        </p:txBody>
      </p:sp>
      <p:sp>
        <p:nvSpPr>
          <p:cNvPr id="29" name="bd_210"/>
          <p:cNvSpPr/>
          <p:nvPr/>
        </p:nvSpPr>
        <p:spPr>
          <a:xfrm>
            <a:off x="5532120" y="2563368"/>
            <a:ext cx="292608" cy="29260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30" name="q_211"/>
          <p:cNvSpPr/>
          <p:nvPr/>
        </p:nvSpPr>
        <p:spPr>
          <a:xfrm>
            <a:off x="5897880" y="254508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Her dad's second wife</a:t>
            </a:r>
            <a:endParaRPr lang="en-US" sz="1100" dirty="0"/>
          </a:p>
        </p:txBody>
      </p:sp>
      <p:sp>
        <p:nvSpPr>
          <p:cNvPr id="31" name="R3_chip212"/>
          <p:cNvSpPr/>
          <p:nvPr/>
        </p:nvSpPr>
        <p:spPr>
          <a:xfrm>
            <a:off x="5897880" y="2810256"/>
            <a:ext cx="2377440" cy="292608"/>
          </a:xfrm>
          <a:prstGeom prst="roundRect">
            <a:avLst>
              <a:gd name="adj" fmla="val 3125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stepmother</a:t>
            </a:r>
            <a:endParaRPr lang="en-US" sz="1000" dirty="0"/>
          </a:p>
        </p:txBody>
      </p:sp>
      <p:sp>
        <p:nvSpPr>
          <p:cNvPr id="32" name="bd_213"/>
          <p:cNvSpPr/>
          <p:nvPr/>
        </p:nvSpPr>
        <p:spPr>
          <a:xfrm>
            <a:off x="5532120" y="3127248"/>
            <a:ext cx="292608" cy="29260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3" name="q_214"/>
          <p:cNvSpPr/>
          <p:nvPr/>
        </p:nvSpPr>
        <p:spPr>
          <a:xfrm>
            <a:off x="5897880" y="310896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Her husband's brother</a:t>
            </a:r>
            <a:endParaRPr lang="en-US" sz="1100" dirty="0"/>
          </a:p>
        </p:txBody>
      </p:sp>
      <p:sp>
        <p:nvSpPr>
          <p:cNvPr id="34" name="R4_chip215"/>
          <p:cNvSpPr/>
          <p:nvPr/>
        </p:nvSpPr>
        <p:spPr>
          <a:xfrm>
            <a:off x="5897880" y="3374136"/>
            <a:ext cx="2377440" cy="292608"/>
          </a:xfrm>
          <a:prstGeom prst="roundRect">
            <a:avLst>
              <a:gd name="adj" fmla="val 3125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brother-in-law</a:t>
            </a:r>
            <a:endParaRPr lang="en-US" sz="1000" dirty="0"/>
          </a:p>
        </p:txBody>
      </p:sp>
      <p:sp>
        <p:nvSpPr>
          <p:cNvPr id="35" name="bd_216"/>
          <p:cNvSpPr/>
          <p:nvPr/>
        </p:nvSpPr>
        <p:spPr>
          <a:xfrm>
            <a:off x="5532120" y="3691128"/>
            <a:ext cx="292608" cy="29260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6" name="q_217"/>
          <p:cNvSpPr/>
          <p:nvPr/>
        </p:nvSpPr>
        <p:spPr>
          <a:xfrm>
            <a:off x="5897880" y="367284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Her husband's sister</a:t>
            </a:r>
            <a:endParaRPr lang="en-US" sz="1100" dirty="0"/>
          </a:p>
        </p:txBody>
      </p:sp>
      <p:sp>
        <p:nvSpPr>
          <p:cNvPr id="37" name="R5_chip218"/>
          <p:cNvSpPr/>
          <p:nvPr/>
        </p:nvSpPr>
        <p:spPr>
          <a:xfrm>
            <a:off x="5897880" y="3938016"/>
            <a:ext cx="2377440" cy="292608"/>
          </a:xfrm>
          <a:prstGeom prst="roundRect">
            <a:avLst>
              <a:gd name="adj" fmla="val 3125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sister-in-law</a:t>
            </a:r>
            <a:endParaRPr lang="en-US" sz="1000" dirty="0"/>
          </a:p>
        </p:txBody>
      </p:sp>
      <p:sp>
        <p:nvSpPr>
          <p:cNvPr id="38" name="bd_219"/>
          <p:cNvSpPr/>
          <p:nvPr/>
        </p:nvSpPr>
        <p:spPr>
          <a:xfrm>
            <a:off x="5532120" y="4255008"/>
            <a:ext cx="292608" cy="29260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9" name="q_220"/>
          <p:cNvSpPr/>
          <p:nvPr/>
        </p:nvSpPr>
        <p:spPr>
          <a:xfrm>
            <a:off x="5897880" y="423672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Her brother's son</a:t>
            </a:r>
            <a:endParaRPr lang="en-US" sz="1100" dirty="0"/>
          </a:p>
        </p:txBody>
      </p:sp>
      <p:sp>
        <p:nvSpPr>
          <p:cNvPr id="40" name="R6_chip221"/>
          <p:cNvSpPr/>
          <p:nvPr/>
        </p:nvSpPr>
        <p:spPr>
          <a:xfrm>
            <a:off x="5897880" y="4501896"/>
            <a:ext cx="2377440" cy="292608"/>
          </a:xfrm>
          <a:prstGeom prst="roundRect">
            <a:avLst>
              <a:gd name="adj" fmla="val 3125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nephew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2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2800" dirty="0"/>
          </a:p>
        </p:txBody>
      </p:sp>
      <p:pic>
        <p:nvPicPr>
          <p:cNvPr id="4" name="brY_22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618842" cy="621792"/>
          </a:xfrm>
          <a:prstGeom prst="rect">
            <a:avLst/>
          </a:prstGeom>
        </p:spPr>
      </p:pic>
      <p:sp>
        <p:nvSpPr>
          <p:cNvPr id="5" name="title_224"/>
          <p:cNvSpPr/>
          <p:nvPr/>
        </p:nvSpPr>
        <p:spPr>
          <a:xfrm>
            <a:off x="1261872" y="164592"/>
            <a:ext cx="23445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Describe it!</a:t>
            </a:r>
            <a:endParaRPr lang="en-US" sz="2500" dirty="0"/>
          </a:p>
        </p:txBody>
      </p:sp>
      <p:pic>
        <p:nvPicPr>
          <p:cNvPr id="6" name="brP_22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424428" cy="402336"/>
          </a:xfrm>
          <a:prstGeom prst="rect">
            <a:avLst/>
          </a:prstGeom>
        </p:spPr>
      </p:pic>
      <p:sp>
        <p:nvSpPr>
          <p:cNvPr id="7" name="ins_226"/>
          <p:cNvSpPr/>
          <p:nvPr/>
        </p:nvSpPr>
        <p:spPr>
          <a:xfrm>
            <a:off x="1353312" y="731520"/>
            <a:ext cx="31683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Explain the word. Don't say it!</a:t>
            </a:r>
            <a:endParaRPr lang="en-US" sz="1250" dirty="0"/>
          </a:p>
        </p:txBody>
      </p:sp>
      <p:sp>
        <p:nvSpPr>
          <p:cNvPr id="8" name="insIT_227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Spiega la parola. Non dirla!</a:t>
            </a:r>
            <a:endParaRPr lang="en-US" sz="950" dirty="0"/>
          </a:p>
        </p:txBody>
      </p:sp>
      <p:sp>
        <p:nvSpPr>
          <p:cNvPr id="9" name="cmd_228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meta_229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1" name="tag_230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Vocabulary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Communicative game</a:t>
            </a:r>
            <a:endParaRPr lang="en-US" sz="850" dirty="0"/>
          </a:p>
        </p:txBody>
      </p:sp>
      <p:pic>
        <p:nvPicPr>
          <p:cNvPr id="12" name="logo_23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3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1B-1 · Vocabulary game</a:t>
            </a:r>
            <a:endParaRPr lang="en-US" sz="800" dirty="0"/>
          </a:p>
        </p:txBody>
      </p:sp>
      <p:sp>
        <p:nvSpPr>
          <p:cNvPr id="14" name="cd_233"/>
          <p:cNvSpPr/>
          <p:nvPr/>
        </p:nvSpPr>
        <p:spPr>
          <a:xfrm>
            <a:off x="320040" y="1417320"/>
            <a:ext cx="2697480" cy="2057400"/>
          </a:xfrm>
          <a:prstGeom prst="roundRect">
            <a:avLst>
              <a:gd name="adj" fmla="val 6222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234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6" name="ih_235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500" dirty="0"/>
          </a:p>
        </p:txBody>
      </p:sp>
      <p:sp>
        <p:nvSpPr>
          <p:cNvPr id="17" name="il_236"/>
          <p:cNvSpPr/>
          <p:nvPr/>
        </p:nvSpPr>
        <p:spPr>
          <a:xfrm>
            <a:off x="886968" y="1892808"/>
            <a:ext cx="203911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looks at the screen. B turns around.</a:t>
            </a:r>
            <a:endParaRPr lang="en-US" sz="1150" dirty="0"/>
          </a:p>
          <a:p>
            <a:pPr marL="177800" indent="-1778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explains the word. Don't say it!</a:t>
            </a:r>
            <a:endParaRPr lang="en-US" sz="1150" dirty="0"/>
          </a:p>
          <a:p>
            <a:pPr marL="177800" indent="-1778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 guesses. Then swap.</a:t>
            </a:r>
            <a:endParaRPr lang="en-US" sz="1150" dirty="0"/>
          </a:p>
        </p:txBody>
      </p:sp>
      <p:sp>
        <p:nvSpPr>
          <p:cNvPr id="18" name="pf_237"/>
          <p:cNvSpPr/>
          <p:nvPr/>
        </p:nvSpPr>
        <p:spPr>
          <a:xfrm rot="-120000">
            <a:off x="411480" y="3611880"/>
            <a:ext cx="2468880" cy="1143000"/>
          </a:xfrm>
          <a:prstGeom prst="roundRect">
            <a:avLst>
              <a:gd name="adj" fmla="val 136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238" descr="/home/claude/lls-course/v2/cache/1b1_dinner_jpg_572x253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57200" y="3657600"/>
            <a:ext cx="2377440" cy="1051560"/>
          </a:xfrm>
          <a:prstGeom prst="rect">
            <a:avLst/>
          </a:prstGeom>
        </p:spPr>
      </p:pic>
      <p:sp>
        <p:nvSpPr>
          <p:cNvPr id="20" name="rl_239"/>
          <p:cNvSpPr/>
          <p:nvPr/>
        </p:nvSpPr>
        <p:spPr>
          <a:xfrm>
            <a:off x="3246120" y="1417320"/>
            <a:ext cx="2651760" cy="310896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ROUND 1 · A explains</a:t>
            </a:r>
            <a:endParaRPr lang="en-US" sz="1100" dirty="0"/>
          </a:p>
        </p:txBody>
      </p:sp>
      <p:sp>
        <p:nvSpPr>
          <p:cNvPr id="21" name="R1_w240"/>
          <p:cNvSpPr/>
          <p:nvPr/>
        </p:nvSpPr>
        <p:spPr>
          <a:xfrm>
            <a:off x="3246120" y="185623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stepmother</a:t>
            </a:r>
            <a:endParaRPr lang="en-US" sz="1700" dirty="0"/>
          </a:p>
        </p:txBody>
      </p:sp>
      <p:sp>
        <p:nvSpPr>
          <p:cNvPr id="22" name="R2_w241"/>
          <p:cNvSpPr/>
          <p:nvPr/>
        </p:nvSpPr>
        <p:spPr>
          <a:xfrm>
            <a:off x="3246120" y="258775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only child</a:t>
            </a:r>
            <a:endParaRPr lang="en-US" sz="1700" dirty="0"/>
          </a:p>
        </p:txBody>
      </p:sp>
      <p:sp>
        <p:nvSpPr>
          <p:cNvPr id="23" name="R3_w242"/>
          <p:cNvSpPr/>
          <p:nvPr/>
        </p:nvSpPr>
        <p:spPr>
          <a:xfrm>
            <a:off x="3246120" y="331927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brother-in-law</a:t>
            </a:r>
            <a:endParaRPr lang="en-US" sz="1700" dirty="0"/>
          </a:p>
        </p:txBody>
      </p:sp>
      <p:sp>
        <p:nvSpPr>
          <p:cNvPr id="24" name="R4_w243"/>
          <p:cNvSpPr/>
          <p:nvPr/>
        </p:nvSpPr>
        <p:spPr>
          <a:xfrm>
            <a:off x="3246120" y="405079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siblings</a:t>
            </a:r>
            <a:endParaRPr lang="en-US" sz="1700" dirty="0"/>
          </a:p>
        </p:txBody>
      </p:sp>
      <p:sp>
        <p:nvSpPr>
          <p:cNvPr id="25" name="rl_244"/>
          <p:cNvSpPr/>
          <p:nvPr/>
        </p:nvSpPr>
        <p:spPr>
          <a:xfrm>
            <a:off x="6080760" y="1417320"/>
            <a:ext cx="2651760" cy="310896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ROUND 2 · B explains</a:t>
            </a:r>
            <a:endParaRPr lang="en-US" sz="1100" dirty="0"/>
          </a:p>
        </p:txBody>
      </p:sp>
      <p:sp>
        <p:nvSpPr>
          <p:cNvPr id="26" name="R5_w245"/>
          <p:cNvSpPr/>
          <p:nvPr/>
        </p:nvSpPr>
        <p:spPr>
          <a:xfrm>
            <a:off x="6080760" y="185623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half-sister</a:t>
            </a:r>
            <a:endParaRPr lang="en-US" sz="1700" dirty="0"/>
          </a:p>
        </p:txBody>
      </p:sp>
      <p:sp>
        <p:nvSpPr>
          <p:cNvPr id="27" name="R6_w246"/>
          <p:cNvSpPr/>
          <p:nvPr/>
        </p:nvSpPr>
        <p:spPr>
          <a:xfrm>
            <a:off x="6080760" y="258775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great-grandfather</a:t>
            </a:r>
            <a:endParaRPr lang="en-US" sz="1700" dirty="0"/>
          </a:p>
        </p:txBody>
      </p:sp>
      <p:sp>
        <p:nvSpPr>
          <p:cNvPr id="28" name="R7_w247"/>
          <p:cNvSpPr/>
          <p:nvPr/>
        </p:nvSpPr>
        <p:spPr>
          <a:xfrm>
            <a:off x="6080760" y="331927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adopted child</a:t>
            </a:r>
            <a:endParaRPr lang="en-US" sz="1700" dirty="0"/>
          </a:p>
        </p:txBody>
      </p:sp>
      <p:sp>
        <p:nvSpPr>
          <p:cNvPr id="29" name="R8_w248"/>
          <p:cNvSpPr/>
          <p:nvPr/>
        </p:nvSpPr>
        <p:spPr>
          <a:xfrm>
            <a:off x="6080760" y="405079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extended family</a:t>
            </a:r>
            <a:endParaRPr lang="en-US" sz="17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4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2800" dirty="0"/>
          </a:p>
        </p:txBody>
      </p:sp>
      <p:pic>
        <p:nvPicPr>
          <p:cNvPr id="4" name="brY_25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405226" cy="621792"/>
          </a:xfrm>
          <a:prstGeom prst="rect">
            <a:avLst/>
          </a:prstGeom>
        </p:spPr>
      </p:pic>
      <p:sp>
        <p:nvSpPr>
          <p:cNvPr id="5" name="title_251"/>
          <p:cNvSpPr/>
          <p:nvPr/>
        </p:nvSpPr>
        <p:spPr>
          <a:xfrm>
            <a:off x="1261872" y="164592"/>
            <a:ext cx="31309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 the numbers</a:t>
            </a:r>
            <a:endParaRPr lang="en-US" sz="2400" dirty="0"/>
          </a:p>
        </p:txBody>
      </p:sp>
      <p:pic>
        <p:nvPicPr>
          <p:cNvPr id="6" name="brP_25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206240" cy="402336"/>
          </a:xfrm>
          <a:prstGeom prst="rect">
            <a:avLst/>
          </a:prstGeom>
        </p:spPr>
      </p:pic>
      <p:sp>
        <p:nvSpPr>
          <p:cNvPr id="7" name="ins_253"/>
          <p:cNvSpPr/>
          <p:nvPr/>
        </p:nvSpPr>
        <p:spPr>
          <a:xfrm>
            <a:off x="1353312" y="731520"/>
            <a:ext cx="3950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intro. 8 numbers – 8 gaps next!</a:t>
            </a:r>
            <a:endParaRPr lang="en-US" sz="1250" dirty="0"/>
          </a:p>
        </p:txBody>
      </p:sp>
      <p:sp>
        <p:nvSpPr>
          <p:cNvPr id="8" name="insIT_254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Leggi l'intro. 8 numeri – 8 spazi dopo!</a:t>
            </a:r>
            <a:endParaRPr lang="en-US" sz="950" dirty="0"/>
          </a:p>
        </p:txBody>
      </p:sp>
      <p:sp>
        <p:nvSpPr>
          <p:cNvPr id="9" name="cmd_255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1100" dirty="0"/>
          </a:p>
        </p:txBody>
      </p:sp>
      <p:sp>
        <p:nvSpPr>
          <p:cNvPr id="10" name="cmd_256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🤔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INDOVINA</a:t>
            </a:r>
            <a:endParaRPr lang="en-US" sz="1100" dirty="0"/>
          </a:p>
        </p:txBody>
      </p:sp>
      <p:sp>
        <p:nvSpPr>
          <p:cNvPr id="11" name="meta_257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sp>
        <p:nvSpPr>
          <p:cNvPr id="12" name="tag_258"/>
          <p:cNvSpPr/>
          <p:nvPr/>
        </p:nvSpPr>
        <p:spPr>
          <a:xfrm>
            <a:off x="6510528" y="1188720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Prediction</a:t>
            </a:r>
            <a:endParaRPr lang="en-US" sz="850" dirty="0"/>
          </a:p>
        </p:txBody>
      </p:sp>
      <p:pic>
        <p:nvPicPr>
          <p:cNvPr id="13" name="logo_25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26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1B-1 · Reading · prediction   ·   📖 SB p.10 · 1b</a:t>
            </a:r>
            <a:endParaRPr lang="en-US" sz="800" dirty="0"/>
          </a:p>
        </p:txBody>
      </p:sp>
      <p:sp>
        <p:nvSpPr>
          <p:cNvPr id="15" name="cd_261"/>
          <p:cNvSpPr/>
          <p:nvPr/>
        </p:nvSpPr>
        <p:spPr>
          <a:xfrm>
            <a:off x="320040" y="1417320"/>
            <a:ext cx="5029200" cy="1965960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hl_262"/>
          <p:cNvSpPr/>
          <p:nvPr/>
        </p:nvSpPr>
        <p:spPr>
          <a:xfrm>
            <a:off x="502920" y="150876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modern family</a:t>
            </a:r>
            <a:endParaRPr lang="en-US" sz="2800" dirty="0"/>
          </a:p>
        </p:txBody>
      </p:sp>
      <p:sp>
        <p:nvSpPr>
          <p:cNvPr id="17" name="nx_263"/>
          <p:cNvSpPr/>
          <p:nvPr/>
        </p:nvSpPr>
        <p:spPr>
          <a:xfrm>
            <a:off x="457200" y="2807208"/>
            <a:ext cx="4754880" cy="512064"/>
          </a:xfrm>
          <a:prstGeom prst="roundRect">
            <a:avLst>
              <a:gd name="adj" fmla="val 17857"/>
            </a:avLst>
          </a:prstGeom>
          <a:solidFill>
            <a:srgbClr val="E3F7EA"/>
          </a:solidFill>
          <a:ln>
            <a:solidFill>
              <a:srgbClr val="A8E5BE"/>
            </a:solidFill>
          </a:ln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2EB872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➡ NEXT  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survey on the next 2 slides has 8 gaps. Write your guess for each gap, then listen and check.</a:t>
            </a:r>
            <a:endParaRPr lang="en-US" sz="1000" dirty="0"/>
          </a:p>
        </p:txBody>
      </p:sp>
      <p:sp>
        <p:nvSpPr>
          <p:cNvPr id="18" name="sf_264"/>
          <p:cNvSpPr/>
          <p:nvPr/>
        </p:nvSpPr>
        <p:spPr>
          <a:xfrm>
            <a:off x="521208" y="2039112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i="1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Family life is changing all over the world – not just the structure of the family, but also its habits. A recent survey of British family life showed some surprising statistics.</a:t>
            </a:r>
            <a:endParaRPr lang="en-US" sz="1150" dirty="0"/>
          </a:p>
        </p:txBody>
      </p:sp>
      <p:sp>
        <p:nvSpPr>
          <p:cNvPr id="19" name="nbl_265"/>
          <p:cNvSpPr/>
          <p:nvPr/>
        </p:nvSpPr>
        <p:spPr>
          <a:xfrm>
            <a:off x="365760" y="35661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🔢 NUMBER BANK · guess where they go!</a:t>
            </a:r>
            <a:endParaRPr lang="en-US" sz="1100" dirty="0"/>
          </a:p>
        </p:txBody>
      </p:sp>
      <p:sp>
        <p:nvSpPr>
          <p:cNvPr id="20" name="bd_266"/>
          <p:cNvSpPr/>
          <p:nvPr/>
        </p:nvSpPr>
        <p:spPr>
          <a:xfrm>
            <a:off x="365760" y="3931920"/>
            <a:ext cx="548640" cy="54864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800" dirty="0"/>
          </a:p>
        </p:txBody>
      </p:sp>
      <p:sp>
        <p:nvSpPr>
          <p:cNvPr id="21" name="bd_267"/>
          <p:cNvSpPr/>
          <p:nvPr/>
        </p:nvSpPr>
        <p:spPr>
          <a:xfrm>
            <a:off x="987552" y="3931920"/>
            <a:ext cx="548640" cy="548640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10%</a:t>
            </a:r>
            <a:endParaRPr lang="en-US" sz="1000" dirty="0"/>
          </a:p>
        </p:txBody>
      </p:sp>
      <p:sp>
        <p:nvSpPr>
          <p:cNvPr id="22" name="bd_268"/>
          <p:cNvSpPr/>
          <p:nvPr/>
        </p:nvSpPr>
        <p:spPr>
          <a:xfrm>
            <a:off x="1609344" y="3931920"/>
            <a:ext cx="548640" cy="548640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14%</a:t>
            </a:r>
            <a:endParaRPr lang="en-US" sz="1000" dirty="0"/>
          </a:p>
        </p:txBody>
      </p:sp>
      <p:sp>
        <p:nvSpPr>
          <p:cNvPr id="23" name="bd_269"/>
          <p:cNvSpPr/>
          <p:nvPr/>
        </p:nvSpPr>
        <p:spPr>
          <a:xfrm>
            <a:off x="2231136" y="3931920"/>
            <a:ext cx="548640" cy="548640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17%</a:t>
            </a:r>
            <a:endParaRPr lang="en-US" sz="1000" dirty="0"/>
          </a:p>
        </p:txBody>
      </p:sp>
      <p:sp>
        <p:nvSpPr>
          <p:cNvPr id="24" name="bd_270"/>
          <p:cNvSpPr/>
          <p:nvPr/>
        </p:nvSpPr>
        <p:spPr>
          <a:xfrm>
            <a:off x="2852928" y="3931920"/>
            <a:ext cx="548640" cy="54864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30</a:t>
            </a:r>
            <a:endParaRPr lang="en-US" sz="1400" dirty="0"/>
          </a:p>
        </p:txBody>
      </p:sp>
      <p:sp>
        <p:nvSpPr>
          <p:cNvPr id="25" name="bd_271"/>
          <p:cNvSpPr/>
          <p:nvPr/>
        </p:nvSpPr>
        <p:spPr>
          <a:xfrm>
            <a:off x="3474720" y="3931920"/>
            <a:ext cx="548640" cy="548640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32</a:t>
            </a:r>
            <a:endParaRPr lang="en-US" sz="1400" dirty="0"/>
          </a:p>
        </p:txBody>
      </p:sp>
      <p:sp>
        <p:nvSpPr>
          <p:cNvPr id="26" name="bd_272"/>
          <p:cNvSpPr/>
          <p:nvPr/>
        </p:nvSpPr>
        <p:spPr>
          <a:xfrm>
            <a:off x="4096512" y="3931920"/>
            <a:ext cx="548640" cy="548640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40%</a:t>
            </a:r>
            <a:endParaRPr lang="en-US" sz="1000" dirty="0"/>
          </a:p>
        </p:txBody>
      </p:sp>
      <p:sp>
        <p:nvSpPr>
          <p:cNvPr id="27" name="bd_273"/>
          <p:cNvSpPr/>
          <p:nvPr/>
        </p:nvSpPr>
        <p:spPr>
          <a:xfrm>
            <a:off x="4718304" y="3931920"/>
            <a:ext cx="548640" cy="548640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45%</a:t>
            </a:r>
            <a:endParaRPr lang="en-US" sz="1000" dirty="0"/>
          </a:p>
        </p:txBody>
      </p:sp>
      <p:sp>
        <p:nvSpPr>
          <p:cNvPr id="28" name="pf_274"/>
          <p:cNvSpPr/>
          <p:nvPr/>
        </p:nvSpPr>
        <p:spPr>
          <a:xfrm rot="90000">
            <a:off x="5577840" y="1234440"/>
            <a:ext cx="3246120" cy="3383280"/>
          </a:xfrm>
          <a:prstGeom prst="roundRect">
            <a:avLst>
              <a:gd name="adj" fmla="val 47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9" name="ph_275" descr="/home/claude/lls-course/v2/cache/1b1_single_dad_jpg_759x792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90000">
            <a:off x="5623560" y="1280160"/>
            <a:ext cx="3154680" cy="329184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7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9</a:t>
            </a:r>
            <a:endParaRPr lang="en-US" sz="2800" dirty="0"/>
          </a:p>
        </p:txBody>
      </p:sp>
      <p:pic>
        <p:nvPicPr>
          <p:cNvPr id="4" name="brY_27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562502" cy="621792"/>
          </a:xfrm>
          <a:prstGeom prst="rect">
            <a:avLst/>
          </a:prstGeom>
        </p:spPr>
      </p:pic>
      <p:sp>
        <p:nvSpPr>
          <p:cNvPr id="5" name="title_278"/>
          <p:cNvSpPr/>
          <p:nvPr/>
        </p:nvSpPr>
        <p:spPr>
          <a:xfrm>
            <a:off x="1261872" y="164592"/>
            <a:ext cx="32881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 and check 1/2</a:t>
            </a:r>
            <a:endParaRPr lang="en-US" sz="2500" dirty="0"/>
          </a:p>
        </p:txBody>
      </p:sp>
      <p:pic>
        <p:nvPicPr>
          <p:cNvPr id="6" name="brP_27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206240" cy="402336"/>
          </a:xfrm>
          <a:prstGeom prst="rect">
            <a:avLst/>
          </a:prstGeom>
        </p:spPr>
      </p:pic>
      <p:sp>
        <p:nvSpPr>
          <p:cNvPr id="7" name="ins_280"/>
          <p:cNvSpPr/>
          <p:nvPr/>
        </p:nvSpPr>
        <p:spPr>
          <a:xfrm>
            <a:off x="1353312" y="731520"/>
            <a:ext cx="3950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Write a number in gaps 1–5. Then listen.</a:t>
            </a:r>
            <a:endParaRPr lang="en-US" sz="1250" dirty="0"/>
          </a:p>
        </p:txBody>
      </p:sp>
      <p:sp>
        <p:nvSpPr>
          <p:cNvPr id="8" name="insIT_281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Scrivi un numero negli spazi 1–5. Poi ascolta.</a:t>
            </a:r>
            <a:endParaRPr lang="en-US" sz="950" dirty="0"/>
          </a:p>
        </p:txBody>
      </p:sp>
      <p:sp>
        <p:nvSpPr>
          <p:cNvPr id="9" name="cmd_282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1100" dirty="0"/>
          </a:p>
        </p:txBody>
      </p:sp>
      <p:sp>
        <p:nvSpPr>
          <p:cNvPr id="10" name="cmd_283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1" name="meta_284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2" name="tag_285"/>
          <p:cNvSpPr/>
          <p:nvPr/>
        </p:nvSpPr>
        <p:spPr>
          <a:xfrm>
            <a:off x="6510528" y="1188720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TPRS · reading</a:t>
            </a:r>
            <a:endParaRPr lang="en-US" sz="850" dirty="0"/>
          </a:p>
        </p:txBody>
      </p:sp>
      <p:pic>
        <p:nvPicPr>
          <p:cNvPr id="13" name="logo_28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28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1B-1 · Reading · Family structure   ·   📖 SB p.10 · 1b, 1c · audio 1.14</a:t>
            </a:r>
            <a:endParaRPr lang="en-US" sz="800" dirty="0"/>
          </a:p>
        </p:txBody>
      </p:sp>
      <p:sp>
        <p:nvSpPr>
          <p:cNvPr id="15" name="cd_288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sh_289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203200" tIns="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Family structure</a:t>
            </a:r>
            <a:endParaRPr lang="en-US" sz="1700" dirty="0"/>
          </a:p>
        </p:txBody>
      </p:sp>
      <p:sp>
        <p:nvSpPr>
          <p:cNvPr id="17" name="ln_290"/>
          <p:cNvSpPr/>
          <p:nvPr/>
        </p:nvSpPr>
        <p:spPr>
          <a:xfrm>
            <a:off x="548640" y="192024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60% of families have married parents.</a:t>
            </a:r>
            <a:endParaRPr lang="en-US" sz="1250" dirty="0"/>
          </a:p>
        </p:txBody>
      </p:sp>
      <p:sp>
        <p:nvSpPr>
          <p:cNvPr id="18" name="ln_291"/>
          <p:cNvSpPr/>
          <p:nvPr/>
        </p:nvSpPr>
        <p:spPr>
          <a:xfrm>
            <a:off x="548640" y="246888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22% are single-parent families. Only </a:t>
            </a:r>
            <a:pPr indent="0" marL="0">
              <a:buNone/>
            </a:pPr>
            <a:r>
              <a:rPr lang="en-US" sz="12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(1) _____ 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 the single parents are men.</a:t>
            </a:r>
            <a:endParaRPr lang="en-US" sz="1250" dirty="0"/>
          </a:p>
        </p:txBody>
      </p:sp>
      <p:sp>
        <p:nvSpPr>
          <p:cNvPr id="19" name="R1_lnA292"/>
          <p:cNvSpPr/>
          <p:nvPr/>
        </p:nvSpPr>
        <p:spPr>
          <a:xfrm>
            <a:off x="548640" y="2468880"/>
            <a:ext cx="534924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22% are single-parent families. Only </a:t>
            </a:r>
            <a:pPr indent="0" marL="0">
              <a:buNone/>
            </a:pPr>
            <a:r>
              <a:rPr lang="en-US" sz="12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14%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 the single parents are men.</a:t>
            </a:r>
            <a:endParaRPr lang="en-US" sz="1250" dirty="0"/>
          </a:p>
        </p:txBody>
      </p:sp>
      <p:sp>
        <p:nvSpPr>
          <p:cNvPr id="20" name="ln_293"/>
          <p:cNvSpPr/>
          <p:nvPr/>
        </p:nvSpPr>
        <p:spPr>
          <a:xfrm>
            <a:off x="548640" y="301752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(2) _____ 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 families have one child, </a:t>
            </a:r>
            <a:pPr indent="0" marL="0">
              <a:buNone/>
            </a:pPr>
            <a:r>
              <a:rPr lang="en-US" sz="12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(3) _____ 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have two, and 15% have three or more.</a:t>
            </a:r>
            <a:endParaRPr lang="en-US" sz="1250" dirty="0"/>
          </a:p>
        </p:txBody>
      </p:sp>
      <p:sp>
        <p:nvSpPr>
          <p:cNvPr id="21" name="R2_lnA294"/>
          <p:cNvSpPr/>
          <p:nvPr/>
        </p:nvSpPr>
        <p:spPr>
          <a:xfrm>
            <a:off x="548640" y="3017520"/>
            <a:ext cx="534924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45%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 families have one child, </a:t>
            </a:r>
            <a:pPr indent="0" marL="0">
              <a:buNone/>
            </a:pPr>
            <a:r>
              <a:rPr lang="en-US" sz="12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40%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have two, and 15% have three or more.</a:t>
            </a:r>
            <a:endParaRPr lang="en-US" sz="1250" dirty="0"/>
          </a:p>
        </p:txBody>
      </p:sp>
      <p:sp>
        <p:nvSpPr>
          <p:cNvPr id="22" name="ln_295"/>
          <p:cNvSpPr/>
          <p:nvPr/>
        </p:nvSpPr>
        <p:spPr>
          <a:xfrm>
            <a:off x="548640" y="356616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11% of families have stepchildren.</a:t>
            </a:r>
            <a:endParaRPr lang="en-US" sz="1250" dirty="0"/>
          </a:p>
        </p:txBody>
      </p:sp>
      <p:sp>
        <p:nvSpPr>
          <p:cNvPr id="23" name="ln_296"/>
          <p:cNvSpPr/>
          <p:nvPr/>
        </p:nvSpPr>
        <p:spPr>
          <a:xfrm>
            <a:off x="548640" y="411480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 average, women get married at </a:t>
            </a:r>
            <a:pPr indent="0" marL="0">
              <a:buNone/>
            </a:pPr>
            <a:r>
              <a:rPr lang="en-US" sz="12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(4) _____ 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and men at </a:t>
            </a:r>
            <a:pPr indent="0" marL="0">
              <a:buNone/>
            </a:pPr>
            <a:r>
              <a:rPr lang="en-US" sz="12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(5) _____ 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250" dirty="0"/>
          </a:p>
        </p:txBody>
      </p:sp>
      <p:sp>
        <p:nvSpPr>
          <p:cNvPr id="24" name="R3_lnA297"/>
          <p:cNvSpPr/>
          <p:nvPr/>
        </p:nvSpPr>
        <p:spPr>
          <a:xfrm>
            <a:off x="548640" y="4114800"/>
            <a:ext cx="534924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 average, women get married at </a:t>
            </a:r>
            <a:pPr indent="0" marL="0">
              <a:buNone/>
            </a:pPr>
            <a:r>
              <a:rPr lang="en-US" sz="12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30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and men at </a:t>
            </a:r>
            <a:pPr indent="0" marL="0">
              <a:buNone/>
            </a:pPr>
            <a:r>
              <a:rPr lang="en-US" sz="12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32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250" dirty="0"/>
          </a:p>
        </p:txBody>
      </p:sp>
      <p:sp>
        <p:nvSpPr>
          <p:cNvPr id="25" name="ap_298"/>
          <p:cNvSpPr/>
          <p:nvPr/>
        </p:nvSpPr>
        <p:spPr>
          <a:xfrm>
            <a:off x="6263640" y="1417320"/>
            <a:ext cx="201168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1.14</a:t>
            </a:r>
            <a:endParaRPr lang="en-US" sz="1100" dirty="0"/>
          </a:p>
        </p:txBody>
      </p:sp>
      <p:sp>
        <p:nvSpPr>
          <p:cNvPr id="26" name="ah_299"/>
          <p:cNvSpPr/>
          <p:nvPr/>
        </p:nvSpPr>
        <p:spPr>
          <a:xfrm>
            <a:off x="5925312" y="45720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 · 🐢 slower</a:t>
            </a:r>
            <a:endParaRPr lang="en-US" sz="950" dirty="0"/>
          </a:p>
        </p:txBody>
      </p:sp>
      <p:pic>
        <p:nvPicPr>
          <p:cNvPr id="27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7525512" y="4553712"/>
            <a:ext cx="411480" cy="411480"/>
          </a:xfrm>
          <a:prstGeom prst="rect">
            <a:avLst/>
          </a:prstGeom>
        </p:spPr>
      </p:pic>
      <p:pic>
        <p:nvPicPr>
          <p:cNvPr id="28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001000" y="4553712"/>
            <a:ext cx="411480" cy="411480"/>
          </a:xfrm>
          <a:prstGeom prst="rect">
            <a:avLst/>
          </a:prstGeom>
        </p:spPr>
      </p:pic>
      <p:sp>
        <p:nvSpPr>
          <p:cNvPr id="29" name="pf_300"/>
          <p:cNvSpPr/>
          <p:nvPr/>
        </p:nvSpPr>
        <p:spPr>
          <a:xfrm rot="120000">
            <a:off x="6309360" y="2194560"/>
            <a:ext cx="2560320" cy="1554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0" name="ph_301" descr="/home/claude/lls-course/v2/cache/1b1_single_dad_jpg_594x352_31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120000">
            <a:off x="6355080" y="2240280"/>
            <a:ext cx="2468880" cy="146304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8" restart="whenNotActive" fill="hold" evtFilter="cancelBubble" nodeType="interactiveSeq">
                <p:stCondLst>
                  <p:cond evt="onClick" delay="0">
                    <p:tgtEl>
                      <p:spTgt spid="2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2" dur="1" fill="hold"/>
                                        <p:tgtEl>
                                          <p:spTgt spid="2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7"/>
                  </p:tgtEl>
                </p:cond>
              </p:nextCondLst>
            </p:seq>
            <p:seq concurrent="1" nextAc="seek">
              <p:cTn id="23" restart="whenNotActive" fill="hold" evtFilter="cancelBubble" nodeType="interactiveSeq">
                <p:stCondLst>
                  <p:cond evt="onClick" delay="0">
                    <p:tgtEl>
                      <p:spTgt spid="2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7" dur="1" fill="hold"/>
                                        <p:tgtEl>
                                          <p:spTgt spid="2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8"/>
                  </p:tgtEl>
                </p:cond>
              </p:nextCondLst>
            </p:seq>
            <p:audio>
              <p:cMediaNode vol="80000">
                <p:cTn id="2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7"/>
                </p:tgtEl>
              </p:cMediaNode>
            </p:audio>
            <p:audio>
              <p:cMediaNode vol="80000">
                <p:cTn id="29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8"/>
                </p:tgtEl>
              </p:cMediaNode>
            </p:audio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0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10</a:t>
            </a:r>
            <a:endParaRPr lang="en-US" sz="2200" dirty="0"/>
          </a:p>
        </p:txBody>
      </p:sp>
      <p:pic>
        <p:nvPicPr>
          <p:cNvPr id="4" name="brY_30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562502" cy="621792"/>
          </a:xfrm>
          <a:prstGeom prst="rect">
            <a:avLst/>
          </a:prstGeom>
        </p:spPr>
      </p:pic>
      <p:sp>
        <p:nvSpPr>
          <p:cNvPr id="5" name="title_304"/>
          <p:cNvSpPr/>
          <p:nvPr/>
        </p:nvSpPr>
        <p:spPr>
          <a:xfrm>
            <a:off x="1261872" y="164592"/>
            <a:ext cx="32881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 and check 2/2</a:t>
            </a:r>
            <a:endParaRPr lang="en-US" sz="2500" dirty="0"/>
          </a:p>
        </p:txBody>
      </p:sp>
      <p:pic>
        <p:nvPicPr>
          <p:cNvPr id="6" name="brP_30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206240" cy="402336"/>
          </a:xfrm>
          <a:prstGeom prst="rect">
            <a:avLst/>
          </a:prstGeom>
        </p:spPr>
      </p:pic>
      <p:sp>
        <p:nvSpPr>
          <p:cNvPr id="7" name="ins_306"/>
          <p:cNvSpPr/>
          <p:nvPr/>
        </p:nvSpPr>
        <p:spPr>
          <a:xfrm>
            <a:off x="1353312" y="731520"/>
            <a:ext cx="3950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Write a number in gaps 6–8. Then listen.</a:t>
            </a:r>
            <a:endParaRPr lang="en-US" sz="1250" dirty="0"/>
          </a:p>
        </p:txBody>
      </p:sp>
      <p:sp>
        <p:nvSpPr>
          <p:cNvPr id="8" name="insIT_307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Scrivi un numero negli spazi 6–8. Poi ascolta.</a:t>
            </a:r>
            <a:endParaRPr lang="en-US" sz="950" dirty="0"/>
          </a:p>
        </p:txBody>
      </p:sp>
      <p:sp>
        <p:nvSpPr>
          <p:cNvPr id="9" name="cmd_308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1100" dirty="0"/>
          </a:p>
        </p:txBody>
      </p:sp>
      <p:sp>
        <p:nvSpPr>
          <p:cNvPr id="10" name="cmd_309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1" name="meta_310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2" name="tag_311"/>
          <p:cNvSpPr/>
          <p:nvPr/>
        </p:nvSpPr>
        <p:spPr>
          <a:xfrm>
            <a:off x="6510528" y="1188720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TPRS · reading</a:t>
            </a:r>
            <a:endParaRPr lang="en-US" sz="850" dirty="0"/>
          </a:p>
        </p:txBody>
      </p:sp>
      <p:pic>
        <p:nvPicPr>
          <p:cNvPr id="13" name="logo_31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31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1B-1 · Reading · Family habits   ·   📖 SB p.10 · 1b, 1c · audio 1.14</a:t>
            </a:r>
            <a:endParaRPr lang="en-US" sz="800" dirty="0"/>
          </a:p>
        </p:txBody>
      </p:sp>
      <p:sp>
        <p:nvSpPr>
          <p:cNvPr id="15" name="cd_314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sh_315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203200" tIns="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Family habits</a:t>
            </a:r>
            <a:endParaRPr lang="en-US" sz="1700" dirty="0"/>
          </a:p>
        </p:txBody>
      </p:sp>
      <p:sp>
        <p:nvSpPr>
          <p:cNvPr id="17" name="ln_316"/>
          <p:cNvSpPr/>
          <p:nvPr/>
        </p:nvSpPr>
        <p:spPr>
          <a:xfrm>
            <a:off x="548640" y="192024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20% of families only eat together once or twice a week, and </a:t>
            </a:r>
            <a:pPr indent="0" marL="0">
              <a:buNone/>
            </a:pPr>
            <a:r>
              <a:rPr lang="en-US" sz="12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(6) _____ 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never eat at the same time.</a:t>
            </a:r>
            <a:endParaRPr lang="en-US" sz="1250" dirty="0"/>
          </a:p>
        </p:txBody>
      </p:sp>
      <p:sp>
        <p:nvSpPr>
          <p:cNvPr id="18" name="R1_lnA317"/>
          <p:cNvSpPr/>
          <p:nvPr/>
        </p:nvSpPr>
        <p:spPr>
          <a:xfrm>
            <a:off x="548640" y="1920240"/>
            <a:ext cx="534924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20% of families only eat together once or twice a week, and </a:t>
            </a:r>
            <a:pPr indent="0" marL="0">
              <a:buNone/>
            </a:pPr>
            <a:r>
              <a:rPr lang="en-US" sz="12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10%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never eat at the same time.</a:t>
            </a:r>
            <a:endParaRPr lang="en-US" sz="1250" dirty="0"/>
          </a:p>
        </p:txBody>
      </p:sp>
      <p:sp>
        <p:nvSpPr>
          <p:cNvPr id="19" name="ln_318"/>
          <p:cNvSpPr/>
          <p:nvPr/>
        </p:nvSpPr>
        <p:spPr>
          <a:xfrm>
            <a:off x="548640" y="246888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They visit friends or extended family twice a month.</a:t>
            </a:r>
            <a:endParaRPr lang="en-US" sz="1250" dirty="0"/>
          </a:p>
        </p:txBody>
      </p:sp>
      <p:sp>
        <p:nvSpPr>
          <p:cNvPr id="20" name="ln_319"/>
          <p:cNvSpPr/>
          <p:nvPr/>
        </p:nvSpPr>
        <p:spPr>
          <a:xfrm>
            <a:off x="548640" y="301752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(7) _____ 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 people have family members who they never speak to or contact.</a:t>
            </a:r>
            <a:endParaRPr lang="en-US" sz="1250" dirty="0"/>
          </a:p>
        </p:txBody>
      </p:sp>
      <p:sp>
        <p:nvSpPr>
          <p:cNvPr id="21" name="R2_lnA320"/>
          <p:cNvSpPr/>
          <p:nvPr/>
        </p:nvSpPr>
        <p:spPr>
          <a:xfrm>
            <a:off x="548640" y="3017520"/>
            <a:ext cx="534924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17%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 people have family members who they never speak to or contact.</a:t>
            </a:r>
            <a:endParaRPr lang="en-US" sz="1250" dirty="0"/>
          </a:p>
        </p:txBody>
      </p:sp>
      <p:sp>
        <p:nvSpPr>
          <p:cNvPr id="22" name="ln_321"/>
          <p:cNvSpPr/>
          <p:nvPr/>
        </p:nvSpPr>
        <p:spPr>
          <a:xfrm>
            <a:off x="548640" y="356616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75% of people are happiest with their families, and 17% with their friends.</a:t>
            </a:r>
            <a:endParaRPr lang="en-US" sz="1250" dirty="0"/>
          </a:p>
        </p:txBody>
      </p:sp>
      <p:sp>
        <p:nvSpPr>
          <p:cNvPr id="23" name="ln_322"/>
          <p:cNvSpPr/>
          <p:nvPr/>
        </p:nvSpPr>
        <p:spPr>
          <a:xfrm>
            <a:off x="548640" y="411480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average family has </a:t>
            </a:r>
            <a:pPr indent="0" marL="0">
              <a:buNone/>
            </a:pPr>
            <a:r>
              <a:rPr lang="en-US" sz="12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(8) _____ 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rows /raʊz/ each day. The most common cause: children or teenagers refusing to put down their phones or tablets.</a:t>
            </a:r>
            <a:endParaRPr lang="en-US" sz="1200" dirty="0"/>
          </a:p>
        </p:txBody>
      </p:sp>
      <p:sp>
        <p:nvSpPr>
          <p:cNvPr id="24" name="R3_lnA323"/>
          <p:cNvSpPr/>
          <p:nvPr/>
        </p:nvSpPr>
        <p:spPr>
          <a:xfrm>
            <a:off x="548640" y="4114800"/>
            <a:ext cx="534924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average family has </a:t>
            </a:r>
            <a:pPr indent="0" marL="0">
              <a:buNone/>
            </a:pPr>
            <a:r>
              <a:rPr lang="en-US" sz="12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rows /raʊz/ each day. The most common cause: children or teenagers refusing to put down their phones or tablets.</a:t>
            </a:r>
            <a:endParaRPr lang="en-US" sz="1250" dirty="0"/>
          </a:p>
        </p:txBody>
      </p:sp>
      <p:sp>
        <p:nvSpPr>
          <p:cNvPr id="25" name="ap_324"/>
          <p:cNvSpPr/>
          <p:nvPr/>
        </p:nvSpPr>
        <p:spPr>
          <a:xfrm>
            <a:off x="6263640" y="1417320"/>
            <a:ext cx="201168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1.14</a:t>
            </a:r>
            <a:endParaRPr lang="en-US" sz="1100" dirty="0"/>
          </a:p>
        </p:txBody>
      </p:sp>
      <p:sp>
        <p:nvSpPr>
          <p:cNvPr id="26" name="ah_325"/>
          <p:cNvSpPr/>
          <p:nvPr/>
        </p:nvSpPr>
        <p:spPr>
          <a:xfrm>
            <a:off x="5925312" y="45720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 · 🐢 slower</a:t>
            </a:r>
            <a:endParaRPr lang="en-US" sz="950" dirty="0"/>
          </a:p>
        </p:txBody>
      </p:sp>
      <p:pic>
        <p:nvPicPr>
          <p:cNvPr id="27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7525512" y="4553712"/>
            <a:ext cx="411480" cy="411480"/>
          </a:xfrm>
          <a:prstGeom prst="rect">
            <a:avLst/>
          </a:prstGeom>
        </p:spPr>
      </p:pic>
      <p:pic>
        <p:nvPicPr>
          <p:cNvPr id="28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001000" y="4553712"/>
            <a:ext cx="411480" cy="411480"/>
          </a:xfrm>
          <a:prstGeom prst="rect">
            <a:avLst/>
          </a:prstGeom>
        </p:spPr>
      </p:pic>
      <p:sp>
        <p:nvSpPr>
          <p:cNvPr id="29" name="pf_326"/>
          <p:cNvSpPr/>
          <p:nvPr/>
        </p:nvSpPr>
        <p:spPr>
          <a:xfrm rot="120000">
            <a:off x="6309360" y="2194560"/>
            <a:ext cx="2560320" cy="1554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0" name="ph_327" descr="/home/claude/lls-course/v2/cache/1b1_phone_row_jpg_594x352_31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120000">
            <a:off x="6355080" y="2240280"/>
            <a:ext cx="2468880" cy="146304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8" restart="whenNotActive" fill="hold" evtFilter="cancelBubble" nodeType="interactiveSeq">
                <p:stCondLst>
                  <p:cond evt="onClick" delay="0">
                    <p:tgtEl>
                      <p:spTgt spid="2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2" dur="1" fill="hold"/>
                                        <p:tgtEl>
                                          <p:spTgt spid="2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7"/>
                  </p:tgtEl>
                </p:cond>
              </p:nextCondLst>
            </p:seq>
            <p:seq concurrent="1" nextAc="seek">
              <p:cTn id="23" restart="whenNotActive" fill="hold" evtFilter="cancelBubble" nodeType="interactiveSeq">
                <p:stCondLst>
                  <p:cond evt="onClick" delay="0">
                    <p:tgtEl>
                      <p:spTgt spid="2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7" dur="1" fill="hold"/>
                                        <p:tgtEl>
                                          <p:spTgt spid="2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8"/>
                  </p:tgtEl>
                </p:cond>
              </p:nextCondLst>
            </p:seq>
            <p:audio>
              <p:cMediaNode vol="80000">
                <p:cTn id="2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7"/>
                </p:tgtEl>
              </p:cMediaNode>
            </p:audio>
            <p:audio>
              <p:cMediaNode vol="80000">
                <p:cTn id="29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8"/>
                </p:tgtEl>
              </p:cMediaNode>
            </p:audio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2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11</a:t>
            </a:r>
            <a:endParaRPr lang="en-US" sz="2200" dirty="0"/>
          </a:p>
        </p:txBody>
      </p:sp>
      <p:pic>
        <p:nvPicPr>
          <p:cNvPr id="4" name="brY_32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247949" cy="621792"/>
          </a:xfrm>
          <a:prstGeom prst="rect">
            <a:avLst/>
          </a:prstGeom>
        </p:spPr>
      </p:pic>
      <p:sp>
        <p:nvSpPr>
          <p:cNvPr id="5" name="title_330"/>
          <p:cNvSpPr/>
          <p:nvPr/>
        </p:nvSpPr>
        <p:spPr>
          <a:xfrm>
            <a:off x="1261872" y="164592"/>
            <a:ext cx="29736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Sicily vs the UK</a:t>
            </a:r>
            <a:endParaRPr lang="en-US" sz="2500" dirty="0"/>
          </a:p>
        </p:txBody>
      </p:sp>
      <p:pic>
        <p:nvPicPr>
          <p:cNvPr id="6" name="brP_33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332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Answer with a reason. Then ask: Why?</a:t>
            </a:r>
            <a:endParaRPr lang="en-US" sz="1250" dirty="0"/>
          </a:p>
        </p:txBody>
      </p:sp>
      <p:sp>
        <p:nvSpPr>
          <p:cNvPr id="8" name="insIT_333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Rispondi con un motivo. Poi chiedi: Perché?</a:t>
            </a:r>
            <a:endParaRPr lang="en-US" sz="950" dirty="0"/>
          </a:p>
        </p:txBody>
      </p:sp>
      <p:sp>
        <p:nvSpPr>
          <p:cNvPr id="9" name="cmd_334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0" name="meta_335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👨‍👩‍👧 groups</a:t>
            </a:r>
            <a:endParaRPr lang="en-US" sz="950" dirty="0"/>
          </a:p>
        </p:txBody>
      </p:sp>
      <p:sp>
        <p:nvSpPr>
          <p:cNvPr id="11" name="tag_336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Speaking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Communicative</a:t>
            </a:r>
            <a:endParaRPr lang="en-US" sz="850" dirty="0"/>
          </a:p>
        </p:txBody>
      </p:sp>
      <p:pic>
        <p:nvPicPr>
          <p:cNvPr id="12" name="logo_33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33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1B-1 · Speaking · Sicily vs the UK   ·   📖 SB p.10 · 1c, 1d</a:t>
            </a:r>
            <a:endParaRPr lang="en-US" sz="800" dirty="0"/>
          </a:p>
        </p:txBody>
      </p:sp>
      <p:sp>
        <p:nvSpPr>
          <p:cNvPr id="14" name="pf_339"/>
          <p:cNvSpPr/>
          <p:nvPr/>
        </p:nvSpPr>
        <p:spPr>
          <a:xfrm rot="-120000">
            <a:off x="320040" y="1371600"/>
            <a:ext cx="2788920" cy="1874520"/>
          </a:xfrm>
          <a:prstGeom prst="roundRect">
            <a:avLst>
              <a:gd name="adj" fmla="val 829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340" descr="/home/claude/lls-course/v2/cache/1b1_sunday_lunch_jpg_649x42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365760" y="1417320"/>
            <a:ext cx="2697480" cy="1783080"/>
          </a:xfrm>
          <a:prstGeom prst="rect">
            <a:avLst/>
          </a:prstGeom>
        </p:spPr>
      </p:pic>
      <p:sp>
        <p:nvSpPr>
          <p:cNvPr id="16" name="cd_341"/>
          <p:cNvSpPr/>
          <p:nvPr/>
        </p:nvSpPr>
        <p:spPr>
          <a:xfrm>
            <a:off x="320040" y="3429000"/>
            <a:ext cx="2788920" cy="1325880"/>
          </a:xfrm>
          <a:prstGeom prst="roundRect">
            <a:avLst>
              <a:gd name="adj" fmla="val 9655"/>
            </a:avLst>
          </a:prstGeom>
          <a:solidFill>
            <a:srgbClr val="EEE8FB"/>
          </a:solidFill>
          <a:ln w="19050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342"/>
          <p:cNvSpPr/>
          <p:nvPr/>
        </p:nvSpPr>
        <p:spPr>
          <a:xfrm>
            <a:off x="411480" y="3502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8" name="ih_343"/>
          <p:cNvSpPr/>
          <p:nvPr/>
        </p:nvSpPr>
        <p:spPr>
          <a:xfrm>
            <a:off x="886968" y="35204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9" name="il_344"/>
          <p:cNvSpPr/>
          <p:nvPr/>
        </p:nvSpPr>
        <p:spPr>
          <a:xfrm>
            <a:off x="886968" y="3904488"/>
            <a:ext cx="2130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I'm sorry, I'd rather not talk about that.</a:t>
            </a:r>
            <a:endParaRPr lang="en-US" sz="1050" dirty="0"/>
          </a:p>
        </p:txBody>
      </p:sp>
      <p:sp>
        <p:nvSpPr>
          <p:cNvPr id="20" name="R1_qb345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R1_sq346"/>
          <p:cNvSpPr/>
          <p:nvPr/>
        </p:nvSpPr>
        <p:spPr>
          <a:xfrm>
            <a:off x="3675888" y="141732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 the UK, 20% of families rarely eat together. And in Sicily?</a:t>
            </a:r>
            <a:endParaRPr lang="en-US" sz="1200" dirty="0"/>
          </a:p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No! In Sicily most families eat together every day.</a:t>
            </a:r>
            <a:endParaRPr lang="en-US" sz="1200" dirty="0"/>
          </a:p>
        </p:txBody>
      </p:sp>
      <p:sp>
        <p:nvSpPr>
          <p:cNvPr id="22" name="R2_qb347"/>
          <p:cNvSpPr/>
          <p:nvPr/>
        </p:nvSpPr>
        <p:spPr>
          <a:xfrm>
            <a:off x="3273552" y="2010156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R2_sq348"/>
          <p:cNvSpPr/>
          <p:nvPr/>
        </p:nvSpPr>
        <p:spPr>
          <a:xfrm>
            <a:off x="3675888" y="197358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Who do you live with? Is your family big or small?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I live with my mum, my dad and my little brother.</a:t>
            </a:r>
            <a:endParaRPr lang="en-US" sz="1250" dirty="0"/>
          </a:p>
        </p:txBody>
      </p:sp>
      <p:sp>
        <p:nvSpPr>
          <p:cNvPr id="24" name="R3_qb349"/>
          <p:cNvSpPr/>
          <p:nvPr/>
        </p:nvSpPr>
        <p:spPr>
          <a:xfrm>
            <a:off x="3273552" y="2566416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R3_sq350"/>
          <p:cNvSpPr/>
          <p:nvPr/>
        </p:nvSpPr>
        <p:spPr>
          <a:xfrm>
            <a:off x="3675888" y="252984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often do you see your extended family?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Every Sunday – we have lunch at my nonna's!</a:t>
            </a:r>
            <a:endParaRPr lang="en-US" sz="1250" dirty="0"/>
          </a:p>
        </p:txBody>
      </p:sp>
      <p:sp>
        <p:nvSpPr>
          <p:cNvPr id="26" name="R4_qb351"/>
          <p:cNvSpPr/>
          <p:nvPr/>
        </p:nvSpPr>
        <p:spPr>
          <a:xfrm>
            <a:off x="3273552" y="3122676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R4_sq352"/>
          <p:cNvSpPr/>
          <p:nvPr/>
        </p:nvSpPr>
        <p:spPr>
          <a:xfrm>
            <a:off x="3675888" y="308610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Free time: family or friends? Why?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Friends, because we like the same things.</a:t>
            </a:r>
            <a:endParaRPr lang="en-US" sz="1250" dirty="0"/>
          </a:p>
        </p:txBody>
      </p:sp>
      <p:sp>
        <p:nvSpPr>
          <p:cNvPr id="28" name="R5_qb353"/>
          <p:cNvSpPr/>
          <p:nvPr/>
        </p:nvSpPr>
        <p:spPr>
          <a:xfrm>
            <a:off x="3273552" y="367893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R5_sq354"/>
          <p:cNvSpPr/>
          <p:nvPr/>
        </p:nvSpPr>
        <p:spPr>
          <a:xfrm>
            <a:off x="3675888" y="3642360"/>
            <a:ext cx="45079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 there anyone in your family you don't get on with?</a:t>
            </a:r>
            <a:endParaRPr lang="en-US" sz="110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My cousin – he always takes my things!</a:t>
            </a:r>
            <a:endParaRPr lang="en-US" sz="1100" dirty="0"/>
          </a:p>
        </p:txBody>
      </p:sp>
      <p:pic>
        <p:nvPicPr>
          <p:cNvPr id="30" name="R5_th355" descr="/home/claude/lls-course/v2/cache/1b1_dont_get_on_jpg_154x107_18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57032" y="3660648"/>
            <a:ext cx="640080" cy="446532"/>
          </a:xfrm>
          <a:prstGeom prst="rect">
            <a:avLst/>
          </a:prstGeom>
        </p:spPr>
      </p:pic>
      <p:sp>
        <p:nvSpPr>
          <p:cNvPr id="31" name="R6_qb356"/>
          <p:cNvSpPr/>
          <p:nvPr/>
        </p:nvSpPr>
        <p:spPr>
          <a:xfrm>
            <a:off x="3273552" y="4235196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2" name="R6_sq357"/>
          <p:cNvSpPr/>
          <p:nvPr/>
        </p:nvSpPr>
        <p:spPr>
          <a:xfrm>
            <a:off x="3675888" y="4198620"/>
            <a:ext cx="45079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do you argue about at home? Phones?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My mum says I'm always on my phone at dinner.</a:t>
            </a:r>
            <a:endParaRPr lang="en-US" sz="1250" dirty="0"/>
          </a:p>
        </p:txBody>
      </p:sp>
      <p:pic>
        <p:nvPicPr>
          <p:cNvPr id="33" name="R6_th358" descr="/home/claude/lls-course/v2/cache/1b1_phone_row_jpg_154x107_18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57032" y="4216908"/>
            <a:ext cx="640080" cy="446532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5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12</a:t>
            </a:r>
            <a:endParaRPr lang="en-US" sz="2200" dirty="0"/>
          </a:p>
        </p:txBody>
      </p:sp>
      <p:pic>
        <p:nvPicPr>
          <p:cNvPr id="4" name="brY_36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361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Three conversations</a:t>
            </a:r>
            <a:endParaRPr lang="en-US" sz="2500" dirty="0"/>
          </a:p>
        </p:txBody>
      </p:sp>
      <p:pic>
        <p:nvPicPr>
          <p:cNvPr id="6" name="brP_36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363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Listen. Match 1–3 to the photos A–C.</a:t>
            </a:r>
            <a:endParaRPr lang="en-US" sz="1250" dirty="0"/>
          </a:p>
        </p:txBody>
      </p:sp>
      <p:sp>
        <p:nvSpPr>
          <p:cNvPr id="8" name="insIT_364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Ascolta. Abbina 1–3 alle foto A–C.</a:t>
            </a:r>
            <a:endParaRPr lang="en-US" sz="950" dirty="0"/>
          </a:p>
        </p:txBody>
      </p:sp>
      <p:sp>
        <p:nvSpPr>
          <p:cNvPr id="9" name="cmd_365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0" name="meta_366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👤 alone</a:t>
            </a:r>
            <a:endParaRPr lang="en-US" sz="950" dirty="0"/>
          </a:p>
        </p:txBody>
      </p:sp>
      <p:sp>
        <p:nvSpPr>
          <p:cNvPr id="11" name="tag_367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Listening for gist</a:t>
            </a:r>
            <a:endParaRPr lang="en-US" sz="850" dirty="0"/>
          </a:p>
        </p:txBody>
      </p:sp>
      <p:pic>
        <p:nvPicPr>
          <p:cNvPr id="12" name="logo_36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36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1B-1 · Listening · gist   ·   📖 SB p.11 · 2a · audio 1.15</a:t>
            </a:r>
            <a:endParaRPr lang="en-US" sz="800" dirty="0"/>
          </a:p>
        </p:txBody>
      </p:sp>
      <p:sp>
        <p:nvSpPr>
          <p:cNvPr id="14" name="ap_370"/>
          <p:cNvSpPr/>
          <p:nvPr/>
        </p:nvSpPr>
        <p:spPr>
          <a:xfrm>
            <a:off x="365760" y="1417320"/>
            <a:ext cx="265176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1.15  ·  play once</a:t>
            </a:r>
            <a:endParaRPr lang="en-US" sz="1100" dirty="0"/>
          </a:p>
        </p:txBody>
      </p:sp>
      <p:sp>
        <p:nvSpPr>
          <p:cNvPr id="15" name="ah_371"/>
          <p:cNvSpPr/>
          <p:nvPr/>
        </p:nvSpPr>
        <p:spPr>
          <a:xfrm>
            <a:off x="5925312" y="45720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 · 🐢 slower</a:t>
            </a:r>
            <a:endParaRPr lang="en-US" sz="950" dirty="0"/>
          </a:p>
        </p:txBody>
      </p:sp>
      <p:pic>
        <p:nvPicPr>
          <p:cNvPr id="16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7525512" y="4553712"/>
            <a:ext cx="411480" cy="411480"/>
          </a:xfrm>
          <a:prstGeom prst="rect">
            <a:avLst/>
          </a:prstGeom>
        </p:spPr>
      </p:pic>
      <p:pic>
        <p:nvPicPr>
          <p:cNvPr id="17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001000" y="4553712"/>
            <a:ext cx="411480" cy="411480"/>
          </a:xfrm>
          <a:prstGeom prst="rect">
            <a:avLst/>
          </a:prstGeom>
        </p:spPr>
      </p:pic>
      <p:sp>
        <p:nvSpPr>
          <p:cNvPr id="18" name="ah2_372"/>
          <p:cNvSpPr/>
          <p:nvPr/>
        </p:nvSpPr>
        <p:spPr>
          <a:xfrm>
            <a:off x="3090672" y="1417320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↘ speaker bottom right</a:t>
            </a:r>
            <a:endParaRPr lang="en-US" sz="900" dirty="0"/>
          </a:p>
        </p:txBody>
      </p:sp>
      <p:sp>
        <p:nvSpPr>
          <p:cNvPr id="19" name="pf_373"/>
          <p:cNvSpPr/>
          <p:nvPr/>
        </p:nvSpPr>
        <p:spPr>
          <a:xfrm rot="-90000">
            <a:off x="411480" y="2057400"/>
            <a:ext cx="1783080" cy="1325880"/>
          </a:xfrm>
          <a:prstGeom prst="roundRect">
            <a:avLst>
              <a:gd name="adj" fmla="val 117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0" name="ph_374" descr="/home/claude/lls-course/v2/cache/1b1_conv_a_jpg_407x297_31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-90000">
            <a:off x="457200" y="2103120"/>
            <a:ext cx="1691640" cy="1234440"/>
          </a:xfrm>
          <a:prstGeom prst="rect">
            <a:avLst/>
          </a:prstGeom>
        </p:spPr>
      </p:pic>
      <p:sp>
        <p:nvSpPr>
          <p:cNvPr id="21" name="bd_375"/>
          <p:cNvSpPr/>
          <p:nvPr/>
        </p:nvSpPr>
        <p:spPr>
          <a:xfrm>
            <a:off x="310896" y="1956816"/>
            <a:ext cx="420624" cy="42062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</a:t>
            </a:r>
            <a:endParaRPr lang="en-US" sz="1400" dirty="0"/>
          </a:p>
        </p:txBody>
      </p:sp>
      <p:sp>
        <p:nvSpPr>
          <p:cNvPr id="22" name="pf_376"/>
          <p:cNvSpPr/>
          <p:nvPr/>
        </p:nvSpPr>
        <p:spPr>
          <a:xfrm rot="90000">
            <a:off x="2286000" y="2057400"/>
            <a:ext cx="1783080" cy="1325880"/>
          </a:xfrm>
          <a:prstGeom prst="roundRect">
            <a:avLst>
              <a:gd name="adj" fmla="val 117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3" name="ph_377" descr="/home/claude/lls-course/v2/cache/1b1_conv_b_jpg_407x297_31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90000">
            <a:off x="2331720" y="2103120"/>
            <a:ext cx="1691640" cy="1234440"/>
          </a:xfrm>
          <a:prstGeom prst="rect">
            <a:avLst/>
          </a:prstGeom>
        </p:spPr>
      </p:pic>
      <p:sp>
        <p:nvSpPr>
          <p:cNvPr id="24" name="bd_378"/>
          <p:cNvSpPr/>
          <p:nvPr/>
        </p:nvSpPr>
        <p:spPr>
          <a:xfrm>
            <a:off x="2185416" y="1956816"/>
            <a:ext cx="420624" cy="42062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</a:t>
            </a:r>
            <a:endParaRPr lang="en-US" sz="1400" dirty="0"/>
          </a:p>
        </p:txBody>
      </p:sp>
      <p:sp>
        <p:nvSpPr>
          <p:cNvPr id="25" name="pf_379"/>
          <p:cNvSpPr/>
          <p:nvPr/>
        </p:nvSpPr>
        <p:spPr>
          <a:xfrm rot="-90000">
            <a:off x="4160520" y="2057400"/>
            <a:ext cx="1783080" cy="1325880"/>
          </a:xfrm>
          <a:prstGeom prst="roundRect">
            <a:avLst>
              <a:gd name="adj" fmla="val 117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6" name="ph_380" descr="/home/claude/lls-course/v2/cache/1b1_conv_c_jpg_407x297_31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 rot="-90000">
            <a:off x="4206240" y="2103120"/>
            <a:ext cx="1691640" cy="1234440"/>
          </a:xfrm>
          <a:prstGeom prst="rect">
            <a:avLst/>
          </a:prstGeom>
        </p:spPr>
      </p:pic>
      <p:sp>
        <p:nvSpPr>
          <p:cNvPr id="27" name="bd_381"/>
          <p:cNvSpPr/>
          <p:nvPr/>
        </p:nvSpPr>
        <p:spPr>
          <a:xfrm>
            <a:off x="4059936" y="1956816"/>
            <a:ext cx="420624" cy="42062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</a:t>
            </a:r>
            <a:endParaRPr lang="en-US" sz="1400" dirty="0"/>
          </a:p>
        </p:txBody>
      </p:sp>
      <p:sp>
        <p:nvSpPr>
          <p:cNvPr id="28" name="cd_382"/>
          <p:cNvSpPr/>
          <p:nvPr/>
        </p:nvSpPr>
        <p:spPr>
          <a:xfrm>
            <a:off x="365760" y="3611880"/>
            <a:ext cx="5440680" cy="1097280"/>
          </a:xfrm>
          <a:prstGeom prst="roundRect">
            <a:avLst>
              <a:gd name="adj" fmla="val 11667"/>
            </a:avLst>
          </a:prstGeom>
          <a:solidFill>
            <a:srgbClr val="E3F1FD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9" name="ii_383"/>
          <p:cNvSpPr/>
          <p:nvPr/>
        </p:nvSpPr>
        <p:spPr>
          <a:xfrm>
            <a:off x="457200" y="3685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🎧</a:t>
            </a:r>
            <a:endParaRPr lang="en-US" sz="2200" dirty="0"/>
          </a:p>
        </p:txBody>
      </p:sp>
      <p:sp>
        <p:nvSpPr>
          <p:cNvPr id="30" name="ih_384"/>
          <p:cNvSpPr/>
          <p:nvPr/>
        </p:nvSpPr>
        <p:spPr>
          <a:xfrm>
            <a:off x="932688" y="370332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While you listen</a:t>
            </a:r>
            <a:endParaRPr lang="en-US" sz="1300" dirty="0"/>
          </a:p>
        </p:txBody>
      </p:sp>
      <p:sp>
        <p:nvSpPr>
          <p:cNvPr id="31" name="il_385"/>
          <p:cNvSpPr/>
          <p:nvPr/>
        </p:nvSpPr>
        <p:spPr>
          <a:xfrm>
            <a:off x="932688" y="4087368"/>
            <a:ext cx="4782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Look at A, B and C. Who are they?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Listen. Match conversations 1–3 to A–C.</a:t>
            </a:r>
            <a:endParaRPr lang="en-US" sz="1100" dirty="0"/>
          </a:p>
        </p:txBody>
      </p:sp>
      <p:sp>
        <p:nvSpPr>
          <p:cNvPr id="32" name="lq_386"/>
          <p:cNvSpPr/>
          <p:nvPr/>
        </p:nvSpPr>
        <p:spPr>
          <a:xfrm>
            <a:off x="6035040" y="2103120"/>
            <a:ext cx="12344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Conversation 1</a:t>
            </a:r>
            <a:endParaRPr lang="en-US" sz="1100" dirty="0"/>
          </a:p>
        </p:txBody>
      </p:sp>
      <p:sp>
        <p:nvSpPr>
          <p:cNvPr id="33" name="R1_chip387"/>
          <p:cNvSpPr/>
          <p:nvPr/>
        </p:nvSpPr>
        <p:spPr>
          <a:xfrm>
            <a:off x="7315200" y="2103120"/>
            <a:ext cx="155448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 · his plans for next year</a:t>
            </a:r>
            <a:endParaRPr lang="en-US" sz="1050" dirty="0"/>
          </a:p>
        </p:txBody>
      </p:sp>
      <p:sp>
        <p:nvSpPr>
          <p:cNvPr id="34" name="lq_388"/>
          <p:cNvSpPr/>
          <p:nvPr/>
        </p:nvSpPr>
        <p:spPr>
          <a:xfrm>
            <a:off x="6035040" y="2761488"/>
            <a:ext cx="12344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Conversation 2</a:t>
            </a:r>
            <a:endParaRPr lang="en-US" sz="1100" dirty="0"/>
          </a:p>
        </p:txBody>
      </p:sp>
      <p:sp>
        <p:nvSpPr>
          <p:cNvPr id="35" name="R2_chip389"/>
          <p:cNvSpPr/>
          <p:nvPr/>
        </p:nvSpPr>
        <p:spPr>
          <a:xfrm>
            <a:off x="7315200" y="2761488"/>
            <a:ext cx="155448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· a party at Katie's</a:t>
            </a:r>
            <a:endParaRPr lang="en-US" sz="1050" dirty="0"/>
          </a:p>
        </p:txBody>
      </p:sp>
      <p:sp>
        <p:nvSpPr>
          <p:cNvPr id="36" name="lq_390"/>
          <p:cNvSpPr/>
          <p:nvPr/>
        </p:nvSpPr>
        <p:spPr>
          <a:xfrm>
            <a:off x="6035040" y="3419856"/>
            <a:ext cx="12344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Conversation 3</a:t>
            </a:r>
            <a:endParaRPr lang="en-US" sz="1100" dirty="0"/>
          </a:p>
        </p:txBody>
      </p:sp>
      <p:sp>
        <p:nvSpPr>
          <p:cNvPr id="37" name="R3_chip391"/>
          <p:cNvSpPr/>
          <p:nvPr/>
        </p:nvSpPr>
        <p:spPr>
          <a:xfrm>
            <a:off x="7315200" y="3419856"/>
            <a:ext cx="155448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 · borrowing the car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8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2" dur="1" fill="hold"/>
                                        <p:tgtEl>
                                          <p:spTgt spid="1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  <p:seq concurrent="1" nextAc="seek">
              <p:cTn id="23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7" dur="1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"/>
                  </p:tgtEl>
                </p:cond>
              </p:nextCondLst>
            </p:seq>
            <p:audio>
              <p:cMediaNode vol="80000">
                <p:cTn id="2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6"/>
                </p:tgtEl>
              </p:cMediaNode>
            </p:audio>
            <p:audio>
              <p:cMediaNode vol="80000">
                <p:cTn id="29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7"/>
                </p:tgtEl>
              </p:cMediaNode>
            </p:audio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9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13</a:t>
            </a:r>
            <a:endParaRPr lang="en-US" sz="2200" dirty="0"/>
          </a:p>
        </p:txBody>
      </p:sp>
      <p:pic>
        <p:nvPicPr>
          <p:cNvPr id="4" name="brY_39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191610" cy="621792"/>
          </a:xfrm>
          <a:prstGeom prst="rect">
            <a:avLst/>
          </a:prstGeom>
        </p:spPr>
      </p:pic>
      <p:sp>
        <p:nvSpPr>
          <p:cNvPr id="5" name="title_394"/>
          <p:cNvSpPr/>
          <p:nvPr/>
        </p:nvSpPr>
        <p:spPr>
          <a:xfrm>
            <a:off x="1261872" y="164592"/>
            <a:ext cx="39172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 again: complete</a:t>
            </a:r>
            <a:endParaRPr lang="en-US" sz="2500" dirty="0"/>
          </a:p>
        </p:txBody>
      </p:sp>
      <p:pic>
        <p:nvPicPr>
          <p:cNvPr id="6" name="brP_39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771900" cy="402336"/>
          </a:xfrm>
          <a:prstGeom prst="rect">
            <a:avLst/>
          </a:prstGeom>
        </p:spPr>
      </p:pic>
      <p:sp>
        <p:nvSpPr>
          <p:cNvPr id="7" name="ins_396"/>
          <p:cNvSpPr/>
          <p:nvPr/>
        </p:nvSpPr>
        <p:spPr>
          <a:xfrm>
            <a:off x="1353312" y="731520"/>
            <a:ext cx="35158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Guess the words. Then listen again.</a:t>
            </a:r>
            <a:endParaRPr lang="en-US" sz="1250" dirty="0"/>
          </a:p>
        </p:txBody>
      </p:sp>
      <p:sp>
        <p:nvSpPr>
          <p:cNvPr id="8" name="insIT_397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Indovina le parole. Poi riascolta.</a:t>
            </a:r>
            <a:endParaRPr lang="en-US" sz="950" dirty="0"/>
          </a:p>
        </p:txBody>
      </p:sp>
      <p:sp>
        <p:nvSpPr>
          <p:cNvPr id="9" name="cmd_398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0" name="cmd_399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✏️ </a:t>
            </a:r>
            <a:pPr indent="0" marL="0">
              <a:buNone/>
            </a:pPr>
            <a:r>
              <a:rPr lang="en-US" sz="9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FILL THE GAPS</a:t>
            </a:r>
            <a:pPr indent="0" marL="0"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COMPLETA</a:t>
            </a:r>
            <a:endParaRPr lang="en-US" sz="800" dirty="0"/>
          </a:p>
        </p:txBody>
      </p:sp>
      <p:sp>
        <p:nvSpPr>
          <p:cNvPr id="11" name="meta_400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sp>
        <p:nvSpPr>
          <p:cNvPr id="12" name="tag_401"/>
          <p:cNvSpPr/>
          <p:nvPr/>
        </p:nvSpPr>
        <p:spPr>
          <a:xfrm>
            <a:off x="6510528" y="1188720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Listening for detail</a:t>
            </a:r>
            <a:endParaRPr lang="en-US" sz="850" dirty="0"/>
          </a:p>
        </p:txBody>
      </p:sp>
      <p:pic>
        <p:nvPicPr>
          <p:cNvPr id="13" name="logo_40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40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1B-1 · Listening · detail   ·   📖 SB p.11 · 2b · audio 1.15</a:t>
            </a:r>
            <a:endParaRPr lang="en-US" sz="800" dirty="0"/>
          </a:p>
        </p:txBody>
      </p:sp>
      <p:sp>
        <p:nvSpPr>
          <p:cNvPr id="15" name="ap_404"/>
          <p:cNvSpPr/>
          <p:nvPr/>
        </p:nvSpPr>
        <p:spPr>
          <a:xfrm>
            <a:off x="365760" y="141732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1.15  ·  pause after each conversation</a:t>
            </a:r>
            <a:endParaRPr lang="en-US" sz="1100" dirty="0"/>
          </a:p>
        </p:txBody>
      </p:sp>
      <p:sp>
        <p:nvSpPr>
          <p:cNvPr id="16" name="ah_405"/>
          <p:cNvSpPr/>
          <p:nvPr/>
        </p:nvSpPr>
        <p:spPr>
          <a:xfrm>
            <a:off x="5925312" y="45720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 · 🐢 slower</a:t>
            </a:r>
            <a:endParaRPr lang="en-US" sz="950" dirty="0"/>
          </a:p>
        </p:txBody>
      </p:sp>
      <p:pic>
        <p:nvPicPr>
          <p:cNvPr id="17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7525512" y="4553712"/>
            <a:ext cx="411480" cy="411480"/>
          </a:xfrm>
          <a:prstGeom prst="rect">
            <a:avLst/>
          </a:prstGeom>
        </p:spPr>
      </p:pic>
      <p:pic>
        <p:nvPicPr>
          <p:cNvPr id="18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001000" y="4553712"/>
            <a:ext cx="411480" cy="411480"/>
          </a:xfrm>
          <a:prstGeom prst="rect">
            <a:avLst/>
          </a:prstGeom>
        </p:spPr>
      </p:pic>
      <p:sp>
        <p:nvSpPr>
          <p:cNvPr id="19" name="pf_406"/>
          <p:cNvSpPr/>
          <p:nvPr/>
        </p:nvSpPr>
        <p:spPr>
          <a:xfrm rot="-90000">
            <a:off x="411480" y="2057400"/>
            <a:ext cx="2697480" cy="1783080"/>
          </a:xfrm>
          <a:prstGeom prst="roundRect">
            <a:avLst>
              <a:gd name="adj" fmla="val 87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0" name="ph_407" descr="/home/claude/lls-course/v2/cache/1b1_conv_c_jpg_627x407_31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-90000">
            <a:off x="457200" y="2103120"/>
            <a:ext cx="2606040" cy="1691640"/>
          </a:xfrm>
          <a:prstGeom prst="rect">
            <a:avLst/>
          </a:prstGeom>
        </p:spPr>
      </p:pic>
      <p:sp>
        <p:nvSpPr>
          <p:cNvPr id="21" name="cd_408"/>
          <p:cNvSpPr/>
          <p:nvPr/>
        </p:nvSpPr>
        <p:spPr>
          <a:xfrm>
            <a:off x="320040" y="4023360"/>
            <a:ext cx="2788920" cy="731520"/>
          </a:xfrm>
          <a:prstGeom prst="roundRect">
            <a:avLst>
              <a:gd name="adj" fmla="val 1750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2" name="ii_409"/>
          <p:cNvSpPr/>
          <p:nvPr/>
        </p:nvSpPr>
        <p:spPr>
          <a:xfrm>
            <a:off x="411480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3" name="ih_410"/>
          <p:cNvSpPr/>
          <p:nvPr/>
        </p:nvSpPr>
        <p:spPr>
          <a:xfrm>
            <a:off x="886968" y="4114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 first, then listen!</a:t>
            </a:r>
            <a:endParaRPr lang="en-US" sz="1200" dirty="0"/>
          </a:p>
        </p:txBody>
      </p:sp>
      <p:sp>
        <p:nvSpPr>
          <p:cNvPr id="24" name="il_411"/>
          <p:cNvSpPr/>
          <p:nvPr/>
        </p:nvSpPr>
        <p:spPr>
          <a:xfrm>
            <a:off x="886968" y="4498848"/>
            <a:ext cx="2130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25" name="gq_412"/>
          <p:cNvSpPr/>
          <p:nvPr/>
        </p:nvSpPr>
        <p:spPr>
          <a:xfrm>
            <a:off x="3383280" y="1417320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 I'm not ___ to university.</a:t>
            </a:r>
            <a:endParaRPr lang="en-US" sz="1200" dirty="0"/>
          </a:p>
        </p:txBody>
      </p:sp>
      <p:sp>
        <p:nvSpPr>
          <p:cNvPr id="26" name="R1_chip413"/>
          <p:cNvSpPr/>
          <p:nvPr/>
        </p:nvSpPr>
        <p:spPr>
          <a:xfrm>
            <a:off x="6812280" y="1417320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going to go</a:t>
            </a:r>
            <a:endParaRPr lang="en-US" sz="1200" dirty="0"/>
          </a:p>
        </p:txBody>
      </p:sp>
      <p:sp>
        <p:nvSpPr>
          <p:cNvPr id="27" name="gq_414"/>
          <p:cNvSpPr/>
          <p:nvPr/>
        </p:nvSpPr>
        <p:spPr>
          <a:xfrm>
            <a:off x="3383280" y="1938528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  ___ you a cup of tea?</a:t>
            </a:r>
            <a:endParaRPr lang="en-US" sz="1200" dirty="0"/>
          </a:p>
        </p:txBody>
      </p:sp>
      <p:sp>
        <p:nvSpPr>
          <p:cNvPr id="28" name="R2_chip415"/>
          <p:cNvSpPr/>
          <p:nvPr/>
        </p:nvSpPr>
        <p:spPr>
          <a:xfrm>
            <a:off x="6812280" y="1938528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Shall I make</a:t>
            </a:r>
            <a:endParaRPr lang="en-US" sz="1200" dirty="0"/>
          </a:p>
        </p:txBody>
      </p:sp>
      <p:sp>
        <p:nvSpPr>
          <p:cNvPr id="29" name="gq_416"/>
          <p:cNvSpPr/>
          <p:nvPr/>
        </p:nvSpPr>
        <p:spPr>
          <a:xfrm>
            <a:off x="3383280" y="2459736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  I ___ the night there.</a:t>
            </a:r>
            <a:endParaRPr lang="en-US" sz="1200" dirty="0"/>
          </a:p>
        </p:txBody>
      </p:sp>
      <p:sp>
        <p:nvSpPr>
          <p:cNvPr id="30" name="R3_chip417"/>
          <p:cNvSpPr/>
          <p:nvPr/>
        </p:nvSpPr>
        <p:spPr>
          <a:xfrm>
            <a:off x="6812280" y="2459736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'm staying</a:t>
            </a:r>
            <a:endParaRPr lang="en-US" sz="1200" dirty="0"/>
          </a:p>
        </p:txBody>
      </p:sp>
      <p:sp>
        <p:nvSpPr>
          <p:cNvPr id="31" name="gq_418"/>
          <p:cNvSpPr/>
          <p:nvPr/>
        </p:nvSpPr>
        <p:spPr>
          <a:xfrm>
            <a:off x="3383280" y="2980944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  It ___ cold tonight.</a:t>
            </a:r>
            <a:endParaRPr lang="en-US" sz="1200" dirty="0"/>
          </a:p>
        </p:txBody>
      </p:sp>
      <p:sp>
        <p:nvSpPr>
          <p:cNvPr id="32" name="R4_chip419"/>
          <p:cNvSpPr/>
          <p:nvPr/>
        </p:nvSpPr>
        <p:spPr>
          <a:xfrm>
            <a:off x="6812280" y="2980944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's going to be</a:t>
            </a:r>
            <a:endParaRPr lang="en-US" sz="1200" dirty="0"/>
          </a:p>
        </p:txBody>
      </p:sp>
      <p:sp>
        <p:nvSpPr>
          <p:cNvPr id="33" name="gq_420"/>
          <p:cNvSpPr/>
          <p:nvPr/>
        </p:nvSpPr>
        <p:spPr>
          <a:xfrm>
            <a:off x="3383280" y="3502152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  You ___ too fast.</a:t>
            </a:r>
            <a:endParaRPr lang="en-US" sz="1200" dirty="0"/>
          </a:p>
        </p:txBody>
      </p:sp>
      <p:sp>
        <p:nvSpPr>
          <p:cNvPr id="34" name="R5_chip421"/>
          <p:cNvSpPr/>
          <p:nvPr/>
        </p:nvSpPr>
        <p:spPr>
          <a:xfrm>
            <a:off x="6812280" y="3502152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'll drive</a:t>
            </a:r>
            <a:endParaRPr lang="en-US" sz="1200" dirty="0"/>
          </a:p>
        </p:txBody>
      </p:sp>
      <p:sp>
        <p:nvSpPr>
          <p:cNvPr id="35" name="gq_422"/>
          <p:cNvSpPr/>
          <p:nvPr/>
        </p:nvSpPr>
        <p:spPr>
          <a:xfrm>
            <a:off x="3383280" y="4023360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  I ___ really careful.</a:t>
            </a:r>
            <a:endParaRPr lang="en-US" sz="1200" dirty="0"/>
          </a:p>
        </p:txBody>
      </p:sp>
      <p:sp>
        <p:nvSpPr>
          <p:cNvPr id="36" name="R6_chip423"/>
          <p:cNvSpPr/>
          <p:nvPr/>
        </p:nvSpPr>
        <p:spPr>
          <a:xfrm>
            <a:off x="6812280" y="4023360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'll be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7" dur="1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"/>
                  </p:tgtEl>
                </p:cond>
              </p:nextCondLst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2" dur="1" fill="hold"/>
                                        <p:tgtEl>
                                          <p:spTgt spid="1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"/>
                  </p:tgtEl>
                </p:cond>
              </p:nextCondLst>
            </p:seq>
            <p:audio>
              <p:cMediaNode vol="80000">
                <p:cTn id="4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7"/>
                </p:tgtEl>
              </p:cMediaNode>
            </p:audio>
            <p:audio>
              <p:cMediaNode vol="80000">
                <p:cTn id="4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8"/>
                </p:tgtEl>
              </p:cMediaNode>
            </p:audio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2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14</a:t>
            </a:r>
            <a:endParaRPr lang="en-US" sz="2200" dirty="0"/>
          </a:p>
        </p:txBody>
      </p:sp>
      <p:pic>
        <p:nvPicPr>
          <p:cNvPr id="4" name="brY_42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090672" cy="621792"/>
          </a:xfrm>
          <a:prstGeom prst="rect">
            <a:avLst/>
          </a:prstGeom>
        </p:spPr>
      </p:pic>
      <p:sp>
        <p:nvSpPr>
          <p:cNvPr id="5" name="title_426"/>
          <p:cNvSpPr/>
          <p:nvPr/>
        </p:nvSpPr>
        <p:spPr>
          <a:xfrm>
            <a:off x="1261872" y="164592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Find the future</a:t>
            </a:r>
            <a:endParaRPr lang="en-US" sz="2500" dirty="0"/>
          </a:p>
        </p:txBody>
      </p:sp>
      <p:pic>
        <p:nvPicPr>
          <p:cNvPr id="6" name="brP_42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771900" cy="402336"/>
          </a:xfrm>
          <a:prstGeom prst="rect">
            <a:avLst/>
          </a:prstGeom>
        </p:spPr>
      </p:pic>
      <p:sp>
        <p:nvSpPr>
          <p:cNvPr id="7" name="ins_428"/>
          <p:cNvSpPr/>
          <p:nvPr/>
        </p:nvSpPr>
        <p:spPr>
          <a:xfrm>
            <a:off x="1353312" y="731520"/>
            <a:ext cx="35158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Find the future forms in the lines.</a:t>
            </a:r>
            <a:endParaRPr lang="en-US" sz="1250" dirty="0"/>
          </a:p>
        </p:txBody>
      </p:sp>
      <p:sp>
        <p:nvSpPr>
          <p:cNvPr id="8" name="insIT_429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Trova le forme del futuro.</a:t>
            </a:r>
            <a:endParaRPr lang="en-US" sz="950" dirty="0"/>
          </a:p>
        </p:txBody>
      </p:sp>
      <p:sp>
        <p:nvSpPr>
          <p:cNvPr id="9" name="cmd_430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🔍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FIND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TROVA</a:t>
            </a:r>
            <a:endParaRPr lang="en-US" sz="1100" dirty="0"/>
          </a:p>
        </p:txBody>
      </p:sp>
      <p:sp>
        <p:nvSpPr>
          <p:cNvPr id="10" name="meta_431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pic>
        <p:nvPicPr>
          <p:cNvPr id="11" name="logo_43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43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1B-1 · Noticing · the conversations   ·   📖 SB audio script 1.15 (p.124)</a:t>
            </a:r>
            <a:endParaRPr lang="en-US" sz="800" dirty="0"/>
          </a:p>
        </p:txBody>
      </p:sp>
      <p:sp>
        <p:nvSpPr>
          <p:cNvPr id="13" name="pf_434"/>
          <p:cNvSpPr/>
          <p:nvPr/>
        </p:nvSpPr>
        <p:spPr>
          <a:xfrm rot="-120000">
            <a:off x="365760" y="1371600"/>
            <a:ext cx="2468880" cy="1691640"/>
          </a:xfrm>
          <a:prstGeom prst="roundRect">
            <a:avLst>
              <a:gd name="adj" fmla="val 91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4" name="ph_435" descr="/home/claude/lls-course/v2/cache/1b1_conv_b_jpg_572x385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11480" y="1417320"/>
            <a:ext cx="2377440" cy="1600200"/>
          </a:xfrm>
          <a:prstGeom prst="rect">
            <a:avLst/>
          </a:prstGeom>
        </p:spPr>
      </p:pic>
      <p:sp>
        <p:nvSpPr>
          <p:cNvPr id="15" name="cd_436"/>
          <p:cNvSpPr/>
          <p:nvPr/>
        </p:nvSpPr>
        <p:spPr>
          <a:xfrm>
            <a:off x="320040" y="3246120"/>
            <a:ext cx="2606040" cy="1463040"/>
          </a:xfrm>
          <a:prstGeom prst="roundRect">
            <a:avLst>
              <a:gd name="adj" fmla="val 875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437"/>
          <p:cNvSpPr/>
          <p:nvPr/>
        </p:nvSpPr>
        <p:spPr>
          <a:xfrm>
            <a:off x="411480" y="3319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🔍</a:t>
            </a:r>
            <a:endParaRPr lang="en-US" sz="2200" dirty="0"/>
          </a:p>
        </p:txBody>
      </p:sp>
      <p:sp>
        <p:nvSpPr>
          <p:cNvPr id="17" name="ih_438"/>
          <p:cNvSpPr/>
          <p:nvPr/>
        </p:nvSpPr>
        <p:spPr>
          <a:xfrm>
            <a:off x="886968" y="333756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Find it!</a:t>
            </a:r>
            <a:endParaRPr lang="en-US" sz="1300" dirty="0"/>
          </a:p>
        </p:txBody>
      </p:sp>
      <p:sp>
        <p:nvSpPr>
          <p:cNvPr id="18" name="il_439"/>
          <p:cNvSpPr/>
          <p:nvPr/>
        </p:nvSpPr>
        <p:spPr>
          <a:xfrm>
            <a:off x="886968" y="3721608"/>
            <a:ext cx="1947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going to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present continuous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will / won't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Shall I…?</a:t>
            </a:r>
            <a:endParaRPr lang="en-US" sz="1050" dirty="0"/>
          </a:p>
        </p:txBody>
      </p:sp>
      <p:sp>
        <p:nvSpPr>
          <p:cNvPr id="19" name="who_440"/>
          <p:cNvSpPr/>
          <p:nvPr/>
        </p:nvSpPr>
        <p:spPr>
          <a:xfrm>
            <a:off x="3108960" y="1463040"/>
            <a:ext cx="914400" cy="365760"/>
          </a:xfrm>
          <a:prstGeom prst="roundRect">
            <a:avLst>
              <a:gd name="adj" fmla="val 30000"/>
            </a:avLst>
          </a:prstGeom>
          <a:solidFill>
            <a:srgbClr val="FFE3EE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· Gran</a:t>
            </a:r>
            <a:endParaRPr lang="en-US" sz="950" dirty="0"/>
          </a:p>
        </p:txBody>
      </p:sp>
      <p:sp>
        <p:nvSpPr>
          <p:cNvPr id="20" name="sl_441"/>
          <p:cNvSpPr/>
          <p:nvPr/>
        </p:nvSpPr>
        <p:spPr>
          <a:xfrm>
            <a:off x="4114800" y="1444752"/>
            <a:ext cx="475488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5875">
            <a:solidFill>
              <a:srgbClr val="F7A6C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 what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 you going to do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next year, dear?</a:t>
            </a:r>
            <a:endParaRPr lang="en-US" sz="1150" dirty="0"/>
          </a:p>
        </p:txBody>
      </p:sp>
      <p:sp>
        <p:nvSpPr>
          <p:cNvPr id="21" name="R1_slA442"/>
          <p:cNvSpPr/>
          <p:nvPr/>
        </p:nvSpPr>
        <p:spPr>
          <a:xfrm>
            <a:off x="4114800" y="1444752"/>
            <a:ext cx="475488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5875">
            <a:solidFill>
              <a:srgbClr val="F7A6C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 what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Segoe UI" pitchFamily="34" charset="0"/>
                <a:ea typeface="Segoe UI" pitchFamily="34" charset="-122"/>
                <a:cs typeface="Segoe UI" pitchFamily="34" charset="-120"/>
              </a:rPr>
              <a:t>are you going to do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next year, dear?</a:t>
            </a:r>
            <a:endParaRPr lang="en-US" sz="1150" dirty="0"/>
          </a:p>
        </p:txBody>
      </p:sp>
      <p:sp>
        <p:nvSpPr>
          <p:cNvPr id="22" name="who_443"/>
          <p:cNvSpPr/>
          <p:nvPr/>
        </p:nvSpPr>
        <p:spPr>
          <a:xfrm>
            <a:off x="3108960" y="1920240"/>
            <a:ext cx="914400" cy="365760"/>
          </a:xfrm>
          <a:prstGeom prst="roundRect">
            <a:avLst>
              <a:gd name="adj" fmla="val 30000"/>
            </a:avLst>
          </a:prstGeom>
          <a:solidFill>
            <a:srgbClr val="FFE3EE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· Adam</a:t>
            </a:r>
            <a:endParaRPr lang="en-US" sz="950" dirty="0"/>
          </a:p>
        </p:txBody>
      </p:sp>
      <p:sp>
        <p:nvSpPr>
          <p:cNvPr id="23" name="sl_444"/>
          <p:cNvSpPr/>
          <p:nvPr/>
        </p:nvSpPr>
        <p:spPr>
          <a:xfrm>
            <a:off x="4114800" y="1901952"/>
            <a:ext cx="475488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5875">
            <a:solidFill>
              <a:srgbClr val="F7A6C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'm not going to go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to university. I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'm going to look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for a job.</a:t>
            </a:r>
            <a:endParaRPr lang="en-US" sz="1150" dirty="0"/>
          </a:p>
        </p:txBody>
      </p:sp>
      <p:sp>
        <p:nvSpPr>
          <p:cNvPr id="24" name="R2_slA445"/>
          <p:cNvSpPr/>
          <p:nvPr/>
        </p:nvSpPr>
        <p:spPr>
          <a:xfrm>
            <a:off x="4114800" y="1901952"/>
            <a:ext cx="475488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5875">
            <a:solidFill>
              <a:srgbClr val="F7A6C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Segoe UI" pitchFamily="34" charset="0"/>
                <a:ea typeface="Segoe UI" pitchFamily="34" charset="-122"/>
                <a:cs typeface="Segoe UI" pitchFamily="34" charset="-120"/>
              </a:rPr>
              <a:t>'m not going to go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to university. I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Segoe UI" pitchFamily="34" charset="0"/>
                <a:ea typeface="Segoe UI" pitchFamily="34" charset="-122"/>
                <a:cs typeface="Segoe UI" pitchFamily="34" charset="-120"/>
              </a:rPr>
              <a:t>'m going to look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for a job.</a:t>
            </a:r>
            <a:endParaRPr lang="en-US" sz="1150" dirty="0"/>
          </a:p>
        </p:txBody>
      </p:sp>
      <p:sp>
        <p:nvSpPr>
          <p:cNvPr id="25" name="who_446"/>
          <p:cNvSpPr/>
          <p:nvPr/>
        </p:nvSpPr>
        <p:spPr>
          <a:xfrm>
            <a:off x="3108960" y="2377440"/>
            <a:ext cx="914400" cy="365760"/>
          </a:xfrm>
          <a:prstGeom prst="roundRect">
            <a:avLst>
              <a:gd name="adj" fmla="val 30000"/>
            </a:avLst>
          </a:prstGeom>
          <a:solidFill>
            <a:srgbClr val="FFE3EE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· Adam</a:t>
            </a:r>
            <a:endParaRPr lang="en-US" sz="950" dirty="0"/>
          </a:p>
        </p:txBody>
      </p:sp>
      <p:sp>
        <p:nvSpPr>
          <p:cNvPr id="26" name="sl_447"/>
          <p:cNvSpPr/>
          <p:nvPr/>
        </p:nvSpPr>
        <p:spPr>
          <a:xfrm>
            <a:off x="4114800" y="2359152"/>
            <a:ext cx="475488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5875">
            <a:solidFill>
              <a:srgbClr val="F7A6C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Shall I make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you a cup of tea?</a:t>
            </a:r>
            <a:endParaRPr lang="en-US" sz="1150" dirty="0"/>
          </a:p>
        </p:txBody>
      </p:sp>
      <p:sp>
        <p:nvSpPr>
          <p:cNvPr id="27" name="R3_slA448"/>
          <p:cNvSpPr/>
          <p:nvPr/>
        </p:nvSpPr>
        <p:spPr>
          <a:xfrm>
            <a:off x="4114800" y="2359152"/>
            <a:ext cx="475488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5875">
            <a:solidFill>
              <a:srgbClr val="F7A6C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Segoe UI" pitchFamily="34" charset="0"/>
                <a:ea typeface="Segoe UI" pitchFamily="34" charset="-122"/>
                <a:cs typeface="Segoe UI" pitchFamily="34" charset="-120"/>
              </a:rPr>
              <a:t>Shall I make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you a cup of tea?</a:t>
            </a:r>
            <a:endParaRPr lang="en-US" sz="1150" dirty="0"/>
          </a:p>
        </p:txBody>
      </p:sp>
      <p:sp>
        <p:nvSpPr>
          <p:cNvPr id="28" name="who_449"/>
          <p:cNvSpPr/>
          <p:nvPr/>
        </p:nvSpPr>
        <p:spPr>
          <a:xfrm>
            <a:off x="3108960" y="2834640"/>
            <a:ext cx="914400" cy="365760"/>
          </a:xfrm>
          <a:prstGeom prst="roundRect">
            <a:avLst>
              <a:gd name="adj" fmla="val 30000"/>
            </a:avLst>
          </a:prstGeom>
          <a:solidFill>
            <a:srgbClr val="E3F1FD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· Girl</a:t>
            </a:r>
            <a:endParaRPr lang="en-US" sz="950" dirty="0"/>
          </a:p>
        </p:txBody>
      </p:sp>
      <p:sp>
        <p:nvSpPr>
          <p:cNvPr id="29" name="sl_450"/>
          <p:cNvSpPr/>
          <p:nvPr/>
        </p:nvSpPr>
        <p:spPr>
          <a:xfrm>
            <a:off x="4114800" y="2816352"/>
            <a:ext cx="475488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5875">
            <a:solidFill>
              <a:srgbClr val="A9D3F5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'm going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to a party at Katie's. I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'm staying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the night there.</a:t>
            </a:r>
            <a:endParaRPr lang="en-US" sz="1150" dirty="0"/>
          </a:p>
        </p:txBody>
      </p:sp>
      <p:sp>
        <p:nvSpPr>
          <p:cNvPr id="30" name="R4_slA451"/>
          <p:cNvSpPr/>
          <p:nvPr/>
        </p:nvSpPr>
        <p:spPr>
          <a:xfrm>
            <a:off x="4114800" y="2816352"/>
            <a:ext cx="475488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5875">
            <a:solidFill>
              <a:srgbClr val="A9D3F5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Segoe UI" pitchFamily="34" charset="0"/>
                <a:ea typeface="Segoe UI" pitchFamily="34" charset="-122"/>
                <a:cs typeface="Segoe UI" pitchFamily="34" charset="-120"/>
              </a:rPr>
              <a:t>'m going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to a party at Katie's. I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Segoe UI" pitchFamily="34" charset="0"/>
                <a:ea typeface="Segoe UI" pitchFamily="34" charset="-122"/>
                <a:cs typeface="Segoe UI" pitchFamily="34" charset="-120"/>
              </a:rPr>
              <a:t>'m staying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the night there.</a:t>
            </a:r>
            <a:endParaRPr lang="en-US" sz="1150" dirty="0"/>
          </a:p>
        </p:txBody>
      </p:sp>
      <p:sp>
        <p:nvSpPr>
          <p:cNvPr id="31" name="who_452"/>
          <p:cNvSpPr/>
          <p:nvPr/>
        </p:nvSpPr>
        <p:spPr>
          <a:xfrm>
            <a:off x="3108960" y="3291840"/>
            <a:ext cx="914400" cy="365760"/>
          </a:xfrm>
          <a:prstGeom prst="roundRect">
            <a:avLst>
              <a:gd name="adj" fmla="val 30000"/>
            </a:avLst>
          </a:prstGeom>
          <a:solidFill>
            <a:srgbClr val="E3F1FD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· Dad</a:t>
            </a:r>
            <a:endParaRPr lang="en-US" sz="950" dirty="0"/>
          </a:p>
        </p:txBody>
      </p:sp>
      <p:sp>
        <p:nvSpPr>
          <p:cNvPr id="32" name="sl_453"/>
          <p:cNvSpPr/>
          <p:nvPr/>
        </p:nvSpPr>
        <p:spPr>
          <a:xfrm>
            <a:off x="4114800" y="3273552"/>
            <a:ext cx="475488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5875">
            <a:solidFill>
              <a:srgbClr val="A9D3F5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Where's your coat? It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's going to be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cold tonight!</a:t>
            </a:r>
            <a:endParaRPr lang="en-US" sz="1150" dirty="0"/>
          </a:p>
        </p:txBody>
      </p:sp>
      <p:sp>
        <p:nvSpPr>
          <p:cNvPr id="33" name="R5_slA454"/>
          <p:cNvSpPr/>
          <p:nvPr/>
        </p:nvSpPr>
        <p:spPr>
          <a:xfrm>
            <a:off x="4114800" y="3273552"/>
            <a:ext cx="475488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5875">
            <a:solidFill>
              <a:srgbClr val="A9D3F5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Where's your coat? It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Segoe UI" pitchFamily="34" charset="0"/>
                <a:ea typeface="Segoe UI" pitchFamily="34" charset="-122"/>
                <a:cs typeface="Segoe UI" pitchFamily="34" charset="-120"/>
              </a:rPr>
              <a:t>'s going to be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cold tonight!</a:t>
            </a:r>
            <a:endParaRPr lang="en-US" sz="1150" dirty="0"/>
          </a:p>
        </p:txBody>
      </p:sp>
      <p:sp>
        <p:nvSpPr>
          <p:cNvPr id="34" name="who_455"/>
          <p:cNvSpPr/>
          <p:nvPr/>
        </p:nvSpPr>
        <p:spPr>
          <a:xfrm>
            <a:off x="3108960" y="3749040"/>
            <a:ext cx="914400" cy="365760"/>
          </a:xfrm>
          <a:prstGeom prst="roundRect">
            <a:avLst>
              <a:gd name="adj" fmla="val 30000"/>
            </a:avLst>
          </a:prstGeom>
          <a:solidFill>
            <a:srgbClr val="E3F7EA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· Woman</a:t>
            </a:r>
            <a:endParaRPr lang="en-US" sz="950" dirty="0"/>
          </a:p>
        </p:txBody>
      </p:sp>
      <p:sp>
        <p:nvSpPr>
          <p:cNvPr id="35" name="sl_456"/>
          <p:cNvSpPr/>
          <p:nvPr/>
        </p:nvSpPr>
        <p:spPr>
          <a:xfrm>
            <a:off x="4114800" y="3730752"/>
            <a:ext cx="475488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5875">
            <a:solidFill>
              <a:srgbClr val="A8E5BE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won't look after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it. You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'll drive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too fast.</a:t>
            </a:r>
            <a:endParaRPr lang="en-US" sz="1150" dirty="0"/>
          </a:p>
        </p:txBody>
      </p:sp>
      <p:sp>
        <p:nvSpPr>
          <p:cNvPr id="36" name="R6_slA457"/>
          <p:cNvSpPr/>
          <p:nvPr/>
        </p:nvSpPr>
        <p:spPr>
          <a:xfrm>
            <a:off x="4114800" y="3730752"/>
            <a:ext cx="475488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5875">
            <a:solidFill>
              <a:srgbClr val="A8E5BE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Segoe UI" pitchFamily="34" charset="0"/>
                <a:ea typeface="Segoe UI" pitchFamily="34" charset="-122"/>
                <a:cs typeface="Segoe UI" pitchFamily="34" charset="-120"/>
              </a:rPr>
              <a:t>won't look after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it. You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Segoe UI" pitchFamily="34" charset="0"/>
                <a:ea typeface="Segoe UI" pitchFamily="34" charset="-122"/>
                <a:cs typeface="Segoe UI" pitchFamily="34" charset="-120"/>
              </a:rPr>
              <a:t>'ll drive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too fast.</a:t>
            </a:r>
            <a:endParaRPr lang="en-US" sz="1150" dirty="0"/>
          </a:p>
        </p:txBody>
      </p:sp>
      <p:sp>
        <p:nvSpPr>
          <p:cNvPr id="37" name="who_458"/>
          <p:cNvSpPr/>
          <p:nvPr/>
        </p:nvSpPr>
        <p:spPr>
          <a:xfrm>
            <a:off x="3108960" y="4206240"/>
            <a:ext cx="914400" cy="365760"/>
          </a:xfrm>
          <a:prstGeom prst="roundRect">
            <a:avLst>
              <a:gd name="adj" fmla="val 30000"/>
            </a:avLst>
          </a:prstGeom>
          <a:solidFill>
            <a:srgbClr val="E3F7EA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· Man</a:t>
            </a:r>
            <a:endParaRPr lang="en-US" sz="950" dirty="0"/>
          </a:p>
        </p:txBody>
      </p:sp>
      <p:sp>
        <p:nvSpPr>
          <p:cNvPr id="38" name="sl_459"/>
          <p:cNvSpPr/>
          <p:nvPr/>
        </p:nvSpPr>
        <p:spPr>
          <a:xfrm>
            <a:off x="4114800" y="4187952"/>
            <a:ext cx="475488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5875">
            <a:solidFill>
              <a:srgbClr val="A8E5BE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won't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I promise. I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'll be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really careful.</a:t>
            </a:r>
            <a:endParaRPr lang="en-US" sz="1150" dirty="0"/>
          </a:p>
        </p:txBody>
      </p:sp>
      <p:sp>
        <p:nvSpPr>
          <p:cNvPr id="39" name="R7_slA460"/>
          <p:cNvSpPr/>
          <p:nvPr/>
        </p:nvSpPr>
        <p:spPr>
          <a:xfrm>
            <a:off x="4114800" y="4187952"/>
            <a:ext cx="475488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5875">
            <a:solidFill>
              <a:srgbClr val="A8E5BE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Segoe UI" pitchFamily="34" charset="0"/>
                <a:ea typeface="Segoe UI" pitchFamily="34" charset="-122"/>
                <a:cs typeface="Segoe UI" pitchFamily="34" charset="-120"/>
              </a:rPr>
              <a:t>won't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I promise. I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Segoe UI" pitchFamily="34" charset="0"/>
                <a:ea typeface="Segoe UI" pitchFamily="34" charset="-122"/>
                <a:cs typeface="Segoe UI" pitchFamily="34" charset="-120"/>
              </a:rPr>
              <a:t>'ll be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really careful.</a:t>
            </a:r>
            <a:endParaRPr lang="en-US" sz="11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6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15</a:t>
            </a:r>
            <a:endParaRPr lang="en-US" sz="2200" dirty="0"/>
          </a:p>
        </p:txBody>
      </p:sp>
      <p:pic>
        <p:nvPicPr>
          <p:cNvPr id="4" name="brY_46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5135270" cy="621792"/>
          </a:xfrm>
          <a:prstGeom prst="rect">
            <a:avLst/>
          </a:prstGeom>
        </p:spPr>
      </p:pic>
      <p:sp>
        <p:nvSpPr>
          <p:cNvPr id="5" name="title_463"/>
          <p:cNvSpPr/>
          <p:nvPr/>
        </p:nvSpPr>
        <p:spPr>
          <a:xfrm>
            <a:off x="1261872" y="164592"/>
            <a:ext cx="486095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Plan, prediction or promise?</a:t>
            </a:r>
            <a:endParaRPr lang="en-US" sz="2500" dirty="0"/>
          </a:p>
        </p:txBody>
      </p:sp>
      <p:pic>
        <p:nvPicPr>
          <p:cNvPr id="6" name="brP_46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466844" cy="402336"/>
          </a:xfrm>
          <a:prstGeom prst="rect">
            <a:avLst/>
          </a:prstGeom>
        </p:spPr>
      </p:pic>
      <p:sp>
        <p:nvSpPr>
          <p:cNvPr id="7" name="ins_465"/>
          <p:cNvSpPr/>
          <p:nvPr/>
        </p:nvSpPr>
        <p:spPr>
          <a:xfrm>
            <a:off x="1353312" y="731520"/>
            <a:ext cx="42108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Plan, prediction, offer…? Match the colour.</a:t>
            </a:r>
            <a:endParaRPr lang="en-US" sz="1250" dirty="0"/>
          </a:p>
        </p:txBody>
      </p:sp>
      <p:sp>
        <p:nvSpPr>
          <p:cNvPr id="8" name="insIT_466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Piano, previsione, offerta…? Abbina il colore.</a:t>
            </a:r>
            <a:endParaRPr lang="en-US" sz="950" dirty="0"/>
          </a:p>
        </p:txBody>
      </p:sp>
      <p:sp>
        <p:nvSpPr>
          <p:cNvPr id="9" name="cmd_467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🔗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MATCH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ABBINA</a:t>
            </a:r>
            <a:endParaRPr lang="en-US" sz="1100" dirty="0"/>
          </a:p>
        </p:txBody>
      </p:sp>
      <p:sp>
        <p:nvSpPr>
          <p:cNvPr id="10" name="meta_468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1" name="tag_469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Grammar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Guided discovery</a:t>
            </a:r>
            <a:endParaRPr lang="en-US" sz="850" dirty="0"/>
          </a:p>
        </p:txBody>
      </p:sp>
      <p:pic>
        <p:nvPicPr>
          <p:cNvPr id="12" name="logo_47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47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1B-1 · Grammar · future forms   ·   📖 SB p.11 · 2c</a:t>
            </a:r>
            <a:endParaRPr lang="en-US" sz="800" dirty="0"/>
          </a:p>
        </p:txBody>
      </p:sp>
      <p:sp>
        <p:nvSpPr>
          <p:cNvPr id="14" name="cd_472"/>
          <p:cNvSpPr/>
          <p:nvPr/>
        </p:nvSpPr>
        <p:spPr>
          <a:xfrm>
            <a:off x="320040" y="1417320"/>
            <a:ext cx="2697480" cy="2295144"/>
          </a:xfrm>
          <a:prstGeom prst="roundRect">
            <a:avLst>
              <a:gd name="adj" fmla="val 5578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473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🏷️</a:t>
            </a:r>
            <a:endParaRPr lang="en-US" sz="2200" dirty="0"/>
          </a:p>
        </p:txBody>
      </p:sp>
      <p:sp>
        <p:nvSpPr>
          <p:cNvPr id="16" name="ih_474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The colours</a:t>
            </a:r>
            <a:endParaRPr lang="en-US" sz="1300" dirty="0"/>
          </a:p>
        </p:txBody>
      </p:sp>
      <p:sp>
        <p:nvSpPr>
          <p:cNvPr id="17" name="il_475"/>
          <p:cNvSpPr/>
          <p:nvPr/>
        </p:nvSpPr>
        <p:spPr>
          <a:xfrm>
            <a:off x="886968" y="1892808"/>
            <a:ext cx="2039112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18" name="lg_476"/>
          <p:cNvSpPr/>
          <p:nvPr/>
        </p:nvSpPr>
        <p:spPr>
          <a:xfrm>
            <a:off x="457200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plan</a:t>
            </a:r>
            <a:endParaRPr lang="en-US" sz="1050" dirty="0"/>
          </a:p>
        </p:txBody>
      </p:sp>
      <p:sp>
        <p:nvSpPr>
          <p:cNvPr id="19" name="lg_477"/>
          <p:cNvSpPr/>
          <p:nvPr/>
        </p:nvSpPr>
        <p:spPr>
          <a:xfrm>
            <a:off x="1719072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prediction</a:t>
            </a:r>
            <a:endParaRPr lang="en-US" sz="1050" dirty="0"/>
          </a:p>
        </p:txBody>
      </p:sp>
      <p:sp>
        <p:nvSpPr>
          <p:cNvPr id="20" name="lg_478"/>
          <p:cNvSpPr/>
          <p:nvPr/>
        </p:nvSpPr>
        <p:spPr>
          <a:xfrm>
            <a:off x="457200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FD96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offer</a:t>
            </a:r>
            <a:endParaRPr lang="en-US" sz="1050" dirty="0"/>
          </a:p>
        </p:txBody>
      </p:sp>
      <p:sp>
        <p:nvSpPr>
          <p:cNvPr id="21" name="lg_479"/>
          <p:cNvSpPr/>
          <p:nvPr/>
        </p:nvSpPr>
        <p:spPr>
          <a:xfrm>
            <a:off x="1719072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arrangement</a:t>
            </a:r>
            <a:endParaRPr lang="en-US" sz="1050" dirty="0"/>
          </a:p>
        </p:txBody>
      </p:sp>
      <p:sp>
        <p:nvSpPr>
          <p:cNvPr id="22" name="lg_480"/>
          <p:cNvSpPr/>
          <p:nvPr/>
        </p:nvSpPr>
        <p:spPr>
          <a:xfrm>
            <a:off x="457200" y="2752344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C8E6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promise</a:t>
            </a:r>
            <a:endParaRPr lang="en-US" sz="1050" dirty="0"/>
          </a:p>
        </p:txBody>
      </p:sp>
      <p:sp>
        <p:nvSpPr>
          <p:cNvPr id="23" name="sq_481"/>
          <p:cNvSpPr/>
          <p:nvPr/>
        </p:nvSpPr>
        <p:spPr>
          <a:xfrm>
            <a:off x="3246120" y="1417320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 I'm not going to go to university.</a:t>
            </a:r>
            <a:endParaRPr lang="en-US" sz="1200" dirty="0"/>
          </a:p>
        </p:txBody>
      </p:sp>
      <p:sp>
        <p:nvSpPr>
          <p:cNvPr id="24" name="R1_tag482"/>
          <p:cNvSpPr/>
          <p:nvPr/>
        </p:nvSpPr>
        <p:spPr>
          <a:xfrm>
            <a:off x="7178040" y="1417320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plan</a:t>
            </a:r>
            <a:endParaRPr lang="en-US" sz="1150" dirty="0"/>
          </a:p>
        </p:txBody>
      </p:sp>
      <p:sp>
        <p:nvSpPr>
          <p:cNvPr id="25" name="sq_483"/>
          <p:cNvSpPr/>
          <p:nvPr/>
        </p:nvSpPr>
        <p:spPr>
          <a:xfrm>
            <a:off x="3246120" y="1956816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  Shall I make you a cup of tea?</a:t>
            </a:r>
            <a:endParaRPr lang="en-US" sz="1200" dirty="0"/>
          </a:p>
        </p:txBody>
      </p:sp>
      <p:sp>
        <p:nvSpPr>
          <p:cNvPr id="26" name="R2_tag484"/>
          <p:cNvSpPr/>
          <p:nvPr/>
        </p:nvSpPr>
        <p:spPr>
          <a:xfrm>
            <a:off x="7178040" y="1956816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FD96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offer</a:t>
            </a:r>
            <a:endParaRPr lang="en-US" sz="1150" dirty="0"/>
          </a:p>
        </p:txBody>
      </p:sp>
      <p:sp>
        <p:nvSpPr>
          <p:cNvPr id="27" name="sq_485"/>
          <p:cNvSpPr/>
          <p:nvPr/>
        </p:nvSpPr>
        <p:spPr>
          <a:xfrm>
            <a:off x="3246120" y="2496312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  I'm staying the night there.</a:t>
            </a:r>
            <a:endParaRPr lang="en-US" sz="1200" dirty="0"/>
          </a:p>
        </p:txBody>
      </p:sp>
      <p:sp>
        <p:nvSpPr>
          <p:cNvPr id="28" name="R3_tag486"/>
          <p:cNvSpPr/>
          <p:nvPr/>
        </p:nvSpPr>
        <p:spPr>
          <a:xfrm>
            <a:off x="7178040" y="2496312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arrangement</a:t>
            </a:r>
            <a:endParaRPr lang="en-US" sz="1150" dirty="0"/>
          </a:p>
        </p:txBody>
      </p:sp>
      <p:sp>
        <p:nvSpPr>
          <p:cNvPr id="29" name="sq_487"/>
          <p:cNvSpPr/>
          <p:nvPr/>
        </p:nvSpPr>
        <p:spPr>
          <a:xfrm>
            <a:off x="3246120" y="3035808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  It's going to be cold tonight.</a:t>
            </a:r>
            <a:endParaRPr lang="en-US" sz="1200" dirty="0"/>
          </a:p>
        </p:txBody>
      </p:sp>
      <p:sp>
        <p:nvSpPr>
          <p:cNvPr id="30" name="R4_tag488"/>
          <p:cNvSpPr/>
          <p:nvPr/>
        </p:nvSpPr>
        <p:spPr>
          <a:xfrm>
            <a:off x="7178040" y="3035808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prediction</a:t>
            </a:r>
            <a:endParaRPr lang="en-US" sz="1150" dirty="0"/>
          </a:p>
        </p:txBody>
      </p:sp>
      <p:sp>
        <p:nvSpPr>
          <p:cNvPr id="31" name="sq_489"/>
          <p:cNvSpPr/>
          <p:nvPr/>
        </p:nvSpPr>
        <p:spPr>
          <a:xfrm>
            <a:off x="3246120" y="3575304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  You'll drive too fast.</a:t>
            </a:r>
            <a:endParaRPr lang="en-US" sz="1200" dirty="0"/>
          </a:p>
        </p:txBody>
      </p:sp>
      <p:sp>
        <p:nvSpPr>
          <p:cNvPr id="32" name="R5_tag490"/>
          <p:cNvSpPr/>
          <p:nvPr/>
        </p:nvSpPr>
        <p:spPr>
          <a:xfrm>
            <a:off x="7178040" y="3575304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prediction</a:t>
            </a:r>
            <a:endParaRPr lang="en-US" sz="1150" dirty="0"/>
          </a:p>
        </p:txBody>
      </p:sp>
      <p:sp>
        <p:nvSpPr>
          <p:cNvPr id="33" name="sq_491"/>
          <p:cNvSpPr/>
          <p:nvPr/>
        </p:nvSpPr>
        <p:spPr>
          <a:xfrm>
            <a:off x="3246120" y="4114800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  I'll be really careful.</a:t>
            </a:r>
            <a:endParaRPr lang="en-US" sz="1200" dirty="0"/>
          </a:p>
        </p:txBody>
      </p:sp>
      <p:sp>
        <p:nvSpPr>
          <p:cNvPr id="34" name="R6_tag492"/>
          <p:cNvSpPr/>
          <p:nvPr/>
        </p:nvSpPr>
        <p:spPr>
          <a:xfrm>
            <a:off x="7178040" y="4114800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C8E6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promise</a:t>
            </a:r>
            <a:endParaRPr lang="en-US" sz="11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9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16</a:t>
            </a:r>
            <a:endParaRPr lang="en-US" sz="2200" dirty="0"/>
          </a:p>
        </p:txBody>
      </p:sp>
      <p:pic>
        <p:nvPicPr>
          <p:cNvPr id="4" name="brY_49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506163" cy="621792"/>
          </a:xfrm>
          <a:prstGeom prst="rect">
            <a:avLst/>
          </a:prstGeom>
        </p:spPr>
      </p:pic>
      <p:sp>
        <p:nvSpPr>
          <p:cNvPr id="5" name="title_495"/>
          <p:cNvSpPr/>
          <p:nvPr/>
        </p:nvSpPr>
        <p:spPr>
          <a:xfrm>
            <a:off x="1261872" y="164592"/>
            <a:ext cx="42318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Talking about the future</a:t>
            </a:r>
            <a:endParaRPr lang="en-US" sz="2500" dirty="0"/>
          </a:p>
        </p:txBody>
      </p:sp>
      <p:pic>
        <p:nvPicPr>
          <p:cNvPr id="6" name="brP_49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598164" cy="402336"/>
          </a:xfrm>
          <a:prstGeom prst="rect">
            <a:avLst/>
          </a:prstGeom>
        </p:spPr>
      </p:pic>
      <p:sp>
        <p:nvSpPr>
          <p:cNvPr id="7" name="ins_497"/>
          <p:cNvSpPr/>
          <p:nvPr/>
        </p:nvSpPr>
        <p:spPr>
          <a:xfrm>
            <a:off x="1353312" y="731520"/>
            <a:ext cx="33421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Look at the examples. Which form?</a:t>
            </a:r>
            <a:endParaRPr lang="en-US" sz="1250" dirty="0"/>
          </a:p>
        </p:txBody>
      </p:sp>
      <p:sp>
        <p:nvSpPr>
          <p:cNvPr id="8" name="insIT_498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Guarda gli esempi. Quale forma?</a:t>
            </a:r>
            <a:endParaRPr lang="en-US" sz="950" dirty="0"/>
          </a:p>
        </p:txBody>
      </p:sp>
      <p:sp>
        <p:nvSpPr>
          <p:cNvPr id="9" name="cmd_499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LOOK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GUARDA</a:t>
            </a:r>
            <a:endParaRPr lang="en-US" sz="1100" dirty="0"/>
          </a:p>
        </p:txBody>
      </p:sp>
      <p:sp>
        <p:nvSpPr>
          <p:cNvPr id="10" name="meta_500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🙋 whole class</a:t>
            </a:r>
            <a:endParaRPr lang="en-US" sz="950" dirty="0"/>
          </a:p>
        </p:txBody>
      </p:sp>
      <p:sp>
        <p:nvSpPr>
          <p:cNvPr id="11" name="tag_501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Grammar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Guided discovery</a:t>
            </a:r>
            <a:endParaRPr lang="en-US" sz="850" dirty="0"/>
          </a:p>
        </p:txBody>
      </p:sp>
      <p:pic>
        <p:nvPicPr>
          <p:cNvPr id="12" name="logo_50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50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1B-1 · Grammar · the rule   ·   📖 Grammar Bank 1B p.133 · audio 1.16</a:t>
            </a:r>
            <a:endParaRPr lang="en-US" sz="800" dirty="0"/>
          </a:p>
        </p:txBody>
      </p:sp>
      <p:sp>
        <p:nvSpPr>
          <p:cNvPr id="14" name="ap_504"/>
          <p:cNvSpPr/>
          <p:nvPr/>
        </p:nvSpPr>
        <p:spPr>
          <a:xfrm>
            <a:off x="6583680" y="914400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1.16</a:t>
            </a:r>
            <a:endParaRPr lang="en-US" sz="1100" dirty="0"/>
          </a:p>
        </p:txBody>
      </p:sp>
      <p:sp>
        <p:nvSpPr>
          <p:cNvPr id="15" name="ah_505"/>
          <p:cNvSpPr/>
          <p:nvPr/>
        </p:nvSpPr>
        <p:spPr>
          <a:xfrm>
            <a:off x="5925312" y="45720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 · 🐢 slower</a:t>
            </a:r>
            <a:endParaRPr lang="en-US" sz="950" dirty="0"/>
          </a:p>
        </p:txBody>
      </p:sp>
      <p:pic>
        <p:nvPicPr>
          <p:cNvPr id="16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7525512" y="4553712"/>
            <a:ext cx="411480" cy="411480"/>
          </a:xfrm>
          <a:prstGeom prst="rect">
            <a:avLst/>
          </a:prstGeom>
        </p:spPr>
      </p:pic>
      <p:pic>
        <p:nvPicPr>
          <p:cNvPr id="17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001000" y="4553712"/>
            <a:ext cx="411480" cy="411480"/>
          </a:xfrm>
          <a:prstGeom prst="rect">
            <a:avLst/>
          </a:prstGeom>
        </p:spPr>
      </p:pic>
      <p:sp>
        <p:nvSpPr>
          <p:cNvPr id="18" name="cd_506"/>
          <p:cNvSpPr/>
          <p:nvPr/>
        </p:nvSpPr>
        <p:spPr>
          <a:xfrm>
            <a:off x="3200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540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9" name="rh_507"/>
          <p:cNvSpPr/>
          <p:nvPr/>
        </p:nvSpPr>
        <p:spPr>
          <a:xfrm>
            <a:off x="4297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be going to</a:t>
            </a:r>
            <a:endParaRPr lang="en-US" sz="1250" dirty="0"/>
          </a:p>
        </p:txBody>
      </p:sp>
      <p:sp>
        <p:nvSpPr>
          <p:cNvPr id="20" name="pf_508"/>
          <p:cNvSpPr/>
          <p:nvPr/>
        </p:nvSpPr>
        <p:spPr>
          <a:xfrm>
            <a:off x="429768" y="1938528"/>
            <a:ext cx="18150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1" name="ph_509" descr="/home/claude/lls-course/v2/cache/1b1_clouds_jpg_415x209_31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75488" y="1984248"/>
            <a:ext cx="1723644" cy="868680"/>
          </a:xfrm>
          <a:prstGeom prst="rect">
            <a:avLst/>
          </a:prstGeom>
        </p:spPr>
      </p:pic>
      <p:sp>
        <p:nvSpPr>
          <p:cNvPr id="22" name="ru_510"/>
          <p:cNvSpPr/>
          <p:nvPr/>
        </p:nvSpPr>
        <p:spPr>
          <a:xfrm>
            <a:off x="4114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plans · predictions you can SEE</a:t>
            </a:r>
            <a:endParaRPr lang="en-US" sz="1050" dirty="0"/>
          </a:p>
        </p:txBody>
      </p:sp>
      <p:sp>
        <p:nvSpPr>
          <p:cNvPr id="23" name="R1_rx511"/>
          <p:cNvSpPr/>
          <p:nvPr/>
        </p:nvSpPr>
        <p:spPr>
          <a:xfrm>
            <a:off x="4114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I'm going to look for a job.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Look at the clouds! It's going to rain.</a:t>
            </a:r>
            <a:endParaRPr lang="en-US" sz="1050" dirty="0"/>
          </a:p>
        </p:txBody>
      </p:sp>
      <p:sp>
        <p:nvSpPr>
          <p:cNvPr id="24" name="R1_ri512"/>
          <p:cNvSpPr/>
          <p:nvPr/>
        </p:nvSpPr>
        <p:spPr>
          <a:xfrm>
            <a:off x="4114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intenzione · sta per…</a:t>
            </a:r>
            <a:endParaRPr lang="en-US" sz="900" dirty="0"/>
          </a:p>
        </p:txBody>
      </p:sp>
      <p:sp>
        <p:nvSpPr>
          <p:cNvPr id="25" name="cd_513"/>
          <p:cNvSpPr/>
          <p:nvPr/>
        </p:nvSpPr>
        <p:spPr>
          <a:xfrm>
            <a:off x="24917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540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6" name="rh_514"/>
          <p:cNvSpPr/>
          <p:nvPr/>
        </p:nvSpPr>
        <p:spPr>
          <a:xfrm>
            <a:off x="26014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present continuous</a:t>
            </a:r>
            <a:endParaRPr lang="en-US" sz="1250" dirty="0"/>
          </a:p>
        </p:txBody>
      </p:sp>
      <p:sp>
        <p:nvSpPr>
          <p:cNvPr id="27" name="pf_515"/>
          <p:cNvSpPr/>
          <p:nvPr/>
        </p:nvSpPr>
        <p:spPr>
          <a:xfrm>
            <a:off x="2601468" y="1938528"/>
            <a:ext cx="18150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8" name="ph_516" descr="/home/claude/lls-course/v2/cache/1b1_diary_jpg_415x209_31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647188" y="1984248"/>
            <a:ext cx="1723644" cy="868680"/>
          </a:xfrm>
          <a:prstGeom prst="rect">
            <a:avLst/>
          </a:prstGeom>
        </p:spPr>
      </p:pic>
      <p:sp>
        <p:nvSpPr>
          <p:cNvPr id="29" name="ru_517"/>
          <p:cNvSpPr/>
          <p:nvPr/>
        </p:nvSpPr>
        <p:spPr>
          <a:xfrm>
            <a:off x="25831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arrangements (day, time, place fixed)</a:t>
            </a:r>
            <a:endParaRPr lang="en-US" sz="1050" dirty="0"/>
          </a:p>
        </p:txBody>
      </p:sp>
      <p:sp>
        <p:nvSpPr>
          <p:cNvPr id="30" name="R2_rx518"/>
          <p:cNvSpPr/>
          <p:nvPr/>
        </p:nvSpPr>
        <p:spPr>
          <a:xfrm>
            <a:off x="25831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I'm staying at Katie's tonight.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We're going to a wedding on Saturday.</a:t>
            </a:r>
            <a:endParaRPr lang="en-US" sz="1050" dirty="0"/>
          </a:p>
        </p:txBody>
      </p:sp>
      <p:sp>
        <p:nvSpPr>
          <p:cNvPr id="31" name="R2_ri519"/>
          <p:cNvSpPr/>
          <p:nvPr/>
        </p:nvSpPr>
        <p:spPr>
          <a:xfrm>
            <a:off x="25831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già organizzato</a:t>
            </a:r>
            <a:endParaRPr lang="en-US" sz="900" dirty="0"/>
          </a:p>
        </p:txBody>
      </p:sp>
      <p:sp>
        <p:nvSpPr>
          <p:cNvPr id="32" name="cd_520"/>
          <p:cNvSpPr/>
          <p:nvPr/>
        </p:nvSpPr>
        <p:spPr>
          <a:xfrm>
            <a:off x="46634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540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3" name="rh_521"/>
          <p:cNvSpPr/>
          <p:nvPr/>
        </p:nvSpPr>
        <p:spPr>
          <a:xfrm>
            <a:off x="47731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2EB872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will / won't</a:t>
            </a:r>
            <a:endParaRPr lang="en-US" sz="1250" dirty="0"/>
          </a:p>
        </p:txBody>
      </p:sp>
      <p:sp>
        <p:nvSpPr>
          <p:cNvPr id="34" name="pf_522"/>
          <p:cNvSpPr/>
          <p:nvPr/>
        </p:nvSpPr>
        <p:spPr>
          <a:xfrm>
            <a:off x="4773168" y="1938528"/>
            <a:ext cx="18150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5" name="ph_523" descr="/home/claude/lls-course/v2/cache/1b1_bags_jpg_415x209_31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818888" y="1984248"/>
            <a:ext cx="1723644" cy="868680"/>
          </a:xfrm>
          <a:prstGeom prst="rect">
            <a:avLst/>
          </a:prstGeom>
        </p:spPr>
      </p:pic>
      <p:sp>
        <p:nvSpPr>
          <p:cNvPr id="36" name="ru_524"/>
          <p:cNvSpPr/>
          <p:nvPr/>
        </p:nvSpPr>
        <p:spPr>
          <a:xfrm>
            <a:off x="47548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offers · promises · instant decisions · predictions</a:t>
            </a:r>
            <a:endParaRPr lang="en-US" sz="1050" dirty="0"/>
          </a:p>
        </p:txBody>
      </p:sp>
      <p:sp>
        <p:nvSpPr>
          <p:cNvPr id="37" name="R3_rx525"/>
          <p:cNvSpPr/>
          <p:nvPr/>
        </p:nvSpPr>
        <p:spPr>
          <a:xfrm>
            <a:off x="47548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I'll carry that for you!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won't tell anybody.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think you'll pass.</a:t>
            </a:r>
            <a:endParaRPr lang="en-US" sz="1050" dirty="0"/>
          </a:p>
        </p:txBody>
      </p:sp>
      <p:sp>
        <p:nvSpPr>
          <p:cNvPr id="38" name="R3_ri526"/>
          <p:cNvSpPr/>
          <p:nvPr/>
        </p:nvSpPr>
        <p:spPr>
          <a:xfrm>
            <a:off x="47548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decisione sul momento, promessa</a:t>
            </a:r>
            <a:endParaRPr lang="en-US" sz="850" dirty="0"/>
          </a:p>
        </p:txBody>
      </p:sp>
      <p:sp>
        <p:nvSpPr>
          <p:cNvPr id="39" name="cd_527"/>
          <p:cNvSpPr/>
          <p:nvPr/>
        </p:nvSpPr>
        <p:spPr>
          <a:xfrm>
            <a:off x="68351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540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0" name="rh_528"/>
          <p:cNvSpPr/>
          <p:nvPr/>
        </p:nvSpPr>
        <p:spPr>
          <a:xfrm>
            <a:off x="69448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Shall I / we…?</a:t>
            </a:r>
            <a:endParaRPr lang="en-US" sz="1250" dirty="0"/>
          </a:p>
        </p:txBody>
      </p:sp>
      <p:sp>
        <p:nvSpPr>
          <p:cNvPr id="41" name="pf_529"/>
          <p:cNvSpPr/>
          <p:nvPr/>
        </p:nvSpPr>
        <p:spPr>
          <a:xfrm>
            <a:off x="6944868" y="1938528"/>
            <a:ext cx="18150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42" name="ph_530" descr="/home/claude/lls-course/v2/cache/1b1_conv_c_jpg_415x209_31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990588" y="1984248"/>
            <a:ext cx="1723644" cy="868680"/>
          </a:xfrm>
          <a:prstGeom prst="rect">
            <a:avLst/>
          </a:prstGeom>
        </p:spPr>
      </p:pic>
      <p:sp>
        <p:nvSpPr>
          <p:cNvPr id="43" name="ru_531"/>
          <p:cNvSpPr/>
          <p:nvPr/>
        </p:nvSpPr>
        <p:spPr>
          <a:xfrm>
            <a:off x="69265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offers &amp; suggestions (questions)</a:t>
            </a:r>
            <a:endParaRPr lang="en-US" sz="1050" dirty="0"/>
          </a:p>
        </p:txBody>
      </p:sp>
      <p:sp>
        <p:nvSpPr>
          <p:cNvPr id="44" name="R4_rx532"/>
          <p:cNvSpPr/>
          <p:nvPr/>
        </p:nvSpPr>
        <p:spPr>
          <a:xfrm>
            <a:off x="69265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Shall I make you a cup of tea?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Shall we eat out tonight?</a:t>
            </a:r>
            <a:endParaRPr lang="en-US" sz="1050" dirty="0"/>
          </a:p>
        </p:txBody>
      </p:sp>
      <p:sp>
        <p:nvSpPr>
          <p:cNvPr id="45" name="R4_ri533"/>
          <p:cNvSpPr/>
          <p:nvPr/>
        </p:nvSpPr>
        <p:spPr>
          <a:xfrm>
            <a:off x="69265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Vuoi che…? · Che ne dici se…?</a:t>
            </a:r>
            <a:endParaRPr lang="en-US" sz="900" dirty="0"/>
          </a:p>
        </p:txBody>
      </p:sp>
      <p:sp>
        <p:nvSpPr>
          <p:cNvPr id="46" name="R5_wc534"/>
          <p:cNvSpPr/>
          <p:nvPr/>
        </p:nvSpPr>
        <p:spPr>
          <a:xfrm>
            <a:off x="320040" y="4544568"/>
            <a:ext cx="8549640" cy="329184"/>
          </a:xfrm>
          <a:prstGeom prst="roundRect">
            <a:avLst>
              <a:gd name="adj" fmla="val 38889"/>
            </a:avLst>
          </a:prstGeom>
          <a:solidFill>
            <a:srgbClr val="FFE3EE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7" name="R5_w535"/>
          <p:cNvSpPr/>
          <p:nvPr/>
        </p:nvSpPr>
        <p:spPr>
          <a:xfrm>
            <a:off x="457200" y="4544568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Italian present ≠ English future:  ✗ Tomorrow I go to Palermo → ✓ I'm going to Palermo tomorrow.   ✗ I carry your bag → ✓ I'll carry it.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43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7" dur="1" fill="hold"/>
                                        <p:tgtEl>
                                          <p:spTgt spid="1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  <p:seq concurrent="1" nextAc="seek">
              <p:cTn id="48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9" fill="hold">
                      <p:stCondLst>
                        <p:cond delay="0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52" dur="1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"/>
                  </p:tgtEl>
                </p:cond>
              </p:nextCondLst>
            </p:seq>
            <p:audio>
              <p:cMediaNode vol="80000">
                <p:cTn id="5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6"/>
                </p:tgtEl>
              </p:cMediaNode>
            </p:audio>
            <p:audio>
              <p:cMediaNode vol="80000">
                <p:cTn id="5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7"/>
                </p:tgtEl>
              </p:cMediaNode>
            </p:audio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3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17</a:t>
            </a:r>
            <a:endParaRPr lang="en-US" sz="2200" dirty="0"/>
          </a:p>
        </p:txBody>
      </p:sp>
      <p:pic>
        <p:nvPicPr>
          <p:cNvPr id="4" name="brY_53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538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Quick! Say it!</a:t>
            </a:r>
            <a:endParaRPr lang="en-US" sz="2500" dirty="0"/>
          </a:p>
        </p:txBody>
      </p:sp>
      <p:pic>
        <p:nvPicPr>
          <p:cNvPr id="6" name="brP_53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685032" cy="402336"/>
          </a:xfrm>
          <a:prstGeom prst="rect">
            <a:avLst/>
          </a:prstGeom>
        </p:spPr>
      </p:pic>
      <p:sp>
        <p:nvSpPr>
          <p:cNvPr id="7" name="ins_540"/>
          <p:cNvSpPr/>
          <p:nvPr/>
        </p:nvSpPr>
        <p:spPr>
          <a:xfrm>
            <a:off x="1353312" y="731520"/>
            <a:ext cx="3429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situation. Say the reply!</a:t>
            </a:r>
            <a:endParaRPr lang="en-US" sz="1250" dirty="0"/>
          </a:p>
        </p:txBody>
      </p:sp>
      <p:sp>
        <p:nvSpPr>
          <p:cNvPr id="8" name="insIT_541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Leggi la situazione. Di' la risposta!</a:t>
            </a:r>
            <a:endParaRPr lang="en-US" sz="950" dirty="0"/>
          </a:p>
        </p:txBody>
      </p:sp>
      <p:sp>
        <p:nvSpPr>
          <p:cNvPr id="9" name="cmd_542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meta_543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🏆 teams</a:t>
            </a:r>
            <a:endParaRPr lang="en-US" sz="950" dirty="0"/>
          </a:p>
        </p:txBody>
      </p:sp>
      <p:sp>
        <p:nvSpPr>
          <p:cNvPr id="11" name="tag_544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Grammar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Communicative game</a:t>
            </a:r>
            <a:endParaRPr lang="en-US" sz="850" dirty="0"/>
          </a:p>
        </p:txBody>
      </p:sp>
      <p:pic>
        <p:nvPicPr>
          <p:cNvPr id="12" name="logo_54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54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1B-1 · Grammar game</a:t>
            </a:r>
            <a:endParaRPr lang="en-US" sz="800" dirty="0"/>
          </a:p>
        </p:txBody>
      </p:sp>
      <p:sp>
        <p:nvSpPr>
          <p:cNvPr id="14" name="cd_547"/>
          <p:cNvSpPr/>
          <p:nvPr/>
        </p:nvSpPr>
        <p:spPr>
          <a:xfrm>
            <a:off x="320040" y="1417320"/>
            <a:ext cx="2697480" cy="2057400"/>
          </a:xfrm>
          <a:prstGeom prst="roundRect">
            <a:avLst>
              <a:gd name="adj" fmla="val 6222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548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6" name="ih_549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500" dirty="0"/>
          </a:p>
        </p:txBody>
      </p:sp>
      <p:sp>
        <p:nvSpPr>
          <p:cNvPr id="17" name="il_550"/>
          <p:cNvSpPr/>
          <p:nvPr/>
        </p:nvSpPr>
        <p:spPr>
          <a:xfrm>
            <a:off x="886968" y="1892808"/>
            <a:ext cx="203911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 the situation.</a:t>
            </a:r>
            <a:endParaRPr lang="en-US" sz="1150" dirty="0"/>
          </a:p>
          <a:p>
            <a:pPr marL="177800" indent="-1778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Teams: say the reply in 10 seconds.</a:t>
            </a:r>
            <a:endParaRPr lang="en-US" sz="1150" dirty="0"/>
          </a:p>
          <a:p>
            <a:pPr marL="177800" indent="-1778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Right future form = 1 point.</a:t>
            </a:r>
            <a:endParaRPr lang="en-US" sz="1150" dirty="0"/>
          </a:p>
        </p:txBody>
      </p:sp>
      <p:sp>
        <p:nvSpPr>
          <p:cNvPr id="18" name="st_551"/>
          <p:cNvSpPr/>
          <p:nvPr/>
        </p:nvSpPr>
        <p:spPr>
          <a:xfrm rot="-180000">
            <a:off x="502920" y="3703320"/>
            <a:ext cx="2286000" cy="77724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250" dirty="0"/>
          </a:p>
        </p:txBody>
      </p:sp>
      <p:sp>
        <p:nvSpPr>
          <p:cNvPr id="19" name="bd_552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gq_553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"It's really hot in here."</a:t>
            </a:r>
            <a:endParaRPr lang="en-US" sz="1100" dirty="0"/>
          </a:p>
        </p:txBody>
      </p:sp>
      <p:sp>
        <p:nvSpPr>
          <p:cNvPr id="21" name="R1_chip554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Shall I open the window? (offer)</a:t>
            </a:r>
            <a:endParaRPr lang="en-US" sz="1100" dirty="0"/>
          </a:p>
        </p:txBody>
      </p:sp>
      <p:sp>
        <p:nvSpPr>
          <p:cNvPr id="22" name="bd_555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gq_556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"Look at those black clouds!"</a:t>
            </a:r>
            <a:endParaRPr lang="en-US" sz="1100" dirty="0"/>
          </a:p>
        </p:txBody>
      </p:sp>
      <p:sp>
        <p:nvSpPr>
          <p:cNvPr id="24" name="R2_chip557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It's going to rain. (prediction)</a:t>
            </a:r>
            <a:endParaRPr lang="en-US" sz="1100" dirty="0"/>
          </a:p>
        </p:txBody>
      </p:sp>
      <p:sp>
        <p:nvSpPr>
          <p:cNvPr id="25" name="bd_558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gq_559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"Don't tell anyone my secret!"</a:t>
            </a:r>
            <a:endParaRPr lang="en-US" sz="1100" dirty="0"/>
          </a:p>
        </p:txBody>
      </p:sp>
      <p:sp>
        <p:nvSpPr>
          <p:cNvPr id="27" name="R3_chip560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 won't tell anybody, I promise.</a:t>
            </a:r>
            <a:endParaRPr lang="en-US" sz="1100" dirty="0"/>
          </a:p>
        </p:txBody>
      </p:sp>
      <p:sp>
        <p:nvSpPr>
          <p:cNvPr id="28" name="bd_561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9" name="gq_562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Waiter: "Pizza or pasta?"</a:t>
            </a:r>
            <a:endParaRPr lang="en-US" sz="1100" dirty="0"/>
          </a:p>
        </p:txBody>
      </p:sp>
      <p:sp>
        <p:nvSpPr>
          <p:cNvPr id="30" name="R4_chip563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I'll have the pizza, please.</a:t>
            </a:r>
            <a:endParaRPr lang="en-US" sz="1100" dirty="0"/>
          </a:p>
        </p:txBody>
      </p:sp>
      <p:sp>
        <p:nvSpPr>
          <p:cNvPr id="31" name="bd_564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2" name="gq_565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"Free on Saturday?" (dinner with cousins – booked)</a:t>
            </a:r>
            <a:endParaRPr lang="en-US" sz="1100" dirty="0"/>
          </a:p>
        </p:txBody>
      </p:sp>
      <p:sp>
        <p:nvSpPr>
          <p:cNvPr id="33" name="R5_chip566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No, I'm having dinner with my cousins.</a:t>
            </a:r>
            <a:endParaRPr lang="en-US" sz="1100" dirty="0"/>
          </a:p>
        </p:txBody>
      </p:sp>
      <p:sp>
        <p:nvSpPr>
          <p:cNvPr id="34" name="bd_567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5" name="gq_568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mum's bags are really heavy.</a:t>
            </a:r>
            <a:endParaRPr lang="en-US" sz="1100" dirty="0"/>
          </a:p>
        </p:txBody>
      </p:sp>
      <p:sp>
        <p:nvSpPr>
          <p:cNvPr id="36" name="R6_chip569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I'll carry them for you!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7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7B5CD6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18</a:t>
            </a:r>
            <a:endParaRPr lang="en-US" sz="2200" dirty="0"/>
          </a:p>
        </p:txBody>
      </p:sp>
      <p:pic>
        <p:nvPicPr>
          <p:cNvPr id="4" name="brY_57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562502" cy="621792"/>
          </a:xfrm>
          <a:prstGeom prst="rect">
            <a:avLst/>
          </a:prstGeom>
        </p:spPr>
      </p:pic>
      <p:sp>
        <p:nvSpPr>
          <p:cNvPr id="5" name="title_572"/>
          <p:cNvSpPr/>
          <p:nvPr/>
        </p:nvSpPr>
        <p:spPr>
          <a:xfrm>
            <a:off x="1261872" y="164592"/>
            <a:ext cx="32881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Hear the BIG words</a:t>
            </a:r>
            <a:endParaRPr lang="en-US" sz="2500" dirty="0"/>
          </a:p>
        </p:txBody>
      </p:sp>
      <p:pic>
        <p:nvPicPr>
          <p:cNvPr id="6" name="brP_57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598164" cy="402336"/>
          </a:xfrm>
          <a:prstGeom prst="rect">
            <a:avLst/>
          </a:prstGeom>
        </p:spPr>
      </p:pic>
      <p:sp>
        <p:nvSpPr>
          <p:cNvPr id="7" name="ins_574"/>
          <p:cNvSpPr/>
          <p:nvPr/>
        </p:nvSpPr>
        <p:spPr>
          <a:xfrm>
            <a:off x="1353312" y="731520"/>
            <a:ext cx="33421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Listen. Write only the BIG words.</a:t>
            </a:r>
            <a:endParaRPr lang="en-US" sz="1250" dirty="0"/>
          </a:p>
        </p:txBody>
      </p:sp>
      <p:sp>
        <p:nvSpPr>
          <p:cNvPr id="8" name="insIT_575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Ascolta. Scrivi solo le parole forti.</a:t>
            </a:r>
            <a:endParaRPr lang="en-US" sz="950" dirty="0"/>
          </a:p>
        </p:txBody>
      </p:sp>
      <p:sp>
        <p:nvSpPr>
          <p:cNvPr id="9" name="cmd_576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0" name="cmd_577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🔊 </a:t>
            </a:r>
            <a:pPr indent="0" marL="0">
              <a:buNone/>
            </a:pPr>
            <a:r>
              <a:rPr lang="en-US" sz="12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SAY IT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PRONUNCIA</a:t>
            </a:r>
            <a:endParaRPr lang="en-US" sz="1100" dirty="0"/>
          </a:p>
        </p:txBody>
      </p:sp>
      <p:sp>
        <p:nvSpPr>
          <p:cNvPr id="11" name="meta_578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2" name="tag_579"/>
          <p:cNvSpPr/>
          <p:nvPr/>
        </p:nvSpPr>
        <p:spPr>
          <a:xfrm>
            <a:off x="6510528" y="1188720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Pronunciation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Drilling</a:t>
            </a:r>
            <a:endParaRPr lang="en-US" sz="850" dirty="0"/>
          </a:p>
        </p:txBody>
      </p:sp>
      <p:pic>
        <p:nvPicPr>
          <p:cNvPr id="13" name="logo_58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58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1B-1 · Pronunciation · sentence stress   ·   📖 SB p.11 · 3b, 3c, 3d · audio 1.21</a:t>
            </a:r>
            <a:endParaRPr lang="en-US" sz="800" dirty="0"/>
          </a:p>
        </p:txBody>
      </p:sp>
      <p:sp>
        <p:nvSpPr>
          <p:cNvPr id="15" name="ap_582"/>
          <p:cNvSpPr/>
          <p:nvPr/>
        </p:nvSpPr>
        <p:spPr>
          <a:xfrm>
            <a:off x="365760" y="1417320"/>
            <a:ext cx="233172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1.21  ·  pause after each sentence</a:t>
            </a:r>
            <a:endParaRPr lang="en-US" sz="1100" dirty="0"/>
          </a:p>
        </p:txBody>
      </p:sp>
      <p:sp>
        <p:nvSpPr>
          <p:cNvPr id="16" name="ah_583"/>
          <p:cNvSpPr/>
          <p:nvPr/>
        </p:nvSpPr>
        <p:spPr>
          <a:xfrm>
            <a:off x="5925312" y="45720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 · 🐢 slower</a:t>
            </a:r>
            <a:endParaRPr lang="en-US" sz="950" dirty="0"/>
          </a:p>
        </p:txBody>
      </p:sp>
      <p:pic>
        <p:nvPicPr>
          <p:cNvPr id="17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7525512" y="4553712"/>
            <a:ext cx="411480" cy="411480"/>
          </a:xfrm>
          <a:prstGeom prst="rect">
            <a:avLst/>
          </a:prstGeom>
        </p:spPr>
      </p:pic>
      <p:pic>
        <p:nvPicPr>
          <p:cNvPr id="18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001000" y="4553712"/>
            <a:ext cx="411480" cy="411480"/>
          </a:xfrm>
          <a:prstGeom prst="rect">
            <a:avLst/>
          </a:prstGeom>
        </p:spPr>
      </p:pic>
      <p:sp>
        <p:nvSpPr>
          <p:cNvPr id="19" name="cd_584"/>
          <p:cNvSpPr/>
          <p:nvPr/>
        </p:nvSpPr>
        <p:spPr>
          <a:xfrm>
            <a:off x="320040" y="2011680"/>
            <a:ext cx="2743200" cy="1463040"/>
          </a:xfrm>
          <a:prstGeom prst="roundRect">
            <a:avLst>
              <a:gd name="adj" fmla="val 8750"/>
            </a:avLst>
          </a:prstGeom>
          <a:solidFill>
            <a:srgbClr val="EEE8FB"/>
          </a:solidFill>
          <a:ln w="19050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ii_585"/>
          <p:cNvSpPr/>
          <p:nvPr/>
        </p:nvSpPr>
        <p:spPr>
          <a:xfrm>
            <a:off x="411480" y="2084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🔊</a:t>
            </a:r>
            <a:endParaRPr lang="en-US" sz="2200" dirty="0"/>
          </a:p>
        </p:txBody>
      </p:sp>
      <p:sp>
        <p:nvSpPr>
          <p:cNvPr id="21" name="ih_586"/>
          <p:cNvSpPr/>
          <p:nvPr/>
        </p:nvSpPr>
        <p:spPr>
          <a:xfrm>
            <a:off x="886968" y="21031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Big words = STRESSED</a:t>
            </a:r>
            <a:endParaRPr lang="en-US" sz="1250" dirty="0"/>
          </a:p>
        </p:txBody>
      </p:sp>
      <p:sp>
        <p:nvSpPr>
          <p:cNvPr id="22" name="il_587"/>
          <p:cNvSpPr/>
          <p:nvPr/>
        </p:nvSpPr>
        <p:spPr>
          <a:xfrm>
            <a:off x="886968" y="2487168"/>
            <a:ext cx="20848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nouns, verbs, adjectives are strong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to, a, the, of are weak and fast</a:t>
            </a:r>
            <a:endParaRPr lang="en-US" sz="1050" dirty="0"/>
          </a:p>
        </p:txBody>
      </p:sp>
      <p:sp>
        <p:nvSpPr>
          <p:cNvPr id="23" name="pf_588"/>
          <p:cNvSpPr/>
          <p:nvPr/>
        </p:nvSpPr>
        <p:spPr>
          <a:xfrm rot="-120000">
            <a:off x="777240" y="3611880"/>
            <a:ext cx="1828800" cy="1143000"/>
          </a:xfrm>
          <a:prstGeom prst="roundRect">
            <a:avLst>
              <a:gd name="adj" fmla="val 136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4" name="ph_589" descr="/home/claude/lls-course/v2/cache/sb_pregnant_jpg_418x253_31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-120000">
            <a:off x="822960" y="3657600"/>
            <a:ext cx="1737360" cy="1051560"/>
          </a:xfrm>
          <a:prstGeom prst="rect">
            <a:avLst/>
          </a:prstGeom>
        </p:spPr>
      </p:pic>
      <p:sp>
        <p:nvSpPr>
          <p:cNvPr id="25" name="bd_590"/>
          <p:cNvSpPr/>
          <p:nvPr/>
        </p:nvSpPr>
        <p:spPr>
          <a:xfrm>
            <a:off x="3291840" y="1444752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R1_sw591"/>
          <p:cNvSpPr/>
          <p:nvPr/>
        </p:nvSpPr>
        <p:spPr>
          <a:xfrm>
            <a:off x="3749040" y="1417320"/>
            <a:ext cx="960120" cy="365760"/>
          </a:xfrm>
          <a:prstGeom prst="roundRect">
            <a:avLst>
              <a:gd name="adj" fmla="val 25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sister's</a:t>
            </a:r>
            <a:endParaRPr lang="en-US" sz="1150" dirty="0"/>
          </a:p>
        </p:txBody>
      </p:sp>
      <p:sp>
        <p:nvSpPr>
          <p:cNvPr id="27" name="R1_sw592"/>
          <p:cNvSpPr/>
          <p:nvPr/>
        </p:nvSpPr>
        <p:spPr>
          <a:xfrm>
            <a:off x="4773168" y="1417320"/>
            <a:ext cx="960120" cy="365760"/>
          </a:xfrm>
          <a:prstGeom prst="roundRect">
            <a:avLst>
              <a:gd name="adj" fmla="val 25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having</a:t>
            </a:r>
            <a:endParaRPr lang="en-US" sz="1150" dirty="0"/>
          </a:p>
        </p:txBody>
      </p:sp>
      <p:sp>
        <p:nvSpPr>
          <p:cNvPr id="28" name="R1_sw593"/>
          <p:cNvSpPr/>
          <p:nvPr/>
        </p:nvSpPr>
        <p:spPr>
          <a:xfrm>
            <a:off x="5797296" y="1417320"/>
            <a:ext cx="960120" cy="365760"/>
          </a:xfrm>
          <a:prstGeom prst="roundRect">
            <a:avLst>
              <a:gd name="adj" fmla="val 25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baby</a:t>
            </a:r>
            <a:endParaRPr lang="en-US" sz="1150" dirty="0"/>
          </a:p>
        </p:txBody>
      </p:sp>
      <p:sp>
        <p:nvSpPr>
          <p:cNvPr id="29" name="R1_sw594"/>
          <p:cNvSpPr/>
          <p:nvPr/>
        </p:nvSpPr>
        <p:spPr>
          <a:xfrm>
            <a:off x="6821424" y="1417320"/>
            <a:ext cx="960120" cy="365760"/>
          </a:xfrm>
          <a:prstGeom prst="roundRect">
            <a:avLst>
              <a:gd name="adj" fmla="val 25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April</a:t>
            </a:r>
            <a:endParaRPr lang="en-US" sz="1150" dirty="0"/>
          </a:p>
        </p:txBody>
      </p:sp>
      <p:sp>
        <p:nvSpPr>
          <p:cNvPr id="30" name="R2_sf595"/>
          <p:cNvSpPr/>
          <p:nvPr/>
        </p:nvSpPr>
        <p:spPr>
          <a:xfrm>
            <a:off x="3749040" y="181051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My sister's having a baby in April.</a:t>
            </a:r>
            <a:endParaRPr lang="en-US" sz="1100" dirty="0"/>
          </a:p>
        </p:txBody>
      </p:sp>
      <p:sp>
        <p:nvSpPr>
          <p:cNvPr id="31" name="bd_596"/>
          <p:cNvSpPr/>
          <p:nvPr/>
        </p:nvSpPr>
        <p:spPr>
          <a:xfrm>
            <a:off x="3291840" y="2221992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32" name="R3_sw597"/>
          <p:cNvSpPr/>
          <p:nvPr/>
        </p:nvSpPr>
        <p:spPr>
          <a:xfrm>
            <a:off x="3749040" y="2194560"/>
            <a:ext cx="960120" cy="365760"/>
          </a:xfrm>
          <a:prstGeom prst="roundRect">
            <a:avLst>
              <a:gd name="adj" fmla="val 25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anyone</a:t>
            </a:r>
            <a:endParaRPr lang="en-US" sz="1150" dirty="0"/>
          </a:p>
        </p:txBody>
      </p:sp>
      <p:sp>
        <p:nvSpPr>
          <p:cNvPr id="33" name="R3_sw598"/>
          <p:cNvSpPr/>
          <p:nvPr/>
        </p:nvSpPr>
        <p:spPr>
          <a:xfrm>
            <a:off x="4773168" y="2194560"/>
            <a:ext cx="960120" cy="365760"/>
          </a:xfrm>
          <a:prstGeom prst="roundRect">
            <a:avLst>
              <a:gd name="adj" fmla="val 25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family</a:t>
            </a:r>
            <a:endParaRPr lang="en-US" sz="1150" dirty="0"/>
          </a:p>
        </p:txBody>
      </p:sp>
      <p:sp>
        <p:nvSpPr>
          <p:cNvPr id="34" name="R3_sw599"/>
          <p:cNvSpPr/>
          <p:nvPr/>
        </p:nvSpPr>
        <p:spPr>
          <a:xfrm>
            <a:off x="5797296" y="2194560"/>
            <a:ext cx="960120" cy="365760"/>
          </a:xfrm>
          <a:prstGeom prst="roundRect">
            <a:avLst>
              <a:gd name="adj" fmla="val 25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moving</a:t>
            </a:r>
            <a:endParaRPr lang="en-US" sz="1150" dirty="0"/>
          </a:p>
        </p:txBody>
      </p:sp>
      <p:sp>
        <p:nvSpPr>
          <p:cNvPr id="35" name="R3_sw600"/>
          <p:cNvSpPr/>
          <p:nvPr/>
        </p:nvSpPr>
        <p:spPr>
          <a:xfrm>
            <a:off x="6821424" y="2194560"/>
            <a:ext cx="960120" cy="365760"/>
          </a:xfrm>
          <a:prstGeom prst="roundRect">
            <a:avLst>
              <a:gd name="adj" fmla="val 25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house</a:t>
            </a:r>
            <a:endParaRPr lang="en-US" sz="1150" dirty="0"/>
          </a:p>
        </p:txBody>
      </p:sp>
      <p:sp>
        <p:nvSpPr>
          <p:cNvPr id="36" name="R3_sw601"/>
          <p:cNvSpPr/>
          <p:nvPr/>
        </p:nvSpPr>
        <p:spPr>
          <a:xfrm>
            <a:off x="7845552" y="2194560"/>
            <a:ext cx="960120" cy="365760"/>
          </a:xfrm>
          <a:prstGeom prst="roundRect">
            <a:avLst>
              <a:gd name="adj" fmla="val 25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soon</a:t>
            </a:r>
            <a:endParaRPr lang="en-US" sz="1150" dirty="0"/>
          </a:p>
        </p:txBody>
      </p:sp>
      <p:sp>
        <p:nvSpPr>
          <p:cNvPr id="37" name="R4_sf602"/>
          <p:cNvSpPr/>
          <p:nvPr/>
        </p:nvSpPr>
        <p:spPr>
          <a:xfrm>
            <a:off x="3749040" y="258775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 anyone in your family moving house soon?</a:t>
            </a:r>
            <a:endParaRPr lang="en-US" sz="1100" dirty="0"/>
          </a:p>
        </p:txBody>
      </p:sp>
      <p:sp>
        <p:nvSpPr>
          <p:cNvPr id="38" name="bd_603"/>
          <p:cNvSpPr/>
          <p:nvPr/>
        </p:nvSpPr>
        <p:spPr>
          <a:xfrm>
            <a:off x="3291840" y="2999232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39" name="R5_sw604"/>
          <p:cNvSpPr/>
          <p:nvPr/>
        </p:nvSpPr>
        <p:spPr>
          <a:xfrm>
            <a:off x="3749040" y="2971800"/>
            <a:ext cx="960120" cy="365760"/>
          </a:xfrm>
          <a:prstGeom prst="roundRect">
            <a:avLst>
              <a:gd name="adj" fmla="val 25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see</a:t>
            </a:r>
            <a:endParaRPr lang="en-US" sz="1150" dirty="0"/>
          </a:p>
        </p:txBody>
      </p:sp>
      <p:sp>
        <p:nvSpPr>
          <p:cNvPr id="40" name="R5_sw605"/>
          <p:cNvSpPr/>
          <p:nvPr/>
        </p:nvSpPr>
        <p:spPr>
          <a:xfrm>
            <a:off x="4773168" y="2971800"/>
            <a:ext cx="960120" cy="365760"/>
          </a:xfrm>
          <a:prstGeom prst="roundRect">
            <a:avLst>
              <a:gd name="adj" fmla="val 25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parents</a:t>
            </a:r>
            <a:endParaRPr lang="en-US" sz="1150" dirty="0"/>
          </a:p>
        </p:txBody>
      </p:sp>
      <p:sp>
        <p:nvSpPr>
          <p:cNvPr id="41" name="R5_sw606"/>
          <p:cNvSpPr/>
          <p:nvPr/>
        </p:nvSpPr>
        <p:spPr>
          <a:xfrm>
            <a:off x="5797296" y="2971800"/>
            <a:ext cx="960120" cy="365760"/>
          </a:xfrm>
          <a:prstGeom prst="roundRect">
            <a:avLst>
              <a:gd name="adj" fmla="val 25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weekend</a:t>
            </a:r>
            <a:endParaRPr lang="en-US" sz="1150" dirty="0"/>
          </a:p>
        </p:txBody>
      </p:sp>
      <p:sp>
        <p:nvSpPr>
          <p:cNvPr id="42" name="R6_sf607"/>
          <p:cNvSpPr/>
          <p:nvPr/>
        </p:nvSpPr>
        <p:spPr>
          <a:xfrm>
            <a:off x="3749040" y="336499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Are you going to see your parents at the weekend?</a:t>
            </a:r>
            <a:endParaRPr lang="en-US" sz="1100" dirty="0"/>
          </a:p>
        </p:txBody>
      </p:sp>
      <p:sp>
        <p:nvSpPr>
          <p:cNvPr id="43" name="bd_608"/>
          <p:cNvSpPr/>
          <p:nvPr/>
        </p:nvSpPr>
        <p:spPr>
          <a:xfrm>
            <a:off x="3291840" y="3776472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44" name="R7_sw609"/>
          <p:cNvSpPr/>
          <p:nvPr/>
        </p:nvSpPr>
        <p:spPr>
          <a:xfrm>
            <a:off x="3749040" y="3749040"/>
            <a:ext cx="960120" cy="365760"/>
          </a:xfrm>
          <a:prstGeom prst="roundRect">
            <a:avLst>
              <a:gd name="adj" fmla="val 25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endParaRPr lang="en-US" sz="1150" dirty="0"/>
          </a:p>
        </p:txBody>
      </p:sp>
      <p:sp>
        <p:nvSpPr>
          <p:cNvPr id="45" name="R7_sw610"/>
          <p:cNvSpPr/>
          <p:nvPr/>
        </p:nvSpPr>
        <p:spPr>
          <a:xfrm>
            <a:off x="4773168" y="3749040"/>
            <a:ext cx="960120" cy="365760"/>
          </a:xfrm>
          <a:prstGeom prst="roundRect">
            <a:avLst>
              <a:gd name="adj" fmla="val 25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live</a:t>
            </a:r>
            <a:endParaRPr lang="en-US" sz="1150" dirty="0"/>
          </a:p>
        </p:txBody>
      </p:sp>
      <p:sp>
        <p:nvSpPr>
          <p:cNvPr id="46" name="R7_sw611"/>
          <p:cNvSpPr/>
          <p:nvPr/>
        </p:nvSpPr>
        <p:spPr>
          <a:xfrm>
            <a:off x="5797296" y="3749040"/>
            <a:ext cx="960120" cy="365760"/>
          </a:xfrm>
          <a:prstGeom prst="roundRect">
            <a:avLst>
              <a:gd name="adj" fmla="val 25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home</a:t>
            </a:r>
            <a:endParaRPr lang="en-US" sz="1150" dirty="0"/>
          </a:p>
        </p:txBody>
      </p:sp>
      <p:sp>
        <p:nvSpPr>
          <p:cNvPr id="47" name="R7_sw612"/>
          <p:cNvSpPr/>
          <p:nvPr/>
        </p:nvSpPr>
        <p:spPr>
          <a:xfrm>
            <a:off x="6821424" y="3749040"/>
            <a:ext cx="960120" cy="365760"/>
          </a:xfrm>
          <a:prstGeom prst="roundRect">
            <a:avLst>
              <a:gd name="adj" fmla="val 25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next</a:t>
            </a:r>
            <a:endParaRPr lang="en-US" sz="1150" dirty="0"/>
          </a:p>
        </p:txBody>
      </p:sp>
      <p:sp>
        <p:nvSpPr>
          <p:cNvPr id="48" name="R7_sw613"/>
          <p:cNvSpPr/>
          <p:nvPr/>
        </p:nvSpPr>
        <p:spPr>
          <a:xfrm>
            <a:off x="7845552" y="3749040"/>
            <a:ext cx="960120" cy="365760"/>
          </a:xfrm>
          <a:prstGeom prst="roundRect">
            <a:avLst>
              <a:gd name="adj" fmla="val 25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year</a:t>
            </a:r>
            <a:endParaRPr lang="en-US" sz="1150" dirty="0"/>
          </a:p>
        </p:txBody>
      </p:sp>
      <p:sp>
        <p:nvSpPr>
          <p:cNvPr id="49" name="R8_sf614"/>
          <p:cNvSpPr/>
          <p:nvPr/>
        </p:nvSpPr>
        <p:spPr>
          <a:xfrm>
            <a:off x="3749040" y="414223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think you'll live at home next year?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82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3" fill="hold">
                      <p:stCondLst>
                        <p:cond delay="0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86" dur="1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"/>
                  </p:tgtEl>
                </p:cond>
              </p:nextCondLst>
            </p:seq>
            <p:seq concurrent="1" nextAc="seek">
              <p:cTn id="87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8" fill="hold">
                      <p:stCondLst>
                        <p:cond delay="0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91" dur="1" fill="hold"/>
                                        <p:tgtEl>
                                          <p:spTgt spid="1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"/>
                  </p:tgtEl>
                </p:cond>
              </p:nextCondLst>
            </p:seq>
            <p:audio>
              <p:cMediaNode vol="80000">
                <p:cTn id="9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7"/>
                </p:tgtEl>
              </p:cMediaNode>
            </p:audio>
            <p:audio>
              <p:cMediaNode vol="80000">
                <p:cTn id="9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8"/>
                </p:tgtEl>
              </p:cMediaNode>
            </p:audio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61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19</a:t>
            </a:r>
            <a:endParaRPr lang="en-US" sz="2200" dirty="0"/>
          </a:p>
        </p:txBody>
      </p:sp>
      <p:pic>
        <p:nvPicPr>
          <p:cNvPr id="4" name="brY_61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820717" cy="621792"/>
          </a:xfrm>
          <a:prstGeom prst="rect">
            <a:avLst/>
          </a:prstGeom>
        </p:spPr>
      </p:pic>
      <p:sp>
        <p:nvSpPr>
          <p:cNvPr id="5" name="title_617"/>
          <p:cNvSpPr/>
          <p:nvPr/>
        </p:nvSpPr>
        <p:spPr>
          <a:xfrm>
            <a:off x="1261872" y="164592"/>
            <a:ext cx="454639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Is anyone in your family…?</a:t>
            </a:r>
            <a:endParaRPr lang="en-US" sz="2500" dirty="0"/>
          </a:p>
        </p:txBody>
      </p:sp>
      <p:pic>
        <p:nvPicPr>
          <p:cNvPr id="6" name="brP_61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076956" cy="402336"/>
          </a:xfrm>
          <a:prstGeom prst="rect">
            <a:avLst/>
          </a:prstGeom>
        </p:spPr>
      </p:pic>
      <p:sp>
        <p:nvSpPr>
          <p:cNvPr id="7" name="ins_619"/>
          <p:cNvSpPr/>
          <p:nvPr/>
        </p:nvSpPr>
        <p:spPr>
          <a:xfrm>
            <a:off x="1353312" y="731520"/>
            <a:ext cx="28209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Stand up! Ask 3 classmates.</a:t>
            </a:r>
            <a:endParaRPr lang="en-US" sz="1250" dirty="0"/>
          </a:p>
        </p:txBody>
      </p:sp>
      <p:sp>
        <p:nvSpPr>
          <p:cNvPr id="8" name="insIT_620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Alzati! Chiedi a 3 compagni.</a:t>
            </a:r>
            <a:endParaRPr lang="en-US" sz="950" dirty="0"/>
          </a:p>
        </p:txBody>
      </p:sp>
      <p:sp>
        <p:nvSpPr>
          <p:cNvPr id="9" name="cmd_621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0" name="meta_622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🚶 mingle</a:t>
            </a:r>
            <a:endParaRPr lang="en-US" sz="950" dirty="0"/>
          </a:p>
        </p:txBody>
      </p:sp>
      <p:sp>
        <p:nvSpPr>
          <p:cNvPr id="11" name="tag_623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Speaking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Communicative</a:t>
            </a:r>
            <a:endParaRPr lang="en-US" sz="850" dirty="0"/>
          </a:p>
        </p:txBody>
      </p:sp>
      <p:pic>
        <p:nvPicPr>
          <p:cNvPr id="12" name="logo_62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62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1B-1 · Speaking · future plans   ·   📖 SB p.11 · 3e</a:t>
            </a:r>
            <a:endParaRPr lang="en-US" sz="800" dirty="0"/>
          </a:p>
        </p:txBody>
      </p:sp>
      <p:sp>
        <p:nvSpPr>
          <p:cNvPr id="14" name="pf_626"/>
          <p:cNvSpPr/>
          <p:nvPr/>
        </p:nvSpPr>
        <p:spPr>
          <a:xfrm rot="-120000">
            <a:off x="320040" y="1371600"/>
            <a:ext cx="2788920" cy="1874520"/>
          </a:xfrm>
          <a:prstGeom prst="roundRect">
            <a:avLst>
              <a:gd name="adj" fmla="val 829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627" descr="/home/claude/lls-course/v2/cache/1b1_birthday_jpg_649x42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365760" y="1417320"/>
            <a:ext cx="2697480" cy="1783080"/>
          </a:xfrm>
          <a:prstGeom prst="rect">
            <a:avLst/>
          </a:prstGeom>
        </p:spPr>
      </p:pic>
      <p:sp>
        <p:nvSpPr>
          <p:cNvPr id="16" name="cd_628"/>
          <p:cNvSpPr/>
          <p:nvPr/>
        </p:nvSpPr>
        <p:spPr>
          <a:xfrm>
            <a:off x="320040" y="3429000"/>
            <a:ext cx="2788920" cy="1325880"/>
          </a:xfrm>
          <a:prstGeom prst="roundRect">
            <a:avLst>
              <a:gd name="adj" fmla="val 9655"/>
            </a:avLst>
          </a:prstGeom>
          <a:solidFill>
            <a:srgbClr val="EEE8FB"/>
          </a:solidFill>
          <a:ln w="19050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629"/>
          <p:cNvSpPr/>
          <p:nvPr/>
        </p:nvSpPr>
        <p:spPr>
          <a:xfrm>
            <a:off x="411480" y="3502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8" name="ih_630"/>
          <p:cNvSpPr/>
          <p:nvPr/>
        </p:nvSpPr>
        <p:spPr>
          <a:xfrm>
            <a:off x="886968" y="35204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9" name="il_631"/>
          <p:cNvSpPr/>
          <p:nvPr/>
        </p:nvSpPr>
        <p:spPr>
          <a:xfrm>
            <a:off x="886968" y="3904488"/>
            <a:ext cx="2130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Maybe · Probably · I don't think so · I have no idea… because…</a:t>
            </a:r>
            <a:endParaRPr lang="en-US" sz="1050" dirty="0"/>
          </a:p>
        </p:txBody>
      </p:sp>
      <p:sp>
        <p:nvSpPr>
          <p:cNvPr id="20" name="R1_qb632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R1_sq633"/>
          <p:cNvSpPr/>
          <p:nvPr/>
        </p:nvSpPr>
        <p:spPr>
          <a:xfrm>
            <a:off x="3675888" y="1417320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 anyone in your family getting married soon?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Yes! My cousin is getting married in June.</a:t>
            </a:r>
            <a:endParaRPr lang="en-US" sz="1250" dirty="0"/>
          </a:p>
        </p:txBody>
      </p:sp>
      <p:sp>
        <p:nvSpPr>
          <p:cNvPr id="22" name="R2_qb634"/>
          <p:cNvSpPr/>
          <p:nvPr/>
        </p:nvSpPr>
        <p:spPr>
          <a:xfrm>
            <a:off x="3273552" y="2057400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R2_sq635"/>
          <p:cNvSpPr/>
          <p:nvPr/>
        </p:nvSpPr>
        <p:spPr>
          <a:xfrm>
            <a:off x="3675888" y="2020824"/>
            <a:ext cx="45079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 anyone celebrating their birthday soon?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My dad is – he's going to be 50!</a:t>
            </a:r>
            <a:endParaRPr lang="en-US" sz="1250" dirty="0"/>
          </a:p>
        </p:txBody>
      </p:sp>
      <p:pic>
        <p:nvPicPr>
          <p:cNvPr id="24" name="R2_th636" descr="/home/claude/lls-course/v2/cache/1b1_birthday_jpg_154x119_18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57032" y="2039112"/>
            <a:ext cx="640080" cy="493776"/>
          </a:xfrm>
          <a:prstGeom prst="rect">
            <a:avLst/>
          </a:prstGeom>
        </p:spPr>
      </p:pic>
      <p:sp>
        <p:nvSpPr>
          <p:cNvPr id="25" name="R3_qb637"/>
          <p:cNvSpPr/>
          <p:nvPr/>
        </p:nvSpPr>
        <p:spPr>
          <a:xfrm>
            <a:off x="3273552" y="266090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R3_sq638"/>
          <p:cNvSpPr/>
          <p:nvPr/>
        </p:nvSpPr>
        <p:spPr>
          <a:xfrm>
            <a:off x="3675888" y="2624328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Are you going to do something with your family this week?</a:t>
            </a:r>
            <a:endParaRPr lang="en-US" sz="1200" dirty="0"/>
          </a:p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We're going to the beach on Sunday.</a:t>
            </a:r>
            <a:endParaRPr lang="en-US" sz="1200" dirty="0"/>
          </a:p>
        </p:txBody>
      </p:sp>
      <p:sp>
        <p:nvSpPr>
          <p:cNvPr id="27" name="R4_qb639"/>
          <p:cNvSpPr/>
          <p:nvPr/>
        </p:nvSpPr>
        <p:spPr>
          <a:xfrm>
            <a:off x="3273552" y="3264408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8" name="R4_sq640"/>
          <p:cNvSpPr/>
          <p:nvPr/>
        </p:nvSpPr>
        <p:spPr>
          <a:xfrm>
            <a:off x="3675888" y="3227832"/>
            <a:ext cx="45079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Are you going to go on holiday with your family this year?</a:t>
            </a:r>
            <a:endParaRPr lang="en-US" sz="105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I don't think so. Maybe next year.</a:t>
            </a:r>
            <a:endParaRPr lang="en-US" sz="1050" dirty="0"/>
          </a:p>
        </p:txBody>
      </p:sp>
      <p:pic>
        <p:nvPicPr>
          <p:cNvPr id="29" name="R4_th641" descr="/home/claude/lls-course/v2/cache/1b1_holiday_jpg_154x119_18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57032" y="3246120"/>
            <a:ext cx="640080" cy="493776"/>
          </a:xfrm>
          <a:prstGeom prst="rect">
            <a:avLst/>
          </a:prstGeom>
        </p:spPr>
      </p:pic>
      <p:sp>
        <p:nvSpPr>
          <p:cNvPr id="30" name="R5_qb642"/>
          <p:cNvSpPr/>
          <p:nvPr/>
        </p:nvSpPr>
        <p:spPr>
          <a:xfrm>
            <a:off x="3273552" y="3867912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1" name="R5_sq643"/>
          <p:cNvSpPr/>
          <p:nvPr/>
        </p:nvSpPr>
        <p:spPr>
          <a:xfrm>
            <a:off x="3675888" y="3831336"/>
            <a:ext cx="45079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think you'll move away from Bagheria one day?</a:t>
            </a:r>
            <a:endParaRPr lang="en-US" sz="110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Maybe. I'd like to study in Milan.</a:t>
            </a:r>
            <a:endParaRPr lang="en-US" sz="1100" dirty="0"/>
          </a:p>
        </p:txBody>
      </p:sp>
      <p:pic>
        <p:nvPicPr>
          <p:cNvPr id="32" name="R5_th644" descr="/home/claude/lls-course/v2/cache/1b1_moving_jpg_154x119_18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57032" y="3849624"/>
            <a:ext cx="640080" cy="493776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64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20</a:t>
            </a:r>
            <a:endParaRPr lang="en-US" sz="2200" dirty="0"/>
          </a:p>
        </p:txBody>
      </p:sp>
      <p:pic>
        <p:nvPicPr>
          <p:cNvPr id="4" name="brY_64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5" name="title_647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 · 2 · 1</a:t>
            </a:r>
            <a:endParaRPr lang="en-US" sz="2500" dirty="0"/>
          </a:p>
        </p:txBody>
      </p:sp>
      <p:pic>
        <p:nvPicPr>
          <p:cNvPr id="6" name="brP_64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649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Books closed! What can you remember?</a:t>
            </a:r>
            <a:endParaRPr lang="en-US" sz="1250" dirty="0"/>
          </a:p>
        </p:txBody>
      </p:sp>
      <p:sp>
        <p:nvSpPr>
          <p:cNvPr id="8" name="insIT_650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Libri chiusi! Cosa ricordi?</a:t>
            </a:r>
            <a:endParaRPr lang="en-US" sz="950" dirty="0"/>
          </a:p>
        </p:txBody>
      </p:sp>
      <p:sp>
        <p:nvSpPr>
          <p:cNvPr id="9" name="meta_651"/>
          <p:cNvSpPr/>
          <p:nvPr/>
        </p:nvSpPr>
        <p:spPr>
          <a:xfrm>
            <a:off x="6583680" y="182880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sp>
        <p:nvSpPr>
          <p:cNvPr id="10" name="tag_652"/>
          <p:cNvSpPr/>
          <p:nvPr/>
        </p:nvSpPr>
        <p:spPr>
          <a:xfrm>
            <a:off x="6510528" y="420624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Revision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Retrieval</a:t>
            </a:r>
            <a:endParaRPr lang="en-US" sz="850" dirty="0"/>
          </a:p>
        </p:txBody>
      </p:sp>
      <p:pic>
        <p:nvPicPr>
          <p:cNvPr id="11" name="logo_65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65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1B-1 · Exit · what can you remember?</a:t>
            </a:r>
            <a:endParaRPr lang="en-US" sz="800" dirty="0"/>
          </a:p>
        </p:txBody>
      </p:sp>
      <p:sp>
        <p:nvSpPr>
          <p:cNvPr id="13" name="bd_655"/>
          <p:cNvSpPr/>
          <p:nvPr/>
        </p:nvSpPr>
        <p:spPr>
          <a:xfrm>
            <a:off x="457200" y="1508760"/>
            <a:ext cx="777240" cy="77724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rt_656"/>
          <p:cNvSpPr/>
          <p:nvPr/>
        </p:nvSpPr>
        <p:spPr>
          <a:xfrm>
            <a:off x="1417320" y="158191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family words from today (no looking!)</a:t>
            </a:r>
            <a:endParaRPr lang="en-US" sz="1400" dirty="0"/>
          </a:p>
        </p:txBody>
      </p:sp>
      <p:sp>
        <p:nvSpPr>
          <p:cNvPr id="15" name="bd_657"/>
          <p:cNvSpPr/>
          <p:nvPr/>
        </p:nvSpPr>
        <p:spPr>
          <a:xfrm>
            <a:off x="457200" y="2468880"/>
            <a:ext cx="777240" cy="777240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600" dirty="0"/>
          </a:p>
        </p:txBody>
      </p:sp>
      <p:sp>
        <p:nvSpPr>
          <p:cNvPr id="16" name="rt_658"/>
          <p:cNvSpPr/>
          <p:nvPr/>
        </p:nvSpPr>
        <p:spPr>
          <a:xfrm>
            <a:off x="1417320" y="254203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sentences with two different future forms</a:t>
            </a:r>
            <a:endParaRPr lang="en-US" sz="1400" dirty="0"/>
          </a:p>
        </p:txBody>
      </p:sp>
      <p:sp>
        <p:nvSpPr>
          <p:cNvPr id="17" name="bd_659"/>
          <p:cNvSpPr/>
          <p:nvPr/>
        </p:nvSpPr>
        <p:spPr>
          <a:xfrm>
            <a:off x="457200" y="3429000"/>
            <a:ext cx="777240" cy="777240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2600" dirty="0"/>
          </a:p>
        </p:txBody>
      </p:sp>
      <p:sp>
        <p:nvSpPr>
          <p:cNvPr id="18" name="rt_660"/>
          <p:cNvSpPr/>
          <p:nvPr/>
        </p:nvSpPr>
        <p:spPr>
          <a:xfrm>
            <a:off x="1417320" y="350215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plan for this weekend: "I'm going to…"</a:t>
            </a:r>
            <a:endParaRPr lang="en-US" sz="1400" dirty="0"/>
          </a:p>
        </p:txBody>
      </p:sp>
      <p:sp>
        <p:nvSpPr>
          <p:cNvPr id="19" name="cd_661"/>
          <p:cNvSpPr/>
          <p:nvPr/>
        </p:nvSpPr>
        <p:spPr>
          <a:xfrm>
            <a:off x="5669280" y="1417320"/>
            <a:ext cx="3200400" cy="2286000"/>
          </a:xfrm>
          <a:prstGeom prst="roundRect">
            <a:avLst>
              <a:gd name="adj" fmla="val 560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ii_662"/>
          <p:cNvSpPr/>
          <p:nvPr/>
        </p:nvSpPr>
        <p:spPr>
          <a:xfrm>
            <a:off x="576072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21" name="ih_663"/>
          <p:cNvSpPr/>
          <p:nvPr/>
        </p:nvSpPr>
        <p:spPr>
          <a:xfrm>
            <a:off x="6236208" y="15087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Homework · Compiti</a:t>
            </a:r>
            <a:endParaRPr lang="en-US" sz="1400" dirty="0"/>
          </a:p>
        </p:txBody>
      </p:sp>
      <p:sp>
        <p:nvSpPr>
          <p:cNvPr id="22" name="il_664"/>
          <p:cNvSpPr/>
          <p:nvPr/>
        </p:nvSpPr>
        <p:spPr>
          <a:xfrm>
            <a:off x="6236208" y="1892808"/>
            <a:ext cx="254203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Workbook 1B: 1a, 2a, 2b</a:t>
            </a:r>
            <a:endParaRPr lang="en-US" sz="11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Grammar Bank 1B p.133: a 6–9, b 5–8</a:t>
            </a:r>
            <a:endParaRPr lang="en-US" sz="11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Homework sheet in the LLS app</a:t>
            </a:r>
            <a:endParaRPr lang="en-US" sz="1150" dirty="0"/>
          </a:p>
        </p:txBody>
      </p:sp>
      <p:sp>
        <p:nvSpPr>
          <p:cNvPr id="23" name="st_665"/>
          <p:cNvSpPr/>
          <p:nvPr/>
        </p:nvSpPr>
        <p:spPr>
          <a:xfrm rot="-180000">
            <a:off x="5806440" y="3931920"/>
            <a:ext cx="2926080" cy="68580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Next lesson: 1B part 2 · personality adjectives (audio 1.22) · birth order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66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21</a:t>
            </a:r>
            <a:endParaRPr lang="en-US" sz="2200" dirty="0"/>
          </a:p>
        </p:txBody>
      </p:sp>
      <p:pic>
        <p:nvPicPr>
          <p:cNvPr id="4" name="brY_66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247949" cy="621792"/>
          </a:xfrm>
          <a:prstGeom prst="rect">
            <a:avLst/>
          </a:prstGeom>
        </p:spPr>
      </p:pic>
      <p:sp>
        <p:nvSpPr>
          <p:cNvPr id="5" name="title_668"/>
          <p:cNvSpPr/>
          <p:nvPr/>
        </p:nvSpPr>
        <p:spPr>
          <a:xfrm>
            <a:off x="1261872" y="164592"/>
            <a:ext cx="29736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Find in the text</a:t>
            </a:r>
            <a:endParaRPr lang="en-US" sz="2500" dirty="0"/>
          </a:p>
        </p:txBody>
      </p:sp>
      <p:pic>
        <p:nvPicPr>
          <p:cNvPr id="6" name="brP_66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771900" cy="402336"/>
          </a:xfrm>
          <a:prstGeom prst="rect">
            <a:avLst/>
          </a:prstGeom>
        </p:spPr>
      </p:pic>
      <p:sp>
        <p:nvSpPr>
          <p:cNvPr id="7" name="ins_670"/>
          <p:cNvSpPr/>
          <p:nvPr/>
        </p:nvSpPr>
        <p:spPr>
          <a:xfrm>
            <a:off x="1353312" y="731520"/>
            <a:ext cx="35158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Find a word in the text that means…</a:t>
            </a:r>
            <a:endParaRPr lang="en-US" sz="1250" dirty="0"/>
          </a:p>
        </p:txBody>
      </p:sp>
      <p:sp>
        <p:nvSpPr>
          <p:cNvPr id="8" name="insIT_671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Trova nel testo una parola che significa…</a:t>
            </a:r>
            <a:endParaRPr lang="en-US" sz="950" dirty="0"/>
          </a:p>
        </p:txBody>
      </p:sp>
      <p:sp>
        <p:nvSpPr>
          <p:cNvPr id="9" name="cmd_672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🔍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FIND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TROVA</a:t>
            </a:r>
            <a:endParaRPr lang="en-US" sz="1100" dirty="0"/>
          </a:p>
        </p:txBody>
      </p:sp>
      <p:sp>
        <p:nvSpPr>
          <p:cNvPr id="10" name="meta_673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sp>
        <p:nvSpPr>
          <p:cNvPr id="11" name="tag_674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Vocabulary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Guided discovery</a:t>
            </a:r>
            <a:endParaRPr lang="en-US" sz="850" dirty="0"/>
          </a:p>
        </p:txBody>
      </p:sp>
      <p:pic>
        <p:nvPicPr>
          <p:cNvPr id="12" name="logo_67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67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1B-1 · Reading · vocabulary from the text</a:t>
            </a:r>
            <a:endParaRPr lang="en-US" sz="800" dirty="0"/>
          </a:p>
        </p:txBody>
      </p:sp>
      <p:sp>
        <p:nvSpPr>
          <p:cNvPr id="14" name="st_677"/>
          <p:cNvSpPr/>
          <p:nvPr/>
        </p:nvSpPr>
        <p:spPr>
          <a:xfrm rot="-180000">
            <a:off x="7315200" y="4773168"/>
            <a:ext cx="1600200" cy="292608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EXTRA · if there's time</a:t>
            </a:r>
            <a:endParaRPr lang="en-US" sz="900" dirty="0"/>
          </a:p>
        </p:txBody>
      </p:sp>
      <p:sp>
        <p:nvSpPr>
          <p:cNvPr id="15" name="pf_678"/>
          <p:cNvSpPr/>
          <p:nvPr/>
        </p:nvSpPr>
        <p:spPr>
          <a:xfrm rot="-90000">
            <a:off x="365760" y="1371600"/>
            <a:ext cx="2606040" cy="3200400"/>
          </a:xfrm>
          <a:prstGeom prst="roundRect">
            <a:avLst>
              <a:gd name="adj" fmla="val 59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6" name="ph_679" descr="/home/claude/lls-course/v2/cache/1b1_phone_row_jpg_605x748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1417320"/>
            <a:ext cx="2514600" cy="3108960"/>
          </a:xfrm>
          <a:prstGeom prst="rect">
            <a:avLst/>
          </a:prstGeom>
        </p:spPr>
      </p:pic>
      <p:sp>
        <p:nvSpPr>
          <p:cNvPr id="17" name="bd_680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8" name="q_681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arguments</a:t>
            </a:r>
            <a:endParaRPr lang="en-US" sz="1150" dirty="0"/>
          </a:p>
        </p:txBody>
      </p:sp>
      <p:sp>
        <p:nvSpPr>
          <p:cNvPr id="19" name="R1_chip682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rows</a:t>
            </a:r>
            <a:endParaRPr lang="en-US" sz="1000" dirty="0"/>
          </a:p>
        </p:txBody>
      </p:sp>
      <p:sp>
        <p:nvSpPr>
          <p:cNvPr id="20" name="bd_683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q_684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family with only a mum or only a dad</a:t>
            </a:r>
            <a:endParaRPr lang="en-US" sz="1150" dirty="0"/>
          </a:p>
        </p:txBody>
      </p:sp>
      <p:sp>
        <p:nvSpPr>
          <p:cNvPr id="22" name="R2_chip685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single-parent family</a:t>
            </a:r>
            <a:endParaRPr lang="en-US" sz="1000" dirty="0"/>
          </a:p>
        </p:txBody>
      </p:sp>
      <p:sp>
        <p:nvSpPr>
          <p:cNvPr id="23" name="bd_686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q_687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husband's or wife's children from before</a:t>
            </a:r>
            <a:endParaRPr lang="en-US" sz="1100" dirty="0"/>
          </a:p>
        </p:txBody>
      </p:sp>
      <p:sp>
        <p:nvSpPr>
          <p:cNvPr id="25" name="R3_chip688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stepchildren</a:t>
            </a:r>
            <a:endParaRPr lang="en-US" sz="1000" dirty="0"/>
          </a:p>
        </p:txBody>
      </p:sp>
      <p:sp>
        <p:nvSpPr>
          <p:cNvPr id="26" name="bd_689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7" name="q_690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usually · as a number</a:t>
            </a:r>
            <a:endParaRPr lang="en-US" sz="1150" dirty="0"/>
          </a:p>
        </p:txBody>
      </p:sp>
      <p:sp>
        <p:nvSpPr>
          <p:cNvPr id="28" name="R4_chip691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 average</a:t>
            </a:r>
            <a:endParaRPr lang="en-US" sz="1000" dirty="0"/>
          </a:p>
        </p:txBody>
      </p:sp>
      <p:sp>
        <p:nvSpPr>
          <p:cNvPr id="29" name="bd_692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0" name="q_693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'no' to doing something</a:t>
            </a:r>
            <a:endParaRPr lang="en-US" sz="1150" dirty="0"/>
          </a:p>
        </p:txBody>
      </p:sp>
      <p:sp>
        <p:nvSpPr>
          <p:cNvPr id="31" name="R5_chip694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refuse (refusing to)</a:t>
            </a:r>
            <a:endParaRPr lang="en-US" sz="1000" dirty="0"/>
          </a:p>
        </p:txBody>
      </p:sp>
      <p:sp>
        <p:nvSpPr>
          <p:cNvPr id="32" name="bd_695"/>
          <p:cNvSpPr/>
          <p:nvPr/>
        </p:nvSpPr>
        <p:spPr>
          <a:xfrm>
            <a:off x="3246120" y="400507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3" name="q_696"/>
          <p:cNvSpPr/>
          <p:nvPr/>
        </p:nvSpPr>
        <p:spPr>
          <a:xfrm>
            <a:off x="3630168" y="39319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no contact with</a:t>
            </a:r>
            <a:endParaRPr lang="en-US" sz="1150" dirty="0"/>
          </a:p>
        </p:txBody>
      </p:sp>
      <p:sp>
        <p:nvSpPr>
          <p:cNvPr id="34" name="R6_chip697"/>
          <p:cNvSpPr/>
          <p:nvPr/>
        </p:nvSpPr>
        <p:spPr>
          <a:xfrm>
            <a:off x="5806440" y="39319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never speak to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1B-1 Modern families</dc:title>
  <dc:subject>PptxGenJS Presentation</dc:subject>
  <dc:creator>PptxGenJS</dc:creator>
  <cp:lastModifiedBy>PptxGenJS</cp:lastModifiedBy>
  <cp:revision>1</cp:revision>
  <dcterms:created xsi:type="dcterms:W3CDTF">2026-10-11T16:12:23Z</dcterms:created>
  <dcterms:modified xsi:type="dcterms:W3CDTF">2026-10-11T16:12:23Z</dcterms:modified>
</cp:coreProperties>
</file>