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class story (TPRS) (4 min)
TPRS CLASS STORY (4 min) – after the business words and their Italian (slides 4–5), so students hear entrepreneur, pitch, slogan, invest, a share in the profits and I'm out many times BEFORE they meet them in the Dragons' Den article and the listening; it also recycles 8A-1 gerunds and infinitives (decided to set up · nervous about making). The story deliberately gives no numbers (minutes, how many Dragons) so it doesn't spoil the prediction on the next slide. Click once per line. For each line: 1) say it, 2) ask the questions round the class (yes/no → either/or → who/what), 3) let the CLASS change details: 'Is his product a cannolo? No? What is it?' – accept their idea and use it in later lines (change the slogan to match!). Students answer with one word or a short phrase – that's fine. Finish: 'What happens next?' – one or two ideas, then move on to the reading. Watch for ✗ 'I'm interesting to invest' → interested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a TV show for entrepreneurs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contestant's story</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spot -ing and to + infinitive in real speech</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pitch your own product to the 'Dragons'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8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Revision · last lesson</a:t>
            </a:r>
            <a:endParaRPr lang="en-US" sz="800" dirty="0"/>
          </a:p>
        </p:txBody>
      </p:sp>
      <p:sp>
        <p:nvSpPr>
          <p:cNvPr id="12" name="pf_26"/>
          <p:cNvSpPr/>
          <p:nvPr/>
        </p:nvSpPr>
        <p:spPr>
          <a:xfrm rot="-120000">
            <a:off x="891456" y="1371600"/>
            <a:ext cx="1600367" cy="1645920"/>
          </a:xfrm>
          <a:prstGeom prst="roundRect">
            <a:avLst>
              <a:gd name="adj" fmla="val 97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spare_work_places_jpg_363x374_31.png">    </p:cNvPr>
          <p:cNvPicPr>
            <a:picLocks noChangeAspect="1"/>
          </p:cNvPicPr>
          <p:nvPr/>
        </p:nvPicPr>
        <p:blipFill>
          <a:blip r:embed="rId5"/>
          <a:stretch>
            <a:fillRect/>
          </a:stretch>
        </p:blipFill>
        <p:spPr>
          <a:xfrm rot="-120000">
            <a:off x="937176" y="1417320"/>
            <a:ext cx="1508927" cy="1554480"/>
          </a:xfrm>
          <a:prstGeom prst="rect">
            <a:avLst/>
          </a:prstGeom>
        </p:spPr>
      </p:pic>
      <p:sp>
        <p:nvSpPr>
          <p:cNvPr id="14" name="cd_28"/>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8A part 1 (6 Oct): work words</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gerunds and infinitives · 'Someone you know'</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36702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do overtime</a:t>
            </a:r>
            <a:endParaRPr lang="en-US" sz="1200" dirty="0"/>
          </a:p>
        </p:txBody>
      </p:sp>
      <p:sp>
        <p:nvSpPr>
          <p:cNvPr id="20" name="w_34"/>
          <p:cNvSpPr/>
          <p:nvPr/>
        </p:nvSpPr>
        <p:spPr>
          <a:xfrm>
            <a:off x="4704588" y="1783080"/>
            <a:ext cx="1453896"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get promoted</a:t>
            </a:r>
            <a:endParaRPr lang="en-US" sz="1200" dirty="0"/>
          </a:p>
        </p:txBody>
      </p:sp>
      <p:sp>
        <p:nvSpPr>
          <p:cNvPr id="21" name="w_35"/>
          <p:cNvSpPr/>
          <p:nvPr/>
        </p:nvSpPr>
        <p:spPr>
          <a:xfrm>
            <a:off x="6249924" y="1783080"/>
            <a:ext cx="1367028"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work shifts</a:t>
            </a:r>
            <a:endParaRPr lang="en-US" sz="1200" dirty="0"/>
          </a:p>
        </p:txBody>
      </p:sp>
      <p:sp>
        <p:nvSpPr>
          <p:cNvPr id="22" name="w_36"/>
          <p:cNvSpPr/>
          <p:nvPr/>
        </p:nvSpPr>
        <p:spPr>
          <a:xfrm>
            <a:off x="3246120" y="2185416"/>
            <a:ext cx="119329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sacked</a:t>
            </a:r>
            <a:endParaRPr lang="en-US" sz="1200" dirty="0"/>
          </a:p>
        </p:txBody>
      </p:sp>
      <p:sp>
        <p:nvSpPr>
          <p:cNvPr id="23" name="w_37"/>
          <p:cNvSpPr/>
          <p:nvPr/>
        </p:nvSpPr>
        <p:spPr>
          <a:xfrm>
            <a:off x="4530852" y="2185416"/>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resign</a:t>
            </a:r>
            <a:endParaRPr lang="en-US" sz="1200" dirty="0"/>
          </a:p>
        </p:txBody>
      </p:sp>
      <p:sp>
        <p:nvSpPr>
          <p:cNvPr id="24" name="w_38"/>
          <p:cNvSpPr/>
          <p:nvPr/>
        </p:nvSpPr>
        <p:spPr>
          <a:xfrm>
            <a:off x="555498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retire</a:t>
            </a:r>
            <a:endParaRPr lang="en-US" sz="1200" dirty="0"/>
          </a:p>
        </p:txBody>
      </p:sp>
      <p:sp>
        <p:nvSpPr>
          <p:cNvPr id="25" name="w_39"/>
          <p:cNvSpPr/>
          <p:nvPr/>
        </p:nvSpPr>
        <p:spPr>
          <a:xfrm>
            <a:off x="6579108" y="2185416"/>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set up a business</a:t>
            </a:r>
            <a:endParaRPr lang="en-US" sz="1200" dirty="0"/>
          </a:p>
        </p:txBody>
      </p:sp>
      <p:sp>
        <p:nvSpPr>
          <p:cNvPr id="26" name="w_40"/>
          <p:cNvSpPr/>
          <p:nvPr/>
        </p:nvSpPr>
        <p:spPr>
          <a:xfrm>
            <a:off x="3246120" y="2587752"/>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self-employed</a:t>
            </a:r>
            <a:endParaRPr lang="en-US" sz="1200" dirty="0"/>
          </a:p>
        </p:txBody>
      </p:sp>
      <p:sp>
        <p:nvSpPr>
          <p:cNvPr id="27" name="lv_41"/>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-ing (gerund)</a:t>
            </a:r>
            <a:endParaRPr lang="en-US" sz="1100" dirty="0"/>
          </a:p>
        </p:txBody>
      </p:sp>
      <p:sp>
        <p:nvSpPr>
          <p:cNvPr id="32" name="rf_46"/>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after enjoy, don't mind · an after prepositions · an as the subject</a:t>
            </a:r>
            <a:endParaRPr lang="en-US" sz="850" dirty="0"/>
          </a:p>
        </p:txBody>
      </p:sp>
      <p:sp>
        <p:nvSpPr>
          <p:cNvPr id="33" name="R1_rl47"/>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enjoy helping people.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I'm good at solving problems.</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Working shifts is tiring.</a:t>
            </a:r>
            <a:endParaRPr lang="en-US" sz="700" dirty="0"/>
          </a:p>
        </p:txBody>
      </p:sp>
      <p:sp>
        <p:nvSpPr>
          <p:cNvPr id="34" name="cd_48"/>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100" dirty="0"/>
          </a:p>
        </p:txBody>
      </p:sp>
      <p:sp>
        <p:nvSpPr>
          <p:cNvPr id="36" name="rf_50"/>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after decide, want · an after adjectives · an after make, let, must, can</a:t>
            </a:r>
            <a:endParaRPr lang="en-US" sz="850" dirty="0"/>
          </a:p>
        </p:txBody>
      </p:sp>
      <p:sp>
        <p:nvSpPr>
          <p:cNvPr id="37" name="R2_rl51"/>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She decided to resign.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It's difficult to find a job.</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My boss made me do overtime.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-ing: in piedi! to: seduti! inf.: mani su!</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Warmer · last lesson   ·   📖 Recycles 6 Oct (8A-1): gerunds and infinitives, work words · Grammar Bank 8A p.146</a:t>
            </a:r>
            <a:endParaRPr lang="en-US" sz="800" dirty="0"/>
          </a:p>
        </p:txBody>
      </p:sp>
      <p:sp>
        <p:nvSpPr>
          <p:cNvPr id="12" name="cd_61"/>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to + infinitive → SIT DOWN.</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to + infinito → SEDUTI.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infinitive (no to) → HANDS UP!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infinito senza to → MANI SU!</a:t>
            </a:r>
            <a:endParaRPr lang="en-US" sz="1200" dirty="0"/>
          </a:p>
        </p:txBody>
      </p:sp>
      <p:sp>
        <p:nvSpPr>
          <p:cNvPr id="16" name="pf_65"/>
          <p:cNvSpPr/>
          <p:nvPr/>
        </p:nvSpPr>
        <p:spPr>
          <a:xfrm rot="-120000">
            <a:off x="1027138" y="3785616"/>
            <a:ext cx="123756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spare_work_career_change_jpg_276x253_31.png">    </p:cNvPr>
          <p:cNvPicPr>
            <a:picLocks noChangeAspect="1"/>
          </p:cNvPicPr>
          <p:nvPr/>
        </p:nvPicPr>
        <p:blipFill>
          <a:blip r:embed="rId5"/>
          <a:stretch>
            <a:fillRect/>
          </a:stretch>
        </p:blipFill>
        <p:spPr>
          <a:xfrm rot="-120000">
            <a:off x="1072858" y="3831336"/>
            <a:ext cx="1146125" cy="1051560"/>
          </a:xfrm>
          <a:prstGeom prst="rect">
            <a:avLst/>
          </a:prstGeom>
        </p:spPr>
      </p:pic>
      <p:sp>
        <p:nvSpPr>
          <p:cNvPr id="18" name="bd_67"/>
          <p:cNvSpPr/>
          <p:nvPr/>
        </p:nvSpPr>
        <p:spPr>
          <a:xfrm>
            <a:off x="3246120" y="1423607"/>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 really enjoy ___. (cook)</a:t>
            </a:r>
            <a:endParaRPr lang="en-US" sz="900" dirty="0"/>
          </a:p>
        </p:txBody>
      </p:sp>
      <p:sp>
        <p:nvSpPr>
          <p:cNvPr id="20" name="chip_69"/>
          <p:cNvSpPr/>
          <p:nvPr/>
        </p:nvSpPr>
        <p:spPr>
          <a:xfrm>
            <a:off x="6263640" y="1417320"/>
            <a:ext cx="2560320" cy="341757"/>
          </a:xfrm>
          <a:prstGeom prst="roundRect">
            <a:avLst>
              <a:gd name="adj" fmla="val 2675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cooking · STAND UP</a:t>
            </a:r>
            <a:endParaRPr lang="en-US" sz="1200" dirty="0"/>
          </a:p>
        </p:txBody>
      </p:sp>
      <p:sp>
        <p:nvSpPr>
          <p:cNvPr id="21" name="bd_70"/>
          <p:cNvSpPr/>
          <p:nvPr/>
        </p:nvSpPr>
        <p:spPr>
          <a:xfrm>
            <a:off x="3246120" y="182937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182308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She decided ___. (resign)</a:t>
            </a:r>
            <a:endParaRPr lang="en-US" sz="900" dirty="0"/>
          </a:p>
        </p:txBody>
      </p:sp>
      <p:sp>
        <p:nvSpPr>
          <p:cNvPr id="23" name="R1_chip72"/>
          <p:cNvSpPr/>
          <p:nvPr/>
        </p:nvSpPr>
        <p:spPr>
          <a:xfrm>
            <a:off x="6263640" y="182308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resign · SIT DOWN</a:t>
            </a:r>
            <a:endParaRPr lang="en-US" sz="1200" dirty="0"/>
          </a:p>
        </p:txBody>
      </p:sp>
      <p:sp>
        <p:nvSpPr>
          <p:cNvPr id="24" name="bd_73"/>
          <p:cNvSpPr/>
          <p:nvPr/>
        </p:nvSpPr>
        <p:spPr>
          <a:xfrm>
            <a:off x="3246120" y="2235137"/>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22885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00" dirty="0"/>
          </a:p>
        </p:txBody>
      </p:sp>
      <p:sp>
        <p:nvSpPr>
          <p:cNvPr id="26" name="R2_chip75"/>
          <p:cNvSpPr/>
          <p:nvPr/>
        </p:nvSpPr>
        <p:spPr>
          <a:xfrm>
            <a:off x="6263640" y="222885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do · HANDS UP</a:t>
            </a:r>
            <a:endParaRPr lang="en-US" sz="1200" dirty="0"/>
          </a:p>
        </p:txBody>
      </p:sp>
      <p:sp>
        <p:nvSpPr>
          <p:cNvPr id="27" name="bd_76"/>
          <p:cNvSpPr/>
          <p:nvPr/>
        </p:nvSpPr>
        <p:spPr>
          <a:xfrm>
            <a:off x="3246120" y="2640901"/>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263461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00" dirty="0"/>
          </a:p>
        </p:txBody>
      </p:sp>
      <p:sp>
        <p:nvSpPr>
          <p:cNvPr id="29" name="R3_chip78"/>
          <p:cNvSpPr/>
          <p:nvPr/>
        </p:nvSpPr>
        <p:spPr>
          <a:xfrm>
            <a:off x="6263640" y="263461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solving · STAND UP</a:t>
            </a:r>
            <a:endParaRPr lang="en-US" sz="1200" dirty="0"/>
          </a:p>
        </p:txBody>
      </p:sp>
      <p:sp>
        <p:nvSpPr>
          <p:cNvPr id="30" name="bd_79"/>
          <p:cNvSpPr/>
          <p:nvPr/>
        </p:nvSpPr>
        <p:spPr>
          <a:xfrm>
            <a:off x="3246120" y="3046667"/>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3040380"/>
            <a:ext cx="2514600" cy="341757"/>
          </a:xfrm>
          <a:prstGeom prst="roundRect">
            <a:avLst>
              <a:gd name="adj" fmla="val 2675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900" dirty="0"/>
          </a:p>
        </p:txBody>
      </p:sp>
      <p:sp>
        <p:nvSpPr>
          <p:cNvPr id="32" name="R4_chip81"/>
          <p:cNvSpPr/>
          <p:nvPr/>
        </p:nvSpPr>
        <p:spPr>
          <a:xfrm>
            <a:off x="6263640" y="304038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find · SIT DOWN</a:t>
            </a:r>
            <a:endParaRPr lang="en-US" sz="1200" dirty="0"/>
          </a:p>
        </p:txBody>
      </p:sp>
      <p:sp>
        <p:nvSpPr>
          <p:cNvPr id="33" name="bd_82"/>
          <p:cNvSpPr/>
          <p:nvPr/>
        </p:nvSpPr>
        <p:spPr>
          <a:xfrm>
            <a:off x="3246120" y="345243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83"/>
          <p:cNvSpPr/>
          <p:nvPr/>
        </p:nvSpPr>
        <p:spPr>
          <a:xfrm>
            <a:off x="3657600" y="3446145"/>
            <a:ext cx="2514600" cy="341757"/>
          </a:xfrm>
          <a:prstGeom prst="roundRect">
            <a:avLst>
              <a:gd name="adj" fmla="val 2675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___ shifts is tiring. (work)</a:t>
            </a:r>
            <a:endParaRPr lang="en-US" sz="900" dirty="0"/>
          </a:p>
        </p:txBody>
      </p:sp>
      <p:sp>
        <p:nvSpPr>
          <p:cNvPr id="35" name="R5_chip84"/>
          <p:cNvSpPr/>
          <p:nvPr/>
        </p:nvSpPr>
        <p:spPr>
          <a:xfrm>
            <a:off x="6263640" y="344614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Working · STAND UP</a:t>
            </a:r>
            <a:endParaRPr lang="en-US" sz="1200" dirty="0"/>
          </a:p>
        </p:txBody>
      </p:sp>
      <p:sp>
        <p:nvSpPr>
          <p:cNvPr id="36" name="bd_85"/>
          <p:cNvSpPr/>
          <p:nvPr/>
        </p:nvSpPr>
        <p:spPr>
          <a:xfrm>
            <a:off x="3246120" y="3858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86"/>
          <p:cNvSpPr/>
          <p:nvPr/>
        </p:nvSpPr>
        <p:spPr>
          <a:xfrm>
            <a:off x="3657600" y="3851910"/>
            <a:ext cx="2514600" cy="341757"/>
          </a:xfrm>
          <a:prstGeom prst="roundRect">
            <a:avLst>
              <a:gd name="adj" fmla="val 2675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You must ___ online. (apply)</a:t>
            </a:r>
            <a:endParaRPr lang="en-US" sz="900" dirty="0"/>
          </a:p>
        </p:txBody>
      </p:sp>
      <p:sp>
        <p:nvSpPr>
          <p:cNvPr id="38" name="R6_chip87"/>
          <p:cNvSpPr/>
          <p:nvPr/>
        </p:nvSpPr>
        <p:spPr>
          <a:xfrm>
            <a:off x="6263640" y="3851910"/>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apply · HANDS UP</a:t>
            </a:r>
            <a:endParaRPr lang="en-US" sz="1200" dirty="0"/>
          </a:p>
        </p:txBody>
      </p:sp>
      <p:sp>
        <p:nvSpPr>
          <p:cNvPr id="39" name="bd_88"/>
          <p:cNvSpPr/>
          <p:nvPr/>
        </p:nvSpPr>
        <p:spPr>
          <a:xfrm>
            <a:off x="3246120" y="426396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40" name="gq_89"/>
          <p:cNvSpPr/>
          <p:nvPr/>
        </p:nvSpPr>
        <p:spPr>
          <a:xfrm>
            <a:off x="3657600" y="4257675"/>
            <a:ext cx="2514600" cy="341757"/>
          </a:xfrm>
          <a:prstGeom prst="roundRect">
            <a:avLst>
              <a:gd name="adj" fmla="val 2675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00" dirty="0"/>
          </a:p>
        </p:txBody>
      </p:sp>
      <p:sp>
        <p:nvSpPr>
          <p:cNvPr id="41" name="R7_chip90"/>
          <p:cNvSpPr/>
          <p:nvPr/>
        </p:nvSpPr>
        <p:spPr>
          <a:xfrm>
            <a:off x="6263640" y="4257675"/>
            <a:ext cx="2560320" cy="341757"/>
          </a:xfrm>
          <a:prstGeom prst="roundRect">
            <a:avLst>
              <a:gd name="adj" fmla="val 2675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set up · SIT DOWN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le parole? Spiega!</a:t>
            </a:r>
            <a:endParaRPr lang="en-US" sz="950" dirty="0"/>
          </a:p>
        </p:txBody>
      </p:sp>
      <p:sp>
        <p:nvSpPr>
          <p:cNvPr id="9" name="note_9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business words   ·   📖 SB p.78 · 5a Glossary (den, entrepreneur, make a pitch) + TG</a:t>
            </a:r>
            <a:endParaRPr lang="en-US" sz="800" dirty="0"/>
          </a:p>
        </p:txBody>
      </p:sp>
      <p:sp>
        <p:nvSpPr>
          <p:cNvPr id="12" name="cd_100"/>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0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03"/>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a den → the hidden home of a wild animal (e.g. a dragon!)</a:t>
            </a:r>
            <a:endParaRPr lang="en-US" sz="1000" dirty="0"/>
          </a:p>
        </p:txBody>
      </p:sp>
      <p:sp>
        <p:nvSpPr>
          <p:cNvPr id="16" name="pf_104"/>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05" descr="/home/claude/lls-course/v2/cache/8a2_investors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06"/>
          <p:cNvSpPr/>
          <p:nvPr/>
        </p:nvSpPr>
        <p:spPr>
          <a:xfrm>
            <a:off x="3246120" y="14447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07"/>
          <p:cNvSpPr/>
          <p:nvPr/>
        </p:nvSpPr>
        <p:spPr>
          <a:xfrm>
            <a:off x="3630168" y="141732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0" name="R1_chip108"/>
          <p:cNvSpPr/>
          <p:nvPr/>
        </p:nvSpPr>
        <p:spPr>
          <a:xfrm>
            <a:off x="5806440" y="14173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950" dirty="0"/>
          </a:p>
        </p:txBody>
      </p:sp>
      <p:sp>
        <p:nvSpPr>
          <p:cNvPr id="21" name="bd_109"/>
          <p:cNvSpPr/>
          <p:nvPr/>
        </p:nvSpPr>
        <p:spPr>
          <a:xfrm>
            <a:off x="3246120" y="18562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10"/>
          <p:cNvSpPr/>
          <p:nvPr/>
        </p:nvSpPr>
        <p:spPr>
          <a:xfrm>
            <a:off x="3630168" y="182880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3" name="R2_chip111"/>
          <p:cNvSpPr/>
          <p:nvPr/>
        </p:nvSpPr>
        <p:spPr>
          <a:xfrm>
            <a:off x="5806440" y="18288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950" dirty="0"/>
          </a:p>
        </p:txBody>
      </p:sp>
      <p:sp>
        <p:nvSpPr>
          <p:cNvPr id="24" name="bd_112"/>
          <p:cNvSpPr/>
          <p:nvPr/>
        </p:nvSpPr>
        <p:spPr>
          <a:xfrm>
            <a:off x="3246120" y="22677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13"/>
          <p:cNvSpPr/>
          <p:nvPr/>
        </p:nvSpPr>
        <p:spPr>
          <a:xfrm>
            <a:off x="3630168" y="224028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6" name="R3_chip114"/>
          <p:cNvSpPr/>
          <p:nvPr/>
        </p:nvSpPr>
        <p:spPr>
          <a:xfrm>
            <a:off x="5806440" y="22402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950" dirty="0"/>
          </a:p>
        </p:txBody>
      </p:sp>
      <p:sp>
        <p:nvSpPr>
          <p:cNvPr id="27" name="bd_115"/>
          <p:cNvSpPr/>
          <p:nvPr/>
        </p:nvSpPr>
        <p:spPr>
          <a:xfrm>
            <a:off x="3246120" y="267919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16"/>
          <p:cNvSpPr/>
          <p:nvPr/>
        </p:nvSpPr>
        <p:spPr>
          <a:xfrm>
            <a:off x="3630168" y="265176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29" name="R4_chip117"/>
          <p:cNvSpPr/>
          <p:nvPr/>
        </p:nvSpPr>
        <p:spPr>
          <a:xfrm>
            <a:off x="5806440" y="265176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950" dirty="0"/>
          </a:p>
        </p:txBody>
      </p:sp>
      <p:sp>
        <p:nvSpPr>
          <p:cNvPr id="30" name="bd_118"/>
          <p:cNvSpPr/>
          <p:nvPr/>
        </p:nvSpPr>
        <p:spPr>
          <a:xfrm>
            <a:off x="3246120" y="30906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19"/>
          <p:cNvSpPr/>
          <p:nvPr/>
        </p:nvSpPr>
        <p:spPr>
          <a:xfrm>
            <a:off x="3630168" y="3063240"/>
            <a:ext cx="2103120" cy="365760"/>
          </a:xfrm>
          <a:prstGeom prst="roundRect">
            <a:avLst>
              <a:gd name="adj" fmla="val 25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2" name="R5_chip120"/>
          <p:cNvSpPr/>
          <p:nvPr/>
        </p:nvSpPr>
        <p:spPr>
          <a:xfrm>
            <a:off x="5806440" y="306324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950" dirty="0"/>
          </a:p>
        </p:txBody>
      </p:sp>
      <p:sp>
        <p:nvSpPr>
          <p:cNvPr id="33" name="bd_121"/>
          <p:cNvSpPr/>
          <p:nvPr/>
        </p:nvSpPr>
        <p:spPr>
          <a:xfrm>
            <a:off x="3246120" y="350215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22"/>
          <p:cNvSpPr/>
          <p:nvPr/>
        </p:nvSpPr>
        <p:spPr>
          <a:xfrm>
            <a:off x="3630168" y="3474720"/>
            <a:ext cx="2103120" cy="365760"/>
          </a:xfrm>
          <a:prstGeom prst="roundRect">
            <a:avLst>
              <a:gd name="adj" fmla="val 25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5" name="R6_chip123"/>
          <p:cNvSpPr/>
          <p:nvPr/>
        </p:nvSpPr>
        <p:spPr>
          <a:xfrm>
            <a:off x="5806440" y="347472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950" dirty="0"/>
          </a:p>
        </p:txBody>
      </p:sp>
      <p:sp>
        <p:nvSpPr>
          <p:cNvPr id="36" name="bd_124"/>
          <p:cNvSpPr/>
          <p:nvPr/>
        </p:nvSpPr>
        <p:spPr>
          <a:xfrm>
            <a:off x="3246120" y="391363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7" name="q_125"/>
          <p:cNvSpPr/>
          <p:nvPr/>
        </p:nvSpPr>
        <p:spPr>
          <a:xfrm>
            <a:off x="3630168" y="3886200"/>
            <a:ext cx="2103120" cy="365760"/>
          </a:xfrm>
          <a:prstGeom prst="roundRect">
            <a:avLst>
              <a:gd name="adj" fmla="val 25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38" name="R7_chip126"/>
          <p:cNvSpPr/>
          <p:nvPr/>
        </p:nvSpPr>
        <p:spPr>
          <a:xfrm>
            <a:off x="5806440" y="388620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950" dirty="0"/>
          </a:p>
        </p:txBody>
      </p:sp>
      <p:sp>
        <p:nvSpPr>
          <p:cNvPr id="39" name="bd_127"/>
          <p:cNvSpPr/>
          <p:nvPr/>
        </p:nvSpPr>
        <p:spPr>
          <a:xfrm>
            <a:off x="3246120" y="432511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0" name="q_128"/>
          <p:cNvSpPr/>
          <p:nvPr/>
        </p:nvSpPr>
        <p:spPr>
          <a:xfrm>
            <a:off x="3630168" y="4297680"/>
            <a:ext cx="2103120" cy="365760"/>
          </a:xfrm>
          <a:prstGeom prst="roundRect">
            <a:avLst>
              <a:gd name="adj" fmla="val 25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1" name="R8_chip129"/>
          <p:cNvSpPr/>
          <p:nvPr/>
        </p:nvSpPr>
        <p:spPr>
          <a:xfrm>
            <a:off x="5806440" y="4297680"/>
            <a:ext cx="3063240" cy="365760"/>
          </a:xfrm>
          <a:prstGeom prst="roundRect">
            <a:avLst>
              <a:gd name="adj" fmla="val 25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0"/>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13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1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in Italian</a:t>
            </a:r>
            <a:endParaRPr lang="en-US" sz="800" dirty="0"/>
          </a:p>
        </p:txBody>
      </p:sp>
      <p:sp>
        <p:nvSpPr>
          <p:cNvPr id="12" name="cd_139"/>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140"/>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141"/>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5" name="R1_it142"/>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6" name="cd_143"/>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144"/>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145"/>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19" name="R2_it146"/>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0" name="cd_147"/>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148"/>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149"/>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3" name="R3_it150"/>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4" name="cd_151"/>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152"/>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153"/>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7" name="R4_it154"/>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28" name="cd_155"/>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156"/>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157"/>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1" name="R5_it158"/>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2" name="cd_159"/>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160"/>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61"/>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5" name="R6_it162"/>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6" name="cd_163"/>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164"/>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165"/>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39" name="R7_it166"/>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0" name="cd_167"/>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168"/>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169"/>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3" name="R8_it170"/>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4" name="cd_171"/>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172"/>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173"/>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7" name="R9_it174"/>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48" name="cd_175"/>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176"/>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177"/>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1" name="R10_it178"/>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2" name="cd_179"/>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180"/>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181"/>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5" name="R11_it182"/>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6" name="cd_183"/>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184"/>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185"/>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59" name="R12_it186"/>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0" name="R13_wc187"/>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18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9"/>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Salvo's cannolo pitch</a:t>
            </a:r>
            <a:endParaRPr lang="en-US" sz="2500" dirty="0"/>
          </a:p>
        </p:txBody>
      </p:sp>
      <p:pic>
        <p:nvPicPr>
          <p:cNvPr id="6" name="brP_19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1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19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1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class story (TPRS)</a:t>
            </a:r>
            <a:endParaRPr lang="en-US" sz="800" dirty="0"/>
          </a:p>
        </p:txBody>
      </p:sp>
      <p:sp>
        <p:nvSpPr>
          <p:cNvPr id="12" name="pf_198"/>
          <p:cNvSpPr/>
          <p:nvPr/>
        </p:nvSpPr>
        <p:spPr>
          <a:xfrm rot="-90000">
            <a:off x="913653" y="1417320"/>
            <a:ext cx="1555974"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199" descr="/home/claude/lls-course/v2/cache/spare_work_success_jpg_352x286_31.png">    </p:cNvPr>
          <p:cNvPicPr>
            <a:picLocks noChangeAspect="1"/>
          </p:cNvPicPr>
          <p:nvPr/>
        </p:nvPicPr>
        <p:blipFill>
          <a:blip r:embed="rId5"/>
          <a:stretch>
            <a:fillRect/>
          </a:stretch>
        </p:blipFill>
        <p:spPr>
          <a:xfrm rot="-90000">
            <a:off x="959373" y="1463040"/>
            <a:ext cx="1464534" cy="1188720"/>
          </a:xfrm>
          <a:prstGeom prst="rect">
            <a:avLst/>
          </a:prstGeom>
        </p:spPr>
      </p:pic>
      <p:sp>
        <p:nvSpPr>
          <p:cNvPr id="14" name="cd_200"/>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01"/>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2"/>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203"/>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an entrepreneur</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imprenditore</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make a pitch</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presentare un'idea per venderla</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 slogan</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slogan pubblicitario</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invest (in)</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investire (in)</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a share in the profits</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una quota dei profitti</a:t>
            </a:r>
            <a:endParaRPr lang="en-US" sz="700" dirty="0"/>
          </a:p>
          <a:p>
            <a:pPr indent="0" marL="0">
              <a:spcBef>
                <a:spcPts val="600"/>
              </a:spcBef>
              <a:spcAft>
                <a:spcPts val="200"/>
              </a:spcAft>
              <a:buNone/>
            </a:pPr>
            <a:r>
              <a:rPr lang="en-US" sz="700" dirty="0">
                <a:solidFill>
                  <a:srgbClr val="1B2559"/>
                </a:solidFill>
                <a:latin typeface="Segoe UI Semibold" pitchFamily="34" charset="0"/>
                <a:ea typeface="Segoe UI Semibold" pitchFamily="34" charset="-122"/>
                <a:cs typeface="Segoe UI Semibold" pitchFamily="34" charset="-120"/>
              </a:rPr>
              <a:t>"I'm out."</a:t>
            </a:r>
            <a:pPr indent="0" marL="0">
              <a:spcAft>
                <a:spcPts val="200"/>
              </a:spcAft>
              <a:buNone/>
            </a:pPr>
            <a:r>
              <a:rPr lang="en-US" sz="700" dirty="0">
                <a:solidFill>
                  <a:srgbClr val="5B6785"/>
                </a:solidFill>
                <a:latin typeface="Segoe UI Semibold" pitchFamily="34" charset="0"/>
                <a:ea typeface="Segoe UI Semibold" pitchFamily="34" charset="-122"/>
                <a:cs typeface="Segoe UI Semibold" pitchFamily="34" charset="-120"/>
              </a:rPr>
              <a:t>  – "Io non ci sto." (non investo)</a:t>
            </a:r>
            <a:endParaRPr lang="en-US" sz="700" dirty="0"/>
          </a:p>
        </p:txBody>
      </p:sp>
      <p:sp>
        <p:nvSpPr>
          <p:cNvPr id="18" name="R1_sb204"/>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205"/>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Salvo decided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to set up</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a business. He's an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entrepreneur</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with a cannolo that lasts a year!</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Salvo an entrepreneur or a teacher? · What's his product?</a:t>
            </a:r>
            <a:endParaRPr lang="en-US" sz="900" dirty="0"/>
          </a:p>
        </p:txBody>
      </p:sp>
      <p:sp>
        <p:nvSpPr>
          <p:cNvPr id="20" name="R2_sb206"/>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207"/>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He's very nervous about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making</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his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pitch</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on Dragons' Den. He only has a few minutes!</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relaxed or nervous? · What is he nervous about?</a:t>
            </a:r>
            <a:endParaRPr lang="en-US" sz="900" dirty="0"/>
          </a:p>
        </p:txBody>
      </p:sp>
      <p:sp>
        <p:nvSpPr>
          <p:cNvPr id="22" name="R3_sb208"/>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209"/>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His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slogan</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is 'One cannolo, one year, zero problems!' The Dragons don't smile.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 Dragons smile? · What's his slogan? · Is it a good slogan?</a:t>
            </a:r>
            <a:endParaRPr lang="en-US" sz="900" dirty="0"/>
          </a:p>
        </p:txBody>
      </p:sp>
      <p:sp>
        <p:nvSpPr>
          <p:cNvPr id="24" name="R4_sb210"/>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211"/>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asks them to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invest</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€50,000 for a 10%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share in the profits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want €50,000 or €5,000? · What share does he offer?</a:t>
            </a:r>
            <a:endParaRPr lang="en-US" sz="1150" dirty="0"/>
          </a:p>
        </p:txBody>
      </p:sp>
      <p:sp>
        <p:nvSpPr>
          <p:cNvPr id="26" name="R5_sb212"/>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213"/>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Dragons taste the cannolo. Horrible! One by one, they all say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I'm out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Do they like it? · What do they say? · Why? (you decide!)</a:t>
            </a:r>
            <a:endParaRPr lang="en-US" sz="1000" dirty="0"/>
          </a:p>
        </p:txBody>
      </p:sp>
      <p:sp>
        <p:nvSpPr>
          <p:cNvPr id="28" name="R6_sb214"/>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215"/>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But Salvo doesn't give up. Today his cannoli are a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success</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 in Bagheria, at least!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it a success or a failure? · And you – would you invest in Salvo?</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1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2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22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i 4 numeri!</a:t>
            </a:r>
            <a:endParaRPr lang="en-US" sz="950" dirty="0"/>
          </a:p>
        </p:txBody>
      </p:sp>
      <p:sp>
        <p:nvSpPr>
          <p:cNvPr id="9" name="note_22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2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prediction   ·   📖 SB p.78 · 5a</a:t>
            </a:r>
            <a:endParaRPr lang="en-US" sz="800" dirty="0"/>
          </a:p>
        </p:txBody>
      </p:sp>
      <p:sp>
        <p:nvSpPr>
          <p:cNvPr id="12" name="cd_225"/>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226"/>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4" name="nx_227"/>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5" name="sf_228"/>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6" name="nbl_229"/>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230"/>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18" name="bd_231"/>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19" name="bd_232"/>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0" name="bd_233"/>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1" name="pf_234"/>
          <p:cNvSpPr/>
          <p:nvPr/>
        </p:nvSpPr>
        <p:spPr>
          <a:xfrm rot="90000">
            <a:off x="5577840" y="1697355"/>
            <a:ext cx="3246120" cy="2457450"/>
          </a:xfrm>
          <a:prstGeom prst="roundRect">
            <a:avLst>
              <a:gd name="adj" fmla="val 632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35" descr="/home/claude/lls-course/v2/cache/8a2_cover_jpg_759x569_31.png">    </p:cNvPr>
          <p:cNvPicPr>
            <a:picLocks noChangeAspect="1"/>
          </p:cNvPicPr>
          <p:nvPr/>
        </p:nvPicPr>
        <p:blipFill>
          <a:blip r:embed="rId5"/>
          <a:stretch>
            <a:fillRect/>
          </a:stretch>
        </p:blipFill>
        <p:spPr>
          <a:xfrm rot="90000">
            <a:off x="5623560" y="1743075"/>
            <a:ext cx="3154680" cy="236601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40"/>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4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1–5. Controlla nel libro p.78.</a:t>
            </a:r>
            <a:endParaRPr lang="en-US" sz="950" dirty="0"/>
          </a:p>
        </p:txBody>
      </p:sp>
      <p:sp>
        <p:nvSpPr>
          <p:cNvPr id="9" name="note_24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2" name="cd_24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4" name="ln_247"/>
          <p:cNvSpPr/>
          <p:nvPr/>
        </p:nvSpPr>
        <p:spPr>
          <a:xfrm>
            <a:off x="548640" y="1920240"/>
            <a:ext cx="5349240" cy="53755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5" name="R1_lnA248"/>
          <p:cNvSpPr/>
          <p:nvPr/>
        </p:nvSpPr>
        <p:spPr>
          <a:xfrm>
            <a:off x="548640" y="1920240"/>
            <a:ext cx="5349240" cy="53755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16" name="ln_249"/>
          <p:cNvSpPr/>
          <p:nvPr/>
        </p:nvSpPr>
        <p:spPr>
          <a:xfrm>
            <a:off x="548640" y="2457799"/>
            <a:ext cx="5349240" cy="697230"/>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Contestants have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very successful business people.</a:t>
            </a:r>
            <a:endParaRPr lang="en-US" sz="1300" dirty="0"/>
          </a:p>
        </p:txBody>
      </p:sp>
      <p:sp>
        <p:nvSpPr>
          <p:cNvPr id="17" name="R2_lnA250"/>
          <p:cNvSpPr/>
          <p:nvPr/>
        </p:nvSpPr>
        <p:spPr>
          <a:xfrm>
            <a:off x="548640" y="2457799"/>
            <a:ext cx="5349240" cy="697230"/>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Contestants have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30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00" dirty="0">
                <a:solidFill>
                  <a:srgbClr val="1B2559"/>
                </a:solidFill>
                <a:latin typeface="Georgia" pitchFamily="34" charset="0"/>
                <a:ea typeface="Georgia" pitchFamily="34" charset="-122"/>
                <a:cs typeface="Georgia" pitchFamily="34" charset="-120"/>
              </a:rPr>
              <a:t> very successful business people.</a:t>
            </a:r>
            <a:endParaRPr lang="en-US" sz="1300" dirty="0"/>
          </a:p>
        </p:txBody>
      </p:sp>
      <p:sp>
        <p:nvSpPr>
          <p:cNvPr id="18" name="ln_251"/>
          <p:cNvSpPr/>
          <p:nvPr/>
        </p:nvSpPr>
        <p:spPr>
          <a:xfrm>
            <a:off x="548640" y="3155029"/>
            <a:ext cx="5349240" cy="601427"/>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300" dirty="0"/>
          </a:p>
        </p:txBody>
      </p:sp>
      <p:sp>
        <p:nvSpPr>
          <p:cNvPr id="19" name="ln_252"/>
          <p:cNvSpPr/>
          <p:nvPr/>
        </p:nvSpPr>
        <p:spPr>
          <a:xfrm>
            <a:off x="548640" y="3756456"/>
            <a:ext cx="5349240" cy="686585"/>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300" dirty="0"/>
          </a:p>
        </p:txBody>
      </p:sp>
      <p:sp>
        <p:nvSpPr>
          <p:cNvPr id="20" name="R3_lnA253"/>
          <p:cNvSpPr/>
          <p:nvPr/>
        </p:nvSpPr>
        <p:spPr>
          <a:xfrm>
            <a:off x="548640" y="3756456"/>
            <a:ext cx="5349240" cy="686585"/>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30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300" dirty="0"/>
          </a:p>
        </p:txBody>
      </p:sp>
      <p:sp>
        <p:nvSpPr>
          <p:cNvPr id="21" name="ln_254"/>
          <p:cNvSpPr/>
          <p:nvPr/>
        </p:nvSpPr>
        <p:spPr>
          <a:xfrm>
            <a:off x="548640" y="4443042"/>
            <a:ext cx="5349240" cy="26611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R4_lnA255"/>
          <p:cNvSpPr/>
          <p:nvPr/>
        </p:nvSpPr>
        <p:spPr>
          <a:xfrm>
            <a:off x="548640" y="4443042"/>
            <a:ext cx="5349240" cy="26611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3" name="pf_256"/>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57" descr="/home/claude/lls-course/v2/cache/8a2_investors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5" name="cd_258"/>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25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6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61"/>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den = tana</a:t>
            </a:r>
            <a:endParaRPr lang="en-US" sz="750" dirty="0"/>
          </a:p>
          <a:p>
            <a:pPr marL="152400" indent="-152400">
              <a:spcBef>
                <a:spcPts val="6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intimidating = che mette in soggezione</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2"/>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6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6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6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6–9. Controlla nel libro.</a:t>
            </a:r>
            <a:endParaRPr lang="en-US" sz="950" dirty="0"/>
          </a:p>
        </p:txBody>
      </p:sp>
      <p:sp>
        <p:nvSpPr>
          <p:cNvPr id="9" name="note_26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26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2" name="cd_271"/>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7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4" name="ln_273"/>
          <p:cNvSpPr/>
          <p:nvPr/>
        </p:nvSpPr>
        <p:spPr>
          <a:xfrm>
            <a:off x="548640" y="1920240"/>
            <a:ext cx="5349240" cy="733926"/>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250" dirty="0"/>
          </a:p>
        </p:txBody>
      </p:sp>
      <p:sp>
        <p:nvSpPr>
          <p:cNvPr id="15" name="R1_lnA274"/>
          <p:cNvSpPr/>
          <p:nvPr/>
        </p:nvSpPr>
        <p:spPr>
          <a:xfrm>
            <a:off x="548640" y="1920240"/>
            <a:ext cx="5349240" cy="733926"/>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2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250" dirty="0"/>
          </a:p>
        </p:txBody>
      </p:sp>
      <p:sp>
        <p:nvSpPr>
          <p:cNvPr id="16" name="ln_275"/>
          <p:cNvSpPr/>
          <p:nvPr/>
        </p:nvSpPr>
        <p:spPr>
          <a:xfrm>
            <a:off x="548640" y="2654166"/>
            <a:ext cx="5349240" cy="704569"/>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250" b="1" dirty="0">
                <a:solidFill>
                  <a:srgbClr val="2EB872"/>
                </a:solidFill>
                <a:latin typeface="Georgia" pitchFamily="34" charset="0"/>
                <a:ea typeface="Georgia" pitchFamily="34" charset="-122"/>
                <a:cs typeface="Georgia" pitchFamily="34" charset="-120"/>
              </a:rPr>
              <a:t> (7) ________ </a:t>
            </a:r>
            <a:pPr indent="0" marL="0">
              <a:buNone/>
            </a:pPr>
            <a:r>
              <a:rPr lang="en-US" sz="12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250" dirty="0"/>
          </a:p>
        </p:txBody>
      </p:sp>
      <p:sp>
        <p:nvSpPr>
          <p:cNvPr id="17" name="R2_lnA276"/>
          <p:cNvSpPr/>
          <p:nvPr/>
        </p:nvSpPr>
        <p:spPr>
          <a:xfrm>
            <a:off x="548640" y="2654166"/>
            <a:ext cx="5349240" cy="704569"/>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2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250" dirty="0"/>
          </a:p>
        </p:txBody>
      </p:sp>
      <p:sp>
        <p:nvSpPr>
          <p:cNvPr id="18" name="ln_277"/>
          <p:cNvSpPr/>
          <p:nvPr/>
        </p:nvSpPr>
        <p:spPr>
          <a:xfrm>
            <a:off x="548640" y="3358736"/>
            <a:ext cx="5349240" cy="369899"/>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250" dirty="0"/>
          </a:p>
        </p:txBody>
      </p:sp>
      <p:sp>
        <p:nvSpPr>
          <p:cNvPr id="19" name="ln_278"/>
          <p:cNvSpPr/>
          <p:nvPr/>
        </p:nvSpPr>
        <p:spPr>
          <a:xfrm>
            <a:off x="548640" y="3728634"/>
            <a:ext cx="5349240" cy="534298"/>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250" b="1" dirty="0">
                <a:solidFill>
                  <a:srgbClr val="2EB872"/>
                </a:solidFill>
                <a:latin typeface="Georgia" pitchFamily="34" charset="0"/>
                <a:ea typeface="Georgia" pitchFamily="34" charset="-122"/>
                <a:cs typeface="Georgia" pitchFamily="34" charset="-120"/>
              </a:rPr>
              <a:t> (8)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3_lnA279"/>
          <p:cNvSpPr/>
          <p:nvPr/>
        </p:nvSpPr>
        <p:spPr>
          <a:xfrm>
            <a:off x="548640" y="3728634"/>
            <a:ext cx="5349240" cy="534298"/>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280"/>
          <p:cNvSpPr/>
          <p:nvPr/>
        </p:nvSpPr>
        <p:spPr>
          <a:xfrm>
            <a:off x="548640" y="4262933"/>
            <a:ext cx="5349240" cy="446227"/>
          </a:xfrm>
          <a:prstGeom prst="rect">
            <a:avLst/>
          </a:prstGeom>
          <a:no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250" b="1" dirty="0">
                <a:solidFill>
                  <a:srgbClr val="2EB872"/>
                </a:solidFill>
                <a:latin typeface="Georgia" pitchFamily="34" charset="0"/>
                <a:ea typeface="Georgia" pitchFamily="34" charset="-122"/>
                <a:cs typeface="Georgia" pitchFamily="34" charset="-120"/>
              </a:rPr>
              <a:t> (9) ________ </a:t>
            </a:r>
            <a:pPr indent="0" marL="0">
              <a:buNone/>
            </a:pPr>
            <a:r>
              <a:rPr lang="en-US" sz="1250" dirty="0">
                <a:solidFill>
                  <a:srgbClr val="1B2559"/>
                </a:solidFill>
                <a:latin typeface="Georgia" pitchFamily="34" charset="0"/>
                <a:ea typeface="Georgia" pitchFamily="34" charset="-122"/>
                <a:cs typeface="Georgia" pitchFamily="34" charset="-120"/>
              </a:rPr>
              <a:t> businesses.</a:t>
            </a:r>
            <a:endParaRPr lang="en-US" sz="1250" dirty="0"/>
          </a:p>
        </p:txBody>
      </p:sp>
      <p:sp>
        <p:nvSpPr>
          <p:cNvPr id="22" name="R4_lnA281"/>
          <p:cNvSpPr/>
          <p:nvPr/>
        </p:nvSpPr>
        <p:spPr>
          <a:xfrm>
            <a:off x="548640" y="4262933"/>
            <a:ext cx="5349240" cy="446227"/>
          </a:xfrm>
          <a:prstGeom prst="rect">
            <a:avLst/>
          </a:prstGeom>
          <a:solidFill>
            <a:srgbClr val="FFFFFF"/>
          </a:solidFill>
          <a:ln/>
        </p:spPr>
        <p:txBody>
          <a:bodyPr wrap="square" lIns="0" tIns="0" rIns="0" bIns="0" rtlCol="0" anchor="t"/>
          <a:lstStyle/>
          <a:p>
            <a:pPr indent="0" marL="0">
              <a:buNone/>
            </a:pPr>
            <a:r>
              <a:rPr lang="en-US" sz="12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250" dirty="0">
                <a:solidFill>
                  <a:srgbClr val="1B2559"/>
                </a:solidFill>
                <a:latin typeface="Georgia" pitchFamily="34" charset="0"/>
                <a:ea typeface="Georgia" pitchFamily="34" charset="-122"/>
                <a:cs typeface="Georgia" pitchFamily="34" charset="-120"/>
              </a:rPr>
              <a:t> businesses.</a:t>
            </a:r>
            <a:endParaRPr lang="en-US" sz="1250" dirty="0"/>
          </a:p>
        </p:txBody>
      </p:sp>
      <p:sp>
        <p:nvSpPr>
          <p:cNvPr id="23" name="pf_282"/>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83" descr="/home/claude/lls-course/v2/cache/8a2_cover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5" name="cd_284"/>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28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28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287"/>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dreaded = temuto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 far = finora</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9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291"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92"/>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2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Investiresti? Decidi!</a:t>
            </a:r>
            <a:endParaRPr lang="en-US" sz="950" dirty="0"/>
          </a:p>
        </p:txBody>
      </p:sp>
      <p:sp>
        <p:nvSpPr>
          <p:cNvPr id="9" name="note_29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three products   ·   📖 SB p.78 · 5b (texts slightly shortened)</a:t>
            </a:r>
            <a:endParaRPr lang="en-US" sz="800" dirty="0"/>
          </a:p>
        </p:txBody>
      </p:sp>
      <p:sp>
        <p:nvSpPr>
          <p:cNvPr id="12" name="cd_297"/>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298"/>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4" name="ln_299"/>
          <p:cNvSpPr/>
          <p:nvPr/>
        </p:nvSpPr>
        <p:spPr>
          <a:xfrm>
            <a:off x="548640" y="1920240"/>
            <a:ext cx="5349240" cy="648189"/>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050" dirty="0"/>
          </a:p>
        </p:txBody>
      </p:sp>
      <p:sp>
        <p:nvSpPr>
          <p:cNvPr id="15" name="ln_300"/>
          <p:cNvSpPr/>
          <p:nvPr/>
        </p:nvSpPr>
        <p:spPr>
          <a:xfrm>
            <a:off x="548640" y="2568429"/>
            <a:ext cx="5349240" cy="255864"/>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050" dirty="0"/>
          </a:p>
        </p:txBody>
      </p:sp>
      <p:sp>
        <p:nvSpPr>
          <p:cNvPr id="16" name="ln_301"/>
          <p:cNvSpPr/>
          <p:nvPr/>
        </p:nvSpPr>
        <p:spPr>
          <a:xfrm>
            <a:off x="548640" y="2824294"/>
            <a:ext cx="5349240" cy="652454"/>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7" name="ln_302"/>
          <p:cNvSpPr/>
          <p:nvPr/>
        </p:nvSpPr>
        <p:spPr>
          <a:xfrm>
            <a:off x="548640" y="3476747"/>
            <a:ext cx="5349240" cy="345417"/>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050" dirty="0"/>
          </a:p>
        </p:txBody>
      </p:sp>
      <p:sp>
        <p:nvSpPr>
          <p:cNvPr id="18" name="ln_303"/>
          <p:cNvSpPr/>
          <p:nvPr/>
        </p:nvSpPr>
        <p:spPr>
          <a:xfrm>
            <a:off x="548640" y="3822164"/>
            <a:ext cx="5349240" cy="639661"/>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050" dirty="0"/>
          </a:p>
        </p:txBody>
      </p:sp>
      <p:sp>
        <p:nvSpPr>
          <p:cNvPr id="19" name="ln_304"/>
          <p:cNvSpPr/>
          <p:nvPr/>
        </p:nvSpPr>
        <p:spPr>
          <a:xfrm>
            <a:off x="548640" y="4461825"/>
            <a:ext cx="5349240" cy="247335"/>
          </a:xfrm>
          <a:prstGeom prst="rect">
            <a:avLst/>
          </a:prstGeom>
          <a:noFill/>
          <a:ln/>
        </p:spPr>
        <p:txBody>
          <a:bodyPr wrap="square" lIns="0" tIns="0" rIns="0" bIns="0" rtlCol="0" anchor="t"/>
          <a:lstStyle/>
          <a:p>
            <a:pPr indent="0" marL="0">
              <a:buNone/>
            </a:pPr>
            <a:r>
              <a:rPr lang="en-US" sz="1050" dirty="0">
                <a:solidFill>
                  <a:srgbClr val="1B2559"/>
                </a:solidFill>
                <a:latin typeface="Georgia" pitchFamily="34" charset="0"/>
                <a:ea typeface="Georgia" pitchFamily="34" charset="-122"/>
                <a:cs typeface="Georgia" pitchFamily="34" charset="-120"/>
              </a:rPr>
              <a:t>He asked for an £80,000 investment for 15% of his company.</a:t>
            </a:r>
            <a:endParaRPr lang="en-US" sz="1050" dirty="0"/>
          </a:p>
        </p:txBody>
      </p:sp>
      <p:sp>
        <p:nvSpPr>
          <p:cNvPr id="20" name="pf_305"/>
          <p:cNvSpPr/>
          <p:nvPr/>
        </p:nvSpPr>
        <p:spPr>
          <a:xfrm rot="120000">
            <a:off x="6598920" y="1417320"/>
            <a:ext cx="198120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06" descr="/home/claude/lls-course/v2/cache/8a2_jewellery_jpg_455x341_31.png">    </p:cNvPr>
          <p:cNvPicPr>
            <a:picLocks noChangeAspect="1"/>
          </p:cNvPicPr>
          <p:nvPr/>
        </p:nvPicPr>
        <p:blipFill>
          <a:blip r:embed="rId5"/>
          <a:stretch>
            <a:fillRect/>
          </a:stretch>
        </p:blipFill>
        <p:spPr>
          <a:xfrm rot="120000">
            <a:off x="6644640" y="1463040"/>
            <a:ext cx="1889760" cy="1417320"/>
          </a:xfrm>
          <a:prstGeom prst="rect">
            <a:avLst/>
          </a:prstGeom>
        </p:spPr>
      </p:pic>
      <p:sp>
        <p:nvSpPr>
          <p:cNvPr id="22" name="cd_30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3" name="ii_30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0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5" name="il_31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strap = cinturino</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untangle = sciogliere i nodi</a:t>
            </a:r>
            <a:endParaRPr lang="en-US" sz="9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5"/>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Investire o no? Scommetti, poi scoprilo!</a:t>
            </a:r>
            <a:endParaRPr lang="en-US" sz="950" dirty="0"/>
          </a:p>
        </p:txBody>
      </p:sp>
      <p:sp>
        <p:nvSpPr>
          <p:cNvPr id="9" name="note_3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 game</a:t>
            </a:r>
            <a:endParaRPr lang="en-US" sz="1250" dirty="0"/>
          </a:p>
        </p:txBody>
      </p:sp>
      <p:pic>
        <p:nvPicPr>
          <p:cNvPr id="10" name="logo_3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game · jigsaw   ·   📖 SB p.78 · 5b, 5c, 5d · Communication Dragons' Den A p.109, B p.113, C p.114</a:t>
            </a:r>
            <a:endParaRPr lang="en-US" sz="800" dirty="0"/>
          </a:p>
        </p:txBody>
      </p:sp>
      <p:sp>
        <p:nvSpPr>
          <p:cNvPr id="12" name="cd_32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2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2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Teams: bet INVEST or I'M OUT for each product.</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Squadre: scommettete INVESTE o FUORI.</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Groups of 3: read A p.109, B p.113, C p.114. Tell the others.</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Gruppi da 3: leggete A, B, C e raccontate.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Right bet = 1 point.</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Scommessa giusta = 1 punto.</a:t>
            </a:r>
            <a:endParaRPr lang="en-US" sz="950" dirty="0"/>
          </a:p>
        </p:txBody>
      </p:sp>
      <p:sp>
        <p:nvSpPr>
          <p:cNvPr id="16" name="pf_324"/>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25" descr="/home/claude/lls-course/v2/cache/8a2_slap_watch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18" name="bd_326"/>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327"/>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200" dirty="0"/>
          </a:p>
        </p:txBody>
      </p:sp>
      <p:sp>
        <p:nvSpPr>
          <p:cNvPr id="20" name="chip_328"/>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out → a failure</a:t>
            </a:r>
            <a:endParaRPr lang="en-US" sz="1200" dirty="0"/>
          </a:p>
        </p:txBody>
      </p:sp>
      <p:sp>
        <p:nvSpPr>
          <p:cNvPr id="21" name="bd_329"/>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330"/>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200" dirty="0"/>
          </a:p>
        </p:txBody>
      </p:sp>
      <p:sp>
        <p:nvSpPr>
          <p:cNvPr id="23" name="R1_chip331"/>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INVEST → a success</a:t>
            </a:r>
            <a:endParaRPr lang="en-US" sz="1200" dirty="0"/>
          </a:p>
        </p:txBody>
      </p:sp>
      <p:sp>
        <p:nvSpPr>
          <p:cNvPr id="24" name="bd_332"/>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333"/>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200" dirty="0"/>
          </a:p>
        </p:txBody>
      </p:sp>
      <p:sp>
        <p:nvSpPr>
          <p:cNvPr id="26" name="R2_chip334"/>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200" dirty="0"/>
          </a:p>
        </p:txBody>
      </p:sp>
      <p:sp>
        <p:nvSpPr>
          <p:cNvPr id="27" name="bd_335"/>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336"/>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200" dirty="0"/>
          </a:p>
        </p:txBody>
      </p:sp>
      <p:sp>
        <p:nvSpPr>
          <p:cNvPr id="29" name="R3_chip337"/>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4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4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4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Vero o falso? Correggi i falsi.</a:t>
            </a:r>
            <a:endParaRPr lang="en-US" sz="950" dirty="0"/>
          </a:p>
        </p:txBody>
      </p:sp>
      <p:sp>
        <p:nvSpPr>
          <p:cNvPr id="9" name="note_3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1   ·   📖 SB p.79 · 6a, 6b, 6c · audio 8.9 (script p.129)</a:t>
            </a:r>
            <a:endParaRPr lang="en-US" sz="800" dirty="0"/>
          </a:p>
        </p:txBody>
      </p:sp>
      <p:sp>
        <p:nvSpPr>
          <p:cNvPr id="12" name="ap_34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3" name="pf_3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349"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5" name="cd_35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3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8" name="gq_353"/>
          <p:cNvSpPr/>
          <p:nvPr/>
        </p:nvSpPr>
        <p:spPr>
          <a:xfrm>
            <a:off x="3383280" y="141732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19" name="R1_chip354"/>
          <p:cNvSpPr/>
          <p:nvPr/>
        </p:nvSpPr>
        <p:spPr>
          <a:xfrm>
            <a:off x="6812280" y="14173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0" name="gq_355"/>
          <p:cNvSpPr/>
          <p:nvPr/>
        </p:nvSpPr>
        <p:spPr>
          <a:xfrm>
            <a:off x="3383280" y="182880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1" name="R2_chip356"/>
          <p:cNvSpPr/>
          <p:nvPr/>
        </p:nvSpPr>
        <p:spPr>
          <a:xfrm>
            <a:off x="6812280" y="18288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2" name="gq_357"/>
          <p:cNvSpPr/>
          <p:nvPr/>
        </p:nvSpPr>
        <p:spPr>
          <a:xfrm>
            <a:off x="3383280" y="224028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3" name="R3_chip358"/>
          <p:cNvSpPr/>
          <p:nvPr/>
        </p:nvSpPr>
        <p:spPr>
          <a:xfrm>
            <a:off x="6812280" y="22402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4" name="gq_359"/>
          <p:cNvSpPr/>
          <p:nvPr/>
        </p:nvSpPr>
        <p:spPr>
          <a:xfrm>
            <a:off x="3383280" y="265176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25" name="R4_chip360"/>
          <p:cNvSpPr/>
          <p:nvPr/>
        </p:nvSpPr>
        <p:spPr>
          <a:xfrm>
            <a:off x="6812280" y="265176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26" name="gq_361"/>
          <p:cNvSpPr/>
          <p:nvPr/>
        </p:nvSpPr>
        <p:spPr>
          <a:xfrm>
            <a:off x="3383280" y="3063240"/>
            <a:ext cx="3337560" cy="347472"/>
          </a:xfrm>
          <a:prstGeom prst="roundRect">
            <a:avLst>
              <a:gd name="adj" fmla="val 2631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27" name="R5_chip362"/>
          <p:cNvSpPr/>
          <p:nvPr/>
        </p:nvSpPr>
        <p:spPr>
          <a:xfrm>
            <a:off x="6812280" y="306324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363"/>
          <p:cNvSpPr/>
          <p:nvPr/>
        </p:nvSpPr>
        <p:spPr>
          <a:xfrm>
            <a:off x="3383280" y="3474720"/>
            <a:ext cx="3337560" cy="347472"/>
          </a:xfrm>
          <a:prstGeom prst="roundRect">
            <a:avLst>
              <a:gd name="adj" fmla="val 2631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29" name="R6_chip364"/>
          <p:cNvSpPr/>
          <p:nvPr/>
        </p:nvSpPr>
        <p:spPr>
          <a:xfrm>
            <a:off x="6812280" y="347472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0" name="gq_365"/>
          <p:cNvSpPr/>
          <p:nvPr/>
        </p:nvSpPr>
        <p:spPr>
          <a:xfrm>
            <a:off x="3383280" y="3886200"/>
            <a:ext cx="3337560" cy="347472"/>
          </a:xfrm>
          <a:prstGeom prst="roundRect">
            <a:avLst>
              <a:gd name="adj" fmla="val 2631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1" name="R7_chip366"/>
          <p:cNvSpPr/>
          <p:nvPr/>
        </p:nvSpPr>
        <p:spPr>
          <a:xfrm>
            <a:off x="6812280" y="388620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2" name="gq_367"/>
          <p:cNvSpPr/>
          <p:nvPr/>
        </p:nvSpPr>
        <p:spPr>
          <a:xfrm>
            <a:off x="3383280" y="4297680"/>
            <a:ext cx="3337560" cy="347472"/>
          </a:xfrm>
          <a:prstGeom prst="roundRect">
            <a:avLst>
              <a:gd name="adj" fmla="val 26316"/>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3" name="R8_chip368"/>
          <p:cNvSpPr/>
          <p:nvPr/>
        </p:nvSpPr>
        <p:spPr>
          <a:xfrm>
            <a:off x="6812280" y="4297680"/>
            <a:ext cx="2057400" cy="347472"/>
          </a:xfrm>
          <a:prstGeom prst="roundRect">
            <a:avLst>
              <a:gd name="adj" fmla="val 26316"/>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0"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71"/>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7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7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7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Cosa dice Joe su 1–6?</a:t>
            </a:r>
            <a:endParaRPr lang="en-US" sz="950" dirty="0"/>
          </a:p>
        </p:txBody>
      </p:sp>
      <p:sp>
        <p:nvSpPr>
          <p:cNvPr id="9" name="note_37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2   ·   📖 SB p.79 · 6d, 6e · audio 8.10 (script pp.129–130)</a:t>
            </a:r>
            <a:endParaRPr lang="en-US" sz="800" dirty="0"/>
          </a:p>
        </p:txBody>
      </p:sp>
      <p:sp>
        <p:nvSpPr>
          <p:cNvPr id="12" name="ap_378"/>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3" name="pf_379"/>
          <p:cNvSpPr/>
          <p:nvPr/>
        </p:nvSpPr>
        <p:spPr>
          <a:xfrm rot="-90000">
            <a:off x="671163" y="2057400"/>
            <a:ext cx="1263714" cy="1325880"/>
          </a:xfrm>
          <a:prstGeom prst="roundRect">
            <a:avLst>
              <a:gd name="adj" fmla="val 1230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380" descr="/home/claude/lls-course/v2/cache/8a2_workshop_jpg_282x297_31.png">    </p:cNvPr>
          <p:cNvPicPr>
            <a:picLocks noChangeAspect="1"/>
          </p:cNvPicPr>
          <p:nvPr/>
        </p:nvPicPr>
        <p:blipFill>
          <a:blip r:embed="rId5"/>
          <a:stretch>
            <a:fillRect/>
          </a:stretch>
        </p:blipFill>
        <p:spPr>
          <a:xfrm rot="-90000">
            <a:off x="716883" y="2103120"/>
            <a:ext cx="1172274" cy="1234440"/>
          </a:xfrm>
          <a:prstGeom prst="rect">
            <a:avLst/>
          </a:prstGeom>
        </p:spPr>
      </p:pic>
      <p:sp>
        <p:nvSpPr>
          <p:cNvPr id="15" name="bd_381"/>
          <p:cNvSpPr/>
          <p:nvPr/>
        </p:nvSpPr>
        <p:spPr>
          <a:xfrm>
            <a:off x="570579" y="1956816"/>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6" name="pf_38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83" descr="/home/claude/lls-course/v2/cache/8a2_job_offer_jpg_407x297_31.png">    </p:cNvPr>
          <p:cNvPicPr>
            <a:picLocks noChangeAspect="1"/>
          </p:cNvPicPr>
          <p:nvPr/>
        </p:nvPicPr>
        <p:blipFill>
          <a:blip r:embed="rId6"/>
          <a:stretch>
            <a:fillRect/>
          </a:stretch>
        </p:blipFill>
        <p:spPr>
          <a:xfrm rot="90000">
            <a:off x="2331720" y="2103120"/>
            <a:ext cx="1691640" cy="1234440"/>
          </a:xfrm>
          <a:prstGeom prst="rect">
            <a:avLst/>
          </a:prstGeom>
        </p:spPr>
      </p:pic>
      <p:sp>
        <p:nvSpPr>
          <p:cNvPr id="18" name="bd_384"/>
          <p:cNvSpPr/>
          <p:nvPr/>
        </p:nvSpPr>
        <p:spPr>
          <a:xfrm>
            <a:off x="2185416" y="1956816"/>
            <a:ext cx="420624" cy="42062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19" name="cd_38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ii_38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8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2" name="il_38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what was different for Joe and Jake?</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cosa c'è stato di diverso per Joe e Jake?</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Make notes about 1–6.</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Riascolta. Prendi appunti su 1–6.</a:t>
            </a:r>
            <a:endParaRPr lang="en-US" sz="700" dirty="0"/>
          </a:p>
        </p:txBody>
      </p:sp>
      <p:sp>
        <p:nvSpPr>
          <p:cNvPr id="23" name="lq_389"/>
          <p:cNvSpPr/>
          <p:nvPr/>
        </p:nvSpPr>
        <p:spPr>
          <a:xfrm>
            <a:off x="6035040" y="210312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4" name="R1_chip390"/>
          <p:cNvSpPr/>
          <p:nvPr/>
        </p:nvSpPr>
        <p:spPr>
          <a:xfrm>
            <a:off x="7315200" y="21031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5" name="lq_391"/>
          <p:cNvSpPr/>
          <p:nvPr/>
        </p:nvSpPr>
        <p:spPr>
          <a:xfrm>
            <a:off x="6035040" y="254508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6" name="R2_chip392"/>
          <p:cNvSpPr/>
          <p:nvPr/>
        </p:nvSpPr>
        <p:spPr>
          <a:xfrm>
            <a:off x="7315200" y="254508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27" name="lq_393"/>
          <p:cNvSpPr/>
          <p:nvPr/>
        </p:nvSpPr>
        <p:spPr>
          <a:xfrm>
            <a:off x="6035040" y="2987040"/>
            <a:ext cx="1234440" cy="350520"/>
          </a:xfrm>
          <a:prstGeom prst="roundRect">
            <a:avLst>
              <a:gd name="adj" fmla="val 26087"/>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28" name="R3_chip394"/>
          <p:cNvSpPr/>
          <p:nvPr/>
        </p:nvSpPr>
        <p:spPr>
          <a:xfrm>
            <a:off x="7315200" y="298704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29" name="lq_395"/>
          <p:cNvSpPr/>
          <p:nvPr/>
        </p:nvSpPr>
        <p:spPr>
          <a:xfrm>
            <a:off x="6035040" y="3429000"/>
            <a:ext cx="1234440" cy="350520"/>
          </a:xfrm>
          <a:prstGeom prst="roundRect">
            <a:avLst>
              <a:gd name="adj" fmla="val 26087"/>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0" name="R4_chip396"/>
          <p:cNvSpPr/>
          <p:nvPr/>
        </p:nvSpPr>
        <p:spPr>
          <a:xfrm>
            <a:off x="7315200" y="342900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1" name="lq_397"/>
          <p:cNvSpPr/>
          <p:nvPr/>
        </p:nvSpPr>
        <p:spPr>
          <a:xfrm>
            <a:off x="6035040" y="3870960"/>
            <a:ext cx="1234440" cy="350520"/>
          </a:xfrm>
          <a:prstGeom prst="roundRect">
            <a:avLst>
              <a:gd name="adj" fmla="val 26087"/>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2" name="R5_chip398"/>
          <p:cNvSpPr/>
          <p:nvPr/>
        </p:nvSpPr>
        <p:spPr>
          <a:xfrm>
            <a:off x="7315200" y="387096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3" name="lq_399"/>
          <p:cNvSpPr/>
          <p:nvPr/>
        </p:nvSpPr>
        <p:spPr>
          <a:xfrm>
            <a:off x="6035040" y="4312920"/>
            <a:ext cx="1234440" cy="350520"/>
          </a:xfrm>
          <a:prstGeom prst="roundRect">
            <a:avLst>
              <a:gd name="adj" fmla="val 26087"/>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4" name="R6_chip400"/>
          <p:cNvSpPr/>
          <p:nvPr/>
        </p:nvSpPr>
        <p:spPr>
          <a:xfrm>
            <a:off x="7315200" y="4312920"/>
            <a:ext cx="1554480" cy="350520"/>
          </a:xfrm>
          <a:prstGeom prst="roundRect">
            <a:avLst>
              <a:gd name="adj" fmla="val 26087"/>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0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0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0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vota! Poi ascolta la fine.</a:t>
            </a:r>
            <a:endParaRPr lang="en-US" sz="950" dirty="0"/>
          </a:p>
        </p:txBody>
      </p:sp>
      <p:sp>
        <p:nvSpPr>
          <p:cNvPr id="9" name="note_40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Controlled practice</a:t>
            </a:r>
            <a:endParaRPr lang="en-US" sz="1250" dirty="0"/>
          </a:p>
        </p:txBody>
      </p:sp>
      <p:pic>
        <p:nvPicPr>
          <p:cNvPr id="10" name="logo_4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3   ·   📖 SB p.79 · 6f · audio 8.11 (script p.130)</a:t>
            </a:r>
            <a:endParaRPr lang="en-US" sz="800" dirty="0"/>
          </a:p>
        </p:txBody>
      </p:sp>
      <p:sp>
        <p:nvSpPr>
          <p:cNvPr id="12" name="cd_410"/>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1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1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413"/>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YOU: a job with a very good salary – or your own business?</a:t>
            </a:r>
            <a:endParaRPr lang="en-US" sz="950" dirty="0"/>
          </a:p>
        </p:txBody>
      </p:sp>
      <p:sp>
        <p:nvSpPr>
          <p:cNvPr id="16" name="pf_414"/>
          <p:cNvSpPr/>
          <p:nvPr/>
        </p:nvSpPr>
        <p:spPr>
          <a:xfrm rot="-90000">
            <a:off x="786937" y="2569464"/>
            <a:ext cx="1763687" cy="1545336"/>
          </a:xfrm>
          <a:prstGeom prst="roundRect">
            <a:avLst>
              <a:gd name="adj" fmla="val 1005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15" descr="/home/claude/lls-course/v2/cache/8a2_job_offer_jpg_402x350_31.png">    </p:cNvPr>
          <p:cNvPicPr>
            <a:picLocks noChangeAspect="1"/>
          </p:cNvPicPr>
          <p:nvPr/>
        </p:nvPicPr>
        <p:blipFill>
          <a:blip r:embed="rId5"/>
          <a:stretch>
            <a:fillRect/>
          </a:stretch>
        </p:blipFill>
        <p:spPr>
          <a:xfrm rot="-90000">
            <a:off x="832657" y="2615184"/>
            <a:ext cx="1672247" cy="1453896"/>
          </a:xfrm>
          <a:prstGeom prst="rect">
            <a:avLst/>
          </a:prstGeom>
        </p:spPr>
      </p:pic>
      <p:sp>
        <p:nvSpPr>
          <p:cNvPr id="18" name="ap_416"/>
          <p:cNvSpPr/>
          <p:nvPr/>
        </p:nvSpPr>
        <p:spPr>
          <a:xfrm>
            <a:off x="365760" y="4297680"/>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19" name="bd_417"/>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418"/>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1" name="R1_chip419"/>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said no.</a:t>
            </a:r>
            <a:endParaRPr lang="en-US" sz="1050" dirty="0"/>
          </a:p>
        </p:txBody>
      </p:sp>
      <p:sp>
        <p:nvSpPr>
          <p:cNvPr id="22" name="bd_420"/>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421"/>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4" name="R2_chip422"/>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50" dirty="0"/>
          </a:p>
        </p:txBody>
      </p:sp>
      <p:sp>
        <p:nvSpPr>
          <p:cNvPr id="25" name="bd_423"/>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424"/>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27" name="R3_chip425"/>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not for a second.</a:t>
            </a:r>
            <a:endParaRPr lang="en-US" sz="1050" dirty="0"/>
          </a:p>
        </p:txBody>
      </p:sp>
      <p:sp>
        <p:nvSpPr>
          <p:cNvPr id="28" name="bd_426"/>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427"/>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0" name="R4_chip428"/>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1"/>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3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-ing e to + infinito.</a:t>
            </a:r>
            <a:endParaRPr lang="en-US" sz="950" dirty="0"/>
          </a:p>
        </p:txBody>
      </p:sp>
      <p:sp>
        <p:nvSpPr>
          <p:cNvPr id="9" name="note_435"/>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FIND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TROVA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p:txBody>
      </p:sp>
      <p:pic>
        <p:nvPicPr>
          <p:cNvPr id="10" name="logo_4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Noticing · Joe's interview   ·   📖 SB audio script 8.9–8.11 (pp.129–130)</a:t>
            </a:r>
            <a:endParaRPr lang="en-US" sz="800" dirty="0"/>
          </a:p>
        </p:txBody>
      </p:sp>
      <p:sp>
        <p:nvSpPr>
          <p:cNvPr id="12" name="pf_438"/>
          <p:cNvSpPr/>
          <p:nvPr/>
        </p:nvSpPr>
        <p:spPr>
          <a:xfrm rot="-120000">
            <a:off x="794673" y="1371600"/>
            <a:ext cx="1611054" cy="1691640"/>
          </a:xfrm>
          <a:prstGeom prst="roundRect">
            <a:avLst>
              <a:gd name="adj" fmla="val 964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39" descr="/home/claude/lls-course/v2/cache/8a2_workshop_jpg_366x385_31.png">    </p:cNvPr>
          <p:cNvPicPr>
            <a:picLocks noChangeAspect="1"/>
          </p:cNvPicPr>
          <p:nvPr/>
        </p:nvPicPr>
        <p:blipFill>
          <a:blip r:embed="rId5"/>
          <a:stretch>
            <a:fillRect/>
          </a:stretch>
        </p:blipFill>
        <p:spPr>
          <a:xfrm rot="-120000">
            <a:off x="840393" y="1417320"/>
            <a:ext cx="1519614" cy="1600200"/>
          </a:xfrm>
          <a:prstGeom prst="rect">
            <a:avLst/>
          </a:prstGeom>
        </p:spPr>
      </p:pic>
      <p:sp>
        <p:nvSpPr>
          <p:cNvPr id="14" name="cd_440"/>
          <p:cNvSpPr/>
          <p:nvPr/>
        </p:nvSpPr>
        <p:spPr>
          <a:xfrm>
            <a:off x="320040" y="3246120"/>
            <a:ext cx="260604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41"/>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2"/>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7" name="il_443"/>
          <p:cNvSpPr/>
          <p:nvPr/>
        </p:nvSpPr>
        <p:spPr>
          <a:xfrm>
            <a:off x="886968" y="3739896"/>
            <a:ext cx="194767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-ing (gerund)</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to + infinitive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infinitive (no to)</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WHY? (rules on slide 2)</a:t>
            </a:r>
            <a:endParaRPr lang="en-US" sz="950" dirty="0"/>
          </a:p>
        </p:txBody>
      </p:sp>
      <p:sp>
        <p:nvSpPr>
          <p:cNvPr id="18" name="who_444"/>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19" name="sl_445"/>
          <p:cNvSpPr/>
          <p:nvPr/>
        </p:nvSpPr>
        <p:spPr>
          <a:xfrm>
            <a:off x="4114800" y="1444752"/>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0" name="R1_slA446"/>
          <p:cNvSpPr/>
          <p:nvPr/>
        </p:nvSpPr>
        <p:spPr>
          <a:xfrm>
            <a:off x="4114800" y="1444752"/>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1" name="who_447"/>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2" name="sl_448"/>
          <p:cNvSpPr/>
          <p:nvPr/>
        </p:nvSpPr>
        <p:spPr>
          <a:xfrm>
            <a:off x="4114800" y="1861947"/>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3" name="R2_slA449"/>
          <p:cNvSpPr/>
          <p:nvPr/>
        </p:nvSpPr>
        <p:spPr>
          <a:xfrm>
            <a:off x="4114800" y="1861947"/>
            <a:ext cx="4754880" cy="362331"/>
          </a:xfrm>
          <a:prstGeom prst="roundRect">
            <a:avLst>
              <a:gd name="adj" fmla="val 30284"/>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4" name="who_450"/>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5" name="sl_451"/>
          <p:cNvSpPr/>
          <p:nvPr/>
        </p:nvSpPr>
        <p:spPr>
          <a:xfrm>
            <a:off x="4114800" y="227914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6" name="R3_slA452"/>
          <p:cNvSpPr/>
          <p:nvPr/>
        </p:nvSpPr>
        <p:spPr>
          <a:xfrm>
            <a:off x="4114800" y="227914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7" name="who_453"/>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8" name="sl_454"/>
          <p:cNvSpPr/>
          <p:nvPr/>
        </p:nvSpPr>
        <p:spPr>
          <a:xfrm>
            <a:off x="4114800" y="2696337"/>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29" name="R4_slA455"/>
          <p:cNvSpPr/>
          <p:nvPr/>
        </p:nvSpPr>
        <p:spPr>
          <a:xfrm>
            <a:off x="4114800" y="2696337"/>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0" name="who_456"/>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1" name="sl_457"/>
          <p:cNvSpPr/>
          <p:nvPr/>
        </p:nvSpPr>
        <p:spPr>
          <a:xfrm>
            <a:off x="4114800" y="311353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2" name="R5_slA458"/>
          <p:cNvSpPr/>
          <p:nvPr/>
        </p:nvSpPr>
        <p:spPr>
          <a:xfrm>
            <a:off x="4114800" y="3113532"/>
            <a:ext cx="4754880" cy="362331"/>
          </a:xfrm>
          <a:prstGeom prst="roundRect">
            <a:avLst>
              <a:gd name="adj" fmla="val 30284"/>
            </a:avLst>
          </a:prstGeom>
          <a:solidFill>
            <a:srgbClr val="FFFFFF"/>
          </a:solidFill>
          <a:ln w="285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3" name="who_459"/>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4" name="sl_460"/>
          <p:cNvSpPr/>
          <p:nvPr/>
        </p:nvSpPr>
        <p:spPr>
          <a:xfrm>
            <a:off x="4114800" y="353072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5" name="R6_slA461"/>
          <p:cNvSpPr/>
          <p:nvPr/>
        </p:nvSpPr>
        <p:spPr>
          <a:xfrm>
            <a:off x="4114800" y="353072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6" name="who_462"/>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7" name="sl_463"/>
          <p:cNvSpPr/>
          <p:nvPr/>
        </p:nvSpPr>
        <p:spPr>
          <a:xfrm>
            <a:off x="4114800" y="3947922"/>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8" name="R7_slA464"/>
          <p:cNvSpPr/>
          <p:nvPr/>
        </p:nvSpPr>
        <p:spPr>
          <a:xfrm>
            <a:off x="4114800" y="3947922"/>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9" name="who_465"/>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0" name="sl_466"/>
          <p:cNvSpPr/>
          <p:nvPr/>
        </p:nvSpPr>
        <p:spPr>
          <a:xfrm>
            <a:off x="4114800" y="436511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
        <p:nvSpPr>
          <p:cNvPr id="41" name="R8_slA467"/>
          <p:cNvSpPr/>
          <p:nvPr/>
        </p:nvSpPr>
        <p:spPr>
          <a:xfrm>
            <a:off x="4114800" y="4365117"/>
            <a:ext cx="4754880" cy="362331"/>
          </a:xfrm>
          <a:prstGeom prst="roundRect">
            <a:avLst>
              <a:gd name="adj" fmla="val 30284"/>
            </a:avLst>
          </a:prstGeom>
          <a:solidFill>
            <a:srgbClr val="FFFFFF"/>
          </a:solidFill>
          <a:ln w="285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6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7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47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4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l'ordine. Poi ascolta e controlla.</a:t>
            </a:r>
            <a:endParaRPr lang="en-US" sz="950" dirty="0"/>
          </a:p>
        </p:txBody>
      </p:sp>
      <p:sp>
        <p:nvSpPr>
          <p:cNvPr id="9" name="note_47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REORDER</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Listening for detail</a:t>
            </a:r>
            <a:endParaRPr lang="en-US" sz="1150" dirty="0"/>
          </a:p>
        </p:txBody>
      </p:sp>
      <p:pic>
        <p:nvPicPr>
          <p:cNvPr id="10"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the model pitch   ·   📖 SB p.79 · 7a · audio 8.12 (script p.130)</a:t>
            </a:r>
            <a:endParaRPr lang="en-US" sz="800" dirty="0"/>
          </a:p>
        </p:txBody>
      </p:sp>
      <p:sp>
        <p:nvSpPr>
          <p:cNvPr id="12" name="ap_477"/>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3" name="pf_47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79"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5" name="cd_480"/>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48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18" name="gq_483"/>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19" name="R1_chip484"/>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0" name="gq_485"/>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1" name="R2_chip486"/>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2" name="gq_487"/>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3" name="R3_chip488"/>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4" name="gq_489"/>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25" name="R4_chip490"/>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26" name="gq_491"/>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27" name="R5_chip492"/>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9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9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496"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97"/>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4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coppia: inventate un prodotto!</a:t>
            </a:r>
            <a:endParaRPr lang="en-US" sz="950" dirty="0"/>
          </a:p>
        </p:txBody>
      </p:sp>
      <p:sp>
        <p:nvSpPr>
          <p:cNvPr id="9" name="note_49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150" dirty="0"/>
          </a:p>
        </p:txBody>
      </p:sp>
      <p:pic>
        <p:nvPicPr>
          <p:cNvPr id="10" name="logo_5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prepare your pitch   ·   📖 SB p.79 · 7b, 7c · Presenting a product</a:t>
            </a:r>
            <a:endParaRPr lang="en-US" sz="800" dirty="0"/>
          </a:p>
        </p:txBody>
      </p:sp>
      <p:sp>
        <p:nvSpPr>
          <p:cNvPr id="12" name="pf_502"/>
          <p:cNvSpPr/>
          <p:nvPr/>
        </p:nvSpPr>
        <p:spPr>
          <a:xfrm rot="-120000">
            <a:off x="845820" y="1371600"/>
            <a:ext cx="173736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03" descr="/home/claude/lls-course/v2/cache/8a2_gadget_jpg_396x297_31.png">    </p:cNvPr>
          <p:cNvPicPr>
            <a:picLocks noChangeAspect="1"/>
          </p:cNvPicPr>
          <p:nvPr/>
        </p:nvPicPr>
        <p:blipFill>
          <a:blip r:embed="rId5"/>
          <a:stretch>
            <a:fillRect/>
          </a:stretch>
        </p:blipFill>
        <p:spPr>
          <a:xfrm rot="-120000">
            <a:off x="891540" y="1417320"/>
            <a:ext cx="1645920" cy="1234440"/>
          </a:xfrm>
          <a:prstGeom prst="rect">
            <a:avLst/>
          </a:prstGeom>
        </p:spPr>
      </p:pic>
      <p:sp>
        <p:nvSpPr>
          <p:cNvPr id="14" name="cd_504"/>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05"/>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6"/>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07"/>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an app · a drink · a gadget…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We think it will be popular because…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It's easy to use.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It's perfect for (+ -ing)…</a:t>
            </a:r>
            <a:endParaRPr lang="en-US" sz="1100" dirty="0"/>
          </a:p>
        </p:txBody>
      </p:sp>
      <p:sp>
        <p:nvSpPr>
          <p:cNvPr id="18" name="R1_qb508"/>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09"/>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Good morning. I'm Sara, this is Luca, and we're here to tell you about SunBag.</a:t>
            </a:r>
            <a:endParaRPr lang="en-US" sz="1000" dirty="0"/>
          </a:p>
        </p:txBody>
      </p:sp>
      <p:sp>
        <p:nvSpPr>
          <p:cNvPr id="20" name="R2_qb510"/>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11"/>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 is it? Describe it.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It's a beach bag with a solar panel. It charges your phone while you're at the beach.</a:t>
            </a:r>
            <a:endParaRPr lang="en-US" sz="1000" dirty="0"/>
          </a:p>
        </p:txBody>
      </p:sp>
      <p:sp>
        <p:nvSpPr>
          <p:cNvPr id="22" name="R3_qb512"/>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13"/>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Who is it for?</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This product is for students and families who spend all day by the sea.</a:t>
            </a:r>
            <a:endParaRPr lang="en-US" sz="1000" dirty="0"/>
          </a:p>
        </p:txBody>
      </p:sp>
      <p:sp>
        <p:nvSpPr>
          <p:cNvPr id="24" name="R4_qb514"/>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515"/>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How much will it cost?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will cost €29.99.</a:t>
            </a:r>
            <a:endParaRPr lang="en-US" sz="1000" dirty="0"/>
          </a:p>
        </p:txBody>
      </p:sp>
      <p:sp>
        <p:nvSpPr>
          <p:cNvPr id="26" name="R5_qb516"/>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517"/>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What's your slogan?</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Our slogan is 'SunBag – never lose your battery again!'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2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22"/>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Dragons: investite o no?</a:t>
            </a:r>
            <a:endParaRPr lang="en-US" sz="950" dirty="0"/>
          </a:p>
        </p:txBody>
      </p:sp>
      <p:sp>
        <p:nvSpPr>
          <p:cNvPr id="9" name="note_5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7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5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game · role play   ·   📖 SB p.79 · 7d</a:t>
            </a:r>
            <a:endParaRPr lang="en-US" sz="800" dirty="0"/>
          </a:p>
        </p:txBody>
      </p:sp>
      <p:sp>
        <p:nvSpPr>
          <p:cNvPr id="12" name="cd_527"/>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2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30"/>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Pairs: 1-minute pitch.</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Coppie: un minuto di presentazione.</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Dragons: ask one question each.</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Dragons: una domanda a testa.</a:t>
            </a:r>
            <a:endParaRPr lang="en-US" sz="950" dirty="0"/>
          </a:p>
          <a:p>
            <a:pPr marL="152400" indent="-152400">
              <a:spcBef>
                <a:spcPts val="6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Dragons: invest €… or 'I'm out because…'</a:t>
            </a:r>
            <a:endParaRPr lang="en-US" sz="950" dirty="0"/>
          </a:p>
          <a:p>
            <a:pPr marL="152400" indent="-152400">
              <a:spcAft>
                <a:spcPts val="200"/>
              </a:spcAft>
              <a:buSzPct val="100000"/>
              <a:buChar char=" "/>
            </a:pPr>
            <a:r>
              <a:rPr lang="en-US" sz="950" dirty="0">
                <a:solidFill>
                  <a:srgbClr val="5B6785"/>
                </a:solidFill>
                <a:latin typeface="Segoe UI Semibold" pitchFamily="34" charset="0"/>
                <a:ea typeface="Segoe UI Semibold" pitchFamily="34" charset="-122"/>
                <a:cs typeface="Segoe UI Semibold" pitchFamily="34" charset="-120"/>
              </a:rPr>
              <a:t>Investite €… o 'I'm out perché…'</a:t>
            </a:r>
            <a:endParaRPr lang="en-US" sz="950" dirty="0"/>
          </a:p>
        </p:txBody>
      </p:sp>
      <p:sp>
        <p:nvSpPr>
          <p:cNvPr id="16" name="pf_531"/>
          <p:cNvSpPr/>
          <p:nvPr/>
        </p:nvSpPr>
        <p:spPr>
          <a:xfrm rot="-120000">
            <a:off x="943834" y="4069080"/>
            <a:ext cx="1404172"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32" descr="/home/claude/lls-course/v2/cache/8a2_class_pitch_jpg_316x253_31.png">    </p:cNvPr>
          <p:cNvPicPr>
            <a:picLocks noChangeAspect="1"/>
          </p:cNvPicPr>
          <p:nvPr/>
        </p:nvPicPr>
        <p:blipFill>
          <a:blip r:embed="rId5"/>
          <a:stretch>
            <a:fillRect/>
          </a:stretch>
        </p:blipFill>
        <p:spPr>
          <a:xfrm rot="-120000">
            <a:off x="989554" y="4114800"/>
            <a:ext cx="1312732" cy="1051560"/>
          </a:xfrm>
          <a:prstGeom prst="rect">
            <a:avLst/>
          </a:prstGeom>
        </p:spPr>
      </p:pic>
      <p:sp>
        <p:nvSpPr>
          <p:cNvPr id="18" name="bd_53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53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price</a:t>
            </a:r>
            <a:endParaRPr lang="en-US" sz="1250" dirty="0"/>
          </a:p>
        </p:txBody>
      </p:sp>
      <p:sp>
        <p:nvSpPr>
          <p:cNvPr id="20" name="chip_53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50" dirty="0"/>
          </a:p>
        </p:txBody>
      </p:sp>
      <p:sp>
        <p:nvSpPr>
          <p:cNvPr id="21" name="bd_53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3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250" dirty="0"/>
          </a:p>
        </p:txBody>
      </p:sp>
      <p:sp>
        <p:nvSpPr>
          <p:cNvPr id="23" name="R1_chip53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Who's going to buy it?</a:t>
            </a:r>
            <a:endParaRPr lang="en-US" sz="1150" dirty="0"/>
          </a:p>
        </p:txBody>
      </p:sp>
      <p:sp>
        <p:nvSpPr>
          <p:cNvPr id="24" name="bd_53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ask about the money</a:t>
            </a:r>
            <a:endParaRPr lang="en-US" sz="1250" dirty="0"/>
          </a:p>
        </p:txBody>
      </p:sp>
      <p:sp>
        <p:nvSpPr>
          <p:cNvPr id="26" name="R2_chip54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50" dirty="0"/>
          </a:p>
        </p:txBody>
      </p:sp>
      <p:sp>
        <p:nvSpPr>
          <p:cNvPr id="27" name="bd_54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say YES</a:t>
            </a:r>
            <a:endParaRPr lang="en-US" sz="1250" dirty="0"/>
          </a:p>
        </p:txBody>
      </p:sp>
      <p:sp>
        <p:nvSpPr>
          <p:cNvPr id="29" name="R3_chip54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50" dirty="0"/>
          </a:p>
        </p:txBody>
      </p:sp>
      <p:sp>
        <p:nvSpPr>
          <p:cNvPr id="30" name="bd_54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4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Dragon: say NO</a:t>
            </a:r>
            <a:endParaRPr lang="en-US" sz="1250" dirty="0"/>
          </a:p>
        </p:txBody>
      </p:sp>
      <p:sp>
        <p:nvSpPr>
          <p:cNvPr id="32" name="R4_chip54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3" name="bd_54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4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winner!</a:t>
            </a:r>
            <a:endParaRPr lang="en-US" sz="1250" dirty="0"/>
          </a:p>
        </p:txBody>
      </p:sp>
      <p:sp>
        <p:nvSpPr>
          <p:cNvPr id="35" name="R5_chip55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5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Exit · what can you remember?</a:t>
            </a:r>
            <a:endParaRPr lang="en-US" sz="800" dirty="0"/>
          </a:p>
        </p:txBody>
      </p:sp>
      <p:sp>
        <p:nvSpPr>
          <p:cNvPr id="12" name="bd_560"/>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1"/>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business words from today (no looking!)</a:t>
            </a:r>
            <a:endParaRPr lang="en-US" sz="1400" dirty="0"/>
          </a:p>
        </p:txBody>
      </p:sp>
      <p:sp>
        <p:nvSpPr>
          <p:cNvPr id="14" name="bd_562"/>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3"/>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things that happened to Joe and Jake in the Den</a:t>
            </a:r>
            <a:endParaRPr lang="en-US" sz="1400" dirty="0"/>
          </a:p>
        </p:txBody>
      </p:sp>
      <p:sp>
        <p:nvSpPr>
          <p:cNvPr id="16" name="bd_564"/>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5"/>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slogan for YOUR product</a:t>
            </a:r>
            <a:endParaRPr lang="en-US" sz="1400" dirty="0"/>
          </a:p>
        </p:txBody>
      </p:sp>
      <p:sp>
        <p:nvSpPr>
          <p:cNvPr id="18" name="cd_566"/>
          <p:cNvSpPr/>
          <p:nvPr/>
        </p:nvSpPr>
        <p:spPr>
          <a:xfrm>
            <a:off x="5669280" y="1417320"/>
            <a:ext cx="320040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6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9"/>
          <p:cNvSpPr/>
          <p:nvPr/>
        </p:nvSpPr>
        <p:spPr>
          <a:xfrm>
            <a:off x="6236208" y="1911096"/>
            <a:ext cx="254203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8A: 1c, 1d, 2a, 3c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p.121: a covering email (c)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570"/>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7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7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Review · what did you do today?</a:t>
            </a:r>
            <a:endParaRPr lang="en-US" sz="800" dirty="0"/>
          </a:p>
        </p:txBody>
      </p:sp>
      <p:sp>
        <p:nvSpPr>
          <p:cNvPr id="12" name="cd_580"/>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8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8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TV show for entrepreneurs</a:t>
            </a:r>
            <a:endParaRPr lang="en-US" sz="1350" dirty="0"/>
          </a:p>
        </p:txBody>
      </p:sp>
      <p:sp>
        <p:nvSpPr>
          <p:cNvPr id="15" name="R1_tk58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84"/>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8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8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contestant's story</a:t>
            </a:r>
            <a:endParaRPr lang="en-US" sz="1350" dirty="0"/>
          </a:p>
        </p:txBody>
      </p:sp>
      <p:sp>
        <p:nvSpPr>
          <p:cNvPr id="19" name="R2_tk58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588"/>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58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59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Spotted -ing and to + infinitive in real speech</a:t>
            </a:r>
            <a:endParaRPr lang="en-US" sz="1350" dirty="0"/>
          </a:p>
        </p:txBody>
      </p:sp>
      <p:sp>
        <p:nvSpPr>
          <p:cNvPr id="23" name="R3_tk59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592"/>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59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59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59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596"/>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597"/>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598"/>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Pitched your own product to the 'Dragons'</a:t>
            </a:r>
            <a:endParaRPr lang="en-US" sz="1350" dirty="0"/>
          </a:p>
        </p:txBody>
      </p:sp>
      <p:sp>
        <p:nvSpPr>
          <p:cNvPr id="31" name="R5_tk599"/>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0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01"/>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02"/>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03"/>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04"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0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0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608"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09"/>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6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un prodotto TERRIBILE!</a:t>
            </a:r>
            <a:endParaRPr lang="en-US" sz="950" dirty="0"/>
          </a:p>
        </p:txBody>
      </p:sp>
      <p:sp>
        <p:nvSpPr>
          <p:cNvPr id="9" name="note_61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reverse pitch</a:t>
            </a:r>
            <a:endParaRPr lang="en-US" sz="800" dirty="0"/>
          </a:p>
        </p:txBody>
      </p:sp>
      <p:sp>
        <p:nvSpPr>
          <p:cNvPr id="12" name="ext_61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15"/>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1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6" name="il_618"/>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Take a useless product.</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Prendete un prodotto inutile.</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3 minutes: find 3 'advantages' + a slogan.</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3 minuti: 3 'vantaggi' + uno slogan.</a:t>
            </a:r>
            <a:endParaRPr lang="en-US" sz="1000" dirty="0"/>
          </a:p>
          <a:p>
            <a:pPr marL="152400" indent="-152400">
              <a:spcBef>
                <a:spcPts val="6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Pitch it. Dragons: keep a straight face!</a:t>
            </a:r>
            <a:endParaRPr lang="en-US" sz="1000" dirty="0"/>
          </a:p>
          <a:p>
            <a:pPr marL="152400" indent="-152400">
              <a:spcAft>
                <a:spcPts val="200"/>
              </a:spcAft>
              <a:buSzPct val="100000"/>
              <a:buChar char=" "/>
            </a:pPr>
            <a:r>
              <a:rPr lang="en-US" sz="1000" dirty="0">
                <a:solidFill>
                  <a:srgbClr val="5B6785"/>
                </a:solidFill>
                <a:latin typeface="Segoe UI Semibold" pitchFamily="34" charset="0"/>
                <a:ea typeface="Segoe UI Semibold" pitchFamily="34" charset="-122"/>
                <a:cs typeface="Segoe UI Semibold" pitchFamily="34" charset="-120"/>
              </a:rPr>
              <a:t>Presentate. Dragons: niente risate!</a:t>
            </a:r>
            <a:endParaRPr lang="en-US" sz="1000" dirty="0"/>
          </a:p>
        </p:txBody>
      </p:sp>
      <p:sp>
        <p:nvSpPr>
          <p:cNvPr id="17" name="pf_619"/>
          <p:cNvSpPr/>
          <p:nvPr/>
        </p:nvSpPr>
        <p:spPr>
          <a:xfrm rot="-120000">
            <a:off x="899160" y="4069080"/>
            <a:ext cx="149352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0" descr="/home/claude/lls-course/v2/cache/8a2_chocolate_teapot_jpg_337x253_31.png">    </p:cNvPr>
          <p:cNvPicPr>
            <a:picLocks noChangeAspect="1"/>
          </p:cNvPicPr>
          <p:nvPr/>
        </p:nvPicPr>
        <p:blipFill>
          <a:blip r:embed="rId5"/>
          <a:stretch>
            <a:fillRect/>
          </a:stretch>
        </p:blipFill>
        <p:spPr>
          <a:xfrm rot="-120000">
            <a:off x="944880" y="4114800"/>
            <a:ext cx="1402080" cy="1051560"/>
          </a:xfrm>
          <a:prstGeom prst="rect">
            <a:avLst/>
          </a:prstGeom>
        </p:spPr>
      </p:pic>
      <p:sp>
        <p:nvSpPr>
          <p:cNvPr id="19" name="bd_621"/>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20" name="gq_622"/>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chocolate teapot</a:t>
            </a:r>
            <a:endParaRPr lang="en-US" sz="1250" dirty="0"/>
          </a:p>
        </p:txBody>
      </p:sp>
      <p:sp>
        <p:nvSpPr>
          <p:cNvPr id="21" name="chip_623"/>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200" dirty="0"/>
          </a:p>
        </p:txBody>
      </p:sp>
      <p:sp>
        <p:nvSpPr>
          <p:cNvPr id="22" name="bd_624"/>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3" name="gq_625"/>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waterproof towel</a:t>
            </a:r>
            <a:endParaRPr lang="en-US" sz="1250" dirty="0"/>
          </a:p>
        </p:txBody>
      </p:sp>
      <p:sp>
        <p:nvSpPr>
          <p:cNvPr id="24" name="R1_chip626"/>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200" dirty="0"/>
          </a:p>
        </p:txBody>
      </p:sp>
      <p:sp>
        <p:nvSpPr>
          <p:cNvPr id="25" name="bd_627"/>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6" name="gq_628"/>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sunglasses for cats</a:t>
            </a:r>
            <a:endParaRPr lang="en-US" sz="1250" dirty="0"/>
          </a:p>
        </p:txBody>
      </p:sp>
      <p:sp>
        <p:nvSpPr>
          <p:cNvPr id="27" name="R2_chip629"/>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200" dirty="0"/>
          </a:p>
        </p:txBody>
      </p:sp>
      <p:sp>
        <p:nvSpPr>
          <p:cNvPr id="28" name="bd_630"/>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9" name="gq_631"/>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an umbrella with holes</a:t>
            </a:r>
            <a:endParaRPr lang="en-US" sz="1250" dirty="0"/>
          </a:p>
        </p:txBody>
      </p:sp>
      <p:sp>
        <p:nvSpPr>
          <p:cNvPr id="30" name="R3_chip632"/>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3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3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fa il colloquio a B. Poi scambiatevi!</a:t>
            </a:r>
            <a:endParaRPr lang="en-US" sz="950" dirty="0"/>
          </a:p>
        </p:txBody>
      </p:sp>
      <p:sp>
        <p:nvSpPr>
          <p:cNvPr id="9" name="note_63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8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role play   ·   📖 Writing p.121 (the job advert) · links to the covering-email homework</a:t>
            </a:r>
            <a:endParaRPr lang="en-US" sz="800" dirty="0"/>
          </a:p>
        </p:txBody>
      </p:sp>
      <p:sp>
        <p:nvSpPr>
          <p:cNvPr id="12" name="ext_642"/>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43"/>
          <p:cNvSpPr/>
          <p:nvPr/>
        </p:nvSpPr>
        <p:spPr>
          <a:xfrm rot="-120000">
            <a:off x="958864" y="1371600"/>
            <a:ext cx="151127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44" descr="/home/claude/lls-course/v2/cache/spare_work_job_interview_jpg_342x297_31.png">    </p:cNvPr>
          <p:cNvPicPr>
            <a:picLocks noChangeAspect="1"/>
          </p:cNvPicPr>
          <p:nvPr/>
        </p:nvPicPr>
        <p:blipFill>
          <a:blip r:embed="rId5"/>
          <a:stretch>
            <a:fillRect/>
          </a:stretch>
        </p:blipFill>
        <p:spPr>
          <a:xfrm rot="-120000">
            <a:off x="1004584" y="1417320"/>
            <a:ext cx="1419832" cy="1234440"/>
          </a:xfrm>
          <a:prstGeom prst="rect">
            <a:avLst/>
          </a:prstGeom>
        </p:spPr>
      </p:pic>
      <p:sp>
        <p:nvSpPr>
          <p:cNvPr id="15" name="cd_64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4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4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4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I'm good at -ing · I enjoy -ing</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I'd like to… · I'd love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I've worked as a… · I don't mind -ing</a:t>
            </a:r>
            <a:endParaRPr lang="en-US" sz="1150" dirty="0"/>
          </a:p>
        </p:txBody>
      </p:sp>
      <p:sp>
        <p:nvSpPr>
          <p:cNvPr id="19" name="R1_qb64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50"/>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Why do you want this job?</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Because I'd love to work at a big sports event.</a:t>
            </a:r>
            <a:endParaRPr lang="en-US" sz="1200" dirty="0"/>
          </a:p>
        </p:txBody>
      </p:sp>
      <p:sp>
        <p:nvSpPr>
          <p:cNvPr id="21" name="R2_qb651"/>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52"/>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good at?</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I'm very good at working in a team and solving problems.</a:t>
            </a:r>
            <a:endParaRPr lang="en-US" sz="1200" dirty="0"/>
          </a:p>
        </p:txBody>
      </p:sp>
      <p:sp>
        <p:nvSpPr>
          <p:cNvPr id="23" name="R3_qb653"/>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54"/>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Yes, I've worked as a waiter, so I don't mind working long hours.</a:t>
            </a:r>
            <a:endParaRPr lang="en-US" sz="1200" dirty="0"/>
          </a:p>
        </p:txBody>
      </p:sp>
      <p:sp>
        <p:nvSpPr>
          <p:cNvPr id="25" name="R4_qb655"/>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56"/>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speak Italian and English, and I'm learning to speak Spanish.</a:t>
            </a:r>
            <a:endParaRPr lang="en-US" sz="1200" dirty="0"/>
          </a:p>
        </p:txBody>
      </p:sp>
      <p:sp>
        <p:nvSpPr>
          <p:cNvPr id="27" name="R5_qb657"/>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58"/>
          <p:cNvSpPr/>
          <p:nvPr/>
        </p:nvSpPr>
        <p:spPr>
          <a:xfrm>
            <a:off x="3675888" y="3831336"/>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Interviewer: decide!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"You've got the job!" / "I'm sorry, but…"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2026-10-21T09:55:43Z</dcterms:created>
  <dcterms:modified xsi:type="dcterms:W3CDTF">2026-10-21T09:55:43Z</dcterms:modified>
</cp:coreProperties>
</file>