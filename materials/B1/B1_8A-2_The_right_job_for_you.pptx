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OPENING (2 min). Show the photo: two people presenting a product to serious investors on TV. Ask the THINK question; give 30 seconds, then take 3–4 ideas. Click 1 = the example answer (model it with enthusiasm). Ask: 'Have you ever seen a programme like this?' Read the 'Today you're going to…' list together. Don't teach the business words yet (slide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Elicit one more example for each block from students (e.g. 'What do you enjoy doing at work?' / 'What would you like to do?'). Point at the → lines: they tell you which form. Quick check of the key words: 'Resign or be sacked – which is your decision?' (resign). Then play 'Stand up, sit down!': the sentences in the game use exactly these forms and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(3 min)
RETRIEVAL WARMER (3 min) – different format from last lesson's warmer: total physical response. Everybody sits. Read sentence 1 aloud (say 'beep' for the gap): students STAND UP if the verb takes -ing, SIT DOWN / stay seated for to + infinitive, and put their HANDS UP for the infinitive without to. Then click to show the answer. Anyone who moves the wrong way becomes a 'referee'. Ask WHY after each one (rules from Grammar Bank 8A): 1 after enjoy · 2 after decide · 3 make + person + inf. · 4 after a preposition (at) · 5 after an adjective · 6 subject of the sentence · 7 after a modal · 8 purpose (= in order to). Speed up for the last items. ICQs: 'Gerund – what do you do?' (stand up) · 'Must + verb?' (hands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business words (3 min)
ELICIT FIRST (3 min) – pre-teach only the words students need for the reading and the final role play. Demo item 0 (den – from the book glossary). Pairs explain each word in English; click once per item. Definitions 1–2 and 0 are from the SB glossary. Drill pronunciation: entrepreneur /ˌɒntrəprəˈnɜː/ (stress at the END – French word), profits /ˈprɒfɪts/, invest /ɪnˈvest/. Ask a CCQ: 'If the Dragons say "I'm out", do you get the money?' (no). ICQ: 'Are you writing or talking?' (talking). Next slide = the Italian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for each word, then click once per word to show its Italian and the warning. Spend 20 seconds on the traps: 'a share' (noun) = una quota; 'pitch' has many meanings (football pitch, a pitch = presentation); 'succedere' is NOT 'succeed' – it means 'happen'. Quick CCQ: 'The Dragons take 25% of the profits – is that a share?'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class story (TPRS) (4 min)
TPRS CLASS STORY (4 min) – after the business words and their Italian (slides 4–5), so students hear entrepreneur, pitch, slogan, invest, a share in the profits and I'm out many times BEFORE they meet them in the Dragons' Den article and the listening; it also recycles 8A-1 gerunds and infinitives (decided to set up · nervous about making). The story deliberately gives no numbers (minutes, how many Dragons) so it doesn't spoil the prediction on the next slide. Click once per line. For each line: 1) say it, 2) ask the questions round the class (yes/no → either/or → who/what), 3) let the CLASS change details: 'Is his product a cannolo? No? What is it?' – accept their idea and use it in later lines (change the slogan to match!). Students answer with one word or a short phrase – that's fine. Finish: 'What happens next?' – one or two ideas, then move on to the reading. Watch for ✗ 'I'm interesting to invest' → interested in investing.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Reading · prediction (2 min)
PREDICTION (2 min). Books CLOSED. Read the introduction aloud. Pairs look at the number bank and guess: When did the show start? How many minutes do contestants have? How many Dragons? How many businesses have the Dragons invested in? Every pair must commit to a guess before the next slide. ICQ: 'Are you reading the book now?' (no –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Reading · In the Dragons' Den (3 min)
READ + CHECK (3 min). Pairs guess gaps 1–5 (numbers from the bank, words from slide 4). Then books OPEN at p.78: they read the first part of the article and check. Click once per gap: the answer appears highlighted IN the text. Answers (SB text): 1 2005 · 2 three · 3 five · 4 invest · 5 profits. Then the book's 5a questions 1–2 (TG): 1 Who are the Dragons? → five multi-millionaires who have made their fortunes through business · 2 Where do the contestants meet them? → in 'the Den', the room where the programme is filmed.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Reading · In the Dragons' Den (2 min)
READ + CHECK (2 min). Same procedure. Answers (SB text): 6 entrepreneurs · 7 pitch · 8 I'm out · 9 250. Then 5a question 3 (TG): How does the programme work? → the contestants present their product to the Dragons in three minutes; the Dragons ask them questions and decide whether or not to invest; if they decide not to invest, they say 'I'm out'. Question 4 (1 minute, whole class): Is there a similar TV programme in Italy? Have you watched it? Accept any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Reading · three products (3 min)
READ (3 min). Students read about the three products (SB p.78, 5b – shortened on the slide). Explain (TG): Slappie – you slap it on your wrist and the strap closes; Tangle Teezer – tangled hair = hair full of knots, hard to comb. Each student decides alone: invest or 'I'm out' for each product? Don't give answers yet – the next slide is the game. ICQ: 'Do you know what the Dragons did?' (no – you decide).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game · jigsaw (5 min)
GAME 2 + JIGSAW READING (5 min). 1 (1 min) Teams write their bets for the 3 products (5b: which one did the Dragons invest in and has been successful? which didn't they invest in and has been a failure? which didn't they invest in, but has been very successful?). 2 (3 min) 5c: groups of three – A reads Tingatang (p.109), B Slappie watches (p.113), C Tangle Teezer (p.114); each tells the group what happened. 3 Click once per product; 1 point per correct bet. Answers (TG): Slappie watches = invested + successful · Tingatang = not invested + a failure · Tangle Teezer = not invested but very successful. Row 4 = 5d (whole class, 1 min): Which would you buy? Were the Dragons wrong about Tangle Teezer? ICQ: 'Do you read all three texts?' (no – only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Listening · Part 1 (5 min)
LISTENING PART 1 (5 min). 6a: show the photo of Joe and Jake's product (Frame Again: online photo printing and framing; they asked for £60,000 for 20%). 'Do you think they were successful?' Show of hands – don't say. Pairs guess T/F first. 6b: play 8.9 once; students mark T or F. 6c: play again; they correct the false ones. Click once per sentence. Answers (TG): 1 F (Joe applied without telling Jake.) · 2 F (They worked very hard and practised a lot.) · 3 T · 4 F (They practised their pitch the night before and they prepared the furniture they needed.) · 5 T · 6 F (They were the first contestants.) · 7 T · 8 F (Contestants aren't allowed to meet the Dragons before they go on.) Fun detail from the script: if you go to the toilet, someone has to escort you in case you meet a Dragon! ICQ: 'Do you write T or F the first time?' (yes – correct them the second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Listening · Part 2 (5 min)
LISTENING PART 2 (5 min). Before listening (curiosity gap): 'Four Dragons said I'm out. What did the fifth Dragon do?' 6d: play 8.10 once. Answer (TG): they were offered a JOB, not an investment in their business. 6e: play again, pausing after each answer; students make notes. Click once per line. Answers (TG): 1 He smiled at her to help himself relax, but she just stared at him to make him feel nervous. 2 Jake forgot his first words, which he never usually does. 3 Four of the Dragons said 'I'm out' to show they weren't interested in investing. 4 Peter is incredibly tall – more than two metres – which makes him scary. 5 Peter owns a big chain of camera shops called Jessops. 6 Peter offered them a job, which has never happened on Dragons' Den before. Pictures: A = Joe and Jake's business, B = the job offer (context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Listening · Part 3 (3 min)
LISTENING PART 3 (3 min). Forced choice first (item 0): Peter offers you a job with a very good salary. Yes or no? Hands up; 2 students give a reason. Play 8.11; click once per question. Answers (TG + script): Joe and Jake decided not to accept the jobs, because it wasn't a good time and they were enjoying running their own business. Yes, they think it was the right decision – they have never regretted saying no. Frame Again was successful and they sold the business 'this year' (but not to one of the Dragons – 'that would have been perfect!').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Noticing · Joe's interview (3 min)
NOTICING (3 min) – links today's listening to last lesson's grammar. Lines are from the audio script (8.9–8.11; the line 'Have you ever regretted…' is the interviewer). Pairs find the gerunds and infinitives; click once per line to highlight. After each line ask WHY: telling – after a preposition (without) · running – go + -ing (activities) · repeating – -ing (while doing) · to do – after want · to smile – after be (what I wanted was…) · making – after a preposition (of) · to make – purpose · feel – make + person + infinitive without to · to make – after have · saying – after regret · running – after enjoy. Exam tip for the class: 'enjoy, regret, mind + -ing' are tested often (B1 Preliminary / B2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 the model pitch (3 min)
THE MODEL PITCH (3 min). 7a: students read questions A–E (teach slogan if needed – slide 4) and guess the order. Play 8.12: Joe and Jake's real pitch. In what order do they answer the questions? Click once per question. Answers (TG): A 4 · B 2 · C 1 · D 5 · E 3. Content from the script: C Jake and Joe, Frame Again · B an online service: upload your photo, choose the colours of your frame, we print, frame and deliver it the next day · E smartphone photographers and Instagram users – a square frame · A £12.99 · D 'Printed, framed, and delivered in 24 hours.' Did you hear the mistake at the start? (Jake: 'I'm Joe and this is Jake. Oh no, sorry, I'm Jake…' – nerves!) This order is the plan for their own pitch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Speaking · prepare your pitch (5 min)
PREPARATION (5 min). 7b: pairs choose one of the products in the book (or invent their own) and answer the 5 questions – in the order of Joe and Jake's pitch. The questions appear one per click with the model answers for an invented product, SunBag (the same model as the homework). 7c: go through the 'Presenting a product' box (Good morning. I'm…, and this is…, and we're here to tell you about our new product… · It's a…, and it's called… · This product is for… · We think it will be very popular because… · It will cost… · Our slogan is…). Rules: max 1 minute, BOTH partners speak, must include a price and a slogan. Monitor: help with vocabulary and push gerunds/infinitives (It's easy to use · perfect for taking… · you don't need to…). Ideas if they're stuck: an app that finds free parking in Palermo, a cannolo delivery service, an umbrella that tells you when it will rain. Choose 3–4 students as the Dragons now – they prepare questions instead of a pitch. ICQs: 'How long is the pitch?' (1 minute) · 'Who speaks?'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game · role play (7 min)
DRAGONS' DEN ROLE PLAY (7 min). 3–4 Dragons sit at the front; each has €100,000 (imaginary!). Click once per row to give the Dragons their language before the first pitch. Each pair has ONE minute (teacher keeps the time); each Dragon asks one question, then invests or says 'I'm out because…' (a reason is compulsory). Every Dragon must invest in at least one product. Keep a scoreboard of money invested on the board. With a big class, run two 'Dens' at the same time. 7d: the rest of the class also has money to invest – after all the pitches, everyone votes for one product (not their own). Feedback: best product, best slogan, best presenters; then 1–2 minutes of delayed error correction from your notes (watch for: ✗ enjoy to use · ✗ It costs to · ✗ I'm interesting in investing).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business words (entrepreneur, invest, pitch, profits, contestant, slogan…), 2 things that happened to Joe and Jake (e.g. Jake forgot his first words; Peter offered them a job; they decided not to take it), 1 slogan. A few pairs share. Homework (on the slide and in the app): Workbook 8A 1c (word-building), 1d (words with different meanings), 2a (word stress), 3c (gerunds and infinitives) + Writing 'A covering email' p.121 (c): write a covering email for one of the jobs, 15–20 minutes, formal style (no contractions; Dear Sir / Madam … Yours faithfully) + the 8A-2 homework sheet (easier version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Extra · reverse pitch (8 min)
EXTRA (8 min, if there's time). Reverse the obvious + humour. Give each pair one useless product (click to show a model 'advantage' for each, or let them invent). Pairs have 3 minutes to find 3 'advantages' and a slogan, then a 1-minute pitch; the Dragons must keep a straight face. Vote: who almost convinced you? The useless products force creative language with gerunds and infinitives (It's ideal for… · You'll never need to… · It's easy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Extra · role play (8 min)
EXTRA (8 min). Role play + recycling of 8A grammar and vocabulary. A = interviewer, B = candidate for one of the jobs in the Writing advert on p.121 (World Athletics Championships). Questions appear one per click with model answers. 2 minutes per interview, then swap. The class can vote for the most convincing candidate. Remind them of the 6B charisma tips (eye contact, smile!).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1.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1.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1.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pp.78–79</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8A-2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The right job for you</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Dragons' Den · pitch your idea</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read about a TV show for entrepreneurs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contestant's story</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spot -ing and to + infinitive in real speech</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pitch your own product to the 'Dragons'</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I'd sell an app that finds free parking in Palermo – everybody needs it!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8a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You have 3 minutes to sell an idea. What is it?</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spare_work_places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8A part 1 (6 Oct): work words</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gerunds and infinitives · 'Someone you know'</a:t>
            </a:r>
            <a:endParaRPr lang="en-US" sz="105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-ing (gerund)</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enjoy helping people.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good at solving problems.</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Working shifts is tiring.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after enjoy, don't mind · after prepositions · as the subject</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to + infinitive / infinitive</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 decided to resign.</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It's difficult to find a job.</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My boss made me do overtime.</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after decide, want · after adjectives · after make, let, must, can</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17500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do overtime</a:t>
            </a:r>
            <a:endParaRPr lang="en-US" sz="1050" dirty="0"/>
          </a:p>
        </p:txBody>
      </p:sp>
      <p:sp>
        <p:nvSpPr>
          <p:cNvPr id="28" name="w_42"/>
          <p:cNvSpPr/>
          <p:nvPr/>
        </p:nvSpPr>
        <p:spPr>
          <a:xfrm>
            <a:off x="4494276" y="4178808"/>
            <a:ext cx="1252728"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get promoted</a:t>
            </a:r>
            <a:endParaRPr lang="en-US" sz="1050" dirty="0"/>
          </a:p>
        </p:txBody>
      </p:sp>
      <p:sp>
        <p:nvSpPr>
          <p:cNvPr id="29" name="w_43"/>
          <p:cNvSpPr/>
          <p:nvPr/>
        </p:nvSpPr>
        <p:spPr>
          <a:xfrm>
            <a:off x="5820156" y="4178808"/>
            <a:ext cx="1175004"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work shifts</a:t>
            </a:r>
            <a:endParaRPr lang="en-US" sz="1050" dirty="0"/>
          </a:p>
        </p:txBody>
      </p:sp>
      <p:sp>
        <p:nvSpPr>
          <p:cNvPr id="30" name="w_44"/>
          <p:cNvSpPr/>
          <p:nvPr/>
        </p:nvSpPr>
        <p:spPr>
          <a:xfrm>
            <a:off x="7068312" y="4178808"/>
            <a:ext cx="1019556"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be sacked</a:t>
            </a:r>
            <a:endParaRPr lang="en-US" sz="1050" dirty="0"/>
          </a:p>
        </p:txBody>
      </p:sp>
      <p:sp>
        <p:nvSpPr>
          <p:cNvPr id="31" name="w_45"/>
          <p:cNvSpPr/>
          <p:nvPr/>
        </p:nvSpPr>
        <p:spPr>
          <a:xfrm>
            <a:off x="3246120" y="4544568"/>
            <a:ext cx="786384"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resign</a:t>
            </a:r>
            <a:endParaRPr lang="en-US" sz="1050" dirty="0"/>
          </a:p>
        </p:txBody>
      </p:sp>
      <p:sp>
        <p:nvSpPr>
          <p:cNvPr id="32" name="w_46"/>
          <p:cNvSpPr/>
          <p:nvPr/>
        </p:nvSpPr>
        <p:spPr>
          <a:xfrm>
            <a:off x="4105656" y="4544568"/>
            <a:ext cx="786384"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retire</a:t>
            </a:r>
            <a:endParaRPr lang="en-US" sz="1050" dirty="0"/>
          </a:p>
        </p:txBody>
      </p:sp>
      <p:sp>
        <p:nvSpPr>
          <p:cNvPr id="33" name="w_47"/>
          <p:cNvSpPr/>
          <p:nvPr/>
        </p:nvSpPr>
        <p:spPr>
          <a:xfrm>
            <a:off x="4965192" y="4544568"/>
            <a:ext cx="164134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set up a business</a:t>
            </a:r>
            <a:endParaRPr lang="en-US" sz="1050" dirty="0"/>
          </a:p>
        </p:txBody>
      </p:sp>
      <p:sp>
        <p:nvSpPr>
          <p:cNvPr id="34" name="w_48"/>
          <p:cNvSpPr/>
          <p:nvPr/>
        </p:nvSpPr>
        <p:spPr>
          <a:xfrm>
            <a:off x="6679692" y="4544568"/>
            <a:ext cx="1330452"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self-employed</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1"/>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Stand up, sit down!</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4640580" cy="402336"/>
          </a:xfrm>
          <a:prstGeom prst="rect">
            <a:avLst/>
          </a:prstGeom>
        </p:spPr>
      </p:pic>
      <p:sp>
        <p:nvSpPr>
          <p:cNvPr id="7" name="ins_53"/>
          <p:cNvSpPr/>
          <p:nvPr/>
        </p:nvSpPr>
        <p:spPr>
          <a:xfrm>
            <a:off x="1353312" y="731520"/>
            <a:ext cx="438454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-ing: stand up! to: sit down! inf.: hands up!</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-ing: in piedi! to: seduti! inf.: mani su!</a:t>
            </a:r>
            <a:endParaRPr lang="en-US" sz="950" dirty="0"/>
          </a:p>
        </p:txBody>
      </p:sp>
      <p:sp>
        <p:nvSpPr>
          <p:cNvPr id="9" name="cmd_55"/>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5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Warmer · last lesson   ·   📖 Recycles 6 Oct (8A-1): gerunds and infinitives, work words · Grammar Bank 8A p.146</a:t>
            </a:r>
            <a:endParaRPr lang="en-US" sz="800" dirty="0"/>
          </a:p>
        </p:txBody>
      </p:sp>
      <p:sp>
        <p:nvSpPr>
          <p:cNvPr id="14" name="cd_60"/>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6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3"/>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50" dirty="0">
                <a:solidFill>
                  <a:srgbClr val="1B2559"/>
                </a:solidFill>
                <a:latin typeface="Segoe UI Semibold" pitchFamily="34" charset="0"/>
                <a:ea typeface="Segoe UI Semibold" pitchFamily="34" charset="-122"/>
                <a:cs typeface="Segoe UI Semibold" pitchFamily="34" charset="-120"/>
              </a:rPr>
              <a:t>-ing → STAND UP.</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-ing → IN PIEDI.</a:t>
            </a:r>
            <a:endParaRPr lang="en-US" sz="1150" dirty="0"/>
          </a:p>
          <a:p>
            <a:pPr marL="190500" indent="-190500">
              <a:spcBef>
                <a:spcPts val="500"/>
              </a:spcBef>
              <a:spcAft>
                <a:spcPts val="200"/>
              </a:spcAft>
              <a:buSzPct val="100000"/>
              <a:buChar char="2"/>
            </a:pPr>
            <a:r>
              <a:rPr lang="en-US" sz="1150" dirty="0">
                <a:solidFill>
                  <a:srgbClr val="1B2559"/>
                </a:solidFill>
                <a:latin typeface="Segoe UI Semibold" pitchFamily="34" charset="0"/>
                <a:ea typeface="Segoe UI Semibold" pitchFamily="34" charset="-122"/>
                <a:cs typeface="Segoe UI Semibold" pitchFamily="34" charset="-120"/>
              </a:rPr>
              <a:t>to + infinitive → SIT DOWN.</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to + infinito → SEDUTI.</a:t>
            </a:r>
            <a:endParaRPr lang="en-US" sz="1150" dirty="0"/>
          </a:p>
          <a:p>
            <a:pPr marL="190500" indent="-190500">
              <a:spcBef>
                <a:spcPts val="500"/>
              </a:spcBef>
              <a:spcAft>
                <a:spcPts val="200"/>
              </a:spcAft>
              <a:buSzPct val="100000"/>
              <a:buChar char="3"/>
            </a:pPr>
            <a:r>
              <a:rPr lang="en-US" sz="1150" dirty="0">
                <a:solidFill>
                  <a:srgbClr val="1B2559"/>
                </a:solidFill>
                <a:latin typeface="Segoe UI Semibold" pitchFamily="34" charset="0"/>
                <a:ea typeface="Segoe UI Semibold" pitchFamily="34" charset="-122"/>
                <a:cs typeface="Segoe UI Semibold" pitchFamily="34" charset="-120"/>
              </a:rPr>
              <a:t>infinitive (no to) → HANDS UP!</a:t>
            </a:r>
            <a:endParaRPr lang="en-US" sz="1150" dirty="0"/>
          </a:p>
          <a:p>
            <a:pPr marL="190500" indent="-190500">
              <a:spcAft>
                <a:spcPts val="200"/>
              </a:spcAft>
              <a:buSzPct val="100000"/>
              <a:buChar char=" "/>
            </a:pPr>
            <a:r>
              <a:rPr lang="en-US" sz="1000" i="1" dirty="0">
                <a:solidFill>
                  <a:srgbClr val="5B6785"/>
                </a:solidFill>
                <a:latin typeface="Segoe UI Semibold" pitchFamily="34" charset="0"/>
                <a:ea typeface="Segoe UI Semibold" pitchFamily="34" charset="-122"/>
                <a:cs typeface="Segoe UI Semibold" pitchFamily="34" charset="-120"/>
              </a:rPr>
              <a:t>infinito senza to → MANI SU!</a:t>
            </a:r>
            <a:endParaRPr lang="en-US" sz="1150" dirty="0"/>
          </a:p>
        </p:txBody>
      </p:sp>
      <p:sp>
        <p:nvSpPr>
          <p:cNvPr id="18" name="pf_64"/>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65" descr="/home/claude/lls-course/v2/cache/spare_work_career_chang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66"/>
          <p:cNvSpPr/>
          <p:nvPr/>
        </p:nvSpPr>
        <p:spPr>
          <a:xfrm>
            <a:off x="3246120" y="142360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41732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really enjoy ___. (cook)</a:t>
            </a:r>
            <a:endParaRPr lang="en-US" sz="1100" dirty="0"/>
          </a:p>
        </p:txBody>
      </p:sp>
      <p:sp>
        <p:nvSpPr>
          <p:cNvPr id="22" name="R1_chip68"/>
          <p:cNvSpPr/>
          <p:nvPr/>
        </p:nvSpPr>
        <p:spPr>
          <a:xfrm>
            <a:off x="6263640" y="141732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cooking · STAND UP</a:t>
            </a:r>
            <a:endParaRPr lang="en-US" sz="1100" dirty="0"/>
          </a:p>
        </p:txBody>
      </p:sp>
      <p:sp>
        <p:nvSpPr>
          <p:cNvPr id="23" name="bd_69"/>
          <p:cNvSpPr/>
          <p:nvPr/>
        </p:nvSpPr>
        <p:spPr>
          <a:xfrm>
            <a:off x="3246120" y="182937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182308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She decided ___. (resign)</a:t>
            </a:r>
            <a:endParaRPr lang="en-US" sz="1100" dirty="0"/>
          </a:p>
        </p:txBody>
      </p:sp>
      <p:sp>
        <p:nvSpPr>
          <p:cNvPr id="25" name="R2_chip71"/>
          <p:cNvSpPr/>
          <p:nvPr/>
        </p:nvSpPr>
        <p:spPr>
          <a:xfrm>
            <a:off x="6263640" y="182308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resign · SIT DOWN</a:t>
            </a:r>
            <a:endParaRPr lang="en-US" sz="1100" dirty="0"/>
          </a:p>
        </p:txBody>
      </p:sp>
      <p:sp>
        <p:nvSpPr>
          <p:cNvPr id="26" name="bd_72"/>
          <p:cNvSpPr/>
          <p:nvPr/>
        </p:nvSpPr>
        <p:spPr>
          <a:xfrm>
            <a:off x="3246120" y="2235137"/>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222885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My boss made me ___ overtime. (do)</a:t>
            </a:r>
            <a:endParaRPr lang="en-US" sz="950" dirty="0"/>
          </a:p>
        </p:txBody>
      </p:sp>
      <p:sp>
        <p:nvSpPr>
          <p:cNvPr id="28" name="R3_chip74"/>
          <p:cNvSpPr/>
          <p:nvPr/>
        </p:nvSpPr>
        <p:spPr>
          <a:xfrm>
            <a:off x="6263640" y="222885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do · HANDS UP</a:t>
            </a:r>
            <a:endParaRPr lang="en-US" sz="1100" dirty="0"/>
          </a:p>
        </p:txBody>
      </p:sp>
      <p:sp>
        <p:nvSpPr>
          <p:cNvPr id="29" name="bd_75"/>
          <p:cNvSpPr/>
          <p:nvPr/>
        </p:nvSpPr>
        <p:spPr>
          <a:xfrm>
            <a:off x="3246120" y="2640901"/>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263461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He's good at ___ problems. (solve)</a:t>
            </a:r>
            <a:endParaRPr lang="en-US" sz="950" dirty="0"/>
          </a:p>
        </p:txBody>
      </p:sp>
      <p:sp>
        <p:nvSpPr>
          <p:cNvPr id="31" name="R4_chip77"/>
          <p:cNvSpPr/>
          <p:nvPr/>
        </p:nvSpPr>
        <p:spPr>
          <a:xfrm>
            <a:off x="6263640" y="263461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solving · STAND UP</a:t>
            </a:r>
            <a:endParaRPr lang="en-US" sz="1100" dirty="0"/>
          </a:p>
        </p:txBody>
      </p:sp>
      <p:sp>
        <p:nvSpPr>
          <p:cNvPr id="32" name="bd_78"/>
          <p:cNvSpPr/>
          <p:nvPr/>
        </p:nvSpPr>
        <p:spPr>
          <a:xfrm>
            <a:off x="3246120" y="3046667"/>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3040380"/>
            <a:ext cx="2514600" cy="341757"/>
          </a:xfrm>
          <a:prstGeom prst="roundRect">
            <a:avLst>
              <a:gd name="adj" fmla="val 2675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It's difficult ___ a job. (find)</a:t>
            </a:r>
            <a:endParaRPr lang="en-US" sz="1100" dirty="0"/>
          </a:p>
        </p:txBody>
      </p:sp>
      <p:sp>
        <p:nvSpPr>
          <p:cNvPr id="34" name="R5_chip80"/>
          <p:cNvSpPr/>
          <p:nvPr/>
        </p:nvSpPr>
        <p:spPr>
          <a:xfrm>
            <a:off x="6263640" y="304038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find · SIT DOWN</a:t>
            </a:r>
            <a:endParaRPr lang="en-US" sz="1100" dirty="0"/>
          </a:p>
        </p:txBody>
      </p:sp>
      <p:sp>
        <p:nvSpPr>
          <p:cNvPr id="35" name="bd_81"/>
          <p:cNvSpPr/>
          <p:nvPr/>
        </p:nvSpPr>
        <p:spPr>
          <a:xfrm>
            <a:off x="3246120" y="34524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82"/>
          <p:cNvSpPr/>
          <p:nvPr/>
        </p:nvSpPr>
        <p:spPr>
          <a:xfrm>
            <a:off x="3657600" y="3446145"/>
            <a:ext cx="2514600" cy="341757"/>
          </a:xfrm>
          <a:prstGeom prst="roundRect">
            <a:avLst>
              <a:gd name="adj" fmla="val 2675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___ shifts is tiring. (work)</a:t>
            </a:r>
            <a:endParaRPr lang="en-US" sz="1100" dirty="0"/>
          </a:p>
        </p:txBody>
      </p:sp>
      <p:sp>
        <p:nvSpPr>
          <p:cNvPr id="37" name="R6_chip83"/>
          <p:cNvSpPr/>
          <p:nvPr/>
        </p:nvSpPr>
        <p:spPr>
          <a:xfrm>
            <a:off x="6263640" y="344614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Working · STAND UP</a:t>
            </a:r>
            <a:endParaRPr lang="en-US" sz="1100" dirty="0"/>
          </a:p>
        </p:txBody>
      </p:sp>
      <p:sp>
        <p:nvSpPr>
          <p:cNvPr id="38" name="bd_84"/>
          <p:cNvSpPr/>
          <p:nvPr/>
        </p:nvSpPr>
        <p:spPr>
          <a:xfrm>
            <a:off x="3246120" y="3858196"/>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7</a:t>
            </a:r>
            <a:endParaRPr lang="en-US" sz="1100" dirty="0"/>
          </a:p>
        </p:txBody>
      </p:sp>
      <p:sp>
        <p:nvSpPr>
          <p:cNvPr id="39" name="gq_85"/>
          <p:cNvSpPr/>
          <p:nvPr/>
        </p:nvSpPr>
        <p:spPr>
          <a:xfrm>
            <a:off x="3657600" y="3851910"/>
            <a:ext cx="2514600" cy="341757"/>
          </a:xfrm>
          <a:prstGeom prst="roundRect">
            <a:avLst>
              <a:gd name="adj" fmla="val 2675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 must ___ online. (apply)</a:t>
            </a:r>
            <a:endParaRPr lang="en-US" sz="1100" dirty="0"/>
          </a:p>
        </p:txBody>
      </p:sp>
      <p:sp>
        <p:nvSpPr>
          <p:cNvPr id="40" name="R7_chip86"/>
          <p:cNvSpPr/>
          <p:nvPr/>
        </p:nvSpPr>
        <p:spPr>
          <a:xfrm>
            <a:off x="6263640" y="3851910"/>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apply · HANDS UP</a:t>
            </a:r>
            <a:endParaRPr lang="en-US" sz="1100" dirty="0"/>
          </a:p>
        </p:txBody>
      </p:sp>
      <p:sp>
        <p:nvSpPr>
          <p:cNvPr id="41" name="bd_87"/>
          <p:cNvSpPr/>
          <p:nvPr/>
        </p:nvSpPr>
        <p:spPr>
          <a:xfrm>
            <a:off x="3246120" y="4263962"/>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8</a:t>
            </a:r>
            <a:endParaRPr lang="en-US" sz="1100" dirty="0"/>
          </a:p>
        </p:txBody>
      </p:sp>
      <p:sp>
        <p:nvSpPr>
          <p:cNvPr id="42" name="gq_88"/>
          <p:cNvSpPr/>
          <p:nvPr/>
        </p:nvSpPr>
        <p:spPr>
          <a:xfrm>
            <a:off x="3657600" y="4257675"/>
            <a:ext cx="2514600" cy="341757"/>
          </a:xfrm>
          <a:prstGeom prst="roundRect">
            <a:avLst>
              <a:gd name="adj" fmla="val 2675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I'm saving ___ a business. (set up)</a:t>
            </a:r>
            <a:endParaRPr lang="en-US" sz="950" dirty="0"/>
          </a:p>
        </p:txBody>
      </p:sp>
      <p:sp>
        <p:nvSpPr>
          <p:cNvPr id="43" name="R8_chip89"/>
          <p:cNvSpPr/>
          <p:nvPr/>
        </p:nvSpPr>
        <p:spPr>
          <a:xfrm>
            <a:off x="6263640" y="4257675"/>
            <a:ext cx="2560320" cy="341757"/>
          </a:xfrm>
          <a:prstGeom prst="roundRect">
            <a:avLst>
              <a:gd name="adj" fmla="val 26756"/>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to set up · SIT DOWN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9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9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Business words</a:t>
            </a:r>
            <a:endParaRPr lang="en-US" sz="2500" dirty="0"/>
          </a:p>
        </p:txBody>
      </p:sp>
      <p:pic>
        <p:nvPicPr>
          <p:cNvPr id="6" name="brP_9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9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do the words mean? Explain!</a:t>
            </a:r>
            <a:endParaRPr lang="en-US" sz="1250" dirty="0"/>
          </a:p>
        </p:txBody>
      </p:sp>
      <p:sp>
        <p:nvSpPr>
          <p:cNvPr id="8" name="insIT_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significano le parole? Spiega!</a:t>
            </a:r>
            <a:endParaRPr lang="en-US" sz="950" dirty="0"/>
          </a:p>
        </p:txBody>
      </p:sp>
      <p:sp>
        <p:nvSpPr>
          <p:cNvPr id="9" name="cmd_9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9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9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9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0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Vocabulary · business words   ·   📖 SB p.78 · 5a Glossary (den, entrepreneur, make a pitch) + TG</a:t>
            </a:r>
            <a:endParaRPr lang="en-US" sz="800" dirty="0"/>
          </a:p>
        </p:txBody>
      </p:sp>
      <p:sp>
        <p:nvSpPr>
          <p:cNvPr id="14" name="cd_101"/>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10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103"/>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104"/>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a den → the hidden home of a wild animal (e.g. a dragon!)</a:t>
            </a:r>
            <a:endParaRPr lang="en-US" sz="1050" dirty="0"/>
          </a:p>
        </p:txBody>
      </p:sp>
      <p:sp>
        <p:nvSpPr>
          <p:cNvPr id="18" name="pf_105"/>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106" descr="/home/claude/lls-course/v2/cache/8a2_investor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107"/>
          <p:cNvSpPr/>
          <p:nvPr/>
        </p:nvSpPr>
        <p:spPr>
          <a:xfrm>
            <a:off x="3246120" y="144475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108"/>
          <p:cNvSpPr/>
          <p:nvPr/>
        </p:nvSpPr>
        <p:spPr>
          <a:xfrm>
            <a:off x="3630168" y="141732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an entrepreneur</a:t>
            </a:r>
            <a:endParaRPr lang="en-US" sz="1150" dirty="0"/>
          </a:p>
        </p:txBody>
      </p:sp>
      <p:sp>
        <p:nvSpPr>
          <p:cNvPr id="22" name="R1_chip109"/>
          <p:cNvSpPr/>
          <p:nvPr/>
        </p:nvSpPr>
        <p:spPr>
          <a:xfrm>
            <a:off x="5806440" y="14173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person who makes money by starting or running businesses</a:t>
            </a:r>
            <a:endParaRPr lang="en-US" sz="1000" dirty="0"/>
          </a:p>
        </p:txBody>
      </p:sp>
      <p:sp>
        <p:nvSpPr>
          <p:cNvPr id="23" name="bd_110"/>
          <p:cNvSpPr/>
          <p:nvPr/>
        </p:nvSpPr>
        <p:spPr>
          <a:xfrm>
            <a:off x="3246120" y="185623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11"/>
          <p:cNvSpPr/>
          <p:nvPr/>
        </p:nvSpPr>
        <p:spPr>
          <a:xfrm>
            <a:off x="3630168" y="182880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make a pitch</a:t>
            </a:r>
            <a:endParaRPr lang="en-US" sz="1150" dirty="0"/>
          </a:p>
        </p:txBody>
      </p:sp>
      <p:sp>
        <p:nvSpPr>
          <p:cNvPr id="25" name="R2_chip112"/>
          <p:cNvSpPr/>
          <p:nvPr/>
        </p:nvSpPr>
        <p:spPr>
          <a:xfrm>
            <a:off x="5806440" y="18288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present something you're trying to sell</a:t>
            </a:r>
            <a:endParaRPr lang="en-US" sz="1000" dirty="0"/>
          </a:p>
        </p:txBody>
      </p:sp>
      <p:sp>
        <p:nvSpPr>
          <p:cNvPr id="26" name="bd_113"/>
          <p:cNvSpPr/>
          <p:nvPr/>
        </p:nvSpPr>
        <p:spPr>
          <a:xfrm>
            <a:off x="3246120" y="22677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14"/>
          <p:cNvSpPr/>
          <p:nvPr/>
        </p:nvSpPr>
        <p:spPr>
          <a:xfrm>
            <a:off x="3630168" y="224028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contestant</a:t>
            </a:r>
            <a:endParaRPr lang="en-US" sz="1150" dirty="0"/>
          </a:p>
        </p:txBody>
      </p:sp>
      <p:sp>
        <p:nvSpPr>
          <p:cNvPr id="28" name="R3_chip115"/>
          <p:cNvSpPr/>
          <p:nvPr/>
        </p:nvSpPr>
        <p:spPr>
          <a:xfrm>
            <a:off x="5806440" y="22402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person who takes part in a TV show or competition</a:t>
            </a:r>
            <a:endParaRPr lang="en-US" sz="1000" dirty="0"/>
          </a:p>
        </p:txBody>
      </p:sp>
      <p:sp>
        <p:nvSpPr>
          <p:cNvPr id="29" name="bd_116"/>
          <p:cNvSpPr/>
          <p:nvPr/>
        </p:nvSpPr>
        <p:spPr>
          <a:xfrm>
            <a:off x="3246120" y="267919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17"/>
          <p:cNvSpPr/>
          <p:nvPr/>
        </p:nvSpPr>
        <p:spPr>
          <a:xfrm>
            <a:off x="3630168" y="265176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invest (money in…)</a:t>
            </a:r>
            <a:endParaRPr lang="en-US" sz="1150" dirty="0"/>
          </a:p>
        </p:txBody>
      </p:sp>
      <p:sp>
        <p:nvSpPr>
          <p:cNvPr id="31" name="R4_chip118"/>
          <p:cNvSpPr/>
          <p:nvPr/>
        </p:nvSpPr>
        <p:spPr>
          <a:xfrm>
            <a:off x="5806440" y="265176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put money into a business to make more money</a:t>
            </a:r>
            <a:endParaRPr lang="en-US" sz="1000" dirty="0"/>
          </a:p>
        </p:txBody>
      </p:sp>
      <p:sp>
        <p:nvSpPr>
          <p:cNvPr id="32" name="bd_119"/>
          <p:cNvSpPr/>
          <p:nvPr/>
        </p:nvSpPr>
        <p:spPr>
          <a:xfrm>
            <a:off x="3246120" y="30906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20"/>
          <p:cNvSpPr/>
          <p:nvPr/>
        </p:nvSpPr>
        <p:spPr>
          <a:xfrm>
            <a:off x="3630168" y="3063240"/>
            <a:ext cx="2103120" cy="365760"/>
          </a:xfrm>
          <a:prstGeom prst="roundRect">
            <a:avLst>
              <a:gd name="adj" fmla="val 25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share in the profits</a:t>
            </a:r>
            <a:endParaRPr lang="en-US" sz="1150" dirty="0"/>
          </a:p>
        </p:txBody>
      </p:sp>
      <p:sp>
        <p:nvSpPr>
          <p:cNvPr id="34" name="R5_chip121"/>
          <p:cNvSpPr/>
          <p:nvPr/>
        </p:nvSpPr>
        <p:spPr>
          <a:xfrm>
            <a:off x="5806440" y="306324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part of the money the business makes</a:t>
            </a:r>
            <a:endParaRPr lang="en-US" sz="1000" dirty="0"/>
          </a:p>
        </p:txBody>
      </p:sp>
      <p:sp>
        <p:nvSpPr>
          <p:cNvPr id="35" name="bd_122"/>
          <p:cNvSpPr/>
          <p:nvPr/>
        </p:nvSpPr>
        <p:spPr>
          <a:xfrm>
            <a:off x="3246120" y="350215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23"/>
          <p:cNvSpPr/>
          <p:nvPr/>
        </p:nvSpPr>
        <p:spPr>
          <a:xfrm>
            <a:off x="3630168" y="3474720"/>
            <a:ext cx="2103120" cy="365760"/>
          </a:xfrm>
          <a:prstGeom prst="roundRect">
            <a:avLst>
              <a:gd name="adj" fmla="val 25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success / a failure</a:t>
            </a:r>
            <a:endParaRPr lang="en-US" sz="1150" dirty="0"/>
          </a:p>
        </p:txBody>
      </p:sp>
      <p:sp>
        <p:nvSpPr>
          <p:cNvPr id="37" name="R6_chip124"/>
          <p:cNvSpPr/>
          <p:nvPr/>
        </p:nvSpPr>
        <p:spPr>
          <a:xfrm>
            <a:off x="5806440" y="347472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it works and makes money / it doesn't work</a:t>
            </a:r>
            <a:endParaRPr lang="en-US" sz="1000" dirty="0"/>
          </a:p>
        </p:txBody>
      </p:sp>
      <p:sp>
        <p:nvSpPr>
          <p:cNvPr id="38" name="bd_125"/>
          <p:cNvSpPr/>
          <p:nvPr/>
        </p:nvSpPr>
        <p:spPr>
          <a:xfrm>
            <a:off x="3246120" y="391363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26"/>
          <p:cNvSpPr/>
          <p:nvPr/>
        </p:nvSpPr>
        <p:spPr>
          <a:xfrm>
            <a:off x="3630168" y="3886200"/>
            <a:ext cx="2103120" cy="365760"/>
          </a:xfrm>
          <a:prstGeom prst="roundRect">
            <a:avLst>
              <a:gd name="adj" fmla="val 25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"I'm out."</a:t>
            </a:r>
            <a:endParaRPr lang="en-US" sz="1150" dirty="0"/>
          </a:p>
        </p:txBody>
      </p:sp>
      <p:sp>
        <p:nvSpPr>
          <p:cNvPr id="40" name="R7_chip127"/>
          <p:cNvSpPr/>
          <p:nvPr/>
        </p:nvSpPr>
        <p:spPr>
          <a:xfrm>
            <a:off x="5806440" y="388620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(on the show) = I'm not going to invest</a:t>
            </a:r>
            <a:endParaRPr lang="en-US" sz="1000" dirty="0"/>
          </a:p>
        </p:txBody>
      </p:sp>
      <p:sp>
        <p:nvSpPr>
          <p:cNvPr id="41" name="bd_128"/>
          <p:cNvSpPr/>
          <p:nvPr/>
        </p:nvSpPr>
        <p:spPr>
          <a:xfrm>
            <a:off x="3246120" y="432511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8</a:t>
            </a:r>
            <a:endParaRPr lang="en-US" sz="1000" dirty="0"/>
          </a:p>
        </p:txBody>
      </p:sp>
      <p:sp>
        <p:nvSpPr>
          <p:cNvPr id="42" name="q_129"/>
          <p:cNvSpPr/>
          <p:nvPr/>
        </p:nvSpPr>
        <p:spPr>
          <a:xfrm>
            <a:off x="3630168" y="4297680"/>
            <a:ext cx="2103120" cy="365760"/>
          </a:xfrm>
          <a:prstGeom prst="roundRect">
            <a:avLst>
              <a:gd name="adj" fmla="val 25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slogan</a:t>
            </a:r>
            <a:endParaRPr lang="en-US" sz="1150" dirty="0"/>
          </a:p>
        </p:txBody>
      </p:sp>
      <p:sp>
        <p:nvSpPr>
          <p:cNvPr id="43" name="R8_chip130"/>
          <p:cNvSpPr/>
          <p:nvPr/>
        </p:nvSpPr>
        <p:spPr>
          <a:xfrm>
            <a:off x="5806440" y="4297680"/>
            <a:ext cx="3063240" cy="365760"/>
          </a:xfrm>
          <a:prstGeom prst="roundRect">
            <a:avLst>
              <a:gd name="adj" fmla="val 25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short, catchy phrase for advertising</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3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32"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133"/>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Business words in Italian</a:t>
            </a:r>
            <a:endParaRPr lang="en-US" sz="2500" dirty="0"/>
          </a:p>
        </p:txBody>
      </p:sp>
      <p:pic>
        <p:nvPicPr>
          <p:cNvPr id="6" name="brP_13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3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3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13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3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3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14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4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Vocabulary · in Italian</a:t>
            </a:r>
            <a:endParaRPr lang="en-US" sz="800" dirty="0"/>
          </a:p>
        </p:txBody>
      </p:sp>
      <p:sp>
        <p:nvSpPr>
          <p:cNvPr id="14" name="cd_142"/>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43"/>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44"/>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entrepreneur</a:t>
            </a:r>
            <a:endParaRPr lang="en-US" sz="1200" dirty="0"/>
          </a:p>
        </p:txBody>
      </p:sp>
      <p:sp>
        <p:nvSpPr>
          <p:cNvPr id="17" name="R1_it145"/>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imprenditore / imprenditrice</a:t>
            </a:r>
            <a:endParaRPr lang="en-US" sz="800" dirty="0"/>
          </a:p>
        </p:txBody>
      </p:sp>
      <p:sp>
        <p:nvSpPr>
          <p:cNvPr id="18" name="cd_146"/>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47"/>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48"/>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make a pitch</a:t>
            </a:r>
            <a:endParaRPr lang="en-US" sz="1200" dirty="0"/>
          </a:p>
        </p:txBody>
      </p:sp>
      <p:sp>
        <p:nvSpPr>
          <p:cNvPr id="21" name="R2_it149"/>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presentare un'idea per venderla</a:t>
            </a:r>
            <a:endParaRPr lang="en-US" sz="800" dirty="0"/>
          </a:p>
        </p:txBody>
      </p:sp>
      <p:sp>
        <p:nvSpPr>
          <p:cNvPr id="22" name="cd_150"/>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51"/>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52"/>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contestant</a:t>
            </a:r>
            <a:endParaRPr lang="en-US" sz="1200" dirty="0"/>
          </a:p>
        </p:txBody>
      </p:sp>
      <p:sp>
        <p:nvSpPr>
          <p:cNvPr id="25" name="R3_it153"/>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concorrente</a:t>
            </a:r>
            <a:endParaRPr lang="en-US" sz="1000" dirty="0"/>
          </a:p>
        </p:txBody>
      </p:sp>
      <p:sp>
        <p:nvSpPr>
          <p:cNvPr id="26" name="cd_154"/>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55"/>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56"/>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invest</a:t>
            </a:r>
            <a:endParaRPr lang="en-US" sz="1200" dirty="0"/>
          </a:p>
        </p:txBody>
      </p:sp>
      <p:sp>
        <p:nvSpPr>
          <p:cNvPr id="29" name="R4_it157"/>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investire</a:t>
            </a:r>
            <a:endParaRPr lang="en-US" sz="1000" dirty="0"/>
          </a:p>
        </p:txBody>
      </p:sp>
      <p:sp>
        <p:nvSpPr>
          <p:cNvPr id="30" name="cd_158"/>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59"/>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60"/>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share</a:t>
            </a:r>
            <a:endParaRPr lang="en-US" sz="1200" dirty="0"/>
          </a:p>
        </p:txBody>
      </p:sp>
      <p:sp>
        <p:nvSpPr>
          <p:cNvPr id="33" name="R5_it161"/>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quota</a:t>
            </a:r>
            <a:endParaRPr lang="en-US" sz="1000" dirty="0"/>
          </a:p>
        </p:txBody>
      </p:sp>
      <p:sp>
        <p:nvSpPr>
          <p:cNvPr id="34" name="cd_162"/>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63"/>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64"/>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profits</a:t>
            </a:r>
            <a:endParaRPr lang="en-US" sz="1200" dirty="0"/>
          </a:p>
        </p:txBody>
      </p:sp>
      <p:sp>
        <p:nvSpPr>
          <p:cNvPr id="37" name="R6_it165"/>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profitti, utili</a:t>
            </a:r>
            <a:endParaRPr lang="en-US" sz="1000" dirty="0"/>
          </a:p>
        </p:txBody>
      </p:sp>
      <p:sp>
        <p:nvSpPr>
          <p:cNvPr id="38" name="cd_166"/>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67"/>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68"/>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success / failure</a:t>
            </a:r>
            <a:endParaRPr lang="en-US" sz="1200" dirty="0"/>
          </a:p>
        </p:txBody>
      </p:sp>
      <p:sp>
        <p:nvSpPr>
          <p:cNvPr id="41" name="R7_it169"/>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successo / fallimento</a:t>
            </a:r>
            <a:endParaRPr lang="en-US" sz="900" dirty="0"/>
          </a:p>
        </p:txBody>
      </p:sp>
      <p:sp>
        <p:nvSpPr>
          <p:cNvPr id="42" name="cd_170"/>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71"/>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72"/>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"I'm out."</a:t>
            </a:r>
            <a:endParaRPr lang="en-US" sz="1200" dirty="0"/>
          </a:p>
        </p:txBody>
      </p:sp>
      <p:sp>
        <p:nvSpPr>
          <p:cNvPr id="45" name="R8_it173"/>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"Io non ci sto." (non investo)</a:t>
            </a:r>
            <a:endParaRPr lang="en-US" sz="800" dirty="0"/>
          </a:p>
        </p:txBody>
      </p:sp>
      <p:sp>
        <p:nvSpPr>
          <p:cNvPr id="46" name="cd_174"/>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175"/>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176"/>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slogan</a:t>
            </a:r>
            <a:endParaRPr lang="en-US" sz="1200" dirty="0"/>
          </a:p>
        </p:txBody>
      </p:sp>
      <p:sp>
        <p:nvSpPr>
          <p:cNvPr id="49" name="R9_it177"/>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slogan pubblicitario</a:t>
            </a:r>
            <a:endParaRPr lang="en-US" sz="1000" dirty="0"/>
          </a:p>
        </p:txBody>
      </p:sp>
      <p:sp>
        <p:nvSpPr>
          <p:cNvPr id="50" name="cd_178"/>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179"/>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180"/>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den</a:t>
            </a:r>
            <a:endParaRPr lang="en-US" sz="1200" dirty="0"/>
          </a:p>
        </p:txBody>
      </p:sp>
      <p:sp>
        <p:nvSpPr>
          <p:cNvPr id="53" name="R10_it181"/>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una tana</a:t>
            </a:r>
            <a:endParaRPr lang="en-US" sz="1000" dirty="0"/>
          </a:p>
        </p:txBody>
      </p:sp>
      <p:sp>
        <p:nvSpPr>
          <p:cNvPr id="54" name="cd_182"/>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183"/>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184"/>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product</a:t>
            </a:r>
            <a:endParaRPr lang="en-US" sz="1200" dirty="0"/>
          </a:p>
        </p:txBody>
      </p:sp>
      <p:sp>
        <p:nvSpPr>
          <p:cNvPr id="57" name="R11_it185"/>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 prodotto</a:t>
            </a:r>
            <a:endParaRPr lang="en-US" sz="1000" dirty="0"/>
          </a:p>
        </p:txBody>
      </p:sp>
      <p:sp>
        <p:nvSpPr>
          <p:cNvPr id="58" name="cd_186"/>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187"/>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188"/>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business</a:t>
            </a:r>
            <a:endParaRPr lang="en-US" sz="1200" dirty="0"/>
          </a:p>
        </p:txBody>
      </p:sp>
      <p:sp>
        <p:nvSpPr>
          <p:cNvPr id="61" name="R12_it189"/>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un'attività, un'azienda</a:t>
            </a:r>
            <a:endParaRPr lang="en-US" sz="900" dirty="0"/>
          </a:p>
        </p:txBody>
      </p:sp>
      <p:sp>
        <p:nvSpPr>
          <p:cNvPr id="62" name="R13_wc190"/>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191"/>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a share = una quota (to share = condividere)  ·  pitch here ≠ campo da calcio  ·  success = successo, BUT succedere = happen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92"/>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93"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4"/>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Salvo's cannolo pitch</a:t>
            </a:r>
            <a:endParaRPr lang="en-US" sz="2500" dirty="0"/>
          </a:p>
        </p:txBody>
      </p:sp>
      <p:pic>
        <p:nvPicPr>
          <p:cNvPr id="6" name="brP_195"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196"/>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19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198"/>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199"/>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20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20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2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Speaking · class story (TPRS)</a:t>
            </a:r>
            <a:endParaRPr lang="en-US" sz="800" dirty="0"/>
          </a:p>
        </p:txBody>
      </p:sp>
      <p:sp>
        <p:nvSpPr>
          <p:cNvPr id="15" name="cd_204"/>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205"/>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206"/>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207"/>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an entrepreneur</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imprenditore</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make a pitch</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presentare un'idea per venderla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 slogan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slogan pubblicitario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invest (in)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investire (in)</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 share in the profits</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una quota dei profitti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"I'm out."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"Io non ci sto." (non investo)</a:t>
            </a:r>
            <a:endParaRPr lang="en-US" sz="1000" dirty="0"/>
          </a:p>
        </p:txBody>
      </p:sp>
      <p:sp>
        <p:nvSpPr>
          <p:cNvPr id="19" name="R1_sb208"/>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209"/>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Salvo decided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to set up</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a business. He's an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entrepreneur</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with a cannolo that lasts a year!</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Salvo an entrepreneur or a teacher? · What's his product?</a:t>
            </a:r>
            <a:endParaRPr lang="en-US" sz="950" dirty="0"/>
          </a:p>
        </p:txBody>
      </p:sp>
      <p:sp>
        <p:nvSpPr>
          <p:cNvPr id="21" name="R2_sb210"/>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211"/>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He's very nervous about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making</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his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pitch</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on Dragons' Den. He only has a few minutes!</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he relaxed or nervous? · What is he nervous about?</a:t>
            </a:r>
            <a:endParaRPr lang="en-US" sz="950" dirty="0"/>
          </a:p>
        </p:txBody>
      </p:sp>
      <p:sp>
        <p:nvSpPr>
          <p:cNvPr id="23" name="R3_sb212"/>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213"/>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His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slogan</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is 'One cannolo, one year, zero problems!' The Dragons don't smile.</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 the Dragons smile? · What's his slogan? · Is it a good slogan?</a:t>
            </a:r>
            <a:endParaRPr lang="en-US" sz="950" dirty="0"/>
          </a:p>
        </p:txBody>
      </p:sp>
      <p:sp>
        <p:nvSpPr>
          <p:cNvPr id="25" name="R4_sb214"/>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215"/>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He asks them to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invest</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€50,000 for a 10%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share in the profits</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Does he want €50,000 or €5,000? · What share does he offer?</a:t>
            </a:r>
            <a:endParaRPr lang="en-US" sz="1200" dirty="0"/>
          </a:p>
        </p:txBody>
      </p:sp>
      <p:sp>
        <p:nvSpPr>
          <p:cNvPr id="27" name="R5_sb216"/>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217"/>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The Dragons taste the cannolo. Horrible! One by one, they all say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I'm out</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a:t>
            </a:r>
            <a:endParaRPr lang="en-US" sz="10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 they like it? · What do they say? · Why? (you decide!)</a:t>
            </a:r>
            <a:endParaRPr lang="en-US" sz="1000" dirty="0"/>
          </a:p>
        </p:txBody>
      </p:sp>
      <p:sp>
        <p:nvSpPr>
          <p:cNvPr id="29" name="R6_sb218"/>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219"/>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But Salvo doesn't give up. Today his cannoli are a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success</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 in Bagheria, at least!</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it a success or a failure? · And you – would you invest in Salvo?</a:t>
            </a:r>
            <a:endParaRPr lang="en-US" sz="9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20"/>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21"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222"/>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 the Dragons' Den</a:t>
            </a:r>
            <a:endParaRPr lang="en-US" sz="2500" dirty="0"/>
          </a:p>
        </p:txBody>
      </p:sp>
      <p:pic>
        <p:nvPicPr>
          <p:cNvPr id="6" name="brP_22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22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intro. Guess the 4 numbers!</a:t>
            </a:r>
            <a:endParaRPr lang="en-US" sz="1250" dirty="0"/>
          </a:p>
        </p:txBody>
      </p:sp>
      <p:sp>
        <p:nvSpPr>
          <p:cNvPr id="8" name="insIT_22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l'intro. Indovina i 4 numeri!</a:t>
            </a:r>
            <a:endParaRPr lang="en-US" sz="950" dirty="0"/>
          </a:p>
        </p:txBody>
      </p:sp>
      <p:sp>
        <p:nvSpPr>
          <p:cNvPr id="9" name="cmd_226"/>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27"/>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2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2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Prediction</a:t>
            </a:r>
            <a:endParaRPr lang="en-US" sz="850" dirty="0"/>
          </a:p>
        </p:txBody>
      </p:sp>
      <p:pic>
        <p:nvPicPr>
          <p:cNvPr id="13" name="logo_23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3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 prediction   ·   📖 SB p.78 · 5a</a:t>
            </a:r>
            <a:endParaRPr lang="en-US" sz="800" dirty="0"/>
          </a:p>
        </p:txBody>
      </p:sp>
      <p:sp>
        <p:nvSpPr>
          <p:cNvPr id="15" name="cd_232"/>
          <p:cNvSpPr/>
          <p:nvPr/>
        </p:nvSpPr>
        <p:spPr>
          <a:xfrm>
            <a:off x="320040" y="1417320"/>
            <a:ext cx="5029200" cy="1965960"/>
          </a:xfrm>
          <a:prstGeom prst="roundRect">
            <a:avLst>
              <a:gd name="adj" fmla="val 6512"/>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hl_233"/>
          <p:cNvSpPr/>
          <p:nvPr/>
        </p:nvSpPr>
        <p:spPr>
          <a:xfrm>
            <a:off x="502920" y="1508760"/>
            <a:ext cx="4663440" cy="548640"/>
          </a:xfrm>
          <a:prstGeom prst="rect">
            <a:avLst/>
          </a:prstGeom>
          <a:noFill/>
          <a:ln/>
        </p:spPr>
        <p:txBody>
          <a:bodyPr wrap="square" lIns="0" tIns="0" rIns="0" bIns="0" rtlCol="0" anchor="ctr"/>
          <a:lstStyle/>
          <a:p>
            <a:pPr indent="0" marL="0">
              <a:buNone/>
            </a:pPr>
            <a:r>
              <a:rPr lang="en-US" sz="2800" b="1" dirty="0">
                <a:solidFill>
                  <a:srgbClr val="1F6F43"/>
                </a:solidFill>
                <a:latin typeface="Georgia" pitchFamily="34" charset="0"/>
                <a:ea typeface="Georgia" pitchFamily="34" charset="-122"/>
                <a:cs typeface="Georgia" pitchFamily="34" charset="-120"/>
              </a:rPr>
              <a:t>In the Dragons' Den</a:t>
            </a:r>
            <a:endParaRPr lang="en-US" sz="2800" dirty="0"/>
          </a:p>
        </p:txBody>
      </p:sp>
      <p:sp>
        <p:nvSpPr>
          <p:cNvPr id="17" name="nx_234"/>
          <p:cNvSpPr/>
          <p:nvPr/>
        </p:nvSpPr>
        <p:spPr>
          <a:xfrm>
            <a:off x="457200" y="2807208"/>
            <a:ext cx="4754880" cy="512064"/>
          </a:xfrm>
          <a:prstGeom prst="roundRect">
            <a:avLst>
              <a:gd name="adj" fmla="val 17857"/>
            </a:avLst>
          </a:prstGeom>
          <a:solidFill>
            <a:srgbClr val="E3F7EA"/>
          </a:solidFill>
          <a:ln>
            <a:solidFill>
              <a:srgbClr val="A8E5BE"/>
            </a:solidFill>
          </a:ln>
        </p:spPr>
        <p:txBody>
          <a:bodyPr wrap="square" lIns="127000" tIns="25400" rIns="127000" bIns="25400" rtlCol="0" anchor="ctr">
            <a:normAutofit/>
          </a:bodyPr>
          <a:lstStyle/>
          <a:p>
            <a:pPr indent="0" marL="0">
              <a:buNone/>
            </a:pPr>
            <a:r>
              <a:rPr lang="en-US" sz="900" dirty="0">
                <a:solidFill>
                  <a:srgbClr val="2EB872"/>
                </a:solidFill>
                <a:latin typeface="Segoe UI Black" pitchFamily="34" charset="0"/>
                <a:ea typeface="Segoe UI Black" pitchFamily="34" charset="-122"/>
                <a:cs typeface="Segoe UI Black" pitchFamily="34" charset="-120"/>
              </a:rPr>
              <a:t>➡ NEXT  </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text on the next 2 slides has 9 gaps: the 4 numbers from the bank + 5 words from slide 4. Guess first!</a:t>
            </a:r>
            <a:endParaRPr lang="en-US" sz="900" dirty="0"/>
          </a:p>
        </p:txBody>
      </p:sp>
      <p:sp>
        <p:nvSpPr>
          <p:cNvPr id="18" name="sf_235"/>
          <p:cNvSpPr/>
          <p:nvPr/>
        </p:nvSpPr>
        <p:spPr>
          <a:xfrm>
            <a:off x="521208" y="2039112"/>
            <a:ext cx="4663440" cy="731520"/>
          </a:xfrm>
          <a:prstGeom prst="rect">
            <a:avLst/>
          </a:prstGeom>
          <a:noFill/>
          <a:ln/>
        </p:spPr>
        <p:txBody>
          <a:bodyPr wrap="square" lIns="0" tIns="0" rIns="0" bIns="0" rtlCol="0" anchor="t">
            <a:normAutofit/>
          </a:bodyPr>
          <a:lstStyle/>
          <a:p>
            <a:pPr indent="0" marL="0">
              <a:buNone/>
            </a:pPr>
            <a:r>
              <a:rPr lang="en-US" sz="1150" i="1" dirty="0">
                <a:solidFill>
                  <a:srgbClr val="1B2559"/>
                </a:solidFill>
                <a:latin typeface="Georgia" pitchFamily="34" charset="0"/>
                <a:ea typeface="Georgia" pitchFamily="34" charset="-122"/>
                <a:cs typeface="Georgia" pitchFamily="34" charset="-120"/>
              </a:rPr>
              <a:t>Dragons' Den is a UK TV series, with similar versions in many different countries. Contestants present their ideas to very rich business people, nicknamed 'the Dragons'.</a:t>
            </a:r>
            <a:endParaRPr lang="en-US" sz="1150" dirty="0"/>
          </a:p>
        </p:txBody>
      </p:sp>
      <p:sp>
        <p:nvSpPr>
          <p:cNvPr id="19" name="nbl_236"/>
          <p:cNvSpPr/>
          <p:nvPr/>
        </p:nvSpPr>
        <p:spPr>
          <a:xfrm>
            <a:off x="365760" y="3566160"/>
            <a:ext cx="493776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NUMBER BANK · guess where they go!</a:t>
            </a:r>
            <a:endParaRPr lang="en-US" sz="1100" dirty="0"/>
          </a:p>
        </p:txBody>
      </p:sp>
      <p:sp>
        <p:nvSpPr>
          <p:cNvPr id="20" name="bd_237"/>
          <p:cNvSpPr/>
          <p:nvPr/>
        </p:nvSpPr>
        <p:spPr>
          <a:xfrm>
            <a:off x="365760" y="3931920"/>
            <a:ext cx="548640" cy="5486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3</a:t>
            </a:r>
            <a:endParaRPr lang="en-US" sz="1800" dirty="0"/>
          </a:p>
        </p:txBody>
      </p:sp>
      <p:sp>
        <p:nvSpPr>
          <p:cNvPr id="21" name="bd_238"/>
          <p:cNvSpPr/>
          <p:nvPr/>
        </p:nvSpPr>
        <p:spPr>
          <a:xfrm>
            <a:off x="987552" y="3931920"/>
            <a:ext cx="548640" cy="5486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800" dirty="0">
                <a:solidFill>
                  <a:srgbClr val="FFFFFF"/>
                </a:solidFill>
                <a:latin typeface="Arial Rounded MT Bold" pitchFamily="34" charset="0"/>
                <a:ea typeface="Arial Rounded MT Bold" pitchFamily="34" charset="-122"/>
                <a:cs typeface="Arial Rounded MT Bold" pitchFamily="34" charset="-120"/>
              </a:rPr>
              <a:t>5</a:t>
            </a:r>
            <a:endParaRPr lang="en-US" sz="1800" dirty="0"/>
          </a:p>
        </p:txBody>
      </p:sp>
      <p:sp>
        <p:nvSpPr>
          <p:cNvPr id="22" name="bd_239"/>
          <p:cNvSpPr/>
          <p:nvPr/>
        </p:nvSpPr>
        <p:spPr>
          <a:xfrm>
            <a:off x="1609344" y="3931920"/>
            <a:ext cx="548640" cy="5486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250</a:t>
            </a:r>
            <a:endParaRPr lang="en-US" sz="1000" dirty="0"/>
          </a:p>
        </p:txBody>
      </p:sp>
      <p:sp>
        <p:nvSpPr>
          <p:cNvPr id="23" name="bd_240"/>
          <p:cNvSpPr/>
          <p:nvPr/>
        </p:nvSpPr>
        <p:spPr>
          <a:xfrm>
            <a:off x="2231136" y="3931920"/>
            <a:ext cx="548640" cy="548640"/>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800" dirty="0">
                <a:solidFill>
                  <a:srgbClr val="FFFFFF"/>
                </a:solidFill>
                <a:latin typeface="Arial Rounded MT Bold" pitchFamily="34" charset="0"/>
                <a:ea typeface="Arial Rounded MT Bold" pitchFamily="34" charset="-122"/>
                <a:cs typeface="Arial Rounded MT Bold" pitchFamily="34" charset="-120"/>
              </a:rPr>
              <a:t>2005</a:t>
            </a:r>
            <a:endParaRPr lang="en-US" sz="800" dirty="0"/>
          </a:p>
        </p:txBody>
      </p:sp>
      <p:sp>
        <p:nvSpPr>
          <p:cNvPr id="24" name="pf_241"/>
          <p:cNvSpPr/>
          <p:nvPr/>
        </p:nvSpPr>
        <p:spPr>
          <a:xfrm rot="90000">
            <a:off x="5577840" y="1234440"/>
            <a:ext cx="3246120" cy="3383280"/>
          </a:xfrm>
          <a:prstGeom prst="roundRect">
            <a:avLst>
              <a:gd name="adj" fmla="val 47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242" descr="/home/claude/lls-course/v2/cache/8a2_cover_jpg_759x792_31.png">    </p:cNvPr>
          <p:cNvPicPr>
            <a:picLocks noChangeAspect="1"/>
          </p:cNvPicPr>
          <p:nvPr/>
        </p:nvPicPr>
        <p:blipFill>
          <a:blip r:embed="rId5"/>
          <a:stretch>
            <a:fillRect/>
          </a:stretch>
        </p:blipFill>
        <p:spPr>
          <a:xfrm rot="90000">
            <a:off x="5623560" y="1280160"/>
            <a:ext cx="3154680" cy="3291840"/>
          </a:xfrm>
          <a:prstGeom prst="rect">
            <a:avLst/>
          </a:prstGeom>
        </p:spPr>
      </p:pic>
    </p:spTree>
  </p:cSld>
  <p:clrMapOvr>
    <a:masterClrMapping/>
  </p:clrMapOvr>
  <p:transition spd="med">
    <p:push dir="l"/>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3"/>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4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1/2</a:t>
            </a:r>
            <a:endParaRPr lang="en-US" sz="2500" dirty="0"/>
          </a:p>
        </p:txBody>
      </p:sp>
      <p:pic>
        <p:nvPicPr>
          <p:cNvPr id="6" name="brP_246"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247"/>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1–5. Check in the book p.78.</a:t>
            </a:r>
            <a:endParaRPr lang="en-US" sz="1250" dirty="0"/>
          </a:p>
        </p:txBody>
      </p:sp>
      <p:sp>
        <p:nvSpPr>
          <p:cNvPr id="8" name="insIT_2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1–5. Controlla nel libro p.78.</a:t>
            </a:r>
            <a:endParaRPr lang="en-US" sz="950" dirty="0"/>
          </a:p>
        </p:txBody>
      </p:sp>
      <p:sp>
        <p:nvSpPr>
          <p:cNvPr id="9" name="cmd_249"/>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50"/>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5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25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5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 In the Dragons' Den   ·   📖 SB p.78 · 5a (text slightly shortened)</a:t>
            </a:r>
            <a:endParaRPr lang="en-US" sz="800" dirty="0"/>
          </a:p>
        </p:txBody>
      </p:sp>
      <p:sp>
        <p:nvSpPr>
          <p:cNvPr id="15" name="cd_255"/>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56"/>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show</a:t>
            </a:r>
            <a:endParaRPr lang="en-US" sz="1700" dirty="0"/>
          </a:p>
        </p:txBody>
      </p:sp>
      <p:sp>
        <p:nvSpPr>
          <p:cNvPr id="17" name="ln_257"/>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Dragons' Den is a UK TV series which has been on TV every year since the original show in </a:t>
            </a:r>
            <a:pPr indent="0" marL="0">
              <a:buNone/>
            </a:pPr>
            <a:r>
              <a:rPr lang="en-US" sz="1150" b="1" dirty="0">
                <a:solidFill>
                  <a:srgbClr val="2EB872"/>
                </a:solidFill>
                <a:latin typeface="Georgia" pitchFamily="34" charset="0"/>
                <a:ea typeface="Georgia" pitchFamily="34" charset="-122"/>
                <a:cs typeface="Georgia" pitchFamily="34" charset="-120"/>
              </a:rPr>
              <a:t> (1)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8" name="R1_lnA258"/>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Dragons' Den is a UK TV series which has been on TV every year since the original show in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2005</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19" name="ln_259"/>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Contestants have </a:t>
            </a:r>
            <a:pPr indent="0" marL="0">
              <a:buNone/>
            </a:pPr>
            <a:r>
              <a:rPr lang="en-US" sz="1150" b="1" dirty="0">
                <a:solidFill>
                  <a:srgbClr val="2EB872"/>
                </a:solidFill>
                <a:latin typeface="Georgia" pitchFamily="34" charset="0"/>
                <a:ea typeface="Georgia" pitchFamily="34" charset="-122"/>
                <a:cs typeface="Georgia" pitchFamily="34" charset="-120"/>
              </a:rPr>
              <a:t> (2) ________ </a:t>
            </a:r>
            <a:pPr indent="0" marL="0">
              <a:buNone/>
            </a:pPr>
            <a:r>
              <a:rPr lang="en-US" sz="1150" dirty="0">
                <a:solidFill>
                  <a:srgbClr val="1B2559"/>
                </a:solidFill>
                <a:latin typeface="Georgia" pitchFamily="34" charset="0"/>
                <a:ea typeface="Georgia" pitchFamily="34" charset="-122"/>
                <a:cs typeface="Georgia" pitchFamily="34" charset="-120"/>
              </a:rPr>
              <a:t> minutes to present their ideas for a product or service to </a:t>
            </a:r>
            <a:pPr indent="0" marL="0">
              <a:buNone/>
            </a:pPr>
            <a:r>
              <a:rPr lang="en-US" sz="1150" b="1" dirty="0">
                <a:solidFill>
                  <a:srgbClr val="2EB872"/>
                </a:solidFill>
                <a:latin typeface="Georgia" pitchFamily="34" charset="0"/>
                <a:ea typeface="Georgia" pitchFamily="34" charset="-122"/>
                <a:cs typeface="Georgia" pitchFamily="34" charset="-120"/>
              </a:rPr>
              <a:t> (3) ________ </a:t>
            </a:r>
            <a:pPr indent="0" marL="0">
              <a:buNone/>
            </a:pPr>
            <a:r>
              <a:rPr lang="en-US" sz="1150" dirty="0">
                <a:solidFill>
                  <a:srgbClr val="1B2559"/>
                </a:solidFill>
                <a:latin typeface="Georgia" pitchFamily="34" charset="0"/>
                <a:ea typeface="Georgia" pitchFamily="34" charset="-122"/>
                <a:cs typeface="Georgia" pitchFamily="34" charset="-120"/>
              </a:rPr>
              <a:t> very successful business people.</a:t>
            </a:r>
            <a:endParaRPr lang="en-US" sz="1150" dirty="0"/>
          </a:p>
        </p:txBody>
      </p:sp>
      <p:sp>
        <p:nvSpPr>
          <p:cNvPr id="20" name="R2_lnA260"/>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Contestants have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three</a:t>
            </a:r>
            <a:pPr indent="0" marL="0">
              <a:buNone/>
            </a:pPr>
            <a:r>
              <a:rPr lang="en-US" sz="1150" dirty="0">
                <a:solidFill>
                  <a:srgbClr val="1B2559"/>
                </a:solidFill>
                <a:latin typeface="Georgia" pitchFamily="34" charset="0"/>
                <a:ea typeface="Georgia" pitchFamily="34" charset="-122"/>
                <a:cs typeface="Georgia" pitchFamily="34" charset="-120"/>
              </a:rPr>
              <a:t> minutes to present their ideas for a product or service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five</a:t>
            </a:r>
            <a:pPr indent="0" marL="0">
              <a:buNone/>
            </a:pPr>
            <a:r>
              <a:rPr lang="en-US" sz="1150" dirty="0">
                <a:solidFill>
                  <a:srgbClr val="1B2559"/>
                </a:solidFill>
                <a:latin typeface="Georgia" pitchFamily="34" charset="0"/>
                <a:ea typeface="Georgia" pitchFamily="34" charset="-122"/>
                <a:cs typeface="Georgia" pitchFamily="34" charset="-120"/>
              </a:rPr>
              <a:t> very successful business people.</a:t>
            </a:r>
            <a:endParaRPr lang="en-US" sz="1150" dirty="0"/>
          </a:p>
        </p:txBody>
      </p:sp>
      <p:sp>
        <p:nvSpPr>
          <p:cNvPr id="21" name="ln_261"/>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These people are nicknamed 'the Dragons', and the intimidating room where they meet the contestants is 'the Den'.</a:t>
            </a:r>
            <a:endParaRPr lang="en-US" sz="1150" dirty="0"/>
          </a:p>
        </p:txBody>
      </p:sp>
      <p:sp>
        <p:nvSpPr>
          <p:cNvPr id="22" name="ln_262"/>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Dragons, who are multi-millionaires, are prepared to </a:t>
            </a:r>
            <a:pPr indent="0" marL="0">
              <a:buNone/>
            </a:pPr>
            <a:r>
              <a:rPr lang="en-US" sz="1150" b="1" dirty="0">
                <a:solidFill>
                  <a:srgbClr val="2EB872"/>
                </a:solidFill>
                <a:latin typeface="Georgia" pitchFamily="34" charset="0"/>
                <a:ea typeface="Georgia" pitchFamily="34" charset="-122"/>
                <a:cs typeface="Georgia" pitchFamily="34" charset="-120"/>
              </a:rPr>
              <a:t> (4) ________ </a:t>
            </a:r>
            <a:pPr indent="0" marL="0">
              <a:buNone/>
            </a:pPr>
            <a:r>
              <a:rPr lang="en-US" sz="1150" dirty="0">
                <a:solidFill>
                  <a:srgbClr val="1B2559"/>
                </a:solidFill>
                <a:latin typeface="Georgia" pitchFamily="34" charset="0"/>
                <a:ea typeface="Georgia" pitchFamily="34" charset="-122"/>
                <a:cs typeface="Georgia" pitchFamily="34" charset="-120"/>
              </a:rPr>
              <a:t> money in any business that they believe might be a success.</a:t>
            </a:r>
            <a:endParaRPr lang="en-US" sz="1150" dirty="0"/>
          </a:p>
        </p:txBody>
      </p:sp>
      <p:sp>
        <p:nvSpPr>
          <p:cNvPr id="23" name="R3_lnA263"/>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Dragons, who are multi-millionaires, are prepared to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invest</a:t>
            </a:r>
            <a:pPr indent="0" marL="0">
              <a:buNone/>
            </a:pPr>
            <a:r>
              <a:rPr lang="en-US" sz="1150" dirty="0">
                <a:solidFill>
                  <a:srgbClr val="1B2559"/>
                </a:solidFill>
                <a:latin typeface="Georgia" pitchFamily="34" charset="0"/>
                <a:ea typeface="Georgia" pitchFamily="34" charset="-122"/>
                <a:cs typeface="Georgia" pitchFamily="34" charset="-120"/>
              </a:rPr>
              <a:t> money in any business that they believe might be a success.</a:t>
            </a:r>
            <a:endParaRPr lang="en-US" sz="1150" dirty="0"/>
          </a:p>
        </p:txBody>
      </p:sp>
      <p:sp>
        <p:nvSpPr>
          <p:cNvPr id="24" name="ln_264"/>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return, they take a share in the </a:t>
            </a:r>
            <a:pPr indent="0" marL="0">
              <a:buNone/>
            </a:pPr>
            <a:r>
              <a:rPr lang="en-US" sz="1150" b="1" dirty="0">
                <a:solidFill>
                  <a:srgbClr val="2EB872"/>
                </a:solidFill>
                <a:latin typeface="Georgia" pitchFamily="34" charset="0"/>
                <a:ea typeface="Georgia" pitchFamily="34" charset="-122"/>
                <a:cs typeface="Georgia" pitchFamily="34" charset="-120"/>
              </a:rPr>
              <a:t> (5)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5" name="R4_lnA265"/>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In return, they take a share in the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profits</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6" name="pf_266"/>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67" descr="/home/claude/lls-course/v2/cache/8a2_investors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8" name="cd_268"/>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69"/>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70"/>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271"/>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den = tana</a:t>
            </a:r>
            <a:endParaRPr lang="en-US" sz="750" dirty="0"/>
          </a:p>
          <a:p>
            <a:pPr marL="152400" indent="-152400">
              <a:spcBef>
                <a:spcPts val="500"/>
              </a:spcBef>
              <a:spcAft>
                <a:spcPts val="200"/>
              </a:spcAft>
              <a:buSzPct val="100000"/>
              <a:buChar char="•"/>
            </a:pPr>
            <a:r>
              <a:rPr lang="en-US" sz="750" dirty="0">
                <a:solidFill>
                  <a:srgbClr val="1B2559"/>
                </a:solidFill>
                <a:latin typeface="Segoe UI Semibold" pitchFamily="34" charset="0"/>
                <a:ea typeface="Segoe UI Semibold" pitchFamily="34" charset="-122"/>
                <a:cs typeface="Segoe UI Semibold" pitchFamily="34" charset="-120"/>
              </a:rPr>
              <a:t>intimidating = che mette in soggezione</a:t>
            </a:r>
            <a:endParaRPr lang="en-US" sz="7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3"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74"/>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Read and check 2/2</a:t>
            </a:r>
            <a:endParaRPr lang="en-US" sz="2500" dirty="0"/>
          </a:p>
        </p:txBody>
      </p:sp>
      <p:pic>
        <p:nvPicPr>
          <p:cNvPr id="6" name="brP_275"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76"/>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gaps 6–9. Check in the book.</a:t>
            </a:r>
            <a:endParaRPr lang="en-US" sz="1250" dirty="0"/>
          </a:p>
        </p:txBody>
      </p:sp>
      <p:sp>
        <p:nvSpPr>
          <p:cNvPr id="8" name="insIT_27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6–9. Controlla nel libro.</a:t>
            </a:r>
            <a:endParaRPr lang="en-US" sz="950" dirty="0"/>
          </a:p>
        </p:txBody>
      </p:sp>
      <p:sp>
        <p:nvSpPr>
          <p:cNvPr id="9" name="cmd_278"/>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cmd_279"/>
          <p:cNvSpPr/>
          <p:nvPr/>
        </p:nvSpPr>
        <p:spPr>
          <a:xfrm>
            <a:off x="6510528" y="566928"/>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GUESS</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INDOVINA</a:t>
            </a:r>
            <a:endParaRPr lang="en-US" sz="1100" dirty="0"/>
          </a:p>
        </p:txBody>
      </p:sp>
      <p:sp>
        <p:nvSpPr>
          <p:cNvPr id="11" name="meta_28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2" name="tag_28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3" name="logo_2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 In the Dragons' Den   ·   📖 SB p.78 · 5a (text slightly shortened)</a:t>
            </a:r>
            <a:endParaRPr lang="en-US" sz="800" dirty="0"/>
          </a:p>
        </p:txBody>
      </p:sp>
      <p:sp>
        <p:nvSpPr>
          <p:cNvPr id="15" name="cd_28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28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The pitch</a:t>
            </a:r>
            <a:endParaRPr lang="en-US" sz="1700" dirty="0"/>
          </a:p>
        </p:txBody>
      </p:sp>
      <p:sp>
        <p:nvSpPr>
          <p:cNvPr id="17" name="ln_286"/>
          <p:cNvSpPr/>
          <p:nvPr/>
        </p:nvSpPr>
        <p:spPr>
          <a:xfrm>
            <a:off x="548640" y="192024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contestants are usually young </a:t>
            </a:r>
            <a:pPr indent="0" marL="0">
              <a:buNone/>
            </a:pPr>
            <a:r>
              <a:rPr lang="en-US" sz="1150" b="1" dirty="0">
                <a:solidFill>
                  <a:srgbClr val="2EB872"/>
                </a:solidFill>
                <a:latin typeface="Georgia" pitchFamily="34" charset="0"/>
                <a:ea typeface="Georgia" pitchFamily="34" charset="-122"/>
                <a:cs typeface="Georgia" pitchFamily="34" charset="-120"/>
              </a:rPr>
              <a:t> (6) ________ </a:t>
            </a:r>
            <a:pPr indent="0" marL="0">
              <a:buNone/>
            </a:pPr>
            <a:r>
              <a:rPr lang="en-US" sz="1150" dirty="0">
                <a:solidFill>
                  <a:srgbClr val="1B2559"/>
                </a:solidFill>
                <a:latin typeface="Georgia" pitchFamily="34" charset="0"/>
                <a:ea typeface="Georgia" pitchFamily="34" charset="-122"/>
                <a:cs typeface="Georgia" pitchFamily="34" charset="-120"/>
              </a:rPr>
              <a:t>, product designers, or people with a new idea for a product or service.</a:t>
            </a:r>
            <a:endParaRPr lang="en-US" sz="1150" dirty="0"/>
          </a:p>
        </p:txBody>
      </p:sp>
      <p:sp>
        <p:nvSpPr>
          <p:cNvPr id="18" name="R1_lnA287"/>
          <p:cNvSpPr/>
          <p:nvPr/>
        </p:nvSpPr>
        <p:spPr>
          <a:xfrm>
            <a:off x="548640" y="192024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 contestants are usually young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entrepreneurs</a:t>
            </a:r>
            <a:pPr indent="0" marL="0">
              <a:buNone/>
            </a:pPr>
            <a:r>
              <a:rPr lang="en-US" sz="1150" dirty="0">
                <a:solidFill>
                  <a:srgbClr val="1B2559"/>
                </a:solidFill>
                <a:latin typeface="Georgia" pitchFamily="34" charset="0"/>
                <a:ea typeface="Georgia" pitchFamily="34" charset="-122"/>
                <a:cs typeface="Georgia" pitchFamily="34" charset="-120"/>
              </a:rPr>
              <a:t>, product designers, or people with a new idea for a product or service.</a:t>
            </a:r>
            <a:endParaRPr lang="en-US" sz="1150" dirty="0"/>
          </a:p>
        </p:txBody>
      </p:sp>
      <p:sp>
        <p:nvSpPr>
          <p:cNvPr id="19" name="ln_288"/>
          <p:cNvSpPr/>
          <p:nvPr/>
        </p:nvSpPr>
        <p:spPr>
          <a:xfrm>
            <a:off x="548640" y="246888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have three minutes to make their </a:t>
            </a:r>
            <a:pPr indent="0" marL="0">
              <a:buNone/>
            </a:pPr>
            <a:r>
              <a:rPr lang="en-US" sz="1150" b="1" dirty="0">
                <a:solidFill>
                  <a:srgbClr val="2EB872"/>
                </a:solidFill>
                <a:latin typeface="Georgia" pitchFamily="34" charset="0"/>
                <a:ea typeface="Georgia" pitchFamily="34" charset="-122"/>
                <a:cs typeface="Georgia" pitchFamily="34" charset="-120"/>
              </a:rPr>
              <a:t> (7) ________ </a:t>
            </a:r>
            <a:pPr indent="0" marL="0">
              <a:buNone/>
            </a:pPr>
            <a:r>
              <a:rPr lang="en-US" sz="1150" dirty="0">
                <a:solidFill>
                  <a:srgbClr val="1B2559"/>
                </a:solidFill>
                <a:latin typeface="Georgia" pitchFamily="34" charset="0"/>
                <a:ea typeface="Georgia" pitchFamily="34" charset="-122"/>
                <a:cs typeface="Georgia" pitchFamily="34" charset="-120"/>
              </a:rPr>
              <a:t>, then the Dragons ask them questions about it and its possible market.</a:t>
            </a:r>
            <a:endParaRPr lang="en-US" sz="1150" dirty="0"/>
          </a:p>
        </p:txBody>
      </p:sp>
      <p:sp>
        <p:nvSpPr>
          <p:cNvPr id="20" name="R2_lnA289"/>
          <p:cNvSpPr/>
          <p:nvPr/>
        </p:nvSpPr>
        <p:spPr>
          <a:xfrm>
            <a:off x="548640" y="246888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They have three minutes to make their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pitch</a:t>
            </a:r>
            <a:pPr indent="0" marL="0">
              <a:buNone/>
            </a:pPr>
            <a:r>
              <a:rPr lang="en-US" sz="1150" dirty="0">
                <a:solidFill>
                  <a:srgbClr val="1B2559"/>
                </a:solidFill>
                <a:latin typeface="Georgia" pitchFamily="34" charset="0"/>
                <a:ea typeface="Georgia" pitchFamily="34" charset="-122"/>
                <a:cs typeface="Georgia" pitchFamily="34" charset="-120"/>
              </a:rPr>
              <a:t>, then the Dragons ask them questions about it and its possible market.</a:t>
            </a:r>
            <a:endParaRPr lang="en-US" sz="1150" dirty="0"/>
          </a:p>
        </p:txBody>
      </p:sp>
      <p:sp>
        <p:nvSpPr>
          <p:cNvPr id="21" name="ln_290"/>
          <p:cNvSpPr/>
          <p:nvPr/>
        </p:nvSpPr>
        <p:spPr>
          <a:xfrm>
            <a:off x="548640" y="301752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Finally, the Dragons say if they are prepared to invest or not.</a:t>
            </a:r>
            <a:endParaRPr lang="en-US" sz="1150" dirty="0"/>
          </a:p>
        </p:txBody>
      </p:sp>
      <p:sp>
        <p:nvSpPr>
          <p:cNvPr id="22" name="ln_291"/>
          <p:cNvSpPr/>
          <p:nvPr/>
        </p:nvSpPr>
        <p:spPr>
          <a:xfrm>
            <a:off x="548640" y="356616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If they are not convinced by the presentation, they say the dreaded words, '</a:t>
            </a:r>
            <a:pPr indent="0" marL="0">
              <a:buNone/>
            </a:pPr>
            <a:r>
              <a:rPr lang="en-US" sz="1150" b="1" dirty="0">
                <a:solidFill>
                  <a:srgbClr val="2EB872"/>
                </a:solidFill>
                <a:latin typeface="Georgia" pitchFamily="34" charset="0"/>
                <a:ea typeface="Georgia" pitchFamily="34" charset="-122"/>
                <a:cs typeface="Georgia" pitchFamily="34" charset="-120"/>
              </a:rPr>
              <a:t> (8) ________ </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3" name="R3_lnA292"/>
          <p:cNvSpPr/>
          <p:nvPr/>
        </p:nvSpPr>
        <p:spPr>
          <a:xfrm>
            <a:off x="548640" y="356616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If they are not convinced by the presentation, they say the dreaded words,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I'm out</a:t>
            </a:r>
            <a:pPr indent="0" marL="0">
              <a:buNone/>
            </a:pPr>
            <a:r>
              <a:rPr lang="en-US" sz="1150" dirty="0">
                <a:solidFill>
                  <a:srgbClr val="1B2559"/>
                </a:solidFill>
                <a:latin typeface="Georgia" pitchFamily="34" charset="0"/>
                <a:ea typeface="Georgia" pitchFamily="34" charset="-122"/>
                <a:cs typeface="Georgia" pitchFamily="34" charset="-120"/>
              </a:rPr>
              <a:t>'.</a:t>
            </a:r>
            <a:endParaRPr lang="en-US" sz="1150" dirty="0"/>
          </a:p>
        </p:txBody>
      </p:sp>
      <p:sp>
        <p:nvSpPr>
          <p:cNvPr id="24" name="ln_293"/>
          <p:cNvSpPr/>
          <p:nvPr/>
        </p:nvSpPr>
        <p:spPr>
          <a:xfrm>
            <a:off x="548640" y="4114800"/>
            <a:ext cx="5349240" cy="548640"/>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So far, the Dragons have agreed to invest in more than </a:t>
            </a:r>
            <a:pPr indent="0" marL="0">
              <a:buNone/>
            </a:pPr>
            <a:r>
              <a:rPr lang="en-US" sz="1150" b="1" dirty="0">
                <a:solidFill>
                  <a:srgbClr val="2EB872"/>
                </a:solidFill>
                <a:latin typeface="Georgia" pitchFamily="34" charset="0"/>
                <a:ea typeface="Georgia" pitchFamily="34" charset="-122"/>
                <a:cs typeface="Georgia" pitchFamily="34" charset="-120"/>
              </a:rPr>
              <a:t> (9) ________ </a:t>
            </a:r>
            <a:pPr indent="0" marL="0">
              <a:buNone/>
            </a:pPr>
            <a:r>
              <a:rPr lang="en-US" sz="1150" dirty="0">
                <a:solidFill>
                  <a:srgbClr val="1B2559"/>
                </a:solidFill>
                <a:latin typeface="Georgia" pitchFamily="34" charset="0"/>
                <a:ea typeface="Georgia" pitchFamily="34" charset="-122"/>
                <a:cs typeface="Georgia" pitchFamily="34" charset="-120"/>
              </a:rPr>
              <a:t> businesses.</a:t>
            </a:r>
            <a:endParaRPr lang="en-US" sz="1150" dirty="0"/>
          </a:p>
        </p:txBody>
      </p:sp>
      <p:sp>
        <p:nvSpPr>
          <p:cNvPr id="25" name="R4_lnA294"/>
          <p:cNvSpPr/>
          <p:nvPr/>
        </p:nvSpPr>
        <p:spPr>
          <a:xfrm>
            <a:off x="548640" y="4114800"/>
            <a:ext cx="5349240" cy="548640"/>
          </a:xfrm>
          <a:prstGeom prst="rect">
            <a:avLst/>
          </a:prstGeom>
          <a:solidFill>
            <a:srgbClr val="FFFFFF"/>
          </a:solidFill>
          <a:ln/>
        </p:spPr>
        <p:txBody>
          <a:bodyPr wrap="square" lIns="0" tIns="0" rIns="0" bIns="0" rtlCol="0" anchor="ctr">
            <a:normAutofit/>
          </a:bodyPr>
          <a:lstStyle/>
          <a:p>
            <a:pPr indent="0" marL="0">
              <a:buNone/>
            </a:pPr>
            <a:r>
              <a:rPr lang="en-US" sz="1150" dirty="0">
                <a:solidFill>
                  <a:srgbClr val="1B2559"/>
                </a:solidFill>
                <a:latin typeface="Georgia" pitchFamily="34" charset="0"/>
                <a:ea typeface="Georgia" pitchFamily="34" charset="-122"/>
                <a:cs typeface="Georgia" pitchFamily="34" charset="-120"/>
              </a:rPr>
              <a:t>So far, the Dragons have agreed to invest in more than </a:t>
            </a:r>
            <a:pPr indent="0" marL="0">
              <a:buNone/>
            </a:pPr>
            <a:r>
              <a:rPr lang="en-US" sz="1150" b="1" dirty="0">
                <a:solidFill>
                  <a:srgbClr val="1B2559"/>
                </a:solidFill>
                <a:highlight>
                  <a:srgbClr val="FFE066"/>
                </a:highlight>
                <a:latin typeface="Georgia" pitchFamily="34" charset="0"/>
                <a:ea typeface="Georgia" pitchFamily="34" charset="-122"/>
                <a:cs typeface="Georgia" pitchFamily="34" charset="-120"/>
              </a:rPr>
              <a:t>250</a:t>
            </a:r>
            <a:pPr indent="0" marL="0">
              <a:buNone/>
            </a:pPr>
            <a:r>
              <a:rPr lang="en-US" sz="1150" dirty="0">
                <a:solidFill>
                  <a:srgbClr val="1B2559"/>
                </a:solidFill>
                <a:latin typeface="Georgia" pitchFamily="34" charset="0"/>
                <a:ea typeface="Georgia" pitchFamily="34" charset="-122"/>
                <a:cs typeface="Georgia" pitchFamily="34" charset="-120"/>
              </a:rPr>
              <a:t> businesses.</a:t>
            </a:r>
            <a:endParaRPr lang="en-US" sz="1150" dirty="0"/>
          </a:p>
        </p:txBody>
      </p:sp>
      <p:sp>
        <p:nvSpPr>
          <p:cNvPr id="26" name="pf_295"/>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96" descr="/home/claude/lls-course/v2/cache/8a2_cover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8" name="cd_297"/>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9" name="ii_298"/>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0" name="ih_299"/>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31" name="il_300"/>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dreaded = temuto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so far = finora</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2"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303"/>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Three products</a:t>
            </a:r>
            <a:endParaRPr lang="en-US" sz="2500" dirty="0"/>
          </a:p>
        </p:txBody>
      </p:sp>
      <p:pic>
        <p:nvPicPr>
          <p:cNvPr id="6" name="brP_304"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305"/>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Would you invest? Decide!</a:t>
            </a:r>
            <a:endParaRPr lang="en-US" sz="1250" dirty="0"/>
          </a:p>
        </p:txBody>
      </p:sp>
      <p:sp>
        <p:nvSpPr>
          <p:cNvPr id="8" name="insIT_30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Investiresti? Decidi!</a:t>
            </a:r>
            <a:endParaRPr lang="en-US" sz="950" dirty="0"/>
          </a:p>
        </p:txBody>
      </p:sp>
      <p:sp>
        <p:nvSpPr>
          <p:cNvPr id="9" name="cmd_307"/>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READ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LEGGI</a:t>
            </a:r>
            <a:endParaRPr lang="en-US" sz="1100" dirty="0"/>
          </a:p>
        </p:txBody>
      </p:sp>
      <p:sp>
        <p:nvSpPr>
          <p:cNvPr id="10" name="meta_30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alone</a:t>
            </a:r>
            <a:endParaRPr lang="en-US" sz="950" dirty="0"/>
          </a:p>
        </p:txBody>
      </p:sp>
      <p:sp>
        <p:nvSpPr>
          <p:cNvPr id="11" name="tag_30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reading</a:t>
            </a:r>
            <a:endParaRPr lang="en-US" sz="850" dirty="0"/>
          </a:p>
        </p:txBody>
      </p:sp>
      <p:pic>
        <p:nvPicPr>
          <p:cNvPr id="12" name="logo_31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1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 three products   ·   📖 SB p.78 · 5b (texts slightly shortened)</a:t>
            </a:r>
            <a:endParaRPr lang="en-US" sz="800" dirty="0"/>
          </a:p>
        </p:txBody>
      </p:sp>
      <p:sp>
        <p:nvSpPr>
          <p:cNvPr id="14" name="cd_312"/>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5" name="sh_313"/>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Three products on the show</a:t>
            </a:r>
            <a:endParaRPr lang="en-US" sz="1700" dirty="0"/>
          </a:p>
        </p:txBody>
      </p:sp>
      <p:sp>
        <p:nvSpPr>
          <p:cNvPr id="16" name="ln_314"/>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TINGATANG · Gill and Clare, from Leeds, designed Tingatang, silver jewellery to show that you're single – like a wedding ring shows that you're married.</a:t>
            </a:r>
            <a:endParaRPr lang="en-US" sz="1100" dirty="0"/>
          </a:p>
        </p:txBody>
      </p:sp>
      <p:sp>
        <p:nvSpPr>
          <p:cNvPr id="17" name="ln_315"/>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They asked the Dragons to invest £500,000 in their business.</a:t>
            </a:r>
            <a:endParaRPr lang="en-US" sz="1100" dirty="0"/>
          </a:p>
        </p:txBody>
      </p:sp>
      <p:sp>
        <p:nvSpPr>
          <p:cNvPr id="18" name="ln_316"/>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050" dirty="0">
                <a:solidFill>
                  <a:srgbClr val="1B2559"/>
                </a:solidFill>
                <a:latin typeface="Georgia" pitchFamily="34" charset="0"/>
                <a:ea typeface="Georgia" pitchFamily="34" charset="-122"/>
                <a:cs typeface="Georgia" pitchFamily="34" charset="-120"/>
              </a:rPr>
              <a:t>SLAPPIE WATCHES · David, from Birmingham, asked for £50,000 for 25% of his company. The watches cost under £20 and have straps of many different colours.</a:t>
            </a:r>
            <a:endParaRPr lang="en-US" sz="1050" dirty="0"/>
          </a:p>
        </p:txBody>
      </p:sp>
      <p:sp>
        <p:nvSpPr>
          <p:cNvPr id="19" name="ln_317"/>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The straps and watch faces are interchangeable, so you can create your own watch.</a:t>
            </a:r>
            <a:endParaRPr lang="en-US" sz="1100" dirty="0"/>
          </a:p>
        </p:txBody>
      </p:sp>
      <p:sp>
        <p:nvSpPr>
          <p:cNvPr id="20" name="ln_318"/>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TANGLE TEEZER · Shaun, a hairdresser from London, set up a company to make brightly coloured plastic hairbrushes – especially good at untangling hair.</a:t>
            </a:r>
            <a:endParaRPr lang="en-US" sz="1100" dirty="0"/>
          </a:p>
        </p:txBody>
      </p:sp>
      <p:sp>
        <p:nvSpPr>
          <p:cNvPr id="21" name="ln_319"/>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Georgia" pitchFamily="34" charset="0"/>
                <a:ea typeface="Georgia" pitchFamily="34" charset="-122"/>
                <a:cs typeface="Georgia" pitchFamily="34" charset="-120"/>
              </a:rPr>
              <a:t>He asked for an £80,000 investment for 15% of his company.</a:t>
            </a:r>
            <a:endParaRPr lang="en-US" sz="1100" dirty="0"/>
          </a:p>
        </p:txBody>
      </p:sp>
      <p:sp>
        <p:nvSpPr>
          <p:cNvPr id="22" name="pf_320"/>
          <p:cNvSpPr/>
          <p:nvPr/>
        </p:nvSpPr>
        <p:spPr>
          <a:xfrm rot="120000">
            <a:off x="6309360" y="141732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3" name="ph_321" descr="/home/claude/lls-course/v2/cache/8a2_jewellery_jpg_594x341_31.png">    </p:cNvPr>
          <p:cNvPicPr>
            <a:picLocks noChangeAspect="1"/>
          </p:cNvPicPr>
          <p:nvPr/>
        </p:nvPicPr>
        <p:blipFill>
          <a:blip r:embed="rId5"/>
          <a:stretch>
            <a:fillRect/>
          </a:stretch>
        </p:blipFill>
        <p:spPr>
          <a:xfrm rot="120000">
            <a:off x="6355080" y="1463040"/>
            <a:ext cx="2468880" cy="1417320"/>
          </a:xfrm>
          <a:prstGeom prst="rect">
            <a:avLst/>
          </a:prstGeom>
        </p:spPr>
      </p:pic>
      <p:sp>
        <p:nvSpPr>
          <p:cNvPr id="24" name="cd_322"/>
          <p:cNvSpPr/>
          <p:nvPr/>
        </p:nvSpPr>
        <p:spPr>
          <a:xfrm>
            <a:off x="6263640" y="3794760"/>
            <a:ext cx="2651760" cy="960120"/>
          </a:xfrm>
          <a:prstGeom prst="roundRect">
            <a:avLst>
              <a:gd name="adj" fmla="val 133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5" name="ii_323"/>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6" name="ih_324"/>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7" name="il_325"/>
          <p:cNvSpPr/>
          <p:nvPr/>
        </p:nvSpPr>
        <p:spPr>
          <a:xfrm>
            <a:off x="6830568" y="4270248"/>
            <a:ext cx="1993392" cy="4114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strap = cinturino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untangle = sciogliere i nodi</a:t>
            </a:r>
            <a:endParaRPr lang="en-US" sz="1000" dirty="0"/>
          </a:p>
        </p:txBody>
      </p:sp>
    </p:spTree>
  </p:cSld>
  <p:clrMapOvr>
    <a:masterClrMapping/>
  </p:clrMapOvr>
  <p:transition spd="med">
    <p:push dir="l"/>
  </p:transition>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7"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28"/>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Invest or I'm out?</a:t>
            </a:r>
            <a:endParaRPr lang="en-US" sz="2500" dirty="0"/>
          </a:p>
        </p:txBody>
      </p:sp>
      <p:pic>
        <p:nvPicPr>
          <p:cNvPr id="6" name="brP_329" descr="/home/claude/lls-course/v2/assets/brush-pink.png">    </p:cNvPr>
          <p:cNvPicPr>
            <a:picLocks noChangeAspect="1"/>
          </p:cNvPicPr>
          <p:nvPr/>
        </p:nvPicPr>
        <p:blipFill>
          <a:blip r:embed="rId3"/>
          <a:stretch>
            <a:fillRect/>
          </a:stretch>
        </p:blipFill>
        <p:spPr>
          <a:xfrm>
            <a:off x="1207008" y="731520"/>
            <a:ext cx="4032504" cy="402336"/>
          </a:xfrm>
          <a:prstGeom prst="rect">
            <a:avLst/>
          </a:prstGeom>
        </p:spPr>
      </p:pic>
      <p:sp>
        <p:nvSpPr>
          <p:cNvPr id="7" name="ins_330"/>
          <p:cNvSpPr/>
          <p:nvPr/>
        </p:nvSpPr>
        <p:spPr>
          <a:xfrm>
            <a:off x="1353312" y="731520"/>
            <a:ext cx="377647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Invest or I'm out? Bet, then find out!</a:t>
            </a:r>
            <a:endParaRPr lang="en-US" sz="1250" dirty="0"/>
          </a:p>
        </p:txBody>
      </p:sp>
      <p:sp>
        <p:nvSpPr>
          <p:cNvPr id="8" name="insIT_3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Investire o no? Scommetti, poi scoprilo!</a:t>
            </a:r>
            <a:endParaRPr lang="en-US" sz="950" dirty="0"/>
          </a:p>
        </p:txBody>
      </p:sp>
      <p:sp>
        <p:nvSpPr>
          <p:cNvPr id="9" name="cmd_332"/>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33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teams</a:t>
            </a:r>
            <a:endParaRPr lang="en-US" sz="950" dirty="0"/>
          </a:p>
        </p:txBody>
      </p:sp>
      <p:sp>
        <p:nvSpPr>
          <p:cNvPr id="11" name="tag_33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Reading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3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Reading game · jigsaw   ·   📖 SB p.78 · 5b, 5c, 5d · Communication Dragons' Den A p.109, B p.113, C p.114</a:t>
            </a:r>
            <a:endParaRPr lang="en-US" sz="800" dirty="0"/>
          </a:p>
        </p:txBody>
      </p:sp>
      <p:sp>
        <p:nvSpPr>
          <p:cNvPr id="14" name="cd_337"/>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3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39"/>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340"/>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00" dirty="0">
                <a:solidFill>
                  <a:srgbClr val="1B2559"/>
                </a:solidFill>
                <a:latin typeface="Segoe UI Semibold" pitchFamily="34" charset="0"/>
                <a:ea typeface="Segoe UI Semibold" pitchFamily="34" charset="-122"/>
                <a:cs typeface="Segoe UI Semibold" pitchFamily="34" charset="-120"/>
              </a:rPr>
              <a:t>Teams: bet INVEST or I'M OUT for each product.</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Squadre: scommettete INVESTE o FUORI.</a:t>
            </a:r>
            <a:endParaRPr lang="en-US" sz="900" dirty="0"/>
          </a:p>
          <a:p>
            <a:pPr marL="190500" indent="-190500">
              <a:spcBef>
                <a:spcPts val="500"/>
              </a:spcBef>
              <a:spcAft>
                <a:spcPts val="200"/>
              </a:spcAft>
              <a:buSzPct val="100000"/>
              <a:buChar char="2"/>
            </a:pPr>
            <a:r>
              <a:rPr lang="en-US" sz="900" dirty="0">
                <a:solidFill>
                  <a:srgbClr val="1B2559"/>
                </a:solidFill>
                <a:latin typeface="Segoe UI Semibold" pitchFamily="34" charset="0"/>
                <a:ea typeface="Segoe UI Semibold" pitchFamily="34" charset="-122"/>
                <a:cs typeface="Segoe UI Semibold" pitchFamily="34" charset="-120"/>
              </a:rPr>
              <a:t>Groups of 3: read A p.109, B p.113, C p.114. Tell the others.</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Gruppi da 3: leggete A, B, C e raccontate.</a:t>
            </a:r>
            <a:endParaRPr lang="en-US" sz="900" dirty="0"/>
          </a:p>
          <a:p>
            <a:pPr marL="190500" indent="-190500">
              <a:spcBef>
                <a:spcPts val="500"/>
              </a:spcBef>
              <a:spcAft>
                <a:spcPts val="200"/>
              </a:spcAft>
              <a:buSzPct val="100000"/>
              <a:buChar char="3"/>
            </a:pPr>
            <a:r>
              <a:rPr lang="en-US" sz="900" dirty="0">
                <a:solidFill>
                  <a:srgbClr val="1B2559"/>
                </a:solidFill>
                <a:latin typeface="Segoe UI Semibold" pitchFamily="34" charset="0"/>
                <a:ea typeface="Segoe UI Semibold" pitchFamily="34" charset="-122"/>
                <a:cs typeface="Segoe UI Semibold" pitchFamily="34" charset="-120"/>
              </a:rPr>
              <a:t>Right bet = 1 point.</a:t>
            </a:r>
            <a:endParaRPr lang="en-US" sz="900" dirty="0"/>
          </a:p>
          <a:p>
            <a:pPr marL="190500" indent="-190500">
              <a:spcAft>
                <a:spcPts val="200"/>
              </a:spcAft>
              <a:buSzPct val="100000"/>
              <a:buChar char=" "/>
            </a:pPr>
            <a:r>
              <a:rPr lang="en-US" sz="800" i="1" dirty="0">
                <a:solidFill>
                  <a:srgbClr val="5B6785"/>
                </a:solidFill>
                <a:latin typeface="Segoe UI Semibold" pitchFamily="34" charset="0"/>
                <a:ea typeface="Segoe UI Semibold" pitchFamily="34" charset="-122"/>
                <a:cs typeface="Segoe UI Semibold" pitchFamily="34" charset="-120"/>
              </a:rPr>
              <a:t>Scommessa giusta = 1 punto.</a:t>
            </a:r>
            <a:endParaRPr lang="en-US" sz="900" dirty="0"/>
          </a:p>
        </p:txBody>
      </p:sp>
      <p:sp>
        <p:nvSpPr>
          <p:cNvPr id="18" name="pf_341"/>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342" descr="/home/claude/lls-course/v2/cache/8a2_slap_watc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343"/>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344"/>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Tingatang · silver jewellery for single people · £500,000</a:t>
            </a:r>
            <a:endParaRPr lang="en-US" sz="1100" dirty="0"/>
          </a:p>
        </p:txBody>
      </p:sp>
      <p:sp>
        <p:nvSpPr>
          <p:cNvPr id="22" name="R1_chip345"/>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 a failure</a:t>
            </a:r>
            <a:endParaRPr lang="en-US" sz="1100" dirty="0"/>
          </a:p>
        </p:txBody>
      </p:sp>
      <p:sp>
        <p:nvSpPr>
          <p:cNvPr id="23" name="bd_346"/>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347"/>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Slappie watches · under £20 · £50,000 for 25%</a:t>
            </a:r>
            <a:endParaRPr lang="en-US" sz="1100" dirty="0"/>
          </a:p>
        </p:txBody>
      </p:sp>
      <p:sp>
        <p:nvSpPr>
          <p:cNvPr id="25" name="R2_chip348"/>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INVEST → a success</a:t>
            </a:r>
            <a:endParaRPr lang="en-US" sz="1100" dirty="0"/>
          </a:p>
        </p:txBody>
      </p:sp>
      <p:sp>
        <p:nvSpPr>
          <p:cNvPr id="26" name="bd_349"/>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350"/>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Tangle Teezer · hairbrushes · £80,000 for 15%</a:t>
            </a:r>
            <a:endParaRPr lang="en-US" sz="1100" dirty="0"/>
          </a:p>
        </p:txBody>
      </p:sp>
      <p:sp>
        <p:nvSpPr>
          <p:cNvPr id="28" name="R3_chip351"/>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 but a BIG success!</a:t>
            </a:r>
            <a:endParaRPr lang="en-US" sz="1100" dirty="0"/>
          </a:p>
        </p:txBody>
      </p:sp>
      <p:sp>
        <p:nvSpPr>
          <p:cNvPr id="29" name="bd_352"/>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353"/>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Which product would YOU buy? Why?</a:t>
            </a:r>
            <a:endParaRPr lang="en-US" sz="1100" dirty="0"/>
          </a:p>
        </p:txBody>
      </p:sp>
      <p:sp>
        <p:nvSpPr>
          <p:cNvPr id="31" name="R4_chip354"/>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e.g. Slappie – it's cheap and fun to create your own.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5"/>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56"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357"/>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Joe's day in the Den</a:t>
            </a:r>
            <a:endParaRPr lang="en-US" sz="2500" dirty="0"/>
          </a:p>
        </p:txBody>
      </p:sp>
      <p:pic>
        <p:nvPicPr>
          <p:cNvPr id="6" name="brP_35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35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True or false? Correct the F.</a:t>
            </a:r>
            <a:endParaRPr lang="en-US" sz="1250" dirty="0"/>
          </a:p>
        </p:txBody>
      </p:sp>
      <p:sp>
        <p:nvSpPr>
          <p:cNvPr id="8" name="insIT_36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Vero o falso? Correggi i falsi.</a:t>
            </a:r>
            <a:endParaRPr lang="en-US" sz="950" dirty="0"/>
          </a:p>
        </p:txBody>
      </p:sp>
      <p:sp>
        <p:nvSpPr>
          <p:cNvPr id="9" name="cmd_361"/>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362"/>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363"/>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364"/>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3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Listening · Part 1   ·   📖 SB p.79 · 6a, 6b, 6c · audio 8.9 (script p.129)</a:t>
            </a:r>
            <a:endParaRPr lang="en-US" sz="800" dirty="0"/>
          </a:p>
        </p:txBody>
      </p:sp>
      <p:sp>
        <p:nvSpPr>
          <p:cNvPr id="15" name="ap_367"/>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8.9  ·  play twice</a:t>
            </a:r>
            <a:endParaRPr lang="en-US" sz="1100" dirty="0"/>
          </a:p>
        </p:txBody>
      </p:sp>
      <p:sp>
        <p:nvSpPr>
          <p:cNvPr id="16" name="aw_368"/>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7" name="pf_36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370" descr="/home/claude/lls-course/v2/cache/8a2_frames_jpg_627x407_31.png">    </p:cNvPr>
          <p:cNvPicPr>
            <a:picLocks noChangeAspect="1"/>
          </p:cNvPicPr>
          <p:nvPr/>
        </p:nvPicPr>
        <p:blipFill>
          <a:blip r:embed="rId5"/>
          <a:stretch>
            <a:fillRect/>
          </a:stretch>
        </p:blipFill>
        <p:spPr>
          <a:xfrm rot="-90000">
            <a:off x="457200" y="2103120"/>
            <a:ext cx="2606040" cy="1691640"/>
          </a:xfrm>
          <a:prstGeom prst="rect">
            <a:avLst/>
          </a:prstGeom>
        </p:spPr>
      </p:pic>
      <p:sp>
        <p:nvSpPr>
          <p:cNvPr id="19" name="cd_37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37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37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37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375"/>
          <p:cNvSpPr/>
          <p:nvPr/>
        </p:nvSpPr>
        <p:spPr>
          <a:xfrm>
            <a:off x="3383280" y="141732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Joe and Jake applied together.</a:t>
            </a:r>
            <a:endParaRPr lang="en-US" sz="1200" dirty="0"/>
          </a:p>
        </p:txBody>
      </p:sp>
      <p:sp>
        <p:nvSpPr>
          <p:cNvPr id="24" name="R1_chip376"/>
          <p:cNvSpPr/>
          <p:nvPr/>
        </p:nvSpPr>
        <p:spPr>
          <a:xfrm>
            <a:off x="6812280" y="14173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Joe applied alone</a:t>
            </a:r>
            <a:endParaRPr lang="en-US" sz="1200" dirty="0"/>
          </a:p>
        </p:txBody>
      </p:sp>
      <p:sp>
        <p:nvSpPr>
          <p:cNvPr id="25" name="gq_377"/>
          <p:cNvSpPr/>
          <p:nvPr/>
        </p:nvSpPr>
        <p:spPr>
          <a:xfrm>
            <a:off x="3383280" y="182880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They prepared their pitch quickly.</a:t>
            </a:r>
            <a:endParaRPr lang="en-US" sz="1200" dirty="0"/>
          </a:p>
        </p:txBody>
      </p:sp>
      <p:sp>
        <p:nvSpPr>
          <p:cNvPr id="26" name="R2_chip378"/>
          <p:cNvSpPr/>
          <p:nvPr/>
        </p:nvSpPr>
        <p:spPr>
          <a:xfrm>
            <a:off x="6812280" y="18288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they practised a lot</a:t>
            </a:r>
            <a:endParaRPr lang="en-US" sz="1200" dirty="0"/>
          </a:p>
        </p:txBody>
      </p:sp>
      <p:sp>
        <p:nvSpPr>
          <p:cNvPr id="27" name="gq_379"/>
          <p:cNvSpPr/>
          <p:nvPr/>
        </p:nvSpPr>
        <p:spPr>
          <a:xfrm>
            <a:off x="3383280" y="224028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show is filmed in Manchester.</a:t>
            </a:r>
            <a:endParaRPr lang="en-US" sz="1200" dirty="0"/>
          </a:p>
        </p:txBody>
      </p:sp>
      <p:sp>
        <p:nvSpPr>
          <p:cNvPr id="28" name="R3_chip380"/>
          <p:cNvSpPr/>
          <p:nvPr/>
        </p:nvSpPr>
        <p:spPr>
          <a:xfrm>
            <a:off x="6812280" y="22402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29" name="gq_381"/>
          <p:cNvSpPr/>
          <p:nvPr/>
        </p:nvSpPr>
        <p:spPr>
          <a:xfrm>
            <a:off x="3383280" y="265176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No preparation the night before.</a:t>
            </a:r>
            <a:endParaRPr lang="en-US" sz="1200" dirty="0"/>
          </a:p>
        </p:txBody>
      </p:sp>
      <p:sp>
        <p:nvSpPr>
          <p:cNvPr id="30" name="R4_chip382"/>
          <p:cNvSpPr/>
          <p:nvPr/>
        </p:nvSpPr>
        <p:spPr>
          <a:xfrm>
            <a:off x="6812280" y="265176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they practised</a:t>
            </a:r>
            <a:endParaRPr lang="en-US" sz="1200" dirty="0"/>
          </a:p>
        </p:txBody>
      </p:sp>
      <p:sp>
        <p:nvSpPr>
          <p:cNvPr id="31" name="gq_383"/>
          <p:cNvSpPr/>
          <p:nvPr/>
        </p:nvSpPr>
        <p:spPr>
          <a:xfrm>
            <a:off x="3383280" y="3063240"/>
            <a:ext cx="333756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They only slept a few hours.</a:t>
            </a:r>
            <a:endParaRPr lang="en-US" sz="1200" dirty="0"/>
          </a:p>
        </p:txBody>
      </p:sp>
      <p:sp>
        <p:nvSpPr>
          <p:cNvPr id="32" name="R5_chip384"/>
          <p:cNvSpPr/>
          <p:nvPr/>
        </p:nvSpPr>
        <p:spPr>
          <a:xfrm>
            <a:off x="6812280" y="306324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3" name="gq_385"/>
          <p:cNvSpPr/>
          <p:nvPr/>
        </p:nvSpPr>
        <p:spPr>
          <a:xfrm>
            <a:off x="3383280" y="3474720"/>
            <a:ext cx="333756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They were the third contestants.</a:t>
            </a:r>
            <a:endParaRPr lang="en-US" sz="1200" dirty="0"/>
          </a:p>
        </p:txBody>
      </p:sp>
      <p:sp>
        <p:nvSpPr>
          <p:cNvPr id="34" name="R6_chip386"/>
          <p:cNvSpPr/>
          <p:nvPr/>
        </p:nvSpPr>
        <p:spPr>
          <a:xfrm>
            <a:off x="6812280" y="347472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the first</a:t>
            </a:r>
            <a:endParaRPr lang="en-US" sz="1200" dirty="0"/>
          </a:p>
        </p:txBody>
      </p:sp>
      <p:sp>
        <p:nvSpPr>
          <p:cNvPr id="35" name="gq_387"/>
          <p:cNvSpPr/>
          <p:nvPr/>
        </p:nvSpPr>
        <p:spPr>
          <a:xfrm>
            <a:off x="3383280" y="3886200"/>
            <a:ext cx="333756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Others waited up to 12 hours.</a:t>
            </a:r>
            <a:endParaRPr lang="en-US" sz="1200" dirty="0"/>
          </a:p>
        </p:txBody>
      </p:sp>
      <p:sp>
        <p:nvSpPr>
          <p:cNvPr id="36" name="R7_chip388"/>
          <p:cNvSpPr/>
          <p:nvPr/>
        </p:nvSpPr>
        <p:spPr>
          <a:xfrm>
            <a:off x="6812280" y="388620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a:t>
            </a:r>
            <a:endParaRPr lang="en-US" sz="1200" dirty="0"/>
          </a:p>
        </p:txBody>
      </p:sp>
      <p:sp>
        <p:nvSpPr>
          <p:cNvPr id="37" name="gq_389"/>
          <p:cNvSpPr/>
          <p:nvPr/>
        </p:nvSpPr>
        <p:spPr>
          <a:xfrm>
            <a:off x="3383280" y="4297680"/>
            <a:ext cx="333756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They met a Dragon before the show.</a:t>
            </a:r>
            <a:endParaRPr lang="en-US" sz="1200" dirty="0"/>
          </a:p>
        </p:txBody>
      </p:sp>
      <p:sp>
        <p:nvSpPr>
          <p:cNvPr id="38" name="R8_chip390"/>
          <p:cNvSpPr/>
          <p:nvPr/>
        </p:nvSpPr>
        <p:spPr>
          <a:xfrm>
            <a:off x="6812280" y="4297680"/>
            <a:ext cx="2057400" cy="347472"/>
          </a:xfrm>
          <a:prstGeom prst="roundRect">
            <a:avLst>
              <a:gd name="adj" fmla="val 26316"/>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 · it's not allowed</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6"/>
                                        </p:tgtEl>
                                        <p:attrNameLst>
                                          <p:attrName>style.visibility</p:attrName>
                                        </p:attrNameLst>
                                      </p:cBhvr>
                                      <p:to>
                                        <p:strVal val="visible"/>
                                      </p:to>
                                    </p:set>
                                    <p:animEffect transition="in" filter="fade">
                                      <p:cBhvr>
                                        <p:cTn id="37" dur="400"/>
                                        <p:tgtEl>
                                          <p:spTgt spid="36"/>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8"/>
                                        </p:tgtEl>
                                        <p:attrNameLst>
                                          <p:attrName>style.visibility</p:attrName>
                                        </p:attrNameLst>
                                      </p:cBhvr>
                                      <p:to>
                                        <p:strVal val="visible"/>
                                      </p:to>
                                    </p:set>
                                    <p:animEffect transition="in" filter="fade">
                                      <p:cBhvr>
                                        <p:cTn id="4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9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92"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393"/>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happened in the Den?</a:t>
            </a:r>
            <a:endParaRPr lang="en-US" sz="2400" dirty="0"/>
          </a:p>
        </p:txBody>
      </p:sp>
      <p:pic>
        <p:nvPicPr>
          <p:cNvPr id="6" name="brP_394"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95"/>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What did Joe say about 1–6?</a:t>
            </a:r>
            <a:endParaRPr lang="en-US" sz="1250" dirty="0"/>
          </a:p>
        </p:txBody>
      </p:sp>
      <p:sp>
        <p:nvSpPr>
          <p:cNvPr id="8" name="insIT_39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Cosa dice Joe su 1–6?</a:t>
            </a:r>
            <a:endParaRPr lang="en-US" sz="950" dirty="0"/>
          </a:p>
        </p:txBody>
      </p:sp>
      <p:sp>
        <p:nvSpPr>
          <p:cNvPr id="9" name="cmd_39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39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alone</a:t>
            </a:r>
            <a:endParaRPr lang="en-US" sz="950" dirty="0"/>
          </a:p>
        </p:txBody>
      </p:sp>
      <p:sp>
        <p:nvSpPr>
          <p:cNvPr id="11" name="tag_39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4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Listening · Part 2   ·   📖 SB p.79 · 6d, 6e · audio 8.10 (script pp.129–130)</a:t>
            </a:r>
            <a:endParaRPr lang="en-US" sz="800" dirty="0"/>
          </a:p>
        </p:txBody>
      </p:sp>
      <p:sp>
        <p:nvSpPr>
          <p:cNvPr id="14" name="ap_402"/>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8.10  ·  play twice</a:t>
            </a:r>
            <a:endParaRPr lang="en-US" sz="1100" dirty="0"/>
          </a:p>
        </p:txBody>
      </p:sp>
      <p:sp>
        <p:nvSpPr>
          <p:cNvPr id="15" name="aw_403"/>
          <p:cNvSpPr/>
          <p:nvPr/>
        </p:nvSpPr>
        <p:spPr>
          <a:xfrm>
            <a:off x="365760" y="1837944"/>
            <a:ext cx="26517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6" name="pf_404"/>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405" descr="/home/claude/lls-course/v2/cache/8a2_workshop_jpg_407x297_31.png">    </p:cNvPr>
          <p:cNvPicPr>
            <a:picLocks noChangeAspect="1"/>
          </p:cNvPicPr>
          <p:nvPr/>
        </p:nvPicPr>
        <p:blipFill>
          <a:blip r:embed="rId5"/>
          <a:stretch>
            <a:fillRect/>
          </a:stretch>
        </p:blipFill>
        <p:spPr>
          <a:xfrm rot="-90000">
            <a:off x="457200" y="2103120"/>
            <a:ext cx="1691640" cy="1234440"/>
          </a:xfrm>
          <a:prstGeom prst="rect">
            <a:avLst/>
          </a:prstGeom>
        </p:spPr>
      </p:pic>
      <p:sp>
        <p:nvSpPr>
          <p:cNvPr id="18" name="bd_406"/>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19" name="pf_407"/>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408" descr="/home/claude/lls-course/v2/cache/8a2_job_offer_jpg_407x297_31.png">    </p:cNvPr>
          <p:cNvPicPr>
            <a:picLocks noChangeAspect="1"/>
          </p:cNvPicPr>
          <p:nvPr/>
        </p:nvPicPr>
        <p:blipFill>
          <a:blip r:embed="rId6"/>
          <a:stretch>
            <a:fillRect/>
          </a:stretch>
        </p:blipFill>
        <p:spPr>
          <a:xfrm rot="90000">
            <a:off x="2331720" y="2103120"/>
            <a:ext cx="1691640" cy="1234440"/>
          </a:xfrm>
          <a:prstGeom prst="rect">
            <a:avLst/>
          </a:prstGeom>
        </p:spPr>
      </p:pic>
      <p:sp>
        <p:nvSpPr>
          <p:cNvPr id="21" name="bd_409"/>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2" name="cd_410"/>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23" name="ii_411"/>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412"/>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25" name="il_413"/>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once: what was different for Joe and Jake?</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Ascolta: cosa c'è stato di diverso per Joe e Jake?</a:t>
            </a:r>
            <a:endParaRPr lang="en-US" sz="700" dirty="0"/>
          </a:p>
          <a:p>
            <a:pPr marL="152400" indent="-152400">
              <a:spcBef>
                <a:spcPts val="5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Listen again. Make notes about 1–6.</a:t>
            </a:r>
            <a:endParaRPr lang="en-US" sz="700" dirty="0"/>
          </a:p>
          <a:p>
            <a:pPr marL="152400" indent="-152400">
              <a:spcAft>
                <a:spcPts val="200"/>
              </a:spcAft>
              <a:buSzPct val="100000"/>
              <a:buChar char=" "/>
            </a:pPr>
            <a:r>
              <a:rPr lang="en-US" sz="700" i="1" dirty="0">
                <a:solidFill>
                  <a:srgbClr val="5B6785"/>
                </a:solidFill>
                <a:latin typeface="Segoe UI Semibold" pitchFamily="34" charset="0"/>
                <a:ea typeface="Segoe UI Semibold" pitchFamily="34" charset="-122"/>
                <a:cs typeface="Segoe UI Semibold" pitchFamily="34" charset="-120"/>
              </a:rPr>
              <a:t>Riascolta. Prendi appunti su 1–6.</a:t>
            </a:r>
            <a:endParaRPr lang="en-US" sz="700" dirty="0"/>
          </a:p>
        </p:txBody>
      </p:sp>
      <p:sp>
        <p:nvSpPr>
          <p:cNvPr id="26" name="lq_414"/>
          <p:cNvSpPr/>
          <p:nvPr/>
        </p:nvSpPr>
        <p:spPr>
          <a:xfrm>
            <a:off x="6035040" y="210312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1 Deborah Meaden</a:t>
            </a:r>
            <a:endParaRPr lang="en-US" sz="1000" dirty="0"/>
          </a:p>
        </p:txBody>
      </p:sp>
      <p:sp>
        <p:nvSpPr>
          <p:cNvPr id="27" name="R1_chip415"/>
          <p:cNvSpPr/>
          <p:nvPr/>
        </p:nvSpPr>
        <p:spPr>
          <a:xfrm>
            <a:off x="7315200" y="21031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stared → he felt nervous</a:t>
            </a:r>
            <a:endParaRPr lang="en-US" sz="1000" dirty="0"/>
          </a:p>
        </p:txBody>
      </p:sp>
      <p:sp>
        <p:nvSpPr>
          <p:cNvPr id="28" name="lq_416"/>
          <p:cNvSpPr/>
          <p:nvPr/>
        </p:nvSpPr>
        <p:spPr>
          <a:xfrm>
            <a:off x="6035040" y="254508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2 Jake's first words</a:t>
            </a:r>
            <a:endParaRPr lang="en-US" sz="1000" dirty="0"/>
          </a:p>
        </p:txBody>
      </p:sp>
      <p:sp>
        <p:nvSpPr>
          <p:cNvPr id="29" name="R2_chip417"/>
          <p:cNvSpPr/>
          <p:nvPr/>
        </p:nvSpPr>
        <p:spPr>
          <a:xfrm>
            <a:off x="7315200" y="254508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he forgot them</a:t>
            </a:r>
            <a:endParaRPr lang="en-US" sz="1050" dirty="0"/>
          </a:p>
        </p:txBody>
      </p:sp>
      <p:sp>
        <p:nvSpPr>
          <p:cNvPr id="30" name="lq_418"/>
          <p:cNvSpPr/>
          <p:nvPr/>
        </p:nvSpPr>
        <p:spPr>
          <a:xfrm>
            <a:off x="6035040" y="2987040"/>
            <a:ext cx="1234440" cy="350520"/>
          </a:xfrm>
          <a:prstGeom prst="roundRect">
            <a:avLst>
              <a:gd name="adj" fmla="val 26087"/>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'I'm out.'</a:t>
            </a:r>
            <a:endParaRPr lang="en-US" sz="1100" dirty="0"/>
          </a:p>
        </p:txBody>
      </p:sp>
      <p:sp>
        <p:nvSpPr>
          <p:cNvPr id="31" name="R3_chip419"/>
          <p:cNvSpPr/>
          <p:nvPr/>
        </p:nvSpPr>
        <p:spPr>
          <a:xfrm>
            <a:off x="7315200" y="298704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4 Dragons said it</a:t>
            </a:r>
            <a:endParaRPr lang="en-US" sz="1050" dirty="0"/>
          </a:p>
        </p:txBody>
      </p:sp>
      <p:sp>
        <p:nvSpPr>
          <p:cNvPr id="32" name="lq_420"/>
          <p:cNvSpPr/>
          <p:nvPr/>
        </p:nvSpPr>
        <p:spPr>
          <a:xfrm>
            <a:off x="6035040" y="3429000"/>
            <a:ext cx="1234440" cy="350520"/>
          </a:xfrm>
          <a:prstGeom prst="roundRect">
            <a:avLst>
              <a:gd name="adj" fmla="val 26087"/>
            </a:avLst>
          </a:prstGeom>
          <a:solidFill>
            <a:srgbClr val="FFFFFF"/>
          </a:solidFill>
          <a:ln w="19050">
            <a:solidFill>
              <a:srgbClr val="FFE07A"/>
            </a:solidFill>
          </a:ln>
        </p:spPr>
        <p:txBody>
          <a:bodyPr wrap="square" lIns="76200" tIns="0" rIns="762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4 Peter's appearance</a:t>
            </a:r>
            <a:endParaRPr lang="en-US" sz="1000" dirty="0"/>
          </a:p>
        </p:txBody>
      </p:sp>
      <p:sp>
        <p:nvSpPr>
          <p:cNvPr id="33" name="R4_chip421"/>
          <p:cNvSpPr/>
          <p:nvPr/>
        </p:nvSpPr>
        <p:spPr>
          <a:xfrm>
            <a:off x="7315200" y="342900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over 2 m tall – scary</a:t>
            </a:r>
            <a:endParaRPr lang="en-US" sz="1000" dirty="0"/>
          </a:p>
        </p:txBody>
      </p:sp>
      <p:sp>
        <p:nvSpPr>
          <p:cNvPr id="34" name="lq_422"/>
          <p:cNvSpPr/>
          <p:nvPr/>
        </p:nvSpPr>
        <p:spPr>
          <a:xfrm>
            <a:off x="6035040" y="3870960"/>
            <a:ext cx="1234440" cy="350520"/>
          </a:xfrm>
          <a:prstGeom prst="roundRect">
            <a:avLst>
              <a:gd name="adj" fmla="val 26087"/>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5 Jessops</a:t>
            </a:r>
            <a:endParaRPr lang="en-US" sz="1100" dirty="0"/>
          </a:p>
        </p:txBody>
      </p:sp>
      <p:sp>
        <p:nvSpPr>
          <p:cNvPr id="35" name="R5_chip423"/>
          <p:cNvSpPr/>
          <p:nvPr/>
        </p:nvSpPr>
        <p:spPr>
          <a:xfrm>
            <a:off x="7315200" y="387096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Peter's camera shops</a:t>
            </a:r>
            <a:endParaRPr lang="en-US" sz="1000" dirty="0"/>
          </a:p>
        </p:txBody>
      </p:sp>
      <p:sp>
        <p:nvSpPr>
          <p:cNvPr id="36" name="lq_424"/>
          <p:cNvSpPr/>
          <p:nvPr/>
        </p:nvSpPr>
        <p:spPr>
          <a:xfrm>
            <a:off x="6035040" y="4312920"/>
            <a:ext cx="1234440" cy="350520"/>
          </a:xfrm>
          <a:prstGeom prst="roundRect">
            <a:avLst>
              <a:gd name="adj" fmla="val 26087"/>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6 the job offer</a:t>
            </a:r>
            <a:endParaRPr lang="en-US" sz="1100" dirty="0"/>
          </a:p>
        </p:txBody>
      </p:sp>
      <p:sp>
        <p:nvSpPr>
          <p:cNvPr id="37" name="R6_chip425"/>
          <p:cNvSpPr/>
          <p:nvPr/>
        </p:nvSpPr>
        <p:spPr>
          <a:xfrm>
            <a:off x="7315200" y="4312920"/>
            <a:ext cx="1554480" cy="350520"/>
          </a:xfrm>
          <a:prstGeom prst="roundRect">
            <a:avLst>
              <a:gd name="adj" fmla="val 26087"/>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never happened before!</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2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27"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28"/>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Yes or no to the job?</a:t>
            </a:r>
            <a:endParaRPr lang="en-US" sz="2500" dirty="0"/>
          </a:p>
        </p:txBody>
      </p:sp>
      <p:pic>
        <p:nvPicPr>
          <p:cNvPr id="6" name="brP_429"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30"/>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Vote first! Then listen to the end.</a:t>
            </a:r>
            <a:endParaRPr lang="en-US" sz="1250" dirty="0"/>
          </a:p>
        </p:txBody>
      </p:sp>
      <p:sp>
        <p:nvSpPr>
          <p:cNvPr id="8" name="insIT_4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Prima vota! Poi ascolta la fine.</a:t>
            </a:r>
            <a:endParaRPr lang="en-US" sz="950" dirty="0"/>
          </a:p>
        </p:txBody>
      </p:sp>
      <p:sp>
        <p:nvSpPr>
          <p:cNvPr id="9" name="cmd_43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43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whole class</a:t>
            </a:r>
            <a:endParaRPr lang="en-US" sz="950" dirty="0"/>
          </a:p>
        </p:txBody>
      </p:sp>
      <p:sp>
        <p:nvSpPr>
          <p:cNvPr id="11" name="tag_43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43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3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Listening · Part 3   ·   📖 SB p.79 · 6f · audio 8.11 (script p.130)</a:t>
            </a:r>
            <a:endParaRPr lang="en-US" sz="800" dirty="0"/>
          </a:p>
        </p:txBody>
      </p:sp>
      <p:sp>
        <p:nvSpPr>
          <p:cNvPr id="14" name="cd_437"/>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43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3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440"/>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YOU: a job with a very good salary – or your own business?</a:t>
            </a:r>
            <a:endParaRPr lang="en-US" sz="1050" dirty="0"/>
          </a:p>
        </p:txBody>
      </p:sp>
      <p:sp>
        <p:nvSpPr>
          <p:cNvPr id="18" name="pf_441"/>
          <p:cNvSpPr/>
          <p:nvPr/>
        </p:nvSpPr>
        <p:spPr>
          <a:xfrm rot="-90000">
            <a:off x="365760" y="2697480"/>
            <a:ext cx="2606040" cy="1417320"/>
          </a:xfrm>
          <a:prstGeom prst="roundRect">
            <a:avLst>
              <a:gd name="adj" fmla="val 1096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442" descr="/home/claude/lls-course/v2/cache/8a2_job_offer_jpg_605x319_31.png">    </p:cNvPr>
          <p:cNvPicPr>
            <a:picLocks noChangeAspect="1"/>
          </p:cNvPicPr>
          <p:nvPr/>
        </p:nvPicPr>
        <p:blipFill>
          <a:blip r:embed="rId5"/>
          <a:stretch>
            <a:fillRect/>
          </a:stretch>
        </p:blipFill>
        <p:spPr>
          <a:xfrm rot="-90000">
            <a:off x="411480" y="2743200"/>
            <a:ext cx="2514600" cy="1325880"/>
          </a:xfrm>
          <a:prstGeom prst="rect">
            <a:avLst/>
          </a:prstGeom>
        </p:spPr>
      </p:pic>
      <p:sp>
        <p:nvSpPr>
          <p:cNvPr id="20" name="ap_443"/>
          <p:cNvSpPr/>
          <p:nvPr/>
        </p:nvSpPr>
        <p:spPr>
          <a:xfrm>
            <a:off x="365760" y="4297680"/>
            <a:ext cx="260604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8.11</a:t>
            </a:r>
            <a:endParaRPr lang="en-US" sz="1100" dirty="0"/>
          </a:p>
        </p:txBody>
      </p:sp>
      <p:sp>
        <p:nvSpPr>
          <p:cNvPr id="21" name="aw_444"/>
          <p:cNvSpPr/>
          <p:nvPr/>
        </p:nvSpPr>
        <p:spPr>
          <a:xfrm>
            <a:off x="365760" y="4718304"/>
            <a:ext cx="260604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22" name="bd_445"/>
          <p:cNvSpPr/>
          <p:nvPr/>
        </p:nvSpPr>
        <p:spPr>
          <a:xfrm>
            <a:off x="3246120" y="1490472"/>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3" name="q_446"/>
          <p:cNvSpPr/>
          <p:nvPr/>
        </p:nvSpPr>
        <p:spPr>
          <a:xfrm>
            <a:off x="3630168" y="1417320"/>
            <a:ext cx="210312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Did they take the job?</a:t>
            </a:r>
            <a:endParaRPr lang="en-US" sz="1150" dirty="0"/>
          </a:p>
        </p:txBody>
      </p:sp>
      <p:sp>
        <p:nvSpPr>
          <p:cNvPr id="24" name="R1_chip447"/>
          <p:cNvSpPr/>
          <p:nvPr/>
        </p:nvSpPr>
        <p:spPr>
          <a:xfrm>
            <a:off x="5806440" y="141732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 they said no.</a:t>
            </a:r>
            <a:endParaRPr lang="en-US" sz="1000" dirty="0"/>
          </a:p>
        </p:txBody>
      </p:sp>
      <p:sp>
        <p:nvSpPr>
          <p:cNvPr id="25" name="bd_448"/>
          <p:cNvSpPr/>
          <p:nvPr/>
        </p:nvSpPr>
        <p:spPr>
          <a:xfrm>
            <a:off x="3246120" y="1993392"/>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6" name="q_449"/>
          <p:cNvSpPr/>
          <p:nvPr/>
        </p:nvSpPr>
        <p:spPr>
          <a:xfrm>
            <a:off x="3630168" y="1920240"/>
            <a:ext cx="210312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Why not?</a:t>
            </a:r>
            <a:endParaRPr lang="en-US" sz="1150" dirty="0"/>
          </a:p>
        </p:txBody>
      </p:sp>
      <p:sp>
        <p:nvSpPr>
          <p:cNvPr id="27" name="R2_chip450"/>
          <p:cNvSpPr/>
          <p:nvPr/>
        </p:nvSpPr>
        <p:spPr>
          <a:xfrm>
            <a:off x="5806440" y="192024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not a good time · they were enjoying running their own business</a:t>
            </a:r>
            <a:endParaRPr lang="en-US" sz="1000" dirty="0"/>
          </a:p>
        </p:txBody>
      </p:sp>
      <p:sp>
        <p:nvSpPr>
          <p:cNvPr id="28" name="bd_451"/>
          <p:cNvSpPr/>
          <p:nvPr/>
        </p:nvSpPr>
        <p:spPr>
          <a:xfrm>
            <a:off x="3246120" y="2496312"/>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9" name="q_452"/>
          <p:cNvSpPr/>
          <p:nvPr/>
        </p:nvSpPr>
        <p:spPr>
          <a:xfrm>
            <a:off x="3630168" y="2423160"/>
            <a:ext cx="210312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Do they regret it?</a:t>
            </a:r>
            <a:endParaRPr lang="en-US" sz="1150" dirty="0"/>
          </a:p>
        </p:txBody>
      </p:sp>
      <p:sp>
        <p:nvSpPr>
          <p:cNvPr id="30" name="R3_chip453"/>
          <p:cNvSpPr/>
          <p:nvPr/>
        </p:nvSpPr>
        <p:spPr>
          <a:xfrm>
            <a:off x="5806440" y="242316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No, not for a second.</a:t>
            </a:r>
            <a:endParaRPr lang="en-US" sz="1000" dirty="0"/>
          </a:p>
        </p:txBody>
      </p:sp>
      <p:sp>
        <p:nvSpPr>
          <p:cNvPr id="31" name="bd_454"/>
          <p:cNvSpPr/>
          <p:nvPr/>
        </p:nvSpPr>
        <p:spPr>
          <a:xfrm>
            <a:off x="3246120" y="29992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2" name="q_455"/>
          <p:cNvSpPr/>
          <p:nvPr/>
        </p:nvSpPr>
        <p:spPr>
          <a:xfrm>
            <a:off x="3630168" y="2926080"/>
            <a:ext cx="210312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What happened to Frame Again?</a:t>
            </a:r>
            <a:endParaRPr lang="en-US" sz="1150" dirty="0"/>
          </a:p>
        </p:txBody>
      </p:sp>
      <p:sp>
        <p:nvSpPr>
          <p:cNvPr id="33" name="R4_chip456"/>
          <p:cNvSpPr/>
          <p:nvPr/>
        </p:nvSpPr>
        <p:spPr>
          <a:xfrm>
            <a:off x="5806440" y="2926080"/>
            <a:ext cx="3063240" cy="457200"/>
          </a:xfrm>
          <a:prstGeom prst="roundRect">
            <a:avLst>
              <a:gd name="adj" fmla="val 20000"/>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success – they sold it this year</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0"/>
                                        </p:tgtEl>
                                        <p:attrNameLst>
                                          <p:attrName>style.visibility</p:attrName>
                                        </p:attrNameLst>
                                      </p:cBhvr>
                                      <p:to>
                                        <p:strVal val="visible"/>
                                      </p:to>
                                    </p:set>
                                    <p:animEffect transition="in" filter="fade">
                                      <p:cBhvr>
                                        <p:cTn id="17" dur="400"/>
                                        <p:tgtEl>
                                          <p:spTgt spid="3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58"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459"/>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Find the verbs</a:t>
            </a:r>
            <a:endParaRPr lang="en-US" sz="2500" dirty="0"/>
          </a:p>
        </p:txBody>
      </p:sp>
      <p:pic>
        <p:nvPicPr>
          <p:cNvPr id="6" name="brP_460"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61"/>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-ing and to + infinitive.</a:t>
            </a:r>
            <a:endParaRPr lang="en-US" sz="1250" dirty="0"/>
          </a:p>
        </p:txBody>
      </p:sp>
      <p:sp>
        <p:nvSpPr>
          <p:cNvPr id="8" name="insIT_4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-ing e to + infinito.</a:t>
            </a:r>
            <a:endParaRPr lang="en-US" sz="950" dirty="0"/>
          </a:p>
        </p:txBody>
      </p:sp>
      <p:sp>
        <p:nvSpPr>
          <p:cNvPr id="9" name="cmd_46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meta_46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pic>
        <p:nvPicPr>
          <p:cNvPr id="11" name="logo_46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46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Noticing · Joe's interview   ·   📖 SB audio script 8.9–8.11 (pp.129–130)</a:t>
            </a:r>
            <a:endParaRPr lang="en-US" sz="800" dirty="0"/>
          </a:p>
        </p:txBody>
      </p:sp>
      <p:sp>
        <p:nvSpPr>
          <p:cNvPr id="13" name="pf_467"/>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468" descr="/home/claude/lls-course/v2/cache/8a2_workshop_jpg_572x385_31.png">    </p:cNvPr>
          <p:cNvPicPr>
            <a:picLocks noChangeAspect="1"/>
          </p:cNvPicPr>
          <p:nvPr/>
        </p:nvPicPr>
        <p:blipFill>
          <a:blip r:embed="rId5"/>
          <a:stretch>
            <a:fillRect/>
          </a:stretch>
        </p:blipFill>
        <p:spPr>
          <a:xfrm rot="-120000">
            <a:off x="411480" y="1417320"/>
            <a:ext cx="2377440" cy="1600200"/>
          </a:xfrm>
          <a:prstGeom prst="rect">
            <a:avLst/>
          </a:prstGeom>
        </p:spPr>
      </p:pic>
      <p:sp>
        <p:nvSpPr>
          <p:cNvPr id="15" name="cd_469"/>
          <p:cNvSpPr/>
          <p:nvPr/>
        </p:nvSpPr>
        <p:spPr>
          <a:xfrm>
            <a:off x="320040" y="3246120"/>
            <a:ext cx="2606040" cy="1463040"/>
          </a:xfrm>
          <a:prstGeom prst="roundRect">
            <a:avLst>
              <a:gd name="adj" fmla="val 875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70"/>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71"/>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8" name="il_472"/>
          <p:cNvSpPr/>
          <p:nvPr/>
        </p:nvSpPr>
        <p:spPr>
          <a:xfrm>
            <a:off x="886968" y="3721608"/>
            <a:ext cx="1947672" cy="91440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-ing (gerund)</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to + infinitive</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infinitive (no to)</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WHY? (rules on slide 2)</a:t>
            </a:r>
            <a:endParaRPr lang="en-US" sz="1050" dirty="0"/>
          </a:p>
        </p:txBody>
      </p:sp>
      <p:sp>
        <p:nvSpPr>
          <p:cNvPr id="19" name="who_473"/>
          <p:cNvSpPr/>
          <p:nvPr/>
        </p:nvSpPr>
        <p:spPr>
          <a:xfrm>
            <a:off x="3108960" y="1463040"/>
            <a:ext cx="914400" cy="325755"/>
          </a:xfrm>
          <a:prstGeom prst="roundRect">
            <a:avLst>
              <a:gd name="adj" fmla="val 33684"/>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Part 1</a:t>
            </a:r>
            <a:endParaRPr lang="en-US" sz="950" dirty="0"/>
          </a:p>
        </p:txBody>
      </p:sp>
      <p:sp>
        <p:nvSpPr>
          <p:cNvPr id="20" name="sl_474"/>
          <p:cNvSpPr/>
          <p:nvPr/>
        </p:nvSpPr>
        <p:spPr>
          <a:xfrm>
            <a:off x="4114800" y="1444752"/>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applied without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telling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my business partner Jake.</a:t>
            </a:r>
            <a:endParaRPr lang="en-US" sz="1150" dirty="0"/>
          </a:p>
        </p:txBody>
      </p:sp>
      <p:sp>
        <p:nvSpPr>
          <p:cNvPr id="21" name="R1_slA475"/>
          <p:cNvSpPr/>
          <p:nvPr/>
        </p:nvSpPr>
        <p:spPr>
          <a:xfrm>
            <a:off x="4114800" y="1444752"/>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applied without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telling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my business partner Jake.</a:t>
            </a:r>
            <a:endParaRPr lang="en-US" sz="1150" dirty="0"/>
          </a:p>
        </p:txBody>
      </p:sp>
      <p:sp>
        <p:nvSpPr>
          <p:cNvPr id="22" name="who_476"/>
          <p:cNvSpPr/>
          <p:nvPr/>
        </p:nvSpPr>
        <p:spPr>
          <a:xfrm>
            <a:off x="3108960" y="1880235"/>
            <a:ext cx="914400" cy="325755"/>
          </a:xfrm>
          <a:prstGeom prst="roundRect">
            <a:avLst>
              <a:gd name="adj" fmla="val 33684"/>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1 · Part 1</a:t>
            </a:r>
            <a:endParaRPr lang="en-US" sz="950" dirty="0"/>
          </a:p>
        </p:txBody>
      </p:sp>
      <p:sp>
        <p:nvSpPr>
          <p:cNvPr id="23" name="sl_477"/>
          <p:cNvSpPr/>
          <p:nvPr/>
        </p:nvSpPr>
        <p:spPr>
          <a:xfrm>
            <a:off x="4114800" y="1861947"/>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went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running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together, just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repeating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pitch.</a:t>
            </a:r>
            <a:endParaRPr lang="en-US" sz="1150" dirty="0"/>
          </a:p>
        </p:txBody>
      </p:sp>
      <p:sp>
        <p:nvSpPr>
          <p:cNvPr id="24" name="R2_slA478"/>
          <p:cNvSpPr/>
          <p:nvPr/>
        </p:nvSpPr>
        <p:spPr>
          <a:xfrm>
            <a:off x="4114800" y="1861947"/>
            <a:ext cx="4754880" cy="362331"/>
          </a:xfrm>
          <a:prstGeom prst="roundRect">
            <a:avLst>
              <a:gd name="adj" fmla="val 30284"/>
            </a:avLst>
          </a:prstGeom>
          <a:solidFill>
            <a:srgbClr val="FFFFFF"/>
          </a:solidFill>
          <a:ln w="158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went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running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together, just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repeating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the pitch.</a:t>
            </a:r>
            <a:endParaRPr lang="en-US" sz="1150" dirty="0"/>
          </a:p>
        </p:txBody>
      </p:sp>
      <p:sp>
        <p:nvSpPr>
          <p:cNvPr id="25" name="who_479"/>
          <p:cNvSpPr/>
          <p:nvPr/>
        </p:nvSpPr>
        <p:spPr>
          <a:xfrm>
            <a:off x="3108960" y="2297430"/>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26" name="sl_480"/>
          <p:cNvSpPr/>
          <p:nvPr/>
        </p:nvSpPr>
        <p:spPr>
          <a:xfrm>
            <a:off x="4114800" y="227914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What I wanted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was just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smile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at one of them.</a:t>
            </a:r>
            <a:endParaRPr lang="en-US" sz="1150" dirty="0"/>
          </a:p>
        </p:txBody>
      </p:sp>
      <p:sp>
        <p:nvSpPr>
          <p:cNvPr id="27" name="R3_slA481"/>
          <p:cNvSpPr/>
          <p:nvPr/>
        </p:nvSpPr>
        <p:spPr>
          <a:xfrm>
            <a:off x="4114800" y="227914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What I wanted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do</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was just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smile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at one of them.</a:t>
            </a:r>
            <a:endParaRPr lang="en-US" sz="1150" dirty="0"/>
          </a:p>
        </p:txBody>
      </p:sp>
      <p:sp>
        <p:nvSpPr>
          <p:cNvPr id="28" name="who_482"/>
          <p:cNvSpPr/>
          <p:nvPr/>
        </p:nvSpPr>
        <p:spPr>
          <a:xfrm>
            <a:off x="3108960" y="2714625"/>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29" name="sl_483"/>
          <p:cNvSpPr/>
          <p:nvPr/>
        </p:nvSpPr>
        <p:spPr>
          <a:xfrm>
            <a:off x="4114800" y="2696337"/>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That was my way of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making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myself relaxed.</a:t>
            </a:r>
            <a:endParaRPr lang="en-US" sz="1150" dirty="0"/>
          </a:p>
        </p:txBody>
      </p:sp>
      <p:sp>
        <p:nvSpPr>
          <p:cNvPr id="30" name="R4_slA484"/>
          <p:cNvSpPr/>
          <p:nvPr/>
        </p:nvSpPr>
        <p:spPr>
          <a:xfrm>
            <a:off x="4114800" y="2696337"/>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That was my way of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making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myself relaxed.</a:t>
            </a:r>
            <a:endParaRPr lang="en-US" sz="1150" dirty="0"/>
          </a:p>
        </p:txBody>
      </p:sp>
      <p:sp>
        <p:nvSpPr>
          <p:cNvPr id="31" name="who_485"/>
          <p:cNvSpPr/>
          <p:nvPr/>
        </p:nvSpPr>
        <p:spPr>
          <a:xfrm>
            <a:off x="3108960" y="3131820"/>
            <a:ext cx="914400" cy="325755"/>
          </a:xfrm>
          <a:prstGeom prst="roundRect">
            <a:avLst>
              <a:gd name="adj" fmla="val 33684"/>
            </a:avLst>
          </a:prstGeom>
          <a:solidFill>
            <a:srgbClr val="E3F1FD"/>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2 · Part 2</a:t>
            </a:r>
            <a:endParaRPr lang="en-US" sz="950" dirty="0"/>
          </a:p>
        </p:txBody>
      </p:sp>
      <p:sp>
        <p:nvSpPr>
          <p:cNvPr id="32" name="sl_486"/>
          <p:cNvSpPr/>
          <p:nvPr/>
        </p:nvSpPr>
        <p:spPr>
          <a:xfrm>
            <a:off x="4114800" y="311353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She stared at me,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feel</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nervous.</a:t>
            </a:r>
            <a:endParaRPr lang="en-US" sz="1150" dirty="0"/>
          </a:p>
        </p:txBody>
      </p:sp>
      <p:sp>
        <p:nvSpPr>
          <p:cNvPr id="33" name="R5_slA487"/>
          <p:cNvSpPr/>
          <p:nvPr/>
        </p:nvSpPr>
        <p:spPr>
          <a:xfrm>
            <a:off x="4114800" y="3113532"/>
            <a:ext cx="4754880" cy="362331"/>
          </a:xfrm>
          <a:prstGeom prst="roundRect">
            <a:avLst>
              <a:gd name="adj" fmla="val 30284"/>
            </a:avLst>
          </a:prstGeom>
          <a:solidFill>
            <a:srgbClr val="FFFFFF"/>
          </a:solidFill>
          <a:ln w="15875">
            <a:solidFill>
              <a:srgbClr val="A9D3F5"/>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She stared at me,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me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feel</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nervous.</a:t>
            </a:r>
            <a:endParaRPr lang="en-US" sz="1150" dirty="0"/>
          </a:p>
        </p:txBody>
      </p:sp>
      <p:sp>
        <p:nvSpPr>
          <p:cNvPr id="34" name="who_488"/>
          <p:cNvSpPr/>
          <p:nvPr/>
        </p:nvSpPr>
        <p:spPr>
          <a:xfrm>
            <a:off x="3108960" y="3549015"/>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35" name="sl_489"/>
          <p:cNvSpPr/>
          <p:nvPr/>
        </p:nvSpPr>
        <p:spPr>
          <a:xfrm>
            <a:off x="4114800" y="353072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knew we had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to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decision immediately.</a:t>
            </a:r>
            <a:endParaRPr lang="en-US" sz="1150" dirty="0"/>
          </a:p>
        </p:txBody>
      </p:sp>
      <p:sp>
        <p:nvSpPr>
          <p:cNvPr id="36" name="R6_slA490"/>
          <p:cNvSpPr/>
          <p:nvPr/>
        </p:nvSpPr>
        <p:spPr>
          <a:xfrm>
            <a:off x="4114800" y="353072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knew we had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to make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a decision immediately.</a:t>
            </a:r>
            <a:endParaRPr lang="en-US" sz="1150" dirty="0"/>
          </a:p>
        </p:txBody>
      </p:sp>
      <p:sp>
        <p:nvSpPr>
          <p:cNvPr id="37" name="who_491"/>
          <p:cNvSpPr/>
          <p:nvPr/>
        </p:nvSpPr>
        <p:spPr>
          <a:xfrm>
            <a:off x="3108960" y="3966210"/>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38" name="sl_492"/>
          <p:cNvSpPr/>
          <p:nvPr/>
        </p:nvSpPr>
        <p:spPr>
          <a:xfrm>
            <a:off x="4114800" y="3947922"/>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Have you ever regretted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saying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no?</a:t>
            </a:r>
            <a:endParaRPr lang="en-US" sz="1150" dirty="0"/>
          </a:p>
        </p:txBody>
      </p:sp>
      <p:sp>
        <p:nvSpPr>
          <p:cNvPr id="39" name="R7_slA493"/>
          <p:cNvSpPr/>
          <p:nvPr/>
        </p:nvSpPr>
        <p:spPr>
          <a:xfrm>
            <a:off x="4114800" y="3947922"/>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Have you ever regretted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saying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no?</a:t>
            </a:r>
            <a:endParaRPr lang="en-US" sz="1150" dirty="0"/>
          </a:p>
        </p:txBody>
      </p:sp>
      <p:sp>
        <p:nvSpPr>
          <p:cNvPr id="40" name="who_494"/>
          <p:cNvSpPr/>
          <p:nvPr/>
        </p:nvSpPr>
        <p:spPr>
          <a:xfrm>
            <a:off x="3108960" y="4383405"/>
            <a:ext cx="914400" cy="325755"/>
          </a:xfrm>
          <a:prstGeom prst="roundRect">
            <a:avLst>
              <a:gd name="adj" fmla="val 33684"/>
            </a:avLst>
          </a:prstGeom>
          <a:solidFill>
            <a:srgbClr val="E3F7EA"/>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3 · Part 3</a:t>
            </a:r>
            <a:endParaRPr lang="en-US" sz="950" dirty="0"/>
          </a:p>
        </p:txBody>
      </p:sp>
      <p:sp>
        <p:nvSpPr>
          <p:cNvPr id="41" name="sl_495"/>
          <p:cNvSpPr/>
          <p:nvPr/>
        </p:nvSpPr>
        <p:spPr>
          <a:xfrm>
            <a:off x="4114800" y="436511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were enjoying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running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our own business.</a:t>
            </a:r>
            <a:endParaRPr lang="en-US" sz="1150" dirty="0"/>
          </a:p>
        </p:txBody>
      </p:sp>
      <p:sp>
        <p:nvSpPr>
          <p:cNvPr id="42" name="R8_slA496"/>
          <p:cNvSpPr/>
          <p:nvPr/>
        </p:nvSpPr>
        <p:spPr>
          <a:xfrm>
            <a:off x="4114800" y="4365117"/>
            <a:ext cx="4754880" cy="362331"/>
          </a:xfrm>
          <a:prstGeom prst="roundRect">
            <a:avLst>
              <a:gd name="adj" fmla="val 30284"/>
            </a:avLst>
          </a:prstGeom>
          <a:solidFill>
            <a:srgbClr val="FFFFFF"/>
          </a:solidFill>
          <a:ln w="15875">
            <a:solidFill>
              <a:srgbClr val="A8E5BE"/>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were enjoying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running</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our own business.</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2"/>
                                        </p:tgtEl>
                                        <p:attrNameLst>
                                          <p:attrName>style.visibility</p:attrName>
                                        </p:attrNameLst>
                                      </p:cBhvr>
                                      <p:to>
                                        <p:strVal val="visible"/>
                                      </p:to>
                                    </p:set>
                                    <p:animEffect transition="in" filter="fade">
                                      <p:cBhvr>
                                        <p:cTn id="42" dur="4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98"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99"/>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How to make a pitch</a:t>
            </a:r>
            <a:endParaRPr lang="en-US" sz="2500" dirty="0"/>
          </a:p>
        </p:txBody>
      </p:sp>
      <p:pic>
        <p:nvPicPr>
          <p:cNvPr id="6" name="brP_500"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01"/>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Guess the order. Then listen and check.</a:t>
            </a:r>
            <a:endParaRPr lang="en-US" sz="1250" dirty="0"/>
          </a:p>
        </p:txBody>
      </p:sp>
      <p:sp>
        <p:nvSpPr>
          <p:cNvPr id="8" name="insIT_50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Indovina l'ordine. Poi ascolta e controlla.</a:t>
            </a:r>
            <a:endParaRPr lang="en-US" sz="950" dirty="0"/>
          </a:p>
        </p:txBody>
      </p:sp>
      <p:sp>
        <p:nvSpPr>
          <p:cNvPr id="9" name="cmd_50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504"/>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050" dirty="0">
                <a:solidFill>
                  <a:srgbClr val="000000"/>
                </a:solidFill>
              </a:rPr>
              <a:t>🔀 </a:t>
            </a:r>
            <a:pPr indent="0" marL="0">
              <a:buNone/>
            </a:pPr>
            <a:r>
              <a:rPr lang="en-US" sz="1150" dirty="0">
                <a:solidFill>
                  <a:srgbClr val="2EB872"/>
                </a:solidFill>
                <a:latin typeface="Arial Rounded MT Bold" pitchFamily="34" charset="0"/>
                <a:ea typeface="Arial Rounded MT Bold" pitchFamily="34" charset="-122"/>
                <a:cs typeface="Arial Rounded MT Bold" pitchFamily="34" charset="-120"/>
              </a:rPr>
              <a:t>REORDER</a:t>
            </a:r>
            <a:pPr indent="0" marL="0">
              <a:buNone/>
            </a:pPr>
            <a:r>
              <a:rPr lang="en-US" sz="800" dirty="0">
                <a:solidFill>
                  <a:srgbClr val="5B6785"/>
                </a:solidFill>
                <a:latin typeface="Segoe UI Semibold" pitchFamily="34" charset="0"/>
                <a:ea typeface="Segoe UI Semibold" pitchFamily="34" charset="-122"/>
                <a:cs typeface="Segoe UI Semibold" pitchFamily="34" charset="-120"/>
              </a:rPr>
              <a:t>  RIORDINA</a:t>
            </a:r>
            <a:endParaRPr lang="en-US" sz="1050" dirty="0"/>
          </a:p>
        </p:txBody>
      </p:sp>
      <p:sp>
        <p:nvSpPr>
          <p:cNvPr id="11" name="meta_50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50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50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0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Speaking · the model pitch   ·   📖 SB p.79 · 7a · audio 8.12 (script p.130)</a:t>
            </a:r>
            <a:endParaRPr lang="en-US" sz="800" dirty="0"/>
          </a:p>
        </p:txBody>
      </p:sp>
      <p:sp>
        <p:nvSpPr>
          <p:cNvPr id="15" name="ap_50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8.12  ·  play once</a:t>
            </a:r>
            <a:endParaRPr lang="en-US" sz="1100" dirty="0"/>
          </a:p>
        </p:txBody>
      </p:sp>
      <p:sp>
        <p:nvSpPr>
          <p:cNvPr id="16" name="aw_510"/>
          <p:cNvSpPr/>
          <p:nvPr/>
        </p:nvSpPr>
        <p:spPr>
          <a:xfrm>
            <a:off x="365760" y="1837944"/>
            <a:ext cx="2194560" cy="219456"/>
          </a:xfrm>
          <a:prstGeom prst="rect">
            <a:avLst/>
          </a:prstGeom>
          <a:noFill/>
          <a:ln/>
        </p:spPr>
        <p:txBody>
          <a:bodyPr wrap="square" lIns="0" tIns="0" rIns="0" bIns="0" rtlCol="0" anchor="ctr"/>
          <a:lstStyle/>
          <a:p>
            <a:pPr indent="0" marL="0">
              <a:buNone/>
            </a:pPr>
            <a:r>
              <a:rPr lang="en-US" sz="900" dirty="0">
                <a:solidFill>
                  <a:srgbClr val="C2410C"/>
                </a:solidFill>
                <a:latin typeface="Segoe UI Semibold" pitchFamily="34" charset="0"/>
                <a:ea typeface="Segoe UI Semibold" pitchFamily="34" charset="-122"/>
                <a:cs typeface="Segoe UI Semibold" pitchFamily="34" charset="-120"/>
              </a:rPr>
              <a:t>⚠ Play it from the book audio</a:t>
            </a:r>
            <a:endParaRPr lang="en-US" sz="900" dirty="0"/>
          </a:p>
        </p:txBody>
      </p:sp>
      <p:sp>
        <p:nvSpPr>
          <p:cNvPr id="17" name="pf_511"/>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512" descr="/home/claude/lls-course/v2/cache/8a2_frames_jpg_627x407_31.png">    </p:cNvPr>
          <p:cNvPicPr>
            <a:picLocks noChangeAspect="1"/>
          </p:cNvPicPr>
          <p:nvPr/>
        </p:nvPicPr>
        <p:blipFill>
          <a:blip r:embed="rId5"/>
          <a:stretch>
            <a:fillRect/>
          </a:stretch>
        </p:blipFill>
        <p:spPr>
          <a:xfrm rot="-90000">
            <a:off x="457200" y="2103120"/>
            <a:ext cx="2606040" cy="1691640"/>
          </a:xfrm>
          <a:prstGeom prst="rect">
            <a:avLst/>
          </a:prstGeom>
        </p:spPr>
      </p:pic>
      <p:sp>
        <p:nvSpPr>
          <p:cNvPr id="19" name="cd_513"/>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514"/>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515"/>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il_516"/>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3" name="gq_517"/>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How much will it cost?</a:t>
            </a:r>
            <a:endParaRPr lang="en-US" sz="1200" dirty="0"/>
          </a:p>
        </p:txBody>
      </p:sp>
      <p:sp>
        <p:nvSpPr>
          <p:cNvPr id="24" name="R1_chip518"/>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4 · £12.99</a:t>
            </a:r>
            <a:endParaRPr lang="en-US" sz="1200" dirty="0"/>
          </a:p>
        </p:txBody>
      </p:sp>
      <p:sp>
        <p:nvSpPr>
          <p:cNvPr id="25" name="gq_519"/>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What is the product? Describe it.</a:t>
            </a:r>
            <a:endParaRPr lang="en-US" sz="1200" dirty="0"/>
          </a:p>
        </p:txBody>
      </p:sp>
      <p:sp>
        <p:nvSpPr>
          <p:cNvPr id="26" name="R2_chip520"/>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2 · upload, choose, we deliver</a:t>
            </a:r>
            <a:endParaRPr lang="en-US" sz="1200" dirty="0"/>
          </a:p>
        </p:txBody>
      </p:sp>
      <p:sp>
        <p:nvSpPr>
          <p:cNvPr id="27" name="gq_521"/>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Who are you? What's it called?</a:t>
            </a:r>
            <a:endParaRPr lang="en-US" sz="1200" dirty="0"/>
          </a:p>
        </p:txBody>
      </p:sp>
      <p:sp>
        <p:nvSpPr>
          <p:cNvPr id="28" name="R3_chip522"/>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1 · Jake &amp; Joe · Frame Again</a:t>
            </a:r>
            <a:endParaRPr lang="en-US" sz="1200" dirty="0"/>
          </a:p>
        </p:txBody>
      </p:sp>
      <p:sp>
        <p:nvSpPr>
          <p:cNvPr id="29" name="gq_523"/>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Have you got a slogan?</a:t>
            </a:r>
            <a:endParaRPr lang="en-US" sz="1200" dirty="0"/>
          </a:p>
        </p:txBody>
      </p:sp>
      <p:sp>
        <p:nvSpPr>
          <p:cNvPr id="30" name="R4_chip524"/>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5 · 'Printed, framed, and delivered in 24 hours.'</a:t>
            </a:r>
            <a:endParaRPr lang="en-US" sz="1100" dirty="0"/>
          </a:p>
        </p:txBody>
      </p:sp>
      <p:sp>
        <p:nvSpPr>
          <p:cNvPr id="31" name="gq_525"/>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Who is the product for?</a:t>
            </a:r>
            <a:endParaRPr lang="en-US" sz="1200" dirty="0"/>
          </a:p>
        </p:txBody>
      </p:sp>
      <p:sp>
        <p:nvSpPr>
          <p:cNvPr id="32" name="R5_chip526"/>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3 · Instagram users</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28"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29"/>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Prepare your pitch</a:t>
            </a:r>
            <a:endParaRPr lang="en-US" sz="2500" dirty="0"/>
          </a:p>
        </p:txBody>
      </p:sp>
      <p:pic>
        <p:nvPicPr>
          <p:cNvPr id="6" name="brP_530"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531"/>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Pairs: invent a product. Plan your pitch!</a:t>
            </a:r>
            <a:endParaRPr lang="en-US" sz="1250" dirty="0"/>
          </a:p>
        </p:txBody>
      </p:sp>
      <p:sp>
        <p:nvSpPr>
          <p:cNvPr id="8" name="insIT_53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 coppia: inventate un prodotto!</a:t>
            </a:r>
            <a:endParaRPr lang="en-US" sz="950" dirty="0"/>
          </a:p>
        </p:txBody>
      </p:sp>
      <p:sp>
        <p:nvSpPr>
          <p:cNvPr id="9" name="cmd_533"/>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cmd_534"/>
          <p:cNvSpPr/>
          <p:nvPr/>
        </p:nvSpPr>
        <p:spPr>
          <a:xfrm>
            <a:off x="6510528" y="566928"/>
            <a:ext cx="1901952" cy="329184"/>
          </a:xfrm>
          <a:prstGeom prst="roundRect">
            <a:avLst>
              <a:gd name="adj" fmla="val 50000"/>
            </a:avLst>
          </a:prstGeom>
          <a:solidFill>
            <a:srgbClr val="FFFFFF"/>
          </a:solidFill>
          <a:ln w="25400">
            <a:solidFill>
              <a:srgbClr val="CDBFF3"/>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7B5CD6"/>
                </a:solidFill>
                <a:latin typeface="Arial Rounded MT Bold" pitchFamily="34" charset="0"/>
                <a:ea typeface="Arial Rounded MT Bold" pitchFamily="34" charset="-122"/>
                <a:cs typeface="Arial Rounded MT Bold" pitchFamily="34" charset="-120"/>
              </a:rPr>
              <a:t>WRITE</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SCRIVI</a:t>
            </a:r>
            <a:endParaRPr lang="en-US" sz="1100" dirty="0"/>
          </a:p>
        </p:txBody>
      </p:sp>
      <p:sp>
        <p:nvSpPr>
          <p:cNvPr id="11" name="meta_53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53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3" name="logo_53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Speaking · prepare your pitch   ·   📖 SB p.79 · 7b, 7c · Presenting a product</a:t>
            </a:r>
            <a:endParaRPr lang="en-US" sz="800" dirty="0"/>
          </a:p>
        </p:txBody>
      </p:sp>
      <p:sp>
        <p:nvSpPr>
          <p:cNvPr id="15" name="pf_539"/>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540" descr="/home/claude/lls-course/v2/cache/8a2_gadget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541"/>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542"/>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543"/>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544"/>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an app · a drink · a gadget…</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We think it will be popular because…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It's easy to use.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It's perfect for (+ -ing)…</a:t>
            </a:r>
            <a:endParaRPr lang="en-US" sz="800" dirty="0"/>
          </a:p>
        </p:txBody>
      </p:sp>
      <p:sp>
        <p:nvSpPr>
          <p:cNvPr id="21" name="R1_qb545"/>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546"/>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Who are you? What's your product called?</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Good morning. I'm Sara, this is Luca, and we're here to tell you about SunBag.</a:t>
            </a:r>
            <a:endParaRPr lang="en-US" sz="1050" dirty="0"/>
          </a:p>
        </p:txBody>
      </p:sp>
      <p:sp>
        <p:nvSpPr>
          <p:cNvPr id="23" name="R2_qb547"/>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548"/>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What is it? Describe it.</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It's a beach bag with a solar panel. It charges your phone while you're at the beach.</a:t>
            </a:r>
            <a:endParaRPr lang="en-US" sz="1000" dirty="0"/>
          </a:p>
        </p:txBody>
      </p:sp>
      <p:sp>
        <p:nvSpPr>
          <p:cNvPr id="25" name="R3_qb549"/>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550"/>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Who is it for?</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This product is for students and families who spend all day by the sea.</a:t>
            </a:r>
            <a:endParaRPr lang="en-US" sz="1200" dirty="0"/>
          </a:p>
        </p:txBody>
      </p:sp>
      <p:sp>
        <p:nvSpPr>
          <p:cNvPr id="27" name="R4_qb551"/>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552"/>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much will it cost?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 will cost €29.99.</a:t>
            </a:r>
            <a:endParaRPr lang="en-US" sz="1250" dirty="0"/>
          </a:p>
        </p:txBody>
      </p:sp>
      <p:sp>
        <p:nvSpPr>
          <p:cNvPr id="29" name="R5_qb553"/>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554"/>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your slogan?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Our slogan is 'SunBag – never lose your battery again!'</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56"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557"/>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Welcome to the Den!</a:t>
            </a:r>
            <a:endParaRPr lang="en-US" sz="2500" dirty="0"/>
          </a:p>
        </p:txBody>
      </p:sp>
      <p:pic>
        <p:nvPicPr>
          <p:cNvPr id="6" name="brP_558"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59"/>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Pitch it! Dragons: invest or I'm out?</a:t>
            </a:r>
            <a:endParaRPr lang="en-US" sz="1250" dirty="0"/>
          </a:p>
        </p:txBody>
      </p:sp>
      <p:sp>
        <p:nvSpPr>
          <p:cNvPr id="8" name="insIT_56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Presentate! Dragons: investite o no?</a:t>
            </a:r>
            <a:endParaRPr lang="en-US" sz="950" dirty="0"/>
          </a:p>
        </p:txBody>
      </p:sp>
      <p:sp>
        <p:nvSpPr>
          <p:cNvPr id="9" name="cmd_561"/>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6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7 min   👨‍👩‍👧 groups</a:t>
            </a:r>
            <a:endParaRPr lang="en-US" sz="950" dirty="0"/>
          </a:p>
        </p:txBody>
      </p:sp>
      <p:sp>
        <p:nvSpPr>
          <p:cNvPr id="11" name="tag_56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6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6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Speaking game · role play   ·   📖 SB p.79 · 7d</a:t>
            </a:r>
            <a:endParaRPr lang="en-US" sz="800" dirty="0"/>
          </a:p>
        </p:txBody>
      </p:sp>
      <p:sp>
        <p:nvSpPr>
          <p:cNvPr id="14" name="cd_566"/>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67"/>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68"/>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69"/>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Pairs: 1-minute pitch.</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Coppie: un minuto di presentazione.</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Dragons: ask one question each.</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Dragons: una domanda a testa.</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Dragons: invest €… or 'I'm out because…'</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Investite €… o 'I'm out perché…'</a:t>
            </a:r>
            <a:endParaRPr lang="en-US" sz="1000" dirty="0"/>
          </a:p>
        </p:txBody>
      </p:sp>
      <p:sp>
        <p:nvSpPr>
          <p:cNvPr id="18" name="pf_570"/>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71" descr="/home/claude/lls-course/v2/cache/8a2_class_pitch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bd_572"/>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73"/>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price</a:t>
            </a:r>
            <a:endParaRPr lang="en-US" sz="1100" dirty="0"/>
          </a:p>
        </p:txBody>
      </p:sp>
      <p:sp>
        <p:nvSpPr>
          <p:cNvPr id="22" name="R1_chip574"/>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much will it cost to make?</a:t>
            </a:r>
            <a:endParaRPr lang="en-US" sz="1100" dirty="0"/>
          </a:p>
        </p:txBody>
      </p:sp>
      <p:sp>
        <p:nvSpPr>
          <p:cNvPr id="23" name="bd_575"/>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76"/>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market</a:t>
            </a:r>
            <a:endParaRPr lang="en-US" sz="1100" dirty="0"/>
          </a:p>
        </p:txBody>
      </p:sp>
      <p:sp>
        <p:nvSpPr>
          <p:cNvPr id="25" name="R2_chip577"/>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Who's going to buy it?</a:t>
            </a:r>
            <a:endParaRPr lang="en-US" sz="1100" dirty="0"/>
          </a:p>
        </p:txBody>
      </p:sp>
      <p:sp>
        <p:nvSpPr>
          <p:cNvPr id="26" name="bd_578"/>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79"/>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ask about the money</a:t>
            </a:r>
            <a:endParaRPr lang="en-US" sz="1100" dirty="0"/>
          </a:p>
        </p:txBody>
      </p:sp>
      <p:sp>
        <p:nvSpPr>
          <p:cNvPr id="28" name="R3_chip580"/>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How much do you want, and for what %?</a:t>
            </a:r>
            <a:endParaRPr lang="en-US" sz="1100" dirty="0"/>
          </a:p>
        </p:txBody>
      </p:sp>
      <p:sp>
        <p:nvSpPr>
          <p:cNvPr id="29" name="bd_581"/>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82"/>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say YES</a:t>
            </a:r>
            <a:endParaRPr lang="en-US" sz="1100" dirty="0"/>
          </a:p>
        </p:txBody>
      </p:sp>
      <p:sp>
        <p:nvSpPr>
          <p:cNvPr id="31" name="R4_chip583"/>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I'll invest €20,000 for 25% of your company.</a:t>
            </a:r>
            <a:endParaRPr lang="en-US" sz="1100" dirty="0"/>
          </a:p>
        </p:txBody>
      </p:sp>
      <p:sp>
        <p:nvSpPr>
          <p:cNvPr id="32" name="bd_584"/>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85"/>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Dragon: say NO</a:t>
            </a:r>
            <a:endParaRPr lang="en-US" sz="1100" dirty="0"/>
          </a:p>
        </p:txBody>
      </p:sp>
      <p:sp>
        <p:nvSpPr>
          <p:cNvPr id="34" name="R5_chip586"/>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out, because I don't think people would pay €29.99.</a:t>
            </a:r>
            <a:endParaRPr lang="en-US" sz="1100" dirty="0"/>
          </a:p>
        </p:txBody>
      </p:sp>
      <p:sp>
        <p:nvSpPr>
          <p:cNvPr id="35" name="bd_587"/>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6" name="gq_588"/>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The winner!</a:t>
            </a:r>
            <a:endParaRPr lang="en-US" sz="1100" dirty="0"/>
          </a:p>
        </p:txBody>
      </p:sp>
      <p:sp>
        <p:nvSpPr>
          <p:cNvPr id="37" name="R6_chip589"/>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the product with the most money invested 🏆</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91"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592"/>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593"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94"/>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5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596"/>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597"/>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59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59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Exit · what can you remember?</a:t>
            </a:r>
            <a:endParaRPr lang="en-US" sz="800" dirty="0"/>
          </a:p>
        </p:txBody>
      </p:sp>
      <p:sp>
        <p:nvSpPr>
          <p:cNvPr id="13" name="bd_600"/>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01"/>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business words from today (no looking!)</a:t>
            </a:r>
            <a:endParaRPr lang="en-US" sz="1400" dirty="0"/>
          </a:p>
        </p:txBody>
      </p:sp>
      <p:sp>
        <p:nvSpPr>
          <p:cNvPr id="15" name="bd_602"/>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03"/>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things that happened to Joe and Jake in the Den</a:t>
            </a:r>
            <a:endParaRPr lang="en-US" sz="1400" dirty="0"/>
          </a:p>
        </p:txBody>
      </p:sp>
      <p:sp>
        <p:nvSpPr>
          <p:cNvPr id="17" name="bd_604"/>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05"/>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slogan for YOUR product</a:t>
            </a:r>
            <a:endParaRPr lang="en-US" sz="1400" dirty="0"/>
          </a:p>
        </p:txBody>
      </p:sp>
      <p:sp>
        <p:nvSpPr>
          <p:cNvPr id="19" name="cd_606"/>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07"/>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08"/>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09"/>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8A: 1c, 1d, 2a, 3c</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Writing p.121: a covering email (c)</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3" name="st_610"/>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8B part 1 · Have a nice day!</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11"/>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1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1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14"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15"/>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61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1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1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2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2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Review · what did you do today?</a:t>
            </a:r>
            <a:endParaRPr lang="en-US" sz="800" dirty="0"/>
          </a:p>
        </p:txBody>
      </p:sp>
      <p:sp>
        <p:nvSpPr>
          <p:cNvPr id="14" name="cd_622"/>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23"/>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24"/>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a TV show for entrepreneurs</a:t>
            </a:r>
            <a:endParaRPr lang="en-US" sz="1350" dirty="0"/>
          </a:p>
        </p:txBody>
      </p:sp>
      <p:sp>
        <p:nvSpPr>
          <p:cNvPr id="17" name="R1_tk625"/>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26"/>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27"/>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28"/>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contestant's story</a:t>
            </a:r>
            <a:endParaRPr lang="en-US" sz="1350" dirty="0"/>
          </a:p>
        </p:txBody>
      </p:sp>
      <p:sp>
        <p:nvSpPr>
          <p:cNvPr id="21" name="R2_tk629"/>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30"/>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31"/>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32"/>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Spotted -ing and to + infinitive in real speech</a:t>
            </a:r>
            <a:endParaRPr lang="en-US" sz="1350" dirty="0"/>
          </a:p>
        </p:txBody>
      </p:sp>
      <p:sp>
        <p:nvSpPr>
          <p:cNvPr id="25" name="R3_tk633"/>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34"/>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35"/>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36"/>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637"/>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38"/>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39"/>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40"/>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Pitched your own product to the 'Dragons'</a:t>
            </a:r>
            <a:endParaRPr lang="en-US" sz="1350" dirty="0"/>
          </a:p>
        </p:txBody>
      </p:sp>
      <p:sp>
        <p:nvSpPr>
          <p:cNvPr id="33" name="R5_tk641"/>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42"/>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44"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645"/>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worst product ever</a:t>
            </a:r>
            <a:endParaRPr lang="en-US" sz="2500" dirty="0"/>
          </a:p>
        </p:txBody>
      </p:sp>
      <p:pic>
        <p:nvPicPr>
          <p:cNvPr id="6" name="brP_646"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647"/>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Pitch a TERRIBLE product. Sell it!</a:t>
            </a:r>
            <a:endParaRPr lang="en-US" sz="1250" dirty="0"/>
          </a:p>
        </p:txBody>
      </p:sp>
      <p:sp>
        <p:nvSpPr>
          <p:cNvPr id="8" name="insIT_64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Presentate un prodotto TERRIBILE!</a:t>
            </a:r>
            <a:endParaRPr lang="en-US" sz="950" dirty="0"/>
          </a:p>
        </p:txBody>
      </p:sp>
      <p:sp>
        <p:nvSpPr>
          <p:cNvPr id="9" name="cmd_64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65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8 min   👥 pairs</a:t>
            </a:r>
            <a:endParaRPr lang="en-US" sz="950" dirty="0"/>
          </a:p>
        </p:txBody>
      </p:sp>
      <p:sp>
        <p:nvSpPr>
          <p:cNvPr id="11" name="tag_65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65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Extra · reverse pitch</a:t>
            </a:r>
            <a:endParaRPr lang="en-US" sz="800" dirty="0"/>
          </a:p>
        </p:txBody>
      </p:sp>
      <p:sp>
        <p:nvSpPr>
          <p:cNvPr id="14" name="st_65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cd_65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5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5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5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950" dirty="0">
                <a:solidFill>
                  <a:srgbClr val="1B2559"/>
                </a:solidFill>
                <a:latin typeface="Segoe UI Semibold" pitchFamily="34" charset="0"/>
                <a:ea typeface="Segoe UI Semibold" pitchFamily="34" charset="-122"/>
                <a:cs typeface="Segoe UI Semibold" pitchFamily="34" charset="-120"/>
              </a:rPr>
              <a:t>Take a useless product.</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Prendete un prodotto inutile.</a:t>
            </a:r>
            <a:endParaRPr lang="en-US" sz="950" dirty="0"/>
          </a:p>
          <a:p>
            <a:pPr marL="190500" indent="-190500">
              <a:spcBef>
                <a:spcPts val="500"/>
              </a:spcBef>
              <a:spcAft>
                <a:spcPts val="200"/>
              </a:spcAft>
              <a:buSzPct val="100000"/>
              <a:buChar char="2"/>
            </a:pPr>
            <a:r>
              <a:rPr lang="en-US" sz="950" dirty="0">
                <a:solidFill>
                  <a:srgbClr val="1B2559"/>
                </a:solidFill>
                <a:latin typeface="Segoe UI Semibold" pitchFamily="34" charset="0"/>
                <a:ea typeface="Segoe UI Semibold" pitchFamily="34" charset="-122"/>
                <a:cs typeface="Segoe UI Semibold" pitchFamily="34" charset="-120"/>
              </a:rPr>
              <a:t>3 minutes: find 3 'advantages' + a slogan.</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3 minuti: 3 'vantaggi' + uno slogan.</a:t>
            </a:r>
            <a:endParaRPr lang="en-US" sz="950" dirty="0"/>
          </a:p>
          <a:p>
            <a:pPr marL="190500" indent="-190500">
              <a:spcBef>
                <a:spcPts val="500"/>
              </a:spcBef>
              <a:spcAft>
                <a:spcPts val="200"/>
              </a:spcAft>
              <a:buSzPct val="100000"/>
              <a:buChar char="3"/>
            </a:pPr>
            <a:r>
              <a:rPr lang="en-US" sz="950" dirty="0">
                <a:solidFill>
                  <a:srgbClr val="1B2559"/>
                </a:solidFill>
                <a:latin typeface="Segoe UI Semibold" pitchFamily="34" charset="0"/>
                <a:ea typeface="Segoe UI Semibold" pitchFamily="34" charset="-122"/>
                <a:cs typeface="Segoe UI Semibold" pitchFamily="34" charset="-120"/>
              </a:rPr>
              <a:t>Pitch it. Dragons: keep a straight face!</a:t>
            </a:r>
            <a:endParaRPr lang="en-US" sz="950" dirty="0"/>
          </a:p>
          <a:p>
            <a:pPr marL="190500" indent="-1905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Presentate. Dragons: niente risate!</a:t>
            </a:r>
            <a:endParaRPr lang="en-US" sz="950" dirty="0"/>
          </a:p>
        </p:txBody>
      </p:sp>
      <p:sp>
        <p:nvSpPr>
          <p:cNvPr id="19" name="pf_65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60" descr="/home/claude/lls-course/v2/cache/8a2_chocolate_teapot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661"/>
          <p:cNvSpPr/>
          <p:nvPr/>
        </p:nvSpPr>
        <p:spPr>
          <a:xfrm>
            <a:off x="3246120" y="1508760"/>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62"/>
          <p:cNvSpPr/>
          <p:nvPr/>
        </p:nvSpPr>
        <p:spPr>
          <a:xfrm>
            <a:off x="3657600" y="1417320"/>
            <a:ext cx="2514600" cy="512064"/>
          </a:xfrm>
          <a:prstGeom prst="roundRect">
            <a:avLst>
              <a:gd name="adj" fmla="val 17857"/>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chocolate teapot</a:t>
            </a:r>
            <a:endParaRPr lang="en-US" sz="1100" dirty="0"/>
          </a:p>
        </p:txBody>
      </p:sp>
      <p:sp>
        <p:nvSpPr>
          <p:cNvPr id="23" name="R1_chip663"/>
          <p:cNvSpPr/>
          <p:nvPr/>
        </p:nvSpPr>
        <p:spPr>
          <a:xfrm>
            <a:off x="6263640" y="1417320"/>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perfect for people who love tea AND chocolate!</a:t>
            </a:r>
            <a:endParaRPr lang="en-US" sz="1100" dirty="0"/>
          </a:p>
        </p:txBody>
      </p:sp>
      <p:sp>
        <p:nvSpPr>
          <p:cNvPr id="24" name="bd_664"/>
          <p:cNvSpPr/>
          <p:nvPr/>
        </p:nvSpPr>
        <p:spPr>
          <a:xfrm>
            <a:off x="3246120" y="2084832"/>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665"/>
          <p:cNvSpPr/>
          <p:nvPr/>
        </p:nvSpPr>
        <p:spPr>
          <a:xfrm>
            <a:off x="3657600" y="1993392"/>
            <a:ext cx="2514600" cy="512064"/>
          </a:xfrm>
          <a:prstGeom prst="roundRect">
            <a:avLst>
              <a:gd name="adj" fmla="val 17857"/>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 waterproof towel</a:t>
            </a:r>
            <a:endParaRPr lang="en-US" sz="1100" dirty="0"/>
          </a:p>
        </p:txBody>
      </p:sp>
      <p:sp>
        <p:nvSpPr>
          <p:cNvPr id="26" name="R2_chip666"/>
          <p:cNvSpPr/>
          <p:nvPr/>
        </p:nvSpPr>
        <p:spPr>
          <a:xfrm>
            <a:off x="6263640" y="1993392"/>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It's easy to carry – it never gets heavy!</a:t>
            </a:r>
            <a:endParaRPr lang="en-US" sz="1100" dirty="0"/>
          </a:p>
        </p:txBody>
      </p:sp>
      <p:sp>
        <p:nvSpPr>
          <p:cNvPr id="27" name="bd_667"/>
          <p:cNvSpPr/>
          <p:nvPr/>
        </p:nvSpPr>
        <p:spPr>
          <a:xfrm>
            <a:off x="3246120"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668"/>
          <p:cNvSpPr/>
          <p:nvPr/>
        </p:nvSpPr>
        <p:spPr>
          <a:xfrm>
            <a:off x="3657600" y="2569464"/>
            <a:ext cx="2514600" cy="512064"/>
          </a:xfrm>
          <a:prstGeom prst="roundRect">
            <a:avLst>
              <a:gd name="adj" fmla="val 17857"/>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sunglasses for cats</a:t>
            </a:r>
            <a:endParaRPr lang="en-US" sz="1100" dirty="0"/>
          </a:p>
        </p:txBody>
      </p:sp>
      <p:sp>
        <p:nvSpPr>
          <p:cNvPr id="29" name="R3_chip669"/>
          <p:cNvSpPr/>
          <p:nvPr/>
        </p:nvSpPr>
        <p:spPr>
          <a:xfrm>
            <a:off x="6263640" y="2569464"/>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Your cat will look cool in August in Bagheria!</a:t>
            </a:r>
            <a:endParaRPr lang="en-US" sz="1100" dirty="0"/>
          </a:p>
        </p:txBody>
      </p:sp>
      <p:sp>
        <p:nvSpPr>
          <p:cNvPr id="30" name="bd_670"/>
          <p:cNvSpPr/>
          <p:nvPr/>
        </p:nvSpPr>
        <p:spPr>
          <a:xfrm>
            <a:off x="3246120" y="3236976"/>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671"/>
          <p:cNvSpPr/>
          <p:nvPr/>
        </p:nvSpPr>
        <p:spPr>
          <a:xfrm>
            <a:off x="3657600" y="3145536"/>
            <a:ext cx="2514600" cy="512064"/>
          </a:xfrm>
          <a:prstGeom prst="roundRect">
            <a:avLst>
              <a:gd name="adj" fmla="val 17857"/>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an umbrella with holes</a:t>
            </a:r>
            <a:endParaRPr lang="en-US" sz="1100" dirty="0"/>
          </a:p>
        </p:txBody>
      </p:sp>
      <p:sp>
        <p:nvSpPr>
          <p:cNvPr id="32" name="R4_chip672"/>
          <p:cNvSpPr/>
          <p:nvPr/>
        </p:nvSpPr>
        <p:spPr>
          <a:xfrm>
            <a:off x="6263640" y="3145536"/>
            <a:ext cx="2560320" cy="512064"/>
          </a:xfrm>
          <a:prstGeom prst="roundRect">
            <a:avLst>
              <a:gd name="adj" fmla="val 17857"/>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Perfect for people who enjoy feeling the rain.</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3"/>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22</a:t>
            </a:r>
            <a:endParaRPr lang="en-US" sz="2200" dirty="0"/>
          </a:p>
        </p:txBody>
      </p:sp>
      <p:pic>
        <p:nvPicPr>
          <p:cNvPr id="4" name="brY_674"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675"/>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job interview</a:t>
            </a:r>
            <a:endParaRPr lang="en-US" sz="2500" dirty="0"/>
          </a:p>
        </p:txBody>
      </p:sp>
      <p:pic>
        <p:nvPicPr>
          <p:cNvPr id="6" name="brP_67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7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 interviews B for a job. Then swap!</a:t>
            </a:r>
            <a:endParaRPr lang="en-US" sz="1250" dirty="0"/>
          </a:p>
        </p:txBody>
      </p:sp>
      <p:sp>
        <p:nvSpPr>
          <p:cNvPr id="8" name="insIT_67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 fa il colloquio a B. Poi scambiatevi!</a:t>
            </a:r>
            <a:endParaRPr lang="en-US" sz="950" dirty="0"/>
          </a:p>
        </p:txBody>
      </p:sp>
      <p:sp>
        <p:nvSpPr>
          <p:cNvPr id="9" name="cmd_679"/>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80"/>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8 min   👥 pairs</a:t>
            </a:r>
            <a:endParaRPr lang="en-US" sz="950" dirty="0"/>
          </a:p>
        </p:txBody>
      </p:sp>
      <p:sp>
        <p:nvSpPr>
          <p:cNvPr id="11" name="tag_681"/>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8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8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8A-2 · Extra · role play   ·   📖 Writing p.121 (the job advert) · links to the covering-email homework</a:t>
            </a:r>
            <a:endParaRPr lang="en-US" sz="800" dirty="0"/>
          </a:p>
        </p:txBody>
      </p:sp>
      <p:sp>
        <p:nvSpPr>
          <p:cNvPr id="14" name="st_684"/>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85"/>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86" descr="/home/claude/lls-course/v2/cache/spare_work_job_interview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87"/>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88"/>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89"/>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90"/>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I'm good at -ing · I enjoy -ing</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I'd like to… · I'd love to…</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I've worked as a… · I don't mind -ing</a:t>
            </a:r>
            <a:endParaRPr lang="en-US" sz="900" dirty="0"/>
          </a:p>
        </p:txBody>
      </p:sp>
      <p:sp>
        <p:nvSpPr>
          <p:cNvPr id="21" name="R1_qb691"/>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92"/>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Why do you want this job?</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Because I'd love to work at a big sports event.</a:t>
            </a:r>
            <a:endParaRPr lang="en-US" sz="1250" dirty="0"/>
          </a:p>
        </p:txBody>
      </p:sp>
      <p:sp>
        <p:nvSpPr>
          <p:cNvPr id="23" name="R2_qb693"/>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694"/>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are you good at?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I'm very good at working in a team and solving problems.</a:t>
            </a:r>
            <a:endParaRPr lang="en-US" sz="1250" dirty="0"/>
          </a:p>
        </p:txBody>
      </p:sp>
      <p:sp>
        <p:nvSpPr>
          <p:cNvPr id="25" name="R3_qb695"/>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696"/>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Have you got any experience?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I've worked as a waiter, so I don't mind working long hours.</a:t>
            </a:r>
            <a:endParaRPr lang="en-US" sz="1250" dirty="0"/>
          </a:p>
        </p:txBody>
      </p:sp>
      <p:sp>
        <p:nvSpPr>
          <p:cNvPr id="27" name="R4_qb697"/>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698"/>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languages do you speak?</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speak Italian and English, and I'm learning to speak Spanish.</a:t>
            </a:r>
            <a:endParaRPr lang="en-US" sz="1250" dirty="0"/>
          </a:p>
        </p:txBody>
      </p:sp>
      <p:sp>
        <p:nvSpPr>
          <p:cNvPr id="29" name="R5_qb699"/>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700"/>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Interviewer: decide!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"You've got the job!" / "I'm sorry, but…"</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9"/>
                                        </p:tgtEl>
                                        <p:attrNameLst>
                                          <p:attrName>style.visibility</p:attrName>
                                        </p:attrNameLst>
                                      </p:cBhvr>
                                      <p:to>
                                        <p:strVal val="visible"/>
                                      </p:to>
                                    </p:set>
                                    <p:animEffect transition="in" filter="fade">
                                      <p:cBhvr>
                                        <p:cTn id="39" dur="400"/>
                                        <p:tgtEl>
                                          <p:spTgt spid="29"/>
                                        </p:tgtEl>
                                      </p:cBhvr>
                                    </p:animEffect>
                                  </p:childTnLst>
                                </p:cTn>
                              </p:par>
                              <p:par>
                                <p:cTn id="40" presetID="10" presetClass="entr" presetSubtype="0" fill="hold" nodeType="with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8A-2 The right job for you</dc:title>
  <dc:subject>PptxGenJS Presentation</dc:subject>
  <dc:creator>PptxGenJS</dc:creator>
  <cp:lastModifiedBy>PptxGenJS</cp:lastModifiedBy>
  <cp:revision>1</cp:revision>
  <dcterms:created xsi:type="dcterms:W3CDTF">2026-10-13T19:23:01Z</dcterms:created>
  <dcterms:modified xsi:type="dcterms:W3CDTF">2026-10-13T19:23:01Z</dcterms:modified>
</cp:coreProperties>
</file>