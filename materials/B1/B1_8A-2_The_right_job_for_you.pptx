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Show the photo: two people presenting a product to serious investors on TV. Ask the THINK question; give 30 seconds, then take 3–4 ideas. Click 1 = the example answer (model it with enthusiasm). Ask: 'Have you ever seen a programme like this?' Read the 'Today you're going to…' list together. Don't teach the business words yet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Elicit one more example for each block from students (e.g. 'What do you enjoy doing at work?' / 'What would you like to do?'). Point at the → lines: they tell you which form. Quick check of the key words: 'Resign or be sacked – which is your decision?' (resign). Then play 'Stand up, sit down!': the sentences in the game use exactly these forms and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(3 min)
RETRIEVAL WARMER (3 min) – different format from last lesson's warmer: total physical response. Everybody sits. Read sentence 1 aloud (say 'beep' for the gap): students STAND UP if the verb takes -ing, SIT DOWN / stay seated for to + infinitive, and put their HANDS UP for the infinitive without to. Then click to show the answer. Anyone who moves the wrong way becomes a 'referee'. Ask WHY after each one (rules from Grammar Bank 8A): 1 after enjoy · 2 after decide · 3 make + person + inf. · 4 after a preposition (at) · 5 after an adjective · 6 subject of the sentence · 7 after a modal · 8 purpose (= in order to). Speed up for the last items. ICQs: 'Gerund – what do you do?' (stand up) · 'Must + verb?' (hands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business words (3 min)
ELICIT FIRST (3 min) – pre-teach only the words students need for the reading and the final role play. Demo item 0 (den – from the book glossary). Pairs explain each word in English; click once per item. Definitions 1–2 and 0 are from the SB glossary. Drill pronunciation: entrepreneur /ˌɒntrəprəˈnɜː/ (stress at the END – French word), profits /ˈprɒfɪts/, invest /ɪnˈvest/. Ask a CCQ: 'If the Dragons say "I'm out", do you get the money?' (no). ICQ: 'Are you writing or talking?' (talking). Next slide = the Italian for slower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in Italian (2 min)
CONSOLIDATION for slower students (2 min). Class says the Italian aloud for each word, then click once per word to show its Italian and the warning. Spend 20 seconds on the traps: 'a share' (noun) = una quota; 'pitch' has many meanings (football pitch, a pitch = presentation); 'succedere' is NOT 'succeed' – it means 'happen'. Quick CCQ: 'The Dragons take 25% of the profits – is that a share?'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Speaking · class story (TPRS) (4 min)
TPRS CLASS STORY (4 min) – after the business words and their Italian (slides 4–5), so students hear entrepreneur, pitch, slogan, invest, a share in the profits and I'm out many times BEFORE they meet them in the Dragons' Den article and the listening; it also recycles 8A-1 gerunds and infinitives (decided to set up · nervous about making). The story deliberately gives no numbers (minutes, how many Dragons) so it doesn't spoil the prediction on the next slide. Click once per line. For each line: 1) say it, 2) ask the questions round the class (yes/no → either/or → who/what), 3) let the CLASS change details: 'Is his product a cannolo? No? What is it?' – accept their idea and use it in later lines (change the slogan to match!). Students answer with one word or a short phrase – that's fine. Finish: 'What happens next?' – one or two ideas, then move on to the reading. Watch for ✗ 'I'm interesting to invest' → interested in investing.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prediction (2 min)
PREDICTION (2 min). Books CLOSED. Read the introduction aloud. Pairs look at the number bank and guess: When did the show start? How many minutes do contestants have? How many Dragons? How many businesses have the Dragons invested in? Every pair must commit to a guess before the next slide. ICQ: 'Are you reading the book now?' (no –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In the Dragons' Den (3 min)
READ + CHECK (3 min). Pairs guess gaps 1–5 (numbers from the bank, words from slide 4). Then books OPEN at p.78: they read the first part of the article and check. Click once per gap: the answer appears highlighted IN the text. Answers (SB text): 1 2005 · 2 three · 3 five · 4 invest · 5 profits. Then the book's 5a questions 1–2 (TG): 1 Who are the Dragons? → five multi-millionaires who have made their fortunes through business · 2 Where do the contestants meet them? → in 'the Den', the room where the programme is filmed.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In the Dragons' Den (2 min)
READ + CHECK (2 min). Same procedure. Answers (SB text): 6 entrepreneurs · 7 pitch · 8 I'm out · 9 250. Then 5a question 3 (TG): How does the programme work? → the contestants present their product to the Dragons in three minutes; the Dragons ask them questions and decide whether or not to invest; if they decide not to invest, they say 'I'm out'. Question 4 (1 minute, whole class): Is there a similar TV programme in Italy? Have you watched it? Accept any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three products (3 min)
READ (3 min). Students read about the three products (SB p.78, 5b – shortened on the slide). Explain (TG): Slappie – you slap it on your wrist and the strap closes; Tangle Teezer – tangled hair = hair full of knots, hard to comb. Each student decides alone: invest or 'I'm out' for each product? Don't give answers yet – the next slide is the game. ICQ: 'Do you know what the Dragons did?' (no –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game · jigsaw (5 min)
GAME 2 + JIGSAW READING (5 min). 1 (1 min) Teams write their bets for the 3 products (5b: which one did the Dragons invest in and has been successful? which didn't they invest in and has been a failure? which didn't they invest in, but has been very successful?). 2 (3 min) 5c: groups of three – A reads Tingatang (p.109), B Slappie watches (p.113), C Tangle Teezer (p.114); each tells the group what happened. 3 Click once per product; 1 point per correct bet. Answers (TG): Slappie watches = invested + successful · Tingatang = not invested + a failure · Tangle Teezer = not invested but very successful. Row 4 = 5d (whole class, 1 min): Which would you buy? Were the Dragons wrong about Tangle Teezer? ICQ: 'Do you read all three texts?' (no – only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Listening · Part 1 (5 min)
LISTENING PART 1 (5 min). 6a: show the photo of Joe and Jake's product (Frame Again: online photo printing and framing; they asked for £60,000 for 20%). 'Do you think they were successful?' Show of hands – don't say. Pairs guess T/F first. 6b: play 8.9 once; students mark T or F. 6c: play again; they correct the false ones. Click once per sentence. Answers (TG): 1 F (Joe applied without telling Jake.) · 2 F (They worked very hard and practised a lot.) · 3 T · 4 F (They practised their pitch the night before and they prepared the furniture they needed.) · 5 T · 6 F (They were the first contestants.) · 7 T · 8 F (Contestants aren't allowed to meet the Dragons before they go on.) Fun detail from the script: if you go to the toilet, someone has to escort you in case you meet a Dragon! ICQ: 'Do you write T or F the first time?' (yes – correct them the 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Listening · Part 2 (5 min)
LISTENING PART 2 (5 min). Before listening (curiosity gap): 'Four Dragons said I'm out. What did the fifth Dragon do?' 6d: play 8.10 once. Answer (TG): they were offered a JOB, not an investment in their business. 6e: play again, pausing after each answer; students make notes. Click once per line. Answers (TG): 1 He smiled at her to help himself relax, but she just stared at him to make him feel nervous. 2 Jake forgot his first words, which he never usually does. 3 Four of the Dragons said 'I'm out' to show they weren't interested in investing. 4 Peter is incredibly tall – more than two metres – which makes him scary. 5 Peter owns a big chain of camera shops called Jessops. 6 Peter offered them a job, which has never happened on Dragons' Den before. Pictures: A = Joe and Jake's business, B = the job offer (context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Listening · Part 3 (3 min)
LISTENING PART 3 (3 min). Forced choice first (item 0): Peter offers you a job with a very good salary. Yes or no? Hands up; 2 students give a reason. Play 8.11; click once per question. Answers (TG + script): Joe and Jake decided not to accept the jobs, because it wasn't a good time and they were enjoying running their own business. Yes, they think it was the right decision – they have never regretted saying no. Frame Again was successful and they sold the business 'this year' (but not to one of the Dragons – 'that would have been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Noticing · Joe's interview (3 min)
NOTICING (3 min) – links today's listening to last lesson's grammar. Lines are from the audio script (8.9–8.11; the line 'Have you ever regretted…' is the interviewer). Pairs find the gerunds and infinitives; click once per line to highlight. After each line ask WHY: telling – after a preposition (without) · running – go + -ing (activities) · repeating – -ing (while doing) · to do – after want · to smile – after be (what I wanted was…) · making – after a preposition (of) · to make – purpose · feel – make + person + infinitive without to · to make – after have · saying – after regret · running – after enjoy. Exam tip for the class: 'enjoy, regret, mind + -ing' are tested often (B1 Preliminary / B2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Speaking · the model pitch (3 min)
THE MODEL PITCH (3 min). 7a: students read questions A–E (teach slogan if needed – slide 4) and guess the order. Play 8.12: Joe and Jake's real pitch. In what order do they answer the questions? Click once per question. Answers (TG): A 4 · B 2 · C 1 · D 5 · E 3. Content from the script: C Jake and Joe, Frame Again · B an online service: upload your photo, choose the colours of your frame, we print, frame and deliver it the next day · E smartphone photographers and Instagram users – a square frame · A £12.99 · D 'Printed, framed, and delivered in 24 hours.' Did you hear the mistake at the start? (Jake: 'I'm Joe and this is Jake. Oh no, sorry, I'm Jake…' – nerves!) This order is the plan for their own pitch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 prepare your pitch (5 min)
PREPARATION (5 min). 7b: pairs choose one of the products in the book (or invent their own) and answer the 5 questions – in the order of Joe and Jake's pitch. The questions appear one per click with the model answers for an invented product, SunBag (the same model as the homework). 7c: go through the 'Presenting a product' box (Good morning. I'm…, and this is…, and we're here to tell you about our new product… · It's a…, and it's called… · This product is for… · We think it will be very popular because… · It will cost… · Our slogan is…). Rules: max 1 minute, BOTH partners speak, must include a price and a slogan. Monitor: help with vocabulary and push gerunds/infinitives (It's easy to use · perfect for taking… · you don't need to…). Ideas if they're stuck: an app that finds free parking in Palermo, a cannolo delivery service, an umbrella that tells you when it will rain. Choose 3–4 students as the Dragons now – they prepare questions instead of a pitch. ICQs: 'How long is the pitch?' (1 minute) · 'Who speaks?'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game · role play (7 min)
DRAGONS' DEN ROLE PLAY (7 min). 3–4 Dragons sit at the front; each has €100,000 (imaginary!). Click once per row to give the Dragons their language before the first pitch. Each pair has ONE minute (teacher keeps the time); each Dragon asks one question, then invests or says 'I'm out because…' (a reason is compulsory). Every Dragon must invest in at least one product. Keep a scoreboard of money invested on the board. With a big class, run two 'Dens' at the same time. 7d: the rest of the class also has money to invest – after all the pitches, everyone votes for one product (not their own). Feedback: best product, best slogan, best presenters; then 1–2 minutes of delayed error correction from your notes (watch for: ✗ enjoy to use · ✗ It costs to · ✗ I'm interesting in investing).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Exit · what can you remember? (2 min)
RETRIEVAL EXIT (2 min). Books closed. Pairs: 3 business words (entrepreneur, invest, pitch, profits, contestant, slogan…), 2 things that happened to Joe and Jake (e.g. Jake forgot his first words; Peter offered them a job; they decided not to take it), 1 slogan. A few pairs share. Homework (on the slide and in the app): Workbook 8A 1c (word-building), 1d (words with different meanings), 2a (word stress), 3c (gerunds and infinitives) + Writing 'A covering email' p.121 (c): write a covering email for one of the jobs, 15–20 minutes, formal style (no contractions; Dear Sir / Madam … Yours faithfully) + the 8A-2 homework sheet (easier version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Extra · reverse pitch (8 min)
EXTRA (8 min, if there's time). Reverse the obvious + humour. Give each pair one useless product (click to show a model 'advantage' for each, or let them invent). Pairs have 3 minutes to find 3 'advantages' and a slogan, then a 1-minute pitch; the Dragons must keep a straight face. Vote: who almost convinced you? The useless products force creative language with gerunds and infinitives (It's ideal for… · You'll never need to… · It's easy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Extra · role play (8 min)
EXTRA (8 min). Role play + recycling of 8A grammar and vocabulary. A = interviewer, B = candidate for one of the jobs in the Writing advert on p.121 (World Athletics Championships). Questions appear one per click with model answers. 2 minutes per interview, then swap. The class can vote for the most convincing candidate. Remind them of the 6B charisma tips (eye contact, smile!).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pp.78–79</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8A-2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The right job for you</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Dragons' Den · pitch your idea</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read about a TV show for entrepreneurs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listen to a contestant's story</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spot -ing and to + infinitive in real speech</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pitch your own product to the 'Dragons'</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I'd sell an app that finds free parking in Palermo – everybody needs it!</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13"/>
          <p:cNvSpPr/>
          <p:nvPr/>
        </p:nvSpPr>
        <p:spPr>
          <a:xfrm>
            <a:off x="4892040" y="822960"/>
            <a:ext cx="3886200" cy="31089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8a2-cover.jpg</a:t>
            </a:r>
            <a:endParaRPr lang="en-US" sz="900" dirty="0"/>
          </a:p>
        </p:txBody>
      </p:sp>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You have 3 minutes to sell an idea. What is it?</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4"/>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spare_work_places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8A part 1 (6 Oct): work words</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gerunds and infinitives · 'Someone you know'</a:t>
            </a:r>
            <a:endParaRPr lang="en-US" sz="105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-ing (gerund)</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enjoy helping people.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good at solving problems.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Working shifts is tiring.</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after enjoy, don't mind · after prepositions · as the subject</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to + infinitive / infinitive</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She decided to resign.</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It's difficult to find a job.</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My boss made me do overtime.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after decide, want · after adjectives · after make, let, must, can</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1175004"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do overtime</a:t>
            </a:r>
            <a:endParaRPr lang="en-US" sz="1050" dirty="0"/>
          </a:p>
        </p:txBody>
      </p:sp>
      <p:sp>
        <p:nvSpPr>
          <p:cNvPr id="28" name="w_42"/>
          <p:cNvSpPr/>
          <p:nvPr/>
        </p:nvSpPr>
        <p:spPr>
          <a:xfrm>
            <a:off x="4494276" y="4178808"/>
            <a:ext cx="1252728"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get promoted</a:t>
            </a:r>
            <a:endParaRPr lang="en-US" sz="1050" dirty="0"/>
          </a:p>
        </p:txBody>
      </p:sp>
      <p:sp>
        <p:nvSpPr>
          <p:cNvPr id="29" name="w_43"/>
          <p:cNvSpPr/>
          <p:nvPr/>
        </p:nvSpPr>
        <p:spPr>
          <a:xfrm>
            <a:off x="5820156" y="4178808"/>
            <a:ext cx="1175004"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work shifts</a:t>
            </a:r>
            <a:endParaRPr lang="en-US" sz="1050" dirty="0"/>
          </a:p>
        </p:txBody>
      </p:sp>
      <p:sp>
        <p:nvSpPr>
          <p:cNvPr id="30" name="w_44"/>
          <p:cNvSpPr/>
          <p:nvPr/>
        </p:nvSpPr>
        <p:spPr>
          <a:xfrm>
            <a:off x="7068312" y="4178808"/>
            <a:ext cx="101955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be sacked</a:t>
            </a:r>
            <a:endParaRPr lang="en-US" sz="1050" dirty="0"/>
          </a:p>
        </p:txBody>
      </p:sp>
      <p:sp>
        <p:nvSpPr>
          <p:cNvPr id="31" name="w_45"/>
          <p:cNvSpPr/>
          <p:nvPr/>
        </p:nvSpPr>
        <p:spPr>
          <a:xfrm>
            <a:off x="3246120" y="4544568"/>
            <a:ext cx="786384"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resign</a:t>
            </a:r>
            <a:endParaRPr lang="en-US" sz="1050" dirty="0"/>
          </a:p>
        </p:txBody>
      </p:sp>
      <p:sp>
        <p:nvSpPr>
          <p:cNvPr id="32" name="w_46"/>
          <p:cNvSpPr/>
          <p:nvPr/>
        </p:nvSpPr>
        <p:spPr>
          <a:xfrm>
            <a:off x="4105656" y="4544568"/>
            <a:ext cx="786384"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retire</a:t>
            </a:r>
            <a:endParaRPr lang="en-US" sz="1050" dirty="0"/>
          </a:p>
        </p:txBody>
      </p:sp>
      <p:sp>
        <p:nvSpPr>
          <p:cNvPr id="33" name="w_47"/>
          <p:cNvSpPr/>
          <p:nvPr/>
        </p:nvSpPr>
        <p:spPr>
          <a:xfrm>
            <a:off x="4965192" y="4544568"/>
            <a:ext cx="1641348"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set up a business</a:t>
            </a:r>
            <a:endParaRPr lang="en-US" sz="1050" dirty="0"/>
          </a:p>
        </p:txBody>
      </p:sp>
      <p:sp>
        <p:nvSpPr>
          <p:cNvPr id="34" name="w_48"/>
          <p:cNvSpPr/>
          <p:nvPr/>
        </p:nvSpPr>
        <p:spPr>
          <a:xfrm>
            <a:off x="6679692" y="4544568"/>
            <a:ext cx="1330452"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self-employed</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51"/>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Stand up, sit down!</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53"/>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-ing: stand up! to: sit down! inf.: hands up!</a:t>
            </a:r>
            <a:endParaRPr lang="en-US" sz="1250" dirty="0"/>
          </a:p>
        </p:txBody>
      </p:sp>
      <p:sp>
        <p:nvSpPr>
          <p:cNvPr id="8" name="insIT_5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-ing: in piedi! to: seduti! inf.: mani su!</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5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Warmer · last lesson   ·   📖 Recycles 6 Oct (8A-1): gerunds and infinitives, work words · Grammar Bank 8A p.146</a:t>
            </a:r>
            <a:endParaRPr lang="en-US" sz="800" dirty="0"/>
          </a:p>
        </p:txBody>
      </p:sp>
      <p:sp>
        <p:nvSpPr>
          <p:cNvPr id="14"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Semibold" pitchFamily="34" charset="0"/>
                <a:ea typeface="Segoe UI Semibold" pitchFamily="34" charset="-122"/>
                <a:cs typeface="Segoe UI Semibold" pitchFamily="34" charset="-120"/>
              </a:rPr>
              <a:t>-ing → STAND UP.</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-ing → IN PIEDI.</a:t>
            </a:r>
            <a:endParaRPr lang="en-US" sz="1150" dirty="0"/>
          </a:p>
          <a:p>
            <a:pPr marL="190500" indent="-190500">
              <a:spcBef>
                <a:spcPts val="500"/>
              </a:spcBef>
              <a:spcAft>
                <a:spcPts val="200"/>
              </a:spcAft>
              <a:buSzPct val="100000"/>
              <a:buChar char="2"/>
            </a:pPr>
            <a:r>
              <a:rPr lang="en-US" sz="1150" dirty="0">
                <a:solidFill>
                  <a:srgbClr val="1B2559"/>
                </a:solidFill>
                <a:latin typeface="Segoe UI Semibold" pitchFamily="34" charset="0"/>
                <a:ea typeface="Segoe UI Semibold" pitchFamily="34" charset="-122"/>
                <a:cs typeface="Segoe UI Semibold" pitchFamily="34" charset="-120"/>
              </a:rPr>
              <a:t>to + infinitive → SIT DOWN.</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to + infinito → SEDUTI.</a:t>
            </a:r>
            <a:endParaRPr lang="en-US" sz="1150" dirty="0"/>
          </a:p>
          <a:p>
            <a:pPr marL="190500" indent="-190500">
              <a:spcBef>
                <a:spcPts val="500"/>
              </a:spcBef>
              <a:spcAft>
                <a:spcPts val="200"/>
              </a:spcAft>
              <a:buSzPct val="100000"/>
              <a:buChar char="3"/>
            </a:pPr>
            <a:r>
              <a:rPr lang="en-US" sz="1150" dirty="0">
                <a:solidFill>
                  <a:srgbClr val="1B2559"/>
                </a:solidFill>
                <a:latin typeface="Segoe UI Semibold" pitchFamily="34" charset="0"/>
                <a:ea typeface="Segoe UI Semibold" pitchFamily="34" charset="-122"/>
                <a:cs typeface="Segoe UI Semibold" pitchFamily="34" charset="-120"/>
              </a:rPr>
              <a:t>infinitive (no to) → HANDS UP!</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infinito senza to → MANI SU!</a:t>
            </a:r>
            <a:endParaRPr lang="en-US" sz="1150" dirty="0"/>
          </a:p>
        </p:txBody>
      </p:sp>
      <p:sp>
        <p:nvSpPr>
          <p:cNvPr id="18"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 descr="/home/claude/lls-course/v2/cache/spare_work_career_chang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
          <p:cNvSpPr/>
          <p:nvPr/>
        </p:nvSpPr>
        <p:spPr>
          <a:xfrm>
            <a:off x="3246120" y="142360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really enjoy ___. (cook)</a:t>
            </a:r>
            <a:endParaRPr lang="en-US" sz="1100" dirty="0"/>
          </a:p>
        </p:txBody>
      </p:sp>
      <p:sp>
        <p:nvSpPr>
          <p:cNvPr id="22" name="R1_chip68"/>
          <p:cNvSpPr/>
          <p:nvPr/>
        </p:nvSpPr>
        <p:spPr>
          <a:xfrm>
            <a:off x="6263640" y="141732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cooking · STAND UP</a:t>
            </a:r>
            <a:endParaRPr lang="en-US" sz="1100" dirty="0"/>
          </a:p>
        </p:txBody>
      </p:sp>
      <p:sp>
        <p:nvSpPr>
          <p:cNvPr id="23" name="bd_69"/>
          <p:cNvSpPr/>
          <p:nvPr/>
        </p:nvSpPr>
        <p:spPr>
          <a:xfrm>
            <a:off x="3246120" y="182937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82308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She decided ___. (resign)</a:t>
            </a:r>
            <a:endParaRPr lang="en-US" sz="1100" dirty="0"/>
          </a:p>
        </p:txBody>
      </p:sp>
      <p:sp>
        <p:nvSpPr>
          <p:cNvPr id="25" name="R2_chip71"/>
          <p:cNvSpPr/>
          <p:nvPr/>
        </p:nvSpPr>
        <p:spPr>
          <a:xfrm>
            <a:off x="6263640" y="182308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to resign · SIT DOWN</a:t>
            </a:r>
            <a:endParaRPr lang="en-US" sz="1100" dirty="0"/>
          </a:p>
        </p:txBody>
      </p:sp>
      <p:sp>
        <p:nvSpPr>
          <p:cNvPr id="26" name="bd_72"/>
          <p:cNvSpPr/>
          <p:nvPr/>
        </p:nvSpPr>
        <p:spPr>
          <a:xfrm>
            <a:off x="3246120" y="2235137"/>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22885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My boss made me ___ overtime. (do)</a:t>
            </a:r>
            <a:endParaRPr lang="en-US" sz="950" dirty="0"/>
          </a:p>
        </p:txBody>
      </p:sp>
      <p:sp>
        <p:nvSpPr>
          <p:cNvPr id="28" name="R3_chip74"/>
          <p:cNvSpPr/>
          <p:nvPr/>
        </p:nvSpPr>
        <p:spPr>
          <a:xfrm>
            <a:off x="6263640" y="222885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do · HANDS UP</a:t>
            </a:r>
            <a:endParaRPr lang="en-US" sz="1100" dirty="0"/>
          </a:p>
        </p:txBody>
      </p:sp>
      <p:sp>
        <p:nvSpPr>
          <p:cNvPr id="29" name="bd_75"/>
          <p:cNvSpPr/>
          <p:nvPr/>
        </p:nvSpPr>
        <p:spPr>
          <a:xfrm>
            <a:off x="3246120" y="2640901"/>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263461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He's good at ___ problems. (solve)</a:t>
            </a:r>
            <a:endParaRPr lang="en-US" sz="950" dirty="0"/>
          </a:p>
        </p:txBody>
      </p:sp>
      <p:sp>
        <p:nvSpPr>
          <p:cNvPr id="31" name="R4_chip77"/>
          <p:cNvSpPr/>
          <p:nvPr/>
        </p:nvSpPr>
        <p:spPr>
          <a:xfrm>
            <a:off x="6263640" y="263461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solving · STAND UP</a:t>
            </a:r>
            <a:endParaRPr lang="en-US" sz="1100" dirty="0"/>
          </a:p>
        </p:txBody>
      </p:sp>
      <p:sp>
        <p:nvSpPr>
          <p:cNvPr id="32" name="bd_78"/>
          <p:cNvSpPr/>
          <p:nvPr/>
        </p:nvSpPr>
        <p:spPr>
          <a:xfrm>
            <a:off x="3246120" y="304666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04038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It's difficult ___ a job. (find)</a:t>
            </a:r>
            <a:endParaRPr lang="en-US" sz="1100" dirty="0"/>
          </a:p>
        </p:txBody>
      </p:sp>
      <p:sp>
        <p:nvSpPr>
          <p:cNvPr id="34" name="R5_chip80"/>
          <p:cNvSpPr/>
          <p:nvPr/>
        </p:nvSpPr>
        <p:spPr>
          <a:xfrm>
            <a:off x="6263640" y="304038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to find · SIT DOWN</a:t>
            </a:r>
            <a:endParaRPr lang="en-US" sz="1100" dirty="0"/>
          </a:p>
        </p:txBody>
      </p:sp>
      <p:sp>
        <p:nvSpPr>
          <p:cNvPr id="35" name="bd_81"/>
          <p:cNvSpPr/>
          <p:nvPr/>
        </p:nvSpPr>
        <p:spPr>
          <a:xfrm>
            <a:off x="3246120" y="34524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2"/>
          <p:cNvSpPr/>
          <p:nvPr/>
        </p:nvSpPr>
        <p:spPr>
          <a:xfrm>
            <a:off x="3657600" y="344614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shifts is tiring. (work)</a:t>
            </a:r>
            <a:endParaRPr lang="en-US" sz="1100" dirty="0"/>
          </a:p>
        </p:txBody>
      </p:sp>
      <p:sp>
        <p:nvSpPr>
          <p:cNvPr id="37" name="R6_chip83"/>
          <p:cNvSpPr/>
          <p:nvPr/>
        </p:nvSpPr>
        <p:spPr>
          <a:xfrm>
            <a:off x="6263640" y="344614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Working · STAND UP</a:t>
            </a:r>
            <a:endParaRPr lang="en-US" sz="1100" dirty="0"/>
          </a:p>
        </p:txBody>
      </p:sp>
      <p:sp>
        <p:nvSpPr>
          <p:cNvPr id="38" name="bd_84"/>
          <p:cNvSpPr/>
          <p:nvPr/>
        </p:nvSpPr>
        <p:spPr>
          <a:xfrm>
            <a:off x="3246120" y="385819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85"/>
          <p:cNvSpPr/>
          <p:nvPr/>
        </p:nvSpPr>
        <p:spPr>
          <a:xfrm>
            <a:off x="3657600" y="385191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 must ___ online. (apply)</a:t>
            </a:r>
            <a:endParaRPr lang="en-US" sz="1100" dirty="0"/>
          </a:p>
        </p:txBody>
      </p:sp>
      <p:sp>
        <p:nvSpPr>
          <p:cNvPr id="40" name="R7_chip86"/>
          <p:cNvSpPr/>
          <p:nvPr/>
        </p:nvSpPr>
        <p:spPr>
          <a:xfrm>
            <a:off x="6263640" y="385191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apply · HANDS UP</a:t>
            </a:r>
            <a:endParaRPr lang="en-US" sz="1100" dirty="0"/>
          </a:p>
        </p:txBody>
      </p:sp>
      <p:sp>
        <p:nvSpPr>
          <p:cNvPr id="41" name="bd_87"/>
          <p:cNvSpPr/>
          <p:nvPr/>
        </p:nvSpPr>
        <p:spPr>
          <a:xfrm>
            <a:off x="3246120" y="426396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88"/>
          <p:cNvSpPr/>
          <p:nvPr/>
        </p:nvSpPr>
        <p:spPr>
          <a:xfrm>
            <a:off x="3657600" y="425767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I'm saving ___ a business. (set up)</a:t>
            </a:r>
            <a:endParaRPr lang="en-US" sz="950" dirty="0"/>
          </a:p>
        </p:txBody>
      </p:sp>
      <p:sp>
        <p:nvSpPr>
          <p:cNvPr id="43" name="R8_chip89"/>
          <p:cNvSpPr/>
          <p:nvPr/>
        </p:nvSpPr>
        <p:spPr>
          <a:xfrm>
            <a:off x="6263640" y="425767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to set up · SIT DOWN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91"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92"/>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Business words</a:t>
            </a:r>
            <a:endParaRPr lang="en-US" sz="2500" dirty="0"/>
          </a:p>
        </p:txBody>
      </p:sp>
      <p:pic>
        <p:nvPicPr>
          <p:cNvPr id="6" name="brP_93"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94"/>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do the words mean? Explain!</a:t>
            </a:r>
            <a:endParaRPr lang="en-US" sz="1250" dirty="0"/>
          </a:p>
        </p:txBody>
      </p:sp>
      <p:sp>
        <p:nvSpPr>
          <p:cNvPr id="8" name="insIT_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significano le parole? Spiega!</a:t>
            </a:r>
            <a:endParaRPr lang="en-US" sz="950" dirty="0"/>
          </a:p>
        </p:txBody>
      </p:sp>
      <p:sp>
        <p:nvSpPr>
          <p:cNvPr id="9" name="cmd_9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97"/>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98"/>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2" name="logo_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Vocabulary · business words   ·   📖 SB p.78 · 5a Glossary (den, entrepreneur, make a pitch) + TG</a:t>
            </a:r>
            <a:endParaRPr lang="en-US" sz="800" dirty="0"/>
          </a:p>
        </p:txBody>
      </p:sp>
      <p:sp>
        <p:nvSpPr>
          <p:cNvPr id="14" name="cd_101"/>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10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03"/>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104"/>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a den → the hidden home of a wild animal (e.g. a dragon!)</a:t>
            </a:r>
            <a:endParaRPr lang="en-US" sz="1050" dirty="0"/>
          </a:p>
        </p:txBody>
      </p:sp>
      <p:sp>
        <p:nvSpPr>
          <p:cNvPr id="18" name="pf_105"/>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106"/>
          <p:cNvSpPr/>
          <p:nvPr/>
        </p:nvSpPr>
        <p:spPr>
          <a:xfrm>
            <a:off x="411480" y="2743200"/>
            <a:ext cx="2514600" cy="18745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8a2-investors.jpg</a:t>
            </a:r>
            <a:endParaRPr lang="en-US" sz="900" dirty="0"/>
          </a:p>
        </p:txBody>
      </p:sp>
      <p:sp>
        <p:nvSpPr>
          <p:cNvPr id="20" name="bd_107"/>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08"/>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an entrepreneur</a:t>
            </a:r>
            <a:endParaRPr lang="en-US" sz="1150" dirty="0"/>
          </a:p>
        </p:txBody>
      </p:sp>
      <p:sp>
        <p:nvSpPr>
          <p:cNvPr id="22" name="R1_chip109"/>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person who makes money by starting or running businesses</a:t>
            </a:r>
            <a:endParaRPr lang="en-US" sz="1000" dirty="0"/>
          </a:p>
        </p:txBody>
      </p:sp>
      <p:sp>
        <p:nvSpPr>
          <p:cNvPr id="23" name="bd_110"/>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11"/>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make a pitch</a:t>
            </a:r>
            <a:endParaRPr lang="en-US" sz="1150" dirty="0"/>
          </a:p>
        </p:txBody>
      </p:sp>
      <p:sp>
        <p:nvSpPr>
          <p:cNvPr id="25" name="R2_chip112"/>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present something you're trying to sell</a:t>
            </a:r>
            <a:endParaRPr lang="en-US" sz="1000" dirty="0"/>
          </a:p>
        </p:txBody>
      </p:sp>
      <p:sp>
        <p:nvSpPr>
          <p:cNvPr id="26" name="bd_113"/>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14"/>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contestant</a:t>
            </a:r>
            <a:endParaRPr lang="en-US" sz="1150" dirty="0"/>
          </a:p>
        </p:txBody>
      </p:sp>
      <p:sp>
        <p:nvSpPr>
          <p:cNvPr id="28" name="R3_chip115"/>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person who takes part in a TV show or competition</a:t>
            </a:r>
            <a:endParaRPr lang="en-US" sz="1000" dirty="0"/>
          </a:p>
        </p:txBody>
      </p:sp>
      <p:sp>
        <p:nvSpPr>
          <p:cNvPr id="29" name="bd_116"/>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17"/>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invest (money in…)</a:t>
            </a:r>
            <a:endParaRPr lang="en-US" sz="1150" dirty="0"/>
          </a:p>
        </p:txBody>
      </p:sp>
      <p:sp>
        <p:nvSpPr>
          <p:cNvPr id="31" name="R4_chip118"/>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put money into a business to make more money</a:t>
            </a:r>
            <a:endParaRPr lang="en-US" sz="1000" dirty="0"/>
          </a:p>
        </p:txBody>
      </p:sp>
      <p:sp>
        <p:nvSpPr>
          <p:cNvPr id="32" name="bd_119"/>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20"/>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share in the profits</a:t>
            </a:r>
            <a:endParaRPr lang="en-US" sz="1150" dirty="0"/>
          </a:p>
        </p:txBody>
      </p:sp>
      <p:sp>
        <p:nvSpPr>
          <p:cNvPr id="34" name="R5_chip121"/>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part of the money the business makes</a:t>
            </a:r>
            <a:endParaRPr lang="en-US" sz="1000" dirty="0"/>
          </a:p>
        </p:txBody>
      </p:sp>
      <p:sp>
        <p:nvSpPr>
          <p:cNvPr id="35" name="bd_122"/>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123"/>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success / a failure</a:t>
            </a:r>
            <a:endParaRPr lang="en-US" sz="1150" dirty="0"/>
          </a:p>
        </p:txBody>
      </p:sp>
      <p:sp>
        <p:nvSpPr>
          <p:cNvPr id="37" name="R6_chip124"/>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 works and makes money / it doesn't work</a:t>
            </a:r>
            <a:endParaRPr lang="en-US" sz="1000" dirty="0"/>
          </a:p>
        </p:txBody>
      </p:sp>
      <p:sp>
        <p:nvSpPr>
          <p:cNvPr id="38" name="bd_125"/>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126"/>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"I'm out."</a:t>
            </a:r>
            <a:endParaRPr lang="en-US" sz="1150" dirty="0"/>
          </a:p>
        </p:txBody>
      </p:sp>
      <p:sp>
        <p:nvSpPr>
          <p:cNvPr id="40" name="R7_chip127"/>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 the show) = I'm not going to invest</a:t>
            </a:r>
            <a:endParaRPr lang="en-US" sz="1000" dirty="0"/>
          </a:p>
        </p:txBody>
      </p:sp>
      <p:sp>
        <p:nvSpPr>
          <p:cNvPr id="41" name="bd_128"/>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2" name="q_129"/>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slogan</a:t>
            </a:r>
            <a:endParaRPr lang="en-US" sz="1150" dirty="0"/>
          </a:p>
        </p:txBody>
      </p:sp>
      <p:sp>
        <p:nvSpPr>
          <p:cNvPr id="43" name="R8_chip130"/>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short, catchy phrase for advertising</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3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32"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133"/>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Business words in Italian</a:t>
            </a:r>
            <a:endParaRPr lang="en-US" sz="2500" dirty="0"/>
          </a:p>
        </p:txBody>
      </p:sp>
      <p:pic>
        <p:nvPicPr>
          <p:cNvPr id="6" name="brP_134"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35"/>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13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cmd_13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13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13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TPRS · meaning</a:t>
            </a:r>
            <a:endParaRPr lang="en-US" sz="700" dirty="0"/>
          </a:p>
        </p:txBody>
      </p:sp>
      <p:pic>
        <p:nvPicPr>
          <p:cNvPr id="12" name="logo_14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4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Vocabulary · in Italian</a:t>
            </a:r>
            <a:endParaRPr lang="en-US" sz="800" dirty="0"/>
          </a:p>
        </p:txBody>
      </p:sp>
      <p:sp>
        <p:nvSpPr>
          <p:cNvPr id="14" name="cd_142"/>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143"/>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144"/>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entrepreneur</a:t>
            </a:r>
            <a:endParaRPr lang="en-US" sz="1200" dirty="0"/>
          </a:p>
        </p:txBody>
      </p:sp>
      <p:sp>
        <p:nvSpPr>
          <p:cNvPr id="17" name="R1_it145"/>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imprenditore / imprenditrice</a:t>
            </a:r>
            <a:endParaRPr lang="en-US" sz="800" dirty="0"/>
          </a:p>
        </p:txBody>
      </p:sp>
      <p:sp>
        <p:nvSpPr>
          <p:cNvPr id="18" name="cd_146"/>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147"/>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148"/>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make a pitch</a:t>
            </a:r>
            <a:endParaRPr lang="en-US" sz="1200" dirty="0"/>
          </a:p>
        </p:txBody>
      </p:sp>
      <p:sp>
        <p:nvSpPr>
          <p:cNvPr id="21" name="R2_it149"/>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presentare un'idea per venderla</a:t>
            </a:r>
            <a:endParaRPr lang="en-US" sz="800" dirty="0"/>
          </a:p>
        </p:txBody>
      </p:sp>
      <p:sp>
        <p:nvSpPr>
          <p:cNvPr id="22" name="cd_150"/>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151"/>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152"/>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contestant</a:t>
            </a:r>
            <a:endParaRPr lang="en-US" sz="1200" dirty="0"/>
          </a:p>
        </p:txBody>
      </p:sp>
      <p:sp>
        <p:nvSpPr>
          <p:cNvPr id="25" name="R3_it153"/>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concorrente</a:t>
            </a:r>
            <a:endParaRPr lang="en-US" sz="1000" dirty="0"/>
          </a:p>
        </p:txBody>
      </p:sp>
      <p:sp>
        <p:nvSpPr>
          <p:cNvPr id="26" name="cd_154"/>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155"/>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156"/>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invest</a:t>
            </a:r>
            <a:endParaRPr lang="en-US" sz="1200" dirty="0"/>
          </a:p>
        </p:txBody>
      </p:sp>
      <p:sp>
        <p:nvSpPr>
          <p:cNvPr id="29" name="R4_it157"/>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investire</a:t>
            </a:r>
            <a:endParaRPr lang="en-US" sz="1000" dirty="0"/>
          </a:p>
        </p:txBody>
      </p:sp>
      <p:sp>
        <p:nvSpPr>
          <p:cNvPr id="30" name="cd_158"/>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159"/>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160"/>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share</a:t>
            </a:r>
            <a:endParaRPr lang="en-US" sz="1200" dirty="0"/>
          </a:p>
        </p:txBody>
      </p:sp>
      <p:sp>
        <p:nvSpPr>
          <p:cNvPr id="33" name="R5_it161"/>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una quota</a:t>
            </a:r>
            <a:endParaRPr lang="en-US" sz="1000" dirty="0"/>
          </a:p>
        </p:txBody>
      </p:sp>
      <p:sp>
        <p:nvSpPr>
          <p:cNvPr id="34" name="cd_162"/>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163"/>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164"/>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profits</a:t>
            </a:r>
            <a:endParaRPr lang="en-US" sz="1200" dirty="0"/>
          </a:p>
        </p:txBody>
      </p:sp>
      <p:sp>
        <p:nvSpPr>
          <p:cNvPr id="37" name="R6_it165"/>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profitti, utili</a:t>
            </a:r>
            <a:endParaRPr lang="en-US" sz="1000" dirty="0"/>
          </a:p>
        </p:txBody>
      </p:sp>
      <p:sp>
        <p:nvSpPr>
          <p:cNvPr id="38" name="cd_166"/>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167"/>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168"/>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success / failure</a:t>
            </a:r>
            <a:endParaRPr lang="en-US" sz="1200" dirty="0"/>
          </a:p>
        </p:txBody>
      </p:sp>
      <p:sp>
        <p:nvSpPr>
          <p:cNvPr id="41" name="R7_it169"/>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successo / fallimento</a:t>
            </a:r>
            <a:endParaRPr lang="en-US" sz="900" dirty="0"/>
          </a:p>
        </p:txBody>
      </p:sp>
      <p:sp>
        <p:nvSpPr>
          <p:cNvPr id="42" name="cd_170"/>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171"/>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172"/>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"I'm out."</a:t>
            </a:r>
            <a:endParaRPr lang="en-US" sz="1200" dirty="0"/>
          </a:p>
        </p:txBody>
      </p:sp>
      <p:sp>
        <p:nvSpPr>
          <p:cNvPr id="45" name="R8_it173"/>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"Io non ci sto." (non investo)</a:t>
            </a:r>
            <a:endParaRPr lang="en-US" sz="800" dirty="0"/>
          </a:p>
        </p:txBody>
      </p:sp>
      <p:sp>
        <p:nvSpPr>
          <p:cNvPr id="46" name="cd_174"/>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175"/>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176"/>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slogan</a:t>
            </a:r>
            <a:endParaRPr lang="en-US" sz="1200" dirty="0"/>
          </a:p>
        </p:txBody>
      </p:sp>
      <p:sp>
        <p:nvSpPr>
          <p:cNvPr id="49" name="R9_it177"/>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slogan pubblicitario</a:t>
            </a:r>
            <a:endParaRPr lang="en-US" sz="1000" dirty="0"/>
          </a:p>
        </p:txBody>
      </p:sp>
      <p:sp>
        <p:nvSpPr>
          <p:cNvPr id="50" name="cd_178"/>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179"/>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180"/>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den</a:t>
            </a:r>
            <a:endParaRPr lang="en-US" sz="1200" dirty="0"/>
          </a:p>
        </p:txBody>
      </p:sp>
      <p:sp>
        <p:nvSpPr>
          <p:cNvPr id="53" name="R10_it181"/>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una tana</a:t>
            </a:r>
            <a:endParaRPr lang="en-US" sz="1000" dirty="0"/>
          </a:p>
        </p:txBody>
      </p:sp>
      <p:sp>
        <p:nvSpPr>
          <p:cNvPr id="54" name="cd_182"/>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183"/>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184"/>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product</a:t>
            </a:r>
            <a:endParaRPr lang="en-US" sz="1200" dirty="0"/>
          </a:p>
        </p:txBody>
      </p:sp>
      <p:sp>
        <p:nvSpPr>
          <p:cNvPr id="57" name="R11_it185"/>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un prodotto</a:t>
            </a:r>
            <a:endParaRPr lang="en-US" sz="1000" dirty="0"/>
          </a:p>
        </p:txBody>
      </p:sp>
      <p:sp>
        <p:nvSpPr>
          <p:cNvPr id="58" name="cd_186"/>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187"/>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188"/>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business</a:t>
            </a:r>
            <a:endParaRPr lang="en-US" sz="1200" dirty="0"/>
          </a:p>
        </p:txBody>
      </p:sp>
      <p:sp>
        <p:nvSpPr>
          <p:cNvPr id="61" name="R12_it189"/>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un'attività, un'azienda</a:t>
            </a:r>
            <a:endParaRPr lang="en-US" sz="900" dirty="0"/>
          </a:p>
        </p:txBody>
      </p:sp>
      <p:sp>
        <p:nvSpPr>
          <p:cNvPr id="62" name="R13_wc190"/>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191"/>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a share = una quota (to share = condividere)  ·  pitch here ≠ campo da calcio  ·  success = successo, BUT succedere = happen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2"/>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93"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4"/>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Salvo's cannolo pitch</a:t>
            </a:r>
            <a:endParaRPr lang="en-US" sz="2500" dirty="0"/>
          </a:p>
        </p:txBody>
      </p:sp>
      <p:pic>
        <p:nvPicPr>
          <p:cNvPr id="6" name="brP_195"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196"/>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19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cmd_19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99"/>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200"/>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201"/>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20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0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Speaking · class story (TPRS)</a:t>
            </a:r>
            <a:endParaRPr lang="en-US" sz="800" dirty="0"/>
          </a:p>
        </p:txBody>
      </p:sp>
      <p:sp>
        <p:nvSpPr>
          <p:cNvPr id="15" name="cd_204"/>
          <p:cNvSpPr/>
          <p:nvPr/>
        </p:nvSpPr>
        <p:spPr>
          <a:xfrm>
            <a:off x="320040" y="1417320"/>
            <a:ext cx="2697480" cy="2852928"/>
          </a:xfrm>
          <a:prstGeom prst="roundRect">
            <a:avLst>
              <a:gd name="adj" fmla="val 4746"/>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20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20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8" name="il_207"/>
          <p:cNvSpPr/>
          <p:nvPr/>
        </p:nvSpPr>
        <p:spPr>
          <a:xfrm>
            <a:off x="886968" y="1892808"/>
            <a:ext cx="2039112" cy="23042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an entrepreneur</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imprenditore</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make a pitch</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presentare un'idea per venderla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a slogan</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slogan pubblicitario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invest (in)</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investire (in)</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a share in the profits</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una quota dei profitti</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"I'm out."</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"Io non ci sto." (non investo)</a:t>
            </a:r>
            <a:endParaRPr lang="en-US" sz="1000" dirty="0"/>
          </a:p>
        </p:txBody>
      </p:sp>
      <p:sp>
        <p:nvSpPr>
          <p:cNvPr id="19" name="R1_sb208"/>
          <p:cNvSpPr/>
          <p:nvPr/>
        </p:nvSpPr>
        <p:spPr>
          <a:xfrm>
            <a:off x="3200400" y="145389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R1_sl209"/>
          <p:cNvSpPr/>
          <p:nvPr/>
        </p:nvSpPr>
        <p:spPr>
          <a:xfrm>
            <a:off x="3584448" y="141732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Salvo decided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to set up</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a business. He's an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entrepreneur</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with a cannolo that lasts a year!</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Is Salvo an entrepreneur or a teacher? · What's his product?</a:t>
            </a:r>
            <a:endParaRPr lang="en-US" sz="950" dirty="0"/>
          </a:p>
        </p:txBody>
      </p:sp>
      <p:sp>
        <p:nvSpPr>
          <p:cNvPr id="21" name="R2_sb210"/>
          <p:cNvSpPr/>
          <p:nvPr/>
        </p:nvSpPr>
        <p:spPr>
          <a:xfrm>
            <a:off x="3200400" y="201777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R2_sl211"/>
          <p:cNvSpPr/>
          <p:nvPr/>
        </p:nvSpPr>
        <p:spPr>
          <a:xfrm>
            <a:off x="3584448" y="198120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He's very nervous about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making</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his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pitch</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on Dragons' Den. He only has a few minutes!</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Is he relaxed or nervous? · What is he nervous about?</a:t>
            </a:r>
            <a:endParaRPr lang="en-US" sz="950" dirty="0"/>
          </a:p>
        </p:txBody>
      </p:sp>
      <p:sp>
        <p:nvSpPr>
          <p:cNvPr id="23" name="R3_sb212"/>
          <p:cNvSpPr/>
          <p:nvPr/>
        </p:nvSpPr>
        <p:spPr>
          <a:xfrm>
            <a:off x="3200400" y="2581656"/>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R3_sl213"/>
          <p:cNvSpPr/>
          <p:nvPr/>
        </p:nvSpPr>
        <p:spPr>
          <a:xfrm>
            <a:off x="3584448" y="2545080"/>
            <a:ext cx="5303520" cy="499872"/>
          </a:xfrm>
          <a:prstGeom prst="roundRect">
            <a:avLst>
              <a:gd name="adj" fmla="val 21951"/>
            </a:avLst>
          </a:prstGeom>
          <a:solidFill>
            <a:srgbClr val="FFFFFF"/>
          </a:solidFill>
          <a:ln w="19050">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His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slogan</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is 'One cannolo, one year, zero problems!' The Dragons don't smile.</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Do the Dragons smile? · What's his slogan? · Is it a good slogan?</a:t>
            </a:r>
            <a:endParaRPr lang="en-US" sz="950" dirty="0"/>
          </a:p>
        </p:txBody>
      </p:sp>
      <p:sp>
        <p:nvSpPr>
          <p:cNvPr id="25" name="R4_sb214"/>
          <p:cNvSpPr/>
          <p:nvPr/>
        </p:nvSpPr>
        <p:spPr>
          <a:xfrm>
            <a:off x="3200400" y="314553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R4_sl215"/>
          <p:cNvSpPr/>
          <p:nvPr/>
        </p:nvSpPr>
        <p:spPr>
          <a:xfrm>
            <a:off x="3584448" y="3108960"/>
            <a:ext cx="5303520" cy="499872"/>
          </a:xfrm>
          <a:prstGeom prst="roundRect">
            <a:avLst>
              <a:gd name="adj" fmla="val 21951"/>
            </a:avLst>
          </a:prstGeom>
          <a:solidFill>
            <a:srgbClr val="FFFFFF"/>
          </a:solidFill>
          <a:ln w="19050">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He asks them to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invest</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 €50,000 for a 10%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share in the profits</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t>
            </a:r>
            <a:endParaRPr lang="en-US" sz="12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 Does he want €50,000 or €5,000? · What share does he offer?</a:t>
            </a:r>
            <a:endParaRPr lang="en-US" sz="1200" dirty="0"/>
          </a:p>
        </p:txBody>
      </p:sp>
      <p:sp>
        <p:nvSpPr>
          <p:cNvPr id="27" name="R5_sb216"/>
          <p:cNvSpPr/>
          <p:nvPr/>
        </p:nvSpPr>
        <p:spPr>
          <a:xfrm>
            <a:off x="3200400" y="370941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R5_sl217"/>
          <p:cNvSpPr/>
          <p:nvPr/>
        </p:nvSpPr>
        <p:spPr>
          <a:xfrm>
            <a:off x="3584448" y="367284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The Dragons taste the cannolo. Horrible! One by one, they all say '</a:t>
            </a:r>
            <a:pPr indent="0" marL="0">
              <a:buNone/>
            </a:pPr>
            <a:r>
              <a:rPr lang="en-US" sz="1000" b="1" dirty="0">
                <a:solidFill>
                  <a:srgbClr val="7B5CD6"/>
                </a:solidFill>
                <a:highlight>
                  <a:srgbClr val="FFF1A8"/>
                </a:highlight>
                <a:latin typeface="Segoe UI Semibold" pitchFamily="34" charset="0"/>
                <a:ea typeface="Segoe UI Semibold" pitchFamily="34" charset="-122"/>
                <a:cs typeface="Segoe UI Semibold" pitchFamily="34" charset="-120"/>
              </a:rPr>
              <a:t>I'm out</a:t>
            </a:r>
            <a:pPr indent="0" marL="0">
              <a:buNone/>
            </a:pPr>
            <a:r>
              <a:rPr lang="en-US" sz="1000" dirty="0">
                <a:solidFill>
                  <a:srgbClr val="1B2559"/>
                </a:solidFill>
                <a:latin typeface="Segoe UI Semibold" pitchFamily="34" charset="0"/>
                <a:ea typeface="Segoe UI Semibold" pitchFamily="34" charset="-122"/>
                <a:cs typeface="Segoe UI Semibold" pitchFamily="34" charset="-120"/>
              </a:rPr>
              <a:t>.'</a:t>
            </a:r>
            <a:endParaRPr lang="en-US" sz="10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Do they like it? · What do they say? · Why? (you decide!)</a:t>
            </a:r>
            <a:endParaRPr lang="en-US" sz="1000" dirty="0"/>
          </a:p>
        </p:txBody>
      </p:sp>
      <p:sp>
        <p:nvSpPr>
          <p:cNvPr id="29" name="R6_sb218"/>
          <p:cNvSpPr/>
          <p:nvPr/>
        </p:nvSpPr>
        <p:spPr>
          <a:xfrm>
            <a:off x="3200400" y="427329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R6_sl219"/>
          <p:cNvSpPr/>
          <p:nvPr/>
        </p:nvSpPr>
        <p:spPr>
          <a:xfrm>
            <a:off x="3584448" y="423672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But Salvo doesn't give up. Today his cannoli are a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success</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 in Bagheria, at least!</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Is it a success or a failure? · And you – would you invest in Salvo?</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21"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222"/>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In the Dragons' Den</a:t>
            </a:r>
            <a:endParaRPr lang="en-US" sz="2500" dirty="0"/>
          </a:p>
        </p:txBody>
      </p:sp>
      <p:pic>
        <p:nvPicPr>
          <p:cNvPr id="6" name="brP_22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22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intro. Guess the 4 numbers!</a:t>
            </a:r>
            <a:endParaRPr lang="en-US" sz="1250" dirty="0"/>
          </a:p>
        </p:txBody>
      </p:sp>
      <p:sp>
        <p:nvSpPr>
          <p:cNvPr id="8" name="insIT_22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l'intro. Indovina i 4 numeri!</a:t>
            </a:r>
            <a:endParaRPr lang="en-US" sz="950" dirty="0"/>
          </a:p>
        </p:txBody>
      </p:sp>
      <p:sp>
        <p:nvSpPr>
          <p:cNvPr id="9" name="cmd_22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27"/>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228"/>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229"/>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23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3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Reading · prediction   ·   📖 SB p.78 · 5a</a:t>
            </a:r>
            <a:endParaRPr lang="en-US" sz="800" dirty="0"/>
          </a:p>
        </p:txBody>
      </p:sp>
      <p:sp>
        <p:nvSpPr>
          <p:cNvPr id="15" name="cd_232"/>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233"/>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In the Dragons' Den</a:t>
            </a:r>
            <a:endParaRPr lang="en-US" sz="2800" dirty="0"/>
          </a:p>
        </p:txBody>
      </p:sp>
      <p:sp>
        <p:nvSpPr>
          <p:cNvPr id="17" name="nx_234"/>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900" dirty="0">
                <a:solidFill>
                  <a:srgbClr val="2EB872"/>
                </a:solidFill>
                <a:latin typeface="Segoe UI Black" pitchFamily="34" charset="0"/>
                <a:ea typeface="Segoe UI Black" pitchFamily="34" charset="-122"/>
                <a:cs typeface="Segoe UI Black" pitchFamily="34" charset="-120"/>
              </a:rPr>
              <a:t>➡ NEXT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text on the next 2 slides has 9 gaps: the 4 numbers from the bank + 5 words from slide 4. Guess first!</a:t>
            </a:r>
            <a:endParaRPr lang="en-US" sz="900" dirty="0"/>
          </a:p>
        </p:txBody>
      </p:sp>
      <p:sp>
        <p:nvSpPr>
          <p:cNvPr id="18" name="sf_235"/>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Dragons' Den is a UK TV series, with similar versions in many different countries. Contestants present their ideas to very rich business people, nicknamed 'the Dragons'.</a:t>
            </a:r>
            <a:endParaRPr lang="en-US" sz="1150" dirty="0"/>
          </a:p>
        </p:txBody>
      </p:sp>
      <p:sp>
        <p:nvSpPr>
          <p:cNvPr id="19" name="nbl_236"/>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20" name="bd_237"/>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3</a:t>
            </a:r>
            <a:endParaRPr lang="en-US" sz="1800" dirty="0"/>
          </a:p>
        </p:txBody>
      </p:sp>
      <p:sp>
        <p:nvSpPr>
          <p:cNvPr id="21" name="bd_238"/>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5</a:t>
            </a:r>
            <a:endParaRPr lang="en-US" sz="1800" dirty="0"/>
          </a:p>
        </p:txBody>
      </p:sp>
      <p:sp>
        <p:nvSpPr>
          <p:cNvPr id="22" name="bd_239"/>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250</a:t>
            </a:r>
            <a:endParaRPr lang="en-US" sz="1000" dirty="0"/>
          </a:p>
        </p:txBody>
      </p:sp>
      <p:sp>
        <p:nvSpPr>
          <p:cNvPr id="23" name="bd_240"/>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2005</a:t>
            </a:r>
            <a:endParaRPr lang="en-US" sz="800" dirty="0"/>
          </a:p>
        </p:txBody>
      </p:sp>
      <p:sp>
        <p:nvSpPr>
          <p:cNvPr id="24" name="pf_241"/>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5" name="phx_242"/>
          <p:cNvSpPr/>
          <p:nvPr/>
        </p:nvSpPr>
        <p:spPr>
          <a:xfrm>
            <a:off x="5623560" y="1280160"/>
            <a:ext cx="3154680" cy="32918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8a2-cover.jpg</a:t>
            </a:r>
            <a:endParaRPr lang="en-US" sz="90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44"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45"/>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 1/2</a:t>
            </a:r>
            <a:endParaRPr lang="en-US" sz="2500" dirty="0"/>
          </a:p>
        </p:txBody>
      </p:sp>
      <p:pic>
        <p:nvPicPr>
          <p:cNvPr id="6" name="brP_246"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247"/>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gaps 1–5. Check in the book p.78.</a:t>
            </a:r>
            <a:endParaRPr lang="en-US" sz="1250" dirty="0"/>
          </a:p>
        </p:txBody>
      </p:sp>
      <p:sp>
        <p:nvSpPr>
          <p:cNvPr id="8" name="insIT_24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1–5. Controlla nel libro p.78.</a:t>
            </a:r>
            <a:endParaRPr lang="en-US" sz="950" dirty="0"/>
          </a:p>
        </p:txBody>
      </p:sp>
      <p:sp>
        <p:nvSpPr>
          <p:cNvPr id="9" name="cmd_24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5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25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25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2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Reading · In the Dragons' Den   ·   📖 SB p.78 · 5a (text slightly shortened)</a:t>
            </a:r>
            <a:endParaRPr lang="en-US" sz="800" dirty="0"/>
          </a:p>
        </p:txBody>
      </p:sp>
      <p:sp>
        <p:nvSpPr>
          <p:cNvPr id="15" name="cd_255"/>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25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show</a:t>
            </a:r>
            <a:endParaRPr lang="en-US" sz="1700" dirty="0"/>
          </a:p>
        </p:txBody>
      </p:sp>
      <p:sp>
        <p:nvSpPr>
          <p:cNvPr id="17" name="ln_257"/>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Dragons' Den is a UK TV series which has been on TV every year since the original show in </a:t>
            </a:r>
            <a:pPr indent="0" marL="0">
              <a:buNone/>
            </a:pPr>
            <a:r>
              <a:rPr lang="en-US" sz="1150" b="1" dirty="0">
                <a:solidFill>
                  <a:srgbClr val="2EB872"/>
                </a:solidFill>
                <a:latin typeface="Georgia" pitchFamily="34" charset="0"/>
                <a:ea typeface="Georgia" pitchFamily="34" charset="-122"/>
                <a:cs typeface="Georgia" pitchFamily="34" charset="-120"/>
              </a:rPr>
              <a:t> (1)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8" name="R1_lnA258"/>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Dragons' Den is a UK TV series which has been on TV every year since the original show in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2005</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9" name="ln_259"/>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Contestants have </a:t>
            </a:r>
            <a:pPr indent="0" marL="0">
              <a:buNone/>
            </a:pPr>
            <a:r>
              <a:rPr lang="en-US" sz="1150" b="1" dirty="0">
                <a:solidFill>
                  <a:srgbClr val="2EB872"/>
                </a:solidFill>
                <a:latin typeface="Georgia" pitchFamily="34" charset="0"/>
                <a:ea typeface="Georgia" pitchFamily="34" charset="-122"/>
                <a:cs typeface="Georgia" pitchFamily="34" charset="-120"/>
              </a:rPr>
              <a:t> (2) ________ </a:t>
            </a:r>
            <a:pPr indent="0" marL="0">
              <a:buNone/>
            </a:pPr>
            <a:r>
              <a:rPr lang="en-US" sz="1150" dirty="0">
                <a:solidFill>
                  <a:srgbClr val="1B2559"/>
                </a:solidFill>
                <a:latin typeface="Georgia" pitchFamily="34" charset="0"/>
                <a:ea typeface="Georgia" pitchFamily="34" charset="-122"/>
                <a:cs typeface="Georgia" pitchFamily="34" charset="-120"/>
              </a:rPr>
              <a:t> minutes to present their ideas for a product or service to </a:t>
            </a:r>
            <a:pPr indent="0" marL="0">
              <a:buNone/>
            </a:pPr>
            <a:r>
              <a:rPr lang="en-US" sz="1150" b="1" dirty="0">
                <a:solidFill>
                  <a:srgbClr val="2EB872"/>
                </a:solidFill>
                <a:latin typeface="Georgia" pitchFamily="34" charset="0"/>
                <a:ea typeface="Georgia" pitchFamily="34" charset="-122"/>
                <a:cs typeface="Georgia" pitchFamily="34" charset="-120"/>
              </a:rPr>
              <a:t> (3) ________ </a:t>
            </a:r>
            <a:pPr indent="0" marL="0">
              <a:buNone/>
            </a:pPr>
            <a:r>
              <a:rPr lang="en-US" sz="1150" dirty="0">
                <a:solidFill>
                  <a:srgbClr val="1B2559"/>
                </a:solidFill>
                <a:latin typeface="Georgia" pitchFamily="34" charset="0"/>
                <a:ea typeface="Georgia" pitchFamily="34" charset="-122"/>
                <a:cs typeface="Georgia" pitchFamily="34" charset="-120"/>
              </a:rPr>
              <a:t> very successful business people.</a:t>
            </a:r>
            <a:endParaRPr lang="en-US" sz="1150" dirty="0"/>
          </a:p>
        </p:txBody>
      </p:sp>
      <p:sp>
        <p:nvSpPr>
          <p:cNvPr id="20" name="R2_lnA260"/>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Contestants have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three</a:t>
            </a:r>
            <a:pPr indent="0" marL="0">
              <a:buNone/>
            </a:pPr>
            <a:r>
              <a:rPr lang="en-US" sz="1150" dirty="0">
                <a:solidFill>
                  <a:srgbClr val="1B2559"/>
                </a:solidFill>
                <a:latin typeface="Georgia" pitchFamily="34" charset="0"/>
                <a:ea typeface="Georgia" pitchFamily="34" charset="-122"/>
                <a:cs typeface="Georgia" pitchFamily="34" charset="-120"/>
              </a:rPr>
              <a:t> minutes to present their ideas for a product or service to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five</a:t>
            </a:r>
            <a:pPr indent="0" marL="0">
              <a:buNone/>
            </a:pPr>
            <a:r>
              <a:rPr lang="en-US" sz="1150" dirty="0">
                <a:solidFill>
                  <a:srgbClr val="1B2559"/>
                </a:solidFill>
                <a:latin typeface="Georgia" pitchFamily="34" charset="0"/>
                <a:ea typeface="Georgia" pitchFamily="34" charset="-122"/>
                <a:cs typeface="Georgia" pitchFamily="34" charset="-120"/>
              </a:rPr>
              <a:t> very successful business people.</a:t>
            </a:r>
            <a:endParaRPr lang="en-US" sz="1150" dirty="0"/>
          </a:p>
        </p:txBody>
      </p:sp>
      <p:sp>
        <p:nvSpPr>
          <p:cNvPr id="21" name="ln_261"/>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These people are nicknamed 'the Dragons', and the intimidating room where they meet the contestants is 'the Den'.</a:t>
            </a:r>
            <a:endParaRPr lang="en-US" sz="1150" dirty="0"/>
          </a:p>
        </p:txBody>
      </p:sp>
      <p:sp>
        <p:nvSpPr>
          <p:cNvPr id="22" name="ln_262"/>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 Dragons, who are multi-millionaires, are prepared to </a:t>
            </a:r>
            <a:pPr indent="0" marL="0">
              <a:buNone/>
            </a:pPr>
            <a:r>
              <a:rPr lang="en-US" sz="1150" b="1" dirty="0">
                <a:solidFill>
                  <a:srgbClr val="2EB872"/>
                </a:solidFill>
                <a:latin typeface="Georgia" pitchFamily="34" charset="0"/>
                <a:ea typeface="Georgia" pitchFamily="34" charset="-122"/>
                <a:cs typeface="Georgia" pitchFamily="34" charset="-120"/>
              </a:rPr>
              <a:t> (4) ________ </a:t>
            </a:r>
            <a:pPr indent="0" marL="0">
              <a:buNone/>
            </a:pPr>
            <a:r>
              <a:rPr lang="en-US" sz="1150" dirty="0">
                <a:solidFill>
                  <a:srgbClr val="1B2559"/>
                </a:solidFill>
                <a:latin typeface="Georgia" pitchFamily="34" charset="0"/>
                <a:ea typeface="Georgia" pitchFamily="34" charset="-122"/>
                <a:cs typeface="Georgia" pitchFamily="34" charset="-120"/>
              </a:rPr>
              <a:t> money in any business that they believe might be a success.</a:t>
            </a:r>
            <a:endParaRPr lang="en-US" sz="1150" dirty="0"/>
          </a:p>
        </p:txBody>
      </p:sp>
      <p:sp>
        <p:nvSpPr>
          <p:cNvPr id="23" name="R3_lnA263"/>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 Dragons, who are multi-millionaires, are prepared to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invest</a:t>
            </a:r>
            <a:pPr indent="0" marL="0">
              <a:buNone/>
            </a:pPr>
            <a:r>
              <a:rPr lang="en-US" sz="1150" dirty="0">
                <a:solidFill>
                  <a:srgbClr val="1B2559"/>
                </a:solidFill>
                <a:latin typeface="Georgia" pitchFamily="34" charset="0"/>
                <a:ea typeface="Georgia" pitchFamily="34" charset="-122"/>
                <a:cs typeface="Georgia" pitchFamily="34" charset="-120"/>
              </a:rPr>
              <a:t> money in any business that they believe might be a success.</a:t>
            </a:r>
            <a:endParaRPr lang="en-US" sz="1150" dirty="0"/>
          </a:p>
        </p:txBody>
      </p:sp>
      <p:sp>
        <p:nvSpPr>
          <p:cNvPr id="24" name="ln_264"/>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In return, they take a share in the </a:t>
            </a:r>
            <a:pPr indent="0" marL="0">
              <a:buNone/>
            </a:pPr>
            <a:r>
              <a:rPr lang="en-US" sz="1150" b="1" dirty="0">
                <a:solidFill>
                  <a:srgbClr val="2EB872"/>
                </a:solidFill>
                <a:latin typeface="Georgia" pitchFamily="34" charset="0"/>
                <a:ea typeface="Georgia" pitchFamily="34" charset="-122"/>
                <a:cs typeface="Georgia" pitchFamily="34" charset="-120"/>
              </a:rPr>
              <a:t> (5)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5" name="R4_lnA265"/>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In return, they take a share in the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profits</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6" name="pf_266"/>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7" name="phx_267"/>
          <p:cNvSpPr/>
          <p:nvPr/>
        </p:nvSpPr>
        <p:spPr>
          <a:xfrm>
            <a:off x="6355080" y="1463040"/>
            <a:ext cx="2468880" cy="14173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8a2-investors.jpg</a:t>
            </a:r>
            <a:endParaRPr lang="en-US" sz="900" dirty="0"/>
          </a:p>
        </p:txBody>
      </p:sp>
      <p:sp>
        <p:nvSpPr>
          <p:cNvPr id="28" name="cd_268"/>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9" name="ii_26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7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271"/>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den = tana</a:t>
            </a:r>
            <a:endParaRPr lang="en-US" sz="750" dirty="0"/>
          </a:p>
          <a:p>
            <a:pPr marL="152400" indent="-152400">
              <a:spcBef>
                <a:spcPts val="5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intimidating = che mette in soggezione</a:t>
            </a:r>
            <a:endParaRPr lang="en-US" sz="7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7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7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 2/2</a:t>
            </a:r>
            <a:endParaRPr lang="en-US" sz="2500" dirty="0"/>
          </a:p>
        </p:txBody>
      </p:sp>
      <p:pic>
        <p:nvPicPr>
          <p:cNvPr id="6" name="brP_275"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276"/>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gaps 6–9. Check in the book.</a:t>
            </a:r>
            <a:endParaRPr lang="en-US" sz="1250" dirty="0"/>
          </a:p>
        </p:txBody>
      </p:sp>
      <p:sp>
        <p:nvSpPr>
          <p:cNvPr id="8" name="insIT_27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6–9. Controlla nel libro.</a:t>
            </a:r>
            <a:endParaRPr lang="en-US" sz="950" dirty="0"/>
          </a:p>
        </p:txBody>
      </p:sp>
      <p:sp>
        <p:nvSpPr>
          <p:cNvPr id="9" name="cmd_278"/>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7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280"/>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281"/>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2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Reading · In the Dragons' Den   ·   📖 SB p.78 · 5a (text slightly shortened)</a:t>
            </a:r>
            <a:endParaRPr lang="en-US" sz="800" dirty="0"/>
          </a:p>
        </p:txBody>
      </p:sp>
      <p:sp>
        <p:nvSpPr>
          <p:cNvPr id="15" name="cd_28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28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pitch</a:t>
            </a:r>
            <a:endParaRPr lang="en-US" sz="1700" dirty="0"/>
          </a:p>
        </p:txBody>
      </p:sp>
      <p:sp>
        <p:nvSpPr>
          <p:cNvPr id="17" name="ln_28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 contestants are usually young </a:t>
            </a:r>
            <a:pPr indent="0" marL="0">
              <a:buNone/>
            </a:pPr>
            <a:r>
              <a:rPr lang="en-US" sz="1150" b="1" dirty="0">
                <a:solidFill>
                  <a:srgbClr val="2EB872"/>
                </a:solidFill>
                <a:latin typeface="Georgia" pitchFamily="34" charset="0"/>
                <a:ea typeface="Georgia" pitchFamily="34" charset="-122"/>
                <a:cs typeface="Georgia" pitchFamily="34" charset="-120"/>
              </a:rPr>
              <a:t> (6) ________ </a:t>
            </a:r>
            <a:pPr indent="0" marL="0">
              <a:buNone/>
            </a:pPr>
            <a:r>
              <a:rPr lang="en-US" sz="1150" dirty="0">
                <a:solidFill>
                  <a:srgbClr val="1B2559"/>
                </a:solidFill>
                <a:latin typeface="Georgia" pitchFamily="34" charset="0"/>
                <a:ea typeface="Georgia" pitchFamily="34" charset="-122"/>
                <a:cs typeface="Georgia" pitchFamily="34" charset="-120"/>
              </a:rPr>
              <a:t>, product designers, or people with a new idea for a product or service.</a:t>
            </a:r>
            <a:endParaRPr lang="en-US" sz="1150" dirty="0"/>
          </a:p>
        </p:txBody>
      </p:sp>
      <p:sp>
        <p:nvSpPr>
          <p:cNvPr id="18" name="R1_lnA28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 contestants are usually young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entrepreneurs</a:t>
            </a:r>
            <a:pPr indent="0" marL="0">
              <a:buNone/>
            </a:pPr>
            <a:r>
              <a:rPr lang="en-US" sz="1150" dirty="0">
                <a:solidFill>
                  <a:srgbClr val="1B2559"/>
                </a:solidFill>
                <a:latin typeface="Georgia" pitchFamily="34" charset="0"/>
                <a:ea typeface="Georgia" pitchFamily="34" charset="-122"/>
                <a:cs typeface="Georgia" pitchFamily="34" charset="-120"/>
              </a:rPr>
              <a:t>, product designers, or people with a new idea for a product or service.</a:t>
            </a:r>
            <a:endParaRPr lang="en-US" sz="1150" dirty="0"/>
          </a:p>
        </p:txBody>
      </p:sp>
      <p:sp>
        <p:nvSpPr>
          <p:cNvPr id="19" name="ln_28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have three minutes to make their </a:t>
            </a:r>
            <a:pPr indent="0" marL="0">
              <a:buNone/>
            </a:pPr>
            <a:r>
              <a:rPr lang="en-US" sz="1150" b="1" dirty="0">
                <a:solidFill>
                  <a:srgbClr val="2EB872"/>
                </a:solidFill>
                <a:latin typeface="Georgia" pitchFamily="34" charset="0"/>
                <a:ea typeface="Georgia" pitchFamily="34" charset="-122"/>
                <a:cs typeface="Georgia" pitchFamily="34" charset="-120"/>
              </a:rPr>
              <a:t> (7) ________ </a:t>
            </a:r>
            <a:pPr indent="0" marL="0">
              <a:buNone/>
            </a:pPr>
            <a:r>
              <a:rPr lang="en-US" sz="1150" dirty="0">
                <a:solidFill>
                  <a:srgbClr val="1B2559"/>
                </a:solidFill>
                <a:latin typeface="Georgia" pitchFamily="34" charset="0"/>
                <a:ea typeface="Georgia" pitchFamily="34" charset="-122"/>
                <a:cs typeface="Georgia" pitchFamily="34" charset="-120"/>
              </a:rPr>
              <a:t>, then the Dragons ask them questions about it and its possible market.</a:t>
            </a:r>
            <a:endParaRPr lang="en-US" sz="1150" dirty="0"/>
          </a:p>
        </p:txBody>
      </p:sp>
      <p:sp>
        <p:nvSpPr>
          <p:cNvPr id="20" name="R2_lnA289"/>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have three minutes to make their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pitch</a:t>
            </a:r>
            <a:pPr indent="0" marL="0">
              <a:buNone/>
            </a:pPr>
            <a:r>
              <a:rPr lang="en-US" sz="1150" dirty="0">
                <a:solidFill>
                  <a:srgbClr val="1B2559"/>
                </a:solidFill>
                <a:latin typeface="Georgia" pitchFamily="34" charset="0"/>
                <a:ea typeface="Georgia" pitchFamily="34" charset="-122"/>
                <a:cs typeface="Georgia" pitchFamily="34" charset="-120"/>
              </a:rPr>
              <a:t>, then the Dragons ask them questions about it and its possible market.</a:t>
            </a:r>
            <a:endParaRPr lang="en-US" sz="1150" dirty="0"/>
          </a:p>
        </p:txBody>
      </p:sp>
      <p:sp>
        <p:nvSpPr>
          <p:cNvPr id="21" name="ln_290"/>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Finally, the Dragons say if they are prepared to invest or not.</a:t>
            </a:r>
            <a:endParaRPr lang="en-US" sz="1150" dirty="0"/>
          </a:p>
        </p:txBody>
      </p:sp>
      <p:sp>
        <p:nvSpPr>
          <p:cNvPr id="22" name="ln_291"/>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If they are not convinced by the presentation, they say the dreaded words, '</a:t>
            </a:r>
            <a:pPr indent="0" marL="0">
              <a:buNone/>
            </a:pPr>
            <a:r>
              <a:rPr lang="en-US" sz="1150" b="1" dirty="0">
                <a:solidFill>
                  <a:srgbClr val="2EB872"/>
                </a:solidFill>
                <a:latin typeface="Georgia" pitchFamily="34" charset="0"/>
                <a:ea typeface="Georgia" pitchFamily="34" charset="-122"/>
                <a:cs typeface="Georgia" pitchFamily="34" charset="-120"/>
              </a:rPr>
              <a:t> (8)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3" name="R3_lnA292"/>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If they are not convinced by the presentation, they say the dreaded words,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I'm out</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4" name="ln_293"/>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So far, the Dragons have agreed to invest in more than </a:t>
            </a:r>
            <a:pPr indent="0" marL="0">
              <a:buNone/>
            </a:pPr>
            <a:r>
              <a:rPr lang="en-US" sz="1150" b="1" dirty="0">
                <a:solidFill>
                  <a:srgbClr val="2EB872"/>
                </a:solidFill>
                <a:latin typeface="Georgia" pitchFamily="34" charset="0"/>
                <a:ea typeface="Georgia" pitchFamily="34" charset="-122"/>
                <a:cs typeface="Georgia" pitchFamily="34" charset="-120"/>
              </a:rPr>
              <a:t> (9) ________ </a:t>
            </a:r>
            <a:pPr indent="0" marL="0">
              <a:buNone/>
            </a:pPr>
            <a:r>
              <a:rPr lang="en-US" sz="1150" dirty="0">
                <a:solidFill>
                  <a:srgbClr val="1B2559"/>
                </a:solidFill>
                <a:latin typeface="Georgia" pitchFamily="34" charset="0"/>
                <a:ea typeface="Georgia" pitchFamily="34" charset="-122"/>
                <a:cs typeface="Georgia" pitchFamily="34" charset="-120"/>
              </a:rPr>
              <a:t> businesses.</a:t>
            </a:r>
            <a:endParaRPr lang="en-US" sz="1150" dirty="0"/>
          </a:p>
        </p:txBody>
      </p:sp>
      <p:sp>
        <p:nvSpPr>
          <p:cNvPr id="25" name="R4_lnA294"/>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So far, the Dragons have agreed to invest in more than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250</a:t>
            </a:r>
            <a:pPr indent="0" marL="0">
              <a:buNone/>
            </a:pPr>
            <a:r>
              <a:rPr lang="en-US" sz="1150" dirty="0">
                <a:solidFill>
                  <a:srgbClr val="1B2559"/>
                </a:solidFill>
                <a:latin typeface="Georgia" pitchFamily="34" charset="0"/>
                <a:ea typeface="Georgia" pitchFamily="34" charset="-122"/>
                <a:cs typeface="Georgia" pitchFamily="34" charset="-120"/>
              </a:rPr>
              <a:t> businesses.</a:t>
            </a:r>
            <a:endParaRPr lang="en-US" sz="1150" dirty="0"/>
          </a:p>
        </p:txBody>
      </p:sp>
      <p:sp>
        <p:nvSpPr>
          <p:cNvPr id="26" name="pf_295"/>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7" name="phx_296"/>
          <p:cNvSpPr/>
          <p:nvPr/>
        </p:nvSpPr>
        <p:spPr>
          <a:xfrm>
            <a:off x="6355080" y="1463040"/>
            <a:ext cx="2468880" cy="14173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8a2-cover.jpg</a:t>
            </a:r>
            <a:endParaRPr lang="en-US" sz="900" dirty="0"/>
          </a:p>
        </p:txBody>
      </p:sp>
      <p:sp>
        <p:nvSpPr>
          <p:cNvPr id="28" name="cd_297"/>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9" name="ii_298"/>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99"/>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300"/>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dreaded = temuto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so far = finora</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02"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303"/>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Three products</a:t>
            </a:r>
            <a:endParaRPr lang="en-US" sz="2500" dirty="0"/>
          </a:p>
        </p:txBody>
      </p:sp>
      <p:pic>
        <p:nvPicPr>
          <p:cNvPr id="6" name="brP_304"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305"/>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Would you invest? Decide!</a:t>
            </a:r>
            <a:endParaRPr lang="en-US" sz="1250" dirty="0"/>
          </a:p>
        </p:txBody>
      </p:sp>
      <p:sp>
        <p:nvSpPr>
          <p:cNvPr id="8" name="insIT_30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Investiresti? Decidi!</a:t>
            </a:r>
            <a:endParaRPr lang="en-US" sz="950" dirty="0"/>
          </a:p>
        </p:txBody>
      </p:sp>
      <p:sp>
        <p:nvSpPr>
          <p:cNvPr id="9" name="cmd_30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30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30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31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1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Reading · three products   ·   📖 SB p.78 · 5b (texts slightly shortened)</a:t>
            </a:r>
            <a:endParaRPr lang="en-US" sz="800" dirty="0"/>
          </a:p>
        </p:txBody>
      </p:sp>
      <p:sp>
        <p:nvSpPr>
          <p:cNvPr id="14" name="cd_312"/>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313"/>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Three products on the show</a:t>
            </a:r>
            <a:endParaRPr lang="en-US" sz="1700" dirty="0"/>
          </a:p>
        </p:txBody>
      </p:sp>
      <p:sp>
        <p:nvSpPr>
          <p:cNvPr id="16" name="ln_314"/>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TINGATANG · Gill and Clare, from Leeds, designed Tingatang, silver jewellery to show that you're single – like a wedding ring shows that you're married.</a:t>
            </a:r>
            <a:endParaRPr lang="en-US" sz="1100" dirty="0"/>
          </a:p>
        </p:txBody>
      </p:sp>
      <p:sp>
        <p:nvSpPr>
          <p:cNvPr id="17" name="ln_315"/>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They asked the Dragons to invest £500,000 in their business.</a:t>
            </a:r>
            <a:endParaRPr lang="en-US" sz="1100" dirty="0"/>
          </a:p>
        </p:txBody>
      </p:sp>
      <p:sp>
        <p:nvSpPr>
          <p:cNvPr id="18" name="ln_316"/>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Georgia" pitchFamily="34" charset="0"/>
                <a:ea typeface="Georgia" pitchFamily="34" charset="-122"/>
                <a:cs typeface="Georgia" pitchFamily="34" charset="-120"/>
              </a:rPr>
              <a:t>SLAPPIE WATCHES · David, from Birmingham, asked for £50,000 for 25% of his company. The watches cost under £20 and have straps of many different colours.</a:t>
            </a:r>
            <a:endParaRPr lang="en-US" sz="1050" dirty="0"/>
          </a:p>
        </p:txBody>
      </p:sp>
      <p:sp>
        <p:nvSpPr>
          <p:cNvPr id="19" name="ln_317"/>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The straps and watch faces are interchangeable, so you can create your own watch.</a:t>
            </a:r>
            <a:endParaRPr lang="en-US" sz="1100" dirty="0"/>
          </a:p>
        </p:txBody>
      </p:sp>
      <p:sp>
        <p:nvSpPr>
          <p:cNvPr id="20" name="ln_318"/>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TANGLE TEEZER · Shaun, a hairdresser from London, set up a company to make brightly coloured plastic hairbrushes – especially good at untangling hair.</a:t>
            </a:r>
            <a:endParaRPr lang="en-US" sz="1100" dirty="0"/>
          </a:p>
        </p:txBody>
      </p:sp>
      <p:sp>
        <p:nvSpPr>
          <p:cNvPr id="21" name="ln_319"/>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He asked for an £80,000 investment for 15% of his company.</a:t>
            </a:r>
            <a:endParaRPr lang="en-US" sz="1100" dirty="0"/>
          </a:p>
        </p:txBody>
      </p:sp>
      <p:sp>
        <p:nvSpPr>
          <p:cNvPr id="22" name="pf_320"/>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321"/>
          <p:cNvSpPr/>
          <p:nvPr/>
        </p:nvSpPr>
        <p:spPr>
          <a:xfrm>
            <a:off x="6355080" y="1463040"/>
            <a:ext cx="2468880" cy="14173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8a2-jewellery.jpg</a:t>
            </a:r>
            <a:endParaRPr lang="en-US" sz="900" dirty="0"/>
          </a:p>
        </p:txBody>
      </p:sp>
      <p:sp>
        <p:nvSpPr>
          <p:cNvPr id="24" name="cd_322"/>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5" name="ii_323"/>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324"/>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325"/>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strap = cinturino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untangle = sciogliere i nodi</a:t>
            </a:r>
            <a:endParaRPr lang="en-US" sz="10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27"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28"/>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Invest or I'm out?</a:t>
            </a:r>
            <a:endParaRPr lang="en-US" sz="2500" dirty="0"/>
          </a:p>
        </p:txBody>
      </p:sp>
      <p:pic>
        <p:nvPicPr>
          <p:cNvPr id="6" name="brP_329"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330"/>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Invest or I'm out? Bet, then find out!</a:t>
            </a:r>
            <a:endParaRPr lang="en-US" sz="1250" dirty="0"/>
          </a:p>
        </p:txBody>
      </p:sp>
      <p:sp>
        <p:nvSpPr>
          <p:cNvPr id="8" name="insIT_33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Investire o no? Scommetti, poi scoprilo!</a:t>
            </a:r>
            <a:endParaRPr lang="en-US" sz="950" dirty="0"/>
          </a:p>
        </p:txBody>
      </p:sp>
      <p:sp>
        <p:nvSpPr>
          <p:cNvPr id="9" name="cmd_33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333"/>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teams</a:t>
            </a:r>
            <a:endParaRPr lang="en-US" sz="950" dirty="0"/>
          </a:p>
        </p:txBody>
      </p:sp>
      <p:sp>
        <p:nvSpPr>
          <p:cNvPr id="11" name="tag_334"/>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3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Reading game · jigsaw   ·   📖 SB p.78 · 5b, 5c, 5d · Communication Dragons' Den A p.109, B p.113, C p.114</a:t>
            </a:r>
            <a:endParaRPr lang="en-US" sz="800" dirty="0"/>
          </a:p>
        </p:txBody>
      </p:sp>
      <p:sp>
        <p:nvSpPr>
          <p:cNvPr id="14" name="cd_337"/>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3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39"/>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340"/>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Semibold" pitchFamily="34" charset="0"/>
                <a:ea typeface="Segoe UI Semibold" pitchFamily="34" charset="-122"/>
                <a:cs typeface="Segoe UI Semibold" pitchFamily="34" charset="-120"/>
              </a:rPr>
              <a:t>Teams: bet INVEST or I'M OUT for each product.</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Squadre: scommettete INVESTE o FUORI.</a:t>
            </a:r>
            <a:endParaRPr lang="en-US" sz="900" dirty="0"/>
          </a:p>
          <a:p>
            <a:pPr marL="190500" indent="-190500">
              <a:spcBef>
                <a:spcPts val="500"/>
              </a:spcBef>
              <a:spcAft>
                <a:spcPts val="200"/>
              </a:spcAft>
              <a:buSzPct val="100000"/>
              <a:buChar char="2"/>
            </a:pPr>
            <a:r>
              <a:rPr lang="en-US" sz="900" dirty="0">
                <a:solidFill>
                  <a:srgbClr val="1B2559"/>
                </a:solidFill>
                <a:latin typeface="Segoe UI Semibold" pitchFamily="34" charset="0"/>
                <a:ea typeface="Segoe UI Semibold" pitchFamily="34" charset="-122"/>
                <a:cs typeface="Segoe UI Semibold" pitchFamily="34" charset="-120"/>
              </a:rPr>
              <a:t>Groups of 3: read A p.109, B p.113, C p.114. Tell the others.</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Gruppi da 3: leggete A, B, C e raccontate.</a:t>
            </a:r>
            <a:endParaRPr lang="en-US" sz="900" dirty="0"/>
          </a:p>
          <a:p>
            <a:pPr marL="190500" indent="-190500">
              <a:spcBef>
                <a:spcPts val="500"/>
              </a:spcBef>
              <a:spcAft>
                <a:spcPts val="200"/>
              </a:spcAft>
              <a:buSzPct val="100000"/>
              <a:buChar char="3"/>
            </a:pPr>
            <a:r>
              <a:rPr lang="en-US" sz="900" dirty="0">
                <a:solidFill>
                  <a:srgbClr val="1B2559"/>
                </a:solidFill>
                <a:latin typeface="Segoe UI Semibold" pitchFamily="34" charset="0"/>
                <a:ea typeface="Segoe UI Semibold" pitchFamily="34" charset="-122"/>
                <a:cs typeface="Segoe UI Semibold" pitchFamily="34" charset="-120"/>
              </a:rPr>
              <a:t>Right bet = 1 point.</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Scommessa giusta = 1 punto.</a:t>
            </a:r>
            <a:endParaRPr lang="en-US" sz="900" dirty="0"/>
          </a:p>
        </p:txBody>
      </p:sp>
      <p:sp>
        <p:nvSpPr>
          <p:cNvPr id="18" name="pf_341"/>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342"/>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8a2-slap-watch.jpg</a:t>
            </a:r>
            <a:endParaRPr lang="en-US" sz="900" dirty="0"/>
          </a:p>
        </p:txBody>
      </p:sp>
      <p:sp>
        <p:nvSpPr>
          <p:cNvPr id="20" name="bd_343"/>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344"/>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Tingatang · silver jewellery for single people · £500,000</a:t>
            </a:r>
            <a:endParaRPr lang="en-US" sz="1100" dirty="0"/>
          </a:p>
        </p:txBody>
      </p:sp>
      <p:sp>
        <p:nvSpPr>
          <p:cNvPr id="22" name="R1_chip345"/>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out → a failure</a:t>
            </a:r>
            <a:endParaRPr lang="en-US" sz="1100" dirty="0"/>
          </a:p>
        </p:txBody>
      </p:sp>
      <p:sp>
        <p:nvSpPr>
          <p:cNvPr id="23" name="bd_346"/>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347"/>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Slappie watches · under £20 · £50,000 for 25%</a:t>
            </a:r>
            <a:endParaRPr lang="en-US" sz="1100" dirty="0"/>
          </a:p>
        </p:txBody>
      </p:sp>
      <p:sp>
        <p:nvSpPr>
          <p:cNvPr id="25" name="R2_chip348"/>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INVEST → a success</a:t>
            </a:r>
            <a:endParaRPr lang="en-US" sz="1100" dirty="0"/>
          </a:p>
        </p:txBody>
      </p:sp>
      <p:sp>
        <p:nvSpPr>
          <p:cNvPr id="26" name="bd_349"/>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350"/>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Tangle Teezer · hairbrushes · £80,000 for 15%</a:t>
            </a:r>
            <a:endParaRPr lang="en-US" sz="1100" dirty="0"/>
          </a:p>
        </p:txBody>
      </p:sp>
      <p:sp>
        <p:nvSpPr>
          <p:cNvPr id="28" name="R3_chip351"/>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out → but a BIG success!</a:t>
            </a:r>
            <a:endParaRPr lang="en-US" sz="1100" dirty="0"/>
          </a:p>
        </p:txBody>
      </p:sp>
      <p:sp>
        <p:nvSpPr>
          <p:cNvPr id="29" name="bd_352"/>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353"/>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Which product would YOU buy? Why?</a:t>
            </a:r>
            <a:endParaRPr lang="en-US" sz="1100" dirty="0"/>
          </a:p>
        </p:txBody>
      </p:sp>
      <p:sp>
        <p:nvSpPr>
          <p:cNvPr id="31" name="R4_chip354"/>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Slappie – it's cheap and fun to create your own.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56"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357"/>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Joe's day in the Den</a:t>
            </a:r>
            <a:endParaRPr lang="en-US" sz="2500" dirty="0"/>
          </a:p>
        </p:txBody>
      </p:sp>
      <p:pic>
        <p:nvPicPr>
          <p:cNvPr id="6" name="brP_358"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359"/>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True or false? Correct the F.</a:t>
            </a:r>
            <a:endParaRPr lang="en-US" sz="1250" dirty="0"/>
          </a:p>
        </p:txBody>
      </p:sp>
      <p:sp>
        <p:nvSpPr>
          <p:cNvPr id="8" name="insIT_36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Vero o falso? Correggi i falsi.</a:t>
            </a:r>
            <a:endParaRPr lang="en-US" sz="950" dirty="0"/>
          </a:p>
        </p:txBody>
      </p:sp>
      <p:sp>
        <p:nvSpPr>
          <p:cNvPr id="9" name="cmd_36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62"/>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363"/>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364"/>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detail</a:t>
            </a:r>
            <a:endParaRPr lang="en-US" sz="850" dirty="0"/>
          </a:p>
        </p:txBody>
      </p:sp>
      <p:pic>
        <p:nvPicPr>
          <p:cNvPr id="13" name="logo_3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Listening · Part 1   ·   📖 SB p.79 · 6a, 6b, 6c · audio 8.9 (script p.129)</a:t>
            </a:r>
            <a:endParaRPr lang="en-US" sz="800" dirty="0"/>
          </a:p>
        </p:txBody>
      </p:sp>
      <p:sp>
        <p:nvSpPr>
          <p:cNvPr id="15" name="ap_367"/>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8.9  ·  play twice</a:t>
            </a:r>
            <a:endParaRPr lang="en-US" sz="1100" dirty="0"/>
          </a:p>
        </p:txBody>
      </p:sp>
      <p:sp>
        <p:nvSpPr>
          <p:cNvPr id="16" name="aw_368"/>
          <p:cNvSpPr/>
          <p:nvPr/>
        </p:nvSpPr>
        <p:spPr>
          <a:xfrm>
            <a:off x="36576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7" name="pf_36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8" name="phx_370"/>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8a2-frames.jpg</a:t>
            </a:r>
            <a:endParaRPr lang="en-US" sz="900" dirty="0"/>
          </a:p>
        </p:txBody>
      </p:sp>
      <p:sp>
        <p:nvSpPr>
          <p:cNvPr id="19" name="cd_37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37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7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il_37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3" name="gq_375"/>
          <p:cNvSpPr/>
          <p:nvPr/>
        </p:nvSpPr>
        <p:spPr>
          <a:xfrm>
            <a:off x="3383280" y="141732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Joe and Jake applied together.</a:t>
            </a:r>
            <a:endParaRPr lang="en-US" sz="1200" dirty="0"/>
          </a:p>
        </p:txBody>
      </p:sp>
      <p:sp>
        <p:nvSpPr>
          <p:cNvPr id="24" name="R1_chip376"/>
          <p:cNvSpPr/>
          <p:nvPr/>
        </p:nvSpPr>
        <p:spPr>
          <a:xfrm>
            <a:off x="6812280" y="14173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Joe applied alone</a:t>
            </a:r>
            <a:endParaRPr lang="en-US" sz="1200" dirty="0"/>
          </a:p>
        </p:txBody>
      </p:sp>
      <p:sp>
        <p:nvSpPr>
          <p:cNvPr id="25" name="gq_377"/>
          <p:cNvSpPr/>
          <p:nvPr/>
        </p:nvSpPr>
        <p:spPr>
          <a:xfrm>
            <a:off x="3383280" y="182880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They prepared their pitch quickly.</a:t>
            </a:r>
            <a:endParaRPr lang="en-US" sz="1200" dirty="0"/>
          </a:p>
        </p:txBody>
      </p:sp>
      <p:sp>
        <p:nvSpPr>
          <p:cNvPr id="26" name="R2_chip378"/>
          <p:cNvSpPr/>
          <p:nvPr/>
        </p:nvSpPr>
        <p:spPr>
          <a:xfrm>
            <a:off x="6812280" y="18288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they practised a lot</a:t>
            </a:r>
            <a:endParaRPr lang="en-US" sz="1200" dirty="0"/>
          </a:p>
        </p:txBody>
      </p:sp>
      <p:sp>
        <p:nvSpPr>
          <p:cNvPr id="27" name="gq_379"/>
          <p:cNvSpPr/>
          <p:nvPr/>
        </p:nvSpPr>
        <p:spPr>
          <a:xfrm>
            <a:off x="3383280" y="224028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The show is filmed in Manchester.</a:t>
            </a:r>
            <a:endParaRPr lang="en-US" sz="1200" dirty="0"/>
          </a:p>
        </p:txBody>
      </p:sp>
      <p:sp>
        <p:nvSpPr>
          <p:cNvPr id="28" name="R3_chip380"/>
          <p:cNvSpPr/>
          <p:nvPr/>
        </p:nvSpPr>
        <p:spPr>
          <a:xfrm>
            <a:off x="6812280" y="22402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29" name="gq_381"/>
          <p:cNvSpPr/>
          <p:nvPr/>
        </p:nvSpPr>
        <p:spPr>
          <a:xfrm>
            <a:off x="3383280" y="265176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No preparation the night before.</a:t>
            </a:r>
            <a:endParaRPr lang="en-US" sz="1200" dirty="0"/>
          </a:p>
        </p:txBody>
      </p:sp>
      <p:sp>
        <p:nvSpPr>
          <p:cNvPr id="30" name="R4_chip382"/>
          <p:cNvSpPr/>
          <p:nvPr/>
        </p:nvSpPr>
        <p:spPr>
          <a:xfrm>
            <a:off x="6812280" y="265176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they practised</a:t>
            </a:r>
            <a:endParaRPr lang="en-US" sz="1200" dirty="0"/>
          </a:p>
        </p:txBody>
      </p:sp>
      <p:sp>
        <p:nvSpPr>
          <p:cNvPr id="31" name="gq_383"/>
          <p:cNvSpPr/>
          <p:nvPr/>
        </p:nvSpPr>
        <p:spPr>
          <a:xfrm>
            <a:off x="3383280" y="306324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They only slept a few hours.</a:t>
            </a:r>
            <a:endParaRPr lang="en-US" sz="1200" dirty="0"/>
          </a:p>
        </p:txBody>
      </p:sp>
      <p:sp>
        <p:nvSpPr>
          <p:cNvPr id="32" name="R5_chip384"/>
          <p:cNvSpPr/>
          <p:nvPr/>
        </p:nvSpPr>
        <p:spPr>
          <a:xfrm>
            <a:off x="6812280" y="306324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33" name="gq_385"/>
          <p:cNvSpPr/>
          <p:nvPr/>
        </p:nvSpPr>
        <p:spPr>
          <a:xfrm>
            <a:off x="3383280" y="347472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They were the third contestants.</a:t>
            </a:r>
            <a:endParaRPr lang="en-US" sz="1200" dirty="0"/>
          </a:p>
        </p:txBody>
      </p:sp>
      <p:sp>
        <p:nvSpPr>
          <p:cNvPr id="34" name="R6_chip386"/>
          <p:cNvSpPr/>
          <p:nvPr/>
        </p:nvSpPr>
        <p:spPr>
          <a:xfrm>
            <a:off x="6812280" y="34747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the first</a:t>
            </a:r>
            <a:endParaRPr lang="en-US" sz="1200" dirty="0"/>
          </a:p>
        </p:txBody>
      </p:sp>
      <p:sp>
        <p:nvSpPr>
          <p:cNvPr id="35" name="gq_387"/>
          <p:cNvSpPr/>
          <p:nvPr/>
        </p:nvSpPr>
        <p:spPr>
          <a:xfrm>
            <a:off x="3383280" y="388620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Others waited up to 12 hours.</a:t>
            </a:r>
            <a:endParaRPr lang="en-US" sz="1200" dirty="0"/>
          </a:p>
        </p:txBody>
      </p:sp>
      <p:sp>
        <p:nvSpPr>
          <p:cNvPr id="36" name="R7_chip388"/>
          <p:cNvSpPr/>
          <p:nvPr/>
        </p:nvSpPr>
        <p:spPr>
          <a:xfrm>
            <a:off x="6812280" y="38862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37" name="gq_389"/>
          <p:cNvSpPr/>
          <p:nvPr/>
        </p:nvSpPr>
        <p:spPr>
          <a:xfrm>
            <a:off x="3383280" y="429768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8  They met a Dragon before the show.</a:t>
            </a:r>
            <a:endParaRPr lang="en-US" sz="1200" dirty="0"/>
          </a:p>
        </p:txBody>
      </p:sp>
      <p:sp>
        <p:nvSpPr>
          <p:cNvPr id="38" name="R8_chip390"/>
          <p:cNvSpPr/>
          <p:nvPr/>
        </p:nvSpPr>
        <p:spPr>
          <a:xfrm>
            <a:off x="6812280" y="42976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it's not allowed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92"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393"/>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happened in the Den?</a:t>
            </a:r>
            <a:endParaRPr lang="en-US" sz="2400" dirty="0"/>
          </a:p>
        </p:txBody>
      </p:sp>
      <p:pic>
        <p:nvPicPr>
          <p:cNvPr id="6" name="brP_394"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395"/>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What did Joe say about 1–6?</a:t>
            </a:r>
            <a:endParaRPr lang="en-US" sz="1250" dirty="0"/>
          </a:p>
        </p:txBody>
      </p:sp>
      <p:sp>
        <p:nvSpPr>
          <p:cNvPr id="8" name="insIT_39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Cosa dice Joe su 1–6?</a:t>
            </a:r>
            <a:endParaRPr lang="en-US" sz="950" dirty="0"/>
          </a:p>
        </p:txBody>
      </p:sp>
      <p:sp>
        <p:nvSpPr>
          <p:cNvPr id="9" name="cmd_39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39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alone</a:t>
            </a:r>
            <a:endParaRPr lang="en-US" sz="950" dirty="0"/>
          </a:p>
        </p:txBody>
      </p:sp>
      <p:sp>
        <p:nvSpPr>
          <p:cNvPr id="11" name="tag_39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gist</a:t>
            </a:r>
            <a:endParaRPr lang="en-US" sz="850" dirty="0"/>
          </a:p>
        </p:txBody>
      </p:sp>
      <p:pic>
        <p:nvPicPr>
          <p:cNvPr id="12" name="logo_4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Listening · Part 2   ·   📖 SB p.79 · 6d, 6e · audio 8.10 (script pp.129–130)</a:t>
            </a:r>
            <a:endParaRPr lang="en-US" sz="800" dirty="0"/>
          </a:p>
        </p:txBody>
      </p:sp>
      <p:sp>
        <p:nvSpPr>
          <p:cNvPr id="14" name="ap_402"/>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8.10  ·  play twice</a:t>
            </a:r>
            <a:endParaRPr lang="en-US" sz="1100" dirty="0"/>
          </a:p>
        </p:txBody>
      </p:sp>
      <p:sp>
        <p:nvSpPr>
          <p:cNvPr id="15" name="aw_403"/>
          <p:cNvSpPr/>
          <p:nvPr/>
        </p:nvSpPr>
        <p:spPr>
          <a:xfrm>
            <a:off x="365760" y="1837944"/>
            <a:ext cx="26517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6" name="pf_404"/>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7" name="phx_405"/>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8a2-workshop.jpg</a:t>
            </a:r>
            <a:endParaRPr lang="en-US" sz="900" dirty="0"/>
          </a:p>
        </p:txBody>
      </p:sp>
      <p:sp>
        <p:nvSpPr>
          <p:cNvPr id="18" name="bd_406"/>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19" name="pf_407"/>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408"/>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8a2-job-offer.jpg</a:t>
            </a:r>
            <a:endParaRPr lang="en-US" sz="900" dirty="0"/>
          </a:p>
        </p:txBody>
      </p:sp>
      <p:sp>
        <p:nvSpPr>
          <p:cNvPr id="21" name="bd_409"/>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2" name="cd_410"/>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3" name="ii_411"/>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412"/>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5" name="il_413"/>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Listen once: what was different for Joe and Jake?</a:t>
            </a:r>
            <a:endParaRPr lang="en-US" sz="700" dirty="0"/>
          </a:p>
          <a:p>
            <a:pPr marL="152400" indent="-152400">
              <a:spcAft>
                <a:spcPts val="200"/>
              </a:spcAft>
              <a:buSzPct val="100000"/>
              <a:buChar char=" "/>
            </a:pPr>
            <a:r>
              <a:rPr lang="en-US" sz="700" i="1" dirty="0">
                <a:solidFill>
                  <a:srgbClr val="5B6785"/>
                </a:solidFill>
                <a:latin typeface="Segoe UI Semibold" pitchFamily="34" charset="0"/>
                <a:ea typeface="Segoe UI Semibold" pitchFamily="34" charset="-122"/>
                <a:cs typeface="Segoe UI Semibold" pitchFamily="34" charset="-120"/>
              </a:rPr>
              <a:t>Ascolta: cosa c'è stato di diverso per Joe e Jake?</a:t>
            </a:r>
            <a:endParaRPr lang="en-US" sz="700" dirty="0"/>
          </a:p>
          <a:p>
            <a:pPr marL="152400" indent="-152400">
              <a:spcBef>
                <a:spcPts val="5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Listen again. Make notes about 1–6.</a:t>
            </a:r>
            <a:endParaRPr lang="en-US" sz="700" dirty="0"/>
          </a:p>
          <a:p>
            <a:pPr marL="152400" indent="-152400">
              <a:spcAft>
                <a:spcPts val="200"/>
              </a:spcAft>
              <a:buSzPct val="100000"/>
              <a:buChar char=" "/>
            </a:pPr>
            <a:r>
              <a:rPr lang="en-US" sz="700" i="1" dirty="0">
                <a:solidFill>
                  <a:srgbClr val="5B6785"/>
                </a:solidFill>
                <a:latin typeface="Segoe UI Semibold" pitchFamily="34" charset="0"/>
                <a:ea typeface="Segoe UI Semibold" pitchFamily="34" charset="-122"/>
                <a:cs typeface="Segoe UI Semibold" pitchFamily="34" charset="-120"/>
              </a:rPr>
              <a:t>Riascolta. Prendi appunti su 1–6.</a:t>
            </a:r>
            <a:endParaRPr lang="en-US" sz="700" dirty="0"/>
          </a:p>
        </p:txBody>
      </p:sp>
      <p:sp>
        <p:nvSpPr>
          <p:cNvPr id="26" name="lq_414"/>
          <p:cNvSpPr/>
          <p:nvPr/>
        </p:nvSpPr>
        <p:spPr>
          <a:xfrm>
            <a:off x="6035040" y="2103120"/>
            <a:ext cx="1234440" cy="350520"/>
          </a:xfrm>
          <a:prstGeom prst="roundRect">
            <a:avLst>
              <a:gd name="adj" fmla="val 26087"/>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1 Deborah Meaden</a:t>
            </a:r>
            <a:endParaRPr lang="en-US" sz="1000" dirty="0"/>
          </a:p>
        </p:txBody>
      </p:sp>
      <p:sp>
        <p:nvSpPr>
          <p:cNvPr id="27" name="R1_chip415"/>
          <p:cNvSpPr/>
          <p:nvPr/>
        </p:nvSpPr>
        <p:spPr>
          <a:xfrm>
            <a:off x="7315200" y="210312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stared → he felt nervous</a:t>
            </a:r>
            <a:endParaRPr lang="en-US" sz="1000" dirty="0"/>
          </a:p>
        </p:txBody>
      </p:sp>
      <p:sp>
        <p:nvSpPr>
          <p:cNvPr id="28" name="lq_416"/>
          <p:cNvSpPr/>
          <p:nvPr/>
        </p:nvSpPr>
        <p:spPr>
          <a:xfrm>
            <a:off x="6035040" y="2545080"/>
            <a:ext cx="1234440" cy="350520"/>
          </a:xfrm>
          <a:prstGeom prst="roundRect">
            <a:avLst>
              <a:gd name="adj" fmla="val 26087"/>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2 Jake's first words</a:t>
            </a:r>
            <a:endParaRPr lang="en-US" sz="1000" dirty="0"/>
          </a:p>
        </p:txBody>
      </p:sp>
      <p:sp>
        <p:nvSpPr>
          <p:cNvPr id="29" name="R2_chip417"/>
          <p:cNvSpPr/>
          <p:nvPr/>
        </p:nvSpPr>
        <p:spPr>
          <a:xfrm>
            <a:off x="7315200" y="254508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 forgot them</a:t>
            </a:r>
            <a:endParaRPr lang="en-US" sz="1050" dirty="0"/>
          </a:p>
        </p:txBody>
      </p:sp>
      <p:sp>
        <p:nvSpPr>
          <p:cNvPr id="30" name="lq_418"/>
          <p:cNvSpPr/>
          <p:nvPr/>
        </p:nvSpPr>
        <p:spPr>
          <a:xfrm>
            <a:off x="6035040" y="2987040"/>
            <a:ext cx="1234440" cy="350520"/>
          </a:xfrm>
          <a:prstGeom prst="roundRect">
            <a:avLst>
              <a:gd name="adj" fmla="val 26087"/>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 'I'm out.'</a:t>
            </a:r>
            <a:endParaRPr lang="en-US" sz="1100" dirty="0"/>
          </a:p>
        </p:txBody>
      </p:sp>
      <p:sp>
        <p:nvSpPr>
          <p:cNvPr id="31" name="R3_chip419"/>
          <p:cNvSpPr/>
          <p:nvPr/>
        </p:nvSpPr>
        <p:spPr>
          <a:xfrm>
            <a:off x="7315200" y="298704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4 Dragons said it</a:t>
            </a:r>
            <a:endParaRPr lang="en-US" sz="1050" dirty="0"/>
          </a:p>
        </p:txBody>
      </p:sp>
      <p:sp>
        <p:nvSpPr>
          <p:cNvPr id="32" name="lq_420"/>
          <p:cNvSpPr/>
          <p:nvPr/>
        </p:nvSpPr>
        <p:spPr>
          <a:xfrm>
            <a:off x="6035040" y="3429000"/>
            <a:ext cx="1234440" cy="350520"/>
          </a:xfrm>
          <a:prstGeom prst="roundRect">
            <a:avLst>
              <a:gd name="adj" fmla="val 26087"/>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4 Peter's appearance</a:t>
            </a:r>
            <a:endParaRPr lang="en-US" sz="1000" dirty="0"/>
          </a:p>
        </p:txBody>
      </p:sp>
      <p:sp>
        <p:nvSpPr>
          <p:cNvPr id="33" name="R4_chip421"/>
          <p:cNvSpPr/>
          <p:nvPr/>
        </p:nvSpPr>
        <p:spPr>
          <a:xfrm>
            <a:off x="7315200" y="342900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over 2 m tall – scary</a:t>
            </a:r>
            <a:endParaRPr lang="en-US" sz="1000" dirty="0"/>
          </a:p>
        </p:txBody>
      </p:sp>
      <p:sp>
        <p:nvSpPr>
          <p:cNvPr id="34" name="lq_422"/>
          <p:cNvSpPr/>
          <p:nvPr/>
        </p:nvSpPr>
        <p:spPr>
          <a:xfrm>
            <a:off x="6035040" y="3870960"/>
            <a:ext cx="1234440" cy="350520"/>
          </a:xfrm>
          <a:prstGeom prst="roundRect">
            <a:avLst>
              <a:gd name="adj" fmla="val 26087"/>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5 Jessops</a:t>
            </a:r>
            <a:endParaRPr lang="en-US" sz="1100" dirty="0"/>
          </a:p>
        </p:txBody>
      </p:sp>
      <p:sp>
        <p:nvSpPr>
          <p:cNvPr id="35" name="R5_chip423"/>
          <p:cNvSpPr/>
          <p:nvPr/>
        </p:nvSpPr>
        <p:spPr>
          <a:xfrm>
            <a:off x="7315200" y="387096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Peter's camera shops</a:t>
            </a:r>
            <a:endParaRPr lang="en-US" sz="1000" dirty="0"/>
          </a:p>
        </p:txBody>
      </p:sp>
      <p:sp>
        <p:nvSpPr>
          <p:cNvPr id="36" name="lq_424"/>
          <p:cNvSpPr/>
          <p:nvPr/>
        </p:nvSpPr>
        <p:spPr>
          <a:xfrm>
            <a:off x="6035040" y="4312920"/>
            <a:ext cx="1234440" cy="350520"/>
          </a:xfrm>
          <a:prstGeom prst="roundRect">
            <a:avLst>
              <a:gd name="adj" fmla="val 26087"/>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6 the job offer</a:t>
            </a:r>
            <a:endParaRPr lang="en-US" sz="1100" dirty="0"/>
          </a:p>
        </p:txBody>
      </p:sp>
      <p:sp>
        <p:nvSpPr>
          <p:cNvPr id="37" name="R6_chip425"/>
          <p:cNvSpPr/>
          <p:nvPr/>
        </p:nvSpPr>
        <p:spPr>
          <a:xfrm>
            <a:off x="7315200" y="431292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never happened before!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2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42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Yes or no to the job?</a:t>
            </a:r>
            <a:endParaRPr lang="en-US" sz="2500" dirty="0"/>
          </a:p>
        </p:txBody>
      </p:sp>
      <p:pic>
        <p:nvPicPr>
          <p:cNvPr id="6" name="brP_429"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430"/>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Vote first! Then listen to the end.</a:t>
            </a:r>
            <a:endParaRPr lang="en-US" sz="1250" dirty="0"/>
          </a:p>
        </p:txBody>
      </p:sp>
      <p:sp>
        <p:nvSpPr>
          <p:cNvPr id="8" name="insIT_43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Prima vota! Poi ascolta la fine.</a:t>
            </a:r>
            <a:endParaRPr lang="en-US" sz="950" dirty="0"/>
          </a:p>
        </p:txBody>
      </p:sp>
      <p:sp>
        <p:nvSpPr>
          <p:cNvPr id="9" name="cmd_43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433"/>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434"/>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2" name="logo_4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Listening · Part 3   ·   📖 SB p.79 · 6f · audio 8.11 (script p.130)</a:t>
            </a:r>
            <a:endParaRPr lang="en-US" sz="800" dirty="0"/>
          </a:p>
        </p:txBody>
      </p:sp>
      <p:sp>
        <p:nvSpPr>
          <p:cNvPr id="14" name="cd_43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3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3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440"/>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YOU: a job with a very good salary – or your own business?</a:t>
            </a:r>
            <a:endParaRPr lang="en-US" sz="1050" dirty="0"/>
          </a:p>
        </p:txBody>
      </p:sp>
      <p:sp>
        <p:nvSpPr>
          <p:cNvPr id="18" name="pf_441"/>
          <p:cNvSpPr/>
          <p:nvPr/>
        </p:nvSpPr>
        <p:spPr>
          <a:xfrm rot="-90000">
            <a:off x="365760" y="2697480"/>
            <a:ext cx="2606040" cy="1417320"/>
          </a:xfrm>
          <a:prstGeom prst="roundRect">
            <a:avLst>
              <a:gd name="adj" fmla="val 1096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442"/>
          <p:cNvSpPr/>
          <p:nvPr/>
        </p:nvSpPr>
        <p:spPr>
          <a:xfrm>
            <a:off x="411480" y="2743200"/>
            <a:ext cx="2514600" cy="13258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8a2-job-offer.jpg</a:t>
            </a:r>
            <a:endParaRPr lang="en-US" sz="900" dirty="0"/>
          </a:p>
        </p:txBody>
      </p:sp>
      <p:sp>
        <p:nvSpPr>
          <p:cNvPr id="20" name="ap_443"/>
          <p:cNvSpPr/>
          <p:nvPr/>
        </p:nvSpPr>
        <p:spPr>
          <a:xfrm>
            <a:off x="365760" y="4297680"/>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8.11</a:t>
            </a:r>
            <a:endParaRPr lang="en-US" sz="1100" dirty="0"/>
          </a:p>
        </p:txBody>
      </p:sp>
      <p:sp>
        <p:nvSpPr>
          <p:cNvPr id="21" name="aw_444"/>
          <p:cNvSpPr/>
          <p:nvPr/>
        </p:nvSpPr>
        <p:spPr>
          <a:xfrm>
            <a:off x="365760" y="4718304"/>
            <a:ext cx="260604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22" name="bd_445"/>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3" name="q_446"/>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Did they take the job?</a:t>
            </a:r>
            <a:endParaRPr lang="en-US" sz="1150" dirty="0"/>
          </a:p>
        </p:txBody>
      </p:sp>
      <p:sp>
        <p:nvSpPr>
          <p:cNvPr id="24" name="R1_chip447"/>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No, they said no.</a:t>
            </a:r>
            <a:endParaRPr lang="en-US" sz="1000" dirty="0"/>
          </a:p>
        </p:txBody>
      </p:sp>
      <p:sp>
        <p:nvSpPr>
          <p:cNvPr id="25" name="bd_448"/>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6" name="q_449"/>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Why not?</a:t>
            </a:r>
            <a:endParaRPr lang="en-US" sz="1150" dirty="0"/>
          </a:p>
        </p:txBody>
      </p:sp>
      <p:sp>
        <p:nvSpPr>
          <p:cNvPr id="27" name="R2_chip450"/>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not a good time · they were enjoying running their own business</a:t>
            </a:r>
            <a:endParaRPr lang="en-US" sz="1000" dirty="0"/>
          </a:p>
        </p:txBody>
      </p:sp>
      <p:sp>
        <p:nvSpPr>
          <p:cNvPr id="28" name="bd_451"/>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9" name="q_452"/>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Do they regret it?</a:t>
            </a:r>
            <a:endParaRPr lang="en-US" sz="1150" dirty="0"/>
          </a:p>
        </p:txBody>
      </p:sp>
      <p:sp>
        <p:nvSpPr>
          <p:cNvPr id="30" name="R3_chip453"/>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No, not for a second.</a:t>
            </a:r>
            <a:endParaRPr lang="en-US" sz="1000" dirty="0"/>
          </a:p>
        </p:txBody>
      </p:sp>
      <p:sp>
        <p:nvSpPr>
          <p:cNvPr id="31" name="bd_454"/>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2" name="q_455"/>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What happened to Frame Again?</a:t>
            </a:r>
            <a:endParaRPr lang="en-US" sz="1150" dirty="0"/>
          </a:p>
        </p:txBody>
      </p:sp>
      <p:sp>
        <p:nvSpPr>
          <p:cNvPr id="33" name="R4_chip456"/>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success – they sold it this year</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58"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459"/>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the verbs</a:t>
            </a:r>
            <a:endParaRPr lang="en-US" sz="2500" dirty="0"/>
          </a:p>
        </p:txBody>
      </p:sp>
      <p:pic>
        <p:nvPicPr>
          <p:cNvPr id="6" name="brP_460"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461"/>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-ing and to + infinitive.</a:t>
            </a:r>
            <a:endParaRPr lang="en-US" sz="1250" dirty="0"/>
          </a:p>
        </p:txBody>
      </p:sp>
      <p:sp>
        <p:nvSpPr>
          <p:cNvPr id="8" name="insIT_46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-ing e to + infinito.</a:t>
            </a:r>
            <a:endParaRPr lang="en-US" sz="950" dirty="0"/>
          </a:p>
        </p:txBody>
      </p:sp>
      <p:sp>
        <p:nvSpPr>
          <p:cNvPr id="9" name="cmd_463"/>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0" name="meta_46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1" name="logo_4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Noticing · Joe's interview   ·   📖 SB audio script 8.9–8.11 (pp.129–130)</a:t>
            </a:r>
            <a:endParaRPr lang="en-US" sz="800" dirty="0"/>
          </a:p>
        </p:txBody>
      </p:sp>
      <p:sp>
        <p:nvSpPr>
          <p:cNvPr id="13" name="pf_467"/>
          <p:cNvSpPr/>
          <p:nvPr/>
        </p:nvSpPr>
        <p:spPr>
          <a:xfrm rot="-120000">
            <a:off x="365760" y="1371600"/>
            <a:ext cx="2468880" cy="1691640"/>
          </a:xfrm>
          <a:prstGeom prst="roundRect">
            <a:avLst>
              <a:gd name="adj" fmla="val 91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4" name="phx_468"/>
          <p:cNvSpPr/>
          <p:nvPr/>
        </p:nvSpPr>
        <p:spPr>
          <a:xfrm>
            <a:off x="411480" y="1417320"/>
            <a:ext cx="2377440" cy="160020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8a2-workshop.jpg</a:t>
            </a:r>
            <a:endParaRPr lang="en-US" sz="900" dirty="0"/>
          </a:p>
        </p:txBody>
      </p:sp>
      <p:sp>
        <p:nvSpPr>
          <p:cNvPr id="15" name="cd_469"/>
          <p:cNvSpPr/>
          <p:nvPr/>
        </p:nvSpPr>
        <p:spPr>
          <a:xfrm>
            <a:off x="320040" y="3246120"/>
            <a:ext cx="2606040" cy="1463040"/>
          </a:xfrm>
          <a:prstGeom prst="roundRect">
            <a:avLst>
              <a:gd name="adj" fmla="val 875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70"/>
          <p:cNvSpPr/>
          <p:nvPr/>
        </p:nvSpPr>
        <p:spPr>
          <a:xfrm>
            <a:off x="411480" y="33192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71"/>
          <p:cNvSpPr/>
          <p:nvPr/>
        </p:nvSpPr>
        <p:spPr>
          <a:xfrm>
            <a:off x="886968" y="33375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Find it!</a:t>
            </a:r>
            <a:endParaRPr lang="en-US" sz="1300" dirty="0"/>
          </a:p>
        </p:txBody>
      </p:sp>
      <p:sp>
        <p:nvSpPr>
          <p:cNvPr id="18" name="il_472"/>
          <p:cNvSpPr/>
          <p:nvPr/>
        </p:nvSpPr>
        <p:spPr>
          <a:xfrm>
            <a:off x="886968" y="3721608"/>
            <a:ext cx="194767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-ing (gerund)</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to + infinitive</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infinitive (no to)</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WHY? (rules on slide 2)</a:t>
            </a:r>
            <a:endParaRPr lang="en-US" sz="1050" dirty="0"/>
          </a:p>
        </p:txBody>
      </p:sp>
      <p:sp>
        <p:nvSpPr>
          <p:cNvPr id="19" name="who_473"/>
          <p:cNvSpPr/>
          <p:nvPr/>
        </p:nvSpPr>
        <p:spPr>
          <a:xfrm>
            <a:off x="3108960" y="1463040"/>
            <a:ext cx="914400" cy="325755"/>
          </a:xfrm>
          <a:prstGeom prst="roundRect">
            <a:avLst>
              <a:gd name="adj" fmla="val 33684"/>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Part 1</a:t>
            </a:r>
            <a:endParaRPr lang="en-US" sz="950" dirty="0"/>
          </a:p>
        </p:txBody>
      </p:sp>
      <p:sp>
        <p:nvSpPr>
          <p:cNvPr id="20" name="sl_474"/>
          <p:cNvSpPr/>
          <p:nvPr/>
        </p:nvSpPr>
        <p:spPr>
          <a:xfrm>
            <a:off x="4114800" y="1444752"/>
            <a:ext cx="4754880" cy="362331"/>
          </a:xfrm>
          <a:prstGeom prst="roundRect">
            <a:avLst>
              <a:gd name="adj" fmla="val 30284"/>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applied without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telling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my business partner Jake.</a:t>
            </a:r>
            <a:endParaRPr lang="en-US" sz="1150" dirty="0"/>
          </a:p>
        </p:txBody>
      </p:sp>
      <p:sp>
        <p:nvSpPr>
          <p:cNvPr id="21" name="R1_slA475"/>
          <p:cNvSpPr/>
          <p:nvPr/>
        </p:nvSpPr>
        <p:spPr>
          <a:xfrm>
            <a:off x="4114800" y="1444752"/>
            <a:ext cx="4754880" cy="362331"/>
          </a:xfrm>
          <a:prstGeom prst="roundRect">
            <a:avLst>
              <a:gd name="adj" fmla="val 30284"/>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applied without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telling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my business partner Jake.</a:t>
            </a:r>
            <a:endParaRPr lang="en-US" sz="1150" dirty="0"/>
          </a:p>
        </p:txBody>
      </p:sp>
      <p:sp>
        <p:nvSpPr>
          <p:cNvPr id="22" name="who_476"/>
          <p:cNvSpPr/>
          <p:nvPr/>
        </p:nvSpPr>
        <p:spPr>
          <a:xfrm>
            <a:off x="3108960" y="1880235"/>
            <a:ext cx="914400" cy="325755"/>
          </a:xfrm>
          <a:prstGeom prst="roundRect">
            <a:avLst>
              <a:gd name="adj" fmla="val 33684"/>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Part 1</a:t>
            </a:r>
            <a:endParaRPr lang="en-US" sz="950" dirty="0"/>
          </a:p>
        </p:txBody>
      </p:sp>
      <p:sp>
        <p:nvSpPr>
          <p:cNvPr id="23" name="sl_477"/>
          <p:cNvSpPr/>
          <p:nvPr/>
        </p:nvSpPr>
        <p:spPr>
          <a:xfrm>
            <a:off x="4114800" y="1861947"/>
            <a:ext cx="4754880" cy="362331"/>
          </a:xfrm>
          <a:prstGeom prst="roundRect">
            <a:avLst>
              <a:gd name="adj" fmla="val 30284"/>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went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running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together, just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repeating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the pitch.</a:t>
            </a:r>
            <a:endParaRPr lang="en-US" sz="1150" dirty="0"/>
          </a:p>
        </p:txBody>
      </p:sp>
      <p:sp>
        <p:nvSpPr>
          <p:cNvPr id="24" name="R2_slA478"/>
          <p:cNvSpPr/>
          <p:nvPr/>
        </p:nvSpPr>
        <p:spPr>
          <a:xfrm>
            <a:off x="4114800" y="1861947"/>
            <a:ext cx="4754880" cy="362331"/>
          </a:xfrm>
          <a:prstGeom prst="roundRect">
            <a:avLst>
              <a:gd name="adj" fmla="val 30284"/>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went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running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together, just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repeating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the pitch.</a:t>
            </a:r>
            <a:endParaRPr lang="en-US" sz="1150" dirty="0"/>
          </a:p>
        </p:txBody>
      </p:sp>
      <p:sp>
        <p:nvSpPr>
          <p:cNvPr id="25" name="who_479"/>
          <p:cNvSpPr/>
          <p:nvPr/>
        </p:nvSpPr>
        <p:spPr>
          <a:xfrm>
            <a:off x="3108960" y="2297430"/>
            <a:ext cx="914400" cy="325755"/>
          </a:xfrm>
          <a:prstGeom prst="roundRect">
            <a:avLst>
              <a:gd name="adj" fmla="val 33684"/>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Part 2</a:t>
            </a:r>
            <a:endParaRPr lang="en-US" sz="950" dirty="0"/>
          </a:p>
        </p:txBody>
      </p:sp>
      <p:sp>
        <p:nvSpPr>
          <p:cNvPr id="26" name="sl_480"/>
          <p:cNvSpPr/>
          <p:nvPr/>
        </p:nvSpPr>
        <p:spPr>
          <a:xfrm>
            <a:off x="4114800" y="2279142"/>
            <a:ext cx="4754880" cy="362331"/>
          </a:xfrm>
          <a:prstGeom prst="roundRect">
            <a:avLst>
              <a:gd name="adj" fmla="val 30284"/>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What I wanted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to do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was just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to smile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at one of them.</a:t>
            </a:r>
            <a:endParaRPr lang="en-US" sz="1150" dirty="0"/>
          </a:p>
        </p:txBody>
      </p:sp>
      <p:sp>
        <p:nvSpPr>
          <p:cNvPr id="27" name="R3_slA481"/>
          <p:cNvSpPr/>
          <p:nvPr/>
        </p:nvSpPr>
        <p:spPr>
          <a:xfrm>
            <a:off x="4114800" y="2279142"/>
            <a:ext cx="4754880" cy="362331"/>
          </a:xfrm>
          <a:prstGeom prst="roundRect">
            <a:avLst>
              <a:gd name="adj" fmla="val 30284"/>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What I wanted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to do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was just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to smile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at one of them.</a:t>
            </a:r>
            <a:endParaRPr lang="en-US" sz="1150" dirty="0"/>
          </a:p>
        </p:txBody>
      </p:sp>
      <p:sp>
        <p:nvSpPr>
          <p:cNvPr id="28" name="who_482"/>
          <p:cNvSpPr/>
          <p:nvPr/>
        </p:nvSpPr>
        <p:spPr>
          <a:xfrm>
            <a:off x="3108960" y="2714625"/>
            <a:ext cx="914400" cy="325755"/>
          </a:xfrm>
          <a:prstGeom prst="roundRect">
            <a:avLst>
              <a:gd name="adj" fmla="val 33684"/>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Part 2</a:t>
            </a:r>
            <a:endParaRPr lang="en-US" sz="950" dirty="0"/>
          </a:p>
        </p:txBody>
      </p:sp>
      <p:sp>
        <p:nvSpPr>
          <p:cNvPr id="29" name="sl_483"/>
          <p:cNvSpPr/>
          <p:nvPr/>
        </p:nvSpPr>
        <p:spPr>
          <a:xfrm>
            <a:off x="4114800" y="2696337"/>
            <a:ext cx="4754880" cy="362331"/>
          </a:xfrm>
          <a:prstGeom prst="roundRect">
            <a:avLst>
              <a:gd name="adj" fmla="val 30284"/>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That was my way of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making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myself relaxed.</a:t>
            </a:r>
            <a:endParaRPr lang="en-US" sz="1150" dirty="0"/>
          </a:p>
        </p:txBody>
      </p:sp>
      <p:sp>
        <p:nvSpPr>
          <p:cNvPr id="30" name="R4_slA484"/>
          <p:cNvSpPr/>
          <p:nvPr/>
        </p:nvSpPr>
        <p:spPr>
          <a:xfrm>
            <a:off x="4114800" y="2696337"/>
            <a:ext cx="4754880" cy="362331"/>
          </a:xfrm>
          <a:prstGeom prst="roundRect">
            <a:avLst>
              <a:gd name="adj" fmla="val 30284"/>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That was my way of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making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myself relaxed.</a:t>
            </a:r>
            <a:endParaRPr lang="en-US" sz="1150" dirty="0"/>
          </a:p>
        </p:txBody>
      </p:sp>
      <p:sp>
        <p:nvSpPr>
          <p:cNvPr id="31" name="who_485"/>
          <p:cNvSpPr/>
          <p:nvPr/>
        </p:nvSpPr>
        <p:spPr>
          <a:xfrm>
            <a:off x="3108960" y="3131820"/>
            <a:ext cx="914400" cy="325755"/>
          </a:xfrm>
          <a:prstGeom prst="roundRect">
            <a:avLst>
              <a:gd name="adj" fmla="val 33684"/>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Part 2</a:t>
            </a:r>
            <a:endParaRPr lang="en-US" sz="950" dirty="0"/>
          </a:p>
        </p:txBody>
      </p:sp>
      <p:sp>
        <p:nvSpPr>
          <p:cNvPr id="32" name="sl_486"/>
          <p:cNvSpPr/>
          <p:nvPr/>
        </p:nvSpPr>
        <p:spPr>
          <a:xfrm>
            <a:off x="4114800" y="3113532"/>
            <a:ext cx="4754880" cy="362331"/>
          </a:xfrm>
          <a:prstGeom prst="roundRect">
            <a:avLst>
              <a:gd name="adj" fmla="val 30284"/>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She stared at me,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to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me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feel</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nervous.</a:t>
            </a:r>
            <a:endParaRPr lang="en-US" sz="1150" dirty="0"/>
          </a:p>
        </p:txBody>
      </p:sp>
      <p:sp>
        <p:nvSpPr>
          <p:cNvPr id="33" name="R5_slA487"/>
          <p:cNvSpPr/>
          <p:nvPr/>
        </p:nvSpPr>
        <p:spPr>
          <a:xfrm>
            <a:off x="4114800" y="3113532"/>
            <a:ext cx="4754880" cy="362331"/>
          </a:xfrm>
          <a:prstGeom prst="roundRect">
            <a:avLst>
              <a:gd name="adj" fmla="val 30284"/>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She stared at me,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to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me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feel</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nervous.</a:t>
            </a:r>
            <a:endParaRPr lang="en-US" sz="1150" dirty="0"/>
          </a:p>
        </p:txBody>
      </p:sp>
      <p:sp>
        <p:nvSpPr>
          <p:cNvPr id="34" name="who_488"/>
          <p:cNvSpPr/>
          <p:nvPr/>
        </p:nvSpPr>
        <p:spPr>
          <a:xfrm>
            <a:off x="3108960" y="3549015"/>
            <a:ext cx="914400" cy="325755"/>
          </a:xfrm>
          <a:prstGeom prst="roundRect">
            <a:avLst>
              <a:gd name="adj" fmla="val 33684"/>
            </a:avLst>
          </a:prstGeom>
          <a:solidFill>
            <a:srgbClr val="E3F7EA"/>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3 · Part 3</a:t>
            </a:r>
            <a:endParaRPr lang="en-US" sz="950" dirty="0"/>
          </a:p>
        </p:txBody>
      </p:sp>
      <p:sp>
        <p:nvSpPr>
          <p:cNvPr id="35" name="sl_489"/>
          <p:cNvSpPr/>
          <p:nvPr/>
        </p:nvSpPr>
        <p:spPr>
          <a:xfrm>
            <a:off x="4114800" y="3530727"/>
            <a:ext cx="4754880" cy="362331"/>
          </a:xfrm>
          <a:prstGeom prst="roundRect">
            <a:avLst>
              <a:gd name="adj" fmla="val 30284"/>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knew we had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to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a decision immediately.</a:t>
            </a:r>
            <a:endParaRPr lang="en-US" sz="1150" dirty="0"/>
          </a:p>
        </p:txBody>
      </p:sp>
      <p:sp>
        <p:nvSpPr>
          <p:cNvPr id="36" name="R6_slA490"/>
          <p:cNvSpPr/>
          <p:nvPr/>
        </p:nvSpPr>
        <p:spPr>
          <a:xfrm>
            <a:off x="4114800" y="3530727"/>
            <a:ext cx="4754880" cy="362331"/>
          </a:xfrm>
          <a:prstGeom prst="roundRect">
            <a:avLst>
              <a:gd name="adj" fmla="val 30284"/>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knew we had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to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a decision immediately.</a:t>
            </a:r>
            <a:endParaRPr lang="en-US" sz="1150" dirty="0"/>
          </a:p>
        </p:txBody>
      </p:sp>
      <p:sp>
        <p:nvSpPr>
          <p:cNvPr id="37" name="who_491"/>
          <p:cNvSpPr/>
          <p:nvPr/>
        </p:nvSpPr>
        <p:spPr>
          <a:xfrm>
            <a:off x="3108960" y="3966210"/>
            <a:ext cx="914400" cy="325755"/>
          </a:xfrm>
          <a:prstGeom prst="roundRect">
            <a:avLst>
              <a:gd name="adj" fmla="val 33684"/>
            </a:avLst>
          </a:prstGeom>
          <a:solidFill>
            <a:srgbClr val="E3F7EA"/>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3 · Part 3</a:t>
            </a:r>
            <a:endParaRPr lang="en-US" sz="950" dirty="0"/>
          </a:p>
        </p:txBody>
      </p:sp>
      <p:sp>
        <p:nvSpPr>
          <p:cNvPr id="38" name="sl_492"/>
          <p:cNvSpPr/>
          <p:nvPr/>
        </p:nvSpPr>
        <p:spPr>
          <a:xfrm>
            <a:off x="4114800" y="3947922"/>
            <a:ext cx="4754880" cy="362331"/>
          </a:xfrm>
          <a:prstGeom prst="roundRect">
            <a:avLst>
              <a:gd name="adj" fmla="val 30284"/>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Have you ever regretted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saying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no?</a:t>
            </a:r>
            <a:endParaRPr lang="en-US" sz="1150" dirty="0"/>
          </a:p>
        </p:txBody>
      </p:sp>
      <p:sp>
        <p:nvSpPr>
          <p:cNvPr id="39" name="R7_slA493"/>
          <p:cNvSpPr/>
          <p:nvPr/>
        </p:nvSpPr>
        <p:spPr>
          <a:xfrm>
            <a:off x="4114800" y="3947922"/>
            <a:ext cx="4754880" cy="362331"/>
          </a:xfrm>
          <a:prstGeom prst="roundRect">
            <a:avLst>
              <a:gd name="adj" fmla="val 30284"/>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Have you ever regretted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saying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no?</a:t>
            </a:r>
            <a:endParaRPr lang="en-US" sz="1150" dirty="0"/>
          </a:p>
        </p:txBody>
      </p:sp>
      <p:sp>
        <p:nvSpPr>
          <p:cNvPr id="40" name="who_494"/>
          <p:cNvSpPr/>
          <p:nvPr/>
        </p:nvSpPr>
        <p:spPr>
          <a:xfrm>
            <a:off x="3108960" y="4383405"/>
            <a:ext cx="914400" cy="325755"/>
          </a:xfrm>
          <a:prstGeom prst="roundRect">
            <a:avLst>
              <a:gd name="adj" fmla="val 33684"/>
            </a:avLst>
          </a:prstGeom>
          <a:solidFill>
            <a:srgbClr val="E3F7EA"/>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3 · Part 3</a:t>
            </a:r>
            <a:endParaRPr lang="en-US" sz="950" dirty="0"/>
          </a:p>
        </p:txBody>
      </p:sp>
      <p:sp>
        <p:nvSpPr>
          <p:cNvPr id="41" name="sl_495"/>
          <p:cNvSpPr/>
          <p:nvPr/>
        </p:nvSpPr>
        <p:spPr>
          <a:xfrm>
            <a:off x="4114800" y="4365117"/>
            <a:ext cx="4754880" cy="362331"/>
          </a:xfrm>
          <a:prstGeom prst="roundRect">
            <a:avLst>
              <a:gd name="adj" fmla="val 30284"/>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were enjoying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running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our own business.</a:t>
            </a:r>
            <a:endParaRPr lang="en-US" sz="1150" dirty="0"/>
          </a:p>
        </p:txBody>
      </p:sp>
      <p:sp>
        <p:nvSpPr>
          <p:cNvPr id="42" name="R8_slA496"/>
          <p:cNvSpPr/>
          <p:nvPr/>
        </p:nvSpPr>
        <p:spPr>
          <a:xfrm>
            <a:off x="4114800" y="4365117"/>
            <a:ext cx="4754880" cy="362331"/>
          </a:xfrm>
          <a:prstGeom prst="roundRect">
            <a:avLst>
              <a:gd name="adj" fmla="val 30284"/>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We were enjoying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running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our own business.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98"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499"/>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to make a pitch</a:t>
            </a:r>
            <a:endParaRPr lang="en-US" sz="2500" dirty="0"/>
          </a:p>
        </p:txBody>
      </p:sp>
      <p:pic>
        <p:nvPicPr>
          <p:cNvPr id="6" name="brP_500"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01"/>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order. Then listen and check.</a:t>
            </a:r>
            <a:endParaRPr lang="en-US" sz="1250" dirty="0"/>
          </a:p>
        </p:txBody>
      </p:sp>
      <p:sp>
        <p:nvSpPr>
          <p:cNvPr id="8" name="insIT_5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l'ordine. Poi ascolta e controlla.</a:t>
            </a:r>
            <a:endParaRPr lang="en-US" sz="950" dirty="0"/>
          </a:p>
        </p:txBody>
      </p:sp>
      <p:sp>
        <p:nvSpPr>
          <p:cNvPr id="9" name="cmd_50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04"/>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050" dirty="0">
                <a:solidFill>
                  <a:srgbClr val="000000"/>
                </a:solidFill>
              </a:rPr>
              <a:t>🔀 </a:t>
            </a:r>
            <a:pPr indent="0" marL="0">
              <a:buNone/>
            </a:pPr>
            <a:r>
              <a:rPr lang="en-US" sz="1150" dirty="0">
                <a:solidFill>
                  <a:srgbClr val="2EB872"/>
                </a:solidFill>
                <a:latin typeface="Arial Rounded MT Bold" pitchFamily="34" charset="0"/>
                <a:ea typeface="Arial Rounded MT Bold" pitchFamily="34" charset="-122"/>
                <a:cs typeface="Arial Rounded MT Bold" pitchFamily="34" charset="-120"/>
              </a:rPr>
              <a:t>REORDER</a:t>
            </a:r>
            <a:pPr indent="0" marL="0">
              <a:buNone/>
            </a:pPr>
            <a:r>
              <a:rPr lang="en-US" sz="800" dirty="0">
                <a:solidFill>
                  <a:srgbClr val="5B6785"/>
                </a:solidFill>
                <a:latin typeface="Segoe UI Semibold" pitchFamily="34" charset="0"/>
                <a:ea typeface="Segoe UI Semibold" pitchFamily="34" charset="-122"/>
                <a:cs typeface="Segoe UI Semibold" pitchFamily="34" charset="-120"/>
              </a:rPr>
              <a:t>  RIORDINA</a:t>
            </a:r>
            <a:endParaRPr lang="en-US" sz="1050" dirty="0"/>
          </a:p>
        </p:txBody>
      </p:sp>
      <p:sp>
        <p:nvSpPr>
          <p:cNvPr id="11" name="meta_505"/>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506"/>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Listening for detail</a:t>
            </a:r>
            <a:endParaRPr lang="en-US" sz="700" dirty="0"/>
          </a:p>
        </p:txBody>
      </p:sp>
      <p:pic>
        <p:nvPicPr>
          <p:cNvPr id="13" name="logo_50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0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Speaking · the model pitch   ·   📖 SB p.79 · 7a · audio 8.12 (script p.130)</a:t>
            </a:r>
            <a:endParaRPr lang="en-US" sz="800" dirty="0"/>
          </a:p>
        </p:txBody>
      </p:sp>
      <p:sp>
        <p:nvSpPr>
          <p:cNvPr id="15" name="ap_509"/>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8.12  ·  play once</a:t>
            </a:r>
            <a:endParaRPr lang="en-US" sz="1100" dirty="0"/>
          </a:p>
        </p:txBody>
      </p:sp>
      <p:sp>
        <p:nvSpPr>
          <p:cNvPr id="16" name="aw_510"/>
          <p:cNvSpPr/>
          <p:nvPr/>
        </p:nvSpPr>
        <p:spPr>
          <a:xfrm>
            <a:off x="36576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7" name="pf_511"/>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8" name="phx_512"/>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8a2-frames.jpg</a:t>
            </a:r>
            <a:endParaRPr lang="en-US" sz="900" dirty="0"/>
          </a:p>
        </p:txBody>
      </p:sp>
      <p:sp>
        <p:nvSpPr>
          <p:cNvPr id="19" name="cd_513"/>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514"/>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515"/>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il_516"/>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3" name="gq_517"/>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How much will it cost?</a:t>
            </a:r>
            <a:endParaRPr lang="en-US" sz="1200" dirty="0"/>
          </a:p>
        </p:txBody>
      </p:sp>
      <p:sp>
        <p:nvSpPr>
          <p:cNvPr id="24" name="R1_chip518"/>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4 · £12.99</a:t>
            </a:r>
            <a:endParaRPr lang="en-US" sz="1200" dirty="0"/>
          </a:p>
        </p:txBody>
      </p:sp>
      <p:sp>
        <p:nvSpPr>
          <p:cNvPr id="25" name="gq_519"/>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What is the product? Describe it.</a:t>
            </a:r>
            <a:endParaRPr lang="en-US" sz="1200" dirty="0"/>
          </a:p>
        </p:txBody>
      </p:sp>
      <p:sp>
        <p:nvSpPr>
          <p:cNvPr id="26" name="R2_chip520"/>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2 · upload, choose, we deliver</a:t>
            </a:r>
            <a:endParaRPr lang="en-US" sz="1200" dirty="0"/>
          </a:p>
        </p:txBody>
      </p:sp>
      <p:sp>
        <p:nvSpPr>
          <p:cNvPr id="27" name="gq_521"/>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  Who are you? What's it called?</a:t>
            </a:r>
            <a:endParaRPr lang="en-US" sz="1200" dirty="0"/>
          </a:p>
        </p:txBody>
      </p:sp>
      <p:sp>
        <p:nvSpPr>
          <p:cNvPr id="28" name="R3_chip522"/>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1 · Jake &amp; Joe · Frame Again</a:t>
            </a:r>
            <a:endParaRPr lang="en-US" sz="1200" dirty="0"/>
          </a:p>
        </p:txBody>
      </p:sp>
      <p:sp>
        <p:nvSpPr>
          <p:cNvPr id="29" name="gq_523"/>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Have you got a slogan?</a:t>
            </a:r>
            <a:endParaRPr lang="en-US" sz="1200" dirty="0"/>
          </a:p>
        </p:txBody>
      </p:sp>
      <p:sp>
        <p:nvSpPr>
          <p:cNvPr id="30" name="R4_chip524"/>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5 · 'Printed, framed, and delivered in 24 hours.'</a:t>
            </a:r>
            <a:endParaRPr lang="en-US" sz="1100" dirty="0"/>
          </a:p>
        </p:txBody>
      </p:sp>
      <p:sp>
        <p:nvSpPr>
          <p:cNvPr id="31" name="gq_525"/>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  Who is the product for?</a:t>
            </a:r>
            <a:endParaRPr lang="en-US" sz="1200" dirty="0"/>
          </a:p>
        </p:txBody>
      </p:sp>
      <p:sp>
        <p:nvSpPr>
          <p:cNvPr id="32" name="R5_chip526"/>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3 · Instagram users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28"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29"/>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Prepare your pitch</a:t>
            </a:r>
            <a:endParaRPr lang="en-US" sz="2500" dirty="0"/>
          </a:p>
        </p:txBody>
      </p:sp>
      <p:pic>
        <p:nvPicPr>
          <p:cNvPr id="6" name="brP_530"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531"/>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Pairs: invent a product. Plan your pitch!</a:t>
            </a:r>
            <a:endParaRPr lang="en-US" sz="1250" dirty="0"/>
          </a:p>
        </p:txBody>
      </p:sp>
      <p:sp>
        <p:nvSpPr>
          <p:cNvPr id="8" name="insIT_53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 coppia: inventate un prodotto!</a:t>
            </a:r>
            <a:endParaRPr lang="en-US" sz="950" dirty="0"/>
          </a:p>
        </p:txBody>
      </p:sp>
      <p:sp>
        <p:nvSpPr>
          <p:cNvPr id="9" name="cmd_53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cmd_534"/>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WRITE</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SCRIVI</a:t>
            </a:r>
            <a:endParaRPr lang="en-US" sz="1100" dirty="0"/>
          </a:p>
        </p:txBody>
      </p:sp>
      <p:sp>
        <p:nvSpPr>
          <p:cNvPr id="11" name="meta_535"/>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536"/>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3" name="logo_53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3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Speaking · prepare your pitch   ·   📖 SB p.79 · 7b, 7c · Presenting a product</a:t>
            </a:r>
            <a:endParaRPr lang="en-US" sz="800" dirty="0"/>
          </a:p>
        </p:txBody>
      </p:sp>
      <p:sp>
        <p:nvSpPr>
          <p:cNvPr id="15" name="pf_539"/>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6" name="phx_540"/>
          <p:cNvSpPr/>
          <p:nvPr/>
        </p:nvSpPr>
        <p:spPr>
          <a:xfrm>
            <a:off x="365760" y="1417320"/>
            <a:ext cx="2697480" cy="17830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8a2-gadget.jpg</a:t>
            </a:r>
            <a:endParaRPr lang="en-US" sz="900" dirty="0"/>
          </a:p>
        </p:txBody>
      </p:sp>
      <p:sp>
        <p:nvSpPr>
          <p:cNvPr id="17" name="cd_541"/>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542"/>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543"/>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544"/>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an app · a drink · a gadget…</a:t>
            </a:r>
            <a:endParaRPr lang="en-US" sz="800" dirty="0"/>
          </a:p>
          <a:p>
            <a:pPr marL="152400" indent="-152400">
              <a:spcBef>
                <a:spcPts val="500"/>
              </a:spcBef>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We think it will be popular because…</a:t>
            </a:r>
            <a:endParaRPr lang="en-US" sz="800" dirty="0"/>
          </a:p>
          <a:p>
            <a:pPr marL="152400" indent="-152400">
              <a:spcBef>
                <a:spcPts val="500"/>
              </a:spcBef>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It's easy to use.</a:t>
            </a:r>
            <a:endParaRPr lang="en-US" sz="800" dirty="0"/>
          </a:p>
          <a:p>
            <a:pPr marL="152400" indent="-152400">
              <a:spcBef>
                <a:spcPts val="500"/>
              </a:spcBef>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It's perfect for (+ -ing)…</a:t>
            </a:r>
            <a:endParaRPr lang="en-US" sz="800" dirty="0"/>
          </a:p>
        </p:txBody>
      </p:sp>
      <p:sp>
        <p:nvSpPr>
          <p:cNvPr id="21" name="R1_qb545"/>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546"/>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Who are you? What's your product called?</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Good morning. I'm Sara, this is Luca, and we're here to tell you about SunBag.</a:t>
            </a:r>
            <a:endParaRPr lang="en-US" sz="1050" dirty="0"/>
          </a:p>
        </p:txBody>
      </p:sp>
      <p:sp>
        <p:nvSpPr>
          <p:cNvPr id="23" name="R2_qb547"/>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548"/>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What is it? Describe it.</a:t>
            </a:r>
            <a:endParaRPr lang="en-US" sz="10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It's a beach bag with a solar panel. It charges your phone while you're at the beach.</a:t>
            </a:r>
            <a:endParaRPr lang="en-US" sz="1000" dirty="0"/>
          </a:p>
        </p:txBody>
      </p:sp>
      <p:sp>
        <p:nvSpPr>
          <p:cNvPr id="25" name="R3_qb549"/>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550"/>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Who is it for?</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This product is for students and families who spend all day by the sea.</a:t>
            </a:r>
            <a:endParaRPr lang="en-US" sz="1200" dirty="0"/>
          </a:p>
        </p:txBody>
      </p:sp>
      <p:sp>
        <p:nvSpPr>
          <p:cNvPr id="27" name="R4_qb551"/>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552"/>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How much will it cost?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It will cost €29.99.</a:t>
            </a:r>
            <a:endParaRPr lang="en-US" sz="1250" dirty="0"/>
          </a:p>
        </p:txBody>
      </p:sp>
      <p:sp>
        <p:nvSpPr>
          <p:cNvPr id="29" name="R5_qb553"/>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554"/>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What's your slogan?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Our slogan is 'SunBag – never lose your battery again!'</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5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56"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557"/>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Welcome to the Den!</a:t>
            </a:r>
            <a:endParaRPr lang="en-US" sz="2500" dirty="0"/>
          </a:p>
        </p:txBody>
      </p:sp>
      <p:pic>
        <p:nvPicPr>
          <p:cNvPr id="6" name="brP_558"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559"/>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Pitch it! Dragons: invest or I'm out?</a:t>
            </a:r>
            <a:endParaRPr lang="en-US" sz="1250" dirty="0"/>
          </a:p>
        </p:txBody>
      </p:sp>
      <p:sp>
        <p:nvSpPr>
          <p:cNvPr id="8" name="insIT_56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Presentate! Dragons: investite o no?</a:t>
            </a:r>
            <a:endParaRPr lang="en-US" sz="950" dirty="0"/>
          </a:p>
        </p:txBody>
      </p:sp>
      <p:sp>
        <p:nvSpPr>
          <p:cNvPr id="9" name="cmd_56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2"/>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7 min   👨‍👩‍👧 groups</a:t>
            </a:r>
            <a:endParaRPr lang="en-US" sz="950" dirty="0"/>
          </a:p>
        </p:txBody>
      </p:sp>
      <p:sp>
        <p:nvSpPr>
          <p:cNvPr id="11" name="tag_563"/>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6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6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Speaking game · role play   ·   📖 SB p.79 · 7d</a:t>
            </a:r>
            <a:endParaRPr lang="en-US" sz="800" dirty="0"/>
          </a:p>
        </p:txBody>
      </p:sp>
      <p:sp>
        <p:nvSpPr>
          <p:cNvPr id="14" name="cd_56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56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6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56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Semibold" pitchFamily="34" charset="0"/>
                <a:ea typeface="Segoe UI Semibold" pitchFamily="34" charset="-122"/>
                <a:cs typeface="Segoe UI Semibold" pitchFamily="34" charset="-120"/>
              </a:rPr>
              <a:t>Pairs: 1-minute pitch.</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Coppie: un minuto di presentazione.</a:t>
            </a:r>
            <a:endParaRPr lang="en-US" sz="1000" dirty="0"/>
          </a:p>
          <a:p>
            <a:pPr marL="190500" indent="-190500">
              <a:spcBef>
                <a:spcPts val="500"/>
              </a:spcBef>
              <a:spcAft>
                <a:spcPts val="200"/>
              </a:spcAft>
              <a:buSzPct val="100000"/>
              <a:buChar char="2"/>
            </a:pPr>
            <a:r>
              <a:rPr lang="en-US" sz="1000" dirty="0">
                <a:solidFill>
                  <a:srgbClr val="1B2559"/>
                </a:solidFill>
                <a:latin typeface="Segoe UI Semibold" pitchFamily="34" charset="0"/>
                <a:ea typeface="Segoe UI Semibold" pitchFamily="34" charset="-122"/>
                <a:cs typeface="Segoe UI Semibold" pitchFamily="34" charset="-120"/>
              </a:rPr>
              <a:t>Dragons: ask one question each.</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Dragons: una domanda a testa.</a:t>
            </a:r>
            <a:endParaRPr lang="en-US" sz="1000" dirty="0"/>
          </a:p>
          <a:p>
            <a:pPr marL="190500" indent="-190500">
              <a:spcBef>
                <a:spcPts val="500"/>
              </a:spcBef>
              <a:spcAft>
                <a:spcPts val="200"/>
              </a:spcAft>
              <a:buSzPct val="100000"/>
              <a:buChar char="3"/>
            </a:pPr>
            <a:r>
              <a:rPr lang="en-US" sz="1000" dirty="0">
                <a:solidFill>
                  <a:srgbClr val="1B2559"/>
                </a:solidFill>
                <a:latin typeface="Segoe UI Semibold" pitchFamily="34" charset="0"/>
                <a:ea typeface="Segoe UI Semibold" pitchFamily="34" charset="-122"/>
                <a:cs typeface="Segoe UI Semibold" pitchFamily="34" charset="-120"/>
              </a:rPr>
              <a:t>Dragons: invest €… or 'I'm out because…'</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Investite €… o 'I'm out perché…'</a:t>
            </a:r>
            <a:endParaRPr lang="en-US" sz="1000" dirty="0"/>
          </a:p>
        </p:txBody>
      </p:sp>
      <p:sp>
        <p:nvSpPr>
          <p:cNvPr id="18" name="pf_57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571"/>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8a2-class-pitch.jpg</a:t>
            </a:r>
            <a:endParaRPr lang="en-US" sz="900" dirty="0"/>
          </a:p>
        </p:txBody>
      </p:sp>
      <p:sp>
        <p:nvSpPr>
          <p:cNvPr id="20" name="bd_572"/>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573"/>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Dragon: ask about the price</a:t>
            </a:r>
            <a:endParaRPr lang="en-US" sz="1100" dirty="0"/>
          </a:p>
        </p:txBody>
      </p:sp>
      <p:sp>
        <p:nvSpPr>
          <p:cNvPr id="22" name="R1_chip574"/>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much will it cost to make?</a:t>
            </a:r>
            <a:endParaRPr lang="en-US" sz="1100" dirty="0"/>
          </a:p>
        </p:txBody>
      </p:sp>
      <p:sp>
        <p:nvSpPr>
          <p:cNvPr id="23" name="bd_575"/>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576"/>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Dragon: ask about the market</a:t>
            </a:r>
            <a:endParaRPr lang="en-US" sz="1100" dirty="0"/>
          </a:p>
        </p:txBody>
      </p:sp>
      <p:sp>
        <p:nvSpPr>
          <p:cNvPr id="25" name="R2_chip577"/>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Who's going to buy it?</a:t>
            </a:r>
            <a:endParaRPr lang="en-US" sz="1100" dirty="0"/>
          </a:p>
        </p:txBody>
      </p:sp>
      <p:sp>
        <p:nvSpPr>
          <p:cNvPr id="26" name="bd_578"/>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579"/>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Dragon: ask about the money</a:t>
            </a:r>
            <a:endParaRPr lang="en-US" sz="1100" dirty="0"/>
          </a:p>
        </p:txBody>
      </p:sp>
      <p:sp>
        <p:nvSpPr>
          <p:cNvPr id="28" name="R3_chip580"/>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much do you want, and for what %?</a:t>
            </a:r>
            <a:endParaRPr lang="en-US" sz="1100" dirty="0"/>
          </a:p>
        </p:txBody>
      </p:sp>
      <p:sp>
        <p:nvSpPr>
          <p:cNvPr id="29" name="bd_581"/>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582"/>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Dragon: say YES</a:t>
            </a:r>
            <a:endParaRPr lang="en-US" sz="1100" dirty="0"/>
          </a:p>
        </p:txBody>
      </p:sp>
      <p:sp>
        <p:nvSpPr>
          <p:cNvPr id="31" name="R4_chip583"/>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I'll invest €20,000 for 25% of your company.</a:t>
            </a:r>
            <a:endParaRPr lang="en-US" sz="1100" dirty="0"/>
          </a:p>
        </p:txBody>
      </p:sp>
      <p:sp>
        <p:nvSpPr>
          <p:cNvPr id="32" name="bd_584"/>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585"/>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Dragon: say NO</a:t>
            </a:r>
            <a:endParaRPr lang="en-US" sz="1100" dirty="0"/>
          </a:p>
        </p:txBody>
      </p:sp>
      <p:sp>
        <p:nvSpPr>
          <p:cNvPr id="34" name="R5_chip586"/>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out, because I don't think people would pay €29.99.</a:t>
            </a:r>
            <a:endParaRPr lang="en-US" sz="1100" dirty="0"/>
          </a:p>
        </p:txBody>
      </p:sp>
      <p:sp>
        <p:nvSpPr>
          <p:cNvPr id="35" name="bd_587"/>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588"/>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winner!</a:t>
            </a:r>
            <a:endParaRPr lang="en-US" sz="1100" dirty="0"/>
          </a:p>
        </p:txBody>
      </p:sp>
      <p:sp>
        <p:nvSpPr>
          <p:cNvPr id="37" name="R6_chip589"/>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 product with the most money invested 🏆</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91"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592"/>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59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9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5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meta_596"/>
          <p:cNvSpPr/>
          <p:nvPr/>
        </p:nvSpPr>
        <p:spPr>
          <a:xfrm>
            <a:off x="6510528" y="182880"/>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597"/>
          <p:cNvSpPr/>
          <p:nvPr/>
        </p:nvSpPr>
        <p:spPr>
          <a:xfrm>
            <a:off x="6510528" y="420624"/>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5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Exit · what can you remember?</a:t>
            </a:r>
            <a:endParaRPr lang="en-US" sz="800" dirty="0"/>
          </a:p>
        </p:txBody>
      </p:sp>
      <p:sp>
        <p:nvSpPr>
          <p:cNvPr id="13" name="bd_600"/>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01"/>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business words from today (no looking!)</a:t>
            </a:r>
            <a:endParaRPr lang="en-US" sz="1400" dirty="0"/>
          </a:p>
        </p:txBody>
      </p:sp>
      <p:sp>
        <p:nvSpPr>
          <p:cNvPr id="15" name="bd_602"/>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603"/>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things that happened to Joe and Jake in the Den</a:t>
            </a:r>
            <a:endParaRPr lang="en-US" sz="1400" dirty="0"/>
          </a:p>
        </p:txBody>
      </p:sp>
      <p:sp>
        <p:nvSpPr>
          <p:cNvPr id="17" name="bd_604"/>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605"/>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slogan for YOUR product</a:t>
            </a:r>
            <a:endParaRPr lang="en-US" sz="1400" dirty="0"/>
          </a:p>
        </p:txBody>
      </p:sp>
      <p:sp>
        <p:nvSpPr>
          <p:cNvPr id="19" name="cd_606"/>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607"/>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608"/>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609"/>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8A: 1c, 1d, 2a, 3c</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Writing p.121: a covering email (c)</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in the LLS app</a:t>
            </a:r>
            <a:endParaRPr lang="en-US" sz="1150" dirty="0"/>
          </a:p>
        </p:txBody>
      </p:sp>
      <p:sp>
        <p:nvSpPr>
          <p:cNvPr id="23" name="st_610"/>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8B part 1 · Have a nice day!</a:t>
            </a:r>
            <a:endParaRPr lang="en-US" sz="11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12"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613"/>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614"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615"/>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61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61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61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61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62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2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Review · what did you do today?</a:t>
            </a:r>
            <a:endParaRPr lang="en-US" sz="800" dirty="0"/>
          </a:p>
        </p:txBody>
      </p:sp>
      <p:sp>
        <p:nvSpPr>
          <p:cNvPr id="14" name="cd_622"/>
          <p:cNvSpPr/>
          <p:nvPr/>
        </p:nvSpPr>
        <p:spPr>
          <a:xfrm>
            <a:off x="548640" y="1417320"/>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623"/>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624"/>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about a TV show for entrepreneurs</a:t>
            </a:r>
            <a:endParaRPr lang="en-US" sz="1350" dirty="0"/>
          </a:p>
        </p:txBody>
      </p:sp>
      <p:sp>
        <p:nvSpPr>
          <p:cNvPr id="17" name="R1_tk625"/>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626"/>
          <p:cNvSpPr/>
          <p:nvPr/>
        </p:nvSpPr>
        <p:spPr>
          <a:xfrm>
            <a:off x="548640" y="2020824"/>
            <a:ext cx="6035040" cy="530352"/>
          </a:xfrm>
          <a:prstGeom prst="roundRect">
            <a:avLst>
              <a:gd name="adj" fmla="val 24138"/>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627"/>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628"/>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contestant's story</a:t>
            </a:r>
            <a:endParaRPr lang="en-US" sz="1350" dirty="0"/>
          </a:p>
        </p:txBody>
      </p:sp>
      <p:sp>
        <p:nvSpPr>
          <p:cNvPr id="21" name="R2_tk629"/>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630"/>
          <p:cNvSpPr/>
          <p:nvPr/>
        </p:nvSpPr>
        <p:spPr>
          <a:xfrm>
            <a:off x="548640" y="2624328"/>
            <a:ext cx="6035040" cy="530352"/>
          </a:xfrm>
          <a:prstGeom prst="roundRect">
            <a:avLst>
              <a:gd name="adj" fmla="val 24138"/>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631"/>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632"/>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Spotted -ing and to + infinitive in real speech</a:t>
            </a:r>
            <a:endParaRPr lang="en-US" sz="1350" dirty="0"/>
          </a:p>
        </p:txBody>
      </p:sp>
      <p:sp>
        <p:nvSpPr>
          <p:cNvPr id="25" name="R3_tk633"/>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634"/>
          <p:cNvSpPr/>
          <p:nvPr/>
        </p:nvSpPr>
        <p:spPr>
          <a:xfrm>
            <a:off x="548640" y="3227832"/>
            <a:ext cx="6035040" cy="530352"/>
          </a:xfrm>
          <a:prstGeom prst="roundRect">
            <a:avLst>
              <a:gd name="adj" fmla="val 24138"/>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635"/>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636"/>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9" name="R4_tk637"/>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638"/>
          <p:cNvSpPr/>
          <p:nvPr/>
        </p:nvSpPr>
        <p:spPr>
          <a:xfrm>
            <a:off x="548640" y="3831336"/>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te_639"/>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640"/>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Pitched your own product to the 'Dragons'</a:t>
            </a:r>
            <a:endParaRPr lang="en-US" sz="1350" dirty="0"/>
          </a:p>
        </p:txBody>
      </p:sp>
      <p:sp>
        <p:nvSpPr>
          <p:cNvPr id="33" name="R5_tk641"/>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st_642"/>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4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44"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645"/>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worst product ever</a:t>
            </a:r>
            <a:endParaRPr lang="en-US" sz="2500" dirty="0"/>
          </a:p>
        </p:txBody>
      </p:sp>
      <p:pic>
        <p:nvPicPr>
          <p:cNvPr id="6" name="brP_646"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647"/>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Pitch a TERRIBLE product. Sell it!</a:t>
            </a:r>
            <a:endParaRPr lang="en-US" sz="1250" dirty="0"/>
          </a:p>
        </p:txBody>
      </p:sp>
      <p:sp>
        <p:nvSpPr>
          <p:cNvPr id="8" name="insIT_64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Presentate un prodotto TERRIBILE!</a:t>
            </a:r>
            <a:endParaRPr lang="en-US" sz="950" dirty="0"/>
          </a:p>
        </p:txBody>
      </p:sp>
      <p:sp>
        <p:nvSpPr>
          <p:cNvPr id="9" name="cmd_649"/>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65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8 min   👥 pairs</a:t>
            </a:r>
            <a:endParaRPr lang="en-US" sz="950" dirty="0"/>
          </a:p>
        </p:txBody>
      </p:sp>
      <p:sp>
        <p:nvSpPr>
          <p:cNvPr id="11" name="tag_65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6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Extra · reverse pitch</a:t>
            </a:r>
            <a:endParaRPr lang="en-US" sz="800" dirty="0"/>
          </a:p>
        </p:txBody>
      </p:sp>
      <p:sp>
        <p:nvSpPr>
          <p:cNvPr id="14" name="st_654"/>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655"/>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5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57"/>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658"/>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50" dirty="0">
                <a:solidFill>
                  <a:srgbClr val="1B2559"/>
                </a:solidFill>
                <a:latin typeface="Segoe UI Semibold" pitchFamily="34" charset="0"/>
                <a:ea typeface="Segoe UI Semibold" pitchFamily="34" charset="-122"/>
                <a:cs typeface="Segoe UI Semibold" pitchFamily="34" charset="-120"/>
              </a:rPr>
              <a:t>Take a useless product.</a:t>
            </a:r>
            <a:endParaRPr lang="en-US" sz="950" dirty="0"/>
          </a:p>
          <a:p>
            <a:pPr marL="190500" indent="-1905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Prendete un prodotto inutile.</a:t>
            </a:r>
            <a:endParaRPr lang="en-US" sz="950" dirty="0"/>
          </a:p>
          <a:p>
            <a:pPr marL="190500" indent="-190500">
              <a:spcBef>
                <a:spcPts val="500"/>
              </a:spcBef>
              <a:spcAft>
                <a:spcPts val="200"/>
              </a:spcAft>
              <a:buSzPct val="100000"/>
              <a:buChar char="2"/>
            </a:pPr>
            <a:r>
              <a:rPr lang="en-US" sz="950" dirty="0">
                <a:solidFill>
                  <a:srgbClr val="1B2559"/>
                </a:solidFill>
                <a:latin typeface="Segoe UI Semibold" pitchFamily="34" charset="0"/>
                <a:ea typeface="Segoe UI Semibold" pitchFamily="34" charset="-122"/>
                <a:cs typeface="Segoe UI Semibold" pitchFamily="34" charset="-120"/>
              </a:rPr>
              <a:t>3 minutes: find 3 'advantages' + a slogan.</a:t>
            </a:r>
            <a:endParaRPr lang="en-US" sz="950" dirty="0"/>
          </a:p>
          <a:p>
            <a:pPr marL="190500" indent="-1905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3 minuti: 3 'vantaggi' + uno slogan.</a:t>
            </a:r>
            <a:endParaRPr lang="en-US" sz="950" dirty="0"/>
          </a:p>
          <a:p>
            <a:pPr marL="190500" indent="-190500">
              <a:spcBef>
                <a:spcPts val="500"/>
              </a:spcBef>
              <a:spcAft>
                <a:spcPts val="200"/>
              </a:spcAft>
              <a:buSzPct val="100000"/>
              <a:buChar char="3"/>
            </a:pPr>
            <a:r>
              <a:rPr lang="en-US" sz="950" dirty="0">
                <a:solidFill>
                  <a:srgbClr val="1B2559"/>
                </a:solidFill>
                <a:latin typeface="Segoe UI Semibold" pitchFamily="34" charset="0"/>
                <a:ea typeface="Segoe UI Semibold" pitchFamily="34" charset="-122"/>
                <a:cs typeface="Segoe UI Semibold" pitchFamily="34" charset="-120"/>
              </a:rPr>
              <a:t>Pitch it. Dragons: keep a straight face!</a:t>
            </a:r>
            <a:endParaRPr lang="en-US" sz="950" dirty="0"/>
          </a:p>
          <a:p>
            <a:pPr marL="190500" indent="-1905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Presentate. Dragons: niente risate!</a:t>
            </a:r>
            <a:endParaRPr lang="en-US" sz="950" dirty="0"/>
          </a:p>
        </p:txBody>
      </p:sp>
      <p:sp>
        <p:nvSpPr>
          <p:cNvPr id="19" name="pf_659"/>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660"/>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8a2-chocolate-teapot.jpg</a:t>
            </a:r>
            <a:endParaRPr lang="en-US" sz="900" dirty="0"/>
          </a:p>
        </p:txBody>
      </p:sp>
      <p:sp>
        <p:nvSpPr>
          <p:cNvPr id="21" name="bd_661"/>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662"/>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chocolate teapot</a:t>
            </a:r>
            <a:endParaRPr lang="en-US" sz="1100" dirty="0"/>
          </a:p>
        </p:txBody>
      </p:sp>
      <p:sp>
        <p:nvSpPr>
          <p:cNvPr id="23" name="R1_chip663"/>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It's perfect for people who love tea AND chocolate!</a:t>
            </a:r>
            <a:endParaRPr lang="en-US" sz="1100" dirty="0"/>
          </a:p>
        </p:txBody>
      </p:sp>
      <p:sp>
        <p:nvSpPr>
          <p:cNvPr id="24" name="bd_664"/>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665"/>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waterproof towel</a:t>
            </a:r>
            <a:endParaRPr lang="en-US" sz="1100" dirty="0"/>
          </a:p>
        </p:txBody>
      </p:sp>
      <p:sp>
        <p:nvSpPr>
          <p:cNvPr id="26" name="R2_chip666"/>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It's easy to carry – it never gets heavy!</a:t>
            </a:r>
            <a:endParaRPr lang="en-US" sz="1100" dirty="0"/>
          </a:p>
        </p:txBody>
      </p:sp>
      <p:sp>
        <p:nvSpPr>
          <p:cNvPr id="27" name="bd_667"/>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668"/>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sunglasses for cats</a:t>
            </a:r>
            <a:endParaRPr lang="en-US" sz="1100" dirty="0"/>
          </a:p>
        </p:txBody>
      </p:sp>
      <p:sp>
        <p:nvSpPr>
          <p:cNvPr id="29" name="R3_chip669"/>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Your cat will look cool in August in Bagheria!</a:t>
            </a:r>
            <a:endParaRPr lang="en-US" sz="1100" dirty="0"/>
          </a:p>
        </p:txBody>
      </p:sp>
      <p:sp>
        <p:nvSpPr>
          <p:cNvPr id="30" name="bd_670"/>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671"/>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an umbrella with holes</a:t>
            </a:r>
            <a:endParaRPr lang="en-US" sz="1100" dirty="0"/>
          </a:p>
        </p:txBody>
      </p:sp>
      <p:sp>
        <p:nvSpPr>
          <p:cNvPr id="32" name="R4_chip672"/>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Perfect for people who enjoy feeling the rain.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7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74"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675"/>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job interview</a:t>
            </a:r>
            <a:endParaRPr lang="en-US" sz="2500" dirty="0"/>
          </a:p>
        </p:txBody>
      </p:sp>
      <p:pic>
        <p:nvPicPr>
          <p:cNvPr id="6" name="brP_67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7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 interviews B for a job. Then swap!</a:t>
            </a:r>
            <a:endParaRPr lang="en-US" sz="1250" dirty="0"/>
          </a:p>
        </p:txBody>
      </p:sp>
      <p:sp>
        <p:nvSpPr>
          <p:cNvPr id="8" name="insIT_67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 fa il colloquio a B. Poi scambiatevi!</a:t>
            </a:r>
            <a:endParaRPr lang="en-US" sz="950" dirty="0"/>
          </a:p>
        </p:txBody>
      </p:sp>
      <p:sp>
        <p:nvSpPr>
          <p:cNvPr id="9" name="cmd_67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8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8 min   👥 pairs</a:t>
            </a:r>
            <a:endParaRPr lang="en-US" sz="950" dirty="0"/>
          </a:p>
        </p:txBody>
      </p:sp>
      <p:sp>
        <p:nvSpPr>
          <p:cNvPr id="11" name="tag_68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6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8A-2 · Extra · role play   ·   📖 Writing p.121 (the job advert) · links to the covering-email homework</a:t>
            </a:r>
            <a:endParaRPr lang="en-US" sz="800" dirty="0"/>
          </a:p>
        </p:txBody>
      </p:sp>
      <p:sp>
        <p:nvSpPr>
          <p:cNvPr id="14" name="st_684"/>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685"/>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686" descr="/home/claude/lls-course/v2/cache/spare_work_job_interview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7" name="cd_687"/>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688"/>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689"/>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690"/>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I'm good at -ing · I enjoy -ing</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I'd like to… · I'd love to…</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I've worked as a… · I don't mind -ing</a:t>
            </a:r>
            <a:endParaRPr lang="en-US" sz="900" dirty="0"/>
          </a:p>
        </p:txBody>
      </p:sp>
      <p:sp>
        <p:nvSpPr>
          <p:cNvPr id="21" name="R1_qb691"/>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692"/>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Why do you want this job?</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Because I'd love to work at a big sports event.</a:t>
            </a:r>
            <a:endParaRPr lang="en-US" sz="1250" dirty="0"/>
          </a:p>
        </p:txBody>
      </p:sp>
      <p:sp>
        <p:nvSpPr>
          <p:cNvPr id="23" name="R2_qb693"/>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694"/>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are you good at?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I'm very good at working in a team and solving problems.</a:t>
            </a:r>
            <a:endParaRPr lang="en-US" sz="1250" dirty="0"/>
          </a:p>
        </p:txBody>
      </p:sp>
      <p:sp>
        <p:nvSpPr>
          <p:cNvPr id="25" name="R3_qb695"/>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696"/>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Have you got any experience?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Yes, I've worked as a waiter, so I don't mind working long hours.</a:t>
            </a:r>
            <a:endParaRPr lang="en-US" sz="1250" dirty="0"/>
          </a:p>
        </p:txBody>
      </p:sp>
      <p:sp>
        <p:nvSpPr>
          <p:cNvPr id="27" name="R4_qb697"/>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698"/>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languages do you speak?</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 speak Italian and English, and I'm learning to speak Spanish.</a:t>
            </a:r>
            <a:endParaRPr lang="en-US" sz="1250" dirty="0"/>
          </a:p>
        </p:txBody>
      </p:sp>
      <p:sp>
        <p:nvSpPr>
          <p:cNvPr id="29" name="R5_qb699"/>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700"/>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Interviewer: decide!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"You've got the job!" / "I'm sorry, but…"</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8A-2 The right job for you</dc:title>
  <dc:subject>PptxGenJS Presentation</dc:subject>
  <dc:creator>PptxGenJS</dc:creator>
  <cp:lastModifiedBy>PptxGenJS</cp:lastModifiedBy>
  <cp:revision>1</cp:revision>
  <dcterms:created xsi:type="dcterms:W3CDTF">2026-10-12T17:11:36Z</dcterms:created>
  <dcterms:modified xsi:type="dcterms:W3CDTF">2026-10-12T17:11:36Z</dcterms:modified>
</cp:coreProperties>
</file>