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people presenting a product to serious investors on TV. Ask the THINK question; give 30 seconds, then take 3–4 ideas. Click 1 = the example answer (model it with enthusiasm). Ask: 'Have you ever seen a programme like this?' Read the 'Today you're going to…' list together. Don't teach the business words yet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block from students (e.g. 'What do you enjoy doing at work?' / 'What would you like to do?'). Point at the → lines: they tell you which form. Quick check of the key words: 'Resign or be sacked – which is your decision?' (resign). Then play 'Stand up, sit down!': the sentences in the game use exactly these forms and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 different format from last lesson's warmer: total physical response. Everybody sits. Read sentence 1 aloud (say 'beep' for the gap): students STAND UP if the verb takes -ing, SIT DOWN / stay seated for to + infinitive, and put their HANDS UP for the infinitive without to. Then click to show the answer. Anyone who moves the wrong way becomes a 'referee'. Ask WHY after each one (rules from Grammar Bank 8A): 1 after enjoy · 2 after decide · 3 make + person + inf. · 4 after a preposition (at) · 5 after an adjective · 6 subject of the sentence · 7 after a modal · 8 purpose (= in order to). Speed up for the last items. ICQs: 'Gerund – what do you do?' (stand up) · 'Must + verb?' (hands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business words (3 min)
ELICIT FIRST (3 min) – pre-teach only the words students need for the reading and the final role play. Demo item 0 (den – from the book glossary). Pairs explain each word in English; click once per item. Definitions 1–2 and 0 are from the SB glossary. Drill pronunciation: entrepreneur /ˌɒntrəprəˈnɜː/ (stress at the END – French word), profits /ˈprɒfɪts/, invest /ɪnˈvest/. Ask a CCQ: 'If the Dragons say "I'm out", do you get the money?' (no). ICQ: 'Are you writing or talking?' (talking).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ONE click shows all the Italian and the warning. Spend 20 seconds on the traps: 'a share' (noun) = una quota; 'pitch' has many meanings (football pitch, a pitch = presentation); 'succedere' is NOT 'succeed' – it means 'happen'. Quick CCQ: 'The Dragons take 25% of the profits – is that a share?'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prediction (2 min)
PREDICTION (2 min). Books CLOSED. Read the introduction aloud. Pairs look at the number bank and guess: When did the show start? How many minutes do contestants have? How many Dragons? How many businesses have the Dragons invested in? Every pair must commit to a guess before the next slide. ICQ: 'Are you reading the book now?' (no –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In the Dragons' Den (3 min)
READ + CHECK (3 min). Pairs guess gaps 1–5 (numbers from the bank, words from slide 4). Then books OPEN at p.78: they read the first part of the article and check. Click once per gap: the answer appears highlighted IN the text. Answers (SB text): 1 2005 · 2 three · 3 five · 4 invest · 5 profits. Then the book's 5a questions 1–2 (TG): 1 Who are the Dragons? → five multi-millionaires who have made their fortunes through business · 2 Where do the contestants meet them? → in 'the Den', the room where the programme is filmed.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In the Dragons' Den (2 min)
READ + CHECK (2 min). Same procedure. Answers (SB text): 6 entrepreneurs · 7 pitch · 8 I'm out · 9 250. Then 5a question 3 (TG): How does the programme work? → the contestants present their product to the Dragons in three minutes; the Dragons ask them questions and decide whether or not to invest; if they decide not to invest, they say 'I'm out'. Question 4 (1 minute, whole class): Is there a similar TV programme in Italy? Have you watched it? Accept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three products (3 min)
READ (3 min). Students read about the three products (SB p.78, 5b – shortened on the slide). Explain (TG): Slappie – you slap it on your wrist and the strap closes; Tangle Teezer – tangled hair = hair full of knots, hard to comb. Each student decides alone: invest or 'I'm out' for each product? Don't give answers yet – the next slide is the game. ICQ: 'Do you know what the Dragons did?' (no –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game · jigsaw (5 min)
GAME 2 + JIGSAW READING (5 min). 1 (1 min) Teams write their bets for the 3 products (5b: which one did the Dragons invest in and has been successful? which didn't they invest in and has been a failure? which didn't they invest in, but has been very successful?). 2 (3 min) 5c: groups of three – A reads Tingatang (p.109), B Slappie watches (p.113), C Tangle Teezer (p.114); each tells the group what happened. 3 Click once per product; 1 point per correct bet. Answers (TG): Slappie watches = invested + successful · Tingatang = not invested + a failure · Tangle Teezer = not invested but very successful. Row 4 = 5d (whole class, 1 min): Which would you buy? Were the Dragons wrong about Tangle Teezer? ICQ: 'Do you read all three texts?' (no – only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Part 1 (5 min)
LISTENING PART 1 (5 min). 6a: show the photo of Joe and Jake's product (Frame Again: online photo printing and framing; they asked for £60,000 for 20%). 'Do you think they were successful?' Show of hands – don't say. Pairs guess T/F first. 6b: play 8.9 once; students mark T or F. 6c: play again; they correct the false ones. Click once per sentence. Answers (TG): 1 F (Joe applied without telling Jake.) · 2 F (They worked very hard and practised a lot.) · 3 T · 4 F (They practised their pitch the night before and they prepared the furniture they needed.) · 5 T · 6 F (They were the first contestants.) · 7 T · 8 F (Contestants aren't allowed to meet the Dragons before they go on.) Fun detail from the script: if you go to the toilet, someone has to escort you in case you meet a Dragon! ICQ: 'Do you write T or F the first time?' (yes – correct them the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Part 2 (5 min)
LISTENING PART 2 (5 min). Before listening (curiosity gap): 'Four Dragons said I'm out. What did the fifth Dragon do?' 6d: play 8.10 once. Answer (TG): they were offered a JOB, not an investment in their business. 6e: play again, pausing after each answer; students make notes. Click once per line. Answers (TG): 1 He smiled at her to help himself relax, but she just stared at him to make him feel nervous. 2 Jake forgot his first words, which he never usually does. 3 Four of the Dragons said 'I'm out' to show they weren't interested in investing. 4 Peter is incredibly tall – more than two metres – which makes him scary. 5 Peter owns a big chain of camera shops called Jessops. 6 Peter offered them a job, which has never happened on Dragons' Den before. Pictures: A = Joe and Jake's business, B = the job offer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Part 3 (3 min)
LISTENING PART 3 (3 min). Forced choice first (item 0): Peter offers you a job with a very good salary. Yes or no? Hands up; 2 students give a reason. Play 8.11; click once per question. Answers (TG + script): Joe and Jake decided not to accept the jobs, because it wasn't a good time and they were enjoying running their own business. Yes, they think it was the right decision – they have never regretted saying no. Frame Again was successful and they sold the business 'this year' (but not to one of the Dragons – 'that would have been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Noticing · Joe's interview (3 min)
NOTICING (3 min) – links today's listening to last lesson's grammar. Lines are from the audio script (8.9–8.11; the line 'Have you ever regretted…' is the interviewer). Pairs find the gerunds and infinitives; click once per line to highlight. After each line ask WHY: telling – after a preposition (without) · running – go + -ing (activities) · repeating – -ing (while doing) · to do – after want · to smile – after be (what I wanted was…) · making – after a preposition (of) · to make – purpose · feel – make + person + infinitive without to · to make – after have · saying – after regret · running – after enjoy. Exam tip for the class: 'enjoy, regret, mind + -ing' are tested often (B1 Preliminary / B2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the model pitch (3 min)
THE MODEL PITCH (3 min). 7a: students read questions A–E (teach slogan if needed – slide 4) and guess the order. Play 8.12: Joe and Jake's real pitch. In what order do they answer the questions? Click once per question. Answers (TG): A 4 · B 2 · C 1 · D 5 · E 3. Content from the script: C Jake and Joe, Frame Again · B an online service: upload your photo, choose the colours of your frame, we print, frame and deliver it the next day · E smartphone photographers and Instagram users – a square frame · A £12.99 · D 'Printed, framed, and delivered in 24 hours.' Did you hear the mistake at the start? (Jake: 'I'm Joe and this is Jake. Oh no, sorry, I'm Jake…' – nerves!) This order is the plan for their own pitch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prepare your pitch (5 min)
PREPARATION (5 min). 7b: pairs choose one of the products in the book (or invent their own) and answer the 5 questions – in the order of Joe and Jake's pitch. The questions appear one per click with the model answers for an invented product, SunBag (the same model as the homework). 7c: go through the 'Presenting a product' box (Good morning. I'm…, and this is…, and we're here to tell you about our new product… · It's a…, and it's called… · This product is for… · We think it will be very popular because… · It will cost… · Our slogan is…). Rules: max 1 minute, BOTH partners speak, must include a price and a slogan. Monitor: help with vocabulary and push gerunds/infinitives (It's easy to use · perfect for taking… · you don't need to…). Ideas if they're stuck: an app that finds free parking in Palermo, a cannolo delivery service, an umbrella that tells you when it will rain. Choose 3–4 students as the Dragons now – they prepare questions instead of a pitch. ICQs: 'How long is the pitch?' (1 minute) · 'Who speaks?'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role play (7 min)
DRAGONS' DEN ROLE PLAY (7 min). 3–4 Dragons sit at the front; each has €100,000 (imaginary!). Click once per row to give the Dragons their language before the first pitch. Each pair has ONE minute (teacher keeps the time); each Dragon asks one question, then invests or says 'I'm out because…' (a reason is compulsory). Every Dragon must invest in at least one product. Keep a scoreboard of money invested on the board. With a big class, run two 'Dens' at the same time. 7d: the rest of the class also has money to invest – after all the pitches, everyone votes for one product (not their own). Feedback: best product, best slogan, best presenters; then 1–2 minutes of delayed error correction from your notes (watch for: ✗ enjoy to use · ✗ It costs to · ✗ I'm interesting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business words (entrepreneur, invest, pitch, profits, contestant, slogan…), 2 things that happened to Joe and Jake (e.g. Jake forgot his first words; Peter offered them a job; they decided not to take it), 1 slogan. A few pairs share. Homework (on the slide and in the app): Workbook 8A 1c (word-building), 1d (words with different meanings), 2a (word stress), 3c (gerunds and infinitives) + Writing 'A covering email' p.121 (c): write a covering email for one of the jobs, 15–20 minutes, formal style (no contractions; Dear Sir / Madam … Yours faithfully) + the 8A-2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Extra · reverse pitch (8 min)
EXTRA (8 min, if there's time). Reverse the obvious + humour. Give each pair one useless product (click to show a model 'advantage' for each, or let them invent). Pairs have 3 minutes to find 3 'advantages' and a slogan, then a 1-minute pitch; the Dragons must keep a straight face. Vote: who almost convinced you? The useless products force creative language with gerunds and infinitives (It's ideal for… · You'll never need to… · It's easy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 role play (8 min)
EXTRA (8 min). Role play + recycling of 8A grammar and vocabulary. A = interviewer, B = candidate for one of the jobs in the Writing advert on p.121 (World Athletics Championships). Questions appear one per click with model answers. 2 minutes per interview, then swap. The class can vote for the most convincing candidate. Remind them of the 6B charisma tips (eye contact,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pp.78–79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8A-2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right job for you</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Dragons' Den · pitch your idea</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a TV show for entrepreneurs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 contestant's story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spot -ing and to + infinitive in real speech</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pitch your own product to the 'Dragons'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sell an app that finds free parking in Palermo – everybody needs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You have 3 minutes to sell an idea. What is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spare_work_place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8A part 1 (6 Oct): work words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gerunds and infinitives · 'Someone you know'</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-ing (gerund)</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enjoy helping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good at solving problems.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Working shifts is tiring.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enjoy, don't mind · after prepositions · as the subject</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to + infinitive / infinitive</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decided to resign.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difficult to find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boss made me do overtime.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decide, want · after adjectives · after make, let, must, can</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 overtime</a:t>
            </a:r>
            <a:endParaRPr lang="en-US" sz="1050" dirty="0"/>
          </a:p>
        </p:txBody>
      </p:sp>
      <p:sp>
        <p:nvSpPr>
          <p:cNvPr id="27" name="w_41"/>
          <p:cNvSpPr/>
          <p:nvPr/>
        </p:nvSpPr>
        <p:spPr>
          <a:xfrm>
            <a:off x="4494276"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promoted</a:t>
            </a:r>
            <a:endParaRPr lang="en-US" sz="1050" dirty="0"/>
          </a:p>
        </p:txBody>
      </p:sp>
      <p:sp>
        <p:nvSpPr>
          <p:cNvPr id="28" name="w_42"/>
          <p:cNvSpPr/>
          <p:nvPr/>
        </p:nvSpPr>
        <p:spPr>
          <a:xfrm>
            <a:off x="582015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work shifts</a:t>
            </a:r>
            <a:endParaRPr lang="en-US" sz="1050" dirty="0"/>
          </a:p>
        </p:txBody>
      </p:sp>
      <p:sp>
        <p:nvSpPr>
          <p:cNvPr id="29" name="w_43"/>
          <p:cNvSpPr/>
          <p:nvPr/>
        </p:nvSpPr>
        <p:spPr>
          <a:xfrm>
            <a:off x="7068312"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sacked</a:t>
            </a:r>
            <a:endParaRPr lang="en-US" sz="1050" dirty="0"/>
          </a:p>
        </p:txBody>
      </p:sp>
      <p:sp>
        <p:nvSpPr>
          <p:cNvPr id="30" name="w_44"/>
          <p:cNvSpPr/>
          <p:nvPr/>
        </p:nvSpPr>
        <p:spPr>
          <a:xfrm>
            <a:off x="3246120" y="454456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resign</a:t>
            </a:r>
            <a:endParaRPr lang="en-US" sz="1050" dirty="0"/>
          </a:p>
        </p:txBody>
      </p:sp>
      <p:sp>
        <p:nvSpPr>
          <p:cNvPr id="31" name="w_45"/>
          <p:cNvSpPr/>
          <p:nvPr/>
        </p:nvSpPr>
        <p:spPr>
          <a:xfrm>
            <a:off x="4105656"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retire</a:t>
            </a:r>
            <a:endParaRPr lang="en-US" sz="1050" dirty="0"/>
          </a:p>
        </p:txBody>
      </p:sp>
      <p:sp>
        <p:nvSpPr>
          <p:cNvPr id="32" name="w_46"/>
          <p:cNvSpPr/>
          <p:nvPr/>
        </p:nvSpPr>
        <p:spPr>
          <a:xfrm>
            <a:off x="496519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 a business</a:t>
            </a:r>
            <a:endParaRPr lang="en-US" sz="1050" dirty="0"/>
          </a:p>
        </p:txBody>
      </p:sp>
      <p:sp>
        <p:nvSpPr>
          <p:cNvPr id="33" name="w_47"/>
          <p:cNvSpPr/>
          <p:nvPr/>
        </p:nvSpPr>
        <p:spPr>
          <a:xfrm>
            <a:off x="667969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self-employed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Stand up, sit down!</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52"/>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-ing: stand up! to: sit down! inf.: hands up!</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-ing: in piedi! to: seduti! inf.: mani su!</a:t>
            </a:r>
            <a:endParaRPr lang="en-US" sz="950" dirty="0"/>
          </a:p>
        </p:txBody>
      </p:sp>
      <p:sp>
        <p:nvSpPr>
          <p:cNvPr id="9"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Warmer · last lesson   ·   📖 Recycles 6 Oct (8A-1): gerunds and infinitives, work words · Grammar Bank 8A p.146</a:t>
            </a:r>
            <a:endParaRPr lang="en-US" sz="800" dirty="0"/>
          </a:p>
        </p:txBody>
      </p:sp>
      <p:sp>
        <p:nvSpPr>
          <p:cNvPr id="13"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-ing → STAND UP.</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to + infinitive → SIT DOWN.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infinitive (no to) → HANDS UP!</a:t>
            </a:r>
            <a:endParaRPr lang="en-US" sz="1150" dirty="0"/>
          </a:p>
        </p:txBody>
      </p:sp>
      <p:sp>
        <p:nvSpPr>
          <p:cNvPr id="17" name="pf_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 descr="/home/claude/lls-course/v2/cache/spare_work_career_chang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4"/>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really enjoy ___. (cook)</a:t>
            </a:r>
            <a:endParaRPr lang="en-US" sz="1100" dirty="0"/>
          </a:p>
        </p:txBody>
      </p:sp>
      <p:sp>
        <p:nvSpPr>
          <p:cNvPr id="21" name="R1_chip66"/>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cooking · STAND UP</a:t>
            </a:r>
            <a:endParaRPr lang="en-US" sz="1100" dirty="0"/>
          </a:p>
        </p:txBody>
      </p:sp>
      <p:sp>
        <p:nvSpPr>
          <p:cNvPr id="22" name="bd_67"/>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decided ___. (resign)</a:t>
            </a:r>
            <a:endParaRPr lang="en-US" sz="1100" dirty="0"/>
          </a:p>
        </p:txBody>
      </p:sp>
      <p:sp>
        <p:nvSpPr>
          <p:cNvPr id="24" name="R2_chip69"/>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resign · SIT DOWN</a:t>
            </a:r>
            <a:endParaRPr lang="en-US" sz="1100" dirty="0"/>
          </a:p>
        </p:txBody>
      </p:sp>
      <p:sp>
        <p:nvSpPr>
          <p:cNvPr id="25" name="bd_70"/>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boss made me ___ overtime. (do)</a:t>
            </a:r>
            <a:endParaRPr lang="en-US" sz="1100" dirty="0"/>
          </a:p>
        </p:txBody>
      </p:sp>
      <p:sp>
        <p:nvSpPr>
          <p:cNvPr id="27" name="R3_chip72"/>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 HANDS UP</a:t>
            </a:r>
            <a:endParaRPr lang="en-US" sz="1100" dirty="0"/>
          </a:p>
        </p:txBody>
      </p:sp>
      <p:sp>
        <p:nvSpPr>
          <p:cNvPr id="28" name="bd_73"/>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He's good at ___ problems. (solve)</a:t>
            </a:r>
            <a:endParaRPr lang="en-US" sz="1100" dirty="0"/>
          </a:p>
        </p:txBody>
      </p:sp>
      <p:sp>
        <p:nvSpPr>
          <p:cNvPr id="30" name="R4_chip75"/>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solving · STAND UP</a:t>
            </a:r>
            <a:endParaRPr lang="en-US" sz="1100" dirty="0"/>
          </a:p>
        </p:txBody>
      </p:sp>
      <p:sp>
        <p:nvSpPr>
          <p:cNvPr id="31" name="bd_76"/>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difficult ___ a job. (find)</a:t>
            </a:r>
            <a:endParaRPr lang="en-US" sz="1100" dirty="0"/>
          </a:p>
        </p:txBody>
      </p:sp>
      <p:sp>
        <p:nvSpPr>
          <p:cNvPr id="33" name="R5_chip78"/>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find · SIT DOWN</a:t>
            </a:r>
            <a:endParaRPr lang="en-US" sz="1100" dirty="0"/>
          </a:p>
        </p:txBody>
      </p:sp>
      <p:sp>
        <p:nvSpPr>
          <p:cNvPr id="34" name="bd_79"/>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shifts is tiring. (work)</a:t>
            </a:r>
            <a:endParaRPr lang="en-US" sz="1100" dirty="0"/>
          </a:p>
        </p:txBody>
      </p:sp>
      <p:sp>
        <p:nvSpPr>
          <p:cNvPr id="36" name="R6_chip81"/>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Working · STAND UP</a:t>
            </a:r>
            <a:endParaRPr lang="en-US" sz="1100" dirty="0"/>
          </a:p>
        </p:txBody>
      </p:sp>
      <p:sp>
        <p:nvSpPr>
          <p:cNvPr id="37" name="bd_82"/>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8" name="gq_83"/>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 ___ online. (apply)</a:t>
            </a:r>
            <a:endParaRPr lang="en-US" sz="1100" dirty="0"/>
          </a:p>
        </p:txBody>
      </p:sp>
      <p:sp>
        <p:nvSpPr>
          <p:cNvPr id="39" name="R7_chip84"/>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apply · HANDS UP</a:t>
            </a:r>
            <a:endParaRPr lang="en-US" sz="1100" dirty="0"/>
          </a:p>
        </p:txBody>
      </p:sp>
      <p:sp>
        <p:nvSpPr>
          <p:cNvPr id="40" name="bd_85"/>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1" name="gq_86"/>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saving ___ a business. (set up)</a:t>
            </a:r>
            <a:endParaRPr lang="en-US" sz="1100" dirty="0"/>
          </a:p>
        </p:txBody>
      </p:sp>
      <p:sp>
        <p:nvSpPr>
          <p:cNvPr id="42" name="R8_chip87"/>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set up · SIT DOWN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a:t>
            </a:r>
            <a:endParaRPr lang="en-US" sz="2500" dirty="0"/>
          </a:p>
        </p:txBody>
      </p:sp>
      <p:pic>
        <p:nvPicPr>
          <p:cNvPr id="6" name="brP_91"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2"/>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the words mean? Explain!</a:t>
            </a:r>
            <a:endParaRPr lang="en-US" sz="1250" dirty="0"/>
          </a:p>
        </p:txBody>
      </p:sp>
      <p:sp>
        <p:nvSpPr>
          <p:cNvPr id="8" name="insIT_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significano le parole? Spiega!</a:t>
            </a:r>
            <a:endParaRPr lang="en-US" sz="950" dirty="0"/>
          </a:p>
        </p:txBody>
      </p:sp>
      <p:sp>
        <p:nvSpPr>
          <p:cNvPr id="9" name="cmd_94"/>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9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Vocabulary · business words   ·   📖 SB p.78 · 5a Glossary (den, entrepreneur, make a pitch) + TG</a:t>
            </a:r>
            <a:endParaRPr lang="en-US" sz="800" dirty="0"/>
          </a:p>
        </p:txBody>
      </p:sp>
      <p:sp>
        <p:nvSpPr>
          <p:cNvPr id="13" name="cd_9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01"/>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den → the hidden home of a wild animal (e.g. a dragon!)</a:t>
            </a:r>
            <a:endParaRPr lang="en-US" sz="1050" dirty="0"/>
          </a:p>
        </p:txBody>
      </p:sp>
      <p:sp>
        <p:nvSpPr>
          <p:cNvPr id="17" name="pf_10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03"/>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8a2-investors.jpg</a:t>
            </a:r>
            <a:endParaRPr lang="en-US" sz="900" dirty="0"/>
          </a:p>
        </p:txBody>
      </p:sp>
      <p:sp>
        <p:nvSpPr>
          <p:cNvPr id="19" name="bd_104"/>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05"/>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an entrepreneur</a:t>
            </a:r>
            <a:endParaRPr lang="en-US" sz="1150" dirty="0"/>
          </a:p>
        </p:txBody>
      </p:sp>
      <p:sp>
        <p:nvSpPr>
          <p:cNvPr id="21" name="R1_chip106"/>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makes money by starting or running businesses</a:t>
            </a:r>
            <a:endParaRPr lang="en-US" sz="1000" dirty="0"/>
          </a:p>
        </p:txBody>
      </p:sp>
      <p:sp>
        <p:nvSpPr>
          <p:cNvPr id="22" name="bd_107"/>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08"/>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make a pitch</a:t>
            </a:r>
            <a:endParaRPr lang="en-US" sz="1150" dirty="0"/>
          </a:p>
        </p:txBody>
      </p:sp>
      <p:sp>
        <p:nvSpPr>
          <p:cNvPr id="24" name="R2_chip109"/>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present something you're trying to sell</a:t>
            </a:r>
            <a:endParaRPr lang="en-US" sz="1000" dirty="0"/>
          </a:p>
        </p:txBody>
      </p:sp>
      <p:sp>
        <p:nvSpPr>
          <p:cNvPr id="25" name="bd_110"/>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11"/>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contestant</a:t>
            </a:r>
            <a:endParaRPr lang="en-US" sz="1150" dirty="0"/>
          </a:p>
        </p:txBody>
      </p:sp>
      <p:sp>
        <p:nvSpPr>
          <p:cNvPr id="27" name="R3_chip112"/>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takes part in a TV show or competition</a:t>
            </a:r>
            <a:endParaRPr lang="en-US" sz="1000" dirty="0"/>
          </a:p>
        </p:txBody>
      </p:sp>
      <p:sp>
        <p:nvSpPr>
          <p:cNvPr id="28" name="bd_113"/>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14"/>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invest (money in…)</a:t>
            </a:r>
            <a:endParaRPr lang="en-US" sz="1150" dirty="0"/>
          </a:p>
        </p:txBody>
      </p:sp>
      <p:sp>
        <p:nvSpPr>
          <p:cNvPr id="30" name="R4_chip115"/>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money into a business to make more money</a:t>
            </a:r>
            <a:endParaRPr lang="en-US" sz="1000" dirty="0"/>
          </a:p>
        </p:txBody>
      </p:sp>
      <p:sp>
        <p:nvSpPr>
          <p:cNvPr id="31" name="bd_116"/>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17"/>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share in the profits</a:t>
            </a:r>
            <a:endParaRPr lang="en-US" sz="1150" dirty="0"/>
          </a:p>
        </p:txBody>
      </p:sp>
      <p:sp>
        <p:nvSpPr>
          <p:cNvPr id="33" name="R5_chip118"/>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part of the money the business makes</a:t>
            </a:r>
            <a:endParaRPr lang="en-US" sz="1000" dirty="0"/>
          </a:p>
        </p:txBody>
      </p:sp>
      <p:sp>
        <p:nvSpPr>
          <p:cNvPr id="34" name="bd_119"/>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20"/>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success / a failure</a:t>
            </a:r>
            <a:endParaRPr lang="en-US" sz="1150" dirty="0"/>
          </a:p>
        </p:txBody>
      </p:sp>
      <p:sp>
        <p:nvSpPr>
          <p:cNvPr id="36" name="R6_chip121"/>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works and makes money / it doesn't work</a:t>
            </a:r>
            <a:endParaRPr lang="en-US" sz="1000" dirty="0"/>
          </a:p>
        </p:txBody>
      </p:sp>
      <p:sp>
        <p:nvSpPr>
          <p:cNvPr id="37" name="bd_122"/>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123"/>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"I'm out."</a:t>
            </a:r>
            <a:endParaRPr lang="en-US" sz="1150" dirty="0"/>
          </a:p>
        </p:txBody>
      </p:sp>
      <p:sp>
        <p:nvSpPr>
          <p:cNvPr id="39" name="R7_chip124"/>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show) = I'm not going to invest</a:t>
            </a:r>
            <a:endParaRPr lang="en-US" sz="1000" dirty="0"/>
          </a:p>
        </p:txBody>
      </p:sp>
      <p:sp>
        <p:nvSpPr>
          <p:cNvPr id="40" name="bd_125"/>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1" name="q_126"/>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slogan</a:t>
            </a:r>
            <a:endParaRPr lang="en-US" sz="1150" dirty="0"/>
          </a:p>
        </p:txBody>
      </p:sp>
      <p:sp>
        <p:nvSpPr>
          <p:cNvPr id="42" name="R8_chip127"/>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short, catchy phrase for advertising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9"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130"/>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 in Italian</a:t>
            </a:r>
            <a:endParaRPr lang="en-US" sz="2500" dirty="0"/>
          </a:p>
        </p:txBody>
      </p:sp>
      <p:pic>
        <p:nvPicPr>
          <p:cNvPr id="6" name="brP_13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34"/>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13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1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Vocabulary · in Italian</a:t>
            </a:r>
            <a:endParaRPr lang="en-US" sz="800" dirty="0"/>
          </a:p>
        </p:txBody>
      </p:sp>
      <p:sp>
        <p:nvSpPr>
          <p:cNvPr id="13" name="cd_13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13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14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entrepreneur</a:t>
            </a:r>
            <a:endParaRPr lang="en-US" sz="1200" dirty="0"/>
          </a:p>
        </p:txBody>
      </p:sp>
      <p:sp>
        <p:nvSpPr>
          <p:cNvPr id="16" name="R1_it14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imprenditore / imprenditrice</a:t>
            </a:r>
            <a:endParaRPr lang="en-US" sz="1000" dirty="0"/>
          </a:p>
        </p:txBody>
      </p:sp>
      <p:sp>
        <p:nvSpPr>
          <p:cNvPr id="17" name="cd_14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14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4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make a pitch</a:t>
            </a:r>
            <a:endParaRPr lang="en-US" sz="1200" dirty="0"/>
          </a:p>
        </p:txBody>
      </p:sp>
      <p:sp>
        <p:nvSpPr>
          <p:cNvPr id="20" name="R1_it14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presentare un'idea per venderla</a:t>
            </a:r>
            <a:endParaRPr lang="en-US" sz="1000" dirty="0"/>
          </a:p>
        </p:txBody>
      </p:sp>
      <p:sp>
        <p:nvSpPr>
          <p:cNvPr id="21" name="cd_14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4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4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contestant</a:t>
            </a:r>
            <a:endParaRPr lang="en-US" sz="1200" dirty="0"/>
          </a:p>
        </p:txBody>
      </p:sp>
      <p:sp>
        <p:nvSpPr>
          <p:cNvPr id="24" name="R1_it14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concorrente</a:t>
            </a:r>
            <a:endParaRPr lang="en-US" sz="1000" dirty="0"/>
          </a:p>
        </p:txBody>
      </p:sp>
      <p:sp>
        <p:nvSpPr>
          <p:cNvPr id="25" name="cd_15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5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5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invest</a:t>
            </a:r>
            <a:endParaRPr lang="en-US" sz="1200" dirty="0"/>
          </a:p>
        </p:txBody>
      </p:sp>
      <p:sp>
        <p:nvSpPr>
          <p:cNvPr id="28" name="R1_it15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investire</a:t>
            </a:r>
            <a:endParaRPr lang="en-US" sz="1000" dirty="0"/>
          </a:p>
        </p:txBody>
      </p:sp>
      <p:sp>
        <p:nvSpPr>
          <p:cNvPr id="29" name="cd_15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5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5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share</a:t>
            </a:r>
            <a:endParaRPr lang="en-US" sz="1200" dirty="0"/>
          </a:p>
        </p:txBody>
      </p:sp>
      <p:sp>
        <p:nvSpPr>
          <p:cNvPr id="32" name="R1_it15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quota</a:t>
            </a:r>
            <a:endParaRPr lang="en-US" sz="1000" dirty="0"/>
          </a:p>
        </p:txBody>
      </p:sp>
      <p:sp>
        <p:nvSpPr>
          <p:cNvPr id="33" name="cd_15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5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6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profits</a:t>
            </a:r>
            <a:endParaRPr lang="en-US" sz="1200" dirty="0"/>
          </a:p>
        </p:txBody>
      </p:sp>
      <p:sp>
        <p:nvSpPr>
          <p:cNvPr id="36" name="R1_it16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profitti, utili</a:t>
            </a:r>
            <a:endParaRPr lang="en-US" sz="1000" dirty="0"/>
          </a:p>
        </p:txBody>
      </p:sp>
      <p:sp>
        <p:nvSpPr>
          <p:cNvPr id="37" name="cd_16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6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6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success / failure</a:t>
            </a:r>
            <a:endParaRPr lang="en-US" sz="1200" dirty="0"/>
          </a:p>
        </p:txBody>
      </p:sp>
      <p:sp>
        <p:nvSpPr>
          <p:cNvPr id="40" name="R1_it16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successo / fallimento</a:t>
            </a:r>
            <a:endParaRPr lang="en-US" sz="1000" dirty="0"/>
          </a:p>
        </p:txBody>
      </p:sp>
      <p:sp>
        <p:nvSpPr>
          <p:cNvPr id="41" name="cd_16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6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6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"I'm out."</a:t>
            </a:r>
            <a:endParaRPr lang="en-US" sz="1200" dirty="0"/>
          </a:p>
        </p:txBody>
      </p:sp>
      <p:sp>
        <p:nvSpPr>
          <p:cNvPr id="44" name="R1_it16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"Io non ci sto." (non investo)</a:t>
            </a:r>
            <a:endParaRPr lang="en-US" sz="1000" dirty="0"/>
          </a:p>
        </p:txBody>
      </p:sp>
      <p:sp>
        <p:nvSpPr>
          <p:cNvPr id="45" name="cd_17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7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7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slogan</a:t>
            </a:r>
            <a:endParaRPr lang="en-US" sz="1200" dirty="0"/>
          </a:p>
        </p:txBody>
      </p:sp>
      <p:sp>
        <p:nvSpPr>
          <p:cNvPr id="48" name="R1_it17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slogan pubblicitario</a:t>
            </a:r>
            <a:endParaRPr lang="en-US" sz="1000" dirty="0"/>
          </a:p>
        </p:txBody>
      </p:sp>
      <p:sp>
        <p:nvSpPr>
          <p:cNvPr id="49" name="cd_17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7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7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den</a:t>
            </a:r>
            <a:endParaRPr lang="en-US" sz="1200" dirty="0"/>
          </a:p>
        </p:txBody>
      </p:sp>
      <p:sp>
        <p:nvSpPr>
          <p:cNvPr id="52" name="R1_it17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tana</a:t>
            </a:r>
            <a:endParaRPr lang="en-US" sz="1000" dirty="0"/>
          </a:p>
        </p:txBody>
      </p:sp>
      <p:sp>
        <p:nvSpPr>
          <p:cNvPr id="53" name="cd_17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7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8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product</a:t>
            </a:r>
            <a:endParaRPr lang="en-US" sz="1200" dirty="0"/>
          </a:p>
        </p:txBody>
      </p:sp>
      <p:sp>
        <p:nvSpPr>
          <p:cNvPr id="56" name="R1_it18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prodotto</a:t>
            </a:r>
            <a:endParaRPr lang="en-US" sz="1000" dirty="0"/>
          </a:p>
        </p:txBody>
      </p:sp>
      <p:sp>
        <p:nvSpPr>
          <p:cNvPr id="57" name="cd_18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8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8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business</a:t>
            </a:r>
            <a:endParaRPr lang="en-US" sz="1200" dirty="0"/>
          </a:p>
        </p:txBody>
      </p:sp>
      <p:sp>
        <p:nvSpPr>
          <p:cNvPr id="60" name="R1_it18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un'attività, un'azienda</a:t>
            </a:r>
            <a:endParaRPr lang="en-US" sz="1000" dirty="0"/>
          </a:p>
        </p:txBody>
      </p:sp>
      <p:sp>
        <p:nvSpPr>
          <p:cNvPr id="61" name="R1_wc18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18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share = una quota (to share = condividere)  ·  pitch here ≠ campo da calcio  ·  success = successo, BUT succedere = happen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 the Dragons' Den</a:t>
            </a:r>
            <a:endParaRPr lang="en-US" sz="2500" dirty="0"/>
          </a:p>
        </p:txBody>
      </p:sp>
      <p:pic>
        <p:nvPicPr>
          <p:cNvPr id="6" name="brP_19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9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4 numbers!</a:t>
            </a:r>
            <a:endParaRPr lang="en-US" sz="1250" dirty="0"/>
          </a:p>
        </p:txBody>
      </p:sp>
      <p:sp>
        <p:nvSpPr>
          <p:cNvPr id="8" name="insIT_1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Indovina i 4 numeri!</a:t>
            </a:r>
            <a:endParaRPr lang="en-US" sz="950" dirty="0"/>
          </a:p>
        </p:txBody>
      </p:sp>
      <p:sp>
        <p:nvSpPr>
          <p:cNvPr id="9" name="cmd_194"/>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195"/>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19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prediction   ·   📖 SB p.78 · 5a</a:t>
            </a:r>
            <a:endParaRPr lang="en-US" sz="800" dirty="0"/>
          </a:p>
        </p:txBody>
      </p:sp>
      <p:sp>
        <p:nvSpPr>
          <p:cNvPr id="14" name="cd_199"/>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200"/>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In the Dragons' Den</a:t>
            </a:r>
            <a:endParaRPr lang="en-US" sz="2800" dirty="0"/>
          </a:p>
        </p:txBody>
      </p:sp>
      <p:sp>
        <p:nvSpPr>
          <p:cNvPr id="16" name="nx_201"/>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25400" tIns="1270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text on the next 2 slides has 9 gaps: the 4 numbers from the bank + 5 words from slide 4. Guess first!</a:t>
            </a:r>
            <a:endParaRPr lang="en-US" sz="1000" dirty="0"/>
          </a:p>
        </p:txBody>
      </p:sp>
      <p:sp>
        <p:nvSpPr>
          <p:cNvPr id="17" name="sf_202"/>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Dragons' Den is a UK TV series, with similar versions in many different countries. Contestants present their ideas to very rich business people, nicknamed 'the Dragons'.</a:t>
            </a:r>
            <a:endParaRPr lang="en-US" sz="1150" dirty="0"/>
          </a:p>
        </p:txBody>
      </p:sp>
      <p:sp>
        <p:nvSpPr>
          <p:cNvPr id="18" name="nbl_203"/>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204"/>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0" name="bd_205"/>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1" name="bd_206"/>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250</a:t>
            </a:r>
            <a:endParaRPr lang="en-US" sz="1000" dirty="0"/>
          </a:p>
        </p:txBody>
      </p:sp>
      <p:sp>
        <p:nvSpPr>
          <p:cNvPr id="22" name="bd_207"/>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2005</a:t>
            </a:r>
            <a:endParaRPr lang="en-US" sz="800" dirty="0"/>
          </a:p>
        </p:txBody>
      </p:sp>
      <p:sp>
        <p:nvSpPr>
          <p:cNvPr id="23" name="pf_208"/>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209"/>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1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1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21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1–5. Check in the book p.78.</a:t>
            </a:r>
            <a:endParaRPr lang="en-US" sz="1250" dirty="0"/>
          </a:p>
        </p:txBody>
      </p:sp>
      <p:sp>
        <p:nvSpPr>
          <p:cNvPr id="8" name="insIT_2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1–5. Controlla nel libro p.78.</a:t>
            </a:r>
            <a:endParaRPr lang="en-US" sz="950" dirty="0"/>
          </a:p>
        </p:txBody>
      </p:sp>
      <p:sp>
        <p:nvSpPr>
          <p:cNvPr id="9" name="cmd_21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1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21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In the Dragons' Den   ·   📖 SB p.78 · 5a (text slightly shortened)</a:t>
            </a:r>
            <a:endParaRPr lang="en-US" sz="800" dirty="0"/>
          </a:p>
        </p:txBody>
      </p:sp>
      <p:sp>
        <p:nvSpPr>
          <p:cNvPr id="14" name="cd_22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22"/>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show</a:t>
            </a:r>
            <a:endParaRPr lang="en-US" sz="1700" dirty="0"/>
          </a:p>
        </p:txBody>
      </p:sp>
      <p:sp>
        <p:nvSpPr>
          <p:cNvPr id="16" name="ln_22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2EB872"/>
                </a:solidFill>
                <a:latin typeface="Georgia" pitchFamily="34" charset="0"/>
                <a:ea typeface="Georgia" pitchFamily="34" charset="-122"/>
                <a:cs typeface="Georgia" pitchFamily="34" charset="-120"/>
              </a:rPr>
              <a:t> (1)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224"/>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2005</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22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19" name="R2_lnA226"/>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0" name="ln_22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These people are nicknamed 'the Dragons', and the intimidating room where they meet the contestants is 'the Den'.</a:t>
            </a:r>
            <a:endParaRPr lang="en-US" sz="1150" dirty="0"/>
          </a:p>
        </p:txBody>
      </p:sp>
      <p:sp>
        <p:nvSpPr>
          <p:cNvPr id="21" name="ln_22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2" name="R3_lnA22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invest</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3" name="ln_23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R4_lnA231"/>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profits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pf_232"/>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6" name="phx_233"/>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8a2-investors.jpg</a:t>
            </a:r>
            <a:endParaRPr lang="en-US" sz="900" dirty="0"/>
          </a:p>
        </p:txBody>
      </p:sp>
      <p:sp>
        <p:nvSpPr>
          <p:cNvPr id="27" name="cd_23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3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3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37"/>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den = tana</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intimidating = che mette in soggezione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241"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42"/>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6–9. Check in the book.</a:t>
            </a:r>
            <a:endParaRPr lang="en-US" sz="1250" dirty="0"/>
          </a:p>
        </p:txBody>
      </p:sp>
      <p:sp>
        <p:nvSpPr>
          <p:cNvPr id="8" name="insIT_2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6–9. Controlla nel libro.</a:t>
            </a:r>
            <a:endParaRPr lang="en-US" sz="950" dirty="0"/>
          </a:p>
        </p:txBody>
      </p:sp>
      <p:sp>
        <p:nvSpPr>
          <p:cNvPr id="9" name="cmd_244"/>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45"/>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24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2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In the Dragons' Den   ·   📖 SB p.78 · 5a (text slightly shortened)</a:t>
            </a:r>
            <a:endParaRPr lang="en-US" sz="800" dirty="0"/>
          </a:p>
        </p:txBody>
      </p:sp>
      <p:sp>
        <p:nvSpPr>
          <p:cNvPr id="14" name="cd_24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50"/>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pitch</a:t>
            </a:r>
            <a:endParaRPr lang="en-US" sz="1700" dirty="0"/>
          </a:p>
        </p:txBody>
      </p:sp>
      <p:sp>
        <p:nvSpPr>
          <p:cNvPr id="16" name="ln_25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2EB872"/>
                </a:solidFill>
                <a:latin typeface="Georgia" pitchFamily="34" charset="0"/>
                <a:ea typeface="Georgia" pitchFamily="34" charset="-122"/>
                <a:cs typeface="Georgia" pitchFamily="34" charset="-120"/>
              </a:rPr>
              <a:t> (6) _____ </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7" name="R1_lnA252"/>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entrepreneurs</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8" name="ln_253"/>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2EB872"/>
                </a:solidFill>
                <a:latin typeface="Georgia" pitchFamily="34" charset="0"/>
                <a:ea typeface="Georgia" pitchFamily="34" charset="-122"/>
                <a:cs typeface="Georgia" pitchFamily="34" charset="-120"/>
              </a:rPr>
              <a:t> (7) _____ </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19" name="R2_lnA254"/>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pitch</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0" name="ln_25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Finally, the Dragons say if they are prepared to invest or not.</a:t>
            </a:r>
            <a:endParaRPr lang="en-US" sz="1150" dirty="0"/>
          </a:p>
        </p:txBody>
      </p:sp>
      <p:sp>
        <p:nvSpPr>
          <p:cNvPr id="21" name="ln_25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2EB872"/>
                </a:solidFill>
                <a:latin typeface="Georgia" pitchFamily="34" charset="0"/>
                <a:ea typeface="Georgia" pitchFamily="34" charset="-122"/>
                <a:cs typeface="Georgia" pitchFamily="34" charset="-120"/>
              </a:rPr>
              <a:t> (8)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2" name="R3_lnA257"/>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I'm out</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ln_258"/>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2EB872"/>
                </a:solidFill>
                <a:latin typeface="Georgia" pitchFamily="34" charset="0"/>
                <a:ea typeface="Georgia" pitchFamily="34" charset="-122"/>
                <a:cs typeface="Georgia" pitchFamily="34" charset="-120"/>
              </a:rPr>
              <a:t> (9) _____ </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4" name="R4_lnA259"/>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250</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5" name="pf_26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6" name="phx_261"/>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
        <p:nvSpPr>
          <p:cNvPr id="27" name="cd_26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6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6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65"/>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dreaded = temuto</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so far = finora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6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products</a:t>
            </a:r>
            <a:endParaRPr lang="en-US" sz="2500" dirty="0"/>
          </a:p>
        </p:txBody>
      </p:sp>
      <p:pic>
        <p:nvPicPr>
          <p:cNvPr id="6" name="brP_26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7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Would you invest? Decide!</a:t>
            </a:r>
            <a:endParaRPr lang="en-US" sz="1250" dirty="0"/>
          </a:p>
        </p:txBody>
      </p:sp>
      <p:sp>
        <p:nvSpPr>
          <p:cNvPr id="8" name="insIT_2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Investiresti? Decidi!</a:t>
            </a:r>
            <a:endParaRPr lang="en-US" sz="950" dirty="0"/>
          </a:p>
        </p:txBody>
      </p:sp>
      <p:sp>
        <p:nvSpPr>
          <p:cNvPr id="9" name="cmd_27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27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three products   ·   📖 SB p.78 · 5b (texts slightly shortened)</a:t>
            </a:r>
            <a:endParaRPr lang="en-US" sz="800" dirty="0"/>
          </a:p>
        </p:txBody>
      </p:sp>
      <p:sp>
        <p:nvSpPr>
          <p:cNvPr id="13" name="cd_27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277"/>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Three products on the show</a:t>
            </a:r>
            <a:endParaRPr lang="en-US" sz="1700" dirty="0"/>
          </a:p>
        </p:txBody>
      </p:sp>
      <p:sp>
        <p:nvSpPr>
          <p:cNvPr id="15" name="ln_278"/>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TINGATANG · Gill and Clare, from Leeds, designed Tingatang, silver jewellery to show that you're single – like a wedding ring shows that you're married.</a:t>
            </a:r>
            <a:endParaRPr lang="en-US" sz="1100" dirty="0"/>
          </a:p>
        </p:txBody>
      </p:sp>
      <p:sp>
        <p:nvSpPr>
          <p:cNvPr id="16" name="ln_279"/>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 asked the Dragons to invest £500,000 in their business.</a:t>
            </a:r>
            <a:endParaRPr lang="en-US" sz="1100" dirty="0"/>
          </a:p>
        </p:txBody>
      </p:sp>
      <p:sp>
        <p:nvSpPr>
          <p:cNvPr id="17" name="ln_280"/>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SLAPPIE WATCHES · David, from Birmingham, asked for £50,000 for 25% of his company. The watches cost under £20 and have straps of many different colours.</a:t>
            </a:r>
            <a:endParaRPr lang="en-US" sz="1100" dirty="0"/>
          </a:p>
        </p:txBody>
      </p:sp>
      <p:sp>
        <p:nvSpPr>
          <p:cNvPr id="18" name="ln_28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straps and watch faces are interchangeable, so you can create your own watch.</a:t>
            </a:r>
            <a:endParaRPr lang="en-US" sz="1100" dirty="0"/>
          </a:p>
        </p:txBody>
      </p:sp>
      <p:sp>
        <p:nvSpPr>
          <p:cNvPr id="19" name="ln_282"/>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TANGLE TEEZER · Shaun, a hairdresser from London, set up a company to make brightly-coloured plastic hairbrushes – especially good at untangling hair.</a:t>
            </a:r>
            <a:endParaRPr lang="en-US" sz="1100" dirty="0"/>
          </a:p>
        </p:txBody>
      </p:sp>
      <p:sp>
        <p:nvSpPr>
          <p:cNvPr id="20" name="ln_283"/>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asked for an £80,000 investment for 15% of his company.</a:t>
            </a:r>
            <a:endParaRPr lang="en-US" sz="1100" dirty="0"/>
          </a:p>
        </p:txBody>
      </p:sp>
      <p:sp>
        <p:nvSpPr>
          <p:cNvPr id="21" name="pf_28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285"/>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8a2-jewellery.jpg</a:t>
            </a:r>
            <a:endParaRPr lang="en-US" sz="900" dirty="0"/>
          </a:p>
        </p:txBody>
      </p:sp>
      <p:sp>
        <p:nvSpPr>
          <p:cNvPr id="23" name="cd_28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28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8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289"/>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strap = cinturino</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untangle = sciogliere i nodi</a:t>
            </a:r>
            <a:endParaRPr lang="en-US" sz="1000" dirty="0"/>
          </a:p>
        </p:txBody>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9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Invest or I'm out?</a:t>
            </a:r>
            <a:endParaRPr lang="en-US" sz="2500" dirty="0"/>
          </a:p>
        </p:txBody>
      </p:sp>
      <p:pic>
        <p:nvPicPr>
          <p:cNvPr id="6" name="brP_29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9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Invest or I'm out? Bet, then find out!</a:t>
            </a:r>
            <a:endParaRPr lang="en-US" sz="1250" dirty="0"/>
          </a:p>
        </p:txBody>
      </p:sp>
      <p:sp>
        <p:nvSpPr>
          <p:cNvPr id="8" name="insIT_2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Investire o no? Scommetti, poi scoprilo!</a:t>
            </a:r>
            <a:endParaRPr lang="en-US" sz="950" dirty="0"/>
          </a:p>
        </p:txBody>
      </p:sp>
      <p:sp>
        <p:nvSpPr>
          <p:cNvPr id="9" name="cmd_296"/>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29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teams</a:t>
            </a:r>
            <a:endParaRPr lang="en-US" sz="950" dirty="0"/>
          </a:p>
        </p:txBody>
      </p:sp>
      <p:pic>
        <p:nvPicPr>
          <p:cNvPr id="11" name="logo_2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game · jigsaw   ·   📖 SB p.78 · 5b, 5c, 5d · Communication Dragons' Den A p.109, B p.113, C p.114</a:t>
            </a:r>
            <a:endParaRPr lang="en-US" sz="800" dirty="0"/>
          </a:p>
        </p:txBody>
      </p:sp>
      <p:sp>
        <p:nvSpPr>
          <p:cNvPr id="13" name="cd_30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0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303"/>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bet INVEST or I'M OUT for each product.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Groups of 3: read A p.109, B p.113, C p.114. Tell the others.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bet = 1 point.</a:t>
            </a:r>
            <a:endParaRPr lang="en-US" sz="1150" dirty="0"/>
          </a:p>
        </p:txBody>
      </p:sp>
      <p:sp>
        <p:nvSpPr>
          <p:cNvPr id="17" name="pf_30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305"/>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8a2-slap-watch.jpg</a:t>
            </a:r>
            <a:endParaRPr lang="en-US" sz="900" dirty="0"/>
          </a:p>
        </p:txBody>
      </p:sp>
      <p:sp>
        <p:nvSpPr>
          <p:cNvPr id="19" name="bd_306"/>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07"/>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Tingatang · silver jewellery for single people · £500,000</a:t>
            </a:r>
            <a:endParaRPr lang="en-US" sz="1100" dirty="0"/>
          </a:p>
        </p:txBody>
      </p:sp>
      <p:sp>
        <p:nvSpPr>
          <p:cNvPr id="21" name="R1_chip308"/>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a failure</a:t>
            </a:r>
            <a:endParaRPr lang="en-US" sz="1100" dirty="0"/>
          </a:p>
        </p:txBody>
      </p:sp>
      <p:sp>
        <p:nvSpPr>
          <p:cNvPr id="22" name="bd_309"/>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10"/>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Slappie watches · under £20 · £50,000 for 25%</a:t>
            </a:r>
            <a:endParaRPr lang="en-US" sz="1100" dirty="0"/>
          </a:p>
        </p:txBody>
      </p:sp>
      <p:sp>
        <p:nvSpPr>
          <p:cNvPr id="24" name="R2_chip311"/>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INVEST → a success</a:t>
            </a:r>
            <a:endParaRPr lang="en-US" sz="1100" dirty="0"/>
          </a:p>
        </p:txBody>
      </p:sp>
      <p:sp>
        <p:nvSpPr>
          <p:cNvPr id="25" name="bd_312"/>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13"/>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Tangle Teezer · hairbrushes · £80,000 for 15%</a:t>
            </a:r>
            <a:endParaRPr lang="en-US" sz="1100" dirty="0"/>
          </a:p>
        </p:txBody>
      </p:sp>
      <p:sp>
        <p:nvSpPr>
          <p:cNvPr id="27" name="R3_chip314"/>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but a BIG success!</a:t>
            </a:r>
            <a:endParaRPr lang="en-US" sz="1100" dirty="0"/>
          </a:p>
        </p:txBody>
      </p:sp>
      <p:sp>
        <p:nvSpPr>
          <p:cNvPr id="28" name="bd_315"/>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16"/>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Which product would YOU buy? Why?</a:t>
            </a:r>
            <a:endParaRPr lang="en-US" sz="1100" dirty="0"/>
          </a:p>
        </p:txBody>
      </p:sp>
      <p:sp>
        <p:nvSpPr>
          <p:cNvPr id="30" name="R4_chip317"/>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Slappie – it's cheap and fun to create your 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2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Joe's day in the Den</a:t>
            </a:r>
            <a:endParaRPr lang="en-US" sz="2500" dirty="0"/>
          </a:p>
        </p:txBody>
      </p:sp>
      <p:pic>
        <p:nvPicPr>
          <p:cNvPr id="6" name="brP_321"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22"/>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True or false? Correct the F.</a:t>
            </a:r>
            <a:endParaRPr lang="en-US" sz="1250" dirty="0"/>
          </a:p>
        </p:txBody>
      </p:sp>
      <p:sp>
        <p:nvSpPr>
          <p:cNvPr id="8" name="insIT_3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Vero o falso? Correggi i falsi.</a:t>
            </a:r>
            <a:endParaRPr lang="en-US" sz="950" dirty="0"/>
          </a:p>
        </p:txBody>
      </p:sp>
      <p:sp>
        <p:nvSpPr>
          <p:cNvPr id="9" name="cmd_32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25"/>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32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3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1   ·   📖 SB p.79 · 6a, 6b, 6c · audio 8.9 (script p.129)</a:t>
            </a:r>
            <a:endParaRPr lang="en-US" sz="800" dirty="0"/>
          </a:p>
        </p:txBody>
      </p:sp>
      <p:sp>
        <p:nvSpPr>
          <p:cNvPr id="14" name="ap_32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8.9  ·  play twice</a:t>
            </a:r>
            <a:endParaRPr lang="en-US" sz="1100" dirty="0"/>
          </a:p>
        </p:txBody>
      </p:sp>
      <p:sp>
        <p:nvSpPr>
          <p:cNvPr id="15" name="aw_33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33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33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8a2-frames.jpg</a:t>
            </a:r>
            <a:endParaRPr lang="en-US" sz="900" dirty="0"/>
          </a:p>
        </p:txBody>
      </p:sp>
      <p:sp>
        <p:nvSpPr>
          <p:cNvPr id="18" name="cd_33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33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33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33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337"/>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Joe and Jake applied together.</a:t>
            </a:r>
            <a:endParaRPr lang="en-US" sz="1200" dirty="0"/>
          </a:p>
        </p:txBody>
      </p:sp>
      <p:sp>
        <p:nvSpPr>
          <p:cNvPr id="23" name="R1_chip338"/>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Joe applied alone</a:t>
            </a:r>
            <a:endParaRPr lang="en-US" sz="1200" dirty="0"/>
          </a:p>
        </p:txBody>
      </p:sp>
      <p:sp>
        <p:nvSpPr>
          <p:cNvPr id="24" name="gq_339"/>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They prepared their pitch quickly.</a:t>
            </a:r>
            <a:endParaRPr lang="en-US" sz="1200" dirty="0"/>
          </a:p>
        </p:txBody>
      </p:sp>
      <p:sp>
        <p:nvSpPr>
          <p:cNvPr id="25" name="R2_chip340"/>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 a lot</a:t>
            </a:r>
            <a:endParaRPr lang="en-US" sz="1200" dirty="0"/>
          </a:p>
        </p:txBody>
      </p:sp>
      <p:sp>
        <p:nvSpPr>
          <p:cNvPr id="26" name="gq_341"/>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show is filmed in Manchester.</a:t>
            </a:r>
            <a:endParaRPr lang="en-US" sz="1200" dirty="0"/>
          </a:p>
        </p:txBody>
      </p:sp>
      <p:sp>
        <p:nvSpPr>
          <p:cNvPr id="27" name="R3_chip342"/>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8" name="gq_343"/>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No preparation the night before.</a:t>
            </a:r>
            <a:endParaRPr lang="en-US" sz="1200" dirty="0"/>
          </a:p>
        </p:txBody>
      </p:sp>
      <p:sp>
        <p:nvSpPr>
          <p:cNvPr id="29" name="R4_chip344"/>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a:t>
            </a:r>
            <a:endParaRPr lang="en-US" sz="1200" dirty="0"/>
          </a:p>
        </p:txBody>
      </p:sp>
      <p:sp>
        <p:nvSpPr>
          <p:cNvPr id="30" name="gq_345"/>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only slept a few hours.</a:t>
            </a:r>
            <a:endParaRPr lang="en-US" sz="1200" dirty="0"/>
          </a:p>
        </p:txBody>
      </p:sp>
      <p:sp>
        <p:nvSpPr>
          <p:cNvPr id="31" name="R5_chip346"/>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2" name="gq_347"/>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They were the third contestants.</a:t>
            </a:r>
            <a:endParaRPr lang="en-US" sz="1200" dirty="0"/>
          </a:p>
        </p:txBody>
      </p:sp>
      <p:sp>
        <p:nvSpPr>
          <p:cNvPr id="33" name="R6_chip348"/>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a:t>
            </a:r>
            <a:endParaRPr lang="en-US" sz="1200" dirty="0"/>
          </a:p>
        </p:txBody>
      </p:sp>
      <p:sp>
        <p:nvSpPr>
          <p:cNvPr id="34" name="gq_349"/>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Others waited up to 12 hours.</a:t>
            </a:r>
            <a:endParaRPr lang="en-US" sz="1200" dirty="0"/>
          </a:p>
        </p:txBody>
      </p:sp>
      <p:sp>
        <p:nvSpPr>
          <p:cNvPr id="35" name="R7_chip350"/>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6" name="gq_351"/>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They met a Dragon before the show.</a:t>
            </a:r>
            <a:endParaRPr lang="en-US" sz="1200" dirty="0"/>
          </a:p>
        </p:txBody>
      </p:sp>
      <p:sp>
        <p:nvSpPr>
          <p:cNvPr id="37" name="R8_chip352"/>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not allowed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5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happened in the Den?</a:t>
            </a:r>
            <a:endParaRPr lang="en-US" sz="250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5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What did Joe say about 1–6?</a:t>
            </a:r>
            <a:endParaRPr lang="en-US" sz="1250" dirty="0"/>
          </a:p>
        </p:txBody>
      </p:sp>
      <p:sp>
        <p:nvSpPr>
          <p:cNvPr id="8"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Cosa dice Joe su 1–6?</a:t>
            </a:r>
            <a:endParaRPr lang="en-US" sz="950" dirty="0"/>
          </a:p>
        </p:txBody>
      </p:sp>
      <p:sp>
        <p:nvSpPr>
          <p:cNvPr id="9" name="cmd_35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alone</a:t>
            </a:r>
            <a:endParaRPr lang="en-US" sz="950" dirty="0"/>
          </a:p>
        </p:txBody>
      </p:sp>
      <p:pic>
        <p:nvPicPr>
          <p:cNvPr id="11"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2   ·   📖 SB p.79 · 6d, 6e · audio 8.10 (script pp.129–130)</a:t>
            </a:r>
            <a:endParaRPr lang="en-US" sz="800" dirty="0"/>
          </a:p>
        </p:txBody>
      </p:sp>
      <p:sp>
        <p:nvSpPr>
          <p:cNvPr id="13" name="ap_363"/>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8.10  ·  play twice</a:t>
            </a:r>
            <a:endParaRPr lang="en-US" sz="1100" dirty="0"/>
          </a:p>
        </p:txBody>
      </p:sp>
      <p:sp>
        <p:nvSpPr>
          <p:cNvPr id="14" name="aw_364"/>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5" name="pf_36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36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8a2-workshop.jpg</a:t>
            </a:r>
            <a:endParaRPr lang="en-US" sz="900" dirty="0"/>
          </a:p>
        </p:txBody>
      </p:sp>
      <p:sp>
        <p:nvSpPr>
          <p:cNvPr id="17" name="bd_36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8" name="pf_36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36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8a2-job-offer.jpg</a:t>
            </a:r>
            <a:endParaRPr lang="en-US" sz="900" dirty="0"/>
          </a:p>
        </p:txBody>
      </p:sp>
      <p:sp>
        <p:nvSpPr>
          <p:cNvPr id="20" name="bd_37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1" name="cd_37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2" name="ii_37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7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4" name="il_374"/>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once: what was different for Joe and Jake?</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again. Make notes about 1–6.</a:t>
            </a:r>
            <a:endParaRPr lang="en-US" sz="1100" dirty="0"/>
          </a:p>
        </p:txBody>
      </p:sp>
      <p:sp>
        <p:nvSpPr>
          <p:cNvPr id="25" name="lq_375"/>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Deborah Meaden</a:t>
            </a:r>
            <a:endParaRPr lang="en-US" sz="1100" dirty="0"/>
          </a:p>
        </p:txBody>
      </p:sp>
      <p:sp>
        <p:nvSpPr>
          <p:cNvPr id="26" name="R1_chip376"/>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stared → he felt nervous</a:t>
            </a:r>
            <a:endParaRPr lang="en-US" sz="1050" dirty="0"/>
          </a:p>
        </p:txBody>
      </p:sp>
      <p:sp>
        <p:nvSpPr>
          <p:cNvPr id="27" name="lq_377"/>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Jake's first words</a:t>
            </a:r>
            <a:endParaRPr lang="en-US" sz="1100" dirty="0"/>
          </a:p>
        </p:txBody>
      </p:sp>
      <p:sp>
        <p:nvSpPr>
          <p:cNvPr id="28" name="R2_chip378"/>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forgot them</a:t>
            </a:r>
            <a:endParaRPr lang="en-US" sz="1050" dirty="0"/>
          </a:p>
        </p:txBody>
      </p:sp>
      <p:sp>
        <p:nvSpPr>
          <p:cNvPr id="29" name="lq_379"/>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'I'm out.'</a:t>
            </a:r>
            <a:endParaRPr lang="en-US" sz="1100" dirty="0"/>
          </a:p>
        </p:txBody>
      </p:sp>
      <p:sp>
        <p:nvSpPr>
          <p:cNvPr id="30" name="R3_chip380"/>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 Dragons said it</a:t>
            </a:r>
            <a:endParaRPr lang="en-US" sz="1050" dirty="0"/>
          </a:p>
        </p:txBody>
      </p:sp>
      <p:sp>
        <p:nvSpPr>
          <p:cNvPr id="31" name="lq_381"/>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Peter's appearance</a:t>
            </a:r>
            <a:endParaRPr lang="en-US" sz="1100" dirty="0"/>
          </a:p>
        </p:txBody>
      </p:sp>
      <p:sp>
        <p:nvSpPr>
          <p:cNvPr id="32" name="R4_chip382"/>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over 2 m tall – scary</a:t>
            </a:r>
            <a:endParaRPr lang="en-US" sz="1050" dirty="0"/>
          </a:p>
        </p:txBody>
      </p:sp>
      <p:sp>
        <p:nvSpPr>
          <p:cNvPr id="33" name="lq_383"/>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Jessops</a:t>
            </a:r>
            <a:endParaRPr lang="en-US" sz="1100" dirty="0"/>
          </a:p>
        </p:txBody>
      </p:sp>
      <p:sp>
        <p:nvSpPr>
          <p:cNvPr id="34" name="R5_chip384"/>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Peter's camera shops</a:t>
            </a:r>
            <a:endParaRPr lang="en-US" sz="1050" dirty="0"/>
          </a:p>
        </p:txBody>
      </p:sp>
      <p:sp>
        <p:nvSpPr>
          <p:cNvPr id="35" name="lq_385"/>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the job offer</a:t>
            </a:r>
            <a:endParaRPr lang="en-US" sz="1100" dirty="0"/>
          </a:p>
        </p:txBody>
      </p:sp>
      <p:sp>
        <p:nvSpPr>
          <p:cNvPr id="36" name="R6_chip386"/>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never happened before!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8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Yes or no to the job?</a:t>
            </a:r>
            <a:endParaRPr lang="en-US" sz="2500" dirty="0"/>
          </a:p>
        </p:txBody>
      </p:sp>
      <p:pic>
        <p:nvPicPr>
          <p:cNvPr id="6" name="brP_39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9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Vote first! Then listen to the end.</a:t>
            </a:r>
            <a:endParaRPr lang="en-US" sz="1250" dirty="0"/>
          </a:p>
        </p:txBody>
      </p:sp>
      <p:sp>
        <p:nvSpPr>
          <p:cNvPr id="8" name="insIT_3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vota! Poi ascolta la fine.</a:t>
            </a:r>
            <a:endParaRPr lang="en-US" sz="950" dirty="0"/>
          </a:p>
        </p:txBody>
      </p:sp>
      <p:sp>
        <p:nvSpPr>
          <p:cNvPr id="9" name="cmd_39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39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3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3   ·   📖 SB p.79 · 6f · audio 8.11 (script p.130)</a:t>
            </a:r>
            <a:endParaRPr lang="en-US" sz="800" dirty="0"/>
          </a:p>
        </p:txBody>
      </p:sp>
      <p:sp>
        <p:nvSpPr>
          <p:cNvPr id="13" name="cd_39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9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400"/>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YOU: a job with a very good salary – or your own business?</a:t>
            </a:r>
            <a:endParaRPr lang="en-US" sz="1050" dirty="0"/>
          </a:p>
        </p:txBody>
      </p:sp>
      <p:sp>
        <p:nvSpPr>
          <p:cNvPr id="17" name="pf_401"/>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402"/>
          <p:cNvSpPr/>
          <p:nvPr/>
        </p:nvSpPr>
        <p:spPr>
          <a:xfrm>
            <a:off x="411480" y="2743200"/>
            <a:ext cx="2514600" cy="13258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8a2-job-offer.jpg</a:t>
            </a:r>
            <a:endParaRPr lang="en-US" sz="900" dirty="0"/>
          </a:p>
        </p:txBody>
      </p:sp>
      <p:sp>
        <p:nvSpPr>
          <p:cNvPr id="19" name="ap_403"/>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8.11</a:t>
            </a:r>
            <a:endParaRPr lang="en-US" sz="1100" dirty="0"/>
          </a:p>
        </p:txBody>
      </p:sp>
      <p:sp>
        <p:nvSpPr>
          <p:cNvPr id="20" name="aw_404"/>
          <p:cNvSpPr/>
          <p:nvPr/>
        </p:nvSpPr>
        <p:spPr>
          <a:xfrm>
            <a:off x="365760" y="4718304"/>
            <a:ext cx="26060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1" name="bd_40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40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 they take the job?</a:t>
            </a:r>
            <a:endParaRPr lang="en-US" sz="1150" dirty="0"/>
          </a:p>
        </p:txBody>
      </p:sp>
      <p:sp>
        <p:nvSpPr>
          <p:cNvPr id="23" name="R1_chip40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they said no.</a:t>
            </a:r>
            <a:endParaRPr lang="en-US" sz="1000" dirty="0"/>
          </a:p>
        </p:txBody>
      </p:sp>
      <p:sp>
        <p:nvSpPr>
          <p:cNvPr id="24" name="bd_40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40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not?</a:t>
            </a:r>
            <a:endParaRPr lang="en-US" sz="1150" dirty="0"/>
          </a:p>
        </p:txBody>
      </p:sp>
      <p:sp>
        <p:nvSpPr>
          <p:cNvPr id="26" name="R2_chip41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a good time · they were enjoying running their own business</a:t>
            </a:r>
            <a:endParaRPr lang="en-US" sz="1000" dirty="0"/>
          </a:p>
        </p:txBody>
      </p:sp>
      <p:sp>
        <p:nvSpPr>
          <p:cNvPr id="27" name="bd_41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41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 they regret it?</a:t>
            </a:r>
            <a:endParaRPr lang="en-US" sz="1150" dirty="0"/>
          </a:p>
        </p:txBody>
      </p:sp>
      <p:sp>
        <p:nvSpPr>
          <p:cNvPr id="29" name="R3_chip41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not for a second.</a:t>
            </a:r>
            <a:endParaRPr lang="en-US" sz="1000" dirty="0"/>
          </a:p>
        </p:txBody>
      </p:sp>
      <p:sp>
        <p:nvSpPr>
          <p:cNvPr id="30" name="bd_41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41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happened to Frame Again?</a:t>
            </a:r>
            <a:endParaRPr lang="en-US" sz="1150" dirty="0"/>
          </a:p>
        </p:txBody>
      </p:sp>
      <p:sp>
        <p:nvSpPr>
          <p:cNvPr id="32" name="R4_chip41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success – they sold it this year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1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verbs</a:t>
            </a:r>
            <a:endParaRPr lang="en-US" sz="2500" dirty="0"/>
          </a:p>
        </p:txBody>
      </p:sp>
      <p:pic>
        <p:nvPicPr>
          <p:cNvPr id="6" name="brP_42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2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-ing and to + infinitive.</a:t>
            </a:r>
            <a:endParaRPr lang="en-US" sz="1250" dirty="0"/>
          </a:p>
        </p:txBody>
      </p:sp>
      <p:sp>
        <p:nvSpPr>
          <p:cNvPr id="8" name="insIT_4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-ing e to + infinito.</a:t>
            </a:r>
            <a:endParaRPr lang="en-US" sz="950" dirty="0"/>
          </a:p>
        </p:txBody>
      </p:sp>
      <p:sp>
        <p:nvSpPr>
          <p:cNvPr id="9" name="cmd_42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0" name="meta_4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Noticing · Joe's interview   ·   📖 SB audio script 8.9–8.11 (pp.129–130)</a:t>
            </a:r>
            <a:endParaRPr lang="en-US" sz="800" dirty="0"/>
          </a:p>
        </p:txBody>
      </p:sp>
      <p:sp>
        <p:nvSpPr>
          <p:cNvPr id="13" name="pf_427"/>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428"/>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8a2-workshop.jpg</a:t>
            </a:r>
            <a:endParaRPr lang="en-US" sz="900" dirty="0"/>
          </a:p>
        </p:txBody>
      </p:sp>
      <p:sp>
        <p:nvSpPr>
          <p:cNvPr id="15" name="cd_429"/>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30"/>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1"/>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32"/>
          <p:cNvSpPr/>
          <p:nvPr/>
        </p:nvSpPr>
        <p:spPr>
          <a:xfrm>
            <a:off x="886968" y="3721608"/>
            <a:ext cx="194767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-ing (gerund)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 infinitive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infinitive (no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WHY? (rules on slide 2)</a:t>
            </a:r>
            <a:endParaRPr lang="en-US" sz="1050" dirty="0"/>
          </a:p>
        </p:txBody>
      </p:sp>
      <p:sp>
        <p:nvSpPr>
          <p:cNvPr id="19" name="who_433"/>
          <p:cNvSpPr/>
          <p:nvPr/>
        </p:nvSpPr>
        <p:spPr>
          <a:xfrm>
            <a:off x="3108960" y="1463040"/>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0" name="sl_434"/>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applied without </a:t>
            </a:r>
            <a:pPr indent="0" marL="0">
              <a:buNone/>
            </a:pPr>
            <a:r>
              <a:rPr lang="en-US" sz="1150" dirty="0">
                <a:solidFill>
                  <a:srgbClr val="1B2559"/>
                </a:solidFill>
                <a:latin typeface="Segoe UI" pitchFamily="34" charset="0"/>
                <a:ea typeface="Segoe UI" pitchFamily="34" charset="-122"/>
                <a:cs typeface="Segoe UI" pitchFamily="34" charset="-120"/>
              </a:rPr>
              <a:t>telling</a:t>
            </a:r>
            <a:pPr indent="0" marL="0">
              <a:buNone/>
            </a:pPr>
            <a:r>
              <a:rPr lang="en-US" sz="1150" dirty="0">
                <a:solidFill>
                  <a:srgbClr val="1B2559"/>
                </a:solidFill>
                <a:latin typeface="Segoe UI" pitchFamily="34" charset="0"/>
                <a:ea typeface="Segoe UI" pitchFamily="34" charset="-122"/>
                <a:cs typeface="Segoe UI" pitchFamily="34" charset="-120"/>
              </a:rPr>
              <a:t> my business partner Jake.</a:t>
            </a:r>
            <a:endParaRPr lang="en-US" sz="1150" dirty="0"/>
          </a:p>
        </p:txBody>
      </p:sp>
      <p:sp>
        <p:nvSpPr>
          <p:cNvPr id="21" name="R1_slA435"/>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applied without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telling</a:t>
            </a:r>
            <a:pPr indent="0" marL="0">
              <a:buNone/>
            </a:pPr>
            <a:r>
              <a:rPr lang="en-US" sz="1150" dirty="0">
                <a:solidFill>
                  <a:srgbClr val="1B2559"/>
                </a:solidFill>
                <a:latin typeface="Segoe UI" pitchFamily="34" charset="0"/>
                <a:ea typeface="Segoe UI" pitchFamily="34" charset="-122"/>
                <a:cs typeface="Segoe UI" pitchFamily="34" charset="-120"/>
              </a:rPr>
              <a:t> my business partner Jake.</a:t>
            </a:r>
            <a:endParaRPr lang="en-US" sz="1150" dirty="0"/>
          </a:p>
        </p:txBody>
      </p:sp>
      <p:sp>
        <p:nvSpPr>
          <p:cNvPr id="22" name="who_436"/>
          <p:cNvSpPr/>
          <p:nvPr/>
        </p:nvSpPr>
        <p:spPr>
          <a:xfrm>
            <a:off x="3108960" y="1880235"/>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3" name="sl_437"/>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went </a:t>
            </a:r>
            <a:pPr indent="0" marL="0">
              <a:buNone/>
            </a:pPr>
            <a:r>
              <a:rPr lang="en-US" sz="1150" dirty="0">
                <a:solidFill>
                  <a:srgbClr val="1B2559"/>
                </a:solidFill>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together, just </a:t>
            </a:r>
            <a:pPr indent="0" marL="0">
              <a:buNone/>
            </a:pPr>
            <a:r>
              <a:rPr lang="en-US" sz="1150" dirty="0">
                <a:solidFill>
                  <a:srgbClr val="1B2559"/>
                </a:solidFill>
                <a:latin typeface="Segoe UI" pitchFamily="34" charset="0"/>
                <a:ea typeface="Segoe UI" pitchFamily="34" charset="-122"/>
                <a:cs typeface="Segoe UI" pitchFamily="34" charset="-120"/>
              </a:rPr>
              <a:t>repeating</a:t>
            </a:r>
            <a:pPr indent="0" marL="0">
              <a:buNone/>
            </a:pPr>
            <a:r>
              <a:rPr lang="en-US" sz="1150" dirty="0">
                <a:solidFill>
                  <a:srgbClr val="1B2559"/>
                </a:solidFill>
                <a:latin typeface="Segoe UI" pitchFamily="34" charset="0"/>
                <a:ea typeface="Segoe UI" pitchFamily="34" charset="-122"/>
                <a:cs typeface="Segoe UI" pitchFamily="34" charset="-120"/>
              </a:rPr>
              <a:t> the pitch.</a:t>
            </a:r>
            <a:endParaRPr lang="en-US" sz="1150" dirty="0"/>
          </a:p>
        </p:txBody>
      </p:sp>
      <p:sp>
        <p:nvSpPr>
          <p:cNvPr id="24" name="R2_slA438"/>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went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together, just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repeating</a:t>
            </a:r>
            <a:pPr indent="0" marL="0">
              <a:buNone/>
            </a:pPr>
            <a:r>
              <a:rPr lang="en-US" sz="1150" dirty="0">
                <a:solidFill>
                  <a:srgbClr val="1B2559"/>
                </a:solidFill>
                <a:latin typeface="Segoe UI" pitchFamily="34" charset="0"/>
                <a:ea typeface="Segoe UI" pitchFamily="34" charset="-122"/>
                <a:cs typeface="Segoe UI" pitchFamily="34" charset="-120"/>
              </a:rPr>
              <a:t> the pitch.</a:t>
            </a:r>
            <a:endParaRPr lang="en-US" sz="1150" dirty="0"/>
          </a:p>
        </p:txBody>
      </p:sp>
      <p:sp>
        <p:nvSpPr>
          <p:cNvPr id="25" name="who_439"/>
          <p:cNvSpPr/>
          <p:nvPr/>
        </p:nvSpPr>
        <p:spPr>
          <a:xfrm>
            <a:off x="3108960" y="229743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6" name="sl_440"/>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What I wanted </a:t>
            </a:r>
            <a:pPr indent="0" marL="0">
              <a:buNone/>
            </a:pPr>
            <a:r>
              <a:rPr lang="en-US" sz="1150" dirty="0">
                <a:solidFill>
                  <a:srgbClr val="1B2559"/>
                </a:solidFill>
                <a:latin typeface="Segoe UI" pitchFamily="34" charset="0"/>
                <a:ea typeface="Segoe UI" pitchFamily="34" charset="-122"/>
                <a:cs typeface="Segoe UI" pitchFamily="34" charset="-120"/>
              </a:rPr>
              <a:t>to do</a:t>
            </a:r>
            <a:pPr indent="0" marL="0">
              <a:buNone/>
            </a:pPr>
            <a:r>
              <a:rPr lang="en-US" sz="1150" dirty="0">
                <a:solidFill>
                  <a:srgbClr val="1B2559"/>
                </a:solidFill>
                <a:latin typeface="Segoe UI" pitchFamily="34" charset="0"/>
                <a:ea typeface="Segoe UI" pitchFamily="34" charset="-122"/>
                <a:cs typeface="Segoe UI" pitchFamily="34" charset="-120"/>
              </a:rPr>
              <a:t> was just </a:t>
            </a:r>
            <a:pPr indent="0" marL="0">
              <a:buNone/>
            </a:pPr>
            <a:r>
              <a:rPr lang="en-US" sz="1150" dirty="0">
                <a:solidFill>
                  <a:srgbClr val="1B2559"/>
                </a:solidFill>
                <a:latin typeface="Segoe UI" pitchFamily="34" charset="0"/>
                <a:ea typeface="Segoe UI" pitchFamily="34" charset="-122"/>
                <a:cs typeface="Segoe UI" pitchFamily="34" charset="-120"/>
              </a:rPr>
              <a:t>to smile</a:t>
            </a:r>
            <a:pPr indent="0" marL="0">
              <a:buNone/>
            </a:pPr>
            <a:r>
              <a:rPr lang="en-US" sz="1150" dirty="0">
                <a:solidFill>
                  <a:srgbClr val="1B2559"/>
                </a:solidFill>
                <a:latin typeface="Segoe UI" pitchFamily="34" charset="0"/>
                <a:ea typeface="Segoe UI" pitchFamily="34" charset="-122"/>
                <a:cs typeface="Segoe UI" pitchFamily="34" charset="-120"/>
              </a:rPr>
              <a:t> at one of them.</a:t>
            </a:r>
            <a:endParaRPr lang="en-US" sz="1150" dirty="0"/>
          </a:p>
        </p:txBody>
      </p:sp>
      <p:sp>
        <p:nvSpPr>
          <p:cNvPr id="27" name="R3_slA441"/>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What I wanted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do</a:t>
            </a:r>
            <a:pPr indent="0" marL="0">
              <a:buNone/>
            </a:pPr>
            <a:r>
              <a:rPr lang="en-US" sz="1150" dirty="0">
                <a:solidFill>
                  <a:srgbClr val="1B2559"/>
                </a:solidFill>
                <a:latin typeface="Segoe UI" pitchFamily="34" charset="0"/>
                <a:ea typeface="Segoe UI" pitchFamily="34" charset="-122"/>
                <a:cs typeface="Segoe UI" pitchFamily="34" charset="-120"/>
              </a:rPr>
              <a:t> was just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smile</a:t>
            </a:r>
            <a:pPr indent="0" marL="0">
              <a:buNone/>
            </a:pPr>
            <a:r>
              <a:rPr lang="en-US" sz="1150" dirty="0">
                <a:solidFill>
                  <a:srgbClr val="1B2559"/>
                </a:solidFill>
                <a:latin typeface="Segoe UI" pitchFamily="34" charset="0"/>
                <a:ea typeface="Segoe UI" pitchFamily="34" charset="-122"/>
                <a:cs typeface="Segoe UI" pitchFamily="34" charset="-120"/>
              </a:rPr>
              <a:t> at one of them.</a:t>
            </a:r>
            <a:endParaRPr lang="en-US" sz="1150" dirty="0"/>
          </a:p>
        </p:txBody>
      </p:sp>
      <p:sp>
        <p:nvSpPr>
          <p:cNvPr id="28" name="who_442"/>
          <p:cNvSpPr/>
          <p:nvPr/>
        </p:nvSpPr>
        <p:spPr>
          <a:xfrm>
            <a:off x="3108960" y="2714625"/>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9" name="sl_443"/>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That was my way of </a:t>
            </a:r>
            <a:pPr indent="0" marL="0">
              <a:buNone/>
            </a:pPr>
            <a:r>
              <a:rPr lang="en-US" sz="1150" dirty="0">
                <a:solidFill>
                  <a:srgbClr val="1B2559"/>
                </a:solidFill>
                <a:latin typeface="Segoe UI" pitchFamily="34" charset="0"/>
                <a:ea typeface="Segoe UI" pitchFamily="34" charset="-122"/>
                <a:cs typeface="Segoe UI" pitchFamily="34" charset="-120"/>
              </a:rPr>
              <a:t>making</a:t>
            </a:r>
            <a:pPr indent="0" marL="0">
              <a:buNone/>
            </a:pPr>
            <a:r>
              <a:rPr lang="en-US" sz="1150" dirty="0">
                <a:solidFill>
                  <a:srgbClr val="1B2559"/>
                </a:solidFill>
                <a:latin typeface="Segoe UI" pitchFamily="34" charset="0"/>
                <a:ea typeface="Segoe UI" pitchFamily="34" charset="-122"/>
                <a:cs typeface="Segoe UI" pitchFamily="34" charset="-120"/>
              </a:rPr>
              <a:t> myself relaxed.</a:t>
            </a:r>
            <a:endParaRPr lang="en-US" sz="1150" dirty="0"/>
          </a:p>
        </p:txBody>
      </p:sp>
      <p:sp>
        <p:nvSpPr>
          <p:cNvPr id="30" name="R4_slA444"/>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That was my way of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making</a:t>
            </a:r>
            <a:pPr indent="0" marL="0">
              <a:buNone/>
            </a:pPr>
            <a:r>
              <a:rPr lang="en-US" sz="1150" dirty="0">
                <a:solidFill>
                  <a:srgbClr val="1B2559"/>
                </a:solidFill>
                <a:latin typeface="Segoe UI" pitchFamily="34" charset="0"/>
                <a:ea typeface="Segoe UI" pitchFamily="34" charset="-122"/>
                <a:cs typeface="Segoe UI" pitchFamily="34" charset="-120"/>
              </a:rPr>
              <a:t> myself relaxed.</a:t>
            </a:r>
            <a:endParaRPr lang="en-US" sz="1150" dirty="0"/>
          </a:p>
        </p:txBody>
      </p:sp>
      <p:sp>
        <p:nvSpPr>
          <p:cNvPr id="31" name="who_445"/>
          <p:cNvSpPr/>
          <p:nvPr/>
        </p:nvSpPr>
        <p:spPr>
          <a:xfrm>
            <a:off x="3108960" y="313182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32" name="sl_446"/>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She stared at me, </a:t>
            </a:r>
            <a:pPr indent="0" marL="0">
              <a:buNone/>
            </a:pPr>
            <a:r>
              <a:rPr lang="en-US" sz="1150" dirty="0">
                <a:solidFill>
                  <a:srgbClr val="1B2559"/>
                </a:solidFill>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me </a:t>
            </a:r>
            <a:pPr indent="0" marL="0">
              <a:buNone/>
            </a:pPr>
            <a:r>
              <a:rPr lang="en-US" sz="1150" dirty="0">
                <a:solidFill>
                  <a:srgbClr val="1B2559"/>
                </a:solidFill>
                <a:latin typeface="Segoe UI" pitchFamily="34" charset="0"/>
                <a:ea typeface="Segoe UI" pitchFamily="34" charset="-122"/>
                <a:cs typeface="Segoe UI" pitchFamily="34" charset="-120"/>
              </a:rPr>
              <a:t>feel</a:t>
            </a:r>
            <a:pPr indent="0" marL="0">
              <a:buNone/>
            </a:pPr>
            <a:r>
              <a:rPr lang="en-US" sz="1150" dirty="0">
                <a:solidFill>
                  <a:srgbClr val="1B2559"/>
                </a:solidFill>
                <a:latin typeface="Segoe UI" pitchFamily="34" charset="0"/>
                <a:ea typeface="Segoe UI" pitchFamily="34" charset="-122"/>
                <a:cs typeface="Segoe UI" pitchFamily="34" charset="-120"/>
              </a:rPr>
              <a:t> nervous.</a:t>
            </a:r>
            <a:endParaRPr lang="en-US" sz="1150" dirty="0"/>
          </a:p>
        </p:txBody>
      </p:sp>
      <p:sp>
        <p:nvSpPr>
          <p:cNvPr id="33" name="R5_slA447"/>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She stared at me,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me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feel</a:t>
            </a:r>
            <a:pPr indent="0" marL="0">
              <a:buNone/>
            </a:pPr>
            <a:r>
              <a:rPr lang="en-US" sz="1150" dirty="0">
                <a:solidFill>
                  <a:srgbClr val="1B2559"/>
                </a:solidFill>
                <a:latin typeface="Segoe UI" pitchFamily="34" charset="0"/>
                <a:ea typeface="Segoe UI" pitchFamily="34" charset="-122"/>
                <a:cs typeface="Segoe UI" pitchFamily="34" charset="-120"/>
              </a:rPr>
              <a:t> nervous.</a:t>
            </a:r>
            <a:endParaRPr lang="en-US" sz="1150" dirty="0"/>
          </a:p>
        </p:txBody>
      </p:sp>
      <p:sp>
        <p:nvSpPr>
          <p:cNvPr id="34" name="who_448"/>
          <p:cNvSpPr/>
          <p:nvPr/>
        </p:nvSpPr>
        <p:spPr>
          <a:xfrm>
            <a:off x="3108960" y="354901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5" name="sl_449"/>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knew we had </a:t>
            </a:r>
            <a:pPr indent="0" marL="0">
              <a:buNone/>
            </a:pPr>
            <a:r>
              <a:rPr lang="en-US" sz="1150" dirty="0">
                <a:solidFill>
                  <a:srgbClr val="1B2559"/>
                </a:solidFill>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a decision immediately.</a:t>
            </a:r>
            <a:endParaRPr lang="en-US" sz="1150" dirty="0"/>
          </a:p>
        </p:txBody>
      </p:sp>
      <p:sp>
        <p:nvSpPr>
          <p:cNvPr id="36" name="R6_slA450"/>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knew we had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a decision immediately.</a:t>
            </a:r>
            <a:endParaRPr lang="en-US" sz="1150" dirty="0"/>
          </a:p>
        </p:txBody>
      </p:sp>
      <p:sp>
        <p:nvSpPr>
          <p:cNvPr id="37" name="who_451"/>
          <p:cNvSpPr/>
          <p:nvPr/>
        </p:nvSpPr>
        <p:spPr>
          <a:xfrm>
            <a:off x="3108960" y="3966210"/>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8" name="sl_452"/>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Have you ever regretted </a:t>
            </a:r>
            <a:pPr indent="0" marL="0">
              <a:buNone/>
            </a:pPr>
            <a:r>
              <a:rPr lang="en-US" sz="1150" dirty="0">
                <a:solidFill>
                  <a:srgbClr val="1B2559"/>
                </a:solidFill>
                <a:latin typeface="Segoe UI" pitchFamily="34" charset="0"/>
                <a:ea typeface="Segoe UI" pitchFamily="34" charset="-122"/>
                <a:cs typeface="Segoe UI" pitchFamily="34" charset="-120"/>
              </a:rPr>
              <a:t>saying</a:t>
            </a:r>
            <a:pPr indent="0" marL="0">
              <a:buNone/>
            </a:pPr>
            <a:r>
              <a:rPr lang="en-US" sz="1150" dirty="0">
                <a:solidFill>
                  <a:srgbClr val="1B2559"/>
                </a:solidFill>
                <a:latin typeface="Segoe UI" pitchFamily="34" charset="0"/>
                <a:ea typeface="Segoe UI" pitchFamily="34" charset="-122"/>
                <a:cs typeface="Segoe UI" pitchFamily="34" charset="-120"/>
              </a:rPr>
              <a:t> no?</a:t>
            </a:r>
            <a:endParaRPr lang="en-US" sz="1150" dirty="0"/>
          </a:p>
        </p:txBody>
      </p:sp>
      <p:sp>
        <p:nvSpPr>
          <p:cNvPr id="39" name="R7_slA453"/>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Have you ever regretted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saying</a:t>
            </a:r>
            <a:pPr indent="0" marL="0">
              <a:buNone/>
            </a:pPr>
            <a:r>
              <a:rPr lang="en-US" sz="1150" dirty="0">
                <a:solidFill>
                  <a:srgbClr val="1B2559"/>
                </a:solidFill>
                <a:latin typeface="Segoe UI" pitchFamily="34" charset="0"/>
                <a:ea typeface="Segoe UI" pitchFamily="34" charset="-122"/>
                <a:cs typeface="Segoe UI" pitchFamily="34" charset="-120"/>
              </a:rPr>
              <a:t> no?</a:t>
            </a:r>
            <a:endParaRPr lang="en-US" sz="1150" dirty="0"/>
          </a:p>
        </p:txBody>
      </p:sp>
      <p:sp>
        <p:nvSpPr>
          <p:cNvPr id="40" name="who_454"/>
          <p:cNvSpPr/>
          <p:nvPr/>
        </p:nvSpPr>
        <p:spPr>
          <a:xfrm>
            <a:off x="3108960" y="438340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41" name="sl_455"/>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were enjoying </a:t>
            </a:r>
            <a:pPr indent="0" marL="0">
              <a:buNone/>
            </a:pPr>
            <a:r>
              <a:rPr lang="en-US" sz="1150" dirty="0">
                <a:solidFill>
                  <a:srgbClr val="1B2559"/>
                </a:solidFill>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our own business.</a:t>
            </a:r>
            <a:endParaRPr lang="en-US" sz="1150" dirty="0"/>
          </a:p>
        </p:txBody>
      </p:sp>
      <p:sp>
        <p:nvSpPr>
          <p:cNvPr id="42" name="R8_slA456"/>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were enjoying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our own business.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5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to make a pitch</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6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order. Then listen and check.</a:t>
            </a:r>
            <a:endParaRPr lang="en-US" sz="1250" dirty="0"/>
          </a:p>
        </p:txBody>
      </p:sp>
      <p:sp>
        <p:nvSpPr>
          <p:cNvPr id="8" name="insIT_4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l'ordine. Poi ascolta e controlla.</a:t>
            </a:r>
            <a:endParaRPr lang="en-US" sz="950" dirty="0"/>
          </a:p>
        </p:txBody>
      </p:sp>
      <p:sp>
        <p:nvSpPr>
          <p:cNvPr id="9" name="cmd_46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464"/>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RIORDINA</a:t>
            </a:r>
            <a:endParaRPr lang="en-US" sz="1300" dirty="0"/>
          </a:p>
        </p:txBody>
      </p:sp>
      <p:sp>
        <p:nvSpPr>
          <p:cNvPr id="11" name="meta_46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4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 the model pitch   ·   📖 SB p.79 · 7a · audio 8.12 (script p.130)</a:t>
            </a:r>
            <a:endParaRPr lang="en-US" sz="800" dirty="0"/>
          </a:p>
        </p:txBody>
      </p:sp>
      <p:sp>
        <p:nvSpPr>
          <p:cNvPr id="14" name="ap_46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8.12  ·  play once</a:t>
            </a:r>
            <a:endParaRPr lang="en-US" sz="1100" dirty="0"/>
          </a:p>
        </p:txBody>
      </p:sp>
      <p:sp>
        <p:nvSpPr>
          <p:cNvPr id="15" name="aw_469"/>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47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471"/>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8a2-frames.jpg</a:t>
            </a:r>
            <a:endParaRPr lang="en-US" sz="900" dirty="0"/>
          </a:p>
        </p:txBody>
      </p:sp>
      <p:sp>
        <p:nvSpPr>
          <p:cNvPr id="18" name="cd_47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47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7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47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47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How much will it cost?</a:t>
            </a:r>
            <a:endParaRPr lang="en-US" sz="1200" dirty="0"/>
          </a:p>
        </p:txBody>
      </p:sp>
      <p:sp>
        <p:nvSpPr>
          <p:cNvPr id="23" name="R1_chip47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4 · £12.99</a:t>
            </a:r>
            <a:endParaRPr lang="en-US" sz="1200" dirty="0"/>
          </a:p>
        </p:txBody>
      </p:sp>
      <p:sp>
        <p:nvSpPr>
          <p:cNvPr id="24" name="gq_47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What is the product? Describe it.</a:t>
            </a:r>
            <a:endParaRPr lang="en-US" sz="1200" dirty="0"/>
          </a:p>
        </p:txBody>
      </p:sp>
      <p:sp>
        <p:nvSpPr>
          <p:cNvPr id="25" name="R2_chip47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2 · upload, choose, we deliver</a:t>
            </a:r>
            <a:endParaRPr lang="en-US" sz="1200" dirty="0"/>
          </a:p>
        </p:txBody>
      </p:sp>
      <p:sp>
        <p:nvSpPr>
          <p:cNvPr id="26" name="gq_48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Who are you? What's it called?</a:t>
            </a:r>
            <a:endParaRPr lang="en-US" sz="1200" dirty="0"/>
          </a:p>
        </p:txBody>
      </p:sp>
      <p:sp>
        <p:nvSpPr>
          <p:cNvPr id="27" name="R3_chip48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 · Jake &amp; Joe · Frame Again</a:t>
            </a:r>
            <a:endParaRPr lang="en-US" sz="1200" dirty="0"/>
          </a:p>
        </p:txBody>
      </p:sp>
      <p:sp>
        <p:nvSpPr>
          <p:cNvPr id="28" name="gq_48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Have you got a slogan?</a:t>
            </a:r>
            <a:endParaRPr lang="en-US" sz="1200" dirty="0"/>
          </a:p>
        </p:txBody>
      </p:sp>
      <p:sp>
        <p:nvSpPr>
          <p:cNvPr id="29" name="R4_chip48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5 · 'Printed, framed, and delivered in 24 hours.'</a:t>
            </a:r>
            <a:endParaRPr lang="en-US" sz="1200" dirty="0"/>
          </a:p>
        </p:txBody>
      </p:sp>
      <p:sp>
        <p:nvSpPr>
          <p:cNvPr id="30" name="gq_48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Who is the product for?</a:t>
            </a:r>
            <a:endParaRPr lang="en-US" sz="1200" dirty="0"/>
          </a:p>
        </p:txBody>
      </p:sp>
      <p:sp>
        <p:nvSpPr>
          <p:cNvPr id="31" name="R5_chip48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3 · Instagram users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Prepare your pitch</a:t>
            </a:r>
            <a:endParaRPr lang="en-US" sz="2500" dirty="0"/>
          </a:p>
        </p:txBody>
      </p:sp>
      <p:pic>
        <p:nvPicPr>
          <p:cNvPr id="6" name="brP_489"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90"/>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Pairs: invent a product. Plan your pitch!</a:t>
            </a:r>
            <a:endParaRPr lang="en-US" sz="1250" dirty="0"/>
          </a:p>
        </p:txBody>
      </p:sp>
      <p:sp>
        <p:nvSpPr>
          <p:cNvPr id="8" name="insIT_4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coppia: inventate un prodotto!</a:t>
            </a:r>
            <a:endParaRPr lang="en-US" sz="950" dirty="0"/>
          </a:p>
        </p:txBody>
      </p:sp>
      <p:sp>
        <p:nvSpPr>
          <p:cNvPr id="9" name="cmd_492"/>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cmd_493"/>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300" dirty="0"/>
          </a:p>
        </p:txBody>
      </p:sp>
      <p:sp>
        <p:nvSpPr>
          <p:cNvPr id="11" name="meta_49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4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 prepare your pitch   ·   📖 SB p.79 · 7b, 7c · Presenting a product</a:t>
            </a:r>
            <a:endParaRPr lang="en-US" sz="800" dirty="0"/>
          </a:p>
        </p:txBody>
      </p:sp>
      <p:sp>
        <p:nvSpPr>
          <p:cNvPr id="14" name="pf_49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498"/>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8a2-gadget.jpg</a:t>
            </a:r>
            <a:endParaRPr lang="en-US" sz="900" dirty="0"/>
          </a:p>
        </p:txBody>
      </p:sp>
      <p:sp>
        <p:nvSpPr>
          <p:cNvPr id="16" name="cd_49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0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0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0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an app · a drink · a gadget…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We think it will be popular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easy to 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perfect for (+ -ing)…</a:t>
            </a:r>
            <a:endParaRPr lang="en-US" sz="1050" dirty="0"/>
          </a:p>
        </p:txBody>
      </p:sp>
      <p:sp>
        <p:nvSpPr>
          <p:cNvPr id="20" name="R1_qb50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0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are you? What's your product called?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Good morning. I'm Sara, this is Luca, and we're here to tell you about SunBag.</a:t>
            </a:r>
            <a:endParaRPr lang="en-US" sz="1250" dirty="0"/>
          </a:p>
        </p:txBody>
      </p:sp>
      <p:sp>
        <p:nvSpPr>
          <p:cNvPr id="22" name="R2_qb50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0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is it? Describe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a beach bag with a solar panel. It charges your phone while you're at the beach.</a:t>
            </a:r>
            <a:endParaRPr lang="en-US" sz="1250" dirty="0"/>
          </a:p>
        </p:txBody>
      </p:sp>
      <p:sp>
        <p:nvSpPr>
          <p:cNvPr id="24" name="R3_qb50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0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is it for?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product is for students and families who spend all day by the sea.</a:t>
            </a:r>
            <a:endParaRPr lang="en-US" sz="1250" dirty="0"/>
          </a:p>
        </p:txBody>
      </p:sp>
      <p:sp>
        <p:nvSpPr>
          <p:cNvPr id="26" name="R4_qb50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1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will it cost?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will cost €29.99.</a:t>
            </a:r>
            <a:endParaRPr lang="en-US" sz="1250" dirty="0"/>
          </a:p>
        </p:txBody>
      </p:sp>
      <p:sp>
        <p:nvSpPr>
          <p:cNvPr id="28" name="R5_qb51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1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your slogan?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Our slogan is 'SunBag – never lose your battery again!'</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1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Welcome to the Den!</a:t>
            </a:r>
            <a:endParaRPr lang="en-US" sz="2500" dirty="0"/>
          </a:p>
        </p:txBody>
      </p:sp>
      <p:pic>
        <p:nvPicPr>
          <p:cNvPr id="6" name="brP_516"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17"/>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it! Dragons: invest or I'm out?</a:t>
            </a:r>
            <a:endParaRPr lang="en-US" sz="1250" dirty="0"/>
          </a:p>
        </p:txBody>
      </p:sp>
      <p:sp>
        <p:nvSpPr>
          <p:cNvPr id="8" name="insIT_5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Presentate! Dragons: investite o no?</a:t>
            </a:r>
            <a:endParaRPr lang="en-US" sz="950" dirty="0"/>
          </a:p>
        </p:txBody>
      </p:sp>
      <p:sp>
        <p:nvSpPr>
          <p:cNvPr id="9" name="cmd_51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2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groups</a:t>
            </a:r>
            <a:endParaRPr lang="en-US" sz="950" dirty="0"/>
          </a:p>
        </p:txBody>
      </p:sp>
      <p:pic>
        <p:nvPicPr>
          <p:cNvPr id="11" name="logo_5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game · role play   ·   📖 SB p.79 · 7d</a:t>
            </a:r>
            <a:endParaRPr lang="en-US" sz="800" dirty="0"/>
          </a:p>
        </p:txBody>
      </p:sp>
      <p:sp>
        <p:nvSpPr>
          <p:cNvPr id="13" name="cd_52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2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526"/>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Pairs: 1-minute pitch.</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Dragons: ask one question each.</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Dragons: invest €… or 'I'm out because…'</a:t>
            </a:r>
            <a:endParaRPr lang="en-US" sz="1150" dirty="0"/>
          </a:p>
        </p:txBody>
      </p:sp>
      <p:sp>
        <p:nvSpPr>
          <p:cNvPr id="17" name="pf_52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528"/>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8a2-class-pitch.jpg</a:t>
            </a:r>
            <a:endParaRPr lang="en-US" sz="900" dirty="0"/>
          </a:p>
        </p:txBody>
      </p:sp>
      <p:sp>
        <p:nvSpPr>
          <p:cNvPr id="19" name="bd_52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3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price</a:t>
            </a:r>
            <a:endParaRPr lang="en-US" sz="1100" dirty="0"/>
          </a:p>
        </p:txBody>
      </p:sp>
      <p:sp>
        <p:nvSpPr>
          <p:cNvPr id="21" name="R1_chip53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will it cost to make?</a:t>
            </a:r>
            <a:endParaRPr lang="en-US" sz="1100" dirty="0"/>
          </a:p>
        </p:txBody>
      </p:sp>
      <p:sp>
        <p:nvSpPr>
          <p:cNvPr id="22" name="bd_53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3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market</a:t>
            </a:r>
            <a:endParaRPr lang="en-US" sz="1100" dirty="0"/>
          </a:p>
        </p:txBody>
      </p:sp>
      <p:sp>
        <p:nvSpPr>
          <p:cNvPr id="24" name="R2_chip53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Who's going to buy it?</a:t>
            </a:r>
            <a:endParaRPr lang="en-US" sz="1100" dirty="0"/>
          </a:p>
        </p:txBody>
      </p:sp>
      <p:sp>
        <p:nvSpPr>
          <p:cNvPr id="25" name="bd_53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3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money</a:t>
            </a:r>
            <a:endParaRPr lang="en-US" sz="1100" dirty="0"/>
          </a:p>
        </p:txBody>
      </p:sp>
      <p:sp>
        <p:nvSpPr>
          <p:cNvPr id="27" name="R3_chip53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do you want, and for what %?</a:t>
            </a:r>
            <a:endParaRPr lang="en-US" sz="1100" dirty="0"/>
          </a:p>
        </p:txBody>
      </p:sp>
      <p:sp>
        <p:nvSpPr>
          <p:cNvPr id="28" name="bd_53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3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YES</a:t>
            </a:r>
            <a:endParaRPr lang="en-US" sz="1100" dirty="0"/>
          </a:p>
        </p:txBody>
      </p:sp>
      <p:sp>
        <p:nvSpPr>
          <p:cNvPr id="30" name="R4_chip54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invest €20,000 for 25% of your company.</a:t>
            </a:r>
            <a:endParaRPr lang="en-US" sz="1100" dirty="0"/>
          </a:p>
        </p:txBody>
      </p:sp>
      <p:sp>
        <p:nvSpPr>
          <p:cNvPr id="31" name="bd_54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4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NO</a:t>
            </a:r>
            <a:endParaRPr lang="en-US" sz="1100" dirty="0"/>
          </a:p>
        </p:txBody>
      </p:sp>
      <p:sp>
        <p:nvSpPr>
          <p:cNvPr id="33" name="R5_chip54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because I don't think people would pay €29.99.</a:t>
            </a:r>
            <a:endParaRPr lang="en-US" sz="1100" dirty="0"/>
          </a:p>
        </p:txBody>
      </p:sp>
      <p:sp>
        <p:nvSpPr>
          <p:cNvPr id="34" name="bd_54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4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winner!</a:t>
            </a:r>
            <a:endParaRPr lang="en-US" sz="1100" dirty="0"/>
          </a:p>
        </p:txBody>
      </p:sp>
      <p:sp>
        <p:nvSpPr>
          <p:cNvPr id="36" name="R6_chip54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product with the most money invested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4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4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5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5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53"/>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5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Exit · what can you remember?</a:t>
            </a:r>
            <a:endParaRPr lang="en-US" sz="800" dirty="0"/>
          </a:p>
        </p:txBody>
      </p:sp>
      <p:sp>
        <p:nvSpPr>
          <p:cNvPr id="12" name="bd_55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5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business words from today (no looking!)</a:t>
            </a:r>
            <a:endParaRPr lang="en-US" sz="1400" dirty="0"/>
          </a:p>
        </p:txBody>
      </p:sp>
      <p:sp>
        <p:nvSpPr>
          <p:cNvPr id="14" name="bd_55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5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Joe and Jake in the Den</a:t>
            </a:r>
            <a:endParaRPr lang="en-US" sz="1400" dirty="0"/>
          </a:p>
        </p:txBody>
      </p:sp>
      <p:sp>
        <p:nvSpPr>
          <p:cNvPr id="16" name="bd_56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6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slogan for YOUR product</a:t>
            </a:r>
            <a:endParaRPr lang="en-US" sz="1400" dirty="0"/>
          </a:p>
        </p:txBody>
      </p:sp>
      <p:sp>
        <p:nvSpPr>
          <p:cNvPr id="18" name="cd_56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6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65"/>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8A: 1c, 1d, 2a, 3c</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p.121: a covering email (c)</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2" name="st_56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8B part 1 · Have a nice day!</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6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6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product ever</a:t>
            </a:r>
            <a:endParaRPr lang="en-US" sz="2500" dirty="0"/>
          </a:p>
        </p:txBody>
      </p:sp>
      <p:pic>
        <p:nvPicPr>
          <p:cNvPr id="6" name="brP_57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7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a TERRIBLE product. Sell it!</a:t>
            </a:r>
            <a:endParaRPr lang="en-US" sz="1250" dirty="0"/>
          </a:p>
        </p:txBody>
      </p:sp>
      <p:sp>
        <p:nvSpPr>
          <p:cNvPr id="8" name="insIT_5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Presentate un prodotto TERRIBILE!</a:t>
            </a:r>
            <a:endParaRPr lang="en-US" sz="950" dirty="0"/>
          </a:p>
        </p:txBody>
      </p:sp>
      <p:sp>
        <p:nvSpPr>
          <p:cNvPr id="9" name="cmd_57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7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pic>
        <p:nvPicPr>
          <p:cNvPr id="11" name="logo_5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Extra · reverse pitch</a:t>
            </a:r>
            <a:endParaRPr lang="en-US" sz="800" dirty="0"/>
          </a:p>
        </p:txBody>
      </p:sp>
      <p:sp>
        <p:nvSpPr>
          <p:cNvPr id="13" name="st_57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57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8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8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Take a useless product.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3 minutes: find 3 'advantages' + a slogan.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Pitch it. Dragons: keep a straight face!</a:t>
            </a:r>
            <a:endParaRPr lang="en-US" sz="1150" dirty="0"/>
          </a:p>
        </p:txBody>
      </p:sp>
      <p:sp>
        <p:nvSpPr>
          <p:cNvPr id="18" name="pf_58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83"/>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8a2-chocolate-teapot.jpg</a:t>
            </a:r>
            <a:endParaRPr lang="en-US" sz="900" dirty="0"/>
          </a:p>
        </p:txBody>
      </p:sp>
      <p:sp>
        <p:nvSpPr>
          <p:cNvPr id="20" name="bd_584"/>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85"/>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chocolate teapot</a:t>
            </a:r>
            <a:endParaRPr lang="en-US" sz="1100" dirty="0"/>
          </a:p>
        </p:txBody>
      </p:sp>
      <p:sp>
        <p:nvSpPr>
          <p:cNvPr id="22" name="R1_chip586"/>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perfect for people who love tea AND chocolate!</a:t>
            </a:r>
            <a:endParaRPr lang="en-US" sz="1100" dirty="0"/>
          </a:p>
        </p:txBody>
      </p:sp>
      <p:sp>
        <p:nvSpPr>
          <p:cNvPr id="23" name="bd_587"/>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88"/>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waterproof towel</a:t>
            </a:r>
            <a:endParaRPr lang="en-US" sz="1100" dirty="0"/>
          </a:p>
        </p:txBody>
      </p:sp>
      <p:sp>
        <p:nvSpPr>
          <p:cNvPr id="25" name="R2_chip589"/>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easy to carry – it never gets heavy!</a:t>
            </a:r>
            <a:endParaRPr lang="en-US" sz="1100" dirty="0"/>
          </a:p>
        </p:txBody>
      </p:sp>
      <p:sp>
        <p:nvSpPr>
          <p:cNvPr id="26" name="bd_590"/>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91"/>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sunglasses for cats</a:t>
            </a:r>
            <a:endParaRPr lang="en-US" sz="1100" dirty="0"/>
          </a:p>
        </p:txBody>
      </p:sp>
      <p:sp>
        <p:nvSpPr>
          <p:cNvPr id="28" name="R3_chip592"/>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 cat will look cool in August in Bagheria!</a:t>
            </a:r>
            <a:endParaRPr lang="en-US" sz="1100" dirty="0"/>
          </a:p>
        </p:txBody>
      </p:sp>
      <p:sp>
        <p:nvSpPr>
          <p:cNvPr id="29" name="bd_593"/>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94"/>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an umbrella with holes</a:t>
            </a:r>
            <a:endParaRPr lang="en-US" sz="1100" dirty="0"/>
          </a:p>
        </p:txBody>
      </p:sp>
      <p:sp>
        <p:nvSpPr>
          <p:cNvPr id="31" name="R4_chip595"/>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Perfect for people who enjoy feeling the 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9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9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job interview</a:t>
            </a:r>
            <a:endParaRPr lang="en-US" sz="2500" dirty="0"/>
          </a:p>
        </p:txBody>
      </p:sp>
      <p:pic>
        <p:nvPicPr>
          <p:cNvPr id="6" name="brP_59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interviews B for a job. Then swap!</a:t>
            </a:r>
            <a:endParaRPr lang="en-US" sz="1250" dirty="0"/>
          </a:p>
        </p:txBody>
      </p:sp>
      <p:sp>
        <p:nvSpPr>
          <p:cNvPr id="8" name="insIT_6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fa il colloquio a B. Poi scambiatevi!</a:t>
            </a:r>
            <a:endParaRPr lang="en-US" sz="950" dirty="0"/>
          </a:p>
        </p:txBody>
      </p:sp>
      <p:sp>
        <p:nvSpPr>
          <p:cNvPr id="9" name="cmd_602"/>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0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pic>
        <p:nvPicPr>
          <p:cNvPr id="11" name="logo_6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Extra · role play   ·   📖 Writing p.121 (the job advert) · links to the covering-email homework</a:t>
            </a:r>
            <a:endParaRPr lang="en-US" sz="800" dirty="0"/>
          </a:p>
        </p:txBody>
      </p:sp>
      <p:sp>
        <p:nvSpPr>
          <p:cNvPr id="13" name="st_60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0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08" descr="/home/claude/lls-course/v2/cache/spare_work_job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1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1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good at -ing · I enjoy -ing</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I'd like to… · I'd love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I've worked as a… · I don't mind -ing</a:t>
            </a:r>
            <a:endParaRPr lang="en-US" sz="1050" dirty="0"/>
          </a:p>
        </p:txBody>
      </p:sp>
      <p:sp>
        <p:nvSpPr>
          <p:cNvPr id="20" name="R1_qb61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1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Why do you want this job?</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Because I'd love to work at a big sports event.</a:t>
            </a:r>
            <a:endParaRPr lang="en-US" sz="1250" dirty="0"/>
          </a:p>
        </p:txBody>
      </p:sp>
      <p:sp>
        <p:nvSpPr>
          <p:cNvPr id="22" name="R2_qb61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1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good 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I'm very good at working in a team and solving problems.</a:t>
            </a:r>
            <a:endParaRPr lang="en-US" sz="1250" dirty="0"/>
          </a:p>
        </p:txBody>
      </p:sp>
      <p:sp>
        <p:nvSpPr>
          <p:cNvPr id="24" name="R3_qb61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1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got any experience?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I've worked as a waiter, so I don't mind working long hours.</a:t>
            </a:r>
            <a:endParaRPr lang="en-US" sz="1250" dirty="0"/>
          </a:p>
        </p:txBody>
      </p:sp>
      <p:sp>
        <p:nvSpPr>
          <p:cNvPr id="26" name="R4_qb61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2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languages do you speak?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speak Italian and English, and I'm learning to speak Spanish.</a:t>
            </a:r>
            <a:endParaRPr lang="en-US" sz="1250" dirty="0"/>
          </a:p>
        </p:txBody>
      </p:sp>
      <p:sp>
        <p:nvSpPr>
          <p:cNvPr id="28" name="R5_qb62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62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Interviewer: decide!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"You've got the job!" / "I'm sorry, but…"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8A-2 The right job for you</dc:title>
  <dc:subject>PptxGenJS Presentation</dc:subject>
  <dc:creator>PptxGenJS</dc:creator>
  <cp:lastModifiedBy>PptxGenJS</cp:lastModifiedBy>
  <cp:revision>1</cp:revision>
  <dcterms:created xsi:type="dcterms:W3CDTF">2026-10-08T16:08:30Z</dcterms:created>
  <dcterms:modified xsi:type="dcterms:W3CDTF">2026-10-08T16:08:30Z</dcterms:modified>
</cp:coreProperties>
</file>