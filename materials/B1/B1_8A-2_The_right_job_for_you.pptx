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people presenting a product to serious investors on TV. Ask the THINK question; give 30 seconds, then take 3–4 ideas. Click 1 = the example answer (model it with enthusiasm). Ask: 'Have you ever seen a programme like this?' Read the 'Today you're going to…' list together. Don't teach the business words yet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block from students (e.g. 'What do you enjoy doing at work?' / 'What would you like to do?'). Point at the → lines: they tell you which form. Quick check of the key words: 'Resign or be sacked – which is your decision?' (resign). Then play 'Stand up, sit down!': the sentences in the game use exactly these forms and words.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 different format from last lesson's warmer: total physical response. Everybody sits. Read sentence 1 aloud (say 'beep' for the gap): students STAND UP if the verb takes -ing, SIT DOWN / stay seated for to + infinitive, and put their HANDS UP for the infinitive without to. Then click to show the answer. Anyone who moves the wrong way becomes a 'referee'. Ask WHY after each one (rules from Grammar Bank 8A): 1 after enjoy · 2 after decide · 3 make + person + inf. · 4 after a preposition (at) · 5 after an adjective · 6 subject of the sentence · 7 after a modal · 8 purpose (= in order to). Speed up for the last items. ICQs: 'Gerund – what do you do?' (stand up) · 'Must + verb?' (hands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business words (3 min)
ELICIT FIRST (3 min) – pre-teach only the words students need for the reading and the final role play. Demo item 0 (den – from the book glossary). Pairs explain each word in English; click once per item. Definitions 1–2 and 0 are from the SB glossary. Drill pronunciation: entrepreneur /ˌɒntrəprəˈnɜː/ (stress at the END – French word), profits /ˈprɒfɪts/, invest /ɪnˈvest/. Ask a CCQ: 'If the Dragons say "I'm out", do you get the money?' (no). ICQ: 'Are you writing or talking?' (talking).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click once per word to show its Italian and the warning. Spend 20 seconds on the traps: 'a share' (noun) = una quota; 'pitch' has many meanings (football pitch, a pitch = presentation); 'succedere' is NOT 'succeed' – it means 'happen'. Quick CCQ: 'The Dragons take 25% of the profits – is that a share?'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class story (TPRS) (4 min)
TPRS CLASS STORY (4 min) – after the business words and their Italian (slides 4–5), so students hear entrepreneur, pitch, slogan, invest, a share in the profits and I'm out many times BEFORE they meet them in the Dragons' Den article and the listening; it also recycles 8A-1 gerunds and infinitives (decided to set up · nervous about making). The story deliberately gives no numbers (minutes, how many Dragons) so it doesn't spoil the prediction on the next slide. Click once per line. For each line: 1) say it, 2) ask the questions round the class (yes/no → either/or → who/what), 3) let the CLASS change details: 'Is his product a cannolo? No? What is it?' – accept their idea and use it in later lines (change the slogan to match!). Students answer with one word or a short phrase – that's fine. Finish: 'What happens next?' – one or two ideas, then move on to the reading. Watch for ✗ 'I'm interesting to invest' → interested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Books CLOSED. Read the introduction aloud. Pairs look at the number bank and guess: When did the show start? How many minutes do contestants have? How many Dragons? How many businesses have the Dragons invested in? Every pair must commit to a guess before the next slide. ICQ: 'Are you reading the book now?' (no –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In the Dragons' Den (3 min)
READ + CHECK (3 min). Pairs guess gaps 1–5 (numbers from the bank, words from slide 4). Then books OPEN at p.78: they read the first part of the article and check. Click once per gap: the answer appears highlighted IN the text. Answers (SB text): 1 2005 · 2 three · 3 five · 4 invest · 5 profits. Then the book's 5a questions 1–2 (TG): 1 Who are the Dragons? → five multi-millionaires who have made their fortunes through business · 2 Where do the contestants meet them? → in 'the Den', the room where the programme is filmed.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In the Dragons' Den (2 min)
READ + CHECK (2 min). Same procedure. Answers (SB text): 6 entrepreneurs · 7 pitch · 8 I'm out · 9 250. Then 5a question 3 (TG): How does the programme work? → the contestants present their product to the Dragons in three minutes; the Dragons ask them questions and decide whether or not to invest; if they decide not to invest, they say 'I'm out'. Question 4 (1 minute, whole class): Is there a similar TV programme in Italy? Have you watched it? Accept any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three products (3 min)
READ (3 min). Students read about the three products (SB p.78, 5b – shortened on the slide). Explain (TG): Slappie – you slap it on your wrist and the strap closes; Tangle Teezer – tangled hair = hair full of knots, hard to comb. Each student decides alone: invest or 'I'm out' for each product? Don't give answers yet – the next slide is the game. ICQ: 'Do you know what the Dragons did?' (no –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game · jigsaw (5 min)
GAME 2 + JIGSAW READING (5 min). 1 (1 min) Teams write their bets for the 3 products (5b: which one did the Dragons invest in and has been successful? which didn't they invest in and has been a failure? which didn't they invest in, but has been very successful?). 2 (3 min) 5c: groups of three – A reads Tingatang (p.109), B Slappie watches (p.113), C Tangle Teezer (p.114); each tells the group what happened. 3 Click once per product; 1 point per correct bet. Answers (TG): Slappie watches = invested + successful · Tingatang = not invested + a failure · Tangle Teezer = not invested but very successful. Row 4 = 5d (whole class, 1 min): Which would you buy? Were the Dragons wrong about Tangle Teezer? ICQ: 'Do you read all three texts?' (no – only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Part 1 (5 min)
LISTENING PART 1 (5 min). 6a: show the photo of Joe and Jake's product (Frame Again: online photo printing and framing; they asked for £60,000 for 20%). 'Do you think they were successful?' Show of hands – don't say. Pairs guess T/F first. 6b: play 8.9 once; students mark T or F. 6c: play again; they correct the false ones. Click once per sentence. Answers (TG): 1 F (Joe applied without telling Jake.) · 2 F (They worked very hard and practised a lot.) · 3 T · 4 F (They practised their pitch the night before and they prepared the furniture they needed.) · 5 T · 6 F (They were the first contestants.) · 7 T · 8 F (Contestants aren't allowed to meet the Dragons before they go on.) Fun detail from the script: if you go to the toilet, someone has to escort you in case you meet a Dragon! ICQ: 'Do you write T or F the first time?' (yes – correct them the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Part 2 (5 min)
LISTENING PART 2 (5 min). Before listening (curiosity gap): 'Four Dragons said I'm out. What did the fifth Dragon do?' 6d: play 8.10 once. Answer (TG): they were offered a JOB, not an investment in their business. 6e: play again, pausing after each answer; students make notes. Click once per line. Answers (TG): 1 He smiled at her to help himself relax, but she just stared at him to make him feel nervous. 2 Jake forgot his first words, which he never usually does. 3 Four of the Dragons said 'I'm out' to show they weren't interested in investing. 4 Peter is incredibly tall – more than two metres – which makes him scary. 5 Peter owns a big chain of camera shops called Jessops. 6 Peter offered them a job, which has never happened on Dragons' Den before. Pictures: A = Joe and Jake's business, B = the job offer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Part 3 (3 min)
LISTENING PART 3 (3 min). Forced choice first (item 0): Peter offers you a job with a very good salary. Yes or no? Hands up; 2 students give a reason. Play 8.11; click once per question. Answers (TG + script): Joe and Jake decided not to accept the jobs, because it wasn't a good time and they were enjoying running their own business. Yes, they think it was the right decision – they have never regretted saying no. Frame Again was successful and they sold the business 'this year' (but not to one of the Dragons – 'that would have been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Noticing · Joe's interview (3 min)
NOTICING (3 min) – links today's listening to last lesson's grammar. Lines are from the audio script (8.9–8.11; the line 'Have you ever regretted…' is the interviewer). Pairs find the gerunds and infinitives; click once per line to highlight. After each line ask WHY: telling – after a preposition (without) · running – go + -ing (activities) · repeating – -ing (while doing) · to do – after want · to smile – after be (what I wanted was…) · making – after a preposition (of) · to make – purpose · feel – make + person + infinitive without to · to make – after have · saying – after regret · running – after enjoy. Exam tip for the class: 'enjoy, regret, mind + -ing' are tested often (B1 Preliminary / B2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the model pitch (3 min)
THE MODEL PITCH (3 min). 7a: students read questions A–E (teach slogan if needed – slide 4) and guess the order. Play 8.12: Joe and Jake's real pitch. In what order do they answer the questions? Click once per question. Answers (TG): A 4 · B 2 · C 1 · D 5 · E 3. Content from the script: C Jake and Joe, Frame Again · B an online service: upload your photo, choose the colours of your frame, we print, frame and deliver it the next day · E smartphone photographers and Instagram users – a square frame · A £12.99 · D 'Printed, framed, and delivered in 24 hours.' Did you hear the mistake at the start? (Jake: 'I'm Joe and this is Jake. Oh no, sorry, I'm Jake…' – nerves!) This order is the plan for their own pitch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prepare your pitch (5 min)
PREPARATION (5 min). 7b: pairs choose one of the products in the book (or invent their own) and answer the 5 questions – in the order of Joe and Jake's pitch. The questions appear one per click with the model answers for an invented product, SunBag (the same model as the homework). 7c: go through the 'Presenting a product' box (Good morning. I'm…, and this is…, and we're here to tell you about our new product… · It's a…, and it's called… · This product is for… · We think it will be very popular because… · It will cost… · Our slogan is…). Rules: max 1 minute, BOTH partners speak, must include a price and a slogan. Monitor: help with vocabulary and push gerunds/infinitives (It's easy to use · perfect for taking… · you don't need to…). Ideas if they're stuck: an app that finds free parking in Palermo, a cannolo delivery service, an umbrella that tells you when it will rain. Choose 3–4 students as the Dragons now – they prepare questions instead of a pitch. ICQs: 'How long is the pitch?' (1 minute) · 'Who speaks?'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game · role play (7 min)
DRAGONS' DEN ROLE PLAY (7 min). 3–4 Dragons sit at the front; each has €100,000 (imaginary!). Click once per row to give the Dragons their language before the first pitch. Each pair has ONE minute (teacher keeps the time); each Dragon asks one question, then invests or says 'I'm out because…' (a reason is compulsory). Every Dragon must invest in at least one product. Keep a scoreboard of money invested on the board. With a big class, run two 'Dens' at the same time. 7d: the rest of the class also has money to invest – after all the pitches, everyone votes for one product (not their own). Feedback: best product, best slogan, best presenters; then 1–2 minutes of delayed error correction from your notes (watch for: ✗ enjoy to use · ✗ It costs to · ✗ I'm interesting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business words (entrepreneur, invest, pitch, profits, contestant, slogan…), 2 things that happened to Joe and Jake (e.g. Jake forgot his first words; Peter offered them a job; they decided not to take it), 1 slogan. A few pairs share. Homework (on the slide and in the app): Workbook 8A 1c (word-building), 1d (words with different meanings), 2a (word stress), 3c (gerunds and infinitives) + Writing 'A covering email' p.121 (c): write a covering email for one of the jobs, 15–20 minutes, formal style (no contractions; Dear Sir / Madam … Yours faithfully) + the 8A-2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reverse pitch (8 min)
EXTRA (8 min, if there's time). Reverse the obvious + humour. Give each pair one useless product (click to show a model 'advantage' for each, or let them invent). Pairs have 3 minutes to find 3 'advantages' and a slogan, then a 1-minute pitch; the Dragons must keep a straight face. Vote: who almost convinced you? The useless products force creative language with gerunds and infinitives (It's ideal for… · You'll never need to… · It's easy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role play (8 min)
EXTRA (8 min). Role play + recycling of 8A grammar and vocabulary. A = interviewer, B = candidate for one of the jobs in the Writing advert on p.121 (World Athletics Championships). Questions appear one per click with model answers. 2 minutes per interview, then swap. The class can vote for the most convincing candidate. Remind them of the 6B charisma tips (eye contact, smile!).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audio" Target="../media/media-14-6.mp3"/><Relationship Id="rId7" Type="http://schemas.microsoft.com/office/2007/relationships/media" Target="../media/media-14-6.mp3"/><Relationship Id="rId8" Type="http://schemas.openxmlformats.org/officeDocument/2006/relationships/image" Target="../media/image-14-8.png"/><Relationship Id="rId9" Type="http://schemas.openxmlformats.org/officeDocument/2006/relationships/audio" Target="../media/media-14-9.mp3"/><Relationship Id="rId10" Type="http://schemas.microsoft.com/office/2007/relationships/media" Target="../media/media-14-9.mp3"/><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pp.78–79</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8A-2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right job for you</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Dragons' Den · pitch your idea</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about a TV show for entrepreneurs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contestant's story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spot -ing and to + infinitive in real speech</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pitch your own product to the 'Dragons'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sell an app that finds free parking in Palermo – everybody needs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8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You have 3 minutes to sell an idea. What is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Revision · last lesson</a:t>
            </a:r>
            <a:endParaRPr lang="en-US" sz="800" dirty="0"/>
          </a:p>
        </p:txBody>
      </p:sp>
      <p:sp>
        <p:nvSpPr>
          <p:cNvPr id="12" name="pf_26"/>
          <p:cNvSpPr/>
          <p:nvPr/>
        </p:nvSpPr>
        <p:spPr>
          <a:xfrm rot="-120000">
            <a:off x="891456" y="1371600"/>
            <a:ext cx="1600367" cy="1645920"/>
          </a:xfrm>
          <a:prstGeom prst="roundRect">
            <a:avLst>
              <a:gd name="adj" fmla="val 97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spare_work_places_jpg_363x374_31.png">    </p:cNvPr>
          <p:cNvPicPr>
            <a:picLocks noChangeAspect="1"/>
          </p:cNvPicPr>
          <p:nvPr/>
        </p:nvPicPr>
        <p:blipFill>
          <a:blip r:embed="rId5"/>
          <a:stretch>
            <a:fillRect/>
          </a:stretch>
        </p:blipFill>
        <p:spPr>
          <a:xfrm rot="-120000">
            <a:off x="937176" y="1417320"/>
            <a:ext cx="1508927" cy="1554480"/>
          </a:xfrm>
          <a:prstGeom prst="rect">
            <a:avLst/>
          </a:prstGeom>
        </p:spPr>
      </p:pic>
      <p:sp>
        <p:nvSpPr>
          <p:cNvPr id="14" name="cd_28"/>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8A part 1 (6 Oct): work words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gerunds and infinitives · 'Someone you know'</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367028"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do overtime</a:t>
            </a:r>
            <a:endParaRPr lang="en-US" sz="1200" dirty="0"/>
          </a:p>
        </p:txBody>
      </p:sp>
      <p:sp>
        <p:nvSpPr>
          <p:cNvPr id="20" name="w_34"/>
          <p:cNvSpPr/>
          <p:nvPr/>
        </p:nvSpPr>
        <p:spPr>
          <a:xfrm>
            <a:off x="4704588" y="1783080"/>
            <a:ext cx="1453896"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get promoted</a:t>
            </a:r>
            <a:endParaRPr lang="en-US" sz="1200" dirty="0"/>
          </a:p>
        </p:txBody>
      </p:sp>
      <p:sp>
        <p:nvSpPr>
          <p:cNvPr id="21" name="w_35"/>
          <p:cNvSpPr/>
          <p:nvPr/>
        </p:nvSpPr>
        <p:spPr>
          <a:xfrm>
            <a:off x="6249924" y="1783080"/>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work shifts</a:t>
            </a:r>
            <a:endParaRPr lang="en-US" sz="1200" dirty="0"/>
          </a:p>
        </p:txBody>
      </p:sp>
      <p:sp>
        <p:nvSpPr>
          <p:cNvPr id="22" name="w_36"/>
          <p:cNvSpPr/>
          <p:nvPr/>
        </p:nvSpPr>
        <p:spPr>
          <a:xfrm>
            <a:off x="3246120" y="2185416"/>
            <a:ext cx="119329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be sacked</a:t>
            </a:r>
            <a:endParaRPr lang="en-US" sz="1200" dirty="0"/>
          </a:p>
        </p:txBody>
      </p:sp>
      <p:sp>
        <p:nvSpPr>
          <p:cNvPr id="23" name="w_37"/>
          <p:cNvSpPr/>
          <p:nvPr/>
        </p:nvSpPr>
        <p:spPr>
          <a:xfrm>
            <a:off x="4530852" y="2185416"/>
            <a:ext cx="932688"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resign</a:t>
            </a:r>
            <a:endParaRPr lang="en-US" sz="1200" dirty="0"/>
          </a:p>
        </p:txBody>
      </p:sp>
      <p:sp>
        <p:nvSpPr>
          <p:cNvPr id="24" name="w_38"/>
          <p:cNvSpPr/>
          <p:nvPr/>
        </p:nvSpPr>
        <p:spPr>
          <a:xfrm>
            <a:off x="5554980" y="2185416"/>
            <a:ext cx="93268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retire</a:t>
            </a:r>
            <a:endParaRPr lang="en-US" sz="1200" dirty="0"/>
          </a:p>
        </p:txBody>
      </p:sp>
      <p:sp>
        <p:nvSpPr>
          <p:cNvPr id="25" name="w_39"/>
          <p:cNvSpPr/>
          <p:nvPr/>
        </p:nvSpPr>
        <p:spPr>
          <a:xfrm>
            <a:off x="6579108" y="2185416"/>
            <a:ext cx="188823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set up a business</a:t>
            </a:r>
            <a:endParaRPr lang="en-US" sz="1200" dirty="0"/>
          </a:p>
        </p:txBody>
      </p:sp>
      <p:sp>
        <p:nvSpPr>
          <p:cNvPr id="26" name="w_40"/>
          <p:cNvSpPr/>
          <p:nvPr/>
        </p:nvSpPr>
        <p:spPr>
          <a:xfrm>
            <a:off x="3246120" y="2587752"/>
            <a:ext cx="1540764"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self-employed</a:t>
            </a:r>
            <a:endParaRPr lang="en-US" sz="1200" dirty="0"/>
          </a:p>
        </p:txBody>
      </p:sp>
      <p:sp>
        <p:nvSpPr>
          <p:cNvPr id="27" name="lv_41"/>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-ing (gerund)</a:t>
            </a:r>
            <a:endParaRPr lang="en-US" sz="1100" dirty="0"/>
          </a:p>
        </p:txBody>
      </p:sp>
      <p:sp>
        <p:nvSpPr>
          <p:cNvPr id="32" name="rf_46"/>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after enjoy, don't mind · an after prepositions · an as the subject</a:t>
            </a:r>
            <a:endParaRPr lang="en-US" sz="850" dirty="0"/>
          </a:p>
        </p:txBody>
      </p:sp>
      <p:sp>
        <p:nvSpPr>
          <p:cNvPr id="33" name="R1_rl47"/>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 enjoy helping people.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I'm good at solving problems.</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Working shifts is tiring.</a:t>
            </a:r>
            <a:endParaRPr lang="en-US" sz="700" dirty="0"/>
          </a:p>
        </p:txBody>
      </p:sp>
      <p:sp>
        <p:nvSpPr>
          <p:cNvPr id="34" name="cd_48"/>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to + infinitive / infinitive</a:t>
            </a:r>
            <a:endParaRPr lang="en-US" sz="1100" dirty="0"/>
          </a:p>
        </p:txBody>
      </p:sp>
      <p:sp>
        <p:nvSpPr>
          <p:cNvPr id="36" name="rf_50"/>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after decide, want · an after adjectives · an after make, let, must, can</a:t>
            </a:r>
            <a:endParaRPr lang="en-US" sz="850" dirty="0"/>
          </a:p>
        </p:txBody>
      </p:sp>
      <p:sp>
        <p:nvSpPr>
          <p:cNvPr id="37" name="R2_rl51"/>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She decided to resign.</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It's difficult to find a job.</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My boss made me do overtime.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Stand up, sit down!</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5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-ing: stand up! to: sit down! inf.: hands up!</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-ing: in piedi! to: seduti! inf.: mani su!</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Warmer · last lesson   ·   📖 Recycles 6 Oct (8A-1): gerunds and infinitives, work words · Grammar Bank 8A p.146</a:t>
            </a:r>
            <a:endParaRPr lang="en-US" sz="800" dirty="0"/>
          </a:p>
        </p:txBody>
      </p:sp>
      <p:sp>
        <p:nvSpPr>
          <p:cNvPr id="12" name="cd_61"/>
          <p:cNvSpPr/>
          <p:nvPr/>
        </p:nvSpPr>
        <p:spPr>
          <a:xfrm>
            <a:off x="320040" y="1417320"/>
            <a:ext cx="2697480" cy="2231136"/>
          </a:xfrm>
          <a:prstGeom prst="roundRect">
            <a:avLst>
              <a:gd name="adj" fmla="val 57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6642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to + infinitive → SIT DOWN.</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to + infinito → SEDUTI.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infinitive (no to) → HANDS UP!</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infinito senza to → MANI SU!</a:t>
            </a:r>
            <a:endParaRPr lang="en-US" sz="1200" dirty="0"/>
          </a:p>
        </p:txBody>
      </p:sp>
      <p:sp>
        <p:nvSpPr>
          <p:cNvPr id="16" name="pf_65"/>
          <p:cNvSpPr/>
          <p:nvPr/>
        </p:nvSpPr>
        <p:spPr>
          <a:xfrm rot="-120000">
            <a:off x="1027138" y="3785616"/>
            <a:ext cx="1237565"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6" descr="/home/claude/lls-course/v2/cache/spare_work_career_change_jpg_276x253_31.png">    </p:cNvPr>
          <p:cNvPicPr>
            <a:picLocks noChangeAspect="1"/>
          </p:cNvPicPr>
          <p:nvPr/>
        </p:nvPicPr>
        <p:blipFill>
          <a:blip r:embed="rId5"/>
          <a:stretch>
            <a:fillRect/>
          </a:stretch>
        </p:blipFill>
        <p:spPr>
          <a:xfrm rot="-120000">
            <a:off x="1072858" y="3831336"/>
            <a:ext cx="1146125" cy="1051560"/>
          </a:xfrm>
          <a:prstGeom prst="rect">
            <a:avLst/>
          </a:prstGeom>
        </p:spPr>
      </p:pic>
      <p:sp>
        <p:nvSpPr>
          <p:cNvPr id="18" name="bd_67"/>
          <p:cNvSpPr/>
          <p:nvPr/>
        </p:nvSpPr>
        <p:spPr>
          <a:xfrm>
            <a:off x="3246120" y="1423607"/>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8"/>
          <p:cNvSpPr/>
          <p:nvPr/>
        </p:nvSpPr>
        <p:spPr>
          <a:xfrm>
            <a:off x="3657600" y="1417320"/>
            <a:ext cx="251460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 really enjoy ___. (cook)</a:t>
            </a:r>
            <a:endParaRPr lang="en-US" sz="900" dirty="0"/>
          </a:p>
        </p:txBody>
      </p:sp>
      <p:sp>
        <p:nvSpPr>
          <p:cNvPr id="20" name="chip_69"/>
          <p:cNvSpPr/>
          <p:nvPr/>
        </p:nvSpPr>
        <p:spPr>
          <a:xfrm>
            <a:off x="6263640" y="1417320"/>
            <a:ext cx="256032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cooking · STAND UP</a:t>
            </a:r>
            <a:endParaRPr lang="en-US" sz="1200" dirty="0"/>
          </a:p>
        </p:txBody>
      </p:sp>
      <p:sp>
        <p:nvSpPr>
          <p:cNvPr id="21" name="bd_70"/>
          <p:cNvSpPr/>
          <p:nvPr/>
        </p:nvSpPr>
        <p:spPr>
          <a:xfrm>
            <a:off x="3246120" y="182937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
          <p:cNvSpPr/>
          <p:nvPr/>
        </p:nvSpPr>
        <p:spPr>
          <a:xfrm>
            <a:off x="3657600" y="182308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She decided ___. (resign)</a:t>
            </a:r>
            <a:endParaRPr lang="en-US" sz="900" dirty="0"/>
          </a:p>
        </p:txBody>
      </p:sp>
      <p:sp>
        <p:nvSpPr>
          <p:cNvPr id="23" name="R1_chip72"/>
          <p:cNvSpPr/>
          <p:nvPr/>
        </p:nvSpPr>
        <p:spPr>
          <a:xfrm>
            <a:off x="6263640" y="182308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resign · SIT DOWN</a:t>
            </a:r>
            <a:endParaRPr lang="en-US" sz="1200" dirty="0"/>
          </a:p>
        </p:txBody>
      </p:sp>
      <p:sp>
        <p:nvSpPr>
          <p:cNvPr id="24" name="bd_73"/>
          <p:cNvSpPr/>
          <p:nvPr/>
        </p:nvSpPr>
        <p:spPr>
          <a:xfrm>
            <a:off x="3246120" y="2235137"/>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4"/>
          <p:cNvSpPr/>
          <p:nvPr/>
        </p:nvSpPr>
        <p:spPr>
          <a:xfrm>
            <a:off x="3657600" y="222885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My boss made me ___ overtime. (do)</a:t>
            </a:r>
            <a:endParaRPr lang="en-US" sz="900" dirty="0"/>
          </a:p>
        </p:txBody>
      </p:sp>
      <p:sp>
        <p:nvSpPr>
          <p:cNvPr id="26" name="R2_chip75"/>
          <p:cNvSpPr/>
          <p:nvPr/>
        </p:nvSpPr>
        <p:spPr>
          <a:xfrm>
            <a:off x="6263640" y="222885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do · HANDS UP</a:t>
            </a:r>
            <a:endParaRPr lang="en-US" sz="1200" dirty="0"/>
          </a:p>
        </p:txBody>
      </p:sp>
      <p:sp>
        <p:nvSpPr>
          <p:cNvPr id="27" name="bd_76"/>
          <p:cNvSpPr/>
          <p:nvPr/>
        </p:nvSpPr>
        <p:spPr>
          <a:xfrm>
            <a:off x="3246120" y="2640901"/>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7"/>
          <p:cNvSpPr/>
          <p:nvPr/>
        </p:nvSpPr>
        <p:spPr>
          <a:xfrm>
            <a:off x="3657600" y="263461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He's good at ___ problems. (solve)</a:t>
            </a:r>
            <a:endParaRPr lang="en-US" sz="900" dirty="0"/>
          </a:p>
        </p:txBody>
      </p:sp>
      <p:sp>
        <p:nvSpPr>
          <p:cNvPr id="29" name="R3_chip78"/>
          <p:cNvSpPr/>
          <p:nvPr/>
        </p:nvSpPr>
        <p:spPr>
          <a:xfrm>
            <a:off x="6263640" y="263461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solving · STAND UP</a:t>
            </a:r>
            <a:endParaRPr lang="en-US" sz="1200" dirty="0"/>
          </a:p>
        </p:txBody>
      </p:sp>
      <p:sp>
        <p:nvSpPr>
          <p:cNvPr id="30" name="bd_79"/>
          <p:cNvSpPr/>
          <p:nvPr/>
        </p:nvSpPr>
        <p:spPr>
          <a:xfrm>
            <a:off x="3246120" y="3046667"/>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0"/>
          <p:cNvSpPr/>
          <p:nvPr/>
        </p:nvSpPr>
        <p:spPr>
          <a:xfrm>
            <a:off x="3657600" y="3040380"/>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It's difficult ___ a job. (find)</a:t>
            </a:r>
            <a:endParaRPr lang="en-US" sz="900" dirty="0"/>
          </a:p>
        </p:txBody>
      </p:sp>
      <p:sp>
        <p:nvSpPr>
          <p:cNvPr id="32" name="R4_chip81"/>
          <p:cNvSpPr/>
          <p:nvPr/>
        </p:nvSpPr>
        <p:spPr>
          <a:xfrm>
            <a:off x="6263640" y="304038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find · SIT DOWN</a:t>
            </a:r>
            <a:endParaRPr lang="en-US" sz="1200" dirty="0"/>
          </a:p>
        </p:txBody>
      </p:sp>
      <p:sp>
        <p:nvSpPr>
          <p:cNvPr id="33" name="bd_82"/>
          <p:cNvSpPr/>
          <p:nvPr/>
        </p:nvSpPr>
        <p:spPr>
          <a:xfrm>
            <a:off x="3246120" y="345243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3"/>
          <p:cNvSpPr/>
          <p:nvPr/>
        </p:nvSpPr>
        <p:spPr>
          <a:xfrm>
            <a:off x="3657600" y="344614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___ shifts is tiring. (work)</a:t>
            </a:r>
            <a:endParaRPr lang="en-US" sz="900" dirty="0"/>
          </a:p>
        </p:txBody>
      </p:sp>
      <p:sp>
        <p:nvSpPr>
          <p:cNvPr id="35" name="R5_chip84"/>
          <p:cNvSpPr/>
          <p:nvPr/>
        </p:nvSpPr>
        <p:spPr>
          <a:xfrm>
            <a:off x="6263640" y="344614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Working · STAND UP</a:t>
            </a:r>
            <a:endParaRPr lang="en-US" sz="1200" dirty="0"/>
          </a:p>
        </p:txBody>
      </p:sp>
      <p:sp>
        <p:nvSpPr>
          <p:cNvPr id="36" name="bd_85"/>
          <p:cNvSpPr/>
          <p:nvPr/>
        </p:nvSpPr>
        <p:spPr>
          <a:xfrm>
            <a:off x="3246120" y="3858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6"/>
          <p:cNvSpPr/>
          <p:nvPr/>
        </p:nvSpPr>
        <p:spPr>
          <a:xfrm>
            <a:off x="3657600" y="385191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You must ___ online. (apply)</a:t>
            </a:r>
            <a:endParaRPr lang="en-US" sz="900" dirty="0"/>
          </a:p>
        </p:txBody>
      </p:sp>
      <p:sp>
        <p:nvSpPr>
          <p:cNvPr id="38" name="R6_chip87"/>
          <p:cNvSpPr/>
          <p:nvPr/>
        </p:nvSpPr>
        <p:spPr>
          <a:xfrm>
            <a:off x="6263640" y="385191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apply · HANDS UP</a:t>
            </a:r>
            <a:endParaRPr lang="en-US" sz="1200" dirty="0"/>
          </a:p>
        </p:txBody>
      </p:sp>
      <p:sp>
        <p:nvSpPr>
          <p:cNvPr id="39" name="bd_88"/>
          <p:cNvSpPr/>
          <p:nvPr/>
        </p:nvSpPr>
        <p:spPr>
          <a:xfrm>
            <a:off x="3246120" y="426396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9"/>
          <p:cNvSpPr/>
          <p:nvPr/>
        </p:nvSpPr>
        <p:spPr>
          <a:xfrm>
            <a:off x="3657600" y="425767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I'm saving ___ a business. (set up)</a:t>
            </a:r>
            <a:endParaRPr lang="en-US" sz="900" dirty="0"/>
          </a:p>
        </p:txBody>
      </p:sp>
      <p:sp>
        <p:nvSpPr>
          <p:cNvPr id="41" name="R7_chip90"/>
          <p:cNvSpPr/>
          <p:nvPr/>
        </p:nvSpPr>
        <p:spPr>
          <a:xfrm>
            <a:off x="6263640" y="425767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set up · SIT DOWN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9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a:t>
            </a:r>
            <a:endParaRPr lang="en-US" sz="2500" dirty="0"/>
          </a:p>
        </p:txBody>
      </p:sp>
      <p:pic>
        <p:nvPicPr>
          <p:cNvPr id="6" name="brP_94"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5"/>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the words mean? Explain!</a:t>
            </a:r>
            <a:endParaRPr lang="en-US" sz="1250" dirty="0"/>
          </a:p>
        </p:txBody>
      </p:sp>
      <p:sp>
        <p:nvSpPr>
          <p:cNvPr id="8" name="insIT_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significano le parole? Spiega!</a:t>
            </a:r>
            <a:endParaRPr lang="en-US" sz="950" dirty="0"/>
          </a:p>
        </p:txBody>
      </p:sp>
      <p:sp>
        <p:nvSpPr>
          <p:cNvPr id="9" name="note_9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Vocabulary · business words   ·   📖 SB p.78 · 5a Glossary (den, entrepreneur, make a pitch) + TG</a:t>
            </a:r>
            <a:endParaRPr lang="en-US" sz="800" dirty="0"/>
          </a:p>
        </p:txBody>
      </p:sp>
      <p:sp>
        <p:nvSpPr>
          <p:cNvPr id="12" name="cd_100"/>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0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03"/>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a den → the hidden home of a wild animal (e.g. a dragon!)</a:t>
            </a:r>
            <a:endParaRPr lang="en-US" sz="1000" dirty="0"/>
          </a:p>
        </p:txBody>
      </p:sp>
      <p:sp>
        <p:nvSpPr>
          <p:cNvPr id="16" name="pf_104"/>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05" descr="/home/claude/lls-course/v2/cache/8a2_investors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106"/>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07"/>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an entrepreneur</a:t>
            </a:r>
            <a:endParaRPr lang="en-US" sz="1150" dirty="0"/>
          </a:p>
        </p:txBody>
      </p:sp>
      <p:sp>
        <p:nvSpPr>
          <p:cNvPr id="20" name="R1_chip108"/>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person who makes money by starting or running businesses</a:t>
            </a:r>
            <a:endParaRPr lang="en-US" sz="950" dirty="0"/>
          </a:p>
        </p:txBody>
      </p:sp>
      <p:sp>
        <p:nvSpPr>
          <p:cNvPr id="21" name="bd_109"/>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10"/>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make a pitch</a:t>
            </a:r>
            <a:endParaRPr lang="en-US" sz="1150" dirty="0"/>
          </a:p>
        </p:txBody>
      </p:sp>
      <p:sp>
        <p:nvSpPr>
          <p:cNvPr id="23" name="R2_chip111"/>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present something you're trying to sell</a:t>
            </a:r>
            <a:endParaRPr lang="en-US" sz="950" dirty="0"/>
          </a:p>
        </p:txBody>
      </p:sp>
      <p:sp>
        <p:nvSpPr>
          <p:cNvPr id="24" name="bd_112"/>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13"/>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contestant</a:t>
            </a:r>
            <a:endParaRPr lang="en-US" sz="1150" dirty="0"/>
          </a:p>
        </p:txBody>
      </p:sp>
      <p:sp>
        <p:nvSpPr>
          <p:cNvPr id="26" name="R3_chip114"/>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person who takes part in a TV show or competition</a:t>
            </a:r>
            <a:endParaRPr lang="en-US" sz="950" dirty="0"/>
          </a:p>
        </p:txBody>
      </p:sp>
      <p:sp>
        <p:nvSpPr>
          <p:cNvPr id="27" name="bd_115"/>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16"/>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invest (money in…)</a:t>
            </a:r>
            <a:endParaRPr lang="en-US" sz="1150" dirty="0"/>
          </a:p>
        </p:txBody>
      </p:sp>
      <p:sp>
        <p:nvSpPr>
          <p:cNvPr id="29" name="R4_chip117"/>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put money into a business to make more money</a:t>
            </a:r>
            <a:endParaRPr lang="en-US" sz="950" dirty="0"/>
          </a:p>
        </p:txBody>
      </p:sp>
      <p:sp>
        <p:nvSpPr>
          <p:cNvPr id="30" name="bd_118"/>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19"/>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share in the profits</a:t>
            </a:r>
            <a:endParaRPr lang="en-US" sz="1150" dirty="0"/>
          </a:p>
        </p:txBody>
      </p:sp>
      <p:sp>
        <p:nvSpPr>
          <p:cNvPr id="32" name="R5_chip120"/>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part of the money the business makes</a:t>
            </a:r>
            <a:endParaRPr lang="en-US" sz="950" dirty="0"/>
          </a:p>
        </p:txBody>
      </p:sp>
      <p:sp>
        <p:nvSpPr>
          <p:cNvPr id="33" name="bd_121"/>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22"/>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success / a failure</a:t>
            </a:r>
            <a:endParaRPr lang="en-US" sz="1150" dirty="0"/>
          </a:p>
        </p:txBody>
      </p:sp>
      <p:sp>
        <p:nvSpPr>
          <p:cNvPr id="35" name="R6_chip123"/>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it works and makes money / it doesn't work</a:t>
            </a:r>
            <a:endParaRPr lang="en-US" sz="950" dirty="0"/>
          </a:p>
        </p:txBody>
      </p:sp>
      <p:sp>
        <p:nvSpPr>
          <p:cNvPr id="36" name="bd_124"/>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125"/>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"I'm out."</a:t>
            </a:r>
            <a:endParaRPr lang="en-US" sz="1150" dirty="0"/>
          </a:p>
        </p:txBody>
      </p:sp>
      <p:sp>
        <p:nvSpPr>
          <p:cNvPr id="38" name="R7_chip126"/>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(on the show) = I'm not going to invest</a:t>
            </a:r>
            <a:endParaRPr lang="en-US" sz="950" dirty="0"/>
          </a:p>
        </p:txBody>
      </p:sp>
      <p:sp>
        <p:nvSpPr>
          <p:cNvPr id="39" name="bd_127"/>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0" name="q_128"/>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slogan</a:t>
            </a:r>
            <a:endParaRPr lang="en-US" sz="1150" dirty="0"/>
          </a:p>
        </p:txBody>
      </p:sp>
      <p:sp>
        <p:nvSpPr>
          <p:cNvPr id="41" name="R8_chip129"/>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short, catchy phrase for advertising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3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13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 in Italian</a:t>
            </a:r>
            <a:endParaRPr lang="en-US" sz="2500" dirty="0"/>
          </a:p>
        </p:txBody>
      </p:sp>
      <p:pic>
        <p:nvPicPr>
          <p:cNvPr id="6" name="brP_13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13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1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Vocabulary · in Italian</a:t>
            </a:r>
            <a:endParaRPr lang="en-US" sz="800" dirty="0"/>
          </a:p>
        </p:txBody>
      </p:sp>
      <p:sp>
        <p:nvSpPr>
          <p:cNvPr id="12" name="cd_139"/>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140"/>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141"/>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entrepreneur</a:t>
            </a:r>
            <a:endParaRPr lang="en-US" sz="1200" dirty="0"/>
          </a:p>
        </p:txBody>
      </p:sp>
      <p:sp>
        <p:nvSpPr>
          <p:cNvPr id="15" name="R1_it142"/>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imprenditore / imprenditrice</a:t>
            </a:r>
            <a:endParaRPr lang="en-US" sz="800" dirty="0"/>
          </a:p>
        </p:txBody>
      </p:sp>
      <p:sp>
        <p:nvSpPr>
          <p:cNvPr id="16" name="cd_143"/>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144"/>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145"/>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make a pitch</a:t>
            </a:r>
            <a:endParaRPr lang="en-US" sz="1200" dirty="0"/>
          </a:p>
        </p:txBody>
      </p:sp>
      <p:sp>
        <p:nvSpPr>
          <p:cNvPr id="19" name="R2_it146"/>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presentare un'idea per venderla</a:t>
            </a:r>
            <a:endParaRPr lang="en-US" sz="800" dirty="0"/>
          </a:p>
        </p:txBody>
      </p:sp>
      <p:sp>
        <p:nvSpPr>
          <p:cNvPr id="20" name="cd_147"/>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148"/>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149"/>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contestant</a:t>
            </a:r>
            <a:endParaRPr lang="en-US" sz="1200" dirty="0"/>
          </a:p>
        </p:txBody>
      </p:sp>
      <p:sp>
        <p:nvSpPr>
          <p:cNvPr id="23" name="R3_it150"/>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concorrente</a:t>
            </a:r>
            <a:endParaRPr lang="en-US" sz="1000" dirty="0"/>
          </a:p>
        </p:txBody>
      </p:sp>
      <p:sp>
        <p:nvSpPr>
          <p:cNvPr id="24" name="cd_151"/>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15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15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invest</a:t>
            </a:r>
            <a:endParaRPr lang="en-US" sz="1200" dirty="0"/>
          </a:p>
        </p:txBody>
      </p:sp>
      <p:sp>
        <p:nvSpPr>
          <p:cNvPr id="27" name="R4_it154"/>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investire</a:t>
            </a:r>
            <a:endParaRPr lang="en-US" sz="1000" dirty="0"/>
          </a:p>
        </p:txBody>
      </p:sp>
      <p:sp>
        <p:nvSpPr>
          <p:cNvPr id="28" name="cd_155"/>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156"/>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157"/>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share</a:t>
            </a:r>
            <a:endParaRPr lang="en-US" sz="1200" dirty="0"/>
          </a:p>
        </p:txBody>
      </p:sp>
      <p:sp>
        <p:nvSpPr>
          <p:cNvPr id="31" name="R5_it158"/>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quota</a:t>
            </a:r>
            <a:endParaRPr lang="en-US" sz="1000" dirty="0"/>
          </a:p>
        </p:txBody>
      </p:sp>
      <p:sp>
        <p:nvSpPr>
          <p:cNvPr id="32" name="cd_159"/>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160"/>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61"/>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profits</a:t>
            </a:r>
            <a:endParaRPr lang="en-US" sz="1200" dirty="0"/>
          </a:p>
        </p:txBody>
      </p:sp>
      <p:sp>
        <p:nvSpPr>
          <p:cNvPr id="35" name="R6_it162"/>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profitti, utili</a:t>
            </a:r>
            <a:endParaRPr lang="en-US" sz="1000" dirty="0"/>
          </a:p>
        </p:txBody>
      </p:sp>
      <p:sp>
        <p:nvSpPr>
          <p:cNvPr id="36" name="cd_163"/>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164"/>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165"/>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success / failure</a:t>
            </a:r>
            <a:endParaRPr lang="en-US" sz="1200" dirty="0"/>
          </a:p>
        </p:txBody>
      </p:sp>
      <p:sp>
        <p:nvSpPr>
          <p:cNvPr id="39" name="R7_it166"/>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successo / fallimento</a:t>
            </a:r>
            <a:endParaRPr lang="en-US" sz="900" dirty="0"/>
          </a:p>
        </p:txBody>
      </p:sp>
      <p:sp>
        <p:nvSpPr>
          <p:cNvPr id="40" name="cd_167"/>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168"/>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169"/>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"I'm out."</a:t>
            </a:r>
            <a:endParaRPr lang="en-US" sz="1200" dirty="0"/>
          </a:p>
        </p:txBody>
      </p:sp>
      <p:sp>
        <p:nvSpPr>
          <p:cNvPr id="43" name="R8_it170"/>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"Io non ci sto." (non investo)</a:t>
            </a:r>
            <a:endParaRPr lang="en-US" sz="800" dirty="0"/>
          </a:p>
        </p:txBody>
      </p:sp>
      <p:sp>
        <p:nvSpPr>
          <p:cNvPr id="44" name="cd_171"/>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172"/>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73"/>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slogan</a:t>
            </a:r>
            <a:endParaRPr lang="en-US" sz="1200" dirty="0"/>
          </a:p>
        </p:txBody>
      </p:sp>
      <p:sp>
        <p:nvSpPr>
          <p:cNvPr id="47" name="R9_it174"/>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slogan pubblicitario</a:t>
            </a:r>
            <a:endParaRPr lang="en-US" sz="1000" dirty="0"/>
          </a:p>
        </p:txBody>
      </p:sp>
      <p:sp>
        <p:nvSpPr>
          <p:cNvPr id="48" name="cd_175"/>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176"/>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177"/>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den</a:t>
            </a:r>
            <a:endParaRPr lang="en-US" sz="1200" dirty="0"/>
          </a:p>
        </p:txBody>
      </p:sp>
      <p:sp>
        <p:nvSpPr>
          <p:cNvPr id="51" name="R10_it178"/>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tana</a:t>
            </a:r>
            <a:endParaRPr lang="en-US" sz="1000" dirty="0"/>
          </a:p>
        </p:txBody>
      </p:sp>
      <p:sp>
        <p:nvSpPr>
          <p:cNvPr id="52" name="cd_179"/>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180"/>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181"/>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product</a:t>
            </a:r>
            <a:endParaRPr lang="en-US" sz="1200" dirty="0"/>
          </a:p>
        </p:txBody>
      </p:sp>
      <p:sp>
        <p:nvSpPr>
          <p:cNvPr id="55" name="R11_it182"/>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prodotto</a:t>
            </a:r>
            <a:endParaRPr lang="en-US" sz="1000" dirty="0"/>
          </a:p>
        </p:txBody>
      </p:sp>
      <p:sp>
        <p:nvSpPr>
          <p:cNvPr id="56" name="cd_183"/>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184"/>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185"/>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business</a:t>
            </a:r>
            <a:endParaRPr lang="en-US" sz="1200" dirty="0"/>
          </a:p>
        </p:txBody>
      </p:sp>
      <p:sp>
        <p:nvSpPr>
          <p:cNvPr id="59" name="R12_it186"/>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un'attività, un'azienda</a:t>
            </a:r>
            <a:endParaRPr lang="en-US" sz="900" dirty="0"/>
          </a:p>
        </p:txBody>
      </p:sp>
      <p:sp>
        <p:nvSpPr>
          <p:cNvPr id="60" name="R13_wc187"/>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188"/>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share = una quota (to share = condividere)  ·  pitch here ≠ campo da calcio  ·  success = successo, BUT succedere = happen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9"/>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Salvo's cannolo pitch</a:t>
            </a:r>
            <a:endParaRPr lang="en-US" sz="2500" dirty="0"/>
          </a:p>
        </p:txBody>
      </p:sp>
      <p:pic>
        <p:nvPicPr>
          <p:cNvPr id="6" name="brP_19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1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19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1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class story (TPRS)</a:t>
            </a:r>
            <a:endParaRPr lang="en-US" sz="800" dirty="0"/>
          </a:p>
        </p:txBody>
      </p:sp>
      <p:sp>
        <p:nvSpPr>
          <p:cNvPr id="12" name="pf_198"/>
          <p:cNvSpPr/>
          <p:nvPr/>
        </p:nvSpPr>
        <p:spPr>
          <a:xfrm rot="-90000">
            <a:off x="913653" y="1417320"/>
            <a:ext cx="1555974"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199" descr="/home/claude/lls-course/v2/cache/spare_work_success_jpg_352x286_31.png">    </p:cNvPr>
          <p:cNvPicPr>
            <a:picLocks noChangeAspect="1"/>
          </p:cNvPicPr>
          <p:nvPr/>
        </p:nvPicPr>
        <p:blipFill>
          <a:blip r:embed="rId5"/>
          <a:stretch>
            <a:fillRect/>
          </a:stretch>
        </p:blipFill>
        <p:spPr>
          <a:xfrm rot="-90000">
            <a:off x="959373" y="1463040"/>
            <a:ext cx="1464534" cy="1188720"/>
          </a:xfrm>
          <a:prstGeom prst="rect">
            <a:avLst/>
          </a:prstGeom>
        </p:spPr>
      </p:pic>
      <p:sp>
        <p:nvSpPr>
          <p:cNvPr id="14" name="cd_200"/>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01"/>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2"/>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203"/>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an entrepreneur</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imprenditore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make a pitch</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presentare un'idea per venderla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a slogan</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slogan pubblicitario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invest (in)</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investire (in)</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a share in the profits</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una quota dei profitti</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"I'm out."</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"Io non ci sto." (non investo)</a:t>
            </a:r>
            <a:endParaRPr lang="en-US" sz="700" dirty="0"/>
          </a:p>
        </p:txBody>
      </p:sp>
      <p:sp>
        <p:nvSpPr>
          <p:cNvPr id="18" name="R1_sb204"/>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205"/>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Salvo decided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to set up</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a business. He's an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entrepreneur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with a cannolo that lasts a year!</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Salvo an entrepreneur or a teacher? · What's his product?</a:t>
            </a:r>
            <a:endParaRPr lang="en-US" sz="900" dirty="0"/>
          </a:p>
        </p:txBody>
      </p:sp>
      <p:sp>
        <p:nvSpPr>
          <p:cNvPr id="20" name="R2_sb206"/>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207"/>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He's very nervous about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making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his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pitch</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on Dragons' Den. He only has a few minutes!</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he relaxed or nervous? · What is he nervous about?</a:t>
            </a:r>
            <a:endParaRPr lang="en-US" sz="900" dirty="0"/>
          </a:p>
        </p:txBody>
      </p:sp>
      <p:sp>
        <p:nvSpPr>
          <p:cNvPr id="22" name="R3_sb208"/>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209"/>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His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slogan</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is 'One cannolo, one year, zero problems!' The Dragons don't smile.</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 the Dragons smile? · What's his slogan? · Is it a good slogan?</a:t>
            </a:r>
            <a:endParaRPr lang="en-US" sz="900" dirty="0"/>
          </a:p>
        </p:txBody>
      </p:sp>
      <p:sp>
        <p:nvSpPr>
          <p:cNvPr id="24" name="R4_sb210"/>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211"/>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 asks them to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invest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€50,000 for a 10%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share in the profits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he want €50,000 or €5,000? · What share does he offer?</a:t>
            </a:r>
            <a:endParaRPr lang="en-US" sz="1150" dirty="0"/>
          </a:p>
        </p:txBody>
      </p:sp>
      <p:sp>
        <p:nvSpPr>
          <p:cNvPr id="26" name="R5_sb212"/>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213"/>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Dragons taste the cannolo. Horrible! One by one, they all say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I'm out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 they like it? · What do they say? · Why? (you decide!)</a:t>
            </a:r>
            <a:endParaRPr lang="en-US" sz="1000" dirty="0"/>
          </a:p>
        </p:txBody>
      </p:sp>
      <p:sp>
        <p:nvSpPr>
          <p:cNvPr id="28" name="R6_sb214"/>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215"/>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But Salvo doesn't give up. Today his cannoli are a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success</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 in Bagheria, at least!</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it a success or a failure? · And you – would you invest in Salvo?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7"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18"/>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 the Dragons' Den</a:t>
            </a:r>
            <a:endParaRPr lang="en-US" sz="2500" dirty="0"/>
          </a:p>
        </p:txBody>
      </p:sp>
      <p:pic>
        <p:nvPicPr>
          <p:cNvPr id="6" name="brP_21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2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4 numbers!</a:t>
            </a:r>
            <a:endParaRPr lang="en-US" sz="1250" dirty="0"/>
          </a:p>
        </p:txBody>
      </p:sp>
      <p:sp>
        <p:nvSpPr>
          <p:cNvPr id="8" name="insIT_2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Indovina i 4 numeri!</a:t>
            </a:r>
            <a:endParaRPr lang="en-US" sz="950" dirty="0"/>
          </a:p>
        </p:txBody>
      </p:sp>
      <p:sp>
        <p:nvSpPr>
          <p:cNvPr id="9" name="note_22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2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prediction   ·   📖 SB p.78 · 5a</a:t>
            </a:r>
            <a:endParaRPr lang="en-US" sz="800" dirty="0"/>
          </a:p>
        </p:txBody>
      </p:sp>
      <p:sp>
        <p:nvSpPr>
          <p:cNvPr id="12" name="cd_225"/>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226"/>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In the Dragons' Den</a:t>
            </a:r>
            <a:endParaRPr lang="en-US" sz="2800" dirty="0"/>
          </a:p>
        </p:txBody>
      </p:sp>
      <p:sp>
        <p:nvSpPr>
          <p:cNvPr id="14" name="nx_227"/>
          <p:cNvSpPr/>
          <p:nvPr/>
        </p:nvSpPr>
        <p:spPr>
          <a:xfrm>
            <a:off x="457200" y="2807208"/>
            <a:ext cx="475488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900" dirty="0">
                <a:solidFill>
                  <a:srgbClr val="2EB872"/>
                </a:solidFill>
                <a:latin typeface="Segoe UI Black" pitchFamily="34" charset="0"/>
                <a:ea typeface="Segoe UI Black" pitchFamily="34" charset="-122"/>
                <a:cs typeface="Segoe UI Black" pitchFamily="34" charset="-120"/>
              </a:rPr>
              <a:t>➡ NEXT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text on the next 2 slides has 9 gaps: the 4 numbers from the bank + 5 words from slide 4. Guess first!</a:t>
            </a:r>
            <a:endParaRPr lang="en-US" sz="900" dirty="0"/>
          </a:p>
        </p:txBody>
      </p:sp>
      <p:sp>
        <p:nvSpPr>
          <p:cNvPr id="15" name="sf_228"/>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Dragons' Den is a UK TV series, with similar versions in many different countries. Contestants present their ideas to very rich business people, nicknamed 'the Dragons'.</a:t>
            </a:r>
            <a:endParaRPr lang="en-US" sz="1150" dirty="0"/>
          </a:p>
        </p:txBody>
      </p:sp>
      <p:sp>
        <p:nvSpPr>
          <p:cNvPr id="16" name="nbl_229"/>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7" name="bd_230"/>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18" name="bd_231"/>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19" name="bd_232"/>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250</a:t>
            </a:r>
            <a:endParaRPr lang="en-US" sz="1000" dirty="0"/>
          </a:p>
        </p:txBody>
      </p:sp>
      <p:sp>
        <p:nvSpPr>
          <p:cNvPr id="20" name="bd_233"/>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2005</a:t>
            </a:r>
            <a:endParaRPr lang="en-US" sz="800" dirty="0"/>
          </a:p>
        </p:txBody>
      </p:sp>
      <p:sp>
        <p:nvSpPr>
          <p:cNvPr id="21" name="pf_234"/>
          <p:cNvSpPr/>
          <p:nvPr/>
        </p:nvSpPr>
        <p:spPr>
          <a:xfrm rot="90000">
            <a:off x="5577840" y="1697355"/>
            <a:ext cx="3246120" cy="2457450"/>
          </a:xfrm>
          <a:prstGeom prst="roundRect">
            <a:avLst>
              <a:gd name="adj" fmla="val 632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35" descr="/home/claude/lls-course/v2/cache/8a2_cover_jpg_759x569_31.png">    </p:cNvPr>
          <p:cNvPicPr>
            <a:picLocks noChangeAspect="1"/>
          </p:cNvPicPr>
          <p:nvPr/>
        </p:nvPicPr>
        <p:blipFill>
          <a:blip r:embed="rId5"/>
          <a:stretch>
            <a:fillRect/>
          </a:stretch>
        </p:blipFill>
        <p:spPr>
          <a:xfrm rot="90000">
            <a:off x="5623560" y="1743075"/>
            <a:ext cx="3154680" cy="236601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3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3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24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1–5. Check in the book p.78.</a:t>
            </a:r>
            <a:endParaRPr lang="en-US" sz="1250" dirty="0"/>
          </a:p>
        </p:txBody>
      </p:sp>
      <p:sp>
        <p:nvSpPr>
          <p:cNvPr id="8" name="insIT_2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1–5. Controlla nel libro p.78.</a:t>
            </a:r>
            <a:endParaRPr lang="en-US" sz="950" dirty="0"/>
          </a:p>
        </p:txBody>
      </p:sp>
      <p:sp>
        <p:nvSpPr>
          <p:cNvPr id="9" name="note_24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2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In the Dragons' Den   ·   📖 SB p.78 · 5a (text slightly shortened)</a:t>
            </a:r>
            <a:endParaRPr lang="en-US" sz="800" dirty="0"/>
          </a:p>
        </p:txBody>
      </p:sp>
      <p:sp>
        <p:nvSpPr>
          <p:cNvPr id="12" name="cd_245"/>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4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show</a:t>
            </a:r>
            <a:endParaRPr lang="en-US" sz="1700" dirty="0"/>
          </a:p>
        </p:txBody>
      </p:sp>
      <p:sp>
        <p:nvSpPr>
          <p:cNvPr id="14" name="ln_247"/>
          <p:cNvSpPr/>
          <p:nvPr/>
        </p:nvSpPr>
        <p:spPr>
          <a:xfrm>
            <a:off x="548640" y="1920240"/>
            <a:ext cx="5349240" cy="53755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5" name="R1_lnA248"/>
          <p:cNvSpPr/>
          <p:nvPr/>
        </p:nvSpPr>
        <p:spPr>
          <a:xfrm>
            <a:off x="548640" y="1920240"/>
            <a:ext cx="5349240" cy="53755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2005</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6" name="ln_249"/>
          <p:cNvSpPr/>
          <p:nvPr/>
        </p:nvSpPr>
        <p:spPr>
          <a:xfrm>
            <a:off x="548640" y="2457799"/>
            <a:ext cx="5349240" cy="69723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Contestants have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very successful business people.</a:t>
            </a:r>
            <a:endParaRPr lang="en-US" sz="1300" dirty="0"/>
          </a:p>
        </p:txBody>
      </p:sp>
      <p:sp>
        <p:nvSpPr>
          <p:cNvPr id="17" name="R2_lnA250"/>
          <p:cNvSpPr/>
          <p:nvPr/>
        </p:nvSpPr>
        <p:spPr>
          <a:xfrm>
            <a:off x="548640" y="2457799"/>
            <a:ext cx="5349240" cy="69723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Contestants have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30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300" dirty="0">
                <a:solidFill>
                  <a:srgbClr val="1B2559"/>
                </a:solidFill>
                <a:latin typeface="Georgia" pitchFamily="34" charset="0"/>
                <a:ea typeface="Georgia" pitchFamily="34" charset="-122"/>
                <a:cs typeface="Georgia" pitchFamily="34" charset="-120"/>
              </a:rPr>
              <a:t> very successful business people.</a:t>
            </a:r>
            <a:endParaRPr lang="en-US" sz="1300" dirty="0"/>
          </a:p>
        </p:txBody>
      </p:sp>
      <p:sp>
        <p:nvSpPr>
          <p:cNvPr id="18" name="ln_251"/>
          <p:cNvSpPr/>
          <p:nvPr/>
        </p:nvSpPr>
        <p:spPr>
          <a:xfrm>
            <a:off x="548640" y="3155029"/>
            <a:ext cx="5349240" cy="601427"/>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These people are nicknamed 'the Dragons', and the intimidating room where they meet the contestants is 'the Den'.</a:t>
            </a:r>
            <a:endParaRPr lang="en-US" sz="1300" dirty="0"/>
          </a:p>
        </p:txBody>
      </p:sp>
      <p:sp>
        <p:nvSpPr>
          <p:cNvPr id="19" name="ln_252"/>
          <p:cNvSpPr/>
          <p:nvPr/>
        </p:nvSpPr>
        <p:spPr>
          <a:xfrm>
            <a:off x="548640" y="3756456"/>
            <a:ext cx="5349240" cy="68658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300" dirty="0"/>
          </a:p>
        </p:txBody>
      </p:sp>
      <p:sp>
        <p:nvSpPr>
          <p:cNvPr id="20" name="R3_lnA253"/>
          <p:cNvSpPr/>
          <p:nvPr/>
        </p:nvSpPr>
        <p:spPr>
          <a:xfrm>
            <a:off x="548640" y="3756456"/>
            <a:ext cx="5349240" cy="68658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invest</a:t>
            </a:r>
            <a:pPr indent="0" marL="0">
              <a:buNone/>
            </a:pPr>
            <a:r>
              <a:rPr lang="en-US" sz="130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300" dirty="0"/>
          </a:p>
        </p:txBody>
      </p:sp>
      <p:sp>
        <p:nvSpPr>
          <p:cNvPr id="21" name="ln_254"/>
          <p:cNvSpPr/>
          <p:nvPr/>
        </p:nvSpPr>
        <p:spPr>
          <a:xfrm>
            <a:off x="548640" y="4443042"/>
            <a:ext cx="5349240" cy="26611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2" name="R4_lnA255"/>
          <p:cNvSpPr/>
          <p:nvPr/>
        </p:nvSpPr>
        <p:spPr>
          <a:xfrm>
            <a:off x="548640" y="4443042"/>
            <a:ext cx="5349240" cy="26611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profits</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pf_256"/>
          <p:cNvSpPr/>
          <p:nvPr/>
        </p:nvSpPr>
        <p:spPr>
          <a:xfrm rot="120000">
            <a:off x="6598920" y="1417320"/>
            <a:ext cx="198120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57" descr="/home/claude/lls-course/v2/cache/8a2_investors_jpg_455x341_31.png">    </p:cNvPr>
          <p:cNvPicPr>
            <a:picLocks noChangeAspect="1"/>
          </p:cNvPicPr>
          <p:nvPr/>
        </p:nvPicPr>
        <p:blipFill>
          <a:blip r:embed="rId5"/>
          <a:stretch>
            <a:fillRect/>
          </a:stretch>
        </p:blipFill>
        <p:spPr>
          <a:xfrm rot="120000">
            <a:off x="6644640" y="1463040"/>
            <a:ext cx="1889760" cy="1417320"/>
          </a:xfrm>
          <a:prstGeom prst="rect">
            <a:avLst/>
          </a:prstGeom>
        </p:spPr>
      </p:pic>
      <p:sp>
        <p:nvSpPr>
          <p:cNvPr id="25" name="cd_258"/>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6" name="ii_25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26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261"/>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den = tana</a:t>
            </a:r>
            <a:endParaRPr lang="en-US" sz="750" dirty="0"/>
          </a:p>
          <a:p>
            <a:pPr marL="152400" indent="-152400">
              <a:spcBef>
                <a:spcPts val="6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intimidating = che mette in soggezione</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6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26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6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6–9. Check in the book.</a:t>
            </a:r>
            <a:endParaRPr lang="en-US" sz="1250" dirty="0"/>
          </a:p>
        </p:txBody>
      </p:sp>
      <p:sp>
        <p:nvSpPr>
          <p:cNvPr id="8" name="insIT_2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6–9. Controlla nel libro.</a:t>
            </a:r>
            <a:endParaRPr lang="en-US" sz="950" dirty="0"/>
          </a:p>
        </p:txBody>
      </p:sp>
      <p:sp>
        <p:nvSpPr>
          <p:cNvPr id="9" name="note_26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2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In the Dragons' Den   ·   📖 SB p.78 · 5a (text slightly shortened)</a:t>
            </a:r>
            <a:endParaRPr lang="en-US" sz="800" dirty="0"/>
          </a:p>
        </p:txBody>
      </p:sp>
      <p:sp>
        <p:nvSpPr>
          <p:cNvPr id="12" name="cd_271"/>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7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pitch</a:t>
            </a:r>
            <a:endParaRPr lang="en-US" sz="1700" dirty="0"/>
          </a:p>
        </p:txBody>
      </p:sp>
      <p:sp>
        <p:nvSpPr>
          <p:cNvPr id="14" name="ln_273"/>
          <p:cNvSpPr/>
          <p:nvPr/>
        </p:nvSpPr>
        <p:spPr>
          <a:xfrm>
            <a:off x="548640" y="1920240"/>
            <a:ext cx="5349240" cy="733926"/>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250" dirty="0"/>
          </a:p>
        </p:txBody>
      </p:sp>
      <p:sp>
        <p:nvSpPr>
          <p:cNvPr id="15" name="R1_lnA274"/>
          <p:cNvSpPr/>
          <p:nvPr/>
        </p:nvSpPr>
        <p:spPr>
          <a:xfrm>
            <a:off x="548640" y="1920240"/>
            <a:ext cx="5349240" cy="733926"/>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entrepreneurs</a:t>
            </a:r>
            <a:pPr indent="0" marL="0">
              <a:buNone/>
            </a:pPr>
            <a:r>
              <a:rPr lang="en-US" sz="12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250" dirty="0"/>
          </a:p>
        </p:txBody>
      </p:sp>
      <p:sp>
        <p:nvSpPr>
          <p:cNvPr id="16" name="ln_275"/>
          <p:cNvSpPr/>
          <p:nvPr/>
        </p:nvSpPr>
        <p:spPr>
          <a:xfrm>
            <a:off x="548640" y="2654166"/>
            <a:ext cx="5349240" cy="704569"/>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250" b="1" dirty="0">
                <a:solidFill>
                  <a:srgbClr val="2EB872"/>
                </a:solidFill>
                <a:latin typeface="Georgia" pitchFamily="34" charset="0"/>
                <a:ea typeface="Georgia" pitchFamily="34" charset="-122"/>
                <a:cs typeface="Georgia" pitchFamily="34" charset="-120"/>
              </a:rPr>
              <a:t> (7) ________ </a:t>
            </a:r>
            <a:pPr indent="0" marL="0">
              <a:buNone/>
            </a:pPr>
            <a:r>
              <a:rPr lang="en-US" sz="12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250" dirty="0"/>
          </a:p>
        </p:txBody>
      </p:sp>
      <p:sp>
        <p:nvSpPr>
          <p:cNvPr id="17" name="R2_lnA276"/>
          <p:cNvSpPr/>
          <p:nvPr/>
        </p:nvSpPr>
        <p:spPr>
          <a:xfrm>
            <a:off x="548640" y="2654166"/>
            <a:ext cx="5349240" cy="704569"/>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pitch</a:t>
            </a:r>
            <a:pPr indent="0" marL="0">
              <a:buNone/>
            </a:pPr>
            <a:r>
              <a:rPr lang="en-US" sz="12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250" dirty="0"/>
          </a:p>
        </p:txBody>
      </p:sp>
      <p:sp>
        <p:nvSpPr>
          <p:cNvPr id="18" name="ln_277"/>
          <p:cNvSpPr/>
          <p:nvPr/>
        </p:nvSpPr>
        <p:spPr>
          <a:xfrm>
            <a:off x="548640" y="3358736"/>
            <a:ext cx="5349240" cy="369899"/>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Finally, the Dragons say if they are prepared to invest or not.</a:t>
            </a:r>
            <a:endParaRPr lang="en-US" sz="1250" dirty="0"/>
          </a:p>
        </p:txBody>
      </p:sp>
      <p:sp>
        <p:nvSpPr>
          <p:cNvPr id="19" name="ln_278"/>
          <p:cNvSpPr/>
          <p:nvPr/>
        </p:nvSpPr>
        <p:spPr>
          <a:xfrm>
            <a:off x="548640" y="3728634"/>
            <a:ext cx="5349240" cy="534298"/>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250" b="1" dirty="0">
                <a:solidFill>
                  <a:srgbClr val="2EB872"/>
                </a:solidFill>
                <a:latin typeface="Georgia" pitchFamily="34" charset="0"/>
                <a:ea typeface="Georgia" pitchFamily="34" charset="-122"/>
                <a:cs typeface="Georgia" pitchFamily="34" charset="-120"/>
              </a:rPr>
              <a:t> (8)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0" name="R3_lnA279"/>
          <p:cNvSpPr/>
          <p:nvPr/>
        </p:nvSpPr>
        <p:spPr>
          <a:xfrm>
            <a:off x="548640" y="3728634"/>
            <a:ext cx="5349240" cy="534298"/>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I'm out</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1" name="ln_280"/>
          <p:cNvSpPr/>
          <p:nvPr/>
        </p:nvSpPr>
        <p:spPr>
          <a:xfrm>
            <a:off x="548640" y="4262933"/>
            <a:ext cx="5349240" cy="446227"/>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250" b="1" dirty="0">
                <a:solidFill>
                  <a:srgbClr val="2EB872"/>
                </a:solidFill>
                <a:latin typeface="Georgia" pitchFamily="34" charset="0"/>
                <a:ea typeface="Georgia" pitchFamily="34" charset="-122"/>
                <a:cs typeface="Georgia" pitchFamily="34" charset="-120"/>
              </a:rPr>
              <a:t> (9) ________ </a:t>
            </a:r>
            <a:pPr indent="0" marL="0">
              <a:buNone/>
            </a:pPr>
            <a:r>
              <a:rPr lang="en-US" sz="1250" dirty="0">
                <a:solidFill>
                  <a:srgbClr val="1B2559"/>
                </a:solidFill>
                <a:latin typeface="Georgia" pitchFamily="34" charset="0"/>
                <a:ea typeface="Georgia" pitchFamily="34" charset="-122"/>
                <a:cs typeface="Georgia" pitchFamily="34" charset="-120"/>
              </a:rPr>
              <a:t> businesses.</a:t>
            </a:r>
            <a:endParaRPr lang="en-US" sz="1250" dirty="0"/>
          </a:p>
        </p:txBody>
      </p:sp>
      <p:sp>
        <p:nvSpPr>
          <p:cNvPr id="22" name="R4_lnA281"/>
          <p:cNvSpPr/>
          <p:nvPr/>
        </p:nvSpPr>
        <p:spPr>
          <a:xfrm>
            <a:off x="548640" y="4262933"/>
            <a:ext cx="5349240" cy="446227"/>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250</a:t>
            </a:r>
            <a:pPr indent="0" marL="0">
              <a:buNone/>
            </a:pPr>
            <a:r>
              <a:rPr lang="en-US" sz="1250" dirty="0">
                <a:solidFill>
                  <a:srgbClr val="1B2559"/>
                </a:solidFill>
                <a:latin typeface="Georgia" pitchFamily="34" charset="0"/>
                <a:ea typeface="Georgia" pitchFamily="34" charset="-122"/>
                <a:cs typeface="Georgia" pitchFamily="34" charset="-120"/>
              </a:rPr>
              <a:t> businesses.</a:t>
            </a:r>
            <a:endParaRPr lang="en-US" sz="1250" dirty="0"/>
          </a:p>
        </p:txBody>
      </p:sp>
      <p:sp>
        <p:nvSpPr>
          <p:cNvPr id="23" name="pf_282"/>
          <p:cNvSpPr/>
          <p:nvPr/>
        </p:nvSpPr>
        <p:spPr>
          <a:xfrm rot="120000">
            <a:off x="6598920" y="1417320"/>
            <a:ext cx="198120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83" descr="/home/claude/lls-course/v2/cache/8a2_cover_jpg_455x341_31.png">    </p:cNvPr>
          <p:cNvPicPr>
            <a:picLocks noChangeAspect="1"/>
          </p:cNvPicPr>
          <p:nvPr/>
        </p:nvPicPr>
        <p:blipFill>
          <a:blip r:embed="rId5"/>
          <a:stretch>
            <a:fillRect/>
          </a:stretch>
        </p:blipFill>
        <p:spPr>
          <a:xfrm rot="120000">
            <a:off x="6644640" y="1463040"/>
            <a:ext cx="1889760" cy="1417320"/>
          </a:xfrm>
          <a:prstGeom prst="rect">
            <a:avLst/>
          </a:prstGeom>
        </p:spPr>
      </p:pic>
      <p:sp>
        <p:nvSpPr>
          <p:cNvPr id="25" name="cd_28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6" name="ii_28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28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28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dreaded = temuto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so far = finora</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9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products</a:t>
            </a:r>
            <a:endParaRPr lang="en-US" sz="2500" dirty="0"/>
          </a:p>
        </p:txBody>
      </p:sp>
      <p:pic>
        <p:nvPicPr>
          <p:cNvPr id="6" name="brP_29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9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Would you invest? Decide!</a:t>
            </a:r>
            <a:endParaRPr lang="en-US" sz="1250" dirty="0"/>
          </a:p>
        </p:txBody>
      </p:sp>
      <p:sp>
        <p:nvSpPr>
          <p:cNvPr id="8" name="insIT_2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Investiresti? Decidi!</a:t>
            </a:r>
            <a:endParaRPr lang="en-US" sz="950" dirty="0"/>
          </a:p>
        </p:txBody>
      </p:sp>
      <p:sp>
        <p:nvSpPr>
          <p:cNvPr id="9" name="note_29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2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three products   ·   📖 SB p.78 · 5b (texts slightly shortened)</a:t>
            </a:r>
            <a:endParaRPr lang="en-US" sz="800" dirty="0"/>
          </a:p>
        </p:txBody>
      </p:sp>
      <p:sp>
        <p:nvSpPr>
          <p:cNvPr id="12" name="cd_297"/>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9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Three products on the show</a:t>
            </a:r>
            <a:endParaRPr lang="en-US" sz="1700" dirty="0"/>
          </a:p>
        </p:txBody>
      </p:sp>
      <p:sp>
        <p:nvSpPr>
          <p:cNvPr id="14" name="ln_299"/>
          <p:cNvSpPr/>
          <p:nvPr/>
        </p:nvSpPr>
        <p:spPr>
          <a:xfrm>
            <a:off x="548640" y="1920240"/>
            <a:ext cx="5349240" cy="648189"/>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TINGATANG · Gill and Clare, from Leeds, designed Tingatang, silver jewellery to show that you're single – like a wedding ring shows that you're married.</a:t>
            </a:r>
            <a:endParaRPr lang="en-US" sz="1050" dirty="0"/>
          </a:p>
        </p:txBody>
      </p:sp>
      <p:sp>
        <p:nvSpPr>
          <p:cNvPr id="15" name="ln_300"/>
          <p:cNvSpPr/>
          <p:nvPr/>
        </p:nvSpPr>
        <p:spPr>
          <a:xfrm>
            <a:off x="548640" y="2568429"/>
            <a:ext cx="5349240" cy="255864"/>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They asked the Dragons to invest £500,000 in their business.</a:t>
            </a:r>
            <a:endParaRPr lang="en-US" sz="1050" dirty="0"/>
          </a:p>
        </p:txBody>
      </p:sp>
      <p:sp>
        <p:nvSpPr>
          <p:cNvPr id="16" name="ln_301"/>
          <p:cNvSpPr/>
          <p:nvPr/>
        </p:nvSpPr>
        <p:spPr>
          <a:xfrm>
            <a:off x="548640" y="2824294"/>
            <a:ext cx="5349240" cy="652454"/>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SLAPPIE WATCHES · David, from Birmingham, asked for £50,000 for 25% of his company. The watches cost under £20 and have straps of many different colours.</a:t>
            </a:r>
            <a:endParaRPr lang="en-US" sz="1050" dirty="0"/>
          </a:p>
        </p:txBody>
      </p:sp>
      <p:sp>
        <p:nvSpPr>
          <p:cNvPr id="17" name="ln_302"/>
          <p:cNvSpPr/>
          <p:nvPr/>
        </p:nvSpPr>
        <p:spPr>
          <a:xfrm>
            <a:off x="548640" y="3476747"/>
            <a:ext cx="5349240" cy="345417"/>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The straps and watch faces are interchangeable, so you can create your own watch.</a:t>
            </a:r>
            <a:endParaRPr lang="en-US" sz="1050" dirty="0"/>
          </a:p>
        </p:txBody>
      </p:sp>
      <p:sp>
        <p:nvSpPr>
          <p:cNvPr id="18" name="ln_303"/>
          <p:cNvSpPr/>
          <p:nvPr/>
        </p:nvSpPr>
        <p:spPr>
          <a:xfrm>
            <a:off x="548640" y="3822164"/>
            <a:ext cx="5349240" cy="639661"/>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TANGLE TEEZER · Shaun, a hairdresser from London, set up a company to make brightly coloured plastic hairbrushes – especially good at untangling hair.</a:t>
            </a:r>
            <a:endParaRPr lang="en-US" sz="1050" dirty="0"/>
          </a:p>
        </p:txBody>
      </p:sp>
      <p:sp>
        <p:nvSpPr>
          <p:cNvPr id="19" name="ln_304"/>
          <p:cNvSpPr/>
          <p:nvPr/>
        </p:nvSpPr>
        <p:spPr>
          <a:xfrm>
            <a:off x="548640" y="4461825"/>
            <a:ext cx="5349240" cy="247335"/>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He asked for an £80,000 investment for 15% of his company.</a:t>
            </a:r>
            <a:endParaRPr lang="en-US" sz="1050" dirty="0"/>
          </a:p>
        </p:txBody>
      </p:sp>
      <p:sp>
        <p:nvSpPr>
          <p:cNvPr id="20" name="pf_305"/>
          <p:cNvSpPr/>
          <p:nvPr/>
        </p:nvSpPr>
        <p:spPr>
          <a:xfrm rot="120000">
            <a:off x="6598920" y="1417320"/>
            <a:ext cx="198120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06" descr="/home/claude/lls-course/v2/cache/8a2_jewellery_jpg_455x341_31.png">    </p:cNvPr>
          <p:cNvPicPr>
            <a:picLocks noChangeAspect="1"/>
          </p:cNvPicPr>
          <p:nvPr/>
        </p:nvPicPr>
        <p:blipFill>
          <a:blip r:embed="rId5"/>
          <a:stretch>
            <a:fillRect/>
          </a:stretch>
        </p:blipFill>
        <p:spPr>
          <a:xfrm rot="120000">
            <a:off x="6644640" y="1463040"/>
            <a:ext cx="1889760" cy="1417320"/>
          </a:xfrm>
          <a:prstGeom prst="rect">
            <a:avLst/>
          </a:prstGeom>
        </p:spPr>
      </p:pic>
      <p:sp>
        <p:nvSpPr>
          <p:cNvPr id="22" name="cd_307"/>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3" name="ii_30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0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5" name="il_310"/>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strap = cinturino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untangle = sciogliere i nodi</a:t>
            </a:r>
            <a:endParaRPr lang="en-US" sz="900" dirty="0"/>
          </a:p>
        </p:txBody>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1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Invest or I'm out?</a:t>
            </a:r>
            <a:endParaRPr lang="en-US" sz="2500" dirty="0"/>
          </a:p>
        </p:txBody>
      </p:sp>
      <p:pic>
        <p:nvPicPr>
          <p:cNvPr id="6" name="brP_31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1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Invest or I'm out? Bet, then find out!</a:t>
            </a:r>
            <a:endParaRPr lang="en-US" sz="1250" dirty="0"/>
          </a:p>
        </p:txBody>
      </p:sp>
      <p:sp>
        <p:nvSpPr>
          <p:cNvPr id="8" name="insIT_3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Investire o no? Scommetti, poi scoprilo!</a:t>
            </a:r>
            <a:endParaRPr lang="en-US" sz="950" dirty="0"/>
          </a:p>
        </p:txBody>
      </p:sp>
      <p:sp>
        <p:nvSpPr>
          <p:cNvPr id="9" name="note_31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Communicative game</a:t>
            </a:r>
            <a:endParaRPr lang="en-US" sz="1250" dirty="0"/>
          </a:p>
        </p:txBody>
      </p:sp>
      <p:pic>
        <p:nvPicPr>
          <p:cNvPr id="10" name="logo_3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game · jigsaw   ·   📖 SB p.78 · 5b, 5c, 5d · Communication Dragons' Den A p.109, B p.113, C p.114</a:t>
            </a:r>
            <a:endParaRPr lang="en-US" sz="800" dirty="0"/>
          </a:p>
        </p:txBody>
      </p:sp>
      <p:sp>
        <p:nvSpPr>
          <p:cNvPr id="12" name="cd_320"/>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2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2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23"/>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Teams: bet INVEST or I'M OUT for each product.</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Squadre: scommettete INVESTE o FUORI.</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Groups of 3: read A p.109, B p.113, C p.114. Tell the others.</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Gruppi da 3: leggete A, B, C e raccontate.</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Right bet = 1 point.</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Scommessa giusta = 1 punto.</a:t>
            </a:r>
            <a:endParaRPr lang="en-US" sz="950" dirty="0"/>
          </a:p>
        </p:txBody>
      </p:sp>
      <p:sp>
        <p:nvSpPr>
          <p:cNvPr id="16" name="pf_324"/>
          <p:cNvSpPr/>
          <p:nvPr/>
        </p:nvSpPr>
        <p:spPr>
          <a:xfrm rot="-120000">
            <a:off x="899160" y="4069080"/>
            <a:ext cx="149352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325" descr="/home/claude/lls-course/v2/cache/8a2_slap_watch_jpg_337x253_31.png">    </p:cNvPr>
          <p:cNvPicPr>
            <a:picLocks noChangeAspect="1"/>
          </p:cNvPicPr>
          <p:nvPr/>
        </p:nvPicPr>
        <p:blipFill>
          <a:blip r:embed="rId5"/>
          <a:stretch>
            <a:fillRect/>
          </a:stretch>
        </p:blipFill>
        <p:spPr>
          <a:xfrm rot="-120000">
            <a:off x="944880" y="4114800"/>
            <a:ext cx="1402080" cy="1051560"/>
          </a:xfrm>
          <a:prstGeom prst="rect">
            <a:avLst/>
          </a:prstGeom>
        </p:spPr>
      </p:pic>
      <p:sp>
        <p:nvSpPr>
          <p:cNvPr id="18" name="bd_326"/>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327"/>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Tingatang · silver jewellery for single people · £500,000</a:t>
            </a:r>
            <a:endParaRPr lang="en-US" sz="1200" dirty="0"/>
          </a:p>
        </p:txBody>
      </p:sp>
      <p:sp>
        <p:nvSpPr>
          <p:cNvPr id="20" name="chip_328"/>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out → a failure</a:t>
            </a:r>
            <a:endParaRPr lang="en-US" sz="1200" dirty="0"/>
          </a:p>
        </p:txBody>
      </p:sp>
      <p:sp>
        <p:nvSpPr>
          <p:cNvPr id="21" name="bd_329"/>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330"/>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Slappie watches · under £20 · £50,000 for 25%</a:t>
            </a:r>
            <a:endParaRPr lang="en-US" sz="1200" dirty="0"/>
          </a:p>
        </p:txBody>
      </p:sp>
      <p:sp>
        <p:nvSpPr>
          <p:cNvPr id="23" name="R1_chip331"/>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INVEST → a success</a:t>
            </a:r>
            <a:endParaRPr lang="en-US" sz="1200" dirty="0"/>
          </a:p>
        </p:txBody>
      </p:sp>
      <p:sp>
        <p:nvSpPr>
          <p:cNvPr id="24" name="bd_332"/>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333"/>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Tangle Teezer · hairbrushes · £80,000 for 15%</a:t>
            </a:r>
            <a:endParaRPr lang="en-US" sz="1200" dirty="0"/>
          </a:p>
        </p:txBody>
      </p:sp>
      <p:sp>
        <p:nvSpPr>
          <p:cNvPr id="26" name="R2_chip334"/>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out → but a BIG success!</a:t>
            </a:r>
            <a:endParaRPr lang="en-US" sz="1200" dirty="0"/>
          </a:p>
        </p:txBody>
      </p:sp>
      <p:sp>
        <p:nvSpPr>
          <p:cNvPr id="27" name="bd_335"/>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336"/>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Which product would YOU buy? Why?</a:t>
            </a:r>
            <a:endParaRPr lang="en-US" sz="1200" dirty="0"/>
          </a:p>
        </p:txBody>
      </p:sp>
      <p:sp>
        <p:nvSpPr>
          <p:cNvPr id="29" name="R3_chip337"/>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e.g. Slappie – it's cheap and fun to create your own.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4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Joe's day in the Den</a:t>
            </a:r>
            <a:endParaRPr lang="en-US" sz="2500" dirty="0"/>
          </a:p>
        </p:txBody>
      </p:sp>
      <p:pic>
        <p:nvPicPr>
          <p:cNvPr id="6" name="brP_341"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42"/>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True or false? Correct the F.</a:t>
            </a:r>
            <a:endParaRPr lang="en-US" sz="1250" dirty="0"/>
          </a:p>
        </p:txBody>
      </p:sp>
      <p:sp>
        <p:nvSpPr>
          <p:cNvPr id="8" name="insIT_3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Vero o falso? Correggi i falsi.</a:t>
            </a:r>
            <a:endParaRPr lang="en-US" sz="950" dirty="0"/>
          </a:p>
        </p:txBody>
      </p:sp>
      <p:sp>
        <p:nvSpPr>
          <p:cNvPr id="9" name="note_34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3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1   ·   📖 SB p.79 · 6a, 6b, 6c · audio 8.9 (script p.129)</a:t>
            </a:r>
            <a:endParaRPr lang="en-US" sz="800" dirty="0"/>
          </a:p>
        </p:txBody>
      </p:sp>
      <p:sp>
        <p:nvSpPr>
          <p:cNvPr id="12" name="ap_347"/>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8.9  ·  play twice</a:t>
            </a:r>
            <a:endParaRPr lang="en-US" sz="1100" dirty="0"/>
          </a:p>
        </p:txBody>
      </p:sp>
      <p:sp>
        <p:nvSpPr>
          <p:cNvPr id="13" name="ah_34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4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35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51" descr="/home/claude/lls-course/v2/cache/8a2_frame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352"/>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35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5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355"/>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Joe and Jake applied together.</a:t>
            </a:r>
            <a:endParaRPr lang="en-US" sz="1200" dirty="0"/>
          </a:p>
        </p:txBody>
      </p:sp>
      <p:sp>
        <p:nvSpPr>
          <p:cNvPr id="23" name="R1_chip356"/>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Joe applied alone</a:t>
            </a:r>
            <a:endParaRPr lang="en-US" sz="1200" dirty="0"/>
          </a:p>
        </p:txBody>
      </p:sp>
      <p:sp>
        <p:nvSpPr>
          <p:cNvPr id="24" name="gq_357"/>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They prepared their pitch quickly.</a:t>
            </a:r>
            <a:endParaRPr lang="en-US" sz="1200" dirty="0"/>
          </a:p>
        </p:txBody>
      </p:sp>
      <p:sp>
        <p:nvSpPr>
          <p:cNvPr id="25" name="R2_chip358"/>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 a lot</a:t>
            </a:r>
            <a:endParaRPr lang="en-US" sz="1200" dirty="0"/>
          </a:p>
        </p:txBody>
      </p:sp>
      <p:sp>
        <p:nvSpPr>
          <p:cNvPr id="26" name="gq_359"/>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show is filmed in Manchester.</a:t>
            </a:r>
            <a:endParaRPr lang="en-US" sz="1200" dirty="0"/>
          </a:p>
        </p:txBody>
      </p:sp>
      <p:sp>
        <p:nvSpPr>
          <p:cNvPr id="27" name="R3_chip360"/>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8" name="gq_361"/>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No preparation the night before.</a:t>
            </a:r>
            <a:endParaRPr lang="en-US" sz="1200" dirty="0"/>
          </a:p>
        </p:txBody>
      </p:sp>
      <p:sp>
        <p:nvSpPr>
          <p:cNvPr id="29" name="R4_chip362"/>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a:t>
            </a:r>
            <a:endParaRPr lang="en-US" sz="1200" dirty="0"/>
          </a:p>
        </p:txBody>
      </p:sp>
      <p:sp>
        <p:nvSpPr>
          <p:cNvPr id="30" name="gq_363"/>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only slept a few hours.</a:t>
            </a:r>
            <a:endParaRPr lang="en-US" sz="1200" dirty="0"/>
          </a:p>
        </p:txBody>
      </p:sp>
      <p:sp>
        <p:nvSpPr>
          <p:cNvPr id="31" name="R5_chip364"/>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2" name="gq_365"/>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They were the third contestants.</a:t>
            </a:r>
            <a:endParaRPr lang="en-US" sz="1200" dirty="0"/>
          </a:p>
        </p:txBody>
      </p:sp>
      <p:sp>
        <p:nvSpPr>
          <p:cNvPr id="33" name="R6_chip366"/>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a:t>
            </a:r>
            <a:endParaRPr lang="en-US" sz="1200" dirty="0"/>
          </a:p>
        </p:txBody>
      </p:sp>
      <p:sp>
        <p:nvSpPr>
          <p:cNvPr id="34" name="gq_367"/>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Others waited up to 12 hours.</a:t>
            </a:r>
            <a:endParaRPr lang="en-US" sz="1200" dirty="0"/>
          </a:p>
        </p:txBody>
      </p:sp>
      <p:sp>
        <p:nvSpPr>
          <p:cNvPr id="35" name="R7_chip368"/>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6" name="gq_369"/>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They met a Dragon before the show.</a:t>
            </a:r>
            <a:endParaRPr lang="en-US" sz="1200" dirty="0"/>
          </a:p>
        </p:txBody>
      </p:sp>
      <p:sp>
        <p:nvSpPr>
          <p:cNvPr id="37" name="R8_chip370"/>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not allowed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4"/>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4"/>
                                        </p:tgtEl>
                                      </p:cBhvr>
                                    </p:cmd>
                                  </p:childTnLst>
                                </p:cTn>
                              </p:par>
                            </p:childTnLst>
                          </p:cTn>
                        </p:par>
                      </p:childTnLst>
                    </p:cTn>
                  </p:par>
                </p:childTnLst>
              </p:cTn>
              <p:nextCondLst>
                <p:cond evt="onClick" delay="0">
                  <p:tgtEl>
                    <p:spTgt spid="14"/>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4"/>
                </p:tgtEl>
              </p:cMediaNode>
            </p:audio>
            <p:audio>
              <p:cMediaNode vol="80000">
                <p:cTn id="54" fill="hold" display="0">
                  <p:stCondLst>
                    <p:cond delay="indefinite"/>
                  </p:stCondLst>
                  <p:endCondLst>
                    <p:cond evt="onStopAudio" delay="0">
                      <p:tgtEl>
                        <p:sldTgt/>
                      </p:tgtEl>
                    </p:cond>
                  </p:endCondLst>
                </p:cTn>
                <p:tgtEl>
                  <p:spTgt spid="16"/>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7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in the Den?</a:t>
            </a:r>
            <a:endParaRPr lang="en-US" sz="2400" dirty="0"/>
          </a:p>
        </p:txBody>
      </p:sp>
      <p:pic>
        <p:nvPicPr>
          <p:cNvPr id="6" name="brP_37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7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What did Joe say about 1–6?</a:t>
            </a:r>
            <a:endParaRPr lang="en-US" sz="1250" dirty="0"/>
          </a:p>
        </p:txBody>
      </p:sp>
      <p:sp>
        <p:nvSpPr>
          <p:cNvPr id="8" name="insIT_3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Cosa dice Joe su 1–6?</a:t>
            </a:r>
            <a:endParaRPr lang="en-US" sz="950" dirty="0"/>
          </a:p>
        </p:txBody>
      </p:sp>
      <p:sp>
        <p:nvSpPr>
          <p:cNvPr id="9" name="note_37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3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2   ·   📖 SB p.79 · 6d, 6e · audio 8.10 (script pp.129–130)</a:t>
            </a:r>
            <a:endParaRPr lang="en-US" sz="800" dirty="0"/>
          </a:p>
        </p:txBody>
      </p:sp>
      <p:sp>
        <p:nvSpPr>
          <p:cNvPr id="12" name="ap_380"/>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8.10  ·  play twice</a:t>
            </a:r>
            <a:endParaRPr lang="en-US" sz="1100" dirty="0"/>
          </a:p>
        </p:txBody>
      </p:sp>
      <p:sp>
        <p:nvSpPr>
          <p:cNvPr id="13" name="ah_38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8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38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384"/>
          <p:cNvSpPr/>
          <p:nvPr/>
        </p:nvSpPr>
        <p:spPr>
          <a:xfrm rot="-90000">
            <a:off x="671163" y="2057400"/>
            <a:ext cx="1263714" cy="1325880"/>
          </a:xfrm>
          <a:prstGeom prst="roundRect">
            <a:avLst>
              <a:gd name="adj" fmla="val 1230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85" descr="/home/claude/lls-course/v2/cache/8a2_workshop_jpg_282x297_31.png">    </p:cNvPr>
          <p:cNvPicPr>
            <a:picLocks noChangeAspect="1"/>
          </p:cNvPicPr>
          <p:nvPr/>
        </p:nvPicPr>
        <p:blipFill>
          <a:blip r:embed="rId11"/>
          <a:stretch>
            <a:fillRect/>
          </a:stretch>
        </p:blipFill>
        <p:spPr>
          <a:xfrm rot="-90000">
            <a:off x="716883" y="2103120"/>
            <a:ext cx="1172274" cy="1234440"/>
          </a:xfrm>
          <a:prstGeom prst="rect">
            <a:avLst/>
          </a:prstGeom>
        </p:spPr>
      </p:pic>
      <p:sp>
        <p:nvSpPr>
          <p:cNvPr id="20" name="bd_386"/>
          <p:cNvSpPr/>
          <p:nvPr/>
        </p:nvSpPr>
        <p:spPr>
          <a:xfrm>
            <a:off x="570579"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38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388" descr="/home/claude/lls-course/v2/cache/8a2_job_offer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3" name="bd_389"/>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cd_390"/>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5" name="ii_39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39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7" name="il_393"/>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once: what was different for Joe and Jake?</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cosa c'è stato di diverso per Joe e Jake?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again. Make notes about 1–6.</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Riascolta. Prendi appunti su 1–6.</a:t>
            </a:r>
            <a:endParaRPr lang="en-US" sz="700" dirty="0"/>
          </a:p>
        </p:txBody>
      </p:sp>
      <p:sp>
        <p:nvSpPr>
          <p:cNvPr id="28" name="lq_394"/>
          <p:cNvSpPr/>
          <p:nvPr/>
        </p:nvSpPr>
        <p:spPr>
          <a:xfrm>
            <a:off x="6035040" y="2103120"/>
            <a:ext cx="1234440" cy="350520"/>
          </a:xfrm>
          <a:prstGeom prst="roundRect">
            <a:avLst>
              <a:gd name="adj" fmla="val 26087"/>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Deborah Meaden</a:t>
            </a:r>
            <a:endParaRPr lang="en-US" sz="1000" dirty="0"/>
          </a:p>
        </p:txBody>
      </p:sp>
      <p:sp>
        <p:nvSpPr>
          <p:cNvPr id="29" name="R1_chip395"/>
          <p:cNvSpPr/>
          <p:nvPr/>
        </p:nvSpPr>
        <p:spPr>
          <a:xfrm>
            <a:off x="7315200" y="210312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stared → he felt nervous</a:t>
            </a:r>
            <a:endParaRPr lang="en-US" sz="1000" dirty="0"/>
          </a:p>
        </p:txBody>
      </p:sp>
      <p:sp>
        <p:nvSpPr>
          <p:cNvPr id="30" name="lq_396"/>
          <p:cNvSpPr/>
          <p:nvPr/>
        </p:nvSpPr>
        <p:spPr>
          <a:xfrm>
            <a:off x="6035040" y="2545080"/>
            <a:ext cx="1234440" cy="350520"/>
          </a:xfrm>
          <a:prstGeom prst="roundRect">
            <a:avLst>
              <a:gd name="adj" fmla="val 26087"/>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2 Jake's first words</a:t>
            </a:r>
            <a:endParaRPr lang="en-US" sz="1000" dirty="0"/>
          </a:p>
        </p:txBody>
      </p:sp>
      <p:sp>
        <p:nvSpPr>
          <p:cNvPr id="31" name="R2_chip397"/>
          <p:cNvSpPr/>
          <p:nvPr/>
        </p:nvSpPr>
        <p:spPr>
          <a:xfrm>
            <a:off x="7315200" y="254508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forgot them</a:t>
            </a:r>
            <a:endParaRPr lang="en-US" sz="1050" dirty="0"/>
          </a:p>
        </p:txBody>
      </p:sp>
      <p:sp>
        <p:nvSpPr>
          <p:cNvPr id="32" name="lq_398"/>
          <p:cNvSpPr/>
          <p:nvPr/>
        </p:nvSpPr>
        <p:spPr>
          <a:xfrm>
            <a:off x="6035040" y="2987040"/>
            <a:ext cx="1234440" cy="350520"/>
          </a:xfrm>
          <a:prstGeom prst="roundRect">
            <a:avLst>
              <a:gd name="adj" fmla="val 26087"/>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'I'm out.'</a:t>
            </a:r>
            <a:endParaRPr lang="en-US" sz="1100" dirty="0"/>
          </a:p>
        </p:txBody>
      </p:sp>
      <p:sp>
        <p:nvSpPr>
          <p:cNvPr id="33" name="R3_chip399"/>
          <p:cNvSpPr/>
          <p:nvPr/>
        </p:nvSpPr>
        <p:spPr>
          <a:xfrm>
            <a:off x="7315200" y="298704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 Dragons said it</a:t>
            </a:r>
            <a:endParaRPr lang="en-US" sz="1050" dirty="0"/>
          </a:p>
        </p:txBody>
      </p:sp>
      <p:sp>
        <p:nvSpPr>
          <p:cNvPr id="34" name="lq_400"/>
          <p:cNvSpPr/>
          <p:nvPr/>
        </p:nvSpPr>
        <p:spPr>
          <a:xfrm>
            <a:off x="6035040" y="3429000"/>
            <a:ext cx="1234440" cy="350520"/>
          </a:xfrm>
          <a:prstGeom prst="roundRect">
            <a:avLst>
              <a:gd name="adj" fmla="val 26087"/>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Peter's appearance</a:t>
            </a:r>
            <a:endParaRPr lang="en-US" sz="1000" dirty="0"/>
          </a:p>
        </p:txBody>
      </p:sp>
      <p:sp>
        <p:nvSpPr>
          <p:cNvPr id="35" name="R4_chip401"/>
          <p:cNvSpPr/>
          <p:nvPr/>
        </p:nvSpPr>
        <p:spPr>
          <a:xfrm>
            <a:off x="7315200" y="342900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over 2 m tall – scary</a:t>
            </a:r>
            <a:endParaRPr lang="en-US" sz="1000" dirty="0"/>
          </a:p>
        </p:txBody>
      </p:sp>
      <p:sp>
        <p:nvSpPr>
          <p:cNvPr id="36" name="lq_402"/>
          <p:cNvSpPr/>
          <p:nvPr/>
        </p:nvSpPr>
        <p:spPr>
          <a:xfrm>
            <a:off x="6035040" y="3870960"/>
            <a:ext cx="1234440" cy="350520"/>
          </a:xfrm>
          <a:prstGeom prst="roundRect">
            <a:avLst>
              <a:gd name="adj" fmla="val 26087"/>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Jessops</a:t>
            </a:r>
            <a:endParaRPr lang="en-US" sz="1100" dirty="0"/>
          </a:p>
        </p:txBody>
      </p:sp>
      <p:sp>
        <p:nvSpPr>
          <p:cNvPr id="37" name="R5_chip403"/>
          <p:cNvSpPr/>
          <p:nvPr/>
        </p:nvSpPr>
        <p:spPr>
          <a:xfrm>
            <a:off x="7315200" y="387096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Peter's camera shops</a:t>
            </a:r>
            <a:endParaRPr lang="en-US" sz="1000" dirty="0"/>
          </a:p>
        </p:txBody>
      </p:sp>
      <p:sp>
        <p:nvSpPr>
          <p:cNvPr id="38" name="lq_404"/>
          <p:cNvSpPr/>
          <p:nvPr/>
        </p:nvSpPr>
        <p:spPr>
          <a:xfrm>
            <a:off x="6035040" y="4312920"/>
            <a:ext cx="1234440" cy="350520"/>
          </a:xfrm>
          <a:prstGeom prst="roundRect">
            <a:avLst>
              <a:gd name="adj" fmla="val 26087"/>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the job offer</a:t>
            </a:r>
            <a:endParaRPr lang="en-US" sz="1100" dirty="0"/>
          </a:p>
        </p:txBody>
      </p:sp>
      <p:sp>
        <p:nvSpPr>
          <p:cNvPr id="39" name="R6_chip405"/>
          <p:cNvSpPr/>
          <p:nvPr/>
        </p:nvSpPr>
        <p:spPr>
          <a:xfrm>
            <a:off x="7315200" y="431292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happened before!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0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Yes or no to the job?</a:t>
            </a:r>
            <a:endParaRPr lang="en-US" sz="2500" dirty="0"/>
          </a:p>
        </p:txBody>
      </p:sp>
      <p:pic>
        <p:nvPicPr>
          <p:cNvPr id="6" name="brP_40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1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Vote first! Then listen to the end.</a:t>
            </a:r>
            <a:endParaRPr lang="en-US" sz="1250" dirty="0"/>
          </a:p>
        </p:txBody>
      </p:sp>
      <p:sp>
        <p:nvSpPr>
          <p:cNvPr id="8" name="insIT_4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vota! Poi ascolta la fine.</a:t>
            </a:r>
            <a:endParaRPr lang="en-US" sz="950" dirty="0"/>
          </a:p>
        </p:txBody>
      </p:sp>
      <p:sp>
        <p:nvSpPr>
          <p:cNvPr id="9" name="note_41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Controlled practice</a:t>
            </a:r>
            <a:endParaRPr lang="en-US" sz="1250" dirty="0"/>
          </a:p>
        </p:txBody>
      </p:sp>
      <p:pic>
        <p:nvPicPr>
          <p:cNvPr id="10" name="logo_4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3   ·   📖 SB p.79 · 6f · audio 8.11 (script p.130)</a:t>
            </a:r>
            <a:endParaRPr lang="en-US" sz="800" dirty="0"/>
          </a:p>
        </p:txBody>
      </p:sp>
      <p:sp>
        <p:nvSpPr>
          <p:cNvPr id="12" name="cd_415"/>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1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1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418"/>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YOU: a job with a very good salary – or your own business?</a:t>
            </a:r>
            <a:endParaRPr lang="en-US" sz="950" dirty="0"/>
          </a:p>
        </p:txBody>
      </p:sp>
      <p:sp>
        <p:nvSpPr>
          <p:cNvPr id="16" name="pf_419"/>
          <p:cNvSpPr/>
          <p:nvPr/>
        </p:nvSpPr>
        <p:spPr>
          <a:xfrm rot="-90000">
            <a:off x="786937" y="2569464"/>
            <a:ext cx="1763687" cy="1545336"/>
          </a:xfrm>
          <a:prstGeom prst="roundRect">
            <a:avLst>
              <a:gd name="adj" fmla="val 1005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20" descr="/home/claude/lls-course/v2/cache/8a2_job_offer_jpg_402x350_31.png">    </p:cNvPr>
          <p:cNvPicPr>
            <a:picLocks noChangeAspect="1"/>
          </p:cNvPicPr>
          <p:nvPr/>
        </p:nvPicPr>
        <p:blipFill>
          <a:blip r:embed="rId5"/>
          <a:stretch>
            <a:fillRect/>
          </a:stretch>
        </p:blipFill>
        <p:spPr>
          <a:xfrm rot="-90000">
            <a:off x="832657" y="2615184"/>
            <a:ext cx="1672247" cy="1453896"/>
          </a:xfrm>
          <a:prstGeom prst="rect">
            <a:avLst/>
          </a:prstGeom>
        </p:spPr>
      </p:pic>
      <p:sp>
        <p:nvSpPr>
          <p:cNvPr id="18" name="ap_421"/>
          <p:cNvSpPr/>
          <p:nvPr/>
        </p:nvSpPr>
        <p:spPr>
          <a:xfrm>
            <a:off x="365760" y="4297680"/>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8.11</a:t>
            </a:r>
            <a:endParaRPr lang="en-US" sz="1100" dirty="0"/>
          </a:p>
        </p:txBody>
      </p:sp>
      <p:sp>
        <p:nvSpPr>
          <p:cNvPr id="19" name="ah_42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5687568" y="4553712"/>
            <a:ext cx="411480" cy="411480"/>
          </a:xfrm>
          <a:prstGeom prst="rect">
            <a:avLst/>
          </a:prstGeom>
        </p:spPr>
      </p:pic>
      <p:sp>
        <p:nvSpPr>
          <p:cNvPr id="21" name="ah_42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2"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476488" y="4553712"/>
            <a:ext cx="411480" cy="411480"/>
          </a:xfrm>
          <a:prstGeom prst="rect">
            <a:avLst/>
          </a:prstGeom>
        </p:spPr>
      </p:pic>
      <p:sp>
        <p:nvSpPr>
          <p:cNvPr id="23" name="bd_424"/>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425"/>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 they take the job?</a:t>
            </a:r>
            <a:endParaRPr lang="en-US" sz="1150" dirty="0"/>
          </a:p>
        </p:txBody>
      </p:sp>
      <p:sp>
        <p:nvSpPr>
          <p:cNvPr id="25" name="R1_chip426"/>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they said no.</a:t>
            </a:r>
            <a:endParaRPr lang="en-US" sz="1050" dirty="0"/>
          </a:p>
        </p:txBody>
      </p:sp>
      <p:sp>
        <p:nvSpPr>
          <p:cNvPr id="26" name="bd_427"/>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428"/>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not?</a:t>
            </a:r>
            <a:endParaRPr lang="en-US" sz="1150" dirty="0"/>
          </a:p>
        </p:txBody>
      </p:sp>
      <p:sp>
        <p:nvSpPr>
          <p:cNvPr id="28" name="R2_chip429"/>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not a good time · they were enjoying running their own business</a:t>
            </a:r>
            <a:endParaRPr lang="en-US" sz="1050" dirty="0"/>
          </a:p>
        </p:txBody>
      </p:sp>
      <p:sp>
        <p:nvSpPr>
          <p:cNvPr id="29" name="bd_430"/>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431"/>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 they regret it?</a:t>
            </a:r>
            <a:endParaRPr lang="en-US" sz="1150" dirty="0"/>
          </a:p>
        </p:txBody>
      </p:sp>
      <p:sp>
        <p:nvSpPr>
          <p:cNvPr id="31" name="R3_chip432"/>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not for a second.</a:t>
            </a:r>
            <a:endParaRPr lang="en-US" sz="1050" dirty="0"/>
          </a:p>
        </p:txBody>
      </p:sp>
      <p:sp>
        <p:nvSpPr>
          <p:cNvPr id="32" name="bd_433"/>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434"/>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happened to Frame Again?</a:t>
            </a:r>
            <a:endParaRPr lang="en-US" sz="1150" dirty="0"/>
          </a:p>
        </p:txBody>
      </p:sp>
      <p:sp>
        <p:nvSpPr>
          <p:cNvPr id="34" name="R4_chip435"/>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success – they sold it this year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20"/>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0"/>
                                        </p:tgtEl>
                                      </p:cBhvr>
                                    </p:cmd>
                                  </p:childTnLst>
                                </p:cTn>
                              </p:par>
                            </p:childTnLst>
                          </p:cTn>
                        </p:par>
                      </p:childTnLst>
                    </p:cTn>
                  </p:par>
                </p:childTnLst>
              </p:cTn>
              <p:nextCondLst>
                <p:cond evt="onClick" delay="0">
                  <p:tgtEl>
                    <p:spTgt spid="20"/>
                  </p:tgtEl>
                </p:cond>
              </p:nextCondLst>
            </p:seq>
            <p:seq concurrent="1" nextAc="seek">
              <p:cTn id="28" restart="whenNotActive" fill="hold" evtFilter="cancelBubble" nodeType="interactiveSeq">
                <p:stCondLst>
                  <p:cond evt="onClick" delay="0">
                    <p:tgtEl>
                      <p:spTgt spid="22"/>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22"/>
                                        </p:tgtEl>
                                      </p:cBhvr>
                                    </p:cmd>
                                  </p:childTnLst>
                                </p:cTn>
                              </p:par>
                            </p:childTnLst>
                          </p:cTn>
                        </p:par>
                      </p:childTnLst>
                    </p:cTn>
                  </p:par>
                </p:childTnLst>
              </p:cTn>
              <p:nextCondLst>
                <p:cond evt="onClick" delay="0">
                  <p:tgtEl>
                    <p:spTgt spid="22"/>
                  </p:tgtEl>
                </p:cond>
              </p:nextCondLst>
            </p:seq>
            <p:audio>
              <p:cMediaNode vol="80000">
                <p:cTn id="33" fill="hold" display="0">
                  <p:stCondLst>
                    <p:cond delay="indefinite"/>
                  </p:stCondLst>
                  <p:endCondLst>
                    <p:cond evt="onStopAudio" delay="0">
                      <p:tgtEl>
                        <p:sldTgt/>
                      </p:tgtEl>
                    </p:cond>
                  </p:endCondLst>
                </p:cTn>
                <p:tgtEl>
                  <p:spTgt spid="20"/>
                </p:tgtEl>
              </p:cMediaNode>
            </p:audio>
            <p:audio>
              <p:cMediaNode vol="80000">
                <p:cTn id="34" fill="hold" display="0">
                  <p:stCondLst>
                    <p:cond delay="indefinite"/>
                  </p:stCondLst>
                  <p:endCondLst>
                    <p:cond evt="onStopAudio" delay="0">
                      <p:tgtEl>
                        <p:sldTgt/>
                      </p:tgtEl>
                    </p:cond>
                  </p:endCondLst>
                </p:cTn>
                <p:tgtEl>
                  <p:spTgt spid="22"/>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3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verbs</a:t>
            </a:r>
            <a:endParaRPr lang="en-US" sz="2500" dirty="0"/>
          </a:p>
        </p:txBody>
      </p:sp>
      <p:pic>
        <p:nvPicPr>
          <p:cNvPr id="6" name="brP_43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4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-ing and to + infinitive.</a:t>
            </a:r>
            <a:endParaRPr lang="en-US" sz="1250" dirty="0"/>
          </a:p>
        </p:txBody>
      </p:sp>
      <p:sp>
        <p:nvSpPr>
          <p:cNvPr id="8" name="insIT_4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-ing e to + infinito.</a:t>
            </a:r>
            <a:endParaRPr lang="en-US" sz="950" dirty="0"/>
          </a:p>
        </p:txBody>
      </p:sp>
      <p:sp>
        <p:nvSpPr>
          <p:cNvPr id="9" name="note_442"/>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TROVA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p:txBody>
      </p:sp>
      <p:pic>
        <p:nvPicPr>
          <p:cNvPr id="10" name="logo_4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Noticing · Joe's interview   ·   📖 SB audio script 8.9–8.11 (pp.129–130)</a:t>
            </a:r>
            <a:endParaRPr lang="en-US" sz="800" dirty="0"/>
          </a:p>
        </p:txBody>
      </p:sp>
      <p:sp>
        <p:nvSpPr>
          <p:cNvPr id="12" name="pf_445"/>
          <p:cNvSpPr/>
          <p:nvPr/>
        </p:nvSpPr>
        <p:spPr>
          <a:xfrm rot="-120000">
            <a:off x="794673" y="1371600"/>
            <a:ext cx="1611054" cy="1691640"/>
          </a:xfrm>
          <a:prstGeom prst="roundRect">
            <a:avLst>
              <a:gd name="adj" fmla="val 964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46" descr="/home/claude/lls-course/v2/cache/8a2_workshop_jpg_366x385_31.png">    </p:cNvPr>
          <p:cNvPicPr>
            <a:picLocks noChangeAspect="1"/>
          </p:cNvPicPr>
          <p:nvPr/>
        </p:nvPicPr>
        <p:blipFill>
          <a:blip r:embed="rId5"/>
          <a:stretch>
            <a:fillRect/>
          </a:stretch>
        </p:blipFill>
        <p:spPr>
          <a:xfrm rot="-120000">
            <a:off x="840393" y="1417320"/>
            <a:ext cx="1519614" cy="1600200"/>
          </a:xfrm>
          <a:prstGeom prst="rect">
            <a:avLst/>
          </a:prstGeom>
        </p:spPr>
      </p:pic>
      <p:sp>
        <p:nvSpPr>
          <p:cNvPr id="14" name="cd_447"/>
          <p:cNvSpPr/>
          <p:nvPr/>
        </p:nvSpPr>
        <p:spPr>
          <a:xfrm>
            <a:off x="320040" y="3246120"/>
            <a:ext cx="260604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48"/>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49"/>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7" name="il_450"/>
          <p:cNvSpPr/>
          <p:nvPr/>
        </p:nvSpPr>
        <p:spPr>
          <a:xfrm>
            <a:off x="886968" y="3739896"/>
            <a:ext cx="194767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-ing (gerund)</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to + infinitive</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infinitive (no to)</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WHY? (rules on slide 2)</a:t>
            </a:r>
            <a:endParaRPr lang="en-US" sz="950" dirty="0"/>
          </a:p>
        </p:txBody>
      </p:sp>
      <p:sp>
        <p:nvSpPr>
          <p:cNvPr id="18" name="who_451"/>
          <p:cNvSpPr/>
          <p:nvPr/>
        </p:nvSpPr>
        <p:spPr>
          <a:xfrm>
            <a:off x="3108960" y="1463040"/>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19" name="sl_452"/>
          <p:cNvSpPr/>
          <p:nvPr/>
        </p:nvSpPr>
        <p:spPr>
          <a:xfrm>
            <a:off x="4114800" y="1444752"/>
            <a:ext cx="4754880" cy="362331"/>
          </a:xfrm>
          <a:prstGeom prst="roundRect">
            <a:avLst>
              <a:gd name="adj" fmla="val 30284"/>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applied without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telling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 business partner Jake.</a:t>
            </a:r>
            <a:endParaRPr lang="en-US" sz="1150" dirty="0"/>
          </a:p>
        </p:txBody>
      </p:sp>
      <p:sp>
        <p:nvSpPr>
          <p:cNvPr id="20" name="R1_slA453"/>
          <p:cNvSpPr/>
          <p:nvPr/>
        </p:nvSpPr>
        <p:spPr>
          <a:xfrm>
            <a:off x="4114800" y="1444752"/>
            <a:ext cx="4754880" cy="362331"/>
          </a:xfrm>
          <a:prstGeom prst="roundRect">
            <a:avLst>
              <a:gd name="adj" fmla="val 30284"/>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applied without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telling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 business partner Jake.</a:t>
            </a:r>
            <a:endParaRPr lang="en-US" sz="1150" dirty="0"/>
          </a:p>
        </p:txBody>
      </p:sp>
      <p:sp>
        <p:nvSpPr>
          <p:cNvPr id="21" name="who_454"/>
          <p:cNvSpPr/>
          <p:nvPr/>
        </p:nvSpPr>
        <p:spPr>
          <a:xfrm>
            <a:off x="3108960" y="1880235"/>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2" name="sl_455"/>
          <p:cNvSpPr/>
          <p:nvPr/>
        </p:nvSpPr>
        <p:spPr>
          <a:xfrm>
            <a:off x="4114800" y="1861947"/>
            <a:ext cx="4754880" cy="362331"/>
          </a:xfrm>
          <a:prstGeom prst="roundRect">
            <a:avLst>
              <a:gd name="adj" fmla="val 30284"/>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went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together, just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repeating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pitch.</a:t>
            </a:r>
            <a:endParaRPr lang="en-US" sz="1150" dirty="0"/>
          </a:p>
        </p:txBody>
      </p:sp>
      <p:sp>
        <p:nvSpPr>
          <p:cNvPr id="23" name="R2_slA456"/>
          <p:cNvSpPr/>
          <p:nvPr/>
        </p:nvSpPr>
        <p:spPr>
          <a:xfrm>
            <a:off x="4114800" y="1861947"/>
            <a:ext cx="4754880" cy="362331"/>
          </a:xfrm>
          <a:prstGeom prst="roundRect">
            <a:avLst>
              <a:gd name="adj" fmla="val 30284"/>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went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together, just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repeating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pitch.</a:t>
            </a:r>
            <a:endParaRPr lang="en-US" sz="1150" dirty="0"/>
          </a:p>
        </p:txBody>
      </p:sp>
      <p:sp>
        <p:nvSpPr>
          <p:cNvPr id="24" name="who_457"/>
          <p:cNvSpPr/>
          <p:nvPr/>
        </p:nvSpPr>
        <p:spPr>
          <a:xfrm>
            <a:off x="3108960" y="229743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5" name="sl_458"/>
          <p:cNvSpPr/>
          <p:nvPr/>
        </p:nvSpPr>
        <p:spPr>
          <a:xfrm>
            <a:off x="4114800" y="2279142"/>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I wanted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was just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smile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at one of them.</a:t>
            </a:r>
            <a:endParaRPr lang="en-US" sz="1150" dirty="0"/>
          </a:p>
        </p:txBody>
      </p:sp>
      <p:sp>
        <p:nvSpPr>
          <p:cNvPr id="26" name="R3_slA459"/>
          <p:cNvSpPr/>
          <p:nvPr/>
        </p:nvSpPr>
        <p:spPr>
          <a:xfrm>
            <a:off x="4114800" y="2279142"/>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I wanted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was just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smile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at one of them.</a:t>
            </a:r>
            <a:endParaRPr lang="en-US" sz="1150" dirty="0"/>
          </a:p>
        </p:txBody>
      </p:sp>
      <p:sp>
        <p:nvSpPr>
          <p:cNvPr id="27" name="who_460"/>
          <p:cNvSpPr/>
          <p:nvPr/>
        </p:nvSpPr>
        <p:spPr>
          <a:xfrm>
            <a:off x="3108960" y="2714625"/>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8" name="sl_461"/>
          <p:cNvSpPr/>
          <p:nvPr/>
        </p:nvSpPr>
        <p:spPr>
          <a:xfrm>
            <a:off x="4114800" y="2696337"/>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That was my way of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making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myself relaxed.</a:t>
            </a:r>
            <a:endParaRPr lang="en-US" sz="1150" dirty="0"/>
          </a:p>
        </p:txBody>
      </p:sp>
      <p:sp>
        <p:nvSpPr>
          <p:cNvPr id="29" name="R4_slA462"/>
          <p:cNvSpPr/>
          <p:nvPr/>
        </p:nvSpPr>
        <p:spPr>
          <a:xfrm>
            <a:off x="4114800" y="2696337"/>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That was my way of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making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myself relaxed.</a:t>
            </a:r>
            <a:endParaRPr lang="en-US" sz="1150" dirty="0"/>
          </a:p>
        </p:txBody>
      </p:sp>
      <p:sp>
        <p:nvSpPr>
          <p:cNvPr id="30" name="who_463"/>
          <p:cNvSpPr/>
          <p:nvPr/>
        </p:nvSpPr>
        <p:spPr>
          <a:xfrm>
            <a:off x="3108960" y="313182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31" name="sl_464"/>
          <p:cNvSpPr/>
          <p:nvPr/>
        </p:nvSpPr>
        <p:spPr>
          <a:xfrm>
            <a:off x="4114800" y="3113532"/>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She stared at me,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feel</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nervous.</a:t>
            </a:r>
            <a:endParaRPr lang="en-US" sz="1150" dirty="0"/>
          </a:p>
        </p:txBody>
      </p:sp>
      <p:sp>
        <p:nvSpPr>
          <p:cNvPr id="32" name="R5_slA465"/>
          <p:cNvSpPr/>
          <p:nvPr/>
        </p:nvSpPr>
        <p:spPr>
          <a:xfrm>
            <a:off x="4114800" y="3113532"/>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She stared at me,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feel</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nervous.</a:t>
            </a:r>
            <a:endParaRPr lang="en-US" sz="1150" dirty="0"/>
          </a:p>
        </p:txBody>
      </p:sp>
      <p:sp>
        <p:nvSpPr>
          <p:cNvPr id="33" name="who_466"/>
          <p:cNvSpPr/>
          <p:nvPr/>
        </p:nvSpPr>
        <p:spPr>
          <a:xfrm>
            <a:off x="3108960" y="354901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4" name="sl_467"/>
          <p:cNvSpPr/>
          <p:nvPr/>
        </p:nvSpPr>
        <p:spPr>
          <a:xfrm>
            <a:off x="4114800" y="3530727"/>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knew we had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decision immediately.</a:t>
            </a:r>
            <a:endParaRPr lang="en-US" sz="1150" dirty="0"/>
          </a:p>
        </p:txBody>
      </p:sp>
      <p:sp>
        <p:nvSpPr>
          <p:cNvPr id="35" name="R6_slA468"/>
          <p:cNvSpPr/>
          <p:nvPr/>
        </p:nvSpPr>
        <p:spPr>
          <a:xfrm>
            <a:off x="4114800" y="3530727"/>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knew we had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decision immediately.</a:t>
            </a:r>
            <a:endParaRPr lang="en-US" sz="1150" dirty="0"/>
          </a:p>
        </p:txBody>
      </p:sp>
      <p:sp>
        <p:nvSpPr>
          <p:cNvPr id="36" name="who_469"/>
          <p:cNvSpPr/>
          <p:nvPr/>
        </p:nvSpPr>
        <p:spPr>
          <a:xfrm>
            <a:off x="3108960" y="3966210"/>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7" name="sl_470"/>
          <p:cNvSpPr/>
          <p:nvPr/>
        </p:nvSpPr>
        <p:spPr>
          <a:xfrm>
            <a:off x="4114800" y="3947922"/>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Have you ever regretted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saying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no?</a:t>
            </a:r>
            <a:endParaRPr lang="en-US" sz="1150" dirty="0"/>
          </a:p>
        </p:txBody>
      </p:sp>
      <p:sp>
        <p:nvSpPr>
          <p:cNvPr id="38" name="R7_slA471"/>
          <p:cNvSpPr/>
          <p:nvPr/>
        </p:nvSpPr>
        <p:spPr>
          <a:xfrm>
            <a:off x="4114800" y="3947922"/>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Have you ever regretted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saying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no?</a:t>
            </a:r>
            <a:endParaRPr lang="en-US" sz="1150" dirty="0"/>
          </a:p>
        </p:txBody>
      </p:sp>
      <p:sp>
        <p:nvSpPr>
          <p:cNvPr id="39" name="who_472"/>
          <p:cNvSpPr/>
          <p:nvPr/>
        </p:nvSpPr>
        <p:spPr>
          <a:xfrm>
            <a:off x="3108960" y="438340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40" name="sl_473"/>
          <p:cNvSpPr/>
          <p:nvPr/>
        </p:nvSpPr>
        <p:spPr>
          <a:xfrm>
            <a:off x="4114800" y="4365117"/>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were enjoying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our own business.</a:t>
            </a:r>
            <a:endParaRPr lang="en-US" sz="1150" dirty="0"/>
          </a:p>
        </p:txBody>
      </p:sp>
      <p:sp>
        <p:nvSpPr>
          <p:cNvPr id="41" name="R8_slA474"/>
          <p:cNvSpPr/>
          <p:nvPr/>
        </p:nvSpPr>
        <p:spPr>
          <a:xfrm>
            <a:off x="4114800" y="4365117"/>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were enjoying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our own business.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7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7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to make a pitch</a:t>
            </a:r>
            <a:endParaRPr lang="en-US" sz="2500" dirty="0"/>
          </a:p>
        </p:txBody>
      </p:sp>
      <p:pic>
        <p:nvPicPr>
          <p:cNvPr id="6" name="brP_47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7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order. Then listen and check.</a:t>
            </a:r>
            <a:endParaRPr lang="en-US" sz="1250" dirty="0"/>
          </a:p>
        </p:txBody>
      </p:sp>
      <p:sp>
        <p:nvSpPr>
          <p:cNvPr id="8" name="insIT_48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l'ordine. Poi ascolta e controlla.</a:t>
            </a:r>
            <a:endParaRPr lang="en-US" sz="950" dirty="0"/>
          </a:p>
        </p:txBody>
      </p:sp>
      <p:sp>
        <p:nvSpPr>
          <p:cNvPr id="9" name="note_48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REORDER</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Listening for detail</a:t>
            </a:r>
            <a:endParaRPr lang="en-US" sz="1150" dirty="0"/>
          </a:p>
        </p:txBody>
      </p:sp>
      <p:pic>
        <p:nvPicPr>
          <p:cNvPr id="10" name="logo_4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the model pitch   ·   📖 SB p.79 · 7a · audio 8.12 (script p.130)</a:t>
            </a:r>
            <a:endParaRPr lang="en-US" sz="800" dirty="0"/>
          </a:p>
        </p:txBody>
      </p:sp>
      <p:sp>
        <p:nvSpPr>
          <p:cNvPr id="12" name="ap_484"/>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8.12  ·  play once</a:t>
            </a:r>
            <a:endParaRPr lang="en-US" sz="1100" dirty="0"/>
          </a:p>
        </p:txBody>
      </p:sp>
      <p:sp>
        <p:nvSpPr>
          <p:cNvPr id="13" name="ah_48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48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48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88" descr="/home/claude/lls-course/v2/cache/8a2_frame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489"/>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9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9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492"/>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How much will it cost?</a:t>
            </a:r>
            <a:endParaRPr lang="en-US" sz="1200" dirty="0"/>
          </a:p>
        </p:txBody>
      </p:sp>
      <p:sp>
        <p:nvSpPr>
          <p:cNvPr id="23" name="R1_chip493"/>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4 · £12.99</a:t>
            </a:r>
            <a:endParaRPr lang="en-US" sz="1200" dirty="0"/>
          </a:p>
        </p:txBody>
      </p:sp>
      <p:sp>
        <p:nvSpPr>
          <p:cNvPr id="24" name="gq_494"/>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What is the product? Describe it.</a:t>
            </a:r>
            <a:endParaRPr lang="en-US" sz="1200" dirty="0"/>
          </a:p>
        </p:txBody>
      </p:sp>
      <p:sp>
        <p:nvSpPr>
          <p:cNvPr id="25" name="R2_chip495"/>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2 · upload, choose, we deliver</a:t>
            </a:r>
            <a:endParaRPr lang="en-US" sz="1200" dirty="0"/>
          </a:p>
        </p:txBody>
      </p:sp>
      <p:sp>
        <p:nvSpPr>
          <p:cNvPr id="26" name="gq_496"/>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Who are you? What's it called?</a:t>
            </a:r>
            <a:endParaRPr lang="en-US" sz="1200" dirty="0"/>
          </a:p>
        </p:txBody>
      </p:sp>
      <p:sp>
        <p:nvSpPr>
          <p:cNvPr id="27" name="R3_chip497"/>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 · Jake &amp; Joe · Frame Again</a:t>
            </a:r>
            <a:endParaRPr lang="en-US" sz="1200" dirty="0"/>
          </a:p>
        </p:txBody>
      </p:sp>
      <p:sp>
        <p:nvSpPr>
          <p:cNvPr id="28" name="gq_498"/>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Have you got a slogan?</a:t>
            </a:r>
            <a:endParaRPr lang="en-US" sz="1200" dirty="0"/>
          </a:p>
        </p:txBody>
      </p:sp>
      <p:sp>
        <p:nvSpPr>
          <p:cNvPr id="29" name="R4_chip499"/>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5 · 'Printed, framed, and delivered in 24 hours.'</a:t>
            </a:r>
            <a:endParaRPr lang="en-US" sz="1100" dirty="0"/>
          </a:p>
        </p:txBody>
      </p:sp>
      <p:sp>
        <p:nvSpPr>
          <p:cNvPr id="30" name="gq_500"/>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Who is the product for?</a:t>
            </a:r>
            <a:endParaRPr lang="en-US" sz="1200" dirty="0"/>
          </a:p>
        </p:txBody>
      </p:sp>
      <p:sp>
        <p:nvSpPr>
          <p:cNvPr id="31" name="R5_chip501"/>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3 · Instagram users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Prepare your pitch</a:t>
            </a:r>
            <a:endParaRPr lang="en-US" sz="2500" dirty="0"/>
          </a:p>
        </p:txBody>
      </p:sp>
      <p:pic>
        <p:nvPicPr>
          <p:cNvPr id="6" name="brP_50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0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Pairs: invent a product. Plan your pitch!</a:t>
            </a:r>
            <a:endParaRPr lang="en-US" sz="1250" dirty="0"/>
          </a:p>
        </p:txBody>
      </p:sp>
      <p:sp>
        <p:nvSpPr>
          <p:cNvPr id="8" name="insIT_5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 coppia: inventate un prodotto!</a:t>
            </a:r>
            <a:endParaRPr lang="en-US" sz="950" dirty="0"/>
          </a:p>
        </p:txBody>
      </p:sp>
      <p:sp>
        <p:nvSpPr>
          <p:cNvPr id="9" name="note_5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WRITE</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150" dirty="0"/>
          </a:p>
        </p:txBody>
      </p:sp>
      <p:pic>
        <p:nvPicPr>
          <p:cNvPr id="10"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prepare your pitch   ·   📖 SB p.79 · 7b, 7c · Presenting a product</a:t>
            </a:r>
            <a:endParaRPr lang="en-US" sz="800" dirty="0"/>
          </a:p>
        </p:txBody>
      </p:sp>
      <p:sp>
        <p:nvSpPr>
          <p:cNvPr id="12" name="pf_511"/>
          <p:cNvSpPr/>
          <p:nvPr/>
        </p:nvSpPr>
        <p:spPr>
          <a:xfrm rot="-120000">
            <a:off x="845820" y="1371600"/>
            <a:ext cx="173736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12" descr="/home/claude/lls-course/v2/cache/8a2_gadget_jpg_396x297_31.png">    </p:cNvPr>
          <p:cNvPicPr>
            <a:picLocks noChangeAspect="1"/>
          </p:cNvPicPr>
          <p:nvPr/>
        </p:nvPicPr>
        <p:blipFill>
          <a:blip r:embed="rId5"/>
          <a:stretch>
            <a:fillRect/>
          </a:stretch>
        </p:blipFill>
        <p:spPr>
          <a:xfrm rot="-120000">
            <a:off x="891540" y="1417320"/>
            <a:ext cx="1645920" cy="1234440"/>
          </a:xfrm>
          <a:prstGeom prst="rect">
            <a:avLst/>
          </a:prstGeom>
        </p:spPr>
      </p:pic>
      <p:sp>
        <p:nvSpPr>
          <p:cNvPr id="14" name="cd_513"/>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1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1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16"/>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an app · a drink · a gadget…</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We think it will be popular because…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It's easy to use.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It's perfect for (+ -ing)…</a:t>
            </a:r>
            <a:endParaRPr lang="en-US" sz="1100" dirty="0"/>
          </a:p>
        </p:txBody>
      </p:sp>
      <p:sp>
        <p:nvSpPr>
          <p:cNvPr id="18" name="R1_qb51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1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Who are you? What's your product called?</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Good morning. I'm Sara, this is Luca, and we're here to tell you about SunBag.</a:t>
            </a:r>
            <a:endParaRPr lang="en-US" sz="1000" dirty="0"/>
          </a:p>
        </p:txBody>
      </p:sp>
      <p:sp>
        <p:nvSpPr>
          <p:cNvPr id="20" name="R2_qb51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52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What is it? Describe it.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It's a beach bag with a solar panel. It charges your phone while you're at the beach.</a:t>
            </a:r>
            <a:endParaRPr lang="en-US" sz="1000" dirty="0"/>
          </a:p>
        </p:txBody>
      </p:sp>
      <p:sp>
        <p:nvSpPr>
          <p:cNvPr id="22" name="R3_qb521"/>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52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Who is it for?</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This product is for students and families who spend all day by the sea.</a:t>
            </a:r>
            <a:endParaRPr lang="en-US" sz="1000" dirty="0"/>
          </a:p>
        </p:txBody>
      </p:sp>
      <p:sp>
        <p:nvSpPr>
          <p:cNvPr id="24" name="R4_qb52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524"/>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How much will it cost?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will cost €29.99.</a:t>
            </a:r>
            <a:endParaRPr lang="en-US" sz="1000" dirty="0"/>
          </a:p>
        </p:txBody>
      </p:sp>
      <p:sp>
        <p:nvSpPr>
          <p:cNvPr id="26" name="R5_qb525"/>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526"/>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What's your slogan?</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Our slogan is 'SunBag – never lose your battery again!'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2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2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Welcome to the Den!</a:t>
            </a:r>
            <a:endParaRPr lang="en-US" sz="2500" dirty="0"/>
          </a:p>
        </p:txBody>
      </p:sp>
      <p:pic>
        <p:nvPicPr>
          <p:cNvPr id="6" name="brP_53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3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it! Dragons: invest or I'm out?</a:t>
            </a:r>
            <a:endParaRPr lang="en-US" sz="1250" dirty="0"/>
          </a:p>
        </p:txBody>
      </p:sp>
      <p:sp>
        <p:nvSpPr>
          <p:cNvPr id="8" name="insIT_5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Presentate! Dragons: investite o no?</a:t>
            </a:r>
            <a:endParaRPr lang="en-US" sz="950" dirty="0"/>
          </a:p>
        </p:txBody>
      </p:sp>
      <p:sp>
        <p:nvSpPr>
          <p:cNvPr id="9" name="note_53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7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5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game · role play   ·   📖 SB p.79 · 7d</a:t>
            </a:r>
            <a:endParaRPr lang="en-US" sz="800" dirty="0"/>
          </a:p>
        </p:txBody>
      </p:sp>
      <p:sp>
        <p:nvSpPr>
          <p:cNvPr id="12" name="cd_536"/>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3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39"/>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Pairs: 1-minute pitch.</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Coppie: un minuto di presentazione.</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Dragons: ask one question each.</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Dragons: una domanda a testa.</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Dragons: invest €… or 'I'm out because…'</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Investite €… o 'I'm out perché…'</a:t>
            </a:r>
            <a:endParaRPr lang="en-US" sz="950" dirty="0"/>
          </a:p>
        </p:txBody>
      </p:sp>
      <p:sp>
        <p:nvSpPr>
          <p:cNvPr id="16" name="pf_540"/>
          <p:cNvSpPr/>
          <p:nvPr/>
        </p:nvSpPr>
        <p:spPr>
          <a:xfrm rot="-120000">
            <a:off x="943834" y="4069080"/>
            <a:ext cx="1404172"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41" descr="/home/claude/lls-course/v2/cache/8a2_class_pitch_jpg_316x253_31.png">    </p:cNvPr>
          <p:cNvPicPr>
            <a:picLocks noChangeAspect="1"/>
          </p:cNvPicPr>
          <p:nvPr/>
        </p:nvPicPr>
        <p:blipFill>
          <a:blip r:embed="rId5"/>
          <a:stretch>
            <a:fillRect/>
          </a:stretch>
        </p:blipFill>
        <p:spPr>
          <a:xfrm rot="-120000">
            <a:off x="989554" y="4114800"/>
            <a:ext cx="1312732" cy="1051560"/>
          </a:xfrm>
          <a:prstGeom prst="rect">
            <a:avLst/>
          </a:prstGeom>
        </p:spPr>
      </p:pic>
      <p:sp>
        <p:nvSpPr>
          <p:cNvPr id="18" name="bd_542"/>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543"/>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Dragon: ask about the price</a:t>
            </a:r>
            <a:endParaRPr lang="en-US" sz="1250" dirty="0"/>
          </a:p>
        </p:txBody>
      </p:sp>
      <p:sp>
        <p:nvSpPr>
          <p:cNvPr id="20" name="chip_544"/>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How much will it cost to make?</a:t>
            </a:r>
            <a:endParaRPr lang="en-US" sz="1150" dirty="0"/>
          </a:p>
        </p:txBody>
      </p:sp>
      <p:sp>
        <p:nvSpPr>
          <p:cNvPr id="21" name="bd_545"/>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46"/>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Dragon: ask about the market</a:t>
            </a:r>
            <a:endParaRPr lang="en-US" sz="1250" dirty="0"/>
          </a:p>
        </p:txBody>
      </p:sp>
      <p:sp>
        <p:nvSpPr>
          <p:cNvPr id="23" name="R1_chip547"/>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Who's going to buy it?</a:t>
            </a:r>
            <a:endParaRPr lang="en-US" sz="1150" dirty="0"/>
          </a:p>
        </p:txBody>
      </p:sp>
      <p:sp>
        <p:nvSpPr>
          <p:cNvPr id="24" name="bd_548"/>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49"/>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Dragon: ask about the money</a:t>
            </a:r>
            <a:endParaRPr lang="en-US" sz="1250" dirty="0"/>
          </a:p>
        </p:txBody>
      </p:sp>
      <p:sp>
        <p:nvSpPr>
          <p:cNvPr id="26" name="R2_chip550"/>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How much do you want, and for what %?</a:t>
            </a:r>
            <a:endParaRPr lang="en-US" sz="1150" dirty="0"/>
          </a:p>
        </p:txBody>
      </p:sp>
      <p:sp>
        <p:nvSpPr>
          <p:cNvPr id="27" name="bd_551"/>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52"/>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Dragon: say YES</a:t>
            </a:r>
            <a:endParaRPr lang="en-US" sz="1250" dirty="0"/>
          </a:p>
        </p:txBody>
      </p:sp>
      <p:sp>
        <p:nvSpPr>
          <p:cNvPr id="29" name="R3_chip553"/>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I'll invest €20,000 for 25% of your company.</a:t>
            </a:r>
            <a:endParaRPr lang="en-US" sz="1150" dirty="0"/>
          </a:p>
        </p:txBody>
      </p:sp>
      <p:sp>
        <p:nvSpPr>
          <p:cNvPr id="30" name="bd_554"/>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55"/>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Dragon: say NO</a:t>
            </a:r>
            <a:endParaRPr lang="en-US" sz="1250" dirty="0"/>
          </a:p>
        </p:txBody>
      </p:sp>
      <p:sp>
        <p:nvSpPr>
          <p:cNvPr id="32" name="R4_chip556"/>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because I don't think people would pay €29.99.</a:t>
            </a:r>
            <a:endParaRPr lang="en-US" sz="1100" dirty="0"/>
          </a:p>
        </p:txBody>
      </p:sp>
      <p:sp>
        <p:nvSpPr>
          <p:cNvPr id="33" name="bd_557"/>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58"/>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winner!</a:t>
            </a:r>
            <a:endParaRPr lang="en-US" sz="1250" dirty="0"/>
          </a:p>
        </p:txBody>
      </p:sp>
      <p:sp>
        <p:nvSpPr>
          <p:cNvPr id="35" name="R5_chip559"/>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the product with the most money invested 🏆</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6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6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56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5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Exit · what can you remember?</a:t>
            </a:r>
            <a:endParaRPr lang="en-US" sz="800" dirty="0"/>
          </a:p>
        </p:txBody>
      </p:sp>
      <p:sp>
        <p:nvSpPr>
          <p:cNvPr id="12" name="bd_569"/>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70"/>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business words from today (no looking!)</a:t>
            </a:r>
            <a:endParaRPr lang="en-US" sz="1400" dirty="0"/>
          </a:p>
        </p:txBody>
      </p:sp>
      <p:sp>
        <p:nvSpPr>
          <p:cNvPr id="14" name="bd_571"/>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72"/>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things that happened to Joe and Jake in the Den</a:t>
            </a:r>
            <a:endParaRPr lang="en-US" sz="1400" dirty="0"/>
          </a:p>
        </p:txBody>
      </p:sp>
      <p:sp>
        <p:nvSpPr>
          <p:cNvPr id="16" name="bd_573"/>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74"/>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slogan for YOUR product</a:t>
            </a:r>
            <a:endParaRPr lang="en-US" sz="1400" dirty="0"/>
          </a:p>
        </p:txBody>
      </p:sp>
      <p:sp>
        <p:nvSpPr>
          <p:cNvPr id="18" name="cd_575"/>
          <p:cNvSpPr/>
          <p:nvPr/>
        </p:nvSpPr>
        <p:spPr>
          <a:xfrm>
            <a:off x="5669280" y="1417320"/>
            <a:ext cx="320040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57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7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78"/>
          <p:cNvSpPr/>
          <p:nvPr/>
        </p:nvSpPr>
        <p:spPr>
          <a:xfrm>
            <a:off x="6236208" y="1911096"/>
            <a:ext cx="254203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8A: 1c, 1d, 2a, 3c</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p.121: a covering email (c)</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579"/>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8B part 1 · Have a nice day!</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8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8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8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58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5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58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5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Review · what did you do today?</a:t>
            </a:r>
            <a:endParaRPr lang="en-US" sz="800" dirty="0"/>
          </a:p>
        </p:txBody>
      </p:sp>
      <p:sp>
        <p:nvSpPr>
          <p:cNvPr id="12" name="cd_589"/>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59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59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TV show for entrepreneurs</a:t>
            </a:r>
            <a:endParaRPr lang="en-US" sz="1350" dirty="0"/>
          </a:p>
        </p:txBody>
      </p:sp>
      <p:sp>
        <p:nvSpPr>
          <p:cNvPr id="15" name="R1_tk59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593"/>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59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59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contestant's story</a:t>
            </a:r>
            <a:endParaRPr lang="en-US" sz="1350" dirty="0"/>
          </a:p>
        </p:txBody>
      </p:sp>
      <p:sp>
        <p:nvSpPr>
          <p:cNvPr id="19" name="R2_tk59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597"/>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59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59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Spotted -ing and to + infinitive in real speech</a:t>
            </a:r>
            <a:endParaRPr lang="en-US" sz="1350" dirty="0"/>
          </a:p>
        </p:txBody>
      </p:sp>
      <p:sp>
        <p:nvSpPr>
          <p:cNvPr id="23" name="R3_tk60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01"/>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0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0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60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05"/>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0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0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Pitched your own product to the 'Dragons'</a:t>
            </a:r>
            <a:endParaRPr lang="en-US" sz="1350" dirty="0"/>
          </a:p>
        </p:txBody>
      </p:sp>
      <p:sp>
        <p:nvSpPr>
          <p:cNvPr id="31" name="R5_tk60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60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10"/>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11"/>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12"/>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13"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1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1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product ever</a:t>
            </a:r>
            <a:endParaRPr lang="en-US" sz="2500" dirty="0"/>
          </a:p>
        </p:txBody>
      </p:sp>
      <p:pic>
        <p:nvPicPr>
          <p:cNvPr id="6" name="brP_61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1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a TERRIBLE product. Sell it!</a:t>
            </a:r>
            <a:endParaRPr lang="en-US" sz="1250" dirty="0"/>
          </a:p>
        </p:txBody>
      </p:sp>
      <p:sp>
        <p:nvSpPr>
          <p:cNvPr id="8" name="insIT_6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Presentate un prodotto TERRIBILE!</a:t>
            </a:r>
            <a:endParaRPr lang="en-US" sz="950" dirty="0"/>
          </a:p>
        </p:txBody>
      </p:sp>
      <p:sp>
        <p:nvSpPr>
          <p:cNvPr id="9" name="note_6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8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6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Extra · reverse pitch</a:t>
            </a:r>
            <a:endParaRPr lang="en-US" sz="800" dirty="0"/>
          </a:p>
        </p:txBody>
      </p:sp>
      <p:sp>
        <p:nvSpPr>
          <p:cNvPr id="12" name="ext_623"/>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62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62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2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62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Take a useless product.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Prendete un prodotto inutile.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3 minutes: find 3 'advantages' + a slogan.</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3 minuti: 3 'vantaggi' + uno slogan.</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Pitch it. Dragons: keep a straight face!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Presentate. Dragons: niente risate!</a:t>
            </a:r>
            <a:endParaRPr lang="en-US" sz="1000" dirty="0"/>
          </a:p>
        </p:txBody>
      </p:sp>
      <p:sp>
        <p:nvSpPr>
          <p:cNvPr id="17" name="pf_628"/>
          <p:cNvSpPr/>
          <p:nvPr/>
        </p:nvSpPr>
        <p:spPr>
          <a:xfrm rot="-120000">
            <a:off x="899160" y="4069080"/>
            <a:ext cx="149352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29" descr="/home/claude/lls-course/v2/cache/8a2_chocolate_teapot_jpg_337x253_31.png">    </p:cNvPr>
          <p:cNvPicPr>
            <a:picLocks noChangeAspect="1"/>
          </p:cNvPicPr>
          <p:nvPr/>
        </p:nvPicPr>
        <p:blipFill>
          <a:blip r:embed="rId5"/>
          <a:stretch>
            <a:fillRect/>
          </a:stretch>
        </p:blipFill>
        <p:spPr>
          <a:xfrm rot="-120000">
            <a:off x="944880" y="4114800"/>
            <a:ext cx="1402080" cy="1051560"/>
          </a:xfrm>
          <a:prstGeom prst="rect">
            <a:avLst/>
          </a:prstGeom>
        </p:spPr>
      </p:pic>
      <p:sp>
        <p:nvSpPr>
          <p:cNvPr id="19" name="bd_630"/>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631"/>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chocolate teapot</a:t>
            </a:r>
            <a:endParaRPr lang="en-US" sz="1250" dirty="0"/>
          </a:p>
        </p:txBody>
      </p:sp>
      <p:sp>
        <p:nvSpPr>
          <p:cNvPr id="21" name="chip_632"/>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It's perfect for people who love tea AND chocolate!</a:t>
            </a:r>
            <a:endParaRPr lang="en-US" sz="1200" dirty="0"/>
          </a:p>
        </p:txBody>
      </p:sp>
      <p:sp>
        <p:nvSpPr>
          <p:cNvPr id="22" name="bd_633"/>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634"/>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waterproof towel</a:t>
            </a:r>
            <a:endParaRPr lang="en-US" sz="1250" dirty="0"/>
          </a:p>
        </p:txBody>
      </p:sp>
      <p:sp>
        <p:nvSpPr>
          <p:cNvPr id="24" name="R1_chip635"/>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It's easy to carry – it never gets heavy!</a:t>
            </a:r>
            <a:endParaRPr lang="en-US" sz="1200" dirty="0"/>
          </a:p>
        </p:txBody>
      </p:sp>
      <p:sp>
        <p:nvSpPr>
          <p:cNvPr id="25" name="bd_636"/>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637"/>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sunglasses for cats</a:t>
            </a:r>
            <a:endParaRPr lang="en-US" sz="1250" dirty="0"/>
          </a:p>
        </p:txBody>
      </p:sp>
      <p:sp>
        <p:nvSpPr>
          <p:cNvPr id="27" name="R2_chip638"/>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Your cat will look cool in August in Bagheria!</a:t>
            </a:r>
            <a:endParaRPr lang="en-US" sz="1200" dirty="0"/>
          </a:p>
        </p:txBody>
      </p:sp>
      <p:sp>
        <p:nvSpPr>
          <p:cNvPr id="28" name="bd_639"/>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640"/>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an umbrella with holes</a:t>
            </a:r>
            <a:endParaRPr lang="en-US" sz="1250" dirty="0"/>
          </a:p>
        </p:txBody>
      </p:sp>
      <p:sp>
        <p:nvSpPr>
          <p:cNvPr id="30" name="R3_chip641"/>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Perfect for people who enjoy feeling the rain.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4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4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job interview</a:t>
            </a:r>
            <a:endParaRPr lang="en-US" sz="2500" dirty="0"/>
          </a:p>
        </p:txBody>
      </p:sp>
      <p:pic>
        <p:nvPicPr>
          <p:cNvPr id="6" name="brP_64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4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interviews B for a job. Then swap!</a:t>
            </a:r>
            <a:endParaRPr lang="en-US" sz="1250" dirty="0"/>
          </a:p>
        </p:txBody>
      </p:sp>
      <p:sp>
        <p:nvSpPr>
          <p:cNvPr id="8" name="insIT_6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fa il colloquio a B. Poi scambiatevi!</a:t>
            </a:r>
            <a:endParaRPr lang="en-US" sz="950" dirty="0"/>
          </a:p>
        </p:txBody>
      </p:sp>
      <p:sp>
        <p:nvSpPr>
          <p:cNvPr id="9" name="note_64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8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Extra · role play   ·   📖 Writing p.121 (the job advert) · links to the covering-email homework</a:t>
            </a:r>
            <a:endParaRPr lang="en-US" sz="800" dirty="0"/>
          </a:p>
        </p:txBody>
      </p:sp>
      <p:sp>
        <p:nvSpPr>
          <p:cNvPr id="12" name="ext_651"/>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652"/>
          <p:cNvSpPr/>
          <p:nvPr/>
        </p:nvSpPr>
        <p:spPr>
          <a:xfrm rot="-120000">
            <a:off x="958864" y="1371600"/>
            <a:ext cx="151127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653" descr="/home/claude/lls-course/v2/cache/spare_work_job_interview_jpg_342x297_31.png">    </p:cNvPr>
          <p:cNvPicPr>
            <a:picLocks noChangeAspect="1"/>
          </p:cNvPicPr>
          <p:nvPr/>
        </p:nvPicPr>
        <p:blipFill>
          <a:blip r:embed="rId5"/>
          <a:stretch>
            <a:fillRect/>
          </a:stretch>
        </p:blipFill>
        <p:spPr>
          <a:xfrm rot="-120000">
            <a:off x="1004584" y="1417320"/>
            <a:ext cx="1419832" cy="1234440"/>
          </a:xfrm>
          <a:prstGeom prst="rect">
            <a:avLst/>
          </a:prstGeom>
        </p:spPr>
      </p:pic>
      <p:sp>
        <p:nvSpPr>
          <p:cNvPr id="15" name="cd_654"/>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655"/>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56"/>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57"/>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I'm good at -ing · I enjoy -ing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like to… · I'd love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I've worked as a… · I don't mind -ing</a:t>
            </a:r>
            <a:endParaRPr lang="en-US" sz="1150" dirty="0"/>
          </a:p>
        </p:txBody>
      </p:sp>
      <p:sp>
        <p:nvSpPr>
          <p:cNvPr id="19" name="R1_qb658"/>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59"/>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Why do you want this job?</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Because I'd love to work at a big sports event.</a:t>
            </a:r>
            <a:endParaRPr lang="en-US" sz="1200" dirty="0"/>
          </a:p>
        </p:txBody>
      </p:sp>
      <p:sp>
        <p:nvSpPr>
          <p:cNvPr id="21" name="R2_qb660"/>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61"/>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are you good at?</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I'm very good at working in a team and solving problems.</a:t>
            </a:r>
            <a:endParaRPr lang="en-US" sz="1200" dirty="0"/>
          </a:p>
        </p:txBody>
      </p:sp>
      <p:sp>
        <p:nvSpPr>
          <p:cNvPr id="23" name="R3_qb662"/>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6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Have you got any experience?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Yes, I've worked as a waiter, so I don't mind working long hours.</a:t>
            </a:r>
            <a:endParaRPr lang="en-US" sz="1200" dirty="0"/>
          </a:p>
        </p:txBody>
      </p:sp>
      <p:sp>
        <p:nvSpPr>
          <p:cNvPr id="25" name="R4_qb664"/>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665"/>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languages do you speak?</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 speak Italian and English, and I'm learning to speak Spanish.</a:t>
            </a:r>
            <a:endParaRPr lang="en-US" sz="1200" dirty="0"/>
          </a:p>
        </p:txBody>
      </p:sp>
      <p:sp>
        <p:nvSpPr>
          <p:cNvPr id="27" name="R5_qb666"/>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667"/>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Interviewer: decide!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"You've got the job!" / "I'm sorry, but…"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8A-2 The right job for you</dc:title>
  <dc:subject>PptxGenJS Presentation</dc:subject>
  <dc:creator>PptxGenJS</dc:creator>
  <cp:lastModifiedBy>PptxGenJS</cp:lastModifiedBy>
  <cp:revision>1</cp:revision>
  <dcterms:created xsi:type="dcterms:W3CDTF">2026-10-22T09:23:56Z</dcterms:created>
  <dcterms:modified xsi:type="dcterms:W3CDTF">2026-10-22T09:23:56Z</dcterms:modified>
</cp:coreProperties>
</file>