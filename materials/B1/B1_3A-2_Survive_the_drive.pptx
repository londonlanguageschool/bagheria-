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class story (TPRS) (4 min)
TPRS CLASS STORY (4 min) – it comes after the rule and 'Beat the clock!', so the forms are clear; now students HEAR comparatives, superlatives and (not) as … as 15–20 times in a funny local story before they produce them freely in 'Most, more, less!' and the opinion speaking. It recycles the fastest / the worst / the best + IN (not of!), faster than, more carefully than (adverb!), isn't as … as, and links to the research (eating while driving is dangerous – number 7 in audio 3.16). Click once per line. For each line: 1) say it, 2) ask the questions in grey round the class (yes/no → either/or → who/what), 3) let the CLASS change details: 'Does Nonna have a scooter? No? What has she got?' – accept their idea and use it in later lines (if she has a horse, Dario's motorbike is faster than her horse!). Students answer with one word or a short phrase ('Dario!' 'The worst!') – that's fine; when they can, push for a full comparative ('The motorbike is faster than the scooter'). Echo errors without stopping: ✗ the best of the family → 'the best IN the family'.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13,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in Italian (2 min)
ELICIT, THEN CONSOLIDATE (2 min). Books open at p.28: students point to the photo for each phrase as you say it (adjust, reach for = mime them). Then the class says the Italian aloud and, then click once per word to show its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21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audio" Target="../media/media-5-14.mp3"/><Relationship Id="rId15" Type="http://schemas.microsoft.com/office/2007/relationships/media" Target="../media/media-5-14.mp3"/><Relationship Id="rId16" Type="http://schemas.openxmlformats.org/officeDocument/2006/relationships/image" Target="../media/image-5-16.png"/><Relationship Id="rId17" Type="http://schemas.openxmlformats.org/officeDocument/2006/relationships/audio" Target="../media/media-5-17.mp3"/><Relationship Id="rId18" Type="http://schemas.microsoft.com/office/2007/relationships/media" Target="../media/media-5-17.mp3"/><Relationship Id="rId19" Type="http://schemas.openxmlformats.org/officeDocument/2006/relationships/image" Target="../media/image-5-19.png"/><Relationship Id="rId20" Type="http://schemas.openxmlformats.org/officeDocument/2006/relationships/audio" Target="../media/media-5-20.mp3"/><Relationship Id="rId21" Type="http://schemas.microsoft.com/office/2007/relationships/media" Target="../media/media-5-20.mp3"/><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slideLayout" Target="../slideLayouts/slideLayout1.xml"/><Relationship Id="rId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1.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compare ways to travel</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the most…, more… than, as… as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research on 3,500 drivers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an expert: the top 8 dangers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train_v_ca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3A: transport and problems on the road</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Top Gear race across London</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On the road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rush hour · cycle lane · zebra crossing · petrol station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Phrasal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set off at 7 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end up · look out!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55321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van</a:t>
            </a:r>
            <a:endParaRPr lang="en-US" sz="1050" dirty="0"/>
          </a:p>
        </p:txBody>
      </p:sp>
      <p:sp>
        <p:nvSpPr>
          <p:cNvPr id="28" name="w_42"/>
          <p:cNvSpPr/>
          <p:nvPr/>
        </p:nvSpPr>
        <p:spPr>
          <a:xfrm>
            <a:off x="3872484"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coach</a:t>
            </a:r>
            <a:endParaRPr lang="en-US" sz="1050" dirty="0"/>
          </a:p>
        </p:txBody>
      </p:sp>
      <p:sp>
        <p:nvSpPr>
          <p:cNvPr id="29" name="w_43"/>
          <p:cNvSpPr/>
          <p:nvPr/>
        </p:nvSpPr>
        <p:spPr>
          <a:xfrm>
            <a:off x="4654296"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lorry</a:t>
            </a:r>
            <a:endParaRPr lang="en-US" sz="1050" dirty="0"/>
          </a:p>
        </p:txBody>
      </p:sp>
      <p:sp>
        <p:nvSpPr>
          <p:cNvPr id="30" name="w_44"/>
          <p:cNvSpPr/>
          <p:nvPr/>
        </p:nvSpPr>
        <p:spPr>
          <a:xfrm>
            <a:off x="5436108"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scooter</a:t>
            </a:r>
            <a:endParaRPr lang="en-US" sz="1050" dirty="0"/>
          </a:p>
        </p:txBody>
      </p:sp>
      <p:sp>
        <p:nvSpPr>
          <p:cNvPr id="31" name="w_45"/>
          <p:cNvSpPr/>
          <p:nvPr/>
        </p:nvSpPr>
        <p:spPr>
          <a:xfrm>
            <a:off x="6373368"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tram</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ferry</a:t>
            </a:r>
            <a:endParaRPr lang="en-US" sz="1050" dirty="0"/>
          </a:p>
        </p:txBody>
      </p:sp>
      <p:sp>
        <p:nvSpPr>
          <p:cNvPr id="33" name="w_47"/>
          <p:cNvSpPr/>
          <p:nvPr/>
        </p:nvSpPr>
        <p:spPr>
          <a:xfrm>
            <a:off x="3246120" y="454456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Underground</a:t>
            </a:r>
            <a:endParaRPr lang="en-US" sz="1050" dirty="0"/>
          </a:p>
        </p:txBody>
      </p:sp>
      <p:sp>
        <p:nvSpPr>
          <p:cNvPr id="34" name="w_48"/>
          <p:cNvSpPr/>
          <p:nvPr/>
        </p:nvSpPr>
        <p:spPr>
          <a:xfrm>
            <a:off x="4805172" y="454456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roadworks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Warmer · last lesson   ·   📖 Recycles 3A part 1: Vocabulary Bank Transport p.155 · audio 3.11</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4 words.</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le 4 parole.</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Find the odd one out.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Trova l'intruso.</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word = 1 point. Good reason = +1!</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Parola giusta = 1 punto. Buon motivo = +1!</a:t>
            </a:r>
            <a:endParaRPr lang="en-US" sz="1150" dirty="0"/>
          </a:p>
        </p:txBody>
      </p:sp>
      <p:sp>
        <p:nvSpPr>
          <p:cNvPr id="18" name="st_64"/>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100" dirty="0"/>
          </a:p>
        </p:txBody>
      </p:sp>
      <p:sp>
        <p:nvSpPr>
          <p:cNvPr id="21"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100" dirty="0"/>
          </a:p>
        </p:txBody>
      </p:sp>
      <p:sp>
        <p:nvSpPr>
          <p:cNvPr id="22"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100" dirty="0"/>
          </a:p>
        </p:txBody>
      </p:sp>
      <p:sp>
        <p:nvSpPr>
          <p:cNvPr id="24"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rank – it's a taxi rank</a:t>
            </a:r>
            <a:endParaRPr lang="en-US" sz="1100" dirty="0"/>
          </a:p>
        </p:txBody>
      </p:sp>
      <p:sp>
        <p:nvSpPr>
          <p:cNvPr id="25"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100" dirty="0"/>
          </a:p>
        </p:txBody>
      </p:sp>
      <p:sp>
        <p:nvSpPr>
          <p:cNvPr id="27"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100" dirty="0"/>
          </a:p>
        </p:txBody>
      </p:sp>
      <p:sp>
        <p:nvSpPr>
          <p:cNvPr id="28"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100" dirty="0"/>
          </a:p>
        </p:txBody>
      </p:sp>
      <p:sp>
        <p:nvSpPr>
          <p:cNvPr id="30"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100" dirty="0"/>
          </a:p>
        </p:txBody>
      </p:sp>
      <p:sp>
        <p:nvSpPr>
          <p:cNvPr id="31"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050" dirty="0"/>
          </a:p>
        </p:txBody>
      </p:sp>
      <p:sp>
        <p:nvSpPr>
          <p:cNvPr id="33"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100" dirty="0"/>
          </a:p>
        </p:txBody>
      </p:sp>
      <p:sp>
        <p:nvSpPr>
          <p:cNvPr id="34"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050" dirty="0"/>
          </a:p>
        </p:txBody>
      </p:sp>
      <p:sp>
        <p:nvSpPr>
          <p:cNvPr id="36"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1–3 punti!</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test first   ·   📖 SB p.28 · 4a</a:t>
            </a:r>
            <a:endParaRPr lang="en-US" sz="800" dirty="0"/>
          </a:p>
        </p:txBody>
      </p:sp>
      <p:sp>
        <p:nvSpPr>
          <p:cNvPr id="14" name="cd_9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9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Each team starts with 10 points.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Ogni squadra parte con 10 punti.</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Read: right ✓ or wrong ✗? Bet 1, 2 or 3.</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giusta ✓ o sbagliata ✗? Scommetti 1, 2 o 3.</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Wrong? Correct it to win the bet!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900" dirty="0"/>
          </a:p>
        </p:txBody>
      </p:sp>
      <p:sp>
        <p:nvSpPr>
          <p:cNvPr id="18" name="pf_9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3a2_black_cab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100"/>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01"/>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950" dirty="0"/>
          </a:p>
        </p:txBody>
      </p:sp>
      <p:sp>
        <p:nvSpPr>
          <p:cNvPr id="22" name="R1_chip102"/>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quickest way</a:t>
            </a:r>
            <a:endParaRPr lang="en-US" sz="1100" dirty="0"/>
          </a:p>
        </p:txBody>
      </p:sp>
      <p:sp>
        <p:nvSpPr>
          <p:cNvPr id="23" name="bd_103"/>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04"/>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950" dirty="0"/>
          </a:p>
        </p:txBody>
      </p:sp>
      <p:sp>
        <p:nvSpPr>
          <p:cNvPr id="25" name="R2_chip105"/>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26" name="bd_106"/>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07"/>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950" dirty="0"/>
          </a:p>
        </p:txBody>
      </p:sp>
      <p:sp>
        <p:nvSpPr>
          <p:cNvPr id="28" name="R3_chip108"/>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fast as</a:t>
            </a:r>
            <a:endParaRPr lang="en-US" sz="1100" dirty="0"/>
          </a:p>
        </p:txBody>
      </p:sp>
      <p:sp>
        <p:nvSpPr>
          <p:cNvPr id="29" name="bd_109"/>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10"/>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950" dirty="0"/>
          </a:p>
        </p:txBody>
      </p:sp>
      <p:sp>
        <p:nvSpPr>
          <p:cNvPr id="31" name="R4_chip111"/>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32" name="bd_112"/>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13"/>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950" dirty="0"/>
          </a:p>
        </p:txBody>
      </p:sp>
      <p:sp>
        <p:nvSpPr>
          <p:cNvPr id="34" name="R5_chip114"/>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many trains as</a:t>
            </a:r>
            <a:endParaRPr lang="en-US" sz="1100" dirty="0"/>
          </a:p>
        </p:txBody>
      </p:sp>
      <p:sp>
        <p:nvSpPr>
          <p:cNvPr id="35" name="bd_115"/>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116"/>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950" dirty="0"/>
          </a:p>
        </p:txBody>
      </p:sp>
      <p:sp>
        <p:nvSpPr>
          <p:cNvPr id="37" name="R6_chip117"/>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050" dirty="0"/>
          </a:p>
        </p:txBody>
      </p:sp>
      <p:sp>
        <p:nvSpPr>
          <p:cNvPr id="38" name="bd_118"/>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119"/>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900" dirty="0"/>
          </a:p>
        </p:txBody>
      </p:sp>
      <p:sp>
        <p:nvSpPr>
          <p:cNvPr id="40" name="R7_chip120"/>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41" name="bd_121"/>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122"/>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950" dirty="0"/>
          </a:p>
        </p:txBody>
      </p:sp>
      <p:sp>
        <p:nvSpPr>
          <p:cNvPr id="43" name="R8_chip123"/>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more carefully than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e ripeti!</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1" name="meta_13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2" name="tag_13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the rule   ·   📖 Grammar Bank 3A p.136 · audio 3.12, 3.13, 3.14</a:t>
            </a:r>
            <a:endParaRPr lang="en-US" sz="800" dirty="0"/>
          </a:p>
        </p:txBody>
      </p:sp>
      <p:sp>
        <p:nvSpPr>
          <p:cNvPr id="15" name="ah_136"/>
          <p:cNvSpPr/>
          <p:nvPr/>
        </p:nvSpPr>
        <p:spPr>
          <a:xfrm>
            <a:off x="166420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3.12 + 3.13 + 3.14   ▶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3675888"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4178808"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4681728" y="4553712"/>
            <a:ext cx="411480" cy="411480"/>
          </a:xfrm>
          <a:prstGeom prst="rect">
            <a:avLst/>
          </a:prstGeom>
        </p:spPr>
      </p:pic>
      <p:sp>
        <p:nvSpPr>
          <p:cNvPr id="19" name="ah_137"/>
          <p:cNvSpPr/>
          <p:nvPr/>
        </p:nvSpPr>
        <p:spPr>
          <a:xfrm>
            <a:off x="646480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7470648" y="4553712"/>
            <a:ext cx="411480" cy="411480"/>
          </a:xfrm>
          <a:prstGeom prst="rect">
            <a:avLst/>
          </a:prstGeom>
        </p:spPr>
      </p:pic>
      <p:pic>
        <p:nvPicPr>
          <p:cNvPr id="21"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7973568" y="4553712"/>
            <a:ext cx="411480" cy="411480"/>
          </a:xfrm>
          <a:prstGeom prst="rect">
            <a:avLst/>
          </a:prstGeom>
        </p:spPr>
      </p:pic>
      <p:pic>
        <p:nvPicPr>
          <p:cNvPr id="22"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8476488" y="4553712"/>
            <a:ext cx="411480" cy="411480"/>
          </a:xfrm>
          <a:prstGeom prst="rect">
            <a:avLst/>
          </a:prstGeom>
        </p:spPr>
      </p:pic>
      <p:sp>
        <p:nvSpPr>
          <p:cNvPr id="23" name="cd_138"/>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4" name="rh_13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5" name="pf_140"/>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1" descr="/home/claude/lls-course/v2/cache/3a2_black_cab_jpg_415x209_31.png">    </p:cNvPr>
          <p:cNvPicPr>
            <a:picLocks noChangeAspect="1"/>
          </p:cNvPicPr>
          <p:nvPr/>
        </p:nvPicPr>
        <p:blipFill>
          <a:blip r:embed="rId23"/>
          <a:stretch>
            <a:fillRect/>
          </a:stretch>
        </p:blipFill>
        <p:spPr>
          <a:xfrm>
            <a:off x="475488" y="1984248"/>
            <a:ext cx="1723644" cy="868680"/>
          </a:xfrm>
          <a:prstGeom prst="rect">
            <a:avLst/>
          </a:prstGeom>
        </p:spPr>
      </p:pic>
      <p:sp>
        <p:nvSpPr>
          <p:cNvPr id="27" name="ru_14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8" name="R1_rx14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850" dirty="0"/>
          </a:p>
        </p:txBody>
      </p:sp>
      <p:sp>
        <p:nvSpPr>
          <p:cNvPr id="29" name="R1_ri14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più / meno … di → than</a:t>
            </a:r>
            <a:endParaRPr lang="en-US" sz="900" dirty="0"/>
          </a:p>
        </p:txBody>
      </p:sp>
      <p:sp>
        <p:nvSpPr>
          <p:cNvPr id="30" name="cd_145"/>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31" name="rh_14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32" name="pf_147"/>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148" descr="/home/claude/lls-course/v2/cache/3a2_train_v_car_jpg_415x209_31.png">    </p:cNvPr>
          <p:cNvPicPr>
            <a:picLocks noChangeAspect="1"/>
          </p:cNvPicPr>
          <p:nvPr/>
        </p:nvPicPr>
        <p:blipFill>
          <a:blip r:embed="rId24"/>
          <a:stretch>
            <a:fillRect/>
          </a:stretch>
        </p:blipFill>
        <p:spPr>
          <a:xfrm>
            <a:off x="2647188" y="1984248"/>
            <a:ext cx="1723644" cy="868680"/>
          </a:xfrm>
          <a:prstGeom prst="rect">
            <a:avLst/>
          </a:prstGeom>
        </p:spPr>
      </p:pic>
      <p:sp>
        <p:nvSpPr>
          <p:cNvPr id="34" name="ru_14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5" name="R2_rx15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00" dirty="0"/>
          </a:p>
        </p:txBody>
      </p:sp>
      <p:sp>
        <p:nvSpPr>
          <p:cNvPr id="36" name="R2_ri15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(non) così … come → as … AS (not than!)</a:t>
            </a:r>
            <a:endParaRPr lang="en-US" sz="750" dirty="0"/>
          </a:p>
        </p:txBody>
      </p:sp>
      <p:sp>
        <p:nvSpPr>
          <p:cNvPr id="37" name="cd_152"/>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8" name="rh_15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9" name="pf_15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55" descr="/home/claude/lls-course/v2/cache/3a2_motorbike_jpg_415x209_31.png">    </p:cNvPr>
          <p:cNvPicPr>
            <a:picLocks noChangeAspect="1"/>
          </p:cNvPicPr>
          <p:nvPr/>
        </p:nvPicPr>
        <p:blipFill>
          <a:blip r:embed="rId25"/>
          <a:stretch>
            <a:fillRect/>
          </a:stretch>
        </p:blipFill>
        <p:spPr>
          <a:xfrm>
            <a:off x="4818888" y="1984248"/>
            <a:ext cx="1723644" cy="868680"/>
          </a:xfrm>
          <a:prstGeom prst="rect">
            <a:avLst/>
          </a:prstGeom>
        </p:spPr>
      </p:pic>
      <p:sp>
        <p:nvSpPr>
          <p:cNvPr id="41" name="ru_15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42" name="R3_rx15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750" dirty="0"/>
          </a:p>
        </p:txBody>
      </p:sp>
      <p:sp>
        <p:nvSpPr>
          <p:cNvPr id="43" name="R3_ri15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il più … di → the most … IN (not of!)</a:t>
            </a:r>
            <a:endParaRPr lang="en-US" sz="750" dirty="0"/>
          </a:p>
        </p:txBody>
      </p:sp>
      <p:sp>
        <p:nvSpPr>
          <p:cNvPr id="44" name="cd_159"/>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5" name="rh_16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6" name="pf_161"/>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7" name="ph_162" descr="/home/claude/lls-course/v2/cache/3a2_roadside_jpg_415x209_31.png">    </p:cNvPr>
          <p:cNvPicPr>
            <a:picLocks noChangeAspect="1"/>
          </p:cNvPicPr>
          <p:nvPr/>
        </p:nvPicPr>
        <p:blipFill>
          <a:blip r:embed="rId26"/>
          <a:stretch>
            <a:fillRect/>
          </a:stretch>
        </p:blipFill>
        <p:spPr>
          <a:xfrm>
            <a:off x="6990588" y="1984248"/>
            <a:ext cx="1723644" cy="868680"/>
          </a:xfrm>
          <a:prstGeom prst="rect">
            <a:avLst/>
          </a:prstGeom>
        </p:spPr>
      </p:pic>
      <p:sp>
        <p:nvSpPr>
          <p:cNvPr id="48" name="ru_16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9" name="R4_rx16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50" name="R4_ri16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400"/>
                                        <p:tgtEl>
                                          <p:spTgt spid="2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400"/>
                                        <p:tgtEl>
                                          <p:spTgt spid="35"/>
                                        </p:tgtEl>
                                      </p:cBhvr>
                                    </p:animEffect>
                                  </p:childTnLst>
                                </p:cTn>
                              </p:par>
                              <p:par>
                                <p:cTn id="16" presetID="10" presetClass="entr" presetSubtype="0" fill="hold"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4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20"/>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20"/>
                                        </p:tgtEl>
                                      </p:cBhvr>
                                    </p:cmd>
                                  </p:childTnLst>
                                </p:cTn>
                              </p:par>
                            </p:childTnLst>
                          </p:cTn>
                        </p:par>
                      </p:childTnLst>
                    </p:cTn>
                  </p:par>
                </p:childTnLst>
              </p:cTn>
              <p:nextCondLst>
                <p:cond evt="onClick" delay="0">
                  <p:tgtEl>
                    <p:spTgt spid="20"/>
                  </p:tgtEl>
                </p:cond>
              </p:nextCondLst>
            </p:seq>
            <p:seq concurrent="1" nextAc="seek">
              <p:cTn id="55" restart="whenNotActive" fill="hold" evtFilter="cancelBubble" nodeType="interactiveSeq">
                <p:stCondLst>
                  <p:cond evt="onClick" delay="0">
                    <p:tgtEl>
                      <p:spTgt spid="21"/>
                    </p:tgtEl>
                  </p:cond>
                </p:stCondLst>
                <p:endSync evt="end" delay="0">
                  <p:rtn val="all"/>
                </p:endSync>
                <p:childTnLst>
                  <p:par>
                    <p:cTn id="56" fill="hold">
                      <p:stCondLst>
                        <p:cond delay="0"/>
                      </p:stCondLst>
                      <p:childTnLst>
                        <p:par>
                          <p:cTn id="57" fill="hold">
                            <p:stCondLst>
                              <p:cond delay="0"/>
                            </p:stCondLst>
                            <p:childTnLst>
                              <p:par>
                                <p:cTn id="58" presetID="2" presetClass="mediacall" presetSubtype="0" fill="hold" nodeType="clickEffect">
                                  <p:stCondLst>
                                    <p:cond delay="0"/>
                                  </p:stCondLst>
                                  <p:childTnLst>
                                    <p:cmd type="call" cmd="togglePause">
                                      <p:cBhvr>
                                        <p:cTn id="59" dur="1" fill="hold"/>
                                        <p:tgtEl>
                                          <p:spTgt spid="21"/>
                                        </p:tgtEl>
                                      </p:cBhvr>
                                    </p:cmd>
                                  </p:childTnLst>
                                </p:cTn>
                              </p:par>
                            </p:childTnLst>
                          </p:cTn>
                        </p:par>
                      </p:childTnLst>
                    </p:cTn>
                  </p:par>
                </p:childTnLst>
              </p:cTn>
              <p:nextCondLst>
                <p:cond evt="onClick" delay="0">
                  <p:tgtEl>
                    <p:spTgt spid="21"/>
                  </p:tgtEl>
                </p:cond>
              </p:nextCondLst>
            </p:seq>
            <p:seq concurrent="1" nextAc="seek">
              <p:cTn id="60" restart="whenNotActive" fill="hold" evtFilter="cancelBubble" nodeType="interactiveSeq">
                <p:stCondLst>
                  <p:cond evt="onClick" delay="0">
                    <p:tgtEl>
                      <p:spTgt spid="22"/>
                    </p:tgtEl>
                  </p:cond>
                </p:stCondLst>
                <p:endSync evt="end" delay="0">
                  <p:rtn val="all"/>
                </p:endSync>
                <p:childTnLst>
                  <p:par>
                    <p:cTn id="61" fill="hold">
                      <p:stCondLst>
                        <p:cond delay="0"/>
                      </p:stCondLst>
                      <p:childTnLst>
                        <p:par>
                          <p:cTn id="62" fill="hold">
                            <p:stCondLst>
                              <p:cond delay="0"/>
                            </p:stCondLst>
                            <p:childTnLst>
                              <p:par>
                                <p:cTn id="63" presetID="2" presetClass="mediacall" presetSubtype="0" fill="hold" nodeType="clickEffect">
                                  <p:stCondLst>
                                    <p:cond delay="0"/>
                                  </p:stCondLst>
                                  <p:childTnLst>
                                    <p:cmd type="call" cmd="togglePause">
                                      <p:cBhvr>
                                        <p:cTn id="64" dur="1" fill="hold"/>
                                        <p:tgtEl>
                                          <p:spTgt spid="22"/>
                                        </p:tgtEl>
                                      </p:cBhvr>
                                    </p:cmd>
                                  </p:childTnLst>
                                </p:cTn>
                              </p:par>
                            </p:childTnLst>
                          </p:cTn>
                        </p:par>
                      </p:childTnLst>
                    </p:cTn>
                  </p:par>
                </p:childTnLst>
              </p:cTn>
              <p:nextCondLst>
                <p:cond evt="onClick" delay="0">
                  <p:tgtEl>
                    <p:spTgt spid="22"/>
                  </p:tgtEl>
                </p:cond>
              </p:nextCondLst>
            </p:seq>
            <p:audio>
              <p:cMediaNode vol="80000">
                <p:cTn id="65" fill="hold" display="0">
                  <p:stCondLst>
                    <p:cond delay="indefinite"/>
                  </p:stCondLst>
                  <p:endCondLst>
                    <p:cond evt="onStopAudio" delay="0">
                      <p:tgtEl>
                        <p:sldTgt/>
                      </p:tgtEl>
                    </p:cond>
                  </p:endCondLst>
                </p:cTn>
                <p:tgtEl>
                  <p:spTgt spid="16"/>
                </p:tgtEl>
              </p:cMediaNode>
            </p:audio>
            <p:audio>
              <p:cMediaNode vol="80000">
                <p:cTn id="66" fill="hold" display="0">
                  <p:stCondLst>
                    <p:cond delay="indefinite"/>
                  </p:stCondLst>
                  <p:endCondLst>
                    <p:cond evt="onStopAudio" delay="0">
                      <p:tgtEl>
                        <p:sldTgt/>
                      </p:tgtEl>
                    </p:cond>
                  </p:endCondLst>
                </p:cTn>
                <p:tgtEl>
                  <p:spTgt spid="17"/>
                </p:tgtEl>
              </p:cMediaNode>
            </p:audio>
            <p:audio>
              <p:cMediaNode vol="80000">
                <p:cTn id="67" fill="hold" display="0">
                  <p:stCondLst>
                    <p:cond delay="indefinite"/>
                  </p:stCondLst>
                  <p:endCondLst>
                    <p:cond evt="onStopAudio" delay="0">
                      <p:tgtEl>
                        <p:sldTgt/>
                      </p:tgtEl>
                    </p:cond>
                  </p:endCondLst>
                </p:cTn>
                <p:tgtEl>
                  <p:spTgt spid="18"/>
                </p:tgtEl>
              </p:cMediaNode>
            </p:audio>
            <p:audio>
              <p:cMediaNode vol="80000">
                <p:cTn id="68" fill="hold" display="0">
                  <p:stCondLst>
                    <p:cond delay="indefinite"/>
                  </p:stCondLst>
                  <p:endCondLst>
                    <p:cond evt="onStopAudio" delay="0">
                      <p:tgtEl>
                        <p:sldTgt/>
                      </p:tgtEl>
                    </p:cond>
                  </p:endCondLst>
                </p:cTn>
                <p:tgtEl>
                  <p:spTgt spid="20"/>
                </p:tgtEl>
              </p:cMediaNode>
            </p:audio>
            <p:audio>
              <p:cMediaNode vol="80000">
                <p:cTn id="69" fill="hold" display="0">
                  <p:stCondLst>
                    <p:cond delay="indefinite"/>
                  </p:stCondLst>
                  <p:endCondLst>
                    <p:cond evt="onStopAudio" delay="0">
                      <p:tgtEl>
                        <p:sldTgt/>
                      </p:tgtEl>
                    </p:cond>
                  </p:endCondLst>
                </p:cTn>
                <p:tgtEl>
                  <p:spTgt spid="21"/>
                </p:tgtEl>
              </p:cMediaNode>
            </p:audio>
            <p:audio>
              <p:cMediaNode vol="80000">
                <p:cTn id="70" fill="hold" display="0">
                  <p:stCondLst>
                    <p:cond delay="indefinite"/>
                  </p:stCondLst>
                  <p:endCondLst>
                    <p:cond evt="onStopAudio" delay="0">
                      <p:tgtEl>
                        <p:sldTgt/>
                      </p:tgtEl>
                    </p:cond>
                  </p:endCondLst>
                </p:cTn>
                <p:tgtEl>
                  <p:spTgt spid="22"/>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parole mancanti. 2 minuti!</a:t>
            </a:r>
            <a:endParaRPr lang="en-US" sz="950" dirty="0"/>
          </a:p>
        </p:txBody>
      </p:sp>
      <p:sp>
        <p:nvSpPr>
          <p:cNvPr id="9" name="cmd_1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1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1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practice   ·   📖 Grammar Bank 3A p.136 · a 1–5 (+ 2 from last lesson's race)</a:t>
            </a:r>
            <a:endParaRPr lang="en-US" sz="800" dirty="0"/>
          </a:p>
        </p:txBody>
      </p:sp>
      <p:sp>
        <p:nvSpPr>
          <p:cNvPr id="15" name="cd_1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1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Teams: 2 minutes. Complete 1–7.</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2 minuti. Completate 1–7.</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Swap papers with another team.</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Scambiate i fogli con un'altra squadra.</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Check: 1 point per correct answer.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Controllate: 1 punto per risposta giusta.</a:t>
            </a:r>
            <a:endParaRPr lang="en-US" sz="900" dirty="0"/>
          </a:p>
        </p:txBody>
      </p:sp>
      <p:sp>
        <p:nvSpPr>
          <p:cNvPr id="19" name="pf_1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3" descr="/home/claude/lls-course/v2/cache/3a2_horse_rid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184"/>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85"/>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100" dirty="0"/>
          </a:p>
        </p:txBody>
      </p:sp>
      <p:sp>
        <p:nvSpPr>
          <p:cNvPr id="23" name="R1_chip186"/>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easier than</a:t>
            </a:r>
            <a:endParaRPr lang="en-US" sz="1100" dirty="0"/>
          </a:p>
        </p:txBody>
      </p:sp>
      <p:sp>
        <p:nvSpPr>
          <p:cNvPr id="24" name="bd_187"/>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88"/>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100" dirty="0"/>
          </a:p>
        </p:txBody>
      </p:sp>
      <p:sp>
        <p:nvSpPr>
          <p:cNvPr id="26" name="R2_chip189"/>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hottest</a:t>
            </a:r>
            <a:endParaRPr lang="en-US" sz="1100" dirty="0"/>
          </a:p>
        </p:txBody>
      </p:sp>
      <p:sp>
        <p:nvSpPr>
          <p:cNvPr id="27" name="bd_190"/>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91"/>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100" dirty="0"/>
          </a:p>
        </p:txBody>
      </p:sp>
      <p:sp>
        <p:nvSpPr>
          <p:cNvPr id="29" name="R3_chip192"/>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powerful than</a:t>
            </a:r>
            <a:endParaRPr lang="en-US" sz="1100" dirty="0"/>
          </a:p>
        </p:txBody>
      </p:sp>
      <p:sp>
        <p:nvSpPr>
          <p:cNvPr id="30" name="bd_193"/>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94"/>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100" dirty="0"/>
          </a:p>
        </p:txBody>
      </p:sp>
      <p:sp>
        <p:nvSpPr>
          <p:cNvPr id="32" name="R4_chip195"/>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slowly than</a:t>
            </a:r>
            <a:endParaRPr lang="en-US" sz="1100" dirty="0"/>
          </a:p>
        </p:txBody>
      </p:sp>
      <p:sp>
        <p:nvSpPr>
          <p:cNvPr id="33" name="bd_196"/>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97"/>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100" dirty="0"/>
          </a:p>
        </p:txBody>
      </p:sp>
      <p:sp>
        <p:nvSpPr>
          <p:cNvPr id="35" name="R5_chip198"/>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worst</a:t>
            </a:r>
            <a:endParaRPr lang="en-US" sz="1100" dirty="0"/>
          </a:p>
        </p:txBody>
      </p:sp>
      <p:sp>
        <p:nvSpPr>
          <p:cNvPr id="36" name="bd_199"/>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200"/>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100" dirty="0"/>
          </a:p>
        </p:txBody>
      </p:sp>
      <p:sp>
        <p:nvSpPr>
          <p:cNvPr id="38" name="R6_chip201"/>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as quick as</a:t>
            </a:r>
            <a:endParaRPr lang="en-US" sz="1100" dirty="0"/>
          </a:p>
        </p:txBody>
      </p:sp>
      <p:sp>
        <p:nvSpPr>
          <p:cNvPr id="39" name="bd_202"/>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203"/>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100" dirty="0"/>
          </a:p>
        </p:txBody>
      </p:sp>
      <p:sp>
        <p:nvSpPr>
          <p:cNvPr id="41" name="R7_chip204"/>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slowest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0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 Pina's big race</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1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1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1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class story (TPRS)</a:t>
            </a:r>
            <a:endParaRPr lang="en-US" sz="800" dirty="0"/>
          </a:p>
        </p:txBody>
      </p:sp>
      <p:sp>
        <p:nvSpPr>
          <p:cNvPr id="15" name="cd_217"/>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20"/>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fastest …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più veloce …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faster than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più veloce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more carefully than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con più attenzione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isn't as … as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è così … come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worst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peggiore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best …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migliore … di</a:t>
            </a:r>
            <a:endParaRPr lang="en-US" sz="1000" dirty="0"/>
          </a:p>
        </p:txBody>
      </p:sp>
      <p:sp>
        <p:nvSpPr>
          <p:cNvPr id="19" name="R1_sb221"/>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22"/>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Pina is 80. She thinks her old scooter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fastest 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Bagheria.</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Nonna Pina 18 or 80? · What's the fastest in Bagheria?</a:t>
            </a:r>
            <a:endParaRPr lang="en-US" sz="1050" dirty="0"/>
          </a:p>
        </p:txBody>
      </p:sp>
      <p:sp>
        <p:nvSpPr>
          <p:cNvPr id="21" name="R2_sb223"/>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24"/>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grandson Dario laughs: 'My new motorbike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faster than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your scooter!'</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has a motorbike? · Is it faster or slower than the scooter?</a:t>
            </a:r>
            <a:endParaRPr lang="en-US" sz="950" dirty="0"/>
          </a:p>
        </p:txBody>
      </p:sp>
      <p:sp>
        <p:nvSpPr>
          <p:cNvPr id="23" name="R3_sb225"/>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26"/>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So they have a race to the beach. Dario rides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more carefully than</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Nonna.</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Where's the race? (you decide!) · Who rides more carefully?</a:t>
            </a:r>
            <a:endParaRPr lang="en-US" sz="1000" dirty="0"/>
          </a:p>
        </p:txBody>
      </p:sp>
      <p:sp>
        <p:nvSpPr>
          <p:cNvPr id="25" name="R4_sb227"/>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28"/>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isn't as careful as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Dario. She eats an arancina on her scooter!</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Nonna as careful as Dario? · What does she eat? · Is that dangerous?</a:t>
            </a:r>
            <a:endParaRPr lang="en-US" sz="1050" dirty="0"/>
          </a:p>
        </p:txBody>
      </p:sp>
      <p:sp>
        <p:nvSpPr>
          <p:cNvPr id="27" name="R5_sb229"/>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30"/>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Then Dario gets stuck in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the worst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traffic jam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Sicily!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gets stuck? · Is it the best or the worst traffic jam?</a:t>
            </a:r>
            <a:endParaRPr lang="en-US" sz="1250" dirty="0"/>
          </a:p>
        </p:txBody>
      </p:sp>
      <p:sp>
        <p:nvSpPr>
          <p:cNvPr id="29" name="R6_sb231"/>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32"/>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takes a little road and wins. 'I'm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best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driver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family!'</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wins? · And you – who's the best driver in your family?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3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3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PIÙ… Poi confronta gli altri due.</a:t>
            </a:r>
            <a:endParaRPr lang="en-US" sz="950" dirty="0"/>
          </a:p>
        </p:txBody>
      </p:sp>
      <p:sp>
        <p:nvSpPr>
          <p:cNvPr id="9" name="cmd_23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4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superlative + comparative   ·   📖 SB p.28 · 4c</a:t>
            </a:r>
            <a:endParaRPr lang="en-US" sz="800" dirty="0"/>
          </a:p>
        </p:txBody>
      </p:sp>
      <p:sp>
        <p:nvSpPr>
          <p:cNvPr id="14" name="pf_24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45" descr="/home/claude/lls-course/v2/cache/3a2_motorbik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4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4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4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4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the most… / the least…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more… than / …-er than</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…isn't as… as…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because…</a:t>
            </a:r>
            <a:endParaRPr lang="en-US" sz="800" dirty="0"/>
          </a:p>
        </p:txBody>
      </p:sp>
      <p:sp>
        <p:nvSpPr>
          <p:cNvPr id="20" name="R1_qb25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5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 think riding a motorbike is the most dangerous. Cycling is more dangerous than driving.</a:t>
            </a:r>
            <a:endParaRPr lang="en-US" sz="1000" dirty="0"/>
          </a:p>
        </p:txBody>
      </p:sp>
      <p:sp>
        <p:nvSpPr>
          <p:cNvPr id="22" name="R2_qb25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53"/>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Riding a bike is the easiest. Driving is more difficult than riding a horse.</a:t>
            </a:r>
            <a:endParaRPr lang="en-US" sz="1000" dirty="0"/>
          </a:p>
        </p:txBody>
      </p:sp>
      <p:pic>
        <p:nvPicPr>
          <p:cNvPr id="24" name="R2_th254"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25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56"/>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Travelling by train is the most relaxing. Flying isn't as relaxing as driving.</a:t>
            </a:r>
            <a:endParaRPr lang="en-US" sz="1000" dirty="0"/>
          </a:p>
        </p:txBody>
      </p:sp>
      <p:pic>
        <p:nvPicPr>
          <p:cNvPr id="27" name="R3_th257"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25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5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Sleeping on a coach is the most difficult. A train is more comfortable than a plane.</a:t>
            </a:r>
            <a:endParaRPr lang="en-US" sz="1000" dirty="0"/>
          </a:p>
        </p:txBody>
      </p:sp>
      <p:sp>
        <p:nvSpPr>
          <p:cNvPr id="30" name="R5_qb26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26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Being stuck in a traffic jam is the most boring!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6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5 numeri nel testo.</a:t>
            </a:r>
            <a:endParaRPr lang="en-US" sz="950" dirty="0"/>
          </a:p>
        </p:txBody>
      </p:sp>
      <p:sp>
        <p:nvSpPr>
          <p:cNvPr id="9" name="cmd_2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prediction   ·   📖 SB p.28 · 5a</a:t>
            </a:r>
            <a:endParaRPr lang="en-US" sz="800" dirty="0"/>
          </a:p>
        </p:txBody>
      </p:sp>
      <p:sp>
        <p:nvSpPr>
          <p:cNvPr id="15" name="cd_27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7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7" name="nx_27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8" name="sf_27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9" name="nbl_27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7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8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22" name="bd_28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3" name="bd_28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4" name="bd_283"/>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5" name="bd_284"/>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6" name="bd_285"/>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7" name="pf_286"/>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87" descr="/home/claude/lls-course/v2/cache/3a2_satnav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9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numeri. Poi leggi p.28 e controlla.</a:t>
            </a:r>
            <a:endParaRPr lang="en-US" sz="950" dirty="0"/>
          </a:p>
        </p:txBody>
      </p:sp>
      <p:sp>
        <p:nvSpPr>
          <p:cNvPr id="9" name="cmd_29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the research   ·   📖 SB p.28 · 5a (the text)</a:t>
            </a:r>
            <a:endParaRPr lang="en-US" sz="800" dirty="0"/>
          </a:p>
        </p:txBody>
      </p:sp>
      <p:sp>
        <p:nvSpPr>
          <p:cNvPr id="14" name="cd_29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0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6" name="ln_301"/>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00" dirty="0"/>
          </a:p>
        </p:txBody>
      </p:sp>
      <p:sp>
        <p:nvSpPr>
          <p:cNvPr id="17" name="ln_30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8" name="R1_lnA303"/>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9" name="ln_304"/>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2_lnA305"/>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ln_30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2" name="R3_lnA30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3" name="ln_30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4" name="R4_lnA309"/>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5" name="ln_310"/>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00" dirty="0"/>
          </a:p>
        </p:txBody>
      </p:sp>
      <p:sp>
        <p:nvSpPr>
          <p:cNvPr id="26" name="pf_31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12" descr="/home/claude/lls-course/v2/cache/3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31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31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1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1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fit = install (montare)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device = gadget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1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2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3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p.28. Dillo in italiano!</a:t>
            </a:r>
            <a:endParaRPr lang="en-US" sz="950" dirty="0"/>
          </a:p>
        </p:txBody>
      </p:sp>
      <p:sp>
        <p:nvSpPr>
          <p:cNvPr id="9" name="cmd_3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 in Italian   ·   📖 SB p.28 · 5a (photos) · 5c 'likely' box</a:t>
            </a:r>
            <a:endParaRPr lang="en-US" sz="800" dirty="0"/>
          </a:p>
        </p:txBody>
      </p:sp>
      <p:sp>
        <p:nvSpPr>
          <p:cNvPr id="14" name="cd_3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7" name="R1_it3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800" dirty="0"/>
          </a:p>
        </p:txBody>
      </p:sp>
      <p:sp>
        <p:nvSpPr>
          <p:cNvPr id="18" name="cd_3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000" dirty="0"/>
          </a:p>
        </p:txBody>
      </p:sp>
      <p:sp>
        <p:nvSpPr>
          <p:cNvPr id="21" name="R2_it3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allungarsi a prendere</a:t>
            </a:r>
            <a:endParaRPr lang="en-US" sz="900" dirty="0"/>
          </a:p>
        </p:txBody>
      </p:sp>
      <p:sp>
        <p:nvSpPr>
          <p:cNvPr id="22" name="cd_3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950" dirty="0"/>
          </a:p>
        </p:txBody>
      </p:sp>
      <p:sp>
        <p:nvSpPr>
          <p:cNvPr id="25" name="R3_it3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guardare a bordo strada</a:t>
            </a:r>
            <a:endParaRPr lang="en-US" sz="800" dirty="0"/>
          </a:p>
        </p:txBody>
      </p:sp>
      <p:sp>
        <p:nvSpPr>
          <p:cNvPr id="26" name="cd_3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000" dirty="0"/>
          </a:p>
        </p:txBody>
      </p:sp>
      <p:sp>
        <p:nvSpPr>
          <p:cNvPr id="29" name="R4_it3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regolare il navigatore</a:t>
            </a:r>
            <a:endParaRPr lang="en-US" sz="900" dirty="0"/>
          </a:p>
        </p:txBody>
      </p:sp>
      <p:sp>
        <p:nvSpPr>
          <p:cNvPr id="30" name="cd_3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3" name="R5_it3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4" name="cd_3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100" dirty="0"/>
          </a:p>
        </p:txBody>
      </p:sp>
      <p:sp>
        <p:nvSpPr>
          <p:cNvPr id="37" name="R6_it3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8" name="cd_3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150" dirty="0"/>
          </a:p>
        </p:txBody>
      </p:sp>
      <p:sp>
        <p:nvSpPr>
          <p:cNvPr id="41" name="R7_it3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2" name="cd_3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000" dirty="0"/>
          </a:p>
        </p:txBody>
      </p:sp>
      <p:sp>
        <p:nvSpPr>
          <p:cNvPr id="45" name="R8_it3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parlare col passeggero</a:t>
            </a:r>
            <a:endParaRPr lang="en-US" sz="850" dirty="0"/>
          </a:p>
        </p:txBody>
      </p:sp>
      <p:sp>
        <p:nvSpPr>
          <p:cNvPr id="46" name="cd_3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9" name="R9_it3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50" name="cd_3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3" name="R10_it3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4" name="cd_3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7" name="R11_it3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8" name="cd_3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61" name="R12_it3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2" name="R13_wc37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7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9"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80"/>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81"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82"/>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pericolo. Non parlare!</a:t>
            </a:r>
            <a:endParaRPr lang="en-US" sz="950" dirty="0"/>
          </a:p>
        </p:txBody>
      </p:sp>
      <p:sp>
        <p:nvSpPr>
          <p:cNvPr id="9" name="cmd_38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8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game</a:t>
            </a:r>
            <a:endParaRPr lang="en-US" sz="800" dirty="0"/>
          </a:p>
        </p:txBody>
      </p:sp>
      <p:sp>
        <p:nvSpPr>
          <p:cNvPr id="14" name="cd_38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9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A mimes the danger. No words!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mima il pericolo. Senza parole!</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B says it in English. Then swap.</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B lo dice in inglese. Poi scambiatevi.</a:t>
            </a:r>
            <a:endParaRPr lang="en-US" sz="950" dirty="0"/>
          </a:p>
        </p:txBody>
      </p:sp>
      <p:sp>
        <p:nvSpPr>
          <p:cNvPr id="18" name="pf_39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94" descr="/home/claude/lls-course/v2/cache/3a2_emotiona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9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396"/>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2" name="R3_w397"/>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3" name="R5_w398"/>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4" name="R7_w399"/>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5" name="rl_40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401"/>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7" name="R4_w402"/>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8" name="R6_w403"/>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9" name="R8_w404"/>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0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4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Mettili in ordine. 1 = il più pericoloso.</a:t>
            </a:r>
            <a:endParaRPr lang="en-US" sz="950" dirty="0"/>
          </a:p>
        </p:txBody>
      </p:sp>
      <p:sp>
        <p:nvSpPr>
          <p:cNvPr id="9" name="cmd_41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41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1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prediction   ·   📖 SB p.28 · 5a questions 2–3</a:t>
            </a:r>
            <a:endParaRPr lang="en-US" sz="800" dirty="0"/>
          </a:p>
        </p:txBody>
      </p:sp>
      <p:sp>
        <p:nvSpPr>
          <p:cNvPr id="15" name="pf_41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18" descr="/home/claude/lls-course/v2/cache/3a2_roadsid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41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2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2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42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 think… is the most dangerous.</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more dangerous than…</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…isn't as dangerous as…</a:t>
            </a:r>
            <a:endParaRPr lang="en-US" sz="950" dirty="0"/>
          </a:p>
        </p:txBody>
      </p:sp>
      <p:sp>
        <p:nvSpPr>
          <p:cNvPr id="21" name="R1_qb42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42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think feeling tired is number 1 – you can fall asleep!</a:t>
            </a:r>
            <a:endParaRPr lang="en-US" sz="1250" dirty="0"/>
          </a:p>
        </p:txBody>
      </p:sp>
      <p:sp>
        <p:nvSpPr>
          <p:cNvPr id="23" name="R2_qb42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42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Talking to a passenger is the least dangerous, I think.</a:t>
            </a:r>
            <a:endParaRPr lang="en-US" sz="1250" dirty="0"/>
          </a:p>
        </p:txBody>
      </p:sp>
      <p:sp>
        <p:nvSpPr>
          <p:cNvPr id="25" name="R3_qb42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42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I think eating is more dangerous than talking.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3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3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con le parole collegate.</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3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2" name="tag_4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Pronunciation · linking   ·   📖 SB p.29 · 5b · audio 3.15</a:t>
            </a:r>
            <a:endParaRPr lang="en-US" sz="800" dirty="0"/>
          </a:p>
        </p:txBody>
      </p:sp>
      <p:sp>
        <p:nvSpPr>
          <p:cNvPr id="15" name="ap_4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6" name="ah_4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45" descr="/home/claude/lls-course/v2/cache/3a2_tire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50"/>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7" name="R1_chip451"/>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8" name="gq_452"/>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9" name="R2_chip453"/>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30" name="gq_454"/>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31" name="R3_chip455"/>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32" name="gq_456"/>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33" name="R4_chip457"/>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4" name="gq_458"/>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5" name="R5_chip459"/>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6" name="gq_460"/>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7" name="R6_chip461"/>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8" name="gq_462"/>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9" name="R7_chip463"/>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6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foto è 1, 2 e 3?</a:t>
            </a:r>
            <a:endParaRPr lang="en-US" sz="950" dirty="0"/>
          </a:p>
        </p:txBody>
      </p:sp>
      <p:sp>
        <p:nvSpPr>
          <p:cNvPr id="9" name="cmd_47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7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47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4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4" name="ap_47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5" name="ah_47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47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47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47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80" descr="/home/claude/lls-course/v2/cache/3a2_roadside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48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48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83" descr="/home/claude/lls-course/v2/cache/3a2_emotional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48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485"/>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86" descr="/home/claude/lls-course/v2/cache/3a2_reaching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487"/>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48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48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9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49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 8 dangers 1–8 in your book.</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Numera gli 8 pericoli 1–8 nel libro.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Which photo is 1, 2, 3? Were you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Quale foto è 1, 2, 3? Avevi ragione?</a:t>
            </a:r>
            <a:endParaRPr lang="en-US" sz="700" dirty="0"/>
          </a:p>
        </p:txBody>
      </p:sp>
      <p:sp>
        <p:nvSpPr>
          <p:cNvPr id="33" name="lq_49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4" name="R1_chip49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5" name="lq_49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6" name="R2_chip49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7" name="lq_49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8" name="R3_chip49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9" name="lq_49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40" name="R4_chip49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504"/>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i numeri 5–8.</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5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4" name="ap_51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5" name="ah_51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51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51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51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6" descr="/home/claude/lls-course/v2/cache/3a2_tired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51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51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19" descr="/home/claude/lls-course/v2/cache/3a2_eating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52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52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52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2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52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numbers 5–8 with a partner.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Confronta i numeri 5–8 con un compagno.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Were your top 3 right? Surprised?</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La tua top 3 era giusta? Sorpreso?</a:t>
            </a:r>
            <a:endParaRPr lang="en-US" sz="700" dirty="0"/>
          </a:p>
        </p:txBody>
      </p:sp>
      <p:sp>
        <p:nvSpPr>
          <p:cNvPr id="30" name="lq_52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31" name="R1_chip52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32" name="lq_52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3" name="R2_chip52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4" name="lq_52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5" name="R3_chip53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6" name="lq_53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7" name="R4_chip53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3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53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5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il numero o il motivo.</a:t>
            </a:r>
            <a:endParaRPr lang="en-US" sz="950" dirty="0"/>
          </a:p>
        </p:txBody>
      </p:sp>
      <p:sp>
        <p:nvSpPr>
          <p:cNvPr id="9" name="cmd_5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detail   ·   📖 SB p.29 · 5d · audio 3.16</a:t>
            </a:r>
            <a:endParaRPr lang="en-US" sz="800" dirty="0"/>
          </a:p>
        </p:txBody>
      </p:sp>
      <p:sp>
        <p:nvSpPr>
          <p:cNvPr id="15" name="ap_5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6" name="ah_5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49" descr="/home/claude/lls-course/v2/cache/3a2_satnav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5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950" dirty="0"/>
          </a:p>
        </p:txBody>
      </p:sp>
      <p:sp>
        <p:nvSpPr>
          <p:cNvPr id="27" name="R1_chip55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8" name="gq_55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050" dirty="0"/>
          </a:p>
        </p:txBody>
      </p:sp>
      <p:sp>
        <p:nvSpPr>
          <p:cNvPr id="29" name="R2_chip55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30" name="gq_55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950" dirty="0"/>
          </a:p>
        </p:txBody>
      </p:sp>
      <p:sp>
        <p:nvSpPr>
          <p:cNvPr id="31" name="R3_chip55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32" name="gq_56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150" dirty="0"/>
          </a:p>
        </p:txBody>
      </p:sp>
      <p:sp>
        <p:nvSpPr>
          <p:cNvPr id="33" name="R4_chip56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4" name="gq_56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050" dirty="0"/>
          </a:p>
        </p:txBody>
      </p:sp>
      <p:sp>
        <p:nvSpPr>
          <p:cNvPr id="35" name="R5_chip56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6" name="gq_56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7" name="R6_chip56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8" name="gq_56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100" dirty="0"/>
          </a:p>
        </p:txBody>
      </p:sp>
      <p:sp>
        <p:nvSpPr>
          <p:cNvPr id="39" name="R7_chip56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40" name="gq_56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41" name="R8_chip56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7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perché.</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giving your opinion   ·   📖 SB p.29 · 5e, 6a, 6b</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3a2_cov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Personally, I (don't) think…</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 my opinion, … should…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(don't) agree, because…</a:t>
            </a:r>
            <a:endParaRPr lang="en-US" sz="105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thought eating was more dangerous.</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agree. Fast drivers are more dangerous.</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I disagree. People drive more slowly near a speed camera.</a:t>
            </a:r>
            <a:endParaRPr lang="en-US" sz="850" dirty="0"/>
          </a:p>
        </p:txBody>
      </p:sp>
      <p:sp>
        <p:nvSpPr>
          <p:cNvPr id="26" name="R4_qb59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9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don't think it should be illegal to drink water.</a:t>
            </a:r>
            <a:endParaRPr lang="en-US" sz="1250" dirty="0"/>
          </a:p>
        </p:txBody>
      </p:sp>
      <p:sp>
        <p:nvSpPr>
          <p:cNvPr id="28" name="R5_qb59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In my opinion, 18 is old enough.</a:t>
            </a:r>
            <a:endParaRPr lang="en-US" sz="1100" dirty="0"/>
          </a:p>
        </p:txBody>
      </p:sp>
      <p:pic>
        <p:nvPicPr>
          <p:cNvPr id="30" name="R5_th597"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 it's the most dangerous thing you can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0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0" name="tag_60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Exit · what can you remember?</a:t>
            </a:r>
            <a:endParaRPr lang="en-US" sz="800" dirty="0"/>
          </a:p>
        </p:txBody>
      </p:sp>
      <p:sp>
        <p:nvSpPr>
          <p:cNvPr id="13" name="bd_61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dangerous things to do when you're driving</a:t>
            </a:r>
            <a:endParaRPr lang="en-US" sz="1400" dirty="0"/>
          </a:p>
        </p:txBody>
      </p:sp>
      <p:sp>
        <p:nvSpPr>
          <p:cNvPr id="15" name="bd_61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one comparative + one superlative</a:t>
            </a:r>
            <a:endParaRPr lang="en-US" sz="1400" dirty="0"/>
          </a:p>
        </p:txBody>
      </p:sp>
      <p:sp>
        <p:nvSpPr>
          <p:cNvPr id="17" name="bd_61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with (not) as … as</a:t>
            </a:r>
            <a:endParaRPr lang="en-US" sz="1400" dirty="0"/>
          </a:p>
        </p:txBody>
      </p:sp>
      <p:sp>
        <p:nvSpPr>
          <p:cNvPr id="19" name="cd_61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1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3A: 3a, 3b, 3c, 4a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3A p.136: a 6–9,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p.117: an article about transport in your town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3A-2 in the LLS app</a:t>
            </a:r>
            <a:endParaRPr lang="en-US" sz="1150" dirty="0"/>
          </a:p>
        </p:txBody>
      </p:sp>
      <p:sp>
        <p:nvSpPr>
          <p:cNvPr id="23" name="st_62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2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Review · what did you do today?</a:t>
            </a:r>
            <a:endParaRPr lang="en-US" sz="800" dirty="0"/>
          </a:p>
        </p:txBody>
      </p:sp>
      <p:sp>
        <p:nvSpPr>
          <p:cNvPr id="14" name="cd_63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Compared ways to travel</a:t>
            </a:r>
            <a:endParaRPr lang="en-US" sz="1350" dirty="0"/>
          </a:p>
        </p:txBody>
      </p:sp>
      <p:sp>
        <p:nvSpPr>
          <p:cNvPr id="17" name="R1_tk63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the most…, more… than, as… as</a:t>
            </a:r>
            <a:endParaRPr lang="en-US" sz="1350" dirty="0"/>
          </a:p>
        </p:txBody>
      </p:sp>
      <p:sp>
        <p:nvSpPr>
          <p:cNvPr id="21" name="R2_tk63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5" name="R3_tk64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research on 3,500 drivers</a:t>
            </a:r>
            <a:endParaRPr lang="en-US" sz="1350" dirty="0"/>
          </a:p>
        </p:txBody>
      </p:sp>
      <p:sp>
        <p:nvSpPr>
          <p:cNvPr id="29" name="R4_tk64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4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an expert: the top 8 dangers</a:t>
            </a:r>
            <a:endParaRPr lang="en-US" sz="1350" dirty="0"/>
          </a:p>
        </p:txBody>
      </p:sp>
      <p:sp>
        <p:nvSpPr>
          <p:cNvPr id="33" name="R5_tk65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5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65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4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5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leggi p.117 e controlla.</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6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1" name="meta_6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6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3"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Writing · an article for a website   ·   📖 Writing p.117 · 7a, 7b, 7c, 7d</a:t>
            </a:r>
            <a:endParaRPr lang="en-US" sz="800" dirty="0"/>
          </a:p>
        </p:txBody>
      </p:sp>
      <p:sp>
        <p:nvSpPr>
          <p:cNvPr id="15" name="st_66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66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66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In London, the cheapest way to travel? → walking!</a:t>
            </a:r>
            <a:endParaRPr lang="en-US" sz="1050" dirty="0"/>
          </a:p>
        </p:txBody>
      </p:sp>
      <p:sp>
        <p:nvSpPr>
          <p:cNvPr id="20" name="pf_67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71" descr="/home/claude/lls-course/v2/cache/3a2_black_cab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2" name="bd_672"/>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73"/>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4" name="R1_chip674"/>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black cab / taxi</a:t>
            </a:r>
            <a:endParaRPr lang="en-US" sz="1000" dirty="0"/>
          </a:p>
        </p:txBody>
      </p:sp>
      <p:sp>
        <p:nvSpPr>
          <p:cNvPr id="25" name="bd_675"/>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76"/>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7" name="R2_chip677"/>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cycling</a:t>
            </a:r>
            <a:endParaRPr lang="en-US" sz="1000" dirty="0"/>
          </a:p>
        </p:txBody>
      </p:sp>
      <p:sp>
        <p:nvSpPr>
          <p:cNvPr id="28" name="bd_678"/>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679"/>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30" name="R3_chip680"/>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(double-decker) bus</a:t>
            </a:r>
            <a:endParaRPr lang="en-US" sz="1000" dirty="0"/>
          </a:p>
        </p:txBody>
      </p:sp>
      <p:sp>
        <p:nvSpPr>
          <p:cNvPr id="31" name="bd_681"/>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682"/>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3" name="R4_chip683"/>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taxi / minicab</a:t>
            </a:r>
            <a:endParaRPr lang="en-US" sz="1000" dirty="0"/>
          </a:p>
        </p:txBody>
      </p:sp>
      <p:sp>
        <p:nvSpPr>
          <p:cNvPr id="34" name="bd_684"/>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685"/>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6" name="R5_chip686"/>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00" dirty="0"/>
          </a:p>
        </p:txBody>
      </p:sp>
      <p:sp>
        <p:nvSpPr>
          <p:cNvPr id="37" name="bd_687"/>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688"/>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9" name="R6_chip689"/>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00" dirty="0"/>
          </a:p>
        </p:txBody>
      </p:sp>
      <p:sp>
        <p:nvSpPr>
          <p:cNvPr id="40" name="bd_690"/>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1" name="q_691"/>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42" name="R7_chip692"/>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9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piedi! Trova i record della classe.</a:t>
            </a:r>
            <a:endParaRPr lang="en-US" sz="950" dirty="0"/>
          </a:p>
        </p:txBody>
      </p:sp>
      <p:sp>
        <p:nvSpPr>
          <p:cNvPr id="9" name="cmd_69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0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70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7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Extra game · class records</a:t>
            </a:r>
            <a:endParaRPr lang="en-US" sz="800" dirty="0"/>
          </a:p>
        </p:txBody>
      </p:sp>
      <p:sp>
        <p:nvSpPr>
          <p:cNvPr id="14" name="st_70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0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0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0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Choose ONE record. Make the question.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Scegli UN record. Fai la domanda.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Stand up and ask EVERYONE.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Alzati e chiedi a TUTTI.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Report: "Marco has the longest journey!"</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Riferisci: "Marco ha il viaggio più lungo!"</a:t>
            </a:r>
            <a:endParaRPr lang="en-US" sz="950" dirty="0"/>
          </a:p>
        </p:txBody>
      </p:sp>
      <p:sp>
        <p:nvSpPr>
          <p:cNvPr id="19" name="pf_70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10" descr="/home/claude/lls-course/v2/cache/3a2_class_record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71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longest journey here</a:t>
            </a:r>
            <a:endParaRPr lang="en-US" sz="1100" dirty="0"/>
          </a:p>
        </p:txBody>
      </p:sp>
      <p:sp>
        <p:nvSpPr>
          <p:cNvPr id="23" name="R1_chip71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100" dirty="0"/>
          </a:p>
        </p:txBody>
      </p:sp>
      <p:sp>
        <p:nvSpPr>
          <p:cNvPr id="24" name="bd_71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oldest phone</a:t>
            </a:r>
            <a:endParaRPr lang="en-US" sz="1100" dirty="0"/>
          </a:p>
        </p:txBody>
      </p:sp>
      <p:sp>
        <p:nvSpPr>
          <p:cNvPr id="26" name="R2_chip71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old is your phone?</a:t>
            </a:r>
            <a:endParaRPr lang="en-US" sz="1100" dirty="0"/>
          </a:p>
        </p:txBody>
      </p:sp>
      <p:sp>
        <p:nvSpPr>
          <p:cNvPr id="27" name="bd_71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1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earliest alarm</a:t>
            </a:r>
            <a:endParaRPr lang="en-US" sz="1100" dirty="0"/>
          </a:p>
        </p:txBody>
      </p:sp>
      <p:sp>
        <p:nvSpPr>
          <p:cNvPr id="29" name="R3_chip71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100" dirty="0"/>
          </a:p>
        </p:txBody>
      </p:sp>
      <p:sp>
        <p:nvSpPr>
          <p:cNvPr id="30" name="bd_72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2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most cousins</a:t>
            </a:r>
            <a:endParaRPr lang="en-US" sz="1100" dirty="0"/>
          </a:p>
        </p:txBody>
      </p:sp>
      <p:sp>
        <p:nvSpPr>
          <p:cNvPr id="32" name="R4_chip72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100" dirty="0"/>
          </a:p>
        </p:txBody>
      </p:sp>
      <p:sp>
        <p:nvSpPr>
          <p:cNvPr id="33" name="bd_723"/>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24"/>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100" dirty="0"/>
          </a:p>
        </p:txBody>
      </p:sp>
      <p:sp>
        <p:nvSpPr>
          <p:cNvPr id="35" name="R5_chip725"/>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2026-10-15T08:38:53Z</dcterms:created>
  <dcterms:modified xsi:type="dcterms:W3CDTF">2026-10-15T08:38:53Z</dcterms:modified>
</cp:coreProperties>
</file>