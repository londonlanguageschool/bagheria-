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Show the photo (a motorway). Ask the THINK question; take 3–4 ideas and WRITE THEM ON THE BOARD (check them after audio 3.16). Click 1 = the example answer. Twist for later: the expert does NOT talk about alcohol, drugs or a phone in your hand – 'everyone knows you must never do that' – and his number 1 is a surprise. Read the 'Today you're going to…' list together. Don't teach the grammar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Language from 3A part 1 (Vocabulary Bank Transport p.155 and the Top Gear article). Read the examples with the class; elicit one more compound noun (traffic lights, taxi rank, parking fine) and the meaning of each phrasal verb: set off = start a journey · pick sb up = collect sb in a car · run out of = have no more · end up = arrive somewhere you didn't plan · look out = be careful. The photo: The Stig took the Underground. Then play 'Odd one out!' – it uses exactly these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(4 min)
RETRIEVAL WARMER (4 min). Two teams. 30 seconds per line, then click to show a possible answer. 1 point for the word, +1 for a correct reason in English. Accept any good, logical reason (e.g. 3 'scooter – it has two wheels'; 1 'tram – it runs on rails' = bonus point for creativity). Line 6 is from audio 3.11: 1 Richard (bike) · 2 Jeremy (boat) · 3 The Stig (public transport) · 4 James (car). ICQs: 'One word or two?' (one) · 'Do you need a reason?'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Grammar · test first (4 min)
TEST FIRST (4 min) – SB 4a as a betting game (TTT: they met this at A2; the game shows what they still get wrong). Books closed. Teams write their bet (1–3) and ✓/✗ for each sentence; if ✗ they must write the correction. Click once per sentence. Right + correct correction = win the bet; wrong = lose it. Answers (TG): 1 ✗ the quickest way · 2 ✓ · 3 ✗ as fast as · 4 ✓ · 5 ✗ as many trains as · 6 ✗ the most exciting journey · 7 ✓ · 8 ✗ more carefully than. Ask WHY for each wrong one: superlative needs 'the … -est'; as … AS (not than); many + countable nouns (trains); drive how? → adverb (carefully). In the book the key phrases are highlighted: the quicker way · more boring than · as fast than · the same distance … as · as much trains as · the more exciting journey · The worst time of day · more careful than. Note which items most teams got wrong: spend time on those on the next slide. ICQs: 'Can you lose points?' (yes) · 'What must you do if it's wrong?'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Grammar · the rule (5 min)
RULE (5 min). Play 3.12, 3.13 and 3.14 (Grammar Bank 3A p.136): students listen and repeat, copying the rhythm (than = weak /ðən/, as = weak /əz/). Click once per column: the examples appear (all from the audio). Form: one syllable + -er / the -est (older, the tallest); two or more syllables more / the most (more expensive, the most expensive); less / the least = the opposite of more / the most; adverbs work the same way (faster, more slowly). (not) as + adjective/adverb + as; as many / as much + noun. Superlative + in + place/group (in the team, NOT of) and often + present perfect + ever (the worst we've ever played). After than / as: object pronoun (than me) or subject + auxiliary (than I do). CCQs: 'Kevin is the tallest player in the team – is anyone taller?' (no) · 'The new sofa isn't as comfortable as the old one – which is more comfortable?' (the old one). The grey Italian line under each column shows the typical Italian-speaker trap (as … than; the best OF the class). Other typical mistakes to point out: ✗ He's best player → ✓ the best player · ✗ drive more careful → ✓ more carefully · ✗ more better → ✓ better. Go through the two information boxes in the Grammar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Grammar · practice (4 min)
CONTROLLED PRACTICE (4 min). Teams write the answers on paper (2 minutes), swap with another team and check as you click (one answer per click). Items 1–5 = Grammar Bank 3A a 1–5 (TG key: 1 I think skiing is easier than horse-riding · 2 This is the hottest train I've ever been on · 3 A motorbike is more powerful than a scooter · 4 I drive more slowly than my partner · 5 The worst time to travel is on holiday weekends). ⚠ The exact Grammar Bank prompts are in the book: the slide gives the word in brackets. Items 6–7 recycle the Top Gear race (Richard 1st, The Stig 3rd, James last). Students then read the full sentences aloud. Grammar Bank a 6–9 and b 6–10 are homework (b 1–5 in class if there's time: as · the · than · ever · him). ICQ: 'One word or more?' (sometimes more: 'more powerful than').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Speaking · superlative + comparative (4 min)
FREER PRACTICE (4 min). SB 4c: for each group, first say which is the MOST (superlative), then compare the other two (comparative or not as … as) and say why. Questions appear ONE PER CLICK; about 45 seconds each. Book example: 'I think cycling is the most dangerous because sometimes drivers don't see cyclists. Riding a motorbike is more dangerous than driving.' EXTRA CHALLENGE (TG): two pairs compare answers and defend their choices. Monitor: the most / the least, more … than, not as … as – note 3–4 errors for correction at the end of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prediction (2 min)
PREDICTION (2 min). Books closed. Read the introduction aloud (from the book text). Teach distracting = it takes your attention away from something (che distrae). Pairs look at the number bank (5 numbers + 2 extra ones) and guess where they go on the next slide: how many drivers? how old? how many years? how many accidents? Every pair must commit to a guess. ICQ: 'Are you checking or guessing?' (guessing) · 'Do you use all the numbers?' (no – 2 are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the research (3 min)
READ + CHECK (3 min). Pairs say their guesses for gaps 1–5; then books open at p.28 – they read the text (1 minute) to check. Click once per gap: the answer appears highlighted IN the text. Answers (SB text): 1 3,500 · 2 16 · 3 98 · 4 three · 5 900. (30 and 9,000 were extra.) Then SB 5a question 1 (whole class, 30 seconds): 'Do you think the research process was reliable? Why (not)?' – e.g. yes: lots of drivers, all ages, three years, real video. The two other 5a questions come on slide 12, after the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 in Italian (2 min)
ELICIT, THEN CONSOLIDATE (2 min). Books open at p.28: students point to the photo for each phrase as you say it (adjust, reach for = mime them). Then the class says the Italian aloud and, then click once per word to show its Italian (for slower students). Go through the 'likely' box (SB p.29): likely is an adjective = probable – 'you're more likely to have an accident'. CCQ: 'If you're nine times more likely to have an accident, is an accident more probable or less probable?'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Vocabulary game (3 min)
GAME (3 min) – a variation of 'Describe it!' (owner: it works very well). Demo first: sit like a driver, mime pressing buttons on a satnav → 'adjusting the satnav'. Click to show each phrase (round 1 = 4 for A; then B faces the screen for round 2). 20 seconds per phrase. B must say the WHOLE phrase (-ing form). ICQ: 'Can A speak?' (no) · 'Who guesses?'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Listening · prediction (2 min)
PREDICTION (2 min). SB 5a questions 2 and 3. Pairs agree on their top 3 (write 1, 2, 3 next to the photos in the book) and the least dangerous. Questions appear one per click. Take a quick vote: which one is number 1? Write the class top 3 on the board next to the cover ideas. DON'T confirm – the interview (3.16) gives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Pronunciation · linking (4 min)
LINKING (4 min). Go through the Linking box (SB p.29): we link words 1 consonant sound + vowel sound (the most_interesting) · 2 the same consonant sound (the worst_time) · 3 /t/ or /d/ + /t/ or /d/ (the biggest_danger). The aim is to UNDERSTAND fast speech (Italian is syllable-timed, so students expect to hear every word separately). Play 3.15, pausing after each extract; students write the missing words in the book. Click once per sentence. Answers (TG / audio script): 1 most dangerous · 2 bad decisions · 3 look at an accident · 4 cause of accidents on · 5 twice as, have an accident · 6 What did, most interesting · 7 keep your eyes on. Play again: students repeat, linking the words. Micro-challenge: who can say 3 fastest and still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Listening · gist (3 min)
GIST (3 min). Photos A–C (left to right): A looking at something by the road · B feeling emotional · C reaching for something. Play 3.16 ONCE: students number all 8 activities 1–8 in the book (p.28). Pairs compare, then click once per number. Answers (TG / audio script): 1 feeling emotional · 2 reaching for something in the car · 3 looking at something by the road · 4 adjusting the satnav. Show of hands: who had the right number 1? Check the class guesses on the board. Next slide = numbers 5–8 (same listening, no need to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Listening · gist (2 min)
CHECK (2 min). Photos (left to right): A feeling tired · B eating or drinking. Click once per number. Answers (TG / audio script): 5 feeling tired · 6 adjusting the radio or music system · 7 eating or drinking · 8 talking to a passenger. Quick reaction: 'Is anything surprising?' (most classes expect tiredness or eating higher and emotions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Listening · detail (5 min)
DETAIL (5 min). SB 5d: pairs guess first, then listen again and note a number or fact for each activity (book example: 1 feeling emotional – ten times more likely to have an accident). Click once per item. Answers (TG / audio script): 1 nearly ten times more likely (if you're very sad, angry or stressed) · 2 nine times · 3 over seven times · 4 nearly five times · 5 60% of drivers say they've driven when tired in the last year – you can lose control of the car · 6 twice as likely (distraction + only one hand on the wheel) · 7 you normally take one hand off the wheel · 8 the driver often turns to look at the passenger. Also in the script: at speed you can travel over 100 metres in less than three seconds. EXTRA SUPPORT: play again with the audio script (SB p.126).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 giving your opinion (5 min)
SPEAKING (5 min). Q1 = SB 5e (are you surprised by the research? which things do you or drivers you know do?). Q2–6 = statements from SB 6a (the book has 8; the other three: drivers over 70 are as dangerous as young drivers · cyclists in cities should only be allowed in cycle lanes · the speed limit on motorways should be lower). Go through the 'Giving your opinion' box: we often use should + verb to say what we think is the right thing to do. Groups of 3–4: one student reads the statement, gives an opinion and asks the others; the listener must ask one follow-up question ('Why?', 'What about older people?'). Statements appear ONE PER CLICK (about 50 seconds each). Feedback: a quick vote on 2–3 statements. Then delayed correction: 4–5 errors (comparatives, should)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Exit · what can you remember? (3 min)
RETRIEVAL EXIT (3 min). Books closed. Pairs: 3 dangers (in English, -ing form), 2 sentences (e.g. 'Feeling emotional is the most dangerous.' 'A train is more relaxing than a car.'), 1 sentence with (not) as … as. A few pairs share. Set homework (on the slide and in the app): Workbook 3A 3a–3c (grammar) and 4a (linking; 4b audio optional), Grammar Bank a 6–9, b 6–10, the article about transport in their town (Writing p.117, 120–150 words ⚠ suggested length – check the book) and the 3A-2 homework sheet (easier version available). If slide 19 was skipped, tell students to read the model article on p.117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Writing · an article for a website (5 min)
WRITING PREP (5 min, if there's time – otherwise it's homework). 7a: pairs guess the four answers about London. 7b: they read the article on p.117 to check (ignore the gaps) and answer 1–3. Click once per item. Answers (TG): most expensive – black cab / taxi · healthiest – cycling · best for sightseeing – (double-decker) bus · safest late at night – taxi / minicab. 1 An Oyster card is used to travel on the Underground and on buses · 2 bike hire: £2 a day for short journeys up to 30 minutes, £2 for each additional 30 minutes · 3 a black cab is more expensive, but the drivers know London very well; a minicab is a normal car which works for a company – you have to book it, but it's much cheaper. 7c: 2 on · 3 off · 4 on · 5 with · 6 in · 7 at. 7d: go through the 'Transport in your town' box; students plan their article about Bagheria / Palermo (headings as in the model). Example 0 is only a model for the guessing (not in the book). VARIATION: write it for a tourist who has never been to Sicily.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Extra game · class records (6 min)
EXTRA GAME (6 min). Mingle. Each student takes one record (or invents one). Click once per row to show the question to ask. Students ask everyone, note the answers, then report with a superlative + a comparative: 'Giulia gets up the earliest – at 6 a.m.! That's an hour earlier than me.' Keep it neutral: no records about weight, money or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audio" Target="../media/media-5-5.mp3"/><Relationship Id="rId6" Type="http://schemas.microsoft.com/office/2007/relationships/media" Target="../media/media-5-5.mp3"/><Relationship Id="rId7" Type="http://schemas.openxmlformats.org/officeDocument/2006/relationships/image" Target="../media/image-5-7.png"/><Relationship Id="rId8" Type="http://schemas.openxmlformats.org/officeDocument/2006/relationships/audio" Target="../media/media-5-8.mp3"/><Relationship Id="rId9" Type="http://schemas.microsoft.com/office/2007/relationships/media" Target="../media/media-5-8.mp3"/><Relationship Id="rId10" Type="http://schemas.openxmlformats.org/officeDocument/2006/relationships/image" Target="../media/image-5-10.png"/><Relationship Id="rId11" Type="http://schemas.openxmlformats.org/officeDocument/2006/relationships/audio" Target="../media/media-5-11.mp3"/><Relationship Id="rId12" Type="http://schemas.microsoft.com/office/2007/relationships/media" Target="../media/media-5-11.mp3"/><Relationship Id="rId13" Type="http://schemas.openxmlformats.org/officeDocument/2006/relationships/image" Target="../media/image-5-13.png"/><Relationship Id="rId14" Type="http://schemas.openxmlformats.org/officeDocument/2006/relationships/audio" Target="../media/media-5-14.mp3"/><Relationship Id="rId15" Type="http://schemas.microsoft.com/office/2007/relationships/media" Target="../media/media-5-14.mp3"/><Relationship Id="rId16" Type="http://schemas.openxmlformats.org/officeDocument/2006/relationships/image" Target="../media/image-5-16.png"/><Relationship Id="rId17" Type="http://schemas.openxmlformats.org/officeDocument/2006/relationships/audio" Target="../media/media-5-17.mp3"/><Relationship Id="rId18" Type="http://schemas.microsoft.com/office/2007/relationships/media" Target="../media/media-5-17.mp3"/><Relationship Id="rId19" Type="http://schemas.openxmlformats.org/officeDocument/2006/relationships/image" Target="../media/image-5-19.png"/><Relationship Id="rId20" Type="http://schemas.openxmlformats.org/officeDocument/2006/relationships/audio" Target="../media/media-5-20.mp3"/><Relationship Id="rId21" Type="http://schemas.microsoft.com/office/2007/relationships/media" Target="../media/media-5-20.mp3"/><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slideLayout" Target="../slideLayouts/slideLayout1.xml"/><Relationship Id="rId2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audio" Target="../media/media-14-5.mp3"/><Relationship Id="rId6" Type="http://schemas.microsoft.com/office/2007/relationships/media" Target="../media/media-14-5.mp3"/><Relationship Id="rId7" Type="http://schemas.openxmlformats.org/officeDocument/2006/relationships/image" Target="../media/image-14-7.png"/><Relationship Id="rId8" Type="http://schemas.openxmlformats.org/officeDocument/2006/relationships/audio" Target="../media/media-14-8.mp3"/><Relationship Id="rId9" Type="http://schemas.microsoft.com/office/2007/relationships/media" Target="../media/media-14-8.mp3"/><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slideLayout" Target="../slideLayouts/slideLayout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audio" Target="../media/media-15-5.mp3"/><Relationship Id="rId6" Type="http://schemas.microsoft.com/office/2007/relationships/media" Target="../media/media-15-5.mp3"/><Relationship Id="rId7" Type="http://schemas.openxmlformats.org/officeDocument/2006/relationships/image" Target="../media/image-15-7.png"/><Relationship Id="rId8" Type="http://schemas.openxmlformats.org/officeDocument/2006/relationships/audio" Target="../media/media-15-8.mp3"/><Relationship Id="rId9" Type="http://schemas.microsoft.com/office/2007/relationships/media" Target="../media/media-15-8.mp3"/><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audio" Target="../media/media-16-5.mp3"/><Relationship Id="rId6" Type="http://schemas.microsoft.com/office/2007/relationships/media" Target="../media/media-16-5.mp3"/><Relationship Id="rId7" Type="http://schemas.openxmlformats.org/officeDocument/2006/relationships/image" Target="../media/image-16-7.png"/><Relationship Id="rId8" Type="http://schemas.openxmlformats.org/officeDocument/2006/relationships/audio" Target="../media/media-16-8.mp3"/><Relationship Id="rId9" Type="http://schemas.microsoft.com/office/2007/relationships/media" Target="../media/media-16-8.mp3"/><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pp.28–29</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3A-2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Survive the drive</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is the most dangerous?</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compare ways to travel</a:t>
            </a:r>
            <a:endParaRPr lang="en-US" sz="1250" dirty="0"/>
          </a:p>
          <a:p>
            <a:pPr indent="0" marL="0">
              <a:spcBef>
                <a:spcPts val="500"/>
              </a:spcBef>
              <a:spcAft>
                <a:spcPts val="200"/>
              </a:spcAft>
              <a:buNone/>
            </a:pPr>
            <a:r>
              <a:rPr lang="en-US" sz="1250" dirty="0">
                <a:solidFill>
                  <a:srgbClr val="1B2559"/>
                </a:solidFill>
                <a:latin typeface="Segoe UI" pitchFamily="34" charset="0"/>
                <a:ea typeface="Segoe UI" pitchFamily="34" charset="-122"/>
                <a:cs typeface="Segoe UI" pitchFamily="34" charset="-120"/>
              </a:rPr>
              <a:t>✏️  use the most…, more… than, as… as</a:t>
            </a:r>
            <a:endParaRPr lang="en-US" sz="1250" dirty="0"/>
          </a:p>
          <a:p>
            <a:pPr indent="0" marL="0">
              <a:spcBef>
                <a:spcPts val="500"/>
              </a:spcBef>
              <a:spcAft>
                <a:spcPts val="200"/>
              </a:spcAft>
              <a:buNone/>
            </a:pPr>
            <a:r>
              <a:rPr lang="en-US" sz="1250" dirty="0">
                <a:solidFill>
                  <a:srgbClr val="1B2559"/>
                </a:solidFill>
                <a:latin typeface="Segoe UI" pitchFamily="34" charset="0"/>
                <a:ea typeface="Segoe UI" pitchFamily="34" charset="-122"/>
                <a:cs typeface="Segoe UI" pitchFamily="34" charset="-120"/>
              </a:rPr>
              <a:t>👀  read about research on 3,500 drivers</a:t>
            </a:r>
            <a:endParaRPr lang="en-US" sz="1250" dirty="0"/>
          </a:p>
          <a:p>
            <a:pPr indent="0" marL="0">
              <a:spcBef>
                <a:spcPts val="500"/>
              </a:spcBef>
              <a:spcAft>
                <a:spcPts val="200"/>
              </a:spcAft>
              <a:buNone/>
            </a:pPr>
            <a:r>
              <a:rPr lang="en-US" sz="1250" dirty="0">
                <a:solidFill>
                  <a:srgbClr val="1B2559"/>
                </a:solidFill>
                <a:latin typeface="Segoe UI" pitchFamily="34" charset="0"/>
                <a:ea typeface="Segoe UI" pitchFamily="34" charset="-122"/>
                <a:cs typeface="Segoe UI" pitchFamily="34" charset="-120"/>
              </a:rPr>
              <a:t>🎧  listen to an expert: the top 8 dangers</a:t>
            </a:r>
            <a:endParaRPr lang="en-US" sz="125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think using your phone is the most dangerous thing!</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3a2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What's the most dangerous thing you can do while you're driving?</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3a2_train_v_car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3A: transport and problems on the road</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the Top Gear race across London</a:t>
            </a:r>
            <a:endParaRPr lang="en-US" sz="10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On the road</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We got stuck in a traffic jam.</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Always wear your seat belt!</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Slow down! There's a speed camera.</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rush hour · cycle lane · zebra crossing · petrol station</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Phrasal verbs</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We set off at 7 a.m.</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Could you pick me up at the station?</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We're going to run out of petrol!</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end up · look out!</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553212"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van</a:t>
            </a:r>
            <a:endParaRPr lang="en-US" sz="1050" dirty="0"/>
          </a:p>
        </p:txBody>
      </p:sp>
      <p:sp>
        <p:nvSpPr>
          <p:cNvPr id="28" name="w_42"/>
          <p:cNvSpPr/>
          <p:nvPr/>
        </p:nvSpPr>
        <p:spPr>
          <a:xfrm>
            <a:off x="3872484" y="4178808"/>
            <a:ext cx="70866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coach</a:t>
            </a:r>
            <a:endParaRPr lang="en-US" sz="1050" dirty="0"/>
          </a:p>
        </p:txBody>
      </p:sp>
      <p:sp>
        <p:nvSpPr>
          <p:cNvPr id="29" name="w_43"/>
          <p:cNvSpPr/>
          <p:nvPr/>
        </p:nvSpPr>
        <p:spPr>
          <a:xfrm>
            <a:off x="4654296" y="4178808"/>
            <a:ext cx="708660"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lorry</a:t>
            </a:r>
            <a:endParaRPr lang="en-US" sz="1050" dirty="0"/>
          </a:p>
        </p:txBody>
      </p:sp>
      <p:sp>
        <p:nvSpPr>
          <p:cNvPr id="30" name="w_44"/>
          <p:cNvSpPr/>
          <p:nvPr/>
        </p:nvSpPr>
        <p:spPr>
          <a:xfrm>
            <a:off x="5436108" y="4178808"/>
            <a:ext cx="864108"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scooter</a:t>
            </a:r>
            <a:endParaRPr lang="en-US" sz="1050" dirty="0"/>
          </a:p>
        </p:txBody>
      </p:sp>
      <p:sp>
        <p:nvSpPr>
          <p:cNvPr id="31" name="w_45"/>
          <p:cNvSpPr/>
          <p:nvPr/>
        </p:nvSpPr>
        <p:spPr>
          <a:xfrm>
            <a:off x="6373368" y="4178808"/>
            <a:ext cx="63093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tram</a:t>
            </a:r>
            <a:endParaRPr lang="en-US" sz="1050" dirty="0"/>
          </a:p>
        </p:txBody>
      </p:sp>
      <p:sp>
        <p:nvSpPr>
          <p:cNvPr id="32" name="w_46"/>
          <p:cNvSpPr/>
          <p:nvPr/>
        </p:nvSpPr>
        <p:spPr>
          <a:xfrm>
            <a:off x="7077456" y="4178808"/>
            <a:ext cx="70866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ferry</a:t>
            </a:r>
            <a:endParaRPr lang="en-US" sz="1050" dirty="0"/>
          </a:p>
        </p:txBody>
      </p:sp>
      <p:sp>
        <p:nvSpPr>
          <p:cNvPr id="33" name="w_47"/>
          <p:cNvSpPr/>
          <p:nvPr/>
        </p:nvSpPr>
        <p:spPr>
          <a:xfrm>
            <a:off x="3246120" y="4544568"/>
            <a:ext cx="1485900"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 Underground</a:t>
            </a:r>
            <a:endParaRPr lang="en-US" sz="1050" dirty="0"/>
          </a:p>
        </p:txBody>
      </p:sp>
      <p:sp>
        <p:nvSpPr>
          <p:cNvPr id="34" name="w_48"/>
          <p:cNvSpPr/>
          <p:nvPr/>
        </p:nvSpPr>
        <p:spPr>
          <a:xfrm>
            <a:off x="4805172" y="4544568"/>
            <a:ext cx="101955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roadworks</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1"/>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Odd one out!</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53"/>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odd one out. Say WHY!</a:t>
            </a:r>
            <a:endParaRPr lang="en-US" sz="1250" dirty="0"/>
          </a:p>
        </p:txBody>
      </p:sp>
      <p:sp>
        <p:nvSpPr>
          <p:cNvPr id="8" name="insIT_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Trova l'intruso. Di' PERCHÉ!</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5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Warmer · last lesson   ·   📖 Recycles 3A part 1: Vocabulary Bank Transport p.155 · audio 3.11</a:t>
            </a:r>
            <a:endParaRPr lang="en-US" sz="800" dirty="0"/>
          </a:p>
        </p:txBody>
      </p:sp>
      <p:sp>
        <p:nvSpPr>
          <p:cNvPr id="14" name="cd_6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pitchFamily="34" charset="0"/>
                <a:ea typeface="Segoe UI" pitchFamily="34" charset="-122"/>
                <a:cs typeface="Segoe UI" pitchFamily="34" charset="-120"/>
              </a:rPr>
              <a:t>Read the 4 words.</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Leggi le 4 parole.</a:t>
            </a:r>
            <a:endParaRPr lang="en-US" sz="1150" dirty="0"/>
          </a:p>
          <a:p>
            <a:pPr marL="190500" indent="-190500">
              <a:spcBef>
                <a:spcPts val="500"/>
              </a:spcBef>
              <a:spcAft>
                <a:spcPts val="200"/>
              </a:spcAft>
              <a:buSzPct val="100000"/>
              <a:buChar char="2"/>
            </a:pPr>
            <a:r>
              <a:rPr lang="en-US" sz="1150" dirty="0">
                <a:solidFill>
                  <a:srgbClr val="1B2559"/>
                </a:solidFill>
                <a:latin typeface="Segoe UI" pitchFamily="34" charset="0"/>
                <a:ea typeface="Segoe UI" pitchFamily="34" charset="-122"/>
                <a:cs typeface="Segoe UI" pitchFamily="34" charset="-120"/>
              </a:rPr>
              <a:t>Find the odd one out.</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Trova l'intruso.</a:t>
            </a:r>
            <a:endParaRPr lang="en-US" sz="1150" dirty="0"/>
          </a:p>
          <a:p>
            <a:pPr marL="190500" indent="-190500">
              <a:spcBef>
                <a:spcPts val="500"/>
              </a:spcBef>
              <a:spcAft>
                <a:spcPts val="200"/>
              </a:spcAft>
              <a:buSzPct val="100000"/>
              <a:buChar char="3"/>
            </a:pPr>
            <a:r>
              <a:rPr lang="en-US" sz="1150" dirty="0">
                <a:solidFill>
                  <a:srgbClr val="1B2559"/>
                </a:solidFill>
                <a:latin typeface="Segoe UI" pitchFamily="34" charset="0"/>
                <a:ea typeface="Segoe UI" pitchFamily="34" charset="-122"/>
                <a:cs typeface="Segoe UI" pitchFamily="34" charset="-120"/>
              </a:rPr>
              <a:t>Right word = 1 point. Good reason = +1!</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Parola giusta = 1 punto. Buon motivo = +1!</a:t>
            </a:r>
            <a:endParaRPr lang="en-US" sz="1150" dirty="0"/>
          </a:p>
        </p:txBody>
      </p:sp>
      <p:sp>
        <p:nvSpPr>
          <p:cNvPr id="18" name="st_64"/>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65"/>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66"/>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bus · tram · van · the Underground</a:t>
            </a:r>
            <a:endParaRPr lang="en-US" sz="1100" dirty="0"/>
          </a:p>
        </p:txBody>
      </p:sp>
      <p:sp>
        <p:nvSpPr>
          <p:cNvPr id="21" name="R1_chip67"/>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van – it isn't public transport</a:t>
            </a:r>
            <a:endParaRPr lang="en-US" sz="1100" dirty="0"/>
          </a:p>
        </p:txBody>
      </p:sp>
      <p:sp>
        <p:nvSpPr>
          <p:cNvPr id="22" name="bd_68"/>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69"/>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traffic ___ : jam · lights · rank</a:t>
            </a:r>
            <a:endParaRPr lang="en-US" sz="1100" dirty="0"/>
          </a:p>
        </p:txBody>
      </p:sp>
      <p:sp>
        <p:nvSpPr>
          <p:cNvPr id="24" name="R2_chip70"/>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rank – it's a taxi rank</a:t>
            </a:r>
            <a:endParaRPr lang="en-US" sz="1100" dirty="0"/>
          </a:p>
        </p:txBody>
      </p:sp>
      <p:sp>
        <p:nvSpPr>
          <p:cNvPr id="25" name="bd_71"/>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72"/>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coach · lorry · scooter · ferry</a:t>
            </a:r>
            <a:endParaRPr lang="en-US" sz="1100" dirty="0"/>
          </a:p>
        </p:txBody>
      </p:sp>
      <p:sp>
        <p:nvSpPr>
          <p:cNvPr id="27" name="R3_chip73"/>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ferry – it goes on water</a:t>
            </a:r>
            <a:endParaRPr lang="en-US" sz="1100" dirty="0"/>
          </a:p>
        </p:txBody>
      </p:sp>
      <p:sp>
        <p:nvSpPr>
          <p:cNvPr id="28" name="bd_74"/>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75"/>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set off · pick up · run out of · speed limit</a:t>
            </a:r>
            <a:endParaRPr lang="en-US" sz="1100" dirty="0"/>
          </a:p>
        </p:txBody>
      </p:sp>
      <p:sp>
        <p:nvSpPr>
          <p:cNvPr id="30" name="R4_chip76"/>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speed limit – not a phrasal verb</a:t>
            </a:r>
            <a:endParaRPr lang="en-US" sz="1100" dirty="0"/>
          </a:p>
        </p:txBody>
      </p:sp>
      <p:sp>
        <p:nvSpPr>
          <p:cNvPr id="31" name="bd_77"/>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gq_78"/>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cycle lane · zebra crossing · pedestrian zone · petrol station</a:t>
            </a:r>
            <a:endParaRPr lang="en-US" sz="1050" dirty="0"/>
          </a:p>
        </p:txBody>
      </p:sp>
      <p:sp>
        <p:nvSpPr>
          <p:cNvPr id="33" name="R5_chip79"/>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petrol station – it's for cars</a:t>
            </a:r>
            <a:endParaRPr lang="en-US" sz="1100" dirty="0"/>
          </a:p>
        </p:txBody>
      </p:sp>
      <p:sp>
        <p:nvSpPr>
          <p:cNvPr id="34" name="bd_80"/>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5" name="gq_81"/>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BONUS Richard · Jeremy · The Stig · James: who came LAST?</a:t>
            </a:r>
            <a:endParaRPr lang="en-US" sz="1050" dirty="0"/>
          </a:p>
        </p:txBody>
      </p:sp>
      <p:sp>
        <p:nvSpPr>
          <p:cNvPr id="36" name="R6_chip82"/>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James – the car came last!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4"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85"/>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Right or wrong? Bet!</a:t>
            </a:r>
            <a:endParaRPr lang="en-US" sz="2500" dirty="0"/>
          </a:p>
        </p:txBody>
      </p:sp>
      <p:pic>
        <p:nvPicPr>
          <p:cNvPr id="6" name="brP_86"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87"/>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Right or wrong? Bet 1–3 points!</a:t>
            </a:r>
            <a:endParaRPr lang="en-US" sz="1250" dirty="0"/>
          </a:p>
        </p:txBody>
      </p:sp>
      <p:sp>
        <p:nvSpPr>
          <p:cNvPr id="8" name="insIT_8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Giusta o sbagliata? Scommetti 1–3 punti!</a:t>
            </a:r>
            <a:endParaRPr lang="en-US" sz="950" dirty="0"/>
          </a:p>
        </p:txBody>
      </p:sp>
      <p:sp>
        <p:nvSpPr>
          <p:cNvPr id="9" name="cmd_89"/>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9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9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9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9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Grammar · test first   ·   📖 SB p.28 · 4a</a:t>
            </a:r>
            <a:endParaRPr lang="en-US" sz="800" dirty="0"/>
          </a:p>
        </p:txBody>
      </p:sp>
      <p:sp>
        <p:nvSpPr>
          <p:cNvPr id="14" name="cd_94"/>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9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9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97"/>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Each team starts with 10 points.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Ogni squadra parte con 10 punti.</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Read: right ✓ or wrong ✗? Bet 1, 2 or 3.</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Leggi: giusta ✓ o sbagliata ✗? Scommetti 1, 2 o 3.</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Wrong? Correct it to win the bet!</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Sbagliata? Correggila per vincere!</a:t>
            </a:r>
            <a:endParaRPr lang="en-US" sz="1000" dirty="0"/>
          </a:p>
        </p:txBody>
      </p:sp>
      <p:sp>
        <p:nvSpPr>
          <p:cNvPr id="18" name="pf_98"/>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99" descr="/home/claude/lls-course/v2/cache/3a2_black_cab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100"/>
          <p:cNvSpPr/>
          <p:nvPr/>
        </p:nvSpPr>
        <p:spPr>
          <a:xfrm>
            <a:off x="3246120" y="142360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101"/>
          <p:cNvSpPr/>
          <p:nvPr/>
        </p:nvSpPr>
        <p:spPr>
          <a:xfrm>
            <a:off x="3657600" y="141732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What's the quicker way to get across London?</a:t>
            </a:r>
            <a:endParaRPr lang="en-US" sz="950" dirty="0"/>
          </a:p>
        </p:txBody>
      </p:sp>
      <p:sp>
        <p:nvSpPr>
          <p:cNvPr id="22" name="R1_chip102"/>
          <p:cNvSpPr/>
          <p:nvPr/>
        </p:nvSpPr>
        <p:spPr>
          <a:xfrm>
            <a:off x="6263640" y="141732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the quickest way</a:t>
            </a:r>
            <a:endParaRPr lang="en-US" sz="1100" dirty="0"/>
          </a:p>
        </p:txBody>
      </p:sp>
      <p:sp>
        <p:nvSpPr>
          <p:cNvPr id="23" name="bd_103"/>
          <p:cNvSpPr/>
          <p:nvPr/>
        </p:nvSpPr>
        <p:spPr>
          <a:xfrm>
            <a:off x="3246120" y="182937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104"/>
          <p:cNvSpPr/>
          <p:nvPr/>
        </p:nvSpPr>
        <p:spPr>
          <a:xfrm>
            <a:off x="3657600" y="182308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Driving is more boring than going by train.</a:t>
            </a:r>
            <a:endParaRPr lang="en-US" sz="950" dirty="0"/>
          </a:p>
        </p:txBody>
      </p:sp>
      <p:sp>
        <p:nvSpPr>
          <p:cNvPr id="25" name="R2_chip105"/>
          <p:cNvSpPr/>
          <p:nvPr/>
        </p:nvSpPr>
        <p:spPr>
          <a:xfrm>
            <a:off x="6263640" y="182308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right</a:t>
            </a:r>
            <a:endParaRPr lang="en-US" sz="1100" dirty="0"/>
          </a:p>
        </p:txBody>
      </p:sp>
      <p:sp>
        <p:nvSpPr>
          <p:cNvPr id="26" name="bd_106"/>
          <p:cNvSpPr/>
          <p:nvPr/>
        </p:nvSpPr>
        <p:spPr>
          <a:xfrm>
            <a:off x="3246120" y="2235137"/>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107"/>
          <p:cNvSpPr/>
          <p:nvPr/>
        </p:nvSpPr>
        <p:spPr>
          <a:xfrm>
            <a:off x="3657600" y="222885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 boat was nearly as fast than the bike.</a:t>
            </a:r>
            <a:endParaRPr lang="en-US" sz="950" dirty="0"/>
          </a:p>
        </p:txBody>
      </p:sp>
      <p:sp>
        <p:nvSpPr>
          <p:cNvPr id="28" name="R3_chip108"/>
          <p:cNvSpPr/>
          <p:nvPr/>
        </p:nvSpPr>
        <p:spPr>
          <a:xfrm>
            <a:off x="6263640" y="222885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as fast as</a:t>
            </a:r>
            <a:endParaRPr lang="en-US" sz="1100" dirty="0"/>
          </a:p>
        </p:txBody>
      </p:sp>
      <p:sp>
        <p:nvSpPr>
          <p:cNvPr id="29" name="bd_109"/>
          <p:cNvSpPr/>
          <p:nvPr/>
        </p:nvSpPr>
        <p:spPr>
          <a:xfrm>
            <a:off x="3246120" y="2640901"/>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110"/>
          <p:cNvSpPr/>
          <p:nvPr/>
        </p:nvSpPr>
        <p:spPr>
          <a:xfrm>
            <a:off x="3657600" y="263461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Oxford is about the same distance from London as Brighton.</a:t>
            </a:r>
            <a:endParaRPr lang="en-US" sz="950" dirty="0"/>
          </a:p>
        </p:txBody>
      </p:sp>
      <p:sp>
        <p:nvSpPr>
          <p:cNvPr id="31" name="R4_chip111"/>
          <p:cNvSpPr/>
          <p:nvPr/>
        </p:nvSpPr>
        <p:spPr>
          <a:xfrm>
            <a:off x="6263640" y="263461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right</a:t>
            </a:r>
            <a:endParaRPr lang="en-US" sz="1100" dirty="0"/>
          </a:p>
        </p:txBody>
      </p:sp>
      <p:sp>
        <p:nvSpPr>
          <p:cNvPr id="32" name="bd_112"/>
          <p:cNvSpPr/>
          <p:nvPr/>
        </p:nvSpPr>
        <p:spPr>
          <a:xfrm>
            <a:off x="3246120" y="304666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113"/>
          <p:cNvSpPr/>
          <p:nvPr/>
        </p:nvSpPr>
        <p:spPr>
          <a:xfrm>
            <a:off x="3657600" y="304038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There aren't as much trains as there were before.</a:t>
            </a:r>
            <a:endParaRPr lang="en-US" sz="950" dirty="0"/>
          </a:p>
        </p:txBody>
      </p:sp>
      <p:sp>
        <p:nvSpPr>
          <p:cNvPr id="34" name="R5_chip114"/>
          <p:cNvSpPr/>
          <p:nvPr/>
        </p:nvSpPr>
        <p:spPr>
          <a:xfrm>
            <a:off x="6263640" y="304038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as many trains as</a:t>
            </a:r>
            <a:endParaRPr lang="en-US" sz="1100" dirty="0"/>
          </a:p>
        </p:txBody>
      </p:sp>
      <p:sp>
        <p:nvSpPr>
          <p:cNvPr id="35" name="bd_115"/>
          <p:cNvSpPr/>
          <p:nvPr/>
        </p:nvSpPr>
        <p:spPr>
          <a:xfrm>
            <a:off x="3246120" y="34524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116"/>
          <p:cNvSpPr/>
          <p:nvPr/>
        </p:nvSpPr>
        <p:spPr>
          <a:xfrm>
            <a:off x="3657600" y="344614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It was the more exciting journey I've ever had.</a:t>
            </a:r>
            <a:endParaRPr lang="en-US" sz="950" dirty="0"/>
          </a:p>
        </p:txBody>
      </p:sp>
      <p:sp>
        <p:nvSpPr>
          <p:cNvPr id="37" name="R6_chip117"/>
          <p:cNvSpPr/>
          <p:nvPr/>
        </p:nvSpPr>
        <p:spPr>
          <a:xfrm>
            <a:off x="6263640" y="344614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 the most exciting journey</a:t>
            </a:r>
            <a:endParaRPr lang="en-US" sz="1050" dirty="0"/>
          </a:p>
        </p:txBody>
      </p:sp>
      <p:sp>
        <p:nvSpPr>
          <p:cNvPr id="38" name="bd_118"/>
          <p:cNvSpPr/>
          <p:nvPr/>
        </p:nvSpPr>
        <p:spPr>
          <a:xfrm>
            <a:off x="3246120" y="385819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119"/>
          <p:cNvSpPr/>
          <p:nvPr/>
        </p:nvSpPr>
        <p:spPr>
          <a:xfrm>
            <a:off x="3657600" y="385191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The worst time of day to travel in London is between 7.30 and 9.30 a.m.</a:t>
            </a:r>
            <a:endParaRPr lang="en-US" sz="900" dirty="0"/>
          </a:p>
        </p:txBody>
      </p:sp>
      <p:sp>
        <p:nvSpPr>
          <p:cNvPr id="40" name="R7_chip120"/>
          <p:cNvSpPr/>
          <p:nvPr/>
        </p:nvSpPr>
        <p:spPr>
          <a:xfrm>
            <a:off x="6263640" y="385191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right</a:t>
            </a:r>
            <a:endParaRPr lang="en-US" sz="1100" dirty="0"/>
          </a:p>
        </p:txBody>
      </p:sp>
      <p:sp>
        <p:nvSpPr>
          <p:cNvPr id="41" name="bd_121"/>
          <p:cNvSpPr/>
          <p:nvPr/>
        </p:nvSpPr>
        <p:spPr>
          <a:xfrm>
            <a:off x="3246120" y="4263962"/>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2" name="gq_122"/>
          <p:cNvSpPr/>
          <p:nvPr/>
        </p:nvSpPr>
        <p:spPr>
          <a:xfrm>
            <a:off x="3657600" y="425767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Women drive more careful than men.</a:t>
            </a:r>
            <a:endParaRPr lang="en-US" sz="950" dirty="0"/>
          </a:p>
        </p:txBody>
      </p:sp>
      <p:sp>
        <p:nvSpPr>
          <p:cNvPr id="43" name="R8_chip123"/>
          <p:cNvSpPr/>
          <p:nvPr/>
        </p:nvSpPr>
        <p:spPr>
          <a:xfrm>
            <a:off x="6263640" y="425767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more carefully than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5"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126"/>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Comparing things</a:t>
            </a:r>
            <a:endParaRPr lang="en-US" sz="2500" dirty="0"/>
          </a:p>
        </p:txBody>
      </p:sp>
      <p:pic>
        <p:nvPicPr>
          <p:cNvPr id="6" name="brP_127" descr="/home/claude/lls-course/v2/assets/brush-pink.png">    </p:cNvPr>
          <p:cNvPicPr>
            <a:picLocks noChangeAspect="1"/>
          </p:cNvPicPr>
          <p:nvPr/>
        </p:nvPicPr>
        <p:blipFill>
          <a:blip r:embed="rId3"/>
          <a:stretch>
            <a:fillRect/>
          </a:stretch>
        </p:blipFill>
        <p:spPr>
          <a:xfrm>
            <a:off x="1207008" y="731520"/>
            <a:ext cx="2295144" cy="402336"/>
          </a:xfrm>
          <a:prstGeom prst="rect">
            <a:avLst/>
          </a:prstGeom>
        </p:spPr>
      </p:pic>
      <p:sp>
        <p:nvSpPr>
          <p:cNvPr id="7" name="ins_128"/>
          <p:cNvSpPr/>
          <p:nvPr/>
        </p:nvSpPr>
        <p:spPr>
          <a:xfrm>
            <a:off x="1353312" y="731520"/>
            <a:ext cx="20391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and repeat!</a:t>
            </a:r>
            <a:endParaRPr lang="en-US" sz="1250" dirty="0"/>
          </a:p>
        </p:txBody>
      </p:sp>
      <p:sp>
        <p:nvSpPr>
          <p:cNvPr id="8" name="insIT_12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e ripeti!</a:t>
            </a:r>
            <a:endParaRPr lang="en-US" sz="950" dirty="0"/>
          </a:p>
        </p:txBody>
      </p:sp>
      <p:sp>
        <p:nvSpPr>
          <p:cNvPr id="9" name="cmd_130"/>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31"/>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1" name="meta_13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whole class</a:t>
            </a:r>
            <a:endParaRPr lang="en-US" sz="950" dirty="0"/>
          </a:p>
        </p:txBody>
      </p:sp>
      <p:sp>
        <p:nvSpPr>
          <p:cNvPr id="12" name="tag_13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3" name="logo_13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3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Grammar · the rule   ·   📖 Grammar Bank 3A p.136 · audio 3.12, 3.13, 3.14</a:t>
            </a:r>
            <a:endParaRPr lang="en-US" sz="800" dirty="0"/>
          </a:p>
        </p:txBody>
      </p:sp>
      <p:sp>
        <p:nvSpPr>
          <p:cNvPr id="15" name="ap_136"/>
          <p:cNvSpPr/>
          <p:nvPr/>
        </p:nvSpPr>
        <p:spPr>
          <a:xfrm>
            <a:off x="6583680" y="91440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3.12 + 3.13 + 3.14</a:t>
            </a:r>
            <a:endParaRPr lang="en-US" sz="1100" dirty="0"/>
          </a:p>
        </p:txBody>
      </p:sp>
      <p:sp>
        <p:nvSpPr>
          <p:cNvPr id="16" name="ah_137"/>
          <p:cNvSpPr/>
          <p:nvPr/>
        </p:nvSpPr>
        <p:spPr>
          <a:xfrm>
            <a:off x="4023360"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23560"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6099048" y="4553712"/>
            <a:ext cx="411480" cy="411480"/>
          </a:xfrm>
          <a:prstGeom prst="rect">
            <a:avLst/>
          </a:prstGeom>
        </p:spPr>
      </p:pic>
      <p:pic>
        <p:nvPicPr>
          <p:cNvPr id="19" name="Media 2">
            <a:hlinkClick r:id="" action="ppaction://media"/>
          </p:cNvPr>
          <p:cNvPicPr>
            <a:picLocks noChangeAspect="1"/>
          </p:cNvPicPr>
          <p:nvPr>
            <a:audioFile r:link="rId11"/>
            <p:extLst>
              <p:ext uri="{DAA4B4D4-6D71-4841-9C94-3DE7FCFB9230}">
                <p14:media xmlns:p14="http://schemas.microsoft.com/office/powerpoint/2010/main" r:embed="rId12"/>
              </p:ext>
            </p:extLst>
          </p:nvPr>
        </p:nvPicPr>
        <p:blipFill>
          <a:blip r:embed="rId13"/>
          <a:stretch>
            <a:fillRect/>
          </a:stretch>
        </p:blipFill>
        <p:spPr>
          <a:xfrm>
            <a:off x="6574536" y="4553712"/>
            <a:ext cx="411480" cy="411480"/>
          </a:xfrm>
          <a:prstGeom prst="rect">
            <a:avLst/>
          </a:prstGeom>
        </p:spPr>
      </p:pic>
      <p:pic>
        <p:nvPicPr>
          <p:cNvPr id="20" name="Media 3">
            <a:hlinkClick r:id="" action="ppaction://media"/>
          </p:cNvPr>
          <p:cNvPicPr>
            <a:picLocks noChangeAspect="1"/>
          </p:cNvPicPr>
          <p:nvPr>
            <a:audioFile r:link="rId14"/>
            <p:extLst>
              <p:ext uri="{DAA4B4D4-6D71-4841-9C94-3DE7FCFB9230}">
                <p14:media xmlns:p14="http://schemas.microsoft.com/office/powerpoint/2010/main" r:embed="rId15"/>
              </p:ext>
            </p:extLst>
          </p:nvPr>
        </p:nvPicPr>
        <p:blipFill>
          <a:blip r:embed="rId16"/>
          <a:stretch>
            <a:fillRect/>
          </a:stretch>
        </p:blipFill>
        <p:spPr>
          <a:xfrm>
            <a:off x="7050024" y="4553712"/>
            <a:ext cx="411480" cy="411480"/>
          </a:xfrm>
          <a:prstGeom prst="rect">
            <a:avLst/>
          </a:prstGeom>
        </p:spPr>
      </p:pic>
      <p:pic>
        <p:nvPicPr>
          <p:cNvPr id="21" name="Media 4">
            <a:hlinkClick r:id="" action="ppaction://media"/>
          </p:cNvPr>
          <p:cNvPicPr>
            <a:picLocks noChangeAspect="1"/>
          </p:cNvPicPr>
          <p:nvPr>
            <a:audioFile r:link="rId17"/>
            <p:extLst>
              <p:ext uri="{DAA4B4D4-6D71-4841-9C94-3DE7FCFB9230}">
                <p14:media xmlns:p14="http://schemas.microsoft.com/office/powerpoint/2010/main" r:embed="rId18"/>
              </p:ext>
            </p:extLst>
          </p:nvPr>
        </p:nvPicPr>
        <p:blipFill>
          <a:blip r:embed="rId19"/>
          <a:stretch>
            <a:fillRect/>
          </a:stretch>
        </p:blipFill>
        <p:spPr>
          <a:xfrm>
            <a:off x="7525512" y="4553712"/>
            <a:ext cx="411480" cy="411480"/>
          </a:xfrm>
          <a:prstGeom prst="rect">
            <a:avLst/>
          </a:prstGeom>
        </p:spPr>
      </p:pic>
      <p:pic>
        <p:nvPicPr>
          <p:cNvPr id="22" name="Media 5">
            <a:hlinkClick r:id="" action="ppaction://media"/>
          </p:cNvPr>
          <p:cNvPicPr>
            <a:picLocks noChangeAspect="1"/>
          </p:cNvPicPr>
          <p:nvPr>
            <a:audioFile r:link="rId20"/>
            <p:extLst>
              <p:ext uri="{DAA4B4D4-6D71-4841-9C94-3DE7FCFB9230}">
                <p14:media xmlns:p14="http://schemas.microsoft.com/office/powerpoint/2010/main" r:embed="rId21"/>
              </p:ext>
            </p:extLst>
          </p:nvPr>
        </p:nvPicPr>
        <p:blipFill>
          <a:blip r:embed="rId22"/>
          <a:stretch>
            <a:fillRect/>
          </a:stretch>
        </p:blipFill>
        <p:spPr>
          <a:xfrm>
            <a:off x="8001000" y="4553712"/>
            <a:ext cx="411480" cy="411480"/>
          </a:xfrm>
          <a:prstGeom prst="rect">
            <a:avLst/>
          </a:prstGeom>
        </p:spPr>
      </p:pic>
      <p:sp>
        <p:nvSpPr>
          <p:cNvPr id="23" name="cd_138"/>
          <p:cNvSpPr/>
          <p:nvPr/>
        </p:nvSpPr>
        <p:spPr>
          <a:xfrm>
            <a:off x="320040" y="1417320"/>
            <a:ext cx="2034540" cy="3017520"/>
          </a:xfrm>
          <a:prstGeom prst="roundRect">
            <a:avLst>
              <a:gd name="adj" fmla="val 6292"/>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4" name="rh_139"/>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comparatives</a:t>
            </a:r>
            <a:endParaRPr lang="en-US" sz="1250" dirty="0"/>
          </a:p>
        </p:txBody>
      </p:sp>
      <p:sp>
        <p:nvSpPr>
          <p:cNvPr id="25" name="pf_140"/>
          <p:cNvSpPr/>
          <p:nvPr/>
        </p:nvSpPr>
        <p:spPr>
          <a:xfrm>
            <a:off x="4297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141" descr="/home/claude/lls-course/v2/cache/3a2_black_cab_jpg_415x209_31.png">    </p:cNvPr>
          <p:cNvPicPr>
            <a:picLocks noChangeAspect="1"/>
          </p:cNvPicPr>
          <p:nvPr/>
        </p:nvPicPr>
        <p:blipFill>
          <a:blip r:embed="rId23"/>
          <a:stretch>
            <a:fillRect/>
          </a:stretch>
        </p:blipFill>
        <p:spPr>
          <a:xfrm>
            <a:off x="475488" y="1984248"/>
            <a:ext cx="1723644" cy="868680"/>
          </a:xfrm>
          <a:prstGeom prst="rect">
            <a:avLst/>
          </a:prstGeom>
        </p:spPr>
      </p:pic>
      <p:sp>
        <p:nvSpPr>
          <p:cNvPr id="27" name="ru_142"/>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-er / more / less + than</a:t>
            </a:r>
            <a:endParaRPr lang="en-US" sz="1050" dirty="0"/>
          </a:p>
        </p:txBody>
      </p:sp>
      <p:sp>
        <p:nvSpPr>
          <p:cNvPr id="28" name="R1_rx143"/>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850" dirty="0">
                <a:solidFill>
                  <a:srgbClr val="1B2559"/>
                </a:solidFill>
                <a:latin typeface="Segoe UI Semibold" pitchFamily="34" charset="0"/>
                <a:ea typeface="Segoe UI Semibold" pitchFamily="34" charset="-122"/>
                <a:cs typeface="Segoe UI Semibold" pitchFamily="34" charset="-120"/>
              </a:rPr>
              <a:t>My car is a bit older than yours.</a:t>
            </a:r>
            <a:endParaRPr lang="en-US" sz="850" dirty="0"/>
          </a:p>
          <a:p>
            <a:pPr algn="ctr" indent="0" marL="0">
              <a:buNone/>
            </a:pPr>
            <a:r>
              <a:rPr lang="en-US" sz="850" dirty="0">
                <a:solidFill>
                  <a:srgbClr val="1B2559"/>
                </a:solidFill>
                <a:latin typeface="Segoe UI Semibold" pitchFamily="34" charset="0"/>
                <a:ea typeface="Segoe UI Semibold" pitchFamily="34" charset="-122"/>
                <a:cs typeface="Segoe UI Semibold" pitchFamily="34" charset="-120"/>
              </a:rPr>
              <a:t>London is more expensive than Edinburgh.</a:t>
            </a:r>
            <a:endParaRPr lang="en-US" sz="850" dirty="0"/>
          </a:p>
          <a:p>
            <a:pPr algn="ctr" indent="0" marL="0">
              <a:buNone/>
            </a:pPr>
            <a:r>
              <a:rPr lang="en-US" sz="850" dirty="0">
                <a:solidFill>
                  <a:srgbClr val="1B2559"/>
                </a:solidFill>
                <a:latin typeface="Segoe UI Semibold" pitchFamily="34" charset="0"/>
                <a:ea typeface="Segoe UI Semibold" pitchFamily="34" charset="-122"/>
                <a:cs typeface="Segoe UI Semibold" pitchFamily="34" charset="-120"/>
              </a:rPr>
              <a:t>My father drives faster than me.</a:t>
            </a:r>
            <a:endParaRPr lang="en-US" sz="850" dirty="0"/>
          </a:p>
        </p:txBody>
      </p:sp>
      <p:sp>
        <p:nvSpPr>
          <p:cNvPr id="29" name="R1_ri144"/>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più / meno … di → than</a:t>
            </a:r>
            <a:endParaRPr lang="en-US" sz="900" dirty="0"/>
          </a:p>
        </p:txBody>
      </p:sp>
      <p:sp>
        <p:nvSpPr>
          <p:cNvPr id="30" name="cd_145"/>
          <p:cNvSpPr/>
          <p:nvPr/>
        </p:nvSpPr>
        <p:spPr>
          <a:xfrm>
            <a:off x="2491740" y="1417320"/>
            <a:ext cx="2034540" cy="3017520"/>
          </a:xfrm>
          <a:prstGeom prst="roundRect">
            <a:avLst>
              <a:gd name="adj" fmla="val 6292"/>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31" name="rh_146"/>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(not) as … as</a:t>
            </a:r>
            <a:endParaRPr lang="en-US" sz="1250" dirty="0"/>
          </a:p>
        </p:txBody>
      </p:sp>
      <p:sp>
        <p:nvSpPr>
          <p:cNvPr id="32" name="pf_147"/>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3" name="ph_148" descr="/home/claude/lls-course/v2/cache/3a2_train_v_car_jpg_415x209_31.png">    </p:cNvPr>
          <p:cNvPicPr>
            <a:picLocks noChangeAspect="1"/>
          </p:cNvPicPr>
          <p:nvPr/>
        </p:nvPicPr>
        <p:blipFill>
          <a:blip r:embed="rId24"/>
          <a:stretch>
            <a:fillRect/>
          </a:stretch>
        </p:blipFill>
        <p:spPr>
          <a:xfrm>
            <a:off x="2647188" y="1984248"/>
            <a:ext cx="1723644" cy="868680"/>
          </a:xfrm>
          <a:prstGeom prst="rect">
            <a:avLst/>
          </a:prstGeom>
        </p:spPr>
      </p:pic>
      <p:sp>
        <p:nvSpPr>
          <p:cNvPr id="34" name="ru_149"/>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the same / not the same</a:t>
            </a:r>
            <a:endParaRPr lang="en-US" sz="1050" dirty="0"/>
          </a:p>
        </p:txBody>
      </p:sp>
      <p:sp>
        <p:nvSpPr>
          <p:cNvPr id="35" name="R2_rx150"/>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The new sofa isn't as comfortable as the old one.</a:t>
            </a:r>
            <a:endParaRPr lang="en-US" sz="1000" dirty="0"/>
          </a:p>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Max doesn't speak English as well as his wife.</a:t>
            </a:r>
            <a:endParaRPr lang="en-US" sz="1000" dirty="0"/>
          </a:p>
        </p:txBody>
      </p:sp>
      <p:sp>
        <p:nvSpPr>
          <p:cNvPr id="36" name="R2_ri151"/>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750" i="1" dirty="0">
                <a:solidFill>
                  <a:srgbClr val="5B6785"/>
                </a:solidFill>
                <a:latin typeface="Segoe UI" pitchFamily="34" charset="0"/>
                <a:ea typeface="Segoe UI" pitchFamily="34" charset="-122"/>
                <a:cs typeface="Segoe UI" pitchFamily="34" charset="-120"/>
              </a:rPr>
              <a:t>(non) così … come → as … AS (not than!)</a:t>
            </a:r>
            <a:endParaRPr lang="en-US" sz="750" dirty="0"/>
          </a:p>
        </p:txBody>
      </p:sp>
      <p:sp>
        <p:nvSpPr>
          <p:cNvPr id="37" name="cd_152"/>
          <p:cNvSpPr/>
          <p:nvPr/>
        </p:nvSpPr>
        <p:spPr>
          <a:xfrm>
            <a:off x="4663440" y="1417320"/>
            <a:ext cx="2034540" cy="3017520"/>
          </a:xfrm>
          <a:prstGeom prst="roundRect">
            <a:avLst>
              <a:gd name="adj" fmla="val 6292"/>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38" name="rh_153"/>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superlatives</a:t>
            </a:r>
            <a:endParaRPr lang="en-US" sz="1250" dirty="0"/>
          </a:p>
        </p:txBody>
      </p:sp>
      <p:sp>
        <p:nvSpPr>
          <p:cNvPr id="39" name="pf_154"/>
          <p:cNvSpPr/>
          <p:nvPr/>
        </p:nvSpPr>
        <p:spPr>
          <a:xfrm>
            <a:off x="47731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0" name="ph_155" descr="/home/claude/lls-course/v2/cache/3a2_motorbike_jpg_415x209_31.png">    </p:cNvPr>
          <p:cNvPicPr>
            <a:picLocks noChangeAspect="1"/>
          </p:cNvPicPr>
          <p:nvPr/>
        </p:nvPicPr>
        <p:blipFill>
          <a:blip r:embed="rId25"/>
          <a:stretch>
            <a:fillRect/>
          </a:stretch>
        </p:blipFill>
        <p:spPr>
          <a:xfrm>
            <a:off x="4818888" y="1984248"/>
            <a:ext cx="1723644" cy="868680"/>
          </a:xfrm>
          <a:prstGeom prst="rect">
            <a:avLst/>
          </a:prstGeom>
        </p:spPr>
      </p:pic>
      <p:sp>
        <p:nvSpPr>
          <p:cNvPr id="41" name="ru_156"/>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the -est / the most / the least</a:t>
            </a:r>
            <a:endParaRPr lang="en-US" sz="1050" dirty="0"/>
          </a:p>
        </p:txBody>
      </p:sp>
      <p:sp>
        <p:nvSpPr>
          <p:cNvPr id="42" name="R3_rx157"/>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750" dirty="0">
                <a:solidFill>
                  <a:srgbClr val="1B2559"/>
                </a:solidFill>
                <a:latin typeface="Segoe UI Semibold" pitchFamily="34" charset="0"/>
                <a:ea typeface="Segoe UI Semibold" pitchFamily="34" charset="-122"/>
                <a:cs typeface="Segoe UI Semibold" pitchFamily="34" charset="-120"/>
              </a:rPr>
              <a:t>Kevin is the tallest player in the team.</a:t>
            </a:r>
            <a:endParaRPr lang="en-US" sz="750" dirty="0"/>
          </a:p>
          <a:p>
            <a:pPr algn="ctr" indent="0" marL="0">
              <a:buNone/>
            </a:pPr>
            <a:r>
              <a:rPr lang="en-US" sz="750" dirty="0">
                <a:solidFill>
                  <a:srgbClr val="1B2559"/>
                </a:solidFill>
                <a:latin typeface="Segoe UI Semibold" pitchFamily="34" charset="0"/>
                <a:ea typeface="Segoe UI Semibold" pitchFamily="34" charset="-122"/>
                <a:cs typeface="Segoe UI Semibold" pitchFamily="34" charset="-120"/>
              </a:rPr>
              <a:t>Oslo is the most expensive capital city in Europe.</a:t>
            </a:r>
            <a:endParaRPr lang="en-US" sz="750" dirty="0"/>
          </a:p>
          <a:p>
            <a:pPr algn="ctr" indent="0" marL="0">
              <a:buNone/>
            </a:pPr>
            <a:r>
              <a:rPr lang="en-US" sz="750" dirty="0">
                <a:solidFill>
                  <a:srgbClr val="1B2559"/>
                </a:solidFill>
                <a:latin typeface="Segoe UI Semibold" pitchFamily="34" charset="0"/>
                <a:ea typeface="Segoe UI Semibold" pitchFamily="34" charset="-122"/>
                <a:cs typeface="Segoe UI Semibold" pitchFamily="34" charset="-120"/>
              </a:rPr>
              <a:t>That's the worst we've ever played.</a:t>
            </a:r>
            <a:endParaRPr lang="en-US" sz="750" dirty="0"/>
          </a:p>
        </p:txBody>
      </p:sp>
      <p:sp>
        <p:nvSpPr>
          <p:cNvPr id="43" name="R3_ri158"/>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800" i="1" dirty="0">
                <a:solidFill>
                  <a:srgbClr val="5B6785"/>
                </a:solidFill>
                <a:latin typeface="Segoe UI" pitchFamily="34" charset="0"/>
                <a:ea typeface="Segoe UI" pitchFamily="34" charset="-122"/>
                <a:cs typeface="Segoe UI" pitchFamily="34" charset="-120"/>
              </a:rPr>
              <a:t>il più … di → the most … IN (not of!)</a:t>
            </a:r>
            <a:endParaRPr lang="en-US" sz="800" dirty="0"/>
          </a:p>
        </p:txBody>
      </p:sp>
      <p:sp>
        <p:nvSpPr>
          <p:cNvPr id="44" name="cd_159"/>
          <p:cNvSpPr/>
          <p:nvPr/>
        </p:nvSpPr>
        <p:spPr>
          <a:xfrm>
            <a:off x="6835140" y="1417320"/>
            <a:ext cx="2034540" cy="3017520"/>
          </a:xfrm>
          <a:prstGeom prst="roundRect">
            <a:avLst>
              <a:gd name="adj" fmla="val 6292"/>
            </a:avLst>
          </a:prstGeom>
          <a:solidFill>
            <a:srgbClr val="FFFFFF"/>
          </a:solidFill>
          <a:ln w="25400">
            <a:solidFill>
              <a:srgbClr val="FFE07A"/>
            </a:solidFill>
            <a:prstDash val="solid"/>
          </a:ln>
          <a:effectLst>
            <a:outerShdw sx="100000" sy="100000" kx="0" ky="0" algn="bl" rotWithShape="0" blurRad="88900" dist="31750" dir="5400000">
              <a:srgbClr val="1B2559">
                <a:alpha val="12000"/>
              </a:srgbClr>
            </a:outerShdw>
          </a:effectLst>
        </p:spPr>
      </p:sp>
      <p:sp>
        <p:nvSpPr>
          <p:cNvPr id="45" name="rh_160"/>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irregular</a:t>
            </a:r>
            <a:endParaRPr lang="en-US" sz="1250" dirty="0"/>
          </a:p>
        </p:txBody>
      </p:sp>
      <p:sp>
        <p:nvSpPr>
          <p:cNvPr id="46" name="pf_161"/>
          <p:cNvSpPr/>
          <p:nvPr/>
        </p:nvSpPr>
        <p:spPr>
          <a:xfrm>
            <a:off x="69448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7" name="ph_162" descr="/home/claude/lls-course/v2/cache/3a2_roadside_jpg_415x209_31.png">    </p:cNvPr>
          <p:cNvPicPr>
            <a:picLocks noChangeAspect="1"/>
          </p:cNvPicPr>
          <p:nvPr/>
        </p:nvPicPr>
        <p:blipFill>
          <a:blip r:embed="rId26"/>
          <a:stretch>
            <a:fillRect/>
          </a:stretch>
        </p:blipFill>
        <p:spPr>
          <a:xfrm>
            <a:off x="6990588" y="1984248"/>
            <a:ext cx="1723644" cy="868680"/>
          </a:xfrm>
          <a:prstGeom prst="rect">
            <a:avLst/>
          </a:prstGeom>
        </p:spPr>
      </p:pic>
      <p:sp>
        <p:nvSpPr>
          <p:cNvPr id="48" name="ru_163"/>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learn them by heart!</a:t>
            </a:r>
            <a:endParaRPr lang="en-US" sz="1050" dirty="0"/>
          </a:p>
        </p:txBody>
      </p:sp>
      <p:sp>
        <p:nvSpPr>
          <p:cNvPr id="49" name="R4_rx164"/>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good → better → the best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bad → worse → the worst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far → further → the furthest</a:t>
            </a:r>
            <a:endParaRPr lang="en-US" sz="1050" dirty="0"/>
          </a:p>
        </p:txBody>
      </p:sp>
      <p:sp>
        <p:nvSpPr>
          <p:cNvPr id="50" name="R4_ri165"/>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buono, migliore, il migliore…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4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par>
                                <p:cTn id="16" presetID="10" presetClass="entr" presetSubtype="0" fill="hold"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4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400"/>
                                        <p:tgtEl>
                                          <p:spTgt spid="42"/>
                                        </p:tgtEl>
                                      </p:cBhvr>
                                    </p:animEffect>
                                  </p:childTnLst>
                                </p:cTn>
                              </p:par>
                              <p:par>
                                <p:cTn id="24" presetID="10" presetClass="entr" presetSubtype="0" fill="hold"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4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fade">
                                      <p:cBhvr>
                                        <p:cTn id="34"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restart="whenNotActive" fill="hold" evtFilter="cancelBubble" nodeType="interactiveSeq">
                <p:stCondLst>
                  <p:cond evt="onClick" delay="0">
                    <p:tgtEl>
                      <p:spTgt spid="17"/>
                    </p:tgtEl>
                  </p:cond>
                </p:stCondLst>
                <p:endSync evt="end" delay="0">
                  <p:rtn val="all"/>
                </p:endSync>
                <p:childTnLst>
                  <p:par>
                    <p:cTn id="36" fill="hold">
                      <p:stCondLst>
                        <p:cond delay="0"/>
                      </p:stCondLst>
                      <p:childTnLst>
                        <p:par>
                          <p:cTn id="37" fill="hold">
                            <p:stCondLst>
                              <p:cond delay="0"/>
                            </p:stCondLst>
                            <p:childTnLst>
                              <p:par>
                                <p:cTn id="38" presetID="2" presetClass="mediacall" presetSubtype="0" fill="hold" nodeType="clickEffect">
                                  <p:stCondLst>
                                    <p:cond delay="0"/>
                                  </p:stCondLst>
                                  <p:childTnLst>
                                    <p:cmd type="call" cmd="togglePause">
                                      <p:cBhvr>
                                        <p:cTn id="39" dur="1" fill="hold"/>
                                        <p:tgtEl>
                                          <p:spTgt spid="17"/>
                                        </p:tgtEl>
                                      </p:cBhvr>
                                    </p:cmd>
                                  </p:childTnLst>
                                </p:cTn>
                              </p:par>
                            </p:childTnLst>
                          </p:cTn>
                        </p:par>
                      </p:childTnLst>
                    </p:cTn>
                  </p:par>
                </p:childTnLst>
              </p:cTn>
              <p:nextCondLst>
                <p:cond evt="onClick" delay="0">
                  <p:tgtEl>
                    <p:spTgt spid="17"/>
                  </p:tgtEl>
                </p:cond>
              </p:nextCondLst>
            </p:seq>
            <p:seq concurrent="1" nextAc="seek">
              <p:cTn id="40" restart="whenNotActive" fill="hold" evtFilter="cancelBubble" nodeType="interactiveSeq">
                <p:stCondLst>
                  <p:cond evt="onClick" delay="0">
                    <p:tgtEl>
                      <p:spTgt spid="18"/>
                    </p:tgtEl>
                  </p:cond>
                </p:stCondLst>
                <p:endSync evt="end" delay="0">
                  <p:rtn val="all"/>
                </p:endSync>
                <p:childTnLst>
                  <p:par>
                    <p:cTn id="41" fill="hold">
                      <p:stCondLst>
                        <p:cond delay="0"/>
                      </p:stCondLst>
                      <p:childTnLst>
                        <p:par>
                          <p:cTn id="42" fill="hold">
                            <p:stCondLst>
                              <p:cond delay="0"/>
                            </p:stCondLst>
                            <p:childTnLst>
                              <p:par>
                                <p:cTn id="43" presetID="2" presetClass="mediacall" presetSubtype="0" fill="hold" nodeType="clickEffect">
                                  <p:stCondLst>
                                    <p:cond delay="0"/>
                                  </p:stCondLst>
                                  <p:childTnLst>
                                    <p:cmd type="call" cmd="togglePause">
                                      <p:cBhvr>
                                        <p:cTn id="44" dur="1" fill="hold"/>
                                        <p:tgtEl>
                                          <p:spTgt spid="18"/>
                                        </p:tgtEl>
                                      </p:cBhvr>
                                    </p:cmd>
                                  </p:childTnLst>
                                </p:cTn>
                              </p:par>
                            </p:childTnLst>
                          </p:cTn>
                        </p:par>
                      </p:childTnLst>
                    </p:cTn>
                  </p:par>
                </p:childTnLst>
              </p:cTn>
              <p:nextCondLst>
                <p:cond evt="onClick" delay="0">
                  <p:tgtEl>
                    <p:spTgt spid="18"/>
                  </p:tgtEl>
                </p:cond>
              </p:nextCondLst>
            </p:seq>
            <p:seq concurrent="1" nextAc="seek">
              <p:cTn id="45" restart="whenNotActive" fill="hold" evtFilter="cancelBubble" nodeType="interactiveSeq">
                <p:stCondLst>
                  <p:cond evt="onClick" delay="0">
                    <p:tgtEl>
                      <p:spTgt spid="19"/>
                    </p:tgtEl>
                  </p:cond>
                </p:stCondLst>
                <p:endSync evt="end" delay="0">
                  <p:rtn val="all"/>
                </p:endSync>
                <p:childTnLst>
                  <p:par>
                    <p:cTn id="46" fill="hold">
                      <p:stCondLst>
                        <p:cond delay="0"/>
                      </p:stCondLst>
                      <p:childTnLst>
                        <p:par>
                          <p:cTn id="47" fill="hold">
                            <p:stCondLst>
                              <p:cond delay="0"/>
                            </p:stCondLst>
                            <p:childTnLst>
                              <p:par>
                                <p:cTn id="48" presetID="2" presetClass="mediacall" presetSubtype="0" fill="hold" nodeType="clickEffect">
                                  <p:stCondLst>
                                    <p:cond delay="0"/>
                                  </p:stCondLst>
                                  <p:childTnLst>
                                    <p:cmd type="call" cmd="togglePause">
                                      <p:cBhvr>
                                        <p:cTn id="49" dur="1" fill="hold"/>
                                        <p:tgtEl>
                                          <p:spTgt spid="19"/>
                                        </p:tgtEl>
                                      </p:cBhvr>
                                    </p:cmd>
                                  </p:childTnLst>
                                </p:cTn>
                              </p:par>
                            </p:childTnLst>
                          </p:cTn>
                        </p:par>
                      </p:childTnLst>
                    </p:cTn>
                  </p:par>
                </p:childTnLst>
              </p:cTn>
              <p:nextCondLst>
                <p:cond evt="onClick" delay="0">
                  <p:tgtEl>
                    <p:spTgt spid="19"/>
                  </p:tgtEl>
                </p:cond>
              </p:nextCondLst>
            </p:seq>
            <p:seq concurrent="1" nextAc="seek">
              <p:cTn id="50" restart="whenNotActive" fill="hold" evtFilter="cancelBubble" nodeType="interactiveSeq">
                <p:stCondLst>
                  <p:cond evt="onClick" delay="0">
                    <p:tgtEl>
                      <p:spTgt spid="20"/>
                    </p:tgtEl>
                  </p:cond>
                </p:stCondLst>
                <p:endSync evt="end" delay="0">
                  <p:rtn val="all"/>
                </p:endSync>
                <p:childTnLst>
                  <p:par>
                    <p:cTn id="51" fill="hold">
                      <p:stCondLst>
                        <p:cond delay="0"/>
                      </p:stCondLst>
                      <p:childTnLst>
                        <p:par>
                          <p:cTn id="52" fill="hold">
                            <p:stCondLst>
                              <p:cond delay="0"/>
                            </p:stCondLst>
                            <p:childTnLst>
                              <p:par>
                                <p:cTn id="53" presetID="2" presetClass="mediacall" presetSubtype="0" fill="hold" nodeType="clickEffect">
                                  <p:stCondLst>
                                    <p:cond delay="0"/>
                                  </p:stCondLst>
                                  <p:childTnLst>
                                    <p:cmd type="call" cmd="togglePause">
                                      <p:cBhvr>
                                        <p:cTn id="54" dur="1" fill="hold"/>
                                        <p:tgtEl>
                                          <p:spTgt spid="20"/>
                                        </p:tgtEl>
                                      </p:cBhvr>
                                    </p:cmd>
                                  </p:childTnLst>
                                </p:cTn>
                              </p:par>
                            </p:childTnLst>
                          </p:cTn>
                        </p:par>
                      </p:childTnLst>
                    </p:cTn>
                  </p:par>
                </p:childTnLst>
              </p:cTn>
              <p:nextCondLst>
                <p:cond evt="onClick" delay="0">
                  <p:tgtEl>
                    <p:spTgt spid="20"/>
                  </p:tgtEl>
                </p:cond>
              </p:nextCondLst>
            </p:seq>
            <p:seq concurrent="1" nextAc="seek">
              <p:cTn id="55" restart="whenNotActive" fill="hold" evtFilter="cancelBubble" nodeType="interactiveSeq">
                <p:stCondLst>
                  <p:cond evt="onClick" delay="0">
                    <p:tgtEl>
                      <p:spTgt spid="21"/>
                    </p:tgtEl>
                  </p:cond>
                </p:stCondLst>
                <p:endSync evt="end" delay="0">
                  <p:rtn val="all"/>
                </p:endSync>
                <p:childTnLst>
                  <p:par>
                    <p:cTn id="56" fill="hold">
                      <p:stCondLst>
                        <p:cond delay="0"/>
                      </p:stCondLst>
                      <p:childTnLst>
                        <p:par>
                          <p:cTn id="57" fill="hold">
                            <p:stCondLst>
                              <p:cond delay="0"/>
                            </p:stCondLst>
                            <p:childTnLst>
                              <p:par>
                                <p:cTn id="58" presetID="2" presetClass="mediacall" presetSubtype="0" fill="hold" nodeType="clickEffect">
                                  <p:stCondLst>
                                    <p:cond delay="0"/>
                                  </p:stCondLst>
                                  <p:childTnLst>
                                    <p:cmd type="call" cmd="togglePause">
                                      <p:cBhvr>
                                        <p:cTn id="59" dur="1" fill="hold"/>
                                        <p:tgtEl>
                                          <p:spTgt spid="21"/>
                                        </p:tgtEl>
                                      </p:cBhvr>
                                    </p:cmd>
                                  </p:childTnLst>
                                </p:cTn>
                              </p:par>
                            </p:childTnLst>
                          </p:cTn>
                        </p:par>
                      </p:childTnLst>
                    </p:cTn>
                  </p:par>
                </p:childTnLst>
              </p:cTn>
              <p:nextCondLst>
                <p:cond evt="onClick" delay="0">
                  <p:tgtEl>
                    <p:spTgt spid="21"/>
                  </p:tgtEl>
                </p:cond>
              </p:nextCondLst>
            </p:seq>
            <p:seq concurrent="1" nextAc="seek">
              <p:cTn id="60" restart="whenNotActive" fill="hold" evtFilter="cancelBubble" nodeType="interactiveSeq">
                <p:stCondLst>
                  <p:cond evt="onClick" delay="0">
                    <p:tgtEl>
                      <p:spTgt spid="22"/>
                    </p:tgtEl>
                  </p:cond>
                </p:stCondLst>
                <p:endSync evt="end" delay="0">
                  <p:rtn val="all"/>
                </p:endSync>
                <p:childTnLst>
                  <p:par>
                    <p:cTn id="61" fill="hold">
                      <p:stCondLst>
                        <p:cond delay="0"/>
                      </p:stCondLst>
                      <p:childTnLst>
                        <p:par>
                          <p:cTn id="62" fill="hold">
                            <p:stCondLst>
                              <p:cond delay="0"/>
                            </p:stCondLst>
                            <p:childTnLst>
                              <p:par>
                                <p:cTn id="63" presetID="2" presetClass="mediacall" presetSubtype="0" fill="hold" nodeType="clickEffect">
                                  <p:stCondLst>
                                    <p:cond delay="0"/>
                                  </p:stCondLst>
                                  <p:childTnLst>
                                    <p:cmd type="call" cmd="togglePause">
                                      <p:cBhvr>
                                        <p:cTn id="64" dur="1" fill="hold"/>
                                        <p:tgtEl>
                                          <p:spTgt spid="22"/>
                                        </p:tgtEl>
                                      </p:cBhvr>
                                    </p:cmd>
                                  </p:childTnLst>
                                </p:cTn>
                              </p:par>
                            </p:childTnLst>
                          </p:cTn>
                        </p:par>
                      </p:childTnLst>
                    </p:cTn>
                  </p:par>
                </p:childTnLst>
              </p:cTn>
              <p:nextCondLst>
                <p:cond evt="onClick" delay="0">
                  <p:tgtEl>
                    <p:spTgt spid="22"/>
                  </p:tgtEl>
                </p:cond>
              </p:nextCondLst>
            </p:seq>
            <p:audio>
              <p:cMediaNode vol="80000">
                <p:cTn id="65" fill="hold" display="0">
                  <p:stCondLst>
                    <p:cond delay="indefinite"/>
                  </p:stCondLst>
                  <p:endCondLst>
                    <p:cond evt="onStopAudio" delay="0">
                      <p:tgtEl>
                        <p:sldTgt/>
                      </p:tgtEl>
                    </p:cond>
                  </p:endCondLst>
                </p:cTn>
                <p:tgtEl>
                  <p:spTgt spid="17"/>
                </p:tgtEl>
              </p:cMediaNode>
            </p:audio>
            <p:audio>
              <p:cMediaNode vol="80000">
                <p:cTn id="66" fill="hold" display="0">
                  <p:stCondLst>
                    <p:cond delay="indefinite"/>
                  </p:stCondLst>
                  <p:endCondLst>
                    <p:cond evt="onStopAudio" delay="0">
                      <p:tgtEl>
                        <p:sldTgt/>
                      </p:tgtEl>
                    </p:cond>
                  </p:endCondLst>
                </p:cTn>
                <p:tgtEl>
                  <p:spTgt spid="18"/>
                </p:tgtEl>
              </p:cMediaNode>
            </p:audio>
            <p:audio>
              <p:cMediaNode vol="80000">
                <p:cTn id="67" fill="hold" display="0">
                  <p:stCondLst>
                    <p:cond delay="indefinite"/>
                  </p:stCondLst>
                  <p:endCondLst>
                    <p:cond evt="onStopAudio" delay="0">
                      <p:tgtEl>
                        <p:sldTgt/>
                      </p:tgtEl>
                    </p:cond>
                  </p:endCondLst>
                </p:cTn>
                <p:tgtEl>
                  <p:spTgt spid="19"/>
                </p:tgtEl>
              </p:cMediaNode>
            </p:audio>
            <p:audio>
              <p:cMediaNode vol="80000">
                <p:cTn id="68" fill="hold" display="0">
                  <p:stCondLst>
                    <p:cond delay="indefinite"/>
                  </p:stCondLst>
                  <p:endCondLst>
                    <p:cond evt="onStopAudio" delay="0">
                      <p:tgtEl>
                        <p:sldTgt/>
                      </p:tgtEl>
                    </p:cond>
                  </p:endCondLst>
                </p:cTn>
                <p:tgtEl>
                  <p:spTgt spid="20"/>
                </p:tgtEl>
              </p:cMediaNode>
            </p:audio>
            <p:audio>
              <p:cMediaNode vol="80000">
                <p:cTn id="69" fill="hold" display="0">
                  <p:stCondLst>
                    <p:cond delay="indefinite"/>
                  </p:stCondLst>
                  <p:endCondLst>
                    <p:cond evt="onStopAudio" delay="0">
                      <p:tgtEl>
                        <p:sldTgt/>
                      </p:tgtEl>
                    </p:cond>
                  </p:endCondLst>
                </p:cTn>
                <p:tgtEl>
                  <p:spTgt spid="21"/>
                </p:tgtEl>
              </p:cMediaNode>
            </p:audio>
            <p:audio>
              <p:cMediaNode vol="80000">
                <p:cTn id="70" fill="hold" display="0">
                  <p:stCondLst>
                    <p:cond delay="indefinite"/>
                  </p:stCondLst>
                  <p:endCondLst>
                    <p:cond evt="onStopAudio" delay="0">
                      <p:tgtEl>
                        <p:sldTgt/>
                      </p:tgtEl>
                    </p:cond>
                  </p:endCondLst>
                </p:cTn>
                <p:tgtEl>
                  <p:spTgt spid="2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67"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168"/>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Beat the clock!</a:t>
            </a:r>
            <a:endParaRPr lang="en-US" sz="2500" dirty="0"/>
          </a:p>
        </p:txBody>
      </p:sp>
      <p:pic>
        <p:nvPicPr>
          <p:cNvPr id="6" name="brP_169"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170"/>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the missing words. 2 minutes!</a:t>
            </a:r>
            <a:endParaRPr lang="en-US" sz="1250" dirty="0"/>
          </a:p>
        </p:txBody>
      </p:sp>
      <p:sp>
        <p:nvSpPr>
          <p:cNvPr id="8" name="insIT_17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Scrivi le parole mancanti. 2 minuti!</a:t>
            </a:r>
            <a:endParaRPr lang="en-US" sz="950" dirty="0"/>
          </a:p>
        </p:txBody>
      </p:sp>
      <p:sp>
        <p:nvSpPr>
          <p:cNvPr id="9" name="cmd_172"/>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173"/>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17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2" name="tag_175"/>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17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7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Grammar · practice   ·   📖 Grammar Bank 3A p.136 · a 1–5 (+ 2 from last lesson's race)</a:t>
            </a:r>
            <a:endParaRPr lang="en-US" sz="800" dirty="0"/>
          </a:p>
        </p:txBody>
      </p:sp>
      <p:sp>
        <p:nvSpPr>
          <p:cNvPr id="15" name="cd_178"/>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17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180"/>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181"/>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50" dirty="0">
                <a:solidFill>
                  <a:srgbClr val="1B2559"/>
                </a:solidFill>
                <a:latin typeface="Segoe UI" pitchFamily="34" charset="0"/>
                <a:ea typeface="Segoe UI" pitchFamily="34" charset="-122"/>
                <a:cs typeface="Segoe UI" pitchFamily="34" charset="-120"/>
              </a:rPr>
              <a:t>Teams: 2 minutes. Complete 1–7.</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Squadre: 2 minuti. Completate 1–7.</a:t>
            </a:r>
            <a:endParaRPr lang="en-US" sz="950" dirty="0"/>
          </a:p>
          <a:p>
            <a:pPr marL="190500" indent="-190500">
              <a:spcBef>
                <a:spcPts val="500"/>
              </a:spcBef>
              <a:spcAft>
                <a:spcPts val="200"/>
              </a:spcAft>
              <a:buSzPct val="100000"/>
              <a:buChar char="2"/>
            </a:pPr>
            <a:r>
              <a:rPr lang="en-US" sz="950" dirty="0">
                <a:solidFill>
                  <a:srgbClr val="1B2559"/>
                </a:solidFill>
                <a:latin typeface="Segoe UI" pitchFamily="34" charset="0"/>
                <a:ea typeface="Segoe UI" pitchFamily="34" charset="-122"/>
                <a:cs typeface="Segoe UI" pitchFamily="34" charset="-120"/>
              </a:rPr>
              <a:t>Swap papers with another team.</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Scambiate i fogli con un'altra squadra.</a:t>
            </a:r>
            <a:endParaRPr lang="en-US" sz="950" dirty="0"/>
          </a:p>
          <a:p>
            <a:pPr marL="190500" indent="-190500">
              <a:spcBef>
                <a:spcPts val="500"/>
              </a:spcBef>
              <a:spcAft>
                <a:spcPts val="200"/>
              </a:spcAft>
              <a:buSzPct val="100000"/>
              <a:buChar char="3"/>
            </a:pPr>
            <a:r>
              <a:rPr lang="en-US" sz="950" dirty="0">
                <a:solidFill>
                  <a:srgbClr val="1B2559"/>
                </a:solidFill>
                <a:latin typeface="Segoe UI" pitchFamily="34" charset="0"/>
                <a:ea typeface="Segoe UI" pitchFamily="34" charset="-122"/>
                <a:cs typeface="Segoe UI" pitchFamily="34" charset="-120"/>
              </a:rPr>
              <a:t>Check: 1 point per correct answer.</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Controllate: 1 punto per risposta giusta.</a:t>
            </a:r>
            <a:endParaRPr lang="en-US" sz="950" dirty="0"/>
          </a:p>
        </p:txBody>
      </p:sp>
      <p:sp>
        <p:nvSpPr>
          <p:cNvPr id="19" name="pf_182"/>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83" descr="/home/claude/lls-course/v2/cache/3a2_horse_riding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184"/>
          <p:cNvSpPr/>
          <p:nvPr/>
        </p:nvSpPr>
        <p:spPr>
          <a:xfrm>
            <a:off x="3246120" y="145259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185"/>
          <p:cNvSpPr/>
          <p:nvPr/>
        </p:nvSpPr>
        <p:spPr>
          <a:xfrm>
            <a:off x="3657600" y="1417320"/>
            <a:ext cx="2514600" cy="399723"/>
          </a:xfrm>
          <a:prstGeom prst="roundRect">
            <a:avLst>
              <a:gd name="adj" fmla="val 2287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think skiing is ___ horse-riding. (easy)</a:t>
            </a:r>
            <a:endParaRPr lang="en-US" sz="1100" dirty="0"/>
          </a:p>
        </p:txBody>
      </p:sp>
      <p:sp>
        <p:nvSpPr>
          <p:cNvPr id="23" name="R1_chip186"/>
          <p:cNvSpPr/>
          <p:nvPr/>
        </p:nvSpPr>
        <p:spPr>
          <a:xfrm>
            <a:off x="6263640" y="1417320"/>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easier than</a:t>
            </a:r>
            <a:endParaRPr lang="en-US" sz="1100" dirty="0"/>
          </a:p>
        </p:txBody>
      </p:sp>
      <p:sp>
        <p:nvSpPr>
          <p:cNvPr id="24" name="bd_187"/>
          <p:cNvSpPr/>
          <p:nvPr/>
        </p:nvSpPr>
        <p:spPr>
          <a:xfrm>
            <a:off x="3246120" y="1916321"/>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188"/>
          <p:cNvSpPr/>
          <p:nvPr/>
        </p:nvSpPr>
        <p:spPr>
          <a:xfrm>
            <a:off x="3657600" y="1881051"/>
            <a:ext cx="2514600" cy="399723"/>
          </a:xfrm>
          <a:prstGeom prst="roundRect">
            <a:avLst>
              <a:gd name="adj" fmla="val 2287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This is ___ train I've ever been on. (hot)</a:t>
            </a:r>
            <a:endParaRPr lang="en-US" sz="1100" dirty="0"/>
          </a:p>
        </p:txBody>
      </p:sp>
      <p:sp>
        <p:nvSpPr>
          <p:cNvPr id="26" name="R2_chip189"/>
          <p:cNvSpPr/>
          <p:nvPr/>
        </p:nvSpPr>
        <p:spPr>
          <a:xfrm>
            <a:off x="6263640" y="1881051"/>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 hottest</a:t>
            </a:r>
            <a:endParaRPr lang="en-US" sz="1100" dirty="0"/>
          </a:p>
        </p:txBody>
      </p:sp>
      <p:sp>
        <p:nvSpPr>
          <p:cNvPr id="27" name="bd_190"/>
          <p:cNvSpPr/>
          <p:nvPr/>
        </p:nvSpPr>
        <p:spPr>
          <a:xfrm>
            <a:off x="3246120" y="2380053"/>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191"/>
          <p:cNvSpPr/>
          <p:nvPr/>
        </p:nvSpPr>
        <p:spPr>
          <a:xfrm>
            <a:off x="3657600" y="2344783"/>
            <a:ext cx="2514600" cy="399723"/>
          </a:xfrm>
          <a:prstGeom prst="roundRect">
            <a:avLst>
              <a:gd name="adj" fmla="val 2287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motorbike is ___ a scooter. (powerful)</a:t>
            </a:r>
            <a:endParaRPr lang="en-US" sz="1100" dirty="0"/>
          </a:p>
        </p:txBody>
      </p:sp>
      <p:sp>
        <p:nvSpPr>
          <p:cNvPr id="29" name="R3_chip192"/>
          <p:cNvSpPr/>
          <p:nvPr/>
        </p:nvSpPr>
        <p:spPr>
          <a:xfrm>
            <a:off x="6263640" y="2344783"/>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more powerful than</a:t>
            </a:r>
            <a:endParaRPr lang="en-US" sz="1100" dirty="0"/>
          </a:p>
        </p:txBody>
      </p:sp>
      <p:sp>
        <p:nvSpPr>
          <p:cNvPr id="30" name="bd_193"/>
          <p:cNvSpPr/>
          <p:nvPr/>
        </p:nvSpPr>
        <p:spPr>
          <a:xfrm>
            <a:off x="3246120" y="284378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194"/>
          <p:cNvSpPr/>
          <p:nvPr/>
        </p:nvSpPr>
        <p:spPr>
          <a:xfrm>
            <a:off x="3657600" y="2808514"/>
            <a:ext cx="2514600" cy="399723"/>
          </a:xfrm>
          <a:prstGeom prst="roundRect">
            <a:avLst>
              <a:gd name="adj" fmla="val 2287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drive ___ my partner. (slowly)</a:t>
            </a:r>
            <a:endParaRPr lang="en-US" sz="1100" dirty="0"/>
          </a:p>
        </p:txBody>
      </p:sp>
      <p:sp>
        <p:nvSpPr>
          <p:cNvPr id="32" name="R4_chip195"/>
          <p:cNvSpPr/>
          <p:nvPr/>
        </p:nvSpPr>
        <p:spPr>
          <a:xfrm>
            <a:off x="6263640" y="2808514"/>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more slowly than</a:t>
            </a:r>
            <a:endParaRPr lang="en-US" sz="1100" dirty="0"/>
          </a:p>
        </p:txBody>
      </p:sp>
      <p:sp>
        <p:nvSpPr>
          <p:cNvPr id="33" name="bd_196"/>
          <p:cNvSpPr/>
          <p:nvPr/>
        </p:nvSpPr>
        <p:spPr>
          <a:xfrm>
            <a:off x="3246120" y="3307515"/>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197"/>
          <p:cNvSpPr/>
          <p:nvPr/>
        </p:nvSpPr>
        <p:spPr>
          <a:xfrm>
            <a:off x="3657600" y="3272246"/>
            <a:ext cx="2514600" cy="399723"/>
          </a:xfrm>
          <a:prstGeom prst="roundRect">
            <a:avLst>
              <a:gd name="adj" fmla="val 2287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time to travel is on holiday weekends. (bad)</a:t>
            </a:r>
            <a:endParaRPr lang="en-US" sz="1100" dirty="0"/>
          </a:p>
        </p:txBody>
      </p:sp>
      <p:sp>
        <p:nvSpPr>
          <p:cNvPr id="35" name="R5_chip198"/>
          <p:cNvSpPr/>
          <p:nvPr/>
        </p:nvSpPr>
        <p:spPr>
          <a:xfrm>
            <a:off x="6263640" y="3272246"/>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 worst</a:t>
            </a:r>
            <a:endParaRPr lang="en-US" sz="1100" dirty="0"/>
          </a:p>
        </p:txBody>
      </p:sp>
      <p:sp>
        <p:nvSpPr>
          <p:cNvPr id="36" name="bd_199"/>
          <p:cNvSpPr/>
          <p:nvPr/>
        </p:nvSpPr>
        <p:spPr>
          <a:xfrm>
            <a:off x="3246120" y="3771247"/>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200"/>
          <p:cNvSpPr/>
          <p:nvPr/>
        </p:nvSpPr>
        <p:spPr>
          <a:xfrm>
            <a:off x="3657600" y="3735977"/>
            <a:ext cx="2514600" cy="399723"/>
          </a:xfrm>
          <a:prstGeom prst="roundRect">
            <a:avLst>
              <a:gd name="adj" fmla="val 2287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Stig wasn't ___ Richard. (quick)</a:t>
            </a:r>
            <a:endParaRPr lang="en-US" sz="1100" dirty="0"/>
          </a:p>
        </p:txBody>
      </p:sp>
      <p:sp>
        <p:nvSpPr>
          <p:cNvPr id="38" name="R6_chip201"/>
          <p:cNvSpPr/>
          <p:nvPr/>
        </p:nvSpPr>
        <p:spPr>
          <a:xfrm>
            <a:off x="6263640" y="3735977"/>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as quick as</a:t>
            </a:r>
            <a:endParaRPr lang="en-US" sz="1100" dirty="0"/>
          </a:p>
        </p:txBody>
      </p:sp>
      <p:sp>
        <p:nvSpPr>
          <p:cNvPr id="39" name="bd_202"/>
          <p:cNvSpPr/>
          <p:nvPr/>
        </p:nvSpPr>
        <p:spPr>
          <a:xfrm>
            <a:off x="3246120" y="4234978"/>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40" name="gq_203"/>
          <p:cNvSpPr/>
          <p:nvPr/>
        </p:nvSpPr>
        <p:spPr>
          <a:xfrm>
            <a:off x="3657600" y="4199709"/>
            <a:ext cx="2514600" cy="399723"/>
          </a:xfrm>
          <a:prstGeom prst="roundRect">
            <a:avLst>
              <a:gd name="adj" fmla="val 2287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James was ___ driver in the race. (slow)</a:t>
            </a:r>
            <a:endParaRPr lang="en-US" sz="1100" dirty="0"/>
          </a:p>
        </p:txBody>
      </p:sp>
      <p:sp>
        <p:nvSpPr>
          <p:cNvPr id="41" name="R7_chip204"/>
          <p:cNvSpPr/>
          <p:nvPr/>
        </p:nvSpPr>
        <p:spPr>
          <a:xfrm>
            <a:off x="6263640" y="4199709"/>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 slowest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06"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07"/>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Most, more, less!</a:t>
            </a:r>
            <a:endParaRPr lang="en-US" sz="2500" dirty="0"/>
          </a:p>
        </p:txBody>
      </p:sp>
      <p:pic>
        <p:nvPicPr>
          <p:cNvPr id="6" name="brP_208"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209"/>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MOST… Then compare the other two.</a:t>
            </a:r>
            <a:endParaRPr lang="en-US" sz="1250" dirty="0"/>
          </a:p>
        </p:txBody>
      </p:sp>
      <p:sp>
        <p:nvSpPr>
          <p:cNvPr id="8" name="insIT_21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 il PIÙ… Poi confronta gli altri due.</a:t>
            </a:r>
            <a:endParaRPr lang="en-US" sz="950" dirty="0"/>
          </a:p>
        </p:txBody>
      </p:sp>
      <p:sp>
        <p:nvSpPr>
          <p:cNvPr id="9" name="cmd_21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21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21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2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Speaking · superlative + comparative   ·   📖 SB p.28 · 4c</a:t>
            </a:r>
            <a:endParaRPr lang="en-US" sz="800" dirty="0"/>
          </a:p>
        </p:txBody>
      </p:sp>
      <p:sp>
        <p:nvSpPr>
          <p:cNvPr id="14" name="pf_21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17" descr="/home/claude/lls-course/v2/cache/3a2_motorbike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21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21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2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22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the most… / the least…</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more… than / …-er than</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…isn't as… as…</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because…</a:t>
            </a:r>
            <a:endParaRPr lang="en-US" sz="800" dirty="0"/>
          </a:p>
        </p:txBody>
      </p:sp>
      <p:sp>
        <p:nvSpPr>
          <p:cNvPr id="20" name="R1_qb22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22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Dangerous: cycling, driving or riding a motorbike?</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I think riding a motorbike is the most dangerous. Cycling is more dangerous than driving.</a:t>
            </a:r>
            <a:endParaRPr lang="en-US" sz="1050" dirty="0"/>
          </a:p>
        </p:txBody>
      </p:sp>
      <p:sp>
        <p:nvSpPr>
          <p:cNvPr id="22" name="R2_qb22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225"/>
          <p:cNvSpPr/>
          <p:nvPr/>
        </p:nvSpPr>
        <p:spPr>
          <a:xfrm>
            <a:off x="3675888" y="2020824"/>
            <a:ext cx="45079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Easy: learning to drive, to ride a bike or to ride a horse?</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Riding a bike is the easiest. Driving is more difficult than riding a horse.</a:t>
            </a:r>
            <a:endParaRPr lang="en-US" sz="1100" dirty="0"/>
          </a:p>
        </p:txBody>
      </p:sp>
      <p:pic>
        <p:nvPicPr>
          <p:cNvPr id="24" name="R2_th226" descr="/home/claude/lls-course/v2/cache/3a2_horse_riding_jpg_154x119_18.png">    </p:cNvPr>
          <p:cNvPicPr>
            <a:picLocks noChangeAspect="1"/>
          </p:cNvPicPr>
          <p:nvPr/>
        </p:nvPicPr>
        <p:blipFill>
          <a:blip r:embed="rId6"/>
          <a:stretch>
            <a:fillRect/>
          </a:stretch>
        </p:blipFill>
        <p:spPr>
          <a:xfrm>
            <a:off x="8257032" y="2039112"/>
            <a:ext cx="640080" cy="493776"/>
          </a:xfrm>
          <a:prstGeom prst="rect">
            <a:avLst/>
          </a:prstGeom>
        </p:spPr>
      </p:pic>
      <p:sp>
        <p:nvSpPr>
          <p:cNvPr id="25" name="R3_qb227"/>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228"/>
          <p:cNvSpPr/>
          <p:nvPr/>
        </p:nvSpPr>
        <p:spPr>
          <a:xfrm>
            <a:off x="3675888" y="2624328"/>
            <a:ext cx="45079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Relaxing: driving, flying or travelling by train?</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Travelling by train is the most relaxing. Flying isn't as relaxing as driving.</a:t>
            </a:r>
            <a:endParaRPr lang="en-US" sz="1100" dirty="0"/>
          </a:p>
        </p:txBody>
      </p:sp>
      <p:pic>
        <p:nvPicPr>
          <p:cNvPr id="27" name="R3_th229" descr="/home/claude/lls-course/v2/cache/3a2_train_v_car_jpg_154x119_18.png">    </p:cNvPr>
          <p:cNvPicPr>
            <a:picLocks noChangeAspect="1"/>
          </p:cNvPicPr>
          <p:nvPr/>
        </p:nvPicPr>
        <p:blipFill>
          <a:blip r:embed="rId7"/>
          <a:stretch>
            <a:fillRect/>
          </a:stretch>
        </p:blipFill>
        <p:spPr>
          <a:xfrm>
            <a:off x="8257032" y="2642616"/>
            <a:ext cx="640080" cy="493776"/>
          </a:xfrm>
          <a:prstGeom prst="rect">
            <a:avLst/>
          </a:prstGeom>
        </p:spPr>
      </p:pic>
      <p:sp>
        <p:nvSpPr>
          <p:cNvPr id="28" name="R4_qb230"/>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R4_sq231"/>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Difficult: sleeping on a coach, on a plane or on a train?</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Sleeping on a coach is the most difficult. A train is more comfortable than a plane.</a:t>
            </a:r>
            <a:endParaRPr lang="en-US" sz="1100" dirty="0"/>
          </a:p>
        </p:txBody>
      </p:sp>
      <p:sp>
        <p:nvSpPr>
          <p:cNvPr id="30" name="R5_qb232"/>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1" name="R5_sq233"/>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Boring: a traffic jam, waiting at an airport or waiting for a bus?</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Being stuck in a traffic jam is the most boring!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34"/>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35"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36"/>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Guess the numbers</a:t>
            </a:r>
            <a:endParaRPr lang="en-US" sz="2400" dirty="0"/>
          </a:p>
        </p:txBody>
      </p:sp>
      <p:pic>
        <p:nvPicPr>
          <p:cNvPr id="6" name="brP_237"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238"/>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5 numbers in the text.</a:t>
            </a:r>
            <a:endParaRPr lang="en-US" sz="1250" dirty="0"/>
          </a:p>
        </p:txBody>
      </p:sp>
      <p:sp>
        <p:nvSpPr>
          <p:cNvPr id="8" name="insIT_23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i 5 numeri nel testo.</a:t>
            </a:r>
            <a:endParaRPr lang="en-US" sz="950" dirty="0"/>
          </a:p>
        </p:txBody>
      </p:sp>
      <p:sp>
        <p:nvSpPr>
          <p:cNvPr id="9" name="cmd_240"/>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41"/>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24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24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2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Reading · prediction   ·   📖 SB p.28 · 5a</a:t>
            </a:r>
            <a:endParaRPr lang="en-US" sz="800" dirty="0"/>
          </a:p>
        </p:txBody>
      </p:sp>
      <p:sp>
        <p:nvSpPr>
          <p:cNvPr id="15" name="cd_246"/>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247"/>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Survive the Drive!</a:t>
            </a:r>
            <a:endParaRPr lang="en-US" sz="2800" dirty="0"/>
          </a:p>
        </p:txBody>
      </p:sp>
      <p:sp>
        <p:nvSpPr>
          <p:cNvPr id="17" name="nx_248"/>
          <p:cNvSpPr/>
          <p:nvPr/>
        </p:nvSpPr>
        <p:spPr>
          <a:xfrm>
            <a:off x="457200" y="2807208"/>
            <a:ext cx="4754880" cy="512064"/>
          </a:xfrm>
          <a:prstGeom prst="roundRect">
            <a:avLst>
              <a:gd name="adj" fmla="val 17857"/>
            </a:avLst>
          </a:prstGeom>
          <a:solidFill>
            <a:srgbClr val="E3F7EA"/>
          </a:solidFill>
          <a:ln>
            <a:solidFill>
              <a:srgbClr val="A8E5BE"/>
            </a:solidFill>
          </a:ln>
        </p:spPr>
        <p:txBody>
          <a:bodyPr wrap="square" lIns="127000" tIns="25400" rIns="127000" bIns="25400" rtlCol="0" anchor="ctr">
            <a:normAutofit/>
          </a:bodyPr>
          <a:lstStyle/>
          <a:p>
            <a:pPr indent="0" marL="0">
              <a:buNone/>
            </a:pPr>
            <a:r>
              <a:rPr lang="en-US" sz="1000" dirty="0">
                <a:solidFill>
                  <a:srgbClr val="2EB872"/>
                </a:solidFill>
                <a:latin typeface="Segoe UI Black" pitchFamily="34" charset="0"/>
                <a:ea typeface="Segoe UI Black" pitchFamily="34" charset="-122"/>
                <a:cs typeface="Segoe UI Black" pitchFamily="34" charset="-120"/>
              </a:rPr>
              <a:t>➡ NEXT  </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text on the next slide has 5 number gaps. Guess them first, then read and check.</a:t>
            </a:r>
            <a:endParaRPr lang="en-US" sz="1000" dirty="0"/>
          </a:p>
        </p:txBody>
      </p:sp>
      <p:sp>
        <p:nvSpPr>
          <p:cNvPr id="18" name="sf_249"/>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Two scientists at Virginia State University, in the USA, have published a book called Survive the Drive. In it, they describe their research into the most distracting things you can do when you are driving.</a:t>
            </a:r>
            <a:endParaRPr lang="en-US" sz="1150" dirty="0"/>
          </a:p>
        </p:txBody>
      </p:sp>
      <p:sp>
        <p:nvSpPr>
          <p:cNvPr id="19" name="nbl_250"/>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20" name="bd_251"/>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800" dirty="0">
                <a:solidFill>
                  <a:srgbClr val="FFFFFF"/>
                </a:solidFill>
                <a:latin typeface="Arial Rounded MT Bold" pitchFamily="34" charset="0"/>
                <a:ea typeface="Arial Rounded MT Bold" pitchFamily="34" charset="-122"/>
                <a:cs typeface="Arial Rounded MT Bold" pitchFamily="34" charset="-120"/>
              </a:rPr>
              <a:t>3</a:t>
            </a:r>
            <a:endParaRPr lang="en-US" sz="1800" dirty="0"/>
          </a:p>
        </p:txBody>
      </p:sp>
      <p:sp>
        <p:nvSpPr>
          <p:cNvPr id="21" name="bd_252"/>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16</a:t>
            </a:r>
            <a:endParaRPr lang="en-US" sz="1400" dirty="0"/>
          </a:p>
        </p:txBody>
      </p:sp>
      <p:sp>
        <p:nvSpPr>
          <p:cNvPr id="22" name="bd_253"/>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30</a:t>
            </a:r>
            <a:endParaRPr lang="en-US" sz="1400" dirty="0"/>
          </a:p>
        </p:txBody>
      </p:sp>
      <p:sp>
        <p:nvSpPr>
          <p:cNvPr id="23" name="bd_254"/>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98</a:t>
            </a:r>
            <a:endParaRPr lang="en-US" sz="1400" dirty="0"/>
          </a:p>
        </p:txBody>
      </p:sp>
      <p:sp>
        <p:nvSpPr>
          <p:cNvPr id="24" name="bd_255"/>
          <p:cNvSpPr/>
          <p:nvPr/>
        </p:nvSpPr>
        <p:spPr>
          <a:xfrm>
            <a:off x="2852928"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900</a:t>
            </a:r>
            <a:endParaRPr lang="en-US" sz="1000" dirty="0"/>
          </a:p>
        </p:txBody>
      </p:sp>
      <p:sp>
        <p:nvSpPr>
          <p:cNvPr id="25" name="bd_256"/>
          <p:cNvSpPr/>
          <p:nvPr/>
        </p:nvSpPr>
        <p:spPr>
          <a:xfrm>
            <a:off x="3474720"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3,500</a:t>
            </a:r>
            <a:endParaRPr lang="en-US" sz="800" dirty="0"/>
          </a:p>
        </p:txBody>
      </p:sp>
      <p:sp>
        <p:nvSpPr>
          <p:cNvPr id="26" name="bd_257"/>
          <p:cNvSpPr/>
          <p:nvPr/>
        </p:nvSpPr>
        <p:spPr>
          <a:xfrm>
            <a:off x="4096512"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9,000</a:t>
            </a:r>
            <a:endParaRPr lang="en-US" sz="800" dirty="0"/>
          </a:p>
        </p:txBody>
      </p:sp>
      <p:sp>
        <p:nvSpPr>
          <p:cNvPr id="27" name="pf_258"/>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259" descr="/home/claude/lls-course/v2/cache/3a2_satnav_jpg_759x792_31.png">    </p:cNvPr>
          <p:cNvPicPr>
            <a:picLocks noChangeAspect="1"/>
          </p:cNvPicPr>
          <p:nvPr/>
        </p:nvPicPr>
        <p:blipFill>
          <a:blip r:embed="rId5"/>
          <a:stretch>
            <a:fillRect/>
          </a:stretch>
        </p:blipFill>
        <p:spPr>
          <a:xfrm rot="90000">
            <a:off x="5623560" y="1280160"/>
            <a:ext cx="3154680" cy="3291840"/>
          </a:xfrm>
          <a:prstGeom prst="rect">
            <a:avLst/>
          </a:prstGeom>
        </p:spPr>
      </p:pic>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61"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262"/>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Read and check</a:t>
            </a:r>
            <a:endParaRPr lang="en-US" sz="2500" dirty="0"/>
          </a:p>
        </p:txBody>
      </p:sp>
      <p:pic>
        <p:nvPicPr>
          <p:cNvPr id="6" name="brP_263"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264"/>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numbers. Then read p.28 and check.</a:t>
            </a:r>
            <a:endParaRPr lang="en-US" sz="1250" dirty="0"/>
          </a:p>
        </p:txBody>
      </p:sp>
      <p:sp>
        <p:nvSpPr>
          <p:cNvPr id="8" name="insIT_26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i numeri. Poi leggi p.28 e controlla.</a:t>
            </a:r>
            <a:endParaRPr lang="en-US" sz="950" dirty="0"/>
          </a:p>
        </p:txBody>
      </p:sp>
      <p:sp>
        <p:nvSpPr>
          <p:cNvPr id="9" name="cmd_26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26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26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26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Reading · the research   ·   📖 SB p.28 · 5a (the text)</a:t>
            </a:r>
            <a:endParaRPr lang="en-US" sz="800" dirty="0"/>
          </a:p>
        </p:txBody>
      </p:sp>
      <p:sp>
        <p:nvSpPr>
          <p:cNvPr id="14" name="cd_271"/>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272"/>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Survive the Drive</a:t>
            </a:r>
            <a:endParaRPr lang="en-US" sz="1700" dirty="0"/>
          </a:p>
        </p:txBody>
      </p:sp>
      <p:sp>
        <p:nvSpPr>
          <p:cNvPr id="16" name="ln_273"/>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Two scientists at Virginia State University, in the USA, have published a book called Survive the Drive.</a:t>
            </a:r>
            <a:endParaRPr lang="en-US" sz="1200" dirty="0"/>
          </a:p>
        </p:txBody>
      </p:sp>
      <p:sp>
        <p:nvSpPr>
          <p:cNvPr id="17" name="ln_274"/>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fitted video cameras and other devices to the cars of more than </a:t>
            </a:r>
            <a:pPr indent="0" marL="0">
              <a:buNone/>
            </a:pPr>
            <a:r>
              <a:rPr lang="en-US" sz="1200" b="1" dirty="0">
                <a:solidFill>
                  <a:srgbClr val="2EB872"/>
                </a:solidFill>
                <a:latin typeface="Georgia" pitchFamily="34" charset="0"/>
                <a:ea typeface="Georgia" pitchFamily="34" charset="-122"/>
                <a:cs typeface="Georgia" pitchFamily="34" charset="-120"/>
              </a:rPr>
              <a:t> (1) _____ </a:t>
            </a:r>
            <a:pPr indent="0" marL="0">
              <a:buNone/>
            </a:pPr>
            <a:r>
              <a:rPr lang="en-US" sz="1200" dirty="0">
                <a:solidFill>
                  <a:srgbClr val="1B2559"/>
                </a:solidFill>
                <a:latin typeface="Georgia" pitchFamily="34" charset="0"/>
                <a:ea typeface="Georgia" pitchFamily="34" charset="-122"/>
                <a:cs typeface="Georgia" pitchFamily="34" charset="-120"/>
              </a:rPr>
              <a:t> drivers</a:t>
            </a:r>
            <a:endParaRPr lang="en-US" sz="1200" dirty="0"/>
          </a:p>
        </p:txBody>
      </p:sp>
      <p:sp>
        <p:nvSpPr>
          <p:cNvPr id="18" name="R1_lnA275"/>
          <p:cNvSpPr/>
          <p:nvPr/>
        </p:nvSpPr>
        <p:spPr>
          <a:xfrm>
            <a:off x="548640" y="238506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fitted video cameras and other devices to the cars of more than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3,500</a:t>
            </a:r>
            <a:pPr indent="0" marL="0">
              <a:buNone/>
            </a:pPr>
            <a:r>
              <a:rPr lang="en-US" sz="1200" dirty="0">
                <a:solidFill>
                  <a:srgbClr val="1B2559"/>
                </a:solidFill>
                <a:latin typeface="Georgia" pitchFamily="34" charset="0"/>
                <a:ea typeface="Georgia" pitchFamily="34" charset="-122"/>
                <a:cs typeface="Georgia" pitchFamily="34" charset="-120"/>
              </a:rPr>
              <a:t> drivers</a:t>
            </a:r>
            <a:endParaRPr lang="en-US" sz="1200" dirty="0"/>
          </a:p>
        </p:txBody>
      </p:sp>
      <p:sp>
        <p:nvSpPr>
          <p:cNvPr id="19" name="ln_276"/>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who were aged between </a:t>
            </a:r>
            <a:pPr indent="0" marL="0">
              <a:buNone/>
            </a:pPr>
            <a:r>
              <a:rPr lang="en-US" sz="1200" b="1" dirty="0">
                <a:solidFill>
                  <a:srgbClr val="2EB872"/>
                </a:solidFill>
                <a:latin typeface="Georgia" pitchFamily="34" charset="0"/>
                <a:ea typeface="Georgia" pitchFamily="34" charset="-122"/>
                <a:cs typeface="Georgia" pitchFamily="34" charset="-120"/>
              </a:rPr>
              <a:t> (2) _____ </a:t>
            </a:r>
            <a:pPr indent="0" marL="0">
              <a:buNone/>
            </a:pPr>
            <a:r>
              <a:rPr lang="en-US" sz="1200" dirty="0">
                <a:solidFill>
                  <a:srgbClr val="1B2559"/>
                </a:solidFill>
                <a:latin typeface="Georgia" pitchFamily="34" charset="0"/>
                <a:ea typeface="Georgia" pitchFamily="34" charset="-122"/>
                <a:cs typeface="Georgia" pitchFamily="34" charset="-120"/>
              </a:rPr>
              <a:t> and </a:t>
            </a:r>
            <a:pPr indent="0" marL="0">
              <a:buNone/>
            </a:pPr>
            <a:r>
              <a:rPr lang="en-US" sz="1200" b="1" dirty="0">
                <a:solidFill>
                  <a:srgbClr val="2EB872"/>
                </a:solidFill>
                <a:latin typeface="Georgia" pitchFamily="34" charset="0"/>
                <a:ea typeface="Georgia" pitchFamily="34" charset="-122"/>
                <a:cs typeface="Georgia" pitchFamily="34" charset="-120"/>
              </a:rPr>
              <a:t> (3) _____ </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0" name="R2_lnA277"/>
          <p:cNvSpPr/>
          <p:nvPr/>
        </p:nvSpPr>
        <p:spPr>
          <a:xfrm>
            <a:off x="548640" y="284988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who were aged between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16</a:t>
            </a:r>
            <a:pPr indent="0" marL="0">
              <a:buNone/>
            </a:pPr>
            <a:r>
              <a:rPr lang="en-US" sz="1200" dirty="0">
                <a:solidFill>
                  <a:srgbClr val="1B2559"/>
                </a:solidFill>
                <a:latin typeface="Georgia" pitchFamily="34" charset="0"/>
                <a:ea typeface="Georgia" pitchFamily="34" charset="-122"/>
                <a:cs typeface="Georgia" pitchFamily="34" charset="-120"/>
              </a:rPr>
              <a:t> and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98</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1" name="ln_278"/>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then recorded their driving for </a:t>
            </a:r>
            <a:pPr indent="0" marL="0">
              <a:buNone/>
            </a:pPr>
            <a:r>
              <a:rPr lang="en-US" sz="1200" b="1" dirty="0">
                <a:solidFill>
                  <a:srgbClr val="2EB872"/>
                </a:solidFill>
                <a:latin typeface="Georgia" pitchFamily="34" charset="0"/>
                <a:ea typeface="Georgia" pitchFamily="34" charset="-122"/>
                <a:cs typeface="Georgia" pitchFamily="34" charset="-120"/>
              </a:rPr>
              <a:t> (4) _____ </a:t>
            </a:r>
            <a:pPr indent="0" marL="0">
              <a:buNone/>
            </a:pPr>
            <a:r>
              <a:rPr lang="en-US" sz="1200" dirty="0">
                <a:solidFill>
                  <a:srgbClr val="1B2559"/>
                </a:solidFill>
                <a:latin typeface="Georgia" pitchFamily="34" charset="0"/>
                <a:ea typeface="Georgia" pitchFamily="34" charset="-122"/>
                <a:cs typeface="Georgia" pitchFamily="34" charset="-120"/>
              </a:rPr>
              <a:t> years and they got millions of hours of video.</a:t>
            </a:r>
            <a:endParaRPr lang="en-US" sz="1200" dirty="0"/>
          </a:p>
        </p:txBody>
      </p:sp>
      <p:sp>
        <p:nvSpPr>
          <p:cNvPr id="22" name="R3_lnA279"/>
          <p:cNvSpPr/>
          <p:nvPr/>
        </p:nvSpPr>
        <p:spPr>
          <a:xfrm>
            <a:off x="548640" y="331470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They then recorded their driving for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three</a:t>
            </a:r>
            <a:pPr indent="0" marL="0">
              <a:buNone/>
            </a:pPr>
            <a:r>
              <a:rPr lang="en-US" sz="1200" dirty="0">
                <a:solidFill>
                  <a:srgbClr val="1B2559"/>
                </a:solidFill>
                <a:latin typeface="Georgia" pitchFamily="34" charset="0"/>
                <a:ea typeface="Georgia" pitchFamily="34" charset="-122"/>
                <a:cs typeface="Georgia" pitchFamily="34" charset="-120"/>
              </a:rPr>
              <a:t> years and they got millions of hours of video.</a:t>
            </a:r>
            <a:endParaRPr lang="en-US" sz="1200" dirty="0"/>
          </a:p>
        </p:txBody>
      </p:sp>
      <p:sp>
        <p:nvSpPr>
          <p:cNvPr id="23" name="ln_280"/>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During this time, the drivers had more than </a:t>
            </a:r>
            <a:pPr indent="0" marL="0">
              <a:buNone/>
            </a:pPr>
            <a:r>
              <a:rPr lang="en-US" sz="1200" b="1" dirty="0">
                <a:solidFill>
                  <a:srgbClr val="2EB872"/>
                </a:solidFill>
                <a:latin typeface="Georgia" pitchFamily="34" charset="0"/>
                <a:ea typeface="Georgia" pitchFamily="34" charset="-122"/>
                <a:cs typeface="Georgia" pitchFamily="34" charset="-120"/>
              </a:rPr>
              <a:t> (5) _____ </a:t>
            </a:r>
            <a:pPr indent="0" marL="0">
              <a:buNone/>
            </a:pPr>
            <a:r>
              <a:rPr lang="en-US" sz="1200" dirty="0">
                <a:solidFill>
                  <a:srgbClr val="1B2559"/>
                </a:solidFill>
                <a:latin typeface="Georgia" pitchFamily="34" charset="0"/>
                <a:ea typeface="Georgia" pitchFamily="34" charset="-122"/>
                <a:cs typeface="Georgia" pitchFamily="34" charset="-120"/>
              </a:rPr>
              <a:t> accidents,</a:t>
            </a:r>
            <a:endParaRPr lang="en-US" sz="1200" dirty="0"/>
          </a:p>
        </p:txBody>
      </p:sp>
      <p:sp>
        <p:nvSpPr>
          <p:cNvPr id="24" name="R4_lnA281"/>
          <p:cNvSpPr/>
          <p:nvPr/>
        </p:nvSpPr>
        <p:spPr>
          <a:xfrm>
            <a:off x="548640" y="377952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During this time, the drivers had more than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900</a:t>
            </a:r>
            <a:pPr indent="0" marL="0">
              <a:buNone/>
            </a:pPr>
            <a:r>
              <a:rPr lang="en-US" sz="1200" dirty="0">
                <a:solidFill>
                  <a:srgbClr val="1B2559"/>
                </a:solidFill>
                <a:latin typeface="Georgia" pitchFamily="34" charset="0"/>
                <a:ea typeface="Georgia" pitchFamily="34" charset="-122"/>
                <a:cs typeface="Georgia" pitchFamily="34" charset="-120"/>
              </a:rPr>
              <a:t> accidents,</a:t>
            </a:r>
            <a:endParaRPr lang="en-US" sz="1200" dirty="0"/>
          </a:p>
        </p:txBody>
      </p:sp>
      <p:sp>
        <p:nvSpPr>
          <p:cNvPr id="25" name="ln_282"/>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and the researchers used the video to analyse exactly why they happened.</a:t>
            </a:r>
            <a:endParaRPr lang="en-US" sz="1200" dirty="0"/>
          </a:p>
        </p:txBody>
      </p:sp>
      <p:sp>
        <p:nvSpPr>
          <p:cNvPr id="26" name="pf_283"/>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7" name="ph_284" descr="/home/claude/lls-course/v2/cache/3a2_cover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8" name="cd_285"/>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9" name="ii_286"/>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287"/>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1" name="il_288"/>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fit = install (montare)</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device = gadget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8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90"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291"/>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8 dangers in Italian</a:t>
            </a:r>
            <a:endParaRPr lang="en-US" sz="2500" dirty="0"/>
          </a:p>
        </p:txBody>
      </p:sp>
      <p:pic>
        <p:nvPicPr>
          <p:cNvPr id="6" name="brP_292"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293"/>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p.28. Say it in Italian!</a:t>
            </a:r>
            <a:endParaRPr lang="en-US" sz="1250" dirty="0"/>
          </a:p>
        </p:txBody>
      </p:sp>
      <p:sp>
        <p:nvSpPr>
          <p:cNvPr id="8" name="insIT_29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p.28. Dillo in italiano!</a:t>
            </a:r>
            <a:endParaRPr lang="en-US" sz="950" dirty="0"/>
          </a:p>
        </p:txBody>
      </p:sp>
      <p:sp>
        <p:nvSpPr>
          <p:cNvPr id="9" name="cmd_29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29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9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2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Vocabulary · in Italian   ·   📖 SB p.28 · 5a (photos) · 5c 'likely' box</a:t>
            </a:r>
            <a:endParaRPr lang="en-US" sz="800" dirty="0"/>
          </a:p>
        </p:txBody>
      </p:sp>
      <p:sp>
        <p:nvSpPr>
          <p:cNvPr id="14" name="cd_300"/>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301"/>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302"/>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feeling emotional</a:t>
            </a:r>
            <a:endParaRPr lang="en-US" sz="1200" dirty="0"/>
          </a:p>
        </p:txBody>
      </p:sp>
      <p:sp>
        <p:nvSpPr>
          <p:cNvPr id="17" name="R1_it303"/>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triste, arrabbiato, stressato</a:t>
            </a:r>
            <a:endParaRPr lang="en-US" sz="800" dirty="0"/>
          </a:p>
        </p:txBody>
      </p:sp>
      <p:sp>
        <p:nvSpPr>
          <p:cNvPr id="18" name="cd_304"/>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305"/>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306"/>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reaching for something</a:t>
            </a:r>
            <a:endParaRPr lang="en-US" sz="1000" dirty="0"/>
          </a:p>
        </p:txBody>
      </p:sp>
      <p:sp>
        <p:nvSpPr>
          <p:cNvPr id="21" name="R2_it307"/>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allungarsi a prendere</a:t>
            </a:r>
            <a:endParaRPr lang="en-US" sz="900" dirty="0"/>
          </a:p>
        </p:txBody>
      </p:sp>
      <p:sp>
        <p:nvSpPr>
          <p:cNvPr id="22" name="cd_308"/>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309"/>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310"/>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looking at something by the road</a:t>
            </a:r>
            <a:endParaRPr lang="en-US" sz="950" dirty="0"/>
          </a:p>
        </p:txBody>
      </p:sp>
      <p:sp>
        <p:nvSpPr>
          <p:cNvPr id="25" name="R3_it311"/>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guardare a bordo strada</a:t>
            </a:r>
            <a:endParaRPr lang="en-US" sz="800" dirty="0"/>
          </a:p>
        </p:txBody>
      </p:sp>
      <p:sp>
        <p:nvSpPr>
          <p:cNvPr id="26" name="cd_312"/>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313"/>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314"/>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adjusting the satnav</a:t>
            </a:r>
            <a:endParaRPr lang="en-US" sz="1000" dirty="0"/>
          </a:p>
        </p:txBody>
      </p:sp>
      <p:sp>
        <p:nvSpPr>
          <p:cNvPr id="29" name="R4_it315"/>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regolare il navigatore</a:t>
            </a:r>
            <a:endParaRPr lang="en-US" sz="900" dirty="0"/>
          </a:p>
        </p:txBody>
      </p:sp>
      <p:sp>
        <p:nvSpPr>
          <p:cNvPr id="30" name="cd_316"/>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317"/>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318"/>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feeling tired</a:t>
            </a:r>
            <a:endParaRPr lang="en-US" sz="1200" dirty="0"/>
          </a:p>
        </p:txBody>
      </p:sp>
      <p:sp>
        <p:nvSpPr>
          <p:cNvPr id="33" name="R5_it319"/>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essere stanco</a:t>
            </a:r>
            <a:endParaRPr lang="en-US" sz="1000" dirty="0"/>
          </a:p>
        </p:txBody>
      </p:sp>
      <p:sp>
        <p:nvSpPr>
          <p:cNvPr id="34" name="cd_320"/>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321"/>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322"/>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adjusting the radio</a:t>
            </a:r>
            <a:endParaRPr lang="en-US" sz="1100" dirty="0"/>
          </a:p>
        </p:txBody>
      </p:sp>
      <p:sp>
        <p:nvSpPr>
          <p:cNvPr id="37" name="R6_it323"/>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regolare la radio</a:t>
            </a:r>
            <a:endParaRPr lang="en-US" sz="1000" dirty="0"/>
          </a:p>
        </p:txBody>
      </p:sp>
      <p:sp>
        <p:nvSpPr>
          <p:cNvPr id="38" name="cd_324"/>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325"/>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326"/>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eating or drinking</a:t>
            </a:r>
            <a:endParaRPr lang="en-US" sz="1150" dirty="0"/>
          </a:p>
        </p:txBody>
      </p:sp>
      <p:sp>
        <p:nvSpPr>
          <p:cNvPr id="41" name="R7_it327"/>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mangiare o bere</a:t>
            </a:r>
            <a:endParaRPr lang="en-US" sz="1000" dirty="0"/>
          </a:p>
        </p:txBody>
      </p:sp>
      <p:sp>
        <p:nvSpPr>
          <p:cNvPr id="42" name="cd_328"/>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329"/>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330"/>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talking to a passenger</a:t>
            </a:r>
            <a:endParaRPr lang="en-US" sz="1000" dirty="0"/>
          </a:p>
        </p:txBody>
      </p:sp>
      <p:sp>
        <p:nvSpPr>
          <p:cNvPr id="45" name="R8_it331"/>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parlare col passeggero</a:t>
            </a:r>
            <a:endParaRPr lang="en-US" sz="850" dirty="0"/>
          </a:p>
        </p:txBody>
      </p:sp>
      <p:sp>
        <p:nvSpPr>
          <p:cNvPr id="46" name="cd_332"/>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333"/>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334"/>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distracting</a:t>
            </a:r>
            <a:endParaRPr lang="en-US" sz="1200" dirty="0"/>
          </a:p>
        </p:txBody>
      </p:sp>
      <p:sp>
        <p:nvSpPr>
          <p:cNvPr id="49" name="R9_it335"/>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che distrae</a:t>
            </a:r>
            <a:endParaRPr lang="en-US" sz="1000" dirty="0"/>
          </a:p>
        </p:txBody>
      </p:sp>
      <p:sp>
        <p:nvSpPr>
          <p:cNvPr id="50" name="cd_336"/>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337"/>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338"/>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concentrate</a:t>
            </a:r>
            <a:endParaRPr lang="en-US" sz="1200" dirty="0"/>
          </a:p>
        </p:txBody>
      </p:sp>
      <p:sp>
        <p:nvSpPr>
          <p:cNvPr id="53" name="R10_it339"/>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concentrarsi</a:t>
            </a:r>
            <a:endParaRPr lang="en-US" sz="1000" dirty="0"/>
          </a:p>
        </p:txBody>
      </p:sp>
      <p:sp>
        <p:nvSpPr>
          <p:cNvPr id="54" name="cd_340"/>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341"/>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342"/>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more likely</a:t>
            </a:r>
            <a:endParaRPr lang="en-US" sz="1200" dirty="0"/>
          </a:p>
        </p:txBody>
      </p:sp>
      <p:sp>
        <p:nvSpPr>
          <p:cNvPr id="57" name="R11_it343"/>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più probabile</a:t>
            </a:r>
            <a:endParaRPr lang="en-US" sz="1000" dirty="0"/>
          </a:p>
        </p:txBody>
      </p:sp>
      <p:sp>
        <p:nvSpPr>
          <p:cNvPr id="58" name="cd_344"/>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345"/>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346"/>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the wheel</a:t>
            </a:r>
            <a:endParaRPr lang="en-US" sz="1200" dirty="0"/>
          </a:p>
        </p:txBody>
      </p:sp>
      <p:sp>
        <p:nvSpPr>
          <p:cNvPr id="61" name="R12_it347"/>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il volante</a:t>
            </a:r>
            <a:endParaRPr lang="en-US" sz="1000" dirty="0"/>
          </a:p>
        </p:txBody>
      </p:sp>
      <p:sp>
        <p:nvSpPr>
          <p:cNvPr id="62" name="R13_wc348"/>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3_w349"/>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likely = probabile (NOT 'likes')  ·  passenger = passeggero ≠ pedestrian = pedone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400"/>
                                        <p:tgtEl>
                                          <p:spTgt spid="62"/>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51" descr="/home/claude/lls-course/v2/assets/brush-yellow.png">    </p:cNvPr>
          <p:cNvPicPr>
            <a:picLocks noChangeAspect="1"/>
          </p:cNvPicPr>
          <p:nvPr/>
        </p:nvPicPr>
        <p:blipFill>
          <a:blip r:embed="rId2"/>
          <a:stretch>
            <a:fillRect/>
          </a:stretch>
        </p:blipFill>
        <p:spPr>
          <a:xfrm>
            <a:off x="1097280" y="146304"/>
            <a:ext cx="1989734" cy="621792"/>
          </a:xfrm>
          <a:prstGeom prst="rect">
            <a:avLst/>
          </a:prstGeom>
        </p:spPr>
      </p:pic>
      <p:sp>
        <p:nvSpPr>
          <p:cNvPr id="5" name="title_352"/>
          <p:cNvSpPr/>
          <p:nvPr/>
        </p:nvSpPr>
        <p:spPr>
          <a:xfrm>
            <a:off x="1261872" y="164592"/>
            <a:ext cx="171541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Mime it!</a:t>
            </a:r>
            <a:endParaRPr lang="en-US" sz="2500" dirty="0"/>
          </a:p>
        </p:txBody>
      </p:sp>
      <p:pic>
        <p:nvPicPr>
          <p:cNvPr id="6" name="brP_353"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354"/>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Mime the danger. Don't speak!</a:t>
            </a:r>
            <a:endParaRPr lang="en-US" sz="1250" dirty="0"/>
          </a:p>
        </p:txBody>
      </p:sp>
      <p:sp>
        <p:nvSpPr>
          <p:cNvPr id="8" name="insIT_35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Mima il pericolo. Non parlare!</a:t>
            </a:r>
            <a:endParaRPr lang="en-US" sz="950" dirty="0"/>
          </a:p>
        </p:txBody>
      </p:sp>
      <p:sp>
        <p:nvSpPr>
          <p:cNvPr id="9" name="cmd_35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35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5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3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Vocabulary game</a:t>
            </a:r>
            <a:endParaRPr lang="en-US" sz="800" dirty="0"/>
          </a:p>
        </p:txBody>
      </p:sp>
      <p:sp>
        <p:nvSpPr>
          <p:cNvPr id="14" name="cd_361"/>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6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63"/>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364"/>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A looks at the screen. B turns around.</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A guarda lo schermo. B si gira.</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A mimes the danger. No words!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A mima il pericolo. Senza parole!</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B says it in English. Then swap.</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B lo dice in inglese. Poi scambiatevi.</a:t>
            </a:r>
            <a:endParaRPr lang="en-US" sz="1000" dirty="0"/>
          </a:p>
        </p:txBody>
      </p:sp>
      <p:sp>
        <p:nvSpPr>
          <p:cNvPr id="18" name="pf_365"/>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366" descr="/home/claude/lls-course/v2/cache/3a2_emotional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rl_367"/>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mimes</a:t>
            </a:r>
            <a:endParaRPr lang="en-US" sz="1100" dirty="0"/>
          </a:p>
        </p:txBody>
      </p:sp>
      <p:sp>
        <p:nvSpPr>
          <p:cNvPr id="21" name="R1_w368"/>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adjusting the satnav</a:t>
            </a:r>
            <a:endParaRPr lang="en-US" sz="1700" dirty="0"/>
          </a:p>
        </p:txBody>
      </p:sp>
      <p:sp>
        <p:nvSpPr>
          <p:cNvPr id="22" name="R3_w369"/>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eating or drinking</a:t>
            </a:r>
            <a:endParaRPr lang="en-US" sz="1700" dirty="0"/>
          </a:p>
        </p:txBody>
      </p:sp>
      <p:sp>
        <p:nvSpPr>
          <p:cNvPr id="23" name="R5_w370"/>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feeling tired</a:t>
            </a:r>
            <a:endParaRPr lang="en-US" sz="1700" dirty="0"/>
          </a:p>
        </p:txBody>
      </p:sp>
      <p:sp>
        <p:nvSpPr>
          <p:cNvPr id="24" name="R7_w371"/>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reaching for something</a:t>
            </a:r>
            <a:endParaRPr lang="en-US" sz="1700" dirty="0"/>
          </a:p>
        </p:txBody>
      </p:sp>
      <p:sp>
        <p:nvSpPr>
          <p:cNvPr id="25" name="rl_372"/>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mimes</a:t>
            </a:r>
            <a:endParaRPr lang="en-US" sz="1100" dirty="0"/>
          </a:p>
        </p:txBody>
      </p:sp>
      <p:sp>
        <p:nvSpPr>
          <p:cNvPr id="26" name="R2_w373"/>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feeling emotional</a:t>
            </a:r>
            <a:endParaRPr lang="en-US" sz="1700" dirty="0"/>
          </a:p>
        </p:txBody>
      </p:sp>
      <p:sp>
        <p:nvSpPr>
          <p:cNvPr id="27" name="R4_w374"/>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adjusting the radio</a:t>
            </a:r>
            <a:endParaRPr lang="en-US" sz="1700" dirty="0"/>
          </a:p>
        </p:txBody>
      </p:sp>
      <p:sp>
        <p:nvSpPr>
          <p:cNvPr id="28" name="R6_w375"/>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talking to a passenger</a:t>
            </a:r>
            <a:endParaRPr lang="en-US" sz="1700" dirty="0"/>
          </a:p>
        </p:txBody>
      </p:sp>
      <p:sp>
        <p:nvSpPr>
          <p:cNvPr id="29" name="R8_w376"/>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looking at something by the road</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78"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379"/>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top 3?</a:t>
            </a:r>
            <a:endParaRPr lang="en-US" sz="2500" dirty="0"/>
          </a:p>
        </p:txBody>
      </p:sp>
      <p:pic>
        <p:nvPicPr>
          <p:cNvPr id="6" name="brP_380"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381"/>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Rank them. 1 = the most dangerous.</a:t>
            </a:r>
            <a:endParaRPr lang="en-US" sz="1250" dirty="0"/>
          </a:p>
        </p:txBody>
      </p:sp>
      <p:sp>
        <p:nvSpPr>
          <p:cNvPr id="8" name="insIT_38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Mettili in ordine. 1 = il più pericoloso.</a:t>
            </a:r>
            <a:endParaRPr lang="en-US" sz="950" dirty="0"/>
          </a:p>
        </p:txBody>
      </p:sp>
      <p:sp>
        <p:nvSpPr>
          <p:cNvPr id="9" name="cmd_38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cmd_384"/>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38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38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3" name="logo_38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8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Listening · prediction   ·   📖 SB p.28 · 5a questions 2–3</a:t>
            </a:r>
            <a:endParaRPr lang="en-US" sz="800" dirty="0"/>
          </a:p>
        </p:txBody>
      </p:sp>
      <p:sp>
        <p:nvSpPr>
          <p:cNvPr id="15" name="pf_389"/>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390" descr="/home/claude/lls-course/v2/cache/3a2_roadside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7" name="cd_391"/>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392"/>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393"/>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394"/>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 think… is the most dangerous.</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…is more dangerous than…</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…isn't as dangerous as…</a:t>
            </a:r>
            <a:endParaRPr lang="en-US" sz="1050" dirty="0"/>
          </a:p>
        </p:txBody>
      </p:sp>
      <p:sp>
        <p:nvSpPr>
          <p:cNvPr id="21" name="R1_qb395"/>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396"/>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Which 3 are the MOST dangerous? Number them 1–3.</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think feeling tired is number 1 – you can fall asleep!</a:t>
            </a:r>
            <a:endParaRPr lang="en-US" sz="1250" dirty="0"/>
          </a:p>
        </p:txBody>
      </p:sp>
      <p:sp>
        <p:nvSpPr>
          <p:cNvPr id="23" name="R2_qb397"/>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398"/>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Which one is the LEAST dangerous?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Talking to a passenger is the least dangerous, I think.</a:t>
            </a:r>
            <a:endParaRPr lang="en-US" sz="1250" dirty="0"/>
          </a:p>
        </p:txBody>
      </p:sp>
      <p:sp>
        <p:nvSpPr>
          <p:cNvPr id="25" name="R3_qb399"/>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400"/>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agree with your partner? Why (not)?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No! I think eating is more dangerous than talking.</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02"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403"/>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Words that run together</a:t>
            </a:r>
            <a:endParaRPr lang="en-US" sz="2500" dirty="0"/>
          </a:p>
        </p:txBody>
      </p:sp>
      <p:pic>
        <p:nvPicPr>
          <p:cNvPr id="6" name="brP_404"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405"/>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Complete with the linked words.</a:t>
            </a:r>
            <a:endParaRPr lang="en-US" sz="1250" dirty="0"/>
          </a:p>
        </p:txBody>
      </p:sp>
      <p:sp>
        <p:nvSpPr>
          <p:cNvPr id="8" name="insIT_40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Completa con le parole collegate.</a:t>
            </a:r>
            <a:endParaRPr lang="en-US" sz="950" dirty="0"/>
          </a:p>
        </p:txBody>
      </p:sp>
      <p:sp>
        <p:nvSpPr>
          <p:cNvPr id="9" name="cmd_40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408"/>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409"/>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alone</a:t>
            </a:r>
            <a:endParaRPr lang="en-US" sz="950" dirty="0"/>
          </a:p>
        </p:txBody>
      </p:sp>
      <p:sp>
        <p:nvSpPr>
          <p:cNvPr id="12" name="tag_410"/>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41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1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Pronunciation · linking   ·   📖 SB p.29 · 5b · audio 3.15</a:t>
            </a:r>
            <a:endParaRPr lang="en-US" sz="800" dirty="0"/>
          </a:p>
        </p:txBody>
      </p:sp>
      <p:sp>
        <p:nvSpPr>
          <p:cNvPr id="15" name="ap_413"/>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3.15  ·  pause after each one</a:t>
            </a:r>
            <a:endParaRPr lang="en-US" sz="1100" dirty="0"/>
          </a:p>
        </p:txBody>
      </p:sp>
      <p:sp>
        <p:nvSpPr>
          <p:cNvPr id="16" name="ah_414"/>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415"/>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416" descr="/home/claude/lls-course/v2/cache/3a2_tired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417"/>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418"/>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419"/>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420"/>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421"/>
          <p:cNvSpPr/>
          <p:nvPr/>
        </p:nvSpPr>
        <p:spPr>
          <a:xfrm>
            <a:off x="3383280" y="1417320"/>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What's the ___ ___ thing you can do…?</a:t>
            </a:r>
            <a:endParaRPr lang="en-US" sz="1200" dirty="0"/>
          </a:p>
        </p:txBody>
      </p:sp>
      <p:sp>
        <p:nvSpPr>
          <p:cNvPr id="26" name="R1_chip422"/>
          <p:cNvSpPr/>
          <p:nvPr/>
        </p:nvSpPr>
        <p:spPr>
          <a:xfrm>
            <a:off x="6812280" y="1417320"/>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most_dangerous</a:t>
            </a:r>
            <a:endParaRPr lang="en-US" sz="1200" dirty="0"/>
          </a:p>
        </p:txBody>
      </p:sp>
      <p:sp>
        <p:nvSpPr>
          <p:cNvPr id="27" name="gq_423"/>
          <p:cNvSpPr/>
          <p:nvPr/>
        </p:nvSpPr>
        <p:spPr>
          <a:xfrm>
            <a:off x="3383280" y="1887583"/>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…you'll probably make ___ ___…</a:t>
            </a:r>
            <a:endParaRPr lang="en-US" sz="1200" dirty="0"/>
          </a:p>
        </p:txBody>
      </p:sp>
      <p:sp>
        <p:nvSpPr>
          <p:cNvPr id="28" name="R2_chip424"/>
          <p:cNvSpPr/>
          <p:nvPr/>
        </p:nvSpPr>
        <p:spPr>
          <a:xfrm>
            <a:off x="6812280" y="1887583"/>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bad_decisions</a:t>
            </a:r>
            <a:endParaRPr lang="en-US" sz="1200" dirty="0"/>
          </a:p>
        </p:txBody>
      </p:sp>
      <p:sp>
        <p:nvSpPr>
          <p:cNvPr id="29" name="gq_425"/>
          <p:cNvSpPr/>
          <p:nvPr/>
        </p:nvSpPr>
        <p:spPr>
          <a:xfrm>
            <a:off x="3383280" y="2357846"/>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…slow down to ___ ___ ___ ___…</a:t>
            </a:r>
            <a:endParaRPr lang="en-US" sz="1200" dirty="0"/>
          </a:p>
        </p:txBody>
      </p:sp>
      <p:sp>
        <p:nvSpPr>
          <p:cNvPr id="30" name="R3_chip426"/>
          <p:cNvSpPr/>
          <p:nvPr/>
        </p:nvSpPr>
        <p:spPr>
          <a:xfrm>
            <a:off x="6812280" y="2357846"/>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look_at_an_accident</a:t>
            </a:r>
            <a:endParaRPr lang="en-US" sz="1200" dirty="0"/>
          </a:p>
        </p:txBody>
      </p:sp>
      <p:sp>
        <p:nvSpPr>
          <p:cNvPr id="31" name="gq_427"/>
          <p:cNvSpPr/>
          <p:nvPr/>
        </p:nvSpPr>
        <p:spPr>
          <a:xfrm>
            <a:off x="3383280" y="2828109"/>
            <a:ext cx="3337560" cy="406255"/>
          </a:xfrm>
          <a:prstGeom prst="roundRect">
            <a:avLst>
              <a:gd name="adj" fmla="val 2250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…a really common ___ ___ ___ ___ motorways.</a:t>
            </a:r>
            <a:endParaRPr lang="en-US" sz="1200" dirty="0"/>
          </a:p>
        </p:txBody>
      </p:sp>
      <p:sp>
        <p:nvSpPr>
          <p:cNvPr id="32" name="R4_chip428"/>
          <p:cNvSpPr/>
          <p:nvPr/>
        </p:nvSpPr>
        <p:spPr>
          <a:xfrm>
            <a:off x="6812280" y="2828109"/>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cause_of_accidents_on</a:t>
            </a:r>
            <a:endParaRPr lang="en-US" sz="1200" dirty="0"/>
          </a:p>
        </p:txBody>
      </p:sp>
      <p:sp>
        <p:nvSpPr>
          <p:cNvPr id="33" name="gq_429"/>
          <p:cNvSpPr/>
          <p:nvPr/>
        </p:nvSpPr>
        <p:spPr>
          <a:xfrm>
            <a:off x="3383280" y="3298371"/>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…makes you ___ ___ likely to ___ ___ ___.</a:t>
            </a:r>
            <a:endParaRPr lang="en-US" sz="1200" dirty="0"/>
          </a:p>
        </p:txBody>
      </p:sp>
      <p:sp>
        <p:nvSpPr>
          <p:cNvPr id="34" name="R5_chip430"/>
          <p:cNvSpPr/>
          <p:nvPr/>
        </p:nvSpPr>
        <p:spPr>
          <a:xfrm>
            <a:off x="6812280" y="3298371"/>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twice_as · have_an_accident</a:t>
            </a:r>
            <a:endParaRPr lang="en-US" sz="1200" dirty="0"/>
          </a:p>
        </p:txBody>
      </p:sp>
      <p:sp>
        <p:nvSpPr>
          <p:cNvPr id="35" name="gq_431"/>
          <p:cNvSpPr/>
          <p:nvPr/>
        </p:nvSpPr>
        <p:spPr>
          <a:xfrm>
            <a:off x="3383280" y="3768634"/>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___ ___ you find ___ ___?</a:t>
            </a:r>
            <a:endParaRPr lang="en-US" sz="1200" dirty="0"/>
          </a:p>
        </p:txBody>
      </p:sp>
      <p:sp>
        <p:nvSpPr>
          <p:cNvPr id="36" name="R6_chip432"/>
          <p:cNvSpPr/>
          <p:nvPr/>
        </p:nvSpPr>
        <p:spPr>
          <a:xfrm>
            <a:off x="6812280" y="3768634"/>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What_did · most_interesting</a:t>
            </a:r>
            <a:endParaRPr lang="en-US" sz="1200" dirty="0"/>
          </a:p>
        </p:txBody>
      </p:sp>
      <p:sp>
        <p:nvSpPr>
          <p:cNvPr id="37" name="gq_433"/>
          <p:cNvSpPr/>
          <p:nvPr/>
        </p:nvSpPr>
        <p:spPr>
          <a:xfrm>
            <a:off x="3383280" y="4238897"/>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…always ___ ___ ___ ___ the road!</a:t>
            </a:r>
            <a:endParaRPr lang="en-US" sz="1200" dirty="0"/>
          </a:p>
        </p:txBody>
      </p:sp>
      <p:sp>
        <p:nvSpPr>
          <p:cNvPr id="38" name="R7_chip434"/>
          <p:cNvSpPr/>
          <p:nvPr/>
        </p:nvSpPr>
        <p:spPr>
          <a:xfrm>
            <a:off x="6812280" y="4238897"/>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keep_your_eyes_on</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7"/>
                                        </p:tgtEl>
                                      </p:cBhvr>
                                    </p:cmd>
                                  </p:childTnLst>
                                </p:cTn>
                              </p:par>
                            </p:childTnLst>
                          </p:cTn>
                        </p:par>
                      </p:childTnLst>
                    </p:cTn>
                  </p:par>
                </p:childTnLst>
              </p:cTn>
              <p:nextCondLst>
                <p:cond evt="onClick" delay="0">
                  <p:tgtEl>
                    <p:spTgt spid="17"/>
                  </p:tgtEl>
                </p:cond>
              </p:nextCondLst>
            </p:seq>
            <p:seq concurrent="1" nextAc="seek">
              <p:cTn id="43" restart="whenNotActive" fill="hold" evtFilter="cancelBubble" nodeType="interactiveSeq">
                <p:stCondLst>
                  <p:cond evt="onClick" delay="0">
                    <p:tgtEl>
                      <p:spTgt spid="18"/>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8"/>
                                        </p:tgtEl>
                                      </p:cBhvr>
                                    </p:cmd>
                                  </p:childTnLst>
                                </p:cTn>
                              </p:par>
                            </p:childTnLst>
                          </p:cTn>
                        </p:par>
                      </p:childTnLst>
                    </p:cTn>
                  </p:par>
                </p:childTnLst>
              </p:cTn>
              <p:nextCondLst>
                <p:cond evt="onClick" delay="0">
                  <p:tgtEl>
                    <p:spTgt spid="18"/>
                  </p:tgtEl>
                </p:cond>
              </p:nextCondLst>
            </p:seq>
            <p:audio>
              <p:cMediaNode vol="80000">
                <p:cTn id="48" fill="hold" display="0">
                  <p:stCondLst>
                    <p:cond delay="indefinite"/>
                  </p:stCondLst>
                  <p:endCondLst>
                    <p:cond evt="onStopAudio" delay="0">
                      <p:tgtEl>
                        <p:sldTgt/>
                      </p:tgtEl>
                    </p:cond>
                  </p:endCondLst>
                </p:cTn>
                <p:tgtEl>
                  <p:spTgt spid="17"/>
                </p:tgtEl>
              </p:cMediaNode>
            </p:audio>
            <p:audio>
              <p:cMediaNode vol="80000">
                <p:cTn id="49" fill="hold" display="0">
                  <p:stCondLst>
                    <p:cond delay="indefinite"/>
                  </p:stCondLst>
                  <p:endCondLst>
                    <p:cond evt="onStopAudio" delay="0">
                      <p:tgtEl>
                        <p:sldTgt/>
                      </p:tgtEl>
                    </p:cond>
                  </p:endCondLst>
                </p:cTn>
                <p:tgtEl>
                  <p:spTgt spid="18"/>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36"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437"/>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top 8 dangers 1/2</a:t>
            </a:r>
            <a:endParaRPr lang="en-US" sz="2500" dirty="0"/>
          </a:p>
        </p:txBody>
      </p:sp>
      <p:pic>
        <p:nvPicPr>
          <p:cNvPr id="6" name="brP_438"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439"/>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Which photo is 1, 2 and 3?</a:t>
            </a:r>
            <a:endParaRPr lang="en-US" sz="1250" dirty="0"/>
          </a:p>
        </p:txBody>
      </p:sp>
      <p:sp>
        <p:nvSpPr>
          <p:cNvPr id="8" name="insIT_44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Quale foto è 1, 2 e 3?</a:t>
            </a:r>
            <a:endParaRPr lang="en-US" sz="950" dirty="0"/>
          </a:p>
        </p:txBody>
      </p:sp>
      <p:sp>
        <p:nvSpPr>
          <p:cNvPr id="9" name="cmd_44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44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44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4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Listening · gist   ·   📖 SB p.29 · 5c · audio 3.16</a:t>
            </a:r>
            <a:endParaRPr lang="en-US" sz="800" dirty="0"/>
          </a:p>
        </p:txBody>
      </p:sp>
      <p:sp>
        <p:nvSpPr>
          <p:cNvPr id="14" name="ap_446"/>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3.16  ·  play once</a:t>
            </a:r>
            <a:endParaRPr lang="en-US" sz="1100" dirty="0"/>
          </a:p>
        </p:txBody>
      </p:sp>
      <p:sp>
        <p:nvSpPr>
          <p:cNvPr id="15" name="ah_44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448"/>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449"/>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450" descr="/home/claude/lls-course/v2/cache/3a2_roadside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451"/>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452"/>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453" descr="/home/claude/lls-course/v2/cache/3a2_emotional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454"/>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pf_455"/>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456" descr="/home/claude/lls-course/v2/cache/3a2_reaching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7" name="bd_457"/>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8" name="cd_458"/>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9" name="ii_459"/>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460"/>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1" name="il_461"/>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Listen. Number the 8 dangers 1–8 in your book.</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Ascolta. Numera gli 8 pericoli 1–8 nel libro.</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Which photo is 1, 2, 3? Were you right?</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Quale foto è 1, 2, 3? Avevi ragione?</a:t>
            </a:r>
            <a:endParaRPr lang="en-US" sz="700" dirty="0"/>
          </a:p>
        </p:txBody>
      </p:sp>
      <p:sp>
        <p:nvSpPr>
          <p:cNvPr id="32" name="lq_462"/>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1</a:t>
            </a:r>
            <a:endParaRPr lang="en-US" sz="1100" dirty="0"/>
          </a:p>
        </p:txBody>
      </p:sp>
      <p:sp>
        <p:nvSpPr>
          <p:cNvPr id="33" name="R1_chip463"/>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 · feeling emotional</a:t>
            </a:r>
            <a:endParaRPr lang="en-US" sz="1050" dirty="0"/>
          </a:p>
        </p:txBody>
      </p:sp>
      <p:sp>
        <p:nvSpPr>
          <p:cNvPr id="34" name="lq_464"/>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2</a:t>
            </a:r>
            <a:endParaRPr lang="en-US" sz="1100" dirty="0"/>
          </a:p>
        </p:txBody>
      </p:sp>
      <p:sp>
        <p:nvSpPr>
          <p:cNvPr id="35" name="R2_chip465"/>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 · reaching for something</a:t>
            </a:r>
            <a:endParaRPr lang="en-US" sz="1050" dirty="0"/>
          </a:p>
        </p:txBody>
      </p:sp>
      <p:sp>
        <p:nvSpPr>
          <p:cNvPr id="36" name="lq_466"/>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3</a:t>
            </a:r>
            <a:endParaRPr lang="en-US" sz="1100" dirty="0"/>
          </a:p>
        </p:txBody>
      </p:sp>
      <p:sp>
        <p:nvSpPr>
          <p:cNvPr id="37" name="R3_chip467"/>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 looking at something by the road</a:t>
            </a:r>
            <a:endParaRPr lang="en-US" sz="1050" dirty="0"/>
          </a:p>
        </p:txBody>
      </p:sp>
      <p:sp>
        <p:nvSpPr>
          <p:cNvPr id="38" name="lq_468"/>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4</a:t>
            </a:r>
            <a:endParaRPr lang="en-US" sz="1100" dirty="0"/>
          </a:p>
        </p:txBody>
      </p:sp>
      <p:sp>
        <p:nvSpPr>
          <p:cNvPr id="39" name="R4_chip469"/>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adjusting the satnav</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audio>
              <p:cMediaNode vol="80000">
                <p:cTn id="33" fill="hold" display="0">
                  <p:stCondLst>
                    <p:cond delay="indefinite"/>
                  </p:stCondLst>
                  <p:endCondLst>
                    <p:cond evt="onStopAudio" delay="0">
                      <p:tgtEl>
                        <p:sldTgt/>
                      </p:tgtEl>
                    </p:cond>
                  </p:endCondLst>
                </p:cTn>
                <p:tgtEl>
                  <p:spTgt spid="16"/>
                </p:tgtEl>
              </p:cMediaNode>
            </p:audio>
            <p:audio>
              <p:cMediaNode vol="80000">
                <p:cTn id="34" fill="hold" display="0">
                  <p:stCondLst>
                    <p:cond delay="indefinite"/>
                  </p:stCondLst>
                  <p:endCondLst>
                    <p:cond evt="onStopAudio" delay="0">
                      <p:tgtEl>
                        <p:sldTgt/>
                      </p:tgtEl>
                    </p:cond>
                  </p:endCondLst>
                </p:cTn>
                <p:tgtEl>
                  <p:spTgt spid="17"/>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7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47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top 8 dangers 2/2</a:t>
            </a:r>
            <a:endParaRPr lang="en-US" sz="2500" dirty="0"/>
          </a:p>
        </p:txBody>
      </p:sp>
      <p:pic>
        <p:nvPicPr>
          <p:cNvPr id="6" name="brP_473" descr="/home/claude/lls-course/v2/assets/brush-pink.png">    </p:cNvPr>
          <p:cNvPicPr>
            <a:picLocks noChangeAspect="1"/>
          </p:cNvPicPr>
          <p:nvPr/>
        </p:nvPicPr>
        <p:blipFill>
          <a:blip r:embed="rId3"/>
          <a:stretch>
            <a:fillRect/>
          </a:stretch>
        </p:blipFill>
        <p:spPr>
          <a:xfrm>
            <a:off x="1207008" y="731520"/>
            <a:ext cx="2295144" cy="402336"/>
          </a:xfrm>
          <a:prstGeom prst="rect">
            <a:avLst/>
          </a:prstGeom>
        </p:spPr>
      </p:pic>
      <p:sp>
        <p:nvSpPr>
          <p:cNvPr id="7" name="ins_474"/>
          <p:cNvSpPr/>
          <p:nvPr/>
        </p:nvSpPr>
        <p:spPr>
          <a:xfrm>
            <a:off x="1353312" y="731520"/>
            <a:ext cx="20391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Check numbers 5–8.</a:t>
            </a:r>
            <a:endParaRPr lang="en-US" sz="1250" dirty="0"/>
          </a:p>
        </p:txBody>
      </p:sp>
      <p:sp>
        <p:nvSpPr>
          <p:cNvPr id="8" name="insIT_47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Controlla i numeri 5–8.</a:t>
            </a:r>
            <a:endParaRPr lang="en-US" sz="950" dirty="0"/>
          </a:p>
        </p:txBody>
      </p:sp>
      <p:sp>
        <p:nvSpPr>
          <p:cNvPr id="9" name="cmd_47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47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47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47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8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Listening · gist   ·   📖 SB p.29 · 5c · audio 3.16</a:t>
            </a:r>
            <a:endParaRPr lang="en-US" sz="800" dirty="0"/>
          </a:p>
        </p:txBody>
      </p:sp>
      <p:sp>
        <p:nvSpPr>
          <p:cNvPr id="14" name="ap_481"/>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3.16  ·  play again if needed</a:t>
            </a:r>
            <a:endParaRPr lang="en-US" sz="1100" dirty="0"/>
          </a:p>
        </p:txBody>
      </p:sp>
      <p:sp>
        <p:nvSpPr>
          <p:cNvPr id="15" name="ah_48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483"/>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484"/>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485" descr="/home/claude/lls-course/v2/cache/3a2_tired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486"/>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487"/>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488" descr="/home/claude/lls-course/v2/cache/3a2_eating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489"/>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cd_490"/>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6" name="ii_491"/>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492"/>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8" name="il_493"/>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Compare numbers 5–8 with a partner.</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Confronta i numeri 5–8 con un compagno.</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Were your top 3 right? Surprised?</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La tua top 3 era giusta? Sorpreso?</a:t>
            </a:r>
            <a:endParaRPr lang="en-US" sz="700" dirty="0"/>
          </a:p>
        </p:txBody>
      </p:sp>
      <p:sp>
        <p:nvSpPr>
          <p:cNvPr id="29" name="lq_494"/>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5</a:t>
            </a:r>
            <a:endParaRPr lang="en-US" sz="1100" dirty="0"/>
          </a:p>
        </p:txBody>
      </p:sp>
      <p:sp>
        <p:nvSpPr>
          <p:cNvPr id="30" name="R1_chip495"/>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 feeling tired</a:t>
            </a:r>
            <a:endParaRPr lang="en-US" sz="1050" dirty="0"/>
          </a:p>
        </p:txBody>
      </p:sp>
      <p:sp>
        <p:nvSpPr>
          <p:cNvPr id="31" name="lq_496"/>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6</a:t>
            </a:r>
            <a:endParaRPr lang="en-US" sz="1100" dirty="0"/>
          </a:p>
        </p:txBody>
      </p:sp>
      <p:sp>
        <p:nvSpPr>
          <p:cNvPr id="32" name="R2_chip497"/>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adjusting the radio</a:t>
            </a:r>
            <a:endParaRPr lang="en-US" sz="1050" dirty="0"/>
          </a:p>
        </p:txBody>
      </p:sp>
      <p:sp>
        <p:nvSpPr>
          <p:cNvPr id="33" name="lq_498"/>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7</a:t>
            </a:r>
            <a:endParaRPr lang="en-US" sz="1100" dirty="0"/>
          </a:p>
        </p:txBody>
      </p:sp>
      <p:sp>
        <p:nvSpPr>
          <p:cNvPr id="34" name="R3_chip499"/>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 · eating or drinking</a:t>
            </a:r>
            <a:endParaRPr lang="en-US" sz="1050" dirty="0"/>
          </a:p>
        </p:txBody>
      </p:sp>
      <p:sp>
        <p:nvSpPr>
          <p:cNvPr id="35" name="lq_500"/>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8</a:t>
            </a:r>
            <a:endParaRPr lang="en-US" sz="1100" dirty="0"/>
          </a:p>
        </p:txBody>
      </p:sp>
      <p:sp>
        <p:nvSpPr>
          <p:cNvPr id="36" name="R4_chip501"/>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talking to a passenger</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audio>
              <p:cMediaNode vol="80000">
                <p:cTn id="33" fill="hold" display="0">
                  <p:stCondLst>
                    <p:cond delay="indefinite"/>
                  </p:stCondLst>
                  <p:endCondLst>
                    <p:cond evt="onStopAudio" delay="0">
                      <p:tgtEl>
                        <p:sldTgt/>
                      </p:tgtEl>
                    </p:cond>
                  </p:endCondLst>
                </p:cTn>
                <p:tgtEl>
                  <p:spTgt spid="16"/>
                </p:tgtEl>
              </p:cMediaNode>
            </p:audio>
            <p:audio>
              <p:cMediaNode vol="80000">
                <p:cTn id="34" fill="hold" display="0">
                  <p:stCondLst>
                    <p:cond delay="indefinite"/>
                  </p:stCondLst>
                  <p:endCondLst>
                    <p:cond evt="onStopAudio" delay="0">
                      <p:tgtEl>
                        <p:sldTgt/>
                      </p:tgtEl>
                    </p:cond>
                  </p:endCondLst>
                </p:cTn>
                <p:tgtEl>
                  <p:spTgt spid="17"/>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2"/>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03"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504"/>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Listen again: the facts</a:t>
            </a:r>
            <a:endParaRPr lang="en-US" sz="2500" dirty="0"/>
          </a:p>
        </p:txBody>
      </p:sp>
      <p:pic>
        <p:nvPicPr>
          <p:cNvPr id="6" name="brP_505"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506"/>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again. Write the number or reason.</a:t>
            </a:r>
            <a:endParaRPr lang="en-US" sz="1250" dirty="0"/>
          </a:p>
        </p:txBody>
      </p:sp>
      <p:sp>
        <p:nvSpPr>
          <p:cNvPr id="8" name="insIT_50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Riascolta. Scrivi il numero o il motivo.</a:t>
            </a:r>
            <a:endParaRPr lang="en-US" sz="950" dirty="0"/>
          </a:p>
        </p:txBody>
      </p:sp>
      <p:sp>
        <p:nvSpPr>
          <p:cNvPr id="9" name="cmd_50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09"/>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51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51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51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1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Listening · detail   ·   📖 SB p.29 · 5d · audio 3.16</a:t>
            </a:r>
            <a:endParaRPr lang="en-US" sz="800" dirty="0"/>
          </a:p>
        </p:txBody>
      </p:sp>
      <p:sp>
        <p:nvSpPr>
          <p:cNvPr id="15" name="ap_514"/>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3.16  ·  play again</a:t>
            </a:r>
            <a:endParaRPr lang="en-US" sz="1100" dirty="0"/>
          </a:p>
        </p:txBody>
      </p:sp>
      <p:sp>
        <p:nvSpPr>
          <p:cNvPr id="16" name="ah_515"/>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516"/>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517" descr="/home/claude/lls-course/v2/cache/3a2_satnav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518"/>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519"/>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520"/>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521"/>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522"/>
          <p:cNvSpPr/>
          <p:nvPr/>
        </p:nvSpPr>
        <p:spPr>
          <a:xfrm>
            <a:off x="3383280" y="141732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1 Emotional: ___ more likely to have an accident</a:t>
            </a:r>
            <a:endParaRPr lang="en-US" sz="950" dirty="0"/>
          </a:p>
        </p:txBody>
      </p:sp>
      <p:sp>
        <p:nvSpPr>
          <p:cNvPr id="26" name="R1_chip523"/>
          <p:cNvSpPr/>
          <p:nvPr/>
        </p:nvSpPr>
        <p:spPr>
          <a:xfrm>
            <a:off x="6812280" y="14173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nearly 10 times</a:t>
            </a:r>
            <a:endParaRPr lang="en-US" sz="1200" dirty="0"/>
          </a:p>
        </p:txBody>
      </p:sp>
      <p:sp>
        <p:nvSpPr>
          <p:cNvPr id="27" name="gq_524"/>
          <p:cNvSpPr/>
          <p:nvPr/>
        </p:nvSpPr>
        <p:spPr>
          <a:xfrm>
            <a:off x="3383280" y="182880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2 Reaching for something: ___ more likely</a:t>
            </a:r>
            <a:endParaRPr lang="en-US" sz="1050" dirty="0"/>
          </a:p>
        </p:txBody>
      </p:sp>
      <p:sp>
        <p:nvSpPr>
          <p:cNvPr id="28" name="R2_chip525"/>
          <p:cNvSpPr/>
          <p:nvPr/>
        </p:nvSpPr>
        <p:spPr>
          <a:xfrm>
            <a:off x="6812280" y="18288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9 times</a:t>
            </a:r>
            <a:endParaRPr lang="en-US" sz="1200" dirty="0"/>
          </a:p>
        </p:txBody>
      </p:sp>
      <p:sp>
        <p:nvSpPr>
          <p:cNvPr id="29" name="gq_526"/>
          <p:cNvSpPr/>
          <p:nvPr/>
        </p:nvSpPr>
        <p:spPr>
          <a:xfrm>
            <a:off x="3383280" y="224028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3 Looking by the road: the chance goes up ___</a:t>
            </a:r>
            <a:endParaRPr lang="en-US" sz="950" dirty="0"/>
          </a:p>
        </p:txBody>
      </p:sp>
      <p:sp>
        <p:nvSpPr>
          <p:cNvPr id="30" name="R3_chip527"/>
          <p:cNvSpPr/>
          <p:nvPr/>
        </p:nvSpPr>
        <p:spPr>
          <a:xfrm>
            <a:off x="6812280" y="22402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over 7 times</a:t>
            </a:r>
            <a:endParaRPr lang="en-US" sz="1200" dirty="0"/>
          </a:p>
        </p:txBody>
      </p:sp>
      <p:sp>
        <p:nvSpPr>
          <p:cNvPr id="31" name="gq_528"/>
          <p:cNvSpPr/>
          <p:nvPr/>
        </p:nvSpPr>
        <p:spPr>
          <a:xfrm>
            <a:off x="3383280" y="265176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4 Adjusting the satnav: ___ more likely</a:t>
            </a:r>
            <a:endParaRPr lang="en-US" sz="1150" dirty="0"/>
          </a:p>
        </p:txBody>
      </p:sp>
      <p:sp>
        <p:nvSpPr>
          <p:cNvPr id="32" name="R4_chip529"/>
          <p:cNvSpPr/>
          <p:nvPr/>
        </p:nvSpPr>
        <p:spPr>
          <a:xfrm>
            <a:off x="6812280" y="265176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nearly 5 times</a:t>
            </a:r>
            <a:endParaRPr lang="en-US" sz="1200" dirty="0"/>
          </a:p>
        </p:txBody>
      </p:sp>
      <p:sp>
        <p:nvSpPr>
          <p:cNvPr id="33" name="gq_530"/>
          <p:cNvSpPr/>
          <p:nvPr/>
        </p:nvSpPr>
        <p:spPr>
          <a:xfrm>
            <a:off x="3383280" y="306324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5 Tired: ___ of drivers drove tired last year</a:t>
            </a:r>
            <a:endParaRPr lang="en-US" sz="1050" dirty="0"/>
          </a:p>
        </p:txBody>
      </p:sp>
      <p:sp>
        <p:nvSpPr>
          <p:cNvPr id="34" name="R5_chip531"/>
          <p:cNvSpPr/>
          <p:nvPr/>
        </p:nvSpPr>
        <p:spPr>
          <a:xfrm>
            <a:off x="6812280" y="306324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60%</a:t>
            </a:r>
            <a:endParaRPr lang="en-US" sz="1200" dirty="0"/>
          </a:p>
        </p:txBody>
      </p:sp>
      <p:sp>
        <p:nvSpPr>
          <p:cNvPr id="35" name="gq_532"/>
          <p:cNvSpPr/>
          <p:nvPr/>
        </p:nvSpPr>
        <p:spPr>
          <a:xfrm>
            <a:off x="3383280" y="347472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Adjusting the radio: ___ likely</a:t>
            </a:r>
            <a:endParaRPr lang="en-US" sz="1200" dirty="0"/>
          </a:p>
        </p:txBody>
      </p:sp>
      <p:sp>
        <p:nvSpPr>
          <p:cNvPr id="36" name="R6_chip533"/>
          <p:cNvSpPr/>
          <p:nvPr/>
        </p:nvSpPr>
        <p:spPr>
          <a:xfrm>
            <a:off x="6812280" y="34747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twice as</a:t>
            </a:r>
            <a:endParaRPr lang="en-US" sz="1200" dirty="0"/>
          </a:p>
        </p:txBody>
      </p:sp>
      <p:sp>
        <p:nvSpPr>
          <p:cNvPr id="37" name="gq_534"/>
          <p:cNvSpPr/>
          <p:nvPr/>
        </p:nvSpPr>
        <p:spPr>
          <a:xfrm>
            <a:off x="3383280" y="388620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7 Eating or drinking: why is it dangerous?</a:t>
            </a:r>
            <a:endParaRPr lang="en-US" sz="1100" dirty="0"/>
          </a:p>
        </p:txBody>
      </p:sp>
      <p:sp>
        <p:nvSpPr>
          <p:cNvPr id="38" name="R7_chip535"/>
          <p:cNvSpPr/>
          <p:nvPr/>
        </p:nvSpPr>
        <p:spPr>
          <a:xfrm>
            <a:off x="6812280" y="38862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one hand off the wheel</a:t>
            </a:r>
            <a:endParaRPr lang="en-US" sz="1200" dirty="0"/>
          </a:p>
        </p:txBody>
      </p:sp>
      <p:sp>
        <p:nvSpPr>
          <p:cNvPr id="39" name="gq_536"/>
          <p:cNvSpPr/>
          <p:nvPr/>
        </p:nvSpPr>
        <p:spPr>
          <a:xfrm>
            <a:off x="3383280" y="429768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8 Talking to a passenger: why?</a:t>
            </a:r>
            <a:endParaRPr lang="en-US" sz="1200" dirty="0"/>
          </a:p>
        </p:txBody>
      </p:sp>
      <p:sp>
        <p:nvSpPr>
          <p:cNvPr id="40" name="R8_chip537"/>
          <p:cNvSpPr/>
          <p:nvPr/>
        </p:nvSpPr>
        <p:spPr>
          <a:xfrm>
            <a:off x="6812280" y="42976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driver turns to look</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7"/>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7"/>
                                        </p:tgtEl>
                                      </p:cBhvr>
                                    </p:cmd>
                                  </p:childTnLst>
                                </p:cTn>
                              </p:par>
                            </p:childTnLst>
                          </p:cTn>
                        </p:par>
                      </p:childTnLst>
                    </p:cTn>
                  </p:par>
                </p:childTnLst>
              </p:cTn>
              <p:nextCondLst>
                <p:cond evt="onClick" delay="0">
                  <p:tgtEl>
                    <p:spTgt spid="17"/>
                  </p:tgtEl>
                </p:cond>
              </p:nextCondLst>
            </p:seq>
            <p:seq concurrent="1" nextAc="seek">
              <p:cTn id="48" restart="whenNotActive" fill="hold" evtFilter="cancelBubble" nodeType="interactiveSeq">
                <p:stCondLst>
                  <p:cond evt="onClick" delay="0">
                    <p:tgtEl>
                      <p:spTgt spid="18"/>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8"/>
                                        </p:tgtEl>
                                      </p:cBhvr>
                                    </p:cmd>
                                  </p:childTnLst>
                                </p:cTn>
                              </p:par>
                            </p:childTnLst>
                          </p:cTn>
                        </p:par>
                      </p:childTnLst>
                    </p:cTn>
                  </p:par>
                </p:childTnLst>
              </p:cTn>
              <p:nextCondLst>
                <p:cond evt="onClick" delay="0">
                  <p:tgtEl>
                    <p:spTgt spid="18"/>
                  </p:tgtEl>
                </p:cond>
              </p:nextCondLst>
            </p:seq>
            <p:audio>
              <p:cMediaNode vol="80000">
                <p:cTn id="53" fill="hold" display="0">
                  <p:stCondLst>
                    <p:cond delay="indefinite"/>
                  </p:stCondLst>
                  <p:endCondLst>
                    <p:cond evt="onStopAudio" delay="0">
                      <p:tgtEl>
                        <p:sldTgt/>
                      </p:tgtEl>
                    </p:cond>
                  </p:endCondLst>
                </p:cTn>
                <p:tgtEl>
                  <p:spTgt spid="17"/>
                </p:tgtEl>
              </p:cMediaNode>
            </p:audio>
            <p:audio>
              <p:cMediaNode vol="80000">
                <p:cTn id="54" fill="hold" display="0">
                  <p:stCondLst>
                    <p:cond delay="indefinite"/>
                  </p:stCondLst>
                  <p:endCondLst>
                    <p:cond evt="onStopAudio" delay="0">
                      <p:tgtEl>
                        <p:sldTgt/>
                      </p:tgtEl>
                    </p:cond>
                  </p:endCondLst>
                </p:cTn>
                <p:tgtEl>
                  <p:spTgt spid="18"/>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39"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40"/>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do YOU think?</a:t>
            </a:r>
            <a:endParaRPr lang="en-US" sz="2400" dirty="0"/>
          </a:p>
        </p:txBody>
      </p:sp>
      <p:pic>
        <p:nvPicPr>
          <p:cNvPr id="6" name="brP_541"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542"/>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Agree or disagree? Say why.</a:t>
            </a:r>
            <a:endParaRPr lang="en-US" sz="1250" dirty="0"/>
          </a:p>
        </p:txBody>
      </p:sp>
      <p:sp>
        <p:nvSpPr>
          <p:cNvPr id="8" name="insIT_54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D'accordo o no? Di' perché.</a:t>
            </a:r>
            <a:endParaRPr lang="en-US" sz="950" dirty="0"/>
          </a:p>
        </p:txBody>
      </p:sp>
      <p:sp>
        <p:nvSpPr>
          <p:cNvPr id="9" name="cmd_544"/>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4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groups</a:t>
            </a:r>
            <a:endParaRPr lang="en-US" sz="950" dirty="0"/>
          </a:p>
        </p:txBody>
      </p:sp>
      <p:sp>
        <p:nvSpPr>
          <p:cNvPr id="11" name="tag_54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4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4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Speaking · giving your opinion   ·   📖 SB p.29 · 5e, 6a, 6b</a:t>
            </a:r>
            <a:endParaRPr lang="en-US" sz="800" dirty="0"/>
          </a:p>
        </p:txBody>
      </p:sp>
      <p:sp>
        <p:nvSpPr>
          <p:cNvPr id="14" name="pf_549"/>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50" descr="/home/claude/lls-course/v2/cache/3a2_cover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551"/>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52"/>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53"/>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54"/>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Personally, I (don't) think…</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In my opinion, … should…</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 (don't) agree, because…</a:t>
            </a:r>
            <a:endParaRPr lang="en-US" sz="1050" dirty="0"/>
          </a:p>
        </p:txBody>
      </p:sp>
      <p:sp>
        <p:nvSpPr>
          <p:cNvPr id="20" name="R1_qb555"/>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56"/>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Number 1 is feeling emotional. Are you surprised?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I thought eating was more dangerous.</a:t>
            </a:r>
            <a:endParaRPr lang="en-US" sz="1250" dirty="0"/>
          </a:p>
        </p:txBody>
      </p:sp>
      <p:sp>
        <p:nvSpPr>
          <p:cNvPr id="22" name="R2_qb557"/>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558"/>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Slow drivers cause more accidents than fast drivers.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don't agree. Fast drivers are more dangerous.</a:t>
            </a:r>
            <a:endParaRPr lang="en-US" sz="1250" dirty="0"/>
          </a:p>
        </p:txBody>
      </p:sp>
      <p:sp>
        <p:nvSpPr>
          <p:cNvPr id="24" name="R3_qb559"/>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560"/>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Speed cameras don't stop accidents, they just make money for the government.</a:t>
            </a:r>
            <a:endParaRPr lang="en-US" sz="850" dirty="0"/>
          </a:p>
          <a:p>
            <a:pPr indent="0" marL="0">
              <a:buNone/>
            </a:pPr>
            <a:r>
              <a:rPr lang="en-US" sz="700" i="1" dirty="0">
                <a:solidFill>
                  <a:srgbClr val="5B6785"/>
                </a:solidFill>
                <a:latin typeface="Segoe UI" pitchFamily="34" charset="0"/>
                <a:ea typeface="Segoe UI" pitchFamily="34" charset="-122"/>
                <a:cs typeface="Segoe UI" pitchFamily="34" charset="-120"/>
              </a:rPr>
              <a:t>e.g. I disagree. People drive more slowly near a speed camera.</a:t>
            </a:r>
            <a:endParaRPr lang="en-US" sz="850" dirty="0"/>
          </a:p>
        </p:txBody>
      </p:sp>
      <p:sp>
        <p:nvSpPr>
          <p:cNvPr id="26" name="R4_qb561"/>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562"/>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It should be illegal to eat or drink when you're driving.</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Personally, I don't think it should be illegal to drink water.</a:t>
            </a:r>
            <a:endParaRPr lang="en-US" sz="1250" dirty="0"/>
          </a:p>
        </p:txBody>
      </p:sp>
      <p:sp>
        <p:nvSpPr>
          <p:cNvPr id="28" name="R5_qb563"/>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564"/>
          <p:cNvSpPr/>
          <p:nvPr/>
        </p:nvSpPr>
        <p:spPr>
          <a:xfrm>
            <a:off x="3675888" y="3642360"/>
            <a:ext cx="45079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minimum age for riding a motorbike should be 25.</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In my opinion, 18 is old enough.</a:t>
            </a:r>
            <a:endParaRPr lang="en-US" sz="1100" dirty="0"/>
          </a:p>
        </p:txBody>
      </p:sp>
      <p:pic>
        <p:nvPicPr>
          <p:cNvPr id="30" name="R5_th565" descr="/home/claude/lls-course/v2/cache/3a2_motorbike_jpg_154x107_18.png">    </p:cNvPr>
          <p:cNvPicPr>
            <a:picLocks noChangeAspect="1"/>
          </p:cNvPicPr>
          <p:nvPr/>
        </p:nvPicPr>
        <p:blipFill>
          <a:blip r:embed="rId6"/>
          <a:stretch>
            <a:fillRect/>
          </a:stretch>
        </p:blipFill>
        <p:spPr>
          <a:xfrm>
            <a:off x="8257032" y="3660648"/>
            <a:ext cx="640080" cy="446532"/>
          </a:xfrm>
          <a:prstGeom prst="rect">
            <a:avLst/>
          </a:prstGeom>
        </p:spPr>
      </p:pic>
      <p:sp>
        <p:nvSpPr>
          <p:cNvPr id="31" name="R6_qb566"/>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567"/>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People who drink and drive should lose their driving licence for life.</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I agree – it's the most dangerous thing you can do.</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6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69"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570"/>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571"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72"/>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57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574"/>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0" name="tag_575"/>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57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57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Exit · what can you remember?</a:t>
            </a:r>
            <a:endParaRPr lang="en-US" sz="800" dirty="0"/>
          </a:p>
        </p:txBody>
      </p:sp>
      <p:sp>
        <p:nvSpPr>
          <p:cNvPr id="13" name="bd_578"/>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579"/>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dangerous things to do when you're driving</a:t>
            </a:r>
            <a:endParaRPr lang="en-US" sz="1400" dirty="0"/>
          </a:p>
        </p:txBody>
      </p:sp>
      <p:sp>
        <p:nvSpPr>
          <p:cNvPr id="15" name="bd_580"/>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581"/>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sentences: one comparative + one superlative</a:t>
            </a:r>
            <a:endParaRPr lang="en-US" sz="1400" dirty="0"/>
          </a:p>
        </p:txBody>
      </p:sp>
      <p:sp>
        <p:nvSpPr>
          <p:cNvPr id="17" name="bd_582"/>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583"/>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sentence with (not) as … as</a:t>
            </a:r>
            <a:endParaRPr lang="en-US" sz="1400" dirty="0"/>
          </a:p>
        </p:txBody>
      </p:sp>
      <p:sp>
        <p:nvSpPr>
          <p:cNvPr id="19" name="cd_584"/>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585"/>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586"/>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587"/>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3A: 3a, 3b, 3c, 4a</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Grammar Bank 3A p.136: a 6–9, b 6–10</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Writing p.117: an article about transport in your town</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3A-2 in the LLS app</a:t>
            </a:r>
            <a:endParaRPr lang="en-US" sz="1150" dirty="0"/>
          </a:p>
        </p:txBody>
      </p:sp>
      <p:sp>
        <p:nvSpPr>
          <p:cNvPr id="23" name="st_588"/>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3B part 1 · Men, women, and children · articles</a:t>
            </a:r>
            <a:endParaRPr lang="en-US" sz="11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8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90"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591"/>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Getting around London</a:t>
            </a:r>
            <a:endParaRPr lang="en-US" sz="2400" dirty="0"/>
          </a:p>
        </p:txBody>
      </p:sp>
      <p:pic>
        <p:nvPicPr>
          <p:cNvPr id="6" name="brP_592"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593"/>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Then read p.117 and check.</a:t>
            </a:r>
            <a:endParaRPr lang="en-US" sz="1250" dirty="0"/>
          </a:p>
        </p:txBody>
      </p:sp>
      <p:sp>
        <p:nvSpPr>
          <p:cNvPr id="8" name="insIT_59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Poi leggi p.117 e controlla.</a:t>
            </a:r>
            <a:endParaRPr lang="en-US" sz="950" dirty="0"/>
          </a:p>
        </p:txBody>
      </p:sp>
      <p:sp>
        <p:nvSpPr>
          <p:cNvPr id="9" name="cmd_59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0" name="cmd_596"/>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1" name="meta_59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59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Writing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3" name="logo_5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Writing · an article for a website   ·   📖 Writing p.117 · 7a, 7b, 7c, 7d</a:t>
            </a:r>
            <a:endParaRPr lang="en-US" sz="800" dirty="0"/>
          </a:p>
        </p:txBody>
      </p:sp>
      <p:sp>
        <p:nvSpPr>
          <p:cNvPr id="15" name="st_601"/>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6" name="cd_602"/>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60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60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9" name="il_605"/>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In London, the cheapest way to travel? → walking!</a:t>
            </a:r>
            <a:endParaRPr lang="en-US" sz="1050" dirty="0"/>
          </a:p>
        </p:txBody>
      </p:sp>
      <p:sp>
        <p:nvSpPr>
          <p:cNvPr id="20" name="pf_606"/>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607" descr="/home/claude/lls-course/v2/cache/3a2_black_cab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2" name="bd_608"/>
          <p:cNvSpPr/>
          <p:nvPr/>
        </p:nvSpPr>
        <p:spPr>
          <a:xfrm>
            <a:off x="3246120" y="1474143"/>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3" name="q_609"/>
          <p:cNvSpPr/>
          <p:nvPr/>
        </p:nvSpPr>
        <p:spPr>
          <a:xfrm>
            <a:off x="3630168" y="1417320"/>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most expensive?</a:t>
            </a:r>
            <a:endParaRPr lang="en-US" sz="1150" dirty="0"/>
          </a:p>
        </p:txBody>
      </p:sp>
      <p:sp>
        <p:nvSpPr>
          <p:cNvPr id="24" name="R1_chip610"/>
          <p:cNvSpPr/>
          <p:nvPr/>
        </p:nvSpPr>
        <p:spPr>
          <a:xfrm>
            <a:off x="5806440" y="1417320"/>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black cab / taxi</a:t>
            </a:r>
            <a:endParaRPr lang="en-US" sz="1000" dirty="0"/>
          </a:p>
        </p:txBody>
      </p:sp>
      <p:sp>
        <p:nvSpPr>
          <p:cNvPr id="25" name="bd_611"/>
          <p:cNvSpPr/>
          <p:nvPr/>
        </p:nvSpPr>
        <p:spPr>
          <a:xfrm>
            <a:off x="3246120" y="194440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6" name="q_612"/>
          <p:cNvSpPr/>
          <p:nvPr/>
        </p:nvSpPr>
        <p:spPr>
          <a:xfrm>
            <a:off x="3630168" y="1887583"/>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healthiest?</a:t>
            </a:r>
            <a:endParaRPr lang="en-US" sz="1150" dirty="0"/>
          </a:p>
        </p:txBody>
      </p:sp>
      <p:sp>
        <p:nvSpPr>
          <p:cNvPr id="27" name="R2_chip613"/>
          <p:cNvSpPr/>
          <p:nvPr/>
        </p:nvSpPr>
        <p:spPr>
          <a:xfrm>
            <a:off x="5806440" y="1887583"/>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cycling</a:t>
            </a:r>
            <a:endParaRPr lang="en-US" sz="1000" dirty="0"/>
          </a:p>
        </p:txBody>
      </p:sp>
      <p:sp>
        <p:nvSpPr>
          <p:cNvPr id="28" name="bd_614"/>
          <p:cNvSpPr/>
          <p:nvPr/>
        </p:nvSpPr>
        <p:spPr>
          <a:xfrm>
            <a:off x="3246120" y="2414669"/>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9" name="q_615"/>
          <p:cNvSpPr/>
          <p:nvPr/>
        </p:nvSpPr>
        <p:spPr>
          <a:xfrm>
            <a:off x="3630168" y="2357846"/>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best for sightseeing?</a:t>
            </a:r>
            <a:endParaRPr lang="en-US" sz="1150" dirty="0"/>
          </a:p>
        </p:txBody>
      </p:sp>
      <p:sp>
        <p:nvSpPr>
          <p:cNvPr id="30" name="R3_chip616"/>
          <p:cNvSpPr/>
          <p:nvPr/>
        </p:nvSpPr>
        <p:spPr>
          <a:xfrm>
            <a:off x="5806440" y="2357846"/>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(double-decker) bus</a:t>
            </a:r>
            <a:endParaRPr lang="en-US" sz="1000" dirty="0"/>
          </a:p>
        </p:txBody>
      </p:sp>
      <p:sp>
        <p:nvSpPr>
          <p:cNvPr id="31" name="bd_617"/>
          <p:cNvSpPr/>
          <p:nvPr/>
        </p:nvSpPr>
        <p:spPr>
          <a:xfrm>
            <a:off x="3246120" y="28849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2" name="q_618"/>
          <p:cNvSpPr/>
          <p:nvPr/>
        </p:nvSpPr>
        <p:spPr>
          <a:xfrm>
            <a:off x="3630168" y="2828109"/>
            <a:ext cx="2103120" cy="424543"/>
          </a:xfrm>
          <a:prstGeom prst="roundRect">
            <a:avLst>
              <a:gd name="adj" fmla="val 2153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safest late at night?</a:t>
            </a:r>
            <a:endParaRPr lang="en-US" sz="1150" dirty="0"/>
          </a:p>
        </p:txBody>
      </p:sp>
      <p:sp>
        <p:nvSpPr>
          <p:cNvPr id="33" name="R4_chip619"/>
          <p:cNvSpPr/>
          <p:nvPr/>
        </p:nvSpPr>
        <p:spPr>
          <a:xfrm>
            <a:off x="5806440" y="2828109"/>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taxi / minicab</a:t>
            </a:r>
            <a:endParaRPr lang="en-US" sz="1000" dirty="0"/>
          </a:p>
        </p:txBody>
      </p:sp>
      <p:sp>
        <p:nvSpPr>
          <p:cNvPr id="34" name="bd_620"/>
          <p:cNvSpPr/>
          <p:nvPr/>
        </p:nvSpPr>
        <p:spPr>
          <a:xfrm>
            <a:off x="3246120" y="3355195"/>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5" name="q_621"/>
          <p:cNvSpPr/>
          <p:nvPr/>
        </p:nvSpPr>
        <p:spPr>
          <a:xfrm>
            <a:off x="3630168" y="3298371"/>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Oyster card: for…?</a:t>
            </a:r>
            <a:endParaRPr lang="en-US" sz="1150" dirty="0"/>
          </a:p>
        </p:txBody>
      </p:sp>
      <p:sp>
        <p:nvSpPr>
          <p:cNvPr id="36" name="R5_chip622"/>
          <p:cNvSpPr/>
          <p:nvPr/>
        </p:nvSpPr>
        <p:spPr>
          <a:xfrm>
            <a:off x="5806440" y="3298371"/>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Underground and buses</a:t>
            </a:r>
            <a:endParaRPr lang="en-US" sz="1000" dirty="0"/>
          </a:p>
        </p:txBody>
      </p:sp>
      <p:sp>
        <p:nvSpPr>
          <p:cNvPr id="37" name="bd_623"/>
          <p:cNvSpPr/>
          <p:nvPr/>
        </p:nvSpPr>
        <p:spPr>
          <a:xfrm>
            <a:off x="3246120" y="3825458"/>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8" name="q_624"/>
          <p:cNvSpPr/>
          <p:nvPr/>
        </p:nvSpPr>
        <p:spPr>
          <a:xfrm>
            <a:off x="3630168" y="3768634"/>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Black cab vs minicab?</a:t>
            </a:r>
            <a:endParaRPr lang="en-US" sz="1150" dirty="0"/>
          </a:p>
        </p:txBody>
      </p:sp>
      <p:sp>
        <p:nvSpPr>
          <p:cNvPr id="39" name="R6_chip625"/>
          <p:cNvSpPr/>
          <p:nvPr/>
        </p:nvSpPr>
        <p:spPr>
          <a:xfrm>
            <a:off x="5806440" y="3768634"/>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cab = more expensive · minicab = book it, cheaper</a:t>
            </a:r>
            <a:endParaRPr lang="en-US" sz="1000" dirty="0"/>
          </a:p>
        </p:txBody>
      </p:sp>
      <p:sp>
        <p:nvSpPr>
          <p:cNvPr id="40" name="bd_626"/>
          <p:cNvSpPr/>
          <p:nvPr/>
        </p:nvSpPr>
        <p:spPr>
          <a:xfrm>
            <a:off x="3246120" y="4295721"/>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1" name="q_627"/>
          <p:cNvSpPr/>
          <p:nvPr/>
        </p:nvSpPr>
        <p:spPr>
          <a:xfrm>
            <a:off x="3630168" y="4238897"/>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7c prepositions 2–7</a:t>
            </a:r>
            <a:endParaRPr lang="en-US" sz="1150" dirty="0"/>
          </a:p>
        </p:txBody>
      </p:sp>
      <p:sp>
        <p:nvSpPr>
          <p:cNvPr id="42" name="R7_chip628"/>
          <p:cNvSpPr/>
          <p:nvPr/>
        </p:nvSpPr>
        <p:spPr>
          <a:xfrm>
            <a:off x="5806440" y="4238897"/>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on · off · on · with · in · at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4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4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2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30"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631"/>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Class records</a:t>
            </a:r>
            <a:endParaRPr lang="en-US" sz="2500" dirty="0"/>
          </a:p>
        </p:txBody>
      </p:sp>
      <p:pic>
        <p:nvPicPr>
          <p:cNvPr id="6" name="brP_632"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633"/>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Stand up! Find the class records.</a:t>
            </a:r>
            <a:endParaRPr lang="en-US" sz="1250" dirty="0"/>
          </a:p>
        </p:txBody>
      </p:sp>
      <p:sp>
        <p:nvSpPr>
          <p:cNvPr id="8" name="insIT_63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 piedi! Trova i record della classe.</a:t>
            </a:r>
            <a:endParaRPr lang="en-US" sz="950" dirty="0"/>
          </a:p>
        </p:txBody>
      </p:sp>
      <p:sp>
        <p:nvSpPr>
          <p:cNvPr id="9" name="cmd_63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63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mingle</a:t>
            </a:r>
            <a:endParaRPr lang="en-US" sz="950" dirty="0"/>
          </a:p>
        </p:txBody>
      </p:sp>
      <p:sp>
        <p:nvSpPr>
          <p:cNvPr id="11" name="tag_63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63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3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3A-2 · Extra game · class records</a:t>
            </a:r>
            <a:endParaRPr lang="en-US" sz="800" dirty="0"/>
          </a:p>
        </p:txBody>
      </p:sp>
      <p:sp>
        <p:nvSpPr>
          <p:cNvPr id="14" name="st_640"/>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641"/>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4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43"/>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644"/>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Choose ONE record. Make the question.</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Scegli UN record. Fai la domanda.</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Stand up and ask EVERYONE.</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Alzati e chiedi a TUTTI.</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Report: "Marco has the longest journey!"</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Riferisci: "Marco ha il viaggio più lungo!"</a:t>
            </a:r>
            <a:endParaRPr lang="en-US" sz="1000" dirty="0"/>
          </a:p>
        </p:txBody>
      </p:sp>
      <p:sp>
        <p:nvSpPr>
          <p:cNvPr id="19" name="pf_645"/>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46" descr="/home/claude/lls-course/v2/cache/3a2_class_records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647"/>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648"/>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longest journey here</a:t>
            </a:r>
            <a:endParaRPr lang="en-US" sz="1100" dirty="0"/>
          </a:p>
        </p:txBody>
      </p:sp>
      <p:sp>
        <p:nvSpPr>
          <p:cNvPr id="23" name="R1_chip649"/>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long does it take you to get here?</a:t>
            </a:r>
            <a:endParaRPr lang="en-US" sz="1100" dirty="0"/>
          </a:p>
        </p:txBody>
      </p:sp>
      <p:sp>
        <p:nvSpPr>
          <p:cNvPr id="24" name="bd_650"/>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651"/>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oldest phone</a:t>
            </a:r>
            <a:endParaRPr lang="en-US" sz="1100" dirty="0"/>
          </a:p>
        </p:txBody>
      </p:sp>
      <p:sp>
        <p:nvSpPr>
          <p:cNvPr id="26" name="R2_chip652"/>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old is your phone?</a:t>
            </a:r>
            <a:endParaRPr lang="en-US" sz="1100" dirty="0"/>
          </a:p>
        </p:txBody>
      </p:sp>
      <p:sp>
        <p:nvSpPr>
          <p:cNvPr id="27" name="bd_653"/>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654"/>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earliest alarm</a:t>
            </a:r>
            <a:endParaRPr lang="en-US" sz="1100" dirty="0"/>
          </a:p>
        </p:txBody>
      </p:sp>
      <p:sp>
        <p:nvSpPr>
          <p:cNvPr id="29" name="R3_chip655"/>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What time does your alarm go off?</a:t>
            </a:r>
            <a:endParaRPr lang="en-US" sz="1100" dirty="0"/>
          </a:p>
        </p:txBody>
      </p:sp>
      <p:sp>
        <p:nvSpPr>
          <p:cNvPr id="30" name="bd_656"/>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657"/>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most cousins</a:t>
            </a:r>
            <a:endParaRPr lang="en-US" sz="1100" dirty="0"/>
          </a:p>
        </p:txBody>
      </p:sp>
      <p:sp>
        <p:nvSpPr>
          <p:cNvPr id="32" name="R4_chip658"/>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many cousins have you got?</a:t>
            </a:r>
            <a:endParaRPr lang="en-US" sz="1100" dirty="0"/>
          </a:p>
        </p:txBody>
      </p:sp>
      <p:sp>
        <p:nvSpPr>
          <p:cNvPr id="33" name="bd_659"/>
          <p:cNvSpPr/>
          <p:nvPr/>
        </p:nvSpPr>
        <p:spPr>
          <a:xfrm>
            <a:off x="3246120" y="3813048"/>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660"/>
          <p:cNvSpPr/>
          <p:nvPr/>
        </p:nvSpPr>
        <p:spPr>
          <a:xfrm>
            <a:off x="3657600" y="3721608"/>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furthest place you've ever been</a:t>
            </a:r>
            <a:endParaRPr lang="en-US" sz="1100" dirty="0"/>
          </a:p>
        </p:txBody>
      </p:sp>
      <p:sp>
        <p:nvSpPr>
          <p:cNvPr id="35" name="R5_chip661"/>
          <p:cNvSpPr/>
          <p:nvPr/>
        </p:nvSpPr>
        <p:spPr>
          <a:xfrm>
            <a:off x="6263640" y="3721608"/>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What's the furthest place you've ever been to?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3A-2 Survive the drive</dc:title>
  <dc:subject>PptxGenJS Presentation</dc:subject>
  <dc:creator>PptxGenJS</dc:creator>
  <cp:lastModifiedBy>PptxGenJS</cp:lastModifiedBy>
  <cp:revision>1</cp:revision>
  <dcterms:created xsi:type="dcterms:W3CDTF">2026-10-12T09:13:52Z</dcterms:created>
  <dcterms:modified xsi:type="dcterms:W3CDTF">2026-10-12T09:13:52Z</dcterms:modified>
</cp:coreProperties>
</file>