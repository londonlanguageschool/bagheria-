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optional lead-in (books closed): name two jobs in a restaurant, connected with transport, in a hospital, outside, in entertainment. Then the THINK question: how can you lose your job on Monday and have your own business by Friday? Take 3–4 ideas. Click: the example. The answer is Clare's story (next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Practical English 4 (3 min)
REVISION (3 min). Pairs make and answer one suggestion each for the weekend (polite refusal + alternative). Then the unjumble 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WARMER (4 min). Speed race: pairs write the sentence and stand up; the first pair to stand up AND say it with good intonation gets the point. Click once per line. Follow-up: who said each one? (1 Paul · 2 Paul · 3 Jenny · 4 Jenny · 5 Paul · 6 Rob).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Clare's story (5 min)
VOCABULARY (5 min). SB 1a: pairs look at pictures 1–9 and complete the story; 1b: play 8.1 from the book to check (book order: E1 · I2 · G3 · D4 · C5 · F6 · H7 · A8 · B9). Click once per sentence. TG notes: set up = start (a business); apply for = ask a company for a job; CV = curriculum vitae; overtime = extra hours; be / get sacked = lose your job. job (countable) vs work (uncountable): ✗ a work → ✓ a job. Then pairs look only at the pictures and retell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work (5 min)
VOCABULARY (5 min). Vocabulary Bank p.163: 1 Verb phrases (8.2), 2 Saying what you do (8.3) – play from the book. One click per phrase shows the Italian. sacked = because of YOU; made redundant = the company doesn't need you. Silent g in resign; temporary /ˈtemprəri/. Quick personalisation: 'Which of these has happened to someone in your family?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word-building (4 min)
WORD-BUILDING (4 min). Pairs make the nouns (-ion / -ment) and the jobs (-ist, -er, -ian, -or); click once per word – the stressed syllable is in capitals. Note how the stress moves: QUALify → qualifiCAtion, apPLY → appliCAtion. Also: resign → resigNAtion, law → LAWyer, farm → FARmer. Activation (TG): two more jobs for each ending – hairdresser, actor, electrician, receptionist.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word stress (3 min)
PRONUNCIATION (3 min). 2a: the stressed syllable follows the ˈ in the phonetics. Pairs say each word, then click. Italian traps: SAlary (not saLAry), PERmanent (not perMAnent). Change the energy: the class stands up on the stressed syllable.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someone you know (4 min)
SPEAKING (4 min). The book's questions (2c). B says who the person is; A asks and asks more questions (2d); then swap. Listen for word stress on SAlary, PERmanent, TEMporary. The last answer already uses hate + -ing → leads into the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class story (TPRS) (5 min)
TPRS CLASS STORY (5 min) – a funny sequel to Clare's story that recycles the gerund / infinitive patterns many times BEFORE the questionnaire. Click once per line. For each line: 1) say it, 2) ask the questions round the class (yes/no → either/or → what/why), 3) let the CLASS change details (accept their idea and use it in later lines): 'Did she decide to tell him? No? What did she decide to do?' Students answer briefly; repeat the full sentence yourself, stressing the pattern (decided TO tell, good at MAKING). Finish: 'What happens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questionnaire 1/2 (B1 Adults Exam: start here 13 Oct) (5 min)
GRAMMAR PRESENTATION (5 min). B1 ADULTS EXAM: on 8 Oct the class stopped here – start the lesson on this slide (after a 2-minute recap of the work words). 3a: students write the verbs in the right form by instinct (rules come later); click once per sentence. Answers (TG): 2 helping · 3 not earning · 4 listening · 5 making · 6 Taking · 7 to work · 8 managing. 3b: tick only the sentences you STRONGLY agree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questionnaire 2/2 (5 min)
QUESTIONNAIRE 2/2 (5 min). Answers (TG): 9 expressing · 10 to follow · 11 to be · 12 improvising · 13 Doing · 14 solving · 15 to understand · 16 to calculate. 3b: students compare their ticks with a partner. 3c: Communication 'Match your personality to the job' (SB p.108) – each student reads the paragraph for the section (A–D) with the most ticks (both if equal). Feedback: is that the job you'd like? Do you agree?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discovery (3 min)
GUIDED DISCOVERY (3 min). SB 3d: pairs look back at the questionnaire and complete the rules; click once per rule. Answers (TG): 1 the gerund · 2 to + infinitive · 3 to + infinitive · 4 the gerund · 5 the gerund.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gerunds and infinitives (5 min)
POP-UP GRAMMAR (5 min). Elicit each column before clicking. Grammar Bank audio 8.6–8.8 (listen and repeat) – play from the book. TG notes: there are three forms: to go, go, going. Gerund after prepositions and phrasal verbs, as the subject, and after enjoy, hate, like, love, don't mind, spend time, feel like, give up, finish, keep, stop, go on…; to + infinitive after adjectives, for purpose, and after want, need, would like, decide, hope, plan, learn, try, forget, remember, promise, offer, pretend…; infinitive without to after modals and make / let + object. like + -ing = enjoy; like to (BrE) = I think it's a good idea. Students must LEARN which form follows each verb – check the full lists in the Grammar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· practice (4 min)
CONTROLLED PRACTICE (4 min). Grammar Bank 8A b (the book's sentences, answers from the TG key). Pairs say the sentence; click once per line; a student says WHICH rule it is (after a verb? after let?). The rest of the Grammar Bank exercises are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five things about me (6 min)
SPEAKING (6 min). SB 3f: students write something for FIVE prompts (six on the slide; the book has ten – see p.77). 3g: groups of 3–4 tell each other and ask questions (model: 'I'd love to be an architect.' – 'Why?' – 'Because I think it would be great to…'). The others can guess which prompt each answer goes with. Personalisation with boundaries: no names of classmates. Communicative photocopiable 8A 'I think…' (B1_8A_Photocopiables.pdf p.3) is an alternative if you have it printed.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Exit · what can you remember? (2 min)
RETRIEVAL EXIT (2 min). Homework: Workbook 8A 1a, 1b (work vocabulary), 3a, 3b (gerunds and infinitives) + Grammar Bank 8A a 6–10, b 6–9 + the 8A-1 homework sheet (easier version available). Answers are in the teacher key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Extra · words with different meanings (5 min)
EXTRA (5 min). SB 1d: pairs explain the difference; click once per pair (TG answers). Then pairs write one new sentence for each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pp.76–77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right job for you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Work, word stress,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 learn work words: overtime, get promoted, resign…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work words with the right stress: SAlary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-ing or to? I enjoy working · I'd like to work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🧭  find the right job for your personality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she started selling cakes online!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8a1_clare_cakes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Sacked on Monday… her own business by Friday! How?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suggestion to your partner for this weekend.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una proposta al compagno per questo weekend.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Revision · Practical English 4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spare_work_teamwork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Practical English 4: suggestions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Shall we…? Let's… Why don't…?</a:t>
            </a:r>
            <a:endParaRPr lang="en-US" sz="105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a suggestion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out tonight?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go dancing!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join me?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staying in?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 idea! / Sounds good!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very keen on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running.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I can't.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…?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we…?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416552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Let's…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276088" y="4178808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don't you…?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835140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about…?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3246120" y="4544568"/>
            <a:ext cx="156362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keen on…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Unjumble it – fast!</a:t>
            </a:r>
            <a:endParaRPr lang="en-US" sz="25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Pairs: put the words in order. First pair to stand up wins!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coppia: mettete le parole in ordine. Vince la prima coppia in piedi!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5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Warmer · last lesson   ·   📖 Revision of Practical English 4 · audio 7.25, 7.28</a:t>
            </a:r>
            <a:endParaRPr lang="en-US" sz="800" dirty="0"/>
          </a:p>
        </p:txBody>
      </p:sp>
      <p:sp>
        <p:nvSpPr>
          <p:cNvPr id="14" name="cd_57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0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words.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le parole.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the sentence. Stand up!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la frase. Alzati!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it with good intonation = 1 point.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Dilla con una buona intonazione = 1 punto.</a:t>
            </a:r>
            <a:endParaRPr lang="en-US" sz="1100" dirty="0"/>
          </a:p>
        </p:txBody>
      </p:sp>
      <p:sp>
        <p:nvSpPr>
          <p:cNvPr id="18" name="st_61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/ do / what / now / we</a:t>
            </a:r>
            <a:endParaRPr lang="en-US" sz="1100" dirty="0"/>
          </a:p>
        </p:txBody>
      </p:sp>
      <p:sp>
        <p:nvSpPr>
          <p:cNvPr id="21" name="R1_chip6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shall we do now?</a:t>
            </a:r>
            <a:endParaRPr lang="en-US" sz="1100" dirty="0"/>
          </a:p>
        </p:txBody>
      </p:sp>
      <p:sp>
        <p:nvSpPr>
          <p:cNvPr id="22" name="bd_6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/ let's / dancing</a:t>
            </a:r>
            <a:endParaRPr lang="en-US" sz="1100" dirty="0"/>
          </a:p>
        </p:txBody>
      </p:sp>
      <p:sp>
        <p:nvSpPr>
          <p:cNvPr id="24" name="R2_chip6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Let's go dancing!</a:t>
            </a:r>
            <a:endParaRPr lang="en-US" sz="1100" dirty="0"/>
          </a:p>
        </p:txBody>
      </p:sp>
      <p:sp>
        <p:nvSpPr>
          <p:cNvPr id="25" name="bd_6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6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/ you / why / me / join</a:t>
            </a:r>
            <a:endParaRPr lang="en-US" sz="1100" dirty="0"/>
          </a:p>
        </p:txBody>
      </p:sp>
      <p:sp>
        <p:nvSpPr>
          <p:cNvPr id="27" name="R3_chip7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Why don't you join me?</a:t>
            </a:r>
            <a:endParaRPr lang="en-US" sz="1100" dirty="0"/>
          </a:p>
        </p:txBody>
      </p:sp>
      <p:sp>
        <p:nvSpPr>
          <p:cNvPr id="28" name="bd_7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/ staying / what / in</a:t>
            </a:r>
            <a:endParaRPr lang="en-US" sz="1100" dirty="0"/>
          </a:p>
        </p:txBody>
      </p:sp>
      <p:sp>
        <p:nvSpPr>
          <p:cNvPr id="30" name="R4_chip7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about staying in?</a:t>
            </a:r>
            <a:endParaRPr lang="en-US" sz="1100" dirty="0"/>
          </a:p>
        </p:txBody>
      </p:sp>
      <p:sp>
        <p:nvSpPr>
          <p:cNvPr id="31" name="bd_7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keen / I'm / on / very / not / running</a:t>
            </a:r>
            <a:endParaRPr lang="en-US" sz="1100" dirty="0"/>
          </a:p>
        </p:txBody>
      </p:sp>
      <p:sp>
        <p:nvSpPr>
          <p:cNvPr id="33" name="R5_chip7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not very keen on running.</a:t>
            </a:r>
            <a:endParaRPr lang="en-US" sz="1100" dirty="0"/>
          </a:p>
        </p:txBody>
      </p:sp>
      <p:sp>
        <p:nvSpPr>
          <p:cNvPr id="34" name="bd_7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happen / won't / again / it</a:t>
            </a:r>
            <a:endParaRPr lang="en-US" sz="1100" dirty="0"/>
          </a:p>
        </p:txBody>
      </p:sp>
      <p:sp>
        <p:nvSpPr>
          <p:cNvPr id="36" name="R6_chip7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won't happen again.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82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story</a:t>
            </a:r>
            <a:endParaRPr lang="en-US" sz="2500" dirty="0"/>
          </a:p>
        </p:txBody>
      </p:sp>
      <p:pic>
        <p:nvPicPr>
          <p:cNvPr id="6" name="brP_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84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pictures. Complete Clare's story.</a:t>
            </a:r>
            <a:endParaRPr lang="en-US" sz="1250" dirty="0"/>
          </a:p>
        </p:txBody>
      </p:sp>
      <p:sp>
        <p:nvSpPr>
          <p:cNvPr id="8" name="insIT_8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le immagini. Completa la storia di Clare.</a:t>
            </a:r>
            <a:endParaRPr lang="en-US" sz="950" dirty="0"/>
          </a:p>
        </p:txBody>
      </p:sp>
      <p:sp>
        <p:nvSpPr>
          <p:cNvPr id="9" name="cmd_8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8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8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8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Vocabulary · Clare's story   ·   📖 SB p.76 · 1a, 1b · audio 8.1 (play from the book)</a:t>
            </a:r>
            <a:endParaRPr lang="en-US" sz="800" dirty="0"/>
          </a:p>
        </p:txBody>
      </p:sp>
      <p:sp>
        <p:nvSpPr>
          <p:cNvPr id="15" name="cd_9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9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Clare worked for a marketing company.</a:t>
            </a:r>
            <a:endParaRPr lang="en-US" sz="1050" dirty="0"/>
          </a:p>
        </p:txBody>
      </p:sp>
      <p:sp>
        <p:nvSpPr>
          <p:cNvPr id="19" name="pf_96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97" descr="/home/claude/lls-course/v2/cache/8a1_clare_story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98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</a:t>
            </a:r>
            <a:endParaRPr lang="en-US" sz="1100" dirty="0"/>
          </a:p>
        </p:txBody>
      </p:sp>
      <p:sp>
        <p:nvSpPr>
          <p:cNvPr id="22" name="aw_99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3" name="bd_100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101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worked long hours and did ___.</a:t>
            </a:r>
            <a:endParaRPr lang="en-US" sz="1050" dirty="0"/>
          </a:p>
        </p:txBody>
      </p:sp>
      <p:sp>
        <p:nvSpPr>
          <p:cNvPr id="25" name="R1_chip102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000" dirty="0"/>
          </a:p>
        </p:txBody>
      </p:sp>
      <p:sp>
        <p:nvSpPr>
          <p:cNvPr id="26" name="bd_103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104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a good ___, but didn't like her boss.</a:t>
            </a:r>
            <a:endParaRPr lang="en-US" sz="1050" dirty="0"/>
          </a:p>
        </p:txBody>
      </p:sp>
      <p:sp>
        <p:nvSpPr>
          <p:cNvPr id="28" name="R2_chip105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000" dirty="0"/>
          </a:p>
        </p:txBody>
      </p:sp>
      <p:sp>
        <p:nvSpPr>
          <p:cNvPr id="29" name="bd_106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107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had an argument, and she was ___.</a:t>
            </a:r>
            <a:endParaRPr lang="en-US" sz="1050" dirty="0"/>
          </a:p>
        </p:txBody>
      </p:sp>
      <p:sp>
        <p:nvSpPr>
          <p:cNvPr id="31" name="R3_chip108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sacked</a:t>
            </a:r>
            <a:endParaRPr lang="en-US" sz="1000" dirty="0"/>
          </a:p>
        </p:txBody>
      </p:sp>
      <p:sp>
        <p:nvSpPr>
          <p:cNvPr id="32" name="bd_109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110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___ and looked for a job.</a:t>
            </a:r>
            <a:endParaRPr lang="en-US" sz="1050" dirty="0"/>
          </a:p>
        </p:txBody>
      </p:sp>
      <p:sp>
        <p:nvSpPr>
          <p:cNvPr id="34" name="R4_chip111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unemployed</a:t>
            </a:r>
            <a:endParaRPr lang="en-US" sz="1000" dirty="0"/>
          </a:p>
        </p:txBody>
      </p:sp>
      <p:sp>
        <p:nvSpPr>
          <p:cNvPr id="35" name="bd_112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113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___ for a lot of jobs and sent CVs.</a:t>
            </a:r>
            <a:endParaRPr lang="en-US" sz="1050" dirty="0"/>
          </a:p>
        </p:txBody>
      </p:sp>
      <p:sp>
        <p:nvSpPr>
          <p:cNvPr id="37" name="R5_chip114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applied</a:t>
            </a:r>
            <a:endParaRPr lang="en-US" sz="1000" dirty="0"/>
          </a:p>
        </p:txBody>
      </p:sp>
      <p:sp>
        <p:nvSpPr>
          <p:cNvPr id="38" name="bd_115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116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had some ___, but didn't get the jobs.</a:t>
            </a:r>
            <a:endParaRPr lang="en-US" sz="1050" dirty="0"/>
          </a:p>
        </p:txBody>
      </p:sp>
      <p:sp>
        <p:nvSpPr>
          <p:cNvPr id="40" name="R6_chip117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41" name="bd_118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q_119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decided to ___ an online cake business.</a:t>
            </a:r>
            <a:endParaRPr lang="en-US" sz="1050" dirty="0"/>
          </a:p>
        </p:txBody>
      </p:sp>
      <p:sp>
        <p:nvSpPr>
          <p:cNvPr id="43" name="R7_chip120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up</a:t>
            </a:r>
            <a:endParaRPr lang="en-US" sz="1000" dirty="0"/>
          </a:p>
        </p:txBody>
      </p:sp>
      <p:sp>
        <p:nvSpPr>
          <p:cNvPr id="44" name="bd_121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q_122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business is ___. She's a success!</a:t>
            </a:r>
            <a:endParaRPr lang="en-US" sz="1050" dirty="0"/>
          </a:p>
        </p:txBody>
      </p:sp>
      <p:sp>
        <p:nvSpPr>
          <p:cNvPr id="46" name="R8_chip123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 very well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126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Work: verbs and phrases</a:t>
            </a:r>
            <a:endParaRPr lang="en-US" sz="2400" dirty="0"/>
          </a:p>
        </p:txBody>
      </p:sp>
      <p:pic>
        <p:nvPicPr>
          <p:cNvPr id="6" name="brP_1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2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phrase. Click: the Italian.</a:t>
            </a:r>
            <a:endParaRPr lang="en-US" sz="1250" dirty="0"/>
          </a:p>
        </p:txBody>
      </p:sp>
      <p:sp>
        <p:nvSpPr>
          <p:cNvPr id="8" name="insIT_12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l'espressione. Clicca: l'italiano.</a:t>
            </a:r>
            <a:endParaRPr lang="en-US" sz="950" dirty="0"/>
          </a:p>
        </p:txBody>
      </p:sp>
      <p:sp>
        <p:nvSpPr>
          <p:cNvPr id="9" name="cmd_1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3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13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1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Vocabulary · work   ·   📖 Vocabulary Bank Work p.163 · audio 8.2, 8.3 (play from the book)</a:t>
            </a:r>
            <a:endParaRPr lang="en-US" sz="800" dirty="0"/>
          </a:p>
        </p:txBody>
      </p:sp>
      <p:sp>
        <p:nvSpPr>
          <p:cNvPr id="14" name="cd_13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3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16" name="en_13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overtime</a:t>
            </a:r>
            <a:endParaRPr lang="en-US" sz="1200" dirty="0"/>
          </a:p>
        </p:txBody>
      </p:sp>
      <p:sp>
        <p:nvSpPr>
          <p:cNvPr id="17" name="R1_it13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gli straordinari</a:t>
            </a:r>
            <a:endParaRPr lang="en-US" sz="1000" dirty="0"/>
          </a:p>
        </p:txBody>
      </p:sp>
      <p:sp>
        <p:nvSpPr>
          <p:cNvPr id="18" name="cd_13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4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0" name="en_14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get promoted</a:t>
            </a:r>
            <a:endParaRPr lang="en-US" sz="1200" dirty="0"/>
          </a:p>
        </p:txBody>
      </p:sp>
      <p:sp>
        <p:nvSpPr>
          <p:cNvPr id="21" name="R2_it14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promosso</a:t>
            </a:r>
            <a:endParaRPr lang="en-US" sz="1000" dirty="0"/>
          </a:p>
        </p:txBody>
      </p:sp>
      <p:sp>
        <p:nvSpPr>
          <p:cNvPr id="22" name="cd_14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4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🌙</a:t>
            </a:r>
            <a:endParaRPr lang="en-US" sz="2000" dirty="0"/>
          </a:p>
        </p:txBody>
      </p:sp>
      <p:sp>
        <p:nvSpPr>
          <p:cNvPr id="24" name="en_14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shifts</a:t>
            </a:r>
            <a:endParaRPr lang="en-US" sz="1200" dirty="0"/>
          </a:p>
        </p:txBody>
      </p:sp>
      <p:sp>
        <p:nvSpPr>
          <p:cNvPr id="25" name="R3_it14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i turni</a:t>
            </a:r>
            <a:endParaRPr lang="en-US" sz="1000" dirty="0"/>
          </a:p>
        </p:txBody>
      </p:sp>
      <p:sp>
        <p:nvSpPr>
          <p:cNvPr id="26" name="cd_14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4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🚪</a:t>
            </a:r>
            <a:endParaRPr lang="en-US" sz="2000" dirty="0"/>
          </a:p>
        </p:txBody>
      </p:sp>
      <p:sp>
        <p:nvSpPr>
          <p:cNvPr id="28" name="en_14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sacked / fired</a:t>
            </a:r>
            <a:endParaRPr lang="en-US" sz="1200" dirty="0"/>
          </a:p>
        </p:txBody>
      </p:sp>
      <p:sp>
        <p:nvSpPr>
          <p:cNvPr id="29" name="R4_it15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licenziato</a:t>
            </a:r>
            <a:endParaRPr lang="en-US" sz="1000" dirty="0"/>
          </a:p>
        </p:txBody>
      </p:sp>
      <p:sp>
        <p:nvSpPr>
          <p:cNvPr id="30" name="cd_15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5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32" name="en_15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made redundant</a:t>
            </a:r>
            <a:endParaRPr lang="en-US" sz="1050" dirty="0"/>
          </a:p>
        </p:txBody>
      </p:sp>
      <p:sp>
        <p:nvSpPr>
          <p:cNvPr id="33" name="R5_it15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licenziato per esubero</a:t>
            </a:r>
            <a:endParaRPr lang="en-US" sz="900" dirty="0"/>
          </a:p>
        </p:txBody>
      </p:sp>
      <p:sp>
        <p:nvSpPr>
          <p:cNvPr id="34" name="cd_15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5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36" name="en_15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resign (silent g!)</a:t>
            </a:r>
            <a:endParaRPr lang="en-US" sz="1200" dirty="0"/>
          </a:p>
        </p:txBody>
      </p:sp>
      <p:sp>
        <p:nvSpPr>
          <p:cNvPr id="37" name="R6_it15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dimettersi</a:t>
            </a:r>
            <a:endParaRPr lang="en-US" sz="1000" dirty="0"/>
          </a:p>
        </p:txBody>
      </p:sp>
      <p:sp>
        <p:nvSpPr>
          <p:cNvPr id="38" name="cd_15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6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0" name="en_16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retire</a:t>
            </a:r>
            <a:endParaRPr lang="en-US" sz="1200" dirty="0"/>
          </a:p>
        </p:txBody>
      </p:sp>
      <p:sp>
        <p:nvSpPr>
          <p:cNvPr id="41" name="R7_it16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andare in pensione</a:t>
            </a:r>
            <a:endParaRPr lang="en-US" sz="1000" dirty="0"/>
          </a:p>
        </p:txBody>
      </p:sp>
      <p:sp>
        <p:nvSpPr>
          <p:cNvPr id="42" name="cd_16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6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4" name="en_16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up a business</a:t>
            </a:r>
            <a:endParaRPr lang="en-US" sz="1150" dirty="0"/>
          </a:p>
        </p:txBody>
      </p:sp>
      <p:sp>
        <p:nvSpPr>
          <p:cNvPr id="45" name="R8_it16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avviare un'attività</a:t>
            </a:r>
            <a:endParaRPr lang="en-US" sz="1000" dirty="0"/>
          </a:p>
        </p:txBody>
      </p:sp>
      <p:sp>
        <p:nvSpPr>
          <p:cNvPr id="46" name="cd_16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16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48" name="en_16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a training course</a:t>
            </a:r>
            <a:endParaRPr lang="en-US" sz="1000" dirty="0"/>
          </a:p>
        </p:txBody>
      </p:sp>
      <p:sp>
        <p:nvSpPr>
          <p:cNvPr id="49" name="R9_it17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un corso di formazione</a:t>
            </a:r>
            <a:endParaRPr lang="en-US" sz="800" dirty="0"/>
          </a:p>
        </p:txBody>
      </p:sp>
      <p:sp>
        <p:nvSpPr>
          <p:cNvPr id="50" name="cd_17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7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52" name="en_17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apply for a job</a:t>
            </a:r>
            <a:endParaRPr lang="en-US" sz="1200" dirty="0"/>
          </a:p>
        </p:txBody>
      </p:sp>
      <p:sp>
        <p:nvSpPr>
          <p:cNvPr id="53" name="R10_it17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candidarsi</a:t>
            </a:r>
            <a:endParaRPr lang="en-US" sz="1000" dirty="0"/>
          </a:p>
        </p:txBody>
      </p:sp>
      <p:sp>
        <p:nvSpPr>
          <p:cNvPr id="54" name="cd_17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17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🏪</a:t>
            </a:r>
            <a:endParaRPr lang="en-US" sz="2000" dirty="0"/>
          </a:p>
        </p:txBody>
      </p:sp>
      <p:sp>
        <p:nvSpPr>
          <p:cNvPr id="56" name="en_17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run a business</a:t>
            </a:r>
            <a:endParaRPr lang="en-US" sz="1200" dirty="0"/>
          </a:p>
        </p:txBody>
      </p:sp>
      <p:sp>
        <p:nvSpPr>
          <p:cNvPr id="57" name="R11_it17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gestire un'attività</a:t>
            </a:r>
            <a:endParaRPr lang="en-US" sz="1000" dirty="0"/>
          </a:p>
        </p:txBody>
      </p:sp>
      <p:sp>
        <p:nvSpPr>
          <p:cNvPr id="58" name="cd_17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8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👑</a:t>
            </a:r>
            <a:endParaRPr lang="en-US" sz="2000" dirty="0"/>
          </a:p>
        </p:txBody>
      </p:sp>
      <p:sp>
        <p:nvSpPr>
          <p:cNvPr id="60" name="en_18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in charge of</a:t>
            </a:r>
            <a:endParaRPr lang="en-US" sz="1200" dirty="0"/>
          </a:p>
        </p:txBody>
      </p:sp>
      <p:sp>
        <p:nvSpPr>
          <p:cNvPr id="61" name="R12_it18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essere responsabile di</a:t>
            </a:r>
            <a:endParaRPr lang="en-US" sz="850" dirty="0"/>
          </a:p>
        </p:txBody>
      </p:sp>
      <p:sp>
        <p:nvSpPr>
          <p:cNvPr id="62" name="cd_183"/>
          <p:cNvSpPr/>
          <p:nvPr/>
        </p:nvSpPr>
        <p:spPr>
          <a:xfrm>
            <a:off x="320040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e_184"/>
          <p:cNvSpPr/>
          <p:nvPr/>
        </p:nvSpPr>
        <p:spPr>
          <a:xfrm>
            <a:off x="393192" y="39959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🧑‍💼</a:t>
            </a:r>
            <a:endParaRPr lang="en-US" sz="2000" dirty="0"/>
          </a:p>
        </p:txBody>
      </p:sp>
      <p:sp>
        <p:nvSpPr>
          <p:cNvPr id="64" name="en_185"/>
          <p:cNvSpPr/>
          <p:nvPr/>
        </p:nvSpPr>
        <p:spPr>
          <a:xfrm>
            <a:off x="978408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self-employed</a:t>
            </a:r>
            <a:endParaRPr lang="en-US" sz="1200" dirty="0"/>
          </a:p>
        </p:txBody>
      </p:sp>
      <p:sp>
        <p:nvSpPr>
          <p:cNvPr id="65" name="R13_it186"/>
          <p:cNvSpPr/>
          <p:nvPr/>
        </p:nvSpPr>
        <p:spPr>
          <a:xfrm>
            <a:off x="978408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lavoratore autonomo</a:t>
            </a:r>
            <a:endParaRPr lang="en-US" sz="950" dirty="0"/>
          </a:p>
        </p:txBody>
      </p:sp>
      <p:sp>
        <p:nvSpPr>
          <p:cNvPr id="66" name="cd_187"/>
          <p:cNvSpPr/>
          <p:nvPr/>
        </p:nvSpPr>
        <p:spPr>
          <a:xfrm>
            <a:off x="2487168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7" name="e_188"/>
          <p:cNvSpPr/>
          <p:nvPr/>
        </p:nvSpPr>
        <p:spPr>
          <a:xfrm>
            <a:off x="2560320" y="39959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68" name="en_189"/>
          <p:cNvSpPr/>
          <p:nvPr/>
        </p:nvSpPr>
        <p:spPr>
          <a:xfrm>
            <a:off x="3145536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freelance</a:t>
            </a:r>
            <a:endParaRPr lang="en-US" sz="1200" dirty="0"/>
          </a:p>
        </p:txBody>
      </p:sp>
      <p:sp>
        <p:nvSpPr>
          <p:cNvPr id="69" name="R14_it190"/>
          <p:cNvSpPr/>
          <p:nvPr/>
        </p:nvSpPr>
        <p:spPr>
          <a:xfrm>
            <a:off x="3145536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libero professionista</a:t>
            </a:r>
            <a:endParaRPr lang="en-US" sz="950" dirty="0"/>
          </a:p>
        </p:txBody>
      </p:sp>
      <p:sp>
        <p:nvSpPr>
          <p:cNvPr id="70" name="cd_191"/>
          <p:cNvSpPr/>
          <p:nvPr/>
        </p:nvSpPr>
        <p:spPr>
          <a:xfrm>
            <a:off x="4654296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1" name="e_192"/>
          <p:cNvSpPr/>
          <p:nvPr/>
        </p:nvSpPr>
        <p:spPr>
          <a:xfrm>
            <a:off x="4727448" y="39959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72" name="en_193"/>
          <p:cNvSpPr/>
          <p:nvPr/>
        </p:nvSpPr>
        <p:spPr>
          <a:xfrm>
            <a:off x="5312664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temporary ≠ permanent</a:t>
            </a:r>
            <a:endParaRPr lang="en-US" sz="1000" dirty="0"/>
          </a:p>
        </p:txBody>
      </p:sp>
      <p:sp>
        <p:nvSpPr>
          <p:cNvPr id="73" name="R15_it194"/>
          <p:cNvSpPr/>
          <p:nvPr/>
        </p:nvSpPr>
        <p:spPr>
          <a:xfrm>
            <a:off x="5312664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tempo determinato ≠ indeterminato</a:t>
            </a:r>
            <a:endParaRPr lang="en-US" sz="800" dirty="0"/>
          </a:p>
        </p:txBody>
      </p:sp>
      <p:sp>
        <p:nvSpPr>
          <p:cNvPr id="74" name="cd_195"/>
          <p:cNvSpPr/>
          <p:nvPr/>
        </p:nvSpPr>
        <p:spPr>
          <a:xfrm>
            <a:off x="6821424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5" name="e_196"/>
          <p:cNvSpPr/>
          <p:nvPr/>
        </p:nvSpPr>
        <p:spPr>
          <a:xfrm>
            <a:off x="6894576" y="39959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🕐</a:t>
            </a:r>
            <a:endParaRPr lang="en-US" sz="2000" dirty="0"/>
          </a:p>
        </p:txBody>
      </p:sp>
      <p:sp>
        <p:nvSpPr>
          <p:cNvPr id="76" name="en_197"/>
          <p:cNvSpPr/>
          <p:nvPr/>
        </p:nvSpPr>
        <p:spPr>
          <a:xfrm>
            <a:off x="7479792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part-time ≠ full-time</a:t>
            </a:r>
            <a:endParaRPr lang="en-US" sz="1000" dirty="0"/>
          </a:p>
        </p:txBody>
      </p:sp>
      <p:sp>
        <p:nvSpPr>
          <p:cNvPr id="77" name="R16_it198"/>
          <p:cNvSpPr/>
          <p:nvPr/>
        </p:nvSpPr>
        <p:spPr>
          <a:xfrm>
            <a:off x="7479792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part-time ≠ a tempo pieno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20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0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the word!</a:t>
            </a:r>
            <a:endParaRPr lang="en-US" sz="2500" dirty="0"/>
          </a:p>
        </p:txBody>
      </p:sp>
      <p:pic>
        <p:nvPicPr>
          <p:cNvPr id="6" name="brP_20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0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noun or the job. Where's the stress?</a:t>
            </a:r>
            <a:endParaRPr lang="en-US" sz="1250" dirty="0"/>
          </a:p>
        </p:txBody>
      </p:sp>
      <p:sp>
        <p:nvSpPr>
          <p:cNvPr id="8" name="insIT_20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 il nome o il mestiere. Dov'è l'accento?</a:t>
            </a:r>
            <a:endParaRPr lang="en-US" sz="950" dirty="0"/>
          </a:p>
        </p:txBody>
      </p:sp>
      <p:sp>
        <p:nvSpPr>
          <p:cNvPr id="9" name="cmd_20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0" name="cmd_20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0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20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2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Vocabulary · word-building   ·   📖 Vocabulary Bank Work p.163 · 3 Word-building · audio 8.4 (play from the book)</a:t>
            </a:r>
            <a:endParaRPr lang="en-US" sz="800" dirty="0"/>
          </a:p>
        </p:txBody>
      </p:sp>
      <p:sp>
        <p:nvSpPr>
          <p:cNvPr id="15" name="cd_21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2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21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→ proMOtion (the stress moves!)</a:t>
            </a:r>
            <a:endParaRPr lang="en-US" sz="1050" dirty="0"/>
          </a:p>
        </p:txBody>
      </p:sp>
      <p:sp>
        <p:nvSpPr>
          <p:cNvPr id="19" name="pf_215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16" descr="/home/claude/lls-course/v2/cache/spare_work_cv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21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8.4</a:t>
            </a:r>
            <a:endParaRPr lang="en-US" sz="1100" dirty="0"/>
          </a:p>
        </p:txBody>
      </p:sp>
      <p:sp>
        <p:nvSpPr>
          <p:cNvPr id="22" name="aw_218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3" name="bd_219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q_220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→</a:t>
            </a:r>
            <a:endParaRPr lang="en-US" sz="1150" dirty="0"/>
          </a:p>
        </p:txBody>
      </p:sp>
      <p:sp>
        <p:nvSpPr>
          <p:cNvPr id="25" name="R1_chip221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appli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00" dirty="0"/>
          </a:p>
        </p:txBody>
      </p:sp>
      <p:sp>
        <p:nvSpPr>
          <p:cNvPr id="26" name="bd_222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q_223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retire →</a:t>
            </a:r>
            <a:endParaRPr lang="en-US" sz="1150" dirty="0"/>
          </a:p>
        </p:txBody>
      </p:sp>
      <p:sp>
        <p:nvSpPr>
          <p:cNvPr id="28" name="R2_chip224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TIRE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00" dirty="0"/>
          </a:p>
        </p:txBody>
      </p:sp>
      <p:sp>
        <p:nvSpPr>
          <p:cNvPr id="29" name="bd_225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q_226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employ →</a:t>
            </a:r>
            <a:endParaRPr lang="en-US" sz="1150" dirty="0"/>
          </a:p>
        </p:txBody>
      </p:sp>
      <p:sp>
        <p:nvSpPr>
          <p:cNvPr id="31" name="R3_chip227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PLOY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</a:t>
            </a:r>
            <a:endParaRPr lang="en-US" sz="1000" dirty="0"/>
          </a:p>
        </p:txBody>
      </p:sp>
      <p:sp>
        <p:nvSpPr>
          <p:cNvPr id="32" name="bd_228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q_229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qualify →</a:t>
            </a:r>
            <a:endParaRPr lang="en-US" sz="1150" dirty="0"/>
          </a:p>
        </p:txBody>
      </p:sp>
      <p:sp>
        <p:nvSpPr>
          <p:cNvPr id="34" name="R4_chip230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</a:t>
            </a:r>
            <a:endParaRPr lang="en-US" sz="1000" dirty="0"/>
          </a:p>
        </p:txBody>
      </p:sp>
      <p:sp>
        <p:nvSpPr>
          <p:cNvPr id="35" name="bd_231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q_232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science →</a:t>
            </a:r>
            <a:endParaRPr lang="en-US" sz="1150" dirty="0"/>
          </a:p>
        </p:txBody>
      </p:sp>
      <p:sp>
        <p:nvSpPr>
          <p:cNvPr id="37" name="R5_chip233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SCI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entist</a:t>
            </a:r>
            <a:endParaRPr lang="en-US" sz="1000" dirty="0"/>
          </a:p>
        </p:txBody>
      </p:sp>
      <p:sp>
        <p:nvSpPr>
          <p:cNvPr id="38" name="bd_23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q_235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→</a:t>
            </a:r>
            <a:endParaRPr lang="en-US" sz="1150" dirty="0"/>
          </a:p>
        </p:txBody>
      </p:sp>
      <p:sp>
        <p:nvSpPr>
          <p:cNvPr id="40" name="R6_chip236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cian</a:t>
            </a:r>
            <a:endParaRPr lang="en-US" sz="1000" dirty="0"/>
          </a:p>
        </p:txBody>
      </p:sp>
      <p:sp>
        <p:nvSpPr>
          <p:cNvPr id="41" name="bd_237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q_238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translate →</a:t>
            </a:r>
            <a:endParaRPr lang="en-US" sz="1150" dirty="0"/>
          </a:p>
        </p:txBody>
      </p:sp>
      <p:sp>
        <p:nvSpPr>
          <p:cNvPr id="43" name="R7_chip239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tor</a:t>
            </a:r>
            <a:endParaRPr lang="en-US" sz="1000" dirty="0"/>
          </a:p>
        </p:txBody>
      </p:sp>
      <p:sp>
        <p:nvSpPr>
          <p:cNvPr id="44" name="bd_240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q_241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pharmacy →</a:t>
            </a:r>
            <a:endParaRPr lang="en-US" sz="1150" dirty="0"/>
          </a:p>
        </p:txBody>
      </p:sp>
      <p:sp>
        <p:nvSpPr>
          <p:cNvPr id="46" name="R8_chip242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PHAR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macist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4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Stress it!</a:t>
            </a:r>
            <a:endParaRPr lang="en-US" sz="2500" dirty="0"/>
          </a:p>
        </p:txBody>
      </p:sp>
      <p:pic>
        <p:nvPicPr>
          <p:cNvPr id="6" name="brP_2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247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syllable is stressed?</a:t>
            </a:r>
            <a:endParaRPr lang="en-US" sz="1250" dirty="0"/>
          </a:p>
        </p:txBody>
      </p:sp>
      <p:sp>
        <p:nvSpPr>
          <p:cNvPr id="8" name="insIT_2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parola. Quale sillaba è accentata?</a:t>
            </a:r>
            <a:endParaRPr lang="en-US" sz="950" dirty="0"/>
          </a:p>
        </p:txBody>
      </p:sp>
      <p:sp>
        <p:nvSpPr>
          <p:cNvPr id="9" name="cmd_2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25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5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2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Pronunciation · word stress   ·   📖 SB p.77 · 2a, 2b · audio 8.5 (play from the book)</a:t>
            </a:r>
            <a:endParaRPr lang="en-US" sz="800" dirty="0"/>
          </a:p>
        </p:txBody>
      </p:sp>
      <p:sp>
        <p:nvSpPr>
          <p:cNvPr id="14" name="cd_25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5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5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5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→ apPLY</a:t>
            </a:r>
            <a:endParaRPr lang="en-US" sz="1050" dirty="0"/>
          </a:p>
        </p:txBody>
      </p:sp>
      <p:sp>
        <p:nvSpPr>
          <p:cNvPr id="18" name="pf_258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59" descr="/home/claude/lls-course/v2/cache/spare_work_job_interview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260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8.5</a:t>
            </a:r>
            <a:endParaRPr lang="en-US" sz="1100" dirty="0"/>
          </a:p>
        </p:txBody>
      </p:sp>
      <p:sp>
        <p:nvSpPr>
          <p:cNvPr id="21" name="aw_261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2" name="bd_262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263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salary</a:t>
            </a:r>
            <a:endParaRPr lang="en-US" sz="1150" dirty="0"/>
          </a:p>
        </p:txBody>
      </p:sp>
      <p:sp>
        <p:nvSpPr>
          <p:cNvPr id="24" name="R1_chip264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lary</a:t>
            </a:r>
            <a:endParaRPr lang="en-US" sz="1000" dirty="0"/>
          </a:p>
        </p:txBody>
      </p:sp>
      <p:sp>
        <p:nvSpPr>
          <p:cNvPr id="25" name="bd_265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266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redundant</a:t>
            </a:r>
            <a:endParaRPr lang="en-US" sz="1150" dirty="0"/>
          </a:p>
        </p:txBody>
      </p:sp>
      <p:sp>
        <p:nvSpPr>
          <p:cNvPr id="27" name="R2_chip267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DUN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dant</a:t>
            </a:r>
            <a:endParaRPr lang="en-US" sz="1000" dirty="0"/>
          </a:p>
        </p:txBody>
      </p:sp>
      <p:sp>
        <p:nvSpPr>
          <p:cNvPr id="28" name="bd_268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269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experience</a:t>
            </a:r>
            <a:endParaRPr lang="en-US" sz="1150" dirty="0"/>
          </a:p>
        </p:txBody>
      </p:sp>
      <p:sp>
        <p:nvSpPr>
          <p:cNvPr id="30" name="R3_chip270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rience</a:t>
            </a:r>
            <a:endParaRPr lang="en-US" sz="1000" dirty="0"/>
          </a:p>
        </p:txBody>
      </p:sp>
      <p:sp>
        <p:nvSpPr>
          <p:cNvPr id="31" name="bd_271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272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overtime</a:t>
            </a:r>
            <a:endParaRPr lang="en-US" sz="1150" dirty="0"/>
          </a:p>
        </p:txBody>
      </p:sp>
      <p:sp>
        <p:nvSpPr>
          <p:cNvPr id="33" name="R4_chip273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vertime</a:t>
            </a:r>
            <a:endParaRPr lang="en-US" sz="1000" dirty="0"/>
          </a:p>
        </p:txBody>
      </p:sp>
      <p:sp>
        <p:nvSpPr>
          <p:cNvPr id="34" name="bd_274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275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permanent</a:t>
            </a:r>
            <a:endParaRPr lang="en-US" sz="1150" dirty="0"/>
          </a:p>
        </p:txBody>
      </p:sp>
      <p:sp>
        <p:nvSpPr>
          <p:cNvPr id="36" name="R5_chip276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manent</a:t>
            </a:r>
            <a:endParaRPr lang="en-US" sz="1000" dirty="0"/>
          </a:p>
        </p:txBody>
      </p:sp>
      <p:sp>
        <p:nvSpPr>
          <p:cNvPr id="37" name="bd_2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q_278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qualifications</a:t>
            </a:r>
            <a:endParaRPr lang="en-US" sz="1150" dirty="0"/>
          </a:p>
        </p:txBody>
      </p:sp>
      <p:sp>
        <p:nvSpPr>
          <p:cNvPr id="39" name="R6_chip279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qualifi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tions</a:t>
            </a:r>
            <a:endParaRPr lang="en-US" sz="1000" dirty="0"/>
          </a:p>
        </p:txBody>
      </p:sp>
      <p:sp>
        <p:nvSpPr>
          <p:cNvPr id="40" name="bd_280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q_281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150" dirty="0"/>
          </a:p>
        </p:txBody>
      </p:sp>
      <p:sp>
        <p:nvSpPr>
          <p:cNvPr id="42" name="R7_chip282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</a:t>
            </a:r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SPON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sible</a:t>
            </a:r>
            <a:endParaRPr lang="en-US" sz="1000" dirty="0"/>
          </a:p>
        </p:txBody>
      </p:sp>
      <p:sp>
        <p:nvSpPr>
          <p:cNvPr id="43" name="bd_283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q_284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temporary</a:t>
            </a:r>
            <a:endParaRPr lang="en-US" sz="1150" dirty="0"/>
          </a:p>
        </p:txBody>
      </p:sp>
      <p:sp>
        <p:nvSpPr>
          <p:cNvPr id="45" name="R8_chip285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</a:t>
            </a:r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porary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about their job</a:t>
            </a:r>
            <a:endParaRPr lang="en-US" sz="25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 of a person you know with a job. Your partner asks!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Pensa a una persona che lavora. Il compagno fa domande!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9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Speaking · someone you know   ·   📖 SB p.77 · 2c, 2d</a:t>
            </a:r>
            <a:endParaRPr lang="en-US" sz="800" dirty="0"/>
          </a:p>
        </p:txBody>
      </p:sp>
      <p:sp>
        <p:nvSpPr>
          <p:cNvPr id="14" name="pf_29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8" descr="/home/claude/lls-course/v2/cache/spare_work_place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29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I'm going to tell you about my cousin.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in charge of… · He works shifts.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Does she like it?</a:t>
            </a:r>
            <a:endParaRPr lang="en-US" sz="900" dirty="0"/>
          </a:p>
        </p:txBody>
      </p:sp>
      <p:sp>
        <p:nvSpPr>
          <p:cNvPr id="20" name="R1_qb30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4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he / she do?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She's a nurse at the hospital in Palermo.</a:t>
            </a:r>
            <a:endParaRPr lang="en-US" sz="1250" dirty="0"/>
          </a:p>
        </p:txBody>
      </p:sp>
      <p:sp>
        <p:nvSpPr>
          <p:cNvPr id="22" name="R2_qb305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6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 time or part time? Temporary or permanent?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Full time, and it's a permanent job.</a:t>
            </a:r>
            <a:endParaRPr lang="en-US" sz="1250" dirty="0"/>
          </a:p>
        </p:txBody>
      </p:sp>
      <p:sp>
        <p:nvSpPr>
          <p:cNvPr id="24" name="R3_qb307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08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hours does he / she work? Any overtime?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She works shifts – sometimes at night.</a:t>
            </a:r>
            <a:endParaRPr lang="en-US" sz="1250" dirty="0"/>
          </a:p>
        </p:txBody>
      </p:sp>
      <p:sp>
        <p:nvSpPr>
          <p:cNvPr id="26" name="R4_qb309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0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get a good salary?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Not bad, but not great!</a:t>
            </a:r>
            <a:endParaRPr lang="en-US" sz="1250" dirty="0"/>
          </a:p>
        </p:txBody>
      </p:sp>
      <p:sp>
        <p:nvSpPr>
          <p:cNvPr id="28" name="R5_qb311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12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Does he / she like the job?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 – she loves helping people.</a:t>
            </a:r>
            <a:endParaRPr lang="en-US" sz="1250" dirty="0"/>
          </a:p>
        </p:txBody>
      </p:sp>
      <p:sp>
        <p:nvSpPr>
          <p:cNvPr id="30" name="R6_qb313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314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like to do his / her job?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 way – I hate working at night!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31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Clare's revenge</a:t>
            </a:r>
            <a:endParaRPr lang="en-US" sz="2500" dirty="0"/>
          </a:p>
        </p:txBody>
      </p:sp>
      <p:pic>
        <p:nvPicPr>
          <p:cNvPr id="6" name="brP_3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1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3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324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Speaking · class story (TPRS)</a:t>
            </a:r>
            <a:endParaRPr lang="en-US" sz="800" dirty="0"/>
          </a:p>
        </p:txBody>
      </p:sp>
      <p:sp>
        <p:nvSpPr>
          <p:cNvPr id="15" name="cd_327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2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2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30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hate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odiare fare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+ person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permettere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to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decidere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afraid of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avere paura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good at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 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+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continuare a</a:t>
            </a:r>
            <a:endParaRPr lang="en-US" sz="1000" dirty="0"/>
          </a:p>
        </p:txBody>
      </p:sp>
      <p:sp>
        <p:nvSpPr>
          <p:cNvPr id="19" name="R1_sb331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2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Clare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hated working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the marketing company. Her boss never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her leave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early.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Did Clare enjoy her job? · Did her boss let her leave early?</a:t>
            </a:r>
            <a:endParaRPr lang="en-US" sz="950" dirty="0"/>
          </a:p>
        </p:txBody>
      </p:sp>
      <p:sp>
        <p:nvSpPr>
          <p:cNvPr id="21" name="R2_sb333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34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day she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tell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him: '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here is terrible!'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What did she decide to do? · Was it a good idea?</a:t>
            </a:r>
            <a:endParaRPr lang="en-US" sz="1250" dirty="0"/>
          </a:p>
        </p:txBody>
      </p:sp>
      <p:sp>
        <p:nvSpPr>
          <p:cNvPr id="23" name="R3_sb335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36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sacked. She was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being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unemployed.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Was she happy or afraid? · Why?</a:t>
            </a:r>
            <a:endParaRPr lang="en-US" sz="1250" dirty="0"/>
          </a:p>
        </p:txBody>
      </p:sp>
      <p:sp>
        <p:nvSpPr>
          <p:cNvPr id="25" name="R4_sb337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38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Clare is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 at making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cakes, so she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set up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online business.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What is Clare good at? · What did she decide to do?</a:t>
            </a:r>
            <a:endParaRPr lang="en-US" sz="950" dirty="0"/>
          </a:p>
        </p:txBody>
      </p:sp>
      <p:sp>
        <p:nvSpPr>
          <p:cNvPr id="27" name="R5_sb339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40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business is hard, but she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enjoys being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own boss.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Is it easy? · Does she enjoy it?</a:t>
            </a:r>
            <a:endParaRPr lang="en-US" sz="1100" dirty="0"/>
          </a:p>
        </p:txBody>
      </p:sp>
      <p:sp>
        <p:nvSpPr>
          <p:cNvPr id="29" name="R6_sb341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2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her old boss? 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keeps ordering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her cakes – every week! 🎂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What does he keep doing? · And you – what are you good at?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1/2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form: -ing or to + verb. Tick ✓ what's true for you.</a:t>
            </a:r>
            <a:endParaRPr lang="en-US" sz="110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i verbi nella forma giusta: -ing o to + verbo. Spunta ✓ ciò che è vero per te.</a:t>
            </a:r>
            <a:endParaRPr lang="en-US" sz="95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5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35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35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Grammar · questionnaire 1/2 (B1 Adults Exam: start here 13 Oct)   ·   📖 SB p.77 · 3a, 3b (answers: TG)</a:t>
            </a:r>
            <a:endParaRPr lang="en-US" sz="800" dirty="0"/>
          </a:p>
        </p:txBody>
      </p:sp>
      <p:sp>
        <p:nvSpPr>
          <p:cNvPr id="15" name="cd_35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35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7" name="ln_357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1 I'd like to work as part of a team. (work)</a:t>
            </a:r>
            <a:endParaRPr lang="en-US" sz="1100" dirty="0"/>
          </a:p>
        </p:txBody>
      </p:sp>
      <p:sp>
        <p:nvSpPr>
          <p:cNvPr id="18" name="ln_358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100" dirty="0"/>
          </a:p>
        </p:txBody>
      </p:sp>
      <p:sp>
        <p:nvSpPr>
          <p:cNvPr id="19" name="R1_lnA359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2 I enjoy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helping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 with their problems. (help)</a:t>
            </a:r>
            <a:endParaRPr lang="en-US" sz="1100" dirty="0"/>
          </a:p>
        </p:txBody>
      </p:sp>
      <p:sp>
        <p:nvSpPr>
          <p:cNvPr id="20" name="ln_360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100" dirty="0"/>
          </a:p>
        </p:txBody>
      </p:sp>
      <p:sp>
        <p:nvSpPr>
          <p:cNvPr id="21" name="R2_lnA361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3 I don't mind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not earning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very large salary. (not earn)</a:t>
            </a:r>
            <a:endParaRPr lang="en-US" sz="1100" dirty="0"/>
          </a:p>
        </p:txBody>
      </p:sp>
      <p:sp>
        <p:nvSpPr>
          <p:cNvPr id="22" name="ln_362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100" dirty="0"/>
          </a:p>
        </p:txBody>
      </p:sp>
      <p:sp>
        <p:nvSpPr>
          <p:cNvPr id="23" name="R3_lnA363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4 I'm good at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listening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people. (listen)</a:t>
            </a:r>
            <a:endParaRPr lang="en-US" sz="1100" dirty="0"/>
          </a:p>
        </p:txBody>
      </p:sp>
      <p:sp>
        <p:nvSpPr>
          <p:cNvPr id="24" name="ln_364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100" dirty="0"/>
          </a:p>
        </p:txBody>
      </p:sp>
      <p:sp>
        <p:nvSpPr>
          <p:cNvPr id="25" name="R4_lnA365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5 I'm good at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making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 decisions. (make)</a:t>
            </a:r>
            <a:endParaRPr lang="en-US" sz="1100" dirty="0"/>
          </a:p>
        </p:txBody>
      </p:sp>
      <p:sp>
        <p:nvSpPr>
          <p:cNvPr id="26" name="ln_366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100" dirty="0"/>
          </a:p>
        </p:txBody>
      </p:sp>
      <p:sp>
        <p:nvSpPr>
          <p:cNvPr id="27" name="R5_lnA367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6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Taking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risks doesn't worry me. (take)</a:t>
            </a:r>
            <a:endParaRPr lang="en-US" sz="1100" dirty="0"/>
          </a:p>
        </p:txBody>
      </p:sp>
      <p:sp>
        <p:nvSpPr>
          <p:cNvPr id="28" name="ln_368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100" dirty="0"/>
          </a:p>
        </p:txBody>
      </p:sp>
      <p:sp>
        <p:nvSpPr>
          <p:cNvPr id="29" name="R6_lnA369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7 I'm happy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work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 myself. (work)</a:t>
            </a:r>
            <a:endParaRPr lang="en-US" sz="1100" dirty="0"/>
          </a:p>
        </p:txBody>
      </p:sp>
      <p:sp>
        <p:nvSpPr>
          <p:cNvPr id="30" name="ln_370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100" dirty="0"/>
          </a:p>
        </p:txBody>
      </p:sp>
      <p:sp>
        <p:nvSpPr>
          <p:cNvPr id="31" name="R7_lnA371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8 I'm not afraid of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managing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large amounts of money. (manage)</a:t>
            </a:r>
            <a:endParaRPr lang="en-US" sz="1100" dirty="0"/>
          </a:p>
        </p:txBody>
      </p:sp>
      <p:sp>
        <p:nvSpPr>
          <p:cNvPr id="32" name="pf_372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373" descr="/home/claude/lls-course/v2/cache/8a1_clare_office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4" name="cd_37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ii_37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6" name="ih_37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7" name="il_37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= sentences 1–4 · B = 5–8</a:t>
            </a:r>
            <a:endParaRPr lang="en-US" sz="8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✓ only if you STRONGLY agree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8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job suits you? 2/2</a:t>
            </a:r>
            <a:endParaRPr lang="en-US" sz="2500" dirty="0"/>
          </a:p>
        </p:txBody>
      </p:sp>
      <p:pic>
        <p:nvPicPr>
          <p:cNvPr id="6" name="brP_3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8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verbs in the right form. Tick ✓ what's true. Which section has most ticks?</a:t>
            </a:r>
            <a:endParaRPr lang="en-US" sz="1100" dirty="0"/>
          </a:p>
        </p:txBody>
      </p:sp>
      <p:sp>
        <p:nvSpPr>
          <p:cNvPr id="8" name="insIT_3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i verbi nella forma giusta. Spunta ✓. Quale sezione ha più spunte?</a:t>
            </a:r>
            <a:endParaRPr lang="en-US" sz="950" dirty="0"/>
          </a:p>
        </p:txBody>
      </p:sp>
      <p:sp>
        <p:nvSpPr>
          <p:cNvPr id="9" name="cmd_3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8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38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38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00" dirty="0"/>
          </a:p>
        </p:txBody>
      </p:sp>
      <p:pic>
        <p:nvPicPr>
          <p:cNvPr id="13" name="logo_3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Grammar · questionnaire 2/2   ·   📖 SB p.77 · 3a, 3b, 3c · Communication p.108</a:t>
            </a:r>
            <a:endParaRPr lang="en-US" sz="800" dirty="0"/>
          </a:p>
        </p:txBody>
      </p:sp>
      <p:sp>
        <p:nvSpPr>
          <p:cNvPr id="15" name="cd_39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39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Match your personality to the job</a:t>
            </a:r>
            <a:endParaRPr lang="en-US" sz="1700" dirty="0"/>
          </a:p>
        </p:txBody>
      </p:sp>
      <p:sp>
        <p:nvSpPr>
          <p:cNvPr id="17" name="ln_392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100" dirty="0"/>
          </a:p>
        </p:txBody>
      </p:sp>
      <p:sp>
        <p:nvSpPr>
          <p:cNvPr id="18" name="R1_lnA393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9 I'm good at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expressing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myself. (express)</a:t>
            </a:r>
            <a:endParaRPr lang="en-US" sz="1100" dirty="0"/>
          </a:p>
        </p:txBody>
      </p:sp>
      <p:sp>
        <p:nvSpPr>
          <p:cNvPr id="19" name="ln_394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100" dirty="0"/>
          </a:p>
        </p:txBody>
      </p:sp>
      <p:sp>
        <p:nvSpPr>
          <p:cNvPr id="20" name="R2_lnA395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10 I always try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follow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my instincts. (follow)</a:t>
            </a:r>
            <a:endParaRPr lang="en-US" sz="1100" dirty="0"/>
          </a:p>
        </p:txBody>
      </p:sp>
      <p:sp>
        <p:nvSpPr>
          <p:cNvPr id="21" name="ln_396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100" dirty="0"/>
          </a:p>
        </p:txBody>
      </p:sp>
      <p:sp>
        <p:nvSpPr>
          <p:cNvPr id="22" name="R3_lnA397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11 It's important for me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be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creative. (be)</a:t>
            </a:r>
            <a:endParaRPr lang="en-US" sz="1100" dirty="0"/>
          </a:p>
        </p:txBody>
      </p:sp>
      <p:sp>
        <p:nvSpPr>
          <p:cNvPr id="23" name="ln_398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100" dirty="0"/>
          </a:p>
        </p:txBody>
      </p:sp>
      <p:sp>
        <p:nvSpPr>
          <p:cNvPr id="24" name="R4_lnA399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12 I enjoy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improvising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(improvise)</a:t>
            </a:r>
            <a:endParaRPr lang="en-US" sz="1100" dirty="0"/>
          </a:p>
        </p:txBody>
      </p:sp>
      <p:sp>
        <p:nvSpPr>
          <p:cNvPr id="25" name="ln_400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100" dirty="0"/>
          </a:p>
        </p:txBody>
      </p:sp>
      <p:sp>
        <p:nvSpPr>
          <p:cNvPr id="26" name="R5_lnA401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13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complex calculations is not difficult for me. (do)</a:t>
            </a:r>
            <a:endParaRPr lang="en-US" sz="1100" dirty="0"/>
          </a:p>
        </p:txBody>
      </p:sp>
      <p:sp>
        <p:nvSpPr>
          <p:cNvPr id="27" name="ln_402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100" dirty="0"/>
          </a:p>
        </p:txBody>
      </p:sp>
      <p:sp>
        <p:nvSpPr>
          <p:cNvPr id="28" name="R6_lnA403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14 I enjoy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solving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logical problems. (solve)</a:t>
            </a:r>
            <a:endParaRPr lang="en-US" sz="1100" dirty="0"/>
          </a:p>
        </p:txBody>
      </p:sp>
      <p:sp>
        <p:nvSpPr>
          <p:cNvPr id="29" name="ln_404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100" dirty="0"/>
          </a:p>
        </p:txBody>
      </p:sp>
      <p:sp>
        <p:nvSpPr>
          <p:cNvPr id="30" name="R7_lnA405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15 I find it easy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understand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theoretical principles. (understand)</a:t>
            </a:r>
            <a:endParaRPr lang="en-US" sz="1100" dirty="0"/>
          </a:p>
        </p:txBody>
      </p:sp>
      <p:sp>
        <p:nvSpPr>
          <p:cNvPr id="31" name="ln_406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(16) ________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100" dirty="0"/>
          </a:p>
        </p:txBody>
      </p:sp>
      <p:sp>
        <p:nvSpPr>
          <p:cNvPr id="32" name="R8_lnA40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16 I am able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to calculate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space and distance. (calculate)</a:t>
            </a:r>
            <a:endParaRPr lang="en-US" sz="1100" dirty="0"/>
          </a:p>
        </p:txBody>
      </p:sp>
      <p:sp>
        <p:nvSpPr>
          <p:cNvPr id="33" name="pf_408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409" descr="/home/claude/lls-course/v2/cache/8a1_clare_cakes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35" name="cd_410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ii_411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7" name="ih_412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8" name="il_413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ticks? → Communication p.108</a:t>
            </a:r>
            <a:endParaRPr lang="en-US" sz="8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that the job you'd like?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41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the rule</a:t>
            </a:r>
            <a:endParaRPr lang="en-US" sz="2500" dirty="0"/>
          </a:p>
        </p:txBody>
      </p:sp>
      <p:pic>
        <p:nvPicPr>
          <p:cNvPr id="6" name="brP_4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1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questionnaire. Complete the rules: -ing or to + verb?</a:t>
            </a:r>
            <a:endParaRPr lang="en-US" sz="1100" dirty="0"/>
          </a:p>
        </p:txBody>
      </p:sp>
      <p:sp>
        <p:nvSpPr>
          <p:cNvPr id="8" name="insIT_41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il questionario. Completa le regole: -ing o to + verbo?</a:t>
            </a:r>
            <a:endParaRPr lang="en-US" sz="950" dirty="0"/>
          </a:p>
        </p:txBody>
      </p:sp>
      <p:sp>
        <p:nvSpPr>
          <p:cNvPr id="9" name="cmd_42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42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1" name="meta_42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2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4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Grammar · discovery   ·   📖 SB p.77 · 3d (answers: TG)</a:t>
            </a:r>
            <a:endParaRPr lang="en-US" sz="800" dirty="0"/>
          </a:p>
        </p:txBody>
      </p:sp>
      <p:sp>
        <p:nvSpPr>
          <p:cNvPr id="15" name="cd_42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2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2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2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enjoy helping people. → after enjoy: -ing</a:t>
            </a:r>
            <a:endParaRPr lang="en-US" sz="1050" dirty="0"/>
          </a:p>
        </p:txBody>
      </p:sp>
      <p:sp>
        <p:nvSpPr>
          <p:cNvPr id="19" name="pf_43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31" descr="/home/claude/lls-course/v2/cache/8a1_clare_offic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3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3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After enjoy and don't mind…</a:t>
            </a:r>
            <a:endParaRPr lang="en-US" sz="1150" dirty="0"/>
          </a:p>
        </p:txBody>
      </p:sp>
      <p:sp>
        <p:nvSpPr>
          <p:cNvPr id="23" name="R1_chip43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00" dirty="0"/>
          </a:p>
        </p:txBody>
      </p:sp>
      <p:sp>
        <p:nvSpPr>
          <p:cNvPr id="24" name="bd_43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3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After would like…</a:t>
            </a:r>
            <a:endParaRPr lang="en-US" sz="1150" dirty="0"/>
          </a:p>
        </p:txBody>
      </p:sp>
      <p:sp>
        <p:nvSpPr>
          <p:cNvPr id="26" name="R2_chip43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00" dirty="0"/>
          </a:p>
        </p:txBody>
      </p:sp>
      <p:sp>
        <p:nvSpPr>
          <p:cNvPr id="27" name="bd_43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3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After adjectives (easy, important)…</a:t>
            </a:r>
            <a:endParaRPr lang="en-US" sz="1150" dirty="0"/>
          </a:p>
        </p:txBody>
      </p:sp>
      <p:sp>
        <p:nvSpPr>
          <p:cNvPr id="29" name="R3_chip44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+ infinitive</a:t>
            </a:r>
            <a:endParaRPr lang="en-US" sz="1000" dirty="0"/>
          </a:p>
        </p:txBody>
      </p:sp>
      <p:sp>
        <p:nvSpPr>
          <p:cNvPr id="30" name="bd_44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4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After prepositions (at, of)…</a:t>
            </a:r>
            <a:endParaRPr lang="en-US" sz="1150" dirty="0"/>
          </a:p>
        </p:txBody>
      </p:sp>
      <p:sp>
        <p:nvSpPr>
          <p:cNvPr id="32" name="R4_chip44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</a:t>
            </a:r>
            <a:endParaRPr lang="en-US" sz="1000" dirty="0"/>
          </a:p>
        </p:txBody>
      </p:sp>
      <p:sp>
        <p:nvSpPr>
          <p:cNvPr id="33" name="bd_44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44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As the subject of a sentence…</a:t>
            </a:r>
            <a:endParaRPr lang="en-US" sz="1150" dirty="0"/>
          </a:p>
        </p:txBody>
      </p:sp>
      <p:sp>
        <p:nvSpPr>
          <p:cNvPr id="35" name="R5_chip44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gerund (-ing): Taking risks…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49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+ verb or verb?</a:t>
            </a:r>
            <a:endParaRPr lang="en-US" sz="2500" dirty="0"/>
          </a:p>
        </p:txBody>
      </p:sp>
      <p:pic>
        <p:nvPicPr>
          <p:cNvPr id="6" name="brP_4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5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forms: going · to go · go. When do we use each?</a:t>
            </a:r>
            <a:endParaRPr lang="en-US" sz="1250" dirty="0"/>
          </a:p>
        </p:txBody>
      </p:sp>
      <p:sp>
        <p:nvSpPr>
          <p:cNvPr id="8" name="insIT_4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 forme: going · to go · go. Quando si usa ognuna?</a:t>
            </a:r>
            <a:endParaRPr lang="en-US" sz="950" dirty="0"/>
          </a:p>
        </p:txBody>
      </p:sp>
      <p:sp>
        <p:nvSpPr>
          <p:cNvPr id="9" name="cmd_4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4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4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4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Grammar · gerunds and infinitives   ·   📖 Grammar Bank 8A p.146 · audio 8.6, 8.7, 8.8 (play from the book)</a:t>
            </a:r>
            <a:endParaRPr lang="en-US" sz="800" dirty="0"/>
          </a:p>
        </p:txBody>
      </p:sp>
      <p:sp>
        <p:nvSpPr>
          <p:cNvPr id="14" name="cd_458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459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(gerund)</a:t>
            </a:r>
            <a:endParaRPr lang="en-US" sz="1250" dirty="0"/>
          </a:p>
        </p:txBody>
      </p:sp>
      <p:sp>
        <p:nvSpPr>
          <p:cNvPr id="16" name="pf_460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61" descr="/home/claude/lls-course/v2/cache/8a1_clare_ca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8" name="ru_462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prepositions · as subject · enjoy, mind, hate, give up…</a:t>
            </a:r>
            <a:endParaRPr lang="en-US" sz="1050" dirty="0"/>
          </a:p>
        </p:txBody>
      </p:sp>
      <p:sp>
        <p:nvSpPr>
          <p:cNvPr id="19" name="R1_rx463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good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team.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job is hard.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mind getting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up early.</a:t>
            </a:r>
            <a:endParaRPr lang="en-US" sz="1050" dirty="0"/>
          </a:p>
        </p:txBody>
      </p:sp>
      <p:sp>
        <p:nvSpPr>
          <p:cNvPr id="20" name="R1_ri464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dopo preposizioni e come soggetto</a:t>
            </a:r>
            <a:endParaRPr lang="en-US" sz="900" dirty="0"/>
          </a:p>
        </p:txBody>
      </p:sp>
      <p:sp>
        <p:nvSpPr>
          <p:cNvPr id="21" name="cd_46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46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 + infinitive</a:t>
            </a:r>
            <a:endParaRPr lang="en-US" sz="1250" dirty="0"/>
          </a:p>
        </p:txBody>
      </p:sp>
      <p:sp>
        <p:nvSpPr>
          <p:cNvPr id="23" name="pf_467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468" descr="/home/claude/lls-course/v2/cache/spare_work_future_pla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5" name="ru_469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adjectives · purpose · want, decide, learn, try…</a:t>
            </a:r>
            <a:endParaRPr lang="en-US" sz="1050" dirty="0"/>
          </a:p>
        </p:txBody>
      </p:sp>
      <p:sp>
        <p:nvSpPr>
          <p:cNvPr id="26" name="R2_rx470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flat is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find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saving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decided to apply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2_ri471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dopo aggettivi e per lo scopo (per…)</a:t>
            </a:r>
            <a:endParaRPr lang="en-US" sz="900" dirty="0"/>
          </a:p>
        </p:txBody>
      </p:sp>
      <p:sp>
        <p:nvSpPr>
          <p:cNvPr id="28" name="cd_472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473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infinitive (no to)</a:t>
            </a:r>
            <a:endParaRPr lang="en-US" sz="1250" dirty="0"/>
          </a:p>
        </p:txBody>
      </p:sp>
      <p:sp>
        <p:nvSpPr>
          <p:cNvPr id="30" name="pf_474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475" descr="/home/claude/lls-course/v2/cache/8a1_clare_sacked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2" name="ru_476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modals · make / let + person</a:t>
            </a:r>
            <a:endParaRPr lang="en-US" sz="1050" dirty="0"/>
          </a:p>
        </p:txBody>
      </p:sp>
      <p:sp>
        <p:nvSpPr>
          <p:cNvPr id="33" name="R3_rx477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drive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hurry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me laugh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didn't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go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out.</a:t>
            </a:r>
            <a:endParaRPr lang="en-US" sz="1050" dirty="0"/>
          </a:p>
        </p:txBody>
      </p:sp>
      <p:sp>
        <p:nvSpPr>
          <p:cNvPr id="34" name="R3_ri478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dopo can, must, make, let</a:t>
            </a:r>
            <a:endParaRPr lang="en-US" sz="900" dirty="0"/>
          </a:p>
        </p:txBody>
      </p:sp>
      <p:sp>
        <p:nvSpPr>
          <p:cNvPr id="35" name="R4_wc479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4_w480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enjoy to cook → ✓ I enjoy cooking   ·   ✗ It's easy finding → ✓ It's easy to find   ·   ✗ She made me to laugh → ✓ She made me laugh   ·   negative: not + -ing / not to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form</a:t>
            </a:r>
            <a:endParaRPr lang="en-US" sz="2500" dirty="0"/>
          </a:p>
        </p:txBody>
      </p:sp>
      <p:pic>
        <p:nvPicPr>
          <p:cNvPr id="6" name="brP_4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48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+ verb or verb? Say the sentence.</a:t>
            </a:r>
            <a:endParaRPr lang="en-US" sz="1250" dirty="0"/>
          </a:p>
        </p:txBody>
      </p:sp>
      <p:sp>
        <p:nvSpPr>
          <p:cNvPr id="8" name="insIT_4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-ing, to + verbo o verbo? Di' la frase.</a:t>
            </a:r>
            <a:endParaRPr lang="en-US" sz="950" dirty="0"/>
          </a:p>
        </p:txBody>
      </p:sp>
      <p:sp>
        <p:nvSpPr>
          <p:cNvPr id="9" name="cmd_4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48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8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49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4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Grammar · practice   ·   📖 Grammar Bank 8A p.146 · b (answers: TG)</a:t>
            </a:r>
            <a:endParaRPr lang="en-US" sz="800" dirty="0"/>
          </a:p>
        </p:txBody>
      </p:sp>
      <p:sp>
        <p:nvSpPr>
          <p:cNvPr id="15" name="cd_49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9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parents are planning ___ before they're 65. (retire) → to retire</a:t>
            </a:r>
            <a:endParaRPr lang="en-US" sz="1050" dirty="0"/>
          </a:p>
        </p:txBody>
      </p:sp>
      <p:sp>
        <p:nvSpPr>
          <p:cNvPr id="19" name="pf_49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98" descr="/home/claude/lls-course/v2/cache/spare_work_career_chang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9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50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Rob spends three hours ___ to work. (commute)</a:t>
            </a:r>
            <a:endParaRPr lang="en-US" sz="1150" dirty="0"/>
          </a:p>
        </p:txBody>
      </p:sp>
      <p:sp>
        <p:nvSpPr>
          <p:cNvPr id="23" name="R1_chip50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commuting</a:t>
            </a:r>
            <a:endParaRPr lang="en-US" sz="1000" dirty="0"/>
          </a:p>
        </p:txBody>
      </p:sp>
      <p:sp>
        <p:nvSpPr>
          <p:cNvPr id="24" name="bd_50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50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agreed ___ about the problems. (not worry)</a:t>
            </a:r>
            <a:endParaRPr lang="en-US" sz="1100" dirty="0"/>
          </a:p>
        </p:txBody>
      </p:sp>
      <p:sp>
        <p:nvSpPr>
          <p:cNvPr id="26" name="R2_chip50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worry</a:t>
            </a:r>
            <a:endParaRPr lang="en-US" sz="1000" dirty="0"/>
          </a:p>
        </p:txBody>
      </p:sp>
      <p:sp>
        <p:nvSpPr>
          <p:cNvPr id="27" name="bd_50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50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remember ___ the door? (lock)</a:t>
            </a:r>
            <a:endParaRPr lang="en-US" sz="1150" dirty="0"/>
          </a:p>
        </p:txBody>
      </p:sp>
      <p:sp>
        <p:nvSpPr>
          <p:cNvPr id="29" name="R3_chip50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lock</a:t>
            </a:r>
            <a:endParaRPr lang="en-US" sz="1000" dirty="0"/>
          </a:p>
        </p:txBody>
      </p:sp>
      <p:sp>
        <p:nvSpPr>
          <p:cNvPr id="30" name="bd_50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50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I decided ___ the shoes. (not buy)</a:t>
            </a:r>
            <a:endParaRPr lang="en-US" sz="1150" dirty="0"/>
          </a:p>
        </p:txBody>
      </p:sp>
      <p:sp>
        <p:nvSpPr>
          <p:cNvPr id="32" name="R4_chip51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to buy</a:t>
            </a:r>
            <a:endParaRPr lang="en-US" sz="1000" dirty="0"/>
          </a:p>
        </p:txBody>
      </p:sp>
      <p:sp>
        <p:nvSpPr>
          <p:cNvPr id="33" name="bd_51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51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manager lets us ___ early on Fridays. (leave)</a:t>
            </a:r>
            <a:endParaRPr lang="en-US" sz="1150" dirty="0"/>
          </a:p>
        </p:txBody>
      </p:sp>
      <p:sp>
        <p:nvSpPr>
          <p:cNvPr id="35" name="R5_chip51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</a:t>
            </a:r>
            <a:endParaRPr lang="en-US" sz="1000" dirty="0"/>
          </a:p>
        </p:txBody>
      </p:sp>
      <p:sp>
        <p:nvSpPr>
          <p:cNvPr id="36" name="bd_51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51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mind ___ overtime in the week. (do)</a:t>
            </a:r>
            <a:endParaRPr lang="en-US" sz="1100" dirty="0"/>
          </a:p>
        </p:txBody>
      </p:sp>
      <p:sp>
        <p:nvSpPr>
          <p:cNvPr id="38" name="R6_chip51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5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51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things about me</a:t>
            </a:r>
            <a:endParaRPr lang="en-US" sz="2500" dirty="0"/>
          </a:p>
        </p:txBody>
      </p:sp>
      <p:pic>
        <p:nvPicPr>
          <p:cNvPr id="6" name="brP_5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something for FIVE of these. Then tell your group!</a:t>
            </a:r>
            <a:endParaRPr lang="en-US" sz="1250" dirty="0"/>
          </a:p>
        </p:txBody>
      </p:sp>
      <p:sp>
        <p:nvSpPr>
          <p:cNvPr id="8" name="insIT_5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qualcosa per CINQUE di questi. Poi racconta al gruppo!</a:t>
            </a:r>
            <a:endParaRPr lang="en-US" sz="950" dirty="0"/>
          </a:p>
        </p:txBody>
      </p:sp>
      <p:sp>
        <p:nvSpPr>
          <p:cNvPr id="9" name="cmd_5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5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52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👨‍👩‍👧 groups</a:t>
            </a:r>
            <a:endParaRPr lang="en-US" sz="950" dirty="0"/>
          </a:p>
        </p:txBody>
      </p:sp>
      <p:sp>
        <p:nvSpPr>
          <p:cNvPr id="12" name="tag_52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5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Speaking · five things about me   ·   📖 SB p.77 · 3f, 3g</a:t>
            </a:r>
            <a:endParaRPr lang="en-US" sz="800" dirty="0"/>
          </a:p>
        </p:txBody>
      </p:sp>
      <p:sp>
        <p:nvSpPr>
          <p:cNvPr id="15" name="pf_529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530" descr="/home/claude/lls-course/v2/cache/spare_work_dream_job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531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532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533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534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love to be an architect. – Why?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Because I think it would be great to…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I'm afraid of… too!</a:t>
            </a:r>
            <a:endParaRPr lang="en-US" sz="900" dirty="0"/>
          </a:p>
        </p:txBody>
      </p:sp>
      <p:sp>
        <p:nvSpPr>
          <p:cNvPr id="21" name="R1_qb53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536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planning to do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summer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planning to visit my cousins in Canada.</a:t>
            </a:r>
            <a:endParaRPr lang="en-US" sz="1250" dirty="0"/>
          </a:p>
        </p:txBody>
      </p:sp>
      <p:sp>
        <p:nvSpPr>
          <p:cNvPr id="23" name="R2_qb537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538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you'd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love to do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love to be a chef.</a:t>
            </a:r>
            <a:endParaRPr lang="en-US" sz="1250" dirty="0"/>
          </a:p>
        </p:txBody>
      </p:sp>
      <p:sp>
        <p:nvSpPr>
          <p:cNvPr id="25" name="R3_qb539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540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hate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house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hate ironing!</a:t>
            </a:r>
            <a:endParaRPr lang="en-US" sz="1250" dirty="0"/>
          </a:p>
        </p:txBody>
      </p:sp>
      <p:sp>
        <p:nvSpPr>
          <p:cNvPr id="27" name="R4_qb541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542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somebody you find very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to talk to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sister – she always listens.</a:t>
            </a:r>
            <a:endParaRPr lang="en-US" sz="1250" dirty="0"/>
          </a:p>
        </p:txBody>
      </p:sp>
      <p:sp>
        <p:nvSpPr>
          <p:cNvPr id="29" name="R5_qb543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544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afraid of doing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afraid of speaking in public.</a:t>
            </a:r>
            <a:endParaRPr lang="en-US" sz="1250" dirty="0"/>
          </a:p>
        </p:txBody>
      </p:sp>
      <p:sp>
        <p:nvSpPr>
          <p:cNvPr id="31" name="R6_qb545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546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</a:t>
            </a:r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enjoy 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on Sunday mornings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enjoy having a long breakfast.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4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5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Review · what did you do today?</a:t>
            </a:r>
            <a:endParaRPr lang="en-US" sz="800" dirty="0"/>
          </a:p>
        </p:txBody>
      </p:sp>
      <p:sp>
        <p:nvSpPr>
          <p:cNvPr id="14" name="cd_55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5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16" name="tt_56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work words: overtime, get promoted, resign…</a:t>
            </a:r>
            <a:endParaRPr lang="en-US" sz="1350" dirty="0"/>
          </a:p>
        </p:txBody>
      </p:sp>
      <p:sp>
        <p:nvSpPr>
          <p:cNvPr id="17" name="R1_tk56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6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6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56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work words with the right stress: SAlary</a:t>
            </a:r>
            <a:endParaRPr lang="en-US" sz="1350" dirty="0"/>
          </a:p>
        </p:txBody>
      </p:sp>
      <p:sp>
        <p:nvSpPr>
          <p:cNvPr id="21" name="R2_tk56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6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6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4" name="tt_56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-ing or to? I enjoy working · I'd like to work</a:t>
            </a:r>
            <a:endParaRPr lang="en-US" sz="1350" dirty="0"/>
          </a:p>
        </p:txBody>
      </p:sp>
      <p:sp>
        <p:nvSpPr>
          <p:cNvPr id="25" name="R3_tk56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7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7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7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7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7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7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2" name="tt_57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 the right job for your personality</a:t>
            </a:r>
            <a:endParaRPr lang="en-US" sz="1350" dirty="0"/>
          </a:p>
        </p:txBody>
      </p:sp>
      <p:sp>
        <p:nvSpPr>
          <p:cNvPr id="33" name="R5_tk57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7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8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8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8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85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86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Exit · what can you remember?</a:t>
            </a:r>
            <a:endParaRPr lang="en-US" sz="800" dirty="0"/>
          </a:p>
        </p:txBody>
      </p:sp>
      <p:sp>
        <p:nvSpPr>
          <p:cNvPr id="13" name="bd_58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9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phrases (do overtime…)</a:t>
            </a:r>
            <a:endParaRPr lang="en-US" sz="1400" dirty="0"/>
          </a:p>
        </p:txBody>
      </p:sp>
      <p:sp>
        <p:nvSpPr>
          <p:cNvPr id="15" name="bd_59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9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verbs + -ing (enjoy…)</a:t>
            </a:r>
            <a:endParaRPr lang="en-US" sz="1400" dirty="0"/>
          </a:p>
        </p:txBody>
      </p:sp>
      <p:sp>
        <p:nvSpPr>
          <p:cNvPr id="17" name="bd_59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9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 about Clare with decide to</a:t>
            </a:r>
            <a:endParaRPr lang="en-US" sz="1400" dirty="0"/>
          </a:p>
        </p:txBody>
      </p:sp>
      <p:sp>
        <p:nvSpPr>
          <p:cNvPr id="19" name="cd_59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9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9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9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8A: 1a, 1b, 3a, 3b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8A: a 6–10, b 6–9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8A-1 in the LLS app</a:t>
            </a:r>
            <a:endParaRPr lang="en-US" sz="1150" dirty="0"/>
          </a:p>
        </p:txBody>
      </p:sp>
      <p:sp>
        <p:nvSpPr>
          <p:cNvPr id="23" name="st_59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8A part 2 · Dragons' Den · pitch a product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6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602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word, new meaning</a:t>
            </a:r>
            <a:endParaRPr lang="en-US" sz="2250" dirty="0"/>
          </a:p>
        </p:txBody>
      </p:sp>
      <p:pic>
        <p:nvPicPr>
          <p:cNvPr id="6" name="brP_6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60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between a and b.</a:t>
            </a:r>
            <a:endParaRPr lang="en-US" sz="1250" dirty="0"/>
          </a:p>
        </p:txBody>
      </p:sp>
      <p:sp>
        <p:nvSpPr>
          <p:cNvPr id="8" name="insIT_6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tra a e b.</a:t>
            </a:r>
            <a:endParaRPr lang="en-US" sz="950" dirty="0"/>
          </a:p>
        </p:txBody>
      </p:sp>
      <p:sp>
        <p:nvSpPr>
          <p:cNvPr id="9" name="cmd_60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0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6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8A-1 · Extra · words with different meanings   ·   📖 SB p.76 · 1d (answers: TG)</a:t>
            </a:r>
            <a:endParaRPr lang="en-US" sz="800" dirty="0"/>
          </a:p>
        </p:txBody>
      </p:sp>
      <p:sp>
        <p:nvSpPr>
          <p:cNvPr id="13" name="st_61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cd_61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1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She has a degree in economics. · b It was only four degrees this morning.</a:t>
            </a:r>
            <a:endParaRPr lang="en-US" sz="1050" dirty="0"/>
          </a:p>
        </p:txBody>
      </p:sp>
      <p:sp>
        <p:nvSpPr>
          <p:cNvPr id="18" name="pf_61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16" descr="/home/claude/lls-course/v2/cache/spare_work_succes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61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1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He's running a business. · b He's running a marathon.</a:t>
            </a:r>
            <a:endParaRPr lang="en-US" sz="1000" dirty="0"/>
          </a:p>
        </p:txBody>
      </p:sp>
      <p:sp>
        <p:nvSpPr>
          <p:cNvPr id="22" name="R1_chip61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managing · b as a sport</a:t>
            </a:r>
            <a:endParaRPr lang="en-US" sz="1000" dirty="0"/>
          </a:p>
        </p:txBody>
      </p:sp>
      <p:sp>
        <p:nvSpPr>
          <p:cNvPr id="23" name="bd_62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62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Marion was fired. · b The man fired the gun.</a:t>
            </a:r>
            <a:endParaRPr lang="en-US" sz="1150" dirty="0"/>
          </a:p>
        </p:txBody>
      </p:sp>
      <p:sp>
        <p:nvSpPr>
          <p:cNvPr id="25" name="R2_chip62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lost her job · b shot</a:t>
            </a:r>
            <a:endParaRPr lang="en-US" sz="1000" dirty="0"/>
          </a:p>
        </p:txBody>
      </p:sp>
      <p:sp>
        <p:nvSpPr>
          <p:cNvPr id="26" name="bd_62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62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work in a shop. · b My laptop doesn't work.</a:t>
            </a:r>
            <a:endParaRPr lang="en-US" sz="1150" dirty="0"/>
          </a:p>
        </p:txBody>
      </p:sp>
      <p:sp>
        <p:nvSpPr>
          <p:cNvPr id="28" name="R3_chip62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my job · b is broken</a:t>
            </a:r>
            <a:endParaRPr lang="en-US" sz="1000" dirty="0"/>
          </a:p>
        </p:txBody>
      </p:sp>
      <p:sp>
        <p:nvSpPr>
          <p:cNvPr id="29" name="bd_62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62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market for this product · b a vegetable market</a:t>
            </a:r>
            <a:endParaRPr lang="en-US" sz="1050" dirty="0"/>
          </a:p>
        </p:txBody>
      </p:sp>
      <p:sp>
        <p:nvSpPr>
          <p:cNvPr id="31" name="R4_chip62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people who want it · b a place to shop</a:t>
            </a:r>
            <a:endParaRPr lang="en-US" sz="1000" dirty="0"/>
          </a:p>
        </p:txBody>
      </p:sp>
      <p:sp>
        <p:nvSpPr>
          <p:cNvPr id="32" name="bd_62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63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Steve set up a company. · b Steve is very good company.</a:t>
            </a:r>
            <a:endParaRPr lang="en-US" sz="900" dirty="0"/>
          </a:p>
        </p:txBody>
      </p:sp>
      <p:sp>
        <p:nvSpPr>
          <p:cNvPr id="34" name="R5_chip63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 business · b nice to be with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8A-1 The right job for you</dc:title>
  <dc:subject>PptxGenJS Presentation</dc:subject>
  <dc:creator>PptxGenJS</dc:creator>
  <cp:lastModifiedBy>PptxGenJS</cp:lastModifiedBy>
  <cp:revision>1</cp:revision>
  <dcterms:created xsi:type="dcterms:W3CDTF">2026-10-12T16:55:00Z</dcterms:created>
  <dcterms:modified xsi:type="dcterms:W3CDTF">2026-10-12T16:55:00Z</dcterms:modified>
</cp:coreProperties>
</file>