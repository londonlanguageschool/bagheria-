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 (books closed): name two jobs in a restaurant, connected with transport, in a hospital, outside, in entertainment. Then the THINK question: how can you lose your job on Monday and have your own business by Friday? Take 3–4 ideas. Click: the example. The answer is Clare's story (next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Practical English 4 (3 min)
REVISION (3 min). Pairs make and answer one suggestion each for the weekend (polite refusal + alternative). Then the unjumble race.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WARMER (4 min). Speed race: pairs write the sentence and stand up; the first pair to stand up AND say it with good intonation gets the point. Click once per line. Follow-up: who said each one? (1 Paul · 2 Paul · 3 Jenny · 4 Jenny · 5 Paul · 6 Rob).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Clare's story (5 min)
VOCABULARY (5 min). SB 1a: pairs look at pictures 1–9 and complete the story; 1b: play 8.1 from the book to check (book order: E1 · I2 · G3 · D4 · C5 · F6 · H7 · A8 · B9). Click once per sentence. TG notes: set up = start (a business); apply for = ask a company for a job; CV = curriculum vitae; overtime = extra hours; be / get sacked = lose your job. job (countable) vs work (uncountable): ✗ a work → ✓ a job. Then pairs look only at the pictures and retell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work (5 min)
VOCABULARY (5 min). Vocabulary Bank p.163: 1 Verb phrases (8.2), 2 Saying what you do (8.3) – play from the book. One click per phrase shows the Italian. sacked = because of YOU; made redundant = the company doesn't need you. Silent g in resign; temporary /ˈtemprəri/. Quick personalisation: 'Which of these has happened to someone in your family?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word-building (4 min)
WORD-BUILDING (4 min). Pairs make the nouns (-ion / -ment) and the jobs (-ist, -er, -ian, -or); click once per word – the stressed syllable is in capitals. Note how the stress moves: QUALify → qualifiCAtion, apPLY → appliCAtion. Also: resign → resigNAtion, law → LAWyer, farm → FARmer. Activation (TG): two more jobs for each ending – hairdresser, actor, electrician, receptionist.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word stress (3 min)
PRONUNCIATION (3 min). 2a: the stressed syllable follows the ˈ in the phonetics. Pairs say each word, then click. Italian traps: SAlary (not saLAry), PERmanent (not perMAnent). Change the energy: the class stands up on the stressed syllable.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someone you know (4 min)
SPEAKING (4 min). The book's questions (2c). B says who the person is; A asks and asks more questions (2d); then swap. Listen for word stress on SAlary, PERmanent, TEMporary. The last answer already uses hate + -ing → leads into the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class story (TPRS) (5 min)
TPRS CLASS STORY (5 min) – a funny sequel to Clare's story that recycles the gerund / infinitive patterns many times BEFORE the questionnaire. Click once per line. For each line: 1) say it, 2) ask the questions round the class (yes/no → either/or → what/why), 3) let the CLASS change details (accept their idea and use it in later lines): 'Did she decide to tell him? No? What did she decide to do?' Students answer briefly; repeat the full sentence yourself, stressing the pattern (decided TO tell, good at MAKING). Finish: 'What happens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questionnaire 1/2 (B1 Adults Exam: start here 13 Oct) (5 min)
GRAMMAR PRESENTATION (5 min). B1 ADULTS EXAM: on 8 Oct the class stopped here – start the lesson on this slide (after a 2-minute recap of the work words). 3a: students write the verbs in the right form by instinct (rules come later); click once per sentence. Answers (TG): 2 helping · 3 not earning · 4 listening · 5 making · 6 Taking · 7 to work · 8 managing. 3b: tick only the sentences you STRONGLY agree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questionnaire 2/2 (5 min)
QUESTIONNAIRE 2/2 (5 min). Answers (TG): 9 expressing · 10 to follow · 11 to be · 12 improvising · 13 Doing · 14 solving · 15 to understand · 16 to calculate. 3b: students compare their ticks with a partner. 3c: Communication 'Match your personality to the job' (SB p.108) – each student reads the paragraph for the section (A–D) with the most ticks (both if equal). Feedback: is that the job you'd like? Do you agree?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discovery (3 min)
GUIDED DISCOVERY (3 min). SB 3d: pairs look back at the questionnaire and complete the rules; click once per rule. Answers (TG): 1 the gerund · 2 to + infinitive · 3 to + infinitive · 4 the gerund · 5 the gerund.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gerunds and infinitives (5 min)
POP-UP GRAMMAR (5 min). Elicit each column before clicking. Grammar Bank audio 8.6–8.8 (listen and repeat) – play from the book. TG notes: there are three forms: to go, go, going. Gerund after prepositions and phrasal verbs, as the subject, and after enjoy, hate, like, love, don't mind, spend time, feel like, give up, finish, keep, stop, go on…; to + infinitive after adjectives, for purpose, and after want, need, would like, decide, hope, plan, learn, try, forget, remember, promise, offer, pretend…; infinitive without to after modals and make / let + object. like + -ing = enjoy; like to (BrE) = I think it's a good idea. Students must LEARN which form follows each verb – check the full lists in the Grammar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 (4 min)
CONTROLLED PRACTICE (4 min). Grammar Bank 8A b (the book's sentences, answers from the TG key). Pairs say the sentence; click once per line; a student says WHICH rule it is (after a verb? after let?). The rest of the Grammar Bank exercises are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five things about me (6 min)
SPEAKING (6 min). SB 3f: students write something for FIVE prompts (six on the slide; the book has ten – see p.77). 3g: groups of 3–4 tell each other and ask questions (model: 'I'd love to be an architect.' – 'Why?' – 'Because I think it would be great to…'). The others can guess which prompt each answer goes with. Personalisation with boundaries: no names of classmates. Communicative photocopiable 8A 'I think…' (B1_8A_Photocopiables.pdf p.3) is an alternative if you have it printed.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Homework: Workbook 8A 1a, 1b (work vocabulary), 3a, 3b (gerunds and infinitives) + Grammar Bank 8A a 6–10, b 6–9 + the 8A-1 homework sheet (easier version available). Answers are in the teacher key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words with different meanings (5 min)
EXTRA (5 min). SB 1d: pairs explain the difference; click once per pair (TG answers). Then pairs write one new sentence for each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pp.76–77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right job for you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Work, word stress,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💼  learn work words: overtime, get promoted, resign…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work words with the right stress: SAlary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I enjoy working · I'd like to work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 find the right job for your personality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she started selling cakes online!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8a1_clare_cakes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Sacked on Monday… her own business by Friday! How?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Revision · Practical English 4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675640" y="1371600"/>
            <a:ext cx="203200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spare_work_teamwork_jpg_467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21360" y="1417320"/>
            <a:ext cx="194056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English 4: suggestions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 Let's… Why don't…?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6177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Let's…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641848" y="1783080"/>
            <a:ext cx="1714500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 you…?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3246120" y="2185416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about…?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4791456" y="2185416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keen on…</a:t>
            </a:r>
            <a:endParaRPr lang="en-US" sz="1200" dirty="0"/>
          </a:p>
        </p:txBody>
      </p:sp>
      <p:sp>
        <p:nvSpPr>
          <p:cNvPr id="24" name="lv_38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5" name="lv_39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7" name="cd_41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42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a suggestion</a:t>
            </a:r>
            <a:endParaRPr lang="en-US" sz="1100" dirty="0"/>
          </a:p>
        </p:txBody>
      </p:sp>
      <p:sp>
        <p:nvSpPr>
          <p:cNvPr id="29" name="R1_rl43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out tonight?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dancing!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join me?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staying in?</a:t>
            </a:r>
            <a:endParaRPr lang="en-US" sz="1100" dirty="0"/>
          </a:p>
        </p:txBody>
      </p:sp>
      <p:sp>
        <p:nvSpPr>
          <p:cNvPr id="30" name="cd_44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</a:t>
            </a:r>
            <a:endParaRPr lang="en-US" sz="1100" dirty="0"/>
          </a:p>
        </p:txBody>
      </p:sp>
      <p:sp>
        <p:nvSpPr>
          <p:cNvPr id="32" name="R2_rl46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 idea! / Sounds good!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very keen on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running.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 can't.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Unjumble it – fast!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Pairs: put the words in order. First pair to stand up wins!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coppia: mettete le parole in ordine. Vince la prima coppia in piedi!</a:t>
            </a:r>
            <a:endParaRPr lang="en-US" sz="950" dirty="0"/>
          </a:p>
        </p:txBody>
      </p:sp>
      <p:sp>
        <p:nvSpPr>
          <p:cNvPr id="9" name="note_5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Warmer · last lesson   ·   📖 Revision of Practical English 4 · audio 7.25, 7.28</a:t>
            </a:r>
            <a:endParaRPr lang="en-US" sz="800" dirty="0"/>
          </a:p>
        </p:txBody>
      </p:sp>
      <p:sp>
        <p:nvSpPr>
          <p:cNvPr id="12" name="cd_56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59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sentence. Stand up!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frase. Alzati!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with good intonation = 1 point.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Dilla con una buona intonazione = 1 punto.</a:t>
            </a:r>
            <a:endParaRPr lang="en-US" sz="1150" dirty="0"/>
          </a:p>
        </p:txBody>
      </p:sp>
      <p:sp>
        <p:nvSpPr>
          <p:cNvPr id="16" name="bd_6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7" name="gq_6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/ do / what / now / we</a:t>
            </a:r>
            <a:endParaRPr lang="en-US" sz="1250" dirty="0"/>
          </a:p>
        </p:txBody>
      </p:sp>
      <p:sp>
        <p:nvSpPr>
          <p:cNvPr id="18" name="chip_6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shall we do now?</a:t>
            </a:r>
            <a:endParaRPr lang="en-US" sz="1200" dirty="0"/>
          </a:p>
        </p:txBody>
      </p:sp>
      <p:sp>
        <p:nvSpPr>
          <p:cNvPr id="19" name="bd_6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let's / dancing</a:t>
            </a:r>
            <a:endParaRPr lang="en-US" sz="1250" dirty="0"/>
          </a:p>
        </p:txBody>
      </p:sp>
      <p:sp>
        <p:nvSpPr>
          <p:cNvPr id="21" name="R1_chip6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Let's go dancing!</a:t>
            </a:r>
            <a:endParaRPr lang="en-US" sz="1200" dirty="0"/>
          </a:p>
        </p:txBody>
      </p:sp>
      <p:sp>
        <p:nvSpPr>
          <p:cNvPr id="22" name="bd_6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/ you / why / me / join</a:t>
            </a:r>
            <a:endParaRPr lang="en-US" sz="1250" dirty="0"/>
          </a:p>
        </p:txBody>
      </p:sp>
      <p:sp>
        <p:nvSpPr>
          <p:cNvPr id="24" name="R2_chip6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don't you join me?</a:t>
            </a:r>
            <a:endParaRPr lang="en-US" sz="1200" dirty="0"/>
          </a:p>
        </p:txBody>
      </p:sp>
      <p:sp>
        <p:nvSpPr>
          <p:cNvPr id="25" name="bd_6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/ staying / what / in</a:t>
            </a:r>
            <a:endParaRPr lang="en-US" sz="1250" dirty="0"/>
          </a:p>
        </p:txBody>
      </p:sp>
      <p:sp>
        <p:nvSpPr>
          <p:cNvPr id="27" name="R3_chip7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about staying in?</a:t>
            </a:r>
            <a:endParaRPr lang="en-US" sz="1200" dirty="0"/>
          </a:p>
        </p:txBody>
      </p:sp>
      <p:sp>
        <p:nvSpPr>
          <p:cNvPr id="28" name="bd_7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keen / I'm / on / very / not / running</a:t>
            </a:r>
            <a:endParaRPr lang="en-US" sz="1250" dirty="0"/>
          </a:p>
        </p:txBody>
      </p:sp>
      <p:sp>
        <p:nvSpPr>
          <p:cNvPr id="30" name="R4_chip7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not very keen on running.</a:t>
            </a:r>
            <a:endParaRPr lang="en-US" sz="1200" dirty="0"/>
          </a:p>
        </p:txBody>
      </p:sp>
      <p:sp>
        <p:nvSpPr>
          <p:cNvPr id="31" name="bd_7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happen / won't / again / it</a:t>
            </a:r>
            <a:endParaRPr lang="en-US" sz="1250" dirty="0"/>
          </a:p>
        </p:txBody>
      </p:sp>
      <p:sp>
        <p:nvSpPr>
          <p:cNvPr id="33" name="R5_chip7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won't happen again.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80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story</a:t>
            </a:r>
            <a:endParaRPr lang="en-US" sz="2500" dirty="0"/>
          </a:p>
        </p:txBody>
      </p:sp>
      <p:pic>
        <p:nvPicPr>
          <p:cNvPr id="6" name="brP_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8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pictures. Complete Clare's story.</a:t>
            </a:r>
            <a:endParaRPr lang="en-US" sz="1250" dirty="0"/>
          </a:p>
        </p:txBody>
      </p:sp>
      <p:sp>
        <p:nvSpPr>
          <p:cNvPr id="8" name="insIT_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immagini. Completa la storia di Clare.</a:t>
            </a:r>
            <a:endParaRPr lang="en-US" sz="950" dirty="0"/>
          </a:p>
        </p:txBody>
      </p:sp>
      <p:sp>
        <p:nvSpPr>
          <p:cNvPr id="9" name="note_8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Clare's story   ·   📖 SB p.76 · 1a, 1b · audio 8.1 (play from the book)</a:t>
            </a:r>
            <a:endParaRPr lang="en-US" sz="800" dirty="0"/>
          </a:p>
        </p:txBody>
      </p:sp>
      <p:sp>
        <p:nvSpPr>
          <p:cNvPr id="12" name="cd_8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8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8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9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worked for a marketing company.</a:t>
            </a:r>
            <a:endParaRPr lang="en-US" sz="1050" dirty="0"/>
          </a:p>
        </p:txBody>
      </p:sp>
      <p:sp>
        <p:nvSpPr>
          <p:cNvPr id="16" name="pf_91"/>
          <p:cNvSpPr/>
          <p:nvPr/>
        </p:nvSpPr>
        <p:spPr>
          <a:xfrm rot="-90000">
            <a:off x="1157751" y="2569464"/>
            <a:ext cx="1022059" cy="1545336"/>
          </a:xfrm>
          <a:prstGeom prst="roundRect">
            <a:avLst>
              <a:gd name="adj" fmla="val 152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92" descr="/home/claude/lls-course/v2/cache/8a1_clare_story_jpg_224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203471" y="2615184"/>
            <a:ext cx="930619" cy="1453896"/>
          </a:xfrm>
          <a:prstGeom prst="rect">
            <a:avLst/>
          </a:prstGeom>
        </p:spPr>
      </p:pic>
      <p:sp>
        <p:nvSpPr>
          <p:cNvPr id="18" name="ap_93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</a:t>
            </a:r>
            <a:endParaRPr lang="en-US" sz="1100" dirty="0"/>
          </a:p>
        </p:txBody>
      </p:sp>
      <p:sp>
        <p:nvSpPr>
          <p:cNvPr id="19" name="bd_94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95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worked long hours and did ___.</a:t>
            </a:r>
            <a:endParaRPr lang="en-US" sz="950" dirty="0"/>
          </a:p>
        </p:txBody>
      </p:sp>
      <p:sp>
        <p:nvSpPr>
          <p:cNvPr id="21" name="R1_chip96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050" dirty="0"/>
          </a:p>
        </p:txBody>
      </p:sp>
      <p:sp>
        <p:nvSpPr>
          <p:cNvPr id="22" name="bd_97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98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a good ___, but didn't like her boss.</a:t>
            </a:r>
            <a:endParaRPr lang="en-US" sz="950" dirty="0"/>
          </a:p>
        </p:txBody>
      </p:sp>
      <p:sp>
        <p:nvSpPr>
          <p:cNvPr id="24" name="R2_chip99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050" dirty="0"/>
          </a:p>
        </p:txBody>
      </p:sp>
      <p:sp>
        <p:nvSpPr>
          <p:cNvPr id="25" name="bd_100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01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had an argument, and she was ___.</a:t>
            </a:r>
            <a:endParaRPr lang="en-US" sz="950" dirty="0"/>
          </a:p>
        </p:txBody>
      </p:sp>
      <p:sp>
        <p:nvSpPr>
          <p:cNvPr id="27" name="R3_chip102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sacked</a:t>
            </a:r>
            <a:endParaRPr lang="en-US" sz="1050" dirty="0"/>
          </a:p>
        </p:txBody>
      </p:sp>
      <p:sp>
        <p:nvSpPr>
          <p:cNvPr id="28" name="bd_103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04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___ and looked for a job.</a:t>
            </a:r>
            <a:endParaRPr lang="en-US" sz="950" dirty="0"/>
          </a:p>
        </p:txBody>
      </p:sp>
      <p:sp>
        <p:nvSpPr>
          <p:cNvPr id="30" name="R4_chip105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unemployed</a:t>
            </a:r>
            <a:endParaRPr lang="en-US" sz="1050" dirty="0"/>
          </a:p>
        </p:txBody>
      </p:sp>
      <p:sp>
        <p:nvSpPr>
          <p:cNvPr id="31" name="bd_106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07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___ for a lot of jobs and sent CVs.</a:t>
            </a:r>
            <a:endParaRPr lang="en-US" sz="950" dirty="0"/>
          </a:p>
        </p:txBody>
      </p:sp>
      <p:sp>
        <p:nvSpPr>
          <p:cNvPr id="33" name="R5_chip108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applied</a:t>
            </a:r>
            <a:endParaRPr lang="en-US" sz="1050" dirty="0"/>
          </a:p>
        </p:txBody>
      </p:sp>
      <p:sp>
        <p:nvSpPr>
          <p:cNvPr id="34" name="bd_10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10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some ___, but didn't get the jobs.</a:t>
            </a:r>
            <a:endParaRPr lang="en-US" sz="950" dirty="0"/>
          </a:p>
        </p:txBody>
      </p:sp>
      <p:sp>
        <p:nvSpPr>
          <p:cNvPr id="36" name="R6_chip111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interviews</a:t>
            </a:r>
            <a:endParaRPr lang="en-US" sz="1050" dirty="0"/>
          </a:p>
        </p:txBody>
      </p:sp>
      <p:sp>
        <p:nvSpPr>
          <p:cNvPr id="37" name="bd_112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13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decided to ___ an online cake business.</a:t>
            </a:r>
            <a:endParaRPr lang="en-US" sz="950" dirty="0"/>
          </a:p>
        </p:txBody>
      </p:sp>
      <p:sp>
        <p:nvSpPr>
          <p:cNvPr id="39" name="R7_chip114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up</a:t>
            </a:r>
            <a:endParaRPr lang="en-US" sz="1050" dirty="0"/>
          </a:p>
        </p:txBody>
      </p:sp>
      <p:sp>
        <p:nvSpPr>
          <p:cNvPr id="40" name="bd_115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16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business is ___. She's a success!</a:t>
            </a:r>
            <a:endParaRPr lang="en-US" sz="950" dirty="0"/>
          </a:p>
        </p:txBody>
      </p:sp>
      <p:sp>
        <p:nvSpPr>
          <p:cNvPr id="42" name="R8_chip117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 very well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Work: verbs and phrases</a:t>
            </a:r>
            <a:endParaRPr lang="en-US" sz="2400" dirty="0"/>
          </a:p>
        </p:txBody>
      </p:sp>
      <p:pic>
        <p:nvPicPr>
          <p:cNvPr id="6" name="brP_1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2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phrase. Click: the Italian.</a:t>
            </a:r>
            <a:endParaRPr lang="en-US" sz="1250" dirty="0"/>
          </a:p>
        </p:txBody>
      </p:sp>
      <p:sp>
        <p:nvSpPr>
          <p:cNvPr id="8" name="insIT_1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l'espressione. Clicca: l'italiano.</a:t>
            </a:r>
            <a:endParaRPr lang="en-US" sz="950" dirty="0"/>
          </a:p>
        </p:txBody>
      </p:sp>
      <p:sp>
        <p:nvSpPr>
          <p:cNvPr id="9" name="note_12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1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work   ·   📖 Vocabulary Bank Work p.163 · audio 8.2, 8.3 (play from the book)</a:t>
            </a:r>
            <a:endParaRPr lang="en-US" sz="800" dirty="0"/>
          </a:p>
        </p:txBody>
      </p:sp>
      <p:sp>
        <p:nvSpPr>
          <p:cNvPr id="12" name="cd_12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2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14" name="en_12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overtime</a:t>
            </a:r>
            <a:endParaRPr lang="en-US" sz="1200" dirty="0"/>
          </a:p>
        </p:txBody>
      </p:sp>
      <p:sp>
        <p:nvSpPr>
          <p:cNvPr id="15" name="R1_it13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gli straordinari</a:t>
            </a:r>
            <a:endParaRPr lang="en-US" sz="1000" dirty="0"/>
          </a:p>
        </p:txBody>
      </p:sp>
      <p:sp>
        <p:nvSpPr>
          <p:cNvPr id="16" name="cd_13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13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8" name="en_13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get promoted</a:t>
            </a:r>
            <a:endParaRPr lang="en-US" sz="1200" dirty="0"/>
          </a:p>
        </p:txBody>
      </p:sp>
      <p:sp>
        <p:nvSpPr>
          <p:cNvPr id="19" name="R2_it13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promosso</a:t>
            </a:r>
            <a:endParaRPr lang="en-US" sz="1000" dirty="0"/>
          </a:p>
        </p:txBody>
      </p:sp>
      <p:sp>
        <p:nvSpPr>
          <p:cNvPr id="20" name="cd_13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3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🌙</a:t>
            </a:r>
            <a:endParaRPr lang="en-US" sz="2000" dirty="0"/>
          </a:p>
        </p:txBody>
      </p:sp>
      <p:sp>
        <p:nvSpPr>
          <p:cNvPr id="22" name="en_13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shifts</a:t>
            </a:r>
            <a:endParaRPr lang="en-US" sz="1200" dirty="0"/>
          </a:p>
        </p:txBody>
      </p:sp>
      <p:sp>
        <p:nvSpPr>
          <p:cNvPr id="23" name="R3_it13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i turni</a:t>
            </a:r>
            <a:endParaRPr lang="en-US" sz="1000" dirty="0"/>
          </a:p>
        </p:txBody>
      </p:sp>
      <p:sp>
        <p:nvSpPr>
          <p:cNvPr id="24" name="cd_13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4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🚪</a:t>
            </a:r>
            <a:endParaRPr lang="en-US" sz="2000" dirty="0"/>
          </a:p>
        </p:txBody>
      </p:sp>
      <p:sp>
        <p:nvSpPr>
          <p:cNvPr id="26" name="en_14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sacked / fired</a:t>
            </a:r>
            <a:endParaRPr lang="en-US" sz="1200" dirty="0"/>
          </a:p>
        </p:txBody>
      </p:sp>
      <p:sp>
        <p:nvSpPr>
          <p:cNvPr id="27" name="R4_it14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licenziato</a:t>
            </a:r>
            <a:endParaRPr lang="en-US" sz="1000" dirty="0"/>
          </a:p>
        </p:txBody>
      </p:sp>
      <p:sp>
        <p:nvSpPr>
          <p:cNvPr id="28" name="cd_14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4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30" name="en_14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made redundant</a:t>
            </a:r>
            <a:endParaRPr lang="en-US" sz="1050" dirty="0"/>
          </a:p>
        </p:txBody>
      </p:sp>
      <p:sp>
        <p:nvSpPr>
          <p:cNvPr id="31" name="R5_it14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licenziato per esubero</a:t>
            </a:r>
            <a:endParaRPr lang="en-US" sz="900" dirty="0"/>
          </a:p>
        </p:txBody>
      </p:sp>
      <p:sp>
        <p:nvSpPr>
          <p:cNvPr id="32" name="cd_14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4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34" name="en_14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resign (silent g!)</a:t>
            </a:r>
            <a:endParaRPr lang="en-US" sz="1200" dirty="0"/>
          </a:p>
        </p:txBody>
      </p:sp>
      <p:sp>
        <p:nvSpPr>
          <p:cNvPr id="35" name="R6_it15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dimettersi</a:t>
            </a:r>
            <a:endParaRPr lang="en-US" sz="1000" dirty="0"/>
          </a:p>
        </p:txBody>
      </p:sp>
      <p:sp>
        <p:nvSpPr>
          <p:cNvPr id="36" name="cd_15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5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38" name="en_15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retire</a:t>
            </a:r>
            <a:endParaRPr lang="en-US" sz="1200" dirty="0"/>
          </a:p>
        </p:txBody>
      </p:sp>
      <p:sp>
        <p:nvSpPr>
          <p:cNvPr id="39" name="R7_it15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in pensione</a:t>
            </a:r>
            <a:endParaRPr lang="en-US" sz="1000" dirty="0"/>
          </a:p>
        </p:txBody>
      </p:sp>
      <p:sp>
        <p:nvSpPr>
          <p:cNvPr id="40" name="cd_15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5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2" name="en_15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up a business</a:t>
            </a:r>
            <a:endParaRPr lang="en-US" sz="1150" dirty="0"/>
          </a:p>
        </p:txBody>
      </p:sp>
      <p:sp>
        <p:nvSpPr>
          <p:cNvPr id="43" name="R8_it15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avviare un'attività</a:t>
            </a:r>
            <a:endParaRPr lang="en-US" sz="1000" dirty="0"/>
          </a:p>
        </p:txBody>
      </p:sp>
      <p:sp>
        <p:nvSpPr>
          <p:cNvPr id="44" name="cd_15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6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46" name="en_16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a training course</a:t>
            </a:r>
            <a:endParaRPr lang="en-US" sz="1000" dirty="0"/>
          </a:p>
        </p:txBody>
      </p:sp>
      <p:sp>
        <p:nvSpPr>
          <p:cNvPr id="47" name="R9_it16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un corso di formazione</a:t>
            </a:r>
            <a:endParaRPr lang="en-US" sz="800" dirty="0"/>
          </a:p>
        </p:txBody>
      </p:sp>
      <p:sp>
        <p:nvSpPr>
          <p:cNvPr id="48" name="cd_16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6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50" name="en_16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apply for a job</a:t>
            </a:r>
            <a:endParaRPr lang="en-US" sz="1200" dirty="0"/>
          </a:p>
        </p:txBody>
      </p:sp>
      <p:sp>
        <p:nvSpPr>
          <p:cNvPr id="51" name="R10_it16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candidarsi</a:t>
            </a:r>
            <a:endParaRPr lang="en-US" sz="1000" dirty="0"/>
          </a:p>
        </p:txBody>
      </p:sp>
      <p:sp>
        <p:nvSpPr>
          <p:cNvPr id="52" name="cd_16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16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🏪</a:t>
            </a:r>
            <a:endParaRPr lang="en-US" sz="2000" dirty="0"/>
          </a:p>
        </p:txBody>
      </p:sp>
      <p:sp>
        <p:nvSpPr>
          <p:cNvPr id="54" name="en_16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run a business</a:t>
            </a:r>
            <a:endParaRPr lang="en-US" sz="1200" dirty="0"/>
          </a:p>
        </p:txBody>
      </p:sp>
      <p:sp>
        <p:nvSpPr>
          <p:cNvPr id="55" name="R11_it17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gestire un'attività</a:t>
            </a:r>
            <a:endParaRPr lang="en-US" sz="1000" dirty="0"/>
          </a:p>
        </p:txBody>
      </p:sp>
      <p:sp>
        <p:nvSpPr>
          <p:cNvPr id="56" name="cd_17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17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58" name="en_17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in charge of</a:t>
            </a:r>
            <a:endParaRPr lang="en-US" sz="1200" dirty="0"/>
          </a:p>
        </p:txBody>
      </p:sp>
      <p:sp>
        <p:nvSpPr>
          <p:cNvPr id="59" name="R12_it17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responsabile di</a:t>
            </a:r>
            <a:endParaRPr lang="en-US" sz="850" dirty="0"/>
          </a:p>
        </p:txBody>
      </p:sp>
      <p:sp>
        <p:nvSpPr>
          <p:cNvPr id="60" name="cd_175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e_176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🧑‍💼</a:t>
            </a:r>
            <a:endParaRPr lang="en-US" sz="2000" dirty="0"/>
          </a:p>
        </p:txBody>
      </p:sp>
      <p:sp>
        <p:nvSpPr>
          <p:cNvPr id="62" name="en_177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self-employed</a:t>
            </a:r>
            <a:endParaRPr lang="en-US" sz="1200" dirty="0"/>
          </a:p>
        </p:txBody>
      </p:sp>
      <p:sp>
        <p:nvSpPr>
          <p:cNvPr id="63" name="R13_it178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lavoratore autonomo</a:t>
            </a:r>
            <a:endParaRPr lang="en-US" sz="950" dirty="0"/>
          </a:p>
        </p:txBody>
      </p:sp>
      <p:sp>
        <p:nvSpPr>
          <p:cNvPr id="64" name="cd_179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180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66" name="en_181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freelance</a:t>
            </a:r>
            <a:endParaRPr lang="en-US" sz="1200" dirty="0"/>
          </a:p>
        </p:txBody>
      </p:sp>
      <p:sp>
        <p:nvSpPr>
          <p:cNvPr id="67" name="R14_it182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libero professionista</a:t>
            </a:r>
            <a:endParaRPr lang="en-US" sz="950" dirty="0"/>
          </a:p>
        </p:txBody>
      </p:sp>
      <p:sp>
        <p:nvSpPr>
          <p:cNvPr id="68" name="cd_183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e_184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70" name="en_185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temporary ≠ permanent</a:t>
            </a:r>
            <a:endParaRPr lang="en-US" sz="1000" dirty="0"/>
          </a:p>
        </p:txBody>
      </p:sp>
      <p:sp>
        <p:nvSpPr>
          <p:cNvPr id="71" name="R15_it186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tempo determinato ≠ indeterminato</a:t>
            </a:r>
            <a:endParaRPr lang="en-US" sz="800" dirty="0"/>
          </a:p>
        </p:txBody>
      </p:sp>
      <p:sp>
        <p:nvSpPr>
          <p:cNvPr id="72" name="cd_187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3" name="e_188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74" name="en_189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part-time ≠ full-time</a:t>
            </a:r>
            <a:endParaRPr lang="en-US" sz="1000" dirty="0"/>
          </a:p>
        </p:txBody>
      </p:sp>
      <p:sp>
        <p:nvSpPr>
          <p:cNvPr id="75" name="R16_it190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part-time ≠ a tempo pieno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the word!</a:t>
            </a:r>
            <a:endParaRPr lang="en-US" sz="2500" dirty="0"/>
          </a:p>
        </p:txBody>
      </p:sp>
      <p:pic>
        <p:nvPicPr>
          <p:cNvPr id="6" name="brP_1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95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noun or the job. Where's the stress?</a:t>
            </a:r>
            <a:endParaRPr lang="en-US" sz="1250" dirty="0"/>
          </a:p>
        </p:txBody>
      </p:sp>
      <p:sp>
        <p:nvSpPr>
          <p:cNvPr id="8" name="insIT_1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Forma il nome o il mestiere. Dov'è l'accento?</a:t>
            </a:r>
            <a:endParaRPr lang="en-US" sz="950" dirty="0"/>
          </a:p>
        </p:txBody>
      </p:sp>
      <p:sp>
        <p:nvSpPr>
          <p:cNvPr id="9" name="note_19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1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word-building   ·   📖 Vocabulary Bank Work p.163 · 3 Word-building · audio 8.4 (play from the book)</a:t>
            </a:r>
            <a:endParaRPr lang="en-US" sz="800" dirty="0"/>
          </a:p>
        </p:txBody>
      </p:sp>
      <p:sp>
        <p:nvSpPr>
          <p:cNvPr id="12" name="cd_20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0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promote → proMOtion (the stress moves!)</a:t>
            </a:r>
            <a:endParaRPr lang="en-US" sz="1050" dirty="0"/>
          </a:p>
        </p:txBody>
      </p:sp>
      <p:sp>
        <p:nvSpPr>
          <p:cNvPr id="16" name="pf_204"/>
          <p:cNvSpPr/>
          <p:nvPr/>
        </p:nvSpPr>
        <p:spPr>
          <a:xfrm rot="-90000">
            <a:off x="813565" y="2569464"/>
            <a:ext cx="1710430" cy="1545336"/>
          </a:xfrm>
          <a:prstGeom prst="roundRect">
            <a:avLst>
              <a:gd name="adj" fmla="val 10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05" descr="/home/claude/lls-course/v2/cache/spare_work_cv_jpg_390x35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59285" y="2615184"/>
            <a:ext cx="1618990" cy="1453896"/>
          </a:xfrm>
          <a:prstGeom prst="rect">
            <a:avLst/>
          </a:prstGeom>
        </p:spPr>
      </p:pic>
      <p:sp>
        <p:nvSpPr>
          <p:cNvPr id="18" name="ap_206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8.4</a:t>
            </a:r>
            <a:endParaRPr lang="en-US" sz="1100" dirty="0"/>
          </a:p>
        </p:txBody>
      </p:sp>
      <p:sp>
        <p:nvSpPr>
          <p:cNvPr id="19" name="bd_207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08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</a:t>
            </a:r>
            <a:endParaRPr lang="en-US" sz="1150" dirty="0"/>
          </a:p>
        </p:txBody>
      </p:sp>
      <p:sp>
        <p:nvSpPr>
          <p:cNvPr id="21" name="R1_chip209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50" dirty="0"/>
          </a:p>
        </p:txBody>
      </p:sp>
      <p:sp>
        <p:nvSpPr>
          <p:cNvPr id="22" name="bd_210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11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retire →</a:t>
            </a:r>
            <a:endParaRPr lang="en-US" sz="1150" dirty="0"/>
          </a:p>
        </p:txBody>
      </p:sp>
      <p:sp>
        <p:nvSpPr>
          <p:cNvPr id="24" name="R2_chip212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TIRE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50" dirty="0"/>
          </a:p>
        </p:txBody>
      </p:sp>
      <p:sp>
        <p:nvSpPr>
          <p:cNvPr id="25" name="bd_213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14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employ →</a:t>
            </a:r>
            <a:endParaRPr lang="en-US" sz="1150" dirty="0"/>
          </a:p>
        </p:txBody>
      </p:sp>
      <p:sp>
        <p:nvSpPr>
          <p:cNvPr id="27" name="R3_chip215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PLOY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50" dirty="0"/>
          </a:p>
        </p:txBody>
      </p:sp>
      <p:sp>
        <p:nvSpPr>
          <p:cNvPr id="28" name="bd_216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17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qualify →</a:t>
            </a:r>
            <a:endParaRPr lang="en-US" sz="1150" dirty="0"/>
          </a:p>
        </p:txBody>
      </p:sp>
      <p:sp>
        <p:nvSpPr>
          <p:cNvPr id="30" name="R4_chip218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50" dirty="0"/>
          </a:p>
        </p:txBody>
      </p:sp>
      <p:sp>
        <p:nvSpPr>
          <p:cNvPr id="31" name="bd_219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20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science →</a:t>
            </a:r>
            <a:endParaRPr lang="en-US" sz="1150" dirty="0"/>
          </a:p>
        </p:txBody>
      </p:sp>
      <p:sp>
        <p:nvSpPr>
          <p:cNvPr id="33" name="R5_chip221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entist</a:t>
            </a:r>
            <a:endParaRPr lang="en-US" sz="1050" dirty="0"/>
          </a:p>
        </p:txBody>
      </p:sp>
      <p:sp>
        <p:nvSpPr>
          <p:cNvPr id="34" name="bd_22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223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→</a:t>
            </a:r>
            <a:endParaRPr lang="en-US" sz="1150" dirty="0"/>
          </a:p>
        </p:txBody>
      </p:sp>
      <p:sp>
        <p:nvSpPr>
          <p:cNvPr id="36" name="R6_chip224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cian</a:t>
            </a:r>
            <a:endParaRPr lang="en-US" sz="1050" dirty="0"/>
          </a:p>
        </p:txBody>
      </p:sp>
      <p:sp>
        <p:nvSpPr>
          <p:cNvPr id="37" name="bd_225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226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 →</a:t>
            </a:r>
            <a:endParaRPr lang="en-US" sz="1150" dirty="0"/>
          </a:p>
        </p:txBody>
      </p:sp>
      <p:sp>
        <p:nvSpPr>
          <p:cNvPr id="39" name="R7_chip227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tor</a:t>
            </a:r>
            <a:endParaRPr lang="en-US" sz="1050" dirty="0"/>
          </a:p>
        </p:txBody>
      </p:sp>
      <p:sp>
        <p:nvSpPr>
          <p:cNvPr id="40" name="bd_228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229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pharmacy →</a:t>
            </a:r>
            <a:endParaRPr lang="en-US" sz="1150" dirty="0"/>
          </a:p>
        </p:txBody>
      </p:sp>
      <p:sp>
        <p:nvSpPr>
          <p:cNvPr id="42" name="R8_chip230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macist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3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Stress it!</a:t>
            </a:r>
            <a:endParaRPr lang="en-US" sz="2500" dirty="0"/>
          </a:p>
        </p:txBody>
      </p:sp>
      <p:pic>
        <p:nvPicPr>
          <p:cNvPr id="6" name="brP_2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35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syllable is stressed?</a:t>
            </a:r>
            <a:endParaRPr lang="en-US" sz="1250" dirty="0"/>
          </a:p>
        </p:txBody>
      </p:sp>
      <p:sp>
        <p:nvSpPr>
          <p:cNvPr id="8" name="insIT_2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sillaba è accentata?</a:t>
            </a:r>
            <a:endParaRPr lang="en-US" sz="950" dirty="0"/>
          </a:p>
        </p:txBody>
      </p:sp>
      <p:sp>
        <p:nvSpPr>
          <p:cNvPr id="9" name="note_2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PRONUNCIA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Controlled practice</a:t>
            </a:r>
            <a:endParaRPr lang="en-US" sz="1250" dirty="0"/>
          </a:p>
        </p:txBody>
      </p:sp>
      <p:pic>
        <p:nvPicPr>
          <p:cNvPr id="10" name="logo_2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Pronunciation · word stress   ·   📖 SB p.77 · 2a, 2b · audio 8.5 (play from the book)</a:t>
            </a:r>
            <a:endParaRPr lang="en-US" sz="800" dirty="0"/>
          </a:p>
        </p:txBody>
      </p:sp>
      <p:sp>
        <p:nvSpPr>
          <p:cNvPr id="12" name="cd_240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4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43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 apPLY</a:t>
            </a:r>
            <a:endParaRPr lang="en-US" sz="1050" dirty="0"/>
          </a:p>
        </p:txBody>
      </p:sp>
      <p:sp>
        <p:nvSpPr>
          <p:cNvPr id="16" name="pf_244"/>
          <p:cNvSpPr/>
          <p:nvPr/>
        </p:nvSpPr>
        <p:spPr>
          <a:xfrm rot="-90000">
            <a:off x="671247" y="2368296"/>
            <a:ext cx="1995067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45" descr="/home/claude/lls-course/v2/cache/spare_work_job_interview_jpg_458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16967" y="2414016"/>
            <a:ext cx="1903627" cy="1655064"/>
          </a:xfrm>
          <a:prstGeom prst="rect">
            <a:avLst/>
          </a:prstGeom>
        </p:spPr>
      </p:pic>
      <p:sp>
        <p:nvSpPr>
          <p:cNvPr id="18" name="ap_246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8.5</a:t>
            </a:r>
            <a:endParaRPr lang="en-US" sz="1100" dirty="0"/>
          </a:p>
        </p:txBody>
      </p:sp>
      <p:sp>
        <p:nvSpPr>
          <p:cNvPr id="19" name="bd_247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48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150" dirty="0"/>
          </a:p>
        </p:txBody>
      </p:sp>
      <p:sp>
        <p:nvSpPr>
          <p:cNvPr id="21" name="R1_chip249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lary</a:t>
            </a:r>
            <a:endParaRPr lang="en-US" sz="1050" dirty="0"/>
          </a:p>
        </p:txBody>
      </p:sp>
      <p:sp>
        <p:nvSpPr>
          <p:cNvPr id="22" name="bd_250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51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redundant</a:t>
            </a:r>
            <a:endParaRPr lang="en-US" sz="1150" dirty="0"/>
          </a:p>
        </p:txBody>
      </p:sp>
      <p:sp>
        <p:nvSpPr>
          <p:cNvPr id="24" name="R2_chip252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DUN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dant</a:t>
            </a:r>
            <a:endParaRPr lang="en-US" sz="1050" dirty="0"/>
          </a:p>
        </p:txBody>
      </p:sp>
      <p:sp>
        <p:nvSpPr>
          <p:cNvPr id="25" name="bd_253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54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</a:t>
            </a:r>
            <a:endParaRPr lang="en-US" sz="1150" dirty="0"/>
          </a:p>
        </p:txBody>
      </p:sp>
      <p:sp>
        <p:nvSpPr>
          <p:cNvPr id="27" name="R3_chip255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rience</a:t>
            </a:r>
            <a:endParaRPr lang="en-US" sz="1050" dirty="0"/>
          </a:p>
        </p:txBody>
      </p:sp>
      <p:sp>
        <p:nvSpPr>
          <p:cNvPr id="28" name="bd_256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57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150" dirty="0"/>
          </a:p>
        </p:txBody>
      </p:sp>
      <p:sp>
        <p:nvSpPr>
          <p:cNvPr id="30" name="R4_chip258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vertime</a:t>
            </a:r>
            <a:endParaRPr lang="en-US" sz="1050" dirty="0"/>
          </a:p>
        </p:txBody>
      </p:sp>
      <p:sp>
        <p:nvSpPr>
          <p:cNvPr id="31" name="bd_259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60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permanent</a:t>
            </a:r>
            <a:endParaRPr lang="en-US" sz="1150" dirty="0"/>
          </a:p>
        </p:txBody>
      </p:sp>
      <p:sp>
        <p:nvSpPr>
          <p:cNvPr id="33" name="R5_chip261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manent</a:t>
            </a:r>
            <a:endParaRPr lang="en-US" sz="1050" dirty="0"/>
          </a:p>
        </p:txBody>
      </p:sp>
      <p:sp>
        <p:nvSpPr>
          <p:cNvPr id="34" name="bd_26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263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qualifications</a:t>
            </a:r>
            <a:endParaRPr lang="en-US" sz="1150" dirty="0"/>
          </a:p>
        </p:txBody>
      </p:sp>
      <p:sp>
        <p:nvSpPr>
          <p:cNvPr id="36" name="R6_chip264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tions</a:t>
            </a:r>
            <a:endParaRPr lang="en-US" sz="1050" dirty="0"/>
          </a:p>
        </p:txBody>
      </p:sp>
      <p:sp>
        <p:nvSpPr>
          <p:cNvPr id="37" name="bd_265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266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150" dirty="0"/>
          </a:p>
        </p:txBody>
      </p:sp>
      <p:sp>
        <p:nvSpPr>
          <p:cNvPr id="39" name="R7_chip267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SPON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sible</a:t>
            </a:r>
            <a:endParaRPr lang="en-US" sz="1050" dirty="0"/>
          </a:p>
        </p:txBody>
      </p:sp>
      <p:sp>
        <p:nvSpPr>
          <p:cNvPr id="40" name="bd_268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269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temporary</a:t>
            </a:r>
            <a:endParaRPr lang="en-US" sz="1150" dirty="0"/>
          </a:p>
        </p:txBody>
      </p:sp>
      <p:sp>
        <p:nvSpPr>
          <p:cNvPr id="42" name="R8_chip270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</a:t>
            </a:r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porary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27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 their job</a:t>
            </a:r>
            <a:endParaRPr lang="en-US" sz="2500" dirty="0"/>
          </a:p>
        </p:txBody>
      </p:sp>
      <p:pic>
        <p:nvPicPr>
          <p:cNvPr id="6" name="brP_2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7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person you know with a job. Your partner asks!</a:t>
            </a:r>
            <a:endParaRPr lang="en-US" sz="1250" dirty="0"/>
          </a:p>
        </p:txBody>
      </p:sp>
      <p:sp>
        <p:nvSpPr>
          <p:cNvPr id="8" name="insIT_2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Pensa a una persona che lavora. Il compagno fa domande!</a:t>
            </a:r>
            <a:endParaRPr lang="en-US" sz="950" dirty="0"/>
          </a:p>
        </p:txBody>
      </p:sp>
      <p:sp>
        <p:nvSpPr>
          <p:cNvPr id="9" name="note_2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someone you know   ·   📖 SB p.77 · 2c, 2d</a:t>
            </a:r>
            <a:endParaRPr lang="en-US" sz="800" dirty="0"/>
          </a:p>
        </p:txBody>
      </p:sp>
      <p:sp>
        <p:nvSpPr>
          <p:cNvPr id="12" name="pf_280"/>
          <p:cNvSpPr/>
          <p:nvPr/>
        </p:nvSpPr>
        <p:spPr>
          <a:xfrm rot="-120000">
            <a:off x="1069647" y="1371600"/>
            <a:ext cx="1289706" cy="1325880"/>
          </a:xfrm>
          <a:prstGeom prst="roundRect">
            <a:avLst>
              <a:gd name="adj" fmla="val 12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81" descr="/home/claude/lls-course/v2/cache/spare_work_places_jpg_288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115367" y="1417320"/>
            <a:ext cx="1198266" cy="1234440"/>
          </a:xfrm>
          <a:prstGeom prst="rect">
            <a:avLst/>
          </a:prstGeom>
        </p:spPr>
      </p:pic>
      <p:sp>
        <p:nvSpPr>
          <p:cNvPr id="14" name="cd_282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8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28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285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tell you about my cousin.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in charge of… · He works shifts.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Does she like it?</a:t>
            </a:r>
            <a:endParaRPr lang="en-US" sz="1150" dirty="0"/>
          </a:p>
        </p:txBody>
      </p:sp>
      <p:sp>
        <p:nvSpPr>
          <p:cNvPr id="18" name="R1_qb28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287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/ she do?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She's a nurse at the hospital in Palermo.</a:t>
            </a:r>
            <a:endParaRPr lang="en-US" sz="1300" dirty="0"/>
          </a:p>
        </p:txBody>
      </p:sp>
      <p:sp>
        <p:nvSpPr>
          <p:cNvPr id="20" name="R2_qb288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289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time or part time? Temporary or permanent?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Full time, and it's a permanent job.</a:t>
            </a:r>
            <a:endParaRPr lang="en-US" sz="1300" dirty="0"/>
          </a:p>
        </p:txBody>
      </p:sp>
      <p:sp>
        <p:nvSpPr>
          <p:cNvPr id="22" name="R3_qb290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291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hours does he / she work? Any overtime?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 works shifts – sometimes at night.</a:t>
            </a:r>
            <a:endParaRPr lang="en-US" sz="1300" dirty="0"/>
          </a:p>
        </p:txBody>
      </p:sp>
      <p:sp>
        <p:nvSpPr>
          <p:cNvPr id="24" name="R4_qb292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293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get a good salary?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bad, but not great!</a:t>
            </a:r>
            <a:endParaRPr lang="en-US" sz="1300" dirty="0"/>
          </a:p>
        </p:txBody>
      </p:sp>
      <p:sp>
        <p:nvSpPr>
          <p:cNvPr id="26" name="R5_qb294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295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like the job? Why (not)?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she loves helping people.</a:t>
            </a:r>
            <a:endParaRPr lang="en-US" sz="1300" dirty="0"/>
          </a:p>
        </p:txBody>
      </p:sp>
      <p:sp>
        <p:nvSpPr>
          <p:cNvPr id="28" name="R6_qb29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297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 do his / her job?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hate working at night!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30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revenge</a:t>
            </a:r>
            <a:endParaRPr lang="en-US" sz="2500" dirty="0"/>
          </a:p>
        </p:txBody>
      </p:sp>
      <p:pic>
        <p:nvPicPr>
          <p:cNvPr id="6" name="brP_3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0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0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class story (TPRS)</a:t>
            </a:r>
            <a:endParaRPr lang="en-US" sz="800" dirty="0"/>
          </a:p>
        </p:txBody>
      </p:sp>
      <p:sp>
        <p:nvSpPr>
          <p:cNvPr id="12" name="pf_307"/>
          <p:cNvSpPr/>
          <p:nvPr/>
        </p:nvSpPr>
        <p:spPr>
          <a:xfrm rot="-90000">
            <a:off x="851639" y="1417320"/>
            <a:ext cx="1680002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08" descr="/home/claude/lls-course/v2/cache/8a1_clare_sacked_jpg_382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97359" y="1463040"/>
            <a:ext cx="1588562" cy="1188720"/>
          </a:xfrm>
          <a:prstGeom prst="rect">
            <a:avLst/>
          </a:prstGeom>
        </p:spPr>
      </p:pic>
      <p:sp>
        <p:nvSpPr>
          <p:cNvPr id="14" name="cd_309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0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11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12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odiare fare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+ person + verb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permettere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to + verb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decidere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avere paura di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bravo a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+ -ing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continuare a</a:t>
            </a:r>
            <a:endParaRPr lang="en-US" sz="850" dirty="0"/>
          </a:p>
        </p:txBody>
      </p:sp>
      <p:sp>
        <p:nvSpPr>
          <p:cNvPr id="18" name="R1_sb313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14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hated working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the marketing company. Her boss never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her leave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early.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Clare enjoy her job? · Did her boss let her leave early?</a:t>
            </a:r>
            <a:endParaRPr lang="en-US" sz="900" dirty="0"/>
          </a:p>
        </p:txBody>
      </p:sp>
      <p:sp>
        <p:nvSpPr>
          <p:cNvPr id="20" name="R2_sb315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16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she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tell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him: '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here is terrible!'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she decide to do? · Was it a good idea?</a:t>
            </a:r>
            <a:endParaRPr lang="en-US" sz="1150" dirty="0"/>
          </a:p>
        </p:txBody>
      </p:sp>
      <p:sp>
        <p:nvSpPr>
          <p:cNvPr id="22" name="R3_sb317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18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sacked. She was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being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unemployed.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she happy or afraid? · Why?</a:t>
            </a:r>
            <a:endParaRPr lang="en-US" sz="1150" dirty="0"/>
          </a:p>
        </p:txBody>
      </p:sp>
      <p:sp>
        <p:nvSpPr>
          <p:cNvPr id="24" name="R4_sb319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20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Clare is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making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cakes, so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set up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online business.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is Clare good at? · What did she decide to do?</a:t>
            </a:r>
            <a:endParaRPr lang="en-US" sz="900" dirty="0"/>
          </a:p>
        </p:txBody>
      </p:sp>
      <p:sp>
        <p:nvSpPr>
          <p:cNvPr id="26" name="R5_sb321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22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business is hard, but she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enjoys being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own boss.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it easy? · Does she enjoy it?</a:t>
            </a:r>
            <a:endParaRPr lang="en-US" sz="1150" dirty="0"/>
          </a:p>
        </p:txBody>
      </p:sp>
      <p:sp>
        <p:nvSpPr>
          <p:cNvPr id="28" name="R6_sb323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24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her old boss?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keeps ordering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cakes – every week! 🎂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does he keep doing? · And you – what are you good at?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2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1/2</a:t>
            </a:r>
            <a:endParaRPr lang="en-US" sz="2500" dirty="0"/>
          </a:p>
        </p:txBody>
      </p:sp>
      <p:pic>
        <p:nvPicPr>
          <p:cNvPr id="6" name="brP_3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2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form: -ing or to + verb. Tick ✓ what's true for you.</a:t>
            </a:r>
            <a:endParaRPr lang="en-US" sz="1100" dirty="0"/>
          </a:p>
        </p:txBody>
      </p:sp>
      <p:sp>
        <p:nvSpPr>
          <p:cNvPr id="8" name="insIT_3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giusta: -ing o to + verbo. Spunta ✓ ciò che è vero per te.</a:t>
            </a:r>
            <a:endParaRPr lang="en-US" sz="900" dirty="0"/>
          </a:p>
        </p:txBody>
      </p:sp>
      <p:sp>
        <p:nvSpPr>
          <p:cNvPr id="9" name="note_33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1/2 (B1 Adults Exam: start here 13 Oct)   ·   📖 SB p.77 · 3a, 3b (answers: TG)</a:t>
            </a:r>
            <a:endParaRPr lang="en-US" sz="800" dirty="0"/>
          </a:p>
        </p:txBody>
      </p:sp>
      <p:sp>
        <p:nvSpPr>
          <p:cNvPr id="12" name="cd_33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3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4" name="ln_336"/>
          <p:cNvSpPr/>
          <p:nvPr/>
        </p:nvSpPr>
        <p:spPr>
          <a:xfrm>
            <a:off x="548640" y="1920240"/>
            <a:ext cx="5349240" cy="29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1 I'd like to work as part of a team. (work)</a:t>
            </a:r>
            <a:endParaRPr lang="en-US" sz="1250" dirty="0"/>
          </a:p>
        </p:txBody>
      </p:sp>
      <p:sp>
        <p:nvSpPr>
          <p:cNvPr id="15" name="ln_337"/>
          <p:cNvSpPr/>
          <p:nvPr/>
        </p:nvSpPr>
        <p:spPr>
          <a:xfrm>
            <a:off x="548640" y="2215464"/>
            <a:ext cx="5349240" cy="383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250" dirty="0"/>
          </a:p>
        </p:txBody>
      </p:sp>
      <p:sp>
        <p:nvSpPr>
          <p:cNvPr id="16" name="R1_lnA338"/>
          <p:cNvSpPr/>
          <p:nvPr/>
        </p:nvSpPr>
        <p:spPr>
          <a:xfrm>
            <a:off x="548640" y="2215464"/>
            <a:ext cx="5349240" cy="38316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helping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250" dirty="0"/>
          </a:p>
        </p:txBody>
      </p:sp>
      <p:sp>
        <p:nvSpPr>
          <p:cNvPr id="17" name="ln_339"/>
          <p:cNvSpPr/>
          <p:nvPr/>
        </p:nvSpPr>
        <p:spPr>
          <a:xfrm>
            <a:off x="548640" y="2598626"/>
            <a:ext cx="5349240" cy="420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250" dirty="0"/>
          </a:p>
        </p:txBody>
      </p:sp>
      <p:sp>
        <p:nvSpPr>
          <p:cNvPr id="18" name="R2_lnA340"/>
          <p:cNvSpPr/>
          <p:nvPr/>
        </p:nvSpPr>
        <p:spPr>
          <a:xfrm>
            <a:off x="548640" y="2598626"/>
            <a:ext cx="5349240" cy="4208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not earning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250" dirty="0"/>
          </a:p>
        </p:txBody>
      </p:sp>
      <p:sp>
        <p:nvSpPr>
          <p:cNvPr id="19" name="ln_341"/>
          <p:cNvSpPr/>
          <p:nvPr/>
        </p:nvSpPr>
        <p:spPr>
          <a:xfrm>
            <a:off x="548640" y="3019476"/>
            <a:ext cx="5349240" cy="32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250" dirty="0"/>
          </a:p>
        </p:txBody>
      </p:sp>
      <p:sp>
        <p:nvSpPr>
          <p:cNvPr id="20" name="R3_lnA342"/>
          <p:cNvSpPr/>
          <p:nvPr/>
        </p:nvSpPr>
        <p:spPr>
          <a:xfrm>
            <a:off x="548640" y="3019476"/>
            <a:ext cx="5349240" cy="32663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listening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250" dirty="0"/>
          </a:p>
        </p:txBody>
      </p:sp>
      <p:sp>
        <p:nvSpPr>
          <p:cNvPr id="21" name="ln_343"/>
          <p:cNvSpPr/>
          <p:nvPr/>
        </p:nvSpPr>
        <p:spPr>
          <a:xfrm>
            <a:off x="548640" y="3346107"/>
            <a:ext cx="5349240" cy="332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250" dirty="0"/>
          </a:p>
        </p:txBody>
      </p:sp>
      <p:sp>
        <p:nvSpPr>
          <p:cNvPr id="22" name="R4_lnA344"/>
          <p:cNvSpPr/>
          <p:nvPr/>
        </p:nvSpPr>
        <p:spPr>
          <a:xfrm>
            <a:off x="548640" y="3346107"/>
            <a:ext cx="5349240" cy="33291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250" dirty="0"/>
          </a:p>
        </p:txBody>
      </p:sp>
      <p:sp>
        <p:nvSpPr>
          <p:cNvPr id="23" name="ln_345"/>
          <p:cNvSpPr/>
          <p:nvPr/>
        </p:nvSpPr>
        <p:spPr>
          <a:xfrm>
            <a:off x="548640" y="3679018"/>
            <a:ext cx="5349240" cy="30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250" dirty="0"/>
          </a:p>
        </p:txBody>
      </p:sp>
      <p:sp>
        <p:nvSpPr>
          <p:cNvPr id="24" name="R5_lnA346"/>
          <p:cNvSpPr/>
          <p:nvPr/>
        </p:nvSpPr>
        <p:spPr>
          <a:xfrm>
            <a:off x="548640" y="3679018"/>
            <a:ext cx="5349240" cy="30150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Taking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250" dirty="0"/>
          </a:p>
        </p:txBody>
      </p:sp>
      <p:sp>
        <p:nvSpPr>
          <p:cNvPr id="25" name="ln_347"/>
          <p:cNvSpPr/>
          <p:nvPr/>
        </p:nvSpPr>
        <p:spPr>
          <a:xfrm>
            <a:off x="548640" y="3980523"/>
            <a:ext cx="5349240" cy="28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250" dirty="0"/>
          </a:p>
        </p:txBody>
      </p:sp>
      <p:sp>
        <p:nvSpPr>
          <p:cNvPr id="26" name="R6_lnA348"/>
          <p:cNvSpPr/>
          <p:nvPr/>
        </p:nvSpPr>
        <p:spPr>
          <a:xfrm>
            <a:off x="548640" y="3980523"/>
            <a:ext cx="5349240" cy="28894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work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250" dirty="0"/>
          </a:p>
        </p:txBody>
      </p:sp>
      <p:sp>
        <p:nvSpPr>
          <p:cNvPr id="27" name="ln_349"/>
          <p:cNvSpPr/>
          <p:nvPr/>
        </p:nvSpPr>
        <p:spPr>
          <a:xfrm>
            <a:off x="548640" y="4269465"/>
            <a:ext cx="5349240" cy="439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250" dirty="0"/>
          </a:p>
        </p:txBody>
      </p:sp>
      <p:sp>
        <p:nvSpPr>
          <p:cNvPr id="28" name="R7_lnA350"/>
          <p:cNvSpPr/>
          <p:nvPr/>
        </p:nvSpPr>
        <p:spPr>
          <a:xfrm>
            <a:off x="548640" y="4269465"/>
            <a:ext cx="5349240" cy="4396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managing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250" dirty="0"/>
          </a:p>
        </p:txBody>
      </p:sp>
      <p:sp>
        <p:nvSpPr>
          <p:cNvPr id="29" name="pf_351"/>
          <p:cNvSpPr/>
          <p:nvPr/>
        </p:nvSpPr>
        <p:spPr>
          <a:xfrm rot="120000">
            <a:off x="6607356" y="1417320"/>
            <a:ext cx="1964327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352" descr="/home/claude/lls-course/v2/cache/8a1_clare_office_jpg_45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53076" y="1463040"/>
            <a:ext cx="1872887" cy="1417320"/>
          </a:xfrm>
          <a:prstGeom prst="rect">
            <a:avLst/>
          </a:prstGeom>
        </p:spPr>
      </p:pic>
      <p:sp>
        <p:nvSpPr>
          <p:cNvPr id="31" name="cd_35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35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35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356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= sentences 1–4 · B = 5–8</a:t>
            </a:r>
            <a:endParaRPr lang="en-US" sz="7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only if you STRONGLY agree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59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2/2</a:t>
            </a:r>
            <a:endParaRPr lang="en-US" sz="2500" dirty="0"/>
          </a:p>
        </p:txBody>
      </p:sp>
      <p:pic>
        <p:nvPicPr>
          <p:cNvPr id="6" name="brP_3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6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form. Tick ✓ what's true. Which section has most ticks?</a:t>
            </a:r>
            <a:endParaRPr lang="en-US" sz="1100" dirty="0"/>
          </a:p>
        </p:txBody>
      </p:sp>
      <p:sp>
        <p:nvSpPr>
          <p:cNvPr id="8" name="insIT_3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giusta. Spunta ✓. Quale sezione ha più spunte?</a:t>
            </a:r>
            <a:endParaRPr lang="en-US" sz="950" dirty="0"/>
          </a:p>
        </p:txBody>
      </p:sp>
      <p:sp>
        <p:nvSpPr>
          <p:cNvPr id="9" name="note_36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2/2   ·   📖 SB p.77 · 3a, 3b, 3c · Communication p.108</a:t>
            </a:r>
            <a:endParaRPr lang="en-US" sz="800" dirty="0"/>
          </a:p>
        </p:txBody>
      </p:sp>
      <p:sp>
        <p:nvSpPr>
          <p:cNvPr id="12" name="cd_36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6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4" name="ln_368"/>
          <p:cNvSpPr/>
          <p:nvPr/>
        </p:nvSpPr>
        <p:spPr>
          <a:xfrm>
            <a:off x="548640" y="1920240"/>
            <a:ext cx="5349240" cy="298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200" dirty="0"/>
          </a:p>
        </p:txBody>
      </p:sp>
      <p:sp>
        <p:nvSpPr>
          <p:cNvPr id="15" name="R1_lnA369"/>
          <p:cNvSpPr/>
          <p:nvPr/>
        </p:nvSpPr>
        <p:spPr>
          <a:xfrm>
            <a:off x="548640" y="1920240"/>
            <a:ext cx="5349240" cy="2981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expressing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200" dirty="0"/>
          </a:p>
        </p:txBody>
      </p:sp>
      <p:sp>
        <p:nvSpPr>
          <p:cNvPr id="16" name="ln_370"/>
          <p:cNvSpPr/>
          <p:nvPr/>
        </p:nvSpPr>
        <p:spPr>
          <a:xfrm>
            <a:off x="548640" y="2218426"/>
            <a:ext cx="5349240" cy="339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200" dirty="0"/>
          </a:p>
        </p:txBody>
      </p:sp>
      <p:sp>
        <p:nvSpPr>
          <p:cNvPr id="17" name="R2_lnA371"/>
          <p:cNvSpPr/>
          <p:nvPr/>
        </p:nvSpPr>
        <p:spPr>
          <a:xfrm>
            <a:off x="548640" y="2218426"/>
            <a:ext cx="5349240" cy="33911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follow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200" dirty="0"/>
          </a:p>
        </p:txBody>
      </p:sp>
      <p:sp>
        <p:nvSpPr>
          <p:cNvPr id="18" name="ln_372"/>
          <p:cNvSpPr/>
          <p:nvPr/>
        </p:nvSpPr>
        <p:spPr>
          <a:xfrm>
            <a:off x="548640" y="2557540"/>
            <a:ext cx="5349240" cy="321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200" dirty="0"/>
          </a:p>
        </p:txBody>
      </p:sp>
      <p:sp>
        <p:nvSpPr>
          <p:cNvPr id="19" name="R3_lnA373"/>
          <p:cNvSpPr/>
          <p:nvPr/>
        </p:nvSpPr>
        <p:spPr>
          <a:xfrm>
            <a:off x="548640" y="2557540"/>
            <a:ext cx="5349240" cy="32157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200" dirty="0"/>
          </a:p>
        </p:txBody>
      </p:sp>
      <p:sp>
        <p:nvSpPr>
          <p:cNvPr id="20" name="ln_374"/>
          <p:cNvSpPr/>
          <p:nvPr/>
        </p:nvSpPr>
        <p:spPr>
          <a:xfrm>
            <a:off x="548640" y="2879114"/>
            <a:ext cx="5349240" cy="263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200" dirty="0"/>
          </a:p>
        </p:txBody>
      </p:sp>
      <p:sp>
        <p:nvSpPr>
          <p:cNvPr id="21" name="R4_lnA375"/>
          <p:cNvSpPr/>
          <p:nvPr/>
        </p:nvSpPr>
        <p:spPr>
          <a:xfrm>
            <a:off x="548640" y="2879114"/>
            <a:ext cx="5349240" cy="2631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improvising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200" dirty="0"/>
          </a:p>
        </p:txBody>
      </p:sp>
      <p:sp>
        <p:nvSpPr>
          <p:cNvPr id="22" name="ln_376"/>
          <p:cNvSpPr/>
          <p:nvPr/>
        </p:nvSpPr>
        <p:spPr>
          <a:xfrm>
            <a:off x="548640" y="3142220"/>
            <a:ext cx="5349240" cy="403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200" dirty="0"/>
          </a:p>
        </p:txBody>
      </p:sp>
      <p:sp>
        <p:nvSpPr>
          <p:cNvPr id="23" name="R5_lnA377"/>
          <p:cNvSpPr/>
          <p:nvPr/>
        </p:nvSpPr>
        <p:spPr>
          <a:xfrm>
            <a:off x="548640" y="3142220"/>
            <a:ext cx="5349240" cy="40342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200" dirty="0"/>
          </a:p>
        </p:txBody>
      </p:sp>
      <p:sp>
        <p:nvSpPr>
          <p:cNvPr id="24" name="ln_378"/>
          <p:cNvSpPr/>
          <p:nvPr/>
        </p:nvSpPr>
        <p:spPr>
          <a:xfrm>
            <a:off x="548640" y="3545648"/>
            <a:ext cx="5349240" cy="315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200" dirty="0"/>
          </a:p>
        </p:txBody>
      </p:sp>
      <p:sp>
        <p:nvSpPr>
          <p:cNvPr id="25" name="R6_lnA379"/>
          <p:cNvSpPr/>
          <p:nvPr/>
        </p:nvSpPr>
        <p:spPr>
          <a:xfrm>
            <a:off x="548640" y="3545648"/>
            <a:ext cx="5349240" cy="3157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solving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200" dirty="0"/>
          </a:p>
        </p:txBody>
      </p:sp>
      <p:sp>
        <p:nvSpPr>
          <p:cNvPr id="26" name="ln_380"/>
          <p:cNvSpPr/>
          <p:nvPr/>
        </p:nvSpPr>
        <p:spPr>
          <a:xfrm>
            <a:off x="548640" y="3861375"/>
            <a:ext cx="5349240" cy="45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200" dirty="0"/>
          </a:p>
        </p:txBody>
      </p:sp>
      <p:sp>
        <p:nvSpPr>
          <p:cNvPr id="27" name="R7_lnA381"/>
          <p:cNvSpPr/>
          <p:nvPr/>
        </p:nvSpPr>
        <p:spPr>
          <a:xfrm>
            <a:off x="548640" y="3861375"/>
            <a:ext cx="5349240" cy="4560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understand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200" dirty="0"/>
          </a:p>
        </p:txBody>
      </p:sp>
      <p:sp>
        <p:nvSpPr>
          <p:cNvPr id="28" name="ln_382"/>
          <p:cNvSpPr/>
          <p:nvPr/>
        </p:nvSpPr>
        <p:spPr>
          <a:xfrm>
            <a:off x="548640" y="4317425"/>
            <a:ext cx="5349240" cy="391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(16)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200" dirty="0"/>
          </a:p>
        </p:txBody>
      </p:sp>
      <p:sp>
        <p:nvSpPr>
          <p:cNvPr id="29" name="R8_lnA383"/>
          <p:cNvSpPr/>
          <p:nvPr/>
        </p:nvSpPr>
        <p:spPr>
          <a:xfrm>
            <a:off x="548640" y="4317425"/>
            <a:ext cx="5349240" cy="39173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calculate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200" dirty="0"/>
          </a:p>
        </p:txBody>
      </p:sp>
      <p:sp>
        <p:nvSpPr>
          <p:cNvPr id="30" name="pf_384"/>
          <p:cNvSpPr/>
          <p:nvPr/>
        </p:nvSpPr>
        <p:spPr>
          <a:xfrm rot="120000">
            <a:off x="6607356" y="1417320"/>
            <a:ext cx="1964327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85" descr="/home/claude/lls-course/v2/cache/8a1_clare_cakes_jpg_45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53076" y="1463040"/>
            <a:ext cx="1872887" cy="1417320"/>
          </a:xfrm>
          <a:prstGeom prst="rect">
            <a:avLst/>
          </a:prstGeom>
        </p:spPr>
      </p:pic>
      <p:sp>
        <p:nvSpPr>
          <p:cNvPr id="32" name="cd_38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38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38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389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 ticks? → Communication p.108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the job you'd like?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9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rule</a:t>
            </a:r>
            <a:endParaRPr lang="en-US" sz="2500" dirty="0"/>
          </a:p>
        </p:txBody>
      </p:sp>
      <p:pic>
        <p:nvPicPr>
          <p:cNvPr id="6" name="brP_3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questionnaire. Complete the rules: -ing or to + verb?</a:t>
            </a:r>
            <a:endParaRPr lang="en-US" sz="1100" dirty="0"/>
          </a:p>
        </p:txBody>
      </p:sp>
      <p:sp>
        <p:nvSpPr>
          <p:cNvPr id="8" name="insIT_3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questionario. Completa le regole: -ing o to + verbo?</a:t>
            </a:r>
            <a:endParaRPr lang="en-US" sz="950" dirty="0"/>
          </a:p>
        </p:txBody>
      </p:sp>
      <p:sp>
        <p:nvSpPr>
          <p:cNvPr id="9" name="note_39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3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discovery   ·   📖 SB p.77 · 3d (answers: TG)</a:t>
            </a:r>
            <a:endParaRPr lang="en-US" sz="800" dirty="0"/>
          </a:p>
        </p:txBody>
      </p:sp>
      <p:sp>
        <p:nvSpPr>
          <p:cNvPr id="12" name="cd_399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0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02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helping people. → after enjoy: -ing</a:t>
            </a:r>
            <a:endParaRPr lang="en-US" sz="1050" dirty="0"/>
          </a:p>
        </p:txBody>
      </p:sp>
      <p:sp>
        <p:nvSpPr>
          <p:cNvPr id="16" name="pf_403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04" descr="/home/claude/lls-course/v2/cache/8a1_clare_office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0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0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enjoy and don't mind…</a:t>
            </a:r>
            <a:endParaRPr lang="en-US" sz="1150" dirty="0"/>
          </a:p>
        </p:txBody>
      </p:sp>
      <p:sp>
        <p:nvSpPr>
          <p:cNvPr id="20" name="R1_chip40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50" dirty="0"/>
          </a:p>
        </p:txBody>
      </p:sp>
      <p:sp>
        <p:nvSpPr>
          <p:cNvPr id="21" name="bd_40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0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would like…</a:t>
            </a:r>
            <a:endParaRPr lang="en-US" sz="1150" dirty="0"/>
          </a:p>
        </p:txBody>
      </p:sp>
      <p:sp>
        <p:nvSpPr>
          <p:cNvPr id="23" name="R2_chip41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50" dirty="0"/>
          </a:p>
        </p:txBody>
      </p:sp>
      <p:sp>
        <p:nvSpPr>
          <p:cNvPr id="24" name="bd_41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1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adjectives (easy, important)…</a:t>
            </a:r>
            <a:endParaRPr lang="en-US" sz="1150" dirty="0"/>
          </a:p>
        </p:txBody>
      </p:sp>
      <p:sp>
        <p:nvSpPr>
          <p:cNvPr id="26" name="R3_chip41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50" dirty="0"/>
          </a:p>
        </p:txBody>
      </p:sp>
      <p:sp>
        <p:nvSpPr>
          <p:cNvPr id="27" name="bd_41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1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prepositions (at, of)…</a:t>
            </a:r>
            <a:endParaRPr lang="en-US" sz="1150" dirty="0"/>
          </a:p>
        </p:txBody>
      </p:sp>
      <p:sp>
        <p:nvSpPr>
          <p:cNvPr id="29" name="R4_chip41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50" dirty="0"/>
          </a:p>
        </p:txBody>
      </p:sp>
      <p:sp>
        <p:nvSpPr>
          <p:cNvPr id="30" name="bd_41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1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 the subject of a sentence…</a:t>
            </a:r>
            <a:endParaRPr lang="en-US" sz="1150" dirty="0"/>
          </a:p>
        </p:txBody>
      </p:sp>
      <p:sp>
        <p:nvSpPr>
          <p:cNvPr id="32" name="R5_chip41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(-ing): Taking risks…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22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+ verb or verb?</a:t>
            </a:r>
            <a:endParaRPr lang="en-US" sz="2500" dirty="0"/>
          </a:p>
        </p:txBody>
      </p:sp>
      <p:pic>
        <p:nvPicPr>
          <p:cNvPr id="6" name="brP_4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forms: going · to go · go. When do we use each?</a:t>
            </a:r>
            <a:endParaRPr lang="en-US" sz="1250" dirty="0"/>
          </a:p>
        </p:txBody>
      </p:sp>
      <p:sp>
        <p:nvSpPr>
          <p:cNvPr id="8" name="insIT_4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forme: going · to go · go. Quando si usa ognuna?</a:t>
            </a:r>
            <a:endParaRPr lang="en-US" sz="950" dirty="0"/>
          </a:p>
        </p:txBody>
      </p:sp>
      <p:sp>
        <p:nvSpPr>
          <p:cNvPr id="9" name="note_42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gerunds and infinitives   ·   📖 Grammar Bank 8A p.146 · audio 8.6, 8.7, 8.8 (play from the book)</a:t>
            </a:r>
            <a:endParaRPr lang="en-US" sz="800" dirty="0"/>
          </a:p>
        </p:txBody>
      </p:sp>
      <p:sp>
        <p:nvSpPr>
          <p:cNvPr id="12" name="cd_429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430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(gerund)</a:t>
            </a:r>
            <a:endParaRPr lang="en-US" sz="1250" dirty="0"/>
          </a:p>
        </p:txBody>
      </p:sp>
      <p:sp>
        <p:nvSpPr>
          <p:cNvPr id="14" name="pf_431"/>
          <p:cNvSpPr/>
          <p:nvPr/>
        </p:nvSpPr>
        <p:spPr>
          <a:xfrm>
            <a:off x="1079591" y="1938528"/>
            <a:ext cx="1239339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32" descr="/home/claude/lls-course/v2/cache/8a1_clare_cakes_jpg_276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311" y="1984248"/>
            <a:ext cx="1147899" cy="868680"/>
          </a:xfrm>
          <a:prstGeom prst="rect">
            <a:avLst/>
          </a:prstGeom>
        </p:spPr>
      </p:pic>
      <p:sp>
        <p:nvSpPr>
          <p:cNvPr id="16" name="ru_433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prepositions · as subject · enjoy, mind, hate, give up…</a:t>
            </a:r>
            <a:endParaRPr lang="en-US" sz="1050" dirty="0"/>
          </a:p>
        </p:txBody>
      </p:sp>
      <p:sp>
        <p:nvSpPr>
          <p:cNvPr id="17" name="R1_rx434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good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team.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job is hard.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mind getting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early.</a:t>
            </a:r>
            <a:endParaRPr lang="en-US" sz="1050" dirty="0"/>
          </a:p>
        </p:txBody>
      </p:sp>
      <p:sp>
        <p:nvSpPr>
          <p:cNvPr id="18" name="R1_ri435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preposizioni e come soggetto</a:t>
            </a:r>
            <a:endParaRPr lang="en-US" sz="900" dirty="0"/>
          </a:p>
        </p:txBody>
      </p:sp>
      <p:sp>
        <p:nvSpPr>
          <p:cNvPr id="19" name="cd_43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43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 + infinitive</a:t>
            </a:r>
            <a:endParaRPr lang="en-US" sz="1250" dirty="0"/>
          </a:p>
        </p:txBody>
      </p:sp>
      <p:sp>
        <p:nvSpPr>
          <p:cNvPr id="21" name="pf_438"/>
          <p:cNvSpPr/>
          <p:nvPr/>
        </p:nvSpPr>
        <p:spPr>
          <a:xfrm>
            <a:off x="4028216" y="1938528"/>
            <a:ext cx="1133288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39" descr="/home/claude/lls-course/v2/cache/spare_work_future_plans_jpg_251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3936" y="1984248"/>
            <a:ext cx="1041848" cy="868680"/>
          </a:xfrm>
          <a:prstGeom prst="rect">
            <a:avLst/>
          </a:prstGeom>
        </p:spPr>
      </p:pic>
      <p:sp>
        <p:nvSpPr>
          <p:cNvPr id="23" name="ru_440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adjectives · purpose · want, decide, learn, try…</a:t>
            </a:r>
            <a:endParaRPr lang="en-US" sz="1050" dirty="0"/>
          </a:p>
        </p:txBody>
      </p:sp>
      <p:sp>
        <p:nvSpPr>
          <p:cNvPr id="24" name="R2_rx441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flat is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find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saving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apply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R2_ri442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aggettivi e per lo scopo (per…)</a:t>
            </a:r>
            <a:endParaRPr lang="en-US" sz="900" dirty="0"/>
          </a:p>
        </p:txBody>
      </p:sp>
      <p:sp>
        <p:nvSpPr>
          <p:cNvPr id="26" name="cd_44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44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infinitive (no to)</a:t>
            </a:r>
            <a:endParaRPr lang="en-US" sz="1250" dirty="0"/>
          </a:p>
        </p:txBody>
      </p:sp>
      <p:sp>
        <p:nvSpPr>
          <p:cNvPr id="28" name="pf_445"/>
          <p:cNvSpPr/>
          <p:nvPr/>
        </p:nvSpPr>
        <p:spPr>
          <a:xfrm>
            <a:off x="6864304" y="1938528"/>
            <a:ext cx="1252312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446" descr="/home/claude/lls-course/v2/cache/8a1_clare_sacked_jpg_27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024" y="1984248"/>
            <a:ext cx="1160872" cy="868680"/>
          </a:xfrm>
          <a:prstGeom prst="rect">
            <a:avLst/>
          </a:prstGeom>
        </p:spPr>
      </p:pic>
      <p:sp>
        <p:nvSpPr>
          <p:cNvPr id="30" name="ru_447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modals · make / let + person</a:t>
            </a:r>
            <a:endParaRPr lang="en-US" sz="1050" dirty="0"/>
          </a:p>
        </p:txBody>
      </p:sp>
      <p:sp>
        <p:nvSpPr>
          <p:cNvPr id="31" name="R3_rx448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drive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hurry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me laugh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out.</a:t>
            </a:r>
            <a:endParaRPr lang="en-US" sz="1050" dirty="0"/>
          </a:p>
        </p:txBody>
      </p:sp>
      <p:sp>
        <p:nvSpPr>
          <p:cNvPr id="32" name="R3_ri449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can, must, make, let</a:t>
            </a:r>
            <a:endParaRPr lang="en-US" sz="900" dirty="0"/>
          </a:p>
        </p:txBody>
      </p:sp>
      <p:sp>
        <p:nvSpPr>
          <p:cNvPr id="33" name="R4_wc45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4_w45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enjoy to cook → ✓ I enjoy cooking   ·   ✗ It's easy finding → ✓ It's easy to find   ·   ✗ She made me to laugh → ✓ She made me laugh   ·   negative: not + -ing / not to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54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form</a:t>
            </a:r>
            <a:endParaRPr lang="en-US" sz="2500" dirty="0"/>
          </a:p>
        </p:txBody>
      </p:sp>
      <p:pic>
        <p:nvPicPr>
          <p:cNvPr id="6" name="brP_4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5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 or verb? Say the sentence.</a:t>
            </a:r>
            <a:endParaRPr lang="en-US" sz="1250" dirty="0"/>
          </a:p>
        </p:txBody>
      </p:sp>
      <p:sp>
        <p:nvSpPr>
          <p:cNvPr id="8" name="insIT_4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verbo o verbo? Di' la frase.</a:t>
            </a:r>
            <a:endParaRPr lang="en-US" sz="950" dirty="0"/>
          </a:p>
        </p:txBody>
      </p:sp>
      <p:sp>
        <p:nvSpPr>
          <p:cNvPr id="9" name="note_4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4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practice   ·   📖 Grammar Bank 8A p.146 · b (answers: TG)</a:t>
            </a:r>
            <a:endParaRPr lang="en-US" sz="800" dirty="0"/>
          </a:p>
        </p:txBody>
      </p:sp>
      <p:sp>
        <p:nvSpPr>
          <p:cNvPr id="12" name="cd_461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64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parents are planning ___ before they're 65. (retire) → to retire</a:t>
            </a:r>
            <a:endParaRPr lang="en-US" sz="850" dirty="0"/>
          </a:p>
        </p:txBody>
      </p:sp>
      <p:sp>
        <p:nvSpPr>
          <p:cNvPr id="16" name="pf_465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66" descr="/home/claude/lls-course/v2/cache/spare_work_career_change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6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6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Rob spends three hours ___ to work. (commute)</a:t>
            </a:r>
            <a:endParaRPr lang="en-US" sz="1050" dirty="0"/>
          </a:p>
        </p:txBody>
      </p:sp>
      <p:sp>
        <p:nvSpPr>
          <p:cNvPr id="20" name="R1_chip46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commuting</a:t>
            </a:r>
            <a:endParaRPr lang="en-US" sz="1050" dirty="0"/>
          </a:p>
        </p:txBody>
      </p:sp>
      <p:sp>
        <p:nvSpPr>
          <p:cNvPr id="21" name="bd_47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7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agreed ___ about the problems. (not worry)</a:t>
            </a:r>
            <a:endParaRPr lang="en-US" sz="1050" dirty="0"/>
          </a:p>
        </p:txBody>
      </p:sp>
      <p:sp>
        <p:nvSpPr>
          <p:cNvPr id="23" name="R2_chip47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worry</a:t>
            </a:r>
            <a:endParaRPr lang="en-US" sz="1050" dirty="0"/>
          </a:p>
        </p:txBody>
      </p:sp>
      <p:sp>
        <p:nvSpPr>
          <p:cNvPr id="24" name="bd_47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7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remember ___ the door? (lock)</a:t>
            </a:r>
            <a:endParaRPr lang="en-US" sz="1050" dirty="0"/>
          </a:p>
        </p:txBody>
      </p:sp>
      <p:sp>
        <p:nvSpPr>
          <p:cNvPr id="26" name="R3_chip47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lock</a:t>
            </a:r>
            <a:endParaRPr lang="en-US" sz="1050" dirty="0"/>
          </a:p>
        </p:txBody>
      </p:sp>
      <p:sp>
        <p:nvSpPr>
          <p:cNvPr id="27" name="bd_47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7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I decided ___ the shoes. (not buy)</a:t>
            </a:r>
            <a:endParaRPr lang="en-US" sz="1050" dirty="0"/>
          </a:p>
        </p:txBody>
      </p:sp>
      <p:sp>
        <p:nvSpPr>
          <p:cNvPr id="29" name="R4_chip47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buy</a:t>
            </a:r>
            <a:endParaRPr lang="en-US" sz="1050" dirty="0"/>
          </a:p>
        </p:txBody>
      </p:sp>
      <p:sp>
        <p:nvSpPr>
          <p:cNvPr id="30" name="bd_47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8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manager lets us ___ early on Fridays. (leave)</a:t>
            </a:r>
            <a:endParaRPr lang="en-US" sz="1050" dirty="0"/>
          </a:p>
        </p:txBody>
      </p:sp>
      <p:sp>
        <p:nvSpPr>
          <p:cNvPr id="32" name="R5_chip48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</a:t>
            </a:r>
            <a:endParaRPr lang="en-US" sz="1050" dirty="0"/>
          </a:p>
        </p:txBody>
      </p:sp>
      <p:sp>
        <p:nvSpPr>
          <p:cNvPr id="33" name="bd_48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48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mind ___ overtime in the week. (do)</a:t>
            </a:r>
            <a:endParaRPr lang="en-US" sz="1050" dirty="0"/>
          </a:p>
        </p:txBody>
      </p:sp>
      <p:sp>
        <p:nvSpPr>
          <p:cNvPr id="35" name="R6_chip48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87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things about me</a:t>
            </a:r>
            <a:endParaRPr lang="en-US" sz="2500" dirty="0"/>
          </a:p>
        </p:txBody>
      </p:sp>
      <p:pic>
        <p:nvPicPr>
          <p:cNvPr id="6" name="brP_4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8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something for FIVE of these. Then tell your group!</a:t>
            </a:r>
            <a:endParaRPr lang="en-US" sz="1250" dirty="0"/>
          </a:p>
        </p:txBody>
      </p:sp>
      <p:sp>
        <p:nvSpPr>
          <p:cNvPr id="8" name="insIT_4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qualcosa per CINQUE di questi. Poi racconta al gruppo!</a:t>
            </a:r>
            <a:endParaRPr lang="en-US" sz="950" dirty="0"/>
          </a:p>
        </p:txBody>
      </p:sp>
      <p:sp>
        <p:nvSpPr>
          <p:cNvPr id="9" name="note_49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👨‍👩‍👧 groups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4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five things about me   ·   📖 SB p.77 · 3f, 3g</a:t>
            </a:r>
            <a:endParaRPr lang="en-US" sz="800" dirty="0"/>
          </a:p>
        </p:txBody>
      </p:sp>
      <p:sp>
        <p:nvSpPr>
          <p:cNvPr id="12" name="pf_494"/>
          <p:cNvSpPr/>
          <p:nvPr/>
        </p:nvSpPr>
        <p:spPr>
          <a:xfrm rot="-120000">
            <a:off x="969412" y="1371600"/>
            <a:ext cx="1490176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95" descr="/home/claude/lls-course/v2/cache/spare_work_dream_job_jpg_337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15132" y="1417320"/>
            <a:ext cx="1398736" cy="1234440"/>
          </a:xfrm>
          <a:prstGeom prst="rect">
            <a:avLst/>
          </a:prstGeom>
        </p:spPr>
      </p:pic>
      <p:sp>
        <p:nvSpPr>
          <p:cNvPr id="14" name="cd_49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9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9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9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 be an architect. – Why?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Because I think it would be great to…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I'm afraid of… too!</a:t>
            </a:r>
            <a:endParaRPr lang="en-US" sz="1150" dirty="0"/>
          </a:p>
        </p:txBody>
      </p:sp>
      <p:sp>
        <p:nvSpPr>
          <p:cNvPr id="18" name="R1_qb50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501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planning to do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summer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planning to visit my cousins in Canada.</a:t>
            </a:r>
            <a:endParaRPr lang="en-US" sz="1250" dirty="0"/>
          </a:p>
        </p:txBody>
      </p:sp>
      <p:sp>
        <p:nvSpPr>
          <p:cNvPr id="20" name="R2_qb502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503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you'd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love to do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love to be a chef.</a:t>
            </a:r>
            <a:endParaRPr lang="en-US" sz="1250" dirty="0"/>
          </a:p>
        </p:txBody>
      </p:sp>
      <p:sp>
        <p:nvSpPr>
          <p:cNvPr id="22" name="R3_qb504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505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house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hate ironing!</a:t>
            </a:r>
            <a:endParaRPr lang="en-US" sz="1250" dirty="0"/>
          </a:p>
        </p:txBody>
      </p:sp>
      <p:sp>
        <p:nvSpPr>
          <p:cNvPr id="24" name="R4_qb506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507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you find very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talk to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sister – she always listens.</a:t>
            </a:r>
            <a:endParaRPr lang="en-US" sz="1250" dirty="0"/>
          </a:p>
        </p:txBody>
      </p:sp>
      <p:sp>
        <p:nvSpPr>
          <p:cNvPr id="26" name="R5_qb50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50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doing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afraid of speaking in public.</a:t>
            </a:r>
            <a:endParaRPr lang="en-US" sz="1250" dirty="0"/>
          </a:p>
        </p:txBody>
      </p:sp>
      <p:sp>
        <p:nvSpPr>
          <p:cNvPr id="28" name="R6_qb51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51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Sunday mornings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enjoy having a long breakfast.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1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51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5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Exit · what can you remember?</a:t>
            </a:r>
            <a:endParaRPr lang="en-US" sz="800" dirty="0"/>
          </a:p>
        </p:txBody>
      </p:sp>
      <p:sp>
        <p:nvSpPr>
          <p:cNvPr id="12" name="bd_52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2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work phrases (do overtime…)</a:t>
            </a:r>
            <a:endParaRPr lang="en-US" sz="1400" dirty="0"/>
          </a:p>
        </p:txBody>
      </p:sp>
      <p:sp>
        <p:nvSpPr>
          <p:cNvPr id="14" name="bd_52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2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verbs + -ing (enjoy…)</a:t>
            </a:r>
            <a:endParaRPr lang="en-US" sz="1400" dirty="0"/>
          </a:p>
        </p:txBody>
      </p:sp>
      <p:sp>
        <p:nvSpPr>
          <p:cNvPr id="16" name="bd_52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2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 about Clare with decide to</a:t>
            </a:r>
            <a:endParaRPr lang="en-US" sz="1400" dirty="0"/>
          </a:p>
        </p:txBody>
      </p:sp>
      <p:sp>
        <p:nvSpPr>
          <p:cNvPr id="18" name="cd_527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2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2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30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8A: 1a, 1b, 3a, 3b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8A: a 6–10, b 6–9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8A-1 in the LLS app</a:t>
            </a:r>
            <a:endParaRPr lang="en-US" sz="1150" dirty="0"/>
          </a:p>
        </p:txBody>
      </p:sp>
      <p:sp>
        <p:nvSpPr>
          <p:cNvPr id="22" name="st_531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8A part 2 · Dragons' Den · pitch a product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3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3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3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53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Review · what did you do today?</a:t>
            </a:r>
            <a:endParaRPr lang="en-US" sz="800" dirty="0"/>
          </a:p>
        </p:txBody>
      </p:sp>
      <p:sp>
        <p:nvSpPr>
          <p:cNvPr id="12" name="cd_54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4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14" name="tt_54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work words: overtime, get promoted, resign…</a:t>
            </a:r>
            <a:endParaRPr lang="en-US" sz="1350" dirty="0"/>
          </a:p>
        </p:txBody>
      </p:sp>
      <p:sp>
        <p:nvSpPr>
          <p:cNvPr id="15" name="R1_tk54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4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4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18" name="tt_54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work words with the right stress: SAlary</a:t>
            </a:r>
            <a:endParaRPr lang="en-US" sz="1350" dirty="0"/>
          </a:p>
        </p:txBody>
      </p:sp>
      <p:sp>
        <p:nvSpPr>
          <p:cNvPr id="19" name="R2_tk54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4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5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2" name="tt_55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I enjoy working · I'd like to work</a:t>
            </a:r>
            <a:endParaRPr lang="en-US" sz="1350" dirty="0"/>
          </a:p>
        </p:txBody>
      </p:sp>
      <p:sp>
        <p:nvSpPr>
          <p:cNvPr id="23" name="R3_tk55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5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5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55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55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5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5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0" name="tt_55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right job for your personality</a:t>
            </a:r>
            <a:endParaRPr lang="en-US" sz="1350" dirty="0"/>
          </a:p>
        </p:txBody>
      </p:sp>
      <p:sp>
        <p:nvSpPr>
          <p:cNvPr id="31" name="R5_tk56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6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6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6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6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6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6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word, new meaning</a:t>
            </a:r>
            <a:endParaRPr lang="en-US" sz="2250" dirty="0"/>
          </a:p>
        </p:txBody>
      </p:sp>
      <p:pic>
        <p:nvPicPr>
          <p:cNvPr id="6" name="brP_5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7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between a and b.</a:t>
            </a:r>
            <a:endParaRPr lang="en-US" sz="1250" dirty="0"/>
          </a:p>
        </p:txBody>
      </p:sp>
      <p:sp>
        <p:nvSpPr>
          <p:cNvPr id="8" name="insIT_57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tra a e b.</a:t>
            </a:r>
            <a:endParaRPr lang="en-US" sz="950" dirty="0"/>
          </a:p>
        </p:txBody>
      </p:sp>
      <p:sp>
        <p:nvSpPr>
          <p:cNvPr id="9" name="note_572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</p:txBody>
      </p:sp>
      <p:pic>
        <p:nvPicPr>
          <p:cNvPr id="10" name="logo_5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Extra · words with different meanings   ·   📖 SB p.76 · 1d (answers: TG)</a:t>
            </a:r>
            <a:endParaRPr lang="en-US" sz="800" dirty="0"/>
          </a:p>
        </p:txBody>
      </p:sp>
      <p:sp>
        <p:nvSpPr>
          <p:cNvPr id="12" name="ext_57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76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5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579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She has a degree in economics. · b It was only four degrees this morning.</a:t>
            </a:r>
            <a:endParaRPr lang="en-US" sz="1050" dirty="0"/>
          </a:p>
        </p:txBody>
      </p:sp>
      <p:sp>
        <p:nvSpPr>
          <p:cNvPr id="17" name="pf_580"/>
          <p:cNvSpPr/>
          <p:nvPr/>
        </p:nvSpPr>
        <p:spPr>
          <a:xfrm rot="-90000">
            <a:off x="365760" y="2770632"/>
            <a:ext cx="2606040" cy="1892808"/>
          </a:xfrm>
          <a:prstGeom prst="roundRect">
            <a:avLst>
              <a:gd name="adj" fmla="val 82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581" descr="/home/claude/lls-course/v2/cache/spare_work_success_jpg_605x43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16352"/>
            <a:ext cx="2514600" cy="1801368"/>
          </a:xfrm>
          <a:prstGeom prst="rect">
            <a:avLst/>
          </a:prstGeom>
        </p:spPr>
      </p:pic>
      <p:sp>
        <p:nvSpPr>
          <p:cNvPr id="19" name="bd_58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58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He's running a business. · b He's running a marathon.</a:t>
            </a:r>
            <a:endParaRPr lang="en-US" sz="900" dirty="0"/>
          </a:p>
        </p:txBody>
      </p:sp>
      <p:sp>
        <p:nvSpPr>
          <p:cNvPr id="21" name="R1_chip58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managing · b as a sport</a:t>
            </a:r>
            <a:endParaRPr lang="en-US" sz="1050" dirty="0"/>
          </a:p>
        </p:txBody>
      </p:sp>
      <p:sp>
        <p:nvSpPr>
          <p:cNvPr id="22" name="bd_58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58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Marion was fired. · b The man fired the gun.</a:t>
            </a:r>
            <a:endParaRPr lang="en-US" sz="900" dirty="0"/>
          </a:p>
        </p:txBody>
      </p:sp>
      <p:sp>
        <p:nvSpPr>
          <p:cNvPr id="24" name="R2_chip58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lost her job · b shot</a:t>
            </a:r>
            <a:endParaRPr lang="en-US" sz="1050" dirty="0"/>
          </a:p>
        </p:txBody>
      </p:sp>
      <p:sp>
        <p:nvSpPr>
          <p:cNvPr id="25" name="bd_58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58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work in a shop. · b My laptop doesn't work.</a:t>
            </a:r>
            <a:endParaRPr lang="en-US" sz="900" dirty="0"/>
          </a:p>
        </p:txBody>
      </p:sp>
      <p:sp>
        <p:nvSpPr>
          <p:cNvPr id="27" name="R3_chip59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my job · b is broken</a:t>
            </a:r>
            <a:endParaRPr lang="en-US" sz="1050" dirty="0"/>
          </a:p>
        </p:txBody>
      </p:sp>
      <p:sp>
        <p:nvSpPr>
          <p:cNvPr id="28" name="bd_59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59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market for this product · b a vegetable market</a:t>
            </a:r>
            <a:endParaRPr lang="en-US" sz="900" dirty="0"/>
          </a:p>
        </p:txBody>
      </p:sp>
      <p:sp>
        <p:nvSpPr>
          <p:cNvPr id="30" name="R4_chip59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people who want it · b a place to shop</a:t>
            </a:r>
            <a:endParaRPr lang="en-US" sz="1050" dirty="0"/>
          </a:p>
        </p:txBody>
      </p:sp>
      <p:sp>
        <p:nvSpPr>
          <p:cNvPr id="31" name="bd_59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59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Steve set up a company. · b Steve is very good company.</a:t>
            </a:r>
            <a:endParaRPr lang="en-US" sz="900" dirty="0"/>
          </a:p>
        </p:txBody>
      </p:sp>
      <p:sp>
        <p:nvSpPr>
          <p:cNvPr id="33" name="R5_chip59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business · b nice to be with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8A-1 The right job for you</dc:title>
  <dc:subject>PptxGenJS Presentation</dc:subject>
  <dc:creator>PptxGenJS</dc:creator>
  <cp:lastModifiedBy>PptxGenJS</cp:lastModifiedBy>
  <cp:revision>1</cp:revision>
  <dcterms:created xsi:type="dcterms:W3CDTF">2026-10-21T09:55:41Z</dcterms:created>
  <dcterms:modified xsi:type="dcterms:W3CDTF">2026-10-21T09:55:41Z</dcterms:modified>
</cp:coreProperties>
</file>