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click once per word to show its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'Manners words in Italian' and 'Describe it!', so the meaning of the manners words is clear; now students HEAR them many times, together with should, before the Sicily vs Britain discussion and the radio phone-in about rude relatives. Click once per line. For each line: 1) say it, 2) ask the questions in grey round the class (yes/no → either/or → who/what) – push for 'It's rude to…' in the answers (not ✗ 'Is rude'), 3) let the CLASS change details: 'Does Marco bring his dog? No? What does he bring?' – accept their idea and use it in later lines. Students answer with one word or a short phrase – that's fine. Finish: 'What happens next?' – one or two ideas, then move on. Line 6 is a light cultural joke (in Sicily you never say no to more pasta!) – it leads straight into 'Manners: Sicily vs Britain'. Recycles: host, polite, rude, give permission, selfish, inconsiderate, decline + should / shouldn't from 4A-1.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read a guide to modern manners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radio show about rude relatives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give advice: should, mustn't, don't have to</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decide: good manners or bad manners?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4A part 1: phone language</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have to, must, should</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silent letters: calm, hour</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must / have to = necessary · mustn't = NOT allowed</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5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115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should / ought to = a good idea · don't have to = not necessary</a:t>
            </a:r>
            <a:endParaRPr lang="en-US" sz="110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28" name="w_42"/>
          <p:cNvSpPr/>
          <p:nvPr/>
        </p:nvSpPr>
        <p:spPr>
          <a:xfrm>
            <a:off x="4183380"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call back</a:t>
            </a:r>
            <a:endParaRPr lang="en-US" sz="1050" dirty="0"/>
          </a:p>
        </p:txBody>
      </p:sp>
      <p:sp>
        <p:nvSpPr>
          <p:cNvPr id="29" name="w_43"/>
          <p:cNvSpPr/>
          <p:nvPr/>
        </p:nvSpPr>
        <p:spPr>
          <a:xfrm>
            <a:off x="5276088" y="417880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voicemail</a:t>
            </a:r>
            <a:endParaRPr lang="en-US" sz="1050" dirty="0"/>
          </a:p>
        </p:txBody>
      </p:sp>
      <p:sp>
        <p:nvSpPr>
          <p:cNvPr id="30" name="w_44"/>
          <p:cNvSpPr/>
          <p:nvPr/>
        </p:nvSpPr>
        <p:spPr>
          <a:xfrm>
            <a:off x="6368796"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put on hold</a:t>
            </a:r>
            <a:endParaRPr lang="en-US" sz="1050" dirty="0"/>
          </a:p>
        </p:txBody>
      </p:sp>
      <p:sp>
        <p:nvSpPr>
          <p:cNvPr id="31" name="w_45"/>
          <p:cNvSpPr/>
          <p:nvPr/>
        </p:nvSpPr>
        <p:spPr>
          <a:xfrm>
            <a:off x="7616952"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cut off</a:t>
            </a:r>
            <a:endParaRPr lang="en-US" sz="1050" dirty="0"/>
          </a:p>
        </p:txBody>
      </p:sp>
      <p:sp>
        <p:nvSpPr>
          <p:cNvPr id="32" name="w_46"/>
          <p:cNvSpPr/>
          <p:nvPr/>
        </p:nvSpPr>
        <p:spPr>
          <a:xfrm>
            <a:off x="3246120"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off</a:t>
            </a:r>
            <a:endParaRPr lang="en-US" sz="1050" dirty="0"/>
          </a:p>
        </p:txBody>
      </p:sp>
      <p:sp>
        <p:nvSpPr>
          <p:cNvPr id="33" name="w_47"/>
          <p:cNvSpPr/>
          <p:nvPr/>
        </p:nvSpPr>
        <p:spPr>
          <a:xfrm>
            <a:off x="4105656" y="454456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ringtone</a:t>
            </a:r>
            <a:endParaRPr lang="en-US" sz="1050" dirty="0"/>
          </a:p>
        </p:txBody>
      </p:sp>
      <p:sp>
        <p:nvSpPr>
          <p:cNvPr id="34" name="w_48"/>
          <p:cNvSpPr/>
          <p:nvPr/>
        </p:nvSpPr>
        <p:spPr>
          <a:xfrm>
            <a:off x="5120640" y="4544568"/>
            <a:ext cx="179679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calm · hour · wrong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Spiega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Warmer · last lesson: phones, modals, silent letters   ·   📖 Recycles 4A part 1 · SB pp.36–37 · audio 4.8 · Grammar Bank 4A</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pitchFamily="34" charset="0"/>
                <a:ea typeface="Segoe UI" pitchFamily="34" charset="-122"/>
                <a:cs typeface="Segoe UI" pitchFamily="34" charset="-120"/>
              </a:rPr>
              <a:t>Read the words or sentences.</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Leggi le parole o le frasi.</a:t>
            </a:r>
            <a:endParaRPr lang="en-US" sz="1200" dirty="0"/>
          </a:p>
          <a:p>
            <a:pPr marL="190500" indent="-190500">
              <a:spcBef>
                <a:spcPts val="500"/>
              </a:spcBef>
              <a:spcAft>
                <a:spcPts val="200"/>
              </a:spcAft>
              <a:buSzPct val="100000"/>
              <a:buChar char="2"/>
            </a:pPr>
            <a:r>
              <a:rPr lang="en-US" sz="1200" dirty="0">
                <a:solidFill>
                  <a:srgbClr val="1B2559"/>
                </a:solidFill>
                <a:latin typeface="Segoe UI" pitchFamily="34" charset="0"/>
                <a:ea typeface="Segoe UI" pitchFamily="34" charset="-122"/>
                <a:cs typeface="Segoe UI" pitchFamily="34" charset="-120"/>
              </a:rPr>
              <a:t>Find the odd one out.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Trova l'intruso.</a:t>
            </a:r>
            <a:endParaRPr lang="en-US" sz="1200" dirty="0"/>
          </a:p>
          <a:p>
            <a:pPr marL="190500" indent="-190500">
              <a:spcBef>
                <a:spcPts val="500"/>
              </a:spcBef>
              <a:spcAft>
                <a:spcPts val="200"/>
              </a:spcAft>
              <a:buSzPct val="100000"/>
              <a:buChar char="3"/>
            </a:pPr>
            <a:r>
              <a:rPr lang="en-US" sz="1200" dirty="0">
                <a:solidFill>
                  <a:srgbClr val="1B2559"/>
                </a:solidFill>
                <a:latin typeface="Segoe UI" pitchFamily="34" charset="0"/>
                <a:ea typeface="Segoe UI" pitchFamily="34" charset="-122"/>
                <a:cs typeface="Segoe UI" pitchFamily="34" charset="-120"/>
              </a:rPr>
              <a:t>Say WHY = 1 point.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Spiega perché = 1 punto.</a:t>
            </a:r>
            <a:endParaRPr lang="en-US" sz="12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4a1_on_hol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100" dirty="0"/>
          </a:p>
        </p:txBody>
      </p:sp>
      <p:sp>
        <p:nvSpPr>
          <p:cNvPr id="22" name="R1_chip68"/>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00" dirty="0"/>
          </a:p>
        </p:txBody>
      </p:sp>
      <p:sp>
        <p:nvSpPr>
          <p:cNvPr id="23" name="bd_69"/>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calm · half · talk · wrong</a:t>
            </a:r>
            <a:endParaRPr lang="en-US" sz="1100" dirty="0"/>
          </a:p>
        </p:txBody>
      </p:sp>
      <p:sp>
        <p:nvSpPr>
          <p:cNvPr id="25" name="R2_chip71"/>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00" dirty="0"/>
          </a:p>
        </p:txBody>
      </p:sp>
      <p:sp>
        <p:nvSpPr>
          <p:cNvPr id="26" name="bd_72"/>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100" dirty="0"/>
          </a:p>
        </p:txBody>
      </p:sp>
      <p:sp>
        <p:nvSpPr>
          <p:cNvPr id="28" name="R3_chip74"/>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00" dirty="0"/>
          </a:p>
        </p:txBody>
      </p:sp>
      <p:sp>
        <p:nvSpPr>
          <p:cNvPr id="29" name="bd_75"/>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100" dirty="0"/>
          </a:p>
        </p:txBody>
      </p:sp>
      <p:sp>
        <p:nvSpPr>
          <p:cNvPr id="31" name="R4_chip77"/>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050" dirty="0"/>
          </a:p>
        </p:txBody>
      </p:sp>
      <p:sp>
        <p:nvSpPr>
          <p:cNvPr id="32" name="bd_78"/>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should · ought to · must</a:t>
            </a:r>
            <a:endParaRPr lang="en-US" sz="1100" dirty="0"/>
          </a:p>
        </p:txBody>
      </p:sp>
      <p:sp>
        <p:nvSpPr>
          <p:cNvPr id="34" name="R5_chip80"/>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la tua opinione. Spiega perché!</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lead-in: modern dilemmas   ·   📖 SB p.38 · 5a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you should / shouldn't…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rude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a:t>
            </a:r>
            <a:endParaRPr lang="en-US" sz="105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at a job interview?</a:t>
            </a:r>
            <a:endParaRPr lang="en-US" sz="125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shouldn't talk loudly on your phone!</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long flight. It's normal!</a:t>
            </a:r>
            <a:endParaRPr lang="en-US" sz="1250" dirty="0"/>
          </a:p>
        </p:txBody>
      </p:sp>
      <p:sp>
        <p:nvSpPr>
          <p:cNvPr id="26" name="R4_qb10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0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an old person gets on.</a:t>
            </a:r>
            <a:endParaRPr lang="en-US" sz="1250" dirty="0"/>
          </a:p>
        </p:txBody>
      </p:sp>
      <p:sp>
        <p:nvSpPr>
          <p:cNvPr id="28" name="R5_qb10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107"/>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No! My nonna says we have to wait.</a:t>
            </a:r>
            <a:endParaRPr lang="en-US" sz="1050" dirty="0"/>
          </a:p>
        </p:txBody>
      </p:sp>
      <p:pic>
        <p:nvPicPr>
          <p:cNvPr id="30" name="R5_th108"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1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dove vanno i 5 numeri!</a:t>
            </a:r>
            <a:endParaRPr lang="en-US" sz="950" dirty="0"/>
          </a:p>
        </p:txBody>
      </p:sp>
      <p:sp>
        <p:nvSpPr>
          <p:cNvPr id="9" name="cmd_1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prediction   ·   📖 SB p.38 · 5b · Debrett's introduction</a:t>
            </a:r>
            <a:endParaRPr lang="en-US" sz="800" dirty="0"/>
          </a:p>
        </p:txBody>
      </p:sp>
      <p:sp>
        <p:nvSpPr>
          <p:cNvPr id="15" name="cd_12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2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7" name="nx_12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850" dirty="0"/>
          </a:p>
        </p:txBody>
      </p:sp>
      <p:sp>
        <p:nvSpPr>
          <p:cNvPr id="18" name="sf_12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9" name="nbl_12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2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21" name="bd_12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2" name="bd_12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3" name="bd_12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4" name="bd_13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5" name="pf_13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32" descr="/home/claude/lls-course/v2/cache/4a1_polite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400" dirty="0"/>
          </a:p>
        </p:txBody>
      </p:sp>
      <p:pic>
        <p:nvPicPr>
          <p:cNvPr id="6" name="brP_1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3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4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1/2   ·   📖 SB p.38 · 5b (text adapted from the article)</a:t>
            </a:r>
            <a:endParaRPr lang="en-US" sz="800" dirty="0"/>
          </a:p>
        </p:txBody>
      </p:sp>
      <p:sp>
        <p:nvSpPr>
          <p:cNvPr id="15" name="cd_14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7" name="ln_14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2EB872"/>
                </a:solidFill>
                <a:latin typeface="Georgia" pitchFamily="34" charset="0"/>
                <a:ea typeface="Georgia" pitchFamily="34" charset="-122"/>
                <a:cs typeface="Georgia" pitchFamily="34" charset="-120"/>
              </a:rPr>
              <a:t> (a) ________ </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2EB872"/>
                </a:solidFill>
                <a:latin typeface="Georgia" pitchFamily="34" charset="0"/>
                <a:ea typeface="Georgia" pitchFamily="34" charset="-122"/>
                <a:cs typeface="Georgia" pitchFamily="34" charset="-120"/>
              </a:rPr>
              <a:t> (b) ________ </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8" name="R1_lnA14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9" name="ln_14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2EB872"/>
                </a:solidFill>
                <a:latin typeface="Georgia" pitchFamily="34" charset="0"/>
                <a:ea typeface="Georgia" pitchFamily="34" charset="-122"/>
                <a:cs typeface="Georgia" pitchFamily="34" charset="-120"/>
              </a:rPr>
              <a:t> (c) ________ </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2EB872"/>
                </a:solidFill>
                <a:latin typeface="Georgia" pitchFamily="34" charset="0"/>
                <a:ea typeface="Georgia" pitchFamily="34" charset="-122"/>
                <a:cs typeface="Georgia" pitchFamily="34" charset="-120"/>
              </a:rPr>
              <a:t> (d) ________ </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0" name="R2_lnA15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1" name="ln_15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2EB872"/>
                </a:solidFill>
                <a:latin typeface="Georgia" pitchFamily="34" charset="0"/>
                <a:ea typeface="Georgia" pitchFamily="34" charset="-122"/>
                <a:cs typeface="Georgia" pitchFamily="34" charset="-120"/>
              </a:rPr>
              <a:t> (Q1)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2" name="R3_lnA15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ln_15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2EB872"/>
                </a:solidFill>
                <a:latin typeface="Georgia" pitchFamily="34" charset="0"/>
                <a:ea typeface="Georgia" pitchFamily="34" charset="-122"/>
                <a:cs typeface="Georgia" pitchFamily="34" charset="-120"/>
              </a:rPr>
              <a:t> (Q1)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5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ln_15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2EB872"/>
                </a:solidFill>
                <a:latin typeface="Georgia" pitchFamily="34" charset="0"/>
                <a:ea typeface="Georgia" pitchFamily="34" charset="-122"/>
                <a:cs typeface="Georgia" pitchFamily="34" charset="-120"/>
              </a:rPr>
              <a:t> (Q2) ________ </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2EB872"/>
                </a:solidFill>
                <a:latin typeface="Georgia" pitchFamily="34" charset="0"/>
                <a:ea typeface="Georgia" pitchFamily="34" charset="-122"/>
                <a:cs typeface="Georgia" pitchFamily="34" charset="-120"/>
              </a:rPr>
              <a:t> (Q2) ________ </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6" name="R5_lnA15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7" name="pf_15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158" descr="/home/claude/lls-course/v2/cache/4a1_public_transpor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15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16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6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16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6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400" dirty="0"/>
          </a:p>
        </p:txBody>
      </p:sp>
      <p:pic>
        <p:nvPicPr>
          <p:cNvPr id="6" name="brP_16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7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2/2   ·   📖 SB p.38 · 5b (text adapted from the article)</a:t>
            </a:r>
            <a:endParaRPr lang="en-US" sz="800" dirty="0"/>
          </a:p>
        </p:txBody>
      </p:sp>
      <p:sp>
        <p:nvSpPr>
          <p:cNvPr id="15" name="cd_17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7" name="ln_17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2EB872"/>
                </a:solidFill>
                <a:latin typeface="Georgia" pitchFamily="34" charset="0"/>
                <a:ea typeface="Georgia" pitchFamily="34" charset="-122"/>
                <a:cs typeface="Georgia" pitchFamily="34" charset="-120"/>
              </a:rPr>
              <a:t> (Q3) ________ </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8" name="R1_lnA17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9" name="ln_17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2EB872"/>
                </a:solidFill>
                <a:latin typeface="Georgia" pitchFamily="34" charset="0"/>
                <a:ea typeface="Georgia" pitchFamily="34" charset="-122"/>
                <a:cs typeface="Georgia" pitchFamily="34" charset="-120"/>
              </a:rPr>
              <a:t> (e) ________ </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0" name="R2_lnA18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1" name="ln_18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2EB872"/>
                </a:solidFill>
                <a:latin typeface="Georgia" pitchFamily="34" charset="0"/>
                <a:ea typeface="Georgia" pitchFamily="34" charset="-122"/>
                <a:cs typeface="Georgia" pitchFamily="34" charset="-120"/>
              </a:rPr>
              <a:t> (Q4) ________ </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2" name="R3_lnA18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3" name="ln_1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2EB872"/>
                </a:solidFill>
                <a:latin typeface="Georgia" pitchFamily="34" charset="0"/>
                <a:ea typeface="Georgia" pitchFamily="34" charset="-122"/>
                <a:cs typeface="Georgia" pitchFamily="34" charset="-120"/>
              </a:rPr>
              <a:t> (Q5)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pf_18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86" descr="/home/claude/lls-course/v2/cache/4a1_table_manner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8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8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8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9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9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modo più semplice al compagno.</a:t>
            </a:r>
            <a:endParaRPr lang="en-US" sz="950" dirty="0"/>
          </a:p>
        </p:txBody>
      </p:sp>
      <p:sp>
        <p:nvSpPr>
          <p:cNvPr id="9" name="cmd_19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vocabulary from the text   ·   📖 SB p.38 · 5c (highlighted phrases)</a:t>
            </a:r>
            <a:endParaRPr lang="en-US" sz="800" dirty="0"/>
          </a:p>
        </p:txBody>
      </p:sp>
      <p:sp>
        <p:nvSpPr>
          <p:cNvPr id="14" name="cd_2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It's selfish → you're only thinking about yourself</a:t>
            </a:r>
            <a:endParaRPr lang="en-US" sz="1050" dirty="0"/>
          </a:p>
        </p:txBody>
      </p:sp>
      <p:sp>
        <p:nvSpPr>
          <p:cNvPr id="18" name="pf_2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07"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1150" dirty="0"/>
          </a:p>
        </p:txBody>
      </p:sp>
      <p:sp>
        <p:nvSpPr>
          <p:cNvPr id="22" name="R1_chip2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00" dirty="0"/>
          </a:p>
        </p:txBody>
      </p:sp>
      <p:sp>
        <p:nvSpPr>
          <p:cNvPr id="23" name="bd_2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1150" dirty="0"/>
          </a:p>
        </p:txBody>
      </p:sp>
      <p:sp>
        <p:nvSpPr>
          <p:cNvPr id="25" name="R2_chip2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00" dirty="0"/>
          </a:p>
        </p:txBody>
      </p:sp>
      <p:sp>
        <p:nvSpPr>
          <p:cNvPr id="26" name="bd_2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1150" dirty="0"/>
          </a:p>
        </p:txBody>
      </p:sp>
      <p:sp>
        <p:nvSpPr>
          <p:cNvPr id="28" name="R3_chip2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00" dirty="0"/>
          </a:p>
        </p:txBody>
      </p:sp>
      <p:sp>
        <p:nvSpPr>
          <p:cNvPr id="29" name="bd_2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1100" dirty="0"/>
          </a:p>
        </p:txBody>
      </p:sp>
      <p:sp>
        <p:nvSpPr>
          <p:cNvPr id="31" name="R4_chip2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00" dirty="0"/>
          </a:p>
        </p:txBody>
      </p:sp>
      <p:sp>
        <p:nvSpPr>
          <p:cNvPr id="32" name="bd_22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1150" dirty="0"/>
          </a:p>
        </p:txBody>
      </p:sp>
      <p:sp>
        <p:nvSpPr>
          <p:cNvPr id="34" name="R5_chip22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 in Italian</a:t>
            </a:r>
            <a:endParaRPr lang="en-US" sz="800" dirty="0"/>
          </a:p>
        </p:txBody>
      </p:sp>
      <p:sp>
        <p:nvSpPr>
          <p:cNvPr id="14" name="cd_2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7" name="R1_it2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maleducato, scortese</a:t>
            </a:r>
            <a:endParaRPr lang="en-US" sz="900" dirty="0"/>
          </a:p>
        </p:txBody>
      </p:sp>
      <p:sp>
        <p:nvSpPr>
          <p:cNvPr id="18" name="cd_2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21" name="R2_it2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2" name="cd_2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5" name="R3_it2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che non pensa agli altri</a:t>
            </a:r>
            <a:endParaRPr lang="en-US" sz="850" dirty="0"/>
          </a:p>
        </p:txBody>
      </p:sp>
      <p:sp>
        <p:nvSpPr>
          <p:cNvPr id="26" name="cd_2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9" name="R4_it2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30" name="cd_2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3" name="R5_it2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4" name="cd_2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7" name="R6_it2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8" name="cd_2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41" name="R7_it2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2" name="cd_2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000" dirty="0"/>
          </a:p>
        </p:txBody>
      </p:sp>
      <p:sp>
        <p:nvSpPr>
          <p:cNvPr id="45" name="R8_it2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800" dirty="0"/>
          </a:p>
        </p:txBody>
      </p:sp>
      <p:sp>
        <p:nvSpPr>
          <p:cNvPr id="46" name="cd_2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150" dirty="0"/>
          </a:p>
        </p:txBody>
      </p:sp>
      <p:sp>
        <p:nvSpPr>
          <p:cNvPr id="49" name="R9_it2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800" dirty="0"/>
          </a:p>
        </p:txBody>
      </p:sp>
      <p:sp>
        <p:nvSpPr>
          <p:cNvPr id="50" name="cd_2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3" name="R10_it2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4" name="cd_2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150" dirty="0"/>
          </a:p>
        </p:txBody>
      </p:sp>
      <p:sp>
        <p:nvSpPr>
          <p:cNvPr id="57" name="R11_it2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8" name="cd_2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61" name="R12_it2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800" dirty="0"/>
          </a:p>
        </p:txBody>
      </p:sp>
      <p:sp>
        <p:nvSpPr>
          <p:cNvPr id="62" name="R13_wc2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2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game</a:t>
            </a:r>
            <a:endParaRPr lang="en-US" sz="800" dirty="0"/>
          </a:p>
        </p:txBody>
      </p:sp>
      <p:sp>
        <p:nvSpPr>
          <p:cNvPr id="14" name="cd_29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9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29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0"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2" name="R3_w30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3" name="R5_w30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4" name="R7_w30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5" name="rl_30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0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7" name="R4_w30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8" name="R6_w30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9" name="R8_w31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1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 meets the parents</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1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31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1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1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2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class story (TPRS)</a:t>
            </a:r>
            <a:endParaRPr lang="en-US" sz="800" dirty="0"/>
          </a:p>
        </p:txBody>
      </p:sp>
      <p:sp>
        <p:nvSpPr>
          <p:cNvPr id="15" name="cd_323"/>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326"/>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host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padrone / la padrona di casa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polite / rude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educato / maleducato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permission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dare il permesso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selfish</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egoista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inconsiderate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che non pensa agli altri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decline (an offer)</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rifiutare (un'offerta)</a:t>
            </a:r>
            <a:endParaRPr lang="en-US" sz="1000" dirty="0"/>
          </a:p>
        </p:txBody>
      </p:sp>
      <p:sp>
        <p:nvSpPr>
          <p:cNvPr id="19" name="R1_sb327"/>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328"/>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Marco is invited to dinner.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The host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his girlfriend's mum, Signora Rizzo.</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Is it lunch or dinner? · Who is the host?</a:t>
            </a:r>
            <a:endParaRPr lang="en-US" sz="1000" dirty="0"/>
          </a:p>
        </p:txBody>
      </p:sp>
      <p:sp>
        <p:nvSpPr>
          <p:cNvPr id="21" name="R2_sb329"/>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330"/>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Marco wants to be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polite</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so he brings flowers… and his dog, Bruno!</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he want to be polite or rude? · What does he bring?</a:t>
            </a:r>
            <a:endParaRPr lang="en-US" sz="1050" dirty="0"/>
          </a:p>
        </p:txBody>
      </p:sp>
      <p:sp>
        <p:nvSpPr>
          <p:cNvPr id="23" name="R3_sb331"/>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332"/>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starts eating before the host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gives permission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That's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rude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Does he wait for permission? · Is that polite or rude?</a:t>
            </a:r>
            <a:endParaRPr lang="en-US" sz="1100" dirty="0"/>
          </a:p>
        </p:txBody>
      </p:sp>
      <p:sp>
        <p:nvSpPr>
          <p:cNvPr id="25" name="R4_sb333"/>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34"/>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Bruno eats all the arancine. Nobody else gets one. How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selfish</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Who eats the arancine? · Is Bruno selfish or generous?</a:t>
            </a:r>
            <a:endParaRPr lang="en-US" sz="1100" dirty="0"/>
          </a:p>
        </p:txBody>
      </p:sp>
      <p:sp>
        <p:nvSpPr>
          <p:cNvPr id="27" name="R5_sb335"/>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36"/>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Then Marco checks his phone at the table.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it's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inconsiderate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Does he check his phone or his watch? · Should he do that?</a:t>
            </a:r>
            <a:endParaRPr lang="en-US" sz="950" dirty="0"/>
          </a:p>
        </p:txBody>
      </p:sp>
      <p:sp>
        <p:nvSpPr>
          <p:cNvPr id="29" name="R6_sb337"/>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38"/>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Signora Rizzo offers more pasta. Marco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declines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She's offended – it's Sicily!</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Does Marco accept or decline? · And you – what's rude at the table?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4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4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4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E tu? Perché?</a:t>
            </a:r>
            <a:endParaRPr lang="en-US" sz="950" dirty="0"/>
          </a:p>
        </p:txBody>
      </p:sp>
      <p:sp>
        <p:nvSpPr>
          <p:cNvPr id="9" name="cmd_34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4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4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Sicily vs Britain   ·   📖 SB p.38 · 5e</a:t>
            </a:r>
            <a:endParaRPr lang="en-US" sz="800" dirty="0"/>
          </a:p>
        </p:txBody>
      </p:sp>
      <p:sp>
        <p:nvSpPr>
          <p:cNvPr id="14" name="pf_35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51" descr="/home/claude/lls-course/v2/cache/spare_1b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5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5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5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5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Sicily we usually…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rude / polite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0" name="R1_qb35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7"/>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Two kisses for friends – a handshake for my teacher!</a:t>
            </a:r>
            <a:endParaRPr lang="en-US" sz="1050" dirty="0"/>
          </a:p>
        </p:txBody>
      </p:sp>
      <p:sp>
        <p:nvSpPr>
          <p:cNvPr id="22" name="R2_qb358"/>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59"/>
          <p:cNvSpPr/>
          <p:nvPr/>
        </p:nvSpPr>
        <p:spPr>
          <a:xfrm>
            <a:off x="3675888" y="197358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They shouldn't play music without headphones!</a:t>
            </a:r>
            <a:endParaRPr lang="en-US" sz="1200" dirty="0"/>
          </a:p>
        </p:txBody>
      </p:sp>
      <p:pic>
        <p:nvPicPr>
          <p:cNvPr id="24" name="R2_th360"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5" name="R3_qb36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6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Yes, of course! You should always offer your seat.</a:t>
            </a:r>
            <a:endParaRPr lang="en-US" sz="850" dirty="0"/>
          </a:p>
        </p:txBody>
      </p:sp>
      <p:sp>
        <p:nvSpPr>
          <p:cNvPr id="27" name="R4_qb36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6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 ask before you open their fridge!</a:t>
            </a:r>
            <a:endParaRPr lang="en-US" sz="1250" dirty="0"/>
          </a:p>
        </p:txBody>
      </p:sp>
      <p:sp>
        <p:nvSpPr>
          <p:cNvPr id="29" name="R5_qb36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36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Sometimes… I'm on my phone at dinner!</a:t>
            </a:r>
            <a:endParaRPr lang="en-US" sz="1250" dirty="0"/>
          </a:p>
        </p:txBody>
      </p:sp>
      <p:sp>
        <p:nvSpPr>
          <p:cNvPr id="31" name="R6_qb36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6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good manners make life easier for everyone.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72"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73"/>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Chi è il problema? Cosa fa?</a:t>
            </a:r>
            <a:endParaRPr lang="en-US" sz="950" dirty="0"/>
          </a:p>
        </p:txBody>
      </p:sp>
      <p:sp>
        <p:nvSpPr>
          <p:cNvPr id="9" name="cmd_3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7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7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rude relatives (gist)   ·   📖 SB p.39 · 6a · audio 4.9</a:t>
            </a:r>
            <a:endParaRPr lang="en-US" sz="800" dirty="0"/>
          </a:p>
        </p:txBody>
      </p:sp>
      <p:sp>
        <p:nvSpPr>
          <p:cNvPr id="14" name="ap_38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5" name="ah_38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8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8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84"/>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4a2-mother-in-law.jpg</a:t>
            </a:r>
            <a:endParaRPr lang="en-US" sz="900" dirty="0"/>
          </a:p>
        </p:txBody>
      </p:sp>
      <p:sp>
        <p:nvSpPr>
          <p:cNvPr id="21" name="bd_38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8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87"/>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4" name="bd_38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38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390"/>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7" name="bd_39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39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39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9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39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and B. Guess the problems.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e B. Indovina i problemi.</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Who is the problem? What do they do?</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Chi è il problema? Cosa fa?</a:t>
            </a:r>
            <a:endParaRPr lang="en-US" sz="700" dirty="0"/>
          </a:p>
        </p:txBody>
      </p:sp>
      <p:sp>
        <p:nvSpPr>
          <p:cNvPr id="32" name="lq_39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33" name="R1_chip39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34" name="lq_39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35" name="R2_chip39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36" name="lq_40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37" name="R3_chip40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0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40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0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4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il tuo consiglio! Poi ascolta e completa.</a:t>
            </a:r>
            <a:endParaRPr lang="en-US" sz="950" dirty="0"/>
          </a:p>
        </p:txBody>
      </p:sp>
      <p:sp>
        <p:nvSpPr>
          <p:cNvPr id="9" name="cmd_4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1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41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expert's advice (detail)   ·   📖 SB p.39 · 6b, 6c · audio 4.10</a:t>
            </a:r>
            <a:endParaRPr lang="en-US" sz="800" dirty="0"/>
          </a:p>
        </p:txBody>
      </p:sp>
      <p:sp>
        <p:nvSpPr>
          <p:cNvPr id="15" name="ap_41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6" name="ah_41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1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417"/>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1" name="cd_41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1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2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2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22"/>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6" name="R1_chip423"/>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7" name="gq_424"/>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8" name="R2_chip425"/>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29" name="gq_426"/>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30" name="R3_chip427"/>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31" name="gq_428"/>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32" name="R4_chip429"/>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33" name="gq_430"/>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34" name="R5_chip431"/>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5" name="gq_432"/>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6" name="R6_chip433"/>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7" name="gq_434"/>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8" name="R7_chip435"/>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3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4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4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tutto il programma. Rispondi.</a:t>
            </a:r>
            <a:endParaRPr lang="en-US" sz="950" dirty="0"/>
          </a:p>
        </p:txBody>
      </p:sp>
      <p:sp>
        <p:nvSpPr>
          <p:cNvPr id="9" name="cmd_44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2" name="logo_4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whole programme   ·   📖 SB p.39 · 6d · audio 4.11 (script p.127)</a:t>
            </a:r>
            <a:endParaRPr lang="en-US" sz="800" dirty="0"/>
          </a:p>
        </p:txBody>
      </p:sp>
      <p:sp>
        <p:nvSpPr>
          <p:cNvPr id="14" name="ap_44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5" name="ah_44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44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50"/>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0" name="cd_45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45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45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45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45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5" name="R1_chip45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950" dirty="0"/>
          </a:p>
        </p:txBody>
      </p:sp>
      <p:sp>
        <p:nvSpPr>
          <p:cNvPr id="26" name="gq_45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7" name="R2_chip45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8" name="gq_45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29" name="R3_chip46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100" dirty="0"/>
          </a:p>
        </p:txBody>
      </p:sp>
      <p:sp>
        <p:nvSpPr>
          <p:cNvPr id="30" name="gq_46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31" name="R4_chip46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32" name="gq_46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33" name="R5_chip46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6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68"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69"/>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Buona idea o necessario? Abbina il colore.</a:t>
            </a:r>
            <a:endParaRPr lang="en-US" sz="950" dirty="0"/>
          </a:p>
        </p:txBody>
      </p:sp>
      <p:sp>
        <p:nvSpPr>
          <p:cNvPr id="9" name="cmd_47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Grammar · advice in the programme   ·   📖 Recycles Grammar Bank 4A p.138 · audio 4.10</a:t>
            </a:r>
            <a:endParaRPr lang="en-US" sz="800" dirty="0"/>
          </a:p>
        </p:txBody>
      </p:sp>
      <p:sp>
        <p:nvSpPr>
          <p:cNvPr id="14" name="cd_476"/>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7" name="il_479"/>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80"/>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9" name="ah_48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48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3" name="lg_483"/>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4" name="lg_484"/>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5" name="lg_485"/>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6" name="lg_486"/>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7" name="sq_487"/>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200" dirty="0"/>
          </a:p>
        </p:txBody>
      </p:sp>
      <p:sp>
        <p:nvSpPr>
          <p:cNvPr id="28" name="R1_tag488"/>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29" name="sq_489"/>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200" dirty="0"/>
          </a:p>
        </p:txBody>
      </p:sp>
      <p:sp>
        <p:nvSpPr>
          <p:cNvPr id="30" name="R2_tag490"/>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31" name="sq_491"/>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200" dirty="0"/>
          </a:p>
        </p:txBody>
      </p:sp>
      <p:sp>
        <p:nvSpPr>
          <p:cNvPr id="32" name="R3_tag492"/>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3" name="sq_493"/>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200" dirty="0"/>
          </a:p>
        </p:txBody>
      </p:sp>
      <p:sp>
        <p:nvSpPr>
          <p:cNvPr id="34" name="R4_tag494"/>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sq_495"/>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200" dirty="0"/>
          </a:p>
        </p:txBody>
      </p:sp>
      <p:sp>
        <p:nvSpPr>
          <p:cNvPr id="36" name="R5_tag496"/>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7" name="sq_497"/>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200" dirty="0"/>
          </a:p>
        </p:txBody>
      </p:sp>
      <p:sp>
        <p:nvSpPr>
          <p:cNvPr id="38" name="R6_tag498"/>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9" name="sq_499"/>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200" dirty="0"/>
          </a:p>
        </p:txBody>
      </p:sp>
      <p:sp>
        <p:nvSpPr>
          <p:cNvPr id="40" name="R7_tag500"/>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2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0"/>
                                        </p:tgtEl>
                                      </p:cBhvr>
                                    </p:cmd>
                                  </p:childTnLst>
                                </p:cTn>
                              </p:par>
                            </p:childTnLst>
                          </p:cTn>
                        </p:par>
                      </p:childTnLst>
                    </p:cTn>
                  </p:par>
                </p:childTnLst>
              </p:cTn>
              <p:nextCondLst>
                <p:cond evt="onClick" delay="0">
                  <p:tgtEl>
                    <p:spTgt spid="20"/>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audio>
              <p:cMediaNode vol="80000">
                <p:cTn id="48" fill="hold" display="0">
                  <p:stCondLst>
                    <p:cond delay="indefinite"/>
                  </p:stCondLst>
                  <p:endCondLst>
                    <p:cond evt="onStopAudio" delay="0">
                      <p:tgtEl>
                        <p:sldTgt/>
                      </p:tgtEl>
                    </p:cond>
                  </p:endCondLst>
                </p:cTn>
                <p:tgtEl>
                  <p:spTgt spid="20"/>
                </p:tgtEl>
              </p:cMediaNode>
            </p:audio>
            <p:audio>
              <p:cMediaNode vol="80000">
                <p:cTn id="49" fill="hold" display="0">
                  <p:stCondLst>
                    <p:cond delay="indefinite"/>
                  </p:stCondLst>
                  <p:endCondLst>
                    <p:cond evt="onStopAudio" delay="0">
                      <p:tgtEl>
                        <p:sldTgt/>
                      </p:tgtEl>
                    </p:cond>
                  </p:endCondLst>
                </p:cTn>
                <p:tgtEl>
                  <p:spTgt spid="21"/>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0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50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5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problema. Dai un consiglio – veloce!</a:t>
            </a:r>
            <a:endParaRPr lang="en-US" sz="950" dirty="0"/>
          </a:p>
        </p:txBody>
      </p:sp>
      <p:sp>
        <p:nvSpPr>
          <p:cNvPr id="9" name="cmd_50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game · giving advice</a:t>
            </a:r>
            <a:endParaRPr lang="en-US" sz="800" dirty="0"/>
          </a:p>
        </p:txBody>
      </p:sp>
      <p:sp>
        <p:nvSpPr>
          <p:cNvPr id="14" name="cd_51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1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problem.</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il problema.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give advice in 10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un consiglio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should / mustn't / don't have to…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Verbo modale giusto = 1 punto.</a:t>
            </a:r>
            <a:endParaRPr lang="en-US" sz="1000" dirty="0"/>
          </a:p>
        </p:txBody>
      </p:sp>
      <p:sp>
        <p:nvSpPr>
          <p:cNvPr id="18" name="pf_51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17" descr="/home/claude/lls-course/v2/cache/spare_1b2_argumen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1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1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050" dirty="0"/>
          </a:p>
        </p:txBody>
      </p:sp>
      <p:sp>
        <p:nvSpPr>
          <p:cNvPr id="22" name="R1_chip52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100" dirty="0"/>
          </a:p>
        </p:txBody>
      </p:sp>
      <p:sp>
        <p:nvSpPr>
          <p:cNvPr id="23" name="bd_52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2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5" name="R2_chip52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100" dirty="0"/>
          </a:p>
        </p:txBody>
      </p:sp>
      <p:sp>
        <p:nvSpPr>
          <p:cNvPr id="26" name="bd_52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2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8" name="R3_chip52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100" dirty="0"/>
          </a:p>
        </p:txBody>
      </p:sp>
      <p:sp>
        <p:nvSpPr>
          <p:cNvPr id="29" name="bd_52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2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31" name="R4_chip52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100" dirty="0"/>
          </a:p>
        </p:txBody>
      </p:sp>
      <p:sp>
        <p:nvSpPr>
          <p:cNvPr id="32" name="bd_53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3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4" name="R5_chip53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100" dirty="0"/>
          </a:p>
        </p:txBody>
      </p:sp>
      <p:sp>
        <p:nvSpPr>
          <p:cNvPr id="35" name="bd_53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3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7" name="R6_chip53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3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4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1/2   ·   📖 SB p.39 · 7a, 7b · Saying what you think is right</a:t>
            </a:r>
            <a:endParaRPr lang="en-US" sz="800" dirty="0"/>
          </a:p>
        </p:txBody>
      </p:sp>
      <p:sp>
        <p:nvSpPr>
          <p:cNvPr id="14" name="pf_54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48" descr="/home/claude/lls-course/v2/cache/4a2_first_da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4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GM good · BM bad · NI not important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it's rude / selfish / inappropriate to…</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don't think people should… · It really annoys me when…</a:t>
            </a:r>
            <a:endParaRPr lang="en-US" sz="800" dirty="0"/>
          </a:p>
        </p:txBody>
      </p:sp>
      <p:sp>
        <p:nvSpPr>
          <p:cNvPr id="20" name="R1_qb55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5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GM – I always say 'buongiorno' to my friend's grandma.</a:t>
            </a:r>
            <a:endParaRPr lang="en-US" sz="1200" dirty="0"/>
          </a:p>
        </p:txBody>
      </p:sp>
      <p:sp>
        <p:nvSpPr>
          <p:cNvPr id="22" name="R2_qb55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5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NI – in Sicily it's normal!</a:t>
            </a:r>
            <a:endParaRPr lang="en-US" sz="1000" dirty="0"/>
          </a:p>
        </p:txBody>
      </p:sp>
      <p:sp>
        <p:nvSpPr>
          <p:cNvPr id="24" name="R3_qb55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58"/>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BM – I don't think people should do it at first.</a:t>
            </a:r>
            <a:endParaRPr lang="en-US" sz="1200" dirty="0"/>
          </a:p>
        </p:txBody>
      </p:sp>
      <p:pic>
        <p:nvPicPr>
          <p:cNvPr id="26" name="R3_th559"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6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6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 I think it's fine to share the bill.</a:t>
            </a:r>
            <a:endParaRPr lang="en-US" sz="1250" dirty="0"/>
          </a:p>
        </p:txBody>
      </p:sp>
      <p:sp>
        <p:nvSpPr>
          <p:cNvPr id="29" name="R5_qb56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6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but women can do it for men too!</a:t>
            </a:r>
            <a:endParaRPr lang="en-US" sz="1250" dirty="0"/>
          </a:p>
        </p:txBody>
      </p:sp>
      <p:sp>
        <p:nvSpPr>
          <p:cNvPr id="31" name="R6_qb56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6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depends – late at night, I think it's polite.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6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400" dirty="0"/>
          </a:p>
        </p:txBody>
      </p:sp>
      <p:pic>
        <p:nvPicPr>
          <p:cNvPr id="6" name="brP_56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7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7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7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2/2   ·   📖 SB p.39 · 7a, 7b</a:t>
            </a:r>
            <a:endParaRPr lang="en-US" sz="800" dirty="0"/>
          </a:p>
        </p:txBody>
      </p:sp>
      <p:sp>
        <p:nvSpPr>
          <p:cNvPr id="14" name="pf_57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78" descr="/home/claude/lls-course/v2/cache/4a2_late_gues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think it's rude / bad manners to…</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don't mind it. · It really annoys me when…</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In Sicily… but in Britain…</a:t>
            </a:r>
            <a:endParaRPr lang="en-US" sz="900" dirty="0"/>
          </a:p>
        </p:txBody>
      </p:sp>
      <p:sp>
        <p:nvSpPr>
          <p:cNvPr id="20" name="R1_qb58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4"/>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flowers, or cannoli from the pasticceria!</a:t>
            </a:r>
            <a:endParaRPr lang="en-US" sz="1250" dirty="0"/>
          </a:p>
        </p:txBody>
      </p:sp>
      <p:pic>
        <p:nvPicPr>
          <p:cNvPr id="22" name="R1_th585"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58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8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BM – remember Belinda's mother-in-law!</a:t>
            </a:r>
            <a:endParaRPr lang="en-US" sz="1050" dirty="0"/>
          </a:p>
        </p:txBody>
      </p:sp>
      <p:sp>
        <p:nvSpPr>
          <p:cNvPr id="25" name="R3_qb58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8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GM – it's polite, and it only takes a minute.</a:t>
            </a:r>
            <a:endParaRPr lang="en-US" sz="1050" dirty="0"/>
          </a:p>
        </p:txBody>
      </p:sp>
      <p:sp>
        <p:nvSpPr>
          <p:cNvPr id="27" name="R4_qb59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91"/>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It really annoys me when people do that!</a:t>
            </a:r>
            <a:endParaRPr lang="en-US" sz="850" dirty="0"/>
          </a:p>
        </p:txBody>
      </p:sp>
      <p:pic>
        <p:nvPicPr>
          <p:cNvPr id="29" name="R4_th592"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30" name="R5_qb59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594"/>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BM – I hate it when people do that!</a:t>
            </a:r>
            <a:endParaRPr lang="en-US" sz="850" dirty="0"/>
          </a:p>
        </p:txBody>
      </p:sp>
      <p:sp>
        <p:nvSpPr>
          <p:cNvPr id="32" name="R6_qb595"/>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596"/>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in Sicily! But in Britain I think it's rude.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9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9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0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0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0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0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Review · what did you do today?</a:t>
            </a:r>
            <a:endParaRPr lang="en-US" sz="800" dirty="0"/>
          </a:p>
        </p:txBody>
      </p:sp>
      <p:sp>
        <p:nvSpPr>
          <p:cNvPr id="14" name="cd_608"/>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0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1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guide to modern manners</a:t>
            </a:r>
            <a:endParaRPr lang="en-US" sz="1350" dirty="0"/>
          </a:p>
        </p:txBody>
      </p:sp>
      <p:sp>
        <p:nvSpPr>
          <p:cNvPr id="17" name="R1_tk61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12"/>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1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1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show about rude relatives</a:t>
            </a:r>
            <a:endParaRPr lang="en-US" sz="1350" dirty="0"/>
          </a:p>
        </p:txBody>
      </p:sp>
      <p:sp>
        <p:nvSpPr>
          <p:cNvPr id="21" name="R2_tk61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16"/>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1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1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advice: should, mustn't, don't have to</a:t>
            </a:r>
            <a:endParaRPr lang="en-US" sz="1350" dirty="0"/>
          </a:p>
        </p:txBody>
      </p:sp>
      <p:sp>
        <p:nvSpPr>
          <p:cNvPr id="25" name="R3_tk61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20"/>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2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2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2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24"/>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2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2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Decided: good manners or bad manners?</a:t>
            </a:r>
            <a:endParaRPr lang="en-US" sz="1350" dirty="0"/>
          </a:p>
        </p:txBody>
      </p:sp>
      <p:sp>
        <p:nvSpPr>
          <p:cNvPr id="33" name="R5_tk62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2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3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3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Exit · what can you remember?</a:t>
            </a:r>
            <a:endParaRPr lang="en-US" sz="800" dirty="0"/>
          </a:p>
        </p:txBody>
      </p:sp>
      <p:sp>
        <p:nvSpPr>
          <p:cNvPr id="13" name="bd_63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4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manners words from today (no looking!)</a:t>
            </a:r>
            <a:endParaRPr lang="en-US" sz="1400" dirty="0"/>
          </a:p>
        </p:txBody>
      </p:sp>
      <p:sp>
        <p:nvSpPr>
          <p:cNvPr id="15" name="bd_64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4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pieces of advice for Damien or Miranda</a:t>
            </a:r>
            <a:endParaRPr lang="en-US" sz="1400" dirty="0"/>
          </a:p>
        </p:txBody>
      </p:sp>
      <p:sp>
        <p:nvSpPr>
          <p:cNvPr id="17" name="bd_64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 that is really bad manners for you: "I think it's rude to…"</a:t>
            </a:r>
            <a:endParaRPr lang="en-US" sz="1400" dirty="0"/>
          </a:p>
        </p:txBody>
      </p:sp>
      <p:sp>
        <p:nvSpPr>
          <p:cNvPr id="19" name="cd_64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4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2c, 2d</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p.127: script 4.11 – underline have to, must, should, ought to</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4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5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65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5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6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Scrivete una domanda. Un'altra coppia risponde!</a:t>
            </a:r>
            <a:endParaRPr lang="en-US" sz="950" dirty="0"/>
          </a:p>
        </p:txBody>
      </p:sp>
      <p:sp>
        <p:nvSpPr>
          <p:cNvPr id="9" name="cmd_65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meta_65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65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6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Extra · writing: Dear Debrett's…</a:t>
            </a:r>
            <a:endParaRPr lang="en-US" sz="800" dirty="0"/>
          </a:p>
        </p:txBody>
      </p:sp>
      <p:sp>
        <p:nvSpPr>
          <p:cNvPr id="14" name="st_66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6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6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6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Is it rude to wear headphones at Sunday lunch? → Yes. You shouldn't…</a:t>
            </a:r>
            <a:endParaRPr lang="en-US" sz="1050" dirty="0"/>
          </a:p>
        </p:txBody>
      </p:sp>
      <p:sp>
        <p:nvSpPr>
          <p:cNvPr id="19" name="pf_66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7" descr="/home/claude/lls-course/v2/cache/4a1_tex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6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6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050" dirty="0"/>
          </a:p>
        </p:txBody>
      </p:sp>
      <p:sp>
        <p:nvSpPr>
          <p:cNvPr id="23" name="R1_chip67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00" dirty="0"/>
          </a:p>
        </p:txBody>
      </p:sp>
      <p:sp>
        <p:nvSpPr>
          <p:cNvPr id="24" name="bd_67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7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50" dirty="0"/>
          </a:p>
        </p:txBody>
      </p:sp>
      <p:sp>
        <p:nvSpPr>
          <p:cNvPr id="26" name="R2_chip67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00" dirty="0"/>
          </a:p>
        </p:txBody>
      </p:sp>
      <p:sp>
        <p:nvSpPr>
          <p:cNvPr id="27" name="bd_67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7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00" dirty="0"/>
          </a:p>
        </p:txBody>
      </p:sp>
      <p:sp>
        <p:nvSpPr>
          <p:cNvPr id="29" name="R3_chip67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00" dirty="0"/>
          </a:p>
        </p:txBody>
      </p:sp>
      <p:sp>
        <p:nvSpPr>
          <p:cNvPr id="30" name="bd_67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7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00" dirty="0"/>
          </a:p>
        </p:txBody>
      </p:sp>
      <p:sp>
        <p:nvSpPr>
          <p:cNvPr id="32" name="R4_chip67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2026-10-12T10:15:23Z</dcterms:created>
  <dcterms:modified xsi:type="dcterms:W3CDTF">2026-10-12T10:15:23Z</dcterms:modified>
</cp:coreProperties>
</file>