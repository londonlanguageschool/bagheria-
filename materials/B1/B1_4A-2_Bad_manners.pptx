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ONE click shows all the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 guide to modern manners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radio show about rude relatives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give advice: should, mustn't, don't have 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decide: good manners or bad manners?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4a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4A part 1: phone language</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have to, must, should</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silent letters: calm, hour</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must / have to = necessary · mustn't = NOT allowed</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should / ought to = a good idea · don't have to = not necessary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27" name="w_41"/>
          <p:cNvSpPr/>
          <p:nvPr/>
        </p:nvSpPr>
        <p:spPr>
          <a:xfrm>
            <a:off x="4183380"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call back</a:t>
            </a:r>
            <a:endParaRPr lang="en-US" sz="1050" dirty="0"/>
          </a:p>
        </p:txBody>
      </p:sp>
      <p:sp>
        <p:nvSpPr>
          <p:cNvPr id="28" name="w_42"/>
          <p:cNvSpPr/>
          <p:nvPr/>
        </p:nvSpPr>
        <p:spPr>
          <a:xfrm>
            <a:off x="5276088" y="417880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voicemail</a:t>
            </a:r>
            <a:endParaRPr lang="en-US" sz="1050" dirty="0"/>
          </a:p>
        </p:txBody>
      </p:sp>
      <p:sp>
        <p:nvSpPr>
          <p:cNvPr id="29" name="w_43"/>
          <p:cNvSpPr/>
          <p:nvPr/>
        </p:nvSpPr>
        <p:spPr>
          <a:xfrm>
            <a:off x="6368796"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put on hold</a:t>
            </a:r>
            <a:endParaRPr lang="en-US" sz="1050" dirty="0"/>
          </a:p>
        </p:txBody>
      </p:sp>
      <p:sp>
        <p:nvSpPr>
          <p:cNvPr id="30" name="w_44"/>
          <p:cNvSpPr/>
          <p:nvPr/>
        </p:nvSpPr>
        <p:spPr>
          <a:xfrm>
            <a:off x="7616952"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cut off</a:t>
            </a:r>
            <a:endParaRPr lang="en-US" sz="1050" dirty="0"/>
          </a:p>
        </p:txBody>
      </p:sp>
      <p:sp>
        <p:nvSpPr>
          <p:cNvPr id="31" name="w_45"/>
          <p:cNvSpPr/>
          <p:nvPr/>
        </p:nvSpPr>
        <p:spPr>
          <a:xfrm>
            <a:off x="3246120"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off</a:t>
            </a:r>
            <a:endParaRPr lang="en-US" sz="1050" dirty="0"/>
          </a:p>
        </p:txBody>
      </p:sp>
      <p:sp>
        <p:nvSpPr>
          <p:cNvPr id="32" name="w_46"/>
          <p:cNvSpPr/>
          <p:nvPr/>
        </p:nvSpPr>
        <p:spPr>
          <a:xfrm>
            <a:off x="4105656" y="454456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ringtone</a:t>
            </a:r>
            <a:endParaRPr lang="en-US" sz="1050" dirty="0"/>
          </a:p>
        </p:txBody>
      </p:sp>
      <p:sp>
        <p:nvSpPr>
          <p:cNvPr id="33" name="w_47"/>
          <p:cNvSpPr/>
          <p:nvPr/>
        </p:nvSpPr>
        <p:spPr>
          <a:xfrm>
            <a:off x="5120640" y="4544568"/>
            <a:ext cx="179679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calm · hour · wrong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Spiega PERCHÉ!</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Warmer · last lesson: phones, modals, silent letters   ·   📖 Recycles 4A part 1 · SB pp.36–37 · audio 4.8 · Grammar Bank 4A</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words or sentences.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odd one out.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Say WHY = 1 point.</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4a1_on_hol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100" dirty="0"/>
          </a:p>
        </p:txBody>
      </p:sp>
      <p:sp>
        <p:nvSpPr>
          <p:cNvPr id="21" name="R1_chip6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00" dirty="0"/>
          </a:p>
        </p:txBody>
      </p:sp>
      <p:sp>
        <p:nvSpPr>
          <p:cNvPr id="22" name="bd_6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calm · half · talk · wrong</a:t>
            </a:r>
            <a:endParaRPr lang="en-US" sz="1100" dirty="0"/>
          </a:p>
        </p:txBody>
      </p:sp>
      <p:sp>
        <p:nvSpPr>
          <p:cNvPr id="24" name="R2_chip6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00" dirty="0"/>
          </a:p>
        </p:txBody>
      </p:sp>
      <p:sp>
        <p:nvSpPr>
          <p:cNvPr id="25" name="bd_7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100" dirty="0"/>
          </a:p>
        </p:txBody>
      </p:sp>
      <p:sp>
        <p:nvSpPr>
          <p:cNvPr id="27" name="R3_chip7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00" dirty="0"/>
          </a:p>
        </p:txBody>
      </p:sp>
      <p:sp>
        <p:nvSpPr>
          <p:cNvPr id="28" name="bd_7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100" dirty="0"/>
          </a:p>
        </p:txBody>
      </p:sp>
      <p:sp>
        <p:nvSpPr>
          <p:cNvPr id="30" name="R4_chip7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100" dirty="0"/>
          </a:p>
        </p:txBody>
      </p:sp>
      <p:sp>
        <p:nvSpPr>
          <p:cNvPr id="31" name="bd_76"/>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should · ought to · must</a:t>
            </a:r>
            <a:endParaRPr lang="en-US" sz="1100" dirty="0"/>
          </a:p>
        </p:txBody>
      </p:sp>
      <p:sp>
        <p:nvSpPr>
          <p:cNvPr id="33" name="R5_chip78"/>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500" dirty="0"/>
          </a:p>
        </p:txBody>
      </p:sp>
      <p:pic>
        <p:nvPicPr>
          <p:cNvPr id="6" name="brP_8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la tua opinione. Spiega perché!</a:t>
            </a:r>
            <a:endParaRPr lang="en-US" sz="950" dirty="0"/>
          </a:p>
        </p:txBody>
      </p:sp>
      <p:sp>
        <p:nvSpPr>
          <p:cNvPr id="9" name="cmd_85"/>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lead-in: modern dilemmas   ·   📖 SB p.38 · 5a</a:t>
            </a:r>
            <a:endParaRPr lang="en-US" sz="800" dirty="0"/>
          </a:p>
        </p:txBody>
      </p:sp>
      <p:sp>
        <p:nvSpPr>
          <p:cNvPr id="13" name="pf_8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90"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9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9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94"/>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you should / shouldn't…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rude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a:t>
            </a:r>
            <a:endParaRPr lang="en-US" sz="1050" dirty="0"/>
          </a:p>
        </p:txBody>
      </p:sp>
      <p:sp>
        <p:nvSpPr>
          <p:cNvPr id="19" name="R1_qb9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9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at a job interview?</a:t>
            </a:r>
            <a:endParaRPr lang="en-US" sz="1250" dirty="0"/>
          </a:p>
        </p:txBody>
      </p:sp>
      <p:sp>
        <p:nvSpPr>
          <p:cNvPr id="21" name="R2_qb9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9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shouldn't talk loudly on your phone!</a:t>
            </a:r>
            <a:endParaRPr lang="en-US" sz="1250" dirty="0"/>
          </a:p>
        </p:txBody>
      </p:sp>
      <p:sp>
        <p:nvSpPr>
          <p:cNvPr id="23" name="R3_qb9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10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long flight. It's normal!</a:t>
            </a:r>
            <a:endParaRPr lang="en-US" sz="1250" dirty="0"/>
          </a:p>
        </p:txBody>
      </p:sp>
      <p:sp>
        <p:nvSpPr>
          <p:cNvPr id="25" name="R4_qb10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10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an old person gets on.</a:t>
            </a:r>
            <a:endParaRPr lang="en-US" sz="1250" dirty="0"/>
          </a:p>
        </p:txBody>
      </p:sp>
      <p:sp>
        <p:nvSpPr>
          <p:cNvPr id="27" name="R5_qb10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104"/>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My nonna says we have to wait.</a:t>
            </a:r>
            <a:endParaRPr lang="en-US" sz="1250" dirty="0"/>
          </a:p>
        </p:txBody>
      </p:sp>
      <p:pic>
        <p:nvPicPr>
          <p:cNvPr id="29" name="R5_th105"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0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0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dove vanno i 5 numeri!</a:t>
            </a:r>
            <a:endParaRPr lang="en-US" sz="950" dirty="0"/>
          </a:p>
        </p:txBody>
      </p:sp>
      <p:sp>
        <p:nvSpPr>
          <p:cNvPr id="9" name="cmd_11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1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1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1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prediction   ·   📖 SB p.38 · 5b · Debrett's introduction</a:t>
            </a:r>
            <a:endParaRPr lang="en-US" sz="800" dirty="0"/>
          </a:p>
        </p:txBody>
      </p:sp>
      <p:sp>
        <p:nvSpPr>
          <p:cNvPr id="14" name="cd_11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11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6" name="nx_119"/>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1000" dirty="0"/>
          </a:p>
        </p:txBody>
      </p:sp>
      <p:sp>
        <p:nvSpPr>
          <p:cNvPr id="17" name="sf_12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8" name="nbl_12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122"/>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20" name="bd_123"/>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1" name="bd_124"/>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2" name="bd_125"/>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3" name="bd_126"/>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4" name="pf_127"/>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28" descr="/home/claude/lls-course/v2/cache/4a1_polite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500" dirty="0"/>
          </a:p>
        </p:txBody>
      </p:sp>
      <p:pic>
        <p:nvPicPr>
          <p:cNvPr id="6" name="brP_13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3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36"/>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3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1/2   ·   📖 SB p.38 · 5b (text adapted from the article)</a:t>
            </a:r>
            <a:endParaRPr lang="en-US" sz="800" dirty="0"/>
          </a:p>
        </p:txBody>
      </p:sp>
      <p:sp>
        <p:nvSpPr>
          <p:cNvPr id="14" name="cd_14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4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6" name="ln_14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2EB872"/>
                </a:solidFill>
                <a:latin typeface="Georgia" pitchFamily="34" charset="0"/>
                <a:ea typeface="Georgia" pitchFamily="34" charset="-122"/>
                <a:cs typeface="Georgia" pitchFamily="34" charset="-120"/>
              </a:rPr>
              <a:t> (a) _____ </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2EB872"/>
                </a:solidFill>
                <a:latin typeface="Georgia" pitchFamily="34" charset="0"/>
                <a:ea typeface="Georgia" pitchFamily="34" charset="-122"/>
                <a:cs typeface="Georgia" pitchFamily="34" charset="-120"/>
              </a:rPr>
              <a:t> (b) _____ </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7" name="R1_lnA14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8" name="ln_14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2EB872"/>
                </a:solidFill>
                <a:latin typeface="Georgia" pitchFamily="34" charset="0"/>
                <a:ea typeface="Georgia" pitchFamily="34" charset="-122"/>
                <a:cs typeface="Georgia" pitchFamily="34" charset="-120"/>
              </a:rPr>
              <a:t> (c) _____ </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2EB872"/>
                </a:solidFill>
                <a:latin typeface="Georgia" pitchFamily="34" charset="0"/>
                <a:ea typeface="Georgia" pitchFamily="34" charset="-122"/>
                <a:cs typeface="Georgia" pitchFamily="34" charset="-120"/>
              </a:rPr>
              <a:t> (d) _____ </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19" name="R2_lnA14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0" name="ln_14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2EB872"/>
                </a:solidFill>
                <a:latin typeface="Georgia" pitchFamily="34" charset="0"/>
                <a:ea typeface="Georgia" pitchFamily="34" charset="-122"/>
                <a:cs typeface="Georgia" pitchFamily="34" charset="-120"/>
              </a:rPr>
              <a:t> (Q1)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R3_lnA14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2" name="ln_14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2EB872"/>
                </a:solidFill>
                <a:latin typeface="Georgia" pitchFamily="34" charset="0"/>
                <a:ea typeface="Georgia" pitchFamily="34" charset="-122"/>
                <a:cs typeface="Georgia" pitchFamily="34" charset="-120"/>
              </a:rPr>
              <a:t> (Q1)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4_lnA14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ln_15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2EB872"/>
                </a:solidFill>
                <a:latin typeface="Georgia" pitchFamily="34" charset="0"/>
                <a:ea typeface="Georgia" pitchFamily="34" charset="-122"/>
                <a:cs typeface="Georgia" pitchFamily="34" charset="-120"/>
              </a:rPr>
              <a:t> (Q2) _____ </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2EB872"/>
                </a:solidFill>
                <a:latin typeface="Georgia" pitchFamily="34" charset="0"/>
                <a:ea typeface="Georgia" pitchFamily="34" charset="-122"/>
                <a:cs typeface="Georgia" pitchFamily="34" charset="-120"/>
              </a:rPr>
              <a:t> (Q2) _____ </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5" name="R5_lnA15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6" name="pf_152"/>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53" descr="/home/claude/lls-course/v2/cache/4a1_public_transpor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15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15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15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157"/>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6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6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6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6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2/2   ·   📖 SB p.38 · 5b (text adapted from the article)</a:t>
            </a:r>
            <a:endParaRPr lang="en-US" sz="800" dirty="0"/>
          </a:p>
        </p:txBody>
      </p:sp>
      <p:sp>
        <p:nvSpPr>
          <p:cNvPr id="14" name="cd_16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70"/>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6" name="ln_17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2EB872"/>
                </a:solidFill>
                <a:latin typeface="Georgia" pitchFamily="34" charset="0"/>
                <a:ea typeface="Georgia" pitchFamily="34" charset="-122"/>
                <a:cs typeface="Georgia" pitchFamily="34" charset="-120"/>
              </a:rPr>
              <a:t> (Q3) _____ </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7" name="R1_lnA172"/>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8" name="ln_17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2EB872"/>
                </a:solidFill>
                <a:latin typeface="Georgia" pitchFamily="34" charset="0"/>
                <a:ea typeface="Georgia" pitchFamily="34" charset="-122"/>
                <a:cs typeface="Georgia" pitchFamily="34" charset="-120"/>
              </a:rPr>
              <a:t> (e) _____ </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19" name="R2_lnA174"/>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0" name="ln_17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2EB872"/>
                </a:solidFill>
                <a:latin typeface="Georgia" pitchFamily="34" charset="0"/>
                <a:ea typeface="Georgia" pitchFamily="34" charset="-122"/>
                <a:cs typeface="Georgia" pitchFamily="34" charset="-120"/>
              </a:rPr>
              <a:t> (Q4) _____ </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1" name="R3_lnA17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2" name="ln_17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2EB872"/>
                </a:solidFill>
                <a:latin typeface="Georgia" pitchFamily="34" charset="0"/>
                <a:ea typeface="Georgia" pitchFamily="34" charset="-122"/>
                <a:cs typeface="Georgia" pitchFamily="34" charset="-120"/>
              </a:rPr>
              <a:t> (Q5)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4_lnA17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pf_17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80" descr="/home/claude/lls-course/v2/cache/4a1_table_manner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18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18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8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18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8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8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8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8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modo più semplice al compagno.</a:t>
            </a:r>
            <a:endParaRPr lang="en-US" sz="950" dirty="0"/>
          </a:p>
        </p:txBody>
      </p:sp>
      <p:sp>
        <p:nvSpPr>
          <p:cNvPr id="9" name="cmd_19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vocabulary from the text   ·   📖 SB p.38 · 5c (highlighted phrases)</a:t>
            </a:r>
            <a:endParaRPr lang="en-US" sz="800" dirty="0"/>
          </a:p>
        </p:txBody>
      </p:sp>
      <p:sp>
        <p:nvSpPr>
          <p:cNvPr id="13" name="cd_1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9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It's selfish → you're only thinking about yourself</a:t>
            </a:r>
            <a:endParaRPr lang="en-US" sz="1050" dirty="0"/>
          </a:p>
        </p:txBody>
      </p:sp>
      <p:sp>
        <p:nvSpPr>
          <p:cNvPr id="17" name="pf_1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00"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0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0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1150" dirty="0"/>
          </a:p>
        </p:txBody>
      </p:sp>
      <p:sp>
        <p:nvSpPr>
          <p:cNvPr id="21" name="R1_chip20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00" dirty="0"/>
          </a:p>
        </p:txBody>
      </p:sp>
      <p:sp>
        <p:nvSpPr>
          <p:cNvPr id="22" name="bd_20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0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1150" dirty="0"/>
          </a:p>
        </p:txBody>
      </p:sp>
      <p:sp>
        <p:nvSpPr>
          <p:cNvPr id="24" name="R2_chip20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00" dirty="0"/>
          </a:p>
        </p:txBody>
      </p:sp>
      <p:sp>
        <p:nvSpPr>
          <p:cNvPr id="25" name="bd_20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0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1150" dirty="0"/>
          </a:p>
        </p:txBody>
      </p:sp>
      <p:sp>
        <p:nvSpPr>
          <p:cNvPr id="27" name="R3_chip20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00" dirty="0"/>
          </a:p>
        </p:txBody>
      </p:sp>
      <p:sp>
        <p:nvSpPr>
          <p:cNvPr id="28" name="bd_21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1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1150" dirty="0"/>
          </a:p>
        </p:txBody>
      </p:sp>
      <p:sp>
        <p:nvSpPr>
          <p:cNvPr id="30" name="R4_chip21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00" dirty="0"/>
          </a:p>
        </p:txBody>
      </p:sp>
      <p:sp>
        <p:nvSpPr>
          <p:cNvPr id="31" name="bd_21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1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1150" dirty="0"/>
          </a:p>
        </p:txBody>
      </p:sp>
      <p:sp>
        <p:nvSpPr>
          <p:cNvPr id="33" name="R5_chip21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1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2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2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 in Italian</a:t>
            </a:r>
            <a:endParaRPr lang="en-US" sz="800" dirty="0"/>
          </a:p>
        </p:txBody>
      </p:sp>
      <p:sp>
        <p:nvSpPr>
          <p:cNvPr id="13" name="cd_22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2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2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6" name="R1_it22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maleducato, scortese</a:t>
            </a:r>
            <a:endParaRPr lang="en-US" sz="1000" dirty="0"/>
          </a:p>
        </p:txBody>
      </p:sp>
      <p:sp>
        <p:nvSpPr>
          <p:cNvPr id="17" name="cd_23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23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23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20" name="R1_it23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1" name="cd_23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23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23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4" name="R1_it23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non pensa agli altri</a:t>
            </a:r>
            <a:endParaRPr lang="en-US" sz="1000" dirty="0"/>
          </a:p>
        </p:txBody>
      </p:sp>
      <p:sp>
        <p:nvSpPr>
          <p:cNvPr id="25" name="cd_23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23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24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8" name="R1_it24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29" name="cd_24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24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24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2" name="R1_it24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3" name="cd_24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24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24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6" name="R1_it24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7" name="cd_25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25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25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40" name="R1_it25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1" name="cd_25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25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25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200" dirty="0"/>
          </a:p>
        </p:txBody>
      </p:sp>
      <p:sp>
        <p:nvSpPr>
          <p:cNvPr id="44" name="R1_it25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1000" dirty="0"/>
          </a:p>
        </p:txBody>
      </p:sp>
      <p:sp>
        <p:nvSpPr>
          <p:cNvPr id="45" name="cd_25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25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26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200" dirty="0"/>
          </a:p>
        </p:txBody>
      </p:sp>
      <p:sp>
        <p:nvSpPr>
          <p:cNvPr id="48" name="R1_it26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1000" dirty="0"/>
          </a:p>
        </p:txBody>
      </p:sp>
      <p:sp>
        <p:nvSpPr>
          <p:cNvPr id="49" name="cd_26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26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26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2" name="R1_it26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3" name="cd_26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26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26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200" dirty="0"/>
          </a:p>
        </p:txBody>
      </p:sp>
      <p:sp>
        <p:nvSpPr>
          <p:cNvPr id="56" name="R1_it26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7" name="cd_27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27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27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60" name="R1_it27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1000" dirty="0"/>
          </a:p>
        </p:txBody>
      </p:sp>
      <p:sp>
        <p:nvSpPr>
          <p:cNvPr id="61" name="R1_wc274"/>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27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7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8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28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28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game</a:t>
            </a:r>
            <a:endParaRPr lang="en-US" sz="800" dirty="0"/>
          </a:p>
        </p:txBody>
      </p:sp>
      <p:sp>
        <p:nvSpPr>
          <p:cNvPr id="13" name="cd_28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8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28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29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91"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292"/>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293"/>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1" name="R2_w294"/>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2" name="R3_w295"/>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3" name="R4_w296"/>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4" name="rl_297"/>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298"/>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6" name="R6_w299"/>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7" name="R7_w300"/>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8" name="R8_w301"/>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0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E tu? Perché?</a:t>
            </a:r>
            <a:endParaRPr lang="en-US" sz="950" dirty="0"/>
          </a:p>
        </p:txBody>
      </p:sp>
      <p:sp>
        <p:nvSpPr>
          <p:cNvPr id="9" name="cmd_30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30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Sicily vs Britain   ·   📖 SB p.38 · 5e</a:t>
            </a:r>
            <a:endParaRPr lang="en-US" sz="800" dirty="0"/>
          </a:p>
        </p:txBody>
      </p:sp>
      <p:sp>
        <p:nvSpPr>
          <p:cNvPr id="13" name="pf_31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313" descr="/home/claude/lls-course/v2/cache/spare_1b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31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31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31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Sicily we usually…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rude / polite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19" name="R1_qb31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1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Two kisses for friends – a handshake for my teacher!</a:t>
            </a:r>
            <a:endParaRPr lang="en-US" sz="1250" dirty="0"/>
          </a:p>
        </p:txBody>
      </p:sp>
      <p:sp>
        <p:nvSpPr>
          <p:cNvPr id="21" name="R2_qb32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21"/>
          <p:cNvSpPr/>
          <p:nvPr/>
        </p:nvSpPr>
        <p:spPr>
          <a:xfrm>
            <a:off x="3675888" y="197358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They shouldn't play music without headphones!</a:t>
            </a:r>
            <a:endParaRPr lang="en-US" sz="1250" dirty="0"/>
          </a:p>
        </p:txBody>
      </p:sp>
      <p:pic>
        <p:nvPicPr>
          <p:cNvPr id="23" name="R2_th322"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4" name="R3_qb32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24"/>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of course! You should always offer your seat.</a:t>
            </a:r>
            <a:endParaRPr lang="en-US" sz="1250" dirty="0"/>
          </a:p>
        </p:txBody>
      </p:sp>
      <p:sp>
        <p:nvSpPr>
          <p:cNvPr id="26" name="R4_qb325"/>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26"/>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 ask before you open their fridge!</a:t>
            </a:r>
            <a:endParaRPr lang="en-US" sz="1250" dirty="0"/>
          </a:p>
        </p:txBody>
      </p:sp>
      <p:sp>
        <p:nvSpPr>
          <p:cNvPr id="28" name="R5_qb327"/>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28"/>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Sometimes… I'm on my phone at dinner!</a:t>
            </a:r>
            <a:endParaRPr lang="en-US" sz="1250" dirty="0"/>
          </a:p>
        </p:txBody>
      </p:sp>
      <p:sp>
        <p:nvSpPr>
          <p:cNvPr id="30" name="R6_qb32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33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good manners make life easier for everyone.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3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3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3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Chi è il problema? Cosa fa?</a:t>
            </a:r>
            <a:endParaRPr lang="en-US" sz="950" dirty="0"/>
          </a:p>
        </p:txBody>
      </p:sp>
      <p:sp>
        <p:nvSpPr>
          <p:cNvPr id="9" name="cmd_33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33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3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rude relatives (gist)   ·   📖 SB p.39 · 6a · audio 4.9</a:t>
            </a:r>
            <a:endParaRPr lang="en-US" sz="800" dirty="0"/>
          </a:p>
        </p:txBody>
      </p:sp>
      <p:sp>
        <p:nvSpPr>
          <p:cNvPr id="13" name="ap_34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4" name="ah_34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34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34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4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4a2-mother-in-law.jpg</a:t>
            </a:r>
            <a:endParaRPr lang="en-US" sz="900" dirty="0"/>
          </a:p>
        </p:txBody>
      </p:sp>
      <p:sp>
        <p:nvSpPr>
          <p:cNvPr id="19" name="bd_34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34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34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2" name="bd_34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350"/>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351"/>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5" name="bd_352"/>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35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35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35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356"/>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Guess the problems.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Who is the problem for each caller?</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What does he / she do? Make notes.</a:t>
            </a:r>
            <a:endParaRPr lang="en-US" sz="1100" dirty="0"/>
          </a:p>
        </p:txBody>
      </p:sp>
      <p:sp>
        <p:nvSpPr>
          <p:cNvPr id="30" name="lq_35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31" name="R1_chip35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32" name="lq_35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33" name="R2_chip36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34" name="lq_361"/>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35" name="R3_chip362"/>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5"/>
                                        </p:tgtEl>
                                      </p:cBhvr>
                                    </p:cmd>
                                  </p:childTnLst>
                                </p:cTn>
                              </p:par>
                            </p:childTnLst>
                          </p:cTn>
                        </p:par>
                      </p:childTnLst>
                    </p:cTn>
                  </p:par>
                </p:childTnLst>
              </p:cTn>
              <p:nextCondLst>
                <p:cond evt="onClick" delay="0">
                  <p:tgtEl>
                    <p:spTgt spid="15"/>
                  </p:tgtEl>
                </p:cond>
              </p:nextCondLst>
            </p:seq>
            <p:audio>
              <p:cMediaNode vol="80000">
                <p:cTn id="23" fill="hold" display="0">
                  <p:stCondLst>
                    <p:cond delay="indefinite"/>
                  </p:stCondLst>
                  <p:endCondLst>
                    <p:cond evt="onStopAudio" delay="0">
                      <p:tgtEl>
                        <p:sldTgt/>
                      </p:tgtEl>
                    </p:cond>
                  </p:endCondLst>
                </p:cTn>
                <p:tgtEl>
                  <p:spTgt spid="15"/>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6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6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3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il tuo consiglio! Poi ascolta e completa.</a:t>
            </a:r>
            <a:endParaRPr lang="en-US" sz="950" dirty="0"/>
          </a:p>
        </p:txBody>
      </p:sp>
      <p:sp>
        <p:nvSpPr>
          <p:cNvPr id="9" name="cmd_36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70"/>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7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expert's advice (detail)   ·   📖 SB p.39 · 6b, 6c · audio 4.10</a:t>
            </a:r>
            <a:endParaRPr lang="en-US" sz="800" dirty="0"/>
          </a:p>
        </p:txBody>
      </p:sp>
      <p:sp>
        <p:nvSpPr>
          <p:cNvPr id="14" name="ap_3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5" name="ah_375"/>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7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77"/>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19" name="cd_37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7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8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8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82"/>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4" name="R1_chip383"/>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5" name="gq_384"/>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6" name="R2_chip385"/>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27" name="gq_386"/>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28" name="R3_chip387"/>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29" name="gq_388"/>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30" name="R4_chip389"/>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31" name="gq_390"/>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32" name="R5_chip391"/>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3" name="gq_392"/>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4" name="R6_chip393"/>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5" name="gq_394"/>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6" name="R7_chip395"/>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9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5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0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tutto il programma. Rispondi.</a:t>
            </a:r>
            <a:endParaRPr lang="en-US" sz="950" dirty="0"/>
          </a:p>
        </p:txBody>
      </p:sp>
      <p:sp>
        <p:nvSpPr>
          <p:cNvPr id="9" name="cmd_40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0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whole programme   ·   📖 SB p.39 · 6d · audio 4.11 (script p.127)</a:t>
            </a:r>
            <a:endParaRPr lang="en-US" sz="800" dirty="0"/>
          </a:p>
        </p:txBody>
      </p:sp>
      <p:sp>
        <p:nvSpPr>
          <p:cNvPr id="13" name="ap_40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4" name="ah_40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pf_4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40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18" name="cd_41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41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41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3" name="R1_chip41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1200" dirty="0"/>
          </a:p>
        </p:txBody>
      </p:sp>
      <p:sp>
        <p:nvSpPr>
          <p:cNvPr id="24" name="gq_41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5" name="R2_chip41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6" name="gq_41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27" name="R3_chip41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200" dirty="0"/>
          </a:p>
        </p:txBody>
      </p:sp>
      <p:sp>
        <p:nvSpPr>
          <p:cNvPr id="28" name="gq_42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29" name="R4_chip42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30" name="gq_42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31" name="R5_chip42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5"/>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5"/>
                                        </p:tgtEl>
                                      </p:cBhvr>
                                    </p:cmd>
                                  </p:childTnLst>
                                </p:cTn>
                              </p:par>
                            </p:childTnLst>
                          </p:cTn>
                        </p:par>
                      </p:childTnLst>
                    </p:cTn>
                  </p:par>
                </p:childTnLst>
              </p:cTn>
              <p:nextCondLst>
                <p:cond evt="onClick" delay="0">
                  <p:tgtEl>
                    <p:spTgt spid="15"/>
                  </p:tgtEl>
                </p:cond>
              </p:nextCondLst>
            </p:seq>
            <p:audio>
              <p:cMediaNode vol="80000">
                <p:cTn id="33" fill="hold" display="0">
                  <p:stCondLst>
                    <p:cond delay="indefinite"/>
                  </p:stCondLst>
                  <p:endCondLst>
                    <p:cond evt="onStopAudio" delay="0">
                      <p:tgtEl>
                        <p:sldTgt/>
                      </p:tgtEl>
                    </p:cond>
                  </p:endCondLst>
                </p:cTn>
                <p:tgtEl>
                  <p:spTgt spid="15"/>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2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2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2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Buona idea o necessario? Abbina il colore.</a:t>
            </a:r>
            <a:endParaRPr lang="en-US" sz="950" dirty="0"/>
          </a:p>
        </p:txBody>
      </p:sp>
      <p:sp>
        <p:nvSpPr>
          <p:cNvPr id="9" name="cmd_430"/>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43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Grammar · advice in the programme   ·   📖 Recycles Grammar Bank 4A p.138 · audio 4.10</a:t>
            </a:r>
            <a:endParaRPr lang="en-US" sz="800" dirty="0"/>
          </a:p>
        </p:txBody>
      </p:sp>
      <p:sp>
        <p:nvSpPr>
          <p:cNvPr id="13" name="cd_434"/>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3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3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6" name="il_437"/>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ap_438"/>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8" name="ah_43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20" name="lg_440"/>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1" name="lg_441"/>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2" name="lg_442"/>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3" name="lg_443"/>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4" name="lg_444"/>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5" name="sq_445"/>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200" dirty="0"/>
          </a:p>
        </p:txBody>
      </p:sp>
      <p:sp>
        <p:nvSpPr>
          <p:cNvPr id="26" name="R1_tag446"/>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27" name="sq_447"/>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200" dirty="0"/>
          </a:p>
        </p:txBody>
      </p:sp>
      <p:sp>
        <p:nvSpPr>
          <p:cNvPr id="28" name="R2_tag448"/>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29" name="sq_449"/>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200" dirty="0"/>
          </a:p>
        </p:txBody>
      </p:sp>
      <p:sp>
        <p:nvSpPr>
          <p:cNvPr id="30" name="R3_tag450"/>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1" name="sq_451"/>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200" dirty="0"/>
          </a:p>
        </p:txBody>
      </p:sp>
      <p:sp>
        <p:nvSpPr>
          <p:cNvPr id="32" name="R4_tag452"/>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3" name="sq_453"/>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200" dirty="0"/>
          </a:p>
        </p:txBody>
      </p:sp>
      <p:sp>
        <p:nvSpPr>
          <p:cNvPr id="34" name="R5_tag454"/>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5" name="sq_455"/>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200" dirty="0"/>
          </a:p>
        </p:txBody>
      </p:sp>
      <p:sp>
        <p:nvSpPr>
          <p:cNvPr id="36" name="R6_tag456"/>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7" name="sq_457"/>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200" dirty="0"/>
          </a:p>
        </p:txBody>
      </p:sp>
      <p:sp>
        <p:nvSpPr>
          <p:cNvPr id="38" name="R7_tag458"/>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9"/>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6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46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6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4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problema. Dai un consiglio – veloce!</a:t>
            </a:r>
            <a:endParaRPr lang="en-US" sz="950" dirty="0"/>
          </a:p>
        </p:txBody>
      </p:sp>
      <p:sp>
        <p:nvSpPr>
          <p:cNvPr id="9" name="cmd_46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6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game · giving advice</a:t>
            </a:r>
            <a:endParaRPr lang="en-US" sz="800" dirty="0"/>
          </a:p>
        </p:txBody>
      </p:sp>
      <p:sp>
        <p:nvSpPr>
          <p:cNvPr id="13" name="cd_46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7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47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problem.</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give advice in 10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should / mustn't / don't have to… = 1 point.</a:t>
            </a:r>
            <a:endParaRPr lang="en-US" sz="1150" dirty="0"/>
          </a:p>
        </p:txBody>
      </p:sp>
      <p:sp>
        <p:nvSpPr>
          <p:cNvPr id="17" name="pf_47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74" descr="/home/claude/lls-course/v2/cache/spare_1b2_argumen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47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7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100" dirty="0"/>
          </a:p>
        </p:txBody>
      </p:sp>
      <p:sp>
        <p:nvSpPr>
          <p:cNvPr id="21" name="R1_chip47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100" dirty="0"/>
          </a:p>
        </p:txBody>
      </p:sp>
      <p:sp>
        <p:nvSpPr>
          <p:cNvPr id="22" name="bd_47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7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4" name="R2_chip48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100" dirty="0"/>
          </a:p>
        </p:txBody>
      </p:sp>
      <p:sp>
        <p:nvSpPr>
          <p:cNvPr id="25" name="bd_48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8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7" name="R3_chip48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100" dirty="0"/>
          </a:p>
        </p:txBody>
      </p:sp>
      <p:sp>
        <p:nvSpPr>
          <p:cNvPr id="28" name="bd_48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8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30" name="R4_chip48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100" dirty="0"/>
          </a:p>
        </p:txBody>
      </p:sp>
      <p:sp>
        <p:nvSpPr>
          <p:cNvPr id="31" name="bd_48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8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3" name="R5_chip48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100" dirty="0"/>
          </a:p>
        </p:txBody>
      </p:sp>
      <p:sp>
        <p:nvSpPr>
          <p:cNvPr id="34" name="bd_49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9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6" name="R6_chip49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9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97"/>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4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499"/>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pic>
        <p:nvPicPr>
          <p:cNvPr id="11" name="logo_5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1/2   ·   📖 SB p.39 · 7a, 7b · Saying what you think is right</a:t>
            </a:r>
            <a:endParaRPr lang="en-US" sz="800" dirty="0"/>
          </a:p>
        </p:txBody>
      </p:sp>
      <p:sp>
        <p:nvSpPr>
          <p:cNvPr id="13" name="pf_50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04" descr="/home/claude/lls-course/v2/cache/4a2_first_da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0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0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08"/>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GM good · BM bad · NI not important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rude / selfish / inappropriate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think people should… · It really annoys me when…</a:t>
            </a:r>
            <a:endParaRPr lang="en-US" sz="1050" dirty="0"/>
          </a:p>
        </p:txBody>
      </p:sp>
      <p:sp>
        <p:nvSpPr>
          <p:cNvPr id="19" name="R1_qb50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10"/>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I always say 'buongiorno' to my friend's grandma.</a:t>
            </a:r>
            <a:endParaRPr lang="en-US" sz="1250" dirty="0"/>
          </a:p>
        </p:txBody>
      </p:sp>
      <p:sp>
        <p:nvSpPr>
          <p:cNvPr id="21" name="R2_qb511"/>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12"/>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 in Sicily it's normal!</a:t>
            </a:r>
            <a:endParaRPr lang="en-US" sz="1250" dirty="0"/>
          </a:p>
        </p:txBody>
      </p:sp>
      <p:sp>
        <p:nvSpPr>
          <p:cNvPr id="23" name="R3_qb51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14"/>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BM – I don't think people should do it at first.</a:t>
            </a:r>
            <a:endParaRPr lang="en-US" sz="1250" dirty="0"/>
          </a:p>
        </p:txBody>
      </p:sp>
      <p:pic>
        <p:nvPicPr>
          <p:cNvPr id="25" name="R3_th515"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6" name="R4_qb516"/>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17"/>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 I think it's fine to share the bill.</a:t>
            </a:r>
            <a:endParaRPr lang="en-US" sz="1250" dirty="0"/>
          </a:p>
        </p:txBody>
      </p:sp>
      <p:sp>
        <p:nvSpPr>
          <p:cNvPr id="28" name="R5_qb518"/>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19"/>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but women can do it for men too!</a:t>
            </a:r>
            <a:endParaRPr lang="en-US" sz="1250" dirty="0"/>
          </a:p>
        </p:txBody>
      </p:sp>
      <p:sp>
        <p:nvSpPr>
          <p:cNvPr id="30" name="R6_qb520"/>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21"/>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depends – late at night, I think it's polite.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2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2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500" dirty="0"/>
          </a:p>
        </p:txBody>
      </p:sp>
      <p:pic>
        <p:nvPicPr>
          <p:cNvPr id="6" name="brP_525"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26"/>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2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pic>
        <p:nvPicPr>
          <p:cNvPr id="11" name="logo_5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2/2   ·   📖 SB p.39 · 7a, 7b</a:t>
            </a:r>
            <a:endParaRPr lang="en-US" sz="800" dirty="0"/>
          </a:p>
        </p:txBody>
      </p:sp>
      <p:sp>
        <p:nvSpPr>
          <p:cNvPr id="13" name="pf_53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33" descr="/home/claude/lls-course/v2/cache/4a2_late_gues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3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3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3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rude / bad manners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mind it. · It really annoys me when…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Sicily… but in Britain…</a:t>
            </a:r>
            <a:endParaRPr lang="en-US" sz="1050" dirty="0"/>
          </a:p>
        </p:txBody>
      </p:sp>
      <p:sp>
        <p:nvSpPr>
          <p:cNvPr id="19" name="R1_qb53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39"/>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flowers, or cannoli from the pasticceria!</a:t>
            </a:r>
            <a:endParaRPr lang="en-US" sz="1250" dirty="0"/>
          </a:p>
        </p:txBody>
      </p:sp>
      <p:pic>
        <p:nvPicPr>
          <p:cNvPr id="21" name="R1_th540"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2" name="R2_qb541"/>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42"/>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BM – remember Belinda's mother-in-law!</a:t>
            </a:r>
            <a:endParaRPr lang="en-US" sz="1250" dirty="0"/>
          </a:p>
        </p:txBody>
      </p:sp>
      <p:sp>
        <p:nvSpPr>
          <p:cNvPr id="24" name="R3_qb54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44"/>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it's polite, and it only takes a minute.</a:t>
            </a:r>
            <a:endParaRPr lang="en-US" sz="1250" dirty="0"/>
          </a:p>
        </p:txBody>
      </p:sp>
      <p:sp>
        <p:nvSpPr>
          <p:cNvPr id="26" name="R4_qb545"/>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46"/>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really annoys me when people do that!</a:t>
            </a:r>
            <a:endParaRPr lang="en-US" sz="1250" dirty="0"/>
          </a:p>
        </p:txBody>
      </p:sp>
      <p:pic>
        <p:nvPicPr>
          <p:cNvPr id="28" name="R4_th547"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29" name="R5_qb548"/>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49"/>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BM – I hate it when people do that!</a:t>
            </a:r>
            <a:endParaRPr lang="en-US" sz="1250" dirty="0"/>
          </a:p>
        </p:txBody>
      </p:sp>
      <p:sp>
        <p:nvSpPr>
          <p:cNvPr id="31" name="R6_qb550"/>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51"/>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in Sicily! But in Britain I think it's rude.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par>
                                <p:cTn id="54" presetID="10" presetClass="entr" presetSubtype="0" fill="hold"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5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5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58"/>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5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Exit · what can you remember?</a:t>
            </a:r>
            <a:endParaRPr lang="en-US" sz="800" dirty="0"/>
          </a:p>
        </p:txBody>
      </p:sp>
      <p:sp>
        <p:nvSpPr>
          <p:cNvPr id="12" name="bd_56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manners words from today (no looking!)</a:t>
            </a:r>
            <a:endParaRPr lang="en-US" sz="1400" dirty="0"/>
          </a:p>
        </p:txBody>
      </p:sp>
      <p:sp>
        <p:nvSpPr>
          <p:cNvPr id="14" name="bd_56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pieces of advice for Damien or Miranda</a:t>
            </a:r>
            <a:endParaRPr lang="en-US" sz="1400" dirty="0"/>
          </a:p>
        </p:txBody>
      </p:sp>
      <p:sp>
        <p:nvSpPr>
          <p:cNvPr id="16" name="bd_56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 that is really bad manners for you: "I think it's rude to…"</a:t>
            </a:r>
            <a:endParaRPr lang="en-US" sz="1400" dirty="0"/>
          </a:p>
        </p:txBody>
      </p:sp>
      <p:sp>
        <p:nvSpPr>
          <p:cNvPr id="18" name="cd_56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70"/>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2c, 2d</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p.127: script 4.11 – underline have to, must, should, ought to</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57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7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7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57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7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5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Scrivete una domanda. Un'altra coppia risponde!</a:t>
            </a:r>
            <a:endParaRPr lang="en-US" sz="950" dirty="0"/>
          </a:p>
        </p:txBody>
      </p:sp>
      <p:sp>
        <p:nvSpPr>
          <p:cNvPr id="9" name="cmd_578"/>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300" dirty="0"/>
          </a:p>
        </p:txBody>
      </p:sp>
      <p:sp>
        <p:nvSpPr>
          <p:cNvPr id="10" name="meta_57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pic>
        <p:nvPicPr>
          <p:cNvPr id="11" name="logo_5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Extra · writing: Dear Debrett's…</a:t>
            </a:r>
            <a:endParaRPr lang="en-US" sz="800" dirty="0"/>
          </a:p>
        </p:txBody>
      </p:sp>
      <p:sp>
        <p:nvSpPr>
          <p:cNvPr id="13" name="st_58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58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8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8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Is it rude to wear headphones at Sunday lunch? → Yes. You shouldn't…</a:t>
            </a:r>
            <a:endParaRPr lang="en-US" sz="1050" dirty="0"/>
          </a:p>
        </p:txBody>
      </p:sp>
      <p:sp>
        <p:nvSpPr>
          <p:cNvPr id="18" name="pf_58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88" descr="/home/claude/lls-course/v2/cache/4a1_tex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8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9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150" dirty="0"/>
          </a:p>
        </p:txBody>
      </p:sp>
      <p:sp>
        <p:nvSpPr>
          <p:cNvPr id="22" name="R1_chip59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00" dirty="0"/>
          </a:p>
        </p:txBody>
      </p:sp>
      <p:sp>
        <p:nvSpPr>
          <p:cNvPr id="23" name="bd_59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9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50" dirty="0"/>
          </a:p>
        </p:txBody>
      </p:sp>
      <p:sp>
        <p:nvSpPr>
          <p:cNvPr id="25" name="R2_chip59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00" dirty="0"/>
          </a:p>
        </p:txBody>
      </p:sp>
      <p:sp>
        <p:nvSpPr>
          <p:cNvPr id="26" name="bd_59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9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50" dirty="0"/>
          </a:p>
        </p:txBody>
      </p:sp>
      <p:sp>
        <p:nvSpPr>
          <p:cNvPr id="28" name="R3_chip59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00" dirty="0"/>
          </a:p>
        </p:txBody>
      </p:sp>
      <p:sp>
        <p:nvSpPr>
          <p:cNvPr id="29" name="bd_59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9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50" dirty="0"/>
          </a:p>
        </p:txBody>
      </p:sp>
      <p:sp>
        <p:nvSpPr>
          <p:cNvPr id="31" name="R4_chip60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2026-10-08T16:01:30Z</dcterms:created>
  <dcterms:modified xsi:type="dcterms:W3CDTF">2026-10-08T16:01:30Z</dcterms:modified>
</cp:coreProperties>
</file>