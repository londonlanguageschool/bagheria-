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Show the photo. Ask the THINK question: 'Is it rude to start eating before everyone is served?' Quick vote: hands up for rude / not rude. Take 2–3 reasons, then click for the example answer. Don't give the 'right' answer: a famous British book answers it later in the lesson (it says YES, it's rude – unless the host says it's OK). Read the 'Today you're going to…' list together. (Picture: the 4a2-cover picture is still to come; until then the deck shows 4a1-table-manners.jpg.)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Read the examples with the class (they are from the Grammar Bank 4A examples, audio 4.4–4.7). Point at the arrows: the meaning tells you which verb. Key check: 'non devi' in Italian can be mustn't OR don't have to – ask 'Is it NOT allowed or just NOT necessary?' Remind them: ought to = should. Then quickly say the last chip aloud: calm (no l), hour (no h), wrong (no w). The warmer game 'Odd one out' uses exactly this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phones, modals, silent letters (4 min)
RETRIEVAL WARMER (4 min) – recycles 4A part 1 (phone language, modals, silent letters). Format: odd one out in two teams (different from 4A-1's warmer). Teams have 30 seconds per line; they must say the odd one out AND why (the 'why' is the real revision). Click once per line. Answers: 1 call back starts a call; hang up / be cut off end it · 2 wrong (silent w) – calm, half, talk = silent l (audio 4.8) · 3 whole (silent w) – hour, dishonest, rhythm = silent h · 4 You don't have to park here = not necessary; You mustn't / can't park here = not allowed · 5 must = very important / necessary; should and ought to = advice. Quick follow-up for item 4: each team says a true sentence about our school with don't have to (e.g. We don't have to wear a uniform). ICQ: 'Is the answer enough?' (no –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Reading · lead-in: modern dilemmas (3 min)
LEAD-IN / PREDICTION (3 min). Book 5a questions, ONE PER CLICK; about 30 seconds per question in pairs. Teach dilemma /dɪˈlemə/ (= a situation in which you have to make a difficult choice – un dilemma) and drill it. Don't correct their opinions: on the next slides they find out what a very traditional British book says. Feedback: one or two pairs per question; ask 'Is it the same in Sicily?' (e.g. two kisses are normal here). ICQ: 'Are you giving YOUR opinion or the book's?'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Reading · prediction (2 min)
PREDICTION (2 min). Read the introduction aloud. Teach etiquette /ˈetɪket/ (= galateo) and manners (buone maniere). Pairs look at the number bank and guess what each number is about (years? questions per year? a year? a percentage?) – every pair commits to a guess before the next slide. Hint if needed: one year was a question about the Queen, the other about wedding presents. ICQ: 'Are you checking or guessing?' (guessing). (Curiosity from the article: the editor, Jo Bryant, says 'The key is to always consider those around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Reading · Debrett's 1/2 (3 min)
READ + CHECK (3 min). Pairs write their guesses for a–d (numbers) and Q1–Q2 (Debrett's advice: the gaps answer questions 1–2 from slide 4). Then click once per line: the answer appears highlighted IN the text. Answers (article): a 100 · b 10,000 · c 1994 (the Queen) · d 2004 (money as a wedding present) · Q1 professional situations / a first meeting – TG: at work or when meeting someone socially for the first time · Q2 smelly food / make-up – TG: you shouldn't eat smelly food or put on make-up. Ask after each click: 'Were your answers the same as Debrett's?' (5b). Don't explain the highlighted words yet (appropriate, inconsiderate): slide 8 does that. (The book article also says: an air kiss, without contact, may seem rude, so very slight contact is best, but no sound effects!) Picture: 4a2-office-kiss.jpg is still to come; the deck shows 4a1-public-transport.jpg until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Reading · Debrett's 2/2 (3 min)
READ + CHECK (3 min). Same procedure. Answers (article / TG): Q3 not on short (daytime) flights · e 20% · Q4 when someone is pregnant, elderly / old, or clearly in need · Q5 only if you have permission: unless the host or hostess (or, in a restaurant, the other diners) gives permission. React: 'Only 20%! Is it the same on the bus in Palermo?' Back to the opening question: Debrett's says YES, it's rude. (The article also says: avoid kicking the seat in front of you, or using it to help you stand up.) Picture: 4a2-recline.jpg is still to come; the deck shows 4a1-table-manners.jpg until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Reading · vocabulary from the text (4 min)
ELICIT FIRST (4 min). Book 5c: the highlighted phrases. Demo item 0 with the class. Pairs explain each phrase in simple English, looking at the context on slides 6–7 (Italian only as a last resort). Click once per item: the TG's possible answers (accept any similar paraphrase). Drill: inconsiderate /ˌɪnkənˈsɪdərət/, monopolize /məˈnɒpəlaɪz/, decline /dɪˈklaɪn/, permission /pəˈmɪʃn/. ICQs: 'Are you translating into Italian?' (no – simple English) · 'Alone or in pairs?' (pairs). Next slide gives the Italian for slower students. 5d (30 seconds, whole class): 'Do you agree with Debrett's advice? Are the reasons good ones?' Picture: 4a2-smelly-food.jpg is still to come; the deck shows 4a1-queue.jpg until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Vocabulary · in Italian (2 min)
CONSOLIDATION for slower students (2 min). Class says the Italian aloud for each word, then click once per word to show its Italian. 20 seconds on the warning: 'educato' is polite, NOT educated (educated = istruito, who studied a lot). Quick CCQs: 'He takes all the armrest. Is he thinking about other people?' (no) 'So he's…?' (selfish / inconsiderate) · 'You say no to a seat: you…?' (decline it) · 'The person who invites you to dinner is the…?'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Vocabulary game (3 min)
GAME 2 (3 min). Variation of 'Describe it!' – A must use a SITUATION, not a definition: 'Someone eats all the pizza and doesn't share. He's…' → selfish. Demo first with a strong student. Click to show each word (round 1 = 4 words for A; round 2 = B faces the screen, 4 more words). 20 seconds per word. ICQ: 'Can you say the word?' (no) · 'Definition or situation?'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Speaking · class story (TPRS) (4 min)
TPRS CLASS STORY (4 min) – after 'Manners words in Italian' and 'Describe it!', so the meaning of the manners words is clear; now students HEAR them many times, together with should, before the Sicily vs Britain discussion and the radio phone-in about rude relatives. Click once per line. For each line: 1) say it, 2) ask the questions in grey round the class (yes/no → either/or → who/what) – push for 'It's rude to…' in the answers (not ✗ 'Is rude'), 3) let the CLASS change details: 'Does Marco bring his dog? No? What does he bring?' – accept their idea and use it in later lines. Students answer with one word or a short phrase – that's fine. Finish: 'What happens next?' – one or two ideas, then move on. Line 6 is a light cultural joke (in Sicily you never say no to more pasta!) – it leads straight into 'Manners: Sicily vs Britain'. Recycles: host, polite, rude, give permission, selfish, inconsiderate, decline + should / shouldn't from 4A-1.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Speaking · Sicily vs Britain (4 min)
SPEAKING (4 min). Book 5e (adapted, made concrete). Questions appear ONE PER CLICK: about 40 seconds per question, then click. Q5 is personal: anyone can say 'I'd rather not say'. Monitor and note 4–5 errors (e.g. ✗ 'Is rude to…' → It's rude to…; ✗ 'You must to…') for delayed correction after the listening. Feedback on Q1: is Sicily more 'kissy' than Britain? Keep it light – no stereotypes. Other book questions if there's time: 'What do you think passengers ought not to do on planes?' · 'How else is it appropriate to help elderly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Listening · rude relatives (gist) (3 min)
GIST (3 min). Set the scene with picture C: a radio phone-in about modern manners; today's subject: rude relatives (parenti maleducati). Check mother-in-law (suocera), nephew (nipote, son of your brother / sister), puppy (cucciolo). Play 4.9 ONCE, pausing after each caller for notes; play again if necessary. Pairs compare, then click once per caller (chips: picture letter · who · the problem). Answers (TG / audio script): 1 Belinda's mother-in-law criticizes her cooking whenever she comes for a meal · 2 Damien's brother is coming next month with his new dog, a puppy – Damien and his girlfriend aren't very into dogs, and they've just redecorated the house and done a lot of work on the garden · 3 Miranda's nephew (her sister's son) is 8; his parents don't give him any rules: he shouts, jumps on the furniture, makes a mess in the kitchen, even writes on the walls; her sister is very sensitive about criticism, so Miranda doesn't say anything. ICQ: 'Are you writing every word?' (no – just the problem). Pictures A–C are still to come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Listening · the expert's advice (detail) (4 min)
DETAIL (4 min). 6b (1 min): pairs give ONE piece of advice for each caller, using should / ought to / must / mustn't / don't have to (no 'it depends'!). Take one idea per caller. 6c: play 4.10 (Sarah, the etiquette expert), pausing after each piece of advice; students guess first, then complete. Callers: 1–2 Belinda · 3–4 Damien · 5–7 Miranda. Click once per sentence. Answers (TG): 1 behaves well · 2 argue with her · 3 say how you feel · 4 give a reason · 5 speak to his parents · 6 calm down · 7 write on the walls. Full sentences (4.10): I think you ought to be the one who behaves well. · You shouldn't argue with her, because she won't change her opinion. · I think you should politely but directly say how you feel. · To be honest, you don't really have to give a reason. · You must speak to his parents before their next visit. · Explain that he has to calm down a bit when he's visiting. · 'You mustn't write on the walls.' Ask: 'Was your advice similar?'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Listening · the whole programme (3 min)
WHOLE PROGRAMME (3 min). 6d: students read the questions first, then listen to 4.11 once. Pairs compare; click once per question. Answers (audio script 4.11): 1 stay calm, thank her as politely as possible for her advice, and change the subject · 2 her husband or another relative – in front of her mother-in-law (then she'll either stop criticizing or start paying compliments) · 3 yes: it's bad manners for a guest to bring an uninvited pet, even to a relative's home · 4 say how great it is that their son has so much energy and how much she loves him – then explain that he has to calm down · 5 welcome him, but give him some house rules (no jumping on the furniture; draw on paper – you mustn't write on the walls). Then 6d: 'Do you agree with Sarah's advice? Anything else you would suggest?' EXTRA SUPPORT: script on SB p.127 (also homework). Picture: 4a2-puppy.jpg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Grammar · advice in the programme (3 min)
MEANING CHECK (3 min) – the 4A-1 grammar in a new context. Pairs match sentences 1–7 to the five meanings (the same meanings as 4A-1's comments task: good idea / bad idea / necessary / not allowed / not necessary). Click once per sentence. Answers: 1 good idea (ought to = should) · 2 bad idea · 3 good idea · 4 not necessary · 5 necessary · 6 necessary · 7 not allowed. CCQs: 'You don't have to give a reason – can Damien give one?' (yes, if he wants) · 'You mustn't write on the walls – can he?' (no!). Drill ought to /ˈɔːt tə/ – remember the silent gh! Then 2 minutes of delayed error correction from the speaking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Speaking game · giving advice (3 min)
GAME 3 (3 min). Two teams; the class is now the radio expert. Read each problem; teams have 10 seconds to give advice with should / shouldn't / ought to / must / mustn't / don't have to. Click to show a model answer – accept ANY correct, sensible advice. 1 point if the modal verb is right (✗ 'You must to…' = no point), +1 for the funniest polite advice. The problems are our own (model answers are examples, not from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Speaking · good or bad manners? 1/2 (4 min)
SPEAKING (4 min). 7a + 7b. Go through the 'Saying what you think is right' box first (useful phrases card): I don't think people should… · I think it's rude / selfish / inappropriate / bad manners to… · I don't think it's important to… / you have to… · I hate it / I don't mind it / It really annoys me when… Statements appear ONE PER CLICK; students mark GM / BM / NI alone (10 seconds), then groups of 3–4 compare and say why. EXTRA SUPPORT (TG): do the first statement with the whole class. Mild controversy for the 'A man should…' section: let the groups disagree; feedback = 'Which one caused the biggest disagreement?' Book items not on the slide: none from these two sections (all 6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Speaking · good or bad manners? 2/2 (4 min)
SPEAKING (4 min). Same procedure, one statement per click. The last one is NOT in the book (our extra, Sicily vs Britain): 20 minutes late is normal for many Sicilians, not for many British people – ask 'Would a British person agree with you?' Book items not on the slide (use them if a group finishes early): take your shoes off when you arrive · complain that the food isn't very good (restaurant) · be very affectionate with your partner · make a negative comment about somebody's photo · post a private message or conversation. Feedback: each group says the thing they ALL think is bad manners. Then delayed error correction: 3–4 errors from the speaking on the board; students correct them. Picture: 4a2-late-guest.jpg / 4a2-dinner-guest.jpg are still to come; the deck shows spare/1a1-supper.jpg until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Exit · what can you remember? (2 min)
RETRIEVAL EXIT (2 min). Books closed. Pairs: 3 manners words (rude, polite, selfish, inconsiderate, host, decline…), 2 pieces of advice with should / must / mustn't / don't have to, 1 personal opinion with I think it's rude to… A few students share. Set homework (on the slide and in the app): Workbook 4A 2c (grammar: past and present obligation) and 2d (personal writing) + read the script of 4.11 on SB p.127 and underline the modal verbs + the 4A-2 homework sheet (easier version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Extra · writing: Dear Debrett's… (6 min)
EXTRA (6 min, if there's time). From the TG EXTRA IDEA for 5e. First show the 4 model questions and replies (one per click – our own models, not from the book). Then pairs write their own modern, local dilemma (WhatsApp groups, voice messages, family lunches, school…), pass it on, and write a 2–3 sentence Debrett's-style reply with should / mustn't / don't have to. Read aloud; the class votes for the best advice. Correct the modal verbs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audio" Target="../media/media-13-5.mp3"/><Relationship Id="rId6" Type="http://schemas.microsoft.com/office/2007/relationships/media" Target="../media/media-13-5.mp3"/><Relationship Id="rId7" Type="http://schemas.openxmlformats.org/officeDocument/2006/relationships/image" Target="../media/image-13-7.png"/><Relationship Id="rId8" Type="http://schemas.openxmlformats.org/officeDocument/2006/relationships/audio" Target="../media/media-13-8.mp3"/><Relationship Id="rId9" Type="http://schemas.microsoft.com/office/2007/relationships/media" Target="../media/media-13-8.mp3"/><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audio" Target="../media/media-14-5.mp3"/><Relationship Id="rId6" Type="http://schemas.microsoft.com/office/2007/relationships/media" Target="../media/media-14-5.mp3"/><Relationship Id="rId7" Type="http://schemas.openxmlformats.org/officeDocument/2006/relationships/image" Target="../media/image-14-7.png"/><Relationship Id="rId8" Type="http://schemas.openxmlformats.org/officeDocument/2006/relationships/audio" Target="../media/media-14-8.mp3"/><Relationship Id="rId9" Type="http://schemas.microsoft.com/office/2007/relationships/media" Target="../media/media-14-8.mp3"/><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audio" Target="../media/media-15-5.mp3"/><Relationship Id="rId6" Type="http://schemas.microsoft.com/office/2007/relationships/media" Target="../media/media-15-5.mp3"/><Relationship Id="rId7" Type="http://schemas.openxmlformats.org/officeDocument/2006/relationships/image" Target="../media/image-15-7.png"/><Relationship Id="rId8" Type="http://schemas.openxmlformats.org/officeDocument/2006/relationships/audio" Target="../media/media-15-8.mp3"/><Relationship Id="rId9" Type="http://schemas.microsoft.com/office/2007/relationships/media" Target="../media/media-15-8.mp3"/><Relationship Id="rId10" Type="http://schemas.openxmlformats.org/officeDocument/2006/relationships/image" Target="../media/image-15-10.png"/><Relationship Id="rId11" Type="http://schemas.openxmlformats.org/officeDocument/2006/relationships/slideLayout" Target="../slideLayouts/slideLayout1.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audio" Target="../media/media-16-5.mp3"/><Relationship Id="rId6" Type="http://schemas.microsoft.com/office/2007/relationships/media" Target="../media/media-16-5.mp3"/><Relationship Id="rId7" Type="http://schemas.openxmlformats.org/officeDocument/2006/relationships/image" Target="../media/image-16-7.png"/><Relationship Id="rId8" Type="http://schemas.openxmlformats.org/officeDocument/2006/relationships/audio" Target="../media/media-16-8.mp3"/><Relationship Id="rId9" Type="http://schemas.microsoft.com/office/2007/relationships/media" Target="../media/media-16-8.mp3"/><Relationship Id="rId10" Type="http://schemas.openxmlformats.org/officeDocument/2006/relationships/image" Target="../media/image-16-10.png"/><Relationship Id="rId11" Type="http://schemas.openxmlformats.org/officeDocument/2006/relationships/slideLayout" Target="../slideLayouts/slideLayout1.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pp.38–39</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4A-2</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2800" dirty="0">
                <a:solidFill>
                  <a:srgbClr val="1B2559"/>
                </a:solidFill>
                <a:latin typeface="Arial Rounded MT Bold" pitchFamily="34" charset="0"/>
                <a:ea typeface="Arial Rounded MT Bold" pitchFamily="34" charset="-122"/>
                <a:cs typeface="Arial Rounded MT Bold" pitchFamily="34" charset="-120"/>
              </a:rPr>
              <a:t>Bad manners?</a:t>
            </a:r>
            <a:endParaRPr lang="en-US" sz="28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Modern manners · rude relatives</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read a guide to modern manners</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listen to a radio show about rude relatives</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give advice: should, mustn't, don't have to</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listen to a class story and answer questions</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decide: good manners or bad manners?</a:t>
            </a:r>
            <a:endParaRPr lang="en-US" sz="100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Yes! In my family we always wait. My nonna gets angry if you start first!</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4a2_cover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Is it rude to start eating before everyone is served?</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5"/>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4a1_cover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4A part 1: phone language</a:t>
            </a:r>
            <a:endParaRPr lang="en-US" sz="1100" dirty="0"/>
          </a:p>
          <a:p>
            <a:pPr marL="152400" indent="-152400">
              <a:spcBef>
                <a:spcPts val="5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have to, must, should</a:t>
            </a:r>
            <a:endParaRPr lang="en-US" sz="1100" dirty="0"/>
          </a:p>
          <a:p>
            <a:pPr marL="152400" indent="-152400">
              <a:spcBef>
                <a:spcPts val="5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silent letters: calm, hour</a:t>
            </a:r>
            <a:endParaRPr lang="en-US" sz="11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must / have to  ·  mustn't</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You have to switch off your phone on a plane.</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You must be on time tomorrow – there's a test.</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You mustn't text while you're driving.</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must / have to = necessary · mustn't = NOT allowed</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150" dirty="0">
                <a:solidFill>
                  <a:srgbClr val="FFFFFF"/>
                </a:solidFill>
                <a:latin typeface="Arial Rounded MT Bold" pitchFamily="34" charset="0"/>
                <a:ea typeface="Arial Rounded MT Bold" pitchFamily="34" charset="-122"/>
                <a:cs typeface="Arial Rounded MT Bold" pitchFamily="34" charset="-120"/>
              </a:rPr>
              <a:t>should / ought to  ·  don't have to</a:t>
            </a:r>
            <a:endParaRPr lang="en-US" sz="115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00" dirty="0">
                <a:solidFill>
                  <a:srgbClr val="1B2559"/>
                </a:solidFill>
                <a:latin typeface="Segoe UI Semibold" pitchFamily="34" charset="0"/>
                <a:ea typeface="Segoe UI Semibold" pitchFamily="34" charset="-122"/>
                <a:cs typeface="Segoe UI Semibold" pitchFamily="34" charset="-120"/>
              </a:rPr>
              <a:t>You should take warm clothes to Dublin.</a:t>
            </a:r>
            <a:endParaRPr lang="en-US" sz="1100" dirty="0"/>
          </a:p>
          <a:p>
            <a:pPr indent="0" marL="0">
              <a:spcAft>
                <a:spcPts val="400"/>
              </a:spcAft>
              <a:buNone/>
            </a:pPr>
            <a:r>
              <a:rPr lang="en-US" sz="1100" dirty="0">
                <a:solidFill>
                  <a:srgbClr val="1B2559"/>
                </a:solidFill>
                <a:latin typeface="Segoe UI Semibold" pitchFamily="34" charset="0"/>
                <a:ea typeface="Segoe UI Semibold" pitchFamily="34" charset="-122"/>
                <a:cs typeface="Segoe UI Semibold" pitchFamily="34" charset="-120"/>
              </a:rPr>
              <a:t>You shouldn't drink so much coffee.</a:t>
            </a:r>
            <a:endParaRPr lang="en-US" sz="1100" dirty="0"/>
          </a:p>
          <a:p>
            <a:pPr indent="0" marL="0">
              <a:spcAft>
                <a:spcPts val="400"/>
              </a:spcAft>
              <a:buNone/>
            </a:pPr>
            <a:r>
              <a:rPr lang="en-US" sz="1100" dirty="0">
                <a:solidFill>
                  <a:srgbClr val="1B2559"/>
                </a:solidFill>
                <a:latin typeface="Segoe UI Semibold" pitchFamily="34" charset="0"/>
                <a:ea typeface="Segoe UI Semibold" pitchFamily="34" charset="-122"/>
                <a:cs typeface="Segoe UI Semibold" pitchFamily="34" charset="-120"/>
              </a:rPr>
              <a:t>You don't have to pay – the museum is free.</a:t>
            </a:r>
            <a:endParaRPr lang="en-US" sz="1100" dirty="0"/>
          </a:p>
          <a:p>
            <a:pPr indent="0" marL="0">
              <a:spcAft>
                <a:spcPts val="400"/>
              </a:spcAft>
              <a:buNone/>
            </a:pPr>
            <a:r>
              <a:rPr lang="en-US" sz="1100" dirty="0">
                <a:solidFill>
                  <a:srgbClr val="1B2559"/>
                </a:solidFill>
                <a:latin typeface="Segoe UI Semibold" pitchFamily="34" charset="0"/>
                <a:ea typeface="Segoe UI Semibold" pitchFamily="34" charset="-122"/>
                <a:cs typeface="Segoe UI Semibold" pitchFamily="34" charset="-120"/>
              </a:rPr>
              <a:t>→ should / ought to = a good idea · don't have to = not necessary</a:t>
            </a:r>
            <a:endParaRPr lang="en-US" sz="110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864108"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hang up</a:t>
            </a:r>
            <a:endParaRPr lang="en-US" sz="1050" dirty="0"/>
          </a:p>
        </p:txBody>
      </p:sp>
      <p:sp>
        <p:nvSpPr>
          <p:cNvPr id="28" name="w_42"/>
          <p:cNvSpPr/>
          <p:nvPr/>
        </p:nvSpPr>
        <p:spPr>
          <a:xfrm>
            <a:off x="4183380" y="4178808"/>
            <a:ext cx="1019556"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call back</a:t>
            </a:r>
            <a:endParaRPr lang="en-US" sz="1050" dirty="0"/>
          </a:p>
        </p:txBody>
      </p:sp>
      <p:sp>
        <p:nvSpPr>
          <p:cNvPr id="29" name="w_43"/>
          <p:cNvSpPr/>
          <p:nvPr/>
        </p:nvSpPr>
        <p:spPr>
          <a:xfrm>
            <a:off x="5276088" y="4178808"/>
            <a:ext cx="1019556"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voicemail</a:t>
            </a:r>
            <a:endParaRPr lang="en-US" sz="1050" dirty="0"/>
          </a:p>
        </p:txBody>
      </p:sp>
      <p:sp>
        <p:nvSpPr>
          <p:cNvPr id="30" name="w_44"/>
          <p:cNvSpPr/>
          <p:nvPr/>
        </p:nvSpPr>
        <p:spPr>
          <a:xfrm>
            <a:off x="6368796" y="4178808"/>
            <a:ext cx="1175004"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put on hold</a:t>
            </a:r>
            <a:endParaRPr lang="en-US" sz="1050" dirty="0"/>
          </a:p>
        </p:txBody>
      </p:sp>
      <p:sp>
        <p:nvSpPr>
          <p:cNvPr id="31" name="w_45"/>
          <p:cNvSpPr/>
          <p:nvPr/>
        </p:nvSpPr>
        <p:spPr>
          <a:xfrm>
            <a:off x="7616952" y="4178808"/>
            <a:ext cx="1097280"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be cut off</a:t>
            </a:r>
            <a:endParaRPr lang="en-US" sz="1050" dirty="0"/>
          </a:p>
        </p:txBody>
      </p:sp>
      <p:sp>
        <p:nvSpPr>
          <p:cNvPr id="32" name="w_46"/>
          <p:cNvSpPr/>
          <p:nvPr/>
        </p:nvSpPr>
        <p:spPr>
          <a:xfrm>
            <a:off x="3246120" y="4544568"/>
            <a:ext cx="786384"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go off</a:t>
            </a:r>
            <a:endParaRPr lang="en-US" sz="1050" dirty="0"/>
          </a:p>
        </p:txBody>
      </p:sp>
      <p:sp>
        <p:nvSpPr>
          <p:cNvPr id="33" name="w_47"/>
          <p:cNvSpPr/>
          <p:nvPr/>
        </p:nvSpPr>
        <p:spPr>
          <a:xfrm>
            <a:off x="4105656" y="4544568"/>
            <a:ext cx="941832"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ringtone</a:t>
            </a:r>
            <a:endParaRPr lang="en-US" sz="1050" dirty="0"/>
          </a:p>
        </p:txBody>
      </p:sp>
      <p:sp>
        <p:nvSpPr>
          <p:cNvPr id="34" name="w_48"/>
          <p:cNvSpPr/>
          <p:nvPr/>
        </p:nvSpPr>
        <p:spPr>
          <a:xfrm>
            <a:off x="5120640" y="4544568"/>
            <a:ext cx="1796796"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calm · hour · wrong</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0"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51"/>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Odd one out</a:t>
            </a:r>
            <a:endParaRPr lang="en-US" sz="2500" dirty="0"/>
          </a:p>
        </p:txBody>
      </p:sp>
      <p:pic>
        <p:nvPicPr>
          <p:cNvPr id="6" name="brP_52"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53"/>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the odd one out. Say WHY!</a:t>
            </a:r>
            <a:endParaRPr lang="en-US" sz="1250" dirty="0"/>
          </a:p>
        </p:txBody>
      </p:sp>
      <p:sp>
        <p:nvSpPr>
          <p:cNvPr id="8" name="insIT_5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Trova l'intruso. Spiega PERCHÉ!</a:t>
            </a:r>
            <a:endParaRPr lang="en-US" sz="950" dirty="0"/>
          </a:p>
        </p:txBody>
      </p:sp>
      <p:sp>
        <p:nvSpPr>
          <p:cNvPr id="9" name="cmd_5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6"/>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teams</a:t>
            </a:r>
            <a:endParaRPr lang="en-US" sz="950" dirty="0"/>
          </a:p>
        </p:txBody>
      </p:sp>
      <p:sp>
        <p:nvSpPr>
          <p:cNvPr id="11" name="tag_57"/>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9"/>
          <p:cNvSpPr/>
          <p:nvPr/>
        </p:nvSpPr>
        <p:spPr>
          <a:xfrm>
            <a:off x="274320" y="4873752"/>
            <a:ext cx="6858000" cy="219456"/>
          </a:xfrm>
          <a:prstGeom prst="rect">
            <a:avLst/>
          </a:prstGeom>
          <a:noFill/>
          <a:ln/>
        </p:spPr>
        <p:txBody>
          <a:bodyPr wrap="square" lIns="0" tIns="0" rIns="0" bIns="0" rtlCol="0" anchor="ctr"/>
          <a:lstStyle/>
          <a:p>
            <a:pPr indent="0" marL="0">
              <a:buNone/>
            </a:pPr>
            <a:r>
              <a:rPr lang="en-US" sz="750" dirty="0">
                <a:solidFill>
                  <a:srgbClr val="5B6785"/>
                </a:solidFill>
                <a:latin typeface="Segoe UI Semibold" pitchFamily="34" charset="0"/>
                <a:ea typeface="Segoe UI Semibold" pitchFamily="34" charset="-122"/>
                <a:cs typeface="Segoe UI Semibold" pitchFamily="34" charset="-120"/>
              </a:rPr>
              <a:t>4A-2 · Warmer · last lesson: phones, modals, silent letters   ·   📖 Recycles 4A part 1 · SB pp.36–37 · audio 4.8 · Grammar Bank 4A</a:t>
            </a:r>
            <a:endParaRPr lang="en-US" sz="750" dirty="0"/>
          </a:p>
        </p:txBody>
      </p:sp>
      <p:sp>
        <p:nvSpPr>
          <p:cNvPr id="14" name="cd_60"/>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2"/>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63"/>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200" dirty="0">
                <a:solidFill>
                  <a:srgbClr val="1B2559"/>
                </a:solidFill>
                <a:latin typeface="Segoe UI Semibold" pitchFamily="34" charset="0"/>
                <a:ea typeface="Segoe UI Semibold" pitchFamily="34" charset="-122"/>
                <a:cs typeface="Segoe UI Semibold" pitchFamily="34" charset="-120"/>
              </a:rPr>
              <a:t>Read the words or sentences.</a:t>
            </a:r>
            <a:endParaRPr lang="en-US" sz="1200" dirty="0"/>
          </a:p>
          <a:p>
            <a:pPr marL="190500" indent="-190500">
              <a:spcAft>
                <a:spcPts val="200"/>
              </a:spcAft>
              <a:buSzPct val="100000"/>
              <a:buChar char=" "/>
            </a:pPr>
            <a:r>
              <a:rPr lang="en-US" sz="1050" i="1" dirty="0">
                <a:solidFill>
                  <a:srgbClr val="5B6785"/>
                </a:solidFill>
                <a:latin typeface="Segoe UI Semibold" pitchFamily="34" charset="0"/>
                <a:ea typeface="Segoe UI Semibold" pitchFamily="34" charset="-122"/>
                <a:cs typeface="Segoe UI Semibold" pitchFamily="34" charset="-120"/>
              </a:rPr>
              <a:t>Leggi le parole o le frasi.</a:t>
            </a:r>
            <a:endParaRPr lang="en-US" sz="1200" dirty="0"/>
          </a:p>
          <a:p>
            <a:pPr marL="190500" indent="-190500">
              <a:spcBef>
                <a:spcPts val="500"/>
              </a:spcBef>
              <a:spcAft>
                <a:spcPts val="200"/>
              </a:spcAft>
              <a:buSzPct val="100000"/>
              <a:buChar char="2"/>
            </a:pPr>
            <a:r>
              <a:rPr lang="en-US" sz="1200" dirty="0">
                <a:solidFill>
                  <a:srgbClr val="1B2559"/>
                </a:solidFill>
                <a:latin typeface="Segoe UI Semibold" pitchFamily="34" charset="0"/>
                <a:ea typeface="Segoe UI Semibold" pitchFamily="34" charset="-122"/>
                <a:cs typeface="Segoe UI Semibold" pitchFamily="34" charset="-120"/>
              </a:rPr>
              <a:t>Find the odd one out.</a:t>
            </a:r>
            <a:endParaRPr lang="en-US" sz="1200" dirty="0"/>
          </a:p>
          <a:p>
            <a:pPr marL="190500" indent="-190500">
              <a:spcAft>
                <a:spcPts val="200"/>
              </a:spcAft>
              <a:buSzPct val="100000"/>
              <a:buChar char=" "/>
            </a:pPr>
            <a:r>
              <a:rPr lang="en-US" sz="1050" i="1" dirty="0">
                <a:solidFill>
                  <a:srgbClr val="5B6785"/>
                </a:solidFill>
                <a:latin typeface="Segoe UI Semibold" pitchFamily="34" charset="0"/>
                <a:ea typeface="Segoe UI Semibold" pitchFamily="34" charset="-122"/>
                <a:cs typeface="Segoe UI Semibold" pitchFamily="34" charset="-120"/>
              </a:rPr>
              <a:t>Trova l'intruso.</a:t>
            </a:r>
            <a:endParaRPr lang="en-US" sz="1200" dirty="0"/>
          </a:p>
          <a:p>
            <a:pPr marL="190500" indent="-190500">
              <a:spcBef>
                <a:spcPts val="500"/>
              </a:spcBef>
              <a:spcAft>
                <a:spcPts val="200"/>
              </a:spcAft>
              <a:buSzPct val="100000"/>
              <a:buChar char="3"/>
            </a:pPr>
            <a:r>
              <a:rPr lang="en-US" sz="1200" dirty="0">
                <a:solidFill>
                  <a:srgbClr val="1B2559"/>
                </a:solidFill>
                <a:latin typeface="Segoe UI Semibold" pitchFamily="34" charset="0"/>
                <a:ea typeface="Segoe UI Semibold" pitchFamily="34" charset="-122"/>
                <a:cs typeface="Segoe UI Semibold" pitchFamily="34" charset="-120"/>
              </a:rPr>
              <a:t>Say WHY = 1 point.</a:t>
            </a:r>
            <a:endParaRPr lang="en-US" sz="1200" dirty="0"/>
          </a:p>
          <a:p>
            <a:pPr marL="190500" indent="-190500">
              <a:spcAft>
                <a:spcPts val="200"/>
              </a:spcAft>
              <a:buSzPct val="100000"/>
              <a:buChar char=" "/>
            </a:pPr>
            <a:r>
              <a:rPr lang="en-US" sz="1050" i="1" dirty="0">
                <a:solidFill>
                  <a:srgbClr val="5B6785"/>
                </a:solidFill>
                <a:latin typeface="Segoe UI Semibold" pitchFamily="34" charset="0"/>
                <a:ea typeface="Segoe UI Semibold" pitchFamily="34" charset="-122"/>
                <a:cs typeface="Segoe UI Semibold" pitchFamily="34" charset="-120"/>
              </a:rPr>
              <a:t>Spiega perché = 1 punto.</a:t>
            </a:r>
            <a:endParaRPr lang="en-US" sz="1200" dirty="0"/>
          </a:p>
        </p:txBody>
      </p:sp>
      <p:sp>
        <p:nvSpPr>
          <p:cNvPr id="18" name="pf_64"/>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65" descr="/home/claude/lls-course/v2/cache/4a1_on_hold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66"/>
          <p:cNvSpPr/>
          <p:nvPr/>
        </p:nvSpPr>
        <p:spPr>
          <a:xfrm>
            <a:off x="3246120" y="1508760"/>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7"/>
          <p:cNvSpPr/>
          <p:nvPr/>
        </p:nvSpPr>
        <p:spPr>
          <a:xfrm>
            <a:off x="3657600" y="1417320"/>
            <a:ext cx="2514600" cy="512064"/>
          </a:xfrm>
          <a:prstGeom prst="roundRect">
            <a:avLst>
              <a:gd name="adj" fmla="val 17857"/>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hang up · be cut off · call back</a:t>
            </a:r>
            <a:endParaRPr lang="en-US" sz="1100" dirty="0"/>
          </a:p>
        </p:txBody>
      </p:sp>
      <p:sp>
        <p:nvSpPr>
          <p:cNvPr id="22" name="R1_chip68"/>
          <p:cNvSpPr/>
          <p:nvPr/>
        </p:nvSpPr>
        <p:spPr>
          <a:xfrm>
            <a:off x="6263640" y="1417320"/>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call back – you START a call; the others end it</a:t>
            </a:r>
            <a:endParaRPr lang="en-US" sz="1100" dirty="0"/>
          </a:p>
        </p:txBody>
      </p:sp>
      <p:sp>
        <p:nvSpPr>
          <p:cNvPr id="23" name="bd_69"/>
          <p:cNvSpPr/>
          <p:nvPr/>
        </p:nvSpPr>
        <p:spPr>
          <a:xfrm>
            <a:off x="3246120" y="20848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70"/>
          <p:cNvSpPr/>
          <p:nvPr/>
        </p:nvSpPr>
        <p:spPr>
          <a:xfrm>
            <a:off x="3657600" y="1993392"/>
            <a:ext cx="2514600" cy="512064"/>
          </a:xfrm>
          <a:prstGeom prst="roundRect">
            <a:avLst>
              <a:gd name="adj" fmla="val 17857"/>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calm · half · talk · wrong</a:t>
            </a:r>
            <a:endParaRPr lang="en-US" sz="1100" dirty="0"/>
          </a:p>
        </p:txBody>
      </p:sp>
      <p:sp>
        <p:nvSpPr>
          <p:cNvPr id="25" name="R2_chip71"/>
          <p:cNvSpPr/>
          <p:nvPr/>
        </p:nvSpPr>
        <p:spPr>
          <a:xfrm>
            <a:off x="6263640" y="1993392"/>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wrong – silent w (the others: silent l)</a:t>
            </a:r>
            <a:endParaRPr lang="en-US" sz="1100" dirty="0"/>
          </a:p>
        </p:txBody>
      </p:sp>
      <p:sp>
        <p:nvSpPr>
          <p:cNvPr id="26" name="bd_72"/>
          <p:cNvSpPr/>
          <p:nvPr/>
        </p:nvSpPr>
        <p:spPr>
          <a:xfrm>
            <a:off x="3246120"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3"/>
          <p:cNvSpPr/>
          <p:nvPr/>
        </p:nvSpPr>
        <p:spPr>
          <a:xfrm>
            <a:off x="3657600" y="2569464"/>
            <a:ext cx="2514600" cy="512064"/>
          </a:xfrm>
          <a:prstGeom prst="roundRect">
            <a:avLst>
              <a:gd name="adj" fmla="val 17857"/>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hour · whole · dishonest · rhythm</a:t>
            </a:r>
            <a:endParaRPr lang="en-US" sz="1100" dirty="0"/>
          </a:p>
        </p:txBody>
      </p:sp>
      <p:sp>
        <p:nvSpPr>
          <p:cNvPr id="28" name="R3_chip74"/>
          <p:cNvSpPr/>
          <p:nvPr/>
        </p:nvSpPr>
        <p:spPr>
          <a:xfrm>
            <a:off x="6263640" y="2569464"/>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whole – silent w (the others: silent h)</a:t>
            </a:r>
            <a:endParaRPr lang="en-US" sz="1100" dirty="0"/>
          </a:p>
        </p:txBody>
      </p:sp>
      <p:sp>
        <p:nvSpPr>
          <p:cNvPr id="29" name="bd_75"/>
          <p:cNvSpPr/>
          <p:nvPr/>
        </p:nvSpPr>
        <p:spPr>
          <a:xfrm>
            <a:off x="3246120" y="32369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76"/>
          <p:cNvSpPr/>
          <p:nvPr/>
        </p:nvSpPr>
        <p:spPr>
          <a:xfrm>
            <a:off x="3657600" y="3145536"/>
            <a:ext cx="2514600" cy="512064"/>
          </a:xfrm>
          <a:prstGeom prst="roundRect">
            <a:avLst>
              <a:gd name="adj" fmla="val 17857"/>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mustn't park · can't park · don't have to park</a:t>
            </a:r>
            <a:endParaRPr lang="en-US" sz="1100" dirty="0"/>
          </a:p>
        </p:txBody>
      </p:sp>
      <p:sp>
        <p:nvSpPr>
          <p:cNvPr id="31" name="R4_chip77"/>
          <p:cNvSpPr/>
          <p:nvPr/>
        </p:nvSpPr>
        <p:spPr>
          <a:xfrm>
            <a:off x="6263640" y="3145536"/>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don't have to = not necessary (the others = not allowed)</a:t>
            </a:r>
            <a:endParaRPr lang="en-US" sz="1050" dirty="0"/>
          </a:p>
        </p:txBody>
      </p:sp>
      <p:sp>
        <p:nvSpPr>
          <p:cNvPr id="32" name="bd_78"/>
          <p:cNvSpPr/>
          <p:nvPr/>
        </p:nvSpPr>
        <p:spPr>
          <a:xfrm>
            <a:off x="3246120" y="3813048"/>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79"/>
          <p:cNvSpPr/>
          <p:nvPr/>
        </p:nvSpPr>
        <p:spPr>
          <a:xfrm>
            <a:off x="3657600" y="3721608"/>
            <a:ext cx="2514600" cy="512064"/>
          </a:xfrm>
          <a:prstGeom prst="roundRect">
            <a:avLst>
              <a:gd name="adj" fmla="val 17857"/>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should · ought to · must</a:t>
            </a:r>
            <a:endParaRPr lang="en-US" sz="1100" dirty="0"/>
          </a:p>
        </p:txBody>
      </p:sp>
      <p:sp>
        <p:nvSpPr>
          <p:cNvPr id="34" name="R5_chip80"/>
          <p:cNvSpPr/>
          <p:nvPr/>
        </p:nvSpPr>
        <p:spPr>
          <a:xfrm>
            <a:off x="6263640" y="3721608"/>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must = necessary (the others = a good idea)</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1"/>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2"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83"/>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 do YOU think?</a:t>
            </a:r>
            <a:endParaRPr lang="en-US" sz="2400" dirty="0"/>
          </a:p>
        </p:txBody>
      </p:sp>
      <p:pic>
        <p:nvPicPr>
          <p:cNvPr id="6" name="brP_84"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85"/>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with your opinion. Give a reason!</a:t>
            </a:r>
            <a:endParaRPr lang="en-US" sz="1250" dirty="0"/>
          </a:p>
        </p:txBody>
      </p:sp>
      <p:sp>
        <p:nvSpPr>
          <p:cNvPr id="8" name="insIT_8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Rispondi con la tua opinione. Spiega perché!</a:t>
            </a:r>
            <a:endParaRPr lang="en-US" sz="950" dirty="0"/>
          </a:p>
        </p:txBody>
      </p:sp>
      <p:sp>
        <p:nvSpPr>
          <p:cNvPr id="9" name="cmd_87"/>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88"/>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89"/>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9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9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Reading · lead-in: modern dilemmas   ·   📖 SB p.38 · 5a</a:t>
            </a:r>
            <a:endParaRPr lang="en-US" sz="800" dirty="0"/>
          </a:p>
        </p:txBody>
      </p:sp>
      <p:sp>
        <p:nvSpPr>
          <p:cNvPr id="14" name="pf_92"/>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93" descr="/home/claude/lls-course/v2/cache/4a1_public_transport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94"/>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95"/>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96"/>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97"/>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I think you should / shouldn't…</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It's rude to…</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It depends…</a:t>
            </a:r>
            <a:endParaRPr lang="en-US" sz="1000" dirty="0"/>
          </a:p>
        </p:txBody>
      </p:sp>
      <p:sp>
        <p:nvSpPr>
          <p:cNvPr id="20" name="R1_qb98"/>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99"/>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When shouldn't you greet someone with a kiss?</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Maybe at a job interview?</a:t>
            </a:r>
            <a:endParaRPr lang="en-US" sz="1250" dirty="0"/>
          </a:p>
        </p:txBody>
      </p:sp>
      <p:sp>
        <p:nvSpPr>
          <p:cNvPr id="22" name="R2_qb100"/>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101"/>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shouldn't you do on public transport?</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You shouldn't talk loudly on your phone!</a:t>
            </a:r>
            <a:endParaRPr lang="en-US" sz="1250" dirty="0"/>
          </a:p>
        </p:txBody>
      </p:sp>
      <p:sp>
        <p:nvSpPr>
          <p:cNvPr id="24" name="R3_qb102"/>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103"/>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Should you recline your seat on a plane?</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Yes, on a long flight. It's normal!</a:t>
            </a:r>
            <a:endParaRPr lang="en-US" sz="1250" dirty="0"/>
          </a:p>
        </p:txBody>
      </p:sp>
      <p:sp>
        <p:nvSpPr>
          <p:cNvPr id="26" name="R4_qb104"/>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105"/>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When should you give up your seat on the bus?</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When an old person gets on.</a:t>
            </a:r>
            <a:endParaRPr lang="en-US" sz="1250" dirty="0"/>
          </a:p>
        </p:txBody>
      </p:sp>
      <p:sp>
        <p:nvSpPr>
          <p:cNvPr id="28" name="R5_qb106"/>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107"/>
          <p:cNvSpPr/>
          <p:nvPr/>
        </p:nvSpPr>
        <p:spPr>
          <a:xfrm>
            <a:off x="3675888" y="3831336"/>
            <a:ext cx="45079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Should you ever start eating before everyone is served?</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No! My nonna says we have to wait.</a:t>
            </a:r>
            <a:endParaRPr lang="en-US" sz="1050" dirty="0"/>
          </a:p>
        </p:txBody>
      </p:sp>
      <p:pic>
        <p:nvPicPr>
          <p:cNvPr id="30" name="R5_th108" descr="/home/claude/lls-course/v2/cache/4a1_table_manners_jpg_154x119_18.png">    </p:cNvPr>
          <p:cNvPicPr>
            <a:picLocks noChangeAspect="1"/>
          </p:cNvPicPr>
          <p:nvPr/>
        </p:nvPicPr>
        <p:blipFill>
          <a:blip r:embed="rId6"/>
          <a:stretch>
            <a:fillRect/>
          </a:stretch>
        </p:blipFill>
        <p:spPr>
          <a:xfrm>
            <a:off x="8257032" y="3849624"/>
            <a:ext cx="640080" cy="493776"/>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09"/>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10"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111"/>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Debrett's</a:t>
            </a:r>
            <a:endParaRPr lang="en-US" sz="2500" dirty="0"/>
          </a:p>
        </p:txBody>
      </p:sp>
      <p:pic>
        <p:nvPicPr>
          <p:cNvPr id="6" name="brP_112"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113"/>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Guess where the 5 numbers go!</a:t>
            </a:r>
            <a:endParaRPr lang="en-US" sz="1250" dirty="0"/>
          </a:p>
        </p:txBody>
      </p:sp>
      <p:sp>
        <p:nvSpPr>
          <p:cNvPr id="8" name="insIT_11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Indovina dove vanno i 5 numeri!</a:t>
            </a:r>
            <a:endParaRPr lang="en-US" sz="950" dirty="0"/>
          </a:p>
        </p:txBody>
      </p:sp>
      <p:sp>
        <p:nvSpPr>
          <p:cNvPr id="9" name="cmd_115"/>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116"/>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117"/>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118"/>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Prediction</a:t>
            </a:r>
            <a:endParaRPr lang="en-US" sz="850" dirty="0"/>
          </a:p>
        </p:txBody>
      </p:sp>
      <p:pic>
        <p:nvPicPr>
          <p:cNvPr id="13" name="logo_11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2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Reading · prediction   ·   📖 SB p.38 · 5b · Debrett's introduction</a:t>
            </a:r>
            <a:endParaRPr lang="en-US" sz="800" dirty="0"/>
          </a:p>
        </p:txBody>
      </p:sp>
      <p:sp>
        <p:nvSpPr>
          <p:cNvPr id="15" name="cd_121"/>
          <p:cNvSpPr/>
          <p:nvPr/>
        </p:nvSpPr>
        <p:spPr>
          <a:xfrm>
            <a:off x="320040" y="1417320"/>
            <a:ext cx="5029200" cy="1965960"/>
          </a:xfrm>
          <a:prstGeom prst="roundRect">
            <a:avLst>
              <a:gd name="adj" fmla="val 6512"/>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hl_122"/>
          <p:cNvSpPr/>
          <p:nvPr/>
        </p:nvSpPr>
        <p:spPr>
          <a:xfrm>
            <a:off x="502920" y="1508760"/>
            <a:ext cx="4663440" cy="548640"/>
          </a:xfrm>
          <a:prstGeom prst="rect">
            <a:avLst/>
          </a:prstGeom>
          <a:noFill/>
          <a:ln/>
        </p:spPr>
        <p:txBody>
          <a:bodyPr wrap="square" lIns="0" tIns="0" rIns="0" bIns="0" rtlCol="0" anchor="ctr"/>
          <a:lstStyle/>
          <a:p>
            <a:pPr indent="0" marL="0">
              <a:buNone/>
            </a:pPr>
            <a:r>
              <a:rPr lang="en-US" sz="2800" b="1" dirty="0">
                <a:solidFill>
                  <a:srgbClr val="1F6F43"/>
                </a:solidFill>
                <a:latin typeface="Georgia" pitchFamily="34" charset="0"/>
                <a:ea typeface="Georgia" pitchFamily="34" charset="-122"/>
                <a:cs typeface="Georgia" pitchFamily="34" charset="-120"/>
              </a:rPr>
              <a:t>Debrett's Guide</a:t>
            </a:r>
            <a:endParaRPr lang="en-US" sz="2800" dirty="0"/>
          </a:p>
        </p:txBody>
      </p:sp>
      <p:sp>
        <p:nvSpPr>
          <p:cNvPr id="17" name="nx_123"/>
          <p:cNvSpPr/>
          <p:nvPr/>
        </p:nvSpPr>
        <p:spPr>
          <a:xfrm>
            <a:off x="457200" y="2807208"/>
            <a:ext cx="4754880" cy="512064"/>
          </a:xfrm>
          <a:prstGeom prst="roundRect">
            <a:avLst>
              <a:gd name="adj" fmla="val 17857"/>
            </a:avLst>
          </a:prstGeom>
          <a:solidFill>
            <a:srgbClr val="E3F7EA"/>
          </a:solidFill>
          <a:ln>
            <a:solidFill>
              <a:srgbClr val="A8E5BE"/>
            </a:solidFill>
          </a:ln>
        </p:spPr>
        <p:txBody>
          <a:bodyPr wrap="square" lIns="127000" tIns="25400" rIns="127000" bIns="25400" rtlCol="0" anchor="ctr">
            <a:normAutofit/>
          </a:bodyPr>
          <a:lstStyle/>
          <a:p>
            <a:pPr indent="0" marL="0">
              <a:buNone/>
            </a:pPr>
            <a:r>
              <a:rPr lang="en-US" sz="850" dirty="0">
                <a:solidFill>
                  <a:srgbClr val="2EB872"/>
                </a:solidFill>
                <a:latin typeface="Segoe UI Black" pitchFamily="34" charset="0"/>
                <a:ea typeface="Segoe UI Black" pitchFamily="34" charset="-122"/>
                <a:cs typeface="Segoe UI Black" pitchFamily="34" charset="-120"/>
              </a:rPr>
              <a:t>➡ NEXT  </a:t>
            </a:r>
            <a:pPr indent="0" marL="0">
              <a:buNone/>
            </a:pPr>
            <a:r>
              <a:rPr lang="en-US" sz="1000" dirty="0">
                <a:solidFill>
                  <a:srgbClr val="1B2559"/>
                </a:solidFill>
                <a:latin typeface="Segoe UI Semibold" pitchFamily="34" charset="0"/>
                <a:ea typeface="Segoe UI Semibold" pitchFamily="34" charset="-122"/>
                <a:cs typeface="Segoe UI Semibold" pitchFamily="34" charset="-120"/>
              </a:rPr>
              <a:t>The text on the next 2 slides has 5 number gaps (a–e) and 5 advice gaps (Q1–Q5). Guess first, then click to check.</a:t>
            </a:r>
            <a:endParaRPr lang="en-US" sz="850" dirty="0"/>
          </a:p>
        </p:txBody>
      </p:sp>
      <p:sp>
        <p:nvSpPr>
          <p:cNvPr id="18" name="sf_124"/>
          <p:cNvSpPr/>
          <p:nvPr/>
        </p:nvSpPr>
        <p:spPr>
          <a:xfrm>
            <a:off x="521208" y="2039112"/>
            <a:ext cx="4663440" cy="731520"/>
          </a:xfrm>
          <a:prstGeom prst="rect">
            <a:avLst/>
          </a:prstGeom>
          <a:noFill/>
          <a:ln/>
        </p:spPr>
        <p:txBody>
          <a:bodyPr wrap="square" lIns="0" tIns="0" rIns="0" bIns="0" rtlCol="0" anchor="t">
            <a:normAutofit/>
          </a:bodyPr>
          <a:lstStyle/>
          <a:p>
            <a:pPr indent="0" marL="0">
              <a:buNone/>
            </a:pPr>
            <a:r>
              <a:rPr lang="en-US" sz="1150" i="1" dirty="0">
                <a:solidFill>
                  <a:srgbClr val="1B2559"/>
                </a:solidFill>
                <a:latin typeface="Georgia" pitchFamily="34" charset="0"/>
                <a:ea typeface="Georgia" pitchFamily="34" charset="-122"/>
                <a:cs typeface="Georgia" pitchFamily="34" charset="-120"/>
              </a:rPr>
              <a:t>…to Modern Dilemmas. Debrett's is a British publisher of books about modern manners. For nearly ___ years, its Handbook has advised the British public on social etiquette: how to behave in social situations.</a:t>
            </a:r>
            <a:endParaRPr lang="en-US" sz="1150" dirty="0"/>
          </a:p>
        </p:txBody>
      </p:sp>
      <p:sp>
        <p:nvSpPr>
          <p:cNvPr id="19" name="nbl_125"/>
          <p:cNvSpPr/>
          <p:nvPr/>
        </p:nvSpPr>
        <p:spPr>
          <a:xfrm>
            <a:off x="365760" y="3566160"/>
            <a:ext cx="493776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NUMBER BANK · guess where they go!</a:t>
            </a:r>
            <a:endParaRPr lang="en-US" sz="1100" dirty="0"/>
          </a:p>
        </p:txBody>
      </p:sp>
      <p:sp>
        <p:nvSpPr>
          <p:cNvPr id="20" name="bd_126"/>
          <p:cNvSpPr/>
          <p:nvPr/>
        </p:nvSpPr>
        <p:spPr>
          <a:xfrm>
            <a:off x="365760"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100</a:t>
            </a:r>
            <a:endParaRPr lang="en-US" sz="1000" dirty="0"/>
          </a:p>
        </p:txBody>
      </p:sp>
      <p:sp>
        <p:nvSpPr>
          <p:cNvPr id="21" name="bd_127"/>
          <p:cNvSpPr/>
          <p:nvPr/>
        </p:nvSpPr>
        <p:spPr>
          <a:xfrm>
            <a:off x="987552" y="3931920"/>
            <a:ext cx="548640" cy="5486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10,000</a:t>
            </a:r>
            <a:endParaRPr lang="en-US" sz="800" dirty="0"/>
          </a:p>
        </p:txBody>
      </p:sp>
      <p:sp>
        <p:nvSpPr>
          <p:cNvPr id="22" name="bd_128"/>
          <p:cNvSpPr/>
          <p:nvPr/>
        </p:nvSpPr>
        <p:spPr>
          <a:xfrm>
            <a:off x="1609344" y="3931920"/>
            <a:ext cx="548640" cy="5486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1994</a:t>
            </a:r>
            <a:endParaRPr lang="en-US" sz="800" dirty="0"/>
          </a:p>
        </p:txBody>
      </p:sp>
      <p:sp>
        <p:nvSpPr>
          <p:cNvPr id="23" name="bd_129"/>
          <p:cNvSpPr/>
          <p:nvPr/>
        </p:nvSpPr>
        <p:spPr>
          <a:xfrm>
            <a:off x="2231136" y="3931920"/>
            <a:ext cx="548640" cy="548640"/>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2004</a:t>
            </a:r>
            <a:endParaRPr lang="en-US" sz="800" dirty="0"/>
          </a:p>
        </p:txBody>
      </p:sp>
      <p:sp>
        <p:nvSpPr>
          <p:cNvPr id="24" name="bd_130"/>
          <p:cNvSpPr/>
          <p:nvPr/>
        </p:nvSpPr>
        <p:spPr>
          <a:xfrm>
            <a:off x="2852928"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20%</a:t>
            </a:r>
            <a:endParaRPr lang="en-US" sz="1000" dirty="0"/>
          </a:p>
        </p:txBody>
      </p:sp>
      <p:sp>
        <p:nvSpPr>
          <p:cNvPr id="25" name="pf_131"/>
          <p:cNvSpPr/>
          <p:nvPr/>
        </p:nvSpPr>
        <p:spPr>
          <a:xfrm rot="90000">
            <a:off x="5577840" y="1234440"/>
            <a:ext cx="3246120" cy="3383280"/>
          </a:xfrm>
          <a:prstGeom prst="roundRect">
            <a:avLst>
              <a:gd name="adj" fmla="val 47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132" descr="/home/claude/lls-course/v2/cache/4a1_polite_jpg_759x792_31.png">    </p:cNvPr>
          <p:cNvPicPr>
            <a:picLocks noChangeAspect="1"/>
          </p:cNvPicPr>
          <p:nvPr/>
        </p:nvPicPr>
        <p:blipFill>
          <a:blip r:embed="rId5"/>
          <a:stretch>
            <a:fillRect/>
          </a:stretch>
        </p:blipFill>
        <p:spPr>
          <a:xfrm rot="90000">
            <a:off x="5623560" y="1280160"/>
            <a:ext cx="3154680" cy="3291840"/>
          </a:xfrm>
          <a:prstGeom prst="rect">
            <a:avLst/>
          </a:prstGeom>
        </p:spPr>
      </p:pic>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33"/>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34"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135"/>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Modern dilemmas 1/2</a:t>
            </a:r>
            <a:endParaRPr lang="en-US" sz="2400" dirty="0"/>
          </a:p>
        </p:txBody>
      </p:sp>
      <p:pic>
        <p:nvPicPr>
          <p:cNvPr id="6" name="brP_136"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137"/>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gaps. Then click to check.</a:t>
            </a:r>
            <a:endParaRPr lang="en-US" sz="1250" dirty="0"/>
          </a:p>
        </p:txBody>
      </p:sp>
      <p:sp>
        <p:nvSpPr>
          <p:cNvPr id="8" name="insIT_13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Indovina gli spazi. Poi clicca per controllare.</a:t>
            </a:r>
            <a:endParaRPr lang="en-US" sz="950" dirty="0"/>
          </a:p>
        </p:txBody>
      </p:sp>
      <p:sp>
        <p:nvSpPr>
          <p:cNvPr id="9" name="cmd_13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140"/>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141"/>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142"/>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14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4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Reading · Debrett's 1/2   ·   📖 SB p.38 · 5b (text adapted from the article)</a:t>
            </a:r>
            <a:endParaRPr lang="en-US" sz="800" dirty="0"/>
          </a:p>
        </p:txBody>
      </p:sp>
      <p:sp>
        <p:nvSpPr>
          <p:cNvPr id="15" name="cd_145"/>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146"/>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The Handbook · Kissing · Public transport</a:t>
            </a:r>
            <a:endParaRPr lang="en-US" sz="1700" dirty="0"/>
          </a:p>
        </p:txBody>
      </p:sp>
      <p:sp>
        <p:nvSpPr>
          <p:cNvPr id="17" name="ln_147"/>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For nearly </a:t>
            </a:r>
            <a:pPr indent="0" marL="0">
              <a:buNone/>
            </a:pPr>
            <a:r>
              <a:rPr lang="en-US" sz="1150" b="1" dirty="0">
                <a:solidFill>
                  <a:srgbClr val="2EB872"/>
                </a:solidFill>
                <a:latin typeface="Georgia" pitchFamily="34" charset="0"/>
                <a:ea typeface="Georgia" pitchFamily="34" charset="-122"/>
                <a:cs typeface="Georgia" pitchFamily="34" charset="-120"/>
              </a:rPr>
              <a:t> (a) ________ </a:t>
            </a:r>
            <a:pPr indent="0" marL="0">
              <a:buNone/>
            </a:pPr>
            <a:r>
              <a:rPr lang="en-US" sz="1150" dirty="0">
                <a:solidFill>
                  <a:srgbClr val="1B2559"/>
                </a:solidFill>
                <a:latin typeface="Georgia" pitchFamily="34" charset="0"/>
                <a:ea typeface="Georgia" pitchFamily="34" charset="-122"/>
                <a:cs typeface="Georgia" pitchFamily="34" charset="-120"/>
              </a:rPr>
              <a:t> years, Debrett's Handbook has advised the British public. It receives more than </a:t>
            </a:r>
            <a:pPr indent="0" marL="0">
              <a:buNone/>
            </a:pPr>
            <a:r>
              <a:rPr lang="en-US" sz="1150" b="1" dirty="0">
                <a:solidFill>
                  <a:srgbClr val="2EB872"/>
                </a:solidFill>
                <a:latin typeface="Georgia" pitchFamily="34" charset="0"/>
                <a:ea typeface="Georgia" pitchFamily="34" charset="-122"/>
                <a:cs typeface="Georgia" pitchFamily="34" charset="-120"/>
              </a:rPr>
              <a:t> (b) ________ </a:t>
            </a:r>
            <a:pPr indent="0" marL="0">
              <a:buNone/>
            </a:pPr>
            <a:r>
              <a:rPr lang="en-US" sz="1150" dirty="0">
                <a:solidFill>
                  <a:srgbClr val="1B2559"/>
                </a:solidFill>
                <a:latin typeface="Georgia" pitchFamily="34" charset="0"/>
                <a:ea typeface="Georgia" pitchFamily="34" charset="-122"/>
                <a:cs typeface="Georgia" pitchFamily="34" charset="-120"/>
              </a:rPr>
              <a:t> enquiries a year.</a:t>
            </a:r>
            <a:endParaRPr lang="en-US" sz="1150" dirty="0"/>
          </a:p>
        </p:txBody>
      </p:sp>
      <p:sp>
        <p:nvSpPr>
          <p:cNvPr id="18" name="R1_lnA148"/>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For nearly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100</a:t>
            </a:r>
            <a:pPr indent="0" marL="0">
              <a:buNone/>
            </a:pPr>
            <a:r>
              <a:rPr lang="en-US" sz="1150" dirty="0">
                <a:solidFill>
                  <a:srgbClr val="1B2559"/>
                </a:solidFill>
                <a:latin typeface="Georgia" pitchFamily="34" charset="0"/>
                <a:ea typeface="Georgia" pitchFamily="34" charset="-122"/>
                <a:cs typeface="Georgia" pitchFamily="34" charset="-120"/>
              </a:rPr>
              <a:t> years, Debrett's Handbook has advised the British public. It receives more than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10,000</a:t>
            </a:r>
            <a:pPr indent="0" marL="0">
              <a:buNone/>
            </a:pPr>
            <a:r>
              <a:rPr lang="en-US" sz="1150" dirty="0">
                <a:solidFill>
                  <a:srgbClr val="1B2559"/>
                </a:solidFill>
                <a:latin typeface="Georgia" pitchFamily="34" charset="0"/>
                <a:ea typeface="Georgia" pitchFamily="34" charset="-122"/>
                <a:cs typeface="Georgia" pitchFamily="34" charset="-120"/>
              </a:rPr>
              <a:t> enquiries a year.</a:t>
            </a:r>
            <a:endParaRPr lang="en-US" sz="1150" dirty="0"/>
          </a:p>
        </p:txBody>
      </p:sp>
      <p:sp>
        <p:nvSpPr>
          <p:cNvPr id="19" name="ln_149"/>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In </a:t>
            </a:r>
            <a:pPr indent="0" marL="0">
              <a:buNone/>
            </a:pPr>
            <a:r>
              <a:rPr lang="en-US" sz="1150" b="1" dirty="0">
                <a:solidFill>
                  <a:srgbClr val="2EB872"/>
                </a:solidFill>
                <a:latin typeface="Georgia" pitchFamily="34" charset="0"/>
                <a:ea typeface="Georgia" pitchFamily="34" charset="-122"/>
                <a:cs typeface="Georgia" pitchFamily="34" charset="-120"/>
              </a:rPr>
              <a:t> (c) ________ </a:t>
            </a:r>
            <a:pPr indent="0" marL="0">
              <a:buNone/>
            </a:pPr>
            <a:r>
              <a:rPr lang="en-US" sz="1150" dirty="0">
                <a:solidFill>
                  <a:srgbClr val="1B2559"/>
                </a:solidFill>
                <a:latin typeface="Georgia" pitchFamily="34" charset="0"/>
                <a:ea typeface="Georgia" pitchFamily="34" charset="-122"/>
                <a:cs typeface="Georgia" pitchFamily="34" charset="-120"/>
              </a:rPr>
              <a:t> people asked: 'What should you do if you meet the Queen?' In </a:t>
            </a:r>
            <a:pPr indent="0" marL="0">
              <a:buNone/>
            </a:pPr>
            <a:r>
              <a:rPr lang="en-US" sz="1150" b="1" dirty="0">
                <a:solidFill>
                  <a:srgbClr val="2EB872"/>
                </a:solidFill>
                <a:latin typeface="Georgia" pitchFamily="34" charset="0"/>
                <a:ea typeface="Georgia" pitchFamily="34" charset="-122"/>
                <a:cs typeface="Georgia" pitchFamily="34" charset="-120"/>
              </a:rPr>
              <a:t> (d) ________ </a:t>
            </a:r>
            <a:pPr indent="0" marL="0">
              <a:buNone/>
            </a:pPr>
            <a:r>
              <a:rPr lang="en-US" sz="1150" dirty="0">
                <a:solidFill>
                  <a:srgbClr val="1B2559"/>
                </a:solidFill>
                <a:latin typeface="Georgia" pitchFamily="34" charset="0"/>
                <a:ea typeface="Georgia" pitchFamily="34" charset="-122"/>
                <a:cs typeface="Georgia" pitchFamily="34" charset="-120"/>
              </a:rPr>
              <a:t>: 'Is it acceptable to ask for money as a wedding present?'</a:t>
            </a:r>
            <a:endParaRPr lang="en-US" sz="1150" dirty="0"/>
          </a:p>
        </p:txBody>
      </p:sp>
      <p:sp>
        <p:nvSpPr>
          <p:cNvPr id="20" name="R2_lnA150"/>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In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1994</a:t>
            </a:r>
            <a:pPr indent="0" marL="0">
              <a:buNone/>
            </a:pPr>
            <a:r>
              <a:rPr lang="en-US" sz="1150" dirty="0">
                <a:solidFill>
                  <a:srgbClr val="1B2559"/>
                </a:solidFill>
                <a:latin typeface="Georgia" pitchFamily="34" charset="0"/>
                <a:ea typeface="Georgia" pitchFamily="34" charset="-122"/>
                <a:cs typeface="Georgia" pitchFamily="34" charset="-120"/>
              </a:rPr>
              <a:t> people asked: 'What should you do if you meet the Queen?' In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2004</a:t>
            </a:r>
            <a:pPr indent="0" marL="0">
              <a:buNone/>
            </a:pPr>
            <a:r>
              <a:rPr lang="en-US" sz="1150" dirty="0">
                <a:solidFill>
                  <a:srgbClr val="1B2559"/>
                </a:solidFill>
                <a:latin typeface="Georgia" pitchFamily="34" charset="0"/>
                <a:ea typeface="Georgia" pitchFamily="34" charset="-122"/>
                <a:cs typeface="Georgia" pitchFamily="34" charset="-120"/>
              </a:rPr>
              <a:t>: 'Is it acceptable to ask for money as a wedding present?'</a:t>
            </a:r>
            <a:endParaRPr lang="en-US" sz="1150" dirty="0"/>
          </a:p>
        </p:txBody>
      </p:sp>
      <p:sp>
        <p:nvSpPr>
          <p:cNvPr id="21" name="ln_151"/>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KISSING · Debrett's advice is that kissing is not appropriate in many </a:t>
            </a:r>
            <a:pPr indent="0" marL="0">
              <a:buNone/>
            </a:pPr>
            <a:r>
              <a:rPr lang="en-US" sz="1150" b="1" dirty="0">
                <a:solidFill>
                  <a:srgbClr val="2EB872"/>
                </a:solidFill>
                <a:latin typeface="Georgia" pitchFamily="34" charset="0"/>
                <a:ea typeface="Georgia" pitchFamily="34" charset="-122"/>
                <a:cs typeface="Georgia" pitchFamily="34" charset="-120"/>
              </a:rPr>
              <a:t> (Q1) ________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2" name="R3_lnA152"/>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KISSING · Debrett's advice is that kissing is not appropriate in many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professional situations</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3" name="ln_153"/>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It should only be used among friends, but not on a </a:t>
            </a:r>
            <a:pPr indent="0" marL="0">
              <a:buNone/>
            </a:pPr>
            <a:r>
              <a:rPr lang="en-US" sz="1150" b="1" dirty="0">
                <a:solidFill>
                  <a:srgbClr val="2EB872"/>
                </a:solidFill>
                <a:latin typeface="Georgia" pitchFamily="34" charset="0"/>
                <a:ea typeface="Georgia" pitchFamily="34" charset="-122"/>
                <a:cs typeface="Georgia" pitchFamily="34" charset="-120"/>
              </a:rPr>
              <a:t> (Q1) ________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4" name="R4_lnA154"/>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It should only be used among friends, but not on a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first meeting</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5" name="ln_155"/>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PUBLIC TRANSPORT · It's inconsiderate to eat </a:t>
            </a:r>
            <a:pPr indent="0" marL="0">
              <a:buNone/>
            </a:pPr>
            <a:r>
              <a:rPr lang="en-US" sz="1150" b="1" dirty="0">
                <a:solidFill>
                  <a:srgbClr val="2EB872"/>
                </a:solidFill>
                <a:latin typeface="Georgia" pitchFamily="34" charset="0"/>
                <a:ea typeface="Georgia" pitchFamily="34" charset="-122"/>
                <a:cs typeface="Georgia" pitchFamily="34" charset="-120"/>
              </a:rPr>
              <a:t> (Q2) ________ </a:t>
            </a:r>
            <a:pPr indent="0" marL="0">
              <a:buNone/>
            </a:pPr>
            <a:r>
              <a:rPr lang="en-US" sz="1150" dirty="0">
                <a:solidFill>
                  <a:srgbClr val="1B2559"/>
                </a:solidFill>
                <a:latin typeface="Georgia" pitchFamily="34" charset="0"/>
                <a:ea typeface="Georgia" pitchFamily="34" charset="-122"/>
                <a:cs typeface="Georgia" pitchFamily="34" charset="-120"/>
              </a:rPr>
              <a:t> in a closed environment, and putting on </a:t>
            </a:r>
            <a:pPr indent="0" marL="0">
              <a:buNone/>
            </a:pPr>
            <a:r>
              <a:rPr lang="en-US" sz="1150" b="1" dirty="0">
                <a:solidFill>
                  <a:srgbClr val="2EB872"/>
                </a:solidFill>
                <a:latin typeface="Georgia" pitchFamily="34" charset="0"/>
                <a:ea typeface="Georgia" pitchFamily="34" charset="-122"/>
                <a:cs typeface="Georgia" pitchFamily="34" charset="-120"/>
              </a:rPr>
              <a:t> (Q2) ________ </a:t>
            </a:r>
            <a:pPr indent="0" marL="0">
              <a:buNone/>
            </a:pPr>
            <a:r>
              <a:rPr lang="en-US" sz="1150" dirty="0">
                <a:solidFill>
                  <a:srgbClr val="1B2559"/>
                </a:solidFill>
                <a:latin typeface="Georgia" pitchFamily="34" charset="0"/>
                <a:ea typeface="Georgia" pitchFamily="34" charset="-122"/>
                <a:cs typeface="Georgia" pitchFamily="34" charset="-120"/>
              </a:rPr>
              <a:t> makes you appear disorganized.</a:t>
            </a:r>
            <a:endParaRPr lang="en-US" sz="1150" dirty="0"/>
          </a:p>
        </p:txBody>
      </p:sp>
      <p:sp>
        <p:nvSpPr>
          <p:cNvPr id="26" name="R5_lnA156"/>
          <p:cNvSpPr/>
          <p:nvPr/>
        </p:nvSpPr>
        <p:spPr>
          <a:xfrm>
            <a:off x="548640" y="411480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PUBLIC TRANSPORT · It's inconsiderate to eat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smelly food</a:t>
            </a:r>
            <a:pPr indent="0" marL="0">
              <a:buNone/>
            </a:pPr>
            <a:r>
              <a:rPr lang="en-US" sz="1150" dirty="0">
                <a:solidFill>
                  <a:srgbClr val="1B2559"/>
                </a:solidFill>
                <a:latin typeface="Georgia" pitchFamily="34" charset="0"/>
                <a:ea typeface="Georgia" pitchFamily="34" charset="-122"/>
                <a:cs typeface="Georgia" pitchFamily="34" charset="-120"/>
              </a:rPr>
              <a:t> in a closed environment, and putting on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make-up</a:t>
            </a:r>
            <a:pPr indent="0" marL="0">
              <a:buNone/>
            </a:pPr>
            <a:r>
              <a:rPr lang="en-US" sz="1150" dirty="0">
                <a:solidFill>
                  <a:srgbClr val="1B2559"/>
                </a:solidFill>
                <a:latin typeface="Georgia" pitchFamily="34" charset="0"/>
                <a:ea typeface="Georgia" pitchFamily="34" charset="-122"/>
                <a:cs typeface="Georgia" pitchFamily="34" charset="-120"/>
              </a:rPr>
              <a:t> makes you appear disorganized.</a:t>
            </a:r>
            <a:endParaRPr lang="en-US" sz="1150" dirty="0"/>
          </a:p>
        </p:txBody>
      </p:sp>
      <p:sp>
        <p:nvSpPr>
          <p:cNvPr id="27" name="pf_157"/>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8" name="ph_158" descr="/home/claude/lls-course/v2/cache/4a1_public_transport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9" name="cd_159"/>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30" name="ii_160"/>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1" name="ih_161"/>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2" name="il_162"/>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Were your answers the same as Debrett's?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63"/>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64"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165"/>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Modern dilemmas 2/2</a:t>
            </a:r>
            <a:endParaRPr lang="en-US" sz="2400" dirty="0"/>
          </a:p>
        </p:txBody>
      </p:sp>
      <p:pic>
        <p:nvPicPr>
          <p:cNvPr id="6" name="brP_166"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167"/>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gaps. Then click to check.</a:t>
            </a:r>
            <a:endParaRPr lang="en-US" sz="1250" dirty="0"/>
          </a:p>
        </p:txBody>
      </p:sp>
      <p:sp>
        <p:nvSpPr>
          <p:cNvPr id="8" name="insIT_16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Indovina gli spazi. Poi clicca per controllare.</a:t>
            </a:r>
            <a:endParaRPr lang="en-US" sz="950" dirty="0"/>
          </a:p>
        </p:txBody>
      </p:sp>
      <p:sp>
        <p:nvSpPr>
          <p:cNvPr id="9" name="cmd_16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170"/>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171"/>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172"/>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17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7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Reading · Debrett's 2/2   ·   📖 SB p.38 · 5b (text adapted from the article)</a:t>
            </a:r>
            <a:endParaRPr lang="en-US" sz="800" dirty="0"/>
          </a:p>
        </p:txBody>
      </p:sp>
      <p:sp>
        <p:nvSpPr>
          <p:cNvPr id="15" name="cd_175"/>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176"/>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Aeroplanes · Seats · Eating</a:t>
            </a:r>
            <a:endParaRPr lang="en-US" sz="1700" dirty="0"/>
          </a:p>
        </p:txBody>
      </p:sp>
      <p:sp>
        <p:nvSpPr>
          <p:cNvPr id="17" name="ln_177"/>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AEROPLANES · It's selfish to recline your seat during </a:t>
            </a:r>
            <a:pPr indent="0" marL="0">
              <a:buNone/>
            </a:pPr>
            <a:r>
              <a:rPr lang="en-US" sz="1150" b="1" dirty="0">
                <a:solidFill>
                  <a:srgbClr val="2EB872"/>
                </a:solidFill>
                <a:latin typeface="Georgia" pitchFamily="34" charset="0"/>
                <a:ea typeface="Georgia" pitchFamily="34" charset="-122"/>
                <a:cs typeface="Georgia" pitchFamily="34" charset="-120"/>
              </a:rPr>
              <a:t> (Q3) ________ </a:t>
            </a:r>
            <a:pPr indent="0" marL="0">
              <a:buNone/>
            </a:pPr>
            <a:r>
              <a:rPr lang="en-US" sz="1150" dirty="0">
                <a:solidFill>
                  <a:srgbClr val="1B2559"/>
                </a:solidFill>
                <a:latin typeface="Georgia" pitchFamily="34" charset="0"/>
                <a:ea typeface="Georgia" pitchFamily="34" charset="-122"/>
                <a:cs typeface="Georgia" pitchFamily="34" charset="-120"/>
              </a:rPr>
              <a:t>. Stay in your own space and don't monopolize the armrest.</a:t>
            </a:r>
            <a:endParaRPr lang="en-US" sz="1150" dirty="0"/>
          </a:p>
        </p:txBody>
      </p:sp>
      <p:sp>
        <p:nvSpPr>
          <p:cNvPr id="18" name="R1_lnA178"/>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AEROPLANES · It's selfish to recline your seat during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short daytime flights</a:t>
            </a:r>
            <a:pPr indent="0" marL="0">
              <a:buNone/>
            </a:pPr>
            <a:r>
              <a:rPr lang="en-US" sz="1150" dirty="0">
                <a:solidFill>
                  <a:srgbClr val="1B2559"/>
                </a:solidFill>
                <a:latin typeface="Georgia" pitchFamily="34" charset="0"/>
                <a:ea typeface="Georgia" pitchFamily="34" charset="-122"/>
                <a:cs typeface="Georgia" pitchFamily="34" charset="-120"/>
              </a:rPr>
              <a:t>. Stay in your own space and don't monopolize the armrest.</a:t>
            </a:r>
            <a:endParaRPr lang="en-US" sz="1150" dirty="0"/>
          </a:p>
        </p:txBody>
      </p:sp>
      <p:sp>
        <p:nvSpPr>
          <p:cNvPr id="19" name="ln_179"/>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SEATS · In an experiment, only </a:t>
            </a:r>
            <a:pPr indent="0" marL="0">
              <a:buNone/>
            </a:pPr>
            <a:r>
              <a:rPr lang="en-US" sz="1150" b="1" dirty="0">
                <a:solidFill>
                  <a:srgbClr val="2EB872"/>
                </a:solidFill>
                <a:latin typeface="Georgia" pitchFamily="34" charset="0"/>
                <a:ea typeface="Georgia" pitchFamily="34" charset="-122"/>
                <a:cs typeface="Georgia" pitchFamily="34" charset="-120"/>
              </a:rPr>
              <a:t> (e) ________ </a:t>
            </a:r>
            <a:pPr indent="0" marL="0">
              <a:buNone/>
            </a:pPr>
            <a:r>
              <a:rPr lang="en-US" sz="1150" dirty="0">
                <a:solidFill>
                  <a:srgbClr val="1B2559"/>
                </a:solidFill>
                <a:latin typeface="Georgia" pitchFamily="34" charset="0"/>
                <a:ea typeface="Georgia" pitchFamily="34" charset="-122"/>
                <a:cs typeface="Georgia" pitchFamily="34" charset="-120"/>
              </a:rPr>
              <a:t> of London Tube passengers gave up their seat to a visibly pregnant woman.</a:t>
            </a:r>
            <a:endParaRPr lang="en-US" sz="1150" dirty="0"/>
          </a:p>
        </p:txBody>
      </p:sp>
      <p:sp>
        <p:nvSpPr>
          <p:cNvPr id="20" name="R2_lnA180"/>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SEATS · In an experiment, only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20%</a:t>
            </a:r>
            <a:pPr indent="0" marL="0">
              <a:buNone/>
            </a:pPr>
            <a:r>
              <a:rPr lang="en-US" sz="1150" dirty="0">
                <a:solidFill>
                  <a:srgbClr val="1B2559"/>
                </a:solidFill>
                <a:latin typeface="Georgia" pitchFamily="34" charset="0"/>
                <a:ea typeface="Georgia" pitchFamily="34" charset="-122"/>
                <a:cs typeface="Georgia" pitchFamily="34" charset="-120"/>
              </a:rPr>
              <a:t> of London Tube passengers gave up their seat to a visibly pregnant woman.</a:t>
            </a:r>
            <a:endParaRPr lang="en-US" sz="1150" dirty="0"/>
          </a:p>
        </p:txBody>
      </p:sp>
      <p:sp>
        <p:nvSpPr>
          <p:cNvPr id="21" name="ln_181"/>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Always offer your seat to anyone who is </a:t>
            </a:r>
            <a:pPr indent="0" marL="0">
              <a:buNone/>
            </a:pPr>
            <a:r>
              <a:rPr lang="en-US" sz="1150" b="1" dirty="0">
                <a:solidFill>
                  <a:srgbClr val="2EB872"/>
                </a:solidFill>
                <a:latin typeface="Georgia" pitchFamily="34" charset="0"/>
                <a:ea typeface="Georgia" pitchFamily="34" charset="-122"/>
                <a:cs typeface="Georgia" pitchFamily="34" charset="-120"/>
              </a:rPr>
              <a:t> (Q4) ________ </a:t>
            </a:r>
            <a:pPr indent="0" marL="0">
              <a:buNone/>
            </a:pPr>
            <a:r>
              <a:rPr lang="en-US" sz="1150" dirty="0">
                <a:solidFill>
                  <a:srgbClr val="1B2559"/>
                </a:solidFill>
                <a:latin typeface="Georgia" pitchFamily="34" charset="0"/>
                <a:ea typeface="Georgia" pitchFamily="34" charset="-122"/>
                <a:cs typeface="Georgia" pitchFamily="34" charset="-120"/>
              </a:rPr>
              <a:t>. But it's also rude to aggressively decline the offer of a seat.</a:t>
            </a:r>
            <a:endParaRPr lang="en-US" sz="1150" dirty="0"/>
          </a:p>
        </p:txBody>
      </p:sp>
      <p:sp>
        <p:nvSpPr>
          <p:cNvPr id="22" name="R3_lnA182"/>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Always offer your seat to anyone who is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pregnant, elderly, or clearly in need</a:t>
            </a:r>
            <a:pPr indent="0" marL="0">
              <a:buNone/>
            </a:pPr>
            <a:r>
              <a:rPr lang="en-US" sz="1150" dirty="0">
                <a:solidFill>
                  <a:srgbClr val="1B2559"/>
                </a:solidFill>
                <a:latin typeface="Georgia" pitchFamily="34" charset="0"/>
                <a:ea typeface="Georgia" pitchFamily="34" charset="-122"/>
                <a:cs typeface="Georgia" pitchFamily="34" charset="-120"/>
              </a:rPr>
              <a:t>. But it's also rude to aggressively decline the offer of a seat.</a:t>
            </a:r>
            <a:endParaRPr lang="en-US" sz="1150" dirty="0"/>
          </a:p>
        </p:txBody>
      </p:sp>
      <p:sp>
        <p:nvSpPr>
          <p:cNvPr id="23" name="ln_183"/>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EATING · Is it rude to start eating before everyone is served? Yes, </a:t>
            </a:r>
            <a:pPr indent="0" marL="0">
              <a:buNone/>
            </a:pPr>
            <a:r>
              <a:rPr lang="en-US" sz="1150" b="1" dirty="0">
                <a:solidFill>
                  <a:srgbClr val="2EB872"/>
                </a:solidFill>
                <a:latin typeface="Georgia" pitchFamily="34" charset="0"/>
                <a:ea typeface="Georgia" pitchFamily="34" charset="-122"/>
                <a:cs typeface="Georgia" pitchFamily="34" charset="-120"/>
              </a:rPr>
              <a:t> (Q5) ________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4" name="R4_lnA184"/>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EATING · Is it rude to start eating before everyone is served? Yes,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unless the host or hostess gives permission</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5" name="pf_185"/>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186" descr="/home/claude/lls-course/v2/cache/4a1_table_manners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7" name="cd_187"/>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8" name="ii_188"/>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9" name="ih_189"/>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0" name="il_190"/>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Only 20%! Would YOU give up your seat?</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91"/>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192"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193"/>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Say it more simply</a:t>
            </a:r>
            <a:endParaRPr lang="en-US" sz="2500" dirty="0"/>
          </a:p>
        </p:txBody>
      </p:sp>
      <p:pic>
        <p:nvPicPr>
          <p:cNvPr id="6" name="brP_194"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195"/>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more simply to your partner.</a:t>
            </a:r>
            <a:endParaRPr lang="en-US" sz="1250" dirty="0"/>
          </a:p>
        </p:txBody>
      </p:sp>
      <p:sp>
        <p:nvSpPr>
          <p:cNvPr id="8" name="insIT_19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Dillo in modo più semplice al compagno.</a:t>
            </a:r>
            <a:endParaRPr lang="en-US" sz="950" dirty="0"/>
          </a:p>
        </p:txBody>
      </p:sp>
      <p:sp>
        <p:nvSpPr>
          <p:cNvPr id="9" name="cmd_197"/>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198"/>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199"/>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Controlled practice</a:t>
            </a:r>
            <a:endParaRPr lang="en-US" sz="700" dirty="0"/>
          </a:p>
        </p:txBody>
      </p:sp>
      <p:pic>
        <p:nvPicPr>
          <p:cNvPr id="12" name="logo_20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0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Reading · vocabulary from the text   ·   📖 SB p.38 · 5c (highlighted phrases)</a:t>
            </a:r>
            <a:endParaRPr lang="en-US" sz="800" dirty="0"/>
          </a:p>
        </p:txBody>
      </p:sp>
      <p:sp>
        <p:nvSpPr>
          <p:cNvPr id="14" name="cd_202"/>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20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0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205"/>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It's selfish → you're only thinking about yourself</a:t>
            </a:r>
            <a:endParaRPr lang="en-US" sz="1050" dirty="0"/>
          </a:p>
        </p:txBody>
      </p:sp>
      <p:sp>
        <p:nvSpPr>
          <p:cNvPr id="18" name="pf_206"/>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207" descr="/home/claude/lls-course/v2/cache/4a1_queue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208"/>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209"/>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not appropriate in many professional situations</a:t>
            </a:r>
            <a:endParaRPr lang="en-US" sz="1150" dirty="0"/>
          </a:p>
        </p:txBody>
      </p:sp>
      <p:sp>
        <p:nvSpPr>
          <p:cNvPr id="22" name="R1_chip210"/>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don't kiss people you meet at work</a:t>
            </a:r>
            <a:endParaRPr lang="en-US" sz="1000" dirty="0"/>
          </a:p>
        </p:txBody>
      </p:sp>
      <p:sp>
        <p:nvSpPr>
          <p:cNvPr id="23" name="bd_211"/>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212"/>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it's inconsiderate to eat smelly food</a:t>
            </a:r>
            <a:endParaRPr lang="en-US" sz="1150" dirty="0"/>
          </a:p>
        </p:txBody>
      </p:sp>
      <p:sp>
        <p:nvSpPr>
          <p:cNvPr id="25" name="R2_chip213"/>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it isn't nice for other people (trains, offices…)</a:t>
            </a:r>
            <a:endParaRPr lang="en-US" sz="1000" dirty="0"/>
          </a:p>
        </p:txBody>
      </p:sp>
      <p:sp>
        <p:nvSpPr>
          <p:cNvPr id="26" name="bd_214"/>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215"/>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don't monopolize the armrest</a:t>
            </a:r>
            <a:endParaRPr lang="en-US" sz="1150" dirty="0"/>
          </a:p>
        </p:txBody>
      </p:sp>
      <p:sp>
        <p:nvSpPr>
          <p:cNvPr id="28" name="R3_chip216"/>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share the armrest – don't use it all yourself</a:t>
            </a:r>
            <a:endParaRPr lang="en-US" sz="1000" dirty="0"/>
          </a:p>
        </p:txBody>
      </p:sp>
      <p:sp>
        <p:nvSpPr>
          <p:cNvPr id="29" name="bd_217"/>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218"/>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it's rude to aggressively decline the offer of a seat</a:t>
            </a:r>
            <a:endParaRPr lang="en-US" sz="1100" dirty="0"/>
          </a:p>
        </p:txBody>
      </p:sp>
      <p:sp>
        <p:nvSpPr>
          <p:cNvPr id="31" name="R4_chip219"/>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if you don't want the seat, say no politely</a:t>
            </a:r>
            <a:endParaRPr lang="en-US" sz="1000" dirty="0"/>
          </a:p>
        </p:txBody>
      </p:sp>
      <p:sp>
        <p:nvSpPr>
          <p:cNvPr id="32" name="bd_220"/>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221"/>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unless the host gives permission</a:t>
            </a:r>
            <a:endParaRPr lang="en-US" sz="1150" dirty="0"/>
          </a:p>
        </p:txBody>
      </p:sp>
      <p:sp>
        <p:nvSpPr>
          <p:cNvPr id="34" name="R5_chip222"/>
          <p:cNvSpPr/>
          <p:nvPr/>
        </p:nvSpPr>
        <p:spPr>
          <a:xfrm>
            <a:off x="5806440" y="342900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only start if the person who invited you says it's OK</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3"/>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24"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225"/>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Manners words in Italian</a:t>
            </a:r>
            <a:endParaRPr lang="en-US" sz="2500" dirty="0"/>
          </a:p>
        </p:txBody>
      </p:sp>
      <p:pic>
        <p:nvPicPr>
          <p:cNvPr id="6" name="brP_226"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227"/>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22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Dillo in italiano. Poi clicca!</a:t>
            </a:r>
            <a:endParaRPr lang="en-US" sz="950" dirty="0"/>
          </a:p>
        </p:txBody>
      </p:sp>
      <p:sp>
        <p:nvSpPr>
          <p:cNvPr id="9" name="cmd_22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230"/>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31"/>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TPRS · meaning</a:t>
            </a:r>
            <a:endParaRPr lang="en-US" sz="700" dirty="0"/>
          </a:p>
        </p:txBody>
      </p:sp>
      <p:pic>
        <p:nvPicPr>
          <p:cNvPr id="12" name="logo_23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3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Vocabulary · in Italian</a:t>
            </a:r>
            <a:endParaRPr lang="en-US" sz="800" dirty="0"/>
          </a:p>
        </p:txBody>
      </p:sp>
      <p:sp>
        <p:nvSpPr>
          <p:cNvPr id="14" name="cd_234"/>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235"/>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236"/>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rude</a:t>
            </a:r>
            <a:endParaRPr lang="en-US" sz="1200" dirty="0"/>
          </a:p>
        </p:txBody>
      </p:sp>
      <p:sp>
        <p:nvSpPr>
          <p:cNvPr id="17" name="R1_it237"/>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maleducato, scortese</a:t>
            </a:r>
            <a:endParaRPr lang="en-US" sz="900" dirty="0"/>
          </a:p>
        </p:txBody>
      </p:sp>
      <p:sp>
        <p:nvSpPr>
          <p:cNvPr id="18" name="cd_238"/>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239"/>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240"/>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polite</a:t>
            </a:r>
            <a:endParaRPr lang="en-US" sz="1200" dirty="0"/>
          </a:p>
        </p:txBody>
      </p:sp>
      <p:sp>
        <p:nvSpPr>
          <p:cNvPr id="21" name="R2_it241"/>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educato, gentile</a:t>
            </a:r>
            <a:endParaRPr lang="en-US" sz="1000" dirty="0"/>
          </a:p>
        </p:txBody>
      </p:sp>
      <p:sp>
        <p:nvSpPr>
          <p:cNvPr id="22" name="cd_242"/>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243"/>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244"/>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inconsiderate</a:t>
            </a:r>
            <a:endParaRPr lang="en-US" sz="1200" dirty="0"/>
          </a:p>
        </p:txBody>
      </p:sp>
      <p:sp>
        <p:nvSpPr>
          <p:cNvPr id="25" name="R3_it245"/>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850" i="1" dirty="0">
                <a:solidFill>
                  <a:srgbClr val="2EB872"/>
                </a:solidFill>
                <a:latin typeface="Segoe UI Semibold" pitchFamily="34" charset="0"/>
                <a:ea typeface="Segoe UI Semibold" pitchFamily="34" charset="-122"/>
                <a:cs typeface="Segoe UI Semibold" pitchFamily="34" charset="-120"/>
              </a:rPr>
              <a:t>che non pensa agli altri</a:t>
            </a:r>
            <a:endParaRPr lang="en-US" sz="850" dirty="0"/>
          </a:p>
        </p:txBody>
      </p:sp>
      <p:sp>
        <p:nvSpPr>
          <p:cNvPr id="26" name="cd_246"/>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247"/>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248"/>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selfish</a:t>
            </a:r>
            <a:endParaRPr lang="en-US" sz="1200" dirty="0"/>
          </a:p>
        </p:txBody>
      </p:sp>
      <p:sp>
        <p:nvSpPr>
          <p:cNvPr id="29" name="R4_it249"/>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egoista</a:t>
            </a:r>
            <a:endParaRPr lang="en-US" sz="1000" dirty="0"/>
          </a:p>
        </p:txBody>
      </p:sp>
      <p:sp>
        <p:nvSpPr>
          <p:cNvPr id="30" name="cd_250"/>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251"/>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252"/>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appropriate</a:t>
            </a:r>
            <a:endParaRPr lang="en-US" sz="1200" dirty="0"/>
          </a:p>
        </p:txBody>
      </p:sp>
      <p:sp>
        <p:nvSpPr>
          <p:cNvPr id="33" name="R5_it253"/>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adatto, opportuno</a:t>
            </a:r>
            <a:endParaRPr lang="en-US" sz="1000" dirty="0"/>
          </a:p>
        </p:txBody>
      </p:sp>
      <p:sp>
        <p:nvSpPr>
          <p:cNvPr id="34" name="cd_254"/>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255"/>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256"/>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decline (an offer)</a:t>
            </a:r>
            <a:endParaRPr lang="en-US" sz="1200" dirty="0"/>
          </a:p>
        </p:txBody>
      </p:sp>
      <p:sp>
        <p:nvSpPr>
          <p:cNvPr id="37" name="R6_it257"/>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rifiutare (un'offerta)</a:t>
            </a:r>
            <a:endParaRPr lang="en-US" sz="1000" dirty="0"/>
          </a:p>
        </p:txBody>
      </p:sp>
      <p:sp>
        <p:nvSpPr>
          <p:cNvPr id="38" name="cd_258"/>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259"/>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260"/>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recline your seat</a:t>
            </a:r>
            <a:endParaRPr lang="en-US" sz="1200" dirty="0"/>
          </a:p>
        </p:txBody>
      </p:sp>
      <p:sp>
        <p:nvSpPr>
          <p:cNvPr id="41" name="R7_it261"/>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reclinare il sedile</a:t>
            </a:r>
            <a:endParaRPr lang="en-US" sz="1000" dirty="0"/>
          </a:p>
        </p:txBody>
      </p:sp>
      <p:sp>
        <p:nvSpPr>
          <p:cNvPr id="42" name="cd_262"/>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263"/>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264"/>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Arial Rounded MT Bold" pitchFamily="34" charset="0"/>
                <a:ea typeface="Arial Rounded MT Bold" pitchFamily="34" charset="-122"/>
                <a:cs typeface="Arial Rounded MT Bold" pitchFamily="34" charset="-120"/>
              </a:rPr>
              <a:t>monopolize the armrest</a:t>
            </a:r>
            <a:endParaRPr lang="en-US" sz="1000" dirty="0"/>
          </a:p>
        </p:txBody>
      </p:sp>
      <p:sp>
        <p:nvSpPr>
          <p:cNvPr id="45" name="R8_it265"/>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occupare tutto il bracciolo</a:t>
            </a:r>
            <a:endParaRPr lang="en-US" sz="800" dirty="0"/>
          </a:p>
        </p:txBody>
      </p:sp>
      <p:sp>
        <p:nvSpPr>
          <p:cNvPr id="46" name="cd_266"/>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267"/>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268"/>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the host / hostess</a:t>
            </a:r>
            <a:endParaRPr lang="en-US" sz="1150" dirty="0"/>
          </a:p>
        </p:txBody>
      </p:sp>
      <p:sp>
        <p:nvSpPr>
          <p:cNvPr id="49" name="R9_it269"/>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il padrone / la padrona di casa</a:t>
            </a:r>
            <a:endParaRPr lang="en-US" sz="800" dirty="0"/>
          </a:p>
        </p:txBody>
      </p:sp>
      <p:sp>
        <p:nvSpPr>
          <p:cNvPr id="50" name="cd_270"/>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271"/>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272"/>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permission</a:t>
            </a:r>
            <a:endParaRPr lang="en-US" sz="1200" dirty="0"/>
          </a:p>
        </p:txBody>
      </p:sp>
      <p:sp>
        <p:nvSpPr>
          <p:cNvPr id="53" name="R10_it273"/>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il permesso</a:t>
            </a:r>
            <a:endParaRPr lang="en-US" sz="1000" dirty="0"/>
          </a:p>
        </p:txBody>
      </p:sp>
      <p:sp>
        <p:nvSpPr>
          <p:cNvPr id="54" name="cd_274"/>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275"/>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276"/>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pregnant · elderly</a:t>
            </a:r>
            <a:endParaRPr lang="en-US" sz="1150" dirty="0"/>
          </a:p>
        </p:txBody>
      </p:sp>
      <p:sp>
        <p:nvSpPr>
          <p:cNvPr id="57" name="R11_it277"/>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incinta · anziano</a:t>
            </a:r>
            <a:endParaRPr lang="en-US" sz="1000" dirty="0"/>
          </a:p>
        </p:txBody>
      </p:sp>
      <p:sp>
        <p:nvSpPr>
          <p:cNvPr id="58" name="cd_278"/>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279"/>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280"/>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dilemma</a:t>
            </a:r>
            <a:endParaRPr lang="en-US" sz="1200" dirty="0"/>
          </a:p>
        </p:txBody>
      </p:sp>
      <p:sp>
        <p:nvSpPr>
          <p:cNvPr id="61" name="R12_it281"/>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un dilemma (una scelta difficile)</a:t>
            </a:r>
            <a:endParaRPr lang="en-US" sz="800" dirty="0"/>
          </a:p>
        </p:txBody>
      </p:sp>
      <p:sp>
        <p:nvSpPr>
          <p:cNvPr id="62" name="R13_wc282"/>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R13_w283"/>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polite = educato  ·  educated = istruito (false friend!)   |   manners = buone maniere  ·  etiquette = galateo</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4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400"/>
                                        <p:tgtEl>
                                          <p:spTgt spid="4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4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400"/>
                                        <p:tgtEl>
                                          <p:spTgt spid="5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400"/>
                                        <p:tgtEl>
                                          <p:spTgt spid="6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400"/>
                                        <p:tgtEl>
                                          <p:spTgt spid="62"/>
                                        </p:tgtEl>
                                      </p:cBhvr>
                                    </p:animEffect>
                                  </p:childTnLst>
                                </p:cTn>
                              </p:par>
                              <p:par>
                                <p:cTn id="68" presetID="10" presetClass="entr" presetSubtype="0" fill="hold" nodeType="withEffect">
                                  <p:stCondLst>
                                    <p:cond delay="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84"/>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85"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286"/>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Describe it!</a:t>
            </a:r>
            <a:endParaRPr lang="en-US" sz="2500" dirty="0"/>
          </a:p>
        </p:txBody>
      </p:sp>
      <p:pic>
        <p:nvPicPr>
          <p:cNvPr id="6" name="brP_287"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288"/>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Explain the word. Don't say it!</a:t>
            </a:r>
            <a:endParaRPr lang="en-US" sz="1250" dirty="0"/>
          </a:p>
        </p:txBody>
      </p:sp>
      <p:sp>
        <p:nvSpPr>
          <p:cNvPr id="8" name="insIT_28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Spiega la parola. Non dirla!</a:t>
            </a:r>
            <a:endParaRPr lang="en-US" sz="950" dirty="0"/>
          </a:p>
        </p:txBody>
      </p:sp>
      <p:sp>
        <p:nvSpPr>
          <p:cNvPr id="9" name="cmd_290"/>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291"/>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292"/>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29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9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Vocabulary game</a:t>
            </a:r>
            <a:endParaRPr lang="en-US" sz="800" dirty="0"/>
          </a:p>
        </p:txBody>
      </p:sp>
      <p:sp>
        <p:nvSpPr>
          <p:cNvPr id="14" name="cd_295"/>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29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97"/>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298"/>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100" dirty="0">
                <a:solidFill>
                  <a:srgbClr val="1B2559"/>
                </a:solidFill>
                <a:latin typeface="Segoe UI Semibold" pitchFamily="34" charset="0"/>
                <a:ea typeface="Segoe UI Semibold" pitchFamily="34" charset="-122"/>
                <a:cs typeface="Segoe UI Semibold" pitchFamily="34" charset="-120"/>
              </a:rPr>
              <a:t>A looks at the screen. B turns around.</a:t>
            </a:r>
            <a:endParaRPr lang="en-US" sz="1100" dirty="0"/>
          </a:p>
          <a:p>
            <a:pPr marL="190500" indent="-190500">
              <a:spcAft>
                <a:spcPts val="200"/>
              </a:spcAft>
              <a:buSzPct val="100000"/>
              <a:buChar char=" "/>
            </a:pPr>
            <a:r>
              <a:rPr lang="en-US" sz="950" i="1" dirty="0">
                <a:solidFill>
                  <a:srgbClr val="5B6785"/>
                </a:solidFill>
                <a:latin typeface="Segoe UI Semibold" pitchFamily="34" charset="0"/>
                <a:ea typeface="Segoe UI Semibold" pitchFamily="34" charset="-122"/>
                <a:cs typeface="Segoe UI Semibold" pitchFamily="34" charset="-120"/>
              </a:rPr>
              <a:t>A guarda lo schermo. B si gira.</a:t>
            </a:r>
            <a:endParaRPr lang="en-US" sz="1100" dirty="0"/>
          </a:p>
          <a:p>
            <a:pPr marL="190500" indent="-190500">
              <a:spcBef>
                <a:spcPts val="500"/>
              </a:spcBef>
              <a:spcAft>
                <a:spcPts val="200"/>
              </a:spcAft>
              <a:buSzPct val="100000"/>
              <a:buChar char="2"/>
            </a:pPr>
            <a:r>
              <a:rPr lang="en-US" sz="1100" dirty="0">
                <a:solidFill>
                  <a:srgbClr val="1B2559"/>
                </a:solidFill>
                <a:latin typeface="Segoe UI Semibold" pitchFamily="34" charset="0"/>
                <a:ea typeface="Segoe UI Semibold" pitchFamily="34" charset="-122"/>
                <a:cs typeface="Segoe UI Semibold" pitchFamily="34" charset="-120"/>
              </a:rPr>
              <a:t>A explains the word. Don't say it!</a:t>
            </a:r>
            <a:endParaRPr lang="en-US" sz="1100" dirty="0"/>
          </a:p>
          <a:p>
            <a:pPr marL="190500" indent="-190500">
              <a:spcAft>
                <a:spcPts val="200"/>
              </a:spcAft>
              <a:buSzPct val="100000"/>
              <a:buChar char=" "/>
            </a:pPr>
            <a:r>
              <a:rPr lang="en-US" sz="950" i="1" dirty="0">
                <a:solidFill>
                  <a:srgbClr val="5B6785"/>
                </a:solidFill>
                <a:latin typeface="Segoe UI Semibold" pitchFamily="34" charset="0"/>
                <a:ea typeface="Segoe UI Semibold" pitchFamily="34" charset="-122"/>
                <a:cs typeface="Segoe UI Semibold" pitchFamily="34" charset="-120"/>
              </a:rPr>
              <a:t>A spiega la parola. Non dirla!</a:t>
            </a:r>
            <a:endParaRPr lang="en-US" sz="1100" dirty="0"/>
          </a:p>
          <a:p>
            <a:pPr marL="190500" indent="-190500">
              <a:spcBef>
                <a:spcPts val="500"/>
              </a:spcBef>
              <a:spcAft>
                <a:spcPts val="200"/>
              </a:spcAft>
              <a:buSzPct val="100000"/>
              <a:buChar char="3"/>
            </a:pPr>
            <a:r>
              <a:rPr lang="en-US" sz="1100" dirty="0">
                <a:solidFill>
                  <a:srgbClr val="1B2559"/>
                </a:solidFill>
                <a:latin typeface="Segoe UI Semibold" pitchFamily="34" charset="0"/>
                <a:ea typeface="Segoe UI Semibold" pitchFamily="34" charset="-122"/>
                <a:cs typeface="Segoe UI Semibold" pitchFamily="34" charset="-120"/>
              </a:rPr>
              <a:t>B guesses. Then swap.</a:t>
            </a:r>
            <a:endParaRPr lang="en-US" sz="1100" dirty="0"/>
          </a:p>
          <a:p>
            <a:pPr marL="190500" indent="-190500">
              <a:spcAft>
                <a:spcPts val="200"/>
              </a:spcAft>
              <a:buSzPct val="100000"/>
              <a:buChar char=" "/>
            </a:pPr>
            <a:r>
              <a:rPr lang="en-US" sz="950" i="1" dirty="0">
                <a:solidFill>
                  <a:srgbClr val="5B6785"/>
                </a:solidFill>
                <a:latin typeface="Segoe UI Semibold" pitchFamily="34" charset="0"/>
                <a:ea typeface="Segoe UI Semibold" pitchFamily="34" charset="-122"/>
                <a:cs typeface="Segoe UI Semibold" pitchFamily="34" charset="-120"/>
              </a:rPr>
              <a:t>B indovina. Poi scambiatevi.</a:t>
            </a:r>
            <a:endParaRPr lang="en-US" sz="1100" dirty="0"/>
          </a:p>
        </p:txBody>
      </p:sp>
      <p:sp>
        <p:nvSpPr>
          <p:cNvPr id="18" name="pf_299"/>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300" descr="/home/claude/lls-course/v2/cache/4a1_queue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rl_301"/>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 explains</a:t>
            </a:r>
            <a:endParaRPr lang="en-US" sz="1100" dirty="0"/>
          </a:p>
        </p:txBody>
      </p:sp>
      <p:sp>
        <p:nvSpPr>
          <p:cNvPr id="21" name="R1_w302"/>
          <p:cNvSpPr/>
          <p:nvPr/>
        </p:nvSpPr>
        <p:spPr>
          <a:xfrm>
            <a:off x="3246120" y="185623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selfish</a:t>
            </a:r>
            <a:endParaRPr lang="en-US" sz="1700" dirty="0"/>
          </a:p>
        </p:txBody>
      </p:sp>
      <p:sp>
        <p:nvSpPr>
          <p:cNvPr id="22" name="R3_w303"/>
          <p:cNvSpPr/>
          <p:nvPr/>
        </p:nvSpPr>
        <p:spPr>
          <a:xfrm>
            <a:off x="3246120" y="258775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the host</a:t>
            </a:r>
            <a:endParaRPr lang="en-US" sz="1700" dirty="0"/>
          </a:p>
        </p:txBody>
      </p:sp>
      <p:sp>
        <p:nvSpPr>
          <p:cNvPr id="23" name="R5_w304"/>
          <p:cNvSpPr/>
          <p:nvPr/>
        </p:nvSpPr>
        <p:spPr>
          <a:xfrm>
            <a:off x="3246120" y="331927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decline</a:t>
            </a:r>
            <a:endParaRPr lang="en-US" sz="1700" dirty="0"/>
          </a:p>
        </p:txBody>
      </p:sp>
      <p:sp>
        <p:nvSpPr>
          <p:cNvPr id="24" name="R7_w305"/>
          <p:cNvSpPr/>
          <p:nvPr/>
        </p:nvSpPr>
        <p:spPr>
          <a:xfrm>
            <a:off x="3246120" y="405079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polite</a:t>
            </a:r>
            <a:endParaRPr lang="en-US" sz="1700" dirty="0"/>
          </a:p>
        </p:txBody>
      </p:sp>
      <p:sp>
        <p:nvSpPr>
          <p:cNvPr id="25" name="rl_306"/>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 explains</a:t>
            </a:r>
            <a:endParaRPr lang="en-US" sz="1100" dirty="0"/>
          </a:p>
        </p:txBody>
      </p:sp>
      <p:sp>
        <p:nvSpPr>
          <p:cNvPr id="26" name="R2_w307"/>
          <p:cNvSpPr/>
          <p:nvPr/>
        </p:nvSpPr>
        <p:spPr>
          <a:xfrm>
            <a:off x="6080760" y="185623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inconsiderate</a:t>
            </a:r>
            <a:endParaRPr lang="en-US" sz="1700" dirty="0"/>
          </a:p>
        </p:txBody>
      </p:sp>
      <p:sp>
        <p:nvSpPr>
          <p:cNvPr id="27" name="R4_w308"/>
          <p:cNvSpPr/>
          <p:nvPr/>
        </p:nvSpPr>
        <p:spPr>
          <a:xfrm>
            <a:off x="6080760" y="258775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permission</a:t>
            </a:r>
            <a:endParaRPr lang="en-US" sz="1700" dirty="0"/>
          </a:p>
        </p:txBody>
      </p:sp>
      <p:sp>
        <p:nvSpPr>
          <p:cNvPr id="28" name="R6_w309"/>
          <p:cNvSpPr/>
          <p:nvPr/>
        </p:nvSpPr>
        <p:spPr>
          <a:xfrm>
            <a:off x="6080760" y="331927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recline your seat</a:t>
            </a:r>
            <a:endParaRPr lang="en-US" sz="1700" dirty="0"/>
          </a:p>
        </p:txBody>
      </p:sp>
      <p:sp>
        <p:nvSpPr>
          <p:cNvPr id="29" name="R8_w310"/>
          <p:cNvSpPr/>
          <p:nvPr/>
        </p:nvSpPr>
        <p:spPr>
          <a:xfrm>
            <a:off x="6080760" y="405079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rude</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11"/>
          <p:cNvSpPr/>
          <p:nvPr/>
        </p:nvSpPr>
        <p:spPr>
          <a:xfrm>
            <a:off x="201168" y="164592"/>
            <a:ext cx="841248" cy="841248"/>
          </a:xfrm>
          <a:prstGeom prst="ellipse">
            <a:avLst/>
          </a:prstGeom>
          <a:solidFill>
            <a:srgbClr val="7B5CD6"/>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12"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313"/>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Marco meets the parents</a:t>
            </a:r>
            <a:endParaRPr lang="en-US" sz="2500" dirty="0"/>
          </a:p>
        </p:txBody>
      </p:sp>
      <p:pic>
        <p:nvPicPr>
          <p:cNvPr id="6" name="brP_314"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315"/>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the story. Answer the questions!</a:t>
            </a:r>
            <a:endParaRPr lang="en-US" sz="1250" dirty="0"/>
          </a:p>
        </p:txBody>
      </p:sp>
      <p:sp>
        <p:nvSpPr>
          <p:cNvPr id="8" name="insIT_31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la storia. Rispondi alle domande!</a:t>
            </a:r>
            <a:endParaRPr lang="en-US" sz="950" dirty="0"/>
          </a:p>
        </p:txBody>
      </p:sp>
      <p:sp>
        <p:nvSpPr>
          <p:cNvPr id="9" name="cmd_317"/>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318"/>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319"/>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2" name="tag_320"/>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story</a:t>
            </a:r>
            <a:endParaRPr lang="en-US" sz="850" dirty="0"/>
          </a:p>
        </p:txBody>
      </p:sp>
      <p:pic>
        <p:nvPicPr>
          <p:cNvPr id="13" name="logo_32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2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Speaking · class story (TPRS)</a:t>
            </a:r>
            <a:endParaRPr lang="en-US" sz="800" dirty="0"/>
          </a:p>
        </p:txBody>
      </p:sp>
      <p:sp>
        <p:nvSpPr>
          <p:cNvPr id="15" name="cd_323"/>
          <p:cNvSpPr/>
          <p:nvPr/>
        </p:nvSpPr>
        <p:spPr>
          <a:xfrm>
            <a:off x="320040" y="1417320"/>
            <a:ext cx="2697480" cy="2852928"/>
          </a:xfrm>
          <a:prstGeom prst="roundRect">
            <a:avLst>
              <a:gd name="adj" fmla="val 4746"/>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32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325"/>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Story phrases</a:t>
            </a:r>
            <a:endParaRPr lang="en-US" sz="1300" dirty="0"/>
          </a:p>
        </p:txBody>
      </p:sp>
      <p:sp>
        <p:nvSpPr>
          <p:cNvPr id="18" name="il_326"/>
          <p:cNvSpPr/>
          <p:nvPr/>
        </p:nvSpPr>
        <p:spPr>
          <a:xfrm>
            <a:off x="886968" y="1892808"/>
            <a:ext cx="2039112" cy="230428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the host</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il padrone / la padrona di casa</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polite / rude</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educato / maleducato</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give permission</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dare il permesso</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selfish</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egoista</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inconsiderate</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che non pensa agli altri</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decline (an offer)</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rifiutare (un'offerta)</a:t>
            </a:r>
            <a:endParaRPr lang="en-US" sz="1000" dirty="0"/>
          </a:p>
        </p:txBody>
      </p:sp>
      <p:sp>
        <p:nvSpPr>
          <p:cNvPr id="19" name="R1_sb327"/>
          <p:cNvSpPr/>
          <p:nvPr/>
        </p:nvSpPr>
        <p:spPr>
          <a:xfrm>
            <a:off x="3200400" y="145389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0" name="R1_sl328"/>
          <p:cNvSpPr/>
          <p:nvPr/>
        </p:nvSpPr>
        <p:spPr>
          <a:xfrm>
            <a:off x="3584448" y="1417320"/>
            <a:ext cx="5303520" cy="499872"/>
          </a:xfrm>
          <a:prstGeom prst="roundRect">
            <a:avLst>
              <a:gd name="adj" fmla="val 21951"/>
            </a:avLst>
          </a:prstGeom>
          <a:solidFill>
            <a:srgbClr val="FFFFFF"/>
          </a:solidFill>
          <a:ln w="19050">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Marco is invited to dinner. </a:t>
            </a:r>
            <a:pPr indent="0" marL="0">
              <a:buNone/>
            </a:pPr>
            <a:r>
              <a:rPr lang="en-US" sz="1000" b="1" dirty="0">
                <a:solidFill>
                  <a:srgbClr val="7B5CD6"/>
                </a:solidFill>
                <a:highlight>
                  <a:srgbClr val="FFF1A8"/>
                </a:highlight>
                <a:latin typeface="Segoe UI Semibold" pitchFamily="34" charset="0"/>
                <a:ea typeface="Segoe UI Semibold" pitchFamily="34" charset="-122"/>
                <a:cs typeface="Segoe UI Semibold" pitchFamily="34" charset="-120"/>
              </a:rPr>
              <a:t>The host</a:t>
            </a:r>
            <a:pPr indent="0" marL="0">
              <a:buNone/>
            </a:pPr>
            <a:r>
              <a:rPr lang="en-US" sz="1000" dirty="0">
                <a:solidFill>
                  <a:srgbClr val="1B2559"/>
                </a:solidFill>
                <a:latin typeface="Segoe UI Semibold" pitchFamily="34" charset="0"/>
                <a:ea typeface="Segoe UI Semibold" pitchFamily="34" charset="-122"/>
                <a:cs typeface="Segoe UI Semibold" pitchFamily="34" charset="-120"/>
              </a:rPr>
              <a:t> is his girlfriend's mum, Signora Rizzo.</a:t>
            </a:r>
            <a:endParaRPr lang="en-US" sz="100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Is it lunch or dinner? · Who is the host?</a:t>
            </a:r>
            <a:endParaRPr lang="en-US" sz="1000" dirty="0"/>
          </a:p>
        </p:txBody>
      </p:sp>
      <p:sp>
        <p:nvSpPr>
          <p:cNvPr id="21" name="R2_sb329"/>
          <p:cNvSpPr/>
          <p:nvPr/>
        </p:nvSpPr>
        <p:spPr>
          <a:xfrm>
            <a:off x="3200400" y="201777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2" name="R2_sl330"/>
          <p:cNvSpPr/>
          <p:nvPr/>
        </p:nvSpPr>
        <p:spPr>
          <a:xfrm>
            <a:off x="3584448" y="1981200"/>
            <a:ext cx="5303520" cy="499872"/>
          </a:xfrm>
          <a:prstGeom prst="roundRect">
            <a:avLst>
              <a:gd name="adj" fmla="val 21951"/>
            </a:avLst>
          </a:prstGeom>
          <a:solidFill>
            <a:srgbClr val="FFFFFF"/>
          </a:solidFill>
          <a:ln w="19050">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Marco wants to be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polite</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 so he brings flowers… and his dog, Bruno!</a:t>
            </a:r>
            <a:endParaRPr lang="en-US" sz="105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 Does he want to be polite or rude? · What does he bring?</a:t>
            </a:r>
            <a:endParaRPr lang="en-US" sz="1050" dirty="0"/>
          </a:p>
        </p:txBody>
      </p:sp>
      <p:sp>
        <p:nvSpPr>
          <p:cNvPr id="23" name="R3_sb331"/>
          <p:cNvSpPr/>
          <p:nvPr/>
        </p:nvSpPr>
        <p:spPr>
          <a:xfrm>
            <a:off x="3200400" y="2581656"/>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R3_sl332"/>
          <p:cNvSpPr/>
          <p:nvPr/>
        </p:nvSpPr>
        <p:spPr>
          <a:xfrm>
            <a:off x="3584448" y="2545080"/>
            <a:ext cx="5303520" cy="499872"/>
          </a:xfrm>
          <a:prstGeom prst="roundRect">
            <a:avLst>
              <a:gd name="adj" fmla="val 21951"/>
            </a:avLst>
          </a:prstGeom>
          <a:solidFill>
            <a:srgbClr val="FFFFFF"/>
          </a:solidFill>
          <a:ln w="19050">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He starts eating before the host </a:t>
            </a:r>
            <a:pPr indent="0" marL="0">
              <a:buNone/>
            </a:pPr>
            <a:r>
              <a:rPr lang="en-US" sz="1100" b="1" dirty="0">
                <a:solidFill>
                  <a:srgbClr val="7B5CD6"/>
                </a:solidFill>
                <a:highlight>
                  <a:srgbClr val="FFF1A8"/>
                </a:highlight>
                <a:latin typeface="Segoe UI Semibold" pitchFamily="34" charset="0"/>
                <a:ea typeface="Segoe UI Semibold" pitchFamily="34" charset="-122"/>
                <a:cs typeface="Segoe UI Semibold" pitchFamily="34" charset="-120"/>
              </a:rPr>
              <a:t>gives permission</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 That's </a:t>
            </a:r>
            <a:pPr indent="0" marL="0">
              <a:buNone/>
            </a:pPr>
            <a:r>
              <a:rPr lang="en-US" sz="1100" b="1" dirty="0">
                <a:solidFill>
                  <a:srgbClr val="7B5CD6"/>
                </a:solidFill>
                <a:highlight>
                  <a:srgbClr val="FFF1A8"/>
                </a:highlight>
                <a:latin typeface="Segoe UI Semibold" pitchFamily="34" charset="0"/>
                <a:ea typeface="Segoe UI Semibold" pitchFamily="34" charset="-122"/>
                <a:cs typeface="Segoe UI Semibold" pitchFamily="34" charset="-120"/>
              </a:rPr>
              <a:t>rude</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a:t>
            </a:r>
            <a:endParaRPr lang="en-US" sz="110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 Does he wait for permission? · Is that polite or rude?</a:t>
            </a:r>
            <a:endParaRPr lang="en-US" sz="1100" dirty="0"/>
          </a:p>
        </p:txBody>
      </p:sp>
      <p:sp>
        <p:nvSpPr>
          <p:cNvPr id="25" name="R4_sb333"/>
          <p:cNvSpPr/>
          <p:nvPr/>
        </p:nvSpPr>
        <p:spPr>
          <a:xfrm>
            <a:off x="3200400" y="3145536"/>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6" name="R4_sl334"/>
          <p:cNvSpPr/>
          <p:nvPr/>
        </p:nvSpPr>
        <p:spPr>
          <a:xfrm>
            <a:off x="3584448" y="3108960"/>
            <a:ext cx="5303520" cy="499872"/>
          </a:xfrm>
          <a:prstGeom prst="roundRect">
            <a:avLst>
              <a:gd name="adj" fmla="val 21951"/>
            </a:avLst>
          </a:prstGeom>
          <a:solidFill>
            <a:srgbClr val="FFFFFF"/>
          </a:solidFill>
          <a:ln w="19050">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Bruno eats all the arancine. Nobody else gets one. How </a:t>
            </a:r>
            <a:pPr indent="0" marL="0">
              <a:buNone/>
            </a:pPr>
            <a:r>
              <a:rPr lang="en-US" sz="1100" b="1" dirty="0">
                <a:solidFill>
                  <a:srgbClr val="7B5CD6"/>
                </a:solidFill>
                <a:highlight>
                  <a:srgbClr val="FFF1A8"/>
                </a:highlight>
                <a:latin typeface="Segoe UI Semibold" pitchFamily="34" charset="0"/>
                <a:ea typeface="Segoe UI Semibold" pitchFamily="34" charset="-122"/>
                <a:cs typeface="Segoe UI Semibold" pitchFamily="34" charset="-120"/>
              </a:rPr>
              <a:t>selfish</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a:t>
            </a:r>
            <a:endParaRPr lang="en-US" sz="110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 Who eats the arancine? · Is Bruno selfish or generous?</a:t>
            </a:r>
            <a:endParaRPr lang="en-US" sz="1100" dirty="0"/>
          </a:p>
        </p:txBody>
      </p:sp>
      <p:sp>
        <p:nvSpPr>
          <p:cNvPr id="27" name="R5_sb335"/>
          <p:cNvSpPr/>
          <p:nvPr/>
        </p:nvSpPr>
        <p:spPr>
          <a:xfrm>
            <a:off x="3200400" y="370941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8" name="R5_sl336"/>
          <p:cNvSpPr/>
          <p:nvPr/>
        </p:nvSpPr>
        <p:spPr>
          <a:xfrm>
            <a:off x="3584448" y="3672840"/>
            <a:ext cx="5303520" cy="499872"/>
          </a:xfrm>
          <a:prstGeom prst="roundRect">
            <a:avLst>
              <a:gd name="adj" fmla="val 21951"/>
            </a:avLst>
          </a:prstGeom>
          <a:solidFill>
            <a:srgbClr val="FFFFFF"/>
          </a:solidFill>
          <a:ln w="19050">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Then Marco checks his phone at the table. He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shouldn't</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 it's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inconsiderate</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a:t>
            </a:r>
            <a:endParaRPr lang="en-US" sz="95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Does he check his phone or his watch? · Should he do that?</a:t>
            </a:r>
            <a:endParaRPr lang="en-US" sz="950" dirty="0"/>
          </a:p>
        </p:txBody>
      </p:sp>
      <p:sp>
        <p:nvSpPr>
          <p:cNvPr id="29" name="R6_sb337"/>
          <p:cNvSpPr/>
          <p:nvPr/>
        </p:nvSpPr>
        <p:spPr>
          <a:xfrm>
            <a:off x="3200400" y="427329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0" name="R6_sl338"/>
          <p:cNvSpPr/>
          <p:nvPr/>
        </p:nvSpPr>
        <p:spPr>
          <a:xfrm>
            <a:off x="3584448" y="4236720"/>
            <a:ext cx="5303520" cy="499872"/>
          </a:xfrm>
          <a:prstGeom prst="roundRect">
            <a:avLst>
              <a:gd name="adj" fmla="val 21951"/>
            </a:avLst>
          </a:prstGeom>
          <a:solidFill>
            <a:srgbClr val="FFFFFF"/>
          </a:solidFill>
          <a:ln w="19050">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Signora Rizzo offers more pasta. Marco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declines</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She's offended – it's Sicily!</a:t>
            </a:r>
            <a:endParaRPr lang="en-US" sz="95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Does Marco accept or decline? · And you – what's rude at the table?</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400"/>
                                        <p:tgtEl>
                                          <p:spTgt spid="27"/>
                                        </p:tgtEl>
                                      </p:cBhvr>
                                    </p:animEffec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400"/>
                                        <p:tgtEl>
                                          <p:spTgt spid="29"/>
                                        </p:tgtEl>
                                      </p:cBhvr>
                                    </p:animEffect>
                                  </p:childTnLst>
                                </p:cTn>
                              </p:par>
                              <p:par>
                                <p:cTn id="48" presetID="10" presetClass="entr" presetSubtype="0" fill="hold"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3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40"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341"/>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Manners: Sicily vs Britain</a:t>
            </a:r>
            <a:endParaRPr lang="en-US" sz="2500" dirty="0"/>
          </a:p>
        </p:txBody>
      </p:sp>
      <p:pic>
        <p:nvPicPr>
          <p:cNvPr id="6" name="brP_342"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343"/>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Then ask: And you? Why?</a:t>
            </a:r>
            <a:endParaRPr lang="en-US" sz="1250" dirty="0"/>
          </a:p>
        </p:txBody>
      </p:sp>
      <p:sp>
        <p:nvSpPr>
          <p:cNvPr id="8" name="insIT_34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Rispondi. Poi chiedi: E tu? Perché?</a:t>
            </a:r>
            <a:endParaRPr lang="en-US" sz="950" dirty="0"/>
          </a:p>
        </p:txBody>
      </p:sp>
      <p:sp>
        <p:nvSpPr>
          <p:cNvPr id="9" name="cmd_345"/>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346"/>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347"/>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34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4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Speaking · Sicily vs Britain   ·   📖 SB p.38 · 5e</a:t>
            </a:r>
            <a:endParaRPr lang="en-US" sz="800" dirty="0"/>
          </a:p>
        </p:txBody>
      </p:sp>
      <p:sp>
        <p:nvSpPr>
          <p:cNvPr id="14" name="pf_350"/>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351" descr="/home/claude/lls-course/v2/cache/spare_1b2_culture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352"/>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353"/>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54"/>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355"/>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In Sicily we usually…</a:t>
            </a:r>
            <a:endParaRPr lang="en-US" sz="1050" dirty="0"/>
          </a:p>
          <a:p>
            <a:pPr marL="152400" indent="-152400">
              <a:spcBef>
                <a:spcPts val="5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 think it's rude / polite to…</a:t>
            </a:r>
            <a:endParaRPr lang="en-US" sz="1050" dirty="0"/>
          </a:p>
          <a:p>
            <a:pPr marL="152400" indent="-152400">
              <a:spcBef>
                <a:spcPts val="5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You shouldn't… because…</a:t>
            </a:r>
            <a:endParaRPr lang="en-US" sz="1050" dirty="0"/>
          </a:p>
        </p:txBody>
      </p:sp>
      <p:sp>
        <p:nvSpPr>
          <p:cNvPr id="20" name="R1_qb356"/>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357"/>
          <p:cNvSpPr/>
          <p:nvPr/>
        </p:nvSpPr>
        <p:spPr>
          <a:xfrm>
            <a:off x="3675888" y="141732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Debrett's: no kissing at work. How do you greet a friend in Sicily?</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Two kisses for friends – a handshake for my teacher!</a:t>
            </a:r>
            <a:endParaRPr lang="en-US" sz="1050" dirty="0"/>
          </a:p>
        </p:txBody>
      </p:sp>
      <p:sp>
        <p:nvSpPr>
          <p:cNvPr id="22" name="R2_qb358"/>
          <p:cNvSpPr/>
          <p:nvPr/>
        </p:nvSpPr>
        <p:spPr>
          <a:xfrm>
            <a:off x="3273552" y="201015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359"/>
          <p:cNvSpPr/>
          <p:nvPr/>
        </p:nvSpPr>
        <p:spPr>
          <a:xfrm>
            <a:off x="3675888" y="1973580"/>
            <a:ext cx="45079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What else shouldn't people do on the bus or train?</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They shouldn't play music without headphones!</a:t>
            </a:r>
            <a:endParaRPr lang="en-US" sz="1200" dirty="0"/>
          </a:p>
        </p:txBody>
      </p:sp>
      <p:pic>
        <p:nvPicPr>
          <p:cNvPr id="24" name="R2_th360" descr="/home/claude/lls-course/v2/cache/4a1_public_transport_jpg_154x107_18.png">    </p:cNvPr>
          <p:cNvPicPr>
            <a:picLocks noChangeAspect="1"/>
          </p:cNvPicPr>
          <p:nvPr/>
        </p:nvPicPr>
        <p:blipFill>
          <a:blip r:embed="rId6"/>
          <a:stretch>
            <a:fillRect/>
          </a:stretch>
        </p:blipFill>
        <p:spPr>
          <a:xfrm>
            <a:off x="8257032" y="1991868"/>
            <a:ext cx="640080" cy="446532"/>
          </a:xfrm>
          <a:prstGeom prst="rect">
            <a:avLst/>
          </a:prstGeom>
        </p:spPr>
      </p:pic>
      <p:sp>
        <p:nvSpPr>
          <p:cNvPr id="25" name="R3_qb361"/>
          <p:cNvSpPr/>
          <p:nvPr/>
        </p:nvSpPr>
        <p:spPr>
          <a:xfrm>
            <a:off x="3273552" y="256641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362"/>
          <p:cNvSpPr/>
          <p:nvPr/>
        </p:nvSpPr>
        <p:spPr>
          <a:xfrm>
            <a:off x="3675888" y="2529840"/>
            <a:ext cx="5193792" cy="483108"/>
          </a:xfrm>
          <a:prstGeom prst="roundRect">
            <a:avLst>
              <a:gd name="adj" fmla="val 22713"/>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850" dirty="0">
                <a:solidFill>
                  <a:srgbClr val="1B2559"/>
                </a:solidFill>
                <a:latin typeface="Segoe UI Semibold" pitchFamily="34" charset="0"/>
                <a:ea typeface="Segoe UI Semibold" pitchFamily="34" charset="-122"/>
                <a:cs typeface="Segoe UI Semibold" pitchFamily="34" charset="-120"/>
              </a:rPr>
              <a:t>Only 20% of Tube passengers gave up their seat to a pregnant woman. Would you?</a:t>
            </a:r>
            <a:endParaRPr lang="en-US" sz="85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e.g. Yes, of course! You should always offer your seat.</a:t>
            </a:r>
            <a:endParaRPr lang="en-US" sz="850" dirty="0"/>
          </a:p>
        </p:txBody>
      </p:sp>
      <p:sp>
        <p:nvSpPr>
          <p:cNvPr id="27" name="R4_qb363"/>
          <p:cNvSpPr/>
          <p:nvPr/>
        </p:nvSpPr>
        <p:spPr>
          <a:xfrm>
            <a:off x="3273552" y="31226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364"/>
          <p:cNvSpPr/>
          <p:nvPr/>
        </p:nvSpPr>
        <p:spPr>
          <a:xfrm>
            <a:off x="3675888" y="3086100"/>
            <a:ext cx="5193792" cy="483108"/>
          </a:xfrm>
          <a:prstGeom prst="roundRect">
            <a:avLst>
              <a:gd name="adj" fmla="val 22713"/>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else should you ask the host's permission to do?</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You should ask before you open their fridge!</a:t>
            </a:r>
            <a:endParaRPr lang="en-US" sz="1250" dirty="0"/>
          </a:p>
        </p:txBody>
      </p:sp>
      <p:sp>
        <p:nvSpPr>
          <p:cNvPr id="29" name="R5_qb365"/>
          <p:cNvSpPr/>
          <p:nvPr/>
        </p:nvSpPr>
        <p:spPr>
          <a:xfrm>
            <a:off x="3273552" y="367893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366"/>
          <p:cNvSpPr/>
          <p:nvPr/>
        </p:nvSpPr>
        <p:spPr>
          <a:xfrm>
            <a:off x="3675888" y="364236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Be honest: are you ever rude to anyone in your family?</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Sometimes… I'm on my phone at dinner!</a:t>
            </a:r>
            <a:endParaRPr lang="en-US" sz="1250" dirty="0"/>
          </a:p>
        </p:txBody>
      </p:sp>
      <p:sp>
        <p:nvSpPr>
          <p:cNvPr id="31" name="R6_qb367"/>
          <p:cNvSpPr/>
          <p:nvPr/>
        </p:nvSpPr>
        <p:spPr>
          <a:xfrm>
            <a:off x="3273552" y="423519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2" name="R6_sq368"/>
          <p:cNvSpPr/>
          <p:nvPr/>
        </p:nvSpPr>
        <p:spPr>
          <a:xfrm>
            <a:off x="3675888" y="419862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Do you think manners are important? Why (not)?</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Yes – good manners make life easier for everyone.</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400"/>
                                        <p:tgtEl>
                                          <p:spTgt spid="31"/>
                                        </p:tgtEl>
                                      </p:cBhvr>
                                    </p:animEffect>
                                  </p:childTnLst>
                                </p:cTn>
                              </p:par>
                              <p:par>
                                <p:cTn id="51" presetID="10"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69"/>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70"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371"/>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Help! My relatives…</a:t>
            </a:r>
            <a:endParaRPr lang="en-US" sz="2500" dirty="0"/>
          </a:p>
        </p:txBody>
      </p:sp>
      <p:pic>
        <p:nvPicPr>
          <p:cNvPr id="6" name="brP_372"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373"/>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Who is the problem? What do they do?</a:t>
            </a:r>
            <a:endParaRPr lang="en-US" sz="1250" dirty="0"/>
          </a:p>
        </p:txBody>
      </p:sp>
      <p:sp>
        <p:nvSpPr>
          <p:cNvPr id="8" name="insIT_37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Chi è il problema? Cosa fa?</a:t>
            </a:r>
            <a:endParaRPr lang="en-US" sz="950" dirty="0"/>
          </a:p>
        </p:txBody>
      </p:sp>
      <p:sp>
        <p:nvSpPr>
          <p:cNvPr id="9" name="cmd_375"/>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376"/>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377"/>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Listening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for gist</a:t>
            </a:r>
            <a:endParaRPr lang="en-US" sz="850" dirty="0"/>
          </a:p>
        </p:txBody>
      </p:sp>
      <p:pic>
        <p:nvPicPr>
          <p:cNvPr id="12" name="logo_37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7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Listening · rude relatives (gist)   ·   📖 SB p.39 · 6a · audio 4.9</a:t>
            </a:r>
            <a:endParaRPr lang="en-US" sz="800" dirty="0"/>
          </a:p>
        </p:txBody>
      </p:sp>
      <p:sp>
        <p:nvSpPr>
          <p:cNvPr id="14" name="ap_380"/>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4.9  ·  play once, pause after each caller</a:t>
            </a:r>
            <a:endParaRPr lang="en-US" sz="1100" dirty="0"/>
          </a:p>
        </p:txBody>
      </p:sp>
      <p:sp>
        <p:nvSpPr>
          <p:cNvPr id="15" name="ah_381"/>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7" name="ah_382"/>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9" name="ah2_383"/>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speaker bottom right</a:t>
            </a:r>
            <a:endParaRPr lang="en-US" sz="900" dirty="0"/>
          </a:p>
        </p:txBody>
      </p:sp>
      <p:sp>
        <p:nvSpPr>
          <p:cNvPr id="20" name="pf_384"/>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1" name="phx_385"/>
          <p:cNvSpPr/>
          <p:nvPr/>
        </p:nvSpPr>
        <p:spPr>
          <a:xfrm>
            <a:off x="45720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4a2-mother-in-law.jpg</a:t>
            </a:r>
            <a:endParaRPr lang="en-US" sz="900" dirty="0"/>
          </a:p>
        </p:txBody>
      </p:sp>
      <p:sp>
        <p:nvSpPr>
          <p:cNvPr id="22" name="bd_386"/>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3" name="pf_387"/>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4" name="phx_388"/>
          <p:cNvSpPr/>
          <p:nvPr/>
        </p:nvSpPr>
        <p:spPr>
          <a:xfrm>
            <a:off x="233172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4a2-puppy.jpg</a:t>
            </a:r>
            <a:endParaRPr lang="en-US" sz="900" dirty="0"/>
          </a:p>
        </p:txBody>
      </p:sp>
      <p:sp>
        <p:nvSpPr>
          <p:cNvPr id="25" name="bd_389"/>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6" name="pf_390"/>
          <p:cNvSpPr/>
          <p:nvPr/>
        </p:nvSpPr>
        <p:spPr>
          <a:xfrm rot="-90000">
            <a:off x="416052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7" name="phx_391"/>
          <p:cNvSpPr/>
          <p:nvPr/>
        </p:nvSpPr>
        <p:spPr>
          <a:xfrm>
            <a:off x="420624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4a2-radio-advice.jpg</a:t>
            </a:r>
            <a:endParaRPr lang="en-US" sz="900" dirty="0"/>
          </a:p>
        </p:txBody>
      </p:sp>
      <p:sp>
        <p:nvSpPr>
          <p:cNvPr id="28" name="bd_392"/>
          <p:cNvSpPr/>
          <p:nvPr/>
        </p:nvSpPr>
        <p:spPr>
          <a:xfrm>
            <a:off x="4059936" y="1956816"/>
            <a:ext cx="420624" cy="42062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C</a:t>
            </a:r>
            <a:endParaRPr lang="en-US" sz="1400" dirty="0"/>
          </a:p>
        </p:txBody>
      </p:sp>
      <p:sp>
        <p:nvSpPr>
          <p:cNvPr id="29" name="cd_393"/>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0" name="ii_394"/>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1" name="ih_395"/>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32" name="il_396"/>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Look at A and B. Guess the problems.</a:t>
            </a:r>
            <a:endParaRPr lang="en-US" sz="700" dirty="0"/>
          </a:p>
          <a:p>
            <a:pPr marL="152400" indent="-152400">
              <a:spcAft>
                <a:spcPts val="200"/>
              </a:spcAft>
              <a:buSzPct val="100000"/>
              <a:buChar char=" "/>
            </a:pPr>
            <a:r>
              <a:rPr lang="en-US" sz="700" i="1" dirty="0">
                <a:solidFill>
                  <a:srgbClr val="5B6785"/>
                </a:solidFill>
                <a:latin typeface="Segoe UI Semibold" pitchFamily="34" charset="0"/>
                <a:ea typeface="Segoe UI Semibold" pitchFamily="34" charset="-122"/>
                <a:cs typeface="Segoe UI Semibold" pitchFamily="34" charset="-120"/>
              </a:rPr>
              <a:t>Guarda A e B. Indovina i problemi.</a:t>
            </a:r>
            <a:endParaRPr lang="en-US" sz="700" dirty="0"/>
          </a:p>
          <a:p>
            <a:pPr marL="152400" indent="-152400">
              <a:spcBef>
                <a:spcPts val="5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Listen. Who is the problem? What do they do?</a:t>
            </a:r>
            <a:endParaRPr lang="en-US" sz="700" dirty="0"/>
          </a:p>
          <a:p>
            <a:pPr marL="152400" indent="-152400">
              <a:spcAft>
                <a:spcPts val="200"/>
              </a:spcAft>
              <a:buSzPct val="100000"/>
              <a:buChar char=" "/>
            </a:pPr>
            <a:r>
              <a:rPr lang="en-US" sz="700" i="1" dirty="0">
                <a:solidFill>
                  <a:srgbClr val="5B6785"/>
                </a:solidFill>
                <a:latin typeface="Segoe UI Semibold" pitchFamily="34" charset="0"/>
                <a:ea typeface="Segoe UI Semibold" pitchFamily="34" charset="-122"/>
                <a:cs typeface="Segoe UI Semibold" pitchFamily="34" charset="-120"/>
              </a:rPr>
              <a:t>Ascolta. Chi è il problema? Cosa fa?</a:t>
            </a:r>
            <a:endParaRPr lang="en-US" sz="700" dirty="0"/>
          </a:p>
        </p:txBody>
      </p:sp>
      <p:sp>
        <p:nvSpPr>
          <p:cNvPr id="33" name="lq_397"/>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1 Belinda</a:t>
            </a:r>
            <a:endParaRPr lang="en-US" sz="1100" dirty="0"/>
          </a:p>
        </p:txBody>
      </p:sp>
      <p:sp>
        <p:nvSpPr>
          <p:cNvPr id="34" name="R1_chip398"/>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 mother-in-law: criticizes her cooking</a:t>
            </a:r>
            <a:endParaRPr lang="en-US" sz="1050" dirty="0"/>
          </a:p>
        </p:txBody>
      </p:sp>
      <p:sp>
        <p:nvSpPr>
          <p:cNvPr id="35" name="lq_399"/>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2 Damien</a:t>
            </a:r>
            <a:endParaRPr lang="en-US" sz="1100" dirty="0"/>
          </a:p>
        </p:txBody>
      </p:sp>
      <p:sp>
        <p:nvSpPr>
          <p:cNvPr id="36" name="R2_chip400"/>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B · brother: brings his new puppy</a:t>
            </a:r>
            <a:endParaRPr lang="en-US" sz="1050" dirty="0"/>
          </a:p>
        </p:txBody>
      </p:sp>
      <p:sp>
        <p:nvSpPr>
          <p:cNvPr id="37" name="lq_401"/>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3 Miranda</a:t>
            </a:r>
            <a:endParaRPr lang="en-US" sz="1100" dirty="0"/>
          </a:p>
        </p:txBody>
      </p:sp>
      <p:sp>
        <p:nvSpPr>
          <p:cNvPr id="38" name="R3_chip402"/>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nephew (8): writes on the walls!</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4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8" restart="whenNotActive" fill="hold" evtFilter="cancelBubble" nodeType="interactiveSeq">
                <p:stCondLst>
                  <p:cond evt="onClick" delay="0">
                    <p:tgtEl>
                      <p:spTgt spid="1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6"/>
                                        </p:tgtEl>
                                      </p:cBhvr>
                                    </p:cmd>
                                  </p:childTnLst>
                                </p:cTn>
                              </p:par>
                            </p:childTnLst>
                          </p:cTn>
                        </p:par>
                      </p:childTnLst>
                    </p:cTn>
                  </p:par>
                </p:childTnLst>
              </p:cTn>
              <p:nextCondLst>
                <p:cond evt="onClick" delay="0">
                  <p:tgtEl>
                    <p:spTgt spid="16"/>
                  </p:tgtEl>
                </p:cond>
              </p:nextCondLst>
            </p:seq>
            <p:seq concurrent="1" nextAc="seek">
              <p:cTn id="23" restart="whenNotActive" fill="hold" evtFilter="cancelBubble" nodeType="interactiveSeq">
                <p:stCondLst>
                  <p:cond evt="onClick" delay="0">
                    <p:tgtEl>
                      <p:spTgt spid="18"/>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8"/>
                                        </p:tgtEl>
                                      </p:cBhvr>
                                    </p:cmd>
                                  </p:childTnLst>
                                </p:cTn>
                              </p:par>
                            </p:childTnLst>
                          </p:cTn>
                        </p:par>
                      </p:childTnLst>
                    </p:cTn>
                  </p:par>
                </p:childTnLst>
              </p:cTn>
              <p:nextCondLst>
                <p:cond evt="onClick" delay="0">
                  <p:tgtEl>
                    <p:spTgt spid="18"/>
                  </p:tgtEl>
                </p:cond>
              </p:nextCondLst>
            </p:seq>
            <p:audio>
              <p:cMediaNode vol="80000">
                <p:cTn id="28" fill="hold" display="0">
                  <p:stCondLst>
                    <p:cond delay="indefinite"/>
                  </p:stCondLst>
                  <p:endCondLst>
                    <p:cond evt="onStopAudio" delay="0">
                      <p:tgtEl>
                        <p:sldTgt/>
                      </p:tgtEl>
                    </p:cond>
                  </p:endCondLst>
                </p:cTn>
                <p:tgtEl>
                  <p:spTgt spid="16"/>
                </p:tgtEl>
              </p:cMediaNode>
            </p:audio>
            <p:audio>
              <p:cMediaNode vol="80000">
                <p:cTn id="29" fill="hold" display="0">
                  <p:stCondLst>
                    <p:cond delay="indefinite"/>
                  </p:stCondLst>
                  <p:endCondLst>
                    <p:cond evt="onStopAudio" delay="0">
                      <p:tgtEl>
                        <p:sldTgt/>
                      </p:tgtEl>
                    </p:cond>
                  </p:endCondLst>
                </p:cTn>
                <p:tgtEl>
                  <p:spTgt spid="18"/>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03"/>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04"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405"/>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should they do?</a:t>
            </a:r>
            <a:endParaRPr lang="en-US" sz="2500" dirty="0"/>
          </a:p>
        </p:txBody>
      </p:sp>
      <p:pic>
        <p:nvPicPr>
          <p:cNvPr id="6" name="brP_406"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407"/>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Your advice first! Then listen and complete.</a:t>
            </a:r>
            <a:endParaRPr lang="en-US" sz="1250" dirty="0"/>
          </a:p>
        </p:txBody>
      </p:sp>
      <p:sp>
        <p:nvSpPr>
          <p:cNvPr id="8" name="insIT_40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Prima il tuo consiglio! Poi ascolta e completa.</a:t>
            </a:r>
            <a:endParaRPr lang="en-US" sz="950" dirty="0"/>
          </a:p>
        </p:txBody>
      </p:sp>
      <p:sp>
        <p:nvSpPr>
          <p:cNvPr id="9" name="cmd_40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410"/>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411"/>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412"/>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Listening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for detail</a:t>
            </a:r>
            <a:endParaRPr lang="en-US" sz="850" dirty="0"/>
          </a:p>
        </p:txBody>
      </p:sp>
      <p:pic>
        <p:nvPicPr>
          <p:cNvPr id="13" name="logo_41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1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Listening · the expert's advice (detail)   ·   📖 SB p.39 · 6b, 6c · audio 4.10</a:t>
            </a:r>
            <a:endParaRPr lang="en-US" sz="800" dirty="0"/>
          </a:p>
        </p:txBody>
      </p:sp>
      <p:sp>
        <p:nvSpPr>
          <p:cNvPr id="15" name="ap_415"/>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4.10  ·  pause after each piece of advice</a:t>
            </a:r>
            <a:endParaRPr lang="en-US" sz="1100" dirty="0"/>
          </a:p>
        </p:txBody>
      </p:sp>
      <p:sp>
        <p:nvSpPr>
          <p:cNvPr id="16" name="ah_416"/>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8" name="ah_417"/>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9"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0" name="pf_418"/>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1" name="phx_419"/>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4a2-radio-advice.jpg</a:t>
            </a:r>
            <a:endParaRPr lang="en-US" sz="900" dirty="0"/>
          </a:p>
        </p:txBody>
      </p:sp>
      <p:sp>
        <p:nvSpPr>
          <p:cNvPr id="22" name="cd_420"/>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3" name="ii_421"/>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ih_422"/>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5" name="il_423"/>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6" name="gq_424"/>
          <p:cNvSpPr/>
          <p:nvPr/>
        </p:nvSpPr>
        <p:spPr>
          <a:xfrm>
            <a:off x="3383280" y="1417320"/>
            <a:ext cx="3337560" cy="406255"/>
          </a:xfrm>
          <a:prstGeom prst="roundRect">
            <a:avLst>
              <a:gd name="adj" fmla="val 2250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You ought to be the one who ___.</a:t>
            </a:r>
            <a:endParaRPr lang="en-US" sz="1200" dirty="0"/>
          </a:p>
        </p:txBody>
      </p:sp>
      <p:sp>
        <p:nvSpPr>
          <p:cNvPr id="27" name="R1_chip425"/>
          <p:cNvSpPr/>
          <p:nvPr/>
        </p:nvSpPr>
        <p:spPr>
          <a:xfrm>
            <a:off x="6812280" y="1417320"/>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behaves well</a:t>
            </a:r>
            <a:endParaRPr lang="en-US" sz="1200" dirty="0"/>
          </a:p>
        </p:txBody>
      </p:sp>
      <p:sp>
        <p:nvSpPr>
          <p:cNvPr id="28" name="gq_426"/>
          <p:cNvSpPr/>
          <p:nvPr/>
        </p:nvSpPr>
        <p:spPr>
          <a:xfrm>
            <a:off x="3383280" y="1887583"/>
            <a:ext cx="3337560" cy="406255"/>
          </a:xfrm>
          <a:prstGeom prst="roundRect">
            <a:avLst>
              <a:gd name="adj" fmla="val 2250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You shouldn't ___ – she won't change her opinion.</a:t>
            </a:r>
            <a:endParaRPr lang="en-US" sz="1200" dirty="0"/>
          </a:p>
        </p:txBody>
      </p:sp>
      <p:sp>
        <p:nvSpPr>
          <p:cNvPr id="29" name="R2_chip427"/>
          <p:cNvSpPr/>
          <p:nvPr/>
        </p:nvSpPr>
        <p:spPr>
          <a:xfrm>
            <a:off x="6812280" y="1887583"/>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argue with her</a:t>
            </a:r>
            <a:endParaRPr lang="en-US" sz="1200" dirty="0"/>
          </a:p>
        </p:txBody>
      </p:sp>
      <p:sp>
        <p:nvSpPr>
          <p:cNvPr id="30" name="gq_428"/>
          <p:cNvSpPr/>
          <p:nvPr/>
        </p:nvSpPr>
        <p:spPr>
          <a:xfrm>
            <a:off x="3383280" y="2357846"/>
            <a:ext cx="3337560" cy="406255"/>
          </a:xfrm>
          <a:prstGeom prst="roundRect">
            <a:avLst>
              <a:gd name="adj" fmla="val 2250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You should politely but directly ___.</a:t>
            </a:r>
            <a:endParaRPr lang="en-US" sz="1200" dirty="0"/>
          </a:p>
        </p:txBody>
      </p:sp>
      <p:sp>
        <p:nvSpPr>
          <p:cNvPr id="31" name="R3_chip429"/>
          <p:cNvSpPr/>
          <p:nvPr/>
        </p:nvSpPr>
        <p:spPr>
          <a:xfrm>
            <a:off x="6812280" y="2357846"/>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say how you feel</a:t>
            </a:r>
            <a:endParaRPr lang="en-US" sz="1200" dirty="0"/>
          </a:p>
        </p:txBody>
      </p:sp>
      <p:sp>
        <p:nvSpPr>
          <p:cNvPr id="32" name="gq_430"/>
          <p:cNvSpPr/>
          <p:nvPr/>
        </p:nvSpPr>
        <p:spPr>
          <a:xfrm>
            <a:off x="3383280" y="2828109"/>
            <a:ext cx="3337560" cy="406255"/>
          </a:xfrm>
          <a:prstGeom prst="roundRect">
            <a:avLst>
              <a:gd name="adj" fmla="val 2250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To be honest, you don't really have to ___.</a:t>
            </a:r>
            <a:endParaRPr lang="en-US" sz="1200" dirty="0"/>
          </a:p>
        </p:txBody>
      </p:sp>
      <p:sp>
        <p:nvSpPr>
          <p:cNvPr id="33" name="R4_chip431"/>
          <p:cNvSpPr/>
          <p:nvPr/>
        </p:nvSpPr>
        <p:spPr>
          <a:xfrm>
            <a:off x="6812280" y="2828109"/>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give a reason</a:t>
            </a:r>
            <a:endParaRPr lang="en-US" sz="1200" dirty="0"/>
          </a:p>
        </p:txBody>
      </p:sp>
      <p:sp>
        <p:nvSpPr>
          <p:cNvPr id="34" name="gq_432"/>
          <p:cNvSpPr/>
          <p:nvPr/>
        </p:nvSpPr>
        <p:spPr>
          <a:xfrm>
            <a:off x="3383280" y="3298371"/>
            <a:ext cx="3337560" cy="406255"/>
          </a:xfrm>
          <a:prstGeom prst="roundRect">
            <a:avLst>
              <a:gd name="adj" fmla="val 2250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You must ___ before their next visit.</a:t>
            </a:r>
            <a:endParaRPr lang="en-US" sz="1200" dirty="0"/>
          </a:p>
        </p:txBody>
      </p:sp>
      <p:sp>
        <p:nvSpPr>
          <p:cNvPr id="35" name="R5_chip433"/>
          <p:cNvSpPr/>
          <p:nvPr/>
        </p:nvSpPr>
        <p:spPr>
          <a:xfrm>
            <a:off x="6812280" y="3298371"/>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speak to his parents</a:t>
            </a:r>
            <a:endParaRPr lang="en-US" sz="1200" dirty="0"/>
          </a:p>
        </p:txBody>
      </p:sp>
      <p:sp>
        <p:nvSpPr>
          <p:cNvPr id="36" name="gq_434"/>
          <p:cNvSpPr/>
          <p:nvPr/>
        </p:nvSpPr>
        <p:spPr>
          <a:xfrm>
            <a:off x="3383280" y="3768634"/>
            <a:ext cx="3337560" cy="406255"/>
          </a:xfrm>
          <a:prstGeom prst="roundRect">
            <a:avLst>
              <a:gd name="adj" fmla="val 2250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He has to ___ a bit when he's visiting.</a:t>
            </a:r>
            <a:endParaRPr lang="en-US" sz="1200" dirty="0"/>
          </a:p>
        </p:txBody>
      </p:sp>
      <p:sp>
        <p:nvSpPr>
          <p:cNvPr id="37" name="R6_chip435"/>
          <p:cNvSpPr/>
          <p:nvPr/>
        </p:nvSpPr>
        <p:spPr>
          <a:xfrm>
            <a:off x="6812280" y="3768634"/>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calm down</a:t>
            </a:r>
            <a:endParaRPr lang="en-US" sz="1200" dirty="0"/>
          </a:p>
        </p:txBody>
      </p:sp>
      <p:sp>
        <p:nvSpPr>
          <p:cNvPr id="38" name="gq_436"/>
          <p:cNvSpPr/>
          <p:nvPr/>
        </p:nvSpPr>
        <p:spPr>
          <a:xfrm>
            <a:off x="3383280" y="4238897"/>
            <a:ext cx="3337560" cy="406255"/>
          </a:xfrm>
          <a:prstGeom prst="roundRect">
            <a:avLst>
              <a:gd name="adj" fmla="val 2250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7 'You mustn't ___ .'</a:t>
            </a:r>
            <a:endParaRPr lang="en-US" sz="1200" dirty="0"/>
          </a:p>
        </p:txBody>
      </p:sp>
      <p:sp>
        <p:nvSpPr>
          <p:cNvPr id="39" name="R7_chip437"/>
          <p:cNvSpPr/>
          <p:nvPr/>
        </p:nvSpPr>
        <p:spPr>
          <a:xfrm>
            <a:off x="6812280" y="4238897"/>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write on the walls</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8" restart="whenNotActive" fill="hold" evtFilter="cancelBubble" nodeType="interactiveSeq">
                <p:stCondLst>
                  <p:cond evt="onClick" delay="0">
                    <p:tgtEl>
                      <p:spTgt spid="17"/>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7"/>
                                        </p:tgtEl>
                                      </p:cBhvr>
                                    </p:cmd>
                                  </p:childTnLst>
                                </p:cTn>
                              </p:par>
                            </p:childTnLst>
                          </p:cTn>
                        </p:par>
                      </p:childTnLst>
                    </p:cTn>
                  </p:par>
                </p:childTnLst>
              </p:cTn>
              <p:nextCondLst>
                <p:cond evt="onClick" delay="0">
                  <p:tgtEl>
                    <p:spTgt spid="17"/>
                  </p:tgtEl>
                </p:cond>
              </p:nextCondLst>
            </p:seq>
            <p:seq concurrent="1" nextAc="seek">
              <p:cTn id="43" restart="whenNotActive" fill="hold" evtFilter="cancelBubble" nodeType="interactiveSeq">
                <p:stCondLst>
                  <p:cond evt="onClick" delay="0">
                    <p:tgtEl>
                      <p:spTgt spid="19"/>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9"/>
                                        </p:tgtEl>
                                      </p:cBhvr>
                                    </p:cmd>
                                  </p:childTnLst>
                                </p:cTn>
                              </p:par>
                            </p:childTnLst>
                          </p:cTn>
                        </p:par>
                      </p:childTnLst>
                    </p:cTn>
                  </p:par>
                </p:childTnLst>
              </p:cTn>
              <p:nextCondLst>
                <p:cond evt="onClick" delay="0">
                  <p:tgtEl>
                    <p:spTgt spid="19"/>
                  </p:tgtEl>
                </p:cond>
              </p:nextCondLst>
            </p:seq>
            <p:audio>
              <p:cMediaNode vol="80000">
                <p:cTn id="48" fill="hold" display="0">
                  <p:stCondLst>
                    <p:cond delay="indefinite"/>
                  </p:stCondLst>
                  <p:endCondLst>
                    <p:cond evt="onStopAudio" delay="0">
                      <p:tgtEl>
                        <p:sldTgt/>
                      </p:tgtEl>
                    </p:cond>
                  </p:endCondLst>
                </p:cTn>
                <p:tgtEl>
                  <p:spTgt spid="17"/>
                </p:tgtEl>
              </p:cMediaNode>
            </p:audio>
            <p:audio>
              <p:cMediaNode vol="80000">
                <p:cTn id="49" fill="hold" display="0">
                  <p:stCondLst>
                    <p:cond delay="indefinite"/>
                  </p:stCondLst>
                  <p:endCondLst>
                    <p:cond evt="onStopAudio" delay="0">
                      <p:tgtEl>
                        <p:sldTgt/>
                      </p:tgtEl>
                    </p:cond>
                  </p:endCondLst>
                </p:cTn>
                <p:tgtEl>
                  <p:spTgt spid="19"/>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38"/>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39"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440"/>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 else does Sarah say?</a:t>
            </a:r>
            <a:endParaRPr lang="en-US" sz="2400" dirty="0"/>
          </a:p>
        </p:txBody>
      </p:sp>
      <p:pic>
        <p:nvPicPr>
          <p:cNvPr id="6" name="brP_441"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442"/>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the whole show. Answer.</a:t>
            </a:r>
            <a:endParaRPr lang="en-US" sz="1250" dirty="0"/>
          </a:p>
        </p:txBody>
      </p:sp>
      <p:sp>
        <p:nvSpPr>
          <p:cNvPr id="8" name="insIT_44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tutto il programma. Rispondi.</a:t>
            </a:r>
            <a:endParaRPr lang="en-US" sz="950" dirty="0"/>
          </a:p>
        </p:txBody>
      </p:sp>
      <p:sp>
        <p:nvSpPr>
          <p:cNvPr id="9" name="cmd_444"/>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445"/>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446"/>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Listening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for detail</a:t>
            </a:r>
            <a:endParaRPr lang="en-US" sz="850" dirty="0"/>
          </a:p>
        </p:txBody>
      </p:sp>
      <p:pic>
        <p:nvPicPr>
          <p:cNvPr id="12" name="logo_44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4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Listening · the whole programme   ·   📖 SB p.39 · 6d · audio 4.11 (script p.127)</a:t>
            </a:r>
            <a:endParaRPr lang="en-US" sz="800" dirty="0"/>
          </a:p>
        </p:txBody>
      </p:sp>
      <p:sp>
        <p:nvSpPr>
          <p:cNvPr id="14" name="ap_449"/>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4.11  ·  play once</a:t>
            </a:r>
            <a:endParaRPr lang="en-US" sz="1100" dirty="0"/>
          </a:p>
        </p:txBody>
      </p:sp>
      <p:sp>
        <p:nvSpPr>
          <p:cNvPr id="15" name="ah_450"/>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7" name="ah_451"/>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9" name="pf_452"/>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453"/>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4a2-puppy.jpg</a:t>
            </a:r>
            <a:endParaRPr lang="en-US" sz="900" dirty="0"/>
          </a:p>
        </p:txBody>
      </p:sp>
      <p:sp>
        <p:nvSpPr>
          <p:cNvPr id="21" name="cd_454"/>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455"/>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456"/>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457"/>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458"/>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Belinda: what 3 things should she do?</a:t>
            </a:r>
            <a:endParaRPr lang="en-US" sz="1200" dirty="0"/>
          </a:p>
        </p:txBody>
      </p:sp>
      <p:sp>
        <p:nvSpPr>
          <p:cNvPr id="26" name="R1_chip459"/>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stay calm · thank her politely · change the subject</a:t>
            </a:r>
            <a:endParaRPr lang="en-US" sz="950" dirty="0"/>
          </a:p>
        </p:txBody>
      </p:sp>
      <p:sp>
        <p:nvSpPr>
          <p:cNvPr id="27" name="gq_460"/>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Who should praise Belinda's cooking?</a:t>
            </a:r>
            <a:endParaRPr lang="en-US" sz="1200" dirty="0"/>
          </a:p>
        </p:txBody>
      </p:sp>
      <p:sp>
        <p:nvSpPr>
          <p:cNvPr id="28" name="R2_chip461"/>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her husband (or another relative)</a:t>
            </a:r>
            <a:endParaRPr lang="en-US" sz="1200" dirty="0"/>
          </a:p>
        </p:txBody>
      </p:sp>
      <p:sp>
        <p:nvSpPr>
          <p:cNvPr id="29" name="gq_462"/>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Is it rude to bring a dog to someone's house?</a:t>
            </a:r>
            <a:endParaRPr lang="en-US" sz="1200" dirty="0"/>
          </a:p>
        </p:txBody>
      </p:sp>
      <p:sp>
        <p:nvSpPr>
          <p:cNvPr id="30" name="R3_chip463"/>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yes – it's bad manners to bring an uninvited pet</a:t>
            </a:r>
            <a:endParaRPr lang="en-US" sz="1100" dirty="0"/>
          </a:p>
        </p:txBody>
      </p:sp>
      <p:sp>
        <p:nvSpPr>
          <p:cNvPr id="31" name="gq_464"/>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Miranda: what should she say to his parents first?</a:t>
            </a:r>
            <a:endParaRPr lang="en-US" sz="1200" dirty="0"/>
          </a:p>
        </p:txBody>
      </p:sp>
      <p:sp>
        <p:nvSpPr>
          <p:cNvPr id="32" name="R4_chip465"/>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how great it is that he has so much energy</a:t>
            </a:r>
            <a:endParaRPr lang="en-US" sz="1200" dirty="0"/>
          </a:p>
        </p:txBody>
      </p:sp>
      <p:sp>
        <p:nvSpPr>
          <p:cNvPr id="33" name="gq_466"/>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What should she do at the start of the next visit?</a:t>
            </a:r>
            <a:endParaRPr lang="en-US" sz="1200" dirty="0"/>
          </a:p>
        </p:txBody>
      </p:sp>
      <p:sp>
        <p:nvSpPr>
          <p:cNvPr id="34" name="R5_chip467"/>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welcome him, then give him some house rules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16"/>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6"/>
                                        </p:tgtEl>
                                      </p:cBhvr>
                                    </p:cmd>
                                  </p:childTnLst>
                                </p:cTn>
                              </p:par>
                            </p:childTnLst>
                          </p:cTn>
                        </p:par>
                      </p:childTnLst>
                    </p:cTn>
                  </p:par>
                </p:childTnLst>
              </p:cTn>
              <p:nextCondLst>
                <p:cond evt="onClick" delay="0">
                  <p:tgtEl>
                    <p:spTgt spid="16"/>
                  </p:tgtEl>
                </p:cond>
              </p:nextCondLst>
            </p:seq>
            <p:seq concurrent="1" nextAc="seek">
              <p:cTn id="33" restart="whenNotActive" fill="hold" evtFilter="cancelBubble" nodeType="interactiveSeq">
                <p:stCondLst>
                  <p:cond evt="onClick" delay="0">
                    <p:tgtEl>
                      <p:spTgt spid="18"/>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8"/>
                                        </p:tgtEl>
                                      </p:cBhvr>
                                    </p:cmd>
                                  </p:childTnLst>
                                </p:cTn>
                              </p:par>
                            </p:childTnLst>
                          </p:cTn>
                        </p:par>
                      </p:childTnLst>
                    </p:cTn>
                  </p:par>
                </p:childTnLst>
              </p:cTn>
              <p:nextCondLst>
                <p:cond evt="onClick" delay="0">
                  <p:tgtEl>
                    <p:spTgt spid="18"/>
                  </p:tgtEl>
                </p:cond>
              </p:nextCondLst>
            </p:seq>
            <p:audio>
              <p:cMediaNode vol="80000">
                <p:cTn id="38" fill="hold" display="0">
                  <p:stCondLst>
                    <p:cond delay="indefinite"/>
                  </p:stCondLst>
                  <p:endCondLst>
                    <p:cond evt="onStopAudio" delay="0">
                      <p:tgtEl>
                        <p:sldTgt/>
                      </p:tgtEl>
                    </p:cond>
                  </p:endCondLst>
                </p:cTn>
                <p:tgtEl>
                  <p:spTgt spid="16"/>
                </p:tgtEl>
              </p:cMediaNode>
            </p:audio>
            <p:audio>
              <p:cMediaNode vol="80000">
                <p:cTn id="39" fill="hold" display="0">
                  <p:stCondLst>
                    <p:cond delay="indefinite"/>
                  </p:stCondLst>
                  <p:endCondLst>
                    <p:cond evt="onStopAudio" delay="0">
                      <p:tgtEl>
                        <p:sldTgt/>
                      </p:tgtEl>
                    </p:cond>
                  </p:endCondLst>
                </p:cTn>
                <p:tgtEl>
                  <p:spTgt spid="18"/>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68"/>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69"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470"/>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Sarah's advice</a:t>
            </a:r>
            <a:endParaRPr lang="en-US" sz="2500" dirty="0"/>
          </a:p>
        </p:txBody>
      </p:sp>
      <p:pic>
        <p:nvPicPr>
          <p:cNvPr id="6" name="brP_471"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472"/>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Good idea or necessary? Match the colour.</a:t>
            </a:r>
            <a:endParaRPr lang="en-US" sz="1250" dirty="0"/>
          </a:p>
        </p:txBody>
      </p:sp>
      <p:sp>
        <p:nvSpPr>
          <p:cNvPr id="8" name="insIT_47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Buona idea o necessario? Abbina il colore.</a:t>
            </a:r>
            <a:endParaRPr lang="en-US" sz="950" dirty="0"/>
          </a:p>
        </p:txBody>
      </p:sp>
      <p:sp>
        <p:nvSpPr>
          <p:cNvPr id="9" name="cmd_474"/>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0" name="meta_475"/>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476"/>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Grammar</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Guided discovery</a:t>
            </a:r>
            <a:endParaRPr lang="en-US" sz="700" dirty="0"/>
          </a:p>
        </p:txBody>
      </p:sp>
      <p:pic>
        <p:nvPicPr>
          <p:cNvPr id="12" name="logo_47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7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Grammar · advice in the programme   ·   📖 Recycles Grammar Bank 4A p.138 · audio 4.10</a:t>
            </a:r>
            <a:endParaRPr lang="en-US" sz="800" dirty="0"/>
          </a:p>
        </p:txBody>
      </p:sp>
      <p:sp>
        <p:nvSpPr>
          <p:cNvPr id="14" name="cd_479"/>
          <p:cNvSpPr/>
          <p:nvPr/>
        </p:nvSpPr>
        <p:spPr>
          <a:xfrm>
            <a:off x="320040" y="1417320"/>
            <a:ext cx="2697480" cy="2295144"/>
          </a:xfrm>
          <a:prstGeom prst="roundRect">
            <a:avLst>
              <a:gd name="adj" fmla="val 5578"/>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48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81"/>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What does it mean?</a:t>
            </a:r>
            <a:endParaRPr lang="en-US" sz="1300" dirty="0"/>
          </a:p>
        </p:txBody>
      </p:sp>
      <p:sp>
        <p:nvSpPr>
          <p:cNvPr id="17" name="il_482"/>
          <p:cNvSpPr/>
          <p:nvPr/>
        </p:nvSpPr>
        <p:spPr>
          <a:xfrm>
            <a:off x="886968" y="1892808"/>
            <a:ext cx="2039112" cy="1746504"/>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8" name="ap_483"/>
          <p:cNvSpPr/>
          <p:nvPr/>
        </p:nvSpPr>
        <p:spPr>
          <a:xfrm>
            <a:off x="365760" y="3849624"/>
            <a:ext cx="260604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4.10  ·  listen again</a:t>
            </a:r>
            <a:endParaRPr lang="en-US" sz="1100" dirty="0"/>
          </a:p>
        </p:txBody>
      </p:sp>
      <p:sp>
        <p:nvSpPr>
          <p:cNvPr id="19" name="ah_484"/>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20"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21" name="ah_485"/>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22"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3" name="lg_486"/>
          <p:cNvSpPr/>
          <p:nvPr/>
        </p:nvSpPr>
        <p:spPr>
          <a:xfrm>
            <a:off x="457200" y="1984248"/>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good idea</a:t>
            </a:r>
            <a:endParaRPr lang="en-US" sz="1050" dirty="0"/>
          </a:p>
        </p:txBody>
      </p:sp>
      <p:sp>
        <p:nvSpPr>
          <p:cNvPr id="24" name="lg_487"/>
          <p:cNvSpPr/>
          <p:nvPr/>
        </p:nvSpPr>
        <p:spPr>
          <a:xfrm>
            <a:off x="1719072"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bad idea</a:t>
            </a:r>
            <a:endParaRPr lang="en-US" sz="1050" dirty="0"/>
          </a:p>
        </p:txBody>
      </p:sp>
      <p:sp>
        <p:nvSpPr>
          <p:cNvPr id="25" name="lg_488"/>
          <p:cNvSpPr/>
          <p:nvPr/>
        </p:nvSpPr>
        <p:spPr>
          <a:xfrm>
            <a:off x="457200" y="2368296"/>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necessary</a:t>
            </a:r>
            <a:endParaRPr lang="en-US" sz="1050" dirty="0"/>
          </a:p>
        </p:txBody>
      </p:sp>
      <p:sp>
        <p:nvSpPr>
          <p:cNvPr id="26" name="lg_489"/>
          <p:cNvSpPr/>
          <p:nvPr/>
        </p:nvSpPr>
        <p:spPr>
          <a:xfrm>
            <a:off x="1719072" y="2368296"/>
            <a:ext cx="1188720" cy="310896"/>
          </a:xfrm>
          <a:prstGeom prst="roundRect">
            <a:avLst>
              <a:gd name="adj" fmla="val 50000"/>
            </a:avLst>
          </a:prstGeom>
          <a:solidFill>
            <a:srgbClr val="FF9F9F"/>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not allowed</a:t>
            </a:r>
            <a:endParaRPr lang="en-US" sz="1050" dirty="0"/>
          </a:p>
        </p:txBody>
      </p:sp>
      <p:sp>
        <p:nvSpPr>
          <p:cNvPr id="27" name="lg_490"/>
          <p:cNvSpPr/>
          <p:nvPr/>
        </p:nvSpPr>
        <p:spPr>
          <a:xfrm>
            <a:off x="457200" y="2752344"/>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not necessary</a:t>
            </a:r>
            <a:endParaRPr lang="en-US" sz="1050" dirty="0"/>
          </a:p>
        </p:txBody>
      </p:sp>
      <p:sp>
        <p:nvSpPr>
          <p:cNvPr id="28" name="sq_491"/>
          <p:cNvSpPr/>
          <p:nvPr/>
        </p:nvSpPr>
        <p:spPr>
          <a:xfrm>
            <a:off x="3246120" y="1417320"/>
            <a:ext cx="3840480" cy="406255"/>
          </a:xfrm>
          <a:prstGeom prst="roundRect">
            <a:avLst>
              <a:gd name="adj" fmla="val 2250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You ought to be the one who behaves well.</a:t>
            </a:r>
            <a:endParaRPr lang="en-US" sz="1200" dirty="0"/>
          </a:p>
        </p:txBody>
      </p:sp>
      <p:sp>
        <p:nvSpPr>
          <p:cNvPr id="29" name="R1_tag492"/>
          <p:cNvSpPr/>
          <p:nvPr/>
        </p:nvSpPr>
        <p:spPr>
          <a:xfrm>
            <a:off x="7178040" y="1417320"/>
            <a:ext cx="1691640" cy="406255"/>
          </a:xfrm>
          <a:prstGeom prst="roundRect">
            <a:avLst>
              <a:gd name="adj" fmla="val 56270"/>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good idea</a:t>
            </a:r>
            <a:endParaRPr lang="en-US" sz="1150" dirty="0"/>
          </a:p>
        </p:txBody>
      </p:sp>
      <p:sp>
        <p:nvSpPr>
          <p:cNvPr id="30" name="sq_493"/>
          <p:cNvSpPr/>
          <p:nvPr/>
        </p:nvSpPr>
        <p:spPr>
          <a:xfrm>
            <a:off x="3246120" y="1887583"/>
            <a:ext cx="3840480" cy="406255"/>
          </a:xfrm>
          <a:prstGeom prst="roundRect">
            <a:avLst>
              <a:gd name="adj" fmla="val 2250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You shouldn't argue with her.</a:t>
            </a:r>
            <a:endParaRPr lang="en-US" sz="1200" dirty="0"/>
          </a:p>
        </p:txBody>
      </p:sp>
      <p:sp>
        <p:nvSpPr>
          <p:cNvPr id="31" name="R2_tag494"/>
          <p:cNvSpPr/>
          <p:nvPr/>
        </p:nvSpPr>
        <p:spPr>
          <a:xfrm>
            <a:off x="7178040" y="1887583"/>
            <a:ext cx="1691640" cy="406255"/>
          </a:xfrm>
          <a:prstGeom prst="roundRect">
            <a:avLst>
              <a:gd name="adj" fmla="val 56270"/>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bad idea</a:t>
            </a:r>
            <a:endParaRPr lang="en-US" sz="1150" dirty="0"/>
          </a:p>
        </p:txBody>
      </p:sp>
      <p:sp>
        <p:nvSpPr>
          <p:cNvPr id="32" name="sq_495"/>
          <p:cNvSpPr/>
          <p:nvPr/>
        </p:nvSpPr>
        <p:spPr>
          <a:xfrm>
            <a:off x="3246120" y="2357846"/>
            <a:ext cx="3840480" cy="406255"/>
          </a:xfrm>
          <a:prstGeom prst="roundRect">
            <a:avLst>
              <a:gd name="adj" fmla="val 2250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You should politely but directly say how you feel.</a:t>
            </a:r>
            <a:endParaRPr lang="en-US" sz="1200" dirty="0"/>
          </a:p>
        </p:txBody>
      </p:sp>
      <p:sp>
        <p:nvSpPr>
          <p:cNvPr id="33" name="R3_tag496"/>
          <p:cNvSpPr/>
          <p:nvPr/>
        </p:nvSpPr>
        <p:spPr>
          <a:xfrm>
            <a:off x="7178040" y="2357846"/>
            <a:ext cx="1691640" cy="406255"/>
          </a:xfrm>
          <a:prstGeom prst="roundRect">
            <a:avLst>
              <a:gd name="adj" fmla="val 56270"/>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good idea</a:t>
            </a:r>
            <a:endParaRPr lang="en-US" sz="1150" dirty="0"/>
          </a:p>
        </p:txBody>
      </p:sp>
      <p:sp>
        <p:nvSpPr>
          <p:cNvPr id="34" name="sq_497"/>
          <p:cNvSpPr/>
          <p:nvPr/>
        </p:nvSpPr>
        <p:spPr>
          <a:xfrm>
            <a:off x="3246120" y="2828109"/>
            <a:ext cx="3840480" cy="406255"/>
          </a:xfrm>
          <a:prstGeom prst="roundRect">
            <a:avLst>
              <a:gd name="adj" fmla="val 2250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You don't really have to give a reason.</a:t>
            </a:r>
            <a:endParaRPr lang="en-US" sz="1200" dirty="0"/>
          </a:p>
        </p:txBody>
      </p:sp>
      <p:sp>
        <p:nvSpPr>
          <p:cNvPr id="35" name="R4_tag498"/>
          <p:cNvSpPr/>
          <p:nvPr/>
        </p:nvSpPr>
        <p:spPr>
          <a:xfrm>
            <a:off x="7178040" y="2828109"/>
            <a:ext cx="1691640" cy="406255"/>
          </a:xfrm>
          <a:prstGeom prst="roundRect">
            <a:avLst>
              <a:gd name="adj" fmla="val 56270"/>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not necessary</a:t>
            </a:r>
            <a:endParaRPr lang="en-US" sz="1150" dirty="0"/>
          </a:p>
        </p:txBody>
      </p:sp>
      <p:sp>
        <p:nvSpPr>
          <p:cNvPr id="36" name="sq_499"/>
          <p:cNvSpPr/>
          <p:nvPr/>
        </p:nvSpPr>
        <p:spPr>
          <a:xfrm>
            <a:off x="3246120" y="3298371"/>
            <a:ext cx="3840480" cy="406255"/>
          </a:xfrm>
          <a:prstGeom prst="roundRect">
            <a:avLst>
              <a:gd name="adj" fmla="val 2250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You must speak to his parents.</a:t>
            </a:r>
            <a:endParaRPr lang="en-US" sz="1200" dirty="0"/>
          </a:p>
        </p:txBody>
      </p:sp>
      <p:sp>
        <p:nvSpPr>
          <p:cNvPr id="37" name="R5_tag500"/>
          <p:cNvSpPr/>
          <p:nvPr/>
        </p:nvSpPr>
        <p:spPr>
          <a:xfrm>
            <a:off x="7178040" y="3298371"/>
            <a:ext cx="1691640" cy="406255"/>
          </a:xfrm>
          <a:prstGeom prst="roundRect">
            <a:avLst>
              <a:gd name="adj" fmla="val 56270"/>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necessary</a:t>
            </a:r>
            <a:endParaRPr lang="en-US" sz="1150" dirty="0"/>
          </a:p>
        </p:txBody>
      </p:sp>
      <p:sp>
        <p:nvSpPr>
          <p:cNvPr id="38" name="sq_501"/>
          <p:cNvSpPr/>
          <p:nvPr/>
        </p:nvSpPr>
        <p:spPr>
          <a:xfrm>
            <a:off x="3246120" y="3768634"/>
            <a:ext cx="3840480" cy="406255"/>
          </a:xfrm>
          <a:prstGeom prst="roundRect">
            <a:avLst>
              <a:gd name="adj" fmla="val 2250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He has to calm down a bit.</a:t>
            </a:r>
            <a:endParaRPr lang="en-US" sz="1200" dirty="0"/>
          </a:p>
        </p:txBody>
      </p:sp>
      <p:sp>
        <p:nvSpPr>
          <p:cNvPr id="39" name="R6_tag502"/>
          <p:cNvSpPr/>
          <p:nvPr/>
        </p:nvSpPr>
        <p:spPr>
          <a:xfrm>
            <a:off x="7178040" y="3768634"/>
            <a:ext cx="1691640" cy="406255"/>
          </a:xfrm>
          <a:prstGeom prst="roundRect">
            <a:avLst>
              <a:gd name="adj" fmla="val 56270"/>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necessary</a:t>
            </a:r>
            <a:endParaRPr lang="en-US" sz="1150" dirty="0"/>
          </a:p>
        </p:txBody>
      </p:sp>
      <p:sp>
        <p:nvSpPr>
          <p:cNvPr id="40" name="sq_503"/>
          <p:cNvSpPr/>
          <p:nvPr/>
        </p:nvSpPr>
        <p:spPr>
          <a:xfrm>
            <a:off x="3246120" y="4238897"/>
            <a:ext cx="3840480" cy="406255"/>
          </a:xfrm>
          <a:prstGeom prst="roundRect">
            <a:avLst>
              <a:gd name="adj" fmla="val 2250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7  You mustn't write on the walls.</a:t>
            </a:r>
            <a:endParaRPr lang="en-US" sz="1200" dirty="0"/>
          </a:p>
        </p:txBody>
      </p:sp>
      <p:sp>
        <p:nvSpPr>
          <p:cNvPr id="41" name="R7_tag504"/>
          <p:cNvSpPr/>
          <p:nvPr/>
        </p:nvSpPr>
        <p:spPr>
          <a:xfrm>
            <a:off x="7178040" y="4238897"/>
            <a:ext cx="1691640" cy="406255"/>
          </a:xfrm>
          <a:prstGeom prst="roundRect">
            <a:avLst>
              <a:gd name="adj" fmla="val 56270"/>
            </a:avLst>
          </a:prstGeom>
          <a:solidFill>
            <a:srgbClr val="FF9F9F"/>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not allowed</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4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4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4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8" restart="whenNotActive" fill="hold" evtFilter="cancelBubble" nodeType="interactiveSeq">
                <p:stCondLst>
                  <p:cond evt="onClick" delay="0">
                    <p:tgtEl>
                      <p:spTgt spid="20"/>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20"/>
                                        </p:tgtEl>
                                      </p:cBhvr>
                                    </p:cmd>
                                  </p:childTnLst>
                                </p:cTn>
                              </p:par>
                            </p:childTnLst>
                          </p:cTn>
                        </p:par>
                      </p:childTnLst>
                    </p:cTn>
                  </p:par>
                </p:childTnLst>
              </p:cTn>
              <p:nextCondLst>
                <p:cond evt="onClick" delay="0">
                  <p:tgtEl>
                    <p:spTgt spid="20"/>
                  </p:tgtEl>
                </p:cond>
              </p:nextCondLst>
            </p:seq>
            <p:seq concurrent="1" nextAc="seek">
              <p:cTn id="43" restart="whenNotActive" fill="hold" evtFilter="cancelBubble" nodeType="interactiveSeq">
                <p:stCondLst>
                  <p:cond evt="onClick" delay="0">
                    <p:tgtEl>
                      <p:spTgt spid="22"/>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22"/>
                                        </p:tgtEl>
                                      </p:cBhvr>
                                    </p:cmd>
                                  </p:childTnLst>
                                </p:cTn>
                              </p:par>
                            </p:childTnLst>
                          </p:cTn>
                        </p:par>
                      </p:childTnLst>
                    </p:cTn>
                  </p:par>
                </p:childTnLst>
              </p:cTn>
              <p:nextCondLst>
                <p:cond evt="onClick" delay="0">
                  <p:tgtEl>
                    <p:spTgt spid="22"/>
                  </p:tgtEl>
                </p:cond>
              </p:nextCondLst>
            </p:seq>
            <p:audio>
              <p:cMediaNode vol="80000">
                <p:cTn id="48" fill="hold" display="0">
                  <p:stCondLst>
                    <p:cond delay="indefinite"/>
                  </p:stCondLst>
                  <p:endCondLst>
                    <p:cond evt="onStopAudio" delay="0">
                      <p:tgtEl>
                        <p:sldTgt/>
                      </p:tgtEl>
                    </p:cond>
                  </p:endCondLst>
                </p:cTn>
                <p:tgtEl>
                  <p:spTgt spid="20"/>
                </p:tgtEl>
              </p:cMediaNode>
            </p:audio>
            <p:audio>
              <p:cMediaNode vol="80000">
                <p:cTn id="49" fill="hold" display="0">
                  <p:stCondLst>
                    <p:cond delay="indefinite"/>
                  </p:stCondLst>
                  <p:endCondLst>
                    <p:cond evt="onStopAudio" delay="0">
                      <p:tgtEl>
                        <p:sldTgt/>
                      </p:tgtEl>
                    </p:cond>
                  </p:endCondLst>
                </p:cTn>
                <p:tgtEl>
                  <p:spTgt spid="2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0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06"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507"/>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Ask Sarah!</a:t>
            </a:r>
            <a:endParaRPr lang="en-US" sz="2500" dirty="0"/>
          </a:p>
        </p:txBody>
      </p:sp>
      <p:pic>
        <p:nvPicPr>
          <p:cNvPr id="6" name="brP_508"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509"/>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problem. Give advice – fast!</a:t>
            </a:r>
            <a:endParaRPr lang="en-US" sz="1250" dirty="0"/>
          </a:p>
        </p:txBody>
      </p:sp>
      <p:sp>
        <p:nvSpPr>
          <p:cNvPr id="8" name="insIT_51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il problema. Dai un consiglio – veloce!</a:t>
            </a:r>
            <a:endParaRPr lang="en-US" sz="950" dirty="0"/>
          </a:p>
        </p:txBody>
      </p:sp>
      <p:sp>
        <p:nvSpPr>
          <p:cNvPr id="9" name="cmd_511"/>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12"/>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1" name="tag_513"/>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51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1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Speaking game · giving advice</a:t>
            </a:r>
            <a:endParaRPr lang="en-US" sz="800" dirty="0"/>
          </a:p>
        </p:txBody>
      </p:sp>
      <p:sp>
        <p:nvSpPr>
          <p:cNvPr id="14" name="cd_516"/>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51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51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519"/>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Semibold" pitchFamily="34" charset="0"/>
                <a:ea typeface="Segoe UI Semibold" pitchFamily="34" charset="-122"/>
                <a:cs typeface="Segoe UI Semibold" pitchFamily="34" charset="-120"/>
              </a:rPr>
              <a:t>Read the problem.</a:t>
            </a:r>
            <a:endParaRPr lang="en-US" sz="1000" dirty="0"/>
          </a:p>
          <a:p>
            <a:pPr marL="190500" indent="-190500">
              <a:spcAft>
                <a:spcPts val="200"/>
              </a:spcAft>
              <a:buSzPct val="100000"/>
              <a:buChar char=" "/>
            </a:pPr>
            <a:r>
              <a:rPr lang="en-US" sz="900" i="1" dirty="0">
                <a:solidFill>
                  <a:srgbClr val="5B6785"/>
                </a:solidFill>
                <a:latin typeface="Segoe UI Semibold" pitchFamily="34" charset="0"/>
                <a:ea typeface="Segoe UI Semibold" pitchFamily="34" charset="-122"/>
                <a:cs typeface="Segoe UI Semibold" pitchFamily="34" charset="-120"/>
              </a:rPr>
              <a:t>Leggi il problema.</a:t>
            </a:r>
            <a:endParaRPr lang="en-US" sz="1000" dirty="0"/>
          </a:p>
          <a:p>
            <a:pPr marL="190500" indent="-190500">
              <a:spcBef>
                <a:spcPts val="500"/>
              </a:spcBef>
              <a:spcAft>
                <a:spcPts val="200"/>
              </a:spcAft>
              <a:buSzPct val="100000"/>
              <a:buChar char="2"/>
            </a:pPr>
            <a:r>
              <a:rPr lang="en-US" sz="1000" dirty="0">
                <a:solidFill>
                  <a:srgbClr val="1B2559"/>
                </a:solidFill>
                <a:latin typeface="Segoe UI Semibold" pitchFamily="34" charset="0"/>
                <a:ea typeface="Segoe UI Semibold" pitchFamily="34" charset="-122"/>
                <a:cs typeface="Segoe UI Semibold" pitchFamily="34" charset="-120"/>
              </a:rPr>
              <a:t>Teams: give advice in 10 seconds.</a:t>
            </a:r>
            <a:endParaRPr lang="en-US" sz="1000" dirty="0"/>
          </a:p>
          <a:p>
            <a:pPr marL="190500" indent="-190500">
              <a:spcAft>
                <a:spcPts val="200"/>
              </a:spcAft>
              <a:buSzPct val="100000"/>
              <a:buChar char=" "/>
            </a:pPr>
            <a:r>
              <a:rPr lang="en-US" sz="900" i="1" dirty="0">
                <a:solidFill>
                  <a:srgbClr val="5B6785"/>
                </a:solidFill>
                <a:latin typeface="Segoe UI Semibold" pitchFamily="34" charset="0"/>
                <a:ea typeface="Segoe UI Semibold" pitchFamily="34" charset="-122"/>
                <a:cs typeface="Segoe UI Semibold" pitchFamily="34" charset="-120"/>
              </a:rPr>
              <a:t>Squadre: un consiglio in 10 secondi.</a:t>
            </a:r>
            <a:endParaRPr lang="en-US" sz="1000" dirty="0"/>
          </a:p>
          <a:p>
            <a:pPr marL="190500" indent="-190500">
              <a:spcBef>
                <a:spcPts val="500"/>
              </a:spcBef>
              <a:spcAft>
                <a:spcPts val="200"/>
              </a:spcAft>
              <a:buSzPct val="100000"/>
              <a:buChar char="3"/>
            </a:pPr>
            <a:r>
              <a:rPr lang="en-US" sz="1000" dirty="0">
                <a:solidFill>
                  <a:srgbClr val="1B2559"/>
                </a:solidFill>
                <a:latin typeface="Segoe UI Semibold" pitchFamily="34" charset="0"/>
                <a:ea typeface="Segoe UI Semibold" pitchFamily="34" charset="-122"/>
                <a:cs typeface="Segoe UI Semibold" pitchFamily="34" charset="-120"/>
              </a:rPr>
              <a:t>should / mustn't / don't have to… = 1 point.</a:t>
            </a:r>
            <a:endParaRPr lang="en-US" sz="1000" dirty="0"/>
          </a:p>
          <a:p>
            <a:pPr marL="190500" indent="-190500">
              <a:spcAft>
                <a:spcPts val="200"/>
              </a:spcAft>
              <a:buSzPct val="100000"/>
              <a:buChar char=" "/>
            </a:pPr>
            <a:r>
              <a:rPr lang="en-US" sz="900" i="1" dirty="0">
                <a:solidFill>
                  <a:srgbClr val="5B6785"/>
                </a:solidFill>
                <a:latin typeface="Segoe UI Semibold" pitchFamily="34" charset="0"/>
                <a:ea typeface="Segoe UI Semibold" pitchFamily="34" charset="-122"/>
                <a:cs typeface="Segoe UI Semibold" pitchFamily="34" charset="-120"/>
              </a:rPr>
              <a:t>Verbo modale giusto = 1 punto.</a:t>
            </a:r>
            <a:endParaRPr lang="en-US" sz="1000" dirty="0"/>
          </a:p>
        </p:txBody>
      </p:sp>
      <p:sp>
        <p:nvSpPr>
          <p:cNvPr id="18" name="pf_520"/>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521" descr="/home/claude/lls-course/v2/cache/spare_1b2_arguments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522"/>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523"/>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"My friend is always on her phone when we meet for pizza."</a:t>
            </a:r>
            <a:endParaRPr lang="en-US" sz="1050" dirty="0"/>
          </a:p>
        </p:txBody>
      </p:sp>
      <p:sp>
        <p:nvSpPr>
          <p:cNvPr id="22" name="R1_chip524"/>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You should tell her politely how you feel.</a:t>
            </a:r>
            <a:endParaRPr lang="en-US" sz="1100" dirty="0"/>
          </a:p>
        </p:txBody>
      </p:sp>
      <p:sp>
        <p:nvSpPr>
          <p:cNvPr id="23" name="bd_525"/>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526"/>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"My uncle always asks: 'When are you getting married?'"</a:t>
            </a:r>
            <a:endParaRPr lang="en-US" sz="1100" dirty="0"/>
          </a:p>
        </p:txBody>
      </p:sp>
      <p:sp>
        <p:nvSpPr>
          <p:cNvPr id="25" name="R2_chip527"/>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You don't have to answer! Just change the subject.</a:t>
            </a:r>
            <a:endParaRPr lang="en-US" sz="1100" dirty="0"/>
          </a:p>
        </p:txBody>
      </p:sp>
      <p:sp>
        <p:nvSpPr>
          <p:cNvPr id="26" name="bd_528"/>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529"/>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"My little cousin jumps on my bed with his shoes on."</a:t>
            </a:r>
            <a:endParaRPr lang="en-US" sz="1100" dirty="0"/>
          </a:p>
        </p:txBody>
      </p:sp>
      <p:sp>
        <p:nvSpPr>
          <p:cNvPr id="28" name="R3_chip530"/>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Tell him: 'You mustn't jump on the bed!'</a:t>
            </a:r>
            <a:endParaRPr lang="en-US" sz="1100" dirty="0"/>
          </a:p>
        </p:txBody>
      </p:sp>
      <p:sp>
        <p:nvSpPr>
          <p:cNvPr id="29" name="bd_531"/>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532"/>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man behind me on the plane keeps kicking my seat."</a:t>
            </a:r>
            <a:endParaRPr lang="en-US" sz="1100" dirty="0"/>
          </a:p>
        </p:txBody>
      </p:sp>
      <p:sp>
        <p:nvSpPr>
          <p:cNvPr id="31" name="R4_chip533"/>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You should politely ask him to stop.</a:t>
            </a:r>
            <a:endParaRPr lang="en-US" sz="1100" dirty="0"/>
          </a:p>
        </p:txBody>
      </p:sp>
      <p:sp>
        <p:nvSpPr>
          <p:cNvPr id="32" name="bd_534"/>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535"/>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"I'm invited for dinner and it's fish. I hate fish!"</a:t>
            </a:r>
            <a:endParaRPr lang="en-US" sz="1100" dirty="0"/>
          </a:p>
        </p:txBody>
      </p:sp>
      <p:sp>
        <p:nvSpPr>
          <p:cNvPr id="34" name="R5_chip536"/>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You shouldn't criticize the food. Try a little!</a:t>
            </a:r>
            <a:endParaRPr lang="en-US" sz="1100" dirty="0"/>
          </a:p>
        </p:txBody>
      </p:sp>
      <p:sp>
        <p:nvSpPr>
          <p:cNvPr id="35" name="bd_537"/>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538"/>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 pregnant woman gets on the full bus. I'm sitting down."</a:t>
            </a:r>
            <a:endParaRPr lang="en-US" sz="1100" dirty="0"/>
          </a:p>
        </p:txBody>
      </p:sp>
      <p:sp>
        <p:nvSpPr>
          <p:cNvPr id="37" name="R6_chip539"/>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You ought to offer her your seat!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4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41"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542"/>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Good or bad manners? 1/2</a:t>
            </a:r>
            <a:endParaRPr lang="en-US" sz="2400" dirty="0"/>
          </a:p>
        </p:txBody>
      </p:sp>
      <p:pic>
        <p:nvPicPr>
          <p:cNvPr id="6" name="brP_543" descr="/home/claude/lls-course/v2/assets/brush-pink.png">    </p:cNvPr>
          <p:cNvPicPr>
            <a:picLocks noChangeAspect="1"/>
          </p:cNvPicPr>
          <p:nvPr/>
        </p:nvPicPr>
        <p:blipFill>
          <a:blip r:embed="rId3"/>
          <a:stretch>
            <a:fillRect/>
          </a:stretch>
        </p:blipFill>
        <p:spPr>
          <a:xfrm>
            <a:off x="1207008" y="731520"/>
            <a:ext cx="3076956" cy="402336"/>
          </a:xfrm>
          <a:prstGeom prst="rect">
            <a:avLst/>
          </a:prstGeom>
        </p:spPr>
      </p:pic>
      <p:sp>
        <p:nvSpPr>
          <p:cNvPr id="7" name="ins_544"/>
          <p:cNvSpPr/>
          <p:nvPr/>
        </p:nvSpPr>
        <p:spPr>
          <a:xfrm>
            <a:off x="1353312" y="731520"/>
            <a:ext cx="28209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GM, BM or NI? Then say why!</a:t>
            </a:r>
            <a:endParaRPr lang="en-US" sz="1250" dirty="0"/>
          </a:p>
        </p:txBody>
      </p:sp>
      <p:sp>
        <p:nvSpPr>
          <p:cNvPr id="8" name="insIT_54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GM, BM o NI? Poi spiega perché!</a:t>
            </a:r>
            <a:endParaRPr lang="en-US" sz="950" dirty="0"/>
          </a:p>
        </p:txBody>
      </p:sp>
      <p:sp>
        <p:nvSpPr>
          <p:cNvPr id="9" name="cmd_546"/>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547"/>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groups</a:t>
            </a:r>
            <a:endParaRPr lang="en-US" sz="950" dirty="0"/>
          </a:p>
        </p:txBody>
      </p:sp>
      <p:sp>
        <p:nvSpPr>
          <p:cNvPr id="11" name="tag_548"/>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54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5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Speaking · good or bad manners? 1/2   ·   📖 SB p.39 · 7a, 7b · Saying what you think is right</a:t>
            </a:r>
            <a:endParaRPr lang="en-US" sz="800" dirty="0"/>
          </a:p>
        </p:txBody>
      </p:sp>
      <p:sp>
        <p:nvSpPr>
          <p:cNvPr id="14" name="pf_551"/>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552" descr="/home/claude/lls-course/v2/cache/4a2_first_date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553"/>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554"/>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555"/>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556"/>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GM good · BM bad · NI not important</a:t>
            </a:r>
            <a:endParaRPr lang="en-US" sz="700" dirty="0"/>
          </a:p>
          <a:p>
            <a:pPr marL="152400" indent="-152400">
              <a:spcBef>
                <a:spcPts val="5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I think it's rude / selfish / inappropriate to…</a:t>
            </a:r>
            <a:endParaRPr lang="en-US" sz="700" dirty="0"/>
          </a:p>
          <a:p>
            <a:pPr marL="152400" indent="-152400">
              <a:spcBef>
                <a:spcPts val="5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I don't think people should… · It really annoys me when…</a:t>
            </a:r>
            <a:endParaRPr lang="en-US" sz="700" dirty="0"/>
          </a:p>
        </p:txBody>
      </p:sp>
      <p:sp>
        <p:nvSpPr>
          <p:cNvPr id="20" name="R1_qb557"/>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558"/>
          <p:cNvSpPr/>
          <p:nvPr/>
        </p:nvSpPr>
        <p:spPr>
          <a:xfrm>
            <a:off x="3675888" y="141732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GREETING: use more formal language with an older person</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GM – I always say 'buongiorno' to my friend's grandma.</a:t>
            </a:r>
            <a:endParaRPr lang="en-US" sz="1200" dirty="0"/>
          </a:p>
        </p:txBody>
      </p:sp>
      <p:sp>
        <p:nvSpPr>
          <p:cNvPr id="22" name="R2_qb559"/>
          <p:cNvSpPr/>
          <p:nvPr/>
        </p:nvSpPr>
        <p:spPr>
          <a:xfrm>
            <a:off x="3273552" y="201015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560"/>
          <p:cNvSpPr/>
          <p:nvPr/>
        </p:nvSpPr>
        <p:spPr>
          <a:xfrm>
            <a:off x="3675888" y="197358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GREETING: kiss somebody on both cheeks the first time you meet them</a:t>
            </a:r>
            <a:endParaRPr lang="en-US" sz="100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e.g. NI – in Sicily it's normal!</a:t>
            </a:r>
            <a:endParaRPr lang="en-US" sz="1000" dirty="0"/>
          </a:p>
        </p:txBody>
      </p:sp>
      <p:sp>
        <p:nvSpPr>
          <p:cNvPr id="24" name="R3_qb561"/>
          <p:cNvSpPr/>
          <p:nvPr/>
        </p:nvSpPr>
        <p:spPr>
          <a:xfrm>
            <a:off x="3273552" y="256641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562"/>
          <p:cNvSpPr/>
          <p:nvPr/>
        </p:nvSpPr>
        <p:spPr>
          <a:xfrm>
            <a:off x="3675888" y="2529840"/>
            <a:ext cx="4507992" cy="483108"/>
          </a:xfrm>
          <a:prstGeom prst="roundRect">
            <a:avLst>
              <a:gd name="adj" fmla="val 22713"/>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GREETING: use your partner's parents' first names</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BM – I don't think people should do it at first.</a:t>
            </a:r>
            <a:endParaRPr lang="en-US" sz="1200" dirty="0"/>
          </a:p>
        </p:txBody>
      </p:sp>
      <p:pic>
        <p:nvPicPr>
          <p:cNvPr id="26" name="R3_th563" descr="/home/claude/lls-course/v2/cache/4a2_meet_parents_jpg_154x107_18.png">    </p:cNvPr>
          <p:cNvPicPr>
            <a:picLocks noChangeAspect="1"/>
          </p:cNvPicPr>
          <p:nvPr/>
        </p:nvPicPr>
        <p:blipFill>
          <a:blip r:embed="rId6"/>
          <a:stretch>
            <a:fillRect/>
          </a:stretch>
        </p:blipFill>
        <p:spPr>
          <a:xfrm>
            <a:off x="8257032" y="2548128"/>
            <a:ext cx="640080" cy="446532"/>
          </a:xfrm>
          <a:prstGeom prst="rect">
            <a:avLst/>
          </a:prstGeom>
        </p:spPr>
      </p:pic>
      <p:sp>
        <p:nvSpPr>
          <p:cNvPr id="27" name="R4_qb564"/>
          <p:cNvSpPr/>
          <p:nvPr/>
        </p:nvSpPr>
        <p:spPr>
          <a:xfrm>
            <a:off x="3273552" y="31226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565"/>
          <p:cNvSpPr/>
          <p:nvPr/>
        </p:nvSpPr>
        <p:spPr>
          <a:xfrm>
            <a:off x="3675888" y="3086100"/>
            <a:ext cx="5193792" cy="483108"/>
          </a:xfrm>
          <a:prstGeom prst="roundRect">
            <a:avLst>
              <a:gd name="adj" fmla="val 22713"/>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 MAN SHOULD… pay for the meal on a first date</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NI – I think it's fine to share the bill.</a:t>
            </a:r>
            <a:endParaRPr lang="en-US" sz="1250" dirty="0"/>
          </a:p>
        </p:txBody>
      </p:sp>
      <p:sp>
        <p:nvSpPr>
          <p:cNvPr id="29" name="R5_qb566"/>
          <p:cNvSpPr/>
          <p:nvPr/>
        </p:nvSpPr>
        <p:spPr>
          <a:xfrm>
            <a:off x="3273552" y="367893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567"/>
          <p:cNvSpPr/>
          <p:nvPr/>
        </p:nvSpPr>
        <p:spPr>
          <a:xfrm>
            <a:off x="3675888" y="364236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 MAN SHOULD… hold the door open for a woman</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GM – but women can do it for men too!</a:t>
            </a:r>
            <a:endParaRPr lang="en-US" sz="1250" dirty="0"/>
          </a:p>
        </p:txBody>
      </p:sp>
      <p:sp>
        <p:nvSpPr>
          <p:cNvPr id="31" name="R6_qb568"/>
          <p:cNvSpPr/>
          <p:nvPr/>
        </p:nvSpPr>
        <p:spPr>
          <a:xfrm>
            <a:off x="3273552" y="423519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2" name="R6_sq569"/>
          <p:cNvSpPr/>
          <p:nvPr/>
        </p:nvSpPr>
        <p:spPr>
          <a:xfrm>
            <a:off x="3675888" y="419862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 MAN SHOULD… accompany a woman home</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It depends – late at night, I think it's polite.</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400"/>
                                        <p:tgtEl>
                                          <p:spTgt spid="31"/>
                                        </p:tgtEl>
                                      </p:cBhvr>
                                    </p:animEffect>
                                  </p:childTnLst>
                                </p:cTn>
                              </p:par>
                              <p:par>
                                <p:cTn id="51" presetID="10"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7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571"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572"/>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Good or bad manners? 2/2</a:t>
            </a:r>
            <a:endParaRPr lang="en-US" sz="2400" dirty="0"/>
          </a:p>
        </p:txBody>
      </p:sp>
      <p:pic>
        <p:nvPicPr>
          <p:cNvPr id="6" name="brP_573" descr="/home/claude/lls-course/v2/assets/brush-pink.png">    </p:cNvPr>
          <p:cNvPicPr>
            <a:picLocks noChangeAspect="1"/>
          </p:cNvPicPr>
          <p:nvPr/>
        </p:nvPicPr>
        <p:blipFill>
          <a:blip r:embed="rId3"/>
          <a:stretch>
            <a:fillRect/>
          </a:stretch>
        </p:blipFill>
        <p:spPr>
          <a:xfrm>
            <a:off x="1207008" y="731520"/>
            <a:ext cx="3076956" cy="402336"/>
          </a:xfrm>
          <a:prstGeom prst="rect">
            <a:avLst/>
          </a:prstGeom>
        </p:spPr>
      </p:pic>
      <p:sp>
        <p:nvSpPr>
          <p:cNvPr id="7" name="ins_574"/>
          <p:cNvSpPr/>
          <p:nvPr/>
        </p:nvSpPr>
        <p:spPr>
          <a:xfrm>
            <a:off x="1353312" y="731520"/>
            <a:ext cx="28209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GM, BM or NI? Then say why!</a:t>
            </a:r>
            <a:endParaRPr lang="en-US" sz="1250" dirty="0"/>
          </a:p>
        </p:txBody>
      </p:sp>
      <p:sp>
        <p:nvSpPr>
          <p:cNvPr id="8" name="insIT_57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GM, BM o NI? Poi spiega perché!</a:t>
            </a:r>
            <a:endParaRPr lang="en-US" sz="950" dirty="0"/>
          </a:p>
        </p:txBody>
      </p:sp>
      <p:sp>
        <p:nvSpPr>
          <p:cNvPr id="9" name="cmd_576"/>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577"/>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groups</a:t>
            </a:r>
            <a:endParaRPr lang="en-US" sz="950" dirty="0"/>
          </a:p>
        </p:txBody>
      </p:sp>
      <p:sp>
        <p:nvSpPr>
          <p:cNvPr id="11" name="tag_578"/>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57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8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Speaking · good or bad manners? 2/2   ·   📖 SB p.39 · 7a, 7b</a:t>
            </a:r>
            <a:endParaRPr lang="en-US" sz="800" dirty="0"/>
          </a:p>
        </p:txBody>
      </p:sp>
      <p:sp>
        <p:nvSpPr>
          <p:cNvPr id="14" name="pf_581"/>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582" descr="/home/claude/lls-course/v2/cache/4a2_late_guest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583"/>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584"/>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585"/>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586"/>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I think it's rude / bad manners to…</a:t>
            </a:r>
            <a:endParaRPr lang="en-US" sz="900" dirty="0"/>
          </a:p>
          <a:p>
            <a:pPr marL="152400" indent="-152400">
              <a:spcBef>
                <a:spcPts val="5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I don't mind it. · It really annoys me when…</a:t>
            </a:r>
            <a:endParaRPr lang="en-US" sz="900" dirty="0"/>
          </a:p>
          <a:p>
            <a:pPr marL="152400" indent="-152400">
              <a:spcBef>
                <a:spcPts val="5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In Sicily… but in Britain…</a:t>
            </a:r>
            <a:endParaRPr lang="en-US" sz="900" dirty="0"/>
          </a:p>
        </p:txBody>
      </p:sp>
      <p:sp>
        <p:nvSpPr>
          <p:cNvPr id="20" name="R1_qb587"/>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588"/>
          <p:cNvSpPr/>
          <p:nvPr/>
        </p:nvSpPr>
        <p:spPr>
          <a:xfrm>
            <a:off x="3675888" y="1417320"/>
            <a:ext cx="45079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INVITED FOR A MEAL: take a present</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GM – flowers, or cannoli from the pasticceria!</a:t>
            </a:r>
            <a:endParaRPr lang="en-US" sz="1250" dirty="0"/>
          </a:p>
        </p:txBody>
      </p:sp>
      <p:pic>
        <p:nvPicPr>
          <p:cNvPr id="22" name="R1_th589" descr="/home/claude/lls-course/v2/cache/4a2_dinner_guest_jpg_154x107_18.png">    </p:cNvPr>
          <p:cNvPicPr>
            <a:picLocks noChangeAspect="1"/>
          </p:cNvPicPr>
          <p:nvPr/>
        </p:nvPicPr>
        <p:blipFill>
          <a:blip r:embed="rId6"/>
          <a:stretch>
            <a:fillRect/>
          </a:stretch>
        </p:blipFill>
        <p:spPr>
          <a:xfrm>
            <a:off x="8257032" y="1435608"/>
            <a:ext cx="640080" cy="446532"/>
          </a:xfrm>
          <a:prstGeom prst="rect">
            <a:avLst/>
          </a:prstGeom>
        </p:spPr>
      </p:pic>
      <p:sp>
        <p:nvSpPr>
          <p:cNvPr id="23" name="R2_qb590"/>
          <p:cNvSpPr/>
          <p:nvPr/>
        </p:nvSpPr>
        <p:spPr>
          <a:xfrm>
            <a:off x="3273552" y="201015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R2_sq591"/>
          <p:cNvSpPr/>
          <p:nvPr/>
        </p:nvSpPr>
        <p:spPr>
          <a:xfrm>
            <a:off x="3675888" y="197358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INVITED FOR A MEAL: criticize the food (it's too cold, too salty…)</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BM – remember Belinda's mother-in-law!</a:t>
            </a:r>
            <a:endParaRPr lang="en-US" sz="1050" dirty="0"/>
          </a:p>
        </p:txBody>
      </p:sp>
      <p:sp>
        <p:nvSpPr>
          <p:cNvPr id="25" name="R3_qb592"/>
          <p:cNvSpPr/>
          <p:nvPr/>
        </p:nvSpPr>
        <p:spPr>
          <a:xfrm>
            <a:off x="3273552" y="256641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593"/>
          <p:cNvSpPr/>
          <p:nvPr/>
        </p:nvSpPr>
        <p:spPr>
          <a:xfrm>
            <a:off x="3675888" y="2529840"/>
            <a:ext cx="5193792" cy="483108"/>
          </a:xfrm>
          <a:prstGeom prst="roundRect">
            <a:avLst>
              <a:gd name="adj" fmla="val 22713"/>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INVITED FOR A MEAL: send a message the next day to say thank you</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GM – it's polite, and it only takes a minute.</a:t>
            </a:r>
            <a:endParaRPr lang="en-US" sz="1050" dirty="0"/>
          </a:p>
        </p:txBody>
      </p:sp>
      <p:sp>
        <p:nvSpPr>
          <p:cNvPr id="27" name="R4_qb594"/>
          <p:cNvSpPr/>
          <p:nvPr/>
        </p:nvSpPr>
        <p:spPr>
          <a:xfrm>
            <a:off x="3273552" y="31226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595"/>
          <p:cNvSpPr/>
          <p:nvPr/>
        </p:nvSpPr>
        <p:spPr>
          <a:xfrm>
            <a:off x="3675888" y="3086100"/>
            <a:ext cx="4507992" cy="483108"/>
          </a:xfrm>
          <a:prstGeom prst="roundRect">
            <a:avLst>
              <a:gd name="adj" fmla="val 22713"/>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850" dirty="0">
                <a:solidFill>
                  <a:srgbClr val="1B2559"/>
                </a:solidFill>
                <a:latin typeface="Segoe UI Semibold" pitchFamily="34" charset="0"/>
                <a:ea typeface="Segoe UI Semibold" pitchFamily="34" charset="-122"/>
                <a:cs typeface="Segoe UI Semibold" pitchFamily="34" charset="-120"/>
              </a:rPr>
              <a:t>RESTAURANT: insist on only paying for what you ate when the bill is divided</a:t>
            </a:r>
            <a:endParaRPr lang="en-US" sz="85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e.g. It really annoys me when people do that!</a:t>
            </a:r>
            <a:endParaRPr lang="en-US" sz="850" dirty="0"/>
          </a:p>
        </p:txBody>
      </p:sp>
      <p:pic>
        <p:nvPicPr>
          <p:cNvPr id="29" name="R4_th596" descr="/home/claude/lls-course/v2/cache/spare_1a2_bill_jpg_154x107_18.png">    </p:cNvPr>
          <p:cNvPicPr>
            <a:picLocks noChangeAspect="1"/>
          </p:cNvPicPr>
          <p:nvPr/>
        </p:nvPicPr>
        <p:blipFill>
          <a:blip r:embed="rId7"/>
          <a:stretch>
            <a:fillRect/>
          </a:stretch>
        </p:blipFill>
        <p:spPr>
          <a:xfrm>
            <a:off x="8257032" y="3104388"/>
            <a:ext cx="640080" cy="446532"/>
          </a:xfrm>
          <a:prstGeom prst="rect">
            <a:avLst/>
          </a:prstGeom>
        </p:spPr>
      </p:pic>
      <p:sp>
        <p:nvSpPr>
          <p:cNvPr id="30" name="R5_qb597"/>
          <p:cNvSpPr/>
          <p:nvPr/>
        </p:nvSpPr>
        <p:spPr>
          <a:xfrm>
            <a:off x="3273552" y="367893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1" name="R5_sq598"/>
          <p:cNvSpPr/>
          <p:nvPr/>
        </p:nvSpPr>
        <p:spPr>
          <a:xfrm>
            <a:off x="3675888" y="364236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850" dirty="0">
                <a:solidFill>
                  <a:srgbClr val="1B2559"/>
                </a:solidFill>
                <a:latin typeface="Segoe UI Semibold" pitchFamily="34" charset="0"/>
                <a:ea typeface="Segoe UI Semibold" pitchFamily="34" charset="-122"/>
                <a:cs typeface="Segoe UI Semibold" pitchFamily="34" charset="-120"/>
              </a:rPr>
              <a:t>SOCIAL NETWORKING: post a photo of a friend without asking their permission</a:t>
            </a:r>
            <a:endParaRPr lang="en-US" sz="85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e.g. BM – I hate it when people do that!</a:t>
            </a:r>
            <a:endParaRPr lang="en-US" sz="850" dirty="0"/>
          </a:p>
        </p:txBody>
      </p:sp>
      <p:sp>
        <p:nvSpPr>
          <p:cNvPr id="32" name="R6_qb599"/>
          <p:cNvSpPr/>
          <p:nvPr/>
        </p:nvSpPr>
        <p:spPr>
          <a:xfrm>
            <a:off x="3273552" y="423519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3" name="R6_sq600"/>
          <p:cNvSpPr/>
          <p:nvPr/>
        </p:nvSpPr>
        <p:spPr>
          <a:xfrm>
            <a:off x="3675888" y="419862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OUR EXTRA: arrive 20 minutes late for dinner</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NI in Sicily! But in Britain I think it's rude.</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400"/>
                                        <p:tgtEl>
                                          <p:spTgt spid="32"/>
                                        </p:tgtEl>
                                      </p:cBhvr>
                                    </p:animEffect>
                                  </p:childTnLst>
                                </p:cTn>
                              </p:par>
                              <p:par>
                                <p:cTn id="54" presetID="10" presetClass="entr" presetSubtype="0" fill="hold"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01"/>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602"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603"/>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604"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605"/>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60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Cosa ricordi?</a:t>
            </a:r>
            <a:endParaRPr lang="en-US" sz="950" dirty="0"/>
          </a:p>
        </p:txBody>
      </p:sp>
      <p:sp>
        <p:nvSpPr>
          <p:cNvPr id="9" name="meta_607"/>
          <p:cNvSpPr/>
          <p:nvPr/>
        </p:nvSpPr>
        <p:spPr>
          <a:xfrm>
            <a:off x="6510528" y="182880"/>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608"/>
          <p:cNvSpPr/>
          <p:nvPr/>
        </p:nvSpPr>
        <p:spPr>
          <a:xfrm>
            <a:off x="6510528" y="420624"/>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60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61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Exit · what can you remember?</a:t>
            </a:r>
            <a:endParaRPr lang="en-US" sz="800" dirty="0"/>
          </a:p>
        </p:txBody>
      </p:sp>
      <p:sp>
        <p:nvSpPr>
          <p:cNvPr id="13" name="bd_611"/>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612"/>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manners words from today (no looking!)</a:t>
            </a:r>
            <a:endParaRPr lang="en-US" sz="1400" dirty="0"/>
          </a:p>
        </p:txBody>
      </p:sp>
      <p:sp>
        <p:nvSpPr>
          <p:cNvPr id="15" name="bd_613"/>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614"/>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pieces of advice for Damien or Miranda</a:t>
            </a:r>
            <a:endParaRPr lang="en-US" sz="1400" dirty="0"/>
          </a:p>
        </p:txBody>
      </p:sp>
      <p:sp>
        <p:nvSpPr>
          <p:cNvPr id="17" name="bd_615"/>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616"/>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thing that is really bad manners for you: "I think it's rude to…"</a:t>
            </a:r>
            <a:endParaRPr lang="en-US" sz="1400" dirty="0"/>
          </a:p>
        </p:txBody>
      </p:sp>
      <p:sp>
        <p:nvSpPr>
          <p:cNvPr id="19" name="cd_617"/>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618"/>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619"/>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620"/>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4A: 2c, 2d</a:t>
            </a:r>
            <a:endParaRPr lang="en-US" sz="1150" dirty="0"/>
          </a:p>
          <a:p>
            <a:pPr marL="152400" indent="-152400">
              <a:spcBef>
                <a:spcPts val="5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SB p.127: script 4.11 – underline have to, must, should, ought to</a:t>
            </a:r>
            <a:endParaRPr lang="en-US" sz="1150" dirty="0"/>
          </a:p>
          <a:p>
            <a:pPr marL="152400" indent="-152400">
              <a:spcBef>
                <a:spcPts val="5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Homework sheet in the LLS app</a:t>
            </a:r>
            <a:endParaRPr lang="en-US" sz="1150" dirty="0"/>
          </a:p>
        </p:txBody>
      </p:sp>
      <p:sp>
        <p:nvSpPr>
          <p:cNvPr id="23" name="st_621"/>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4B part 1 · Yes, I can! · can, could, be able to</a:t>
            </a:r>
            <a:endParaRPr lang="en-US" sz="1100" dirty="0"/>
          </a:p>
        </p:txBody>
      </p:sp>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22"/>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623"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624"/>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625"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626"/>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62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cmd_628"/>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629"/>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1 min   🙋 whole class</a:t>
            </a:r>
            <a:endParaRPr lang="en-US" sz="950" dirty="0"/>
          </a:p>
        </p:txBody>
      </p:sp>
      <p:sp>
        <p:nvSpPr>
          <p:cNvPr id="11" name="tag_630"/>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Reflection</a:t>
            </a:r>
            <a:endParaRPr lang="en-US" sz="850" dirty="0"/>
          </a:p>
        </p:txBody>
      </p:sp>
      <p:pic>
        <p:nvPicPr>
          <p:cNvPr id="12" name="logo_63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3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Review · what did you do today?</a:t>
            </a:r>
            <a:endParaRPr lang="en-US" sz="800" dirty="0"/>
          </a:p>
        </p:txBody>
      </p:sp>
      <p:sp>
        <p:nvSpPr>
          <p:cNvPr id="14" name="cd_633"/>
          <p:cNvSpPr/>
          <p:nvPr/>
        </p:nvSpPr>
        <p:spPr>
          <a:xfrm>
            <a:off x="548640" y="1417320"/>
            <a:ext cx="6035040" cy="530352"/>
          </a:xfrm>
          <a:prstGeom prst="roundRect">
            <a:avLst>
              <a:gd name="adj" fmla="val 24138"/>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te_634"/>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t_635"/>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a guide to modern manners</a:t>
            </a:r>
            <a:endParaRPr lang="en-US" sz="1350" dirty="0"/>
          </a:p>
        </p:txBody>
      </p:sp>
      <p:sp>
        <p:nvSpPr>
          <p:cNvPr id="17" name="R1_tk636"/>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cd_637"/>
          <p:cNvSpPr/>
          <p:nvPr/>
        </p:nvSpPr>
        <p:spPr>
          <a:xfrm>
            <a:off x="548640" y="2020824"/>
            <a:ext cx="6035040" cy="530352"/>
          </a:xfrm>
          <a:prstGeom prst="roundRect">
            <a:avLst>
              <a:gd name="adj" fmla="val 24138"/>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te_638"/>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t_639"/>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 radio show about rude relatives</a:t>
            </a:r>
            <a:endParaRPr lang="en-US" sz="1350" dirty="0"/>
          </a:p>
        </p:txBody>
      </p:sp>
      <p:sp>
        <p:nvSpPr>
          <p:cNvPr id="21" name="R2_tk640"/>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cd_641"/>
          <p:cNvSpPr/>
          <p:nvPr/>
        </p:nvSpPr>
        <p:spPr>
          <a:xfrm>
            <a:off x="548640" y="2624328"/>
            <a:ext cx="6035040" cy="530352"/>
          </a:xfrm>
          <a:prstGeom prst="roundRect">
            <a:avLst>
              <a:gd name="adj" fmla="val 24138"/>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te_642"/>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t_643"/>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Gave advice: should, mustn't, don't have to</a:t>
            </a:r>
            <a:endParaRPr lang="en-US" sz="1350" dirty="0"/>
          </a:p>
        </p:txBody>
      </p:sp>
      <p:sp>
        <p:nvSpPr>
          <p:cNvPr id="25" name="R3_tk644"/>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cd_645"/>
          <p:cNvSpPr/>
          <p:nvPr/>
        </p:nvSpPr>
        <p:spPr>
          <a:xfrm>
            <a:off x="548640" y="3227832"/>
            <a:ext cx="6035040" cy="530352"/>
          </a:xfrm>
          <a:prstGeom prst="roundRect">
            <a:avLst>
              <a:gd name="adj" fmla="val 24138"/>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te_646"/>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t_647"/>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 class story and answered questions</a:t>
            </a:r>
            <a:endParaRPr lang="en-US" sz="1350" dirty="0"/>
          </a:p>
        </p:txBody>
      </p:sp>
      <p:sp>
        <p:nvSpPr>
          <p:cNvPr id="29" name="R4_tk648"/>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cd_649"/>
          <p:cNvSpPr/>
          <p:nvPr/>
        </p:nvSpPr>
        <p:spPr>
          <a:xfrm>
            <a:off x="548640" y="3831336"/>
            <a:ext cx="6035040" cy="530352"/>
          </a:xfrm>
          <a:prstGeom prst="roundRect">
            <a:avLst>
              <a:gd name="adj" fmla="val 24138"/>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te_650"/>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t_651"/>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Decided: good manners or bad manners?</a:t>
            </a:r>
            <a:endParaRPr lang="en-US" sz="1350" dirty="0"/>
          </a:p>
        </p:txBody>
      </p:sp>
      <p:sp>
        <p:nvSpPr>
          <p:cNvPr id="33" name="R5_tk652"/>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4" name="st_653"/>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54"/>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22</a:t>
            </a:r>
            <a:endParaRPr lang="en-US" sz="2200" dirty="0"/>
          </a:p>
        </p:txBody>
      </p:sp>
      <p:pic>
        <p:nvPicPr>
          <p:cNvPr id="4" name="brY_655"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656"/>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Dear Debrett's…</a:t>
            </a:r>
            <a:endParaRPr lang="en-US" sz="2500" dirty="0"/>
          </a:p>
        </p:txBody>
      </p:sp>
      <p:pic>
        <p:nvPicPr>
          <p:cNvPr id="6" name="brP_657"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658"/>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Write a question. Another pair answers!</a:t>
            </a:r>
            <a:endParaRPr lang="en-US" sz="1250" dirty="0"/>
          </a:p>
        </p:txBody>
      </p:sp>
      <p:sp>
        <p:nvSpPr>
          <p:cNvPr id="8" name="insIT_65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Scrivete una domanda. Un'altra coppia risponde!</a:t>
            </a:r>
            <a:endParaRPr lang="en-US" sz="950" dirty="0"/>
          </a:p>
        </p:txBody>
      </p:sp>
      <p:sp>
        <p:nvSpPr>
          <p:cNvPr id="9" name="cmd_660"/>
          <p:cNvSpPr/>
          <p:nvPr/>
        </p:nvSpPr>
        <p:spPr>
          <a:xfrm>
            <a:off x="6510528" y="182880"/>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WRITE</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SCRIVI</a:t>
            </a:r>
            <a:endParaRPr lang="en-US" sz="1100" dirty="0"/>
          </a:p>
        </p:txBody>
      </p:sp>
      <p:sp>
        <p:nvSpPr>
          <p:cNvPr id="10" name="meta_661"/>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6 min   👥 pairs</a:t>
            </a:r>
            <a:endParaRPr lang="en-US" sz="950" dirty="0"/>
          </a:p>
        </p:txBody>
      </p:sp>
      <p:sp>
        <p:nvSpPr>
          <p:cNvPr id="11" name="tag_662"/>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Writing</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Controlled practice</a:t>
            </a:r>
            <a:endParaRPr lang="en-US" sz="750" dirty="0"/>
          </a:p>
        </p:txBody>
      </p:sp>
      <p:pic>
        <p:nvPicPr>
          <p:cNvPr id="12" name="logo_66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6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4A-2 · Extra · writing: Dear Debrett's…</a:t>
            </a:r>
            <a:endParaRPr lang="en-US" sz="800" dirty="0"/>
          </a:p>
        </p:txBody>
      </p:sp>
      <p:sp>
        <p:nvSpPr>
          <p:cNvPr id="14" name="st_665"/>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cd_666"/>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66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668"/>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8" name="il_669"/>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Is it rude to wear headphones at Sunday lunch? → Yes. You shouldn't…</a:t>
            </a:r>
            <a:endParaRPr lang="en-US" sz="1000" dirty="0"/>
          </a:p>
        </p:txBody>
      </p:sp>
      <p:sp>
        <p:nvSpPr>
          <p:cNvPr id="19" name="pf_670"/>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671" descr="/home/claude/lls-course/v2/cache/4a1_texting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1" name="bd_672"/>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673"/>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Is it rude to send a 5-minute voice message?</a:t>
            </a:r>
            <a:endParaRPr lang="en-US" sz="1050" dirty="0"/>
          </a:p>
        </p:txBody>
      </p:sp>
      <p:sp>
        <p:nvSpPr>
          <p:cNvPr id="23" name="R1_chip674"/>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Yes! You should keep it short – or just call.</a:t>
            </a:r>
            <a:endParaRPr lang="en-US" sz="1000" dirty="0"/>
          </a:p>
        </p:txBody>
      </p:sp>
      <p:sp>
        <p:nvSpPr>
          <p:cNvPr id="24" name="bd_675"/>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676"/>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Should I answer my phone at Sunday lunch?</a:t>
            </a:r>
            <a:endParaRPr lang="en-US" sz="1150" dirty="0"/>
          </a:p>
        </p:txBody>
      </p:sp>
      <p:sp>
        <p:nvSpPr>
          <p:cNvPr id="26" name="R2_chip677"/>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You shouldn't, unless it's urgent.</a:t>
            </a:r>
            <a:endParaRPr lang="en-US" sz="1000" dirty="0"/>
          </a:p>
        </p:txBody>
      </p:sp>
      <p:sp>
        <p:nvSpPr>
          <p:cNvPr id="27" name="bd_678"/>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679"/>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Do I have to reply in the family WhatsApp group?</a:t>
            </a:r>
            <a:endParaRPr lang="en-US" sz="1100" dirty="0"/>
          </a:p>
        </p:txBody>
      </p:sp>
      <p:sp>
        <p:nvSpPr>
          <p:cNvPr id="29" name="R3_chip680"/>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You don't have to – but say happy birthday!</a:t>
            </a:r>
            <a:endParaRPr lang="en-US" sz="1000" dirty="0"/>
          </a:p>
        </p:txBody>
      </p:sp>
      <p:sp>
        <p:nvSpPr>
          <p:cNvPr id="30" name="bd_681"/>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682"/>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Can I leave a party without saying goodbye?</a:t>
            </a:r>
            <a:endParaRPr lang="en-US" sz="1100" dirty="0"/>
          </a:p>
        </p:txBody>
      </p:sp>
      <p:sp>
        <p:nvSpPr>
          <p:cNvPr id="32" name="R4_chip683"/>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You should always thank the host first.</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4A-2 Bad manners?</dc:title>
  <dc:subject>PptxGenJS Presentation</dc:subject>
  <dc:creator>PptxGenJS</dc:creator>
  <cp:lastModifiedBy>PptxGenJS</cp:lastModifiedBy>
  <cp:revision>1</cp:revision>
  <dcterms:created xsi:type="dcterms:W3CDTF">2026-10-15T08:39:43Z</dcterms:created>
  <dcterms:modified xsi:type="dcterms:W3CDTF">2026-10-15T08:39:43Z</dcterms:modified>
</cp:coreProperties>
</file>