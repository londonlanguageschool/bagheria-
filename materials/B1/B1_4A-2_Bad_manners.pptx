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'Is it rude to start eating before everyone is served?' Quick vote: hands up for rude / not rude. Take 2–3 reasons, then click for the example answer. Don't give the 'right' answer: a famous British book answers it later in the lesson (it says YES, it's rude – unless the host says it's OK). Read the 'Today you're going to…' list together. (Picture: the 4a2-cover picture is still to come; until then the deck shows 4a1-table-manners.jpg.)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the Grammar Bank 4A examples, audio 4.4–4.7). Point at the arrows: the meaning tells you which verb. Key check: 'non devi' in Italian can be mustn't OR don't have to – ask 'Is it NOT allowed or just NOT necessary?' Remind them: ought to = should. Then quickly say the last chip aloud: calm (no l), hour (no h), wrong (no w). The warmer game 'Odd one out' uses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phones, modals, silent letters (4 min)
RETRIEVAL WARMER (4 min) – recycles 4A part 1 (phone language, modals, silent letters). Format: odd one out in two teams (different from 4A-1's warmer). Teams have 30 seconds per line; they must say the odd one out AND why (the 'why' is the real revision). Click once per line. Answers: 1 call back starts a call; hang up / be cut off end it · 2 wrong (silent w) – calm, half, talk = silent l (audio 4.8) · 3 whole (silent w) – hour, dishonest, rhythm = silent h · 4 You don't have to park here = not necessary; You mustn't / can't park here = not allowed · 5 must = very important / necessary; should and ought to = advice. Quick follow-up for item 4: each team says a true sentence about our school with don't have to (e.g. We don't have to wear a uniform).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Reading · lead-in: modern dilemmas (3 min)
LEAD-IN / PREDICTION (3 min). Book 5a questions, ONE PER CLICK; about 30 seconds per question in pairs. Teach dilemma /dɪˈlemə/ (= a situation in which you have to make a difficult choice – un dilemma) and drill it. Don't correct their opinions: on the next slides they find out what a very traditional British book says. Feedback: one or two pairs per question; ask 'Is it the same in Sicily?' (e.g. two kisses are normal here). ICQ: 'Are you giving YOUR opinion or the book's?'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Read the introduction aloud. Teach etiquette /ˈetɪket/ (= galateo) and manners (buone maniere). Pairs look at the number bank and guess what each number is about (years? questions per year? a year? a percentage?) – every pair commits to a guess before the next slide. Hint if needed: one year was a question about the Queen, the other about wedding presents. ICQ: 'Are you checking or guessing?' (guessing). (Curiosity from the article: the editor, Jo Bryant, says 'The key is to always consider those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Debrett's 1/2 (3 min)
READ + CHECK (3 min). Pairs write their guesses for a–d (numbers) and Q1–Q2 (Debrett's advice: the gaps answer questions 1–2 from slide 4). Then click once per line: the answer appears highlighted IN the text. Answers (article): a 100 · b 10,000 · c 1994 (the Queen) · d 2004 (money as a wedding present) · Q1 professional situations / a first meeting – TG: at work or when meeting someone socially for the first time · Q2 smelly food / make-up – TG: you shouldn't eat smelly food or put on make-up. Ask after each click: 'Were your answers the same as Debrett's?' (5b). Don't explain the highlighted words yet (appropriate, inconsiderate): slide 8 does that. (The book article also says: an air kiss, without contact, may seem rude, so very slight contact is best, but no sound effects!) Picture: 4a2-office-kiss.jpg is still to come; the deck shows 4a1-public-transport.jpg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Debrett's 2/2 (3 min)
READ + CHECK (3 min). Same procedure. Answers (article / TG): Q3 not on short (daytime) flights · e 20% · Q4 when someone is pregnant, elderly / old, or clearly in need · Q5 only if you have permission: unless the host or hostess (or, in a restaurant, the other diners) gives permission. React: 'Only 20%! Is it the same on the bus in Palermo?' Back to the opening question: Debrett's says YES, it's rude. (The article also says: avoid kicking the seat in front of you, or using it to help you stand up.) Picture: 4a2-recline.jpg is still to come; the deck shows 4a1-table-manners.jpg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vocabulary from the text (4 min)
ELICIT FIRST (4 min). Book 5c: the highlighted phrases. Demo item 0 with the class. Pairs explain each phrase in simple English, looking at the context on slides 6–7 (Italian only as a last resort). Click once per item: the TG's possible answers (accept any similar paraphrase). Drill: inconsiderate /ˌɪnkənˈsɪdərət/, monopolize /məˈnɒpəlaɪz/, decline /dɪˈklaɪn/, permission /pəˈmɪʃn/. ICQs: 'Are you translating into Italian?' (no – simple English) · 'Alone or in pairs?' (pairs). Next slide gives the Italian for slower students. 5d (30 seconds, whole class): 'Do you agree with Debrett's advice? Are the reasons good ones?' Picture: 4a2-smelly-food.jpg is still to come; the deck shows 4a1-queue.jpg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Class says the Italian aloud for each word, then ONE click shows all the Italian. 20 seconds on the warning: 'educato' is polite, NOT educated (educated = istruito, who studied a lot). Quick CCQs: 'He takes all the armrest. Is he thinking about other people?' (no) 'So he's…?' (selfish / inconsiderate) · 'You say no to a seat: you…?' (decline it) · 'The person who invites you to dinner is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(3 min)
GAME 2 (3 min). Variation of 'Describe it!' – A must use a SITUATION, not a definition: 'Someone eats all the pizza and doesn't share. He's…' → selfish. Demo first with a strong student. Click to show each word (round 1 = 4 words for A; round 2 = B faces the screen, 4 more words). 20 seconds per word. ICQ: 'Can you say the word?' (no) · 'Definition or situation?'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Sicily vs Britain (4 min)
SPEAKING (4 min). Book 5e (adapted, made concrete). Questions appear ONE PER CLICK: about 40 seconds per question, then click. Q5 is personal: anyone can say 'I'd rather not say'. Monitor and note 4–5 errors (e.g. ✗ 'Is rude to…' → It's rude to…; ✗ 'You must to…') for delayed correction after the listening. Feedback on Q1: is Sicily more 'kissy' than Britain? Keep it light – no stereotypes. Other book questions if there's time: 'What do you think passengers ought not to do on planes?' · 'How else is it appropriate to help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rude relatives (gist) (3 min)
GIST (3 min). Set the scene with picture C: a radio phone-in about modern manners; today's subject: rude relatives (parenti maleducati). Check mother-in-law (suocera), nephew (nipote, son of your brother / sister), puppy (cucciolo). Play 4.9 ONCE, pausing after each caller for notes; play again if necessary. Pairs compare, then click once per caller (chips: picture letter · who · the problem). Answers (TG / audio script): 1 Belinda's mother-in-law criticizes her cooking whenever she comes for a meal · 2 Damien's brother is coming next month with his new dog, a puppy – Damien and his girlfriend aren't very into dogs, and they've just redecorated the house and done a lot of work on the garden · 3 Miranda's nephew (her sister's son) is 8; his parents don't give him any rules: he shouts, jumps on the furniture, makes a mess in the kitchen, even writes on the walls; her sister is very sensitive about criticism, so Miranda doesn't say anything. ICQ: 'Are you writing every word?' (no – just the problem). Pictures A–C are still to come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the expert's advice (detail) (4 min)
DETAIL (4 min). 6b (1 min): pairs give ONE piece of advice for each caller, using should / ought to / must / mustn't / don't have to (no 'it depends'!). Take one idea per caller. 6c: play 4.10 (Sarah, the etiquette expert), pausing after each piece of advice; students guess first, then complete. Callers: 1–2 Belinda · 3–4 Damien · 5–7 Miranda. Click once per sentence. Answers (TG): 1 behaves well · 2 argue with her · 3 say how you feel · 4 give a reason · 5 speak to his parents · 6 calm down · 7 write on the walls. Full sentences (4.10): I think you ought to be the one who behaves well. · You shouldn't argue with her, because she won't change her opinion. · I think you should politely but directly say how you feel. · To be honest, you don't really have to give a reason. · You must speak to his parents before their next visit. · Explain that he has to calm down a bit when he's visiting. · 'You mustn't write on the walls.' Ask: 'Was your advice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the whole programme (3 min)
WHOLE PROGRAMME (3 min). 6d: students read the questions first, then listen to 4.11 once. Pairs compare; click once per question. Answers (audio script 4.11): 1 stay calm, thank her as politely as possible for her advice, and change the subject · 2 her husband or another relative – in front of her mother-in-law (then she'll either stop criticizing or start paying compliments) · 3 yes: it's bad manners for a guest to bring an uninvited pet, even to a relative's home · 4 say how great it is that their son has so much energy and how much she loves him – then explain that he has to calm down · 5 welcome him, but give him some house rules (no jumping on the furniture; draw on paper – you mustn't write on the walls). Then 6d: 'Do you agree with Sarah's advice? Anything else you would suggest?' EXTRA SUPPORT: script on SB p.127 (also homework). Picture: 4a2-puppy.jpg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advice in the programme (3 min)
MEANING CHECK (3 min) – the 4A-1 grammar in a new context. Pairs match sentences 1–7 to the five meanings (the same meanings as 4A-1's comments task: good idea / bad idea / necessary / not allowed / not necessary). Click once per sentence. Answers: 1 good idea (ought to = should) · 2 bad idea · 3 good idea · 4 not necessary · 5 necessary · 6 necessary · 7 not allowed. CCQs: 'You don't have to give a reason – can Damien give one?' (yes, if he wants) · 'You mustn't write on the walls – can he?' (no!). Drill ought to /ˈɔːt tə/ – remember the silent gh! Then 2 minutes of delayed error correction from the speaking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 giving advice (3 min)
GAME 3 (3 min). Two teams; the class is now the radio expert. Read each problem; teams have 10 seconds to give advice with should / shouldn't / ought to / must / mustn't / don't have to. Click to show a model answer – accept ANY correct, sensible advice. 1 point if the modal verb is right (✗ 'You must to…' = no point), +1 for the funniest polite advice. The problems are our own (model answers are examples, not from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good or bad manners? 1/2 (4 min)
SPEAKING (4 min). 7a + 7b. Go through the 'Saying what you think is right' box first (useful phrases card): I don't think people should… · I think it's rude / selfish / inappropriate / bad manners to… · I don't think it's important to… / you have to… · I hate it / I don't mind it / It really annoys me when… Statements appear ONE PER CLICK; students mark GM / BM / NI alone (10 seconds), then groups of 3–4 compare and say why. EXTRA SUPPORT (TG): do the first statement with the whole class. Mild controversy for the 'A man should…' section: let the groups disagree; feedback = 'Which one caused the biggest disagreement?' Book items not on the slide: none from these two sections (all 6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good or bad manners? 2/2 (4 min)
SPEAKING (4 min). Same procedure, one statement per click. The last one is NOT in the book (our extra, Sicily vs Britain): 20 minutes late is normal for many Sicilians, not for many British people – ask 'Would a British person agree with you?' Book items not on the slide (use them if a group finishes early): take your shoes off when you arrive · complain that the food isn't very good (restaurant) · be very affectionate with your partner · make a negative comment about somebody's photo · post a private message or conversation. Feedback: each group says the thing they ALL think is bad manners. Then delayed error correction: 3–4 errors from the speaking on the board; students correct them. Picture: 4a2-late-guest.jpg / 4a2-dinner-guest.jpg are still to come; the deck shows spare/1a1-supper.jpg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manners words (rude, polite, selfish, inconsiderate, host, decline…), 2 pieces of advice with should / must / mustn't / don't have to, 1 personal opinion with I think it's rude to… A few students share. Set homework (on the slide and in the app): Workbook 4A 2c (grammar: past and present obligation) and 2d (personal writing) + read the script of 4.11 on SB p.127 and underline the modal verbs + the 4A-2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writing: Dear Debrett's… (6 min)
EXTRA (6 min, if there's time). From the TG EXTRA IDEA for 5e. First show the 4 model questions and replies (one per click – our own models, not from the book). Then pairs write their own modern, local dilemma (WhatsApp groups, voice messages, family lunches, school…), pass it on, and write a 2–3 sentence Debrett's-style reply with should / mustn't / don't have to. Read aloud; the class votes for the best advice. Correct the modal verbs as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pp.38–39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Modern manners · rude relatives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 guide to modern manners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 radio show about rude relatives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give advice: should, mustn't, don't have 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decide: good manners or bad manners?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In my family we always wait. My nonna gets angry if you start first!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rude to start eating before everyone is served?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4a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4A part 1: phone language</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have to, must, should</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silent letters: calm, hour</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have to  ·  mustn't</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have to switch off your phone on a plane.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be on time tomorrow – there's a test.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text while you're driving.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must / have to = necessary · mustn't = NOT allowed</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50" dirty="0">
                <a:solidFill>
                  <a:srgbClr val="FFFFFF"/>
                </a:solidFill>
                <a:latin typeface="Arial Rounded MT Bold" pitchFamily="34" charset="0"/>
                <a:ea typeface="Arial Rounded MT Bold" pitchFamily="34" charset="-122"/>
                <a:cs typeface="Arial Rounded MT Bold" pitchFamily="34" charset="-120"/>
              </a:rPr>
              <a:t>should / ought to  ·  don't have to</a:t>
            </a:r>
            <a:endParaRPr lang="en-US" sz="115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shouldn't drink so much coffee.</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don't have to pay – the museum is free.</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 should / ought to = a good idea · don't have to = not necessary</a:t>
            </a:r>
            <a:endParaRPr lang="en-US" sz="110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28" name="w_42"/>
          <p:cNvSpPr/>
          <p:nvPr/>
        </p:nvSpPr>
        <p:spPr>
          <a:xfrm>
            <a:off x="4183380"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call back</a:t>
            </a:r>
            <a:endParaRPr lang="en-US" sz="1050" dirty="0"/>
          </a:p>
        </p:txBody>
      </p:sp>
      <p:sp>
        <p:nvSpPr>
          <p:cNvPr id="29" name="w_43"/>
          <p:cNvSpPr/>
          <p:nvPr/>
        </p:nvSpPr>
        <p:spPr>
          <a:xfrm>
            <a:off x="5276088" y="417880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voicemail</a:t>
            </a:r>
            <a:endParaRPr lang="en-US" sz="1050" dirty="0"/>
          </a:p>
        </p:txBody>
      </p:sp>
      <p:sp>
        <p:nvSpPr>
          <p:cNvPr id="30" name="w_44"/>
          <p:cNvSpPr/>
          <p:nvPr/>
        </p:nvSpPr>
        <p:spPr>
          <a:xfrm>
            <a:off x="6368796"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put on hold</a:t>
            </a:r>
            <a:endParaRPr lang="en-US" sz="1050" dirty="0"/>
          </a:p>
        </p:txBody>
      </p:sp>
      <p:sp>
        <p:nvSpPr>
          <p:cNvPr id="31" name="w_45"/>
          <p:cNvSpPr/>
          <p:nvPr/>
        </p:nvSpPr>
        <p:spPr>
          <a:xfrm>
            <a:off x="7616952"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cut off</a:t>
            </a:r>
            <a:endParaRPr lang="en-US" sz="1050" dirty="0"/>
          </a:p>
        </p:txBody>
      </p:sp>
      <p:sp>
        <p:nvSpPr>
          <p:cNvPr id="32" name="w_46"/>
          <p:cNvSpPr/>
          <p:nvPr/>
        </p:nvSpPr>
        <p:spPr>
          <a:xfrm>
            <a:off x="3246120"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off</a:t>
            </a:r>
            <a:endParaRPr lang="en-US" sz="1050" dirty="0"/>
          </a:p>
        </p:txBody>
      </p:sp>
      <p:sp>
        <p:nvSpPr>
          <p:cNvPr id="33" name="w_47"/>
          <p:cNvSpPr/>
          <p:nvPr/>
        </p:nvSpPr>
        <p:spPr>
          <a:xfrm>
            <a:off x="4105656" y="454456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ringtone</a:t>
            </a:r>
            <a:endParaRPr lang="en-US" sz="1050" dirty="0"/>
          </a:p>
        </p:txBody>
      </p:sp>
      <p:sp>
        <p:nvSpPr>
          <p:cNvPr id="34" name="w_48"/>
          <p:cNvSpPr/>
          <p:nvPr/>
        </p:nvSpPr>
        <p:spPr>
          <a:xfrm>
            <a:off x="5120640" y="4544568"/>
            <a:ext cx="179679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calm · hour · wrong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Spiega PERCHÉ!</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Warmer · last lesson: phones, modals, silent letters   ·   📖 Recycles 4A part 1 · SB pp.36–37 · audio 4.8 · Grammar Bank 4A</a:t>
            </a:r>
            <a:endParaRPr lang="en-US" sz="800" dirty="0"/>
          </a:p>
        </p:txBody>
      </p:sp>
      <p:sp>
        <p:nvSpPr>
          <p:cNvPr id="14" name="cd_6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words or sentences.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Find the odd one out.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Say WHY = 1 point.</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4a1_on_hol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be cut off · call back</a:t>
            </a:r>
            <a:endParaRPr lang="en-US" sz="1100" dirty="0"/>
          </a:p>
        </p:txBody>
      </p:sp>
      <p:sp>
        <p:nvSpPr>
          <p:cNvPr id="22" name="R1_chip68"/>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call back – you START a call; the others end it</a:t>
            </a:r>
            <a:endParaRPr lang="en-US" sz="1100" dirty="0"/>
          </a:p>
        </p:txBody>
      </p:sp>
      <p:sp>
        <p:nvSpPr>
          <p:cNvPr id="23" name="bd_69"/>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calm · half · talk · wrong</a:t>
            </a:r>
            <a:endParaRPr lang="en-US" sz="1100" dirty="0"/>
          </a:p>
        </p:txBody>
      </p:sp>
      <p:sp>
        <p:nvSpPr>
          <p:cNvPr id="25" name="R2_chip71"/>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wrong – silent w (the others: silent l)</a:t>
            </a:r>
            <a:endParaRPr lang="en-US" sz="1100" dirty="0"/>
          </a:p>
        </p:txBody>
      </p:sp>
      <p:sp>
        <p:nvSpPr>
          <p:cNvPr id="26" name="bd_72"/>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hour · whole · dishonest · rhythm</a:t>
            </a:r>
            <a:endParaRPr lang="en-US" sz="1100" dirty="0"/>
          </a:p>
        </p:txBody>
      </p:sp>
      <p:sp>
        <p:nvSpPr>
          <p:cNvPr id="28" name="R3_chip74"/>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whole – silent w (the others: silent h)</a:t>
            </a:r>
            <a:endParaRPr lang="en-US" sz="1100" dirty="0"/>
          </a:p>
        </p:txBody>
      </p:sp>
      <p:sp>
        <p:nvSpPr>
          <p:cNvPr id="29" name="bd_75"/>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mustn't park · can't park · don't have to park</a:t>
            </a:r>
            <a:endParaRPr lang="en-US" sz="1100" dirty="0"/>
          </a:p>
        </p:txBody>
      </p:sp>
      <p:sp>
        <p:nvSpPr>
          <p:cNvPr id="31" name="R4_chip77"/>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don't have to = not necessary (the others = not allowed)</a:t>
            </a:r>
            <a:endParaRPr lang="en-US" sz="1050" dirty="0"/>
          </a:p>
        </p:txBody>
      </p:sp>
      <p:sp>
        <p:nvSpPr>
          <p:cNvPr id="32" name="bd_78"/>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should · ought to · must</a:t>
            </a:r>
            <a:endParaRPr lang="en-US" sz="1100" dirty="0"/>
          </a:p>
        </p:txBody>
      </p:sp>
      <p:sp>
        <p:nvSpPr>
          <p:cNvPr id="34" name="R5_chip80"/>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 = necessary (the others = a good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5"/>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your opinion. Give a reason!</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la tua opinione. Spiega perché!</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lead-in: modern dilemmas   ·   📖 SB p.38 · 5a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you should / shouldn't…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rude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a:t>
            </a:r>
            <a:endParaRPr lang="en-US" sz="105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greet someone with a kiss?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Maybe at a job interview?</a:t>
            </a:r>
            <a:endParaRPr lang="en-US" sz="125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shouldn't you do on public transport?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 shouldn't talk loudly on your phone!</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you recline your seat on a plane?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a long flight. It's normal!</a:t>
            </a:r>
            <a:endParaRPr lang="en-US" sz="1250" dirty="0"/>
          </a:p>
        </p:txBody>
      </p:sp>
      <p:sp>
        <p:nvSpPr>
          <p:cNvPr id="26" name="R4_qb104"/>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05"/>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 you give up your seat on the bus?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When an old person gets on.</a:t>
            </a:r>
            <a:endParaRPr lang="en-US" sz="1250" dirty="0"/>
          </a:p>
        </p:txBody>
      </p:sp>
      <p:sp>
        <p:nvSpPr>
          <p:cNvPr id="28" name="R5_qb10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107"/>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Should you ever start eating before everyone is served?</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No! My nonna says we have to wait.</a:t>
            </a:r>
            <a:endParaRPr lang="en-US" sz="1050" dirty="0"/>
          </a:p>
        </p:txBody>
      </p:sp>
      <p:pic>
        <p:nvPicPr>
          <p:cNvPr id="30" name="R5_th108" descr="/home/claude/lls-course/v2/cache/4a1_table_manners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11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Debrett's</a:t>
            </a:r>
            <a:endParaRPr lang="en-US" sz="2500" dirty="0"/>
          </a:p>
        </p:txBody>
      </p:sp>
      <p:pic>
        <p:nvPicPr>
          <p:cNvPr id="6" name="brP_11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where the 5 numbers go!</a:t>
            </a:r>
            <a:endParaRPr lang="en-US" sz="1250" dirty="0"/>
          </a:p>
        </p:txBody>
      </p:sp>
      <p:sp>
        <p:nvSpPr>
          <p:cNvPr id="8" name="insIT_1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dove vanno i 5 numeri!</a:t>
            </a:r>
            <a:endParaRPr lang="en-US" sz="950" dirty="0"/>
          </a:p>
        </p:txBody>
      </p:sp>
      <p:sp>
        <p:nvSpPr>
          <p:cNvPr id="9" name="cmd_1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prediction   ·   📖 SB p.38 · 5b · Debrett's introduction</a:t>
            </a:r>
            <a:endParaRPr lang="en-US" sz="800" dirty="0"/>
          </a:p>
        </p:txBody>
      </p:sp>
      <p:sp>
        <p:nvSpPr>
          <p:cNvPr id="15" name="cd_121"/>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2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Debrett's Guide</a:t>
            </a:r>
            <a:endParaRPr lang="en-US" sz="2800" dirty="0"/>
          </a:p>
        </p:txBody>
      </p:sp>
      <p:sp>
        <p:nvSpPr>
          <p:cNvPr id="17" name="nx_123"/>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text on the next 2 slides has 5 number gaps (a–e) and 5 advice gaps (Q1–Q5). Guess first, then click to check.</a:t>
            </a:r>
            <a:endParaRPr lang="en-US" sz="850" dirty="0"/>
          </a:p>
        </p:txBody>
      </p:sp>
      <p:sp>
        <p:nvSpPr>
          <p:cNvPr id="18" name="sf_12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…to Modern Dilemmas. Debrett's is a British publisher of books about modern manners. For nearly ___ years, its Handbook has advised the British public on social etiquette: how to behave in social situations.</a:t>
            </a:r>
            <a:endParaRPr lang="en-US" sz="1150" dirty="0"/>
          </a:p>
        </p:txBody>
      </p:sp>
      <p:sp>
        <p:nvSpPr>
          <p:cNvPr id="19" name="nbl_12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126"/>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100</a:t>
            </a:r>
            <a:endParaRPr lang="en-US" sz="1000" dirty="0"/>
          </a:p>
        </p:txBody>
      </p:sp>
      <p:sp>
        <p:nvSpPr>
          <p:cNvPr id="21" name="bd_127"/>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2" name="bd_128"/>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1994</a:t>
            </a:r>
            <a:endParaRPr lang="en-US" sz="800" dirty="0"/>
          </a:p>
        </p:txBody>
      </p:sp>
      <p:sp>
        <p:nvSpPr>
          <p:cNvPr id="23" name="bd_129"/>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2004</a:t>
            </a:r>
            <a:endParaRPr lang="en-US" sz="800" dirty="0"/>
          </a:p>
        </p:txBody>
      </p:sp>
      <p:sp>
        <p:nvSpPr>
          <p:cNvPr id="24" name="bd_130"/>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20%</a:t>
            </a:r>
            <a:endParaRPr lang="en-US" sz="1000" dirty="0"/>
          </a:p>
        </p:txBody>
      </p:sp>
      <p:sp>
        <p:nvSpPr>
          <p:cNvPr id="25" name="pf_13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32" descr="/home/claude/lls-course/v2/cache/4a1_polite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3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1/2</a:t>
            </a:r>
            <a:endParaRPr lang="en-US" sz="2400" dirty="0"/>
          </a:p>
        </p:txBody>
      </p:sp>
      <p:pic>
        <p:nvPicPr>
          <p:cNvPr id="6" name="brP_13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3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Poi clicca per controllare.</a:t>
            </a:r>
            <a:endParaRPr lang="en-US" sz="950" dirty="0"/>
          </a:p>
        </p:txBody>
      </p:sp>
      <p:sp>
        <p:nvSpPr>
          <p:cNvPr id="9" name="cmd_13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4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Debrett's 1/2   ·   📖 SB p.38 · 5b (text adapted from the article)</a:t>
            </a:r>
            <a:endParaRPr lang="en-US" sz="800" dirty="0"/>
          </a:p>
        </p:txBody>
      </p:sp>
      <p:sp>
        <p:nvSpPr>
          <p:cNvPr id="15" name="cd_14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4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Handbook · Kissing · Public transport</a:t>
            </a:r>
            <a:endParaRPr lang="en-US" sz="1700" dirty="0"/>
          </a:p>
        </p:txBody>
      </p:sp>
      <p:sp>
        <p:nvSpPr>
          <p:cNvPr id="17" name="ln_14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2EB872"/>
                </a:solidFill>
                <a:latin typeface="Georgia" pitchFamily="34" charset="0"/>
                <a:ea typeface="Georgia" pitchFamily="34" charset="-122"/>
                <a:cs typeface="Georgia" pitchFamily="34" charset="-120"/>
              </a:rPr>
              <a:t> (a) _____ </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2EB872"/>
                </a:solidFill>
                <a:latin typeface="Georgia" pitchFamily="34" charset="0"/>
                <a:ea typeface="Georgia" pitchFamily="34" charset="-122"/>
                <a:cs typeface="Georgia" pitchFamily="34" charset="-120"/>
              </a:rPr>
              <a:t> (b) _____ </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8" name="R1_lnA14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9" name="ln_14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2EB872"/>
                </a:solidFill>
                <a:latin typeface="Georgia" pitchFamily="34" charset="0"/>
                <a:ea typeface="Georgia" pitchFamily="34" charset="-122"/>
                <a:cs typeface="Georgia" pitchFamily="34" charset="-120"/>
              </a:rPr>
              <a:t> (c) _____ </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2EB872"/>
                </a:solidFill>
                <a:latin typeface="Georgia" pitchFamily="34" charset="0"/>
                <a:ea typeface="Georgia" pitchFamily="34" charset="-122"/>
                <a:cs typeface="Georgia" pitchFamily="34" charset="-120"/>
              </a:rPr>
              <a:t> (d) _____ </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0" name="R2_lnA15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1994</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2004</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1" name="ln_15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2EB872"/>
                </a:solidFill>
                <a:latin typeface="Georgia" pitchFamily="34" charset="0"/>
                <a:ea typeface="Georgia" pitchFamily="34" charset="-122"/>
                <a:cs typeface="Georgia" pitchFamily="34" charset="-120"/>
              </a:rPr>
              <a:t> (Q1)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2" name="R3_lnA15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professional situations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ln_15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2EB872"/>
                </a:solidFill>
                <a:latin typeface="Georgia" pitchFamily="34" charset="0"/>
                <a:ea typeface="Georgia" pitchFamily="34" charset="-122"/>
                <a:cs typeface="Georgia" pitchFamily="34" charset="-120"/>
              </a:rPr>
              <a:t> (Q1)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15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first meeting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ln_15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2EB872"/>
                </a:solidFill>
                <a:latin typeface="Georgia" pitchFamily="34" charset="0"/>
                <a:ea typeface="Georgia" pitchFamily="34" charset="-122"/>
                <a:cs typeface="Georgia" pitchFamily="34" charset="-120"/>
              </a:rPr>
              <a:t> (Q2) _____ </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2EB872"/>
                </a:solidFill>
                <a:latin typeface="Georgia" pitchFamily="34" charset="0"/>
                <a:ea typeface="Georgia" pitchFamily="34" charset="-122"/>
                <a:cs typeface="Georgia" pitchFamily="34" charset="-120"/>
              </a:rPr>
              <a:t> (Q2) _____ </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6" name="R5_lnA15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smelly food</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make-up</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7" name="pf_15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158" descr="/home/claude/lls-course/v2/cache/4a1_public_transpor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9" name="cd_15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16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16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16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Were your answers the same as Debrett's?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6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2/2</a:t>
            </a:r>
            <a:endParaRPr lang="en-US" sz="2400" dirty="0"/>
          </a:p>
        </p:txBody>
      </p:sp>
      <p:pic>
        <p:nvPicPr>
          <p:cNvPr id="6" name="brP_16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Poi clicca per controllare.</a:t>
            </a:r>
            <a:endParaRPr lang="en-US" sz="950" dirty="0"/>
          </a:p>
        </p:txBody>
      </p:sp>
      <p:sp>
        <p:nvSpPr>
          <p:cNvPr id="9" name="cmd_16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7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Debrett's 2/2   ·   📖 SB p.38 · 5b (text adapted from the article)</a:t>
            </a:r>
            <a:endParaRPr lang="en-US" sz="800" dirty="0"/>
          </a:p>
        </p:txBody>
      </p:sp>
      <p:sp>
        <p:nvSpPr>
          <p:cNvPr id="15" name="cd_17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7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Aeroplanes · Seats · Eating</a:t>
            </a:r>
            <a:endParaRPr lang="en-US" sz="1700" dirty="0"/>
          </a:p>
        </p:txBody>
      </p:sp>
      <p:sp>
        <p:nvSpPr>
          <p:cNvPr id="17" name="ln_17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2EB872"/>
                </a:solidFill>
                <a:latin typeface="Georgia" pitchFamily="34" charset="0"/>
                <a:ea typeface="Georgia" pitchFamily="34" charset="-122"/>
                <a:cs typeface="Georgia" pitchFamily="34" charset="-120"/>
              </a:rPr>
              <a:t> (Q3) _____ </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8" name="R1_lnA17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short daytime flights</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9" name="ln_17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2EB872"/>
                </a:solidFill>
                <a:latin typeface="Georgia" pitchFamily="34" charset="0"/>
                <a:ea typeface="Georgia" pitchFamily="34" charset="-122"/>
                <a:cs typeface="Georgia" pitchFamily="34" charset="-120"/>
              </a:rPr>
              <a:t> (e) _____ </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0" name="R2_lnA18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1" name="ln_18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2EB872"/>
                </a:solidFill>
                <a:latin typeface="Georgia" pitchFamily="34" charset="0"/>
                <a:ea typeface="Georgia" pitchFamily="34" charset="-122"/>
                <a:cs typeface="Georgia" pitchFamily="34" charset="-120"/>
              </a:rPr>
              <a:t> (Q4) _____ </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2" name="R3_lnA18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pregnant, elderly, or clearly in need</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3" name="ln_18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2EB872"/>
                </a:solidFill>
                <a:latin typeface="Georgia" pitchFamily="34" charset="0"/>
                <a:ea typeface="Georgia" pitchFamily="34" charset="-122"/>
                <a:cs typeface="Georgia" pitchFamily="34" charset="-120"/>
              </a:rPr>
              <a:t> (Q5)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18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unless the host or hostess gives permission</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pf_18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86" descr="/home/claude/lls-course/v2/cache/4a1_table_manner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18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8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8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9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Only 20%! Would YOU give up your seat?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9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it more simply</a:t>
            </a:r>
            <a:endParaRPr lang="en-US" sz="2500" dirty="0"/>
          </a:p>
        </p:txBody>
      </p:sp>
      <p:pic>
        <p:nvPicPr>
          <p:cNvPr id="6" name="brP_19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9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more simply to your partner.</a:t>
            </a:r>
            <a:endParaRPr lang="en-US" sz="1250" dirty="0"/>
          </a:p>
        </p:txBody>
      </p:sp>
      <p:sp>
        <p:nvSpPr>
          <p:cNvPr id="8" name="insIT_1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modo più semplice al compagno.</a:t>
            </a:r>
            <a:endParaRPr lang="en-US" sz="950" dirty="0"/>
          </a:p>
        </p:txBody>
      </p:sp>
      <p:sp>
        <p:nvSpPr>
          <p:cNvPr id="9" name="cmd_19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2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vocabulary from the text   ·   📖 SB p.38 · 5c (highlighted phrases)</a:t>
            </a:r>
            <a:endParaRPr lang="en-US" sz="800" dirty="0"/>
          </a:p>
        </p:txBody>
      </p:sp>
      <p:sp>
        <p:nvSpPr>
          <p:cNvPr id="14" name="cd_2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0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It's selfish → you're only thinking about yourself</a:t>
            </a:r>
            <a:endParaRPr lang="en-US" sz="1050" dirty="0"/>
          </a:p>
        </p:txBody>
      </p:sp>
      <p:sp>
        <p:nvSpPr>
          <p:cNvPr id="18" name="pf_2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07"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2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appropriate in many professional situations</a:t>
            </a:r>
            <a:endParaRPr lang="en-US" sz="1150" dirty="0"/>
          </a:p>
        </p:txBody>
      </p:sp>
      <p:sp>
        <p:nvSpPr>
          <p:cNvPr id="22" name="R1_chip2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kiss people you meet at work</a:t>
            </a:r>
            <a:endParaRPr lang="en-US" sz="1000" dirty="0"/>
          </a:p>
        </p:txBody>
      </p:sp>
      <p:sp>
        <p:nvSpPr>
          <p:cNvPr id="23" name="bd_2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inconsiderate to eat smelly food</a:t>
            </a:r>
            <a:endParaRPr lang="en-US" sz="1150" dirty="0"/>
          </a:p>
        </p:txBody>
      </p:sp>
      <p:sp>
        <p:nvSpPr>
          <p:cNvPr id="25" name="R2_chip2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nice for other people (trains, offices…)</a:t>
            </a:r>
            <a:endParaRPr lang="en-US" sz="1000" dirty="0"/>
          </a:p>
        </p:txBody>
      </p:sp>
      <p:sp>
        <p:nvSpPr>
          <p:cNvPr id="26" name="bd_2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don't monopolize the armrest</a:t>
            </a:r>
            <a:endParaRPr lang="en-US" sz="1150" dirty="0"/>
          </a:p>
        </p:txBody>
      </p:sp>
      <p:sp>
        <p:nvSpPr>
          <p:cNvPr id="28" name="R3_chip2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share the armrest – don't use it all yourself</a:t>
            </a:r>
            <a:endParaRPr lang="en-US" sz="1000" dirty="0"/>
          </a:p>
        </p:txBody>
      </p:sp>
      <p:sp>
        <p:nvSpPr>
          <p:cNvPr id="29" name="bd_2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it's rude to aggressively decline the offer of a seat</a:t>
            </a:r>
            <a:endParaRPr lang="en-US" sz="1100" dirty="0"/>
          </a:p>
        </p:txBody>
      </p:sp>
      <p:sp>
        <p:nvSpPr>
          <p:cNvPr id="31" name="R4_chip2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if you don't want the seat, say no politely</a:t>
            </a:r>
            <a:endParaRPr lang="en-US" sz="1000" dirty="0"/>
          </a:p>
        </p:txBody>
      </p:sp>
      <p:sp>
        <p:nvSpPr>
          <p:cNvPr id="32" name="bd_22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2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unless the host gives permission</a:t>
            </a:r>
            <a:endParaRPr lang="en-US" sz="1150" dirty="0"/>
          </a:p>
        </p:txBody>
      </p:sp>
      <p:sp>
        <p:nvSpPr>
          <p:cNvPr id="34" name="R5_chip22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only start if the person who invited you says it's OK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2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words in Italian</a:t>
            </a:r>
            <a:endParaRPr lang="en-US" sz="2500" dirty="0"/>
          </a:p>
        </p:txBody>
      </p:sp>
      <p:pic>
        <p:nvPicPr>
          <p:cNvPr id="6" name="brP_2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Vocabulary · in Italian</a:t>
            </a:r>
            <a:endParaRPr lang="en-US" sz="800" dirty="0"/>
          </a:p>
        </p:txBody>
      </p:sp>
      <p:sp>
        <p:nvSpPr>
          <p:cNvPr id="14" name="cd_23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rude</a:t>
            </a:r>
            <a:endParaRPr lang="en-US" sz="1200" dirty="0"/>
          </a:p>
        </p:txBody>
      </p:sp>
      <p:sp>
        <p:nvSpPr>
          <p:cNvPr id="17" name="R1_it23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maleducato, scortese</a:t>
            </a:r>
            <a:endParaRPr lang="en-US" sz="900" dirty="0"/>
          </a:p>
        </p:txBody>
      </p:sp>
      <p:sp>
        <p:nvSpPr>
          <p:cNvPr id="18" name="cd_23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3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polite</a:t>
            </a:r>
            <a:endParaRPr lang="en-US" sz="1200" dirty="0"/>
          </a:p>
        </p:txBody>
      </p:sp>
      <p:sp>
        <p:nvSpPr>
          <p:cNvPr id="21" name="R1_it24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educato, gentile</a:t>
            </a:r>
            <a:endParaRPr lang="en-US" sz="1000" dirty="0"/>
          </a:p>
        </p:txBody>
      </p:sp>
      <p:sp>
        <p:nvSpPr>
          <p:cNvPr id="22" name="cd_24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inconsiderate</a:t>
            </a:r>
            <a:endParaRPr lang="en-US" sz="1200" dirty="0"/>
          </a:p>
        </p:txBody>
      </p:sp>
      <p:sp>
        <p:nvSpPr>
          <p:cNvPr id="25" name="R1_it24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che non pensa agli altri</a:t>
            </a:r>
            <a:endParaRPr lang="en-US" sz="850" dirty="0"/>
          </a:p>
        </p:txBody>
      </p:sp>
      <p:sp>
        <p:nvSpPr>
          <p:cNvPr id="26" name="cd_24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4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4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29" name="R1_it24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30" name="cd_25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appropriate</a:t>
            </a:r>
            <a:endParaRPr lang="en-US" sz="1200" dirty="0"/>
          </a:p>
        </p:txBody>
      </p:sp>
      <p:sp>
        <p:nvSpPr>
          <p:cNvPr id="33" name="R1_it25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adatto, opportuno</a:t>
            </a:r>
            <a:endParaRPr lang="en-US" sz="1000" dirty="0"/>
          </a:p>
        </p:txBody>
      </p:sp>
      <p:sp>
        <p:nvSpPr>
          <p:cNvPr id="34" name="cd_25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decline (an offer)</a:t>
            </a:r>
            <a:endParaRPr lang="en-US" sz="1200" dirty="0"/>
          </a:p>
        </p:txBody>
      </p:sp>
      <p:sp>
        <p:nvSpPr>
          <p:cNvPr id="37" name="R1_it25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rifiutare (un'offerta)</a:t>
            </a:r>
            <a:endParaRPr lang="en-US" sz="1000" dirty="0"/>
          </a:p>
        </p:txBody>
      </p:sp>
      <p:sp>
        <p:nvSpPr>
          <p:cNvPr id="38" name="cd_25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5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200" dirty="0"/>
          </a:p>
        </p:txBody>
      </p:sp>
      <p:sp>
        <p:nvSpPr>
          <p:cNvPr id="41" name="R1_it26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reclinare il sedile</a:t>
            </a:r>
            <a:endParaRPr lang="en-US" sz="1000" dirty="0"/>
          </a:p>
        </p:txBody>
      </p:sp>
      <p:sp>
        <p:nvSpPr>
          <p:cNvPr id="42" name="cd_26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monopolize the armrest</a:t>
            </a:r>
            <a:endParaRPr lang="en-US" sz="1000" dirty="0"/>
          </a:p>
        </p:txBody>
      </p:sp>
      <p:sp>
        <p:nvSpPr>
          <p:cNvPr id="45" name="R1_it26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occupare tutto il bracciolo</a:t>
            </a:r>
            <a:endParaRPr lang="en-US" sz="800" dirty="0"/>
          </a:p>
        </p:txBody>
      </p:sp>
      <p:sp>
        <p:nvSpPr>
          <p:cNvPr id="46" name="cd_26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6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6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host / hostess</a:t>
            </a:r>
            <a:endParaRPr lang="en-US" sz="1150" dirty="0"/>
          </a:p>
        </p:txBody>
      </p:sp>
      <p:sp>
        <p:nvSpPr>
          <p:cNvPr id="49" name="R1_it26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il padrone / la padrona di casa</a:t>
            </a:r>
            <a:endParaRPr lang="en-US" sz="800" dirty="0"/>
          </a:p>
        </p:txBody>
      </p:sp>
      <p:sp>
        <p:nvSpPr>
          <p:cNvPr id="50" name="cd_27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permission</a:t>
            </a:r>
            <a:endParaRPr lang="en-US" sz="1200" dirty="0"/>
          </a:p>
        </p:txBody>
      </p:sp>
      <p:sp>
        <p:nvSpPr>
          <p:cNvPr id="53" name="R1_it27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permesso</a:t>
            </a:r>
            <a:endParaRPr lang="en-US" sz="1000" dirty="0"/>
          </a:p>
        </p:txBody>
      </p:sp>
      <p:sp>
        <p:nvSpPr>
          <p:cNvPr id="54" name="cd_27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pregnant · elderly</a:t>
            </a:r>
            <a:endParaRPr lang="en-US" sz="1150" dirty="0"/>
          </a:p>
        </p:txBody>
      </p:sp>
      <p:sp>
        <p:nvSpPr>
          <p:cNvPr id="57" name="R1_it27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incinta · anziano</a:t>
            </a:r>
            <a:endParaRPr lang="en-US" sz="1000" dirty="0"/>
          </a:p>
        </p:txBody>
      </p:sp>
      <p:sp>
        <p:nvSpPr>
          <p:cNvPr id="58" name="cd_27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7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dilemma</a:t>
            </a:r>
            <a:endParaRPr lang="en-US" sz="1200" dirty="0"/>
          </a:p>
        </p:txBody>
      </p:sp>
      <p:sp>
        <p:nvSpPr>
          <p:cNvPr id="61" name="R1_it28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dilemma (una scelta difficile)</a:t>
            </a:r>
            <a:endParaRPr lang="en-US" sz="800" dirty="0"/>
          </a:p>
        </p:txBody>
      </p:sp>
      <p:sp>
        <p:nvSpPr>
          <p:cNvPr id="62" name="R1_wc28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28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polite = educato  ·  educated = istruito (false friend!)   |   manners = buone maniere  ·  etiquette = galateo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5"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6"/>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2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Vocabulary game</a:t>
            </a:r>
            <a:endParaRPr lang="en-US" sz="800" dirty="0"/>
          </a:p>
        </p:txBody>
      </p:sp>
      <p:sp>
        <p:nvSpPr>
          <p:cNvPr id="14" name="cd_295"/>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7"/>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298"/>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8" name="pf_29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0"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1" name="R1_w30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a:t>
            </a:r>
            <a:endParaRPr lang="en-US" sz="1700" dirty="0"/>
          </a:p>
        </p:txBody>
      </p:sp>
      <p:sp>
        <p:nvSpPr>
          <p:cNvPr id="22" name="R2_w30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host</a:t>
            </a:r>
            <a:endParaRPr lang="en-US" sz="1700" dirty="0"/>
          </a:p>
        </p:txBody>
      </p:sp>
      <p:sp>
        <p:nvSpPr>
          <p:cNvPr id="23" name="R3_w30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decline</a:t>
            </a:r>
            <a:endParaRPr lang="en-US" sz="1700" dirty="0"/>
          </a:p>
        </p:txBody>
      </p:sp>
      <p:sp>
        <p:nvSpPr>
          <p:cNvPr id="24" name="R4_w30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polite</a:t>
            </a:r>
            <a:endParaRPr lang="en-US" sz="1700" dirty="0"/>
          </a:p>
        </p:txBody>
      </p:sp>
      <p:sp>
        <p:nvSpPr>
          <p:cNvPr id="25" name="rl_30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6" name="R5_w30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inconsiderate</a:t>
            </a:r>
            <a:endParaRPr lang="en-US" sz="1700" dirty="0"/>
          </a:p>
        </p:txBody>
      </p:sp>
      <p:sp>
        <p:nvSpPr>
          <p:cNvPr id="27" name="R6_w30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permission</a:t>
            </a:r>
            <a:endParaRPr lang="en-US" sz="1700" dirty="0"/>
          </a:p>
        </p:txBody>
      </p:sp>
      <p:sp>
        <p:nvSpPr>
          <p:cNvPr id="28" name="R7_w30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700" dirty="0"/>
          </a:p>
        </p:txBody>
      </p:sp>
      <p:sp>
        <p:nvSpPr>
          <p:cNvPr id="29" name="R8_w31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rude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2"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3"/>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Sicily vs Britain</a:t>
            </a:r>
            <a:endParaRPr lang="en-US" sz="2500" dirty="0"/>
          </a:p>
        </p:txBody>
      </p:sp>
      <p:pic>
        <p:nvPicPr>
          <p:cNvPr id="6" name="brP_31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1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And you? Why?</a:t>
            </a:r>
            <a:endParaRPr lang="en-US" sz="1250" dirty="0"/>
          </a:p>
        </p:txBody>
      </p:sp>
      <p:sp>
        <p:nvSpPr>
          <p:cNvPr id="8" name="insIT_3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E tu? Perché?</a:t>
            </a:r>
            <a:endParaRPr lang="en-US" sz="950" dirty="0"/>
          </a:p>
        </p:txBody>
      </p:sp>
      <p:sp>
        <p:nvSpPr>
          <p:cNvPr id="9" name="cmd_31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1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1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Sicily vs Britain   ·   📖 SB p.38 · 5e</a:t>
            </a:r>
            <a:endParaRPr lang="en-US" sz="800" dirty="0"/>
          </a:p>
        </p:txBody>
      </p:sp>
      <p:sp>
        <p:nvSpPr>
          <p:cNvPr id="14" name="pf_32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23" descr="/home/claude/lls-course/v2/cache/spare_1b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2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2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2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Sicily we usually…</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it's rude / polite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shouldn't… because…</a:t>
            </a:r>
            <a:endParaRPr lang="en-US" sz="1050" dirty="0"/>
          </a:p>
        </p:txBody>
      </p:sp>
      <p:sp>
        <p:nvSpPr>
          <p:cNvPr id="20" name="R1_qb32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29"/>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Debrett's: no kissing at work. How do you greet a friend in Sicily?</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Two kisses for friends – a handshake for my teacher!</a:t>
            </a:r>
            <a:endParaRPr lang="en-US" sz="1050" dirty="0"/>
          </a:p>
        </p:txBody>
      </p:sp>
      <p:sp>
        <p:nvSpPr>
          <p:cNvPr id="22" name="R2_qb33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31"/>
          <p:cNvSpPr/>
          <p:nvPr/>
        </p:nvSpPr>
        <p:spPr>
          <a:xfrm>
            <a:off x="3675888" y="197358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else shouldn't people do on the bus or train?</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They shouldn't play music without headphones!</a:t>
            </a:r>
            <a:endParaRPr lang="en-US" sz="1200" dirty="0"/>
          </a:p>
        </p:txBody>
      </p:sp>
      <p:pic>
        <p:nvPicPr>
          <p:cNvPr id="24" name="R2_th332" descr="/home/claude/lls-course/v2/cache/4a1_public_transport_jpg_154x107_18.png">    </p:cNvPr>
          <p:cNvPicPr>
            <a:picLocks noChangeAspect="1"/>
          </p:cNvPicPr>
          <p:nvPr/>
        </p:nvPicPr>
        <p:blipFill>
          <a:blip r:embed="rId6"/>
          <a:stretch>
            <a:fillRect/>
          </a:stretch>
        </p:blipFill>
        <p:spPr>
          <a:xfrm>
            <a:off x="8257032" y="1991868"/>
            <a:ext cx="640080" cy="446532"/>
          </a:xfrm>
          <a:prstGeom prst="rect">
            <a:avLst/>
          </a:prstGeom>
        </p:spPr>
      </p:pic>
      <p:sp>
        <p:nvSpPr>
          <p:cNvPr id="25" name="R3_qb33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34"/>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Only 20% of Tube passengers gave up their seat to a pregnant woman. Would you?</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Yes, of course! You should always offer your seat.</a:t>
            </a:r>
            <a:endParaRPr lang="en-US" sz="850" dirty="0"/>
          </a:p>
        </p:txBody>
      </p:sp>
      <p:sp>
        <p:nvSpPr>
          <p:cNvPr id="27" name="R4_qb335"/>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36"/>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else should you ask the host's permission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 should ask before you open their fridge!</a:t>
            </a:r>
            <a:endParaRPr lang="en-US" sz="1250" dirty="0"/>
          </a:p>
        </p:txBody>
      </p:sp>
      <p:sp>
        <p:nvSpPr>
          <p:cNvPr id="29" name="R5_qb337"/>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338"/>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Be honest: are you ever rude to anyone in your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Sometimes… I'm on my phone at dinner!</a:t>
            </a:r>
            <a:endParaRPr lang="en-US" sz="1250" dirty="0"/>
          </a:p>
        </p:txBody>
      </p:sp>
      <p:sp>
        <p:nvSpPr>
          <p:cNvPr id="31" name="R6_qb33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34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think manners are important?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good manners make life easier for everyone.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4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Help! My relatives…</a:t>
            </a:r>
            <a:endParaRPr lang="en-US" sz="2500" dirty="0"/>
          </a:p>
        </p:txBody>
      </p:sp>
      <p:pic>
        <p:nvPicPr>
          <p:cNvPr id="6" name="brP_34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4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Who is the problem? What do they do?</a:t>
            </a:r>
            <a:endParaRPr lang="en-US" sz="1250" dirty="0"/>
          </a:p>
        </p:txBody>
      </p:sp>
      <p:sp>
        <p:nvSpPr>
          <p:cNvPr id="8" name="insIT_3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Chi è il problema? Cosa fa?</a:t>
            </a:r>
            <a:endParaRPr lang="en-US" sz="950" dirty="0"/>
          </a:p>
        </p:txBody>
      </p:sp>
      <p:sp>
        <p:nvSpPr>
          <p:cNvPr id="9" name="cmd_34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4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4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rude relatives (gist)   ·   📖 SB p.39 · 6a · audio 4.9</a:t>
            </a:r>
            <a:endParaRPr lang="en-US" sz="800" dirty="0"/>
          </a:p>
        </p:txBody>
      </p:sp>
      <p:sp>
        <p:nvSpPr>
          <p:cNvPr id="14" name="ap_35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4.9  ·  play once, pause after each caller</a:t>
            </a:r>
            <a:endParaRPr lang="en-US" sz="1100" dirty="0"/>
          </a:p>
        </p:txBody>
      </p:sp>
      <p:sp>
        <p:nvSpPr>
          <p:cNvPr id="15" name="ah_35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5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5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35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4a2-mother-in-law.jpg</a:t>
            </a:r>
            <a:endParaRPr lang="en-US" sz="900" dirty="0"/>
          </a:p>
        </p:txBody>
      </p:sp>
      <p:sp>
        <p:nvSpPr>
          <p:cNvPr id="21" name="bd_35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35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5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4a2-puppy.jpg</a:t>
            </a:r>
            <a:endParaRPr lang="en-US" sz="900" dirty="0"/>
          </a:p>
        </p:txBody>
      </p:sp>
      <p:sp>
        <p:nvSpPr>
          <p:cNvPr id="24" name="bd_36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36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6" name="phx_362"/>
          <p:cNvSpPr/>
          <p:nvPr/>
        </p:nvSpPr>
        <p:spPr>
          <a:xfrm>
            <a:off x="420624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4a2-radio-advice.jpg</a:t>
            </a:r>
            <a:endParaRPr lang="en-US" sz="900" dirty="0"/>
          </a:p>
        </p:txBody>
      </p:sp>
      <p:sp>
        <p:nvSpPr>
          <p:cNvPr id="27" name="bd_36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36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36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6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36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Look at A and B. Guess the problems.</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Listen. Who is the problem for each caller?</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does he / she do? Make notes.</a:t>
            </a:r>
            <a:endParaRPr lang="en-US" sz="1050" dirty="0"/>
          </a:p>
        </p:txBody>
      </p:sp>
      <p:sp>
        <p:nvSpPr>
          <p:cNvPr id="32" name="lq_36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Belinda</a:t>
            </a:r>
            <a:endParaRPr lang="en-US" sz="1100" dirty="0"/>
          </a:p>
        </p:txBody>
      </p:sp>
      <p:sp>
        <p:nvSpPr>
          <p:cNvPr id="33" name="R1_chip36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mother-in-law: criticizes her cooking</a:t>
            </a:r>
            <a:endParaRPr lang="en-US" sz="1050" dirty="0"/>
          </a:p>
        </p:txBody>
      </p:sp>
      <p:sp>
        <p:nvSpPr>
          <p:cNvPr id="34" name="lq_37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Damien</a:t>
            </a:r>
            <a:endParaRPr lang="en-US" sz="1100" dirty="0"/>
          </a:p>
        </p:txBody>
      </p:sp>
      <p:sp>
        <p:nvSpPr>
          <p:cNvPr id="35" name="R2_chip37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brother: brings his new puppy</a:t>
            </a:r>
            <a:endParaRPr lang="en-US" sz="1050" dirty="0"/>
          </a:p>
        </p:txBody>
      </p:sp>
      <p:sp>
        <p:nvSpPr>
          <p:cNvPr id="36" name="lq_37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Miranda</a:t>
            </a:r>
            <a:endParaRPr lang="en-US" sz="1100" dirty="0"/>
          </a:p>
        </p:txBody>
      </p:sp>
      <p:sp>
        <p:nvSpPr>
          <p:cNvPr id="37" name="R3_chip37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nephew (8): writes on the walls!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7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should they do?</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7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Your advice first! Then listen and complete.</a:t>
            </a:r>
            <a:endParaRPr lang="en-US" sz="1250" dirty="0"/>
          </a:p>
        </p:txBody>
      </p:sp>
      <p:sp>
        <p:nvSpPr>
          <p:cNvPr id="8" name="insIT_3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il tuo consiglio! Poi ascolta e completa.</a:t>
            </a:r>
            <a:endParaRPr lang="en-US" sz="950" dirty="0"/>
          </a:p>
        </p:txBody>
      </p:sp>
      <p:sp>
        <p:nvSpPr>
          <p:cNvPr id="9" name="cmd_38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8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8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the expert's advice (detail)   ·   📖 SB p.39 · 6b, 6c · audio 4.10</a:t>
            </a:r>
            <a:endParaRPr lang="en-US" sz="800" dirty="0"/>
          </a:p>
        </p:txBody>
      </p:sp>
      <p:sp>
        <p:nvSpPr>
          <p:cNvPr id="15" name="ap_38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pause after each piece of advice</a:t>
            </a:r>
            <a:endParaRPr lang="en-US" sz="1100" dirty="0"/>
          </a:p>
        </p:txBody>
      </p:sp>
      <p:sp>
        <p:nvSpPr>
          <p:cNvPr id="16" name="ah_38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8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38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4a2-radio-advice.jpg</a:t>
            </a:r>
            <a:endParaRPr lang="en-US" sz="900" dirty="0"/>
          </a:p>
        </p:txBody>
      </p:sp>
      <p:sp>
        <p:nvSpPr>
          <p:cNvPr id="21" name="cd_39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9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9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9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94"/>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___.</a:t>
            </a:r>
            <a:endParaRPr lang="en-US" sz="1200" dirty="0"/>
          </a:p>
        </p:txBody>
      </p:sp>
      <p:sp>
        <p:nvSpPr>
          <p:cNvPr id="26" name="R1_chip395"/>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behaves well</a:t>
            </a:r>
            <a:endParaRPr lang="en-US" sz="1200" dirty="0"/>
          </a:p>
        </p:txBody>
      </p:sp>
      <p:sp>
        <p:nvSpPr>
          <p:cNvPr id="27" name="gq_396"/>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___ – she won't change her opinion.</a:t>
            </a:r>
            <a:endParaRPr lang="en-US" sz="1200" dirty="0"/>
          </a:p>
        </p:txBody>
      </p:sp>
      <p:sp>
        <p:nvSpPr>
          <p:cNvPr id="28" name="R2_chip397"/>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argue with her</a:t>
            </a:r>
            <a:endParaRPr lang="en-US" sz="1200" dirty="0"/>
          </a:p>
        </p:txBody>
      </p:sp>
      <p:sp>
        <p:nvSpPr>
          <p:cNvPr id="29" name="gq_398"/>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___.</a:t>
            </a:r>
            <a:endParaRPr lang="en-US" sz="1200" dirty="0"/>
          </a:p>
        </p:txBody>
      </p:sp>
      <p:sp>
        <p:nvSpPr>
          <p:cNvPr id="30" name="R3_chip399"/>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say how you feel</a:t>
            </a:r>
            <a:endParaRPr lang="en-US" sz="1200" dirty="0"/>
          </a:p>
        </p:txBody>
      </p:sp>
      <p:sp>
        <p:nvSpPr>
          <p:cNvPr id="31" name="gq_400"/>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To be honest, you don't really have to ___.</a:t>
            </a:r>
            <a:endParaRPr lang="en-US" sz="1200" dirty="0"/>
          </a:p>
        </p:txBody>
      </p:sp>
      <p:sp>
        <p:nvSpPr>
          <p:cNvPr id="32" name="R4_chip401"/>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give a reason</a:t>
            </a:r>
            <a:endParaRPr lang="en-US" sz="1200" dirty="0"/>
          </a:p>
        </p:txBody>
      </p:sp>
      <p:sp>
        <p:nvSpPr>
          <p:cNvPr id="33" name="gq_402"/>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___ before their next visit.</a:t>
            </a:r>
            <a:endParaRPr lang="en-US" sz="1200" dirty="0"/>
          </a:p>
        </p:txBody>
      </p:sp>
      <p:sp>
        <p:nvSpPr>
          <p:cNvPr id="34" name="R5_chip403"/>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 to his parents</a:t>
            </a:r>
            <a:endParaRPr lang="en-US" sz="1200" dirty="0"/>
          </a:p>
        </p:txBody>
      </p:sp>
      <p:sp>
        <p:nvSpPr>
          <p:cNvPr id="35" name="gq_404"/>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___ a bit when he's visiting.</a:t>
            </a:r>
            <a:endParaRPr lang="en-US" sz="1200" dirty="0"/>
          </a:p>
        </p:txBody>
      </p:sp>
      <p:sp>
        <p:nvSpPr>
          <p:cNvPr id="36" name="R6_chip405"/>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calm down</a:t>
            </a:r>
            <a:endParaRPr lang="en-US" sz="1200" dirty="0"/>
          </a:p>
        </p:txBody>
      </p:sp>
      <p:sp>
        <p:nvSpPr>
          <p:cNvPr id="37" name="gq_406"/>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___ .'</a:t>
            </a:r>
            <a:endParaRPr lang="en-US" sz="1200" dirty="0"/>
          </a:p>
        </p:txBody>
      </p:sp>
      <p:sp>
        <p:nvSpPr>
          <p:cNvPr id="38" name="R7_chip407"/>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write on the walls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9"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10"/>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else does Sarah say?</a:t>
            </a:r>
            <a:endParaRPr lang="en-US" sz="2400" dirty="0"/>
          </a:p>
        </p:txBody>
      </p:sp>
      <p:pic>
        <p:nvPicPr>
          <p:cNvPr id="6" name="brP_41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1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whole show. Answer.</a:t>
            </a:r>
            <a:endParaRPr lang="en-US" sz="1250" dirty="0"/>
          </a:p>
        </p:txBody>
      </p:sp>
      <p:sp>
        <p:nvSpPr>
          <p:cNvPr id="8" name="insIT_41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tutto il programma. Rispondi.</a:t>
            </a:r>
            <a:endParaRPr lang="en-US" sz="950" dirty="0"/>
          </a:p>
        </p:txBody>
      </p:sp>
      <p:sp>
        <p:nvSpPr>
          <p:cNvPr id="9" name="cmd_41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1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1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2" name="logo_4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the whole programme   ·   📖 SB p.39 · 6d · audio 4.11 (script p.127)</a:t>
            </a:r>
            <a:endParaRPr lang="en-US" sz="800" dirty="0"/>
          </a:p>
        </p:txBody>
      </p:sp>
      <p:sp>
        <p:nvSpPr>
          <p:cNvPr id="14" name="ap_41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4.11  ·  play once</a:t>
            </a:r>
            <a:endParaRPr lang="en-US" sz="1100" dirty="0"/>
          </a:p>
        </p:txBody>
      </p:sp>
      <p:sp>
        <p:nvSpPr>
          <p:cNvPr id="15" name="ah_42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pf_42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42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4a2-puppy.jpg</a:t>
            </a:r>
            <a:endParaRPr lang="en-US" sz="900" dirty="0"/>
          </a:p>
        </p:txBody>
      </p:sp>
      <p:sp>
        <p:nvSpPr>
          <p:cNvPr id="20" name="cd_42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1" name="ii_42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42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3" name="il_42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4" name="gq_42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Belinda: what 3 things should she do?</a:t>
            </a:r>
            <a:endParaRPr lang="en-US" sz="1200" dirty="0"/>
          </a:p>
        </p:txBody>
      </p:sp>
      <p:sp>
        <p:nvSpPr>
          <p:cNvPr id="25" name="R1_chip42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stay calm · thank her politely · change the subject</a:t>
            </a:r>
            <a:endParaRPr lang="en-US" sz="950" dirty="0"/>
          </a:p>
        </p:txBody>
      </p:sp>
      <p:sp>
        <p:nvSpPr>
          <p:cNvPr id="26" name="gq_42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should praise Belinda's cooking?</a:t>
            </a:r>
            <a:endParaRPr lang="en-US" sz="1200" dirty="0"/>
          </a:p>
        </p:txBody>
      </p:sp>
      <p:sp>
        <p:nvSpPr>
          <p:cNvPr id="27" name="R2_chip43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her husband (or another relative)</a:t>
            </a:r>
            <a:endParaRPr lang="en-US" sz="1200" dirty="0"/>
          </a:p>
        </p:txBody>
      </p:sp>
      <p:sp>
        <p:nvSpPr>
          <p:cNvPr id="28" name="gq_43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it rude to bring a dog to someone's house?</a:t>
            </a:r>
            <a:endParaRPr lang="en-US" sz="1200" dirty="0"/>
          </a:p>
        </p:txBody>
      </p:sp>
      <p:sp>
        <p:nvSpPr>
          <p:cNvPr id="29" name="R3_chip43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yes – it's bad manners to bring an uninvited pet</a:t>
            </a:r>
            <a:endParaRPr lang="en-US" sz="1100" dirty="0"/>
          </a:p>
        </p:txBody>
      </p:sp>
      <p:sp>
        <p:nvSpPr>
          <p:cNvPr id="30" name="gq_43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Miranda: what should she say to his parents first?</a:t>
            </a:r>
            <a:endParaRPr lang="en-US" sz="1200" dirty="0"/>
          </a:p>
        </p:txBody>
      </p:sp>
      <p:sp>
        <p:nvSpPr>
          <p:cNvPr id="31" name="R4_chip43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great it is that he has so much energy</a:t>
            </a:r>
            <a:endParaRPr lang="en-US" sz="1200" dirty="0"/>
          </a:p>
        </p:txBody>
      </p:sp>
      <p:sp>
        <p:nvSpPr>
          <p:cNvPr id="32" name="gq_43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should she do at the start of the next visit?</a:t>
            </a:r>
            <a:endParaRPr lang="en-US" sz="1200" dirty="0"/>
          </a:p>
        </p:txBody>
      </p:sp>
      <p:sp>
        <p:nvSpPr>
          <p:cNvPr id="33" name="R5_chip43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welcome him, then give him some house rules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7"/>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Sarah's advice</a:t>
            </a:r>
            <a:endParaRPr lang="en-US" sz="2500" dirty="0"/>
          </a:p>
        </p:txBody>
      </p:sp>
      <p:pic>
        <p:nvPicPr>
          <p:cNvPr id="6" name="brP_44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4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Good idea or necessary? Match the colour.</a:t>
            </a:r>
            <a:endParaRPr lang="en-US" sz="1250" dirty="0"/>
          </a:p>
        </p:txBody>
      </p:sp>
      <p:sp>
        <p:nvSpPr>
          <p:cNvPr id="8" name="insIT_44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Buona idea o necessario? Abbina il colore.</a:t>
            </a:r>
            <a:endParaRPr lang="en-US" sz="950" dirty="0"/>
          </a:p>
        </p:txBody>
      </p:sp>
      <p:sp>
        <p:nvSpPr>
          <p:cNvPr id="9" name="cmd_44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4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4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Grammar · advice in the programme   ·   📖 Recycles Grammar Bank 4A p.138 · audio 4.10</a:t>
            </a:r>
            <a:endParaRPr lang="en-US" sz="800" dirty="0"/>
          </a:p>
        </p:txBody>
      </p:sp>
      <p:sp>
        <p:nvSpPr>
          <p:cNvPr id="14" name="cd_448"/>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4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mean?</a:t>
            </a:r>
            <a:endParaRPr lang="en-US" sz="1300" dirty="0"/>
          </a:p>
        </p:txBody>
      </p:sp>
      <p:sp>
        <p:nvSpPr>
          <p:cNvPr id="17" name="il_451"/>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52"/>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listen again</a:t>
            </a:r>
            <a:endParaRPr lang="en-US" sz="1100" dirty="0"/>
          </a:p>
        </p:txBody>
      </p:sp>
      <p:sp>
        <p:nvSpPr>
          <p:cNvPr id="19" name="ah_45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2" name="lg_454"/>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idea</a:t>
            </a:r>
            <a:endParaRPr lang="en-US" sz="1050" dirty="0"/>
          </a:p>
        </p:txBody>
      </p:sp>
      <p:sp>
        <p:nvSpPr>
          <p:cNvPr id="23" name="lg_455"/>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idea</a:t>
            </a:r>
            <a:endParaRPr lang="en-US" sz="1050" dirty="0"/>
          </a:p>
        </p:txBody>
      </p:sp>
      <p:sp>
        <p:nvSpPr>
          <p:cNvPr id="24" name="lg_456"/>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5" name="lg_457"/>
          <p:cNvSpPr/>
          <p:nvPr/>
        </p:nvSpPr>
        <p:spPr>
          <a:xfrm>
            <a:off x="1719072" y="2368296"/>
            <a:ext cx="1188720" cy="310896"/>
          </a:xfrm>
          <a:prstGeom prst="roundRect">
            <a:avLst>
              <a:gd name="adj" fmla="val 50000"/>
            </a:avLst>
          </a:prstGeom>
          <a:solidFill>
            <a:srgbClr val="FF9F9F"/>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6" name="lg_458"/>
          <p:cNvSpPr/>
          <p:nvPr/>
        </p:nvSpPr>
        <p:spPr>
          <a:xfrm>
            <a:off x="457200" y="2752344"/>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27" name="sq_459"/>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behaves well.</a:t>
            </a:r>
            <a:endParaRPr lang="en-US" sz="1200" dirty="0"/>
          </a:p>
        </p:txBody>
      </p:sp>
      <p:sp>
        <p:nvSpPr>
          <p:cNvPr id="28" name="R1_tag460"/>
          <p:cNvSpPr/>
          <p:nvPr/>
        </p:nvSpPr>
        <p:spPr>
          <a:xfrm>
            <a:off x="7178040" y="1417320"/>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29" name="sq_461"/>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argue with her.</a:t>
            </a:r>
            <a:endParaRPr lang="en-US" sz="1200" dirty="0"/>
          </a:p>
        </p:txBody>
      </p:sp>
      <p:sp>
        <p:nvSpPr>
          <p:cNvPr id="30" name="R2_tag462"/>
          <p:cNvSpPr/>
          <p:nvPr/>
        </p:nvSpPr>
        <p:spPr>
          <a:xfrm>
            <a:off x="7178040" y="1887583"/>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idea</a:t>
            </a:r>
            <a:endParaRPr lang="en-US" sz="1150" dirty="0"/>
          </a:p>
        </p:txBody>
      </p:sp>
      <p:sp>
        <p:nvSpPr>
          <p:cNvPr id="31" name="sq_463"/>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say how you feel.</a:t>
            </a:r>
            <a:endParaRPr lang="en-US" sz="1200" dirty="0"/>
          </a:p>
        </p:txBody>
      </p:sp>
      <p:sp>
        <p:nvSpPr>
          <p:cNvPr id="32" name="R3_tag464"/>
          <p:cNvSpPr/>
          <p:nvPr/>
        </p:nvSpPr>
        <p:spPr>
          <a:xfrm>
            <a:off x="7178040" y="2357846"/>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33" name="sq_465"/>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You don't really have to give a reason.</a:t>
            </a:r>
            <a:endParaRPr lang="en-US" sz="1200" dirty="0"/>
          </a:p>
        </p:txBody>
      </p:sp>
      <p:sp>
        <p:nvSpPr>
          <p:cNvPr id="34" name="R4_tag466"/>
          <p:cNvSpPr/>
          <p:nvPr/>
        </p:nvSpPr>
        <p:spPr>
          <a:xfrm>
            <a:off x="7178040" y="2828109"/>
            <a:ext cx="1691640" cy="406255"/>
          </a:xfrm>
          <a:prstGeom prst="roundRect">
            <a:avLst>
              <a:gd name="adj" fmla="val 56270"/>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5" name="sq_467"/>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speak to his parents.</a:t>
            </a:r>
            <a:endParaRPr lang="en-US" sz="1200" dirty="0"/>
          </a:p>
        </p:txBody>
      </p:sp>
      <p:sp>
        <p:nvSpPr>
          <p:cNvPr id="36" name="R5_tag468"/>
          <p:cNvSpPr/>
          <p:nvPr/>
        </p:nvSpPr>
        <p:spPr>
          <a:xfrm>
            <a:off x="7178040" y="3298371"/>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7" name="sq_469"/>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calm down a bit.</a:t>
            </a:r>
            <a:endParaRPr lang="en-US" sz="1200" dirty="0"/>
          </a:p>
        </p:txBody>
      </p:sp>
      <p:sp>
        <p:nvSpPr>
          <p:cNvPr id="38" name="R6_tag470"/>
          <p:cNvSpPr/>
          <p:nvPr/>
        </p:nvSpPr>
        <p:spPr>
          <a:xfrm>
            <a:off x="7178040" y="3768634"/>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9" name="sq_471"/>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write on the walls.</a:t>
            </a:r>
            <a:endParaRPr lang="en-US" sz="1200" dirty="0"/>
          </a:p>
        </p:txBody>
      </p:sp>
      <p:sp>
        <p:nvSpPr>
          <p:cNvPr id="40" name="R7_tag472"/>
          <p:cNvSpPr/>
          <p:nvPr/>
        </p:nvSpPr>
        <p:spPr>
          <a:xfrm>
            <a:off x="7178040" y="4238897"/>
            <a:ext cx="1691640" cy="406255"/>
          </a:xfrm>
          <a:prstGeom prst="roundRect">
            <a:avLst>
              <a:gd name="adj" fmla="val 56270"/>
            </a:avLst>
          </a:prstGeom>
          <a:solidFill>
            <a:srgbClr val="FF9F9F"/>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20"/>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0"/>
                                        </p:tgtEl>
                                      </p:cBhvr>
                                    </p:cmd>
                                  </p:childTnLst>
                                </p:cTn>
                              </p:par>
                            </p:childTnLst>
                          </p:cTn>
                        </p:par>
                      </p:childTnLst>
                    </p:cTn>
                  </p:par>
                </p:childTnLst>
              </p:cTn>
              <p:nextCondLst>
                <p:cond evt="onClick" delay="0">
                  <p:tgtEl>
                    <p:spTgt spid="20"/>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audio>
              <p:cMediaNode vol="80000">
                <p:cTn id="48" fill="hold" display="0">
                  <p:stCondLst>
                    <p:cond delay="indefinite"/>
                  </p:stCondLst>
                  <p:endCondLst>
                    <p:cond evt="onStopAudio" delay="0">
                      <p:tgtEl>
                        <p:sldTgt/>
                      </p:tgtEl>
                    </p:cond>
                  </p:endCondLst>
                </p:cTn>
                <p:tgtEl>
                  <p:spTgt spid="20"/>
                </p:tgtEl>
              </p:cMediaNode>
            </p:audio>
            <p:audio>
              <p:cMediaNode vol="80000">
                <p:cTn id="49" fill="hold" display="0">
                  <p:stCondLst>
                    <p:cond delay="indefinite"/>
                  </p:stCondLst>
                  <p:endCondLst>
                    <p:cond evt="onStopAudio" delay="0">
                      <p:tgtEl>
                        <p:sldTgt/>
                      </p:tgtEl>
                    </p:cond>
                  </p:endCondLst>
                </p:cTn>
                <p:tgtEl>
                  <p:spTgt spid="21"/>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7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Ask Sarah!</a:t>
            </a:r>
            <a:endParaRPr lang="en-US" sz="2500" dirty="0"/>
          </a:p>
        </p:txBody>
      </p:sp>
      <p:pic>
        <p:nvPicPr>
          <p:cNvPr id="6" name="brP_476"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77"/>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problem. Give advice – fast!</a:t>
            </a:r>
            <a:endParaRPr lang="en-US" sz="1250" dirty="0"/>
          </a:p>
        </p:txBody>
      </p:sp>
      <p:sp>
        <p:nvSpPr>
          <p:cNvPr id="8" name="insIT_4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problema. Dai un consiglio – veloce!</a:t>
            </a:r>
            <a:endParaRPr lang="en-US" sz="950" dirty="0"/>
          </a:p>
        </p:txBody>
      </p:sp>
      <p:sp>
        <p:nvSpPr>
          <p:cNvPr id="9" name="cmd_47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4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game · giving advice</a:t>
            </a:r>
            <a:endParaRPr lang="en-US" sz="800" dirty="0"/>
          </a:p>
        </p:txBody>
      </p:sp>
      <p:sp>
        <p:nvSpPr>
          <p:cNvPr id="14" name="cd_484"/>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8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6"/>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87"/>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problem.</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give advice in 10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should / mustn't / don't have to… = 1 point.</a:t>
            </a:r>
            <a:endParaRPr lang="en-US" sz="1150" dirty="0"/>
          </a:p>
        </p:txBody>
      </p:sp>
      <p:sp>
        <p:nvSpPr>
          <p:cNvPr id="18" name="pf_48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89" descr="/home/claude/lls-course/v2/cache/spare_1b2_argumen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9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9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"My friend is always on her phone when we meet for pizza."</a:t>
            </a:r>
            <a:endParaRPr lang="en-US" sz="1050" dirty="0"/>
          </a:p>
        </p:txBody>
      </p:sp>
      <p:sp>
        <p:nvSpPr>
          <p:cNvPr id="22" name="R1_chip49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tell her politely how you feel.</a:t>
            </a:r>
            <a:endParaRPr lang="en-US" sz="1100" dirty="0"/>
          </a:p>
        </p:txBody>
      </p:sp>
      <p:sp>
        <p:nvSpPr>
          <p:cNvPr id="23" name="bd_49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9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always asks: 'When are you getting married?'"</a:t>
            </a:r>
            <a:endParaRPr lang="en-US" sz="1100" dirty="0"/>
          </a:p>
        </p:txBody>
      </p:sp>
      <p:sp>
        <p:nvSpPr>
          <p:cNvPr id="25" name="R2_chip49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answer! Just change the subject.</a:t>
            </a:r>
            <a:endParaRPr lang="en-US" sz="1100" dirty="0"/>
          </a:p>
        </p:txBody>
      </p:sp>
      <p:sp>
        <p:nvSpPr>
          <p:cNvPr id="26" name="bd_49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9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little cousin jumps on my bed with his shoes on."</a:t>
            </a:r>
            <a:endParaRPr lang="en-US" sz="1100" dirty="0"/>
          </a:p>
        </p:txBody>
      </p:sp>
      <p:sp>
        <p:nvSpPr>
          <p:cNvPr id="28" name="R3_chip49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Tell him: 'You mustn't jump on the bed!'</a:t>
            </a:r>
            <a:endParaRPr lang="en-US" sz="1100" dirty="0"/>
          </a:p>
        </p:txBody>
      </p:sp>
      <p:sp>
        <p:nvSpPr>
          <p:cNvPr id="29" name="bd_49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0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man behind me on the plane keeps kicking my seat."</a:t>
            </a:r>
            <a:endParaRPr lang="en-US" sz="1100" dirty="0"/>
          </a:p>
        </p:txBody>
      </p:sp>
      <p:sp>
        <p:nvSpPr>
          <p:cNvPr id="31" name="R4_chip50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politely ask him to stop.</a:t>
            </a:r>
            <a:endParaRPr lang="en-US" sz="1100" dirty="0"/>
          </a:p>
        </p:txBody>
      </p:sp>
      <p:sp>
        <p:nvSpPr>
          <p:cNvPr id="32" name="bd_50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0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invited for dinner and it's fish. I hate fish!"</a:t>
            </a:r>
            <a:endParaRPr lang="en-US" sz="1100" dirty="0"/>
          </a:p>
        </p:txBody>
      </p:sp>
      <p:sp>
        <p:nvSpPr>
          <p:cNvPr id="34" name="R5_chip50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criticize the food. Try a little!</a:t>
            </a:r>
            <a:endParaRPr lang="en-US" sz="1100" dirty="0"/>
          </a:p>
        </p:txBody>
      </p:sp>
      <p:sp>
        <p:nvSpPr>
          <p:cNvPr id="35" name="bd_50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pregnant woman gets on the full bus. I'm sitting down."</a:t>
            </a:r>
            <a:endParaRPr lang="en-US" sz="1100" dirty="0"/>
          </a:p>
        </p:txBody>
      </p:sp>
      <p:sp>
        <p:nvSpPr>
          <p:cNvPr id="37" name="R6_chip50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ought to offer her your seat!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1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1/2</a:t>
            </a:r>
            <a:endParaRPr lang="en-US" sz="2400" dirty="0"/>
          </a:p>
        </p:txBody>
      </p:sp>
      <p:pic>
        <p:nvPicPr>
          <p:cNvPr id="6" name="brP_51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1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1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GM, BM o NI? Poi spiega perché!</a:t>
            </a:r>
            <a:endParaRPr lang="en-US" sz="950" dirty="0"/>
          </a:p>
        </p:txBody>
      </p:sp>
      <p:sp>
        <p:nvSpPr>
          <p:cNvPr id="9" name="cmd_51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1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51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good or bad manners? 1/2   ·   📖 SB p.39 · 7a, 7b · Saying what you think is right</a:t>
            </a:r>
            <a:endParaRPr lang="en-US" sz="800" dirty="0"/>
          </a:p>
        </p:txBody>
      </p:sp>
      <p:sp>
        <p:nvSpPr>
          <p:cNvPr id="14" name="pf_51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20" descr="/home/claude/lls-course/v2/cache/4a2_first_da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2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2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2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2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GM good · BM bad · NI not important</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think it's rude / selfish / inappropriate to…</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don't think people should… · It really annoys me when…</a:t>
            </a:r>
            <a:endParaRPr lang="en-US" sz="900" dirty="0"/>
          </a:p>
        </p:txBody>
      </p:sp>
      <p:sp>
        <p:nvSpPr>
          <p:cNvPr id="20" name="R1_qb52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26"/>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GREETING: use more formal language with an older person</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GM – I always say 'buongiorno' to my friend's grandma.</a:t>
            </a:r>
            <a:endParaRPr lang="en-US" sz="1200" dirty="0"/>
          </a:p>
        </p:txBody>
      </p:sp>
      <p:sp>
        <p:nvSpPr>
          <p:cNvPr id="22" name="R2_qb52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2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GREETING: kiss somebody on both cheeks the first time you meet them</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NI – in Sicily it's normal!</a:t>
            </a:r>
            <a:endParaRPr lang="en-US" sz="1000" dirty="0"/>
          </a:p>
        </p:txBody>
      </p:sp>
      <p:sp>
        <p:nvSpPr>
          <p:cNvPr id="24" name="R3_qb52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30"/>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GREETING: use your partner's parents' first names</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BM – I don't think people should do it at first.</a:t>
            </a:r>
            <a:endParaRPr lang="en-US" sz="1200" dirty="0"/>
          </a:p>
        </p:txBody>
      </p:sp>
      <p:pic>
        <p:nvPicPr>
          <p:cNvPr id="26" name="R3_th531" descr="/home/claude/lls-course/v2/cache/4a2_meet_parents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32"/>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33"/>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pay for the meal on a first date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 I think it's fine to share the bill.</a:t>
            </a:r>
            <a:endParaRPr lang="en-US" sz="1250" dirty="0"/>
          </a:p>
        </p:txBody>
      </p:sp>
      <p:sp>
        <p:nvSpPr>
          <p:cNvPr id="29" name="R5_qb534"/>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35"/>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hold the door open for a woman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but women can do it for men too!</a:t>
            </a:r>
            <a:endParaRPr lang="en-US" sz="1250" dirty="0"/>
          </a:p>
        </p:txBody>
      </p:sp>
      <p:sp>
        <p:nvSpPr>
          <p:cNvPr id="31" name="R6_qb536"/>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37"/>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accompany a woman home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depends – late at night, I think it's polite.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4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2/2</a:t>
            </a:r>
            <a:endParaRPr lang="en-US" sz="2400" dirty="0"/>
          </a:p>
        </p:txBody>
      </p:sp>
      <p:pic>
        <p:nvPicPr>
          <p:cNvPr id="6" name="brP_54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4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GM, BM o NI? Poi spiega perché!</a:t>
            </a:r>
            <a:endParaRPr lang="en-US" sz="950" dirty="0"/>
          </a:p>
        </p:txBody>
      </p:sp>
      <p:sp>
        <p:nvSpPr>
          <p:cNvPr id="9" name="cmd_54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54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good or bad manners? 2/2   ·   📖 SB p.39 · 7a, 7b</a:t>
            </a:r>
            <a:endParaRPr lang="en-US" sz="800" dirty="0"/>
          </a:p>
        </p:txBody>
      </p:sp>
      <p:sp>
        <p:nvSpPr>
          <p:cNvPr id="14" name="pf_54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50" descr="/home/claude/lls-course/v2/cache/4a2_late_gues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5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5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5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5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 think it's rude / bad manners to…</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 don't mind it. · It really annoys me when…</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In Sicily… but in Britain…</a:t>
            </a:r>
            <a:endParaRPr lang="en-US" sz="1000" dirty="0"/>
          </a:p>
        </p:txBody>
      </p:sp>
      <p:sp>
        <p:nvSpPr>
          <p:cNvPr id="20" name="R1_qb55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56"/>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INVITED FOR A MEAL: take a present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flowers, or cannoli from the pasticceria!</a:t>
            </a:r>
            <a:endParaRPr lang="en-US" sz="1250" dirty="0"/>
          </a:p>
        </p:txBody>
      </p:sp>
      <p:pic>
        <p:nvPicPr>
          <p:cNvPr id="22" name="R1_th557" descr="/home/claude/lls-course/v2/cache/4a2_dinner_guest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558"/>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59"/>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INVITED FOR A MEAL: criticize the food (it's too cold, too salty…)</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BM – remember Belinda's mother-in-law!</a:t>
            </a:r>
            <a:endParaRPr lang="en-US" sz="1050" dirty="0"/>
          </a:p>
        </p:txBody>
      </p:sp>
      <p:sp>
        <p:nvSpPr>
          <p:cNvPr id="25" name="R3_qb560"/>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61"/>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INVITED FOR A MEAL: send a message the next day to say thank you</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GM – it's polite, and it only takes a minute.</a:t>
            </a:r>
            <a:endParaRPr lang="en-US" sz="1050" dirty="0"/>
          </a:p>
        </p:txBody>
      </p:sp>
      <p:sp>
        <p:nvSpPr>
          <p:cNvPr id="27" name="R4_qb562"/>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63"/>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RESTAURANT: insist on only paying for what you ate when the bill is divided</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It really annoys me when people do that!</a:t>
            </a:r>
            <a:endParaRPr lang="en-US" sz="850" dirty="0"/>
          </a:p>
        </p:txBody>
      </p:sp>
      <p:pic>
        <p:nvPicPr>
          <p:cNvPr id="29" name="R4_th564" descr="/home/claude/lls-course/v2/cache/spare_1a2_bill_jpg_154x107_18.png">    </p:cNvPr>
          <p:cNvPicPr>
            <a:picLocks noChangeAspect="1"/>
          </p:cNvPicPr>
          <p:nvPr/>
        </p:nvPicPr>
        <p:blipFill>
          <a:blip r:embed="rId7"/>
          <a:stretch>
            <a:fillRect/>
          </a:stretch>
        </p:blipFill>
        <p:spPr>
          <a:xfrm>
            <a:off x="8257032" y="3104388"/>
            <a:ext cx="640080" cy="446532"/>
          </a:xfrm>
          <a:prstGeom prst="rect">
            <a:avLst/>
          </a:prstGeom>
        </p:spPr>
      </p:pic>
      <p:sp>
        <p:nvSpPr>
          <p:cNvPr id="30" name="R5_qb56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566"/>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SOCIAL NETWORKING: post a photo of a friend without asking their permission</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BM – I hate it when people do that!</a:t>
            </a:r>
            <a:endParaRPr lang="en-US" sz="850" dirty="0"/>
          </a:p>
        </p:txBody>
      </p:sp>
      <p:sp>
        <p:nvSpPr>
          <p:cNvPr id="32" name="R6_qb56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56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OUR EXTRA: arrive 20 minutes late for dinner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in Sicily! But in Britain I think it's rude.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7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7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7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7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7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Exit · what can you remember?</a:t>
            </a:r>
            <a:endParaRPr lang="en-US" sz="800" dirty="0"/>
          </a:p>
        </p:txBody>
      </p:sp>
      <p:sp>
        <p:nvSpPr>
          <p:cNvPr id="13" name="bd_57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58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manners words from today (no looking!)</a:t>
            </a:r>
            <a:endParaRPr lang="en-US" sz="1400" dirty="0"/>
          </a:p>
        </p:txBody>
      </p:sp>
      <p:sp>
        <p:nvSpPr>
          <p:cNvPr id="15" name="bd_58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58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pieces of advice for Damien or Miranda</a:t>
            </a:r>
            <a:endParaRPr lang="en-US" sz="1400" dirty="0"/>
          </a:p>
        </p:txBody>
      </p:sp>
      <p:sp>
        <p:nvSpPr>
          <p:cNvPr id="17" name="bd_58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58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 that is really bad manners for you: "I think it's rude to…"</a:t>
            </a:r>
            <a:endParaRPr lang="en-US" sz="1400" dirty="0"/>
          </a:p>
        </p:txBody>
      </p:sp>
      <p:sp>
        <p:nvSpPr>
          <p:cNvPr id="19" name="cd_58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8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8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4A: 2c, 2d</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SB p.127: script 4.11 – underline have to, must, should, ought to</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58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1 · Yes, I can! · can, could, be able to</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9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Dear Debrett's…</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9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question. Another pair answers!</a:t>
            </a:r>
            <a:endParaRPr lang="en-US" sz="1250" dirty="0"/>
          </a:p>
        </p:txBody>
      </p:sp>
      <p:sp>
        <p:nvSpPr>
          <p:cNvPr id="8" name="insIT_5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Scrivete una domanda. Un'altra coppia risponde!</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meta_5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5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5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Extra · writing: Dear Debrett's…</a:t>
            </a:r>
            <a:endParaRPr lang="en-US" sz="800" dirty="0"/>
          </a:p>
        </p:txBody>
      </p:sp>
      <p:sp>
        <p:nvSpPr>
          <p:cNvPr id="14" name="st_60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0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Is it rude to wear headphones at Sunday lunch? → Yes. You shouldn't…</a:t>
            </a:r>
            <a:endParaRPr lang="en-US" sz="1050" dirty="0"/>
          </a:p>
        </p:txBody>
      </p:sp>
      <p:sp>
        <p:nvSpPr>
          <p:cNvPr id="19" name="pf_6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7" descr="/home/claude/lls-course/v2/cache/4a1_tex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Is it rude to send a 5-minute voice message?</a:t>
            </a:r>
            <a:endParaRPr lang="en-US" sz="1050" dirty="0"/>
          </a:p>
        </p:txBody>
      </p:sp>
      <p:sp>
        <p:nvSpPr>
          <p:cNvPr id="23" name="R1_chip6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Yes! You should keep it short – or just call.</a:t>
            </a:r>
            <a:endParaRPr lang="en-US" sz="1000" dirty="0"/>
          </a:p>
        </p:txBody>
      </p:sp>
      <p:sp>
        <p:nvSpPr>
          <p:cNvPr id="24" name="bd_6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Should I answer my phone at Sunday lunch?</a:t>
            </a:r>
            <a:endParaRPr lang="en-US" sz="1150" dirty="0"/>
          </a:p>
        </p:txBody>
      </p:sp>
      <p:sp>
        <p:nvSpPr>
          <p:cNvPr id="26" name="R2_chip6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shouldn't, unless it's urgent.</a:t>
            </a:r>
            <a:endParaRPr lang="en-US" sz="1000" dirty="0"/>
          </a:p>
        </p:txBody>
      </p:sp>
      <p:sp>
        <p:nvSpPr>
          <p:cNvPr id="27" name="bd_6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Do I have to reply in the family WhatsApp group?</a:t>
            </a:r>
            <a:endParaRPr lang="en-US" sz="1100" dirty="0"/>
          </a:p>
        </p:txBody>
      </p:sp>
      <p:sp>
        <p:nvSpPr>
          <p:cNvPr id="29" name="R3_chip6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don't have to – but say happy birthday!</a:t>
            </a:r>
            <a:endParaRPr lang="en-US" sz="1000" dirty="0"/>
          </a:p>
        </p:txBody>
      </p:sp>
      <p:sp>
        <p:nvSpPr>
          <p:cNvPr id="30" name="bd_6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Can I leave a party without saying goodbye?</a:t>
            </a:r>
            <a:endParaRPr lang="en-US" sz="1100" dirty="0"/>
          </a:p>
        </p:txBody>
      </p:sp>
      <p:sp>
        <p:nvSpPr>
          <p:cNvPr id="32" name="R4_chip6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 always thank the host first.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4A-2 Bad manners?</dc:title>
  <dc:subject>PptxGenJS Presentation</dc:subject>
  <dc:creator>PptxGenJS</dc:creator>
  <cp:lastModifiedBy>PptxGenJS</cp:lastModifiedBy>
  <cp:revision>1</cp:revision>
  <dcterms:created xsi:type="dcterms:W3CDTF">2026-10-11T16:14:13Z</dcterms:created>
  <dcterms:modified xsi:type="dcterms:W3CDTF">2026-10-11T16:14:13Z</dcterms:modified>
</cp:coreProperties>
</file>