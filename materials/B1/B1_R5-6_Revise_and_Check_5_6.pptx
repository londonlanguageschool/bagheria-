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OPENING (2 min)
OPENING (2 min). Revision lesson for Files 5–6. TG: the first page adds up to 50 (grammar 15, vocabulary 25, pronunciation 10) – a mini-test. Students score themselves.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Revision · Files 5 &amp; 6 (3 min)
ACTIVE RECAP (3 min). Words: ⭐ meaning ⭐⭐ sentence ⭐⭐⭐ negative or question. Grammar: students make their own example first, then click.
HOW TO RUN IT (active recap): pairs. Words: A points at a word, B says what it means (⭐); then a sentence with it (⭐⭐); strong students make it negative or a question (⭐⭐⭐). Grammar: pairs make their own example for each use (offer, plan…) BEFORE you click – then click to show the model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Grammar · SB p.64 · 1–8 (5 min)
MINI-TEST 1 (5 min). Students write a / b / c, alone. Click once per item. Key (TG): 1a 2b 3c 4b 5b 6c 7a 8b. Ask WHY after each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Grammar · SB p.64 · 9–15 (5 min)
MINI-TEST 2 (5 min). Key (TG): 9c 10a 11a 12b 13a 14c 15b. Score /15. Board the most common mistakes – they come back in the auction.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Grammar Banks 5A–6B · the rules (4 min)
WHY? (4 min). After the test: each row = one rule from Files 5–6. Students say the tense and why, then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Game · grammar auction (6 min)
AUCTION (6 min). Teach auction (asta) and bid (offerta). Teams bid €50–€500; click to reveal. Buying a wrong sentence loses the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Vocabulary · SB p.64 a, b, c (5 min)
VOCAB 1 (5 min). The first is the example. Key (TG): a 1 lips/mouth 2 eyes 3 nose 4 hands 5 teeth · b 1 beat 2 court 3 get injured 4 scored 5 go (I go swimming) · c 1 close 2 common 3 touch 4 got 5 fiancé (Linda's fiancé is Italian).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Vocabulary · SB p.64 d, e (4 min)
VOCAB 2 (4 min). Item 1 is the example. One click per gap. Key (TG): d 1 soundtrack 2 subtitles 3 special effects 4 star 5 scene · e 1 out 2 off 3 up 4 out 5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Pronunciation · sounds (3 min)
SOUNDS (3 min). Drill the sound words first (a). Key (TG): booked /t/ · crowd /aʊ/ · eyes /z/ · shoulders /əʊ/ · world /ɜː/.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Pronunciation · word stress (2 min)
STRESS (2 min). Key (TG): 1 referee 2 review 3 spectators 4 director 5 colleague. Clap the rhythm.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Reading · What is the best sport for your body type? (1) (5 min)
READING 1 (5 min). Gap 1 is the example (B). Key (TG): 1 B 2 E 3 C. a (after part 2): 'The best exercise is the exercise that you will do.' Show the three body types (picture).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Reading · What is the best sport for your body type? (2) (4 min)
READING 2 (4 min). Key (TG): 4 A 5 F 6 G 7 D. Then a: what's the best exercise for all body types? → 'The best exercise of all is the one that you will do!' (highlighted). Quick question: which body type are you closest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Video · Can you understand these people? (6 min)
VIDEO (6 min). Play the video (or audio 6.21). Answers checked word for word against the TG script p.91. Key: 1c 2c 3a 4b 5a.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Speaking · Can you say this in English? (6 min)
CAN-DO (6 min). A does 1–2, B does 3–4, then swap. Use a photo on someone's phone for 4. Tick only what they can do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Exit · what can you remember? (2 min)
EXIT (2 min). Pairs, books closed.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Review · what did you do today? (1 min)
TODAY YOU… (1 min). Read each line (one per click: the tick appears). Students show thumbs up / middle / down: can they do it now? Note any thumbs down for the next lesson's recap.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jpe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jpe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jpe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jpe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jpe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jpe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jpe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jpe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video" Target="../media/media-13-5.mp4"/><Relationship Id="rId6" Type="http://schemas.microsoft.com/office/2007/relationships/media" Target="../media/media-13-5.mp4"/><Relationship Id="rId7" Type="http://schemas.openxmlformats.org/officeDocument/2006/relationships/image" Target="../media/image-13-7.png"/><Relationship Id="rId8" Type="http://schemas.openxmlformats.org/officeDocument/2006/relationships/slideLayout" Target="../slideLayouts/slideLayout1.xml"/><Relationship Id="rId9"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jpe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jpe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jpe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crs_1"/>
          <p:cNvSpPr/>
          <p:nvPr/>
        </p:nvSpPr>
        <p:spPr>
          <a:xfrm>
            <a:off x="411480" y="292608"/>
            <a:ext cx="4114800" cy="274320"/>
          </a:xfrm>
          <a:prstGeom prst="rect">
            <a:avLst/>
          </a:prstGeom>
          <a:noFill/>
          <a:ln/>
        </p:spPr>
        <p:txBody>
          <a:bodyPr wrap="square" lIns="0" tIns="0" rIns="0" bIns="0" rtlCol="0" anchor="ctr"/>
          <a:lstStyle/>
          <a:p>
            <a:pPr indent="0" marL="0">
              <a:buNone/>
            </a:pPr>
            <a:r>
              <a:rPr lang="en-US" sz="1000" spc="100" kern="0" dirty="0">
                <a:solidFill>
                  <a:srgbClr val="5B6785"/>
                </a:solidFill>
                <a:latin typeface="Segoe UI Semibold" pitchFamily="34" charset="0"/>
                <a:ea typeface="Segoe UI Semibold" pitchFamily="34" charset="-122"/>
                <a:cs typeface="Segoe UI Semibold" pitchFamily="34" charset="-120"/>
              </a:rPr>
              <a:t>English File B1 · SB pp.64–65</a:t>
            </a:r>
            <a:endParaRPr lang="en-US" sz="1000" dirty="0"/>
          </a:p>
        </p:txBody>
      </p:sp>
      <p:sp>
        <p:nvSpPr>
          <p:cNvPr id="4" name="bd_2"/>
          <p:cNvSpPr/>
          <p:nvPr/>
        </p:nvSpPr>
        <p:spPr>
          <a:xfrm>
            <a:off x="365760" y="640080"/>
            <a:ext cx="1051560" cy="1051560"/>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600" dirty="0">
                <a:solidFill>
                  <a:srgbClr val="FFFFFF"/>
                </a:solidFill>
                <a:latin typeface="Arial Rounded MT Bold" pitchFamily="34" charset="0"/>
                <a:ea typeface="Arial Rounded MT Bold" pitchFamily="34" charset="-122"/>
                <a:cs typeface="Arial Rounded MT Bold" pitchFamily="34" charset="-120"/>
              </a:rPr>
              <a:t>R5-6</a:t>
            </a:r>
            <a:endParaRPr lang="en-US" sz="1600" dirty="0"/>
          </a:p>
        </p:txBody>
      </p:sp>
      <p:pic>
        <p:nvPicPr>
          <p:cNvPr id="5" name="bry_3" descr="/home/claude/lls-course/v2/assets/brush-yellow.png">    </p:cNvPr>
          <p:cNvPicPr>
            <a:picLocks noChangeAspect="1"/>
          </p:cNvPicPr>
          <p:nvPr/>
        </p:nvPicPr>
        <p:blipFill>
          <a:blip r:embed="rId2"/>
          <a:stretch>
            <a:fillRect/>
          </a:stretch>
        </p:blipFill>
        <p:spPr>
          <a:xfrm>
            <a:off x="1463040" y="713232"/>
            <a:ext cx="3566160" cy="868680"/>
          </a:xfrm>
          <a:prstGeom prst="rect">
            <a:avLst/>
          </a:prstGeom>
        </p:spPr>
      </p:pic>
      <p:sp>
        <p:nvSpPr>
          <p:cNvPr id="6" name="t_4"/>
          <p:cNvSpPr/>
          <p:nvPr/>
        </p:nvSpPr>
        <p:spPr>
          <a:xfrm>
            <a:off x="1645920" y="731520"/>
            <a:ext cx="3108960" cy="822960"/>
          </a:xfrm>
          <a:prstGeom prst="rect">
            <a:avLst/>
          </a:prstGeom>
          <a:noFill/>
          <a:ln/>
        </p:spPr>
        <p:txBody>
          <a:bodyPr wrap="square" lIns="0" tIns="0" rIns="0" bIns="0" rtlCol="0" anchor="ctr">
            <a:normAutofit/>
          </a:bodyPr>
          <a:lstStyle/>
          <a:p>
            <a:pPr indent="0" marL="0">
              <a:buNone/>
            </a:pPr>
            <a:r>
              <a:rPr lang="en-US" sz="1900" dirty="0">
                <a:solidFill>
                  <a:srgbClr val="1B2559"/>
                </a:solidFill>
                <a:latin typeface="Arial Rounded MT Bold" pitchFamily="34" charset="0"/>
                <a:ea typeface="Arial Rounded MT Bold" pitchFamily="34" charset="-122"/>
                <a:cs typeface="Arial Rounded MT Bold" pitchFamily="34" charset="-120"/>
              </a:rPr>
              <a:t>Revise and Check 5&amp;6</a:t>
            </a:r>
            <a:endParaRPr lang="en-US" sz="1900" dirty="0"/>
          </a:p>
        </p:txBody>
      </p:sp>
      <p:pic>
        <p:nvPicPr>
          <p:cNvPr id="7" name="brp_5" descr="/home/claude/lls-course/v2/assets/brush-pink.png">    </p:cNvPr>
          <p:cNvPicPr>
            <a:picLocks noChangeAspect="1"/>
          </p:cNvPicPr>
          <p:nvPr/>
        </p:nvPicPr>
        <p:blipFill>
          <a:blip r:embed="rId3"/>
          <a:stretch>
            <a:fillRect/>
          </a:stretch>
        </p:blipFill>
        <p:spPr>
          <a:xfrm>
            <a:off x="1554480" y="1517904"/>
            <a:ext cx="3017520" cy="384048"/>
          </a:xfrm>
          <a:prstGeom prst="rect">
            <a:avLst/>
          </a:prstGeom>
        </p:spPr>
      </p:pic>
      <p:sp>
        <p:nvSpPr>
          <p:cNvPr id="8" name="st_6"/>
          <p:cNvSpPr/>
          <p:nvPr/>
        </p:nvSpPr>
        <p:spPr>
          <a:xfrm>
            <a:off x="1691640" y="1517904"/>
            <a:ext cx="2834640" cy="384048"/>
          </a:xfrm>
          <a:prstGeom prst="rect">
            <a:avLst/>
          </a:prstGeom>
          <a:noFill/>
          <a:ln/>
        </p:spPr>
        <p:txBody>
          <a:bodyPr wrap="square" lIns="0" tIns="0" rIns="0" bIns="0" rtlCol="0" anchor="ctr"/>
          <a:lstStyle/>
          <a:p>
            <a:pPr indent="0" marL="0">
              <a:buNone/>
            </a:pPr>
            <a:r>
              <a:rPr lang="en-US" sz="1050" i="1" dirty="0">
                <a:solidFill>
                  <a:srgbClr val="1B2559"/>
                </a:solidFill>
                <a:latin typeface="Segoe UI Semibold" pitchFamily="34" charset="0"/>
                <a:ea typeface="Segoe UI Semibold" pitchFamily="34" charset="-122"/>
                <a:cs typeface="Segoe UI Semibold" pitchFamily="34" charset="-120"/>
              </a:rPr>
              <a:t>Files 5 and 6: test, games, reading, video</a:t>
            </a:r>
            <a:endParaRPr lang="en-US" sz="1050" dirty="0"/>
          </a:p>
        </p:txBody>
      </p:sp>
      <p:sp>
        <p:nvSpPr>
          <p:cNvPr id="9" name="cd_7"/>
          <p:cNvSpPr/>
          <p:nvPr/>
        </p:nvSpPr>
        <p:spPr>
          <a:xfrm>
            <a:off x="365760" y="2148840"/>
            <a:ext cx="4206240" cy="1691640"/>
          </a:xfrm>
          <a:prstGeom prst="roundRect">
            <a:avLst>
              <a:gd name="adj" fmla="val 7568"/>
            </a:avLst>
          </a:prstGeom>
          <a:solidFill>
            <a:srgbClr val="E3F1FD"/>
          </a:solidFill>
          <a:ln w="28575">
            <a:solidFill>
              <a:srgbClr val="A9D3F5"/>
            </a:solidFill>
            <a:prstDash val="solid"/>
          </a:ln>
          <a:effectLst>
            <a:outerShdw sx="100000" sy="100000" kx="0" ky="0" algn="bl" rotWithShape="0" blurRad="88900" dist="31750" dir="5400000">
              <a:srgbClr val="1B2559">
                <a:alpha val="12000"/>
              </a:srgbClr>
            </a:outerShdw>
          </a:effectLst>
        </p:spPr>
      </p:sp>
      <p:sp>
        <p:nvSpPr>
          <p:cNvPr id="10" name="ii_8"/>
          <p:cNvSpPr/>
          <p:nvPr/>
        </p:nvSpPr>
        <p:spPr>
          <a:xfrm>
            <a:off x="457200" y="222199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1" name="ih_9"/>
          <p:cNvSpPr/>
          <p:nvPr/>
        </p:nvSpPr>
        <p:spPr>
          <a:xfrm>
            <a:off x="932688" y="2240280"/>
            <a:ext cx="3566160" cy="365760"/>
          </a:xfrm>
          <a:prstGeom prst="rect">
            <a:avLst/>
          </a:prstGeom>
          <a:noFill/>
          <a:ln/>
        </p:spPr>
        <p:txBody>
          <a:bodyPr wrap="square" lIns="0" tIns="0" rIns="0" bIns="0" rtlCol="0" anchor="ctr"/>
          <a:lstStyle/>
          <a:p>
            <a:pPr indent="0" marL="0">
              <a:buNone/>
            </a:pPr>
            <a:r>
              <a:rPr lang="en-US" sz="1600" dirty="0">
                <a:solidFill>
                  <a:srgbClr val="1B2559"/>
                </a:solidFill>
                <a:latin typeface="Arial Rounded MT Bold" pitchFamily="34" charset="0"/>
                <a:ea typeface="Arial Rounded MT Bold" pitchFamily="34" charset="-122"/>
                <a:cs typeface="Arial Rounded MT Bold" pitchFamily="34" charset="-120"/>
              </a:rPr>
              <a:t>Today you're going to…</a:t>
            </a:r>
            <a:endParaRPr lang="en-US" sz="1600" dirty="0"/>
          </a:p>
        </p:txBody>
      </p:sp>
      <p:sp>
        <p:nvSpPr>
          <p:cNvPr id="12" name="il_10"/>
          <p:cNvSpPr/>
          <p:nvPr/>
        </p:nvSpPr>
        <p:spPr>
          <a:xfrm>
            <a:off x="932688" y="2642616"/>
            <a:ext cx="3547872" cy="1124712"/>
          </a:xfrm>
          <a:prstGeom prst="rect">
            <a:avLst/>
          </a:prstGeom>
          <a:noFill/>
          <a:ln/>
        </p:spPr>
        <p:txBody>
          <a:bodyPr wrap="square" lIns="0" tIns="0" rIns="0" bIns="0" rtlCol="0" anchor="t">
            <a:normAutofit/>
          </a:bodyPr>
          <a:lstStyle/>
          <a:p>
            <a:pPr indent="0" marL="0">
              <a:spcAft>
                <a:spcPts val="200"/>
              </a:spcAft>
              <a:buNone/>
            </a:pPr>
            <a:r>
              <a:rPr lang="en-US" sz="850" dirty="0">
                <a:solidFill>
                  <a:srgbClr val="1B2559"/>
                </a:solidFill>
                <a:latin typeface="Segoe UI Semibold" pitchFamily="34" charset="0"/>
                <a:ea typeface="Segoe UI Semibold" pitchFamily="34" charset="-122"/>
                <a:cs typeface="Segoe UI Semibold" pitchFamily="34" charset="-120"/>
              </a:rPr>
              <a:t>📝  do a mini-test on Files 5 and 6</a:t>
            </a:r>
            <a:endParaRPr lang="en-US" sz="850" dirty="0"/>
          </a:p>
          <a:p>
            <a:pPr indent="0" marL="0">
              <a:spcBef>
                <a:spcPts val="600"/>
              </a:spcBef>
              <a:spcAft>
                <a:spcPts val="200"/>
              </a:spcAft>
              <a:buNone/>
            </a:pPr>
            <a:r>
              <a:rPr lang="en-US" sz="850" dirty="0">
                <a:solidFill>
                  <a:srgbClr val="1B2559"/>
                </a:solidFill>
                <a:latin typeface="Segoe UI Semibold" pitchFamily="34" charset="0"/>
                <a:ea typeface="Segoe UI Semibold" pitchFamily="34" charset="-122"/>
                <a:cs typeface="Segoe UI Semibold" pitchFamily="34" charset="-120"/>
              </a:rPr>
              <a:t>🔤  revise sport, relationships, cinema and body words</a:t>
            </a:r>
            <a:endParaRPr lang="en-US" sz="850" dirty="0"/>
          </a:p>
          <a:p>
            <a:pPr indent="0" marL="0">
              <a:spcBef>
                <a:spcPts val="600"/>
              </a:spcBef>
              <a:spcAft>
                <a:spcPts val="200"/>
              </a:spcAft>
              <a:buNone/>
            </a:pPr>
            <a:r>
              <a:rPr lang="en-US" sz="850" dirty="0">
                <a:solidFill>
                  <a:srgbClr val="1B2559"/>
                </a:solidFill>
                <a:latin typeface="Segoe UI Semibold" pitchFamily="34" charset="0"/>
                <a:ea typeface="Segoe UI Semibold" pitchFamily="34" charset="-122"/>
                <a:cs typeface="Segoe UI Semibold" pitchFamily="34" charset="-120"/>
              </a:rPr>
              <a:t>🔊  practise sounds and word stress</a:t>
            </a:r>
            <a:endParaRPr lang="en-US" sz="850" dirty="0"/>
          </a:p>
          <a:p>
            <a:pPr indent="0" marL="0">
              <a:spcBef>
                <a:spcPts val="600"/>
              </a:spcBef>
              <a:spcAft>
                <a:spcPts val="200"/>
              </a:spcAft>
              <a:buNone/>
            </a:pPr>
            <a:r>
              <a:rPr lang="en-US" sz="850" dirty="0">
                <a:solidFill>
                  <a:srgbClr val="1B2559"/>
                </a:solidFill>
                <a:latin typeface="Segoe UI Semibold" pitchFamily="34" charset="0"/>
                <a:ea typeface="Segoe UI Semibold" pitchFamily="34" charset="-122"/>
                <a:cs typeface="Segoe UI Semibold" pitchFamily="34" charset="-120"/>
              </a:rPr>
              <a:t>📖  read about the best sport for your body type</a:t>
            </a:r>
            <a:endParaRPr lang="en-US" sz="850" dirty="0"/>
          </a:p>
          <a:p>
            <a:pPr indent="0" marL="0">
              <a:spcBef>
                <a:spcPts val="600"/>
              </a:spcBef>
              <a:spcAft>
                <a:spcPts val="200"/>
              </a:spcAft>
              <a:buNone/>
            </a:pPr>
            <a:r>
              <a:rPr lang="en-US" sz="850" dirty="0">
                <a:solidFill>
                  <a:srgbClr val="1B2559"/>
                </a:solidFill>
                <a:latin typeface="Segoe UI Semibold" pitchFamily="34" charset="0"/>
                <a:ea typeface="Segoe UI Semibold" pitchFamily="34" charset="-122"/>
                <a:cs typeface="Segoe UI Semibold" pitchFamily="34" charset="-120"/>
              </a:rPr>
              <a:t>🎬  watch people talk about sport, films and photos</a:t>
            </a:r>
            <a:endParaRPr lang="en-US" sz="850" dirty="0"/>
          </a:p>
        </p:txBody>
      </p:sp>
      <p:sp>
        <p:nvSpPr>
          <p:cNvPr id="13" name="R1_ex11"/>
          <p:cNvSpPr/>
          <p:nvPr/>
        </p:nvSpPr>
        <p:spPr>
          <a:xfrm>
            <a:off x="365760" y="3950208"/>
            <a:ext cx="4206240" cy="603504"/>
          </a:xfrm>
          <a:prstGeom prst="roundRect">
            <a:avLst>
              <a:gd name="adj" fmla="val 18182"/>
            </a:avLst>
          </a:prstGeom>
          <a:solidFill>
            <a:srgbClr val="FFF6CC"/>
          </a:solidFill>
          <a:ln w="28575">
            <a:solidFill>
              <a:srgbClr val="FFE07A"/>
            </a:solidFill>
          </a:ln>
        </p:spPr>
        <p:txBody>
          <a:bodyPr wrap="square" lIns="152400" tIns="25400" rIns="152400" bIns="25400" rtlCol="0" anchor="ctr">
            <a:normAutofit/>
          </a:bodyPr>
          <a:lstStyle/>
          <a:p>
            <a:pPr indent="0" marL="0">
              <a:buNone/>
            </a:pPr>
            <a:r>
              <a:rPr lang="en-US" sz="1000" dirty="0">
                <a:solidFill>
                  <a:srgbClr val="E8508F"/>
                </a:solidFill>
                <a:latin typeface="Segoe UI Black" pitchFamily="34" charset="0"/>
                <a:ea typeface="Segoe UI Black" pitchFamily="34" charset="-122"/>
                <a:cs typeface="Segoe UI Black" pitchFamily="34" charset="-120"/>
              </a:rPr>
              <a:t>EXAMPLE  </a:t>
            </a:r>
            <a:pPr indent="0" marL="0">
              <a:buNone/>
            </a:pPr>
            <a:r>
              <a:rPr lang="en-US" sz="1300" i="1" dirty="0">
                <a:solidFill>
                  <a:srgbClr val="1B2559"/>
                </a:solidFill>
                <a:latin typeface="Segoe UI Semibold" pitchFamily="34" charset="0"/>
                <a:ea typeface="Segoe UI Semibold" pitchFamily="34" charset="-122"/>
                <a:cs typeface="Segoe UI Semibold" pitchFamily="34" charset="-120"/>
              </a:rPr>
              <a:t>I remember 'referee', 'lose touch' and 'It must be…'!</a:t>
            </a:r>
            <a:endParaRPr lang="en-US" sz="1000" dirty="0"/>
          </a:p>
        </p:txBody>
      </p:sp>
      <p:sp>
        <p:nvSpPr>
          <p:cNvPr id="14" name="pf_12"/>
          <p:cNvSpPr/>
          <p:nvPr/>
        </p:nvSpPr>
        <p:spPr>
          <a:xfrm rot="90000">
            <a:off x="4846320" y="1248924"/>
            <a:ext cx="3977640" cy="2257032"/>
          </a:xfrm>
          <a:prstGeom prst="roundRect">
            <a:avLst>
              <a:gd name="adj" fmla="val 6887"/>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5" name="ph_13" descr="/home/claude/lls-course/v2/cache/r56_bodytypes_jpg_935x521_31.png">    </p:cNvPr>
          <p:cNvPicPr>
            <a:picLocks noChangeAspect="1"/>
          </p:cNvPicPr>
          <p:nvPr/>
        </p:nvPicPr>
        <p:blipFill>
          <a:blip r:embed="rId4"/>
          <a:stretch>
            <a:fillRect/>
          </a:stretch>
        </p:blipFill>
        <p:spPr>
          <a:xfrm rot="90000">
            <a:off x="4892040" y="1294644"/>
            <a:ext cx="3886200" cy="2165592"/>
          </a:xfrm>
          <a:prstGeom prst="rect">
            <a:avLst/>
          </a:prstGeom>
        </p:spPr>
      </p:pic>
      <p:sp>
        <p:nvSpPr>
          <p:cNvPr id="16" name="bb_14"/>
          <p:cNvSpPr/>
          <p:nvPr/>
        </p:nvSpPr>
        <p:spPr>
          <a:xfrm>
            <a:off x="5120640" y="3611880"/>
            <a:ext cx="3566160" cy="822960"/>
          </a:xfrm>
          <a:prstGeom prst="wedgeRoundRectCallout">
            <a:avLst/>
          </a:prstGeom>
          <a:solidFill>
            <a:srgbClr val="FFFFFF"/>
          </a:solidFill>
          <a:ln w="28575">
            <a:solidFill>
              <a:srgbClr val="F7A6C4"/>
            </a:solidFill>
          </a:ln>
          <a:effectLst>
            <a:outerShdw sx="100000" sy="100000" kx="0" ky="0" algn="bl" rotWithShape="0" blurRad="88900" dist="31750" dir="5400000">
              <a:srgbClr val="1B2559">
                <a:alpha val="10000"/>
              </a:srgbClr>
            </a:outerShdw>
          </a:effectLst>
        </p:spPr>
        <p:txBody>
          <a:bodyPr wrap="square" lIns="127000" tIns="50800" rIns="127000" bIns="50800" rtlCol="0" anchor="ctr">
            <a:normAutofit/>
          </a:bodyPr>
          <a:lstStyle/>
          <a:p>
            <a:pPr algn="ctr" indent="0" marL="0">
              <a:buNone/>
            </a:pPr>
            <a:r>
              <a:rPr lang="en-US" sz="1500" dirty="0">
                <a:solidFill>
                  <a:srgbClr val="1B2559"/>
                </a:solidFill>
                <a:latin typeface="Arial Rounded MT Bold" pitchFamily="34" charset="0"/>
                <a:ea typeface="Arial Rounded MT Bold" pitchFamily="34" charset="-122"/>
                <a:cs typeface="Arial Rounded MT Bold" pitchFamily="34" charset="-120"/>
              </a:rPr>
              <a:t>Sport, relationships, films, the body… How much do you remember from Files 5 and 6?</a:t>
            </a:r>
            <a:endParaRPr lang="en-US" sz="1500" dirty="0"/>
          </a:p>
        </p:txBody>
      </p:sp>
      <p:sp>
        <p:nvSpPr>
          <p:cNvPr id="17" name="st_15"/>
          <p:cNvSpPr/>
          <p:nvPr/>
        </p:nvSpPr>
        <p:spPr>
          <a:xfrm rot="360000">
            <a:off x="7543800" y="502920"/>
            <a:ext cx="1325880" cy="38404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950" dirty="0">
                <a:solidFill>
                  <a:srgbClr val="1B2559"/>
                </a:solidFill>
                <a:latin typeface="Arial Rounded MT Bold" pitchFamily="34" charset="0"/>
                <a:ea typeface="Arial Rounded MT Bold" pitchFamily="34" charset="-122"/>
                <a:cs typeface="Arial Rounded MT Bold" pitchFamily="34" charset="-120"/>
              </a:rPr>
              <a:t>💡 THINK · PENSA</a:t>
            </a:r>
            <a:endParaRPr lang="en-US" sz="950" dirty="0"/>
          </a:p>
        </p:txBody>
      </p:sp>
      <p:pic>
        <p:nvPicPr>
          <p:cNvPr id="18" name="logo_16" descr="/home/claude/lls-course/v2/img/logo.png">    </p:cNvPr>
          <p:cNvPicPr>
            <a:picLocks noChangeAspect="1"/>
          </p:cNvPicPr>
          <p:nvPr/>
        </p:nvPicPr>
        <p:blipFill>
          <a:blip r:embed="rId5"/>
          <a:stretch>
            <a:fillRect/>
          </a:stretch>
        </p:blipFill>
        <p:spPr>
          <a:xfrm>
            <a:off x="8485632" y="4526280"/>
            <a:ext cx="502920" cy="502920"/>
          </a:xfrm>
          <a:prstGeom prst="rect">
            <a:avLst/>
          </a:prstGeom>
        </p:spPr>
      </p:pic>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7"/>
          <p:cNvSpPr/>
          <p:nvPr/>
        </p:nvSpPr>
        <p:spPr>
          <a:xfrm>
            <a:off x="201168" y="164592"/>
            <a:ext cx="841248" cy="841248"/>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2</a:t>
            </a:r>
            <a:endParaRPr lang="en-US" sz="2800" dirty="0"/>
          </a:p>
        </p:txBody>
      </p:sp>
      <p:pic>
        <p:nvPicPr>
          <p:cNvPr id="4" name="brY_18" descr="/home/claude/lls-course/v2/assets/brush-yellow.png">    </p:cNvPr>
          <p:cNvPicPr>
            <a:picLocks noChangeAspect="1"/>
          </p:cNvPicPr>
          <p:nvPr/>
        </p:nvPicPr>
        <p:blipFill>
          <a:blip r:embed="rId2"/>
          <a:stretch>
            <a:fillRect/>
          </a:stretch>
        </p:blipFill>
        <p:spPr>
          <a:xfrm>
            <a:off x="1097280" y="146304"/>
            <a:ext cx="2147011" cy="621792"/>
          </a:xfrm>
          <a:prstGeom prst="rect">
            <a:avLst/>
          </a:prstGeom>
        </p:spPr>
      </p:pic>
      <p:sp>
        <p:nvSpPr>
          <p:cNvPr id="5" name="title_19"/>
          <p:cNvSpPr/>
          <p:nvPr/>
        </p:nvSpPr>
        <p:spPr>
          <a:xfrm>
            <a:off x="1261872" y="164592"/>
            <a:ext cx="1872691"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Remember?</a:t>
            </a:r>
            <a:endParaRPr lang="en-US" sz="2500" dirty="0"/>
          </a:p>
        </p:txBody>
      </p:sp>
      <p:pic>
        <p:nvPicPr>
          <p:cNvPr id="6" name="brP_20" descr="/home/claude/lls-course/v2/assets/brush-pink.png">    </p:cNvPr>
          <p:cNvPicPr>
            <a:picLocks noChangeAspect="1"/>
          </p:cNvPicPr>
          <p:nvPr/>
        </p:nvPicPr>
        <p:blipFill>
          <a:blip r:embed="rId3"/>
          <a:stretch>
            <a:fillRect/>
          </a:stretch>
        </p:blipFill>
        <p:spPr>
          <a:xfrm>
            <a:off x="1207008" y="731520"/>
            <a:ext cx="5257800" cy="402336"/>
          </a:xfrm>
          <a:prstGeom prst="rect">
            <a:avLst/>
          </a:prstGeom>
        </p:spPr>
      </p:pic>
      <p:sp>
        <p:nvSpPr>
          <p:cNvPr id="7" name="ins_21"/>
          <p:cNvSpPr/>
          <p:nvPr/>
        </p:nvSpPr>
        <p:spPr>
          <a:xfrm>
            <a:off x="1353312" y="731520"/>
            <a:ext cx="500176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Can you remember? Say it – then use it in a sentence!</a:t>
            </a:r>
            <a:endParaRPr lang="en-US" sz="1250" dirty="0"/>
          </a:p>
        </p:txBody>
      </p:sp>
      <p:sp>
        <p:nvSpPr>
          <p:cNvPr id="8" name="insIT_22"/>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Ti ricordi? Dillo – poi usalo in una frase!</a:t>
            </a:r>
            <a:endParaRPr lang="en-US" sz="950" dirty="0"/>
          </a:p>
        </p:txBody>
      </p:sp>
      <p:sp>
        <p:nvSpPr>
          <p:cNvPr id="9" name="note_23"/>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THINK</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TALK</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3 min   👥 pairs</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Revision · Retrieval</a:t>
            </a:r>
            <a:endParaRPr lang="en-US" sz="1150" dirty="0"/>
          </a:p>
        </p:txBody>
      </p:sp>
      <p:pic>
        <p:nvPicPr>
          <p:cNvPr id="10" name="logo_24"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25"/>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R5-6 · Revision · Files 5 &amp; 6</a:t>
            </a:r>
            <a:endParaRPr lang="en-US" sz="800" dirty="0"/>
          </a:p>
        </p:txBody>
      </p:sp>
      <p:sp>
        <p:nvSpPr>
          <p:cNvPr id="12" name="pf_26"/>
          <p:cNvSpPr/>
          <p:nvPr/>
        </p:nvSpPr>
        <p:spPr>
          <a:xfrm rot="-120000">
            <a:off x="365760" y="1870544"/>
            <a:ext cx="2651760" cy="648031"/>
          </a:xfrm>
          <a:prstGeom prst="roundRect">
            <a:avLst>
              <a:gd name="adj" fmla="val 23988"/>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3" name="ph_27" descr="/home/claude/lls-course/v2/cache/r56_people_jpg_616x134_31.png">    </p:cNvPr>
          <p:cNvPicPr>
            <a:picLocks noChangeAspect="1"/>
          </p:cNvPicPr>
          <p:nvPr/>
        </p:nvPicPr>
        <p:blipFill>
          <a:blip r:embed="rId5"/>
          <a:stretch>
            <a:fillRect/>
          </a:stretch>
        </p:blipFill>
        <p:spPr>
          <a:xfrm rot="-120000">
            <a:off x="411480" y="1916264"/>
            <a:ext cx="2560320" cy="556591"/>
          </a:xfrm>
          <a:prstGeom prst="rect">
            <a:avLst/>
          </a:prstGeom>
        </p:spPr>
      </p:pic>
      <p:sp>
        <p:nvSpPr>
          <p:cNvPr id="14" name="cd_28"/>
          <p:cNvSpPr/>
          <p:nvPr/>
        </p:nvSpPr>
        <p:spPr>
          <a:xfrm>
            <a:off x="320040" y="3200400"/>
            <a:ext cx="2743200" cy="1402080"/>
          </a:xfrm>
          <a:prstGeom prst="roundRect">
            <a:avLst>
              <a:gd name="adj" fmla="val 9130"/>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5" name="ii_29"/>
          <p:cNvSpPr/>
          <p:nvPr/>
        </p:nvSpPr>
        <p:spPr>
          <a:xfrm>
            <a:off x="411480" y="327355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6" name="ih_30"/>
          <p:cNvSpPr/>
          <p:nvPr/>
        </p:nvSpPr>
        <p:spPr>
          <a:xfrm>
            <a:off x="886968" y="3291840"/>
            <a:ext cx="210312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Last lesson…</a:t>
            </a:r>
            <a:endParaRPr lang="en-US" sz="1300" dirty="0"/>
          </a:p>
        </p:txBody>
      </p:sp>
      <p:sp>
        <p:nvSpPr>
          <p:cNvPr id="17" name="il_31"/>
          <p:cNvSpPr/>
          <p:nvPr/>
        </p:nvSpPr>
        <p:spPr>
          <a:xfrm>
            <a:off x="886968" y="3694176"/>
            <a:ext cx="2084832" cy="835152"/>
          </a:xfrm>
          <a:prstGeom prst="rect">
            <a:avLst/>
          </a:prstGeom>
          <a:noFill/>
          <a:ln/>
        </p:spPr>
        <p:txBody>
          <a:bodyPr wrap="square" lIns="0" tIns="0" rIns="0" bIns="0" rtlCol="0" anchor="t">
            <a:normAutofit/>
          </a:bodyPr>
          <a:lstStyle/>
          <a:p>
            <a:pPr marL="152400" indent="-152400">
              <a:spcAft>
                <a:spcPts val="200"/>
              </a:spcAft>
              <a:buSzPct val="100000"/>
              <a:buChar char="•"/>
            </a:pPr>
            <a:r>
              <a:rPr lang="en-US" sz="1100" dirty="0">
                <a:solidFill>
                  <a:srgbClr val="1B2559"/>
                </a:solidFill>
                <a:latin typeface="Segoe UI Semibold" pitchFamily="34" charset="0"/>
                <a:ea typeface="Segoe UI Semibold" pitchFamily="34" charset="-122"/>
                <a:cs typeface="Segoe UI Semibold" pitchFamily="34" charset="-120"/>
              </a:rPr>
              <a:t>Files 5 &amp; 6</a:t>
            </a:r>
            <a:endParaRPr lang="en-US" sz="1100" dirty="0"/>
          </a:p>
          <a:p>
            <a:pPr marL="152400" indent="-152400">
              <a:spcBef>
                <a:spcPts val="600"/>
              </a:spcBef>
              <a:spcAft>
                <a:spcPts val="200"/>
              </a:spcAft>
              <a:buSzPct val="100000"/>
              <a:buChar char="•"/>
            </a:pPr>
            <a:r>
              <a:rPr lang="en-US" sz="1100" dirty="0">
                <a:solidFill>
                  <a:srgbClr val="1B2559"/>
                </a:solidFill>
                <a:latin typeface="Segoe UI Semibold" pitchFamily="34" charset="0"/>
                <a:ea typeface="Segoe UI Semibold" pitchFamily="34" charset="-122"/>
                <a:cs typeface="Segoe UI Semibold" pitchFamily="34" charset="-120"/>
              </a:rPr>
              <a:t>sport · relationships · cinema · the body</a:t>
            </a:r>
            <a:endParaRPr lang="en-US" sz="1100" dirty="0"/>
          </a:p>
        </p:txBody>
      </p:sp>
      <p:sp>
        <p:nvSpPr>
          <p:cNvPr id="18" name="kw_32"/>
          <p:cNvSpPr/>
          <p:nvPr/>
        </p:nvSpPr>
        <p:spPr>
          <a:xfrm>
            <a:off x="3246120" y="1417320"/>
            <a:ext cx="5623560" cy="292608"/>
          </a:xfrm>
          <a:prstGeom prst="rect">
            <a:avLst/>
          </a:prstGeom>
          <a:noFill/>
          <a:ln/>
        </p:spPr>
        <p:txBody>
          <a:bodyPr wrap="square" lIns="0" tIns="0" rIns="0" bIns="0" rtlCol="0" anchor="ct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 Can you remember these words? What do they mean?</a:t>
            </a:r>
            <a:endParaRPr lang="en-US" sz="1200" dirty="0"/>
          </a:p>
        </p:txBody>
      </p:sp>
      <p:sp>
        <p:nvSpPr>
          <p:cNvPr id="19" name="w_33"/>
          <p:cNvSpPr/>
          <p:nvPr/>
        </p:nvSpPr>
        <p:spPr>
          <a:xfrm>
            <a:off x="3246120" y="1783080"/>
            <a:ext cx="1019556" cy="347472"/>
          </a:xfrm>
          <a:prstGeom prst="roundRect">
            <a:avLst>
              <a:gd name="adj" fmla="val 50000"/>
            </a:avLst>
          </a:prstGeom>
          <a:solidFill>
            <a:srgbClr val="FFE3EE"/>
          </a:solidFill>
          <a:ln w="28575">
            <a:solidFill>
              <a:srgbClr val="F7A6C4"/>
            </a:solidFill>
          </a:ln>
        </p:spPr>
        <p:txBody>
          <a:bodyPr wrap="square" lIns="0" tIns="0" rIns="0" bIns="0" rtlCol="0" anchor="ctr"/>
          <a:lstStyle/>
          <a:p>
            <a:pPr algn="ctr" indent="0" marL="0">
              <a:buNone/>
            </a:pPr>
            <a:r>
              <a:rPr lang="en-US" sz="1200" dirty="0">
                <a:solidFill>
                  <a:srgbClr val="1B2559"/>
                </a:solidFill>
                <a:latin typeface="Segoe UI Semibold" pitchFamily="34" charset="0"/>
                <a:ea typeface="Segoe UI Semibold" pitchFamily="34" charset="-122"/>
                <a:cs typeface="Segoe UI Semibold" pitchFamily="34" charset="-120"/>
              </a:rPr>
              <a:t>referee</a:t>
            </a:r>
            <a:endParaRPr lang="en-US" sz="1200" dirty="0"/>
          </a:p>
        </p:txBody>
      </p:sp>
      <p:sp>
        <p:nvSpPr>
          <p:cNvPr id="20" name="w_34"/>
          <p:cNvSpPr/>
          <p:nvPr/>
        </p:nvSpPr>
        <p:spPr>
          <a:xfrm>
            <a:off x="4357116" y="1783080"/>
            <a:ext cx="1280160" cy="347472"/>
          </a:xfrm>
          <a:prstGeom prst="roundRect">
            <a:avLst>
              <a:gd name="adj" fmla="val 50000"/>
            </a:avLst>
          </a:prstGeom>
          <a:solidFill>
            <a:srgbClr val="E3F1FD"/>
          </a:solidFill>
          <a:ln w="28575">
            <a:solidFill>
              <a:srgbClr val="A9D3F5"/>
            </a:solidFill>
          </a:ln>
        </p:spPr>
        <p:txBody>
          <a:bodyPr wrap="square" lIns="0" tIns="0" rIns="0" bIns="0" rtlCol="0" anchor="ctr"/>
          <a:lstStyle/>
          <a:p>
            <a:pPr algn="ctr" indent="0" marL="0">
              <a:buNone/>
            </a:pPr>
            <a:r>
              <a:rPr lang="en-US" sz="1200" dirty="0">
                <a:solidFill>
                  <a:srgbClr val="1B2559"/>
                </a:solidFill>
                <a:latin typeface="Segoe UI Semibold" pitchFamily="34" charset="0"/>
                <a:ea typeface="Segoe UI Semibold" pitchFamily="34" charset="-122"/>
                <a:cs typeface="Segoe UI Semibold" pitchFamily="34" charset="-120"/>
              </a:rPr>
              <a:t>spectators</a:t>
            </a:r>
            <a:endParaRPr lang="en-US" sz="1200" dirty="0"/>
          </a:p>
        </p:txBody>
      </p:sp>
      <p:sp>
        <p:nvSpPr>
          <p:cNvPr id="21" name="w_35"/>
          <p:cNvSpPr/>
          <p:nvPr/>
        </p:nvSpPr>
        <p:spPr>
          <a:xfrm>
            <a:off x="5728716" y="1783080"/>
            <a:ext cx="1367028" cy="347472"/>
          </a:xfrm>
          <a:prstGeom prst="roundRect">
            <a:avLst>
              <a:gd name="adj" fmla="val 50000"/>
            </a:avLst>
          </a:prstGeom>
          <a:solidFill>
            <a:srgbClr val="E3F7EA"/>
          </a:solidFill>
          <a:ln w="28575">
            <a:solidFill>
              <a:srgbClr val="A8E5BE"/>
            </a:solidFill>
          </a:ln>
        </p:spPr>
        <p:txBody>
          <a:bodyPr wrap="square" lIns="0" tIns="0" rIns="0" bIns="0" rtlCol="0" anchor="ctr"/>
          <a:lstStyle/>
          <a:p>
            <a:pPr algn="ctr" indent="0" marL="0">
              <a:buNone/>
            </a:pPr>
            <a:r>
              <a:rPr lang="en-US" sz="1200" dirty="0">
                <a:solidFill>
                  <a:srgbClr val="1B2559"/>
                </a:solidFill>
                <a:latin typeface="Segoe UI Semibold" pitchFamily="34" charset="0"/>
                <a:ea typeface="Segoe UI Semibold" pitchFamily="34" charset="-122"/>
                <a:cs typeface="Segoe UI Semibold" pitchFamily="34" charset="-120"/>
              </a:rPr>
              <a:t>get injured</a:t>
            </a:r>
            <a:endParaRPr lang="en-US" sz="1200" dirty="0"/>
          </a:p>
        </p:txBody>
      </p:sp>
      <p:sp>
        <p:nvSpPr>
          <p:cNvPr id="22" name="w_36"/>
          <p:cNvSpPr/>
          <p:nvPr/>
        </p:nvSpPr>
        <p:spPr>
          <a:xfrm>
            <a:off x="7187184" y="1783080"/>
            <a:ext cx="1280160" cy="347472"/>
          </a:xfrm>
          <a:prstGeom prst="roundRect">
            <a:avLst>
              <a:gd name="adj" fmla="val 50000"/>
            </a:avLst>
          </a:prstGeom>
          <a:solidFill>
            <a:srgbClr val="FFF6CC"/>
          </a:solidFill>
          <a:ln w="28575">
            <a:solidFill>
              <a:srgbClr val="FFE07A"/>
            </a:solidFill>
          </a:ln>
        </p:spPr>
        <p:txBody>
          <a:bodyPr wrap="square" lIns="0" tIns="0" rIns="0" bIns="0" rtlCol="0" anchor="ctr"/>
          <a:lstStyle/>
          <a:p>
            <a:pPr algn="ctr" indent="0" marL="0">
              <a:buNone/>
            </a:pPr>
            <a:r>
              <a:rPr lang="en-US" sz="1200" dirty="0">
                <a:solidFill>
                  <a:srgbClr val="1B2559"/>
                </a:solidFill>
                <a:latin typeface="Segoe UI Semibold" pitchFamily="34" charset="0"/>
                <a:ea typeface="Segoe UI Semibold" pitchFamily="34" charset="-122"/>
                <a:cs typeface="Segoe UI Semibold" pitchFamily="34" charset="-120"/>
              </a:rPr>
              <a:t>lose touch</a:t>
            </a:r>
            <a:endParaRPr lang="en-US" sz="1200" dirty="0"/>
          </a:p>
        </p:txBody>
      </p:sp>
      <p:sp>
        <p:nvSpPr>
          <p:cNvPr id="23" name="w_37"/>
          <p:cNvSpPr/>
          <p:nvPr/>
        </p:nvSpPr>
        <p:spPr>
          <a:xfrm>
            <a:off x="3246120" y="2185416"/>
            <a:ext cx="2148840" cy="347472"/>
          </a:xfrm>
          <a:prstGeom prst="roundRect">
            <a:avLst>
              <a:gd name="adj" fmla="val 50000"/>
            </a:avLst>
          </a:prstGeom>
          <a:solidFill>
            <a:srgbClr val="FFE3EE"/>
          </a:solidFill>
          <a:ln w="28575">
            <a:solidFill>
              <a:srgbClr val="F7A6C4"/>
            </a:solidFill>
          </a:ln>
        </p:spPr>
        <p:txBody>
          <a:bodyPr wrap="square" lIns="0" tIns="0" rIns="0" bIns="0" rtlCol="0" anchor="ctr"/>
          <a:lstStyle/>
          <a:p>
            <a:pPr algn="ctr" indent="0" marL="0">
              <a:buNone/>
            </a:pPr>
            <a:r>
              <a:rPr lang="en-US" sz="1200" dirty="0">
                <a:solidFill>
                  <a:srgbClr val="1B2559"/>
                </a:solidFill>
                <a:latin typeface="Segoe UI Semibold" pitchFamily="34" charset="0"/>
                <a:ea typeface="Segoe UI Semibold" pitchFamily="34" charset="-122"/>
                <a:cs typeface="Segoe UI Semibold" pitchFamily="34" charset="-120"/>
              </a:rPr>
              <a:t>have a lot in common</a:t>
            </a:r>
            <a:endParaRPr lang="en-US" sz="1200" dirty="0"/>
          </a:p>
        </p:txBody>
      </p:sp>
      <p:sp>
        <p:nvSpPr>
          <p:cNvPr id="24" name="w_38"/>
          <p:cNvSpPr/>
          <p:nvPr/>
        </p:nvSpPr>
        <p:spPr>
          <a:xfrm>
            <a:off x="5486400" y="2185416"/>
            <a:ext cx="1280160" cy="347472"/>
          </a:xfrm>
          <a:prstGeom prst="roundRect">
            <a:avLst>
              <a:gd name="adj" fmla="val 50000"/>
            </a:avLst>
          </a:prstGeom>
          <a:solidFill>
            <a:srgbClr val="E3F1FD"/>
          </a:solidFill>
          <a:ln w="28575">
            <a:solidFill>
              <a:srgbClr val="A9D3F5"/>
            </a:solidFill>
          </a:ln>
        </p:spPr>
        <p:txBody>
          <a:bodyPr wrap="square" lIns="0" tIns="0" rIns="0" bIns="0" rtlCol="0" anchor="ctr"/>
          <a:lstStyle/>
          <a:p>
            <a:pPr algn="ctr" indent="0" marL="0">
              <a:buNone/>
            </a:pPr>
            <a:r>
              <a:rPr lang="en-US" sz="1200" dirty="0">
                <a:solidFill>
                  <a:srgbClr val="1B2559"/>
                </a:solidFill>
                <a:latin typeface="Segoe UI Semibold" pitchFamily="34" charset="0"/>
                <a:ea typeface="Segoe UI Semibold" pitchFamily="34" charset="-122"/>
                <a:cs typeface="Segoe UI Semibold" pitchFamily="34" charset="-120"/>
              </a:rPr>
              <a:t>soundtrack</a:t>
            </a:r>
            <a:endParaRPr lang="en-US" sz="1200" dirty="0"/>
          </a:p>
        </p:txBody>
      </p:sp>
      <p:sp>
        <p:nvSpPr>
          <p:cNvPr id="25" name="w_39"/>
          <p:cNvSpPr/>
          <p:nvPr/>
        </p:nvSpPr>
        <p:spPr>
          <a:xfrm>
            <a:off x="6858000" y="2185416"/>
            <a:ext cx="1193292" cy="347472"/>
          </a:xfrm>
          <a:prstGeom prst="roundRect">
            <a:avLst>
              <a:gd name="adj" fmla="val 50000"/>
            </a:avLst>
          </a:prstGeom>
          <a:solidFill>
            <a:srgbClr val="E3F7EA"/>
          </a:solidFill>
          <a:ln w="28575">
            <a:solidFill>
              <a:srgbClr val="A8E5BE"/>
            </a:solidFill>
          </a:ln>
        </p:spPr>
        <p:txBody>
          <a:bodyPr wrap="square" lIns="0" tIns="0" rIns="0" bIns="0" rtlCol="0" anchor="ctr"/>
          <a:lstStyle/>
          <a:p>
            <a:pPr algn="ctr" indent="0" marL="0">
              <a:buNone/>
            </a:pPr>
            <a:r>
              <a:rPr lang="en-US" sz="1200" dirty="0">
                <a:solidFill>
                  <a:srgbClr val="1B2559"/>
                </a:solidFill>
                <a:latin typeface="Segoe UI Semibold" pitchFamily="34" charset="0"/>
                <a:ea typeface="Segoe UI Semibold" pitchFamily="34" charset="-122"/>
                <a:cs typeface="Segoe UI Semibold" pitchFamily="34" charset="-120"/>
              </a:rPr>
              <a:t>subtitles</a:t>
            </a:r>
            <a:endParaRPr lang="en-US" sz="1200" dirty="0"/>
          </a:p>
        </p:txBody>
      </p:sp>
      <p:sp>
        <p:nvSpPr>
          <p:cNvPr id="26" name="w_40"/>
          <p:cNvSpPr/>
          <p:nvPr/>
        </p:nvSpPr>
        <p:spPr>
          <a:xfrm>
            <a:off x="3246120" y="2587752"/>
            <a:ext cx="845820" cy="347472"/>
          </a:xfrm>
          <a:prstGeom prst="roundRect">
            <a:avLst>
              <a:gd name="adj" fmla="val 50000"/>
            </a:avLst>
          </a:prstGeom>
          <a:solidFill>
            <a:srgbClr val="FFF6CC"/>
          </a:solidFill>
          <a:ln w="28575">
            <a:solidFill>
              <a:srgbClr val="FFE07A"/>
            </a:solidFill>
          </a:ln>
        </p:spPr>
        <p:txBody>
          <a:bodyPr wrap="square" lIns="0" tIns="0" rIns="0" bIns="0" rtlCol="0" anchor="ctr"/>
          <a:lstStyle/>
          <a:p>
            <a:pPr algn="ctr" indent="0" marL="0">
              <a:buNone/>
            </a:pPr>
            <a:r>
              <a:rPr lang="en-US" sz="1200" dirty="0">
                <a:solidFill>
                  <a:srgbClr val="1B2559"/>
                </a:solidFill>
                <a:latin typeface="Segoe UI Semibold" pitchFamily="34" charset="0"/>
                <a:ea typeface="Segoe UI Semibold" pitchFamily="34" charset="-122"/>
                <a:cs typeface="Segoe UI Semibold" pitchFamily="34" charset="-120"/>
              </a:rPr>
              <a:t>stare</a:t>
            </a:r>
            <a:endParaRPr lang="en-US" sz="1200" dirty="0"/>
          </a:p>
        </p:txBody>
      </p:sp>
      <p:sp>
        <p:nvSpPr>
          <p:cNvPr id="27" name="lv_41"/>
          <p:cNvSpPr/>
          <p:nvPr/>
        </p:nvSpPr>
        <p:spPr>
          <a:xfrm>
            <a:off x="3246120" y="3044952"/>
            <a:ext cx="1813560" cy="384048"/>
          </a:xfrm>
          <a:prstGeom prst="roundRect">
            <a:avLst>
              <a:gd name="adj" fmla="val 28571"/>
            </a:avLst>
          </a:prstGeom>
          <a:solidFill>
            <a:srgbClr val="FFFFFF"/>
          </a:solidFill>
          <a:ln w="28575">
            <a:solidFill>
              <a:srgbClr val="CDBFF3"/>
            </a:solidFill>
          </a:ln>
        </p:spPr>
        <p:txBody>
          <a:bodyPr wrap="square" lIns="50800" tIns="0" rIns="50800" bIns="0" rtlCol="0" anchor="ctr">
            <a:normAutofit/>
          </a:bodyPr>
          <a:lstStyle/>
          <a:p>
            <a:pPr algn="ctr" indent="0" marL="0">
              <a:buNone/>
            </a:pPr>
            <a:r>
              <a:rPr lang="en-US" sz="1000" dirty="0">
                <a:solidFill>
                  <a:srgbClr val="000000"/>
                </a:solidFill>
              </a:rPr>
              <a:t>⭐ </a:t>
            </a:r>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What does it mean?</a:t>
            </a:r>
            <a:endParaRPr lang="en-US" sz="1000" dirty="0"/>
          </a:p>
        </p:txBody>
      </p:sp>
      <p:sp>
        <p:nvSpPr>
          <p:cNvPr id="28" name="lv_42"/>
          <p:cNvSpPr/>
          <p:nvPr/>
        </p:nvSpPr>
        <p:spPr>
          <a:xfrm>
            <a:off x="5151120" y="3044952"/>
            <a:ext cx="1813560" cy="384048"/>
          </a:xfrm>
          <a:prstGeom prst="roundRect">
            <a:avLst>
              <a:gd name="adj" fmla="val 28571"/>
            </a:avLst>
          </a:prstGeom>
          <a:solidFill>
            <a:srgbClr val="FFFFFF"/>
          </a:solidFill>
          <a:ln w="28575">
            <a:solidFill>
              <a:srgbClr val="CDBFF3"/>
            </a:solidFill>
          </a:ln>
        </p:spPr>
        <p:txBody>
          <a:bodyPr wrap="square" lIns="50800" tIns="0" rIns="50800" bIns="0" rtlCol="0" anchor="ctr">
            <a:normAutofit/>
          </a:bodyPr>
          <a:lstStyle/>
          <a:p>
            <a:pPr algn="ctr" indent="0" marL="0">
              <a:buNone/>
            </a:pPr>
            <a:r>
              <a:rPr lang="en-US" sz="1000" dirty="0">
                <a:solidFill>
                  <a:srgbClr val="000000"/>
                </a:solidFill>
              </a:rPr>
              <a:t>⭐⭐ </a:t>
            </a:r>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Use it in a sentence.</a:t>
            </a:r>
            <a:endParaRPr lang="en-US" sz="1000" dirty="0"/>
          </a:p>
        </p:txBody>
      </p:sp>
      <p:sp>
        <p:nvSpPr>
          <p:cNvPr id="29" name="lv_43"/>
          <p:cNvSpPr/>
          <p:nvPr/>
        </p:nvSpPr>
        <p:spPr>
          <a:xfrm>
            <a:off x="7056120" y="3044952"/>
            <a:ext cx="1813560" cy="384048"/>
          </a:xfrm>
          <a:prstGeom prst="roundRect">
            <a:avLst>
              <a:gd name="adj" fmla="val 28571"/>
            </a:avLst>
          </a:prstGeom>
          <a:solidFill>
            <a:srgbClr val="FFFFFF"/>
          </a:solidFill>
          <a:ln w="28575">
            <a:solidFill>
              <a:srgbClr val="CDBFF3"/>
            </a:solidFill>
          </a:ln>
        </p:spPr>
        <p:txBody>
          <a:bodyPr wrap="square" lIns="50800" tIns="0" rIns="50800" bIns="0" rtlCol="0" anchor="ctr">
            <a:normAutofit/>
          </a:bodyPr>
          <a:lstStyle/>
          <a:p>
            <a:pPr algn="ctr" indent="0" marL="0">
              <a:buNone/>
            </a:pPr>
            <a:r>
              <a:rPr lang="en-US" sz="950" dirty="0">
                <a:solidFill>
                  <a:srgbClr val="000000"/>
                </a:solidFill>
              </a:rPr>
              <a:t>⭐⭐⭐ </a:t>
            </a:r>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Make it negative or a question!</a:t>
            </a:r>
            <a:endParaRPr lang="en-US" sz="950" dirty="0"/>
          </a:p>
        </p:txBody>
      </p:sp>
      <p:sp>
        <p:nvSpPr>
          <p:cNvPr id="30" name="cd_44"/>
          <p:cNvSpPr/>
          <p:nvPr/>
        </p:nvSpPr>
        <p:spPr>
          <a:xfrm>
            <a:off x="3246120" y="3575304"/>
            <a:ext cx="2756916" cy="1179576"/>
          </a:xfrm>
          <a:prstGeom prst="roundRect">
            <a:avLst>
              <a:gd name="adj" fmla="val 10853"/>
            </a:avLst>
          </a:prstGeom>
          <a:solidFill>
            <a:srgbClr val="FFFFFF"/>
          </a:solidFill>
          <a:ln w="28575">
            <a:solidFill>
              <a:srgbClr val="F7A6C4"/>
            </a:solidFill>
            <a:prstDash val="solid"/>
          </a:ln>
          <a:effectLst>
            <a:outerShdw sx="100000" sy="100000" kx="0" ky="0" algn="bl" rotWithShape="0" blurRad="88900" dist="31750" dir="5400000">
              <a:srgbClr val="1B2559">
                <a:alpha val="12000"/>
              </a:srgbClr>
            </a:outerShdw>
          </a:effectLst>
        </p:spPr>
      </p:sp>
      <p:sp>
        <p:nvSpPr>
          <p:cNvPr id="31" name="rh_45"/>
          <p:cNvSpPr/>
          <p:nvPr/>
        </p:nvSpPr>
        <p:spPr>
          <a:xfrm>
            <a:off x="3337560" y="3648456"/>
            <a:ext cx="2574036" cy="310896"/>
          </a:xfrm>
          <a:prstGeom prst="roundRect">
            <a:avLst>
              <a:gd name="adj" fmla="val 50000"/>
            </a:avLst>
          </a:prstGeom>
          <a:solidFill>
            <a:srgbClr val="E8508F"/>
          </a:solidFill>
          <a:ln/>
        </p:spPr>
        <p:txBody>
          <a:bodyPr wrap="square" lIns="0" tIns="0" rIns="0" bIns="0" rtlCol="0" anchor="ctr">
            <a:normAutofit/>
          </a:bodyP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Your turn: </a:t>
            </a:r>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past tenses + used to</a:t>
            </a:r>
            <a:endParaRPr lang="en-US" sz="1100" dirty="0"/>
          </a:p>
        </p:txBody>
      </p:sp>
      <p:sp>
        <p:nvSpPr>
          <p:cNvPr id="32" name="rf_46"/>
          <p:cNvSpPr/>
          <p:nvPr/>
        </p:nvSpPr>
        <p:spPr>
          <a:xfrm>
            <a:off x="3383280" y="3995928"/>
            <a:ext cx="2482596" cy="292608"/>
          </a:xfrm>
          <a:prstGeom prst="rect">
            <a:avLst/>
          </a:prstGeom>
          <a:noFill/>
          <a:ln/>
        </p:spPr>
        <p:txBody>
          <a:bodyPr wrap="square" lIns="0" tIns="0" rIns="0" bIns="0" rtlCol="0" anchor="ctr">
            <a:normAutofit/>
          </a:bodyPr>
          <a:lstStyle/>
          <a:p>
            <a:pPr indent="0" marL="0">
              <a:buNone/>
            </a:pPr>
            <a:r>
              <a:rPr lang="en-US" sz="1050" i="1" dirty="0">
                <a:solidFill>
                  <a:srgbClr val="5B6785"/>
                </a:solidFill>
                <a:latin typeface="Segoe UI Semibold" pitchFamily="34" charset="0"/>
                <a:ea typeface="Segoe UI Semibold" pitchFamily="34" charset="-122"/>
                <a:cs typeface="Segoe UI Semibold" pitchFamily="34" charset="-120"/>
              </a:rPr>
              <a:t>Make a past perfect · a past habits</a:t>
            </a:r>
            <a:endParaRPr lang="en-US" sz="1050" dirty="0"/>
          </a:p>
        </p:txBody>
      </p:sp>
      <p:sp>
        <p:nvSpPr>
          <p:cNvPr id="33" name="R1_rl47"/>
          <p:cNvSpPr/>
          <p:nvPr/>
        </p:nvSpPr>
        <p:spPr>
          <a:xfrm>
            <a:off x="3383280" y="4325112"/>
            <a:ext cx="2482596" cy="356616"/>
          </a:xfrm>
          <a:prstGeom prst="rect">
            <a:avLst/>
          </a:prstGeom>
          <a:solidFill>
            <a:srgbClr val="FFFFFF"/>
          </a:solidFill>
          <a:ln/>
        </p:spPr>
        <p:txBody>
          <a:bodyPr wrap="square" lIns="0" tIns="0" rIns="0" bIns="0" rtlCol="0" anchor="t">
            <a:normAutofit/>
          </a:bodyPr>
          <a:lstStyle/>
          <a:p>
            <a:pPr indent="0" marL="0">
              <a:spcAft>
                <a:spcPts val="300"/>
              </a:spcAft>
              <a:buNone/>
            </a:pPr>
            <a:r>
              <a:rPr lang="en-US" sz="750" dirty="0">
                <a:solidFill>
                  <a:srgbClr val="1B2559"/>
                </a:solidFill>
                <a:latin typeface="Segoe UI Semibold" pitchFamily="34" charset="0"/>
                <a:ea typeface="Segoe UI Semibold" pitchFamily="34" charset="-122"/>
                <a:cs typeface="Segoe UI Semibold" pitchFamily="34" charset="-120"/>
              </a:rPr>
              <a:t>When I arrived, the match </a:t>
            </a:r>
            <a:pPr indent="0" marL="0">
              <a:spcAft>
                <a:spcPts val="300"/>
              </a:spcAft>
              <a:buNone/>
            </a:pPr>
            <a:r>
              <a:rPr lang="en-US" sz="750" b="1" dirty="0">
                <a:solidFill>
                  <a:srgbClr val="E8508F"/>
                </a:solidFill>
                <a:highlight>
                  <a:srgbClr val="FFF1A8"/>
                </a:highlight>
                <a:latin typeface="Segoe UI Semibold" pitchFamily="34" charset="0"/>
                <a:ea typeface="Segoe UI Semibold" pitchFamily="34" charset="-122"/>
                <a:cs typeface="Segoe UI Semibold" pitchFamily="34" charset="-120"/>
              </a:rPr>
              <a:t>had</a:t>
            </a:r>
            <a:pPr indent="0" marL="0">
              <a:spcAft>
                <a:spcPts val="300"/>
              </a:spcAft>
              <a:buNone/>
            </a:pPr>
            <a:r>
              <a:rPr lang="en-US" sz="750" dirty="0">
                <a:solidFill>
                  <a:srgbClr val="1B2559"/>
                </a:solidFill>
                <a:latin typeface="Segoe UI Semibold" pitchFamily="34" charset="0"/>
                <a:ea typeface="Segoe UI Semibold" pitchFamily="34" charset="-122"/>
                <a:cs typeface="Segoe UI Semibold" pitchFamily="34" charset="-120"/>
              </a:rPr>
              <a:t> already </a:t>
            </a:r>
            <a:pPr indent="0" marL="0">
              <a:spcAft>
                <a:spcPts val="300"/>
              </a:spcAft>
              <a:buNone/>
            </a:pPr>
            <a:r>
              <a:rPr lang="en-US" sz="750" b="1" dirty="0">
                <a:solidFill>
                  <a:srgbClr val="E8508F"/>
                </a:solidFill>
                <a:highlight>
                  <a:srgbClr val="FFF1A8"/>
                </a:highlight>
                <a:latin typeface="Segoe UI Semibold" pitchFamily="34" charset="0"/>
                <a:ea typeface="Segoe UI Semibold" pitchFamily="34" charset="-122"/>
                <a:cs typeface="Segoe UI Semibold" pitchFamily="34" charset="-120"/>
              </a:rPr>
              <a:t>started</a:t>
            </a:r>
            <a:pPr indent="0" marL="0">
              <a:spcAft>
                <a:spcPts val="300"/>
              </a:spcAft>
              <a:buNone/>
            </a:pPr>
            <a:r>
              <a:rPr lang="en-US" sz="750" dirty="0">
                <a:solidFill>
                  <a:srgbClr val="1B2559"/>
                </a:solidFill>
                <a:latin typeface="Segoe UI Semibold" pitchFamily="34" charset="0"/>
                <a:ea typeface="Segoe UI Semibold" pitchFamily="34" charset="-122"/>
                <a:cs typeface="Segoe UI Semibold" pitchFamily="34" charset="-120"/>
              </a:rPr>
              <a:t>.</a:t>
            </a:r>
            <a:endParaRPr lang="en-US" sz="750" dirty="0"/>
          </a:p>
          <a:p>
            <a:pPr indent="0" marL="0">
              <a:spcAft>
                <a:spcPts val="300"/>
              </a:spcAft>
              <a:buNone/>
            </a:pPr>
            <a:r>
              <a:rPr lang="en-US" sz="750" dirty="0">
                <a:solidFill>
                  <a:srgbClr val="1B2559"/>
                </a:solidFill>
                <a:latin typeface="Segoe UI Semibold" pitchFamily="34" charset="0"/>
                <a:ea typeface="Segoe UI Semibold" pitchFamily="34" charset="-122"/>
                <a:cs typeface="Segoe UI Semibold" pitchFamily="34" charset="-120"/>
              </a:rPr>
              <a:t>I </a:t>
            </a:r>
            <a:pPr indent="0" marL="0">
              <a:spcAft>
                <a:spcPts val="300"/>
              </a:spcAft>
              <a:buNone/>
            </a:pPr>
            <a:r>
              <a:rPr lang="en-US" sz="750" b="1" dirty="0">
                <a:solidFill>
                  <a:srgbClr val="E8508F"/>
                </a:solidFill>
                <a:highlight>
                  <a:srgbClr val="FFF1A8"/>
                </a:highlight>
                <a:latin typeface="Segoe UI Semibold" pitchFamily="34" charset="0"/>
                <a:ea typeface="Segoe UI Semibold" pitchFamily="34" charset="-122"/>
                <a:cs typeface="Segoe UI Semibold" pitchFamily="34" charset="-120"/>
              </a:rPr>
              <a:t>didn't use to</a:t>
            </a:r>
            <a:pPr indent="0" marL="0">
              <a:spcAft>
                <a:spcPts val="300"/>
              </a:spcAft>
              <a:buNone/>
            </a:pPr>
            <a:r>
              <a:rPr lang="en-US" sz="750" dirty="0">
                <a:solidFill>
                  <a:srgbClr val="1B2559"/>
                </a:solidFill>
                <a:latin typeface="Segoe UI Semibold" pitchFamily="34" charset="0"/>
                <a:ea typeface="Segoe UI Semibold" pitchFamily="34" charset="-122"/>
                <a:cs typeface="Segoe UI Semibold" pitchFamily="34" charset="-120"/>
              </a:rPr>
              <a:t> like vegetables.</a:t>
            </a:r>
            <a:endParaRPr lang="en-US" sz="750" dirty="0"/>
          </a:p>
        </p:txBody>
      </p:sp>
      <p:sp>
        <p:nvSpPr>
          <p:cNvPr id="34" name="cd_48"/>
          <p:cNvSpPr/>
          <p:nvPr/>
        </p:nvSpPr>
        <p:spPr>
          <a:xfrm>
            <a:off x="6112764" y="3575304"/>
            <a:ext cx="2756916" cy="1179576"/>
          </a:xfrm>
          <a:prstGeom prst="roundRect">
            <a:avLst>
              <a:gd name="adj" fmla="val 10853"/>
            </a:avLst>
          </a:prstGeom>
          <a:solidFill>
            <a:srgbClr val="FFFFFF"/>
          </a:solidFill>
          <a:ln w="28575">
            <a:solidFill>
              <a:srgbClr val="A9D3F5"/>
            </a:solidFill>
            <a:prstDash val="solid"/>
          </a:ln>
          <a:effectLst>
            <a:outerShdw sx="100000" sy="100000" kx="0" ky="0" algn="bl" rotWithShape="0" blurRad="88900" dist="31750" dir="5400000">
              <a:srgbClr val="1B2559">
                <a:alpha val="12000"/>
              </a:srgbClr>
            </a:outerShdw>
          </a:effectLst>
        </p:spPr>
      </p:sp>
      <p:sp>
        <p:nvSpPr>
          <p:cNvPr id="35" name="rh_49"/>
          <p:cNvSpPr/>
          <p:nvPr/>
        </p:nvSpPr>
        <p:spPr>
          <a:xfrm>
            <a:off x="6204204" y="3648456"/>
            <a:ext cx="2574036" cy="310896"/>
          </a:xfrm>
          <a:prstGeom prst="roundRect">
            <a:avLst>
              <a:gd name="adj" fmla="val 50000"/>
            </a:avLst>
          </a:prstGeom>
          <a:solidFill>
            <a:srgbClr val="2F8DE4"/>
          </a:solidFill>
          <a:ln/>
        </p:spPr>
        <p:txBody>
          <a:bodyPr wrap="square" lIns="0" tIns="0" rIns="0" bIns="0" rtlCol="0" anchor="ctr">
            <a:normAutofit/>
          </a:bodyP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Your turn: </a:t>
            </a:r>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passive + deduction</a:t>
            </a:r>
            <a:endParaRPr lang="en-US" sz="1100" dirty="0"/>
          </a:p>
        </p:txBody>
      </p:sp>
      <p:sp>
        <p:nvSpPr>
          <p:cNvPr id="36" name="rf_50"/>
          <p:cNvSpPr/>
          <p:nvPr/>
        </p:nvSpPr>
        <p:spPr>
          <a:xfrm>
            <a:off x="6249924" y="3995928"/>
            <a:ext cx="2482596" cy="292608"/>
          </a:xfrm>
          <a:prstGeom prst="rect">
            <a:avLst/>
          </a:prstGeom>
          <a:noFill/>
          <a:ln/>
        </p:spPr>
        <p:txBody>
          <a:bodyPr wrap="square" lIns="0" tIns="0" rIns="0" bIns="0" rtlCol="0" anchor="ctr">
            <a:normAutofit/>
          </a:bodyPr>
          <a:lstStyle/>
          <a:p>
            <a:pPr indent="0" marL="0">
              <a:buNone/>
            </a:pPr>
            <a:r>
              <a:rPr lang="en-US" sz="900" i="1" dirty="0">
                <a:solidFill>
                  <a:srgbClr val="5B6785"/>
                </a:solidFill>
                <a:latin typeface="Segoe UI Semibold" pitchFamily="34" charset="0"/>
                <a:ea typeface="Segoe UI Semibold" pitchFamily="34" charset="-122"/>
                <a:cs typeface="Segoe UI Semibold" pitchFamily="34" charset="-120"/>
              </a:rPr>
              <a:t>Make a passive · a modals of deduction</a:t>
            </a:r>
            <a:endParaRPr lang="en-US" sz="900" dirty="0"/>
          </a:p>
        </p:txBody>
      </p:sp>
      <p:sp>
        <p:nvSpPr>
          <p:cNvPr id="37" name="R2_rl51"/>
          <p:cNvSpPr/>
          <p:nvPr/>
        </p:nvSpPr>
        <p:spPr>
          <a:xfrm>
            <a:off x="6249924" y="4325112"/>
            <a:ext cx="2482596" cy="356616"/>
          </a:xfrm>
          <a:prstGeom prst="rect">
            <a:avLst/>
          </a:prstGeom>
          <a:solidFill>
            <a:srgbClr val="FFFFFF"/>
          </a:solidFill>
          <a:ln/>
        </p:spPr>
        <p:txBody>
          <a:bodyPr wrap="square" lIns="0" tIns="0" rIns="0" bIns="0" rtlCol="0" anchor="t">
            <a:normAutofit/>
          </a:bodyPr>
          <a:lstStyle/>
          <a:p>
            <a:pPr indent="0" marL="0">
              <a:spcAft>
                <a:spcPts val="300"/>
              </a:spcAft>
              <a:buNone/>
            </a:pPr>
            <a:r>
              <a:rPr lang="en-US" sz="750" dirty="0">
                <a:solidFill>
                  <a:srgbClr val="1B2559"/>
                </a:solidFill>
                <a:latin typeface="Segoe UI Semibold" pitchFamily="34" charset="0"/>
                <a:ea typeface="Segoe UI Semibold" pitchFamily="34" charset="-122"/>
                <a:cs typeface="Segoe UI Semibold" pitchFamily="34" charset="-120"/>
              </a:rPr>
              <a:t>Lots of films </a:t>
            </a:r>
            <a:pPr indent="0" marL="0">
              <a:spcAft>
                <a:spcPts val="300"/>
              </a:spcAft>
              <a:buNone/>
            </a:pPr>
            <a:r>
              <a:rPr lang="en-US" sz="750" b="1" dirty="0">
                <a:solidFill>
                  <a:srgbClr val="2F8DE4"/>
                </a:solidFill>
                <a:highlight>
                  <a:srgbClr val="FFF1A8"/>
                </a:highlight>
                <a:latin typeface="Segoe UI Semibold" pitchFamily="34" charset="0"/>
                <a:ea typeface="Segoe UI Semibold" pitchFamily="34" charset="-122"/>
                <a:cs typeface="Segoe UI Semibold" pitchFamily="34" charset="-120"/>
              </a:rPr>
              <a:t>have been shot</a:t>
            </a:r>
            <a:pPr indent="0" marL="0">
              <a:spcAft>
                <a:spcPts val="300"/>
              </a:spcAft>
              <a:buNone/>
            </a:pPr>
            <a:r>
              <a:rPr lang="en-US" sz="750" dirty="0">
                <a:solidFill>
                  <a:srgbClr val="1B2559"/>
                </a:solidFill>
                <a:latin typeface="Segoe UI Semibold" pitchFamily="34" charset="0"/>
                <a:ea typeface="Segoe UI Semibold" pitchFamily="34" charset="-122"/>
                <a:cs typeface="Segoe UI Semibold" pitchFamily="34" charset="-120"/>
              </a:rPr>
              <a:t> in San Francisco.</a:t>
            </a:r>
            <a:endParaRPr lang="en-US" sz="750" dirty="0"/>
          </a:p>
          <a:p>
            <a:pPr indent="0" marL="0">
              <a:spcAft>
                <a:spcPts val="300"/>
              </a:spcAft>
              <a:buNone/>
            </a:pPr>
            <a:r>
              <a:rPr lang="en-US" sz="750" dirty="0">
                <a:solidFill>
                  <a:srgbClr val="1B2559"/>
                </a:solidFill>
                <a:latin typeface="Segoe UI Semibold" pitchFamily="34" charset="0"/>
                <a:ea typeface="Segoe UI Semibold" pitchFamily="34" charset="-122"/>
                <a:cs typeface="Segoe UI Semibold" pitchFamily="34" charset="-120"/>
              </a:rPr>
              <a:t>He </a:t>
            </a:r>
            <a:pPr indent="0" marL="0">
              <a:spcAft>
                <a:spcPts val="300"/>
              </a:spcAft>
              <a:buNone/>
            </a:pPr>
            <a:r>
              <a:rPr lang="en-US" sz="750" b="1" dirty="0">
                <a:solidFill>
                  <a:srgbClr val="2F8DE4"/>
                </a:solidFill>
                <a:highlight>
                  <a:srgbClr val="FFF1A8"/>
                </a:highlight>
                <a:latin typeface="Segoe UI Semibold" pitchFamily="34" charset="0"/>
                <a:ea typeface="Segoe UI Semibold" pitchFamily="34" charset="-122"/>
                <a:cs typeface="Segoe UI Semibold" pitchFamily="34" charset="-120"/>
              </a:rPr>
              <a:t>must be</a:t>
            </a:r>
            <a:pPr indent="0" marL="0">
              <a:spcAft>
                <a:spcPts val="300"/>
              </a:spcAft>
              <a:buNone/>
            </a:pPr>
            <a:r>
              <a:rPr lang="en-US" sz="750" dirty="0">
                <a:solidFill>
                  <a:srgbClr val="1B2559"/>
                </a:solidFill>
                <a:latin typeface="Segoe UI Semibold" pitchFamily="34" charset="0"/>
                <a:ea typeface="Segoe UI Semibold" pitchFamily="34" charset="-122"/>
                <a:cs typeface="Segoe UI Semibold" pitchFamily="34" charset="-120"/>
              </a:rPr>
              <a:t> in his thirties.</a:t>
            </a:r>
            <a:endParaRPr lang="en-US" sz="7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400"/>
                                        <p:tgtEl>
                                          <p:spTgt spid="3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7"/>
                                        </p:tgtEl>
                                        <p:attrNameLst>
                                          <p:attrName>style.visibility</p:attrName>
                                        </p:attrNameLst>
                                      </p:cBhvr>
                                      <p:to>
                                        <p:strVal val="visible"/>
                                      </p:to>
                                    </p:set>
                                    <p:animEffect transition="in" filter="fade">
                                      <p:cBhvr>
                                        <p:cTn id="12" dur="4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52"/>
          <p:cNvSpPr/>
          <p:nvPr/>
        </p:nvSpPr>
        <p:spPr>
          <a:xfrm>
            <a:off x="201168" y="164592"/>
            <a:ext cx="841248" cy="841248"/>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3</a:t>
            </a:r>
            <a:endParaRPr lang="en-US" sz="2800" dirty="0"/>
          </a:p>
        </p:txBody>
      </p:sp>
      <p:pic>
        <p:nvPicPr>
          <p:cNvPr id="4" name="brY_53" descr="/home/claude/lls-course/v2/assets/brush-yellow.png">    </p:cNvPr>
          <p:cNvPicPr>
            <a:picLocks noChangeAspect="1"/>
          </p:cNvPicPr>
          <p:nvPr/>
        </p:nvPicPr>
        <p:blipFill>
          <a:blip r:embed="rId2"/>
          <a:stretch>
            <a:fillRect/>
          </a:stretch>
        </p:blipFill>
        <p:spPr>
          <a:xfrm>
            <a:off x="1097280" y="146304"/>
            <a:ext cx="3247949" cy="621792"/>
          </a:xfrm>
          <a:prstGeom prst="rect">
            <a:avLst/>
          </a:prstGeom>
        </p:spPr>
      </p:pic>
      <p:sp>
        <p:nvSpPr>
          <p:cNvPr id="5" name="title_54"/>
          <p:cNvSpPr/>
          <p:nvPr/>
        </p:nvSpPr>
        <p:spPr>
          <a:xfrm>
            <a:off x="1261872" y="164592"/>
            <a:ext cx="2973629"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Grammar test (1)</a:t>
            </a:r>
            <a:endParaRPr lang="en-US" sz="2500" dirty="0"/>
          </a:p>
        </p:txBody>
      </p:sp>
      <p:pic>
        <p:nvPicPr>
          <p:cNvPr id="6" name="brP_55" descr="/home/claude/lls-course/v2/assets/brush-pink.png">    </p:cNvPr>
          <p:cNvPicPr>
            <a:picLocks noChangeAspect="1"/>
          </p:cNvPicPr>
          <p:nvPr/>
        </p:nvPicPr>
        <p:blipFill>
          <a:blip r:embed="rId3"/>
          <a:stretch>
            <a:fillRect/>
          </a:stretch>
        </p:blipFill>
        <p:spPr>
          <a:xfrm>
            <a:off x="1207008" y="731520"/>
            <a:ext cx="4814316" cy="402336"/>
          </a:xfrm>
          <a:prstGeom prst="rect">
            <a:avLst/>
          </a:prstGeom>
        </p:spPr>
      </p:pic>
      <p:sp>
        <p:nvSpPr>
          <p:cNvPr id="7" name="ins_56"/>
          <p:cNvSpPr/>
          <p:nvPr/>
        </p:nvSpPr>
        <p:spPr>
          <a:xfrm>
            <a:off x="1353312" y="731520"/>
            <a:ext cx="4558284"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Mini-test! Choose a, b or c. Alone – 5 minutes.</a:t>
            </a:r>
            <a:endParaRPr lang="en-US" sz="1250" dirty="0"/>
          </a:p>
        </p:txBody>
      </p:sp>
      <p:sp>
        <p:nvSpPr>
          <p:cNvPr id="8" name="insIT_57"/>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Mini-test! Scegli a, b o c. Da soli – 5 minuti.</a:t>
            </a:r>
            <a:endParaRPr lang="en-US" sz="950" dirty="0"/>
          </a:p>
        </p:txBody>
      </p:sp>
      <p:sp>
        <p:nvSpPr>
          <p:cNvPr id="9" name="note_58"/>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FILL THE GAPS</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CHECK</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5 min   👤 alone</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Grammar · TPRS · reading</a:t>
            </a:r>
            <a:endParaRPr lang="en-US" sz="1150" dirty="0"/>
          </a:p>
        </p:txBody>
      </p:sp>
      <p:pic>
        <p:nvPicPr>
          <p:cNvPr id="10" name="logo_59"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60"/>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R5-6 · Grammar · SB p.64 · 1–8   ·   📖 SB p.64 · Grammar 1–8 (TG key)</a:t>
            </a:r>
            <a:endParaRPr lang="en-US" sz="800" dirty="0"/>
          </a:p>
        </p:txBody>
      </p:sp>
      <p:sp>
        <p:nvSpPr>
          <p:cNvPr id="12" name="cd_61"/>
          <p:cNvSpPr/>
          <p:nvPr/>
        </p:nvSpPr>
        <p:spPr>
          <a:xfrm>
            <a:off x="320040" y="1417320"/>
            <a:ext cx="5715000" cy="3337560"/>
          </a:xfrm>
          <a:prstGeom prst="roundRect">
            <a:avLst>
              <a:gd name="adj" fmla="val 3836"/>
            </a:avLst>
          </a:prstGeom>
          <a:solidFill>
            <a:srgbClr val="FFFFFF"/>
          </a:solidFill>
          <a:ln w="28575">
            <a:solidFill>
              <a:srgbClr val="A8E5BE"/>
            </a:solidFill>
            <a:prstDash val="solid"/>
          </a:ln>
          <a:effectLst>
            <a:outerShdw sx="100000" sy="100000" kx="0" ky="0" algn="bl" rotWithShape="0" blurRad="88900" dist="31750" dir="5400000">
              <a:srgbClr val="1B2559">
                <a:alpha val="12000"/>
              </a:srgbClr>
            </a:outerShdw>
          </a:effectLst>
        </p:spPr>
      </p:sp>
      <p:sp>
        <p:nvSpPr>
          <p:cNvPr id="13" name="sh_62"/>
          <p:cNvSpPr/>
          <p:nvPr/>
        </p:nvSpPr>
        <p:spPr>
          <a:xfrm>
            <a:off x="320040" y="1417320"/>
            <a:ext cx="5715000" cy="438912"/>
          </a:xfrm>
          <a:prstGeom prst="rect">
            <a:avLst/>
          </a:prstGeom>
          <a:solidFill>
            <a:srgbClr val="E3F7EA"/>
          </a:solidFill>
          <a:ln/>
        </p:spPr>
        <p:txBody>
          <a:bodyPr wrap="square" lIns="203200" tIns="0" rIns="203200" bIns="0" rtlCol="0" anchor="ctr"/>
          <a:lstStyle/>
          <a:p>
            <a:pPr indent="0" marL="0">
              <a:buNone/>
            </a:pPr>
            <a:r>
              <a:rPr lang="en-US" sz="1700" b="1" dirty="0">
                <a:solidFill>
                  <a:srgbClr val="1F6F43"/>
                </a:solidFill>
                <a:latin typeface="Georgia" pitchFamily="34" charset="0"/>
                <a:ea typeface="Georgia" pitchFamily="34" charset="-122"/>
                <a:cs typeface="Georgia" pitchFamily="34" charset="-120"/>
              </a:rPr>
              <a:t>Circle a, b or c</a:t>
            </a:r>
            <a:endParaRPr lang="en-US" sz="1700" dirty="0"/>
          </a:p>
        </p:txBody>
      </p:sp>
      <p:sp>
        <p:nvSpPr>
          <p:cNvPr id="14" name="ln_63"/>
          <p:cNvSpPr/>
          <p:nvPr/>
        </p:nvSpPr>
        <p:spPr>
          <a:xfrm>
            <a:off x="548640" y="1920240"/>
            <a:ext cx="5349240" cy="282761"/>
          </a:xfrm>
          <a:prstGeom prst="rect">
            <a:avLst/>
          </a:prstGeom>
          <a:noFill/>
          <a:ln/>
        </p:spPr>
        <p:txBody>
          <a:bodyPr wrap="square" lIns="0" tIns="0" rIns="0" bIns="0" rtlCol="0" anchor="t"/>
          <a:lstStyle/>
          <a:p>
            <a:pPr indent="0" marL="0">
              <a:buNone/>
            </a:pPr>
            <a:r>
              <a:rPr lang="en-US" sz="850" dirty="0">
                <a:solidFill>
                  <a:srgbClr val="1B2559"/>
                </a:solidFill>
                <a:latin typeface="Georgia" pitchFamily="34" charset="0"/>
                <a:ea typeface="Georgia" pitchFamily="34" charset="-122"/>
                <a:cs typeface="Georgia" pitchFamily="34" charset="-120"/>
              </a:rPr>
              <a:t>1  Elliot served, but the ball </a:t>
            </a:r>
            <a:pPr indent="0" marL="0">
              <a:buNone/>
            </a:pPr>
            <a:r>
              <a:rPr lang="en-US" sz="850" b="1" dirty="0">
                <a:solidFill>
                  <a:srgbClr val="2EB872"/>
                </a:solidFill>
                <a:latin typeface="Georgia" pitchFamily="34" charset="0"/>
                <a:ea typeface="Georgia" pitchFamily="34" charset="-122"/>
                <a:cs typeface="Georgia" pitchFamily="34" charset="-120"/>
              </a:rPr>
              <a:t> (1) ________ </a:t>
            </a:r>
            <a:pPr indent="0" marL="0">
              <a:buNone/>
            </a:pPr>
            <a:r>
              <a:rPr lang="en-US" sz="850" dirty="0">
                <a:solidFill>
                  <a:srgbClr val="1B2559"/>
                </a:solidFill>
                <a:latin typeface="Georgia" pitchFamily="34" charset="0"/>
                <a:ea typeface="Georgia" pitchFamily="34" charset="-122"/>
                <a:cs typeface="Georgia" pitchFamily="34" charset="-120"/>
              </a:rPr>
              <a:t> into the net.  (a went · b was going · c </a:t>
            </a:r>
            <a:pPr indent="0" marL="0">
              <a:buNone/>
            </a:pPr>
            <a:r>
              <a:rPr lang="en-US" sz="850" b="1" u="sng" dirty="0">
                <a:solidFill>
                  <a:srgbClr val="7B5CD6"/>
                </a:solidFill>
                <a:latin typeface="Georgia" pitchFamily="34" charset="0"/>
                <a:ea typeface="Georgia" pitchFamily="34" charset="-122"/>
                <a:cs typeface="Georgia" pitchFamily="34" charset="-120"/>
              </a:rPr>
              <a:t>had gone</a:t>
            </a:r>
            <a:pPr indent="0" marL="0">
              <a:buNone/>
            </a:pPr>
            <a:r>
              <a:rPr lang="en-US" sz="850" dirty="0">
                <a:solidFill>
                  <a:srgbClr val="1B2559"/>
                </a:solidFill>
                <a:latin typeface="Georgia" pitchFamily="34" charset="0"/>
                <a:ea typeface="Georgia" pitchFamily="34" charset="-122"/>
                <a:cs typeface="Georgia" pitchFamily="34" charset="-120"/>
              </a:rPr>
              <a:t>)</a:t>
            </a:r>
            <a:endParaRPr lang="en-US" sz="850" dirty="0"/>
          </a:p>
        </p:txBody>
      </p:sp>
      <p:sp>
        <p:nvSpPr>
          <p:cNvPr id="15" name="R1_lnA64"/>
          <p:cNvSpPr/>
          <p:nvPr/>
        </p:nvSpPr>
        <p:spPr>
          <a:xfrm>
            <a:off x="548640" y="1920240"/>
            <a:ext cx="5349240" cy="282761"/>
          </a:xfrm>
          <a:prstGeom prst="rect">
            <a:avLst/>
          </a:prstGeom>
          <a:solidFill>
            <a:srgbClr val="FFFFFF"/>
          </a:solidFill>
          <a:ln/>
        </p:spPr>
        <p:txBody>
          <a:bodyPr wrap="square" lIns="0" tIns="0" rIns="0" bIns="0" rtlCol="0" anchor="t"/>
          <a:lstStyle/>
          <a:p>
            <a:pPr indent="0" marL="0">
              <a:buNone/>
            </a:pPr>
            <a:r>
              <a:rPr lang="en-US" sz="850" dirty="0">
                <a:solidFill>
                  <a:srgbClr val="1B2559"/>
                </a:solidFill>
                <a:latin typeface="Georgia" pitchFamily="34" charset="0"/>
                <a:ea typeface="Georgia" pitchFamily="34" charset="-122"/>
                <a:cs typeface="Georgia" pitchFamily="34" charset="-120"/>
              </a:rPr>
              <a:t>1  Elliot served, but the ball </a:t>
            </a:r>
            <a:pPr indent="0" marL="0">
              <a:buNone/>
            </a:pPr>
            <a:r>
              <a:rPr lang="en-US" sz="850" b="1" dirty="0">
                <a:solidFill>
                  <a:srgbClr val="1B2559"/>
                </a:solidFill>
                <a:highlight>
                  <a:srgbClr val="FFE066"/>
                </a:highlight>
                <a:latin typeface="Georgia" pitchFamily="34" charset="0"/>
                <a:ea typeface="Georgia" pitchFamily="34" charset="-122"/>
                <a:cs typeface="Georgia" pitchFamily="34" charset="-120"/>
              </a:rPr>
              <a:t>a  went</a:t>
            </a:r>
            <a:pPr indent="0" marL="0">
              <a:buNone/>
            </a:pPr>
            <a:r>
              <a:rPr lang="en-US" sz="850" dirty="0">
                <a:solidFill>
                  <a:srgbClr val="1B2559"/>
                </a:solidFill>
                <a:latin typeface="Georgia" pitchFamily="34" charset="0"/>
                <a:ea typeface="Georgia" pitchFamily="34" charset="-122"/>
                <a:cs typeface="Georgia" pitchFamily="34" charset="-120"/>
              </a:rPr>
              <a:t> into the net.  (a went · b was going · c </a:t>
            </a:r>
            <a:pPr indent="0" marL="0">
              <a:buNone/>
            </a:pPr>
            <a:r>
              <a:rPr lang="en-US" sz="850" b="1" u="sng" dirty="0">
                <a:solidFill>
                  <a:srgbClr val="7B5CD6"/>
                </a:solidFill>
                <a:latin typeface="Georgia" pitchFamily="34" charset="0"/>
                <a:ea typeface="Georgia" pitchFamily="34" charset="-122"/>
                <a:cs typeface="Georgia" pitchFamily="34" charset="-120"/>
              </a:rPr>
              <a:t>had gone</a:t>
            </a:r>
            <a:pPr indent="0" marL="0">
              <a:buNone/>
            </a:pPr>
            <a:r>
              <a:rPr lang="en-US" sz="850" dirty="0">
                <a:solidFill>
                  <a:srgbClr val="1B2559"/>
                </a:solidFill>
                <a:latin typeface="Georgia" pitchFamily="34" charset="0"/>
                <a:ea typeface="Georgia" pitchFamily="34" charset="-122"/>
                <a:cs typeface="Georgia" pitchFamily="34" charset="-120"/>
              </a:rPr>
              <a:t>)</a:t>
            </a:r>
            <a:endParaRPr lang="en-US" sz="850" dirty="0"/>
          </a:p>
        </p:txBody>
      </p:sp>
      <p:sp>
        <p:nvSpPr>
          <p:cNvPr id="16" name="ln_65"/>
          <p:cNvSpPr/>
          <p:nvPr/>
        </p:nvSpPr>
        <p:spPr>
          <a:xfrm>
            <a:off x="548640" y="2203001"/>
            <a:ext cx="5349240" cy="339314"/>
          </a:xfrm>
          <a:prstGeom prst="rect">
            <a:avLst/>
          </a:prstGeom>
          <a:noFill/>
          <a:ln/>
        </p:spPr>
        <p:txBody>
          <a:bodyPr wrap="square" lIns="0" tIns="0" rIns="0" bIns="0" rtlCol="0" anchor="t"/>
          <a:lstStyle/>
          <a:p>
            <a:pPr indent="0" marL="0">
              <a:buNone/>
            </a:pPr>
            <a:r>
              <a:rPr lang="en-US" sz="850" dirty="0">
                <a:solidFill>
                  <a:srgbClr val="1B2559"/>
                </a:solidFill>
                <a:latin typeface="Georgia" pitchFamily="34" charset="0"/>
                <a:ea typeface="Georgia" pitchFamily="34" charset="-122"/>
                <a:cs typeface="Georgia" pitchFamily="34" charset="-120"/>
              </a:rPr>
              <a:t>2  The athlete fell when she </a:t>
            </a:r>
            <a:pPr indent="0" marL="0">
              <a:buNone/>
            </a:pPr>
            <a:r>
              <a:rPr lang="en-US" sz="850" b="1" dirty="0">
                <a:solidFill>
                  <a:srgbClr val="2EB872"/>
                </a:solidFill>
                <a:latin typeface="Georgia" pitchFamily="34" charset="0"/>
                <a:ea typeface="Georgia" pitchFamily="34" charset="-122"/>
                <a:cs typeface="Georgia" pitchFamily="34" charset="-120"/>
              </a:rPr>
              <a:t> (2) ________ </a:t>
            </a:r>
            <a:pPr indent="0" marL="0">
              <a:buNone/>
            </a:pPr>
            <a:r>
              <a:rPr lang="en-US" sz="850" dirty="0">
                <a:solidFill>
                  <a:srgbClr val="1B2559"/>
                </a:solidFill>
                <a:latin typeface="Georgia" pitchFamily="34" charset="0"/>
                <a:ea typeface="Georgia" pitchFamily="34" charset="-122"/>
                <a:cs typeface="Georgia" pitchFamily="34" charset="-120"/>
              </a:rPr>
              <a:t> towards the finishing line.  (a run · b was running · c </a:t>
            </a:r>
            <a:pPr indent="0" marL="0">
              <a:buNone/>
            </a:pPr>
            <a:r>
              <a:rPr lang="en-US" sz="850" b="1" u="sng" dirty="0">
                <a:solidFill>
                  <a:srgbClr val="7B5CD6"/>
                </a:solidFill>
                <a:latin typeface="Georgia" pitchFamily="34" charset="0"/>
                <a:ea typeface="Georgia" pitchFamily="34" charset="-122"/>
                <a:cs typeface="Georgia" pitchFamily="34" charset="-120"/>
              </a:rPr>
              <a:t>had run</a:t>
            </a:r>
            <a:pPr indent="0" marL="0">
              <a:buNone/>
            </a:pPr>
            <a:r>
              <a:rPr lang="en-US" sz="850" dirty="0">
                <a:solidFill>
                  <a:srgbClr val="1B2559"/>
                </a:solidFill>
                <a:latin typeface="Georgia" pitchFamily="34" charset="0"/>
                <a:ea typeface="Georgia" pitchFamily="34" charset="-122"/>
                <a:cs typeface="Georgia" pitchFamily="34" charset="-120"/>
              </a:rPr>
              <a:t>)</a:t>
            </a:r>
            <a:endParaRPr lang="en-US" sz="850" dirty="0"/>
          </a:p>
        </p:txBody>
      </p:sp>
      <p:sp>
        <p:nvSpPr>
          <p:cNvPr id="17" name="R2_lnA66"/>
          <p:cNvSpPr/>
          <p:nvPr/>
        </p:nvSpPr>
        <p:spPr>
          <a:xfrm>
            <a:off x="548640" y="2203001"/>
            <a:ext cx="5349240" cy="339314"/>
          </a:xfrm>
          <a:prstGeom prst="rect">
            <a:avLst/>
          </a:prstGeom>
          <a:solidFill>
            <a:srgbClr val="FFFFFF"/>
          </a:solidFill>
          <a:ln/>
        </p:spPr>
        <p:txBody>
          <a:bodyPr wrap="square" lIns="0" tIns="0" rIns="0" bIns="0" rtlCol="0" anchor="t"/>
          <a:lstStyle/>
          <a:p>
            <a:pPr indent="0" marL="0">
              <a:buNone/>
            </a:pPr>
            <a:r>
              <a:rPr lang="en-US" sz="850" dirty="0">
                <a:solidFill>
                  <a:srgbClr val="1B2559"/>
                </a:solidFill>
                <a:latin typeface="Georgia" pitchFamily="34" charset="0"/>
                <a:ea typeface="Georgia" pitchFamily="34" charset="-122"/>
                <a:cs typeface="Georgia" pitchFamily="34" charset="-120"/>
              </a:rPr>
              <a:t>2  The athlete fell when she </a:t>
            </a:r>
            <a:pPr indent="0" marL="0">
              <a:buNone/>
            </a:pPr>
            <a:r>
              <a:rPr lang="en-US" sz="850" b="1" dirty="0">
                <a:solidFill>
                  <a:srgbClr val="1B2559"/>
                </a:solidFill>
                <a:highlight>
                  <a:srgbClr val="FFE066"/>
                </a:highlight>
                <a:latin typeface="Georgia" pitchFamily="34" charset="0"/>
                <a:ea typeface="Georgia" pitchFamily="34" charset="-122"/>
                <a:cs typeface="Georgia" pitchFamily="34" charset="-120"/>
              </a:rPr>
              <a:t>b  was running</a:t>
            </a:r>
            <a:pPr indent="0" marL="0">
              <a:buNone/>
            </a:pPr>
            <a:r>
              <a:rPr lang="en-US" sz="850" dirty="0">
                <a:solidFill>
                  <a:srgbClr val="1B2559"/>
                </a:solidFill>
                <a:latin typeface="Georgia" pitchFamily="34" charset="0"/>
                <a:ea typeface="Georgia" pitchFamily="34" charset="-122"/>
                <a:cs typeface="Georgia" pitchFamily="34" charset="-120"/>
              </a:rPr>
              <a:t> towards the finishing line.  (a run · b was running · c </a:t>
            </a:r>
            <a:pPr indent="0" marL="0">
              <a:buNone/>
            </a:pPr>
            <a:r>
              <a:rPr lang="en-US" sz="850" b="1" u="sng" dirty="0">
                <a:solidFill>
                  <a:srgbClr val="7B5CD6"/>
                </a:solidFill>
                <a:latin typeface="Georgia" pitchFamily="34" charset="0"/>
                <a:ea typeface="Georgia" pitchFamily="34" charset="-122"/>
                <a:cs typeface="Georgia" pitchFamily="34" charset="-120"/>
              </a:rPr>
              <a:t>had run</a:t>
            </a:r>
            <a:pPr indent="0" marL="0">
              <a:buNone/>
            </a:pPr>
            <a:r>
              <a:rPr lang="en-US" sz="850" dirty="0">
                <a:solidFill>
                  <a:srgbClr val="1B2559"/>
                </a:solidFill>
                <a:latin typeface="Georgia" pitchFamily="34" charset="0"/>
                <a:ea typeface="Georgia" pitchFamily="34" charset="-122"/>
                <a:cs typeface="Georgia" pitchFamily="34" charset="-120"/>
              </a:rPr>
              <a:t>)</a:t>
            </a:r>
            <a:endParaRPr lang="en-US" sz="850" dirty="0"/>
          </a:p>
        </p:txBody>
      </p:sp>
      <p:sp>
        <p:nvSpPr>
          <p:cNvPr id="18" name="ln_67"/>
          <p:cNvSpPr/>
          <p:nvPr/>
        </p:nvSpPr>
        <p:spPr>
          <a:xfrm>
            <a:off x="548640" y="2542315"/>
            <a:ext cx="5349240" cy="333361"/>
          </a:xfrm>
          <a:prstGeom prst="rect">
            <a:avLst/>
          </a:prstGeom>
          <a:noFill/>
          <a:ln/>
        </p:spPr>
        <p:txBody>
          <a:bodyPr wrap="square" lIns="0" tIns="0" rIns="0" bIns="0" rtlCol="0" anchor="t"/>
          <a:lstStyle/>
          <a:p>
            <a:pPr indent="0" marL="0">
              <a:buNone/>
            </a:pPr>
            <a:r>
              <a:rPr lang="en-US" sz="850" dirty="0">
                <a:solidFill>
                  <a:srgbClr val="1B2559"/>
                </a:solidFill>
                <a:latin typeface="Georgia" pitchFamily="34" charset="0"/>
                <a:ea typeface="Georgia" pitchFamily="34" charset="-122"/>
                <a:cs typeface="Georgia" pitchFamily="34" charset="-120"/>
              </a:rPr>
              <a:t>3  I didn't realize that you two </a:t>
            </a:r>
            <a:pPr indent="0" marL="0">
              <a:buNone/>
            </a:pPr>
            <a:r>
              <a:rPr lang="en-US" sz="850" b="1" dirty="0">
                <a:solidFill>
                  <a:srgbClr val="2EB872"/>
                </a:solidFill>
                <a:latin typeface="Georgia" pitchFamily="34" charset="0"/>
                <a:ea typeface="Georgia" pitchFamily="34" charset="-122"/>
                <a:cs typeface="Georgia" pitchFamily="34" charset="-120"/>
              </a:rPr>
              <a:t> (3) ________ </a:t>
            </a:r>
            <a:pPr indent="0" marL="0">
              <a:buNone/>
            </a:pPr>
            <a:r>
              <a:rPr lang="en-US" sz="850" dirty="0">
                <a:solidFill>
                  <a:srgbClr val="1B2559"/>
                </a:solidFill>
                <a:latin typeface="Georgia" pitchFamily="34" charset="0"/>
                <a:ea typeface="Georgia" pitchFamily="34" charset="-122"/>
                <a:cs typeface="Georgia" pitchFamily="34" charset="-120"/>
              </a:rPr>
              <a:t> before.  (a didn't meet · b weren't meeting · c hadn't met)</a:t>
            </a:r>
            <a:endParaRPr lang="en-US" sz="850" dirty="0"/>
          </a:p>
        </p:txBody>
      </p:sp>
      <p:sp>
        <p:nvSpPr>
          <p:cNvPr id="19" name="R3_lnA68"/>
          <p:cNvSpPr/>
          <p:nvPr/>
        </p:nvSpPr>
        <p:spPr>
          <a:xfrm>
            <a:off x="548640" y="2542315"/>
            <a:ext cx="5349240" cy="333361"/>
          </a:xfrm>
          <a:prstGeom prst="rect">
            <a:avLst/>
          </a:prstGeom>
          <a:solidFill>
            <a:srgbClr val="FFFFFF"/>
          </a:solidFill>
          <a:ln/>
        </p:spPr>
        <p:txBody>
          <a:bodyPr wrap="square" lIns="0" tIns="0" rIns="0" bIns="0" rtlCol="0" anchor="t"/>
          <a:lstStyle/>
          <a:p>
            <a:pPr indent="0" marL="0">
              <a:buNone/>
            </a:pPr>
            <a:r>
              <a:rPr lang="en-US" sz="850" dirty="0">
                <a:solidFill>
                  <a:srgbClr val="1B2559"/>
                </a:solidFill>
                <a:latin typeface="Georgia" pitchFamily="34" charset="0"/>
                <a:ea typeface="Georgia" pitchFamily="34" charset="-122"/>
                <a:cs typeface="Georgia" pitchFamily="34" charset="-120"/>
              </a:rPr>
              <a:t>3  I didn't realize that you two </a:t>
            </a:r>
            <a:pPr indent="0" marL="0">
              <a:buNone/>
            </a:pPr>
            <a:r>
              <a:rPr lang="en-US" sz="850" b="1" dirty="0">
                <a:solidFill>
                  <a:srgbClr val="1B2559"/>
                </a:solidFill>
                <a:highlight>
                  <a:srgbClr val="FFE066"/>
                </a:highlight>
                <a:latin typeface="Georgia" pitchFamily="34" charset="0"/>
                <a:ea typeface="Georgia" pitchFamily="34" charset="-122"/>
                <a:cs typeface="Georgia" pitchFamily="34" charset="-120"/>
              </a:rPr>
              <a:t>c  hadn't met</a:t>
            </a:r>
            <a:pPr indent="0" marL="0">
              <a:buNone/>
            </a:pPr>
            <a:r>
              <a:rPr lang="en-US" sz="850" dirty="0">
                <a:solidFill>
                  <a:srgbClr val="1B2559"/>
                </a:solidFill>
                <a:latin typeface="Georgia" pitchFamily="34" charset="0"/>
                <a:ea typeface="Georgia" pitchFamily="34" charset="-122"/>
                <a:cs typeface="Georgia" pitchFamily="34" charset="-120"/>
              </a:rPr>
              <a:t> before.  (a didn't meet · b weren't meeting · c hadn't met)</a:t>
            </a:r>
            <a:endParaRPr lang="en-US" sz="850" dirty="0"/>
          </a:p>
        </p:txBody>
      </p:sp>
      <p:sp>
        <p:nvSpPr>
          <p:cNvPr id="20" name="ln_69"/>
          <p:cNvSpPr/>
          <p:nvPr/>
        </p:nvSpPr>
        <p:spPr>
          <a:xfrm>
            <a:off x="548640" y="2875676"/>
            <a:ext cx="5349240" cy="476230"/>
          </a:xfrm>
          <a:prstGeom prst="rect">
            <a:avLst/>
          </a:prstGeom>
          <a:noFill/>
          <a:ln/>
        </p:spPr>
        <p:txBody>
          <a:bodyPr wrap="square" lIns="0" tIns="0" rIns="0" bIns="0" rtlCol="0" anchor="t"/>
          <a:lstStyle/>
          <a:p>
            <a:pPr indent="0" marL="0">
              <a:buNone/>
            </a:pPr>
            <a:r>
              <a:rPr lang="en-US" sz="850" dirty="0">
                <a:solidFill>
                  <a:srgbClr val="1B2559"/>
                </a:solidFill>
                <a:latin typeface="Georgia" pitchFamily="34" charset="0"/>
                <a:ea typeface="Georgia" pitchFamily="34" charset="-122"/>
                <a:cs typeface="Georgia" pitchFamily="34" charset="-120"/>
              </a:rPr>
              <a:t>4  A I can't find my glasses anywhere. B </a:t>
            </a:r>
            <a:pPr indent="0" marL="0">
              <a:buNone/>
            </a:pPr>
            <a:r>
              <a:rPr lang="en-US" sz="850" b="1" dirty="0">
                <a:solidFill>
                  <a:srgbClr val="2EB872"/>
                </a:solidFill>
                <a:latin typeface="Georgia" pitchFamily="34" charset="0"/>
                <a:ea typeface="Georgia" pitchFamily="34" charset="-122"/>
                <a:cs typeface="Georgia" pitchFamily="34" charset="-120"/>
              </a:rPr>
              <a:t> (4) ________ </a:t>
            </a:r>
            <a:pPr indent="0" marL="0">
              <a:buNone/>
            </a:pPr>
            <a:r>
              <a:rPr lang="en-US" sz="850" dirty="0">
                <a:solidFill>
                  <a:srgbClr val="1B2559"/>
                </a:solidFill>
                <a:latin typeface="Georgia" pitchFamily="34" charset="0"/>
                <a:ea typeface="Georgia" pitchFamily="34" charset="-122"/>
                <a:cs typeface="Georgia" pitchFamily="34" charset="-120"/>
              </a:rPr>
              <a:t> them when you left home this morning?  (a Did you wear · b Were you wearing · c Had you worn)</a:t>
            </a:r>
            <a:endParaRPr lang="en-US" sz="850" dirty="0"/>
          </a:p>
        </p:txBody>
      </p:sp>
      <p:sp>
        <p:nvSpPr>
          <p:cNvPr id="21" name="R4_lnA70"/>
          <p:cNvSpPr/>
          <p:nvPr/>
        </p:nvSpPr>
        <p:spPr>
          <a:xfrm>
            <a:off x="548640" y="2875676"/>
            <a:ext cx="5349240" cy="476230"/>
          </a:xfrm>
          <a:prstGeom prst="rect">
            <a:avLst/>
          </a:prstGeom>
          <a:solidFill>
            <a:srgbClr val="FFFFFF"/>
          </a:solidFill>
          <a:ln/>
        </p:spPr>
        <p:txBody>
          <a:bodyPr wrap="square" lIns="0" tIns="0" rIns="0" bIns="0" rtlCol="0" anchor="t"/>
          <a:lstStyle/>
          <a:p>
            <a:pPr indent="0" marL="0">
              <a:buNone/>
            </a:pPr>
            <a:r>
              <a:rPr lang="en-US" sz="850" dirty="0">
                <a:solidFill>
                  <a:srgbClr val="1B2559"/>
                </a:solidFill>
                <a:latin typeface="Georgia" pitchFamily="34" charset="0"/>
                <a:ea typeface="Georgia" pitchFamily="34" charset="-122"/>
                <a:cs typeface="Georgia" pitchFamily="34" charset="-120"/>
              </a:rPr>
              <a:t>4  A I can't find my glasses anywhere. B </a:t>
            </a:r>
            <a:pPr indent="0" marL="0">
              <a:buNone/>
            </a:pPr>
            <a:r>
              <a:rPr lang="en-US" sz="850" b="1" dirty="0">
                <a:solidFill>
                  <a:srgbClr val="1B2559"/>
                </a:solidFill>
                <a:highlight>
                  <a:srgbClr val="FFE066"/>
                </a:highlight>
                <a:latin typeface="Georgia" pitchFamily="34" charset="0"/>
                <a:ea typeface="Georgia" pitchFamily="34" charset="-122"/>
                <a:cs typeface="Georgia" pitchFamily="34" charset="-120"/>
              </a:rPr>
              <a:t>b  Were you wearing</a:t>
            </a:r>
            <a:pPr indent="0" marL="0">
              <a:buNone/>
            </a:pPr>
            <a:r>
              <a:rPr lang="en-US" sz="850" dirty="0">
                <a:solidFill>
                  <a:srgbClr val="1B2559"/>
                </a:solidFill>
                <a:latin typeface="Georgia" pitchFamily="34" charset="0"/>
                <a:ea typeface="Georgia" pitchFamily="34" charset="-122"/>
                <a:cs typeface="Georgia" pitchFamily="34" charset="-120"/>
              </a:rPr>
              <a:t> them when you left home this morning?  (a Did you wear · b Were you wearing · c Had you worn)</a:t>
            </a:r>
            <a:endParaRPr lang="en-US" sz="850" dirty="0"/>
          </a:p>
        </p:txBody>
      </p:sp>
      <p:sp>
        <p:nvSpPr>
          <p:cNvPr id="22" name="ln_71"/>
          <p:cNvSpPr/>
          <p:nvPr/>
        </p:nvSpPr>
        <p:spPr>
          <a:xfrm>
            <a:off x="548640" y="3351905"/>
            <a:ext cx="5349240" cy="327408"/>
          </a:xfrm>
          <a:prstGeom prst="rect">
            <a:avLst/>
          </a:prstGeom>
          <a:noFill/>
          <a:ln/>
        </p:spPr>
        <p:txBody>
          <a:bodyPr wrap="square" lIns="0" tIns="0" rIns="0" bIns="0" rtlCol="0" anchor="t"/>
          <a:lstStyle/>
          <a:p>
            <a:pPr indent="0" marL="0">
              <a:buNone/>
            </a:pPr>
            <a:r>
              <a:rPr lang="en-US" sz="850" dirty="0">
                <a:solidFill>
                  <a:srgbClr val="1B2559"/>
                </a:solidFill>
                <a:latin typeface="Georgia" pitchFamily="34" charset="0"/>
                <a:ea typeface="Georgia" pitchFamily="34" charset="-122"/>
                <a:cs typeface="Georgia" pitchFamily="34" charset="-120"/>
              </a:rPr>
              <a:t>5  </a:t>
            </a:r>
            <a:pPr indent="0" marL="0">
              <a:buNone/>
            </a:pPr>
            <a:r>
              <a:rPr lang="en-US" sz="850" b="1" dirty="0">
                <a:solidFill>
                  <a:srgbClr val="2EB872"/>
                </a:solidFill>
                <a:latin typeface="Georgia" pitchFamily="34" charset="0"/>
                <a:ea typeface="Georgia" pitchFamily="34" charset="-122"/>
                <a:cs typeface="Georgia" pitchFamily="34" charset="-120"/>
              </a:rPr>
              <a:t> (5) ________ </a:t>
            </a:r>
            <a:pPr indent="0" marL="0">
              <a:buNone/>
            </a:pPr>
            <a:r>
              <a:rPr lang="en-US" sz="850" dirty="0">
                <a:solidFill>
                  <a:srgbClr val="1B2559"/>
                </a:solidFill>
                <a:latin typeface="Georgia" pitchFamily="34" charset="0"/>
                <a:ea typeface="Georgia" pitchFamily="34" charset="-122"/>
                <a:cs typeface="Georgia" pitchFamily="34" charset="-120"/>
              </a:rPr>
              <a:t> walk to work, or do you drive?  (a Do you </a:t>
            </a:r>
            <a:pPr indent="0" marL="0">
              <a:buNone/>
            </a:pPr>
            <a:r>
              <a:rPr lang="en-US" sz="850" b="1" u="sng" dirty="0">
                <a:solidFill>
                  <a:srgbClr val="7B5CD6"/>
                </a:solidFill>
                <a:latin typeface="Georgia" pitchFamily="34" charset="0"/>
                <a:ea typeface="Georgia" pitchFamily="34" charset="-122"/>
                <a:cs typeface="Georgia" pitchFamily="34" charset="-120"/>
              </a:rPr>
              <a:t>use to</a:t>
            </a:r>
            <a:pPr indent="0" marL="0">
              <a:buNone/>
            </a:pPr>
            <a:r>
              <a:rPr lang="en-US" sz="850" dirty="0">
                <a:solidFill>
                  <a:srgbClr val="1B2559"/>
                </a:solidFill>
                <a:latin typeface="Georgia" pitchFamily="34" charset="0"/>
                <a:ea typeface="Georgia" pitchFamily="34" charset="-122"/>
                <a:cs typeface="Georgia" pitchFamily="34" charset="-120"/>
              </a:rPr>
              <a:t> · b Do you usually · c Use you to)</a:t>
            </a:r>
            <a:endParaRPr lang="en-US" sz="850" dirty="0"/>
          </a:p>
        </p:txBody>
      </p:sp>
      <p:sp>
        <p:nvSpPr>
          <p:cNvPr id="23" name="R5_lnA72"/>
          <p:cNvSpPr/>
          <p:nvPr/>
        </p:nvSpPr>
        <p:spPr>
          <a:xfrm>
            <a:off x="548640" y="3351905"/>
            <a:ext cx="5349240" cy="327408"/>
          </a:xfrm>
          <a:prstGeom prst="rect">
            <a:avLst/>
          </a:prstGeom>
          <a:solidFill>
            <a:srgbClr val="FFFFFF"/>
          </a:solidFill>
          <a:ln/>
        </p:spPr>
        <p:txBody>
          <a:bodyPr wrap="square" lIns="0" tIns="0" rIns="0" bIns="0" rtlCol="0" anchor="t"/>
          <a:lstStyle/>
          <a:p>
            <a:pPr indent="0" marL="0">
              <a:buNone/>
            </a:pPr>
            <a:r>
              <a:rPr lang="en-US" sz="850" dirty="0">
                <a:solidFill>
                  <a:srgbClr val="1B2559"/>
                </a:solidFill>
                <a:latin typeface="Georgia" pitchFamily="34" charset="0"/>
                <a:ea typeface="Georgia" pitchFamily="34" charset="-122"/>
                <a:cs typeface="Georgia" pitchFamily="34" charset="-120"/>
              </a:rPr>
              <a:t>5  </a:t>
            </a:r>
            <a:pPr indent="0" marL="0">
              <a:buNone/>
            </a:pPr>
            <a:r>
              <a:rPr lang="en-US" sz="850" b="1" dirty="0">
                <a:solidFill>
                  <a:srgbClr val="1B2559"/>
                </a:solidFill>
                <a:highlight>
                  <a:srgbClr val="FFE066"/>
                </a:highlight>
                <a:latin typeface="Georgia" pitchFamily="34" charset="0"/>
                <a:ea typeface="Georgia" pitchFamily="34" charset="-122"/>
                <a:cs typeface="Georgia" pitchFamily="34" charset="-120"/>
              </a:rPr>
              <a:t>b  Do you usually</a:t>
            </a:r>
            <a:pPr indent="0" marL="0">
              <a:buNone/>
            </a:pPr>
            <a:r>
              <a:rPr lang="en-US" sz="850" dirty="0">
                <a:solidFill>
                  <a:srgbClr val="1B2559"/>
                </a:solidFill>
                <a:latin typeface="Georgia" pitchFamily="34" charset="0"/>
                <a:ea typeface="Georgia" pitchFamily="34" charset="-122"/>
                <a:cs typeface="Georgia" pitchFamily="34" charset="-120"/>
              </a:rPr>
              <a:t> walk to work, or do you drive?  (a Do you </a:t>
            </a:r>
            <a:pPr indent="0" marL="0">
              <a:buNone/>
            </a:pPr>
            <a:r>
              <a:rPr lang="en-US" sz="850" b="1" u="sng" dirty="0">
                <a:solidFill>
                  <a:srgbClr val="7B5CD6"/>
                </a:solidFill>
                <a:latin typeface="Georgia" pitchFamily="34" charset="0"/>
                <a:ea typeface="Georgia" pitchFamily="34" charset="-122"/>
                <a:cs typeface="Georgia" pitchFamily="34" charset="-120"/>
              </a:rPr>
              <a:t>use to</a:t>
            </a:r>
            <a:pPr indent="0" marL="0">
              <a:buNone/>
            </a:pPr>
            <a:r>
              <a:rPr lang="en-US" sz="850" dirty="0">
                <a:solidFill>
                  <a:srgbClr val="1B2559"/>
                </a:solidFill>
                <a:latin typeface="Georgia" pitchFamily="34" charset="0"/>
                <a:ea typeface="Georgia" pitchFamily="34" charset="-122"/>
                <a:cs typeface="Georgia" pitchFamily="34" charset="-120"/>
              </a:rPr>
              <a:t> · b Do you usually · c Use you to)</a:t>
            </a:r>
            <a:endParaRPr lang="en-US" sz="850" dirty="0"/>
          </a:p>
        </p:txBody>
      </p:sp>
      <p:sp>
        <p:nvSpPr>
          <p:cNvPr id="24" name="ln_73"/>
          <p:cNvSpPr/>
          <p:nvPr/>
        </p:nvSpPr>
        <p:spPr>
          <a:xfrm>
            <a:off x="548640" y="3679313"/>
            <a:ext cx="5349240" cy="357172"/>
          </a:xfrm>
          <a:prstGeom prst="rect">
            <a:avLst/>
          </a:prstGeom>
          <a:noFill/>
          <a:ln/>
        </p:spPr>
        <p:txBody>
          <a:bodyPr wrap="square" lIns="0" tIns="0" rIns="0" bIns="0" rtlCol="0" anchor="t"/>
          <a:lstStyle/>
          <a:p>
            <a:pPr indent="0" marL="0">
              <a:buNone/>
            </a:pPr>
            <a:r>
              <a:rPr lang="en-US" sz="850" dirty="0">
                <a:solidFill>
                  <a:srgbClr val="1B2559"/>
                </a:solidFill>
                <a:latin typeface="Georgia" pitchFamily="34" charset="0"/>
                <a:ea typeface="Georgia" pitchFamily="34" charset="-122"/>
                <a:cs typeface="Georgia" pitchFamily="34" charset="-120"/>
              </a:rPr>
              <a:t>6  When I was a child, I </a:t>
            </a:r>
            <a:pPr indent="0" marL="0">
              <a:buNone/>
            </a:pPr>
            <a:r>
              <a:rPr lang="en-US" sz="850" b="1" dirty="0">
                <a:solidFill>
                  <a:srgbClr val="2EB872"/>
                </a:solidFill>
                <a:latin typeface="Georgia" pitchFamily="34" charset="0"/>
                <a:ea typeface="Georgia" pitchFamily="34" charset="-122"/>
                <a:cs typeface="Georgia" pitchFamily="34" charset="-120"/>
              </a:rPr>
              <a:t> (6) ________ </a:t>
            </a:r>
            <a:pPr indent="0" marL="0">
              <a:buNone/>
            </a:pPr>
            <a:r>
              <a:rPr lang="en-US" sz="850" dirty="0">
                <a:solidFill>
                  <a:srgbClr val="1B2559"/>
                </a:solidFill>
                <a:latin typeface="Georgia" pitchFamily="34" charset="0"/>
                <a:ea typeface="Georgia" pitchFamily="34" charset="-122"/>
                <a:cs typeface="Georgia" pitchFamily="34" charset="-120"/>
              </a:rPr>
              <a:t> like vegetables.  (a don't </a:t>
            </a:r>
            <a:pPr indent="0" marL="0">
              <a:buNone/>
            </a:pPr>
            <a:r>
              <a:rPr lang="en-US" sz="850" b="1" u="sng" dirty="0">
                <a:solidFill>
                  <a:srgbClr val="7B5CD6"/>
                </a:solidFill>
                <a:latin typeface="Georgia" pitchFamily="34" charset="0"/>
                <a:ea typeface="Georgia" pitchFamily="34" charset="-122"/>
                <a:cs typeface="Georgia" pitchFamily="34" charset="-120"/>
              </a:rPr>
              <a:t>used to</a:t>
            </a:r>
            <a:pPr indent="0" marL="0">
              <a:buNone/>
            </a:pPr>
            <a:r>
              <a:rPr lang="en-US" sz="850" dirty="0">
                <a:solidFill>
                  <a:srgbClr val="1B2559"/>
                </a:solidFill>
                <a:latin typeface="Georgia" pitchFamily="34" charset="0"/>
                <a:ea typeface="Georgia" pitchFamily="34" charset="-122"/>
                <a:cs typeface="Georgia" pitchFamily="34" charset="-120"/>
              </a:rPr>
              <a:t> · b didn't </a:t>
            </a:r>
            <a:pPr indent="0" marL="0">
              <a:buNone/>
            </a:pPr>
            <a:r>
              <a:rPr lang="en-US" sz="850" b="1" u="sng" dirty="0">
                <a:solidFill>
                  <a:srgbClr val="7B5CD6"/>
                </a:solidFill>
                <a:latin typeface="Georgia" pitchFamily="34" charset="0"/>
                <a:ea typeface="Georgia" pitchFamily="34" charset="-122"/>
                <a:cs typeface="Georgia" pitchFamily="34" charset="-120"/>
              </a:rPr>
              <a:t>used to</a:t>
            </a:r>
            <a:pPr indent="0" marL="0">
              <a:buNone/>
            </a:pPr>
            <a:r>
              <a:rPr lang="en-US" sz="850" dirty="0">
                <a:solidFill>
                  <a:srgbClr val="1B2559"/>
                </a:solidFill>
                <a:latin typeface="Georgia" pitchFamily="34" charset="0"/>
                <a:ea typeface="Georgia" pitchFamily="34" charset="-122"/>
                <a:cs typeface="Georgia" pitchFamily="34" charset="-120"/>
              </a:rPr>
              <a:t> · c </a:t>
            </a:r>
            <a:pPr indent="0" marL="0">
              <a:buNone/>
            </a:pPr>
            <a:r>
              <a:rPr lang="en-US" sz="850" b="1" u="sng" dirty="0">
                <a:solidFill>
                  <a:srgbClr val="7B5CD6"/>
                </a:solidFill>
                <a:latin typeface="Georgia" pitchFamily="34" charset="0"/>
                <a:ea typeface="Georgia" pitchFamily="34" charset="-122"/>
                <a:cs typeface="Georgia" pitchFamily="34" charset="-120"/>
              </a:rPr>
              <a:t>didn't use to</a:t>
            </a:r>
            <a:pPr indent="0" marL="0">
              <a:buNone/>
            </a:pPr>
            <a:r>
              <a:rPr lang="en-US" sz="850" dirty="0">
                <a:solidFill>
                  <a:srgbClr val="1B2559"/>
                </a:solidFill>
                <a:latin typeface="Georgia" pitchFamily="34" charset="0"/>
                <a:ea typeface="Georgia" pitchFamily="34" charset="-122"/>
                <a:cs typeface="Georgia" pitchFamily="34" charset="-120"/>
              </a:rPr>
              <a:t>)</a:t>
            </a:r>
            <a:endParaRPr lang="en-US" sz="850" dirty="0"/>
          </a:p>
        </p:txBody>
      </p:sp>
      <p:sp>
        <p:nvSpPr>
          <p:cNvPr id="25" name="R6_lnA74"/>
          <p:cNvSpPr/>
          <p:nvPr/>
        </p:nvSpPr>
        <p:spPr>
          <a:xfrm>
            <a:off x="548640" y="3679313"/>
            <a:ext cx="5349240" cy="357172"/>
          </a:xfrm>
          <a:prstGeom prst="rect">
            <a:avLst/>
          </a:prstGeom>
          <a:solidFill>
            <a:srgbClr val="FFFFFF"/>
          </a:solidFill>
          <a:ln/>
        </p:spPr>
        <p:txBody>
          <a:bodyPr wrap="square" lIns="0" tIns="0" rIns="0" bIns="0" rtlCol="0" anchor="t"/>
          <a:lstStyle/>
          <a:p>
            <a:pPr indent="0" marL="0">
              <a:buNone/>
            </a:pPr>
            <a:r>
              <a:rPr lang="en-US" sz="850" dirty="0">
                <a:solidFill>
                  <a:srgbClr val="1B2559"/>
                </a:solidFill>
                <a:latin typeface="Georgia" pitchFamily="34" charset="0"/>
                <a:ea typeface="Georgia" pitchFamily="34" charset="-122"/>
                <a:cs typeface="Georgia" pitchFamily="34" charset="-120"/>
              </a:rPr>
              <a:t>6  When I was a child, I </a:t>
            </a:r>
            <a:pPr indent="0" marL="0">
              <a:buNone/>
            </a:pPr>
            <a:r>
              <a:rPr lang="en-US" sz="850" b="1" dirty="0">
                <a:solidFill>
                  <a:srgbClr val="1B2559"/>
                </a:solidFill>
                <a:highlight>
                  <a:srgbClr val="FFE066"/>
                </a:highlight>
                <a:latin typeface="Georgia" pitchFamily="34" charset="0"/>
                <a:ea typeface="Georgia" pitchFamily="34" charset="-122"/>
                <a:cs typeface="Georgia" pitchFamily="34" charset="-120"/>
              </a:rPr>
              <a:t>c  didn't use to</a:t>
            </a:r>
            <a:pPr indent="0" marL="0">
              <a:buNone/>
            </a:pPr>
            <a:r>
              <a:rPr lang="en-US" sz="850" dirty="0">
                <a:solidFill>
                  <a:srgbClr val="1B2559"/>
                </a:solidFill>
                <a:latin typeface="Georgia" pitchFamily="34" charset="0"/>
                <a:ea typeface="Georgia" pitchFamily="34" charset="-122"/>
                <a:cs typeface="Georgia" pitchFamily="34" charset="-120"/>
              </a:rPr>
              <a:t> like vegetables.  (a don't </a:t>
            </a:r>
            <a:pPr indent="0" marL="0">
              <a:buNone/>
            </a:pPr>
            <a:r>
              <a:rPr lang="en-US" sz="850" b="1" u="sng" dirty="0">
                <a:solidFill>
                  <a:srgbClr val="7B5CD6"/>
                </a:solidFill>
                <a:latin typeface="Georgia" pitchFamily="34" charset="0"/>
                <a:ea typeface="Georgia" pitchFamily="34" charset="-122"/>
                <a:cs typeface="Georgia" pitchFamily="34" charset="-120"/>
              </a:rPr>
              <a:t>used to</a:t>
            </a:r>
            <a:pPr indent="0" marL="0">
              <a:buNone/>
            </a:pPr>
            <a:r>
              <a:rPr lang="en-US" sz="850" dirty="0">
                <a:solidFill>
                  <a:srgbClr val="1B2559"/>
                </a:solidFill>
                <a:latin typeface="Georgia" pitchFamily="34" charset="0"/>
                <a:ea typeface="Georgia" pitchFamily="34" charset="-122"/>
                <a:cs typeface="Georgia" pitchFamily="34" charset="-120"/>
              </a:rPr>
              <a:t> · b didn't </a:t>
            </a:r>
            <a:pPr indent="0" marL="0">
              <a:buNone/>
            </a:pPr>
            <a:r>
              <a:rPr lang="en-US" sz="850" b="1" u="sng" dirty="0">
                <a:solidFill>
                  <a:srgbClr val="7B5CD6"/>
                </a:solidFill>
                <a:latin typeface="Georgia" pitchFamily="34" charset="0"/>
                <a:ea typeface="Georgia" pitchFamily="34" charset="-122"/>
                <a:cs typeface="Georgia" pitchFamily="34" charset="-120"/>
              </a:rPr>
              <a:t>used to</a:t>
            </a:r>
            <a:pPr indent="0" marL="0">
              <a:buNone/>
            </a:pPr>
            <a:r>
              <a:rPr lang="en-US" sz="850" dirty="0">
                <a:solidFill>
                  <a:srgbClr val="1B2559"/>
                </a:solidFill>
                <a:latin typeface="Georgia" pitchFamily="34" charset="0"/>
                <a:ea typeface="Georgia" pitchFamily="34" charset="-122"/>
                <a:cs typeface="Georgia" pitchFamily="34" charset="-120"/>
              </a:rPr>
              <a:t> · c </a:t>
            </a:r>
            <a:pPr indent="0" marL="0">
              <a:buNone/>
            </a:pPr>
            <a:r>
              <a:rPr lang="en-US" sz="850" b="1" u="sng" dirty="0">
                <a:solidFill>
                  <a:srgbClr val="7B5CD6"/>
                </a:solidFill>
                <a:latin typeface="Georgia" pitchFamily="34" charset="0"/>
                <a:ea typeface="Georgia" pitchFamily="34" charset="-122"/>
                <a:cs typeface="Georgia" pitchFamily="34" charset="-120"/>
              </a:rPr>
              <a:t>didn't use to</a:t>
            </a:r>
            <a:pPr indent="0" marL="0">
              <a:buNone/>
            </a:pPr>
            <a:r>
              <a:rPr lang="en-US" sz="850" dirty="0">
                <a:solidFill>
                  <a:srgbClr val="1B2559"/>
                </a:solidFill>
                <a:latin typeface="Georgia" pitchFamily="34" charset="0"/>
                <a:ea typeface="Georgia" pitchFamily="34" charset="-122"/>
                <a:cs typeface="Georgia" pitchFamily="34" charset="-120"/>
              </a:rPr>
              <a:t>)</a:t>
            </a:r>
            <a:endParaRPr lang="en-US" sz="850" dirty="0"/>
          </a:p>
        </p:txBody>
      </p:sp>
      <p:sp>
        <p:nvSpPr>
          <p:cNvPr id="26" name="ln_75"/>
          <p:cNvSpPr/>
          <p:nvPr/>
        </p:nvSpPr>
        <p:spPr>
          <a:xfrm>
            <a:off x="548640" y="4036486"/>
            <a:ext cx="5349240" cy="324431"/>
          </a:xfrm>
          <a:prstGeom prst="rect">
            <a:avLst/>
          </a:prstGeom>
          <a:noFill/>
          <a:ln/>
        </p:spPr>
        <p:txBody>
          <a:bodyPr wrap="square" lIns="0" tIns="0" rIns="0" bIns="0" rtlCol="0" anchor="t"/>
          <a:lstStyle/>
          <a:p>
            <a:pPr indent="0" marL="0">
              <a:buNone/>
            </a:pPr>
            <a:r>
              <a:rPr lang="en-US" sz="850" dirty="0">
                <a:solidFill>
                  <a:srgbClr val="1B2559"/>
                </a:solidFill>
                <a:latin typeface="Georgia" pitchFamily="34" charset="0"/>
                <a:ea typeface="Georgia" pitchFamily="34" charset="-122"/>
                <a:cs typeface="Georgia" pitchFamily="34" charset="-120"/>
              </a:rPr>
              <a:t>7  </a:t>
            </a:r>
            <a:pPr indent="0" marL="0">
              <a:buNone/>
            </a:pPr>
            <a:r>
              <a:rPr lang="en-US" sz="850" b="1" dirty="0">
                <a:solidFill>
                  <a:srgbClr val="2EB872"/>
                </a:solidFill>
                <a:latin typeface="Georgia" pitchFamily="34" charset="0"/>
                <a:ea typeface="Georgia" pitchFamily="34" charset="-122"/>
                <a:cs typeface="Georgia" pitchFamily="34" charset="-120"/>
              </a:rPr>
              <a:t> (7) ________ </a:t>
            </a:r>
            <a:pPr indent="0" marL="0">
              <a:buNone/>
            </a:pPr>
            <a:r>
              <a:rPr lang="en-US" sz="850" dirty="0">
                <a:solidFill>
                  <a:srgbClr val="1B2559"/>
                </a:solidFill>
                <a:latin typeface="Georgia" pitchFamily="34" charset="0"/>
                <a:ea typeface="Georgia" pitchFamily="34" charset="-122"/>
                <a:cs typeface="Georgia" pitchFamily="34" charset="-120"/>
              </a:rPr>
              <a:t> do any sport at university?  (a Did you </a:t>
            </a:r>
            <a:pPr indent="0" marL="0">
              <a:buNone/>
            </a:pPr>
            <a:r>
              <a:rPr lang="en-US" sz="850" b="1" u="sng" dirty="0">
                <a:solidFill>
                  <a:srgbClr val="7B5CD6"/>
                </a:solidFill>
                <a:latin typeface="Georgia" pitchFamily="34" charset="0"/>
                <a:ea typeface="Georgia" pitchFamily="34" charset="-122"/>
                <a:cs typeface="Georgia" pitchFamily="34" charset="-120"/>
              </a:rPr>
              <a:t>use to</a:t>
            </a:r>
            <a:pPr indent="0" marL="0">
              <a:buNone/>
            </a:pPr>
            <a:r>
              <a:rPr lang="en-US" sz="850" dirty="0">
                <a:solidFill>
                  <a:srgbClr val="1B2559"/>
                </a:solidFill>
                <a:latin typeface="Georgia" pitchFamily="34" charset="0"/>
                <a:ea typeface="Georgia" pitchFamily="34" charset="-122"/>
                <a:cs typeface="Georgia" pitchFamily="34" charset="-120"/>
              </a:rPr>
              <a:t> · b Use you to · c Did you </a:t>
            </a:r>
            <a:pPr indent="0" marL="0">
              <a:buNone/>
            </a:pPr>
            <a:r>
              <a:rPr lang="en-US" sz="850" b="1" u="sng" dirty="0">
                <a:solidFill>
                  <a:srgbClr val="7B5CD6"/>
                </a:solidFill>
                <a:latin typeface="Georgia" pitchFamily="34" charset="0"/>
                <a:ea typeface="Georgia" pitchFamily="34" charset="-122"/>
                <a:cs typeface="Georgia" pitchFamily="34" charset="-120"/>
              </a:rPr>
              <a:t>used to</a:t>
            </a:r>
            <a:pPr indent="0" marL="0">
              <a:buNone/>
            </a:pPr>
            <a:r>
              <a:rPr lang="en-US" sz="850" dirty="0">
                <a:solidFill>
                  <a:srgbClr val="1B2559"/>
                </a:solidFill>
                <a:latin typeface="Georgia" pitchFamily="34" charset="0"/>
                <a:ea typeface="Georgia" pitchFamily="34" charset="-122"/>
                <a:cs typeface="Georgia" pitchFamily="34" charset="-120"/>
              </a:rPr>
              <a:t>)</a:t>
            </a:r>
            <a:endParaRPr lang="en-US" sz="850" dirty="0"/>
          </a:p>
        </p:txBody>
      </p:sp>
      <p:sp>
        <p:nvSpPr>
          <p:cNvPr id="27" name="R7_lnA76"/>
          <p:cNvSpPr/>
          <p:nvPr/>
        </p:nvSpPr>
        <p:spPr>
          <a:xfrm>
            <a:off x="548640" y="4036486"/>
            <a:ext cx="5349240" cy="324431"/>
          </a:xfrm>
          <a:prstGeom prst="rect">
            <a:avLst/>
          </a:prstGeom>
          <a:solidFill>
            <a:srgbClr val="FFFFFF"/>
          </a:solidFill>
          <a:ln/>
        </p:spPr>
        <p:txBody>
          <a:bodyPr wrap="square" lIns="0" tIns="0" rIns="0" bIns="0" rtlCol="0" anchor="t"/>
          <a:lstStyle/>
          <a:p>
            <a:pPr indent="0" marL="0">
              <a:buNone/>
            </a:pPr>
            <a:r>
              <a:rPr lang="en-US" sz="850" dirty="0">
                <a:solidFill>
                  <a:srgbClr val="1B2559"/>
                </a:solidFill>
                <a:latin typeface="Georgia" pitchFamily="34" charset="0"/>
                <a:ea typeface="Georgia" pitchFamily="34" charset="-122"/>
                <a:cs typeface="Georgia" pitchFamily="34" charset="-120"/>
              </a:rPr>
              <a:t>7  </a:t>
            </a:r>
            <a:pPr indent="0" marL="0">
              <a:buNone/>
            </a:pPr>
            <a:r>
              <a:rPr lang="en-US" sz="850" b="1" dirty="0">
                <a:solidFill>
                  <a:srgbClr val="1B2559"/>
                </a:solidFill>
                <a:highlight>
                  <a:srgbClr val="FFE066"/>
                </a:highlight>
                <a:latin typeface="Georgia" pitchFamily="34" charset="0"/>
                <a:ea typeface="Georgia" pitchFamily="34" charset="-122"/>
                <a:cs typeface="Georgia" pitchFamily="34" charset="-120"/>
              </a:rPr>
              <a:t>a  Did you use to</a:t>
            </a:r>
            <a:pPr indent="0" marL="0">
              <a:buNone/>
            </a:pPr>
            <a:r>
              <a:rPr lang="en-US" sz="850" dirty="0">
                <a:solidFill>
                  <a:srgbClr val="1B2559"/>
                </a:solidFill>
                <a:latin typeface="Georgia" pitchFamily="34" charset="0"/>
                <a:ea typeface="Georgia" pitchFamily="34" charset="-122"/>
                <a:cs typeface="Georgia" pitchFamily="34" charset="-120"/>
              </a:rPr>
              <a:t> do any sport at university?  (a Did you </a:t>
            </a:r>
            <a:pPr indent="0" marL="0">
              <a:buNone/>
            </a:pPr>
            <a:r>
              <a:rPr lang="en-US" sz="850" b="1" u="sng" dirty="0">
                <a:solidFill>
                  <a:srgbClr val="7B5CD6"/>
                </a:solidFill>
                <a:latin typeface="Georgia" pitchFamily="34" charset="0"/>
                <a:ea typeface="Georgia" pitchFamily="34" charset="-122"/>
                <a:cs typeface="Georgia" pitchFamily="34" charset="-120"/>
              </a:rPr>
              <a:t>use to</a:t>
            </a:r>
            <a:pPr indent="0" marL="0">
              <a:buNone/>
            </a:pPr>
            <a:r>
              <a:rPr lang="en-US" sz="850" dirty="0">
                <a:solidFill>
                  <a:srgbClr val="1B2559"/>
                </a:solidFill>
                <a:latin typeface="Georgia" pitchFamily="34" charset="0"/>
                <a:ea typeface="Georgia" pitchFamily="34" charset="-122"/>
                <a:cs typeface="Georgia" pitchFamily="34" charset="-120"/>
              </a:rPr>
              <a:t> · b Use you to · c Did you </a:t>
            </a:r>
            <a:pPr indent="0" marL="0">
              <a:buNone/>
            </a:pPr>
            <a:r>
              <a:rPr lang="en-US" sz="850" b="1" u="sng" dirty="0">
                <a:solidFill>
                  <a:srgbClr val="7B5CD6"/>
                </a:solidFill>
                <a:latin typeface="Georgia" pitchFamily="34" charset="0"/>
                <a:ea typeface="Georgia" pitchFamily="34" charset="-122"/>
                <a:cs typeface="Georgia" pitchFamily="34" charset="-120"/>
              </a:rPr>
              <a:t>used to</a:t>
            </a:r>
            <a:pPr indent="0" marL="0">
              <a:buNone/>
            </a:pPr>
            <a:r>
              <a:rPr lang="en-US" sz="850" dirty="0">
                <a:solidFill>
                  <a:srgbClr val="1B2559"/>
                </a:solidFill>
                <a:latin typeface="Georgia" pitchFamily="34" charset="0"/>
                <a:ea typeface="Georgia" pitchFamily="34" charset="-122"/>
                <a:cs typeface="Georgia" pitchFamily="34" charset="-120"/>
              </a:rPr>
              <a:t>)</a:t>
            </a:r>
            <a:endParaRPr lang="en-US" sz="850" dirty="0"/>
          </a:p>
        </p:txBody>
      </p:sp>
      <p:sp>
        <p:nvSpPr>
          <p:cNvPr id="28" name="ln_77"/>
          <p:cNvSpPr/>
          <p:nvPr/>
        </p:nvSpPr>
        <p:spPr>
          <a:xfrm>
            <a:off x="548640" y="4360917"/>
            <a:ext cx="5349240" cy="348243"/>
          </a:xfrm>
          <a:prstGeom prst="rect">
            <a:avLst/>
          </a:prstGeom>
          <a:noFill/>
          <a:ln/>
        </p:spPr>
        <p:txBody>
          <a:bodyPr wrap="square" lIns="0" tIns="0" rIns="0" bIns="0" rtlCol="0" anchor="t"/>
          <a:lstStyle/>
          <a:p>
            <a:pPr indent="0" marL="0">
              <a:buNone/>
            </a:pPr>
            <a:r>
              <a:rPr lang="en-US" sz="850" dirty="0">
                <a:solidFill>
                  <a:srgbClr val="1B2559"/>
                </a:solidFill>
                <a:latin typeface="Georgia" pitchFamily="34" charset="0"/>
                <a:ea typeface="Georgia" pitchFamily="34" charset="-122"/>
                <a:cs typeface="Georgia" pitchFamily="34" charset="-120"/>
              </a:rPr>
              <a:t>8  Lots of famous films </a:t>
            </a:r>
            <a:pPr indent="0" marL="0">
              <a:buNone/>
            </a:pPr>
            <a:r>
              <a:rPr lang="en-US" sz="850" b="1" dirty="0">
                <a:solidFill>
                  <a:srgbClr val="2EB872"/>
                </a:solidFill>
                <a:latin typeface="Georgia" pitchFamily="34" charset="0"/>
                <a:ea typeface="Georgia" pitchFamily="34" charset="-122"/>
                <a:cs typeface="Georgia" pitchFamily="34" charset="-120"/>
              </a:rPr>
              <a:t> (8) ________ </a:t>
            </a:r>
            <a:pPr indent="0" marL="0">
              <a:buNone/>
            </a:pPr>
            <a:r>
              <a:rPr lang="en-US" sz="850" dirty="0">
                <a:solidFill>
                  <a:srgbClr val="1B2559"/>
                </a:solidFill>
                <a:latin typeface="Georgia" pitchFamily="34" charset="0"/>
                <a:ea typeface="Georgia" pitchFamily="34" charset="-122"/>
                <a:cs typeface="Georgia" pitchFamily="34" charset="-120"/>
              </a:rPr>
              <a:t> in San Francisco.  (a have shot · b have </a:t>
            </a:r>
            <a:pPr indent="0" marL="0">
              <a:buNone/>
            </a:pPr>
            <a:r>
              <a:rPr lang="en-US" sz="850" b="1" u="sng" dirty="0">
                <a:solidFill>
                  <a:srgbClr val="7B5CD6"/>
                </a:solidFill>
                <a:latin typeface="Georgia" pitchFamily="34" charset="0"/>
                <a:ea typeface="Georgia" pitchFamily="34" charset="-122"/>
                <a:cs typeface="Georgia" pitchFamily="34" charset="-120"/>
              </a:rPr>
              <a:t>been shot</a:t>
            </a:r>
            <a:pPr indent="0" marL="0">
              <a:buNone/>
            </a:pPr>
            <a:r>
              <a:rPr lang="en-US" sz="850" dirty="0">
                <a:solidFill>
                  <a:srgbClr val="1B2559"/>
                </a:solidFill>
                <a:latin typeface="Georgia" pitchFamily="34" charset="0"/>
                <a:ea typeface="Georgia" pitchFamily="34" charset="-122"/>
                <a:cs typeface="Georgia" pitchFamily="34" charset="-120"/>
              </a:rPr>
              <a:t> · c has </a:t>
            </a:r>
            <a:pPr indent="0" marL="0">
              <a:buNone/>
            </a:pPr>
            <a:r>
              <a:rPr lang="en-US" sz="850" b="1" u="sng" dirty="0">
                <a:solidFill>
                  <a:srgbClr val="7B5CD6"/>
                </a:solidFill>
                <a:latin typeface="Georgia" pitchFamily="34" charset="0"/>
                <a:ea typeface="Georgia" pitchFamily="34" charset="-122"/>
                <a:cs typeface="Georgia" pitchFamily="34" charset="-120"/>
              </a:rPr>
              <a:t>been shot</a:t>
            </a:r>
            <a:pPr indent="0" marL="0">
              <a:buNone/>
            </a:pPr>
            <a:r>
              <a:rPr lang="en-US" sz="850" dirty="0">
                <a:solidFill>
                  <a:srgbClr val="1B2559"/>
                </a:solidFill>
                <a:latin typeface="Georgia" pitchFamily="34" charset="0"/>
                <a:ea typeface="Georgia" pitchFamily="34" charset="-122"/>
                <a:cs typeface="Georgia" pitchFamily="34" charset="-120"/>
              </a:rPr>
              <a:t>)</a:t>
            </a:r>
            <a:endParaRPr lang="en-US" sz="850" dirty="0"/>
          </a:p>
        </p:txBody>
      </p:sp>
      <p:sp>
        <p:nvSpPr>
          <p:cNvPr id="29" name="R8_lnA78"/>
          <p:cNvSpPr/>
          <p:nvPr/>
        </p:nvSpPr>
        <p:spPr>
          <a:xfrm>
            <a:off x="548640" y="4360917"/>
            <a:ext cx="5349240" cy="348243"/>
          </a:xfrm>
          <a:prstGeom prst="rect">
            <a:avLst/>
          </a:prstGeom>
          <a:solidFill>
            <a:srgbClr val="FFFFFF"/>
          </a:solidFill>
          <a:ln/>
        </p:spPr>
        <p:txBody>
          <a:bodyPr wrap="square" lIns="0" tIns="0" rIns="0" bIns="0" rtlCol="0" anchor="t"/>
          <a:lstStyle/>
          <a:p>
            <a:pPr indent="0" marL="0">
              <a:buNone/>
            </a:pPr>
            <a:r>
              <a:rPr lang="en-US" sz="850" dirty="0">
                <a:solidFill>
                  <a:srgbClr val="1B2559"/>
                </a:solidFill>
                <a:latin typeface="Georgia" pitchFamily="34" charset="0"/>
                <a:ea typeface="Georgia" pitchFamily="34" charset="-122"/>
                <a:cs typeface="Georgia" pitchFamily="34" charset="-120"/>
              </a:rPr>
              <a:t>8  Lots of famous films </a:t>
            </a:r>
            <a:pPr indent="0" marL="0">
              <a:buNone/>
            </a:pPr>
            <a:r>
              <a:rPr lang="en-US" sz="850" b="1" dirty="0">
                <a:solidFill>
                  <a:srgbClr val="1B2559"/>
                </a:solidFill>
                <a:highlight>
                  <a:srgbClr val="FFE066"/>
                </a:highlight>
                <a:latin typeface="Georgia" pitchFamily="34" charset="0"/>
                <a:ea typeface="Georgia" pitchFamily="34" charset="-122"/>
                <a:cs typeface="Georgia" pitchFamily="34" charset="-120"/>
              </a:rPr>
              <a:t>b  have been shot</a:t>
            </a:r>
            <a:pPr indent="0" marL="0">
              <a:buNone/>
            </a:pPr>
            <a:r>
              <a:rPr lang="en-US" sz="850" dirty="0">
                <a:solidFill>
                  <a:srgbClr val="1B2559"/>
                </a:solidFill>
                <a:latin typeface="Georgia" pitchFamily="34" charset="0"/>
                <a:ea typeface="Georgia" pitchFamily="34" charset="-122"/>
                <a:cs typeface="Georgia" pitchFamily="34" charset="-120"/>
              </a:rPr>
              <a:t> in San Francisco.  (a have shot · b have </a:t>
            </a:r>
            <a:pPr indent="0" marL="0">
              <a:buNone/>
            </a:pPr>
            <a:r>
              <a:rPr lang="en-US" sz="850" b="1" u="sng" dirty="0">
                <a:solidFill>
                  <a:srgbClr val="7B5CD6"/>
                </a:solidFill>
                <a:latin typeface="Georgia" pitchFamily="34" charset="0"/>
                <a:ea typeface="Georgia" pitchFamily="34" charset="-122"/>
                <a:cs typeface="Georgia" pitchFamily="34" charset="-120"/>
              </a:rPr>
              <a:t>been shot</a:t>
            </a:r>
            <a:pPr indent="0" marL="0">
              <a:buNone/>
            </a:pPr>
            <a:r>
              <a:rPr lang="en-US" sz="850" dirty="0">
                <a:solidFill>
                  <a:srgbClr val="1B2559"/>
                </a:solidFill>
                <a:latin typeface="Georgia" pitchFamily="34" charset="0"/>
                <a:ea typeface="Georgia" pitchFamily="34" charset="-122"/>
                <a:cs typeface="Georgia" pitchFamily="34" charset="-120"/>
              </a:rPr>
              <a:t> · c has </a:t>
            </a:r>
            <a:pPr indent="0" marL="0">
              <a:buNone/>
            </a:pPr>
            <a:r>
              <a:rPr lang="en-US" sz="850" b="1" u="sng" dirty="0">
                <a:solidFill>
                  <a:srgbClr val="7B5CD6"/>
                </a:solidFill>
                <a:latin typeface="Georgia" pitchFamily="34" charset="0"/>
                <a:ea typeface="Georgia" pitchFamily="34" charset="-122"/>
                <a:cs typeface="Georgia" pitchFamily="34" charset="-120"/>
              </a:rPr>
              <a:t>been shot</a:t>
            </a:r>
            <a:pPr indent="0" marL="0">
              <a:buNone/>
            </a:pPr>
            <a:r>
              <a:rPr lang="en-US" sz="850" dirty="0">
                <a:solidFill>
                  <a:srgbClr val="1B2559"/>
                </a:solidFill>
                <a:latin typeface="Georgia" pitchFamily="34" charset="0"/>
                <a:ea typeface="Georgia" pitchFamily="34" charset="-122"/>
                <a:cs typeface="Georgia" pitchFamily="34" charset="-120"/>
              </a:rPr>
              <a:t>)</a:t>
            </a:r>
            <a:endParaRPr lang="en-US" sz="850" dirty="0"/>
          </a:p>
        </p:txBody>
      </p:sp>
      <p:sp>
        <p:nvSpPr>
          <p:cNvPr id="30" name="cd_79"/>
          <p:cNvSpPr/>
          <p:nvPr/>
        </p:nvSpPr>
        <p:spPr>
          <a:xfrm>
            <a:off x="6263640" y="3794760"/>
            <a:ext cx="2651760" cy="960120"/>
          </a:xfrm>
          <a:prstGeom prst="roundRect">
            <a:avLst>
              <a:gd name="adj" fmla="val 13333"/>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31" name="ii_80"/>
          <p:cNvSpPr/>
          <p:nvPr/>
        </p:nvSpPr>
        <p:spPr>
          <a:xfrm>
            <a:off x="6355080" y="38679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32" name="ih_81"/>
          <p:cNvSpPr/>
          <p:nvPr/>
        </p:nvSpPr>
        <p:spPr>
          <a:xfrm>
            <a:off x="6830568" y="3886200"/>
            <a:ext cx="2011680" cy="365760"/>
          </a:xfrm>
          <a:prstGeom prst="rect">
            <a:avLst/>
          </a:prstGeom>
          <a:noFill/>
          <a:ln/>
        </p:spPr>
        <p:txBody>
          <a:bodyPr wrap="square" lIns="0" tIns="0" rIns="0" bIns="0" rtlCol="0" anchor="ct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Remember</a:t>
            </a:r>
            <a:endParaRPr lang="en-US" sz="1200" dirty="0"/>
          </a:p>
        </p:txBody>
      </p:sp>
      <p:sp>
        <p:nvSpPr>
          <p:cNvPr id="33" name="il_82"/>
          <p:cNvSpPr/>
          <p:nvPr/>
        </p:nvSpPr>
        <p:spPr>
          <a:xfrm>
            <a:off x="6830568" y="4288536"/>
            <a:ext cx="1993392" cy="393192"/>
          </a:xfrm>
          <a:prstGeom prst="rect">
            <a:avLst/>
          </a:prstGeom>
          <a:noFill/>
          <a:ln/>
        </p:spPr>
        <p:txBody>
          <a:bodyPr wrap="square" lIns="0" tIns="0" rIns="0" bIns="0" rtlCol="0" anchor="t">
            <a:normAutofit/>
          </a:bodyPr>
          <a:lstStyle/>
          <a:p>
            <a:pPr marL="152400" indent="-152400">
              <a:spcAft>
                <a:spcPts val="200"/>
              </a:spcAft>
              <a:buSzPct val="100000"/>
              <a:buChar char="•"/>
            </a:pPr>
            <a:r>
              <a:rPr lang="en-US" sz="900" dirty="0">
                <a:solidFill>
                  <a:srgbClr val="1B2559"/>
                </a:solidFill>
                <a:latin typeface="Segoe UI Semibold" pitchFamily="34" charset="0"/>
                <a:ea typeface="Segoe UI Semibold" pitchFamily="34" charset="-122"/>
                <a:cs typeface="Segoe UI Semibold" pitchFamily="34" charset="-120"/>
              </a:rPr>
              <a:t>Alone · no talking</a:t>
            </a:r>
            <a:endParaRPr lang="en-US" sz="900" dirty="0"/>
          </a:p>
          <a:p>
            <a:pPr marL="152400" indent="-152400">
              <a:spcBef>
                <a:spcPts val="600"/>
              </a:spcBef>
              <a:spcAft>
                <a:spcPts val="200"/>
              </a:spcAft>
              <a:buSzPct val="100000"/>
              <a:buChar char="•"/>
            </a:pPr>
            <a:r>
              <a:rPr lang="en-US" sz="900" dirty="0">
                <a:solidFill>
                  <a:srgbClr val="1B2559"/>
                </a:solidFill>
                <a:latin typeface="Segoe UI Semibold" pitchFamily="34" charset="0"/>
                <a:ea typeface="Segoe UI Semibold" pitchFamily="34" charset="-122"/>
                <a:cs typeface="Segoe UI Semibold" pitchFamily="34" charset="-120"/>
              </a:rPr>
              <a:t>1 point each · ___ / 15</a:t>
            </a:r>
            <a:endParaRPr lang="en-US" sz="9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4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4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400"/>
                                        <p:tgtEl>
                                          <p:spTgt spid="2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fade">
                                      <p:cBhvr>
                                        <p:cTn id="27" dur="400"/>
                                        <p:tgtEl>
                                          <p:spTgt spid="2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fade">
                                      <p:cBhvr>
                                        <p:cTn id="32" dur="400"/>
                                        <p:tgtEl>
                                          <p:spTgt spid="25"/>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9"/>
                                        </p:tgtEl>
                                        <p:attrNameLst>
                                          <p:attrName>style.visibility</p:attrName>
                                        </p:attrNameLst>
                                      </p:cBhvr>
                                      <p:to>
                                        <p:strVal val="visible"/>
                                      </p:to>
                                    </p:set>
                                    <p:animEffect transition="in" filter="fade">
                                      <p:cBhvr>
                                        <p:cTn id="42" dur="4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83"/>
          <p:cNvSpPr/>
          <p:nvPr/>
        </p:nvSpPr>
        <p:spPr>
          <a:xfrm>
            <a:off x="201168" y="164592"/>
            <a:ext cx="841248" cy="841248"/>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4</a:t>
            </a:r>
            <a:endParaRPr lang="en-US" sz="2800" dirty="0"/>
          </a:p>
        </p:txBody>
      </p:sp>
      <p:pic>
        <p:nvPicPr>
          <p:cNvPr id="4" name="brY_84" descr="/home/claude/lls-course/v2/assets/brush-yellow.png">    </p:cNvPr>
          <p:cNvPicPr>
            <a:picLocks noChangeAspect="1"/>
          </p:cNvPicPr>
          <p:nvPr/>
        </p:nvPicPr>
        <p:blipFill>
          <a:blip r:embed="rId2"/>
          <a:stretch>
            <a:fillRect/>
          </a:stretch>
        </p:blipFill>
        <p:spPr>
          <a:xfrm>
            <a:off x="1097280" y="146304"/>
            <a:ext cx="3247949" cy="621792"/>
          </a:xfrm>
          <a:prstGeom prst="rect">
            <a:avLst/>
          </a:prstGeom>
        </p:spPr>
      </p:pic>
      <p:sp>
        <p:nvSpPr>
          <p:cNvPr id="5" name="title_85"/>
          <p:cNvSpPr/>
          <p:nvPr/>
        </p:nvSpPr>
        <p:spPr>
          <a:xfrm>
            <a:off x="1261872" y="164592"/>
            <a:ext cx="2973629"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Grammar test (2)</a:t>
            </a:r>
            <a:endParaRPr lang="en-US" sz="2500" dirty="0"/>
          </a:p>
        </p:txBody>
      </p:sp>
      <p:pic>
        <p:nvPicPr>
          <p:cNvPr id="6" name="brP_86" descr="/home/claude/lls-course/v2/assets/brush-pink.png">    </p:cNvPr>
          <p:cNvPicPr>
            <a:picLocks noChangeAspect="1"/>
          </p:cNvPicPr>
          <p:nvPr/>
        </p:nvPicPr>
        <p:blipFill>
          <a:blip r:embed="rId3"/>
          <a:stretch>
            <a:fillRect/>
          </a:stretch>
        </p:blipFill>
        <p:spPr>
          <a:xfrm>
            <a:off x="1207008" y="731520"/>
            <a:ext cx="5161788" cy="402336"/>
          </a:xfrm>
          <a:prstGeom prst="rect">
            <a:avLst/>
          </a:prstGeom>
        </p:spPr>
      </p:pic>
      <p:sp>
        <p:nvSpPr>
          <p:cNvPr id="7" name="ins_87"/>
          <p:cNvSpPr/>
          <p:nvPr/>
        </p:nvSpPr>
        <p:spPr>
          <a:xfrm>
            <a:off x="1353312" y="731520"/>
            <a:ext cx="4905756"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Mini-test! Choose a, b or c. Then count your score.</a:t>
            </a:r>
            <a:endParaRPr lang="en-US" sz="1250" dirty="0"/>
          </a:p>
        </p:txBody>
      </p:sp>
      <p:sp>
        <p:nvSpPr>
          <p:cNvPr id="8" name="insIT_88"/>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Mini-test! Scegli a, b o c. Poi conta i punti.</a:t>
            </a:r>
            <a:endParaRPr lang="en-US" sz="950" dirty="0"/>
          </a:p>
        </p:txBody>
      </p:sp>
      <p:sp>
        <p:nvSpPr>
          <p:cNvPr id="9" name="note_89"/>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FILL THE GAPS</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CHECK</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5 min   👤 alone</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Grammar · TPRS · reading</a:t>
            </a:r>
            <a:endParaRPr lang="en-US" sz="1150" dirty="0"/>
          </a:p>
        </p:txBody>
      </p:sp>
      <p:pic>
        <p:nvPicPr>
          <p:cNvPr id="10" name="logo_90"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91"/>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R5-6 · Grammar · SB p.64 · 9–15   ·   📖 SB p.64 · Grammar 9–15 (TG key)</a:t>
            </a:r>
            <a:endParaRPr lang="en-US" sz="800" dirty="0"/>
          </a:p>
        </p:txBody>
      </p:sp>
      <p:sp>
        <p:nvSpPr>
          <p:cNvPr id="12" name="cd_92"/>
          <p:cNvSpPr/>
          <p:nvPr/>
        </p:nvSpPr>
        <p:spPr>
          <a:xfrm>
            <a:off x="320040" y="1417320"/>
            <a:ext cx="5715000" cy="3337560"/>
          </a:xfrm>
          <a:prstGeom prst="roundRect">
            <a:avLst>
              <a:gd name="adj" fmla="val 3836"/>
            </a:avLst>
          </a:prstGeom>
          <a:solidFill>
            <a:srgbClr val="FFFFFF"/>
          </a:solidFill>
          <a:ln w="28575">
            <a:solidFill>
              <a:srgbClr val="A8E5BE"/>
            </a:solidFill>
            <a:prstDash val="solid"/>
          </a:ln>
          <a:effectLst>
            <a:outerShdw sx="100000" sy="100000" kx="0" ky="0" algn="bl" rotWithShape="0" blurRad="88900" dist="31750" dir="5400000">
              <a:srgbClr val="1B2559">
                <a:alpha val="12000"/>
              </a:srgbClr>
            </a:outerShdw>
          </a:effectLst>
        </p:spPr>
      </p:sp>
      <p:sp>
        <p:nvSpPr>
          <p:cNvPr id="13" name="sh_93"/>
          <p:cNvSpPr/>
          <p:nvPr/>
        </p:nvSpPr>
        <p:spPr>
          <a:xfrm>
            <a:off x="320040" y="1417320"/>
            <a:ext cx="5715000" cy="438912"/>
          </a:xfrm>
          <a:prstGeom prst="rect">
            <a:avLst/>
          </a:prstGeom>
          <a:solidFill>
            <a:srgbClr val="E3F7EA"/>
          </a:solidFill>
          <a:ln/>
        </p:spPr>
        <p:txBody>
          <a:bodyPr wrap="square" lIns="203200" tIns="0" rIns="203200" bIns="0" rtlCol="0" anchor="ctr"/>
          <a:lstStyle/>
          <a:p>
            <a:pPr indent="0" marL="0">
              <a:buNone/>
            </a:pPr>
            <a:r>
              <a:rPr lang="en-US" sz="1700" b="1" dirty="0">
                <a:solidFill>
                  <a:srgbClr val="1F6F43"/>
                </a:solidFill>
                <a:latin typeface="Georgia" pitchFamily="34" charset="0"/>
                <a:ea typeface="Georgia" pitchFamily="34" charset="-122"/>
                <a:cs typeface="Georgia" pitchFamily="34" charset="-120"/>
              </a:rPr>
              <a:t>Circle a, b or c</a:t>
            </a:r>
            <a:endParaRPr lang="en-US" sz="1700" dirty="0"/>
          </a:p>
        </p:txBody>
      </p:sp>
      <p:sp>
        <p:nvSpPr>
          <p:cNvPr id="14" name="ln_94"/>
          <p:cNvSpPr/>
          <p:nvPr/>
        </p:nvSpPr>
        <p:spPr>
          <a:xfrm>
            <a:off x="548640" y="1920240"/>
            <a:ext cx="5349240" cy="308522"/>
          </a:xfrm>
          <a:prstGeom prst="rect">
            <a:avLst/>
          </a:prstGeom>
          <a:noFill/>
          <a:ln/>
        </p:spPr>
        <p:txBody>
          <a:bodyPr wrap="square" lIns="0" tIns="0" rIns="0" bIns="0" rtlCol="0" anchor="t"/>
          <a:lstStyle/>
          <a:p>
            <a:pPr indent="0" marL="0">
              <a:buNone/>
            </a:pPr>
            <a:r>
              <a:rPr lang="en-US" sz="900" dirty="0">
                <a:solidFill>
                  <a:srgbClr val="1B2559"/>
                </a:solidFill>
                <a:latin typeface="Georgia" pitchFamily="34" charset="0"/>
                <a:ea typeface="Georgia" pitchFamily="34" charset="-122"/>
                <a:cs typeface="Georgia" pitchFamily="34" charset="-120"/>
              </a:rPr>
              <a:t>9  He hates </a:t>
            </a:r>
            <a:pPr indent="0" marL="0">
              <a:buNone/>
            </a:pPr>
            <a:r>
              <a:rPr lang="en-US" sz="900" b="1" dirty="0">
                <a:solidFill>
                  <a:srgbClr val="2EB872"/>
                </a:solidFill>
                <a:latin typeface="Georgia" pitchFamily="34" charset="0"/>
                <a:ea typeface="Georgia" pitchFamily="34" charset="-122"/>
                <a:cs typeface="Georgia" pitchFamily="34" charset="-120"/>
              </a:rPr>
              <a:t> (9) ________ </a:t>
            </a:r>
            <a:pPr indent="0" marL="0">
              <a:buNone/>
            </a:pPr>
            <a:r>
              <a:rPr lang="en-US" sz="900" dirty="0">
                <a:solidFill>
                  <a:srgbClr val="1B2559"/>
                </a:solidFill>
                <a:latin typeface="Georgia" pitchFamily="34" charset="0"/>
                <a:ea typeface="Georgia" pitchFamily="34" charset="-122"/>
                <a:cs typeface="Georgia" pitchFamily="34" charset="-120"/>
              </a:rPr>
              <a:t> about his private life.  (a asking · b being asking · c </a:t>
            </a:r>
            <a:pPr indent="0" marL="0">
              <a:buNone/>
            </a:pPr>
            <a:r>
              <a:rPr lang="en-US" sz="900" b="1" u="sng" dirty="0">
                <a:solidFill>
                  <a:srgbClr val="7B5CD6"/>
                </a:solidFill>
                <a:latin typeface="Georgia" pitchFamily="34" charset="0"/>
                <a:ea typeface="Georgia" pitchFamily="34" charset="-122"/>
                <a:cs typeface="Georgia" pitchFamily="34" charset="-120"/>
              </a:rPr>
              <a:t>being asked</a:t>
            </a:r>
            <a:pPr indent="0" marL="0">
              <a:buNone/>
            </a:pPr>
            <a:r>
              <a:rPr lang="en-US" sz="900" dirty="0">
                <a:solidFill>
                  <a:srgbClr val="1B2559"/>
                </a:solidFill>
                <a:latin typeface="Georgia" pitchFamily="34" charset="0"/>
                <a:ea typeface="Georgia" pitchFamily="34" charset="-122"/>
                <a:cs typeface="Georgia" pitchFamily="34" charset="-120"/>
              </a:rPr>
              <a:t>)</a:t>
            </a:r>
            <a:endParaRPr lang="en-US" sz="900" dirty="0"/>
          </a:p>
        </p:txBody>
      </p:sp>
      <p:sp>
        <p:nvSpPr>
          <p:cNvPr id="15" name="R1_lnA95"/>
          <p:cNvSpPr/>
          <p:nvPr/>
        </p:nvSpPr>
        <p:spPr>
          <a:xfrm>
            <a:off x="548640" y="1920240"/>
            <a:ext cx="5349240" cy="308522"/>
          </a:xfrm>
          <a:prstGeom prst="rect">
            <a:avLst/>
          </a:prstGeom>
          <a:solidFill>
            <a:srgbClr val="FFFFFF"/>
          </a:solidFill>
          <a:ln/>
        </p:spPr>
        <p:txBody>
          <a:bodyPr wrap="square" lIns="0" tIns="0" rIns="0" bIns="0" rtlCol="0" anchor="t"/>
          <a:lstStyle/>
          <a:p>
            <a:pPr indent="0" marL="0">
              <a:buNone/>
            </a:pPr>
            <a:r>
              <a:rPr lang="en-US" sz="900" dirty="0">
                <a:solidFill>
                  <a:srgbClr val="1B2559"/>
                </a:solidFill>
                <a:latin typeface="Georgia" pitchFamily="34" charset="0"/>
                <a:ea typeface="Georgia" pitchFamily="34" charset="-122"/>
                <a:cs typeface="Georgia" pitchFamily="34" charset="-120"/>
              </a:rPr>
              <a:t>9  He hates </a:t>
            </a:r>
            <a:pPr indent="0" marL="0">
              <a:buNone/>
            </a:pPr>
            <a:r>
              <a:rPr lang="en-US" sz="900" b="1" dirty="0">
                <a:solidFill>
                  <a:srgbClr val="1B2559"/>
                </a:solidFill>
                <a:highlight>
                  <a:srgbClr val="FFE066"/>
                </a:highlight>
                <a:latin typeface="Georgia" pitchFamily="34" charset="0"/>
                <a:ea typeface="Georgia" pitchFamily="34" charset="-122"/>
                <a:cs typeface="Georgia" pitchFamily="34" charset="-120"/>
              </a:rPr>
              <a:t>c  being asked</a:t>
            </a:r>
            <a:pPr indent="0" marL="0">
              <a:buNone/>
            </a:pPr>
            <a:r>
              <a:rPr lang="en-US" sz="900" dirty="0">
                <a:solidFill>
                  <a:srgbClr val="1B2559"/>
                </a:solidFill>
                <a:latin typeface="Georgia" pitchFamily="34" charset="0"/>
                <a:ea typeface="Georgia" pitchFamily="34" charset="-122"/>
                <a:cs typeface="Georgia" pitchFamily="34" charset="-120"/>
              </a:rPr>
              <a:t> about his private life.  (a asking · b being asking · c </a:t>
            </a:r>
            <a:pPr indent="0" marL="0">
              <a:buNone/>
            </a:pPr>
            <a:r>
              <a:rPr lang="en-US" sz="900" b="1" u="sng" dirty="0">
                <a:solidFill>
                  <a:srgbClr val="7B5CD6"/>
                </a:solidFill>
                <a:latin typeface="Georgia" pitchFamily="34" charset="0"/>
                <a:ea typeface="Georgia" pitchFamily="34" charset="-122"/>
                <a:cs typeface="Georgia" pitchFamily="34" charset="-120"/>
              </a:rPr>
              <a:t>being asked</a:t>
            </a:r>
            <a:pPr indent="0" marL="0">
              <a:buNone/>
            </a:pPr>
            <a:r>
              <a:rPr lang="en-US" sz="900" dirty="0">
                <a:solidFill>
                  <a:srgbClr val="1B2559"/>
                </a:solidFill>
                <a:latin typeface="Georgia" pitchFamily="34" charset="0"/>
                <a:ea typeface="Georgia" pitchFamily="34" charset="-122"/>
                <a:cs typeface="Georgia" pitchFamily="34" charset="-120"/>
              </a:rPr>
              <a:t>)</a:t>
            </a:r>
            <a:endParaRPr lang="en-US" sz="900" dirty="0"/>
          </a:p>
        </p:txBody>
      </p:sp>
      <p:sp>
        <p:nvSpPr>
          <p:cNvPr id="16" name="ln_96"/>
          <p:cNvSpPr/>
          <p:nvPr/>
        </p:nvSpPr>
        <p:spPr>
          <a:xfrm>
            <a:off x="548640" y="2228762"/>
            <a:ext cx="5349240" cy="397108"/>
          </a:xfrm>
          <a:prstGeom prst="rect">
            <a:avLst/>
          </a:prstGeom>
          <a:noFill/>
          <a:ln/>
        </p:spPr>
        <p:txBody>
          <a:bodyPr wrap="square" lIns="0" tIns="0" rIns="0" bIns="0" rtlCol="0" anchor="t"/>
          <a:lstStyle/>
          <a:p>
            <a:pPr indent="0" marL="0">
              <a:buNone/>
            </a:pPr>
            <a:r>
              <a:rPr lang="en-US" sz="900" dirty="0">
                <a:solidFill>
                  <a:srgbClr val="1B2559"/>
                </a:solidFill>
                <a:latin typeface="Georgia" pitchFamily="34" charset="0"/>
                <a:ea typeface="Georgia" pitchFamily="34" charset="-122"/>
                <a:cs typeface="Georgia" pitchFamily="34" charset="-120"/>
              </a:rPr>
              <a:t>10  Why </a:t>
            </a:r>
            <a:pPr indent="0" marL="0">
              <a:buNone/>
            </a:pPr>
            <a:r>
              <a:rPr lang="en-US" sz="900" b="1" dirty="0">
                <a:solidFill>
                  <a:srgbClr val="2EB872"/>
                </a:solidFill>
                <a:latin typeface="Georgia" pitchFamily="34" charset="0"/>
                <a:ea typeface="Georgia" pitchFamily="34" charset="-122"/>
                <a:cs typeface="Georgia" pitchFamily="34" charset="-120"/>
              </a:rPr>
              <a:t> (10) ________ </a:t>
            </a:r>
            <a:pPr indent="0" marL="0">
              <a:buNone/>
            </a:pPr>
            <a:r>
              <a:rPr lang="en-US" sz="900" dirty="0">
                <a:solidFill>
                  <a:srgbClr val="1B2559"/>
                </a:solidFill>
                <a:latin typeface="Georgia" pitchFamily="34" charset="0"/>
                <a:ea typeface="Georgia" pitchFamily="34" charset="-122"/>
                <a:cs typeface="Georgia" pitchFamily="34" charset="-120"/>
              </a:rPr>
              <a:t> in New Zealand?  (a is the film </a:t>
            </a:r>
            <a:pPr indent="0" marL="0">
              <a:buNone/>
            </a:pPr>
            <a:r>
              <a:rPr lang="en-US" sz="900" b="1" u="sng" dirty="0">
                <a:solidFill>
                  <a:srgbClr val="7B5CD6"/>
                </a:solidFill>
                <a:latin typeface="Georgia" pitchFamily="34" charset="0"/>
                <a:ea typeface="Georgia" pitchFamily="34" charset="-122"/>
                <a:cs typeface="Georgia" pitchFamily="34" charset="-120"/>
              </a:rPr>
              <a:t>being made</a:t>
            </a:r>
            <a:pPr indent="0" marL="0">
              <a:buNone/>
            </a:pPr>
            <a:r>
              <a:rPr lang="en-US" sz="900" dirty="0">
                <a:solidFill>
                  <a:srgbClr val="1B2559"/>
                </a:solidFill>
                <a:latin typeface="Georgia" pitchFamily="34" charset="0"/>
                <a:ea typeface="Georgia" pitchFamily="34" charset="-122"/>
                <a:cs typeface="Georgia" pitchFamily="34" charset="-120"/>
              </a:rPr>
              <a:t> · b is the film making · c is making the film)</a:t>
            </a:r>
            <a:endParaRPr lang="en-US" sz="900" dirty="0"/>
          </a:p>
        </p:txBody>
      </p:sp>
      <p:sp>
        <p:nvSpPr>
          <p:cNvPr id="17" name="R2_lnA97"/>
          <p:cNvSpPr/>
          <p:nvPr/>
        </p:nvSpPr>
        <p:spPr>
          <a:xfrm>
            <a:off x="548640" y="2228762"/>
            <a:ext cx="5349240" cy="397108"/>
          </a:xfrm>
          <a:prstGeom prst="rect">
            <a:avLst/>
          </a:prstGeom>
          <a:solidFill>
            <a:srgbClr val="FFFFFF"/>
          </a:solidFill>
          <a:ln/>
        </p:spPr>
        <p:txBody>
          <a:bodyPr wrap="square" lIns="0" tIns="0" rIns="0" bIns="0" rtlCol="0" anchor="t"/>
          <a:lstStyle/>
          <a:p>
            <a:pPr indent="0" marL="0">
              <a:buNone/>
            </a:pPr>
            <a:r>
              <a:rPr lang="en-US" sz="900" dirty="0">
                <a:solidFill>
                  <a:srgbClr val="1B2559"/>
                </a:solidFill>
                <a:latin typeface="Georgia" pitchFamily="34" charset="0"/>
                <a:ea typeface="Georgia" pitchFamily="34" charset="-122"/>
                <a:cs typeface="Georgia" pitchFamily="34" charset="-120"/>
              </a:rPr>
              <a:t>10  Why </a:t>
            </a:r>
            <a:pPr indent="0" marL="0">
              <a:buNone/>
            </a:pPr>
            <a:r>
              <a:rPr lang="en-US" sz="900" b="1" dirty="0">
                <a:solidFill>
                  <a:srgbClr val="1B2559"/>
                </a:solidFill>
                <a:highlight>
                  <a:srgbClr val="FFE066"/>
                </a:highlight>
                <a:latin typeface="Georgia" pitchFamily="34" charset="0"/>
                <a:ea typeface="Georgia" pitchFamily="34" charset="-122"/>
                <a:cs typeface="Georgia" pitchFamily="34" charset="-120"/>
              </a:rPr>
              <a:t>a  is the film being made</a:t>
            </a:r>
            <a:pPr indent="0" marL="0">
              <a:buNone/>
            </a:pPr>
            <a:r>
              <a:rPr lang="en-US" sz="900" dirty="0">
                <a:solidFill>
                  <a:srgbClr val="1B2559"/>
                </a:solidFill>
                <a:latin typeface="Georgia" pitchFamily="34" charset="0"/>
                <a:ea typeface="Georgia" pitchFamily="34" charset="-122"/>
                <a:cs typeface="Georgia" pitchFamily="34" charset="-120"/>
              </a:rPr>
              <a:t> in New Zealand?  (a is the film </a:t>
            </a:r>
            <a:pPr indent="0" marL="0">
              <a:buNone/>
            </a:pPr>
            <a:r>
              <a:rPr lang="en-US" sz="900" b="1" u="sng" dirty="0">
                <a:solidFill>
                  <a:srgbClr val="7B5CD6"/>
                </a:solidFill>
                <a:latin typeface="Georgia" pitchFamily="34" charset="0"/>
                <a:ea typeface="Georgia" pitchFamily="34" charset="-122"/>
                <a:cs typeface="Georgia" pitchFamily="34" charset="-120"/>
              </a:rPr>
              <a:t>being made</a:t>
            </a:r>
            <a:pPr indent="0" marL="0">
              <a:buNone/>
            </a:pPr>
            <a:r>
              <a:rPr lang="en-US" sz="900" dirty="0">
                <a:solidFill>
                  <a:srgbClr val="1B2559"/>
                </a:solidFill>
                <a:latin typeface="Georgia" pitchFamily="34" charset="0"/>
                <a:ea typeface="Georgia" pitchFamily="34" charset="-122"/>
                <a:cs typeface="Georgia" pitchFamily="34" charset="-120"/>
              </a:rPr>
              <a:t> · b is the film making · c is making the film)</a:t>
            </a:r>
            <a:endParaRPr lang="en-US" sz="900" dirty="0"/>
          </a:p>
        </p:txBody>
      </p:sp>
      <p:sp>
        <p:nvSpPr>
          <p:cNvPr id="18" name="ln_98"/>
          <p:cNvSpPr/>
          <p:nvPr/>
        </p:nvSpPr>
        <p:spPr>
          <a:xfrm>
            <a:off x="548640" y="2625870"/>
            <a:ext cx="5349240" cy="507076"/>
          </a:xfrm>
          <a:prstGeom prst="rect">
            <a:avLst/>
          </a:prstGeom>
          <a:noFill/>
          <a:ln/>
        </p:spPr>
        <p:txBody>
          <a:bodyPr wrap="square" lIns="0" tIns="0" rIns="0" bIns="0" rtlCol="0" anchor="t"/>
          <a:lstStyle/>
          <a:p>
            <a:pPr indent="0" marL="0">
              <a:buNone/>
            </a:pPr>
            <a:r>
              <a:rPr lang="en-US" sz="900" dirty="0">
                <a:solidFill>
                  <a:srgbClr val="1B2559"/>
                </a:solidFill>
                <a:latin typeface="Georgia" pitchFamily="34" charset="0"/>
                <a:ea typeface="Georgia" pitchFamily="34" charset="-122"/>
                <a:cs typeface="Georgia" pitchFamily="34" charset="-120"/>
              </a:rPr>
              <a:t>11  Many people believe that Columbus </a:t>
            </a:r>
            <a:pPr indent="0" marL="0">
              <a:buNone/>
            </a:pPr>
            <a:r>
              <a:rPr lang="en-US" sz="900" b="1" dirty="0">
                <a:solidFill>
                  <a:srgbClr val="2EB872"/>
                </a:solidFill>
                <a:latin typeface="Georgia" pitchFamily="34" charset="0"/>
                <a:ea typeface="Georgia" pitchFamily="34" charset="-122"/>
                <a:cs typeface="Georgia" pitchFamily="34" charset="-120"/>
              </a:rPr>
              <a:t> (11) ________ </a:t>
            </a:r>
            <a:pPr indent="0" marL="0">
              <a:buNone/>
            </a:pPr>
            <a:r>
              <a:rPr lang="en-US" sz="900" dirty="0">
                <a:solidFill>
                  <a:srgbClr val="1B2559"/>
                </a:solidFill>
                <a:latin typeface="Georgia" pitchFamily="34" charset="0"/>
                <a:ea typeface="Georgia" pitchFamily="34" charset="-122"/>
                <a:cs typeface="Georgia" pitchFamily="34" charset="-120"/>
              </a:rPr>
              <a:t> America.  (a didn't really discover · b wasn't really discovered · c weren't really discovered)</a:t>
            </a:r>
            <a:endParaRPr lang="en-US" sz="900" dirty="0"/>
          </a:p>
        </p:txBody>
      </p:sp>
      <p:sp>
        <p:nvSpPr>
          <p:cNvPr id="19" name="R3_lnA99"/>
          <p:cNvSpPr/>
          <p:nvPr/>
        </p:nvSpPr>
        <p:spPr>
          <a:xfrm>
            <a:off x="548640" y="2625870"/>
            <a:ext cx="5349240" cy="507076"/>
          </a:xfrm>
          <a:prstGeom prst="rect">
            <a:avLst/>
          </a:prstGeom>
          <a:solidFill>
            <a:srgbClr val="FFFFFF"/>
          </a:solidFill>
          <a:ln/>
        </p:spPr>
        <p:txBody>
          <a:bodyPr wrap="square" lIns="0" tIns="0" rIns="0" bIns="0" rtlCol="0" anchor="t"/>
          <a:lstStyle/>
          <a:p>
            <a:pPr indent="0" marL="0">
              <a:buNone/>
            </a:pPr>
            <a:r>
              <a:rPr lang="en-US" sz="900" dirty="0">
                <a:solidFill>
                  <a:srgbClr val="1B2559"/>
                </a:solidFill>
                <a:latin typeface="Georgia" pitchFamily="34" charset="0"/>
                <a:ea typeface="Georgia" pitchFamily="34" charset="-122"/>
                <a:cs typeface="Georgia" pitchFamily="34" charset="-120"/>
              </a:rPr>
              <a:t>11  Many people believe that Columbus </a:t>
            </a:r>
            <a:pPr indent="0" marL="0">
              <a:buNone/>
            </a:pPr>
            <a:r>
              <a:rPr lang="en-US" sz="900" b="1" dirty="0">
                <a:solidFill>
                  <a:srgbClr val="1B2559"/>
                </a:solidFill>
                <a:highlight>
                  <a:srgbClr val="FFE066"/>
                </a:highlight>
                <a:latin typeface="Georgia" pitchFamily="34" charset="0"/>
                <a:ea typeface="Georgia" pitchFamily="34" charset="-122"/>
                <a:cs typeface="Georgia" pitchFamily="34" charset="-120"/>
              </a:rPr>
              <a:t>a  didn't really discover</a:t>
            </a:r>
            <a:pPr indent="0" marL="0">
              <a:buNone/>
            </a:pPr>
            <a:r>
              <a:rPr lang="en-US" sz="900" dirty="0">
                <a:solidFill>
                  <a:srgbClr val="1B2559"/>
                </a:solidFill>
                <a:latin typeface="Georgia" pitchFamily="34" charset="0"/>
                <a:ea typeface="Georgia" pitchFamily="34" charset="-122"/>
                <a:cs typeface="Georgia" pitchFamily="34" charset="-120"/>
              </a:rPr>
              <a:t> America.  (a didn't really discover · b wasn't really discovered · c weren't really discovered)</a:t>
            </a:r>
            <a:endParaRPr lang="en-US" sz="900" dirty="0"/>
          </a:p>
        </p:txBody>
      </p:sp>
      <p:sp>
        <p:nvSpPr>
          <p:cNvPr id="20" name="ln_100"/>
          <p:cNvSpPr/>
          <p:nvPr/>
        </p:nvSpPr>
        <p:spPr>
          <a:xfrm>
            <a:off x="548640" y="3132947"/>
            <a:ext cx="5349240" cy="415436"/>
          </a:xfrm>
          <a:prstGeom prst="rect">
            <a:avLst/>
          </a:prstGeom>
          <a:noFill/>
          <a:ln/>
        </p:spPr>
        <p:txBody>
          <a:bodyPr wrap="square" lIns="0" tIns="0" rIns="0" bIns="0" rtlCol="0" anchor="t"/>
          <a:lstStyle/>
          <a:p>
            <a:pPr indent="0" marL="0">
              <a:buNone/>
            </a:pPr>
            <a:r>
              <a:rPr lang="en-US" sz="900" dirty="0">
                <a:solidFill>
                  <a:srgbClr val="1B2559"/>
                </a:solidFill>
                <a:latin typeface="Georgia" pitchFamily="34" charset="0"/>
                <a:ea typeface="Georgia" pitchFamily="34" charset="-122"/>
                <a:cs typeface="Georgia" pitchFamily="34" charset="-120"/>
              </a:rPr>
              <a:t>12  A I've just rung the doorbell, but there's no answer. B They </a:t>
            </a:r>
            <a:pPr indent="0" marL="0">
              <a:buNone/>
            </a:pPr>
            <a:r>
              <a:rPr lang="en-US" sz="900" b="1" dirty="0">
                <a:solidFill>
                  <a:srgbClr val="2EB872"/>
                </a:solidFill>
                <a:latin typeface="Georgia" pitchFamily="34" charset="0"/>
                <a:ea typeface="Georgia" pitchFamily="34" charset="-122"/>
                <a:cs typeface="Georgia" pitchFamily="34" charset="-120"/>
              </a:rPr>
              <a:t> (12) ________ </a:t>
            </a:r>
            <a:pPr indent="0" marL="0">
              <a:buNone/>
            </a:pPr>
            <a:r>
              <a:rPr lang="en-US" sz="900" dirty="0">
                <a:solidFill>
                  <a:srgbClr val="1B2559"/>
                </a:solidFill>
                <a:latin typeface="Georgia" pitchFamily="34" charset="0"/>
                <a:ea typeface="Georgia" pitchFamily="34" charset="-122"/>
                <a:cs typeface="Georgia" pitchFamily="34" charset="-120"/>
              </a:rPr>
              <a:t> in the garden.  (a can't be · b might be · c can be)</a:t>
            </a:r>
            <a:endParaRPr lang="en-US" sz="900" dirty="0"/>
          </a:p>
        </p:txBody>
      </p:sp>
      <p:sp>
        <p:nvSpPr>
          <p:cNvPr id="21" name="R4_lnA101"/>
          <p:cNvSpPr/>
          <p:nvPr/>
        </p:nvSpPr>
        <p:spPr>
          <a:xfrm>
            <a:off x="548640" y="3132947"/>
            <a:ext cx="5349240" cy="415436"/>
          </a:xfrm>
          <a:prstGeom prst="rect">
            <a:avLst/>
          </a:prstGeom>
          <a:solidFill>
            <a:srgbClr val="FFFFFF"/>
          </a:solidFill>
          <a:ln/>
        </p:spPr>
        <p:txBody>
          <a:bodyPr wrap="square" lIns="0" tIns="0" rIns="0" bIns="0" rtlCol="0" anchor="t"/>
          <a:lstStyle/>
          <a:p>
            <a:pPr indent="0" marL="0">
              <a:buNone/>
            </a:pPr>
            <a:r>
              <a:rPr lang="en-US" sz="900" dirty="0">
                <a:solidFill>
                  <a:srgbClr val="1B2559"/>
                </a:solidFill>
                <a:latin typeface="Georgia" pitchFamily="34" charset="0"/>
                <a:ea typeface="Georgia" pitchFamily="34" charset="-122"/>
                <a:cs typeface="Georgia" pitchFamily="34" charset="-120"/>
              </a:rPr>
              <a:t>12  A I've just rung the doorbell, but there's no answer. B They </a:t>
            </a:r>
            <a:pPr indent="0" marL="0">
              <a:buNone/>
            </a:pPr>
            <a:r>
              <a:rPr lang="en-US" sz="900" b="1" dirty="0">
                <a:solidFill>
                  <a:srgbClr val="1B2559"/>
                </a:solidFill>
                <a:highlight>
                  <a:srgbClr val="FFE066"/>
                </a:highlight>
                <a:latin typeface="Georgia" pitchFamily="34" charset="0"/>
                <a:ea typeface="Georgia" pitchFamily="34" charset="-122"/>
                <a:cs typeface="Georgia" pitchFamily="34" charset="-120"/>
              </a:rPr>
              <a:t>b  might be</a:t>
            </a:r>
            <a:pPr indent="0" marL="0">
              <a:buNone/>
            </a:pPr>
            <a:r>
              <a:rPr lang="en-US" sz="900" dirty="0">
                <a:solidFill>
                  <a:srgbClr val="1B2559"/>
                </a:solidFill>
                <a:latin typeface="Georgia" pitchFamily="34" charset="0"/>
                <a:ea typeface="Georgia" pitchFamily="34" charset="-122"/>
                <a:cs typeface="Georgia" pitchFamily="34" charset="-120"/>
              </a:rPr>
              <a:t> in the garden.  (a can't be · b might be · c can be)</a:t>
            </a:r>
            <a:endParaRPr lang="en-US" sz="900" dirty="0"/>
          </a:p>
        </p:txBody>
      </p:sp>
      <p:sp>
        <p:nvSpPr>
          <p:cNvPr id="22" name="ln_102"/>
          <p:cNvSpPr/>
          <p:nvPr/>
        </p:nvSpPr>
        <p:spPr>
          <a:xfrm>
            <a:off x="548640" y="3548383"/>
            <a:ext cx="5349240" cy="372671"/>
          </a:xfrm>
          <a:prstGeom prst="rect">
            <a:avLst/>
          </a:prstGeom>
          <a:noFill/>
          <a:ln/>
        </p:spPr>
        <p:txBody>
          <a:bodyPr wrap="square" lIns="0" tIns="0" rIns="0" bIns="0" rtlCol="0" anchor="t"/>
          <a:lstStyle/>
          <a:p>
            <a:pPr indent="0" marL="0">
              <a:buNone/>
            </a:pPr>
            <a:r>
              <a:rPr lang="en-US" sz="900" dirty="0">
                <a:solidFill>
                  <a:srgbClr val="1B2559"/>
                </a:solidFill>
                <a:latin typeface="Georgia" pitchFamily="34" charset="0"/>
                <a:ea typeface="Georgia" pitchFamily="34" charset="-122"/>
                <a:cs typeface="Georgia" pitchFamily="34" charset="-120"/>
              </a:rPr>
              <a:t>13  I'm 29 and he's a bit older than me, so he </a:t>
            </a:r>
            <a:pPr indent="0" marL="0">
              <a:buNone/>
            </a:pPr>
            <a:r>
              <a:rPr lang="en-US" sz="900" b="1" dirty="0">
                <a:solidFill>
                  <a:srgbClr val="2EB872"/>
                </a:solidFill>
                <a:latin typeface="Georgia" pitchFamily="34" charset="0"/>
                <a:ea typeface="Georgia" pitchFamily="34" charset="-122"/>
                <a:cs typeface="Georgia" pitchFamily="34" charset="-120"/>
              </a:rPr>
              <a:t> (13) ________ </a:t>
            </a:r>
            <a:pPr indent="0" marL="0">
              <a:buNone/>
            </a:pPr>
            <a:r>
              <a:rPr lang="en-US" sz="900" dirty="0">
                <a:solidFill>
                  <a:srgbClr val="1B2559"/>
                </a:solidFill>
                <a:latin typeface="Georgia" pitchFamily="34" charset="0"/>
                <a:ea typeface="Georgia" pitchFamily="34" charset="-122"/>
                <a:cs typeface="Georgia" pitchFamily="34" charset="-120"/>
              </a:rPr>
              <a:t> in his thirties now.  (a must be · b may be · c can't be)</a:t>
            </a:r>
            <a:endParaRPr lang="en-US" sz="900" dirty="0"/>
          </a:p>
        </p:txBody>
      </p:sp>
      <p:sp>
        <p:nvSpPr>
          <p:cNvPr id="23" name="R5_lnA103"/>
          <p:cNvSpPr/>
          <p:nvPr/>
        </p:nvSpPr>
        <p:spPr>
          <a:xfrm>
            <a:off x="548640" y="3548383"/>
            <a:ext cx="5349240" cy="372671"/>
          </a:xfrm>
          <a:prstGeom prst="rect">
            <a:avLst/>
          </a:prstGeom>
          <a:solidFill>
            <a:srgbClr val="FFFFFF"/>
          </a:solidFill>
          <a:ln/>
        </p:spPr>
        <p:txBody>
          <a:bodyPr wrap="square" lIns="0" tIns="0" rIns="0" bIns="0" rtlCol="0" anchor="t"/>
          <a:lstStyle/>
          <a:p>
            <a:pPr indent="0" marL="0">
              <a:buNone/>
            </a:pPr>
            <a:r>
              <a:rPr lang="en-US" sz="900" dirty="0">
                <a:solidFill>
                  <a:srgbClr val="1B2559"/>
                </a:solidFill>
                <a:latin typeface="Georgia" pitchFamily="34" charset="0"/>
                <a:ea typeface="Georgia" pitchFamily="34" charset="-122"/>
                <a:cs typeface="Georgia" pitchFamily="34" charset="-120"/>
              </a:rPr>
              <a:t>13  I'm 29 and he's a bit older than me, so he </a:t>
            </a:r>
            <a:pPr indent="0" marL="0">
              <a:buNone/>
            </a:pPr>
            <a:r>
              <a:rPr lang="en-US" sz="900" b="1" dirty="0">
                <a:solidFill>
                  <a:srgbClr val="1B2559"/>
                </a:solidFill>
                <a:highlight>
                  <a:srgbClr val="FFE066"/>
                </a:highlight>
                <a:latin typeface="Georgia" pitchFamily="34" charset="0"/>
                <a:ea typeface="Georgia" pitchFamily="34" charset="-122"/>
                <a:cs typeface="Georgia" pitchFamily="34" charset="-120"/>
              </a:rPr>
              <a:t>a  must be</a:t>
            </a:r>
            <a:pPr indent="0" marL="0">
              <a:buNone/>
            </a:pPr>
            <a:r>
              <a:rPr lang="en-US" sz="900" dirty="0">
                <a:solidFill>
                  <a:srgbClr val="1B2559"/>
                </a:solidFill>
                <a:latin typeface="Georgia" pitchFamily="34" charset="0"/>
                <a:ea typeface="Georgia" pitchFamily="34" charset="-122"/>
                <a:cs typeface="Georgia" pitchFamily="34" charset="-120"/>
              </a:rPr>
              <a:t> in his thirties now.  (a must be · b may be · c can't be)</a:t>
            </a:r>
            <a:endParaRPr lang="en-US" sz="900" dirty="0"/>
          </a:p>
        </p:txBody>
      </p:sp>
      <p:sp>
        <p:nvSpPr>
          <p:cNvPr id="24" name="ln_104"/>
          <p:cNvSpPr/>
          <p:nvPr/>
        </p:nvSpPr>
        <p:spPr>
          <a:xfrm>
            <a:off x="548640" y="3921053"/>
            <a:ext cx="5349240" cy="424600"/>
          </a:xfrm>
          <a:prstGeom prst="rect">
            <a:avLst/>
          </a:prstGeom>
          <a:noFill/>
          <a:ln/>
        </p:spPr>
        <p:txBody>
          <a:bodyPr wrap="square" lIns="0" tIns="0" rIns="0" bIns="0" rtlCol="0" anchor="t"/>
          <a:lstStyle/>
          <a:p>
            <a:pPr indent="0" marL="0">
              <a:buNone/>
            </a:pPr>
            <a:r>
              <a:rPr lang="en-US" sz="900" dirty="0">
                <a:solidFill>
                  <a:srgbClr val="1B2559"/>
                </a:solidFill>
                <a:latin typeface="Georgia" pitchFamily="34" charset="0"/>
                <a:ea typeface="Georgia" pitchFamily="34" charset="-122"/>
                <a:cs typeface="Georgia" pitchFamily="34" charset="-120"/>
              </a:rPr>
              <a:t>14  A Ann and Simon have broken up! B That </a:t>
            </a:r>
            <a:pPr indent="0" marL="0">
              <a:buNone/>
            </a:pPr>
            <a:r>
              <a:rPr lang="en-US" sz="900" b="1" dirty="0">
                <a:solidFill>
                  <a:srgbClr val="2EB872"/>
                </a:solidFill>
                <a:latin typeface="Georgia" pitchFamily="34" charset="0"/>
                <a:ea typeface="Georgia" pitchFamily="34" charset="-122"/>
                <a:cs typeface="Georgia" pitchFamily="34" charset="-120"/>
              </a:rPr>
              <a:t> (14) ________ </a:t>
            </a:r>
            <a:pPr indent="0" marL="0">
              <a:buNone/>
            </a:pPr>
            <a:r>
              <a:rPr lang="en-US" sz="900" dirty="0">
                <a:solidFill>
                  <a:srgbClr val="1B2559"/>
                </a:solidFill>
                <a:latin typeface="Georgia" pitchFamily="34" charset="0"/>
                <a:ea typeface="Georgia" pitchFamily="34" charset="-122"/>
                <a:cs typeface="Georgia" pitchFamily="34" charset="-120"/>
              </a:rPr>
              <a:t> true! I saw them together just now.  (a mustn't be · b might be · c can't be)</a:t>
            </a:r>
            <a:endParaRPr lang="en-US" sz="900" dirty="0"/>
          </a:p>
        </p:txBody>
      </p:sp>
      <p:sp>
        <p:nvSpPr>
          <p:cNvPr id="25" name="R6_lnA105"/>
          <p:cNvSpPr/>
          <p:nvPr/>
        </p:nvSpPr>
        <p:spPr>
          <a:xfrm>
            <a:off x="548640" y="3921053"/>
            <a:ext cx="5349240" cy="424600"/>
          </a:xfrm>
          <a:prstGeom prst="rect">
            <a:avLst/>
          </a:prstGeom>
          <a:solidFill>
            <a:srgbClr val="FFFFFF"/>
          </a:solidFill>
          <a:ln/>
        </p:spPr>
        <p:txBody>
          <a:bodyPr wrap="square" lIns="0" tIns="0" rIns="0" bIns="0" rtlCol="0" anchor="t"/>
          <a:lstStyle/>
          <a:p>
            <a:pPr indent="0" marL="0">
              <a:buNone/>
            </a:pPr>
            <a:r>
              <a:rPr lang="en-US" sz="900" dirty="0">
                <a:solidFill>
                  <a:srgbClr val="1B2559"/>
                </a:solidFill>
                <a:latin typeface="Georgia" pitchFamily="34" charset="0"/>
                <a:ea typeface="Georgia" pitchFamily="34" charset="-122"/>
                <a:cs typeface="Georgia" pitchFamily="34" charset="-120"/>
              </a:rPr>
              <a:t>14  A Ann and Simon have broken up! B That </a:t>
            </a:r>
            <a:pPr indent="0" marL="0">
              <a:buNone/>
            </a:pPr>
            <a:r>
              <a:rPr lang="en-US" sz="900" b="1" dirty="0">
                <a:solidFill>
                  <a:srgbClr val="1B2559"/>
                </a:solidFill>
                <a:highlight>
                  <a:srgbClr val="FFE066"/>
                </a:highlight>
                <a:latin typeface="Georgia" pitchFamily="34" charset="0"/>
                <a:ea typeface="Georgia" pitchFamily="34" charset="-122"/>
                <a:cs typeface="Georgia" pitchFamily="34" charset="-120"/>
              </a:rPr>
              <a:t>c  can't be</a:t>
            </a:r>
            <a:pPr indent="0" marL="0">
              <a:buNone/>
            </a:pPr>
            <a:r>
              <a:rPr lang="en-US" sz="900" dirty="0">
                <a:solidFill>
                  <a:srgbClr val="1B2559"/>
                </a:solidFill>
                <a:latin typeface="Georgia" pitchFamily="34" charset="0"/>
                <a:ea typeface="Georgia" pitchFamily="34" charset="-122"/>
                <a:cs typeface="Georgia" pitchFamily="34" charset="-120"/>
              </a:rPr>
              <a:t> true! I saw them together just now.  (a mustn't be · b might be · c can't be)</a:t>
            </a:r>
            <a:endParaRPr lang="en-US" sz="900" dirty="0"/>
          </a:p>
        </p:txBody>
      </p:sp>
      <p:sp>
        <p:nvSpPr>
          <p:cNvPr id="26" name="ln_106"/>
          <p:cNvSpPr/>
          <p:nvPr/>
        </p:nvSpPr>
        <p:spPr>
          <a:xfrm>
            <a:off x="548640" y="4345653"/>
            <a:ext cx="5349240" cy="363507"/>
          </a:xfrm>
          <a:prstGeom prst="rect">
            <a:avLst/>
          </a:prstGeom>
          <a:noFill/>
          <a:ln/>
        </p:spPr>
        <p:txBody>
          <a:bodyPr wrap="square" lIns="0" tIns="0" rIns="0" bIns="0" rtlCol="0" anchor="t"/>
          <a:lstStyle/>
          <a:p>
            <a:pPr indent="0" marL="0">
              <a:buNone/>
            </a:pPr>
            <a:r>
              <a:rPr lang="en-US" sz="900" dirty="0">
                <a:solidFill>
                  <a:srgbClr val="1B2559"/>
                </a:solidFill>
                <a:latin typeface="Georgia" pitchFamily="34" charset="0"/>
                <a:ea typeface="Georgia" pitchFamily="34" charset="-122"/>
                <a:cs typeface="Georgia" pitchFamily="34" charset="-120"/>
              </a:rPr>
              <a:t>15  A Does your sister know Liam? B She </a:t>
            </a:r>
            <a:pPr indent="0" marL="0">
              <a:buNone/>
            </a:pPr>
            <a:r>
              <a:rPr lang="en-US" sz="900" b="1" dirty="0">
                <a:solidFill>
                  <a:srgbClr val="2EB872"/>
                </a:solidFill>
                <a:latin typeface="Georgia" pitchFamily="34" charset="0"/>
                <a:ea typeface="Georgia" pitchFamily="34" charset="-122"/>
                <a:cs typeface="Georgia" pitchFamily="34" charset="-120"/>
              </a:rPr>
              <a:t> (15) ________ </a:t>
            </a:r>
            <a:pPr indent="0" marL="0">
              <a:buNone/>
            </a:pPr>
            <a:r>
              <a:rPr lang="en-US" sz="900" dirty="0">
                <a:solidFill>
                  <a:srgbClr val="1B2559"/>
                </a:solidFill>
                <a:latin typeface="Georgia" pitchFamily="34" charset="0"/>
                <a:ea typeface="Georgia" pitchFamily="34" charset="-122"/>
                <a:cs typeface="Georgia" pitchFamily="34" charset="-120"/>
              </a:rPr>
              <a:t> him. I'm not sure.  (a can't know · b may know · c can know)</a:t>
            </a:r>
            <a:endParaRPr lang="en-US" sz="900" dirty="0"/>
          </a:p>
        </p:txBody>
      </p:sp>
      <p:sp>
        <p:nvSpPr>
          <p:cNvPr id="27" name="R7_lnA107"/>
          <p:cNvSpPr/>
          <p:nvPr/>
        </p:nvSpPr>
        <p:spPr>
          <a:xfrm>
            <a:off x="548640" y="4345653"/>
            <a:ext cx="5349240" cy="363507"/>
          </a:xfrm>
          <a:prstGeom prst="rect">
            <a:avLst/>
          </a:prstGeom>
          <a:solidFill>
            <a:srgbClr val="FFFFFF"/>
          </a:solidFill>
          <a:ln/>
        </p:spPr>
        <p:txBody>
          <a:bodyPr wrap="square" lIns="0" tIns="0" rIns="0" bIns="0" rtlCol="0" anchor="t"/>
          <a:lstStyle/>
          <a:p>
            <a:pPr indent="0" marL="0">
              <a:buNone/>
            </a:pPr>
            <a:r>
              <a:rPr lang="en-US" sz="900" dirty="0">
                <a:solidFill>
                  <a:srgbClr val="1B2559"/>
                </a:solidFill>
                <a:latin typeface="Georgia" pitchFamily="34" charset="0"/>
                <a:ea typeface="Georgia" pitchFamily="34" charset="-122"/>
                <a:cs typeface="Georgia" pitchFamily="34" charset="-120"/>
              </a:rPr>
              <a:t>15  A Does your sister know Liam? B She </a:t>
            </a:r>
            <a:pPr indent="0" marL="0">
              <a:buNone/>
            </a:pPr>
            <a:r>
              <a:rPr lang="en-US" sz="900" b="1" dirty="0">
                <a:solidFill>
                  <a:srgbClr val="1B2559"/>
                </a:solidFill>
                <a:highlight>
                  <a:srgbClr val="FFE066"/>
                </a:highlight>
                <a:latin typeface="Georgia" pitchFamily="34" charset="0"/>
                <a:ea typeface="Georgia" pitchFamily="34" charset="-122"/>
                <a:cs typeface="Georgia" pitchFamily="34" charset="-120"/>
              </a:rPr>
              <a:t>b  may know</a:t>
            </a:r>
            <a:pPr indent="0" marL="0">
              <a:buNone/>
            </a:pPr>
            <a:r>
              <a:rPr lang="en-US" sz="900" dirty="0">
                <a:solidFill>
                  <a:srgbClr val="1B2559"/>
                </a:solidFill>
                <a:latin typeface="Georgia" pitchFamily="34" charset="0"/>
                <a:ea typeface="Georgia" pitchFamily="34" charset="-122"/>
                <a:cs typeface="Georgia" pitchFamily="34" charset="-120"/>
              </a:rPr>
              <a:t> him. I'm not sure.  (a can't know · b may know · c can know)</a:t>
            </a:r>
            <a:endParaRPr lang="en-US" sz="900" dirty="0"/>
          </a:p>
        </p:txBody>
      </p:sp>
      <p:sp>
        <p:nvSpPr>
          <p:cNvPr id="28" name="cd_108"/>
          <p:cNvSpPr/>
          <p:nvPr/>
        </p:nvSpPr>
        <p:spPr>
          <a:xfrm>
            <a:off x="6263640" y="3794760"/>
            <a:ext cx="2651760" cy="960120"/>
          </a:xfrm>
          <a:prstGeom prst="roundRect">
            <a:avLst>
              <a:gd name="adj" fmla="val 13333"/>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29" name="ii_109"/>
          <p:cNvSpPr/>
          <p:nvPr/>
        </p:nvSpPr>
        <p:spPr>
          <a:xfrm>
            <a:off x="6355080" y="38679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30" name="ih_110"/>
          <p:cNvSpPr/>
          <p:nvPr/>
        </p:nvSpPr>
        <p:spPr>
          <a:xfrm>
            <a:off x="6830568" y="3886200"/>
            <a:ext cx="2011680" cy="365760"/>
          </a:xfrm>
          <a:prstGeom prst="rect">
            <a:avLst/>
          </a:prstGeom>
          <a:noFill/>
          <a:ln/>
        </p:spPr>
        <p:txBody>
          <a:bodyPr wrap="square" lIns="0" tIns="0" rIns="0" bIns="0" rtlCol="0" anchor="ct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Remember</a:t>
            </a:r>
            <a:endParaRPr lang="en-US" sz="1200" dirty="0"/>
          </a:p>
        </p:txBody>
      </p:sp>
      <p:sp>
        <p:nvSpPr>
          <p:cNvPr id="31" name="il_111"/>
          <p:cNvSpPr/>
          <p:nvPr/>
        </p:nvSpPr>
        <p:spPr>
          <a:xfrm>
            <a:off x="6830568" y="4288536"/>
            <a:ext cx="1993392" cy="393192"/>
          </a:xfrm>
          <a:prstGeom prst="rect">
            <a:avLst/>
          </a:prstGeom>
          <a:noFill/>
          <a:ln/>
        </p:spPr>
        <p:txBody>
          <a:bodyPr wrap="square" lIns="0" tIns="0" rIns="0" bIns="0" rtlCol="0" anchor="t">
            <a:normAutofit/>
          </a:bodyPr>
          <a:lstStyle/>
          <a:p>
            <a:pPr marL="152400" indent="-152400">
              <a:spcAft>
                <a:spcPts val="200"/>
              </a:spcAft>
              <a:buSzPct val="100000"/>
              <a:buChar char="•"/>
            </a:pPr>
            <a:r>
              <a:rPr lang="en-US" sz="900" dirty="0">
                <a:solidFill>
                  <a:srgbClr val="1B2559"/>
                </a:solidFill>
                <a:latin typeface="Segoe UI Semibold" pitchFamily="34" charset="0"/>
                <a:ea typeface="Segoe UI Semibold" pitchFamily="34" charset="-122"/>
                <a:cs typeface="Segoe UI Semibold" pitchFamily="34" charset="-120"/>
              </a:rPr>
              <a:t>Count your points: ___ / 15</a:t>
            </a:r>
            <a:endParaRPr lang="en-US" sz="900" dirty="0"/>
          </a:p>
          <a:p>
            <a:pPr marL="152400" indent="-152400">
              <a:spcBef>
                <a:spcPts val="600"/>
              </a:spcBef>
              <a:spcAft>
                <a:spcPts val="200"/>
              </a:spcAft>
              <a:buSzPct val="100000"/>
              <a:buChar char="•"/>
            </a:pPr>
            <a:r>
              <a:rPr lang="en-US" sz="900" dirty="0">
                <a:solidFill>
                  <a:srgbClr val="1B2559"/>
                </a:solidFill>
                <a:latin typeface="Segoe UI Semibold" pitchFamily="34" charset="0"/>
                <a:ea typeface="Segoe UI Semibold" pitchFamily="34" charset="-122"/>
                <a:cs typeface="Segoe UI Semibold" pitchFamily="34" charset="-120"/>
              </a:rPr>
              <a:t>13+ = excellent!</a:t>
            </a:r>
            <a:endParaRPr lang="en-US" sz="9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4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4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400"/>
                                        <p:tgtEl>
                                          <p:spTgt spid="2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fade">
                                      <p:cBhvr>
                                        <p:cTn id="27" dur="400"/>
                                        <p:tgtEl>
                                          <p:spTgt spid="2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fade">
                                      <p:cBhvr>
                                        <p:cTn id="32" dur="400"/>
                                        <p:tgtEl>
                                          <p:spTgt spid="25"/>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12"/>
          <p:cNvSpPr/>
          <p:nvPr/>
        </p:nvSpPr>
        <p:spPr>
          <a:xfrm>
            <a:off x="201168" y="164592"/>
            <a:ext cx="841248" cy="841248"/>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5</a:t>
            </a:r>
            <a:endParaRPr lang="en-US" sz="2800" dirty="0"/>
          </a:p>
        </p:txBody>
      </p:sp>
      <p:pic>
        <p:nvPicPr>
          <p:cNvPr id="4" name="brY_113" descr="/home/claude/lls-course/v2/assets/brush-yellow.png">    </p:cNvPr>
          <p:cNvPicPr>
            <a:picLocks noChangeAspect="1"/>
          </p:cNvPicPr>
          <p:nvPr/>
        </p:nvPicPr>
        <p:blipFill>
          <a:blip r:embed="rId2"/>
          <a:stretch>
            <a:fillRect/>
          </a:stretch>
        </p:blipFill>
        <p:spPr>
          <a:xfrm>
            <a:off x="1097280" y="146304"/>
            <a:ext cx="3247949" cy="621792"/>
          </a:xfrm>
          <a:prstGeom prst="rect">
            <a:avLst/>
          </a:prstGeom>
        </p:spPr>
      </p:pic>
      <p:sp>
        <p:nvSpPr>
          <p:cNvPr id="5" name="title_114"/>
          <p:cNvSpPr/>
          <p:nvPr/>
        </p:nvSpPr>
        <p:spPr>
          <a:xfrm>
            <a:off x="1261872" y="164592"/>
            <a:ext cx="2973629"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Why is it right?</a:t>
            </a:r>
            <a:endParaRPr lang="en-US" sz="2500" dirty="0"/>
          </a:p>
        </p:txBody>
      </p:sp>
      <p:pic>
        <p:nvPicPr>
          <p:cNvPr id="6" name="brP_115" descr="/home/claude/lls-course/v2/assets/brush-pink.png">    </p:cNvPr>
          <p:cNvPicPr>
            <a:picLocks noChangeAspect="1"/>
          </p:cNvPicPr>
          <p:nvPr/>
        </p:nvPicPr>
        <p:blipFill>
          <a:blip r:embed="rId3"/>
          <a:stretch>
            <a:fillRect/>
          </a:stretch>
        </p:blipFill>
        <p:spPr>
          <a:xfrm>
            <a:off x="1207008" y="731520"/>
            <a:ext cx="4119372" cy="402336"/>
          </a:xfrm>
          <a:prstGeom prst="rect">
            <a:avLst/>
          </a:prstGeom>
        </p:spPr>
      </p:pic>
      <p:sp>
        <p:nvSpPr>
          <p:cNvPr id="7" name="ins_116"/>
          <p:cNvSpPr/>
          <p:nvPr/>
        </p:nvSpPr>
        <p:spPr>
          <a:xfrm>
            <a:off x="1353312" y="731520"/>
            <a:ext cx="3863340"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Which tense? Say the rule – then click!</a:t>
            </a:r>
            <a:endParaRPr lang="en-US" sz="1250" dirty="0"/>
          </a:p>
        </p:txBody>
      </p:sp>
      <p:sp>
        <p:nvSpPr>
          <p:cNvPr id="8" name="insIT_117"/>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Quale tempo? Di' la regola – poi clicca!</a:t>
            </a:r>
            <a:endParaRPr lang="en-US" sz="950" dirty="0"/>
          </a:p>
        </p:txBody>
      </p:sp>
      <p:sp>
        <p:nvSpPr>
          <p:cNvPr id="9" name="note_118"/>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THINK</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SAY IT</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4 min   🙋 whole class</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Grammar · Communicative</a:t>
            </a:r>
            <a:endParaRPr lang="en-US" sz="1150" dirty="0"/>
          </a:p>
        </p:txBody>
      </p:sp>
      <p:pic>
        <p:nvPicPr>
          <p:cNvPr id="10" name="logo_119"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120"/>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R5-6 · Grammar Banks 5A–6B · the rules   ·   📖 Grammar Banks 5A, 5B, 6A, 6B</a:t>
            </a:r>
            <a:endParaRPr lang="en-US" sz="800" dirty="0"/>
          </a:p>
        </p:txBody>
      </p:sp>
      <p:sp>
        <p:nvSpPr>
          <p:cNvPr id="12" name="cvl_121"/>
          <p:cNvSpPr/>
          <p:nvPr/>
        </p:nvSpPr>
        <p:spPr>
          <a:xfrm>
            <a:off x="320040" y="1417320"/>
            <a:ext cx="2971800" cy="457200"/>
          </a:xfrm>
          <a:prstGeom prst="leftArrow">
            <a:avLst/>
          </a:prstGeom>
          <a:solidFill>
            <a:srgbClr val="E3F1FD"/>
          </a:solidFill>
          <a:ln w="28575">
            <a:solidFill>
              <a:srgbClr val="A9D3F5"/>
            </a:solidFill>
          </a:ln>
        </p:spPr>
        <p:txBody>
          <a:bodyPr wrap="square" lIns="177800" tIns="0" rIns="76200" bIns="0" rtlCol="0" anchor="ctr">
            <a:normAutofit/>
          </a:bodyPr>
          <a:lstStyle/>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the ball </a:t>
            </a:r>
            <a:pPr algn="ctr" indent="0" marL="0">
              <a:buNone/>
            </a:pPr>
            <a:r>
              <a:rPr lang="en-US" sz="1100" b="1" dirty="0">
                <a:solidFill>
                  <a:srgbClr val="2F8DE4"/>
                </a:solidFill>
                <a:highlight>
                  <a:srgbClr val="FFF1A8"/>
                </a:highlight>
                <a:latin typeface="Segoe UI Semibold" pitchFamily="34" charset="0"/>
                <a:ea typeface="Segoe UI Semibold" pitchFamily="34" charset="-122"/>
                <a:cs typeface="Segoe UI Semibold" pitchFamily="34" charset="-120"/>
              </a:rPr>
              <a:t>went</a:t>
            </a:r>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into the net</a:t>
            </a:r>
            <a:endParaRPr lang="en-US" sz="1100" dirty="0"/>
          </a:p>
        </p:txBody>
      </p:sp>
      <p:sp>
        <p:nvSpPr>
          <p:cNvPr id="13" name="cva_122"/>
          <p:cNvSpPr/>
          <p:nvPr/>
        </p:nvSpPr>
        <p:spPr>
          <a:xfrm>
            <a:off x="3364992" y="1417320"/>
            <a:ext cx="1024128" cy="457200"/>
          </a:xfrm>
          <a:prstGeom prst="roundRect">
            <a:avLst>
              <a:gd name="adj" fmla="val 12000"/>
            </a:avLst>
          </a:prstGeom>
          <a:solidFill>
            <a:srgbClr val="FFFFFF"/>
          </a:solidFill>
          <a:ln w="28575">
            <a:solidFill>
              <a:srgbClr val="A9D3F5"/>
            </a:solidFill>
          </a:ln>
        </p:spPr>
        <p:txBody>
          <a:bodyPr wrap="square" lIns="0" tIns="0" rIns="0" bIns="0" rtlCol="0" anchor="ctr">
            <a:normAutofit/>
          </a:bodyPr>
          <a:lstStyle/>
          <a:p>
            <a:pPr algn="ctr" indent="0" marL="0">
              <a:buNone/>
            </a:pPr>
            <a:r>
              <a:rPr lang="en-US" sz="1000" b="1" dirty="0">
                <a:solidFill>
                  <a:srgbClr val="2F8DE4"/>
                </a:solidFill>
                <a:latin typeface="Arial Rounded MT Bold" pitchFamily="34" charset="0"/>
                <a:ea typeface="Arial Rounded MT Bold" pitchFamily="34" charset="-122"/>
                <a:cs typeface="Arial Rounded MT Bold" pitchFamily="34" charset="-120"/>
              </a:rPr>
              <a:t>one action</a:t>
            </a:r>
            <a:endParaRPr lang="en-US" sz="1000" dirty="0"/>
          </a:p>
        </p:txBody>
      </p:sp>
      <p:sp>
        <p:nvSpPr>
          <p:cNvPr id="14" name="R1_cvb123"/>
          <p:cNvSpPr/>
          <p:nvPr/>
        </p:nvSpPr>
        <p:spPr>
          <a:xfrm>
            <a:off x="4443984" y="1417320"/>
            <a:ext cx="1024128" cy="457200"/>
          </a:xfrm>
          <a:prstGeom prst="roundRect">
            <a:avLst>
              <a:gd name="adj" fmla="val 12000"/>
            </a:avLst>
          </a:prstGeom>
          <a:solidFill>
            <a:srgbClr val="FFFFFF"/>
          </a:solidFill>
          <a:ln w="28575">
            <a:solidFill>
              <a:srgbClr val="F7A6C4"/>
            </a:solidFill>
          </a:ln>
        </p:spPr>
        <p:txBody>
          <a:bodyPr wrap="square" lIns="0" tIns="0" rIns="0" bIns="0" rtlCol="0" anchor="ctr">
            <a:normAutofit/>
          </a:bodyPr>
          <a:lstStyle/>
          <a:p>
            <a:pPr algn="ctr" indent="0" marL="0">
              <a:buNone/>
            </a:pPr>
            <a:r>
              <a:rPr lang="en-US" sz="1000" b="1" dirty="0">
                <a:solidFill>
                  <a:srgbClr val="E8508F"/>
                </a:solidFill>
                <a:latin typeface="Arial Rounded MT Bold" pitchFamily="34" charset="0"/>
                <a:ea typeface="Arial Rounded MT Bold" pitchFamily="34" charset="-122"/>
                <a:cs typeface="Arial Rounded MT Bold" pitchFamily="34" charset="-120"/>
              </a:rPr>
              <a:t>past simple</a:t>
            </a:r>
            <a:endParaRPr lang="en-US" sz="1000" dirty="0"/>
          </a:p>
        </p:txBody>
      </p:sp>
      <p:sp>
        <p:nvSpPr>
          <p:cNvPr id="15" name="R1_cvr124"/>
          <p:cNvSpPr/>
          <p:nvPr/>
        </p:nvSpPr>
        <p:spPr>
          <a:xfrm>
            <a:off x="5541264" y="1417320"/>
            <a:ext cx="3328416" cy="457200"/>
          </a:xfrm>
          <a:prstGeom prst="rightArrow">
            <a:avLst/>
          </a:prstGeom>
          <a:solidFill>
            <a:srgbClr val="FFE3EE"/>
          </a:solidFill>
          <a:ln w="28575">
            <a:solidFill>
              <a:srgbClr val="F7A6C4"/>
            </a:solidFill>
          </a:ln>
        </p:spPr>
        <p:txBody>
          <a:bodyPr wrap="square" lIns="76200" tIns="0" rIns="177800" bIns="0" rtlCol="0" anchor="ctr">
            <a:normAutofit/>
          </a:bodyPr>
          <a:lstStyle/>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Elliot served, but the ball </a:t>
            </a:r>
            <a:pPr algn="ctr" indent="0" marL="0">
              <a:buNone/>
            </a:pPr>
            <a:r>
              <a:rPr lang="en-US" sz="1100" b="1" dirty="0">
                <a:solidFill>
                  <a:srgbClr val="E8508F"/>
                </a:solidFill>
                <a:highlight>
                  <a:srgbClr val="FFF1A8"/>
                </a:highlight>
                <a:latin typeface="Segoe UI Semibold" pitchFamily="34" charset="0"/>
                <a:ea typeface="Segoe UI Semibold" pitchFamily="34" charset="-122"/>
                <a:cs typeface="Segoe UI Semibold" pitchFamily="34" charset="-120"/>
              </a:rPr>
              <a:t>went</a:t>
            </a:r>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into the net.</a:t>
            </a:r>
            <a:endParaRPr lang="en-US" sz="1100" dirty="0"/>
          </a:p>
        </p:txBody>
      </p:sp>
      <p:sp>
        <p:nvSpPr>
          <p:cNvPr id="16" name="cvl_125"/>
          <p:cNvSpPr/>
          <p:nvPr/>
        </p:nvSpPr>
        <p:spPr>
          <a:xfrm>
            <a:off x="320040" y="1920240"/>
            <a:ext cx="2971800" cy="457200"/>
          </a:xfrm>
          <a:prstGeom prst="leftArrow">
            <a:avLst/>
          </a:prstGeom>
          <a:solidFill>
            <a:srgbClr val="E3F1FD"/>
          </a:solidFill>
          <a:ln w="28575">
            <a:solidFill>
              <a:srgbClr val="A9D3F5"/>
            </a:solidFill>
          </a:ln>
        </p:spPr>
        <p:txBody>
          <a:bodyPr wrap="square" lIns="177800" tIns="0" rIns="76200" bIns="0" rtlCol="0" anchor="ctr">
            <a:normAutofit/>
          </a:bodyPr>
          <a:lstStyle/>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she </a:t>
            </a:r>
            <a:pPr algn="ctr" indent="0" marL="0">
              <a:buNone/>
            </a:pPr>
            <a:r>
              <a:rPr lang="en-US" sz="1100" b="1" dirty="0">
                <a:solidFill>
                  <a:srgbClr val="2F8DE4"/>
                </a:solidFill>
                <a:highlight>
                  <a:srgbClr val="FFF1A8"/>
                </a:highlight>
                <a:latin typeface="Segoe UI Semibold" pitchFamily="34" charset="0"/>
                <a:ea typeface="Segoe UI Semibold" pitchFamily="34" charset="-122"/>
                <a:cs typeface="Segoe UI Semibold" pitchFamily="34" charset="-120"/>
              </a:rPr>
              <a:t>was running</a:t>
            </a:r>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towards the line</a:t>
            </a:r>
            <a:endParaRPr lang="en-US" sz="1100" dirty="0"/>
          </a:p>
        </p:txBody>
      </p:sp>
      <p:sp>
        <p:nvSpPr>
          <p:cNvPr id="17" name="cva_126"/>
          <p:cNvSpPr/>
          <p:nvPr/>
        </p:nvSpPr>
        <p:spPr>
          <a:xfrm>
            <a:off x="3364992" y="1920240"/>
            <a:ext cx="1024128" cy="457200"/>
          </a:xfrm>
          <a:prstGeom prst="roundRect">
            <a:avLst>
              <a:gd name="adj" fmla="val 12000"/>
            </a:avLst>
          </a:prstGeom>
          <a:solidFill>
            <a:srgbClr val="FFFFFF"/>
          </a:solidFill>
          <a:ln w="28575">
            <a:solidFill>
              <a:srgbClr val="A9D3F5"/>
            </a:solidFill>
          </a:ln>
        </p:spPr>
        <p:txBody>
          <a:bodyPr wrap="square" lIns="0" tIns="0" rIns="0" bIns="0" rtlCol="0" anchor="ctr">
            <a:normAutofit/>
          </a:bodyPr>
          <a:lstStyle/>
          <a:p>
            <a:pPr algn="ctr" indent="0" marL="0">
              <a:buNone/>
            </a:pPr>
            <a:r>
              <a:rPr lang="en-US" sz="1000" b="1" dirty="0">
                <a:solidFill>
                  <a:srgbClr val="2F8DE4"/>
                </a:solidFill>
                <a:latin typeface="Arial Rounded MT Bold" pitchFamily="34" charset="0"/>
                <a:ea typeface="Arial Rounded MT Bold" pitchFamily="34" charset="-122"/>
                <a:cs typeface="Arial Rounded MT Bold" pitchFamily="34" charset="-120"/>
              </a:rPr>
              <a:t>in progress</a:t>
            </a:r>
            <a:endParaRPr lang="en-US" sz="1000" dirty="0"/>
          </a:p>
        </p:txBody>
      </p:sp>
      <p:sp>
        <p:nvSpPr>
          <p:cNvPr id="18" name="R2_cvb127"/>
          <p:cNvSpPr/>
          <p:nvPr/>
        </p:nvSpPr>
        <p:spPr>
          <a:xfrm>
            <a:off x="4443984" y="1920240"/>
            <a:ext cx="1024128" cy="457200"/>
          </a:xfrm>
          <a:prstGeom prst="roundRect">
            <a:avLst>
              <a:gd name="adj" fmla="val 12000"/>
            </a:avLst>
          </a:prstGeom>
          <a:solidFill>
            <a:srgbClr val="FFFFFF"/>
          </a:solidFill>
          <a:ln w="28575">
            <a:solidFill>
              <a:srgbClr val="F7A6C4"/>
            </a:solidFill>
          </a:ln>
        </p:spPr>
        <p:txBody>
          <a:bodyPr wrap="square" lIns="0" tIns="0" rIns="0" bIns="0" rtlCol="0" anchor="ctr">
            <a:normAutofit/>
          </a:bodyPr>
          <a:lstStyle/>
          <a:p>
            <a:pPr algn="ctr" indent="0" marL="0">
              <a:buNone/>
            </a:pPr>
            <a:r>
              <a:rPr lang="en-US" sz="1000" b="1" dirty="0">
                <a:solidFill>
                  <a:srgbClr val="E8508F"/>
                </a:solidFill>
                <a:latin typeface="Arial Rounded MT Bold" pitchFamily="34" charset="0"/>
                <a:ea typeface="Arial Rounded MT Bold" pitchFamily="34" charset="-122"/>
                <a:cs typeface="Arial Rounded MT Bold" pitchFamily="34" charset="-120"/>
              </a:rPr>
              <a:t>past continuous</a:t>
            </a:r>
            <a:endParaRPr lang="en-US" sz="1000" dirty="0"/>
          </a:p>
        </p:txBody>
      </p:sp>
      <p:sp>
        <p:nvSpPr>
          <p:cNvPr id="19" name="R2_cvr128"/>
          <p:cNvSpPr/>
          <p:nvPr/>
        </p:nvSpPr>
        <p:spPr>
          <a:xfrm>
            <a:off x="5541264" y="1920240"/>
            <a:ext cx="3328416" cy="457200"/>
          </a:xfrm>
          <a:prstGeom prst="rightArrow">
            <a:avLst/>
          </a:prstGeom>
          <a:solidFill>
            <a:srgbClr val="FFE3EE"/>
          </a:solidFill>
          <a:ln w="28575">
            <a:solidFill>
              <a:srgbClr val="F7A6C4"/>
            </a:solidFill>
          </a:ln>
        </p:spPr>
        <p:txBody>
          <a:bodyPr wrap="square" lIns="76200" tIns="0" rIns="177800" bIns="0" rtlCol="0" anchor="ctr">
            <a:normAutofit/>
          </a:bodyPr>
          <a:lstStyle/>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The athlete fell when she </a:t>
            </a:r>
            <a:pPr algn="ctr" indent="0" marL="0">
              <a:buNone/>
            </a:pPr>
            <a:r>
              <a:rPr lang="en-US" sz="1100" b="1" dirty="0">
                <a:solidFill>
                  <a:srgbClr val="E8508F"/>
                </a:solidFill>
                <a:highlight>
                  <a:srgbClr val="FFF1A8"/>
                </a:highlight>
                <a:latin typeface="Segoe UI Semibold" pitchFamily="34" charset="0"/>
                <a:ea typeface="Segoe UI Semibold" pitchFamily="34" charset="-122"/>
                <a:cs typeface="Segoe UI Semibold" pitchFamily="34" charset="-120"/>
              </a:rPr>
              <a:t>was running</a:t>
            </a:r>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towards the finishing line.</a:t>
            </a:r>
            <a:endParaRPr lang="en-US" sz="1100" dirty="0"/>
          </a:p>
        </p:txBody>
      </p:sp>
      <p:sp>
        <p:nvSpPr>
          <p:cNvPr id="20" name="cvl_129"/>
          <p:cNvSpPr/>
          <p:nvPr/>
        </p:nvSpPr>
        <p:spPr>
          <a:xfrm>
            <a:off x="320040" y="2423160"/>
            <a:ext cx="2971800" cy="457200"/>
          </a:xfrm>
          <a:prstGeom prst="leftArrow">
            <a:avLst/>
          </a:prstGeom>
          <a:solidFill>
            <a:srgbClr val="E3F1FD"/>
          </a:solidFill>
          <a:ln w="28575">
            <a:solidFill>
              <a:srgbClr val="A9D3F5"/>
            </a:solidFill>
          </a:ln>
        </p:spPr>
        <p:txBody>
          <a:bodyPr wrap="square" lIns="177800" tIns="0" rIns="76200" bIns="0" rtlCol="0" anchor="ctr">
            <a:normAutofit/>
          </a:bodyPr>
          <a:lstStyle/>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you </a:t>
            </a:r>
            <a:pPr algn="ctr" indent="0" marL="0">
              <a:buNone/>
            </a:pPr>
            <a:r>
              <a:rPr lang="en-US" sz="1100" b="1" dirty="0">
                <a:solidFill>
                  <a:srgbClr val="2F8DE4"/>
                </a:solidFill>
                <a:highlight>
                  <a:srgbClr val="FFF1A8"/>
                </a:highlight>
                <a:latin typeface="Segoe UI Semibold" pitchFamily="34" charset="0"/>
                <a:ea typeface="Segoe UI Semibold" pitchFamily="34" charset="-122"/>
                <a:cs typeface="Segoe UI Semibold" pitchFamily="34" charset="-120"/>
              </a:rPr>
              <a:t>hadn't met</a:t>
            </a:r>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before</a:t>
            </a:r>
            <a:endParaRPr lang="en-US" sz="1100" dirty="0"/>
          </a:p>
        </p:txBody>
      </p:sp>
      <p:sp>
        <p:nvSpPr>
          <p:cNvPr id="21" name="cva_130"/>
          <p:cNvSpPr/>
          <p:nvPr/>
        </p:nvSpPr>
        <p:spPr>
          <a:xfrm>
            <a:off x="3364992" y="2423160"/>
            <a:ext cx="1024128" cy="457200"/>
          </a:xfrm>
          <a:prstGeom prst="roundRect">
            <a:avLst>
              <a:gd name="adj" fmla="val 12000"/>
            </a:avLst>
          </a:prstGeom>
          <a:solidFill>
            <a:srgbClr val="FFFFFF"/>
          </a:solidFill>
          <a:ln w="28575">
            <a:solidFill>
              <a:srgbClr val="A9D3F5"/>
            </a:solidFill>
          </a:ln>
        </p:spPr>
        <p:txBody>
          <a:bodyPr wrap="square" lIns="0" tIns="0" rIns="0" bIns="0" rtlCol="0" anchor="ctr">
            <a:normAutofit/>
          </a:bodyPr>
          <a:lstStyle/>
          <a:p>
            <a:pPr algn="ctr" indent="0" marL="0">
              <a:buNone/>
            </a:pPr>
            <a:r>
              <a:rPr lang="en-US" sz="1000" b="1" dirty="0">
                <a:solidFill>
                  <a:srgbClr val="2F8DE4"/>
                </a:solidFill>
                <a:latin typeface="Arial Rounded MT Bold" pitchFamily="34" charset="0"/>
                <a:ea typeface="Arial Rounded MT Bold" pitchFamily="34" charset="-122"/>
                <a:cs typeface="Arial Rounded MT Bold" pitchFamily="34" charset="-120"/>
              </a:rPr>
              <a:t>earlier past</a:t>
            </a:r>
            <a:endParaRPr lang="en-US" sz="1000" dirty="0"/>
          </a:p>
        </p:txBody>
      </p:sp>
      <p:sp>
        <p:nvSpPr>
          <p:cNvPr id="22" name="R3_cvb131"/>
          <p:cNvSpPr/>
          <p:nvPr/>
        </p:nvSpPr>
        <p:spPr>
          <a:xfrm>
            <a:off x="4443984" y="2423160"/>
            <a:ext cx="1024128" cy="457200"/>
          </a:xfrm>
          <a:prstGeom prst="roundRect">
            <a:avLst>
              <a:gd name="adj" fmla="val 12000"/>
            </a:avLst>
          </a:prstGeom>
          <a:solidFill>
            <a:srgbClr val="FFFFFF"/>
          </a:solidFill>
          <a:ln w="28575">
            <a:solidFill>
              <a:srgbClr val="F7A6C4"/>
            </a:solidFill>
          </a:ln>
        </p:spPr>
        <p:txBody>
          <a:bodyPr wrap="square" lIns="0" tIns="0" rIns="0" bIns="0" rtlCol="0" anchor="ctr">
            <a:normAutofit/>
          </a:bodyPr>
          <a:lstStyle/>
          <a:p>
            <a:pPr algn="ctr" indent="0" marL="0">
              <a:buNone/>
            </a:pPr>
            <a:r>
              <a:rPr lang="en-US" sz="1000" b="1" dirty="0">
                <a:solidFill>
                  <a:srgbClr val="E8508F"/>
                </a:solidFill>
                <a:latin typeface="Arial Rounded MT Bold" pitchFamily="34" charset="0"/>
                <a:ea typeface="Arial Rounded MT Bold" pitchFamily="34" charset="-122"/>
                <a:cs typeface="Arial Rounded MT Bold" pitchFamily="34" charset="-120"/>
              </a:rPr>
              <a:t>past perfect</a:t>
            </a:r>
            <a:endParaRPr lang="en-US" sz="1000" dirty="0"/>
          </a:p>
        </p:txBody>
      </p:sp>
      <p:sp>
        <p:nvSpPr>
          <p:cNvPr id="23" name="R3_cvr132"/>
          <p:cNvSpPr/>
          <p:nvPr/>
        </p:nvSpPr>
        <p:spPr>
          <a:xfrm>
            <a:off x="5541264" y="2423160"/>
            <a:ext cx="3328416" cy="457200"/>
          </a:xfrm>
          <a:prstGeom prst="rightArrow">
            <a:avLst/>
          </a:prstGeom>
          <a:solidFill>
            <a:srgbClr val="FFE3EE"/>
          </a:solidFill>
          <a:ln w="28575">
            <a:solidFill>
              <a:srgbClr val="F7A6C4"/>
            </a:solidFill>
          </a:ln>
        </p:spPr>
        <p:txBody>
          <a:bodyPr wrap="square" lIns="76200" tIns="0" rIns="177800" bIns="0" rtlCol="0" anchor="ctr">
            <a:normAutofit/>
          </a:bodyPr>
          <a:lstStyle/>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I didn't realize that you two </a:t>
            </a:r>
            <a:pPr algn="ctr" indent="0" marL="0">
              <a:buNone/>
            </a:pPr>
            <a:r>
              <a:rPr lang="en-US" sz="1100" b="1" dirty="0">
                <a:solidFill>
                  <a:srgbClr val="E8508F"/>
                </a:solidFill>
                <a:highlight>
                  <a:srgbClr val="FFF1A8"/>
                </a:highlight>
                <a:latin typeface="Segoe UI Semibold" pitchFamily="34" charset="0"/>
                <a:ea typeface="Segoe UI Semibold" pitchFamily="34" charset="-122"/>
                <a:cs typeface="Segoe UI Semibold" pitchFamily="34" charset="-120"/>
              </a:rPr>
              <a:t>hadn't met</a:t>
            </a:r>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before.</a:t>
            </a:r>
            <a:endParaRPr lang="en-US" sz="1100" dirty="0"/>
          </a:p>
        </p:txBody>
      </p:sp>
      <p:sp>
        <p:nvSpPr>
          <p:cNvPr id="24" name="cvl_133"/>
          <p:cNvSpPr/>
          <p:nvPr/>
        </p:nvSpPr>
        <p:spPr>
          <a:xfrm>
            <a:off x="320040" y="2926080"/>
            <a:ext cx="2971800" cy="457200"/>
          </a:xfrm>
          <a:prstGeom prst="leftArrow">
            <a:avLst/>
          </a:prstGeom>
          <a:solidFill>
            <a:srgbClr val="E3F1FD"/>
          </a:solidFill>
          <a:ln w="28575">
            <a:solidFill>
              <a:srgbClr val="A9D3F5"/>
            </a:solidFill>
          </a:ln>
        </p:spPr>
        <p:txBody>
          <a:bodyPr wrap="square" lIns="177800" tIns="0" rIns="76200" bIns="0" rtlCol="0" anchor="ctr">
            <a:normAutofit/>
          </a:bodyPr>
          <a:lstStyle/>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I </a:t>
            </a:r>
            <a:pPr algn="ctr" indent="0" marL="0">
              <a:buNone/>
            </a:pPr>
            <a:r>
              <a:rPr lang="en-US" sz="1100" b="1" dirty="0">
                <a:solidFill>
                  <a:srgbClr val="2F8DE4"/>
                </a:solidFill>
                <a:highlight>
                  <a:srgbClr val="FFF1A8"/>
                </a:highlight>
                <a:latin typeface="Segoe UI Semibold" pitchFamily="34" charset="0"/>
                <a:ea typeface="Segoe UI Semibold" pitchFamily="34" charset="-122"/>
                <a:cs typeface="Segoe UI Semibold" pitchFamily="34" charset="-120"/>
              </a:rPr>
              <a:t>didn't use to</a:t>
            </a:r>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like vegetables</a:t>
            </a:r>
            <a:endParaRPr lang="en-US" sz="1100" dirty="0"/>
          </a:p>
        </p:txBody>
      </p:sp>
      <p:sp>
        <p:nvSpPr>
          <p:cNvPr id="25" name="cva_134"/>
          <p:cNvSpPr/>
          <p:nvPr/>
        </p:nvSpPr>
        <p:spPr>
          <a:xfrm>
            <a:off x="3364992" y="2926080"/>
            <a:ext cx="1024128" cy="457200"/>
          </a:xfrm>
          <a:prstGeom prst="roundRect">
            <a:avLst>
              <a:gd name="adj" fmla="val 12000"/>
            </a:avLst>
          </a:prstGeom>
          <a:solidFill>
            <a:srgbClr val="FFFFFF"/>
          </a:solidFill>
          <a:ln w="28575">
            <a:solidFill>
              <a:srgbClr val="A9D3F5"/>
            </a:solidFill>
          </a:ln>
        </p:spPr>
        <p:txBody>
          <a:bodyPr wrap="square" lIns="0" tIns="0" rIns="0" bIns="0" rtlCol="0" anchor="ctr">
            <a:normAutofit/>
          </a:bodyPr>
          <a:lstStyle/>
          <a:p>
            <a:pPr algn="ctr" indent="0" marL="0">
              <a:buNone/>
            </a:pPr>
            <a:r>
              <a:rPr lang="en-US" sz="1000" b="1" dirty="0">
                <a:solidFill>
                  <a:srgbClr val="2F8DE4"/>
                </a:solidFill>
                <a:latin typeface="Arial Rounded MT Bold" pitchFamily="34" charset="0"/>
                <a:ea typeface="Arial Rounded MT Bold" pitchFamily="34" charset="-122"/>
                <a:cs typeface="Arial Rounded MT Bold" pitchFamily="34" charset="-120"/>
              </a:rPr>
              <a:t>past habit</a:t>
            </a:r>
            <a:endParaRPr lang="en-US" sz="1000" dirty="0"/>
          </a:p>
        </p:txBody>
      </p:sp>
      <p:sp>
        <p:nvSpPr>
          <p:cNvPr id="26" name="R4_cvb135"/>
          <p:cNvSpPr/>
          <p:nvPr/>
        </p:nvSpPr>
        <p:spPr>
          <a:xfrm>
            <a:off x="4443984" y="2926080"/>
            <a:ext cx="1024128" cy="457200"/>
          </a:xfrm>
          <a:prstGeom prst="roundRect">
            <a:avLst>
              <a:gd name="adj" fmla="val 12000"/>
            </a:avLst>
          </a:prstGeom>
          <a:solidFill>
            <a:srgbClr val="FFFFFF"/>
          </a:solidFill>
          <a:ln w="28575">
            <a:solidFill>
              <a:srgbClr val="F7A6C4"/>
            </a:solidFill>
          </a:ln>
        </p:spPr>
        <p:txBody>
          <a:bodyPr wrap="square" lIns="0" tIns="0" rIns="0" bIns="0" rtlCol="0" anchor="ctr">
            <a:normAutofit/>
          </a:bodyPr>
          <a:lstStyle/>
          <a:p>
            <a:pPr algn="ctr" indent="0" marL="0">
              <a:buNone/>
            </a:pPr>
            <a:r>
              <a:rPr lang="en-US" sz="1000" b="1" dirty="0">
                <a:solidFill>
                  <a:srgbClr val="E8508F"/>
                </a:solidFill>
                <a:latin typeface="Arial Rounded MT Bold" pitchFamily="34" charset="0"/>
                <a:ea typeface="Arial Rounded MT Bold" pitchFamily="34" charset="-122"/>
                <a:cs typeface="Arial Rounded MT Bold" pitchFamily="34" charset="-120"/>
              </a:rPr>
              <a:t>used to</a:t>
            </a:r>
            <a:endParaRPr lang="en-US" sz="1000" dirty="0"/>
          </a:p>
        </p:txBody>
      </p:sp>
      <p:sp>
        <p:nvSpPr>
          <p:cNvPr id="27" name="R4_cvr136"/>
          <p:cNvSpPr/>
          <p:nvPr/>
        </p:nvSpPr>
        <p:spPr>
          <a:xfrm>
            <a:off x="5541264" y="2926080"/>
            <a:ext cx="3328416" cy="457200"/>
          </a:xfrm>
          <a:prstGeom prst="rightArrow">
            <a:avLst/>
          </a:prstGeom>
          <a:solidFill>
            <a:srgbClr val="FFE3EE"/>
          </a:solidFill>
          <a:ln w="28575">
            <a:solidFill>
              <a:srgbClr val="F7A6C4"/>
            </a:solidFill>
          </a:ln>
        </p:spPr>
        <p:txBody>
          <a:bodyPr wrap="square" lIns="76200" tIns="0" rIns="177800" bIns="0" rtlCol="0" anchor="ctr">
            <a:normAutofit/>
          </a:bodyPr>
          <a:lstStyle/>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When I was a child, I </a:t>
            </a:r>
            <a:pPr algn="ctr" indent="0" marL="0">
              <a:buNone/>
            </a:pPr>
            <a:r>
              <a:rPr lang="en-US" sz="1100" b="1" dirty="0">
                <a:solidFill>
                  <a:srgbClr val="E8508F"/>
                </a:solidFill>
                <a:highlight>
                  <a:srgbClr val="FFF1A8"/>
                </a:highlight>
                <a:latin typeface="Segoe UI Semibold" pitchFamily="34" charset="0"/>
                <a:ea typeface="Segoe UI Semibold" pitchFamily="34" charset="-122"/>
                <a:cs typeface="Segoe UI Semibold" pitchFamily="34" charset="-120"/>
              </a:rPr>
              <a:t>didn't use to</a:t>
            </a:r>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like vegetables.</a:t>
            </a:r>
            <a:endParaRPr lang="en-US" sz="1100" dirty="0"/>
          </a:p>
        </p:txBody>
      </p:sp>
      <p:sp>
        <p:nvSpPr>
          <p:cNvPr id="28" name="cvl_137"/>
          <p:cNvSpPr/>
          <p:nvPr/>
        </p:nvSpPr>
        <p:spPr>
          <a:xfrm>
            <a:off x="320040" y="3429000"/>
            <a:ext cx="2971800" cy="457200"/>
          </a:xfrm>
          <a:prstGeom prst="leftArrow">
            <a:avLst/>
          </a:prstGeom>
          <a:solidFill>
            <a:srgbClr val="E3F1FD"/>
          </a:solidFill>
          <a:ln w="28575">
            <a:solidFill>
              <a:srgbClr val="A9D3F5"/>
            </a:solidFill>
          </a:ln>
        </p:spPr>
        <p:txBody>
          <a:bodyPr wrap="square" lIns="177800" tIns="0" rIns="76200" bIns="0" rtlCol="0" anchor="ctr">
            <a:normAutofit/>
          </a:bodyPr>
          <a:lstStyle/>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films </a:t>
            </a:r>
            <a:pPr algn="ctr" indent="0" marL="0">
              <a:buNone/>
            </a:pPr>
            <a:r>
              <a:rPr lang="en-US" sz="1100" b="1" dirty="0">
                <a:solidFill>
                  <a:srgbClr val="2F8DE4"/>
                </a:solidFill>
                <a:highlight>
                  <a:srgbClr val="FFF1A8"/>
                </a:highlight>
                <a:latin typeface="Segoe UI Semibold" pitchFamily="34" charset="0"/>
                <a:ea typeface="Segoe UI Semibold" pitchFamily="34" charset="-122"/>
                <a:cs typeface="Segoe UI Semibold" pitchFamily="34" charset="-120"/>
              </a:rPr>
              <a:t>have been shot</a:t>
            </a:r>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there</a:t>
            </a:r>
            <a:endParaRPr lang="en-US" sz="1100" dirty="0"/>
          </a:p>
        </p:txBody>
      </p:sp>
      <p:sp>
        <p:nvSpPr>
          <p:cNvPr id="29" name="cva_138"/>
          <p:cNvSpPr/>
          <p:nvPr/>
        </p:nvSpPr>
        <p:spPr>
          <a:xfrm>
            <a:off x="3364992" y="3429000"/>
            <a:ext cx="1024128" cy="457200"/>
          </a:xfrm>
          <a:prstGeom prst="roundRect">
            <a:avLst>
              <a:gd name="adj" fmla="val 12000"/>
            </a:avLst>
          </a:prstGeom>
          <a:solidFill>
            <a:srgbClr val="FFFFFF"/>
          </a:solidFill>
          <a:ln w="28575">
            <a:solidFill>
              <a:srgbClr val="A9D3F5"/>
            </a:solidFill>
          </a:ln>
        </p:spPr>
        <p:txBody>
          <a:bodyPr wrap="square" lIns="0" tIns="0" rIns="0" bIns="0" rtlCol="0" anchor="ctr">
            <a:normAutofit/>
          </a:bodyPr>
          <a:lstStyle/>
          <a:p>
            <a:pPr algn="ctr" indent="0" marL="0">
              <a:buNone/>
            </a:pPr>
            <a:r>
              <a:rPr lang="en-US" sz="1000" b="1" dirty="0">
                <a:solidFill>
                  <a:srgbClr val="2F8DE4"/>
                </a:solidFill>
                <a:latin typeface="Arial Rounded MT Bold" pitchFamily="34" charset="0"/>
                <a:ea typeface="Arial Rounded MT Bold" pitchFamily="34" charset="-122"/>
                <a:cs typeface="Arial Rounded MT Bold" pitchFamily="34" charset="-120"/>
              </a:rPr>
              <a:t>passive</a:t>
            </a:r>
            <a:endParaRPr lang="en-US" sz="1000" dirty="0"/>
          </a:p>
        </p:txBody>
      </p:sp>
      <p:sp>
        <p:nvSpPr>
          <p:cNvPr id="30" name="R5_cvb139"/>
          <p:cNvSpPr/>
          <p:nvPr/>
        </p:nvSpPr>
        <p:spPr>
          <a:xfrm>
            <a:off x="4443984" y="3429000"/>
            <a:ext cx="1024128" cy="457200"/>
          </a:xfrm>
          <a:prstGeom prst="roundRect">
            <a:avLst>
              <a:gd name="adj" fmla="val 12000"/>
            </a:avLst>
          </a:prstGeom>
          <a:solidFill>
            <a:srgbClr val="FFFFFF"/>
          </a:solidFill>
          <a:ln w="28575">
            <a:solidFill>
              <a:srgbClr val="F7A6C4"/>
            </a:solidFill>
          </a:ln>
        </p:spPr>
        <p:txBody>
          <a:bodyPr wrap="square" lIns="0" tIns="0" rIns="0" bIns="0" rtlCol="0" anchor="ctr">
            <a:normAutofit/>
          </a:bodyPr>
          <a:lstStyle/>
          <a:p>
            <a:pPr algn="ctr" indent="0" marL="0">
              <a:buNone/>
            </a:pPr>
            <a:r>
              <a:rPr lang="en-US" sz="1000" b="1" dirty="0">
                <a:solidFill>
                  <a:srgbClr val="E8508F"/>
                </a:solidFill>
                <a:latin typeface="Arial Rounded MT Bold" pitchFamily="34" charset="0"/>
                <a:ea typeface="Arial Rounded MT Bold" pitchFamily="34" charset="-122"/>
                <a:cs typeface="Arial Rounded MT Bold" pitchFamily="34" charset="-120"/>
              </a:rPr>
              <a:t>have been + p.p.</a:t>
            </a:r>
            <a:endParaRPr lang="en-US" sz="1000" dirty="0"/>
          </a:p>
        </p:txBody>
      </p:sp>
      <p:sp>
        <p:nvSpPr>
          <p:cNvPr id="31" name="R5_cvr140"/>
          <p:cNvSpPr/>
          <p:nvPr/>
        </p:nvSpPr>
        <p:spPr>
          <a:xfrm>
            <a:off x="5541264" y="3429000"/>
            <a:ext cx="3328416" cy="457200"/>
          </a:xfrm>
          <a:prstGeom prst="rightArrow">
            <a:avLst/>
          </a:prstGeom>
          <a:solidFill>
            <a:srgbClr val="FFE3EE"/>
          </a:solidFill>
          <a:ln w="28575">
            <a:solidFill>
              <a:srgbClr val="F7A6C4"/>
            </a:solidFill>
          </a:ln>
        </p:spPr>
        <p:txBody>
          <a:bodyPr wrap="square" lIns="76200" tIns="0" rIns="177800" bIns="0" rtlCol="0" anchor="ctr">
            <a:normAutofit/>
          </a:bodyPr>
          <a:lstStyle/>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Lots of famous films </a:t>
            </a:r>
            <a:pPr algn="ctr" indent="0" marL="0">
              <a:buNone/>
            </a:pPr>
            <a:r>
              <a:rPr lang="en-US" sz="1100" b="1" dirty="0">
                <a:solidFill>
                  <a:srgbClr val="E8508F"/>
                </a:solidFill>
                <a:highlight>
                  <a:srgbClr val="FFF1A8"/>
                </a:highlight>
                <a:latin typeface="Segoe UI Semibold" pitchFamily="34" charset="0"/>
                <a:ea typeface="Segoe UI Semibold" pitchFamily="34" charset="-122"/>
                <a:cs typeface="Segoe UI Semibold" pitchFamily="34" charset="-120"/>
              </a:rPr>
              <a:t>have been shot</a:t>
            </a:r>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in San Francisco.</a:t>
            </a:r>
            <a:endParaRPr lang="en-US" sz="1100" dirty="0"/>
          </a:p>
        </p:txBody>
      </p:sp>
      <p:sp>
        <p:nvSpPr>
          <p:cNvPr id="32" name="cvl_141"/>
          <p:cNvSpPr/>
          <p:nvPr/>
        </p:nvSpPr>
        <p:spPr>
          <a:xfrm>
            <a:off x="320040" y="3931920"/>
            <a:ext cx="2971800" cy="457200"/>
          </a:xfrm>
          <a:prstGeom prst="leftArrow">
            <a:avLst/>
          </a:prstGeom>
          <a:solidFill>
            <a:srgbClr val="E3F1FD"/>
          </a:solidFill>
          <a:ln w="28575">
            <a:solidFill>
              <a:srgbClr val="A9D3F5"/>
            </a:solidFill>
          </a:ln>
        </p:spPr>
        <p:txBody>
          <a:bodyPr wrap="square" lIns="177800" tIns="0" rIns="76200" bIns="0" rtlCol="0" anchor="ctr">
            <a:normAutofit/>
          </a:bodyPr>
          <a:lstStyle/>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he </a:t>
            </a:r>
            <a:pPr algn="ctr" indent="0" marL="0">
              <a:buNone/>
            </a:pPr>
            <a:r>
              <a:rPr lang="en-US" sz="1100" b="1" dirty="0">
                <a:solidFill>
                  <a:srgbClr val="2F8DE4"/>
                </a:solidFill>
                <a:highlight>
                  <a:srgbClr val="FFF1A8"/>
                </a:highlight>
                <a:latin typeface="Segoe UI Semibold" pitchFamily="34" charset="0"/>
                <a:ea typeface="Segoe UI Semibold" pitchFamily="34" charset="-122"/>
                <a:cs typeface="Segoe UI Semibold" pitchFamily="34" charset="-120"/>
              </a:rPr>
              <a:t>must be</a:t>
            </a:r>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in his thirties</a:t>
            </a:r>
            <a:endParaRPr lang="en-US" sz="1100" dirty="0"/>
          </a:p>
        </p:txBody>
      </p:sp>
      <p:sp>
        <p:nvSpPr>
          <p:cNvPr id="33" name="cva_142"/>
          <p:cNvSpPr/>
          <p:nvPr/>
        </p:nvSpPr>
        <p:spPr>
          <a:xfrm>
            <a:off x="3364992" y="3931920"/>
            <a:ext cx="1024128" cy="457200"/>
          </a:xfrm>
          <a:prstGeom prst="roundRect">
            <a:avLst>
              <a:gd name="adj" fmla="val 12000"/>
            </a:avLst>
          </a:prstGeom>
          <a:solidFill>
            <a:srgbClr val="FFFFFF"/>
          </a:solidFill>
          <a:ln w="28575">
            <a:solidFill>
              <a:srgbClr val="A9D3F5"/>
            </a:solidFill>
          </a:ln>
        </p:spPr>
        <p:txBody>
          <a:bodyPr wrap="square" lIns="0" tIns="0" rIns="0" bIns="0" rtlCol="0" anchor="ctr">
            <a:normAutofit/>
          </a:bodyPr>
          <a:lstStyle/>
          <a:p>
            <a:pPr algn="ctr" indent="0" marL="0">
              <a:buNone/>
            </a:pPr>
            <a:r>
              <a:rPr lang="en-US" sz="1000" b="1" dirty="0">
                <a:solidFill>
                  <a:srgbClr val="2F8DE4"/>
                </a:solidFill>
                <a:latin typeface="Arial Rounded MT Bold" pitchFamily="34" charset="0"/>
                <a:ea typeface="Arial Rounded MT Bold" pitchFamily="34" charset="-122"/>
                <a:cs typeface="Arial Rounded MT Bold" pitchFamily="34" charset="-120"/>
              </a:rPr>
              <a:t>almost sure</a:t>
            </a:r>
            <a:endParaRPr lang="en-US" sz="1000" dirty="0"/>
          </a:p>
        </p:txBody>
      </p:sp>
      <p:sp>
        <p:nvSpPr>
          <p:cNvPr id="34" name="R6_cvb143"/>
          <p:cNvSpPr/>
          <p:nvPr/>
        </p:nvSpPr>
        <p:spPr>
          <a:xfrm>
            <a:off x="4443984" y="3931920"/>
            <a:ext cx="1024128" cy="457200"/>
          </a:xfrm>
          <a:prstGeom prst="roundRect">
            <a:avLst>
              <a:gd name="adj" fmla="val 12000"/>
            </a:avLst>
          </a:prstGeom>
          <a:solidFill>
            <a:srgbClr val="FFFFFF"/>
          </a:solidFill>
          <a:ln w="28575">
            <a:solidFill>
              <a:srgbClr val="F7A6C4"/>
            </a:solidFill>
          </a:ln>
        </p:spPr>
        <p:txBody>
          <a:bodyPr wrap="square" lIns="0" tIns="0" rIns="0" bIns="0" rtlCol="0" anchor="ctr">
            <a:normAutofit/>
          </a:bodyPr>
          <a:lstStyle/>
          <a:p>
            <a:pPr algn="ctr" indent="0" marL="0">
              <a:buNone/>
            </a:pPr>
            <a:r>
              <a:rPr lang="en-US" sz="1000" b="1" dirty="0">
                <a:solidFill>
                  <a:srgbClr val="E8508F"/>
                </a:solidFill>
                <a:latin typeface="Arial Rounded MT Bold" pitchFamily="34" charset="0"/>
                <a:ea typeface="Arial Rounded MT Bold" pitchFamily="34" charset="-122"/>
                <a:cs typeface="Arial Rounded MT Bold" pitchFamily="34" charset="-120"/>
              </a:rPr>
              <a:t>must / might / can't</a:t>
            </a:r>
            <a:endParaRPr lang="en-US" sz="1000" dirty="0"/>
          </a:p>
        </p:txBody>
      </p:sp>
      <p:sp>
        <p:nvSpPr>
          <p:cNvPr id="35" name="R6_cvr144"/>
          <p:cNvSpPr/>
          <p:nvPr/>
        </p:nvSpPr>
        <p:spPr>
          <a:xfrm>
            <a:off x="5541264" y="3931920"/>
            <a:ext cx="3328416" cy="457200"/>
          </a:xfrm>
          <a:prstGeom prst="rightArrow">
            <a:avLst/>
          </a:prstGeom>
          <a:solidFill>
            <a:srgbClr val="FFE3EE"/>
          </a:solidFill>
          <a:ln w="28575">
            <a:solidFill>
              <a:srgbClr val="F7A6C4"/>
            </a:solidFill>
          </a:ln>
        </p:spPr>
        <p:txBody>
          <a:bodyPr wrap="square" lIns="76200" tIns="0" rIns="177800" bIns="0" rtlCol="0" anchor="ctr">
            <a:normAutofit/>
          </a:bodyPr>
          <a:lstStyle/>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He's a bit older than me, so he </a:t>
            </a:r>
            <a:pPr algn="ctr" indent="0" marL="0">
              <a:buNone/>
            </a:pPr>
            <a:r>
              <a:rPr lang="en-US" sz="1100" b="1" dirty="0">
                <a:solidFill>
                  <a:srgbClr val="E8508F"/>
                </a:solidFill>
                <a:highlight>
                  <a:srgbClr val="FFF1A8"/>
                </a:highlight>
                <a:latin typeface="Segoe UI Semibold" pitchFamily="34" charset="0"/>
                <a:ea typeface="Segoe UI Semibold" pitchFamily="34" charset="-122"/>
                <a:cs typeface="Segoe UI Semibold" pitchFamily="34" charset="-120"/>
              </a:rPr>
              <a:t>must be</a:t>
            </a:r>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in his thirties.</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00"/>
                                        <p:tgtEl>
                                          <p:spTgt spid="14"/>
                                        </p:tgtEl>
                                      </p:cBhvr>
                                    </p:animEffect>
                                  </p:childTnLst>
                                </p:cTn>
                              </p:par>
                              <p:par>
                                <p:cTn id="8" presetID="10" presetClass="entr" presetSubtype="0"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400"/>
                                        <p:tgtEl>
                                          <p:spTgt spid="1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400"/>
                                        <p:tgtEl>
                                          <p:spTgt spid="18"/>
                                        </p:tgtEl>
                                      </p:cBhvr>
                                    </p:animEffect>
                                  </p:childTnLst>
                                </p:cTn>
                              </p:par>
                              <p:par>
                                <p:cTn id="16" presetID="10" presetClass="entr" presetSubtype="0" fill="hold" nodeType="with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fade">
                                      <p:cBhvr>
                                        <p:cTn id="18" dur="400"/>
                                        <p:tgtEl>
                                          <p:spTgt spid="1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fade">
                                      <p:cBhvr>
                                        <p:cTn id="23" dur="400"/>
                                        <p:tgtEl>
                                          <p:spTgt spid="22"/>
                                        </p:tgtEl>
                                      </p:cBhvr>
                                    </p:animEffect>
                                  </p:childTnLst>
                                </p:cTn>
                              </p:par>
                              <p:par>
                                <p:cTn id="24" presetID="10" presetClass="entr" presetSubtype="0" fill="hold" nodeType="withEffect">
                                  <p:stCondLst>
                                    <p:cond delay="0"/>
                                  </p:stCondLst>
                                  <p:childTnLst>
                                    <p:set>
                                      <p:cBhvr>
                                        <p:cTn id="25" dur="1" fill="hold">
                                          <p:stCondLst>
                                            <p:cond delay="0"/>
                                          </p:stCondLst>
                                        </p:cTn>
                                        <p:tgtEl>
                                          <p:spTgt spid="23"/>
                                        </p:tgtEl>
                                        <p:attrNameLst>
                                          <p:attrName>style.visibility</p:attrName>
                                        </p:attrNameLst>
                                      </p:cBhvr>
                                      <p:to>
                                        <p:strVal val="visible"/>
                                      </p:to>
                                    </p:set>
                                    <p:animEffect transition="in" filter="fade">
                                      <p:cBhvr>
                                        <p:cTn id="26" dur="400"/>
                                        <p:tgtEl>
                                          <p:spTgt spid="23"/>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400"/>
                                        <p:tgtEl>
                                          <p:spTgt spid="26"/>
                                        </p:tgtEl>
                                      </p:cBhvr>
                                    </p:animEffect>
                                  </p:childTnLst>
                                </p:cTn>
                              </p:par>
                              <p:par>
                                <p:cTn id="32" presetID="10" presetClass="entr" presetSubtype="0" fill="hold" nodeType="withEffect">
                                  <p:stCondLst>
                                    <p:cond delay="0"/>
                                  </p:stCondLst>
                                  <p:childTnLst>
                                    <p:set>
                                      <p:cBhvr>
                                        <p:cTn id="33" dur="1" fill="hold">
                                          <p:stCondLst>
                                            <p:cond delay="0"/>
                                          </p:stCondLst>
                                        </p:cTn>
                                        <p:tgtEl>
                                          <p:spTgt spid="27"/>
                                        </p:tgtEl>
                                        <p:attrNameLst>
                                          <p:attrName>style.visibility</p:attrName>
                                        </p:attrNameLst>
                                      </p:cBhvr>
                                      <p:to>
                                        <p:strVal val="visible"/>
                                      </p:to>
                                    </p:set>
                                    <p:animEffect transition="in" filter="fade">
                                      <p:cBhvr>
                                        <p:cTn id="34" dur="400"/>
                                        <p:tgtEl>
                                          <p:spTgt spid="27"/>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30"/>
                                        </p:tgtEl>
                                        <p:attrNameLst>
                                          <p:attrName>style.visibility</p:attrName>
                                        </p:attrNameLst>
                                      </p:cBhvr>
                                      <p:to>
                                        <p:strVal val="visible"/>
                                      </p:to>
                                    </p:set>
                                    <p:animEffect transition="in" filter="fade">
                                      <p:cBhvr>
                                        <p:cTn id="39" dur="400"/>
                                        <p:tgtEl>
                                          <p:spTgt spid="30"/>
                                        </p:tgtEl>
                                      </p:cBhvr>
                                    </p:animEffect>
                                  </p:childTnLst>
                                </p:cTn>
                              </p:par>
                              <p:par>
                                <p:cTn id="40" presetID="10" presetClass="entr" presetSubtype="0" fill="hold" nodeType="withEffect">
                                  <p:stCondLst>
                                    <p:cond delay="0"/>
                                  </p:stCondLst>
                                  <p:childTnLst>
                                    <p:set>
                                      <p:cBhvr>
                                        <p:cTn id="41" dur="1" fill="hold">
                                          <p:stCondLst>
                                            <p:cond delay="0"/>
                                          </p:stCondLst>
                                        </p:cTn>
                                        <p:tgtEl>
                                          <p:spTgt spid="31"/>
                                        </p:tgtEl>
                                        <p:attrNameLst>
                                          <p:attrName>style.visibility</p:attrName>
                                        </p:attrNameLst>
                                      </p:cBhvr>
                                      <p:to>
                                        <p:strVal val="visible"/>
                                      </p:to>
                                    </p:set>
                                    <p:animEffect transition="in" filter="fade">
                                      <p:cBhvr>
                                        <p:cTn id="42" dur="400"/>
                                        <p:tgtEl>
                                          <p:spTgt spid="31"/>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4"/>
                                        </p:tgtEl>
                                        <p:attrNameLst>
                                          <p:attrName>style.visibility</p:attrName>
                                        </p:attrNameLst>
                                      </p:cBhvr>
                                      <p:to>
                                        <p:strVal val="visible"/>
                                      </p:to>
                                    </p:set>
                                    <p:animEffect transition="in" filter="fade">
                                      <p:cBhvr>
                                        <p:cTn id="47" dur="400"/>
                                        <p:tgtEl>
                                          <p:spTgt spid="34"/>
                                        </p:tgtEl>
                                      </p:cBhvr>
                                    </p:animEffect>
                                  </p:childTnLst>
                                </p:cTn>
                              </p:par>
                              <p:par>
                                <p:cTn id="48" presetID="10" presetClass="entr" presetSubtype="0" fill="hold" nodeType="withEffect">
                                  <p:stCondLst>
                                    <p:cond delay="0"/>
                                  </p:stCondLst>
                                  <p:childTnLst>
                                    <p:set>
                                      <p:cBhvr>
                                        <p:cTn id="49" dur="1" fill="hold">
                                          <p:stCondLst>
                                            <p:cond delay="0"/>
                                          </p:stCondLst>
                                        </p:cTn>
                                        <p:tgtEl>
                                          <p:spTgt spid="35"/>
                                        </p:tgtEl>
                                        <p:attrNameLst>
                                          <p:attrName>style.visibility</p:attrName>
                                        </p:attrNameLst>
                                      </p:cBhvr>
                                      <p:to>
                                        <p:strVal val="visible"/>
                                      </p:to>
                                    </p:set>
                                    <p:animEffect transition="in" filter="fade">
                                      <p:cBhvr>
                                        <p:cTn id="50"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45"/>
          <p:cNvSpPr/>
          <p:nvPr/>
        </p:nvSpPr>
        <p:spPr>
          <a:xfrm>
            <a:off x="201168" y="164592"/>
            <a:ext cx="841248" cy="841248"/>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6</a:t>
            </a:r>
            <a:endParaRPr lang="en-US" sz="2800" dirty="0"/>
          </a:p>
        </p:txBody>
      </p:sp>
      <p:pic>
        <p:nvPicPr>
          <p:cNvPr id="4" name="brY_146" descr="/home/claude/lls-course/v2/assets/brush-yellow.png">    </p:cNvPr>
          <p:cNvPicPr>
            <a:picLocks noChangeAspect="1"/>
          </p:cNvPicPr>
          <p:nvPr/>
        </p:nvPicPr>
        <p:blipFill>
          <a:blip r:embed="rId2"/>
          <a:stretch>
            <a:fillRect/>
          </a:stretch>
        </p:blipFill>
        <p:spPr>
          <a:xfrm>
            <a:off x="1097280" y="146304"/>
            <a:ext cx="3090672" cy="621792"/>
          </a:xfrm>
          <a:prstGeom prst="rect">
            <a:avLst/>
          </a:prstGeom>
        </p:spPr>
      </p:pic>
      <p:sp>
        <p:nvSpPr>
          <p:cNvPr id="5" name="title_147"/>
          <p:cNvSpPr/>
          <p:nvPr/>
        </p:nvSpPr>
        <p:spPr>
          <a:xfrm>
            <a:off x="1261872" y="164592"/>
            <a:ext cx="2816352"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Grammar auction</a:t>
            </a:r>
            <a:endParaRPr lang="en-US" sz="2400" dirty="0"/>
          </a:p>
        </p:txBody>
      </p:sp>
      <p:pic>
        <p:nvPicPr>
          <p:cNvPr id="6" name="brP_148" descr="/home/claude/lls-course/v2/assets/brush-pink.png">    </p:cNvPr>
          <p:cNvPicPr>
            <a:picLocks noChangeAspect="1"/>
          </p:cNvPicPr>
          <p:nvPr/>
        </p:nvPicPr>
        <p:blipFill>
          <a:blip r:embed="rId3"/>
          <a:stretch>
            <a:fillRect/>
          </a:stretch>
        </p:blipFill>
        <p:spPr>
          <a:xfrm>
            <a:off x="1207008" y="731520"/>
            <a:ext cx="4466844" cy="402336"/>
          </a:xfrm>
          <a:prstGeom prst="rect">
            <a:avLst/>
          </a:prstGeom>
        </p:spPr>
      </p:pic>
      <p:sp>
        <p:nvSpPr>
          <p:cNvPr id="7" name="ins_149"/>
          <p:cNvSpPr/>
          <p:nvPr/>
        </p:nvSpPr>
        <p:spPr>
          <a:xfrm>
            <a:off x="1353312" y="731520"/>
            <a:ext cx="4210812"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You have €1,000. Buy the CORRECT sentences!</a:t>
            </a:r>
            <a:endParaRPr lang="en-US" sz="1250" dirty="0"/>
          </a:p>
        </p:txBody>
      </p:sp>
      <p:sp>
        <p:nvSpPr>
          <p:cNvPr id="8" name="insIT_150"/>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Avete 1.000 €. Comprate le frasi GIUSTE!</a:t>
            </a:r>
            <a:endParaRPr lang="en-US" sz="950" dirty="0"/>
          </a:p>
        </p:txBody>
      </p:sp>
      <p:sp>
        <p:nvSpPr>
          <p:cNvPr id="9" name="note_151"/>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PLAY</a:t>
            </a:r>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 GIOCA</a:t>
            </a:r>
            <a:endParaRPr lang="en-US" sz="12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6 min   🏆 teams</a:t>
            </a:r>
            <a:endParaRPr lang="en-US" sz="12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Grammar · Communicative game</a:t>
            </a:r>
            <a:endParaRPr lang="en-US" sz="1250" dirty="0"/>
          </a:p>
        </p:txBody>
      </p:sp>
      <p:pic>
        <p:nvPicPr>
          <p:cNvPr id="10" name="logo_152"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153"/>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R5-6 · Game · grammar auction   ·   📖 Review of Grammar Banks 5A–6B · TG typical mistakes</a:t>
            </a:r>
            <a:endParaRPr lang="en-US" sz="800" dirty="0"/>
          </a:p>
        </p:txBody>
      </p:sp>
      <p:sp>
        <p:nvSpPr>
          <p:cNvPr id="12" name="cd_154"/>
          <p:cNvSpPr/>
          <p:nvPr/>
        </p:nvSpPr>
        <p:spPr>
          <a:xfrm>
            <a:off x="320040" y="1417320"/>
            <a:ext cx="2697480" cy="1917192"/>
          </a:xfrm>
          <a:prstGeom prst="roundRect">
            <a:avLst>
              <a:gd name="adj" fmla="val 6677"/>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3" name="ii_155"/>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4" name="ih_156"/>
          <p:cNvSpPr/>
          <p:nvPr/>
        </p:nvSpPr>
        <p:spPr>
          <a:xfrm>
            <a:off x="886968" y="1508760"/>
            <a:ext cx="2057400" cy="365760"/>
          </a:xfrm>
          <a:prstGeom prst="rect">
            <a:avLst/>
          </a:prstGeom>
          <a:noFill/>
          <a:ln/>
        </p:spPr>
        <p:txBody>
          <a:bodyPr wrap="square" lIns="0" tIns="0" rIns="0" bIns="0" rtlCol="0" anchor="ct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How to play</a:t>
            </a:r>
            <a:endParaRPr lang="en-US" sz="1400" dirty="0"/>
          </a:p>
        </p:txBody>
      </p:sp>
      <p:sp>
        <p:nvSpPr>
          <p:cNvPr id="15" name="il_157"/>
          <p:cNvSpPr/>
          <p:nvPr/>
        </p:nvSpPr>
        <p:spPr>
          <a:xfrm>
            <a:off x="886968" y="1911096"/>
            <a:ext cx="2039112" cy="1350264"/>
          </a:xfrm>
          <a:prstGeom prst="rect">
            <a:avLst/>
          </a:prstGeom>
          <a:noFill/>
          <a:ln/>
        </p:spPr>
        <p:txBody>
          <a:bodyPr wrap="square" lIns="0" tIns="0" rIns="0" bIns="0" rtlCol="0" anchor="t">
            <a:normAutofit/>
          </a:bodyPr>
          <a:lstStyle/>
          <a:p>
            <a:pPr marL="152400" indent="-152400">
              <a:spcAft>
                <a:spcPts val="200"/>
              </a:spcAft>
              <a:buSzPct val="100000"/>
              <a:buChar char="•"/>
            </a:pPr>
            <a:r>
              <a:rPr lang="en-US" sz="1200" dirty="0">
                <a:solidFill>
                  <a:srgbClr val="1B2559"/>
                </a:solidFill>
                <a:latin typeface="Segoe UI Semibold" pitchFamily="34" charset="0"/>
                <a:ea typeface="Segoe UI Semibold" pitchFamily="34" charset="-122"/>
                <a:cs typeface="Segoe UI Semibold" pitchFamily="34" charset="-120"/>
              </a:rPr>
              <a:t>Each team has €1,000.</a:t>
            </a:r>
            <a:endParaRPr lang="en-US" sz="1200" dirty="0"/>
          </a:p>
          <a:p>
            <a:pPr marL="152400" indent="-152400">
              <a:spcBef>
                <a:spcPts val="600"/>
              </a:spcBef>
              <a:spcAft>
                <a:spcPts val="200"/>
              </a:spcAft>
              <a:buSzPct val="100000"/>
              <a:buChar char="•"/>
            </a:pPr>
            <a:r>
              <a:rPr lang="en-US" sz="1200" dirty="0">
                <a:solidFill>
                  <a:srgbClr val="1B2559"/>
                </a:solidFill>
                <a:latin typeface="Segoe UI Semibold" pitchFamily="34" charset="0"/>
                <a:ea typeface="Segoe UI Semibold" pitchFamily="34" charset="-122"/>
                <a:cs typeface="Segoe UI Semibold" pitchFamily="34" charset="-120"/>
              </a:rPr>
              <a:t>Bid for the sentences you think are CORRECT.</a:t>
            </a:r>
            <a:endParaRPr lang="en-US" sz="1200" dirty="0"/>
          </a:p>
          <a:p>
            <a:pPr marL="152400" indent="-152400">
              <a:spcBef>
                <a:spcPts val="600"/>
              </a:spcBef>
              <a:spcAft>
                <a:spcPts val="200"/>
              </a:spcAft>
              <a:buSzPct val="100000"/>
              <a:buChar char="•"/>
            </a:pPr>
            <a:r>
              <a:rPr lang="en-US" sz="1200" dirty="0">
                <a:solidFill>
                  <a:srgbClr val="1B2559"/>
                </a:solidFill>
                <a:latin typeface="Segoe UI Semibold" pitchFamily="34" charset="0"/>
                <a:ea typeface="Segoe UI Semibold" pitchFamily="34" charset="-122"/>
                <a:cs typeface="Segoe UI Semibold" pitchFamily="34" charset="-120"/>
              </a:rPr>
              <a:t>Most correct sentences wins!</a:t>
            </a:r>
            <a:endParaRPr lang="en-US" sz="1200" dirty="0"/>
          </a:p>
        </p:txBody>
      </p:sp>
      <p:sp>
        <p:nvSpPr>
          <p:cNvPr id="16" name="st_158"/>
          <p:cNvSpPr/>
          <p:nvPr/>
        </p:nvSpPr>
        <p:spPr>
          <a:xfrm rot="-180000">
            <a:off x="502920" y="3517392"/>
            <a:ext cx="2286000" cy="777240"/>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TEAM A  ☆☆☆☆☆</a:t>
            </a:r>
            <a:endParaRPr lang="en-US" sz="1250" dirty="0"/>
          </a:p>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TEAM B  ☆☆☆☆☆</a:t>
            </a:r>
            <a:endParaRPr lang="en-US" sz="1250" dirty="0"/>
          </a:p>
        </p:txBody>
      </p:sp>
      <p:sp>
        <p:nvSpPr>
          <p:cNvPr id="17" name="bd_159"/>
          <p:cNvSpPr/>
          <p:nvPr/>
        </p:nvSpPr>
        <p:spPr>
          <a:xfrm>
            <a:off x="3246120" y="1423607"/>
            <a:ext cx="329184" cy="329184"/>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18" name="gq_160"/>
          <p:cNvSpPr/>
          <p:nvPr/>
        </p:nvSpPr>
        <p:spPr>
          <a:xfrm>
            <a:off x="3657600" y="1417320"/>
            <a:ext cx="2514600" cy="341757"/>
          </a:xfrm>
          <a:prstGeom prst="roundRect">
            <a:avLst>
              <a:gd name="adj" fmla="val 26756"/>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900" dirty="0">
                <a:solidFill>
                  <a:srgbClr val="1B2559"/>
                </a:solidFill>
                <a:latin typeface="Segoe UI Semibold" pitchFamily="34" charset="0"/>
                <a:ea typeface="Segoe UI Semibold" pitchFamily="34" charset="-122"/>
                <a:cs typeface="Segoe UI Semibold" pitchFamily="34" charset="-120"/>
              </a:rPr>
              <a:t>When I got to the station, the train had already left.</a:t>
            </a:r>
            <a:endParaRPr lang="en-US" sz="900" dirty="0"/>
          </a:p>
        </p:txBody>
      </p:sp>
      <p:sp>
        <p:nvSpPr>
          <p:cNvPr id="19" name="R1_chip161"/>
          <p:cNvSpPr/>
          <p:nvPr/>
        </p:nvSpPr>
        <p:spPr>
          <a:xfrm>
            <a:off x="6263640" y="1417320"/>
            <a:ext cx="2560320" cy="341757"/>
          </a:xfrm>
          <a:prstGeom prst="roundRect">
            <a:avLst>
              <a:gd name="adj" fmla="val 26756"/>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 ✓ past perfect</a:t>
            </a:r>
            <a:endParaRPr lang="en-US" sz="1000" dirty="0"/>
          </a:p>
        </p:txBody>
      </p:sp>
      <p:sp>
        <p:nvSpPr>
          <p:cNvPr id="20" name="bd_162"/>
          <p:cNvSpPr/>
          <p:nvPr/>
        </p:nvSpPr>
        <p:spPr>
          <a:xfrm>
            <a:off x="3246120" y="1829372"/>
            <a:ext cx="329184" cy="329184"/>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1" name="gq_163"/>
          <p:cNvSpPr/>
          <p:nvPr/>
        </p:nvSpPr>
        <p:spPr>
          <a:xfrm>
            <a:off x="3657600" y="1823085"/>
            <a:ext cx="2514600" cy="341757"/>
          </a:xfrm>
          <a:prstGeom prst="roundRect">
            <a:avLst>
              <a:gd name="adj" fmla="val 26756"/>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900" dirty="0">
                <a:solidFill>
                  <a:srgbClr val="1B2559"/>
                </a:solidFill>
                <a:latin typeface="Segoe UI Semibold" pitchFamily="34" charset="0"/>
                <a:ea typeface="Segoe UI Semibold" pitchFamily="34" charset="-122"/>
                <a:cs typeface="Segoe UI Semibold" pitchFamily="34" charset="-120"/>
              </a:rPr>
              <a:t>I didn't used to like football.</a:t>
            </a:r>
            <a:endParaRPr lang="en-US" sz="900" dirty="0"/>
          </a:p>
        </p:txBody>
      </p:sp>
      <p:sp>
        <p:nvSpPr>
          <p:cNvPr id="22" name="R2_chip164"/>
          <p:cNvSpPr/>
          <p:nvPr/>
        </p:nvSpPr>
        <p:spPr>
          <a:xfrm>
            <a:off x="6263640" y="1823085"/>
            <a:ext cx="2560320" cy="341757"/>
          </a:xfrm>
          <a:prstGeom prst="roundRect">
            <a:avLst>
              <a:gd name="adj" fmla="val 26756"/>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 ✗ I didn't use to like…</a:t>
            </a:r>
            <a:endParaRPr lang="en-US" sz="1000" dirty="0"/>
          </a:p>
        </p:txBody>
      </p:sp>
      <p:sp>
        <p:nvSpPr>
          <p:cNvPr id="23" name="bd_165"/>
          <p:cNvSpPr/>
          <p:nvPr/>
        </p:nvSpPr>
        <p:spPr>
          <a:xfrm>
            <a:off x="3246120" y="2235137"/>
            <a:ext cx="329184" cy="329184"/>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4" name="gq_166"/>
          <p:cNvSpPr/>
          <p:nvPr/>
        </p:nvSpPr>
        <p:spPr>
          <a:xfrm>
            <a:off x="3657600" y="2228850"/>
            <a:ext cx="2514600" cy="341757"/>
          </a:xfrm>
          <a:prstGeom prst="roundRect">
            <a:avLst>
              <a:gd name="adj" fmla="val 26756"/>
            </a:avLst>
          </a:prstGeom>
          <a:solidFill>
            <a:srgbClr val="FFFFFF"/>
          </a:solidFill>
          <a:ln w="28575">
            <a:solidFill>
              <a:srgbClr val="A8E5BE"/>
            </a:solidFill>
          </a:ln>
        </p:spPr>
        <p:txBody>
          <a:bodyPr wrap="square" lIns="101600" tIns="0" rIns="101600" bIns="0" rtlCol="0" anchor="ctr">
            <a:normAutofit/>
          </a:bodyPr>
          <a:lstStyle/>
          <a:p>
            <a:pPr indent="0" marL="0">
              <a:buNone/>
            </a:pPr>
            <a:r>
              <a:rPr lang="en-US" sz="900" dirty="0">
                <a:solidFill>
                  <a:srgbClr val="1B2559"/>
                </a:solidFill>
                <a:latin typeface="Segoe UI Semibold" pitchFamily="34" charset="0"/>
                <a:ea typeface="Segoe UI Semibold" pitchFamily="34" charset="-122"/>
                <a:cs typeface="Segoe UI Semibold" pitchFamily="34" charset="-120"/>
              </a:rPr>
              <a:t>The film was directed by Steven Spielberg.</a:t>
            </a:r>
            <a:endParaRPr lang="en-US" sz="900" dirty="0"/>
          </a:p>
        </p:txBody>
      </p:sp>
      <p:sp>
        <p:nvSpPr>
          <p:cNvPr id="25" name="R3_chip167"/>
          <p:cNvSpPr/>
          <p:nvPr/>
        </p:nvSpPr>
        <p:spPr>
          <a:xfrm>
            <a:off x="6263640" y="2228850"/>
            <a:ext cx="2560320" cy="341757"/>
          </a:xfrm>
          <a:prstGeom prst="roundRect">
            <a:avLst>
              <a:gd name="adj" fmla="val 26756"/>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 ✓ passive</a:t>
            </a:r>
            <a:endParaRPr lang="en-US" sz="1000" dirty="0"/>
          </a:p>
        </p:txBody>
      </p:sp>
      <p:sp>
        <p:nvSpPr>
          <p:cNvPr id="26" name="bd_168"/>
          <p:cNvSpPr/>
          <p:nvPr/>
        </p:nvSpPr>
        <p:spPr>
          <a:xfrm>
            <a:off x="3246120" y="2640901"/>
            <a:ext cx="329184" cy="329184"/>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27" name="gq_169"/>
          <p:cNvSpPr/>
          <p:nvPr/>
        </p:nvSpPr>
        <p:spPr>
          <a:xfrm>
            <a:off x="3657600" y="2634615"/>
            <a:ext cx="2514600" cy="341757"/>
          </a:xfrm>
          <a:prstGeom prst="roundRect">
            <a:avLst>
              <a:gd name="adj" fmla="val 26756"/>
            </a:avLst>
          </a:prstGeom>
          <a:solidFill>
            <a:srgbClr val="FFFFFF"/>
          </a:solidFill>
          <a:ln w="28575">
            <a:solidFill>
              <a:srgbClr val="FFE07A"/>
            </a:solidFill>
          </a:ln>
        </p:spPr>
        <p:txBody>
          <a:bodyPr wrap="square" lIns="101600" tIns="0" rIns="101600" bIns="0" rtlCol="0" anchor="ctr">
            <a:normAutofit/>
          </a:bodyPr>
          <a:lstStyle/>
          <a:p>
            <a:pPr indent="0" marL="0">
              <a:buNone/>
            </a:pPr>
            <a:r>
              <a:rPr lang="en-US" sz="900" dirty="0">
                <a:solidFill>
                  <a:srgbClr val="1B2559"/>
                </a:solidFill>
                <a:latin typeface="Segoe UI Semibold" pitchFamily="34" charset="0"/>
                <a:ea typeface="Segoe UI Semibold" pitchFamily="34" charset="-122"/>
                <a:cs typeface="Segoe UI Semibold" pitchFamily="34" charset="-120"/>
              </a:rPr>
              <a:t>She mustn't be at home – her car isn't there.</a:t>
            </a:r>
            <a:endParaRPr lang="en-US" sz="900" dirty="0"/>
          </a:p>
        </p:txBody>
      </p:sp>
      <p:sp>
        <p:nvSpPr>
          <p:cNvPr id="28" name="R4_chip170"/>
          <p:cNvSpPr/>
          <p:nvPr/>
        </p:nvSpPr>
        <p:spPr>
          <a:xfrm>
            <a:off x="6263640" y="2634615"/>
            <a:ext cx="2560320" cy="341757"/>
          </a:xfrm>
          <a:prstGeom prst="roundRect">
            <a:avLst>
              <a:gd name="adj" fmla="val 26756"/>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 ✗ She can't be at home.</a:t>
            </a:r>
            <a:endParaRPr lang="en-US" sz="1000" dirty="0"/>
          </a:p>
        </p:txBody>
      </p:sp>
      <p:sp>
        <p:nvSpPr>
          <p:cNvPr id="29" name="bd_171"/>
          <p:cNvSpPr/>
          <p:nvPr/>
        </p:nvSpPr>
        <p:spPr>
          <a:xfrm>
            <a:off x="3246120" y="3046667"/>
            <a:ext cx="329184" cy="329184"/>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5</a:t>
            </a:r>
            <a:endParaRPr lang="en-US" sz="1100" dirty="0"/>
          </a:p>
        </p:txBody>
      </p:sp>
      <p:sp>
        <p:nvSpPr>
          <p:cNvPr id="30" name="gq_172"/>
          <p:cNvSpPr/>
          <p:nvPr/>
        </p:nvSpPr>
        <p:spPr>
          <a:xfrm>
            <a:off x="3657600" y="3040380"/>
            <a:ext cx="2514600" cy="341757"/>
          </a:xfrm>
          <a:prstGeom prst="roundRect">
            <a:avLst>
              <a:gd name="adj" fmla="val 26756"/>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900" dirty="0">
                <a:solidFill>
                  <a:srgbClr val="1B2559"/>
                </a:solidFill>
                <a:latin typeface="Segoe UI Semibold" pitchFamily="34" charset="0"/>
                <a:ea typeface="Segoe UI Semibold" pitchFamily="34" charset="-122"/>
                <a:cs typeface="Segoe UI Semibold" pitchFamily="34" charset="-120"/>
              </a:rPr>
              <a:t>I was walking home when it started to rain.</a:t>
            </a:r>
            <a:endParaRPr lang="en-US" sz="900" dirty="0"/>
          </a:p>
        </p:txBody>
      </p:sp>
      <p:sp>
        <p:nvSpPr>
          <p:cNvPr id="31" name="R5_chip173"/>
          <p:cNvSpPr/>
          <p:nvPr/>
        </p:nvSpPr>
        <p:spPr>
          <a:xfrm>
            <a:off x="6263640" y="3040380"/>
            <a:ext cx="2560320" cy="341757"/>
          </a:xfrm>
          <a:prstGeom prst="roundRect">
            <a:avLst>
              <a:gd name="adj" fmla="val 26756"/>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 ✓ past continuous + past simple</a:t>
            </a:r>
            <a:endParaRPr lang="en-US" sz="1000" dirty="0"/>
          </a:p>
        </p:txBody>
      </p:sp>
      <p:sp>
        <p:nvSpPr>
          <p:cNvPr id="32" name="bd_174"/>
          <p:cNvSpPr/>
          <p:nvPr/>
        </p:nvSpPr>
        <p:spPr>
          <a:xfrm>
            <a:off x="3246120" y="3452432"/>
            <a:ext cx="329184" cy="329184"/>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6</a:t>
            </a:r>
            <a:endParaRPr lang="en-US" sz="1100" dirty="0"/>
          </a:p>
        </p:txBody>
      </p:sp>
      <p:sp>
        <p:nvSpPr>
          <p:cNvPr id="33" name="gq_175"/>
          <p:cNvSpPr/>
          <p:nvPr/>
        </p:nvSpPr>
        <p:spPr>
          <a:xfrm>
            <a:off x="3657600" y="3446145"/>
            <a:ext cx="2514600" cy="341757"/>
          </a:xfrm>
          <a:prstGeom prst="roundRect">
            <a:avLst>
              <a:gd name="adj" fmla="val 26756"/>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900" dirty="0">
                <a:solidFill>
                  <a:srgbClr val="1B2559"/>
                </a:solidFill>
                <a:latin typeface="Segoe UI Semibold" pitchFamily="34" charset="0"/>
                <a:ea typeface="Segoe UI Semibold" pitchFamily="34" charset="-122"/>
                <a:cs typeface="Segoe UI Semibold" pitchFamily="34" charset="-120"/>
              </a:rPr>
              <a:t>Do you use to walk to work?</a:t>
            </a:r>
            <a:endParaRPr lang="en-US" sz="900" dirty="0"/>
          </a:p>
        </p:txBody>
      </p:sp>
      <p:sp>
        <p:nvSpPr>
          <p:cNvPr id="34" name="R6_chip176"/>
          <p:cNvSpPr/>
          <p:nvPr/>
        </p:nvSpPr>
        <p:spPr>
          <a:xfrm>
            <a:off x="6263640" y="3446145"/>
            <a:ext cx="2560320" cy="341757"/>
          </a:xfrm>
          <a:prstGeom prst="roundRect">
            <a:avLst>
              <a:gd name="adj" fmla="val 26756"/>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 ✗ Do you usually walk…?</a:t>
            </a:r>
            <a:endParaRPr lang="en-US" sz="1000" dirty="0"/>
          </a:p>
        </p:txBody>
      </p:sp>
      <p:sp>
        <p:nvSpPr>
          <p:cNvPr id="35" name="bd_177"/>
          <p:cNvSpPr/>
          <p:nvPr/>
        </p:nvSpPr>
        <p:spPr>
          <a:xfrm>
            <a:off x="3246120" y="3858196"/>
            <a:ext cx="329184" cy="329184"/>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7</a:t>
            </a:r>
            <a:endParaRPr lang="en-US" sz="1100" dirty="0"/>
          </a:p>
        </p:txBody>
      </p:sp>
      <p:sp>
        <p:nvSpPr>
          <p:cNvPr id="36" name="gq_178"/>
          <p:cNvSpPr/>
          <p:nvPr/>
        </p:nvSpPr>
        <p:spPr>
          <a:xfrm>
            <a:off x="3657600" y="3851910"/>
            <a:ext cx="2514600" cy="341757"/>
          </a:xfrm>
          <a:prstGeom prst="roundRect">
            <a:avLst>
              <a:gd name="adj" fmla="val 26756"/>
            </a:avLst>
          </a:prstGeom>
          <a:solidFill>
            <a:srgbClr val="FFFFFF"/>
          </a:solidFill>
          <a:ln w="28575">
            <a:solidFill>
              <a:srgbClr val="A8E5BE"/>
            </a:solidFill>
          </a:ln>
        </p:spPr>
        <p:txBody>
          <a:bodyPr wrap="square" lIns="101600" tIns="0" rIns="101600" bIns="0" rtlCol="0" anchor="ctr">
            <a:normAutofit/>
          </a:bodyPr>
          <a:lstStyle/>
          <a:p>
            <a:pPr indent="0" marL="0">
              <a:buNone/>
            </a:pPr>
            <a:r>
              <a:rPr lang="en-US" sz="900" dirty="0">
                <a:solidFill>
                  <a:srgbClr val="1B2559"/>
                </a:solidFill>
                <a:latin typeface="Segoe UI Semibold" pitchFamily="34" charset="0"/>
                <a:ea typeface="Segoe UI Semibold" pitchFamily="34" charset="-122"/>
                <a:cs typeface="Segoe UI Semibold" pitchFamily="34" charset="-120"/>
              </a:rPr>
              <a:t>Our kitchen is being painted at the moment.</a:t>
            </a:r>
            <a:endParaRPr lang="en-US" sz="900" dirty="0"/>
          </a:p>
        </p:txBody>
      </p:sp>
      <p:sp>
        <p:nvSpPr>
          <p:cNvPr id="37" name="R7_chip179"/>
          <p:cNvSpPr/>
          <p:nvPr/>
        </p:nvSpPr>
        <p:spPr>
          <a:xfrm>
            <a:off x="6263640" y="3851910"/>
            <a:ext cx="2560320" cy="341757"/>
          </a:xfrm>
          <a:prstGeom prst="roundRect">
            <a:avLst>
              <a:gd name="adj" fmla="val 26756"/>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 ✓ present continuous passive</a:t>
            </a:r>
            <a:endParaRPr lang="en-US" sz="1000" dirty="0"/>
          </a:p>
        </p:txBody>
      </p:sp>
      <p:sp>
        <p:nvSpPr>
          <p:cNvPr id="38" name="bd_180"/>
          <p:cNvSpPr/>
          <p:nvPr/>
        </p:nvSpPr>
        <p:spPr>
          <a:xfrm>
            <a:off x="3246120" y="4263962"/>
            <a:ext cx="329184" cy="329184"/>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8</a:t>
            </a:r>
            <a:endParaRPr lang="en-US" sz="1100" dirty="0"/>
          </a:p>
        </p:txBody>
      </p:sp>
      <p:sp>
        <p:nvSpPr>
          <p:cNvPr id="39" name="gq_181"/>
          <p:cNvSpPr/>
          <p:nvPr/>
        </p:nvSpPr>
        <p:spPr>
          <a:xfrm>
            <a:off x="3657600" y="4257675"/>
            <a:ext cx="2514600" cy="341757"/>
          </a:xfrm>
          <a:prstGeom prst="roundRect">
            <a:avLst>
              <a:gd name="adj" fmla="val 26756"/>
            </a:avLst>
          </a:prstGeom>
          <a:solidFill>
            <a:srgbClr val="FFFFFF"/>
          </a:solidFill>
          <a:ln w="28575">
            <a:solidFill>
              <a:srgbClr val="FFE07A"/>
            </a:solidFill>
          </a:ln>
        </p:spPr>
        <p:txBody>
          <a:bodyPr wrap="square" lIns="101600" tIns="0" rIns="101600" bIns="0" rtlCol="0" anchor="ctr">
            <a:normAutofit/>
          </a:bodyPr>
          <a:lstStyle/>
          <a:p>
            <a:pPr indent="0" marL="0">
              <a:buNone/>
            </a:pPr>
            <a:r>
              <a:rPr lang="en-US" sz="900" dirty="0">
                <a:solidFill>
                  <a:srgbClr val="1B2559"/>
                </a:solidFill>
                <a:latin typeface="Segoe UI Semibold" pitchFamily="34" charset="0"/>
                <a:ea typeface="Segoe UI Semibold" pitchFamily="34" charset="-122"/>
                <a:cs typeface="Segoe UI Semibold" pitchFamily="34" charset="-120"/>
              </a:rPr>
              <a:t>He might be in the garden – I'm not sure.</a:t>
            </a:r>
            <a:endParaRPr lang="en-US" sz="900" dirty="0"/>
          </a:p>
        </p:txBody>
      </p:sp>
      <p:sp>
        <p:nvSpPr>
          <p:cNvPr id="40" name="R8_chip182"/>
          <p:cNvSpPr/>
          <p:nvPr/>
        </p:nvSpPr>
        <p:spPr>
          <a:xfrm>
            <a:off x="6263640" y="4257675"/>
            <a:ext cx="2560320" cy="341757"/>
          </a:xfrm>
          <a:prstGeom prst="roundRect">
            <a:avLst>
              <a:gd name="adj" fmla="val 26756"/>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 ✓ possible</a:t>
            </a:r>
            <a:endParaRPr lang="en-US" sz="10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40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400"/>
                                        <p:tgtEl>
                                          <p:spTgt spid="2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fade">
                                      <p:cBhvr>
                                        <p:cTn id="22" dur="400"/>
                                        <p:tgtEl>
                                          <p:spTgt spid="2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1"/>
                                        </p:tgtEl>
                                        <p:attrNameLst>
                                          <p:attrName>style.visibility</p:attrName>
                                        </p:attrNameLst>
                                      </p:cBhvr>
                                      <p:to>
                                        <p:strVal val="visible"/>
                                      </p:to>
                                    </p:set>
                                    <p:animEffect transition="in" filter="fade">
                                      <p:cBhvr>
                                        <p:cTn id="27" dur="400"/>
                                        <p:tgtEl>
                                          <p:spTgt spid="3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4"/>
                                        </p:tgtEl>
                                        <p:attrNameLst>
                                          <p:attrName>style.visibility</p:attrName>
                                        </p:attrNameLst>
                                      </p:cBhvr>
                                      <p:to>
                                        <p:strVal val="visible"/>
                                      </p:to>
                                    </p:set>
                                    <p:animEffect transition="in" filter="fade">
                                      <p:cBhvr>
                                        <p:cTn id="32" dur="400"/>
                                        <p:tgtEl>
                                          <p:spTgt spid="34"/>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7"/>
                                        </p:tgtEl>
                                        <p:attrNameLst>
                                          <p:attrName>style.visibility</p:attrName>
                                        </p:attrNameLst>
                                      </p:cBhvr>
                                      <p:to>
                                        <p:strVal val="visible"/>
                                      </p:to>
                                    </p:set>
                                    <p:animEffect transition="in" filter="fade">
                                      <p:cBhvr>
                                        <p:cTn id="37" dur="400"/>
                                        <p:tgtEl>
                                          <p:spTgt spid="37"/>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0"/>
                                        </p:tgtEl>
                                        <p:attrNameLst>
                                          <p:attrName>style.visibility</p:attrName>
                                        </p:attrNameLst>
                                      </p:cBhvr>
                                      <p:to>
                                        <p:strVal val="visible"/>
                                      </p:to>
                                    </p:set>
                                    <p:animEffect transition="in" filter="fade">
                                      <p:cBhvr>
                                        <p:cTn id="42" dur="4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83"/>
          <p:cNvSpPr/>
          <p:nvPr/>
        </p:nvSpPr>
        <p:spPr>
          <a:xfrm>
            <a:off x="201168" y="164592"/>
            <a:ext cx="841248" cy="841248"/>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7</a:t>
            </a:r>
            <a:endParaRPr lang="en-US" sz="2800" dirty="0"/>
          </a:p>
        </p:txBody>
      </p:sp>
      <p:pic>
        <p:nvPicPr>
          <p:cNvPr id="4" name="brY_184" descr="/home/claude/lls-course/v2/assets/brush-yellow.png">    </p:cNvPr>
          <p:cNvPicPr>
            <a:picLocks noChangeAspect="1"/>
          </p:cNvPicPr>
          <p:nvPr/>
        </p:nvPicPr>
        <p:blipFill>
          <a:blip r:embed="rId2"/>
          <a:stretch>
            <a:fillRect/>
          </a:stretch>
        </p:blipFill>
        <p:spPr>
          <a:xfrm>
            <a:off x="1097280" y="146304"/>
            <a:ext cx="3719779" cy="621792"/>
          </a:xfrm>
          <a:prstGeom prst="rect">
            <a:avLst/>
          </a:prstGeom>
        </p:spPr>
      </p:pic>
      <p:sp>
        <p:nvSpPr>
          <p:cNvPr id="5" name="title_185"/>
          <p:cNvSpPr/>
          <p:nvPr/>
        </p:nvSpPr>
        <p:spPr>
          <a:xfrm>
            <a:off x="1261872" y="164592"/>
            <a:ext cx="3445459"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Vocabulary quiz (1)</a:t>
            </a:r>
            <a:endParaRPr lang="en-US" sz="2500" dirty="0"/>
          </a:p>
        </p:txBody>
      </p:sp>
      <p:pic>
        <p:nvPicPr>
          <p:cNvPr id="6" name="brP_186" descr="/home/claude/lls-course/v2/assets/brush-pink.png">    </p:cNvPr>
          <p:cNvPicPr>
            <a:picLocks noChangeAspect="1"/>
          </p:cNvPicPr>
          <p:nvPr/>
        </p:nvPicPr>
        <p:blipFill>
          <a:blip r:embed="rId3"/>
          <a:stretch>
            <a:fillRect/>
          </a:stretch>
        </p:blipFill>
        <p:spPr>
          <a:xfrm>
            <a:off x="1207008" y="731520"/>
            <a:ext cx="4032504" cy="402336"/>
          </a:xfrm>
          <a:prstGeom prst="rect">
            <a:avLst/>
          </a:prstGeom>
        </p:spPr>
      </p:pic>
      <p:sp>
        <p:nvSpPr>
          <p:cNvPr id="7" name="ins_187"/>
          <p:cNvSpPr/>
          <p:nvPr/>
        </p:nvSpPr>
        <p:spPr>
          <a:xfrm>
            <a:off x="1353312" y="731520"/>
            <a:ext cx="3776472"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Teams: answer quickly! Vocabulary a–c.</a:t>
            </a:r>
            <a:endParaRPr lang="en-US" sz="1250" dirty="0"/>
          </a:p>
        </p:txBody>
      </p:sp>
      <p:sp>
        <p:nvSpPr>
          <p:cNvPr id="8" name="insIT_188"/>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Squadre: rispondete veloci! Vocabolario a–c.</a:t>
            </a:r>
            <a:endParaRPr lang="en-US" sz="950" dirty="0"/>
          </a:p>
        </p:txBody>
      </p:sp>
      <p:sp>
        <p:nvSpPr>
          <p:cNvPr id="9" name="note_189"/>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PLAY</a:t>
            </a:r>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 GIOCA</a:t>
            </a:r>
            <a:endParaRPr lang="en-US" sz="12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5 min   🏆 teams</a:t>
            </a:r>
            <a:endParaRPr lang="en-US" sz="12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Vocabulary · Communicative game</a:t>
            </a:r>
            <a:endParaRPr lang="en-US" sz="1250" dirty="0"/>
          </a:p>
        </p:txBody>
      </p:sp>
      <p:pic>
        <p:nvPicPr>
          <p:cNvPr id="10" name="logo_190"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191"/>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R5-6 · Vocabulary · SB p.64 a, b, c   ·   📖 SB p.64 · Vocabulary a, b, c (TG key)</a:t>
            </a:r>
            <a:endParaRPr lang="en-US" sz="800" dirty="0"/>
          </a:p>
        </p:txBody>
      </p:sp>
      <p:sp>
        <p:nvSpPr>
          <p:cNvPr id="12" name="cd_192"/>
          <p:cNvSpPr/>
          <p:nvPr/>
        </p:nvSpPr>
        <p:spPr>
          <a:xfrm>
            <a:off x="320040" y="1417320"/>
            <a:ext cx="2697480" cy="1917192"/>
          </a:xfrm>
          <a:prstGeom prst="roundRect">
            <a:avLst>
              <a:gd name="adj" fmla="val 6677"/>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3" name="ii_193"/>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4" name="ih_194"/>
          <p:cNvSpPr/>
          <p:nvPr/>
        </p:nvSpPr>
        <p:spPr>
          <a:xfrm>
            <a:off x="886968" y="1508760"/>
            <a:ext cx="2057400" cy="365760"/>
          </a:xfrm>
          <a:prstGeom prst="rect">
            <a:avLst/>
          </a:prstGeom>
          <a:noFill/>
          <a:ln/>
        </p:spPr>
        <p:txBody>
          <a:bodyPr wrap="square" lIns="0" tIns="0" rIns="0" bIns="0" rtlCol="0" anchor="ct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How to play</a:t>
            </a:r>
            <a:endParaRPr lang="en-US" sz="1400" dirty="0"/>
          </a:p>
        </p:txBody>
      </p:sp>
      <p:sp>
        <p:nvSpPr>
          <p:cNvPr id="15" name="il_195"/>
          <p:cNvSpPr/>
          <p:nvPr/>
        </p:nvSpPr>
        <p:spPr>
          <a:xfrm>
            <a:off x="886968" y="1911096"/>
            <a:ext cx="2039112" cy="1350264"/>
          </a:xfrm>
          <a:prstGeom prst="rect">
            <a:avLst/>
          </a:prstGeom>
          <a:noFill/>
          <a:ln/>
        </p:spPr>
        <p:txBody>
          <a:bodyPr wrap="square" lIns="0" tIns="0" rIns="0" bIns="0" rtlCol="0" anchor="t">
            <a:normAutofit/>
          </a:bodyPr>
          <a:lstStyle/>
          <a:p>
            <a:pPr marL="152400" indent="-152400">
              <a:spcAft>
                <a:spcPts val="200"/>
              </a:spcAft>
              <a:buSzPct val="100000"/>
              <a:buChar char="•"/>
            </a:pPr>
            <a:r>
              <a:rPr lang="en-US" sz="1200" dirty="0">
                <a:solidFill>
                  <a:srgbClr val="1B2559"/>
                </a:solidFill>
                <a:latin typeface="Segoe UI Semibold" pitchFamily="34" charset="0"/>
                <a:ea typeface="Segoe UI Semibold" pitchFamily="34" charset="-122"/>
                <a:cs typeface="Segoe UI Semibold" pitchFamily="34" charset="-120"/>
              </a:rPr>
              <a:t>Teacher reads the question.</a:t>
            </a:r>
            <a:endParaRPr lang="en-US" sz="1200" dirty="0"/>
          </a:p>
          <a:p>
            <a:pPr marL="152400" indent="-152400">
              <a:spcBef>
                <a:spcPts val="600"/>
              </a:spcBef>
              <a:spcAft>
                <a:spcPts val="200"/>
              </a:spcAft>
              <a:buSzPct val="100000"/>
              <a:buChar char="•"/>
            </a:pPr>
            <a:r>
              <a:rPr lang="en-US" sz="1200" dirty="0">
                <a:solidFill>
                  <a:srgbClr val="1B2559"/>
                </a:solidFill>
                <a:latin typeface="Segoe UI Semibold" pitchFamily="34" charset="0"/>
                <a:ea typeface="Segoe UI Semibold" pitchFamily="34" charset="-122"/>
                <a:cs typeface="Segoe UI Semibold" pitchFamily="34" charset="-120"/>
              </a:rPr>
              <a:t>First team to answer = 1 point.</a:t>
            </a:r>
            <a:endParaRPr lang="en-US" sz="1200" dirty="0"/>
          </a:p>
          <a:p>
            <a:pPr marL="152400" indent="-152400">
              <a:spcBef>
                <a:spcPts val="600"/>
              </a:spcBef>
              <a:spcAft>
                <a:spcPts val="200"/>
              </a:spcAft>
              <a:buSzPct val="100000"/>
              <a:buChar char="•"/>
            </a:pPr>
            <a:r>
              <a:rPr lang="en-US" sz="1200" dirty="0">
                <a:solidFill>
                  <a:srgbClr val="1B2559"/>
                </a:solidFill>
                <a:latin typeface="Segoe UI Semibold" pitchFamily="34" charset="0"/>
                <a:ea typeface="Segoe UI Semibold" pitchFamily="34" charset="-122"/>
                <a:cs typeface="Segoe UI Semibold" pitchFamily="34" charset="-120"/>
              </a:rPr>
              <a:t>Spell it = 1 more point!</a:t>
            </a:r>
            <a:endParaRPr lang="en-US" sz="1200" dirty="0"/>
          </a:p>
        </p:txBody>
      </p:sp>
      <p:sp>
        <p:nvSpPr>
          <p:cNvPr id="16" name="st_196"/>
          <p:cNvSpPr/>
          <p:nvPr/>
        </p:nvSpPr>
        <p:spPr>
          <a:xfrm rot="-180000">
            <a:off x="502920" y="3517392"/>
            <a:ext cx="2286000" cy="777240"/>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TEAM A  ☆☆☆☆☆</a:t>
            </a:r>
            <a:endParaRPr lang="en-US" sz="1250" dirty="0"/>
          </a:p>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TEAM B  ☆☆☆☆☆</a:t>
            </a:r>
            <a:endParaRPr lang="en-US" sz="1250" dirty="0"/>
          </a:p>
        </p:txBody>
      </p:sp>
      <p:sp>
        <p:nvSpPr>
          <p:cNvPr id="17" name="bd_197"/>
          <p:cNvSpPr/>
          <p:nvPr/>
        </p:nvSpPr>
        <p:spPr>
          <a:xfrm>
            <a:off x="3246120" y="1401064"/>
            <a:ext cx="329184" cy="329184"/>
          </a:xfrm>
          <a:prstGeom prst="ellipse">
            <a:avLst/>
          </a:prstGeom>
          <a:solidFill>
            <a:srgbClr val="7B5CD6"/>
          </a:solidFill>
          <a:ln w="28575">
            <a:solidFill>
              <a:srgbClr val="CDBFF3"/>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500" dirty="0">
                <a:solidFill>
                  <a:srgbClr val="FFFFFF"/>
                </a:solidFill>
                <a:latin typeface="Arial Rounded MT Bold" pitchFamily="34" charset="0"/>
                <a:ea typeface="Arial Rounded MT Bold" pitchFamily="34" charset="-122"/>
                <a:cs typeface="Arial Rounded MT Bold" pitchFamily="34" charset="-120"/>
              </a:rPr>
              <a:t>e.g.</a:t>
            </a:r>
            <a:endParaRPr lang="en-US" sz="500" dirty="0"/>
          </a:p>
        </p:txBody>
      </p:sp>
      <p:sp>
        <p:nvSpPr>
          <p:cNvPr id="18" name="gq_198"/>
          <p:cNvSpPr/>
          <p:nvPr/>
        </p:nvSpPr>
        <p:spPr>
          <a:xfrm>
            <a:off x="3657600" y="1417320"/>
            <a:ext cx="2514600" cy="296672"/>
          </a:xfrm>
          <a:prstGeom prst="roundRect">
            <a:avLst>
              <a:gd name="adj" fmla="val 30822"/>
            </a:avLst>
          </a:prstGeom>
          <a:solidFill>
            <a:srgbClr val="EEE8FB"/>
          </a:solidFill>
          <a:ln w="28575">
            <a:solidFill>
              <a:srgbClr val="CDBFF3"/>
            </a:solidFill>
          </a:ln>
        </p:spPr>
        <p:txBody>
          <a:bodyPr wrap="square" lIns="101600" tIns="0" rIns="101600" bIns="0" rtlCol="0" anchor="ctr">
            <a:normAutofit/>
          </a:bodyPr>
          <a:lstStyle/>
          <a:p>
            <a:pPr indent="0" marL="0">
              <a:buNone/>
            </a:pPr>
            <a:r>
              <a:rPr lang="en-US" sz="800" dirty="0">
                <a:solidFill>
                  <a:srgbClr val="1B2559"/>
                </a:solidFill>
                <a:latin typeface="Segoe UI Semibold" pitchFamily="34" charset="0"/>
                <a:ea typeface="Segoe UI Semibold" pitchFamily="34" charset="-122"/>
                <a:cs typeface="Segoe UI Semibold" pitchFamily="34" charset="-120"/>
              </a:rPr>
              <a:t>Which part of the body do you use to smile?</a:t>
            </a:r>
            <a:endParaRPr lang="en-US" sz="800" dirty="0"/>
          </a:p>
        </p:txBody>
      </p:sp>
      <p:sp>
        <p:nvSpPr>
          <p:cNvPr id="19" name="chip_199"/>
          <p:cNvSpPr/>
          <p:nvPr/>
        </p:nvSpPr>
        <p:spPr>
          <a:xfrm>
            <a:off x="6263640" y="1417320"/>
            <a:ext cx="2560320" cy="296672"/>
          </a:xfrm>
          <a:prstGeom prst="roundRect">
            <a:avLst>
              <a:gd name="adj" fmla="val 30822"/>
            </a:avLst>
          </a:prstGeom>
          <a:solidFill>
            <a:srgbClr val="EEE8FB"/>
          </a:solidFill>
          <a:ln w="28575">
            <a:solidFill>
              <a:srgbClr val="CDBFF3"/>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lips / mouth</a:t>
            </a:r>
            <a:endParaRPr lang="en-US" sz="1200" dirty="0"/>
          </a:p>
        </p:txBody>
      </p:sp>
      <p:sp>
        <p:nvSpPr>
          <p:cNvPr id="20" name="bd_200"/>
          <p:cNvSpPr/>
          <p:nvPr/>
        </p:nvSpPr>
        <p:spPr>
          <a:xfrm>
            <a:off x="3246120" y="1761744"/>
            <a:ext cx="329184" cy="329184"/>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1" name="gq_201"/>
          <p:cNvSpPr/>
          <p:nvPr/>
        </p:nvSpPr>
        <p:spPr>
          <a:xfrm>
            <a:off x="3657600" y="1778000"/>
            <a:ext cx="2514600" cy="296672"/>
          </a:xfrm>
          <a:prstGeom prst="roundRect">
            <a:avLst>
              <a:gd name="adj" fmla="val 30822"/>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900" dirty="0">
                <a:solidFill>
                  <a:srgbClr val="1B2559"/>
                </a:solidFill>
                <a:latin typeface="Segoe UI Semibold" pitchFamily="34" charset="0"/>
                <a:ea typeface="Segoe UI Semibold" pitchFamily="34" charset="-122"/>
                <a:cs typeface="Segoe UI Semibold" pitchFamily="34" charset="-120"/>
              </a:rPr>
              <a:t>…to stare?</a:t>
            </a:r>
            <a:endParaRPr lang="en-US" sz="900" dirty="0"/>
          </a:p>
        </p:txBody>
      </p:sp>
      <p:sp>
        <p:nvSpPr>
          <p:cNvPr id="22" name="R1_chip202"/>
          <p:cNvSpPr/>
          <p:nvPr/>
        </p:nvSpPr>
        <p:spPr>
          <a:xfrm>
            <a:off x="6263640" y="1778000"/>
            <a:ext cx="2560320" cy="296672"/>
          </a:xfrm>
          <a:prstGeom prst="roundRect">
            <a:avLst>
              <a:gd name="adj" fmla="val 30822"/>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eyes</a:t>
            </a:r>
            <a:endParaRPr lang="en-US" sz="1200" dirty="0"/>
          </a:p>
        </p:txBody>
      </p:sp>
      <p:sp>
        <p:nvSpPr>
          <p:cNvPr id="23" name="bd_203"/>
          <p:cNvSpPr/>
          <p:nvPr/>
        </p:nvSpPr>
        <p:spPr>
          <a:xfrm>
            <a:off x="3246120" y="2122424"/>
            <a:ext cx="329184" cy="329184"/>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4" name="gq_204"/>
          <p:cNvSpPr/>
          <p:nvPr/>
        </p:nvSpPr>
        <p:spPr>
          <a:xfrm>
            <a:off x="3657600" y="2138680"/>
            <a:ext cx="2514600" cy="296672"/>
          </a:xfrm>
          <a:prstGeom prst="roundRect">
            <a:avLst>
              <a:gd name="adj" fmla="val 30822"/>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900" dirty="0">
                <a:solidFill>
                  <a:srgbClr val="1B2559"/>
                </a:solidFill>
                <a:latin typeface="Segoe UI Semibold" pitchFamily="34" charset="0"/>
                <a:ea typeface="Segoe UI Semibold" pitchFamily="34" charset="-122"/>
                <a:cs typeface="Segoe UI Semibold" pitchFamily="34" charset="-120"/>
              </a:rPr>
              <a:t>…to smell? …to clap? …to bite?</a:t>
            </a:r>
            <a:endParaRPr lang="en-US" sz="900" dirty="0"/>
          </a:p>
        </p:txBody>
      </p:sp>
      <p:sp>
        <p:nvSpPr>
          <p:cNvPr id="25" name="R2_chip205"/>
          <p:cNvSpPr/>
          <p:nvPr/>
        </p:nvSpPr>
        <p:spPr>
          <a:xfrm>
            <a:off x="6263640" y="2138680"/>
            <a:ext cx="2560320" cy="296672"/>
          </a:xfrm>
          <a:prstGeom prst="roundRect">
            <a:avLst>
              <a:gd name="adj" fmla="val 30822"/>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nose · hands · teeth</a:t>
            </a:r>
            <a:endParaRPr lang="en-US" sz="1200" dirty="0"/>
          </a:p>
        </p:txBody>
      </p:sp>
      <p:sp>
        <p:nvSpPr>
          <p:cNvPr id="26" name="bd_206"/>
          <p:cNvSpPr/>
          <p:nvPr/>
        </p:nvSpPr>
        <p:spPr>
          <a:xfrm>
            <a:off x="3246120" y="2483104"/>
            <a:ext cx="329184" cy="329184"/>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7" name="gq_207"/>
          <p:cNvSpPr/>
          <p:nvPr/>
        </p:nvSpPr>
        <p:spPr>
          <a:xfrm>
            <a:off x="3657600" y="2499360"/>
            <a:ext cx="2514600" cy="296672"/>
          </a:xfrm>
          <a:prstGeom prst="roundRect">
            <a:avLst>
              <a:gd name="adj" fmla="val 30822"/>
            </a:avLst>
          </a:prstGeom>
          <a:solidFill>
            <a:srgbClr val="FFFFFF"/>
          </a:solidFill>
          <a:ln w="28575">
            <a:solidFill>
              <a:srgbClr val="A8E5BE"/>
            </a:solidFill>
          </a:ln>
        </p:spPr>
        <p:txBody>
          <a:bodyPr wrap="square" lIns="101600" tIns="0" rIns="101600" bIns="0" rtlCol="0" anchor="ctr">
            <a:normAutofit/>
          </a:bodyPr>
          <a:lstStyle/>
          <a:p>
            <a:pPr indent="0" marL="0">
              <a:buNone/>
            </a:pPr>
            <a:r>
              <a:rPr lang="en-US" sz="900" dirty="0">
                <a:solidFill>
                  <a:srgbClr val="1B2559"/>
                </a:solidFill>
                <a:latin typeface="Segoe UI Semibold" pitchFamily="34" charset="0"/>
                <a:ea typeface="Segoe UI Semibold" pitchFamily="34" charset="-122"/>
                <a:cs typeface="Segoe UI Semibold" pitchFamily="34" charset="-120"/>
              </a:rPr>
              <a:t>Arsenal won / beat Chelsea 2–0.</a:t>
            </a:r>
            <a:endParaRPr lang="en-US" sz="900" dirty="0"/>
          </a:p>
        </p:txBody>
      </p:sp>
      <p:sp>
        <p:nvSpPr>
          <p:cNvPr id="28" name="R3_chip208"/>
          <p:cNvSpPr/>
          <p:nvPr/>
        </p:nvSpPr>
        <p:spPr>
          <a:xfrm>
            <a:off x="6263640" y="2499360"/>
            <a:ext cx="2560320" cy="296672"/>
          </a:xfrm>
          <a:prstGeom prst="roundRect">
            <a:avLst>
              <a:gd name="adj" fmla="val 30822"/>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beat</a:t>
            </a:r>
            <a:endParaRPr lang="en-US" sz="1200" dirty="0"/>
          </a:p>
        </p:txBody>
      </p:sp>
      <p:sp>
        <p:nvSpPr>
          <p:cNvPr id="29" name="bd_209"/>
          <p:cNvSpPr/>
          <p:nvPr/>
        </p:nvSpPr>
        <p:spPr>
          <a:xfrm>
            <a:off x="3246120" y="2843784"/>
            <a:ext cx="329184" cy="329184"/>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30" name="gq_210"/>
          <p:cNvSpPr/>
          <p:nvPr/>
        </p:nvSpPr>
        <p:spPr>
          <a:xfrm>
            <a:off x="3657600" y="2860040"/>
            <a:ext cx="2514600" cy="296672"/>
          </a:xfrm>
          <a:prstGeom prst="roundRect">
            <a:avLst>
              <a:gd name="adj" fmla="val 30822"/>
            </a:avLst>
          </a:prstGeom>
          <a:solidFill>
            <a:srgbClr val="FFFFFF"/>
          </a:solidFill>
          <a:ln w="28575">
            <a:solidFill>
              <a:srgbClr val="FFE07A"/>
            </a:solidFill>
          </a:ln>
        </p:spPr>
        <p:txBody>
          <a:bodyPr wrap="square" lIns="101600" tIns="0" rIns="101600" bIns="0" rtlCol="0" anchor="ctr">
            <a:normAutofit/>
          </a:bodyPr>
          <a:lstStyle/>
          <a:p>
            <a:pPr indent="0" marL="0">
              <a:buNone/>
            </a:pPr>
            <a:r>
              <a:rPr lang="en-US" sz="800" dirty="0">
                <a:solidFill>
                  <a:srgbClr val="1B2559"/>
                </a:solidFill>
                <a:latin typeface="Segoe UI Semibold" pitchFamily="34" charset="0"/>
                <a:ea typeface="Segoe UI Semibold" pitchFamily="34" charset="-122"/>
                <a:cs typeface="Segoe UI Semibold" pitchFamily="34" charset="-120"/>
              </a:rPr>
              <a:t>Can you book a tennis course / court on Friday?</a:t>
            </a:r>
            <a:endParaRPr lang="en-US" sz="800" dirty="0"/>
          </a:p>
        </p:txBody>
      </p:sp>
      <p:sp>
        <p:nvSpPr>
          <p:cNvPr id="31" name="R4_chip211"/>
          <p:cNvSpPr/>
          <p:nvPr/>
        </p:nvSpPr>
        <p:spPr>
          <a:xfrm>
            <a:off x="6263640" y="2860040"/>
            <a:ext cx="2560320" cy="296672"/>
          </a:xfrm>
          <a:prstGeom prst="roundRect">
            <a:avLst>
              <a:gd name="adj" fmla="val 30822"/>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court</a:t>
            </a:r>
            <a:endParaRPr lang="en-US" sz="1200" dirty="0"/>
          </a:p>
        </p:txBody>
      </p:sp>
      <p:sp>
        <p:nvSpPr>
          <p:cNvPr id="32" name="bd_212"/>
          <p:cNvSpPr/>
          <p:nvPr/>
        </p:nvSpPr>
        <p:spPr>
          <a:xfrm>
            <a:off x="3246120" y="3204464"/>
            <a:ext cx="329184" cy="329184"/>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5</a:t>
            </a:r>
            <a:endParaRPr lang="en-US" sz="1100" dirty="0"/>
          </a:p>
        </p:txBody>
      </p:sp>
      <p:sp>
        <p:nvSpPr>
          <p:cNvPr id="33" name="gq_213"/>
          <p:cNvSpPr/>
          <p:nvPr/>
        </p:nvSpPr>
        <p:spPr>
          <a:xfrm>
            <a:off x="3657600" y="3220720"/>
            <a:ext cx="2514600" cy="296672"/>
          </a:xfrm>
          <a:prstGeom prst="roundRect">
            <a:avLst>
              <a:gd name="adj" fmla="val 30822"/>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800" dirty="0">
                <a:solidFill>
                  <a:srgbClr val="1B2559"/>
                </a:solidFill>
                <a:latin typeface="Segoe UI Semibold" pitchFamily="34" charset="0"/>
                <a:ea typeface="Segoe UI Semibold" pitchFamily="34" charset="-122"/>
                <a:cs typeface="Segoe UI Semibold" pitchFamily="34" charset="-120"/>
              </a:rPr>
              <a:t>Sports players are very careful not to get injured / get fit.</a:t>
            </a:r>
            <a:endParaRPr lang="en-US" sz="800" dirty="0"/>
          </a:p>
        </p:txBody>
      </p:sp>
      <p:sp>
        <p:nvSpPr>
          <p:cNvPr id="34" name="R5_chip214"/>
          <p:cNvSpPr/>
          <p:nvPr/>
        </p:nvSpPr>
        <p:spPr>
          <a:xfrm>
            <a:off x="6263640" y="3220720"/>
            <a:ext cx="2560320" cy="296672"/>
          </a:xfrm>
          <a:prstGeom prst="roundRect">
            <a:avLst>
              <a:gd name="adj" fmla="val 30822"/>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get injured</a:t>
            </a:r>
            <a:endParaRPr lang="en-US" sz="1200" dirty="0"/>
          </a:p>
        </p:txBody>
      </p:sp>
      <p:sp>
        <p:nvSpPr>
          <p:cNvPr id="35" name="bd_215"/>
          <p:cNvSpPr/>
          <p:nvPr/>
        </p:nvSpPr>
        <p:spPr>
          <a:xfrm>
            <a:off x="3246120" y="3565144"/>
            <a:ext cx="329184" cy="329184"/>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6</a:t>
            </a:r>
            <a:endParaRPr lang="en-US" sz="1100" dirty="0"/>
          </a:p>
        </p:txBody>
      </p:sp>
      <p:sp>
        <p:nvSpPr>
          <p:cNvPr id="36" name="gq_216"/>
          <p:cNvSpPr/>
          <p:nvPr/>
        </p:nvSpPr>
        <p:spPr>
          <a:xfrm>
            <a:off x="3657600" y="3581400"/>
            <a:ext cx="2514600" cy="296672"/>
          </a:xfrm>
          <a:prstGeom prst="roundRect">
            <a:avLst>
              <a:gd name="adj" fmla="val 30822"/>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800" dirty="0">
                <a:solidFill>
                  <a:srgbClr val="1B2559"/>
                </a:solidFill>
                <a:latin typeface="Segoe UI Semibold" pitchFamily="34" charset="0"/>
                <a:ea typeface="Segoe UI Semibold" pitchFamily="34" charset="-122"/>
                <a:cs typeface="Segoe UI Semibold" pitchFamily="34" charset="-120"/>
              </a:rPr>
              <a:t>Real Madrid scored / kicked a goal just before half-time.</a:t>
            </a:r>
            <a:endParaRPr lang="en-US" sz="800" dirty="0"/>
          </a:p>
        </p:txBody>
      </p:sp>
      <p:sp>
        <p:nvSpPr>
          <p:cNvPr id="37" name="R6_chip217"/>
          <p:cNvSpPr/>
          <p:nvPr/>
        </p:nvSpPr>
        <p:spPr>
          <a:xfrm>
            <a:off x="6263640" y="3581400"/>
            <a:ext cx="2560320" cy="296672"/>
          </a:xfrm>
          <a:prstGeom prst="roundRect">
            <a:avLst>
              <a:gd name="adj" fmla="val 30822"/>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scored</a:t>
            </a:r>
            <a:endParaRPr lang="en-US" sz="1200" dirty="0"/>
          </a:p>
        </p:txBody>
      </p:sp>
      <p:sp>
        <p:nvSpPr>
          <p:cNvPr id="38" name="bd_218"/>
          <p:cNvSpPr/>
          <p:nvPr/>
        </p:nvSpPr>
        <p:spPr>
          <a:xfrm>
            <a:off x="3246120" y="3925824"/>
            <a:ext cx="329184" cy="329184"/>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7</a:t>
            </a:r>
            <a:endParaRPr lang="en-US" sz="1100" dirty="0"/>
          </a:p>
        </p:txBody>
      </p:sp>
      <p:sp>
        <p:nvSpPr>
          <p:cNvPr id="39" name="gq_219"/>
          <p:cNvSpPr/>
          <p:nvPr/>
        </p:nvSpPr>
        <p:spPr>
          <a:xfrm>
            <a:off x="3657600" y="3942080"/>
            <a:ext cx="2514600" cy="296672"/>
          </a:xfrm>
          <a:prstGeom prst="roundRect">
            <a:avLst>
              <a:gd name="adj" fmla="val 30822"/>
            </a:avLst>
          </a:prstGeom>
          <a:solidFill>
            <a:srgbClr val="FFFFFF"/>
          </a:solidFill>
          <a:ln w="28575">
            <a:solidFill>
              <a:srgbClr val="A8E5BE"/>
            </a:solidFill>
          </a:ln>
        </p:spPr>
        <p:txBody>
          <a:bodyPr wrap="square" lIns="101600" tIns="0" rIns="101600" bIns="0" rtlCol="0" anchor="ctr">
            <a:normAutofit/>
          </a:bodyPr>
          <a:lstStyle/>
          <a:p>
            <a:pPr indent="0" marL="0">
              <a:buNone/>
            </a:pPr>
            <a:r>
              <a:rPr lang="en-US" sz="800" dirty="0">
                <a:solidFill>
                  <a:srgbClr val="1B2559"/>
                </a:solidFill>
                <a:latin typeface="Segoe UI Semibold" pitchFamily="34" charset="0"/>
                <a:ea typeface="Segoe UI Semibold" pitchFamily="34" charset="-122"/>
                <a:cs typeface="Segoe UI Semibold" pitchFamily="34" charset="-120"/>
              </a:rPr>
              <a:t>Luke is a very cl___ friend. My wife and I have a lot in c___.</a:t>
            </a:r>
            <a:endParaRPr lang="en-US" sz="800" dirty="0"/>
          </a:p>
        </p:txBody>
      </p:sp>
      <p:sp>
        <p:nvSpPr>
          <p:cNvPr id="40" name="R7_chip220"/>
          <p:cNvSpPr/>
          <p:nvPr/>
        </p:nvSpPr>
        <p:spPr>
          <a:xfrm>
            <a:off x="6263640" y="3942080"/>
            <a:ext cx="2560320" cy="296672"/>
          </a:xfrm>
          <a:prstGeom prst="roundRect">
            <a:avLst>
              <a:gd name="adj" fmla="val 30822"/>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close · common</a:t>
            </a:r>
            <a:endParaRPr lang="en-US" sz="1200" dirty="0"/>
          </a:p>
        </p:txBody>
      </p:sp>
      <p:sp>
        <p:nvSpPr>
          <p:cNvPr id="41" name="bd_221"/>
          <p:cNvSpPr/>
          <p:nvPr/>
        </p:nvSpPr>
        <p:spPr>
          <a:xfrm>
            <a:off x="3246120" y="4286504"/>
            <a:ext cx="329184" cy="329184"/>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8</a:t>
            </a:r>
            <a:endParaRPr lang="en-US" sz="1100" dirty="0"/>
          </a:p>
        </p:txBody>
      </p:sp>
      <p:sp>
        <p:nvSpPr>
          <p:cNvPr id="42" name="gq_222"/>
          <p:cNvSpPr/>
          <p:nvPr/>
        </p:nvSpPr>
        <p:spPr>
          <a:xfrm>
            <a:off x="3657600" y="4302760"/>
            <a:ext cx="2514600" cy="296672"/>
          </a:xfrm>
          <a:prstGeom prst="roundRect">
            <a:avLst>
              <a:gd name="adj" fmla="val 30822"/>
            </a:avLst>
          </a:prstGeom>
          <a:solidFill>
            <a:srgbClr val="FFFFFF"/>
          </a:solidFill>
          <a:ln w="28575">
            <a:solidFill>
              <a:srgbClr val="FFE07A"/>
            </a:solidFill>
          </a:ln>
        </p:spPr>
        <p:txBody>
          <a:bodyPr wrap="square" lIns="101600" tIns="0" rIns="101600" bIns="0" rtlCol="0" anchor="ctr">
            <a:normAutofit/>
          </a:bodyPr>
          <a:lstStyle/>
          <a:p>
            <a:pPr indent="0" marL="0">
              <a:buNone/>
            </a:pPr>
            <a:r>
              <a:rPr lang="en-US" sz="700" dirty="0">
                <a:solidFill>
                  <a:srgbClr val="1B2559"/>
                </a:solidFill>
                <a:latin typeface="Segoe UI Semibold" pitchFamily="34" charset="0"/>
                <a:ea typeface="Segoe UI Semibold" pitchFamily="34" charset="-122"/>
                <a:cs typeface="Segoe UI Semibold" pitchFamily="34" charset="-120"/>
              </a:rPr>
              <a:t>Gina and I lost t___ after we both changed jobs. We g___ to know each other very quickly.</a:t>
            </a:r>
            <a:endParaRPr lang="en-US" sz="700" dirty="0"/>
          </a:p>
        </p:txBody>
      </p:sp>
      <p:sp>
        <p:nvSpPr>
          <p:cNvPr id="43" name="R8_chip223"/>
          <p:cNvSpPr/>
          <p:nvPr/>
        </p:nvSpPr>
        <p:spPr>
          <a:xfrm>
            <a:off x="6263640" y="4302760"/>
            <a:ext cx="2560320" cy="296672"/>
          </a:xfrm>
          <a:prstGeom prst="roundRect">
            <a:avLst>
              <a:gd name="adj" fmla="val 30822"/>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touch · got</a:t>
            </a:r>
            <a:endParaRPr lang="en-US" sz="12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4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fade">
                                      <p:cBhvr>
                                        <p:cTn id="12" dur="4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fade">
                                      <p:cBhvr>
                                        <p:cTn id="17" dur="4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400"/>
                                        <p:tgtEl>
                                          <p:spTgt spid="3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fade">
                                      <p:cBhvr>
                                        <p:cTn id="27" dur="400"/>
                                        <p:tgtEl>
                                          <p:spTgt spid="3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7"/>
                                        </p:tgtEl>
                                        <p:attrNameLst>
                                          <p:attrName>style.visibility</p:attrName>
                                        </p:attrNameLst>
                                      </p:cBhvr>
                                      <p:to>
                                        <p:strVal val="visible"/>
                                      </p:to>
                                    </p:set>
                                    <p:animEffect transition="in" filter="fade">
                                      <p:cBhvr>
                                        <p:cTn id="32" dur="400"/>
                                        <p:tgtEl>
                                          <p:spTgt spid="37"/>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0"/>
                                        </p:tgtEl>
                                        <p:attrNameLst>
                                          <p:attrName>style.visibility</p:attrName>
                                        </p:attrNameLst>
                                      </p:cBhvr>
                                      <p:to>
                                        <p:strVal val="visible"/>
                                      </p:to>
                                    </p:set>
                                    <p:animEffect transition="in" filter="fade">
                                      <p:cBhvr>
                                        <p:cTn id="37" dur="400"/>
                                        <p:tgtEl>
                                          <p:spTgt spid="40"/>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3"/>
                                        </p:tgtEl>
                                        <p:attrNameLst>
                                          <p:attrName>style.visibility</p:attrName>
                                        </p:attrNameLst>
                                      </p:cBhvr>
                                      <p:to>
                                        <p:strVal val="visible"/>
                                      </p:to>
                                    </p:set>
                                    <p:animEffect transition="in" filter="fade">
                                      <p:cBhvr>
                                        <p:cTn id="42" dur="4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224"/>
          <p:cNvSpPr/>
          <p:nvPr/>
        </p:nvSpPr>
        <p:spPr>
          <a:xfrm>
            <a:off x="201168" y="164592"/>
            <a:ext cx="841248" cy="841248"/>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8</a:t>
            </a:r>
            <a:endParaRPr lang="en-US" sz="2800" dirty="0"/>
          </a:p>
        </p:txBody>
      </p:sp>
      <p:pic>
        <p:nvPicPr>
          <p:cNvPr id="4" name="brY_225" descr="/home/claude/lls-course/v2/assets/brush-yellow.png">    </p:cNvPr>
          <p:cNvPicPr>
            <a:picLocks noChangeAspect="1"/>
          </p:cNvPicPr>
          <p:nvPr/>
        </p:nvPicPr>
        <p:blipFill>
          <a:blip r:embed="rId2"/>
          <a:stretch>
            <a:fillRect/>
          </a:stretch>
        </p:blipFill>
        <p:spPr>
          <a:xfrm>
            <a:off x="1097280" y="146304"/>
            <a:ext cx="4663440" cy="621792"/>
          </a:xfrm>
          <a:prstGeom prst="rect">
            <a:avLst/>
          </a:prstGeom>
        </p:spPr>
      </p:pic>
      <p:sp>
        <p:nvSpPr>
          <p:cNvPr id="5" name="title_226"/>
          <p:cNvSpPr/>
          <p:nvPr/>
        </p:nvSpPr>
        <p:spPr>
          <a:xfrm>
            <a:off x="1261872" y="164592"/>
            <a:ext cx="4389120"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S-words and phrasal verbs</a:t>
            </a:r>
            <a:endParaRPr lang="en-US" sz="2500" dirty="0"/>
          </a:p>
        </p:txBody>
      </p:sp>
      <p:pic>
        <p:nvPicPr>
          <p:cNvPr id="6" name="brP_227" descr="/home/claude/lls-course/v2/assets/brush-pink.png">    </p:cNvPr>
          <p:cNvPicPr>
            <a:picLocks noChangeAspect="1"/>
          </p:cNvPicPr>
          <p:nvPr/>
        </p:nvPicPr>
        <p:blipFill>
          <a:blip r:embed="rId3"/>
          <a:stretch>
            <a:fillRect/>
          </a:stretch>
        </p:blipFill>
        <p:spPr>
          <a:xfrm>
            <a:off x="1207008" y="731520"/>
            <a:ext cx="5257800" cy="402336"/>
          </a:xfrm>
          <a:prstGeom prst="rect">
            <a:avLst/>
          </a:prstGeom>
        </p:spPr>
      </p:pic>
      <p:sp>
        <p:nvSpPr>
          <p:cNvPr id="7" name="ins_228"/>
          <p:cNvSpPr/>
          <p:nvPr/>
        </p:nvSpPr>
        <p:spPr>
          <a:xfrm>
            <a:off x="1353312" y="731520"/>
            <a:ext cx="5001768" cy="402336"/>
          </a:xfrm>
          <a:prstGeom prst="rect">
            <a:avLst/>
          </a:prstGeom>
          <a:noFill/>
          <a:ln/>
        </p:spPr>
        <p:txBody>
          <a:bodyPr wrap="square" lIns="0" tIns="0" rIns="0" bIns="0" rtlCol="0" anchor="ctr">
            <a:normAutofit/>
          </a:bodyPr>
          <a:lstStyle/>
          <a:p>
            <a:pPr indent="0" marL="0">
              <a:buNone/>
            </a:pPr>
            <a:r>
              <a:rPr lang="en-US" sz="1200" i="1" dirty="0">
                <a:solidFill>
                  <a:srgbClr val="1B2559"/>
                </a:solidFill>
                <a:latin typeface="Segoe UI Semibold" pitchFamily="34" charset="0"/>
                <a:ea typeface="Segoe UI Semibold" pitchFamily="34" charset="-122"/>
                <a:cs typeface="Segoe UI Semibold" pitchFamily="34" charset="-120"/>
              </a:rPr>
              <a:t>Write words beginning with s. Then complete with one word.</a:t>
            </a:r>
            <a:endParaRPr lang="en-US" sz="1200" dirty="0"/>
          </a:p>
        </p:txBody>
      </p:sp>
      <p:sp>
        <p:nvSpPr>
          <p:cNvPr id="8" name="insIT_229"/>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Scrivi parole che iniziano con s. Poi completa con una parola.</a:t>
            </a:r>
            <a:endParaRPr lang="en-US" sz="950" dirty="0"/>
          </a:p>
        </p:txBody>
      </p:sp>
      <p:sp>
        <p:nvSpPr>
          <p:cNvPr id="9" name="note_230"/>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WRITE</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CHECK</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4 min   👥 pairs</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Vocabulary · Controlled practice</a:t>
            </a:r>
            <a:endParaRPr lang="en-US" sz="1150" dirty="0"/>
          </a:p>
        </p:txBody>
      </p:sp>
      <p:pic>
        <p:nvPicPr>
          <p:cNvPr id="10" name="logo_231"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232"/>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R5-6 · Vocabulary · SB p.64 d, e   ·   📖 SB p.64 · Vocabulary d, e (TG key)</a:t>
            </a:r>
            <a:endParaRPr lang="en-US" sz="800" dirty="0"/>
          </a:p>
        </p:txBody>
      </p:sp>
      <p:sp>
        <p:nvSpPr>
          <p:cNvPr id="12" name="cd_233"/>
          <p:cNvSpPr/>
          <p:nvPr/>
        </p:nvSpPr>
        <p:spPr>
          <a:xfrm>
            <a:off x="320040" y="1417320"/>
            <a:ext cx="8549640" cy="3364992"/>
          </a:xfrm>
          <a:prstGeom prst="roundRect">
            <a:avLst>
              <a:gd name="adj" fmla="val 3804"/>
            </a:avLst>
          </a:prstGeom>
          <a:solidFill>
            <a:srgbClr val="FFFFFF"/>
          </a:solidFill>
          <a:ln w="28575">
            <a:solidFill>
              <a:srgbClr val="A8E5BE"/>
            </a:solidFill>
            <a:prstDash val="solid"/>
          </a:ln>
          <a:effectLst>
            <a:outerShdw sx="100000" sy="100000" kx="0" ky="0" algn="bl" rotWithShape="0" blurRad="88900" dist="31750" dir="5400000">
              <a:srgbClr val="1B2559">
                <a:alpha val="12000"/>
              </a:srgbClr>
            </a:outerShdw>
          </a:effectLst>
        </p:spPr>
      </p:sp>
      <p:sp>
        <p:nvSpPr>
          <p:cNvPr id="13" name="rd_234"/>
          <p:cNvSpPr/>
          <p:nvPr/>
        </p:nvSpPr>
        <p:spPr>
          <a:xfrm>
            <a:off x="457200" y="1527048"/>
            <a:ext cx="4000500" cy="3090672"/>
          </a:xfrm>
          <a:prstGeom prst="rect">
            <a:avLst/>
          </a:prstGeom>
          <a:noFill/>
          <a:ln/>
        </p:spPr>
        <p:txBody>
          <a:bodyPr wrap="square" lIns="0" tIns="0" rIns="0" bIns="0" rtlCol="0" anchor="t"/>
          <a:lstStyle/>
          <a:p>
            <a:pPr indent="0" marL="0">
              <a:lnSpc>
                <a:spcPct val="105000"/>
              </a:lnSpc>
              <a:spcAft>
                <a:spcPts val="400"/>
              </a:spcAft>
              <a:buNone/>
            </a:pPr>
            <a:r>
              <a:rPr lang="en-US" sz="1250" b="1" dirty="0">
                <a:solidFill>
                  <a:srgbClr val="1F6F43"/>
                </a:solidFill>
                <a:latin typeface="Georgia" pitchFamily="34" charset="0"/>
                <a:ea typeface="Georgia" pitchFamily="34" charset="-122"/>
                <a:cs typeface="Georgia" pitchFamily="34" charset="-120"/>
              </a:rPr>
              <a:t>d · Words beginning with s</a:t>
            </a:r>
            <a:endParaRPr lang="en-US" sz="1150" dirty="0"/>
          </a:p>
          <a:p>
            <a:pPr indent="0" marL="0">
              <a:lnSpc>
                <a:spcPct val="105000"/>
              </a:lnSpc>
              <a:spcAft>
                <a:spcPts val="700"/>
              </a:spcAft>
              <a:buNone/>
            </a:pPr>
            <a:r>
              <a:rPr lang="en-US" sz="1150" dirty="0">
                <a:solidFill>
                  <a:srgbClr val="1B2559"/>
                </a:solidFill>
                <a:latin typeface="Georgia" pitchFamily="34" charset="0"/>
                <a:ea typeface="Georgia" pitchFamily="34" charset="-122"/>
                <a:cs typeface="Georgia" pitchFamily="34" charset="-120"/>
              </a:rPr>
              <a:t>1</a:t>
            </a:r>
            <a:pPr indent="0" marL="0">
              <a:lnSpc>
                <a:spcPct val="105000"/>
              </a:lnSpc>
              <a:spcAft>
                <a:spcPts val="700"/>
              </a:spcAft>
              <a:buNone/>
            </a:pPr>
            <a:r>
              <a:rPr lang="en-US" sz="1150" b="1" dirty="0">
                <a:solidFill>
                  <a:srgbClr val="7B5CD6"/>
                </a:solidFill>
                <a:highlight>
                  <a:srgbClr val="EEE8FB"/>
                </a:highlight>
                <a:latin typeface="Georgia" pitchFamily="34" charset="0"/>
                <a:ea typeface="Georgia" pitchFamily="34" charset="-122"/>
                <a:cs typeface="Georgia" pitchFamily="34" charset="-120"/>
              </a:rPr>
              <a:t> (1) soundtrack </a:t>
            </a:r>
            <a:pPr indent="0" marL="0">
              <a:lnSpc>
                <a:spcPct val="105000"/>
              </a:lnSpc>
              <a:spcAft>
                <a:spcPts val="700"/>
              </a:spcAft>
              <a:buNone/>
            </a:pPr>
            <a:r>
              <a:rPr lang="en-US" sz="1150" dirty="0">
                <a:solidFill>
                  <a:srgbClr val="1B2559"/>
                </a:solidFill>
                <a:latin typeface="Georgia" pitchFamily="34" charset="0"/>
                <a:ea typeface="Georgia" pitchFamily="34" charset="-122"/>
                <a:cs typeface="Georgia" pitchFamily="34" charset="-120"/>
              </a:rPr>
              <a:t>the music of a film</a:t>
            </a:r>
            <a:endParaRPr lang="en-US" sz="1150" dirty="0"/>
          </a:p>
          <a:p>
            <a:pPr indent="0" marL="0">
              <a:lnSpc>
                <a:spcPct val="105000"/>
              </a:lnSpc>
              <a:spcAft>
                <a:spcPts val="700"/>
              </a:spcAft>
              <a:buNone/>
            </a:pPr>
            <a:r>
              <a:rPr lang="en-US" sz="1150" dirty="0">
                <a:solidFill>
                  <a:srgbClr val="1B2559"/>
                </a:solidFill>
                <a:latin typeface="Georgia" pitchFamily="34" charset="0"/>
                <a:ea typeface="Georgia" pitchFamily="34" charset="-122"/>
                <a:cs typeface="Georgia" pitchFamily="34" charset="-120"/>
              </a:rPr>
              <a:t>2</a:t>
            </a:r>
            <a:pPr indent="0" marL="0">
              <a:lnSpc>
                <a:spcPct val="105000"/>
              </a:lnSpc>
              <a:spcAft>
                <a:spcPts val="700"/>
              </a:spcAft>
              <a:buNone/>
            </a:pPr>
            <a:r>
              <a:rPr lang="en-US" sz="1150" b="1" dirty="0">
                <a:solidFill>
                  <a:srgbClr val="2EB872"/>
                </a:solidFill>
                <a:latin typeface="Georgia" pitchFamily="34" charset="0"/>
                <a:ea typeface="Georgia" pitchFamily="34" charset="-122"/>
                <a:cs typeface="Georgia" pitchFamily="34" charset="-120"/>
              </a:rPr>
              <a:t> (2) ________ </a:t>
            </a:r>
            <a:pPr indent="0" marL="0">
              <a:lnSpc>
                <a:spcPct val="105000"/>
              </a:lnSpc>
              <a:spcAft>
                <a:spcPts val="700"/>
              </a:spcAft>
              <a:buNone/>
            </a:pPr>
            <a:r>
              <a:rPr lang="en-US" sz="1150" dirty="0">
                <a:solidFill>
                  <a:srgbClr val="1B2559"/>
                </a:solidFill>
                <a:latin typeface="Georgia" pitchFamily="34" charset="0"/>
                <a:ea typeface="Georgia" pitchFamily="34" charset="-122"/>
                <a:cs typeface="Georgia" pitchFamily="34" charset="-120"/>
              </a:rPr>
              <a:t>the translation of the dialogue of a film on screen</a:t>
            </a:r>
            <a:endParaRPr lang="en-US" sz="1150" dirty="0"/>
          </a:p>
          <a:p>
            <a:pPr indent="0" marL="0">
              <a:lnSpc>
                <a:spcPct val="105000"/>
              </a:lnSpc>
              <a:spcAft>
                <a:spcPts val="700"/>
              </a:spcAft>
              <a:buNone/>
            </a:pPr>
            <a:r>
              <a:rPr lang="en-US" sz="1150" dirty="0">
                <a:solidFill>
                  <a:srgbClr val="1B2559"/>
                </a:solidFill>
                <a:latin typeface="Georgia" pitchFamily="34" charset="0"/>
                <a:ea typeface="Georgia" pitchFamily="34" charset="-122"/>
                <a:cs typeface="Georgia" pitchFamily="34" charset="-120"/>
              </a:rPr>
              <a:t>3</a:t>
            </a:r>
            <a:pPr indent="0" marL="0">
              <a:lnSpc>
                <a:spcPct val="105000"/>
              </a:lnSpc>
              <a:spcAft>
                <a:spcPts val="700"/>
              </a:spcAft>
              <a:buNone/>
            </a:pPr>
            <a:r>
              <a:rPr lang="en-US" sz="1150" b="1" dirty="0">
                <a:solidFill>
                  <a:srgbClr val="2EB872"/>
                </a:solidFill>
                <a:latin typeface="Georgia" pitchFamily="34" charset="0"/>
                <a:ea typeface="Georgia" pitchFamily="34" charset="-122"/>
                <a:cs typeface="Georgia" pitchFamily="34" charset="-120"/>
              </a:rPr>
              <a:t> (3) ________ </a:t>
            </a:r>
            <a:pPr indent="0" marL="0">
              <a:lnSpc>
                <a:spcPct val="105000"/>
              </a:lnSpc>
              <a:spcAft>
                <a:spcPts val="700"/>
              </a:spcAft>
              <a:buNone/>
            </a:pPr>
            <a:r>
              <a:rPr lang="en-US" sz="1150" dirty="0">
                <a:solidFill>
                  <a:srgbClr val="1B2559"/>
                </a:solidFill>
                <a:latin typeface="Georgia" pitchFamily="34" charset="0"/>
                <a:ea typeface="Georgia" pitchFamily="34" charset="-122"/>
                <a:cs typeface="Georgia" pitchFamily="34" charset="-120"/>
              </a:rPr>
              <a:t>images often created by a computer</a:t>
            </a:r>
            <a:endParaRPr lang="en-US" sz="1150" dirty="0"/>
          </a:p>
          <a:p>
            <a:pPr indent="0" marL="0">
              <a:lnSpc>
                <a:spcPct val="105000"/>
              </a:lnSpc>
              <a:spcAft>
                <a:spcPts val="700"/>
              </a:spcAft>
              <a:buNone/>
            </a:pPr>
            <a:r>
              <a:rPr lang="en-US" sz="1150" dirty="0">
                <a:solidFill>
                  <a:srgbClr val="1B2559"/>
                </a:solidFill>
                <a:latin typeface="Georgia" pitchFamily="34" charset="0"/>
                <a:ea typeface="Georgia" pitchFamily="34" charset="-122"/>
                <a:cs typeface="Georgia" pitchFamily="34" charset="-120"/>
              </a:rPr>
              <a:t>4</a:t>
            </a:r>
            <a:pPr indent="0" marL="0">
              <a:lnSpc>
                <a:spcPct val="105000"/>
              </a:lnSpc>
              <a:spcAft>
                <a:spcPts val="700"/>
              </a:spcAft>
              <a:buNone/>
            </a:pPr>
            <a:r>
              <a:rPr lang="en-US" sz="1150" b="1" dirty="0">
                <a:solidFill>
                  <a:srgbClr val="2EB872"/>
                </a:solidFill>
                <a:latin typeface="Georgia" pitchFamily="34" charset="0"/>
                <a:ea typeface="Georgia" pitchFamily="34" charset="-122"/>
                <a:cs typeface="Georgia" pitchFamily="34" charset="-120"/>
              </a:rPr>
              <a:t> (4) ________ </a:t>
            </a:r>
            <a:pPr indent="0" marL="0">
              <a:lnSpc>
                <a:spcPct val="105000"/>
              </a:lnSpc>
              <a:spcAft>
                <a:spcPts val="700"/>
              </a:spcAft>
              <a:buNone/>
            </a:pPr>
            <a:r>
              <a:rPr lang="en-US" sz="1150" dirty="0">
                <a:solidFill>
                  <a:srgbClr val="1B2559"/>
                </a:solidFill>
                <a:latin typeface="Georgia" pitchFamily="34" charset="0"/>
                <a:ea typeface="Georgia" pitchFamily="34" charset="-122"/>
                <a:cs typeface="Georgia" pitchFamily="34" charset="-120"/>
              </a:rPr>
              <a:t>the most important actor in a film</a:t>
            </a:r>
            <a:endParaRPr lang="en-US" sz="1150" dirty="0"/>
          </a:p>
          <a:p>
            <a:pPr indent="0" marL="0">
              <a:lnSpc>
                <a:spcPct val="105000"/>
              </a:lnSpc>
              <a:spcAft>
                <a:spcPts val="700"/>
              </a:spcAft>
              <a:buNone/>
            </a:pPr>
            <a:r>
              <a:rPr lang="en-US" sz="1150" dirty="0">
                <a:solidFill>
                  <a:srgbClr val="1B2559"/>
                </a:solidFill>
                <a:latin typeface="Georgia" pitchFamily="34" charset="0"/>
                <a:ea typeface="Georgia" pitchFamily="34" charset="-122"/>
                <a:cs typeface="Georgia" pitchFamily="34" charset="-120"/>
              </a:rPr>
              <a:t>5</a:t>
            </a:r>
            <a:pPr indent="0" marL="0">
              <a:lnSpc>
                <a:spcPct val="105000"/>
              </a:lnSpc>
              <a:spcAft>
                <a:spcPts val="700"/>
              </a:spcAft>
              <a:buNone/>
            </a:pPr>
            <a:r>
              <a:rPr lang="en-US" sz="1150" b="1" dirty="0">
                <a:solidFill>
                  <a:srgbClr val="2EB872"/>
                </a:solidFill>
                <a:latin typeface="Georgia" pitchFamily="34" charset="0"/>
                <a:ea typeface="Georgia" pitchFamily="34" charset="-122"/>
                <a:cs typeface="Georgia" pitchFamily="34" charset="-120"/>
              </a:rPr>
              <a:t> (5) ________ </a:t>
            </a:r>
            <a:pPr indent="0" marL="0">
              <a:lnSpc>
                <a:spcPct val="105000"/>
              </a:lnSpc>
              <a:spcAft>
                <a:spcPts val="700"/>
              </a:spcAft>
              <a:buNone/>
            </a:pPr>
            <a:r>
              <a:rPr lang="en-US" sz="1150" dirty="0">
                <a:solidFill>
                  <a:srgbClr val="1B2559"/>
                </a:solidFill>
                <a:latin typeface="Georgia" pitchFamily="34" charset="0"/>
                <a:ea typeface="Georgia" pitchFamily="34" charset="-122"/>
                <a:cs typeface="Georgia" pitchFamily="34" charset="-120"/>
              </a:rPr>
              <a:t>a part of a film which happens in one place</a:t>
            </a:r>
            <a:endParaRPr lang="en-US" sz="1150" dirty="0"/>
          </a:p>
        </p:txBody>
      </p:sp>
      <p:sp>
        <p:nvSpPr>
          <p:cNvPr id="14" name="R1_rdA235"/>
          <p:cNvSpPr/>
          <p:nvPr/>
        </p:nvSpPr>
        <p:spPr>
          <a:xfrm>
            <a:off x="457200" y="1527048"/>
            <a:ext cx="4000500" cy="3090672"/>
          </a:xfrm>
          <a:prstGeom prst="rect">
            <a:avLst/>
          </a:prstGeom>
          <a:solidFill>
            <a:srgbClr val="FFFFFF"/>
          </a:solidFill>
          <a:ln/>
        </p:spPr>
        <p:txBody>
          <a:bodyPr wrap="square" lIns="0" tIns="0" rIns="0" bIns="0" rtlCol="0" anchor="t"/>
          <a:lstStyle/>
          <a:p>
            <a:pPr indent="0" marL="0">
              <a:lnSpc>
                <a:spcPct val="105000"/>
              </a:lnSpc>
              <a:spcAft>
                <a:spcPts val="400"/>
              </a:spcAft>
              <a:buNone/>
            </a:pPr>
            <a:r>
              <a:rPr lang="en-US" sz="1250" b="1" dirty="0">
                <a:solidFill>
                  <a:srgbClr val="1F6F43"/>
                </a:solidFill>
                <a:latin typeface="Georgia" pitchFamily="34" charset="0"/>
                <a:ea typeface="Georgia" pitchFamily="34" charset="-122"/>
                <a:cs typeface="Georgia" pitchFamily="34" charset="-120"/>
              </a:rPr>
              <a:t>d · Words beginning with s</a:t>
            </a:r>
            <a:endParaRPr lang="en-US" sz="1150" dirty="0"/>
          </a:p>
          <a:p>
            <a:pPr indent="0" marL="0">
              <a:lnSpc>
                <a:spcPct val="105000"/>
              </a:lnSpc>
              <a:spcAft>
                <a:spcPts val="700"/>
              </a:spcAft>
              <a:buNone/>
            </a:pPr>
            <a:r>
              <a:rPr lang="en-US" sz="1150" dirty="0">
                <a:solidFill>
                  <a:srgbClr val="1B2559"/>
                </a:solidFill>
                <a:latin typeface="Georgia" pitchFamily="34" charset="0"/>
                <a:ea typeface="Georgia" pitchFamily="34" charset="-122"/>
                <a:cs typeface="Georgia" pitchFamily="34" charset="-120"/>
              </a:rPr>
              <a:t>1</a:t>
            </a:r>
            <a:pPr indent="0" marL="0">
              <a:lnSpc>
                <a:spcPct val="105000"/>
              </a:lnSpc>
              <a:spcAft>
                <a:spcPts val="700"/>
              </a:spcAft>
              <a:buNone/>
            </a:pPr>
            <a:r>
              <a:rPr lang="en-US" sz="1150" b="1" dirty="0">
                <a:solidFill>
                  <a:srgbClr val="7B5CD6"/>
                </a:solidFill>
                <a:highlight>
                  <a:srgbClr val="EEE8FB"/>
                </a:highlight>
                <a:latin typeface="Georgia" pitchFamily="34" charset="0"/>
                <a:ea typeface="Georgia" pitchFamily="34" charset="-122"/>
                <a:cs typeface="Georgia" pitchFamily="34" charset="-120"/>
              </a:rPr>
              <a:t> (1) soundtrack </a:t>
            </a:r>
            <a:pPr indent="0" marL="0">
              <a:lnSpc>
                <a:spcPct val="105000"/>
              </a:lnSpc>
              <a:spcAft>
                <a:spcPts val="700"/>
              </a:spcAft>
              <a:buNone/>
            </a:pPr>
            <a:r>
              <a:rPr lang="en-US" sz="1150" dirty="0">
                <a:solidFill>
                  <a:srgbClr val="1B2559"/>
                </a:solidFill>
                <a:latin typeface="Georgia" pitchFamily="34" charset="0"/>
                <a:ea typeface="Georgia" pitchFamily="34" charset="-122"/>
                <a:cs typeface="Georgia" pitchFamily="34" charset="-120"/>
              </a:rPr>
              <a:t>the music of a film</a:t>
            </a:r>
            <a:endParaRPr lang="en-US" sz="1150" dirty="0"/>
          </a:p>
          <a:p>
            <a:pPr indent="0" marL="0">
              <a:lnSpc>
                <a:spcPct val="105000"/>
              </a:lnSpc>
              <a:spcAft>
                <a:spcPts val="700"/>
              </a:spcAft>
              <a:buNone/>
            </a:pPr>
            <a:r>
              <a:rPr lang="en-US" sz="1150" dirty="0">
                <a:solidFill>
                  <a:srgbClr val="1B2559"/>
                </a:solidFill>
                <a:latin typeface="Georgia" pitchFamily="34" charset="0"/>
                <a:ea typeface="Georgia" pitchFamily="34" charset="-122"/>
                <a:cs typeface="Georgia" pitchFamily="34" charset="-120"/>
              </a:rPr>
              <a:t>2</a:t>
            </a:r>
            <a:pPr indent="0" marL="0">
              <a:lnSpc>
                <a:spcPct val="105000"/>
              </a:lnSpc>
              <a:spcAft>
                <a:spcPts val="700"/>
              </a:spcAft>
              <a:buNone/>
            </a:pPr>
            <a:r>
              <a:rPr lang="en-US" sz="1150" b="1" dirty="0">
                <a:solidFill>
                  <a:srgbClr val="1B2559"/>
                </a:solidFill>
                <a:highlight>
                  <a:srgbClr val="FFE066"/>
                </a:highlight>
                <a:latin typeface="Georgia" pitchFamily="34" charset="0"/>
                <a:ea typeface="Georgia" pitchFamily="34" charset="-122"/>
                <a:cs typeface="Georgia" pitchFamily="34" charset="-120"/>
              </a:rPr>
              <a:t> (2) subtitles </a:t>
            </a:r>
            <a:pPr indent="0" marL="0">
              <a:lnSpc>
                <a:spcPct val="105000"/>
              </a:lnSpc>
              <a:spcAft>
                <a:spcPts val="700"/>
              </a:spcAft>
              <a:buNone/>
            </a:pPr>
            <a:r>
              <a:rPr lang="en-US" sz="1150" dirty="0">
                <a:solidFill>
                  <a:srgbClr val="1B2559"/>
                </a:solidFill>
                <a:latin typeface="Georgia" pitchFamily="34" charset="0"/>
                <a:ea typeface="Georgia" pitchFamily="34" charset="-122"/>
                <a:cs typeface="Georgia" pitchFamily="34" charset="-120"/>
              </a:rPr>
              <a:t>the translation of the dialogue of a film on screen</a:t>
            </a:r>
            <a:endParaRPr lang="en-US" sz="1150" dirty="0"/>
          </a:p>
          <a:p>
            <a:pPr indent="0" marL="0">
              <a:lnSpc>
                <a:spcPct val="105000"/>
              </a:lnSpc>
              <a:spcAft>
                <a:spcPts val="700"/>
              </a:spcAft>
              <a:buNone/>
            </a:pPr>
            <a:r>
              <a:rPr lang="en-US" sz="1150" dirty="0">
                <a:solidFill>
                  <a:srgbClr val="1B2559"/>
                </a:solidFill>
                <a:latin typeface="Georgia" pitchFamily="34" charset="0"/>
                <a:ea typeface="Georgia" pitchFamily="34" charset="-122"/>
                <a:cs typeface="Georgia" pitchFamily="34" charset="-120"/>
              </a:rPr>
              <a:t>3</a:t>
            </a:r>
            <a:pPr indent="0" marL="0">
              <a:lnSpc>
                <a:spcPct val="105000"/>
              </a:lnSpc>
              <a:spcAft>
                <a:spcPts val="700"/>
              </a:spcAft>
              <a:buNone/>
            </a:pPr>
            <a:r>
              <a:rPr lang="en-US" sz="1150" b="1" dirty="0">
                <a:solidFill>
                  <a:srgbClr val="2EB872"/>
                </a:solidFill>
                <a:latin typeface="Georgia" pitchFamily="34" charset="0"/>
                <a:ea typeface="Georgia" pitchFamily="34" charset="-122"/>
                <a:cs typeface="Georgia" pitchFamily="34" charset="-120"/>
              </a:rPr>
              <a:t> (3) ________ </a:t>
            </a:r>
            <a:pPr indent="0" marL="0">
              <a:lnSpc>
                <a:spcPct val="105000"/>
              </a:lnSpc>
              <a:spcAft>
                <a:spcPts val="700"/>
              </a:spcAft>
              <a:buNone/>
            </a:pPr>
            <a:r>
              <a:rPr lang="en-US" sz="1150" dirty="0">
                <a:solidFill>
                  <a:srgbClr val="1B2559"/>
                </a:solidFill>
                <a:latin typeface="Georgia" pitchFamily="34" charset="0"/>
                <a:ea typeface="Georgia" pitchFamily="34" charset="-122"/>
                <a:cs typeface="Georgia" pitchFamily="34" charset="-120"/>
              </a:rPr>
              <a:t>images often created by a computer</a:t>
            </a:r>
            <a:endParaRPr lang="en-US" sz="1150" dirty="0"/>
          </a:p>
          <a:p>
            <a:pPr indent="0" marL="0">
              <a:lnSpc>
                <a:spcPct val="105000"/>
              </a:lnSpc>
              <a:spcAft>
                <a:spcPts val="700"/>
              </a:spcAft>
              <a:buNone/>
            </a:pPr>
            <a:r>
              <a:rPr lang="en-US" sz="1150" dirty="0">
                <a:solidFill>
                  <a:srgbClr val="1B2559"/>
                </a:solidFill>
                <a:latin typeface="Georgia" pitchFamily="34" charset="0"/>
                <a:ea typeface="Georgia" pitchFamily="34" charset="-122"/>
                <a:cs typeface="Georgia" pitchFamily="34" charset="-120"/>
              </a:rPr>
              <a:t>4</a:t>
            </a:r>
            <a:pPr indent="0" marL="0">
              <a:lnSpc>
                <a:spcPct val="105000"/>
              </a:lnSpc>
              <a:spcAft>
                <a:spcPts val="700"/>
              </a:spcAft>
              <a:buNone/>
            </a:pPr>
            <a:r>
              <a:rPr lang="en-US" sz="1150" b="1" dirty="0">
                <a:solidFill>
                  <a:srgbClr val="2EB872"/>
                </a:solidFill>
                <a:latin typeface="Georgia" pitchFamily="34" charset="0"/>
                <a:ea typeface="Georgia" pitchFamily="34" charset="-122"/>
                <a:cs typeface="Georgia" pitchFamily="34" charset="-120"/>
              </a:rPr>
              <a:t> (4) ________ </a:t>
            </a:r>
            <a:pPr indent="0" marL="0">
              <a:lnSpc>
                <a:spcPct val="105000"/>
              </a:lnSpc>
              <a:spcAft>
                <a:spcPts val="700"/>
              </a:spcAft>
              <a:buNone/>
            </a:pPr>
            <a:r>
              <a:rPr lang="en-US" sz="1150" dirty="0">
                <a:solidFill>
                  <a:srgbClr val="1B2559"/>
                </a:solidFill>
                <a:latin typeface="Georgia" pitchFamily="34" charset="0"/>
                <a:ea typeface="Georgia" pitchFamily="34" charset="-122"/>
                <a:cs typeface="Georgia" pitchFamily="34" charset="-120"/>
              </a:rPr>
              <a:t>the most important actor in a film</a:t>
            </a:r>
            <a:endParaRPr lang="en-US" sz="1150" dirty="0"/>
          </a:p>
          <a:p>
            <a:pPr indent="0" marL="0">
              <a:lnSpc>
                <a:spcPct val="105000"/>
              </a:lnSpc>
              <a:spcAft>
                <a:spcPts val="700"/>
              </a:spcAft>
              <a:buNone/>
            </a:pPr>
            <a:r>
              <a:rPr lang="en-US" sz="1150" dirty="0">
                <a:solidFill>
                  <a:srgbClr val="1B2559"/>
                </a:solidFill>
                <a:latin typeface="Georgia" pitchFamily="34" charset="0"/>
                <a:ea typeface="Georgia" pitchFamily="34" charset="-122"/>
                <a:cs typeface="Georgia" pitchFamily="34" charset="-120"/>
              </a:rPr>
              <a:t>5</a:t>
            </a:r>
            <a:pPr indent="0" marL="0">
              <a:lnSpc>
                <a:spcPct val="105000"/>
              </a:lnSpc>
              <a:spcAft>
                <a:spcPts val="700"/>
              </a:spcAft>
              <a:buNone/>
            </a:pPr>
            <a:r>
              <a:rPr lang="en-US" sz="1150" b="1" dirty="0">
                <a:solidFill>
                  <a:srgbClr val="2EB872"/>
                </a:solidFill>
                <a:latin typeface="Georgia" pitchFamily="34" charset="0"/>
                <a:ea typeface="Georgia" pitchFamily="34" charset="-122"/>
                <a:cs typeface="Georgia" pitchFamily="34" charset="-120"/>
              </a:rPr>
              <a:t> (5) ________ </a:t>
            </a:r>
            <a:pPr indent="0" marL="0">
              <a:lnSpc>
                <a:spcPct val="105000"/>
              </a:lnSpc>
              <a:spcAft>
                <a:spcPts val="700"/>
              </a:spcAft>
              <a:buNone/>
            </a:pPr>
            <a:r>
              <a:rPr lang="en-US" sz="1150" dirty="0">
                <a:solidFill>
                  <a:srgbClr val="1B2559"/>
                </a:solidFill>
                <a:latin typeface="Georgia" pitchFamily="34" charset="0"/>
                <a:ea typeface="Georgia" pitchFamily="34" charset="-122"/>
                <a:cs typeface="Georgia" pitchFamily="34" charset="-120"/>
              </a:rPr>
              <a:t>a part of a film which happens in one place</a:t>
            </a:r>
            <a:endParaRPr lang="en-US" sz="1150" dirty="0"/>
          </a:p>
        </p:txBody>
      </p:sp>
      <p:sp>
        <p:nvSpPr>
          <p:cNvPr id="15" name="R2_rdA236"/>
          <p:cNvSpPr/>
          <p:nvPr/>
        </p:nvSpPr>
        <p:spPr>
          <a:xfrm>
            <a:off x="457200" y="1527048"/>
            <a:ext cx="4000500" cy="3090672"/>
          </a:xfrm>
          <a:prstGeom prst="rect">
            <a:avLst/>
          </a:prstGeom>
          <a:solidFill>
            <a:srgbClr val="FFFFFF"/>
          </a:solidFill>
          <a:ln/>
        </p:spPr>
        <p:txBody>
          <a:bodyPr wrap="square" lIns="0" tIns="0" rIns="0" bIns="0" rtlCol="0" anchor="t"/>
          <a:lstStyle/>
          <a:p>
            <a:pPr indent="0" marL="0">
              <a:lnSpc>
                <a:spcPct val="105000"/>
              </a:lnSpc>
              <a:spcAft>
                <a:spcPts val="400"/>
              </a:spcAft>
              <a:buNone/>
            </a:pPr>
            <a:r>
              <a:rPr lang="en-US" sz="1250" b="1" dirty="0">
                <a:solidFill>
                  <a:srgbClr val="1F6F43"/>
                </a:solidFill>
                <a:latin typeface="Georgia" pitchFamily="34" charset="0"/>
                <a:ea typeface="Georgia" pitchFamily="34" charset="-122"/>
                <a:cs typeface="Georgia" pitchFamily="34" charset="-120"/>
              </a:rPr>
              <a:t>d · Words beginning with s</a:t>
            </a:r>
            <a:endParaRPr lang="en-US" sz="1150" dirty="0"/>
          </a:p>
          <a:p>
            <a:pPr indent="0" marL="0">
              <a:lnSpc>
                <a:spcPct val="105000"/>
              </a:lnSpc>
              <a:spcAft>
                <a:spcPts val="700"/>
              </a:spcAft>
              <a:buNone/>
            </a:pPr>
            <a:r>
              <a:rPr lang="en-US" sz="1150" dirty="0">
                <a:solidFill>
                  <a:srgbClr val="1B2559"/>
                </a:solidFill>
                <a:latin typeface="Georgia" pitchFamily="34" charset="0"/>
                <a:ea typeface="Georgia" pitchFamily="34" charset="-122"/>
                <a:cs typeface="Georgia" pitchFamily="34" charset="-120"/>
              </a:rPr>
              <a:t>1</a:t>
            </a:r>
            <a:pPr indent="0" marL="0">
              <a:lnSpc>
                <a:spcPct val="105000"/>
              </a:lnSpc>
              <a:spcAft>
                <a:spcPts val="700"/>
              </a:spcAft>
              <a:buNone/>
            </a:pPr>
            <a:r>
              <a:rPr lang="en-US" sz="1150" b="1" dirty="0">
                <a:solidFill>
                  <a:srgbClr val="7B5CD6"/>
                </a:solidFill>
                <a:highlight>
                  <a:srgbClr val="EEE8FB"/>
                </a:highlight>
                <a:latin typeface="Georgia" pitchFamily="34" charset="0"/>
                <a:ea typeface="Georgia" pitchFamily="34" charset="-122"/>
                <a:cs typeface="Georgia" pitchFamily="34" charset="-120"/>
              </a:rPr>
              <a:t> (1) soundtrack </a:t>
            </a:r>
            <a:pPr indent="0" marL="0">
              <a:lnSpc>
                <a:spcPct val="105000"/>
              </a:lnSpc>
              <a:spcAft>
                <a:spcPts val="700"/>
              </a:spcAft>
              <a:buNone/>
            </a:pPr>
            <a:r>
              <a:rPr lang="en-US" sz="1150" dirty="0">
                <a:solidFill>
                  <a:srgbClr val="1B2559"/>
                </a:solidFill>
                <a:latin typeface="Georgia" pitchFamily="34" charset="0"/>
                <a:ea typeface="Georgia" pitchFamily="34" charset="-122"/>
                <a:cs typeface="Georgia" pitchFamily="34" charset="-120"/>
              </a:rPr>
              <a:t>the music of a film</a:t>
            </a:r>
            <a:endParaRPr lang="en-US" sz="1150" dirty="0"/>
          </a:p>
          <a:p>
            <a:pPr indent="0" marL="0">
              <a:lnSpc>
                <a:spcPct val="105000"/>
              </a:lnSpc>
              <a:spcAft>
                <a:spcPts val="700"/>
              </a:spcAft>
              <a:buNone/>
            </a:pPr>
            <a:r>
              <a:rPr lang="en-US" sz="1150" dirty="0">
                <a:solidFill>
                  <a:srgbClr val="1B2559"/>
                </a:solidFill>
                <a:latin typeface="Georgia" pitchFamily="34" charset="0"/>
                <a:ea typeface="Georgia" pitchFamily="34" charset="-122"/>
                <a:cs typeface="Georgia" pitchFamily="34" charset="-120"/>
              </a:rPr>
              <a:t>2</a:t>
            </a:r>
            <a:pPr indent="0" marL="0">
              <a:lnSpc>
                <a:spcPct val="105000"/>
              </a:lnSpc>
              <a:spcAft>
                <a:spcPts val="700"/>
              </a:spcAft>
              <a:buNone/>
            </a:pPr>
            <a:r>
              <a:rPr lang="en-US" sz="1150" b="1" dirty="0">
                <a:solidFill>
                  <a:srgbClr val="1B2559"/>
                </a:solidFill>
                <a:highlight>
                  <a:srgbClr val="FFE066"/>
                </a:highlight>
                <a:latin typeface="Georgia" pitchFamily="34" charset="0"/>
                <a:ea typeface="Georgia" pitchFamily="34" charset="-122"/>
                <a:cs typeface="Georgia" pitchFamily="34" charset="-120"/>
              </a:rPr>
              <a:t> (2) subtitles </a:t>
            </a:r>
            <a:pPr indent="0" marL="0">
              <a:lnSpc>
                <a:spcPct val="105000"/>
              </a:lnSpc>
              <a:spcAft>
                <a:spcPts val="700"/>
              </a:spcAft>
              <a:buNone/>
            </a:pPr>
            <a:r>
              <a:rPr lang="en-US" sz="1150" dirty="0">
                <a:solidFill>
                  <a:srgbClr val="1B2559"/>
                </a:solidFill>
                <a:latin typeface="Georgia" pitchFamily="34" charset="0"/>
                <a:ea typeface="Georgia" pitchFamily="34" charset="-122"/>
                <a:cs typeface="Georgia" pitchFamily="34" charset="-120"/>
              </a:rPr>
              <a:t>the translation of the dialogue of a film on screen</a:t>
            </a:r>
            <a:endParaRPr lang="en-US" sz="1150" dirty="0"/>
          </a:p>
          <a:p>
            <a:pPr indent="0" marL="0">
              <a:lnSpc>
                <a:spcPct val="105000"/>
              </a:lnSpc>
              <a:spcAft>
                <a:spcPts val="700"/>
              </a:spcAft>
              <a:buNone/>
            </a:pPr>
            <a:r>
              <a:rPr lang="en-US" sz="1150" dirty="0">
                <a:solidFill>
                  <a:srgbClr val="1B2559"/>
                </a:solidFill>
                <a:latin typeface="Georgia" pitchFamily="34" charset="0"/>
                <a:ea typeface="Georgia" pitchFamily="34" charset="-122"/>
                <a:cs typeface="Georgia" pitchFamily="34" charset="-120"/>
              </a:rPr>
              <a:t>3</a:t>
            </a:r>
            <a:pPr indent="0" marL="0">
              <a:lnSpc>
                <a:spcPct val="105000"/>
              </a:lnSpc>
              <a:spcAft>
                <a:spcPts val="700"/>
              </a:spcAft>
              <a:buNone/>
            </a:pPr>
            <a:r>
              <a:rPr lang="en-US" sz="1150" b="1" dirty="0">
                <a:solidFill>
                  <a:srgbClr val="1B2559"/>
                </a:solidFill>
                <a:highlight>
                  <a:srgbClr val="FFE066"/>
                </a:highlight>
                <a:latin typeface="Georgia" pitchFamily="34" charset="0"/>
                <a:ea typeface="Georgia" pitchFamily="34" charset="-122"/>
                <a:cs typeface="Georgia" pitchFamily="34" charset="-120"/>
              </a:rPr>
              <a:t> (3) special effects </a:t>
            </a:r>
            <a:pPr indent="0" marL="0">
              <a:lnSpc>
                <a:spcPct val="105000"/>
              </a:lnSpc>
              <a:spcAft>
                <a:spcPts val="700"/>
              </a:spcAft>
              <a:buNone/>
            </a:pPr>
            <a:r>
              <a:rPr lang="en-US" sz="1150" dirty="0">
                <a:solidFill>
                  <a:srgbClr val="1B2559"/>
                </a:solidFill>
                <a:latin typeface="Georgia" pitchFamily="34" charset="0"/>
                <a:ea typeface="Georgia" pitchFamily="34" charset="-122"/>
                <a:cs typeface="Georgia" pitchFamily="34" charset="-120"/>
              </a:rPr>
              <a:t>images often created by a computer</a:t>
            </a:r>
            <a:endParaRPr lang="en-US" sz="1150" dirty="0"/>
          </a:p>
          <a:p>
            <a:pPr indent="0" marL="0">
              <a:lnSpc>
                <a:spcPct val="105000"/>
              </a:lnSpc>
              <a:spcAft>
                <a:spcPts val="700"/>
              </a:spcAft>
              <a:buNone/>
            </a:pPr>
            <a:r>
              <a:rPr lang="en-US" sz="1150" dirty="0">
                <a:solidFill>
                  <a:srgbClr val="1B2559"/>
                </a:solidFill>
                <a:latin typeface="Georgia" pitchFamily="34" charset="0"/>
                <a:ea typeface="Georgia" pitchFamily="34" charset="-122"/>
                <a:cs typeface="Georgia" pitchFamily="34" charset="-120"/>
              </a:rPr>
              <a:t>4</a:t>
            </a:r>
            <a:pPr indent="0" marL="0">
              <a:lnSpc>
                <a:spcPct val="105000"/>
              </a:lnSpc>
              <a:spcAft>
                <a:spcPts val="700"/>
              </a:spcAft>
              <a:buNone/>
            </a:pPr>
            <a:r>
              <a:rPr lang="en-US" sz="1150" b="1" dirty="0">
                <a:solidFill>
                  <a:srgbClr val="2EB872"/>
                </a:solidFill>
                <a:latin typeface="Georgia" pitchFamily="34" charset="0"/>
                <a:ea typeface="Georgia" pitchFamily="34" charset="-122"/>
                <a:cs typeface="Georgia" pitchFamily="34" charset="-120"/>
              </a:rPr>
              <a:t> (4) ________ </a:t>
            </a:r>
            <a:pPr indent="0" marL="0">
              <a:lnSpc>
                <a:spcPct val="105000"/>
              </a:lnSpc>
              <a:spcAft>
                <a:spcPts val="700"/>
              </a:spcAft>
              <a:buNone/>
            </a:pPr>
            <a:r>
              <a:rPr lang="en-US" sz="1150" dirty="0">
                <a:solidFill>
                  <a:srgbClr val="1B2559"/>
                </a:solidFill>
                <a:latin typeface="Georgia" pitchFamily="34" charset="0"/>
                <a:ea typeface="Georgia" pitchFamily="34" charset="-122"/>
                <a:cs typeface="Georgia" pitchFamily="34" charset="-120"/>
              </a:rPr>
              <a:t>the most important actor in a film</a:t>
            </a:r>
            <a:endParaRPr lang="en-US" sz="1150" dirty="0"/>
          </a:p>
          <a:p>
            <a:pPr indent="0" marL="0">
              <a:lnSpc>
                <a:spcPct val="105000"/>
              </a:lnSpc>
              <a:spcAft>
                <a:spcPts val="700"/>
              </a:spcAft>
              <a:buNone/>
            </a:pPr>
            <a:r>
              <a:rPr lang="en-US" sz="1150" dirty="0">
                <a:solidFill>
                  <a:srgbClr val="1B2559"/>
                </a:solidFill>
                <a:latin typeface="Georgia" pitchFamily="34" charset="0"/>
                <a:ea typeface="Georgia" pitchFamily="34" charset="-122"/>
                <a:cs typeface="Georgia" pitchFamily="34" charset="-120"/>
              </a:rPr>
              <a:t>5</a:t>
            </a:r>
            <a:pPr indent="0" marL="0">
              <a:lnSpc>
                <a:spcPct val="105000"/>
              </a:lnSpc>
              <a:spcAft>
                <a:spcPts val="700"/>
              </a:spcAft>
              <a:buNone/>
            </a:pPr>
            <a:r>
              <a:rPr lang="en-US" sz="1150" b="1" dirty="0">
                <a:solidFill>
                  <a:srgbClr val="2EB872"/>
                </a:solidFill>
                <a:latin typeface="Georgia" pitchFamily="34" charset="0"/>
                <a:ea typeface="Georgia" pitchFamily="34" charset="-122"/>
                <a:cs typeface="Georgia" pitchFamily="34" charset="-120"/>
              </a:rPr>
              <a:t> (5) ________ </a:t>
            </a:r>
            <a:pPr indent="0" marL="0">
              <a:lnSpc>
                <a:spcPct val="105000"/>
              </a:lnSpc>
              <a:spcAft>
                <a:spcPts val="700"/>
              </a:spcAft>
              <a:buNone/>
            </a:pPr>
            <a:r>
              <a:rPr lang="en-US" sz="1150" dirty="0">
                <a:solidFill>
                  <a:srgbClr val="1B2559"/>
                </a:solidFill>
                <a:latin typeface="Georgia" pitchFamily="34" charset="0"/>
                <a:ea typeface="Georgia" pitchFamily="34" charset="-122"/>
                <a:cs typeface="Georgia" pitchFamily="34" charset="-120"/>
              </a:rPr>
              <a:t>a part of a film which happens in one place</a:t>
            </a:r>
            <a:endParaRPr lang="en-US" sz="1150" dirty="0"/>
          </a:p>
        </p:txBody>
      </p:sp>
      <p:sp>
        <p:nvSpPr>
          <p:cNvPr id="16" name="R3_rdA237"/>
          <p:cNvSpPr/>
          <p:nvPr/>
        </p:nvSpPr>
        <p:spPr>
          <a:xfrm>
            <a:off x="457200" y="1527048"/>
            <a:ext cx="4000500" cy="3090672"/>
          </a:xfrm>
          <a:prstGeom prst="rect">
            <a:avLst/>
          </a:prstGeom>
          <a:solidFill>
            <a:srgbClr val="FFFFFF"/>
          </a:solidFill>
          <a:ln/>
        </p:spPr>
        <p:txBody>
          <a:bodyPr wrap="square" lIns="0" tIns="0" rIns="0" bIns="0" rtlCol="0" anchor="t"/>
          <a:lstStyle/>
          <a:p>
            <a:pPr indent="0" marL="0">
              <a:lnSpc>
                <a:spcPct val="105000"/>
              </a:lnSpc>
              <a:spcAft>
                <a:spcPts val="400"/>
              </a:spcAft>
              <a:buNone/>
            </a:pPr>
            <a:r>
              <a:rPr lang="en-US" sz="1250" b="1" dirty="0">
                <a:solidFill>
                  <a:srgbClr val="1F6F43"/>
                </a:solidFill>
                <a:latin typeface="Georgia" pitchFamily="34" charset="0"/>
                <a:ea typeface="Georgia" pitchFamily="34" charset="-122"/>
                <a:cs typeface="Georgia" pitchFamily="34" charset="-120"/>
              </a:rPr>
              <a:t>d · Words beginning with s</a:t>
            </a:r>
            <a:endParaRPr lang="en-US" sz="1150" dirty="0"/>
          </a:p>
          <a:p>
            <a:pPr indent="0" marL="0">
              <a:lnSpc>
                <a:spcPct val="105000"/>
              </a:lnSpc>
              <a:spcAft>
                <a:spcPts val="700"/>
              </a:spcAft>
              <a:buNone/>
            </a:pPr>
            <a:r>
              <a:rPr lang="en-US" sz="1150" dirty="0">
                <a:solidFill>
                  <a:srgbClr val="1B2559"/>
                </a:solidFill>
                <a:latin typeface="Georgia" pitchFamily="34" charset="0"/>
                <a:ea typeface="Georgia" pitchFamily="34" charset="-122"/>
                <a:cs typeface="Georgia" pitchFamily="34" charset="-120"/>
              </a:rPr>
              <a:t>1</a:t>
            </a:r>
            <a:pPr indent="0" marL="0">
              <a:lnSpc>
                <a:spcPct val="105000"/>
              </a:lnSpc>
              <a:spcAft>
                <a:spcPts val="700"/>
              </a:spcAft>
              <a:buNone/>
            </a:pPr>
            <a:r>
              <a:rPr lang="en-US" sz="1150" b="1" dirty="0">
                <a:solidFill>
                  <a:srgbClr val="7B5CD6"/>
                </a:solidFill>
                <a:highlight>
                  <a:srgbClr val="EEE8FB"/>
                </a:highlight>
                <a:latin typeface="Georgia" pitchFamily="34" charset="0"/>
                <a:ea typeface="Georgia" pitchFamily="34" charset="-122"/>
                <a:cs typeface="Georgia" pitchFamily="34" charset="-120"/>
              </a:rPr>
              <a:t> (1) soundtrack </a:t>
            </a:r>
            <a:pPr indent="0" marL="0">
              <a:lnSpc>
                <a:spcPct val="105000"/>
              </a:lnSpc>
              <a:spcAft>
                <a:spcPts val="700"/>
              </a:spcAft>
              <a:buNone/>
            </a:pPr>
            <a:r>
              <a:rPr lang="en-US" sz="1150" dirty="0">
                <a:solidFill>
                  <a:srgbClr val="1B2559"/>
                </a:solidFill>
                <a:latin typeface="Georgia" pitchFamily="34" charset="0"/>
                <a:ea typeface="Georgia" pitchFamily="34" charset="-122"/>
                <a:cs typeface="Georgia" pitchFamily="34" charset="-120"/>
              </a:rPr>
              <a:t>the music of a film</a:t>
            </a:r>
            <a:endParaRPr lang="en-US" sz="1150" dirty="0"/>
          </a:p>
          <a:p>
            <a:pPr indent="0" marL="0">
              <a:lnSpc>
                <a:spcPct val="105000"/>
              </a:lnSpc>
              <a:spcAft>
                <a:spcPts val="700"/>
              </a:spcAft>
              <a:buNone/>
            </a:pPr>
            <a:r>
              <a:rPr lang="en-US" sz="1150" dirty="0">
                <a:solidFill>
                  <a:srgbClr val="1B2559"/>
                </a:solidFill>
                <a:latin typeface="Georgia" pitchFamily="34" charset="0"/>
                <a:ea typeface="Georgia" pitchFamily="34" charset="-122"/>
                <a:cs typeface="Georgia" pitchFamily="34" charset="-120"/>
              </a:rPr>
              <a:t>2</a:t>
            </a:r>
            <a:pPr indent="0" marL="0">
              <a:lnSpc>
                <a:spcPct val="105000"/>
              </a:lnSpc>
              <a:spcAft>
                <a:spcPts val="700"/>
              </a:spcAft>
              <a:buNone/>
            </a:pPr>
            <a:r>
              <a:rPr lang="en-US" sz="1150" b="1" dirty="0">
                <a:solidFill>
                  <a:srgbClr val="1B2559"/>
                </a:solidFill>
                <a:highlight>
                  <a:srgbClr val="FFE066"/>
                </a:highlight>
                <a:latin typeface="Georgia" pitchFamily="34" charset="0"/>
                <a:ea typeface="Georgia" pitchFamily="34" charset="-122"/>
                <a:cs typeface="Georgia" pitchFamily="34" charset="-120"/>
              </a:rPr>
              <a:t> (2) subtitles </a:t>
            </a:r>
            <a:pPr indent="0" marL="0">
              <a:lnSpc>
                <a:spcPct val="105000"/>
              </a:lnSpc>
              <a:spcAft>
                <a:spcPts val="700"/>
              </a:spcAft>
              <a:buNone/>
            </a:pPr>
            <a:r>
              <a:rPr lang="en-US" sz="1150" dirty="0">
                <a:solidFill>
                  <a:srgbClr val="1B2559"/>
                </a:solidFill>
                <a:latin typeface="Georgia" pitchFamily="34" charset="0"/>
                <a:ea typeface="Georgia" pitchFamily="34" charset="-122"/>
                <a:cs typeface="Georgia" pitchFamily="34" charset="-120"/>
              </a:rPr>
              <a:t>the translation of the dialogue of a film on screen</a:t>
            </a:r>
            <a:endParaRPr lang="en-US" sz="1150" dirty="0"/>
          </a:p>
          <a:p>
            <a:pPr indent="0" marL="0">
              <a:lnSpc>
                <a:spcPct val="105000"/>
              </a:lnSpc>
              <a:spcAft>
                <a:spcPts val="700"/>
              </a:spcAft>
              <a:buNone/>
            </a:pPr>
            <a:r>
              <a:rPr lang="en-US" sz="1150" dirty="0">
                <a:solidFill>
                  <a:srgbClr val="1B2559"/>
                </a:solidFill>
                <a:latin typeface="Georgia" pitchFamily="34" charset="0"/>
                <a:ea typeface="Georgia" pitchFamily="34" charset="-122"/>
                <a:cs typeface="Georgia" pitchFamily="34" charset="-120"/>
              </a:rPr>
              <a:t>3</a:t>
            </a:r>
            <a:pPr indent="0" marL="0">
              <a:lnSpc>
                <a:spcPct val="105000"/>
              </a:lnSpc>
              <a:spcAft>
                <a:spcPts val="700"/>
              </a:spcAft>
              <a:buNone/>
            </a:pPr>
            <a:r>
              <a:rPr lang="en-US" sz="1150" b="1" dirty="0">
                <a:solidFill>
                  <a:srgbClr val="1B2559"/>
                </a:solidFill>
                <a:highlight>
                  <a:srgbClr val="FFE066"/>
                </a:highlight>
                <a:latin typeface="Georgia" pitchFamily="34" charset="0"/>
                <a:ea typeface="Georgia" pitchFamily="34" charset="-122"/>
                <a:cs typeface="Georgia" pitchFamily="34" charset="-120"/>
              </a:rPr>
              <a:t> (3) special effects </a:t>
            </a:r>
            <a:pPr indent="0" marL="0">
              <a:lnSpc>
                <a:spcPct val="105000"/>
              </a:lnSpc>
              <a:spcAft>
                <a:spcPts val="700"/>
              </a:spcAft>
              <a:buNone/>
            </a:pPr>
            <a:r>
              <a:rPr lang="en-US" sz="1150" dirty="0">
                <a:solidFill>
                  <a:srgbClr val="1B2559"/>
                </a:solidFill>
                <a:latin typeface="Georgia" pitchFamily="34" charset="0"/>
                <a:ea typeface="Georgia" pitchFamily="34" charset="-122"/>
                <a:cs typeface="Georgia" pitchFamily="34" charset="-120"/>
              </a:rPr>
              <a:t>images often created by a computer</a:t>
            </a:r>
            <a:endParaRPr lang="en-US" sz="1150" dirty="0"/>
          </a:p>
          <a:p>
            <a:pPr indent="0" marL="0">
              <a:lnSpc>
                <a:spcPct val="105000"/>
              </a:lnSpc>
              <a:spcAft>
                <a:spcPts val="700"/>
              </a:spcAft>
              <a:buNone/>
            </a:pPr>
            <a:r>
              <a:rPr lang="en-US" sz="1150" dirty="0">
                <a:solidFill>
                  <a:srgbClr val="1B2559"/>
                </a:solidFill>
                <a:latin typeface="Georgia" pitchFamily="34" charset="0"/>
                <a:ea typeface="Georgia" pitchFamily="34" charset="-122"/>
                <a:cs typeface="Georgia" pitchFamily="34" charset="-120"/>
              </a:rPr>
              <a:t>4</a:t>
            </a:r>
            <a:pPr indent="0" marL="0">
              <a:lnSpc>
                <a:spcPct val="105000"/>
              </a:lnSpc>
              <a:spcAft>
                <a:spcPts val="700"/>
              </a:spcAft>
              <a:buNone/>
            </a:pPr>
            <a:r>
              <a:rPr lang="en-US" sz="1150" b="1" dirty="0">
                <a:solidFill>
                  <a:srgbClr val="1B2559"/>
                </a:solidFill>
                <a:highlight>
                  <a:srgbClr val="FFE066"/>
                </a:highlight>
                <a:latin typeface="Georgia" pitchFamily="34" charset="0"/>
                <a:ea typeface="Georgia" pitchFamily="34" charset="-122"/>
                <a:cs typeface="Georgia" pitchFamily="34" charset="-120"/>
              </a:rPr>
              <a:t> (4) star </a:t>
            </a:r>
            <a:pPr indent="0" marL="0">
              <a:lnSpc>
                <a:spcPct val="105000"/>
              </a:lnSpc>
              <a:spcAft>
                <a:spcPts val="700"/>
              </a:spcAft>
              <a:buNone/>
            </a:pPr>
            <a:r>
              <a:rPr lang="en-US" sz="1150" dirty="0">
                <a:solidFill>
                  <a:srgbClr val="1B2559"/>
                </a:solidFill>
                <a:latin typeface="Georgia" pitchFamily="34" charset="0"/>
                <a:ea typeface="Georgia" pitchFamily="34" charset="-122"/>
                <a:cs typeface="Georgia" pitchFamily="34" charset="-120"/>
              </a:rPr>
              <a:t>the most important actor in a film</a:t>
            </a:r>
            <a:endParaRPr lang="en-US" sz="1150" dirty="0"/>
          </a:p>
          <a:p>
            <a:pPr indent="0" marL="0">
              <a:lnSpc>
                <a:spcPct val="105000"/>
              </a:lnSpc>
              <a:spcAft>
                <a:spcPts val="700"/>
              </a:spcAft>
              <a:buNone/>
            </a:pPr>
            <a:r>
              <a:rPr lang="en-US" sz="1150" dirty="0">
                <a:solidFill>
                  <a:srgbClr val="1B2559"/>
                </a:solidFill>
                <a:latin typeface="Georgia" pitchFamily="34" charset="0"/>
                <a:ea typeface="Georgia" pitchFamily="34" charset="-122"/>
                <a:cs typeface="Georgia" pitchFamily="34" charset="-120"/>
              </a:rPr>
              <a:t>5</a:t>
            </a:r>
            <a:pPr indent="0" marL="0">
              <a:lnSpc>
                <a:spcPct val="105000"/>
              </a:lnSpc>
              <a:spcAft>
                <a:spcPts val="700"/>
              </a:spcAft>
              <a:buNone/>
            </a:pPr>
            <a:r>
              <a:rPr lang="en-US" sz="1150" b="1" dirty="0">
                <a:solidFill>
                  <a:srgbClr val="2EB872"/>
                </a:solidFill>
                <a:latin typeface="Georgia" pitchFamily="34" charset="0"/>
                <a:ea typeface="Georgia" pitchFamily="34" charset="-122"/>
                <a:cs typeface="Georgia" pitchFamily="34" charset="-120"/>
              </a:rPr>
              <a:t> (5) ________ </a:t>
            </a:r>
            <a:pPr indent="0" marL="0">
              <a:lnSpc>
                <a:spcPct val="105000"/>
              </a:lnSpc>
              <a:spcAft>
                <a:spcPts val="700"/>
              </a:spcAft>
              <a:buNone/>
            </a:pPr>
            <a:r>
              <a:rPr lang="en-US" sz="1150" dirty="0">
                <a:solidFill>
                  <a:srgbClr val="1B2559"/>
                </a:solidFill>
                <a:latin typeface="Georgia" pitchFamily="34" charset="0"/>
                <a:ea typeface="Georgia" pitchFamily="34" charset="-122"/>
                <a:cs typeface="Georgia" pitchFamily="34" charset="-120"/>
              </a:rPr>
              <a:t>a part of a film which happens in one place</a:t>
            </a:r>
            <a:endParaRPr lang="en-US" sz="1150" dirty="0"/>
          </a:p>
        </p:txBody>
      </p:sp>
      <p:sp>
        <p:nvSpPr>
          <p:cNvPr id="17" name="R4_rdA238"/>
          <p:cNvSpPr/>
          <p:nvPr/>
        </p:nvSpPr>
        <p:spPr>
          <a:xfrm>
            <a:off x="457200" y="1527048"/>
            <a:ext cx="4000500" cy="3090672"/>
          </a:xfrm>
          <a:prstGeom prst="rect">
            <a:avLst/>
          </a:prstGeom>
          <a:solidFill>
            <a:srgbClr val="FFFFFF"/>
          </a:solidFill>
          <a:ln/>
        </p:spPr>
        <p:txBody>
          <a:bodyPr wrap="square" lIns="0" tIns="0" rIns="0" bIns="0" rtlCol="0" anchor="t"/>
          <a:lstStyle/>
          <a:p>
            <a:pPr indent="0" marL="0">
              <a:lnSpc>
                <a:spcPct val="105000"/>
              </a:lnSpc>
              <a:spcAft>
                <a:spcPts val="400"/>
              </a:spcAft>
              <a:buNone/>
            </a:pPr>
            <a:r>
              <a:rPr lang="en-US" sz="1250" b="1" dirty="0">
                <a:solidFill>
                  <a:srgbClr val="1F6F43"/>
                </a:solidFill>
                <a:latin typeface="Georgia" pitchFamily="34" charset="0"/>
                <a:ea typeface="Georgia" pitchFamily="34" charset="-122"/>
                <a:cs typeface="Georgia" pitchFamily="34" charset="-120"/>
              </a:rPr>
              <a:t>d · Words beginning with s</a:t>
            </a:r>
            <a:endParaRPr lang="en-US" sz="1150" dirty="0"/>
          </a:p>
          <a:p>
            <a:pPr indent="0" marL="0">
              <a:lnSpc>
                <a:spcPct val="105000"/>
              </a:lnSpc>
              <a:spcAft>
                <a:spcPts val="700"/>
              </a:spcAft>
              <a:buNone/>
            </a:pPr>
            <a:r>
              <a:rPr lang="en-US" sz="1150" dirty="0">
                <a:solidFill>
                  <a:srgbClr val="1B2559"/>
                </a:solidFill>
                <a:latin typeface="Georgia" pitchFamily="34" charset="0"/>
                <a:ea typeface="Georgia" pitchFamily="34" charset="-122"/>
                <a:cs typeface="Georgia" pitchFamily="34" charset="-120"/>
              </a:rPr>
              <a:t>1</a:t>
            </a:r>
            <a:pPr indent="0" marL="0">
              <a:lnSpc>
                <a:spcPct val="105000"/>
              </a:lnSpc>
              <a:spcAft>
                <a:spcPts val="700"/>
              </a:spcAft>
              <a:buNone/>
            </a:pPr>
            <a:r>
              <a:rPr lang="en-US" sz="1150" b="1" dirty="0">
                <a:solidFill>
                  <a:srgbClr val="7B5CD6"/>
                </a:solidFill>
                <a:highlight>
                  <a:srgbClr val="EEE8FB"/>
                </a:highlight>
                <a:latin typeface="Georgia" pitchFamily="34" charset="0"/>
                <a:ea typeface="Georgia" pitchFamily="34" charset="-122"/>
                <a:cs typeface="Georgia" pitchFamily="34" charset="-120"/>
              </a:rPr>
              <a:t> (1) soundtrack </a:t>
            </a:r>
            <a:pPr indent="0" marL="0">
              <a:lnSpc>
                <a:spcPct val="105000"/>
              </a:lnSpc>
              <a:spcAft>
                <a:spcPts val="700"/>
              </a:spcAft>
              <a:buNone/>
            </a:pPr>
            <a:r>
              <a:rPr lang="en-US" sz="1150" dirty="0">
                <a:solidFill>
                  <a:srgbClr val="1B2559"/>
                </a:solidFill>
                <a:latin typeface="Georgia" pitchFamily="34" charset="0"/>
                <a:ea typeface="Georgia" pitchFamily="34" charset="-122"/>
                <a:cs typeface="Georgia" pitchFamily="34" charset="-120"/>
              </a:rPr>
              <a:t>the music of a film</a:t>
            </a:r>
            <a:endParaRPr lang="en-US" sz="1150" dirty="0"/>
          </a:p>
          <a:p>
            <a:pPr indent="0" marL="0">
              <a:lnSpc>
                <a:spcPct val="105000"/>
              </a:lnSpc>
              <a:spcAft>
                <a:spcPts val="700"/>
              </a:spcAft>
              <a:buNone/>
            </a:pPr>
            <a:r>
              <a:rPr lang="en-US" sz="1150" dirty="0">
                <a:solidFill>
                  <a:srgbClr val="1B2559"/>
                </a:solidFill>
                <a:latin typeface="Georgia" pitchFamily="34" charset="0"/>
                <a:ea typeface="Georgia" pitchFamily="34" charset="-122"/>
                <a:cs typeface="Georgia" pitchFamily="34" charset="-120"/>
              </a:rPr>
              <a:t>2</a:t>
            </a:r>
            <a:pPr indent="0" marL="0">
              <a:lnSpc>
                <a:spcPct val="105000"/>
              </a:lnSpc>
              <a:spcAft>
                <a:spcPts val="700"/>
              </a:spcAft>
              <a:buNone/>
            </a:pPr>
            <a:r>
              <a:rPr lang="en-US" sz="1150" b="1" dirty="0">
                <a:solidFill>
                  <a:srgbClr val="1B2559"/>
                </a:solidFill>
                <a:highlight>
                  <a:srgbClr val="FFE066"/>
                </a:highlight>
                <a:latin typeface="Georgia" pitchFamily="34" charset="0"/>
                <a:ea typeface="Georgia" pitchFamily="34" charset="-122"/>
                <a:cs typeface="Georgia" pitchFamily="34" charset="-120"/>
              </a:rPr>
              <a:t> (2) subtitles </a:t>
            </a:r>
            <a:pPr indent="0" marL="0">
              <a:lnSpc>
                <a:spcPct val="105000"/>
              </a:lnSpc>
              <a:spcAft>
                <a:spcPts val="700"/>
              </a:spcAft>
              <a:buNone/>
            </a:pPr>
            <a:r>
              <a:rPr lang="en-US" sz="1150" dirty="0">
                <a:solidFill>
                  <a:srgbClr val="1B2559"/>
                </a:solidFill>
                <a:latin typeface="Georgia" pitchFamily="34" charset="0"/>
                <a:ea typeface="Georgia" pitchFamily="34" charset="-122"/>
                <a:cs typeface="Georgia" pitchFamily="34" charset="-120"/>
              </a:rPr>
              <a:t>the translation of the dialogue of a film on screen</a:t>
            </a:r>
            <a:endParaRPr lang="en-US" sz="1150" dirty="0"/>
          </a:p>
          <a:p>
            <a:pPr indent="0" marL="0">
              <a:lnSpc>
                <a:spcPct val="105000"/>
              </a:lnSpc>
              <a:spcAft>
                <a:spcPts val="700"/>
              </a:spcAft>
              <a:buNone/>
            </a:pPr>
            <a:r>
              <a:rPr lang="en-US" sz="1150" dirty="0">
                <a:solidFill>
                  <a:srgbClr val="1B2559"/>
                </a:solidFill>
                <a:latin typeface="Georgia" pitchFamily="34" charset="0"/>
                <a:ea typeface="Georgia" pitchFamily="34" charset="-122"/>
                <a:cs typeface="Georgia" pitchFamily="34" charset="-120"/>
              </a:rPr>
              <a:t>3</a:t>
            </a:r>
            <a:pPr indent="0" marL="0">
              <a:lnSpc>
                <a:spcPct val="105000"/>
              </a:lnSpc>
              <a:spcAft>
                <a:spcPts val="700"/>
              </a:spcAft>
              <a:buNone/>
            </a:pPr>
            <a:r>
              <a:rPr lang="en-US" sz="1150" b="1" dirty="0">
                <a:solidFill>
                  <a:srgbClr val="1B2559"/>
                </a:solidFill>
                <a:highlight>
                  <a:srgbClr val="FFE066"/>
                </a:highlight>
                <a:latin typeface="Georgia" pitchFamily="34" charset="0"/>
                <a:ea typeface="Georgia" pitchFamily="34" charset="-122"/>
                <a:cs typeface="Georgia" pitchFamily="34" charset="-120"/>
              </a:rPr>
              <a:t> (3) special effects </a:t>
            </a:r>
            <a:pPr indent="0" marL="0">
              <a:lnSpc>
                <a:spcPct val="105000"/>
              </a:lnSpc>
              <a:spcAft>
                <a:spcPts val="700"/>
              </a:spcAft>
              <a:buNone/>
            </a:pPr>
            <a:r>
              <a:rPr lang="en-US" sz="1150" dirty="0">
                <a:solidFill>
                  <a:srgbClr val="1B2559"/>
                </a:solidFill>
                <a:latin typeface="Georgia" pitchFamily="34" charset="0"/>
                <a:ea typeface="Georgia" pitchFamily="34" charset="-122"/>
                <a:cs typeface="Georgia" pitchFamily="34" charset="-120"/>
              </a:rPr>
              <a:t>images often created by a computer</a:t>
            </a:r>
            <a:endParaRPr lang="en-US" sz="1150" dirty="0"/>
          </a:p>
          <a:p>
            <a:pPr indent="0" marL="0">
              <a:lnSpc>
                <a:spcPct val="105000"/>
              </a:lnSpc>
              <a:spcAft>
                <a:spcPts val="700"/>
              </a:spcAft>
              <a:buNone/>
            </a:pPr>
            <a:r>
              <a:rPr lang="en-US" sz="1150" dirty="0">
                <a:solidFill>
                  <a:srgbClr val="1B2559"/>
                </a:solidFill>
                <a:latin typeface="Georgia" pitchFamily="34" charset="0"/>
                <a:ea typeface="Georgia" pitchFamily="34" charset="-122"/>
                <a:cs typeface="Georgia" pitchFamily="34" charset="-120"/>
              </a:rPr>
              <a:t>4</a:t>
            </a:r>
            <a:pPr indent="0" marL="0">
              <a:lnSpc>
                <a:spcPct val="105000"/>
              </a:lnSpc>
              <a:spcAft>
                <a:spcPts val="700"/>
              </a:spcAft>
              <a:buNone/>
            </a:pPr>
            <a:r>
              <a:rPr lang="en-US" sz="1150" b="1" dirty="0">
                <a:solidFill>
                  <a:srgbClr val="1B2559"/>
                </a:solidFill>
                <a:highlight>
                  <a:srgbClr val="FFE066"/>
                </a:highlight>
                <a:latin typeface="Georgia" pitchFamily="34" charset="0"/>
                <a:ea typeface="Georgia" pitchFamily="34" charset="-122"/>
                <a:cs typeface="Georgia" pitchFamily="34" charset="-120"/>
              </a:rPr>
              <a:t> (4) star </a:t>
            </a:r>
            <a:pPr indent="0" marL="0">
              <a:lnSpc>
                <a:spcPct val="105000"/>
              </a:lnSpc>
              <a:spcAft>
                <a:spcPts val="700"/>
              </a:spcAft>
              <a:buNone/>
            </a:pPr>
            <a:r>
              <a:rPr lang="en-US" sz="1150" dirty="0">
                <a:solidFill>
                  <a:srgbClr val="1B2559"/>
                </a:solidFill>
                <a:latin typeface="Georgia" pitchFamily="34" charset="0"/>
                <a:ea typeface="Georgia" pitchFamily="34" charset="-122"/>
                <a:cs typeface="Georgia" pitchFamily="34" charset="-120"/>
              </a:rPr>
              <a:t>the most important actor in a film</a:t>
            </a:r>
            <a:endParaRPr lang="en-US" sz="1150" dirty="0"/>
          </a:p>
          <a:p>
            <a:pPr indent="0" marL="0">
              <a:lnSpc>
                <a:spcPct val="105000"/>
              </a:lnSpc>
              <a:spcAft>
                <a:spcPts val="700"/>
              </a:spcAft>
              <a:buNone/>
            </a:pPr>
            <a:r>
              <a:rPr lang="en-US" sz="1150" dirty="0">
                <a:solidFill>
                  <a:srgbClr val="1B2559"/>
                </a:solidFill>
                <a:latin typeface="Georgia" pitchFamily="34" charset="0"/>
                <a:ea typeface="Georgia" pitchFamily="34" charset="-122"/>
                <a:cs typeface="Georgia" pitchFamily="34" charset="-120"/>
              </a:rPr>
              <a:t>5</a:t>
            </a:r>
            <a:pPr indent="0" marL="0">
              <a:lnSpc>
                <a:spcPct val="105000"/>
              </a:lnSpc>
              <a:spcAft>
                <a:spcPts val="700"/>
              </a:spcAft>
              <a:buNone/>
            </a:pPr>
            <a:r>
              <a:rPr lang="en-US" sz="1150" b="1" dirty="0">
                <a:solidFill>
                  <a:srgbClr val="1B2559"/>
                </a:solidFill>
                <a:highlight>
                  <a:srgbClr val="FFE066"/>
                </a:highlight>
                <a:latin typeface="Georgia" pitchFamily="34" charset="0"/>
                <a:ea typeface="Georgia" pitchFamily="34" charset="-122"/>
                <a:cs typeface="Georgia" pitchFamily="34" charset="-120"/>
              </a:rPr>
              <a:t> (5) scene </a:t>
            </a:r>
            <a:pPr indent="0" marL="0">
              <a:lnSpc>
                <a:spcPct val="105000"/>
              </a:lnSpc>
              <a:spcAft>
                <a:spcPts val="700"/>
              </a:spcAft>
              <a:buNone/>
            </a:pPr>
            <a:r>
              <a:rPr lang="en-US" sz="1150" dirty="0">
                <a:solidFill>
                  <a:srgbClr val="1B2559"/>
                </a:solidFill>
                <a:latin typeface="Georgia" pitchFamily="34" charset="0"/>
                <a:ea typeface="Georgia" pitchFamily="34" charset="-122"/>
                <a:cs typeface="Georgia" pitchFamily="34" charset="-120"/>
              </a:rPr>
              <a:t>a part of a film which happens in one place</a:t>
            </a:r>
            <a:endParaRPr lang="en-US" sz="1150" dirty="0"/>
          </a:p>
        </p:txBody>
      </p:sp>
      <p:sp>
        <p:nvSpPr>
          <p:cNvPr id="18" name="rd_239"/>
          <p:cNvSpPr/>
          <p:nvPr/>
        </p:nvSpPr>
        <p:spPr>
          <a:xfrm>
            <a:off x="4732020" y="1527048"/>
            <a:ext cx="4000500" cy="3090672"/>
          </a:xfrm>
          <a:prstGeom prst="rect">
            <a:avLst/>
          </a:prstGeom>
          <a:noFill/>
          <a:ln/>
        </p:spPr>
        <p:txBody>
          <a:bodyPr wrap="square" lIns="0" tIns="0" rIns="0" bIns="0" rtlCol="0" anchor="t"/>
          <a:lstStyle/>
          <a:p>
            <a:pPr indent="0" marL="0">
              <a:lnSpc>
                <a:spcPct val="105000"/>
              </a:lnSpc>
              <a:spcAft>
                <a:spcPts val="400"/>
              </a:spcAft>
              <a:buNone/>
            </a:pPr>
            <a:r>
              <a:rPr lang="en-US" sz="1250" b="1" dirty="0">
                <a:solidFill>
                  <a:srgbClr val="1F6F43"/>
                </a:solidFill>
                <a:latin typeface="Georgia" pitchFamily="34" charset="0"/>
                <a:ea typeface="Georgia" pitchFamily="34" charset="-122"/>
                <a:cs typeface="Georgia" pitchFamily="34" charset="-120"/>
              </a:rPr>
              <a:t>e · One word</a:t>
            </a:r>
            <a:endParaRPr lang="en-US" sz="1150" dirty="0"/>
          </a:p>
          <a:p>
            <a:pPr indent="0" marL="0">
              <a:lnSpc>
                <a:spcPct val="105000"/>
              </a:lnSpc>
              <a:spcAft>
                <a:spcPts val="700"/>
              </a:spcAft>
              <a:buNone/>
            </a:pPr>
            <a:r>
              <a:rPr lang="en-US" sz="1150" dirty="0">
                <a:solidFill>
                  <a:srgbClr val="1B2559"/>
                </a:solidFill>
                <a:latin typeface="Georgia" pitchFamily="34" charset="0"/>
                <a:ea typeface="Georgia" pitchFamily="34" charset="-122"/>
                <a:cs typeface="Georgia" pitchFamily="34" charset="-120"/>
              </a:rPr>
              <a:t>1 I love working</a:t>
            </a:r>
            <a:pPr indent="0" marL="0">
              <a:lnSpc>
                <a:spcPct val="105000"/>
              </a:lnSpc>
              <a:spcAft>
                <a:spcPts val="700"/>
              </a:spcAft>
              <a:buNone/>
            </a:pPr>
            <a:r>
              <a:rPr lang="en-US" sz="1150" b="1" dirty="0">
                <a:solidFill>
                  <a:srgbClr val="2EB872"/>
                </a:solidFill>
                <a:latin typeface="Georgia" pitchFamily="34" charset="0"/>
                <a:ea typeface="Georgia" pitchFamily="34" charset="-122"/>
                <a:cs typeface="Georgia" pitchFamily="34" charset="-120"/>
              </a:rPr>
              <a:t> (6) ________ </a:t>
            </a:r>
            <a:pPr indent="0" marL="0">
              <a:lnSpc>
                <a:spcPct val="105000"/>
              </a:lnSpc>
              <a:spcAft>
                <a:spcPts val="700"/>
              </a:spcAft>
              <a:buNone/>
            </a:pPr>
            <a:r>
              <a:rPr lang="en-US" sz="1150" dirty="0">
                <a:solidFill>
                  <a:srgbClr val="1B2559"/>
                </a:solidFill>
                <a:latin typeface="Georgia" pitchFamily="34" charset="0"/>
                <a:ea typeface="Georgia" pitchFamily="34" charset="-122"/>
                <a:cs typeface="Georgia" pitchFamily="34" charset="-120"/>
              </a:rPr>
              <a:t>at the gym. I go every evening.</a:t>
            </a:r>
            <a:endParaRPr lang="en-US" sz="1150" dirty="0"/>
          </a:p>
          <a:p>
            <a:pPr indent="0" marL="0">
              <a:lnSpc>
                <a:spcPct val="105000"/>
              </a:lnSpc>
              <a:spcAft>
                <a:spcPts val="700"/>
              </a:spcAft>
              <a:buNone/>
            </a:pPr>
            <a:r>
              <a:rPr lang="en-US" sz="1150" dirty="0">
                <a:solidFill>
                  <a:srgbClr val="1B2559"/>
                </a:solidFill>
                <a:latin typeface="Georgia" pitchFamily="34" charset="0"/>
                <a:ea typeface="Georgia" pitchFamily="34" charset="-122"/>
                <a:cs typeface="Georgia" pitchFamily="34" charset="-120"/>
              </a:rPr>
              <a:t>2 The player was sent</a:t>
            </a:r>
            <a:pPr indent="0" marL="0">
              <a:lnSpc>
                <a:spcPct val="105000"/>
              </a:lnSpc>
              <a:spcAft>
                <a:spcPts val="700"/>
              </a:spcAft>
              <a:buNone/>
            </a:pPr>
            <a:r>
              <a:rPr lang="en-US" sz="1150" b="1" dirty="0">
                <a:solidFill>
                  <a:srgbClr val="2EB872"/>
                </a:solidFill>
                <a:latin typeface="Georgia" pitchFamily="34" charset="0"/>
                <a:ea typeface="Georgia" pitchFamily="34" charset="-122"/>
                <a:cs typeface="Georgia" pitchFamily="34" charset="-120"/>
              </a:rPr>
              <a:t> (7) ________ </a:t>
            </a:r>
            <a:pPr indent="0" marL="0">
              <a:lnSpc>
                <a:spcPct val="105000"/>
              </a:lnSpc>
              <a:spcAft>
                <a:spcPts val="700"/>
              </a:spcAft>
              <a:buNone/>
            </a:pPr>
            <a:r>
              <a:rPr lang="en-US" sz="1150" dirty="0">
                <a:solidFill>
                  <a:srgbClr val="1B2559"/>
                </a:solidFill>
                <a:latin typeface="Georgia" pitchFamily="34" charset="0"/>
                <a:ea typeface="Georgia" pitchFamily="34" charset="-122"/>
                <a:cs typeface="Georgia" pitchFamily="34" charset="-120"/>
              </a:rPr>
              <a:t>for insulting the referee.</a:t>
            </a:r>
            <a:endParaRPr lang="en-US" sz="1150" dirty="0"/>
          </a:p>
          <a:p>
            <a:pPr indent="0" marL="0">
              <a:lnSpc>
                <a:spcPct val="105000"/>
              </a:lnSpc>
              <a:spcAft>
                <a:spcPts val="700"/>
              </a:spcAft>
              <a:buNone/>
            </a:pPr>
            <a:r>
              <a:rPr lang="en-US" sz="1150" dirty="0">
                <a:solidFill>
                  <a:srgbClr val="1B2559"/>
                </a:solidFill>
                <a:latin typeface="Georgia" pitchFamily="34" charset="0"/>
                <a:ea typeface="Georgia" pitchFamily="34" charset="-122"/>
                <a:cs typeface="Georgia" pitchFamily="34" charset="-120"/>
              </a:rPr>
              <a:t>3 My sister and her boyfriend have split</a:t>
            </a:r>
            <a:pPr indent="0" marL="0">
              <a:lnSpc>
                <a:spcPct val="105000"/>
              </a:lnSpc>
              <a:spcAft>
                <a:spcPts val="700"/>
              </a:spcAft>
              <a:buNone/>
            </a:pPr>
            <a:r>
              <a:rPr lang="en-US" sz="1150" b="1" dirty="0">
                <a:solidFill>
                  <a:srgbClr val="2EB872"/>
                </a:solidFill>
                <a:latin typeface="Georgia" pitchFamily="34" charset="0"/>
                <a:ea typeface="Georgia" pitchFamily="34" charset="-122"/>
                <a:cs typeface="Georgia" pitchFamily="34" charset="-120"/>
              </a:rPr>
              <a:t> (8) ________ </a:t>
            </a:r>
            <a:pPr indent="0" marL="0">
              <a:lnSpc>
                <a:spcPct val="105000"/>
              </a:lnSpc>
              <a:spcAft>
                <a:spcPts val="700"/>
              </a:spcAft>
              <a:buNone/>
            </a:pPr>
            <a:r>
              <a:rPr lang="en-US" sz="1150" dirty="0">
                <a:solidFill>
                  <a:srgbClr val="1B2559"/>
                </a:solidFill>
                <a:latin typeface="Georgia" pitchFamily="34" charset="0"/>
                <a:ea typeface="Georgia" pitchFamily="34" charset="-122"/>
                <a:cs typeface="Georgia" pitchFamily="34" charset="-120"/>
              </a:rPr>
              <a:t>.</a:t>
            </a:r>
            <a:endParaRPr lang="en-US" sz="1150" dirty="0"/>
          </a:p>
          <a:p>
            <a:pPr indent="0" marL="0">
              <a:lnSpc>
                <a:spcPct val="105000"/>
              </a:lnSpc>
              <a:spcAft>
                <a:spcPts val="700"/>
              </a:spcAft>
              <a:buNone/>
            </a:pPr>
            <a:r>
              <a:rPr lang="en-US" sz="1150" dirty="0">
                <a:solidFill>
                  <a:srgbClr val="1B2559"/>
                </a:solidFill>
                <a:latin typeface="Georgia" pitchFamily="34" charset="0"/>
                <a:ea typeface="Georgia" pitchFamily="34" charset="-122"/>
                <a:cs typeface="Georgia" pitchFamily="34" charset="-120"/>
              </a:rPr>
              <a:t>4 Did you know Jane is going</a:t>
            </a:r>
            <a:pPr indent="0" marL="0">
              <a:lnSpc>
                <a:spcPct val="105000"/>
              </a:lnSpc>
              <a:spcAft>
                <a:spcPts val="700"/>
              </a:spcAft>
              <a:buNone/>
            </a:pPr>
            <a:r>
              <a:rPr lang="en-US" sz="1150" b="1" dirty="0">
                <a:solidFill>
                  <a:srgbClr val="2EB872"/>
                </a:solidFill>
                <a:latin typeface="Georgia" pitchFamily="34" charset="0"/>
                <a:ea typeface="Georgia" pitchFamily="34" charset="-122"/>
                <a:cs typeface="Georgia" pitchFamily="34" charset="-120"/>
              </a:rPr>
              <a:t> (9) ________ </a:t>
            </a:r>
            <a:pPr indent="0" marL="0">
              <a:lnSpc>
                <a:spcPct val="105000"/>
              </a:lnSpc>
              <a:spcAft>
                <a:spcPts val="700"/>
              </a:spcAft>
              <a:buNone/>
            </a:pPr>
            <a:r>
              <a:rPr lang="en-US" sz="1150" dirty="0">
                <a:solidFill>
                  <a:srgbClr val="1B2559"/>
                </a:solidFill>
                <a:latin typeface="Georgia" pitchFamily="34" charset="0"/>
                <a:ea typeface="Georgia" pitchFamily="34" charset="-122"/>
                <a:cs typeface="Georgia" pitchFamily="34" charset="-120"/>
              </a:rPr>
              <a:t>with Jessie's brother?</a:t>
            </a:r>
            <a:endParaRPr lang="en-US" sz="1150" dirty="0"/>
          </a:p>
          <a:p>
            <a:pPr indent="0" marL="0">
              <a:lnSpc>
                <a:spcPct val="105000"/>
              </a:lnSpc>
              <a:spcAft>
                <a:spcPts val="700"/>
              </a:spcAft>
              <a:buNone/>
            </a:pPr>
            <a:r>
              <a:rPr lang="en-US" sz="1150" dirty="0">
                <a:solidFill>
                  <a:srgbClr val="1B2559"/>
                </a:solidFill>
                <a:latin typeface="Georgia" pitchFamily="34" charset="0"/>
                <a:ea typeface="Georgia" pitchFamily="34" charset="-122"/>
                <a:cs typeface="Georgia" pitchFamily="34" charset="-120"/>
              </a:rPr>
              <a:t>5 Is there anything good</a:t>
            </a:r>
            <a:pPr indent="0" marL="0">
              <a:lnSpc>
                <a:spcPct val="105000"/>
              </a:lnSpc>
              <a:spcAft>
                <a:spcPts val="700"/>
              </a:spcAft>
              <a:buNone/>
            </a:pPr>
            <a:r>
              <a:rPr lang="en-US" sz="1150" b="1" dirty="0">
                <a:solidFill>
                  <a:srgbClr val="2EB872"/>
                </a:solidFill>
                <a:latin typeface="Georgia" pitchFamily="34" charset="0"/>
                <a:ea typeface="Georgia" pitchFamily="34" charset="-122"/>
                <a:cs typeface="Georgia" pitchFamily="34" charset="-120"/>
              </a:rPr>
              <a:t> (10) ________ </a:t>
            </a:r>
            <a:pPr indent="0" marL="0">
              <a:lnSpc>
                <a:spcPct val="105000"/>
              </a:lnSpc>
              <a:spcAft>
                <a:spcPts val="700"/>
              </a:spcAft>
              <a:buNone/>
            </a:pPr>
            <a:r>
              <a:rPr lang="en-US" sz="1150" dirty="0">
                <a:solidFill>
                  <a:srgbClr val="1B2559"/>
                </a:solidFill>
                <a:latin typeface="Georgia" pitchFamily="34" charset="0"/>
                <a:ea typeface="Georgia" pitchFamily="34" charset="-122"/>
                <a:cs typeface="Georgia" pitchFamily="34" charset="-120"/>
              </a:rPr>
              <a:t>TV tonight?</a:t>
            </a:r>
            <a:endParaRPr lang="en-US" sz="1150" dirty="0"/>
          </a:p>
        </p:txBody>
      </p:sp>
      <p:sp>
        <p:nvSpPr>
          <p:cNvPr id="19" name="R5_rdA240"/>
          <p:cNvSpPr/>
          <p:nvPr/>
        </p:nvSpPr>
        <p:spPr>
          <a:xfrm>
            <a:off x="4732020" y="1527048"/>
            <a:ext cx="4000500" cy="3090672"/>
          </a:xfrm>
          <a:prstGeom prst="rect">
            <a:avLst/>
          </a:prstGeom>
          <a:solidFill>
            <a:srgbClr val="FFFFFF"/>
          </a:solidFill>
          <a:ln/>
        </p:spPr>
        <p:txBody>
          <a:bodyPr wrap="square" lIns="0" tIns="0" rIns="0" bIns="0" rtlCol="0" anchor="t"/>
          <a:lstStyle/>
          <a:p>
            <a:pPr indent="0" marL="0">
              <a:lnSpc>
                <a:spcPct val="105000"/>
              </a:lnSpc>
              <a:spcAft>
                <a:spcPts val="400"/>
              </a:spcAft>
              <a:buNone/>
            </a:pPr>
            <a:r>
              <a:rPr lang="en-US" sz="1250" b="1" dirty="0">
                <a:solidFill>
                  <a:srgbClr val="1F6F43"/>
                </a:solidFill>
                <a:latin typeface="Georgia" pitchFamily="34" charset="0"/>
                <a:ea typeface="Georgia" pitchFamily="34" charset="-122"/>
                <a:cs typeface="Georgia" pitchFamily="34" charset="-120"/>
              </a:rPr>
              <a:t>e · One word</a:t>
            </a:r>
            <a:endParaRPr lang="en-US" sz="1150" dirty="0"/>
          </a:p>
          <a:p>
            <a:pPr indent="0" marL="0">
              <a:lnSpc>
                <a:spcPct val="105000"/>
              </a:lnSpc>
              <a:spcAft>
                <a:spcPts val="700"/>
              </a:spcAft>
              <a:buNone/>
            </a:pPr>
            <a:r>
              <a:rPr lang="en-US" sz="1150" dirty="0">
                <a:solidFill>
                  <a:srgbClr val="1B2559"/>
                </a:solidFill>
                <a:latin typeface="Georgia" pitchFamily="34" charset="0"/>
                <a:ea typeface="Georgia" pitchFamily="34" charset="-122"/>
                <a:cs typeface="Georgia" pitchFamily="34" charset="-120"/>
              </a:rPr>
              <a:t>1 I love working</a:t>
            </a:r>
            <a:pPr indent="0" marL="0">
              <a:lnSpc>
                <a:spcPct val="105000"/>
              </a:lnSpc>
              <a:spcAft>
                <a:spcPts val="700"/>
              </a:spcAft>
              <a:buNone/>
            </a:pPr>
            <a:r>
              <a:rPr lang="en-US" sz="1150" b="1" dirty="0">
                <a:solidFill>
                  <a:srgbClr val="1B2559"/>
                </a:solidFill>
                <a:highlight>
                  <a:srgbClr val="FFE066"/>
                </a:highlight>
                <a:latin typeface="Georgia" pitchFamily="34" charset="0"/>
                <a:ea typeface="Georgia" pitchFamily="34" charset="-122"/>
                <a:cs typeface="Georgia" pitchFamily="34" charset="-120"/>
              </a:rPr>
              <a:t> (6) out </a:t>
            </a:r>
            <a:pPr indent="0" marL="0">
              <a:lnSpc>
                <a:spcPct val="105000"/>
              </a:lnSpc>
              <a:spcAft>
                <a:spcPts val="700"/>
              </a:spcAft>
              <a:buNone/>
            </a:pPr>
            <a:r>
              <a:rPr lang="en-US" sz="1150" dirty="0">
                <a:solidFill>
                  <a:srgbClr val="1B2559"/>
                </a:solidFill>
                <a:latin typeface="Georgia" pitchFamily="34" charset="0"/>
                <a:ea typeface="Georgia" pitchFamily="34" charset="-122"/>
                <a:cs typeface="Georgia" pitchFamily="34" charset="-120"/>
              </a:rPr>
              <a:t>at the gym. I go every evening.</a:t>
            </a:r>
            <a:endParaRPr lang="en-US" sz="1150" dirty="0"/>
          </a:p>
          <a:p>
            <a:pPr indent="0" marL="0">
              <a:lnSpc>
                <a:spcPct val="105000"/>
              </a:lnSpc>
              <a:spcAft>
                <a:spcPts val="700"/>
              </a:spcAft>
              <a:buNone/>
            </a:pPr>
            <a:r>
              <a:rPr lang="en-US" sz="1150" dirty="0">
                <a:solidFill>
                  <a:srgbClr val="1B2559"/>
                </a:solidFill>
                <a:latin typeface="Georgia" pitchFamily="34" charset="0"/>
                <a:ea typeface="Georgia" pitchFamily="34" charset="-122"/>
                <a:cs typeface="Georgia" pitchFamily="34" charset="-120"/>
              </a:rPr>
              <a:t>2 The player was sent</a:t>
            </a:r>
            <a:pPr indent="0" marL="0">
              <a:lnSpc>
                <a:spcPct val="105000"/>
              </a:lnSpc>
              <a:spcAft>
                <a:spcPts val="700"/>
              </a:spcAft>
              <a:buNone/>
            </a:pPr>
            <a:r>
              <a:rPr lang="en-US" sz="1150" b="1" dirty="0">
                <a:solidFill>
                  <a:srgbClr val="2EB872"/>
                </a:solidFill>
                <a:latin typeface="Georgia" pitchFamily="34" charset="0"/>
                <a:ea typeface="Georgia" pitchFamily="34" charset="-122"/>
                <a:cs typeface="Georgia" pitchFamily="34" charset="-120"/>
              </a:rPr>
              <a:t> (7) ________ </a:t>
            </a:r>
            <a:pPr indent="0" marL="0">
              <a:lnSpc>
                <a:spcPct val="105000"/>
              </a:lnSpc>
              <a:spcAft>
                <a:spcPts val="700"/>
              </a:spcAft>
              <a:buNone/>
            </a:pPr>
            <a:r>
              <a:rPr lang="en-US" sz="1150" dirty="0">
                <a:solidFill>
                  <a:srgbClr val="1B2559"/>
                </a:solidFill>
                <a:latin typeface="Georgia" pitchFamily="34" charset="0"/>
                <a:ea typeface="Georgia" pitchFamily="34" charset="-122"/>
                <a:cs typeface="Georgia" pitchFamily="34" charset="-120"/>
              </a:rPr>
              <a:t>for insulting the referee.</a:t>
            </a:r>
            <a:endParaRPr lang="en-US" sz="1150" dirty="0"/>
          </a:p>
          <a:p>
            <a:pPr indent="0" marL="0">
              <a:lnSpc>
                <a:spcPct val="105000"/>
              </a:lnSpc>
              <a:spcAft>
                <a:spcPts val="700"/>
              </a:spcAft>
              <a:buNone/>
            </a:pPr>
            <a:r>
              <a:rPr lang="en-US" sz="1150" dirty="0">
                <a:solidFill>
                  <a:srgbClr val="1B2559"/>
                </a:solidFill>
                <a:latin typeface="Georgia" pitchFamily="34" charset="0"/>
                <a:ea typeface="Georgia" pitchFamily="34" charset="-122"/>
                <a:cs typeface="Georgia" pitchFamily="34" charset="-120"/>
              </a:rPr>
              <a:t>3 My sister and her boyfriend have split</a:t>
            </a:r>
            <a:pPr indent="0" marL="0">
              <a:lnSpc>
                <a:spcPct val="105000"/>
              </a:lnSpc>
              <a:spcAft>
                <a:spcPts val="700"/>
              </a:spcAft>
              <a:buNone/>
            </a:pPr>
            <a:r>
              <a:rPr lang="en-US" sz="1150" b="1" dirty="0">
                <a:solidFill>
                  <a:srgbClr val="2EB872"/>
                </a:solidFill>
                <a:latin typeface="Georgia" pitchFamily="34" charset="0"/>
                <a:ea typeface="Georgia" pitchFamily="34" charset="-122"/>
                <a:cs typeface="Georgia" pitchFamily="34" charset="-120"/>
              </a:rPr>
              <a:t> (8) ________ </a:t>
            </a:r>
            <a:pPr indent="0" marL="0">
              <a:lnSpc>
                <a:spcPct val="105000"/>
              </a:lnSpc>
              <a:spcAft>
                <a:spcPts val="700"/>
              </a:spcAft>
              <a:buNone/>
            </a:pPr>
            <a:r>
              <a:rPr lang="en-US" sz="1150" dirty="0">
                <a:solidFill>
                  <a:srgbClr val="1B2559"/>
                </a:solidFill>
                <a:latin typeface="Georgia" pitchFamily="34" charset="0"/>
                <a:ea typeface="Georgia" pitchFamily="34" charset="-122"/>
                <a:cs typeface="Georgia" pitchFamily="34" charset="-120"/>
              </a:rPr>
              <a:t>.</a:t>
            </a:r>
            <a:endParaRPr lang="en-US" sz="1150" dirty="0"/>
          </a:p>
          <a:p>
            <a:pPr indent="0" marL="0">
              <a:lnSpc>
                <a:spcPct val="105000"/>
              </a:lnSpc>
              <a:spcAft>
                <a:spcPts val="700"/>
              </a:spcAft>
              <a:buNone/>
            </a:pPr>
            <a:r>
              <a:rPr lang="en-US" sz="1150" dirty="0">
                <a:solidFill>
                  <a:srgbClr val="1B2559"/>
                </a:solidFill>
                <a:latin typeface="Georgia" pitchFamily="34" charset="0"/>
                <a:ea typeface="Georgia" pitchFamily="34" charset="-122"/>
                <a:cs typeface="Georgia" pitchFamily="34" charset="-120"/>
              </a:rPr>
              <a:t>4 Did you know Jane is going</a:t>
            </a:r>
            <a:pPr indent="0" marL="0">
              <a:lnSpc>
                <a:spcPct val="105000"/>
              </a:lnSpc>
              <a:spcAft>
                <a:spcPts val="700"/>
              </a:spcAft>
              <a:buNone/>
            </a:pPr>
            <a:r>
              <a:rPr lang="en-US" sz="1150" b="1" dirty="0">
                <a:solidFill>
                  <a:srgbClr val="2EB872"/>
                </a:solidFill>
                <a:latin typeface="Georgia" pitchFamily="34" charset="0"/>
                <a:ea typeface="Georgia" pitchFamily="34" charset="-122"/>
                <a:cs typeface="Georgia" pitchFamily="34" charset="-120"/>
              </a:rPr>
              <a:t> (9) ________ </a:t>
            </a:r>
            <a:pPr indent="0" marL="0">
              <a:lnSpc>
                <a:spcPct val="105000"/>
              </a:lnSpc>
              <a:spcAft>
                <a:spcPts val="700"/>
              </a:spcAft>
              <a:buNone/>
            </a:pPr>
            <a:r>
              <a:rPr lang="en-US" sz="1150" dirty="0">
                <a:solidFill>
                  <a:srgbClr val="1B2559"/>
                </a:solidFill>
                <a:latin typeface="Georgia" pitchFamily="34" charset="0"/>
                <a:ea typeface="Georgia" pitchFamily="34" charset="-122"/>
                <a:cs typeface="Georgia" pitchFamily="34" charset="-120"/>
              </a:rPr>
              <a:t>with Jessie's brother?</a:t>
            </a:r>
            <a:endParaRPr lang="en-US" sz="1150" dirty="0"/>
          </a:p>
          <a:p>
            <a:pPr indent="0" marL="0">
              <a:lnSpc>
                <a:spcPct val="105000"/>
              </a:lnSpc>
              <a:spcAft>
                <a:spcPts val="700"/>
              </a:spcAft>
              <a:buNone/>
            </a:pPr>
            <a:r>
              <a:rPr lang="en-US" sz="1150" dirty="0">
                <a:solidFill>
                  <a:srgbClr val="1B2559"/>
                </a:solidFill>
                <a:latin typeface="Georgia" pitchFamily="34" charset="0"/>
                <a:ea typeface="Georgia" pitchFamily="34" charset="-122"/>
                <a:cs typeface="Georgia" pitchFamily="34" charset="-120"/>
              </a:rPr>
              <a:t>5 Is there anything good</a:t>
            </a:r>
            <a:pPr indent="0" marL="0">
              <a:lnSpc>
                <a:spcPct val="105000"/>
              </a:lnSpc>
              <a:spcAft>
                <a:spcPts val="700"/>
              </a:spcAft>
              <a:buNone/>
            </a:pPr>
            <a:r>
              <a:rPr lang="en-US" sz="1150" b="1" dirty="0">
                <a:solidFill>
                  <a:srgbClr val="2EB872"/>
                </a:solidFill>
                <a:latin typeface="Georgia" pitchFamily="34" charset="0"/>
                <a:ea typeface="Georgia" pitchFamily="34" charset="-122"/>
                <a:cs typeface="Georgia" pitchFamily="34" charset="-120"/>
              </a:rPr>
              <a:t> (10) ________ </a:t>
            </a:r>
            <a:pPr indent="0" marL="0">
              <a:lnSpc>
                <a:spcPct val="105000"/>
              </a:lnSpc>
              <a:spcAft>
                <a:spcPts val="700"/>
              </a:spcAft>
              <a:buNone/>
            </a:pPr>
            <a:r>
              <a:rPr lang="en-US" sz="1150" dirty="0">
                <a:solidFill>
                  <a:srgbClr val="1B2559"/>
                </a:solidFill>
                <a:latin typeface="Georgia" pitchFamily="34" charset="0"/>
                <a:ea typeface="Georgia" pitchFamily="34" charset="-122"/>
                <a:cs typeface="Georgia" pitchFamily="34" charset="-120"/>
              </a:rPr>
              <a:t>TV tonight?</a:t>
            </a:r>
            <a:endParaRPr lang="en-US" sz="1150" dirty="0"/>
          </a:p>
        </p:txBody>
      </p:sp>
      <p:sp>
        <p:nvSpPr>
          <p:cNvPr id="20" name="R6_rdA241"/>
          <p:cNvSpPr/>
          <p:nvPr/>
        </p:nvSpPr>
        <p:spPr>
          <a:xfrm>
            <a:off x="4732020" y="1527048"/>
            <a:ext cx="4000500" cy="3090672"/>
          </a:xfrm>
          <a:prstGeom prst="rect">
            <a:avLst/>
          </a:prstGeom>
          <a:solidFill>
            <a:srgbClr val="FFFFFF"/>
          </a:solidFill>
          <a:ln/>
        </p:spPr>
        <p:txBody>
          <a:bodyPr wrap="square" lIns="0" tIns="0" rIns="0" bIns="0" rtlCol="0" anchor="t"/>
          <a:lstStyle/>
          <a:p>
            <a:pPr indent="0" marL="0">
              <a:lnSpc>
                <a:spcPct val="105000"/>
              </a:lnSpc>
              <a:spcAft>
                <a:spcPts val="400"/>
              </a:spcAft>
              <a:buNone/>
            </a:pPr>
            <a:r>
              <a:rPr lang="en-US" sz="1250" b="1" dirty="0">
                <a:solidFill>
                  <a:srgbClr val="1F6F43"/>
                </a:solidFill>
                <a:latin typeface="Georgia" pitchFamily="34" charset="0"/>
                <a:ea typeface="Georgia" pitchFamily="34" charset="-122"/>
                <a:cs typeface="Georgia" pitchFamily="34" charset="-120"/>
              </a:rPr>
              <a:t>e · One word</a:t>
            </a:r>
            <a:endParaRPr lang="en-US" sz="1150" dirty="0"/>
          </a:p>
          <a:p>
            <a:pPr indent="0" marL="0">
              <a:lnSpc>
                <a:spcPct val="105000"/>
              </a:lnSpc>
              <a:spcAft>
                <a:spcPts val="700"/>
              </a:spcAft>
              <a:buNone/>
            </a:pPr>
            <a:r>
              <a:rPr lang="en-US" sz="1150" dirty="0">
                <a:solidFill>
                  <a:srgbClr val="1B2559"/>
                </a:solidFill>
                <a:latin typeface="Georgia" pitchFamily="34" charset="0"/>
                <a:ea typeface="Georgia" pitchFamily="34" charset="-122"/>
                <a:cs typeface="Georgia" pitchFamily="34" charset="-120"/>
              </a:rPr>
              <a:t>1 I love working</a:t>
            </a:r>
            <a:pPr indent="0" marL="0">
              <a:lnSpc>
                <a:spcPct val="105000"/>
              </a:lnSpc>
              <a:spcAft>
                <a:spcPts val="700"/>
              </a:spcAft>
              <a:buNone/>
            </a:pPr>
            <a:r>
              <a:rPr lang="en-US" sz="1150" b="1" dirty="0">
                <a:solidFill>
                  <a:srgbClr val="1B2559"/>
                </a:solidFill>
                <a:highlight>
                  <a:srgbClr val="FFE066"/>
                </a:highlight>
                <a:latin typeface="Georgia" pitchFamily="34" charset="0"/>
                <a:ea typeface="Georgia" pitchFamily="34" charset="-122"/>
                <a:cs typeface="Georgia" pitchFamily="34" charset="-120"/>
              </a:rPr>
              <a:t> (6) out </a:t>
            </a:r>
            <a:pPr indent="0" marL="0">
              <a:lnSpc>
                <a:spcPct val="105000"/>
              </a:lnSpc>
              <a:spcAft>
                <a:spcPts val="700"/>
              </a:spcAft>
              <a:buNone/>
            </a:pPr>
            <a:r>
              <a:rPr lang="en-US" sz="1150" dirty="0">
                <a:solidFill>
                  <a:srgbClr val="1B2559"/>
                </a:solidFill>
                <a:latin typeface="Georgia" pitchFamily="34" charset="0"/>
                <a:ea typeface="Georgia" pitchFamily="34" charset="-122"/>
                <a:cs typeface="Georgia" pitchFamily="34" charset="-120"/>
              </a:rPr>
              <a:t>at the gym. I go every evening.</a:t>
            </a:r>
            <a:endParaRPr lang="en-US" sz="1150" dirty="0"/>
          </a:p>
          <a:p>
            <a:pPr indent="0" marL="0">
              <a:lnSpc>
                <a:spcPct val="105000"/>
              </a:lnSpc>
              <a:spcAft>
                <a:spcPts val="700"/>
              </a:spcAft>
              <a:buNone/>
            </a:pPr>
            <a:r>
              <a:rPr lang="en-US" sz="1150" dirty="0">
                <a:solidFill>
                  <a:srgbClr val="1B2559"/>
                </a:solidFill>
                <a:latin typeface="Georgia" pitchFamily="34" charset="0"/>
                <a:ea typeface="Georgia" pitchFamily="34" charset="-122"/>
                <a:cs typeface="Georgia" pitchFamily="34" charset="-120"/>
              </a:rPr>
              <a:t>2 The player was sent</a:t>
            </a:r>
            <a:pPr indent="0" marL="0">
              <a:lnSpc>
                <a:spcPct val="105000"/>
              </a:lnSpc>
              <a:spcAft>
                <a:spcPts val="700"/>
              </a:spcAft>
              <a:buNone/>
            </a:pPr>
            <a:r>
              <a:rPr lang="en-US" sz="1150" b="1" dirty="0">
                <a:solidFill>
                  <a:srgbClr val="1B2559"/>
                </a:solidFill>
                <a:highlight>
                  <a:srgbClr val="FFE066"/>
                </a:highlight>
                <a:latin typeface="Georgia" pitchFamily="34" charset="0"/>
                <a:ea typeface="Georgia" pitchFamily="34" charset="-122"/>
                <a:cs typeface="Georgia" pitchFamily="34" charset="-120"/>
              </a:rPr>
              <a:t> (7) off </a:t>
            </a:r>
            <a:pPr indent="0" marL="0">
              <a:lnSpc>
                <a:spcPct val="105000"/>
              </a:lnSpc>
              <a:spcAft>
                <a:spcPts val="700"/>
              </a:spcAft>
              <a:buNone/>
            </a:pPr>
            <a:r>
              <a:rPr lang="en-US" sz="1150" dirty="0">
                <a:solidFill>
                  <a:srgbClr val="1B2559"/>
                </a:solidFill>
                <a:latin typeface="Georgia" pitchFamily="34" charset="0"/>
                <a:ea typeface="Georgia" pitchFamily="34" charset="-122"/>
                <a:cs typeface="Georgia" pitchFamily="34" charset="-120"/>
              </a:rPr>
              <a:t>for insulting the referee.</a:t>
            </a:r>
            <a:endParaRPr lang="en-US" sz="1150" dirty="0"/>
          </a:p>
          <a:p>
            <a:pPr indent="0" marL="0">
              <a:lnSpc>
                <a:spcPct val="105000"/>
              </a:lnSpc>
              <a:spcAft>
                <a:spcPts val="700"/>
              </a:spcAft>
              <a:buNone/>
            </a:pPr>
            <a:r>
              <a:rPr lang="en-US" sz="1150" dirty="0">
                <a:solidFill>
                  <a:srgbClr val="1B2559"/>
                </a:solidFill>
                <a:latin typeface="Georgia" pitchFamily="34" charset="0"/>
                <a:ea typeface="Georgia" pitchFamily="34" charset="-122"/>
                <a:cs typeface="Georgia" pitchFamily="34" charset="-120"/>
              </a:rPr>
              <a:t>3 My sister and her boyfriend have split</a:t>
            </a:r>
            <a:pPr indent="0" marL="0">
              <a:lnSpc>
                <a:spcPct val="105000"/>
              </a:lnSpc>
              <a:spcAft>
                <a:spcPts val="700"/>
              </a:spcAft>
              <a:buNone/>
            </a:pPr>
            <a:r>
              <a:rPr lang="en-US" sz="1150" b="1" dirty="0">
                <a:solidFill>
                  <a:srgbClr val="2EB872"/>
                </a:solidFill>
                <a:latin typeface="Georgia" pitchFamily="34" charset="0"/>
                <a:ea typeface="Georgia" pitchFamily="34" charset="-122"/>
                <a:cs typeface="Georgia" pitchFamily="34" charset="-120"/>
              </a:rPr>
              <a:t> (8) ________ </a:t>
            </a:r>
            <a:pPr indent="0" marL="0">
              <a:lnSpc>
                <a:spcPct val="105000"/>
              </a:lnSpc>
              <a:spcAft>
                <a:spcPts val="700"/>
              </a:spcAft>
              <a:buNone/>
            </a:pPr>
            <a:r>
              <a:rPr lang="en-US" sz="1150" dirty="0">
                <a:solidFill>
                  <a:srgbClr val="1B2559"/>
                </a:solidFill>
                <a:latin typeface="Georgia" pitchFamily="34" charset="0"/>
                <a:ea typeface="Georgia" pitchFamily="34" charset="-122"/>
                <a:cs typeface="Georgia" pitchFamily="34" charset="-120"/>
              </a:rPr>
              <a:t>.</a:t>
            </a:r>
            <a:endParaRPr lang="en-US" sz="1150" dirty="0"/>
          </a:p>
          <a:p>
            <a:pPr indent="0" marL="0">
              <a:lnSpc>
                <a:spcPct val="105000"/>
              </a:lnSpc>
              <a:spcAft>
                <a:spcPts val="700"/>
              </a:spcAft>
              <a:buNone/>
            </a:pPr>
            <a:r>
              <a:rPr lang="en-US" sz="1150" dirty="0">
                <a:solidFill>
                  <a:srgbClr val="1B2559"/>
                </a:solidFill>
                <a:latin typeface="Georgia" pitchFamily="34" charset="0"/>
                <a:ea typeface="Georgia" pitchFamily="34" charset="-122"/>
                <a:cs typeface="Georgia" pitchFamily="34" charset="-120"/>
              </a:rPr>
              <a:t>4 Did you know Jane is going</a:t>
            </a:r>
            <a:pPr indent="0" marL="0">
              <a:lnSpc>
                <a:spcPct val="105000"/>
              </a:lnSpc>
              <a:spcAft>
                <a:spcPts val="700"/>
              </a:spcAft>
              <a:buNone/>
            </a:pPr>
            <a:r>
              <a:rPr lang="en-US" sz="1150" b="1" dirty="0">
                <a:solidFill>
                  <a:srgbClr val="2EB872"/>
                </a:solidFill>
                <a:latin typeface="Georgia" pitchFamily="34" charset="0"/>
                <a:ea typeface="Georgia" pitchFamily="34" charset="-122"/>
                <a:cs typeface="Georgia" pitchFamily="34" charset="-120"/>
              </a:rPr>
              <a:t> (9) ________ </a:t>
            </a:r>
            <a:pPr indent="0" marL="0">
              <a:lnSpc>
                <a:spcPct val="105000"/>
              </a:lnSpc>
              <a:spcAft>
                <a:spcPts val="700"/>
              </a:spcAft>
              <a:buNone/>
            </a:pPr>
            <a:r>
              <a:rPr lang="en-US" sz="1150" dirty="0">
                <a:solidFill>
                  <a:srgbClr val="1B2559"/>
                </a:solidFill>
                <a:latin typeface="Georgia" pitchFamily="34" charset="0"/>
                <a:ea typeface="Georgia" pitchFamily="34" charset="-122"/>
                <a:cs typeface="Georgia" pitchFamily="34" charset="-120"/>
              </a:rPr>
              <a:t>with Jessie's brother?</a:t>
            </a:r>
            <a:endParaRPr lang="en-US" sz="1150" dirty="0"/>
          </a:p>
          <a:p>
            <a:pPr indent="0" marL="0">
              <a:lnSpc>
                <a:spcPct val="105000"/>
              </a:lnSpc>
              <a:spcAft>
                <a:spcPts val="700"/>
              </a:spcAft>
              <a:buNone/>
            </a:pPr>
            <a:r>
              <a:rPr lang="en-US" sz="1150" dirty="0">
                <a:solidFill>
                  <a:srgbClr val="1B2559"/>
                </a:solidFill>
                <a:latin typeface="Georgia" pitchFamily="34" charset="0"/>
                <a:ea typeface="Georgia" pitchFamily="34" charset="-122"/>
                <a:cs typeface="Georgia" pitchFamily="34" charset="-120"/>
              </a:rPr>
              <a:t>5 Is there anything good</a:t>
            </a:r>
            <a:pPr indent="0" marL="0">
              <a:lnSpc>
                <a:spcPct val="105000"/>
              </a:lnSpc>
              <a:spcAft>
                <a:spcPts val="700"/>
              </a:spcAft>
              <a:buNone/>
            </a:pPr>
            <a:r>
              <a:rPr lang="en-US" sz="1150" b="1" dirty="0">
                <a:solidFill>
                  <a:srgbClr val="2EB872"/>
                </a:solidFill>
                <a:latin typeface="Georgia" pitchFamily="34" charset="0"/>
                <a:ea typeface="Georgia" pitchFamily="34" charset="-122"/>
                <a:cs typeface="Georgia" pitchFamily="34" charset="-120"/>
              </a:rPr>
              <a:t> (10) ________ </a:t>
            </a:r>
            <a:pPr indent="0" marL="0">
              <a:lnSpc>
                <a:spcPct val="105000"/>
              </a:lnSpc>
              <a:spcAft>
                <a:spcPts val="700"/>
              </a:spcAft>
              <a:buNone/>
            </a:pPr>
            <a:r>
              <a:rPr lang="en-US" sz="1150" dirty="0">
                <a:solidFill>
                  <a:srgbClr val="1B2559"/>
                </a:solidFill>
                <a:latin typeface="Georgia" pitchFamily="34" charset="0"/>
                <a:ea typeface="Georgia" pitchFamily="34" charset="-122"/>
                <a:cs typeface="Georgia" pitchFamily="34" charset="-120"/>
              </a:rPr>
              <a:t>TV tonight?</a:t>
            </a:r>
            <a:endParaRPr lang="en-US" sz="1150" dirty="0"/>
          </a:p>
        </p:txBody>
      </p:sp>
      <p:sp>
        <p:nvSpPr>
          <p:cNvPr id="21" name="R7_rdA242"/>
          <p:cNvSpPr/>
          <p:nvPr/>
        </p:nvSpPr>
        <p:spPr>
          <a:xfrm>
            <a:off x="4732020" y="1527048"/>
            <a:ext cx="4000500" cy="3090672"/>
          </a:xfrm>
          <a:prstGeom prst="rect">
            <a:avLst/>
          </a:prstGeom>
          <a:solidFill>
            <a:srgbClr val="FFFFFF"/>
          </a:solidFill>
          <a:ln/>
        </p:spPr>
        <p:txBody>
          <a:bodyPr wrap="square" lIns="0" tIns="0" rIns="0" bIns="0" rtlCol="0" anchor="t"/>
          <a:lstStyle/>
          <a:p>
            <a:pPr indent="0" marL="0">
              <a:lnSpc>
                <a:spcPct val="105000"/>
              </a:lnSpc>
              <a:spcAft>
                <a:spcPts val="400"/>
              </a:spcAft>
              <a:buNone/>
            </a:pPr>
            <a:r>
              <a:rPr lang="en-US" sz="1250" b="1" dirty="0">
                <a:solidFill>
                  <a:srgbClr val="1F6F43"/>
                </a:solidFill>
                <a:latin typeface="Georgia" pitchFamily="34" charset="0"/>
                <a:ea typeface="Georgia" pitchFamily="34" charset="-122"/>
                <a:cs typeface="Georgia" pitchFamily="34" charset="-120"/>
              </a:rPr>
              <a:t>e · One word</a:t>
            </a:r>
            <a:endParaRPr lang="en-US" sz="1150" dirty="0"/>
          </a:p>
          <a:p>
            <a:pPr indent="0" marL="0">
              <a:lnSpc>
                <a:spcPct val="105000"/>
              </a:lnSpc>
              <a:spcAft>
                <a:spcPts val="700"/>
              </a:spcAft>
              <a:buNone/>
            </a:pPr>
            <a:r>
              <a:rPr lang="en-US" sz="1150" dirty="0">
                <a:solidFill>
                  <a:srgbClr val="1B2559"/>
                </a:solidFill>
                <a:latin typeface="Georgia" pitchFamily="34" charset="0"/>
                <a:ea typeface="Georgia" pitchFamily="34" charset="-122"/>
                <a:cs typeface="Georgia" pitchFamily="34" charset="-120"/>
              </a:rPr>
              <a:t>1 I love working</a:t>
            </a:r>
            <a:pPr indent="0" marL="0">
              <a:lnSpc>
                <a:spcPct val="105000"/>
              </a:lnSpc>
              <a:spcAft>
                <a:spcPts val="700"/>
              </a:spcAft>
              <a:buNone/>
            </a:pPr>
            <a:r>
              <a:rPr lang="en-US" sz="1150" b="1" dirty="0">
                <a:solidFill>
                  <a:srgbClr val="1B2559"/>
                </a:solidFill>
                <a:highlight>
                  <a:srgbClr val="FFE066"/>
                </a:highlight>
                <a:latin typeface="Georgia" pitchFamily="34" charset="0"/>
                <a:ea typeface="Georgia" pitchFamily="34" charset="-122"/>
                <a:cs typeface="Georgia" pitchFamily="34" charset="-120"/>
              </a:rPr>
              <a:t> (6) out </a:t>
            </a:r>
            <a:pPr indent="0" marL="0">
              <a:lnSpc>
                <a:spcPct val="105000"/>
              </a:lnSpc>
              <a:spcAft>
                <a:spcPts val="700"/>
              </a:spcAft>
              <a:buNone/>
            </a:pPr>
            <a:r>
              <a:rPr lang="en-US" sz="1150" dirty="0">
                <a:solidFill>
                  <a:srgbClr val="1B2559"/>
                </a:solidFill>
                <a:latin typeface="Georgia" pitchFamily="34" charset="0"/>
                <a:ea typeface="Georgia" pitchFamily="34" charset="-122"/>
                <a:cs typeface="Georgia" pitchFamily="34" charset="-120"/>
              </a:rPr>
              <a:t>at the gym. I go every evening.</a:t>
            </a:r>
            <a:endParaRPr lang="en-US" sz="1150" dirty="0"/>
          </a:p>
          <a:p>
            <a:pPr indent="0" marL="0">
              <a:lnSpc>
                <a:spcPct val="105000"/>
              </a:lnSpc>
              <a:spcAft>
                <a:spcPts val="700"/>
              </a:spcAft>
              <a:buNone/>
            </a:pPr>
            <a:r>
              <a:rPr lang="en-US" sz="1150" dirty="0">
                <a:solidFill>
                  <a:srgbClr val="1B2559"/>
                </a:solidFill>
                <a:latin typeface="Georgia" pitchFamily="34" charset="0"/>
                <a:ea typeface="Georgia" pitchFamily="34" charset="-122"/>
                <a:cs typeface="Georgia" pitchFamily="34" charset="-120"/>
              </a:rPr>
              <a:t>2 The player was sent</a:t>
            </a:r>
            <a:pPr indent="0" marL="0">
              <a:lnSpc>
                <a:spcPct val="105000"/>
              </a:lnSpc>
              <a:spcAft>
                <a:spcPts val="700"/>
              </a:spcAft>
              <a:buNone/>
            </a:pPr>
            <a:r>
              <a:rPr lang="en-US" sz="1150" b="1" dirty="0">
                <a:solidFill>
                  <a:srgbClr val="1B2559"/>
                </a:solidFill>
                <a:highlight>
                  <a:srgbClr val="FFE066"/>
                </a:highlight>
                <a:latin typeface="Georgia" pitchFamily="34" charset="0"/>
                <a:ea typeface="Georgia" pitchFamily="34" charset="-122"/>
                <a:cs typeface="Georgia" pitchFamily="34" charset="-120"/>
              </a:rPr>
              <a:t> (7) off </a:t>
            </a:r>
            <a:pPr indent="0" marL="0">
              <a:lnSpc>
                <a:spcPct val="105000"/>
              </a:lnSpc>
              <a:spcAft>
                <a:spcPts val="700"/>
              </a:spcAft>
              <a:buNone/>
            </a:pPr>
            <a:r>
              <a:rPr lang="en-US" sz="1150" dirty="0">
                <a:solidFill>
                  <a:srgbClr val="1B2559"/>
                </a:solidFill>
                <a:latin typeface="Georgia" pitchFamily="34" charset="0"/>
                <a:ea typeface="Georgia" pitchFamily="34" charset="-122"/>
                <a:cs typeface="Georgia" pitchFamily="34" charset="-120"/>
              </a:rPr>
              <a:t>for insulting the referee.</a:t>
            </a:r>
            <a:endParaRPr lang="en-US" sz="1150" dirty="0"/>
          </a:p>
          <a:p>
            <a:pPr indent="0" marL="0">
              <a:lnSpc>
                <a:spcPct val="105000"/>
              </a:lnSpc>
              <a:spcAft>
                <a:spcPts val="700"/>
              </a:spcAft>
              <a:buNone/>
            </a:pPr>
            <a:r>
              <a:rPr lang="en-US" sz="1150" dirty="0">
                <a:solidFill>
                  <a:srgbClr val="1B2559"/>
                </a:solidFill>
                <a:latin typeface="Georgia" pitchFamily="34" charset="0"/>
                <a:ea typeface="Georgia" pitchFamily="34" charset="-122"/>
                <a:cs typeface="Georgia" pitchFamily="34" charset="-120"/>
              </a:rPr>
              <a:t>3 My sister and her boyfriend have split</a:t>
            </a:r>
            <a:pPr indent="0" marL="0">
              <a:lnSpc>
                <a:spcPct val="105000"/>
              </a:lnSpc>
              <a:spcAft>
                <a:spcPts val="700"/>
              </a:spcAft>
              <a:buNone/>
            </a:pPr>
            <a:r>
              <a:rPr lang="en-US" sz="1150" b="1" dirty="0">
                <a:solidFill>
                  <a:srgbClr val="1B2559"/>
                </a:solidFill>
                <a:highlight>
                  <a:srgbClr val="FFE066"/>
                </a:highlight>
                <a:latin typeface="Georgia" pitchFamily="34" charset="0"/>
                <a:ea typeface="Georgia" pitchFamily="34" charset="-122"/>
                <a:cs typeface="Georgia" pitchFamily="34" charset="-120"/>
              </a:rPr>
              <a:t> (8) up </a:t>
            </a:r>
            <a:pPr indent="0" marL="0">
              <a:lnSpc>
                <a:spcPct val="105000"/>
              </a:lnSpc>
              <a:spcAft>
                <a:spcPts val="700"/>
              </a:spcAft>
              <a:buNone/>
            </a:pPr>
            <a:r>
              <a:rPr lang="en-US" sz="1150" dirty="0">
                <a:solidFill>
                  <a:srgbClr val="1B2559"/>
                </a:solidFill>
                <a:latin typeface="Georgia" pitchFamily="34" charset="0"/>
                <a:ea typeface="Georgia" pitchFamily="34" charset="-122"/>
                <a:cs typeface="Georgia" pitchFamily="34" charset="-120"/>
              </a:rPr>
              <a:t>.</a:t>
            </a:r>
            <a:endParaRPr lang="en-US" sz="1150" dirty="0"/>
          </a:p>
          <a:p>
            <a:pPr indent="0" marL="0">
              <a:lnSpc>
                <a:spcPct val="105000"/>
              </a:lnSpc>
              <a:spcAft>
                <a:spcPts val="700"/>
              </a:spcAft>
              <a:buNone/>
            </a:pPr>
            <a:r>
              <a:rPr lang="en-US" sz="1150" dirty="0">
                <a:solidFill>
                  <a:srgbClr val="1B2559"/>
                </a:solidFill>
                <a:latin typeface="Georgia" pitchFamily="34" charset="0"/>
                <a:ea typeface="Georgia" pitchFamily="34" charset="-122"/>
                <a:cs typeface="Georgia" pitchFamily="34" charset="-120"/>
              </a:rPr>
              <a:t>4 Did you know Jane is going</a:t>
            </a:r>
            <a:pPr indent="0" marL="0">
              <a:lnSpc>
                <a:spcPct val="105000"/>
              </a:lnSpc>
              <a:spcAft>
                <a:spcPts val="700"/>
              </a:spcAft>
              <a:buNone/>
            </a:pPr>
            <a:r>
              <a:rPr lang="en-US" sz="1150" b="1" dirty="0">
                <a:solidFill>
                  <a:srgbClr val="2EB872"/>
                </a:solidFill>
                <a:latin typeface="Georgia" pitchFamily="34" charset="0"/>
                <a:ea typeface="Georgia" pitchFamily="34" charset="-122"/>
                <a:cs typeface="Georgia" pitchFamily="34" charset="-120"/>
              </a:rPr>
              <a:t> (9) ________ </a:t>
            </a:r>
            <a:pPr indent="0" marL="0">
              <a:lnSpc>
                <a:spcPct val="105000"/>
              </a:lnSpc>
              <a:spcAft>
                <a:spcPts val="700"/>
              </a:spcAft>
              <a:buNone/>
            </a:pPr>
            <a:r>
              <a:rPr lang="en-US" sz="1150" dirty="0">
                <a:solidFill>
                  <a:srgbClr val="1B2559"/>
                </a:solidFill>
                <a:latin typeface="Georgia" pitchFamily="34" charset="0"/>
                <a:ea typeface="Georgia" pitchFamily="34" charset="-122"/>
                <a:cs typeface="Georgia" pitchFamily="34" charset="-120"/>
              </a:rPr>
              <a:t>with Jessie's brother?</a:t>
            </a:r>
            <a:endParaRPr lang="en-US" sz="1150" dirty="0"/>
          </a:p>
          <a:p>
            <a:pPr indent="0" marL="0">
              <a:lnSpc>
                <a:spcPct val="105000"/>
              </a:lnSpc>
              <a:spcAft>
                <a:spcPts val="700"/>
              </a:spcAft>
              <a:buNone/>
            </a:pPr>
            <a:r>
              <a:rPr lang="en-US" sz="1150" dirty="0">
                <a:solidFill>
                  <a:srgbClr val="1B2559"/>
                </a:solidFill>
                <a:latin typeface="Georgia" pitchFamily="34" charset="0"/>
                <a:ea typeface="Georgia" pitchFamily="34" charset="-122"/>
                <a:cs typeface="Georgia" pitchFamily="34" charset="-120"/>
              </a:rPr>
              <a:t>5 Is there anything good</a:t>
            </a:r>
            <a:pPr indent="0" marL="0">
              <a:lnSpc>
                <a:spcPct val="105000"/>
              </a:lnSpc>
              <a:spcAft>
                <a:spcPts val="700"/>
              </a:spcAft>
              <a:buNone/>
            </a:pPr>
            <a:r>
              <a:rPr lang="en-US" sz="1150" b="1" dirty="0">
                <a:solidFill>
                  <a:srgbClr val="2EB872"/>
                </a:solidFill>
                <a:latin typeface="Georgia" pitchFamily="34" charset="0"/>
                <a:ea typeface="Georgia" pitchFamily="34" charset="-122"/>
                <a:cs typeface="Georgia" pitchFamily="34" charset="-120"/>
              </a:rPr>
              <a:t> (10) ________ </a:t>
            </a:r>
            <a:pPr indent="0" marL="0">
              <a:lnSpc>
                <a:spcPct val="105000"/>
              </a:lnSpc>
              <a:spcAft>
                <a:spcPts val="700"/>
              </a:spcAft>
              <a:buNone/>
            </a:pPr>
            <a:r>
              <a:rPr lang="en-US" sz="1150" dirty="0">
                <a:solidFill>
                  <a:srgbClr val="1B2559"/>
                </a:solidFill>
                <a:latin typeface="Georgia" pitchFamily="34" charset="0"/>
                <a:ea typeface="Georgia" pitchFamily="34" charset="-122"/>
                <a:cs typeface="Georgia" pitchFamily="34" charset="-120"/>
              </a:rPr>
              <a:t>TV tonight?</a:t>
            </a:r>
            <a:endParaRPr lang="en-US" sz="1150" dirty="0"/>
          </a:p>
        </p:txBody>
      </p:sp>
      <p:sp>
        <p:nvSpPr>
          <p:cNvPr id="22" name="R8_rdA243"/>
          <p:cNvSpPr/>
          <p:nvPr/>
        </p:nvSpPr>
        <p:spPr>
          <a:xfrm>
            <a:off x="4732020" y="1527048"/>
            <a:ext cx="4000500" cy="3090672"/>
          </a:xfrm>
          <a:prstGeom prst="rect">
            <a:avLst/>
          </a:prstGeom>
          <a:solidFill>
            <a:srgbClr val="FFFFFF"/>
          </a:solidFill>
          <a:ln/>
        </p:spPr>
        <p:txBody>
          <a:bodyPr wrap="square" lIns="0" tIns="0" rIns="0" bIns="0" rtlCol="0" anchor="t"/>
          <a:lstStyle/>
          <a:p>
            <a:pPr indent="0" marL="0">
              <a:lnSpc>
                <a:spcPct val="105000"/>
              </a:lnSpc>
              <a:spcAft>
                <a:spcPts val="400"/>
              </a:spcAft>
              <a:buNone/>
            </a:pPr>
            <a:r>
              <a:rPr lang="en-US" sz="1250" b="1" dirty="0">
                <a:solidFill>
                  <a:srgbClr val="1F6F43"/>
                </a:solidFill>
                <a:latin typeface="Georgia" pitchFamily="34" charset="0"/>
                <a:ea typeface="Georgia" pitchFamily="34" charset="-122"/>
                <a:cs typeface="Georgia" pitchFamily="34" charset="-120"/>
              </a:rPr>
              <a:t>e · One word</a:t>
            </a:r>
            <a:endParaRPr lang="en-US" sz="1150" dirty="0"/>
          </a:p>
          <a:p>
            <a:pPr indent="0" marL="0">
              <a:lnSpc>
                <a:spcPct val="105000"/>
              </a:lnSpc>
              <a:spcAft>
                <a:spcPts val="700"/>
              </a:spcAft>
              <a:buNone/>
            </a:pPr>
            <a:r>
              <a:rPr lang="en-US" sz="1150" dirty="0">
                <a:solidFill>
                  <a:srgbClr val="1B2559"/>
                </a:solidFill>
                <a:latin typeface="Georgia" pitchFamily="34" charset="0"/>
                <a:ea typeface="Georgia" pitchFamily="34" charset="-122"/>
                <a:cs typeface="Georgia" pitchFamily="34" charset="-120"/>
              </a:rPr>
              <a:t>1 I love working</a:t>
            </a:r>
            <a:pPr indent="0" marL="0">
              <a:lnSpc>
                <a:spcPct val="105000"/>
              </a:lnSpc>
              <a:spcAft>
                <a:spcPts val="700"/>
              </a:spcAft>
              <a:buNone/>
            </a:pPr>
            <a:r>
              <a:rPr lang="en-US" sz="1150" b="1" dirty="0">
                <a:solidFill>
                  <a:srgbClr val="1B2559"/>
                </a:solidFill>
                <a:highlight>
                  <a:srgbClr val="FFE066"/>
                </a:highlight>
                <a:latin typeface="Georgia" pitchFamily="34" charset="0"/>
                <a:ea typeface="Georgia" pitchFamily="34" charset="-122"/>
                <a:cs typeface="Georgia" pitchFamily="34" charset="-120"/>
              </a:rPr>
              <a:t> (6) out </a:t>
            </a:r>
            <a:pPr indent="0" marL="0">
              <a:lnSpc>
                <a:spcPct val="105000"/>
              </a:lnSpc>
              <a:spcAft>
                <a:spcPts val="700"/>
              </a:spcAft>
              <a:buNone/>
            </a:pPr>
            <a:r>
              <a:rPr lang="en-US" sz="1150" dirty="0">
                <a:solidFill>
                  <a:srgbClr val="1B2559"/>
                </a:solidFill>
                <a:latin typeface="Georgia" pitchFamily="34" charset="0"/>
                <a:ea typeface="Georgia" pitchFamily="34" charset="-122"/>
                <a:cs typeface="Georgia" pitchFamily="34" charset="-120"/>
              </a:rPr>
              <a:t>at the gym. I go every evening.</a:t>
            </a:r>
            <a:endParaRPr lang="en-US" sz="1150" dirty="0"/>
          </a:p>
          <a:p>
            <a:pPr indent="0" marL="0">
              <a:lnSpc>
                <a:spcPct val="105000"/>
              </a:lnSpc>
              <a:spcAft>
                <a:spcPts val="700"/>
              </a:spcAft>
              <a:buNone/>
            </a:pPr>
            <a:r>
              <a:rPr lang="en-US" sz="1150" dirty="0">
                <a:solidFill>
                  <a:srgbClr val="1B2559"/>
                </a:solidFill>
                <a:latin typeface="Georgia" pitchFamily="34" charset="0"/>
                <a:ea typeface="Georgia" pitchFamily="34" charset="-122"/>
                <a:cs typeface="Georgia" pitchFamily="34" charset="-120"/>
              </a:rPr>
              <a:t>2 The player was sent</a:t>
            </a:r>
            <a:pPr indent="0" marL="0">
              <a:lnSpc>
                <a:spcPct val="105000"/>
              </a:lnSpc>
              <a:spcAft>
                <a:spcPts val="700"/>
              </a:spcAft>
              <a:buNone/>
            </a:pPr>
            <a:r>
              <a:rPr lang="en-US" sz="1150" b="1" dirty="0">
                <a:solidFill>
                  <a:srgbClr val="1B2559"/>
                </a:solidFill>
                <a:highlight>
                  <a:srgbClr val="FFE066"/>
                </a:highlight>
                <a:latin typeface="Georgia" pitchFamily="34" charset="0"/>
                <a:ea typeface="Georgia" pitchFamily="34" charset="-122"/>
                <a:cs typeface="Georgia" pitchFamily="34" charset="-120"/>
              </a:rPr>
              <a:t> (7) off </a:t>
            </a:r>
            <a:pPr indent="0" marL="0">
              <a:lnSpc>
                <a:spcPct val="105000"/>
              </a:lnSpc>
              <a:spcAft>
                <a:spcPts val="700"/>
              </a:spcAft>
              <a:buNone/>
            </a:pPr>
            <a:r>
              <a:rPr lang="en-US" sz="1150" dirty="0">
                <a:solidFill>
                  <a:srgbClr val="1B2559"/>
                </a:solidFill>
                <a:latin typeface="Georgia" pitchFamily="34" charset="0"/>
                <a:ea typeface="Georgia" pitchFamily="34" charset="-122"/>
                <a:cs typeface="Georgia" pitchFamily="34" charset="-120"/>
              </a:rPr>
              <a:t>for insulting the referee.</a:t>
            </a:r>
            <a:endParaRPr lang="en-US" sz="1150" dirty="0"/>
          </a:p>
          <a:p>
            <a:pPr indent="0" marL="0">
              <a:lnSpc>
                <a:spcPct val="105000"/>
              </a:lnSpc>
              <a:spcAft>
                <a:spcPts val="700"/>
              </a:spcAft>
              <a:buNone/>
            </a:pPr>
            <a:r>
              <a:rPr lang="en-US" sz="1150" dirty="0">
                <a:solidFill>
                  <a:srgbClr val="1B2559"/>
                </a:solidFill>
                <a:latin typeface="Georgia" pitchFamily="34" charset="0"/>
                <a:ea typeface="Georgia" pitchFamily="34" charset="-122"/>
                <a:cs typeface="Georgia" pitchFamily="34" charset="-120"/>
              </a:rPr>
              <a:t>3 My sister and her boyfriend have split</a:t>
            </a:r>
            <a:pPr indent="0" marL="0">
              <a:lnSpc>
                <a:spcPct val="105000"/>
              </a:lnSpc>
              <a:spcAft>
                <a:spcPts val="700"/>
              </a:spcAft>
              <a:buNone/>
            </a:pPr>
            <a:r>
              <a:rPr lang="en-US" sz="1150" b="1" dirty="0">
                <a:solidFill>
                  <a:srgbClr val="1B2559"/>
                </a:solidFill>
                <a:highlight>
                  <a:srgbClr val="FFE066"/>
                </a:highlight>
                <a:latin typeface="Georgia" pitchFamily="34" charset="0"/>
                <a:ea typeface="Georgia" pitchFamily="34" charset="-122"/>
                <a:cs typeface="Georgia" pitchFamily="34" charset="-120"/>
              </a:rPr>
              <a:t> (8) up </a:t>
            </a:r>
            <a:pPr indent="0" marL="0">
              <a:lnSpc>
                <a:spcPct val="105000"/>
              </a:lnSpc>
              <a:spcAft>
                <a:spcPts val="700"/>
              </a:spcAft>
              <a:buNone/>
            </a:pPr>
            <a:r>
              <a:rPr lang="en-US" sz="1150" dirty="0">
                <a:solidFill>
                  <a:srgbClr val="1B2559"/>
                </a:solidFill>
                <a:latin typeface="Georgia" pitchFamily="34" charset="0"/>
                <a:ea typeface="Georgia" pitchFamily="34" charset="-122"/>
                <a:cs typeface="Georgia" pitchFamily="34" charset="-120"/>
              </a:rPr>
              <a:t>.</a:t>
            </a:r>
            <a:endParaRPr lang="en-US" sz="1150" dirty="0"/>
          </a:p>
          <a:p>
            <a:pPr indent="0" marL="0">
              <a:lnSpc>
                <a:spcPct val="105000"/>
              </a:lnSpc>
              <a:spcAft>
                <a:spcPts val="700"/>
              </a:spcAft>
              <a:buNone/>
            </a:pPr>
            <a:r>
              <a:rPr lang="en-US" sz="1150" dirty="0">
                <a:solidFill>
                  <a:srgbClr val="1B2559"/>
                </a:solidFill>
                <a:latin typeface="Georgia" pitchFamily="34" charset="0"/>
                <a:ea typeface="Georgia" pitchFamily="34" charset="-122"/>
                <a:cs typeface="Georgia" pitchFamily="34" charset="-120"/>
              </a:rPr>
              <a:t>4 Did you know Jane is going</a:t>
            </a:r>
            <a:pPr indent="0" marL="0">
              <a:lnSpc>
                <a:spcPct val="105000"/>
              </a:lnSpc>
              <a:spcAft>
                <a:spcPts val="700"/>
              </a:spcAft>
              <a:buNone/>
            </a:pPr>
            <a:r>
              <a:rPr lang="en-US" sz="1150" b="1" dirty="0">
                <a:solidFill>
                  <a:srgbClr val="1B2559"/>
                </a:solidFill>
                <a:highlight>
                  <a:srgbClr val="FFE066"/>
                </a:highlight>
                <a:latin typeface="Georgia" pitchFamily="34" charset="0"/>
                <a:ea typeface="Georgia" pitchFamily="34" charset="-122"/>
                <a:cs typeface="Georgia" pitchFamily="34" charset="-120"/>
              </a:rPr>
              <a:t> (9) out </a:t>
            </a:r>
            <a:pPr indent="0" marL="0">
              <a:lnSpc>
                <a:spcPct val="105000"/>
              </a:lnSpc>
              <a:spcAft>
                <a:spcPts val="700"/>
              </a:spcAft>
              <a:buNone/>
            </a:pPr>
            <a:r>
              <a:rPr lang="en-US" sz="1150" dirty="0">
                <a:solidFill>
                  <a:srgbClr val="1B2559"/>
                </a:solidFill>
                <a:latin typeface="Georgia" pitchFamily="34" charset="0"/>
                <a:ea typeface="Georgia" pitchFamily="34" charset="-122"/>
                <a:cs typeface="Georgia" pitchFamily="34" charset="-120"/>
              </a:rPr>
              <a:t>with Jessie's brother?</a:t>
            </a:r>
            <a:endParaRPr lang="en-US" sz="1150" dirty="0"/>
          </a:p>
          <a:p>
            <a:pPr indent="0" marL="0">
              <a:lnSpc>
                <a:spcPct val="105000"/>
              </a:lnSpc>
              <a:spcAft>
                <a:spcPts val="700"/>
              </a:spcAft>
              <a:buNone/>
            </a:pPr>
            <a:r>
              <a:rPr lang="en-US" sz="1150" dirty="0">
                <a:solidFill>
                  <a:srgbClr val="1B2559"/>
                </a:solidFill>
                <a:latin typeface="Georgia" pitchFamily="34" charset="0"/>
                <a:ea typeface="Georgia" pitchFamily="34" charset="-122"/>
                <a:cs typeface="Georgia" pitchFamily="34" charset="-120"/>
              </a:rPr>
              <a:t>5 Is there anything good</a:t>
            </a:r>
            <a:pPr indent="0" marL="0">
              <a:lnSpc>
                <a:spcPct val="105000"/>
              </a:lnSpc>
              <a:spcAft>
                <a:spcPts val="700"/>
              </a:spcAft>
              <a:buNone/>
            </a:pPr>
            <a:r>
              <a:rPr lang="en-US" sz="1150" b="1" dirty="0">
                <a:solidFill>
                  <a:srgbClr val="2EB872"/>
                </a:solidFill>
                <a:latin typeface="Georgia" pitchFamily="34" charset="0"/>
                <a:ea typeface="Georgia" pitchFamily="34" charset="-122"/>
                <a:cs typeface="Georgia" pitchFamily="34" charset="-120"/>
              </a:rPr>
              <a:t> (10) ________ </a:t>
            </a:r>
            <a:pPr indent="0" marL="0">
              <a:lnSpc>
                <a:spcPct val="105000"/>
              </a:lnSpc>
              <a:spcAft>
                <a:spcPts val="700"/>
              </a:spcAft>
              <a:buNone/>
            </a:pPr>
            <a:r>
              <a:rPr lang="en-US" sz="1150" dirty="0">
                <a:solidFill>
                  <a:srgbClr val="1B2559"/>
                </a:solidFill>
                <a:latin typeface="Georgia" pitchFamily="34" charset="0"/>
                <a:ea typeface="Georgia" pitchFamily="34" charset="-122"/>
                <a:cs typeface="Georgia" pitchFamily="34" charset="-120"/>
              </a:rPr>
              <a:t>TV tonight?</a:t>
            </a:r>
            <a:endParaRPr lang="en-US" sz="1150" dirty="0"/>
          </a:p>
        </p:txBody>
      </p:sp>
      <p:sp>
        <p:nvSpPr>
          <p:cNvPr id="23" name="R9_rdA244"/>
          <p:cNvSpPr/>
          <p:nvPr/>
        </p:nvSpPr>
        <p:spPr>
          <a:xfrm>
            <a:off x="4732020" y="1527048"/>
            <a:ext cx="4000500" cy="3090672"/>
          </a:xfrm>
          <a:prstGeom prst="rect">
            <a:avLst/>
          </a:prstGeom>
          <a:solidFill>
            <a:srgbClr val="FFFFFF"/>
          </a:solidFill>
          <a:ln/>
        </p:spPr>
        <p:txBody>
          <a:bodyPr wrap="square" lIns="0" tIns="0" rIns="0" bIns="0" rtlCol="0" anchor="t"/>
          <a:lstStyle/>
          <a:p>
            <a:pPr indent="0" marL="0">
              <a:lnSpc>
                <a:spcPct val="105000"/>
              </a:lnSpc>
              <a:spcAft>
                <a:spcPts val="400"/>
              </a:spcAft>
              <a:buNone/>
            </a:pPr>
            <a:r>
              <a:rPr lang="en-US" sz="1250" b="1" dirty="0">
                <a:solidFill>
                  <a:srgbClr val="1F6F43"/>
                </a:solidFill>
                <a:latin typeface="Georgia" pitchFamily="34" charset="0"/>
                <a:ea typeface="Georgia" pitchFamily="34" charset="-122"/>
                <a:cs typeface="Georgia" pitchFamily="34" charset="-120"/>
              </a:rPr>
              <a:t>e · One word</a:t>
            </a:r>
            <a:endParaRPr lang="en-US" sz="1150" dirty="0"/>
          </a:p>
          <a:p>
            <a:pPr indent="0" marL="0">
              <a:lnSpc>
                <a:spcPct val="105000"/>
              </a:lnSpc>
              <a:spcAft>
                <a:spcPts val="700"/>
              </a:spcAft>
              <a:buNone/>
            </a:pPr>
            <a:r>
              <a:rPr lang="en-US" sz="1150" dirty="0">
                <a:solidFill>
                  <a:srgbClr val="1B2559"/>
                </a:solidFill>
                <a:latin typeface="Georgia" pitchFamily="34" charset="0"/>
                <a:ea typeface="Georgia" pitchFamily="34" charset="-122"/>
                <a:cs typeface="Georgia" pitchFamily="34" charset="-120"/>
              </a:rPr>
              <a:t>1 I love working</a:t>
            </a:r>
            <a:pPr indent="0" marL="0">
              <a:lnSpc>
                <a:spcPct val="105000"/>
              </a:lnSpc>
              <a:spcAft>
                <a:spcPts val="700"/>
              </a:spcAft>
              <a:buNone/>
            </a:pPr>
            <a:r>
              <a:rPr lang="en-US" sz="1150" b="1" dirty="0">
                <a:solidFill>
                  <a:srgbClr val="1B2559"/>
                </a:solidFill>
                <a:highlight>
                  <a:srgbClr val="FFE066"/>
                </a:highlight>
                <a:latin typeface="Georgia" pitchFamily="34" charset="0"/>
                <a:ea typeface="Georgia" pitchFamily="34" charset="-122"/>
                <a:cs typeface="Georgia" pitchFamily="34" charset="-120"/>
              </a:rPr>
              <a:t> (6) out </a:t>
            </a:r>
            <a:pPr indent="0" marL="0">
              <a:lnSpc>
                <a:spcPct val="105000"/>
              </a:lnSpc>
              <a:spcAft>
                <a:spcPts val="700"/>
              </a:spcAft>
              <a:buNone/>
            </a:pPr>
            <a:r>
              <a:rPr lang="en-US" sz="1150" dirty="0">
                <a:solidFill>
                  <a:srgbClr val="1B2559"/>
                </a:solidFill>
                <a:latin typeface="Georgia" pitchFamily="34" charset="0"/>
                <a:ea typeface="Georgia" pitchFamily="34" charset="-122"/>
                <a:cs typeface="Georgia" pitchFamily="34" charset="-120"/>
              </a:rPr>
              <a:t>at the gym. I go every evening.</a:t>
            </a:r>
            <a:endParaRPr lang="en-US" sz="1150" dirty="0"/>
          </a:p>
          <a:p>
            <a:pPr indent="0" marL="0">
              <a:lnSpc>
                <a:spcPct val="105000"/>
              </a:lnSpc>
              <a:spcAft>
                <a:spcPts val="700"/>
              </a:spcAft>
              <a:buNone/>
            </a:pPr>
            <a:r>
              <a:rPr lang="en-US" sz="1150" dirty="0">
                <a:solidFill>
                  <a:srgbClr val="1B2559"/>
                </a:solidFill>
                <a:latin typeface="Georgia" pitchFamily="34" charset="0"/>
                <a:ea typeface="Georgia" pitchFamily="34" charset="-122"/>
                <a:cs typeface="Georgia" pitchFamily="34" charset="-120"/>
              </a:rPr>
              <a:t>2 The player was sent</a:t>
            </a:r>
            <a:pPr indent="0" marL="0">
              <a:lnSpc>
                <a:spcPct val="105000"/>
              </a:lnSpc>
              <a:spcAft>
                <a:spcPts val="700"/>
              </a:spcAft>
              <a:buNone/>
            </a:pPr>
            <a:r>
              <a:rPr lang="en-US" sz="1150" b="1" dirty="0">
                <a:solidFill>
                  <a:srgbClr val="1B2559"/>
                </a:solidFill>
                <a:highlight>
                  <a:srgbClr val="FFE066"/>
                </a:highlight>
                <a:latin typeface="Georgia" pitchFamily="34" charset="0"/>
                <a:ea typeface="Georgia" pitchFamily="34" charset="-122"/>
                <a:cs typeface="Georgia" pitchFamily="34" charset="-120"/>
              </a:rPr>
              <a:t> (7) off </a:t>
            </a:r>
            <a:pPr indent="0" marL="0">
              <a:lnSpc>
                <a:spcPct val="105000"/>
              </a:lnSpc>
              <a:spcAft>
                <a:spcPts val="700"/>
              </a:spcAft>
              <a:buNone/>
            </a:pPr>
            <a:r>
              <a:rPr lang="en-US" sz="1150" dirty="0">
                <a:solidFill>
                  <a:srgbClr val="1B2559"/>
                </a:solidFill>
                <a:latin typeface="Georgia" pitchFamily="34" charset="0"/>
                <a:ea typeface="Georgia" pitchFamily="34" charset="-122"/>
                <a:cs typeface="Georgia" pitchFamily="34" charset="-120"/>
              </a:rPr>
              <a:t>for insulting the referee.</a:t>
            </a:r>
            <a:endParaRPr lang="en-US" sz="1150" dirty="0"/>
          </a:p>
          <a:p>
            <a:pPr indent="0" marL="0">
              <a:lnSpc>
                <a:spcPct val="105000"/>
              </a:lnSpc>
              <a:spcAft>
                <a:spcPts val="700"/>
              </a:spcAft>
              <a:buNone/>
            </a:pPr>
            <a:r>
              <a:rPr lang="en-US" sz="1150" dirty="0">
                <a:solidFill>
                  <a:srgbClr val="1B2559"/>
                </a:solidFill>
                <a:latin typeface="Georgia" pitchFamily="34" charset="0"/>
                <a:ea typeface="Georgia" pitchFamily="34" charset="-122"/>
                <a:cs typeface="Georgia" pitchFamily="34" charset="-120"/>
              </a:rPr>
              <a:t>3 My sister and her boyfriend have split</a:t>
            </a:r>
            <a:pPr indent="0" marL="0">
              <a:lnSpc>
                <a:spcPct val="105000"/>
              </a:lnSpc>
              <a:spcAft>
                <a:spcPts val="700"/>
              </a:spcAft>
              <a:buNone/>
            </a:pPr>
            <a:r>
              <a:rPr lang="en-US" sz="1150" b="1" dirty="0">
                <a:solidFill>
                  <a:srgbClr val="1B2559"/>
                </a:solidFill>
                <a:highlight>
                  <a:srgbClr val="FFE066"/>
                </a:highlight>
                <a:latin typeface="Georgia" pitchFamily="34" charset="0"/>
                <a:ea typeface="Georgia" pitchFamily="34" charset="-122"/>
                <a:cs typeface="Georgia" pitchFamily="34" charset="-120"/>
              </a:rPr>
              <a:t> (8) up </a:t>
            </a:r>
            <a:pPr indent="0" marL="0">
              <a:lnSpc>
                <a:spcPct val="105000"/>
              </a:lnSpc>
              <a:spcAft>
                <a:spcPts val="700"/>
              </a:spcAft>
              <a:buNone/>
            </a:pPr>
            <a:r>
              <a:rPr lang="en-US" sz="1150" dirty="0">
                <a:solidFill>
                  <a:srgbClr val="1B2559"/>
                </a:solidFill>
                <a:latin typeface="Georgia" pitchFamily="34" charset="0"/>
                <a:ea typeface="Georgia" pitchFamily="34" charset="-122"/>
                <a:cs typeface="Georgia" pitchFamily="34" charset="-120"/>
              </a:rPr>
              <a:t>.</a:t>
            </a:r>
            <a:endParaRPr lang="en-US" sz="1150" dirty="0"/>
          </a:p>
          <a:p>
            <a:pPr indent="0" marL="0">
              <a:lnSpc>
                <a:spcPct val="105000"/>
              </a:lnSpc>
              <a:spcAft>
                <a:spcPts val="700"/>
              </a:spcAft>
              <a:buNone/>
            </a:pPr>
            <a:r>
              <a:rPr lang="en-US" sz="1150" dirty="0">
                <a:solidFill>
                  <a:srgbClr val="1B2559"/>
                </a:solidFill>
                <a:latin typeface="Georgia" pitchFamily="34" charset="0"/>
                <a:ea typeface="Georgia" pitchFamily="34" charset="-122"/>
                <a:cs typeface="Georgia" pitchFamily="34" charset="-120"/>
              </a:rPr>
              <a:t>4 Did you know Jane is going</a:t>
            </a:r>
            <a:pPr indent="0" marL="0">
              <a:lnSpc>
                <a:spcPct val="105000"/>
              </a:lnSpc>
              <a:spcAft>
                <a:spcPts val="700"/>
              </a:spcAft>
              <a:buNone/>
            </a:pPr>
            <a:r>
              <a:rPr lang="en-US" sz="1150" b="1" dirty="0">
                <a:solidFill>
                  <a:srgbClr val="1B2559"/>
                </a:solidFill>
                <a:highlight>
                  <a:srgbClr val="FFE066"/>
                </a:highlight>
                <a:latin typeface="Georgia" pitchFamily="34" charset="0"/>
                <a:ea typeface="Georgia" pitchFamily="34" charset="-122"/>
                <a:cs typeface="Georgia" pitchFamily="34" charset="-120"/>
              </a:rPr>
              <a:t> (9) out </a:t>
            </a:r>
            <a:pPr indent="0" marL="0">
              <a:lnSpc>
                <a:spcPct val="105000"/>
              </a:lnSpc>
              <a:spcAft>
                <a:spcPts val="700"/>
              </a:spcAft>
              <a:buNone/>
            </a:pPr>
            <a:r>
              <a:rPr lang="en-US" sz="1150" dirty="0">
                <a:solidFill>
                  <a:srgbClr val="1B2559"/>
                </a:solidFill>
                <a:latin typeface="Georgia" pitchFamily="34" charset="0"/>
                <a:ea typeface="Georgia" pitchFamily="34" charset="-122"/>
                <a:cs typeface="Georgia" pitchFamily="34" charset="-120"/>
              </a:rPr>
              <a:t>with Jessie's brother?</a:t>
            </a:r>
            <a:endParaRPr lang="en-US" sz="1150" dirty="0"/>
          </a:p>
          <a:p>
            <a:pPr indent="0" marL="0">
              <a:lnSpc>
                <a:spcPct val="105000"/>
              </a:lnSpc>
              <a:spcAft>
                <a:spcPts val="700"/>
              </a:spcAft>
              <a:buNone/>
            </a:pPr>
            <a:r>
              <a:rPr lang="en-US" sz="1150" dirty="0">
                <a:solidFill>
                  <a:srgbClr val="1B2559"/>
                </a:solidFill>
                <a:latin typeface="Georgia" pitchFamily="34" charset="0"/>
                <a:ea typeface="Georgia" pitchFamily="34" charset="-122"/>
                <a:cs typeface="Georgia" pitchFamily="34" charset="-120"/>
              </a:rPr>
              <a:t>5 Is there anything good</a:t>
            </a:r>
            <a:pPr indent="0" marL="0">
              <a:lnSpc>
                <a:spcPct val="105000"/>
              </a:lnSpc>
              <a:spcAft>
                <a:spcPts val="700"/>
              </a:spcAft>
              <a:buNone/>
            </a:pPr>
            <a:r>
              <a:rPr lang="en-US" sz="1150" b="1" dirty="0">
                <a:solidFill>
                  <a:srgbClr val="1B2559"/>
                </a:solidFill>
                <a:highlight>
                  <a:srgbClr val="FFE066"/>
                </a:highlight>
                <a:latin typeface="Georgia" pitchFamily="34" charset="0"/>
                <a:ea typeface="Georgia" pitchFamily="34" charset="-122"/>
                <a:cs typeface="Georgia" pitchFamily="34" charset="-120"/>
              </a:rPr>
              <a:t> (10) on </a:t>
            </a:r>
            <a:pPr indent="0" marL="0">
              <a:lnSpc>
                <a:spcPct val="105000"/>
              </a:lnSpc>
              <a:spcAft>
                <a:spcPts val="700"/>
              </a:spcAft>
              <a:buNone/>
            </a:pPr>
            <a:r>
              <a:rPr lang="en-US" sz="1150" dirty="0">
                <a:solidFill>
                  <a:srgbClr val="1B2559"/>
                </a:solidFill>
                <a:latin typeface="Georgia" pitchFamily="34" charset="0"/>
                <a:ea typeface="Georgia" pitchFamily="34" charset="-122"/>
                <a:cs typeface="Georgia" pitchFamily="34" charset="-120"/>
              </a:rPr>
              <a:t>TV tonight?</a:t>
            </a:r>
            <a:endParaRPr lang="en-US" sz="1150" dirty="0"/>
          </a:p>
        </p:txBody>
      </p:sp>
      <p:sp>
        <p:nvSpPr>
          <p:cNvPr id="24" name="rdl_245"/>
          <p:cNvSpPr/>
          <p:nvPr/>
        </p:nvSpPr>
        <p:spPr>
          <a:xfrm>
            <a:off x="4594860" y="1600200"/>
            <a:ext cx="0" cy="2999232"/>
          </a:xfrm>
          <a:prstGeom prst="line">
            <a:avLst/>
          </a:prstGeom>
          <a:noFill/>
          <a:ln w="28575">
            <a:solidFill>
              <a:srgbClr val="A8E5BE"/>
            </a:solidFill>
            <a:prstDash val="solid"/>
          </a:ln>
        </p:spPr>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4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4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40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fade">
                                      <p:cBhvr>
                                        <p:cTn id="27" dur="400"/>
                                        <p:tgtEl>
                                          <p:spTgt spid="1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fade">
                                      <p:cBhvr>
                                        <p:cTn id="32" dur="400"/>
                                        <p:tgtEl>
                                          <p:spTgt spid="20"/>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1"/>
                                        </p:tgtEl>
                                        <p:attrNameLst>
                                          <p:attrName>style.visibility</p:attrName>
                                        </p:attrNameLst>
                                      </p:cBhvr>
                                      <p:to>
                                        <p:strVal val="visible"/>
                                      </p:to>
                                    </p:set>
                                    <p:animEffect transition="in" filter="fade">
                                      <p:cBhvr>
                                        <p:cTn id="37" dur="400"/>
                                        <p:tgtEl>
                                          <p:spTgt spid="21"/>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fade">
                                      <p:cBhvr>
                                        <p:cTn id="42" dur="400"/>
                                        <p:tgtEl>
                                          <p:spTgt spid="22"/>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246"/>
          <p:cNvSpPr/>
          <p:nvPr/>
        </p:nvSpPr>
        <p:spPr>
          <a:xfrm>
            <a:off x="201168" y="164592"/>
            <a:ext cx="841248" cy="841248"/>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9</a:t>
            </a:r>
            <a:endParaRPr lang="en-US" sz="2800" dirty="0"/>
          </a:p>
        </p:txBody>
      </p:sp>
      <p:pic>
        <p:nvPicPr>
          <p:cNvPr id="4" name="brY_247" descr="/home/claude/lls-course/v2/assets/brush-yellow.png">    </p:cNvPr>
          <p:cNvPicPr>
            <a:picLocks noChangeAspect="1"/>
          </p:cNvPicPr>
          <p:nvPr/>
        </p:nvPicPr>
        <p:blipFill>
          <a:blip r:embed="rId2"/>
          <a:stretch>
            <a:fillRect/>
          </a:stretch>
        </p:blipFill>
        <p:spPr>
          <a:xfrm>
            <a:off x="1097280" y="146304"/>
            <a:ext cx="2618842" cy="621792"/>
          </a:xfrm>
          <a:prstGeom prst="rect">
            <a:avLst/>
          </a:prstGeom>
        </p:spPr>
      </p:pic>
      <p:sp>
        <p:nvSpPr>
          <p:cNvPr id="5" name="title_248"/>
          <p:cNvSpPr/>
          <p:nvPr/>
        </p:nvSpPr>
        <p:spPr>
          <a:xfrm>
            <a:off x="1261872" y="164592"/>
            <a:ext cx="2344522"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Which sound?</a:t>
            </a:r>
            <a:endParaRPr lang="en-US" sz="2400" dirty="0"/>
          </a:p>
        </p:txBody>
      </p:sp>
      <p:pic>
        <p:nvPicPr>
          <p:cNvPr id="6" name="brP_249" descr="/home/claude/lls-course/v2/assets/brush-pink.png">    </p:cNvPr>
          <p:cNvPicPr>
            <a:picLocks noChangeAspect="1"/>
          </p:cNvPicPr>
          <p:nvPr/>
        </p:nvPicPr>
        <p:blipFill>
          <a:blip r:embed="rId3"/>
          <a:stretch>
            <a:fillRect/>
          </a:stretch>
        </p:blipFill>
        <p:spPr>
          <a:xfrm>
            <a:off x="1207008" y="731520"/>
            <a:ext cx="4901184" cy="402336"/>
          </a:xfrm>
          <a:prstGeom prst="rect">
            <a:avLst/>
          </a:prstGeom>
        </p:spPr>
      </p:pic>
      <p:sp>
        <p:nvSpPr>
          <p:cNvPr id="7" name="ins_250"/>
          <p:cNvSpPr/>
          <p:nvPr/>
        </p:nvSpPr>
        <p:spPr>
          <a:xfrm>
            <a:off x="1353312" y="731520"/>
            <a:ext cx="4645152"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Say the words. Which sound are the pink letters?</a:t>
            </a:r>
            <a:endParaRPr lang="en-US" sz="1250" dirty="0"/>
          </a:p>
        </p:txBody>
      </p:sp>
      <p:sp>
        <p:nvSpPr>
          <p:cNvPr id="8" name="insIT_251"/>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Di' le parole. Che suono hanno le lettere rosa?</a:t>
            </a:r>
            <a:endParaRPr lang="en-US" sz="950" dirty="0"/>
          </a:p>
        </p:txBody>
      </p:sp>
      <p:sp>
        <p:nvSpPr>
          <p:cNvPr id="9" name="note_252"/>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SAY IT</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MATCH</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3 min   👥 pairs</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Pronunciation · Guided discovery</a:t>
            </a:r>
            <a:endParaRPr lang="en-US" sz="1150" dirty="0"/>
          </a:p>
        </p:txBody>
      </p:sp>
      <p:pic>
        <p:nvPicPr>
          <p:cNvPr id="10" name="logo_253"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254"/>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R5-6 · Pronunciation · sounds   ·   📖 SB p.64 · Pronunciation a, c (TG key)</a:t>
            </a:r>
            <a:endParaRPr lang="en-US" sz="800" dirty="0"/>
          </a:p>
        </p:txBody>
      </p:sp>
      <p:sp>
        <p:nvSpPr>
          <p:cNvPr id="12" name="cd_255"/>
          <p:cNvSpPr/>
          <p:nvPr/>
        </p:nvSpPr>
        <p:spPr>
          <a:xfrm>
            <a:off x="320040" y="1417320"/>
            <a:ext cx="2697480" cy="2295144"/>
          </a:xfrm>
          <a:prstGeom prst="roundRect">
            <a:avLst>
              <a:gd name="adj" fmla="val 5578"/>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3" name="ii_256"/>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4" name="ih_257"/>
          <p:cNvSpPr/>
          <p:nvPr/>
        </p:nvSpPr>
        <p:spPr>
          <a:xfrm>
            <a:off x="886968" y="1508760"/>
            <a:ext cx="205740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The sounds</a:t>
            </a:r>
            <a:endParaRPr lang="en-US" sz="1300" dirty="0"/>
          </a:p>
        </p:txBody>
      </p:sp>
      <p:sp>
        <p:nvSpPr>
          <p:cNvPr id="15" name="lg_258"/>
          <p:cNvSpPr/>
          <p:nvPr/>
        </p:nvSpPr>
        <p:spPr>
          <a:xfrm>
            <a:off x="457200" y="1984248"/>
            <a:ext cx="1188720" cy="310896"/>
          </a:xfrm>
          <a:prstGeom prst="roundRect">
            <a:avLst>
              <a:gd name="adj" fmla="val 50000"/>
            </a:avLst>
          </a:prstGeom>
          <a:solidFill>
            <a:srgbClr val="F7A6C4"/>
          </a:solidFill>
          <a:ln/>
        </p:spPr>
        <p:txBody>
          <a:bodyPr wrap="square" lIns="0" tIns="0" rIns="0" bIns="0" rtlCol="0" anchor="ctr"/>
          <a:lstStyle/>
          <a:p>
            <a:pPr algn="ctr" indent="0" marL="0">
              <a:buNone/>
            </a:pPr>
            <a:r>
              <a:rPr lang="en-US" sz="1050" dirty="0">
                <a:solidFill>
                  <a:srgbClr val="1B2559"/>
                </a:solidFill>
                <a:latin typeface="Arial Rounded MT Bold" pitchFamily="34" charset="0"/>
                <a:ea typeface="Arial Rounded MT Bold" pitchFamily="34" charset="-122"/>
                <a:cs typeface="Arial Rounded MT Bold" pitchFamily="34" charset="-120"/>
              </a:rPr>
              <a:t>🐦 bird /ɜː/</a:t>
            </a:r>
            <a:endParaRPr lang="en-US" sz="1050" dirty="0"/>
          </a:p>
        </p:txBody>
      </p:sp>
      <p:sp>
        <p:nvSpPr>
          <p:cNvPr id="16" name="lg_259"/>
          <p:cNvSpPr/>
          <p:nvPr/>
        </p:nvSpPr>
        <p:spPr>
          <a:xfrm>
            <a:off x="1719072" y="1984248"/>
            <a:ext cx="1188720" cy="310896"/>
          </a:xfrm>
          <a:prstGeom prst="roundRect">
            <a:avLst>
              <a:gd name="adj" fmla="val 50000"/>
            </a:avLst>
          </a:prstGeom>
          <a:solidFill>
            <a:srgbClr val="FFC2DA"/>
          </a:solidFill>
          <a:ln/>
        </p:spPr>
        <p:txBody>
          <a:bodyPr wrap="square" lIns="0" tIns="0" rIns="0" bIns="0" rtlCol="0" anchor="ctr"/>
          <a:lstStyle/>
          <a:p>
            <a:pPr algn="ctr" indent="0" marL="0">
              <a:buNone/>
            </a:pPr>
            <a:r>
              <a:rPr lang="en-US" sz="1050" dirty="0">
                <a:solidFill>
                  <a:srgbClr val="1B2559"/>
                </a:solidFill>
                <a:latin typeface="Arial Rounded MT Bold" pitchFamily="34" charset="0"/>
                <a:ea typeface="Arial Rounded MT Bold" pitchFamily="34" charset="-122"/>
                <a:cs typeface="Arial Rounded MT Bold" pitchFamily="34" charset="-120"/>
              </a:rPr>
              <a:t>📞 phone /əʊ/</a:t>
            </a:r>
            <a:endParaRPr lang="en-US" sz="1050" dirty="0"/>
          </a:p>
        </p:txBody>
      </p:sp>
      <p:sp>
        <p:nvSpPr>
          <p:cNvPr id="17" name="lg_260"/>
          <p:cNvSpPr/>
          <p:nvPr/>
        </p:nvSpPr>
        <p:spPr>
          <a:xfrm>
            <a:off x="457200" y="2368296"/>
            <a:ext cx="1188720" cy="310896"/>
          </a:xfrm>
          <a:prstGeom prst="roundRect">
            <a:avLst>
              <a:gd name="adj" fmla="val 50000"/>
            </a:avLst>
          </a:prstGeom>
          <a:solidFill>
            <a:srgbClr val="8FC9F2"/>
          </a:solidFill>
          <a:ln/>
        </p:spPr>
        <p:txBody>
          <a:bodyPr wrap="square" lIns="0" tIns="0" rIns="0" bIns="0" rtlCol="0" anchor="ctr"/>
          <a:lstStyle/>
          <a:p>
            <a:pPr algn="ctr" indent="0" marL="0">
              <a:buNone/>
            </a:pPr>
            <a:r>
              <a:rPr lang="en-US" sz="1050" dirty="0">
                <a:solidFill>
                  <a:srgbClr val="1B2559"/>
                </a:solidFill>
                <a:latin typeface="Arial Rounded MT Bold" pitchFamily="34" charset="0"/>
                <a:ea typeface="Arial Rounded MT Bold" pitchFamily="34" charset="-122"/>
                <a:cs typeface="Arial Rounded MT Bold" pitchFamily="34" charset="-120"/>
              </a:rPr>
              <a:t>🦉 owl /aʊ/</a:t>
            </a:r>
            <a:endParaRPr lang="en-US" sz="1050" dirty="0"/>
          </a:p>
        </p:txBody>
      </p:sp>
      <p:sp>
        <p:nvSpPr>
          <p:cNvPr id="18" name="lg_261"/>
          <p:cNvSpPr/>
          <p:nvPr/>
        </p:nvSpPr>
        <p:spPr>
          <a:xfrm>
            <a:off x="1719072" y="2368296"/>
            <a:ext cx="1188720" cy="310896"/>
          </a:xfrm>
          <a:prstGeom prst="roundRect">
            <a:avLst>
              <a:gd name="adj" fmla="val 50000"/>
            </a:avLst>
          </a:prstGeom>
          <a:solidFill>
            <a:srgbClr val="8FD9A8"/>
          </a:solidFill>
          <a:ln/>
        </p:spPr>
        <p:txBody>
          <a:bodyPr wrap="square" lIns="0" tIns="0" rIns="0" bIns="0" rtlCol="0" anchor="ctr"/>
          <a:lstStyle/>
          <a:p>
            <a:pPr algn="ctr" indent="0" marL="0">
              <a:buNone/>
            </a:pPr>
            <a:r>
              <a:rPr lang="en-US" sz="1050" dirty="0">
                <a:solidFill>
                  <a:srgbClr val="1B2559"/>
                </a:solidFill>
                <a:latin typeface="Arial Rounded MT Bold" pitchFamily="34" charset="0"/>
                <a:ea typeface="Arial Rounded MT Bold" pitchFamily="34" charset="-122"/>
                <a:cs typeface="Arial Rounded MT Bold" pitchFamily="34" charset="-120"/>
              </a:rPr>
              <a:t>🦓 zebra /z/</a:t>
            </a:r>
            <a:endParaRPr lang="en-US" sz="1050" dirty="0"/>
          </a:p>
        </p:txBody>
      </p:sp>
      <p:sp>
        <p:nvSpPr>
          <p:cNvPr id="19" name="lg_262"/>
          <p:cNvSpPr/>
          <p:nvPr/>
        </p:nvSpPr>
        <p:spPr>
          <a:xfrm>
            <a:off x="457200" y="2752344"/>
            <a:ext cx="1188720" cy="310896"/>
          </a:xfrm>
          <a:prstGeom prst="roundRect">
            <a:avLst>
              <a:gd name="adj" fmla="val 50000"/>
            </a:avLst>
          </a:prstGeom>
          <a:solidFill>
            <a:srgbClr val="FFD966"/>
          </a:solidFill>
          <a:ln/>
        </p:spPr>
        <p:txBody>
          <a:bodyPr wrap="square" lIns="0" tIns="0" rIns="0" bIns="0" rtlCol="0" anchor="ctr"/>
          <a:lstStyle/>
          <a:p>
            <a:pPr algn="ctr" indent="0" marL="0">
              <a:buNone/>
            </a:pPr>
            <a:r>
              <a:rPr lang="en-US" sz="1050" dirty="0">
                <a:solidFill>
                  <a:srgbClr val="1B2559"/>
                </a:solidFill>
                <a:latin typeface="Arial Rounded MT Bold" pitchFamily="34" charset="0"/>
                <a:ea typeface="Arial Rounded MT Bold" pitchFamily="34" charset="-122"/>
                <a:cs typeface="Arial Rounded MT Bold" pitchFamily="34" charset="-120"/>
              </a:rPr>
              <a:t>👔 tie /t/</a:t>
            </a:r>
            <a:endParaRPr lang="en-US" sz="1050" dirty="0"/>
          </a:p>
        </p:txBody>
      </p:sp>
      <p:sp>
        <p:nvSpPr>
          <p:cNvPr id="20" name="sq_263"/>
          <p:cNvSpPr/>
          <p:nvPr/>
        </p:nvSpPr>
        <p:spPr>
          <a:xfrm>
            <a:off x="3246120" y="1417320"/>
            <a:ext cx="3840480" cy="475488"/>
          </a:xfrm>
          <a:prstGeom prst="roundRect">
            <a:avLst>
              <a:gd name="adj" fmla="val 19231"/>
            </a:avLst>
          </a:prstGeom>
          <a:solidFill>
            <a:srgbClr val="FFFFFF"/>
          </a:solidFill>
          <a:ln w="28575">
            <a:solidFill>
              <a:srgbClr val="F7A6C4"/>
            </a:solidFill>
          </a:ln>
        </p:spPr>
        <p:txBody>
          <a:bodyPr wrap="square" lIns="101600" tIns="0" rIns="101600" bIns="0" rtlCol="0" anchor="ct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e.g. book</a:t>
            </a:r>
            <a:pPr indent="0" marL="0">
              <a:buNone/>
            </a:pPr>
            <a:r>
              <a:rPr lang="en-US" sz="1200" b="1" dirty="0">
                <a:solidFill>
                  <a:srgbClr val="C2185B"/>
                </a:solidFill>
                <a:highlight>
                  <a:srgbClr val="FFF1A8"/>
                </a:highlight>
                <a:latin typeface="Segoe UI Semibold" pitchFamily="34" charset="0"/>
                <a:ea typeface="Segoe UI Semibold" pitchFamily="34" charset="-122"/>
                <a:cs typeface="Segoe UI Semibold" pitchFamily="34" charset="-120"/>
              </a:rPr>
              <a:t>ed</a:t>
            </a:r>
            <a:endParaRPr lang="en-US" sz="1200" dirty="0"/>
          </a:p>
        </p:txBody>
      </p:sp>
      <p:sp>
        <p:nvSpPr>
          <p:cNvPr id="21" name="R1_tag264"/>
          <p:cNvSpPr/>
          <p:nvPr/>
        </p:nvSpPr>
        <p:spPr>
          <a:xfrm>
            <a:off x="7178040" y="1417320"/>
            <a:ext cx="1691640" cy="475488"/>
          </a:xfrm>
          <a:prstGeom prst="roundRect">
            <a:avLst>
              <a:gd name="adj" fmla="val 48077"/>
            </a:avLst>
          </a:prstGeom>
          <a:solidFill>
            <a:srgbClr val="FFD966"/>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tie /t/</a:t>
            </a:r>
            <a:endParaRPr lang="en-US" sz="1150" dirty="0"/>
          </a:p>
        </p:txBody>
      </p:sp>
      <p:sp>
        <p:nvSpPr>
          <p:cNvPr id="22" name="sq_265"/>
          <p:cNvSpPr/>
          <p:nvPr/>
        </p:nvSpPr>
        <p:spPr>
          <a:xfrm>
            <a:off x="3246120" y="1956816"/>
            <a:ext cx="3840480" cy="475488"/>
          </a:xfrm>
          <a:prstGeom prst="roundRect">
            <a:avLst>
              <a:gd name="adj" fmla="val 19231"/>
            </a:avLst>
          </a:prstGeom>
          <a:solidFill>
            <a:srgbClr val="FFFFFF"/>
          </a:solidFill>
          <a:ln w="28575">
            <a:solidFill>
              <a:srgbClr val="A9D3F5"/>
            </a:solidFill>
          </a:ln>
        </p:spPr>
        <p:txBody>
          <a:bodyPr wrap="square" lIns="101600" tIns="0" rIns="101600" bIns="0" rtlCol="0" anchor="ct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cr</a:t>
            </a:r>
            <a:pPr indent="0" marL="0">
              <a:buNone/>
            </a:pPr>
            <a:r>
              <a:rPr lang="en-US" sz="1200" b="1" dirty="0">
                <a:solidFill>
                  <a:srgbClr val="C2185B"/>
                </a:solidFill>
                <a:highlight>
                  <a:srgbClr val="FFF1A8"/>
                </a:highlight>
                <a:latin typeface="Segoe UI Semibold" pitchFamily="34" charset="0"/>
                <a:ea typeface="Segoe UI Semibold" pitchFamily="34" charset="-122"/>
                <a:cs typeface="Segoe UI Semibold" pitchFamily="34" charset="-120"/>
              </a:rPr>
              <a:t>ow</a:t>
            </a:r>
            <a:pPr indent="0" marL="0">
              <a:buNone/>
            </a:pPr>
            <a:r>
              <a:rPr lang="en-US" sz="1200" dirty="0">
                <a:solidFill>
                  <a:srgbClr val="1B2559"/>
                </a:solidFill>
                <a:latin typeface="Segoe UI Semibold" pitchFamily="34" charset="0"/>
                <a:ea typeface="Segoe UI Semibold" pitchFamily="34" charset="-122"/>
                <a:cs typeface="Segoe UI Semibold" pitchFamily="34" charset="-120"/>
              </a:rPr>
              <a:t>d</a:t>
            </a:r>
            <a:endParaRPr lang="en-US" sz="1200" dirty="0"/>
          </a:p>
        </p:txBody>
      </p:sp>
      <p:sp>
        <p:nvSpPr>
          <p:cNvPr id="23" name="R2_tag266"/>
          <p:cNvSpPr/>
          <p:nvPr/>
        </p:nvSpPr>
        <p:spPr>
          <a:xfrm>
            <a:off x="7178040" y="1956816"/>
            <a:ext cx="1691640" cy="475488"/>
          </a:xfrm>
          <a:prstGeom prst="roundRect">
            <a:avLst>
              <a:gd name="adj" fmla="val 48077"/>
            </a:avLst>
          </a:prstGeom>
          <a:solidFill>
            <a:srgbClr val="8FC9F2"/>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owl /aʊ/</a:t>
            </a:r>
            <a:endParaRPr lang="en-US" sz="1150" dirty="0"/>
          </a:p>
        </p:txBody>
      </p:sp>
      <p:sp>
        <p:nvSpPr>
          <p:cNvPr id="24" name="sq_267"/>
          <p:cNvSpPr/>
          <p:nvPr/>
        </p:nvSpPr>
        <p:spPr>
          <a:xfrm>
            <a:off x="3246120" y="2496312"/>
            <a:ext cx="3840480" cy="475488"/>
          </a:xfrm>
          <a:prstGeom prst="roundRect">
            <a:avLst>
              <a:gd name="adj" fmla="val 19231"/>
            </a:avLst>
          </a:prstGeom>
          <a:solidFill>
            <a:srgbClr val="FFFFFF"/>
          </a:solidFill>
          <a:ln w="28575">
            <a:solidFill>
              <a:srgbClr val="A8E5BE"/>
            </a:solidFill>
          </a:ln>
        </p:spPr>
        <p:txBody>
          <a:bodyPr wrap="square" lIns="101600" tIns="0" rIns="101600" bIns="0" rtlCol="0" anchor="ct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eye</a:t>
            </a:r>
            <a:pPr indent="0" marL="0">
              <a:buNone/>
            </a:pPr>
            <a:r>
              <a:rPr lang="en-US" sz="1200" b="1" dirty="0">
                <a:solidFill>
                  <a:srgbClr val="C2185B"/>
                </a:solidFill>
                <a:highlight>
                  <a:srgbClr val="FFF1A8"/>
                </a:highlight>
                <a:latin typeface="Segoe UI Semibold" pitchFamily="34" charset="0"/>
                <a:ea typeface="Segoe UI Semibold" pitchFamily="34" charset="-122"/>
                <a:cs typeface="Segoe UI Semibold" pitchFamily="34" charset="-120"/>
              </a:rPr>
              <a:t>s</a:t>
            </a:r>
            <a:endParaRPr lang="en-US" sz="1200" dirty="0"/>
          </a:p>
        </p:txBody>
      </p:sp>
      <p:sp>
        <p:nvSpPr>
          <p:cNvPr id="25" name="R3_tag268"/>
          <p:cNvSpPr/>
          <p:nvPr/>
        </p:nvSpPr>
        <p:spPr>
          <a:xfrm>
            <a:off x="7178040" y="2496312"/>
            <a:ext cx="1691640" cy="475488"/>
          </a:xfrm>
          <a:prstGeom prst="roundRect">
            <a:avLst>
              <a:gd name="adj" fmla="val 48077"/>
            </a:avLst>
          </a:prstGeom>
          <a:solidFill>
            <a:srgbClr val="8FD9A8"/>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zebra /z/</a:t>
            </a:r>
            <a:endParaRPr lang="en-US" sz="1150" dirty="0"/>
          </a:p>
        </p:txBody>
      </p:sp>
      <p:sp>
        <p:nvSpPr>
          <p:cNvPr id="26" name="sq_269"/>
          <p:cNvSpPr/>
          <p:nvPr/>
        </p:nvSpPr>
        <p:spPr>
          <a:xfrm>
            <a:off x="3246120" y="3035808"/>
            <a:ext cx="3840480" cy="475488"/>
          </a:xfrm>
          <a:prstGeom prst="roundRect">
            <a:avLst>
              <a:gd name="adj" fmla="val 19231"/>
            </a:avLst>
          </a:prstGeom>
          <a:solidFill>
            <a:srgbClr val="FFFFFF"/>
          </a:solidFill>
          <a:ln w="28575">
            <a:solidFill>
              <a:srgbClr val="FFE07A"/>
            </a:solidFill>
          </a:ln>
        </p:spPr>
        <p:txBody>
          <a:bodyPr wrap="square" lIns="101600" tIns="0" rIns="101600" bIns="0" rtlCol="0" anchor="ct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sh</a:t>
            </a:r>
            <a:pPr indent="0" marL="0">
              <a:buNone/>
            </a:pPr>
            <a:r>
              <a:rPr lang="en-US" sz="1200" b="1" dirty="0">
                <a:solidFill>
                  <a:srgbClr val="C2185B"/>
                </a:solidFill>
                <a:highlight>
                  <a:srgbClr val="FFF1A8"/>
                </a:highlight>
                <a:latin typeface="Segoe UI Semibold" pitchFamily="34" charset="0"/>
                <a:ea typeface="Segoe UI Semibold" pitchFamily="34" charset="-122"/>
                <a:cs typeface="Segoe UI Semibold" pitchFamily="34" charset="-120"/>
              </a:rPr>
              <a:t>ou</a:t>
            </a:r>
            <a:pPr indent="0" marL="0">
              <a:buNone/>
            </a:pPr>
            <a:r>
              <a:rPr lang="en-US" sz="1200" dirty="0">
                <a:solidFill>
                  <a:srgbClr val="1B2559"/>
                </a:solidFill>
                <a:latin typeface="Segoe UI Semibold" pitchFamily="34" charset="0"/>
                <a:ea typeface="Segoe UI Semibold" pitchFamily="34" charset="-122"/>
                <a:cs typeface="Segoe UI Semibold" pitchFamily="34" charset="-120"/>
              </a:rPr>
              <a:t>lders</a:t>
            </a:r>
            <a:endParaRPr lang="en-US" sz="1200" dirty="0"/>
          </a:p>
        </p:txBody>
      </p:sp>
      <p:sp>
        <p:nvSpPr>
          <p:cNvPr id="27" name="R4_tag270"/>
          <p:cNvSpPr/>
          <p:nvPr/>
        </p:nvSpPr>
        <p:spPr>
          <a:xfrm>
            <a:off x="7178040" y="3035808"/>
            <a:ext cx="1691640" cy="475488"/>
          </a:xfrm>
          <a:prstGeom prst="roundRect">
            <a:avLst>
              <a:gd name="adj" fmla="val 48077"/>
            </a:avLst>
          </a:prstGeom>
          <a:solidFill>
            <a:srgbClr val="FFC2DA"/>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phone /əʊ/</a:t>
            </a:r>
            <a:endParaRPr lang="en-US" sz="1150" dirty="0"/>
          </a:p>
        </p:txBody>
      </p:sp>
      <p:sp>
        <p:nvSpPr>
          <p:cNvPr id="28" name="sq_271"/>
          <p:cNvSpPr/>
          <p:nvPr/>
        </p:nvSpPr>
        <p:spPr>
          <a:xfrm>
            <a:off x="3246120" y="3575304"/>
            <a:ext cx="3840480" cy="475488"/>
          </a:xfrm>
          <a:prstGeom prst="roundRect">
            <a:avLst>
              <a:gd name="adj" fmla="val 19231"/>
            </a:avLst>
          </a:prstGeom>
          <a:solidFill>
            <a:srgbClr val="FFFFFF"/>
          </a:solidFill>
          <a:ln w="28575">
            <a:solidFill>
              <a:srgbClr val="F7A6C4"/>
            </a:solidFill>
          </a:ln>
        </p:spPr>
        <p:txBody>
          <a:bodyPr wrap="square" lIns="101600" tIns="0" rIns="101600" bIns="0" rtlCol="0" anchor="ct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w</a:t>
            </a:r>
            <a:pPr indent="0" marL="0">
              <a:buNone/>
            </a:pPr>
            <a:r>
              <a:rPr lang="en-US" sz="1200" b="1" dirty="0">
                <a:solidFill>
                  <a:srgbClr val="C2185B"/>
                </a:solidFill>
                <a:highlight>
                  <a:srgbClr val="FFF1A8"/>
                </a:highlight>
                <a:latin typeface="Segoe UI Semibold" pitchFamily="34" charset="0"/>
                <a:ea typeface="Segoe UI Semibold" pitchFamily="34" charset="-122"/>
                <a:cs typeface="Segoe UI Semibold" pitchFamily="34" charset="-120"/>
              </a:rPr>
              <a:t>or</a:t>
            </a:r>
            <a:pPr indent="0" marL="0">
              <a:buNone/>
            </a:pPr>
            <a:r>
              <a:rPr lang="en-US" sz="1200" dirty="0">
                <a:solidFill>
                  <a:srgbClr val="1B2559"/>
                </a:solidFill>
                <a:latin typeface="Segoe UI Semibold" pitchFamily="34" charset="0"/>
                <a:ea typeface="Segoe UI Semibold" pitchFamily="34" charset="-122"/>
                <a:cs typeface="Segoe UI Semibold" pitchFamily="34" charset="-120"/>
              </a:rPr>
              <a:t>ld</a:t>
            </a:r>
            <a:endParaRPr lang="en-US" sz="1200" dirty="0"/>
          </a:p>
        </p:txBody>
      </p:sp>
      <p:sp>
        <p:nvSpPr>
          <p:cNvPr id="29" name="R5_tag272"/>
          <p:cNvSpPr/>
          <p:nvPr/>
        </p:nvSpPr>
        <p:spPr>
          <a:xfrm>
            <a:off x="7178040" y="3575304"/>
            <a:ext cx="1691640" cy="475488"/>
          </a:xfrm>
          <a:prstGeom prst="roundRect">
            <a:avLst>
              <a:gd name="adj" fmla="val 48077"/>
            </a:avLst>
          </a:prstGeom>
          <a:solidFill>
            <a:srgbClr val="F7A6C4"/>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bird /ɜː/</a:t>
            </a:r>
            <a:endParaRPr lang="en-US" sz="11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4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fade">
                                      <p:cBhvr>
                                        <p:cTn id="12" dur="400"/>
                                        <p:tgtEl>
                                          <p:spTgt spid="2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400"/>
                                        <p:tgtEl>
                                          <p:spTgt spid="2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400"/>
                                        <p:tgtEl>
                                          <p:spTgt spid="2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fade">
                                      <p:cBhvr>
                                        <p:cTn id="27" dur="4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273"/>
          <p:cNvSpPr/>
          <p:nvPr/>
        </p:nvSpPr>
        <p:spPr>
          <a:xfrm>
            <a:off x="201168" y="164592"/>
            <a:ext cx="841248" cy="841248"/>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10</a:t>
            </a:r>
            <a:endParaRPr lang="en-US" sz="2200" dirty="0"/>
          </a:p>
        </p:txBody>
      </p:sp>
      <p:pic>
        <p:nvPicPr>
          <p:cNvPr id="4" name="brY_274" descr="/home/claude/lls-course/v2/assets/brush-yellow.png">    </p:cNvPr>
          <p:cNvPicPr>
            <a:picLocks noChangeAspect="1"/>
          </p:cNvPicPr>
          <p:nvPr/>
        </p:nvPicPr>
        <p:blipFill>
          <a:blip r:embed="rId2"/>
          <a:stretch>
            <a:fillRect/>
          </a:stretch>
        </p:blipFill>
        <p:spPr>
          <a:xfrm>
            <a:off x="1097280" y="146304"/>
            <a:ext cx="2461565" cy="621792"/>
          </a:xfrm>
          <a:prstGeom prst="rect">
            <a:avLst/>
          </a:prstGeom>
        </p:spPr>
      </p:pic>
      <p:sp>
        <p:nvSpPr>
          <p:cNvPr id="5" name="title_275"/>
          <p:cNvSpPr/>
          <p:nvPr/>
        </p:nvSpPr>
        <p:spPr>
          <a:xfrm>
            <a:off x="1261872" y="164592"/>
            <a:ext cx="2187245"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Word stress</a:t>
            </a:r>
            <a:endParaRPr lang="en-US" sz="2500" dirty="0"/>
          </a:p>
        </p:txBody>
      </p:sp>
      <p:pic>
        <p:nvPicPr>
          <p:cNvPr id="6" name="brP_276" descr="/home/claude/lls-course/v2/assets/brush-pink.png">    </p:cNvPr>
          <p:cNvPicPr>
            <a:picLocks noChangeAspect="1"/>
          </p:cNvPicPr>
          <p:nvPr/>
        </p:nvPicPr>
        <p:blipFill>
          <a:blip r:embed="rId3"/>
          <a:stretch>
            <a:fillRect/>
          </a:stretch>
        </p:blipFill>
        <p:spPr>
          <a:xfrm>
            <a:off x="1207008" y="731520"/>
            <a:ext cx="4727448" cy="402336"/>
          </a:xfrm>
          <a:prstGeom prst="rect">
            <a:avLst/>
          </a:prstGeom>
        </p:spPr>
      </p:pic>
      <p:sp>
        <p:nvSpPr>
          <p:cNvPr id="7" name="ins_277"/>
          <p:cNvSpPr/>
          <p:nvPr/>
        </p:nvSpPr>
        <p:spPr>
          <a:xfrm>
            <a:off x="1353312" y="731520"/>
            <a:ext cx="4471416"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Underline the stressed syllable. Say the word!</a:t>
            </a:r>
            <a:endParaRPr lang="en-US" sz="1250" dirty="0"/>
          </a:p>
        </p:txBody>
      </p:sp>
      <p:sp>
        <p:nvSpPr>
          <p:cNvPr id="8" name="insIT_278"/>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Sottolinea la sillaba accentata. Di' la parola!</a:t>
            </a:r>
            <a:endParaRPr lang="en-US" sz="950" dirty="0"/>
          </a:p>
        </p:txBody>
      </p:sp>
      <p:sp>
        <p:nvSpPr>
          <p:cNvPr id="9" name="note_279"/>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SAY IT</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CHECK</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2 min   👥 pairs</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Pronunciation · Controlled practice</a:t>
            </a:r>
            <a:endParaRPr lang="en-US" sz="1150" dirty="0"/>
          </a:p>
        </p:txBody>
      </p:sp>
      <p:pic>
        <p:nvPicPr>
          <p:cNvPr id="10" name="logo_280"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281"/>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R5-6 · Pronunciation · word stress   ·   📖 SB p.64 · Pronunciation d (TG key)</a:t>
            </a:r>
            <a:endParaRPr lang="en-US" sz="800" dirty="0"/>
          </a:p>
        </p:txBody>
      </p:sp>
      <p:sp>
        <p:nvSpPr>
          <p:cNvPr id="12" name="cd_282"/>
          <p:cNvSpPr/>
          <p:nvPr/>
        </p:nvSpPr>
        <p:spPr>
          <a:xfrm>
            <a:off x="320040" y="1417320"/>
            <a:ext cx="2697480" cy="768096"/>
          </a:xfrm>
          <a:prstGeom prst="roundRect">
            <a:avLst>
              <a:gd name="adj" fmla="val 16667"/>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3" name="ii_283"/>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4" name="ih_284"/>
          <p:cNvSpPr/>
          <p:nvPr/>
        </p:nvSpPr>
        <p:spPr>
          <a:xfrm>
            <a:off x="886968" y="1508760"/>
            <a:ext cx="205740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Example</a:t>
            </a:r>
            <a:endParaRPr lang="en-US" sz="1300" dirty="0"/>
          </a:p>
        </p:txBody>
      </p:sp>
      <p:sp>
        <p:nvSpPr>
          <p:cNvPr id="15" name="il_285"/>
          <p:cNvSpPr/>
          <p:nvPr/>
        </p:nvSpPr>
        <p:spPr>
          <a:xfrm>
            <a:off x="886968" y="1911096"/>
            <a:ext cx="2039112" cy="201168"/>
          </a:xfrm>
          <a:prstGeom prst="rect">
            <a:avLst/>
          </a:prstGeom>
          <a:noFill/>
          <a:ln/>
        </p:spPr>
        <p:txBody>
          <a:bodyPr wrap="square" lIns="0" tIns="0" rIns="0" bIns="0" rtlCol="0" anchor="t">
            <a:normAutofit/>
          </a:bodyPr>
          <a:lstStyle/>
          <a:p>
            <a:pPr indent="0" marL="0">
              <a:spcAft>
                <a:spcPts val="200"/>
              </a:spcAft>
              <a:buNone/>
            </a:pPr>
            <a:r>
              <a:rPr lang="en-US" sz="1050" dirty="0">
                <a:solidFill>
                  <a:srgbClr val="1B2559"/>
                </a:solidFill>
                <a:latin typeface="Segoe UI Semibold" pitchFamily="34" charset="0"/>
                <a:ea typeface="Segoe UI Semibold" pitchFamily="34" charset="-122"/>
                <a:cs typeface="Segoe UI Semibold" pitchFamily="34" charset="-120"/>
              </a:rPr>
              <a:t>sur|vive → surVIVE</a:t>
            </a:r>
            <a:endParaRPr lang="en-US" sz="1050" dirty="0"/>
          </a:p>
        </p:txBody>
      </p:sp>
      <p:sp>
        <p:nvSpPr>
          <p:cNvPr id="16" name="bd_286"/>
          <p:cNvSpPr/>
          <p:nvPr/>
        </p:nvSpPr>
        <p:spPr>
          <a:xfrm>
            <a:off x="3246120" y="1490472"/>
            <a:ext cx="310896" cy="310896"/>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1</a:t>
            </a:r>
            <a:endParaRPr lang="en-US" sz="1000" dirty="0"/>
          </a:p>
        </p:txBody>
      </p:sp>
      <p:sp>
        <p:nvSpPr>
          <p:cNvPr id="17" name="q_287"/>
          <p:cNvSpPr/>
          <p:nvPr/>
        </p:nvSpPr>
        <p:spPr>
          <a:xfrm>
            <a:off x="3630168" y="1417320"/>
            <a:ext cx="2103120" cy="457200"/>
          </a:xfrm>
          <a:prstGeom prst="roundRect">
            <a:avLst>
              <a:gd name="adj" fmla="val 20000"/>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re|fe|ree</a:t>
            </a:r>
            <a:endParaRPr lang="en-US" sz="1150" dirty="0"/>
          </a:p>
        </p:txBody>
      </p:sp>
      <p:sp>
        <p:nvSpPr>
          <p:cNvPr id="18" name="R1_chip288"/>
          <p:cNvSpPr/>
          <p:nvPr/>
        </p:nvSpPr>
        <p:spPr>
          <a:xfrm>
            <a:off x="5806440" y="1417320"/>
            <a:ext cx="3063240" cy="457200"/>
          </a:xfrm>
          <a:prstGeom prst="roundRect">
            <a:avLst>
              <a:gd name="adj" fmla="val 2000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refeREE</a:t>
            </a:r>
            <a:endParaRPr lang="en-US" sz="1050" dirty="0"/>
          </a:p>
        </p:txBody>
      </p:sp>
      <p:sp>
        <p:nvSpPr>
          <p:cNvPr id="19" name="bd_289"/>
          <p:cNvSpPr/>
          <p:nvPr/>
        </p:nvSpPr>
        <p:spPr>
          <a:xfrm>
            <a:off x="3246120" y="1993392"/>
            <a:ext cx="310896" cy="310896"/>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2</a:t>
            </a:r>
            <a:endParaRPr lang="en-US" sz="1000" dirty="0"/>
          </a:p>
        </p:txBody>
      </p:sp>
      <p:sp>
        <p:nvSpPr>
          <p:cNvPr id="20" name="q_290"/>
          <p:cNvSpPr/>
          <p:nvPr/>
        </p:nvSpPr>
        <p:spPr>
          <a:xfrm>
            <a:off x="3630168" y="1920240"/>
            <a:ext cx="2103120" cy="457200"/>
          </a:xfrm>
          <a:prstGeom prst="roundRect">
            <a:avLst>
              <a:gd name="adj" fmla="val 20000"/>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re|view</a:t>
            </a:r>
            <a:endParaRPr lang="en-US" sz="1150" dirty="0"/>
          </a:p>
        </p:txBody>
      </p:sp>
      <p:sp>
        <p:nvSpPr>
          <p:cNvPr id="21" name="R2_chip291"/>
          <p:cNvSpPr/>
          <p:nvPr/>
        </p:nvSpPr>
        <p:spPr>
          <a:xfrm>
            <a:off x="5806440" y="1920240"/>
            <a:ext cx="3063240" cy="457200"/>
          </a:xfrm>
          <a:prstGeom prst="roundRect">
            <a:avLst>
              <a:gd name="adj" fmla="val 2000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reVIEW</a:t>
            </a:r>
            <a:endParaRPr lang="en-US" sz="1050" dirty="0"/>
          </a:p>
        </p:txBody>
      </p:sp>
      <p:sp>
        <p:nvSpPr>
          <p:cNvPr id="22" name="bd_292"/>
          <p:cNvSpPr/>
          <p:nvPr/>
        </p:nvSpPr>
        <p:spPr>
          <a:xfrm>
            <a:off x="3246120" y="2496312"/>
            <a:ext cx="310896" cy="310896"/>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3</a:t>
            </a:r>
            <a:endParaRPr lang="en-US" sz="1000" dirty="0"/>
          </a:p>
        </p:txBody>
      </p:sp>
      <p:sp>
        <p:nvSpPr>
          <p:cNvPr id="23" name="q_293"/>
          <p:cNvSpPr/>
          <p:nvPr/>
        </p:nvSpPr>
        <p:spPr>
          <a:xfrm>
            <a:off x="3630168" y="2423160"/>
            <a:ext cx="2103120" cy="457200"/>
          </a:xfrm>
          <a:prstGeom prst="roundRect">
            <a:avLst>
              <a:gd name="adj" fmla="val 20000"/>
            </a:avLst>
          </a:prstGeom>
          <a:solidFill>
            <a:srgbClr val="FFFFFF"/>
          </a:solidFill>
          <a:ln w="28575">
            <a:solidFill>
              <a:srgbClr val="A8E5BE"/>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spec|ta|tors</a:t>
            </a:r>
            <a:endParaRPr lang="en-US" sz="1150" dirty="0"/>
          </a:p>
        </p:txBody>
      </p:sp>
      <p:sp>
        <p:nvSpPr>
          <p:cNvPr id="24" name="R3_chip294"/>
          <p:cNvSpPr/>
          <p:nvPr/>
        </p:nvSpPr>
        <p:spPr>
          <a:xfrm>
            <a:off x="5806440" y="2423160"/>
            <a:ext cx="3063240" cy="457200"/>
          </a:xfrm>
          <a:prstGeom prst="roundRect">
            <a:avLst>
              <a:gd name="adj" fmla="val 2000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specTAtors</a:t>
            </a:r>
            <a:endParaRPr lang="en-US" sz="1050" dirty="0"/>
          </a:p>
        </p:txBody>
      </p:sp>
      <p:sp>
        <p:nvSpPr>
          <p:cNvPr id="25" name="bd_295"/>
          <p:cNvSpPr/>
          <p:nvPr/>
        </p:nvSpPr>
        <p:spPr>
          <a:xfrm>
            <a:off x="3246120" y="2999232"/>
            <a:ext cx="310896" cy="310896"/>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4</a:t>
            </a:r>
            <a:endParaRPr lang="en-US" sz="1000" dirty="0"/>
          </a:p>
        </p:txBody>
      </p:sp>
      <p:sp>
        <p:nvSpPr>
          <p:cNvPr id="26" name="q_296"/>
          <p:cNvSpPr/>
          <p:nvPr/>
        </p:nvSpPr>
        <p:spPr>
          <a:xfrm>
            <a:off x="3630168" y="2926080"/>
            <a:ext cx="2103120" cy="457200"/>
          </a:xfrm>
          <a:prstGeom prst="roundRect">
            <a:avLst>
              <a:gd name="adj" fmla="val 20000"/>
            </a:avLst>
          </a:prstGeom>
          <a:solidFill>
            <a:srgbClr val="FFFFFF"/>
          </a:solidFill>
          <a:ln w="28575">
            <a:solidFill>
              <a:srgbClr val="FFE07A"/>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di|rec|tor</a:t>
            </a:r>
            <a:endParaRPr lang="en-US" sz="1150" dirty="0"/>
          </a:p>
        </p:txBody>
      </p:sp>
      <p:sp>
        <p:nvSpPr>
          <p:cNvPr id="27" name="R4_chip297"/>
          <p:cNvSpPr/>
          <p:nvPr/>
        </p:nvSpPr>
        <p:spPr>
          <a:xfrm>
            <a:off x="5806440" y="2926080"/>
            <a:ext cx="3063240" cy="457200"/>
          </a:xfrm>
          <a:prstGeom prst="roundRect">
            <a:avLst>
              <a:gd name="adj" fmla="val 2000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diRECtor</a:t>
            </a:r>
            <a:endParaRPr lang="en-US" sz="1050" dirty="0"/>
          </a:p>
        </p:txBody>
      </p:sp>
      <p:sp>
        <p:nvSpPr>
          <p:cNvPr id="28" name="bd_298"/>
          <p:cNvSpPr/>
          <p:nvPr/>
        </p:nvSpPr>
        <p:spPr>
          <a:xfrm>
            <a:off x="3246120" y="3502152"/>
            <a:ext cx="310896" cy="310896"/>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5</a:t>
            </a:r>
            <a:endParaRPr lang="en-US" sz="1000" dirty="0"/>
          </a:p>
        </p:txBody>
      </p:sp>
      <p:sp>
        <p:nvSpPr>
          <p:cNvPr id="29" name="q_299"/>
          <p:cNvSpPr/>
          <p:nvPr/>
        </p:nvSpPr>
        <p:spPr>
          <a:xfrm>
            <a:off x="3630168" y="3429000"/>
            <a:ext cx="2103120" cy="457200"/>
          </a:xfrm>
          <a:prstGeom prst="roundRect">
            <a:avLst>
              <a:gd name="adj" fmla="val 20000"/>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co|lleague</a:t>
            </a:r>
            <a:endParaRPr lang="en-US" sz="1150" dirty="0"/>
          </a:p>
        </p:txBody>
      </p:sp>
      <p:sp>
        <p:nvSpPr>
          <p:cNvPr id="30" name="R5_chip300"/>
          <p:cNvSpPr/>
          <p:nvPr/>
        </p:nvSpPr>
        <p:spPr>
          <a:xfrm>
            <a:off x="5806440" y="3429000"/>
            <a:ext cx="3063240" cy="457200"/>
          </a:xfrm>
          <a:prstGeom prst="roundRect">
            <a:avLst>
              <a:gd name="adj" fmla="val 2000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COlleague</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4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fade">
                                      <p:cBhvr>
                                        <p:cTn id="17" dur="400"/>
                                        <p:tgtEl>
                                          <p:spTgt spid="2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400"/>
                                        <p:tgtEl>
                                          <p:spTgt spid="2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0"/>
                                        </p:tgtEl>
                                        <p:attrNameLst>
                                          <p:attrName>style.visibility</p:attrName>
                                        </p:attrNameLst>
                                      </p:cBhvr>
                                      <p:to>
                                        <p:strVal val="visible"/>
                                      </p:to>
                                    </p:set>
                                    <p:animEffect transition="in" filter="fade">
                                      <p:cBhvr>
                                        <p:cTn id="27"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301"/>
          <p:cNvSpPr/>
          <p:nvPr/>
        </p:nvSpPr>
        <p:spPr>
          <a:xfrm>
            <a:off x="201168" y="164592"/>
            <a:ext cx="841248" cy="841248"/>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11</a:t>
            </a:r>
            <a:endParaRPr lang="en-US" sz="2200" dirty="0"/>
          </a:p>
        </p:txBody>
      </p:sp>
      <p:pic>
        <p:nvPicPr>
          <p:cNvPr id="4" name="brY_302" descr="/home/claude/lls-course/v2/assets/brush-yellow.png">    </p:cNvPr>
          <p:cNvPicPr>
            <a:picLocks noChangeAspect="1"/>
          </p:cNvPicPr>
          <p:nvPr/>
        </p:nvPicPr>
        <p:blipFill>
          <a:blip r:embed="rId2"/>
          <a:stretch>
            <a:fillRect/>
          </a:stretch>
        </p:blipFill>
        <p:spPr>
          <a:xfrm>
            <a:off x="1097280" y="146304"/>
            <a:ext cx="3562502" cy="621792"/>
          </a:xfrm>
          <a:prstGeom prst="rect">
            <a:avLst/>
          </a:prstGeom>
        </p:spPr>
      </p:pic>
      <p:sp>
        <p:nvSpPr>
          <p:cNvPr id="5" name="title_303"/>
          <p:cNvSpPr/>
          <p:nvPr/>
        </p:nvSpPr>
        <p:spPr>
          <a:xfrm>
            <a:off x="1261872" y="164592"/>
            <a:ext cx="3288182"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Your body type (1)</a:t>
            </a:r>
            <a:endParaRPr lang="en-US" sz="2500" dirty="0"/>
          </a:p>
        </p:txBody>
      </p:sp>
      <p:pic>
        <p:nvPicPr>
          <p:cNvPr id="6" name="brP_304" descr="/home/claude/lls-course/v2/assets/brush-pink.png">    </p:cNvPr>
          <p:cNvPicPr>
            <a:picLocks noChangeAspect="1"/>
          </p:cNvPicPr>
          <p:nvPr/>
        </p:nvPicPr>
        <p:blipFill>
          <a:blip r:embed="rId3"/>
          <a:stretch>
            <a:fillRect/>
          </a:stretch>
        </p:blipFill>
        <p:spPr>
          <a:xfrm>
            <a:off x="1207008" y="731520"/>
            <a:ext cx="5257800" cy="402336"/>
          </a:xfrm>
          <a:prstGeom prst="rect">
            <a:avLst/>
          </a:prstGeom>
        </p:spPr>
      </p:pic>
      <p:sp>
        <p:nvSpPr>
          <p:cNvPr id="7" name="ins_305"/>
          <p:cNvSpPr/>
          <p:nvPr/>
        </p:nvSpPr>
        <p:spPr>
          <a:xfrm>
            <a:off x="1353312" y="731520"/>
            <a:ext cx="5001768" cy="402336"/>
          </a:xfrm>
          <a:prstGeom prst="rect">
            <a:avLst/>
          </a:prstGeom>
          <a:noFill/>
          <a:ln/>
        </p:spPr>
        <p:txBody>
          <a:bodyPr wrap="square" lIns="0" tIns="0" rIns="0" bIns="0" rtlCol="0" anchor="ctr">
            <a:normAutofit/>
          </a:bodyPr>
          <a:lstStyle/>
          <a:p>
            <a:pPr indent="0" marL="0">
              <a:buNone/>
            </a:pPr>
            <a:r>
              <a:rPr lang="en-US" sz="1100" i="1" dirty="0">
                <a:solidFill>
                  <a:srgbClr val="1B2559"/>
                </a:solidFill>
                <a:latin typeface="Segoe UI Semibold" pitchFamily="34" charset="0"/>
                <a:ea typeface="Segoe UI Semibold" pitchFamily="34" charset="-122"/>
                <a:cs typeface="Segoe UI Semibold" pitchFamily="34" charset="-120"/>
              </a:rPr>
              <a:t>Read part 1. What's the best exercise for all body types? Complete gaps 1–3 with A–G.</a:t>
            </a:r>
            <a:endParaRPr lang="en-US" sz="1100" dirty="0"/>
          </a:p>
        </p:txBody>
      </p:sp>
      <p:sp>
        <p:nvSpPr>
          <p:cNvPr id="8" name="insIT_306"/>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Leggi la parte 1. Qual è l'esercizio migliore per tutti? Completa 1–3 con A–G.</a:t>
            </a:r>
            <a:endParaRPr lang="en-US" sz="950" dirty="0"/>
          </a:p>
        </p:txBody>
      </p:sp>
      <p:sp>
        <p:nvSpPr>
          <p:cNvPr id="9" name="note_307"/>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READ</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MATCH</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5 min   👤 alone</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Reading · Text cohesion</a:t>
            </a:r>
            <a:endParaRPr lang="en-US" sz="1150" dirty="0"/>
          </a:p>
        </p:txBody>
      </p:sp>
      <p:pic>
        <p:nvPicPr>
          <p:cNvPr id="10" name="logo_308"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309"/>
          <p:cNvSpPr/>
          <p:nvPr/>
        </p:nvSpPr>
        <p:spPr>
          <a:xfrm>
            <a:off x="274320" y="4873752"/>
            <a:ext cx="6858000" cy="219456"/>
          </a:xfrm>
          <a:prstGeom prst="rect">
            <a:avLst/>
          </a:prstGeom>
          <a:noFill/>
          <a:ln/>
        </p:spPr>
        <p:txBody>
          <a:bodyPr wrap="square" lIns="0" tIns="0" rIns="0" bIns="0" rtlCol="0" anchor="ctr"/>
          <a:lstStyle/>
          <a:p>
            <a:pPr indent="0" marL="0">
              <a:buNone/>
            </a:pPr>
            <a:r>
              <a:rPr lang="en-US" sz="700" dirty="0">
                <a:solidFill>
                  <a:srgbClr val="5B6785"/>
                </a:solidFill>
                <a:latin typeface="Segoe UI Semibold" pitchFamily="34" charset="0"/>
                <a:ea typeface="Segoe UI Semibold" pitchFamily="34" charset="-122"/>
                <a:cs typeface="Segoe UI Semibold" pitchFamily="34" charset="-120"/>
              </a:rPr>
              <a:t>R5-6 · Reading · What is the best sport for your body type? (1)   ·   📖 SB p.65 · Can you understand this text? a, b (the article is on the slide · TG key)</a:t>
            </a:r>
            <a:endParaRPr lang="en-US" sz="700" dirty="0"/>
          </a:p>
        </p:txBody>
      </p:sp>
      <p:sp>
        <p:nvSpPr>
          <p:cNvPr id="12" name="cd_310"/>
          <p:cNvSpPr/>
          <p:nvPr/>
        </p:nvSpPr>
        <p:spPr>
          <a:xfrm>
            <a:off x="320040" y="1417320"/>
            <a:ext cx="5760720" cy="3364992"/>
          </a:xfrm>
          <a:prstGeom prst="roundRect">
            <a:avLst>
              <a:gd name="adj" fmla="val 3804"/>
            </a:avLst>
          </a:prstGeom>
          <a:solidFill>
            <a:srgbClr val="FFFFFF"/>
          </a:solidFill>
          <a:ln w="28575">
            <a:solidFill>
              <a:srgbClr val="A8E5BE"/>
            </a:solidFill>
            <a:prstDash val="solid"/>
          </a:ln>
          <a:effectLst>
            <a:outerShdw sx="100000" sy="100000" kx="0" ky="0" algn="bl" rotWithShape="0" blurRad="88900" dist="31750" dir="5400000">
              <a:srgbClr val="1B2559">
                <a:alpha val="12000"/>
              </a:srgbClr>
            </a:outerShdw>
          </a:effectLst>
        </p:spPr>
      </p:sp>
      <p:sp>
        <p:nvSpPr>
          <p:cNvPr id="13" name="rd_311"/>
          <p:cNvSpPr/>
          <p:nvPr/>
        </p:nvSpPr>
        <p:spPr>
          <a:xfrm>
            <a:off x="457200" y="1527048"/>
            <a:ext cx="5486400" cy="3090672"/>
          </a:xfrm>
          <a:prstGeom prst="rect">
            <a:avLst/>
          </a:prstGeom>
          <a:noFill/>
          <a:ln/>
        </p:spPr>
        <p:txBody>
          <a:bodyPr wrap="square" lIns="0" tIns="0" rIns="0" bIns="0" rtlCol="0" anchor="t"/>
          <a:lstStyle/>
          <a:p>
            <a:pPr indent="0" marL="0">
              <a:lnSpc>
                <a:spcPct val="105000"/>
              </a:lnSpc>
              <a:spcAft>
                <a:spcPts val="400"/>
              </a:spcAft>
              <a:buNone/>
            </a:pPr>
            <a:r>
              <a:rPr lang="en-US" sz="1500" b="1" dirty="0">
                <a:solidFill>
                  <a:srgbClr val="1F6F43"/>
                </a:solidFill>
                <a:latin typeface="Georgia" pitchFamily="34" charset="0"/>
                <a:ea typeface="Georgia" pitchFamily="34" charset="-122"/>
                <a:cs typeface="Georgia" pitchFamily="34" charset="-120"/>
              </a:rPr>
              <a:t>What is the best sport for your body type?</a:t>
            </a:r>
            <a:endParaRPr lang="en-US" sz="1000" dirty="0"/>
          </a:p>
          <a:p>
            <a:pPr indent="0" marL="0">
              <a:lnSpc>
                <a:spcPct val="105000"/>
              </a:lnSpc>
              <a:spcAft>
                <a:spcPts val="700"/>
              </a:spcAft>
              <a:buNone/>
            </a:pPr>
            <a:r>
              <a:rPr lang="en-US" sz="1000" dirty="0">
                <a:solidFill>
                  <a:srgbClr val="1B2559"/>
                </a:solidFill>
                <a:latin typeface="Georgia" pitchFamily="34" charset="0"/>
                <a:ea typeface="Georgia" pitchFamily="34" charset="-122"/>
                <a:cs typeface="Georgia" pitchFamily="34" charset="-120"/>
              </a:rPr>
              <a:t>Just because someone has dreamt of playing football from childhood does not mean it is the best sport for him or her. Finding the sport your body is best suited to can make a big difference to how much you enjoy it and how good at it you are.</a:t>
            </a:r>
            <a:endParaRPr lang="en-US" sz="1000" dirty="0"/>
          </a:p>
          <a:p>
            <a:pPr indent="0" marL="0">
              <a:lnSpc>
                <a:spcPct val="105000"/>
              </a:lnSpc>
              <a:spcAft>
                <a:spcPts val="700"/>
              </a:spcAft>
              <a:buNone/>
            </a:pPr>
            <a:r>
              <a:rPr lang="en-US" sz="1000" dirty="0">
                <a:solidFill>
                  <a:srgbClr val="1B2559"/>
                </a:solidFill>
                <a:latin typeface="Georgia" pitchFamily="34" charset="0"/>
                <a:ea typeface="Georgia" pitchFamily="34" charset="-122"/>
                <a:cs typeface="Georgia" pitchFamily="34" charset="-120"/>
              </a:rPr>
              <a:t>A person with an ectomorph body type is tall and slim with little fat or muscle. This person has narrow shoulders, chest, and hips, and thin arms and legs. Ectomorphs have difficulty putting on weight because of a fast metabolism.</a:t>
            </a:r>
            <a:pPr indent="0" marL="0">
              <a:lnSpc>
                <a:spcPct val="105000"/>
              </a:lnSpc>
              <a:spcAft>
                <a:spcPts val="700"/>
              </a:spcAft>
              <a:buNone/>
            </a:pPr>
            <a:r>
              <a:rPr lang="en-US" sz="1000" b="1" dirty="0">
                <a:solidFill>
                  <a:srgbClr val="7B5CD6"/>
                </a:solidFill>
                <a:highlight>
                  <a:srgbClr val="EEE8FB"/>
                </a:highlight>
                <a:latin typeface="Georgia" pitchFamily="34" charset="0"/>
                <a:ea typeface="Georgia" pitchFamily="34" charset="-122"/>
                <a:cs typeface="Georgia" pitchFamily="34" charset="-120"/>
              </a:rPr>
              <a:t> (1) B For the same reason, it takes them longer to build muscle </a:t>
            </a:r>
            <a:pPr indent="0" marL="0">
              <a:lnSpc>
                <a:spcPct val="105000"/>
              </a:lnSpc>
              <a:spcAft>
                <a:spcPts val="700"/>
              </a:spcAft>
              <a:buNone/>
            </a:pPr>
            <a:r>
              <a:rPr lang="en-US" sz="1000" dirty="0">
                <a:solidFill>
                  <a:srgbClr val="1B2559"/>
                </a:solidFill>
                <a:latin typeface="Georgia" pitchFamily="34" charset="0"/>
                <a:ea typeface="Georgia" pitchFamily="34" charset="-122"/>
                <a:cs typeface="Georgia" pitchFamily="34" charset="-120"/>
              </a:rPr>
              <a:t>. What suits ectomorphs is endurance sports. Marathon running, swimming, and football are excellent choices for them.</a:t>
            </a:r>
            <a:pPr indent="0" marL="0">
              <a:lnSpc>
                <a:spcPct val="105000"/>
              </a:lnSpc>
              <a:spcAft>
                <a:spcPts val="700"/>
              </a:spcAft>
              <a:buNone/>
            </a:pPr>
            <a:r>
              <a:rPr lang="en-US" sz="1000" b="1" dirty="0">
                <a:solidFill>
                  <a:srgbClr val="2EB872"/>
                </a:solidFill>
                <a:latin typeface="Georgia" pitchFamily="34" charset="0"/>
                <a:ea typeface="Georgia" pitchFamily="34" charset="-122"/>
                <a:cs typeface="Georgia" pitchFamily="34" charset="-120"/>
              </a:rPr>
              <a:t> (2) ________ </a:t>
            </a:r>
            <a:pPr indent="0" marL="0">
              <a:lnSpc>
                <a:spcPct val="105000"/>
              </a:lnSpc>
              <a:spcAft>
                <a:spcPts val="700"/>
              </a:spcAft>
              <a:buNone/>
            </a:pPr>
            <a:r>
              <a:rPr lang="en-US" sz="1000" dirty="0">
                <a:solidFill>
                  <a:srgbClr val="1B2559"/>
                </a:solidFill>
                <a:latin typeface="Georgia" pitchFamily="34" charset="0"/>
                <a:ea typeface="Georgia" pitchFamily="34" charset="-122"/>
                <a:cs typeface="Georgia" pitchFamily="34" charset="-120"/>
              </a:rPr>
              <a:t>, basketball may also be a great option. Ectomorphs also generally do well in gymnastics.</a:t>
            </a:r>
            <a:endParaRPr lang="en-US" sz="1000" dirty="0"/>
          </a:p>
          <a:p>
            <a:pPr indent="0" marL="0">
              <a:lnSpc>
                <a:spcPct val="105000"/>
              </a:lnSpc>
              <a:spcAft>
                <a:spcPts val="700"/>
              </a:spcAft>
              <a:buNone/>
            </a:pPr>
            <a:r>
              <a:rPr lang="en-US" sz="1000" dirty="0">
                <a:solidFill>
                  <a:srgbClr val="1B2559"/>
                </a:solidFill>
                <a:latin typeface="Georgia" pitchFamily="34" charset="0"/>
                <a:ea typeface="Georgia" pitchFamily="34" charset="-122"/>
                <a:cs typeface="Georgia" pitchFamily="34" charset="-120"/>
              </a:rPr>
              <a:t>Mesomorph body types are the stereotypical image of an athlete.</a:t>
            </a:r>
            <a:pPr indent="0" marL="0">
              <a:lnSpc>
                <a:spcPct val="105000"/>
              </a:lnSpc>
              <a:spcAft>
                <a:spcPts val="700"/>
              </a:spcAft>
              <a:buNone/>
            </a:pPr>
            <a:r>
              <a:rPr lang="en-US" sz="1000" b="1" dirty="0">
                <a:solidFill>
                  <a:srgbClr val="2EB872"/>
                </a:solidFill>
                <a:latin typeface="Georgia" pitchFamily="34" charset="0"/>
                <a:ea typeface="Georgia" pitchFamily="34" charset="-122"/>
                <a:cs typeface="Georgia" pitchFamily="34" charset="-120"/>
              </a:rPr>
              <a:t> (3) ________ </a:t>
            </a:r>
            <a:pPr indent="0" marL="0">
              <a:lnSpc>
                <a:spcPct val="105000"/>
              </a:lnSpc>
              <a:spcAft>
                <a:spcPts val="700"/>
              </a:spcAft>
              <a:buNone/>
            </a:pPr>
            <a:r>
              <a:rPr lang="en-US" sz="1000" dirty="0">
                <a:solidFill>
                  <a:srgbClr val="1B2559"/>
                </a:solidFill>
                <a:latin typeface="Georgia" pitchFamily="34" charset="0"/>
                <a:ea typeface="Georgia" pitchFamily="34" charset="-122"/>
                <a:cs typeface="Georgia" pitchFamily="34" charset="-120"/>
              </a:rPr>
              <a:t>. Mesomorphs can put on or lose weight easily and build muscle quickly.</a:t>
            </a:r>
            <a:endParaRPr lang="en-US" sz="1000" dirty="0"/>
          </a:p>
        </p:txBody>
      </p:sp>
      <p:sp>
        <p:nvSpPr>
          <p:cNvPr id="14" name="R1_rdA312"/>
          <p:cNvSpPr/>
          <p:nvPr/>
        </p:nvSpPr>
        <p:spPr>
          <a:xfrm>
            <a:off x="457200" y="1527048"/>
            <a:ext cx="5486400" cy="3090672"/>
          </a:xfrm>
          <a:prstGeom prst="rect">
            <a:avLst/>
          </a:prstGeom>
          <a:solidFill>
            <a:srgbClr val="FFFFFF"/>
          </a:solidFill>
          <a:ln/>
        </p:spPr>
        <p:txBody>
          <a:bodyPr wrap="square" lIns="0" tIns="0" rIns="0" bIns="0" rtlCol="0" anchor="t"/>
          <a:lstStyle/>
          <a:p>
            <a:pPr indent="0" marL="0">
              <a:lnSpc>
                <a:spcPct val="105000"/>
              </a:lnSpc>
              <a:spcAft>
                <a:spcPts val="400"/>
              </a:spcAft>
              <a:buNone/>
            </a:pPr>
            <a:r>
              <a:rPr lang="en-US" sz="1500" b="1" dirty="0">
                <a:solidFill>
                  <a:srgbClr val="1F6F43"/>
                </a:solidFill>
                <a:latin typeface="Georgia" pitchFamily="34" charset="0"/>
                <a:ea typeface="Georgia" pitchFamily="34" charset="-122"/>
                <a:cs typeface="Georgia" pitchFamily="34" charset="-120"/>
              </a:rPr>
              <a:t>What is the best sport for your body type?</a:t>
            </a:r>
            <a:endParaRPr lang="en-US" sz="1000" dirty="0"/>
          </a:p>
          <a:p>
            <a:pPr indent="0" marL="0">
              <a:lnSpc>
                <a:spcPct val="105000"/>
              </a:lnSpc>
              <a:spcAft>
                <a:spcPts val="700"/>
              </a:spcAft>
              <a:buNone/>
            </a:pPr>
            <a:r>
              <a:rPr lang="en-US" sz="1000" dirty="0">
                <a:solidFill>
                  <a:srgbClr val="1B2559"/>
                </a:solidFill>
                <a:latin typeface="Georgia" pitchFamily="34" charset="0"/>
                <a:ea typeface="Georgia" pitchFamily="34" charset="-122"/>
                <a:cs typeface="Georgia" pitchFamily="34" charset="-120"/>
              </a:rPr>
              <a:t>Just because someone has dreamt of playing football from childhood does not mean it is the best sport for him or her. Finding the sport your body is best suited to can make a big difference to how much you enjoy it and how good at it you are.</a:t>
            </a:r>
            <a:endParaRPr lang="en-US" sz="1000" dirty="0"/>
          </a:p>
          <a:p>
            <a:pPr indent="0" marL="0">
              <a:lnSpc>
                <a:spcPct val="105000"/>
              </a:lnSpc>
              <a:spcAft>
                <a:spcPts val="700"/>
              </a:spcAft>
              <a:buNone/>
            </a:pPr>
            <a:r>
              <a:rPr lang="en-US" sz="1000" dirty="0">
                <a:solidFill>
                  <a:srgbClr val="1B2559"/>
                </a:solidFill>
                <a:latin typeface="Georgia" pitchFamily="34" charset="0"/>
                <a:ea typeface="Georgia" pitchFamily="34" charset="-122"/>
                <a:cs typeface="Georgia" pitchFamily="34" charset="-120"/>
              </a:rPr>
              <a:t>A person with an ectomorph body type is tall and slim with little fat or muscle. This person has narrow shoulders, chest, and hips, and thin arms and legs. Ectomorphs have difficulty putting on weight because of a fast metabolism.</a:t>
            </a:r>
            <a:pPr indent="0" marL="0">
              <a:lnSpc>
                <a:spcPct val="105000"/>
              </a:lnSpc>
              <a:spcAft>
                <a:spcPts val="700"/>
              </a:spcAft>
              <a:buNone/>
            </a:pPr>
            <a:r>
              <a:rPr lang="en-US" sz="1000" b="1" dirty="0">
                <a:solidFill>
                  <a:srgbClr val="7B5CD6"/>
                </a:solidFill>
                <a:highlight>
                  <a:srgbClr val="EEE8FB"/>
                </a:highlight>
                <a:latin typeface="Georgia" pitchFamily="34" charset="0"/>
                <a:ea typeface="Georgia" pitchFamily="34" charset="-122"/>
                <a:cs typeface="Georgia" pitchFamily="34" charset="-120"/>
              </a:rPr>
              <a:t> (1) B For the same reason, it takes them longer to build muscle </a:t>
            </a:r>
            <a:pPr indent="0" marL="0">
              <a:lnSpc>
                <a:spcPct val="105000"/>
              </a:lnSpc>
              <a:spcAft>
                <a:spcPts val="700"/>
              </a:spcAft>
              <a:buNone/>
            </a:pPr>
            <a:r>
              <a:rPr lang="en-US" sz="1000" dirty="0">
                <a:solidFill>
                  <a:srgbClr val="1B2559"/>
                </a:solidFill>
                <a:latin typeface="Georgia" pitchFamily="34" charset="0"/>
                <a:ea typeface="Georgia" pitchFamily="34" charset="-122"/>
                <a:cs typeface="Georgia" pitchFamily="34" charset="-120"/>
              </a:rPr>
              <a:t>. What suits ectomorphs is endurance sports. Marathon running, swimming, and football are excellent choices for them.</a:t>
            </a:r>
            <a:pPr indent="0" marL="0">
              <a:lnSpc>
                <a:spcPct val="105000"/>
              </a:lnSpc>
              <a:spcAft>
                <a:spcPts val="700"/>
              </a:spcAft>
              <a:buNone/>
            </a:pPr>
            <a:r>
              <a:rPr lang="en-US" sz="1000" b="1" dirty="0">
                <a:solidFill>
                  <a:srgbClr val="1B2559"/>
                </a:solidFill>
                <a:highlight>
                  <a:srgbClr val="FFE066"/>
                </a:highlight>
                <a:latin typeface="Georgia" pitchFamily="34" charset="0"/>
                <a:ea typeface="Georgia" pitchFamily="34" charset="-122"/>
                <a:cs typeface="Georgia" pitchFamily="34" charset="-120"/>
              </a:rPr>
              <a:t> (2) E If a person with this body type is very tall </a:t>
            </a:r>
            <a:pPr indent="0" marL="0">
              <a:lnSpc>
                <a:spcPct val="105000"/>
              </a:lnSpc>
              <a:spcAft>
                <a:spcPts val="700"/>
              </a:spcAft>
              <a:buNone/>
            </a:pPr>
            <a:r>
              <a:rPr lang="en-US" sz="1000" dirty="0">
                <a:solidFill>
                  <a:srgbClr val="1B2559"/>
                </a:solidFill>
                <a:latin typeface="Georgia" pitchFamily="34" charset="0"/>
                <a:ea typeface="Georgia" pitchFamily="34" charset="-122"/>
                <a:cs typeface="Georgia" pitchFamily="34" charset="-120"/>
              </a:rPr>
              <a:t>, basketball may also be a great option. Ectomorphs also generally do well in gymnastics.</a:t>
            </a:r>
            <a:endParaRPr lang="en-US" sz="1000" dirty="0"/>
          </a:p>
          <a:p>
            <a:pPr indent="0" marL="0">
              <a:lnSpc>
                <a:spcPct val="105000"/>
              </a:lnSpc>
              <a:spcAft>
                <a:spcPts val="700"/>
              </a:spcAft>
              <a:buNone/>
            </a:pPr>
            <a:r>
              <a:rPr lang="en-US" sz="1000" dirty="0">
                <a:solidFill>
                  <a:srgbClr val="1B2559"/>
                </a:solidFill>
                <a:latin typeface="Georgia" pitchFamily="34" charset="0"/>
                <a:ea typeface="Georgia" pitchFamily="34" charset="-122"/>
                <a:cs typeface="Georgia" pitchFamily="34" charset="-120"/>
              </a:rPr>
              <a:t>Mesomorph body types are the stereotypical image of an athlete.</a:t>
            </a:r>
            <a:pPr indent="0" marL="0">
              <a:lnSpc>
                <a:spcPct val="105000"/>
              </a:lnSpc>
              <a:spcAft>
                <a:spcPts val="700"/>
              </a:spcAft>
              <a:buNone/>
            </a:pPr>
            <a:r>
              <a:rPr lang="en-US" sz="1000" b="1" dirty="0">
                <a:solidFill>
                  <a:srgbClr val="2EB872"/>
                </a:solidFill>
                <a:latin typeface="Georgia" pitchFamily="34" charset="0"/>
                <a:ea typeface="Georgia" pitchFamily="34" charset="-122"/>
                <a:cs typeface="Georgia" pitchFamily="34" charset="-120"/>
              </a:rPr>
              <a:t> (3) ________ </a:t>
            </a:r>
            <a:pPr indent="0" marL="0">
              <a:lnSpc>
                <a:spcPct val="105000"/>
              </a:lnSpc>
              <a:spcAft>
                <a:spcPts val="700"/>
              </a:spcAft>
              <a:buNone/>
            </a:pPr>
            <a:r>
              <a:rPr lang="en-US" sz="1000" dirty="0">
                <a:solidFill>
                  <a:srgbClr val="1B2559"/>
                </a:solidFill>
                <a:latin typeface="Georgia" pitchFamily="34" charset="0"/>
                <a:ea typeface="Georgia" pitchFamily="34" charset="-122"/>
                <a:cs typeface="Georgia" pitchFamily="34" charset="-120"/>
              </a:rPr>
              <a:t>. Mesomorphs can put on or lose weight easily and build muscle quickly.</a:t>
            </a:r>
            <a:endParaRPr lang="en-US" sz="1000" dirty="0"/>
          </a:p>
        </p:txBody>
      </p:sp>
      <p:sp>
        <p:nvSpPr>
          <p:cNvPr id="15" name="R2_rdA313"/>
          <p:cNvSpPr/>
          <p:nvPr/>
        </p:nvSpPr>
        <p:spPr>
          <a:xfrm>
            <a:off x="457200" y="1527048"/>
            <a:ext cx="5486400" cy="3090672"/>
          </a:xfrm>
          <a:prstGeom prst="rect">
            <a:avLst/>
          </a:prstGeom>
          <a:solidFill>
            <a:srgbClr val="FFFFFF"/>
          </a:solidFill>
          <a:ln/>
        </p:spPr>
        <p:txBody>
          <a:bodyPr wrap="square" lIns="0" tIns="0" rIns="0" bIns="0" rtlCol="0" anchor="t"/>
          <a:lstStyle/>
          <a:p>
            <a:pPr indent="0" marL="0">
              <a:lnSpc>
                <a:spcPct val="105000"/>
              </a:lnSpc>
              <a:spcAft>
                <a:spcPts val="400"/>
              </a:spcAft>
              <a:buNone/>
            </a:pPr>
            <a:r>
              <a:rPr lang="en-US" sz="1500" b="1" dirty="0">
                <a:solidFill>
                  <a:srgbClr val="1F6F43"/>
                </a:solidFill>
                <a:latin typeface="Georgia" pitchFamily="34" charset="0"/>
                <a:ea typeface="Georgia" pitchFamily="34" charset="-122"/>
                <a:cs typeface="Georgia" pitchFamily="34" charset="-120"/>
              </a:rPr>
              <a:t>What is the best sport for your body type?</a:t>
            </a:r>
            <a:endParaRPr lang="en-US" sz="1000" dirty="0"/>
          </a:p>
          <a:p>
            <a:pPr indent="0" marL="0">
              <a:lnSpc>
                <a:spcPct val="105000"/>
              </a:lnSpc>
              <a:spcAft>
                <a:spcPts val="700"/>
              </a:spcAft>
              <a:buNone/>
            </a:pPr>
            <a:r>
              <a:rPr lang="en-US" sz="1000" dirty="0">
                <a:solidFill>
                  <a:srgbClr val="1B2559"/>
                </a:solidFill>
                <a:latin typeface="Georgia" pitchFamily="34" charset="0"/>
                <a:ea typeface="Georgia" pitchFamily="34" charset="-122"/>
                <a:cs typeface="Georgia" pitchFamily="34" charset="-120"/>
              </a:rPr>
              <a:t>Just because someone has dreamt of playing football from childhood does not mean it is the best sport for him or her. Finding the sport your body is best suited to can make a big difference to how much you enjoy it and how good at it you are.</a:t>
            </a:r>
            <a:endParaRPr lang="en-US" sz="1000" dirty="0"/>
          </a:p>
          <a:p>
            <a:pPr indent="0" marL="0">
              <a:lnSpc>
                <a:spcPct val="105000"/>
              </a:lnSpc>
              <a:spcAft>
                <a:spcPts val="700"/>
              </a:spcAft>
              <a:buNone/>
            </a:pPr>
            <a:r>
              <a:rPr lang="en-US" sz="1000" dirty="0">
                <a:solidFill>
                  <a:srgbClr val="1B2559"/>
                </a:solidFill>
                <a:latin typeface="Georgia" pitchFamily="34" charset="0"/>
                <a:ea typeface="Georgia" pitchFamily="34" charset="-122"/>
                <a:cs typeface="Georgia" pitchFamily="34" charset="-120"/>
              </a:rPr>
              <a:t>A person with an ectomorph body type is tall and slim with little fat or muscle. This person has narrow shoulders, chest, and hips, and thin arms and legs. Ectomorphs have difficulty putting on weight because of a fast metabolism.</a:t>
            </a:r>
            <a:pPr indent="0" marL="0">
              <a:lnSpc>
                <a:spcPct val="105000"/>
              </a:lnSpc>
              <a:spcAft>
                <a:spcPts val="700"/>
              </a:spcAft>
              <a:buNone/>
            </a:pPr>
            <a:r>
              <a:rPr lang="en-US" sz="1000" b="1" dirty="0">
                <a:solidFill>
                  <a:srgbClr val="7B5CD6"/>
                </a:solidFill>
                <a:highlight>
                  <a:srgbClr val="EEE8FB"/>
                </a:highlight>
                <a:latin typeface="Georgia" pitchFamily="34" charset="0"/>
                <a:ea typeface="Georgia" pitchFamily="34" charset="-122"/>
                <a:cs typeface="Georgia" pitchFamily="34" charset="-120"/>
              </a:rPr>
              <a:t> (1) B For the same reason, it takes them longer to build muscle </a:t>
            </a:r>
            <a:pPr indent="0" marL="0">
              <a:lnSpc>
                <a:spcPct val="105000"/>
              </a:lnSpc>
              <a:spcAft>
                <a:spcPts val="700"/>
              </a:spcAft>
              <a:buNone/>
            </a:pPr>
            <a:r>
              <a:rPr lang="en-US" sz="1000" dirty="0">
                <a:solidFill>
                  <a:srgbClr val="1B2559"/>
                </a:solidFill>
                <a:latin typeface="Georgia" pitchFamily="34" charset="0"/>
                <a:ea typeface="Georgia" pitchFamily="34" charset="-122"/>
                <a:cs typeface="Georgia" pitchFamily="34" charset="-120"/>
              </a:rPr>
              <a:t>. What suits ectomorphs is endurance sports. Marathon running, swimming, and football are excellent choices for them.</a:t>
            </a:r>
            <a:pPr indent="0" marL="0">
              <a:lnSpc>
                <a:spcPct val="105000"/>
              </a:lnSpc>
              <a:spcAft>
                <a:spcPts val="700"/>
              </a:spcAft>
              <a:buNone/>
            </a:pPr>
            <a:r>
              <a:rPr lang="en-US" sz="1000" b="1" dirty="0">
                <a:solidFill>
                  <a:srgbClr val="1B2559"/>
                </a:solidFill>
                <a:highlight>
                  <a:srgbClr val="FFE066"/>
                </a:highlight>
                <a:latin typeface="Georgia" pitchFamily="34" charset="0"/>
                <a:ea typeface="Georgia" pitchFamily="34" charset="-122"/>
                <a:cs typeface="Georgia" pitchFamily="34" charset="-120"/>
              </a:rPr>
              <a:t> (2) E If a person with this body type is very tall </a:t>
            </a:r>
            <a:pPr indent="0" marL="0">
              <a:lnSpc>
                <a:spcPct val="105000"/>
              </a:lnSpc>
              <a:spcAft>
                <a:spcPts val="700"/>
              </a:spcAft>
              <a:buNone/>
            </a:pPr>
            <a:r>
              <a:rPr lang="en-US" sz="1000" dirty="0">
                <a:solidFill>
                  <a:srgbClr val="1B2559"/>
                </a:solidFill>
                <a:latin typeface="Georgia" pitchFamily="34" charset="0"/>
                <a:ea typeface="Georgia" pitchFamily="34" charset="-122"/>
                <a:cs typeface="Georgia" pitchFamily="34" charset="-120"/>
              </a:rPr>
              <a:t>, basketball may also be a great option. Ectomorphs also generally do well in gymnastics.</a:t>
            </a:r>
            <a:endParaRPr lang="en-US" sz="1000" dirty="0"/>
          </a:p>
          <a:p>
            <a:pPr indent="0" marL="0">
              <a:lnSpc>
                <a:spcPct val="105000"/>
              </a:lnSpc>
              <a:spcAft>
                <a:spcPts val="700"/>
              </a:spcAft>
              <a:buNone/>
            </a:pPr>
            <a:r>
              <a:rPr lang="en-US" sz="1000" dirty="0">
                <a:solidFill>
                  <a:srgbClr val="1B2559"/>
                </a:solidFill>
                <a:latin typeface="Georgia" pitchFamily="34" charset="0"/>
                <a:ea typeface="Georgia" pitchFamily="34" charset="-122"/>
                <a:cs typeface="Georgia" pitchFamily="34" charset="-120"/>
              </a:rPr>
              <a:t>Mesomorph body types are the stereotypical image of an athlete.</a:t>
            </a:r>
            <a:pPr indent="0" marL="0">
              <a:lnSpc>
                <a:spcPct val="105000"/>
              </a:lnSpc>
              <a:spcAft>
                <a:spcPts val="700"/>
              </a:spcAft>
              <a:buNone/>
            </a:pPr>
            <a:r>
              <a:rPr lang="en-US" sz="1000" b="1" dirty="0">
                <a:solidFill>
                  <a:srgbClr val="1B2559"/>
                </a:solidFill>
                <a:highlight>
                  <a:srgbClr val="FFE066"/>
                </a:highlight>
                <a:latin typeface="Georgia" pitchFamily="34" charset="0"/>
                <a:ea typeface="Georgia" pitchFamily="34" charset="-122"/>
                <a:cs typeface="Georgia" pitchFamily="34" charset="-120"/>
              </a:rPr>
              <a:t> (3) C Their arms and legs are muscular and they have broad shoulders and narrow hips </a:t>
            </a:r>
            <a:pPr indent="0" marL="0">
              <a:lnSpc>
                <a:spcPct val="105000"/>
              </a:lnSpc>
              <a:spcAft>
                <a:spcPts val="700"/>
              </a:spcAft>
              <a:buNone/>
            </a:pPr>
            <a:r>
              <a:rPr lang="en-US" sz="1000" dirty="0">
                <a:solidFill>
                  <a:srgbClr val="1B2559"/>
                </a:solidFill>
                <a:latin typeface="Georgia" pitchFamily="34" charset="0"/>
                <a:ea typeface="Georgia" pitchFamily="34" charset="-122"/>
                <a:cs typeface="Georgia" pitchFamily="34" charset="-120"/>
              </a:rPr>
              <a:t>. Mesomorphs can put on or lose weight easily and build muscle quickly.</a:t>
            </a:r>
            <a:endParaRPr lang="en-US" sz="1000" dirty="0"/>
          </a:p>
        </p:txBody>
      </p:sp>
      <p:sp>
        <p:nvSpPr>
          <p:cNvPr id="16" name="rbh_314"/>
          <p:cNvSpPr/>
          <p:nvPr/>
        </p:nvSpPr>
        <p:spPr>
          <a:xfrm>
            <a:off x="6263640" y="1417320"/>
            <a:ext cx="2606040" cy="329184"/>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Sentences A–G</a:t>
            </a:r>
            <a:endParaRPr lang="en-US" sz="1300" dirty="0"/>
          </a:p>
        </p:txBody>
      </p:sp>
      <p:sp>
        <p:nvSpPr>
          <p:cNvPr id="17" name="bd_315"/>
          <p:cNvSpPr/>
          <p:nvPr/>
        </p:nvSpPr>
        <p:spPr>
          <a:xfrm>
            <a:off x="6263640" y="1856885"/>
            <a:ext cx="310896" cy="310896"/>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A</a:t>
            </a:r>
            <a:endParaRPr lang="en-US" sz="1000" dirty="0"/>
          </a:p>
        </p:txBody>
      </p:sp>
      <p:sp>
        <p:nvSpPr>
          <p:cNvPr id="18" name="rb_316"/>
          <p:cNvSpPr/>
          <p:nvPr/>
        </p:nvSpPr>
        <p:spPr>
          <a:xfrm>
            <a:off x="6647688" y="1828800"/>
            <a:ext cx="2240280" cy="367066"/>
          </a:xfrm>
          <a:prstGeom prst="roundRect">
            <a:avLst>
              <a:gd name="adj" fmla="val 24911"/>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900" dirty="0">
                <a:solidFill>
                  <a:srgbClr val="1B2559"/>
                </a:solidFill>
                <a:latin typeface="Segoe UI Semibold" pitchFamily="34" charset="0"/>
                <a:ea typeface="Segoe UI Semibold" pitchFamily="34" charset="-122"/>
                <a:cs typeface="Segoe UI Semibold" pitchFamily="34" charset="-120"/>
              </a:rPr>
              <a:t>A person with this body type has more choice of sports</a:t>
            </a:r>
            <a:endParaRPr lang="en-US" sz="900" dirty="0"/>
          </a:p>
        </p:txBody>
      </p:sp>
      <p:sp>
        <p:nvSpPr>
          <p:cNvPr id="19" name="bd_317"/>
          <p:cNvSpPr/>
          <p:nvPr/>
        </p:nvSpPr>
        <p:spPr>
          <a:xfrm>
            <a:off x="6263640" y="2278815"/>
            <a:ext cx="310896" cy="310896"/>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B</a:t>
            </a:r>
            <a:endParaRPr lang="en-US" sz="1000" dirty="0"/>
          </a:p>
        </p:txBody>
      </p:sp>
      <p:sp>
        <p:nvSpPr>
          <p:cNvPr id="20" name="rb_318"/>
          <p:cNvSpPr/>
          <p:nvPr/>
        </p:nvSpPr>
        <p:spPr>
          <a:xfrm>
            <a:off x="6647688" y="2250730"/>
            <a:ext cx="2240280" cy="367066"/>
          </a:xfrm>
          <a:prstGeom prst="roundRect">
            <a:avLst>
              <a:gd name="adj" fmla="val 24911"/>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900" dirty="0">
                <a:solidFill>
                  <a:srgbClr val="1B2559"/>
                </a:solidFill>
                <a:latin typeface="Segoe UI Semibold" pitchFamily="34" charset="0"/>
                <a:ea typeface="Segoe UI Semibold" pitchFamily="34" charset="-122"/>
                <a:cs typeface="Segoe UI Semibold" pitchFamily="34" charset="-120"/>
              </a:rPr>
              <a:t>For the same reason, it takes them longer to build muscle</a:t>
            </a:r>
            <a:endParaRPr lang="en-US" sz="900" dirty="0"/>
          </a:p>
        </p:txBody>
      </p:sp>
      <p:sp>
        <p:nvSpPr>
          <p:cNvPr id="21" name="bd_319"/>
          <p:cNvSpPr/>
          <p:nvPr/>
        </p:nvSpPr>
        <p:spPr>
          <a:xfrm>
            <a:off x="6263640" y="2700746"/>
            <a:ext cx="310896" cy="310896"/>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C</a:t>
            </a:r>
            <a:endParaRPr lang="en-US" sz="1000" dirty="0"/>
          </a:p>
        </p:txBody>
      </p:sp>
      <p:sp>
        <p:nvSpPr>
          <p:cNvPr id="22" name="rb_320"/>
          <p:cNvSpPr/>
          <p:nvPr/>
        </p:nvSpPr>
        <p:spPr>
          <a:xfrm>
            <a:off x="6647688" y="2672661"/>
            <a:ext cx="2240280" cy="367066"/>
          </a:xfrm>
          <a:prstGeom prst="roundRect">
            <a:avLst>
              <a:gd name="adj" fmla="val 24911"/>
            </a:avLst>
          </a:prstGeom>
          <a:solidFill>
            <a:srgbClr val="FFFFFF"/>
          </a:solidFill>
          <a:ln w="28575">
            <a:solidFill>
              <a:srgbClr val="A8E5BE"/>
            </a:solidFill>
          </a:ln>
        </p:spPr>
        <p:txBody>
          <a:bodyPr wrap="square" lIns="101600" tIns="0" rIns="101600" bIns="0" rtlCol="0" anchor="ctr">
            <a:normAutofit/>
          </a:bodyPr>
          <a:lstStyle/>
          <a:p>
            <a:pPr indent="0" marL="0">
              <a:buNone/>
            </a:pPr>
            <a:r>
              <a:rPr lang="en-US" sz="700" dirty="0">
                <a:solidFill>
                  <a:srgbClr val="1B2559"/>
                </a:solidFill>
                <a:latin typeface="Segoe UI Semibold" pitchFamily="34" charset="0"/>
                <a:ea typeface="Segoe UI Semibold" pitchFamily="34" charset="-122"/>
                <a:cs typeface="Segoe UI Semibold" pitchFamily="34" charset="-120"/>
              </a:rPr>
              <a:t>Their arms and legs are muscular and they have broad shoulders and narrow hips</a:t>
            </a:r>
            <a:endParaRPr lang="en-US" sz="700" dirty="0"/>
          </a:p>
        </p:txBody>
      </p:sp>
      <p:sp>
        <p:nvSpPr>
          <p:cNvPr id="23" name="bd_321"/>
          <p:cNvSpPr/>
          <p:nvPr/>
        </p:nvSpPr>
        <p:spPr>
          <a:xfrm>
            <a:off x="6263640" y="3122676"/>
            <a:ext cx="310896" cy="310896"/>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D</a:t>
            </a:r>
            <a:endParaRPr lang="en-US" sz="1000" dirty="0"/>
          </a:p>
        </p:txBody>
      </p:sp>
      <p:sp>
        <p:nvSpPr>
          <p:cNvPr id="24" name="rb_322"/>
          <p:cNvSpPr/>
          <p:nvPr/>
        </p:nvSpPr>
        <p:spPr>
          <a:xfrm>
            <a:off x="6647688" y="3094591"/>
            <a:ext cx="2240280" cy="367066"/>
          </a:xfrm>
          <a:prstGeom prst="roundRect">
            <a:avLst>
              <a:gd name="adj" fmla="val 24911"/>
            </a:avLst>
          </a:prstGeom>
          <a:solidFill>
            <a:srgbClr val="FFFFFF"/>
          </a:solidFill>
          <a:ln w="28575">
            <a:solidFill>
              <a:srgbClr val="FFE07A"/>
            </a:solidFill>
          </a:ln>
        </p:spPr>
        <p:txBody>
          <a:bodyPr wrap="square" lIns="101600" tIns="0" rIns="101600" bIns="0" rtlCol="0" anchor="ctr">
            <a:normAutofit/>
          </a:bodyPr>
          <a:lstStyle/>
          <a:p>
            <a:pPr indent="0" marL="0">
              <a:buNone/>
            </a:pPr>
            <a:r>
              <a:rPr lang="en-US" sz="900" dirty="0">
                <a:solidFill>
                  <a:srgbClr val="1B2559"/>
                </a:solidFill>
                <a:latin typeface="Segoe UI Semibold" pitchFamily="34" charset="0"/>
                <a:ea typeface="Segoe UI Semibold" pitchFamily="34" charset="-122"/>
                <a:cs typeface="Segoe UI Semibold" pitchFamily="34" charset="-120"/>
              </a:rPr>
              <a:t>Everyone is a bit of a mix</a:t>
            </a:r>
            <a:endParaRPr lang="en-US" sz="900" dirty="0"/>
          </a:p>
        </p:txBody>
      </p:sp>
      <p:sp>
        <p:nvSpPr>
          <p:cNvPr id="25" name="bd_323"/>
          <p:cNvSpPr/>
          <p:nvPr/>
        </p:nvSpPr>
        <p:spPr>
          <a:xfrm>
            <a:off x="6263640" y="3544606"/>
            <a:ext cx="310896" cy="310896"/>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E</a:t>
            </a:r>
            <a:endParaRPr lang="en-US" sz="1000" dirty="0"/>
          </a:p>
        </p:txBody>
      </p:sp>
      <p:sp>
        <p:nvSpPr>
          <p:cNvPr id="26" name="rb_324"/>
          <p:cNvSpPr/>
          <p:nvPr/>
        </p:nvSpPr>
        <p:spPr>
          <a:xfrm>
            <a:off x="6647688" y="3516521"/>
            <a:ext cx="2240280" cy="367066"/>
          </a:xfrm>
          <a:prstGeom prst="roundRect">
            <a:avLst>
              <a:gd name="adj" fmla="val 24911"/>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900" dirty="0">
                <a:solidFill>
                  <a:srgbClr val="1B2559"/>
                </a:solidFill>
                <a:latin typeface="Segoe UI Semibold" pitchFamily="34" charset="0"/>
                <a:ea typeface="Segoe UI Semibold" pitchFamily="34" charset="-122"/>
                <a:cs typeface="Segoe UI Semibold" pitchFamily="34" charset="-120"/>
              </a:rPr>
              <a:t>If a person with this body type is very tall</a:t>
            </a:r>
            <a:endParaRPr lang="en-US" sz="900" dirty="0"/>
          </a:p>
        </p:txBody>
      </p:sp>
      <p:sp>
        <p:nvSpPr>
          <p:cNvPr id="27" name="bd_325"/>
          <p:cNvSpPr/>
          <p:nvPr/>
        </p:nvSpPr>
        <p:spPr>
          <a:xfrm>
            <a:off x="6263640" y="3966537"/>
            <a:ext cx="310896" cy="310896"/>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F</a:t>
            </a:r>
            <a:endParaRPr lang="en-US" sz="1000" dirty="0"/>
          </a:p>
        </p:txBody>
      </p:sp>
      <p:sp>
        <p:nvSpPr>
          <p:cNvPr id="28" name="rb_326"/>
          <p:cNvSpPr/>
          <p:nvPr/>
        </p:nvSpPr>
        <p:spPr>
          <a:xfrm>
            <a:off x="6647688" y="3938451"/>
            <a:ext cx="2240280" cy="367066"/>
          </a:xfrm>
          <a:prstGeom prst="roundRect">
            <a:avLst>
              <a:gd name="adj" fmla="val 24911"/>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800" dirty="0">
                <a:solidFill>
                  <a:srgbClr val="1B2559"/>
                </a:solidFill>
                <a:latin typeface="Segoe UI Semibold" pitchFamily="34" charset="0"/>
                <a:ea typeface="Segoe UI Semibold" pitchFamily="34" charset="-122"/>
                <a:cs typeface="Segoe UI Semibold" pitchFamily="34" charset="-120"/>
              </a:rPr>
              <a:t>It is difficult for them to lose weight, but they gain muscle rapidly</a:t>
            </a:r>
            <a:endParaRPr lang="en-US" sz="800" dirty="0"/>
          </a:p>
        </p:txBody>
      </p:sp>
      <p:sp>
        <p:nvSpPr>
          <p:cNvPr id="29" name="bd_327"/>
          <p:cNvSpPr/>
          <p:nvPr/>
        </p:nvSpPr>
        <p:spPr>
          <a:xfrm>
            <a:off x="6263640" y="4388467"/>
            <a:ext cx="310896" cy="310896"/>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G</a:t>
            </a:r>
            <a:endParaRPr lang="en-US" sz="1000" dirty="0"/>
          </a:p>
        </p:txBody>
      </p:sp>
      <p:sp>
        <p:nvSpPr>
          <p:cNvPr id="30" name="rb_328"/>
          <p:cNvSpPr/>
          <p:nvPr/>
        </p:nvSpPr>
        <p:spPr>
          <a:xfrm>
            <a:off x="6647688" y="4360382"/>
            <a:ext cx="2240280" cy="367066"/>
          </a:xfrm>
          <a:prstGeom prst="roundRect">
            <a:avLst>
              <a:gd name="adj" fmla="val 24911"/>
            </a:avLst>
          </a:prstGeom>
          <a:solidFill>
            <a:srgbClr val="FFFFFF"/>
          </a:solidFill>
          <a:ln w="28575">
            <a:solidFill>
              <a:srgbClr val="A8E5BE"/>
            </a:solidFill>
          </a:ln>
        </p:spPr>
        <p:txBody>
          <a:bodyPr wrap="square" lIns="101600" tIns="0" rIns="101600" bIns="0" rtlCol="0" anchor="ctr">
            <a:normAutofit/>
          </a:bodyPr>
          <a:lstStyle/>
          <a:p>
            <a:pPr indent="0" marL="0">
              <a:buNone/>
            </a:pPr>
            <a:r>
              <a:rPr lang="en-US" sz="900" dirty="0">
                <a:solidFill>
                  <a:srgbClr val="1B2559"/>
                </a:solidFill>
                <a:latin typeface="Segoe UI Semibold" pitchFamily="34" charset="0"/>
                <a:ea typeface="Segoe UI Semibold" pitchFamily="34" charset="-122"/>
                <a:cs typeface="Segoe UI Semibold" pitchFamily="34" charset="-120"/>
              </a:rPr>
              <a:t>This body type is not suited for agility and speed</a:t>
            </a:r>
            <a:endParaRPr lang="en-US" sz="9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329"/>
          <p:cNvSpPr/>
          <p:nvPr/>
        </p:nvSpPr>
        <p:spPr>
          <a:xfrm>
            <a:off x="201168" y="164592"/>
            <a:ext cx="841248" cy="841248"/>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12</a:t>
            </a:r>
            <a:endParaRPr lang="en-US" sz="2200" dirty="0"/>
          </a:p>
        </p:txBody>
      </p:sp>
      <p:pic>
        <p:nvPicPr>
          <p:cNvPr id="4" name="brY_330" descr="/home/claude/lls-course/v2/assets/brush-yellow.png">    </p:cNvPr>
          <p:cNvPicPr>
            <a:picLocks noChangeAspect="1"/>
          </p:cNvPicPr>
          <p:nvPr/>
        </p:nvPicPr>
        <p:blipFill>
          <a:blip r:embed="rId2"/>
          <a:stretch>
            <a:fillRect/>
          </a:stretch>
        </p:blipFill>
        <p:spPr>
          <a:xfrm>
            <a:off x="1097280" y="146304"/>
            <a:ext cx="3562502" cy="621792"/>
          </a:xfrm>
          <a:prstGeom prst="rect">
            <a:avLst/>
          </a:prstGeom>
        </p:spPr>
      </p:pic>
      <p:sp>
        <p:nvSpPr>
          <p:cNvPr id="5" name="title_331"/>
          <p:cNvSpPr/>
          <p:nvPr/>
        </p:nvSpPr>
        <p:spPr>
          <a:xfrm>
            <a:off x="1261872" y="164592"/>
            <a:ext cx="3288182"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Your body type (2)</a:t>
            </a:r>
            <a:endParaRPr lang="en-US" sz="2500" dirty="0"/>
          </a:p>
        </p:txBody>
      </p:sp>
      <p:pic>
        <p:nvPicPr>
          <p:cNvPr id="6" name="brP_332" descr="/home/claude/lls-course/v2/assets/brush-pink.png">    </p:cNvPr>
          <p:cNvPicPr>
            <a:picLocks noChangeAspect="1"/>
          </p:cNvPicPr>
          <p:nvPr/>
        </p:nvPicPr>
        <p:blipFill>
          <a:blip r:embed="rId3"/>
          <a:stretch>
            <a:fillRect/>
          </a:stretch>
        </p:blipFill>
        <p:spPr>
          <a:xfrm>
            <a:off x="1207008" y="731520"/>
            <a:ext cx="4206240" cy="402336"/>
          </a:xfrm>
          <a:prstGeom prst="rect">
            <a:avLst/>
          </a:prstGeom>
        </p:spPr>
      </p:pic>
      <p:sp>
        <p:nvSpPr>
          <p:cNvPr id="7" name="ins_333"/>
          <p:cNvSpPr/>
          <p:nvPr/>
        </p:nvSpPr>
        <p:spPr>
          <a:xfrm>
            <a:off x="1353312" y="731520"/>
            <a:ext cx="395020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Read part 2. Complete gaps 4–7 with A–G.</a:t>
            </a:r>
            <a:endParaRPr lang="en-US" sz="1250" dirty="0"/>
          </a:p>
        </p:txBody>
      </p:sp>
      <p:sp>
        <p:nvSpPr>
          <p:cNvPr id="8" name="insIT_334"/>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Leggi la parte 2. Completa 4–7 con A–G.</a:t>
            </a:r>
            <a:endParaRPr lang="en-US" sz="950" dirty="0"/>
          </a:p>
        </p:txBody>
      </p:sp>
      <p:sp>
        <p:nvSpPr>
          <p:cNvPr id="9" name="note_335"/>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READ</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MATCH</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4 min   👤 alone</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Reading · Text cohesion</a:t>
            </a:r>
            <a:endParaRPr lang="en-US" sz="1150" dirty="0"/>
          </a:p>
        </p:txBody>
      </p:sp>
      <p:pic>
        <p:nvPicPr>
          <p:cNvPr id="10" name="logo_336"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337"/>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R5-6 · Reading · What is the best sport for your body type? (2)   ·   📖 SB p.65 · b (TG key)</a:t>
            </a:r>
            <a:endParaRPr lang="en-US" sz="800" dirty="0"/>
          </a:p>
        </p:txBody>
      </p:sp>
      <p:sp>
        <p:nvSpPr>
          <p:cNvPr id="12" name="cd_338"/>
          <p:cNvSpPr/>
          <p:nvPr/>
        </p:nvSpPr>
        <p:spPr>
          <a:xfrm>
            <a:off x="320040" y="1417320"/>
            <a:ext cx="5760720" cy="3364992"/>
          </a:xfrm>
          <a:prstGeom prst="roundRect">
            <a:avLst>
              <a:gd name="adj" fmla="val 3804"/>
            </a:avLst>
          </a:prstGeom>
          <a:solidFill>
            <a:srgbClr val="FFFFFF"/>
          </a:solidFill>
          <a:ln w="28575">
            <a:solidFill>
              <a:srgbClr val="A8E5BE"/>
            </a:solidFill>
            <a:prstDash val="solid"/>
          </a:ln>
          <a:effectLst>
            <a:outerShdw sx="100000" sy="100000" kx="0" ky="0" algn="bl" rotWithShape="0" blurRad="88900" dist="31750" dir="5400000">
              <a:srgbClr val="1B2559">
                <a:alpha val="12000"/>
              </a:srgbClr>
            </a:outerShdw>
          </a:effectLst>
        </p:spPr>
      </p:sp>
      <p:sp>
        <p:nvSpPr>
          <p:cNvPr id="13" name="rd_339"/>
          <p:cNvSpPr/>
          <p:nvPr/>
        </p:nvSpPr>
        <p:spPr>
          <a:xfrm>
            <a:off x="457200" y="1527048"/>
            <a:ext cx="5486400" cy="3090672"/>
          </a:xfrm>
          <a:prstGeom prst="rect">
            <a:avLst/>
          </a:prstGeom>
          <a:noFill/>
          <a:ln/>
        </p:spPr>
        <p:txBody>
          <a:bodyPr wrap="square" lIns="0" tIns="0" rIns="0" bIns="0" rtlCol="0" anchor="t"/>
          <a:lstStyle/>
          <a:p>
            <a:pPr indent="0" marL="0">
              <a:lnSpc>
                <a:spcPct val="105000"/>
              </a:lnSpc>
              <a:spcAft>
                <a:spcPts val="400"/>
              </a:spcAft>
              <a:buNone/>
            </a:pPr>
            <a:r>
              <a:rPr lang="en-US" sz="1500" b="1" dirty="0">
                <a:solidFill>
                  <a:srgbClr val="1F6F43"/>
                </a:solidFill>
                <a:latin typeface="Georgia" pitchFamily="34" charset="0"/>
                <a:ea typeface="Georgia" pitchFamily="34" charset="-122"/>
                <a:cs typeface="Georgia" pitchFamily="34" charset="-120"/>
              </a:rPr>
              <a:t>What is the best sport for your body type? (2)</a:t>
            </a:r>
            <a:endParaRPr lang="en-US" sz="1000" dirty="0"/>
          </a:p>
          <a:p>
            <a:pPr indent="0" marL="0">
              <a:lnSpc>
                <a:spcPct val="105000"/>
              </a:lnSpc>
              <a:spcAft>
                <a:spcPts val="700"/>
              </a:spcAft>
              <a:buNone/>
            </a:pPr>
            <a:r>
              <a:rPr lang="en-US" sz="1000" b="1" dirty="0">
                <a:solidFill>
                  <a:srgbClr val="2EB872"/>
                </a:solidFill>
                <a:latin typeface="Georgia" pitchFamily="34" charset="0"/>
                <a:ea typeface="Georgia" pitchFamily="34" charset="-122"/>
                <a:cs typeface="Georgia" pitchFamily="34" charset="-120"/>
              </a:rPr>
              <a:t> (4) ________ </a:t>
            </a:r>
            <a:pPr indent="0" marL="0">
              <a:lnSpc>
                <a:spcPct val="105000"/>
              </a:lnSpc>
              <a:spcAft>
                <a:spcPts val="700"/>
              </a:spcAft>
              <a:buNone/>
            </a:pPr>
            <a:r>
              <a:rPr lang="en-US" sz="1000" dirty="0">
                <a:solidFill>
                  <a:srgbClr val="1B2559"/>
                </a:solidFill>
                <a:latin typeface="Georgia" pitchFamily="34" charset="0"/>
                <a:ea typeface="Georgia" pitchFamily="34" charset="-122"/>
                <a:cs typeface="Georgia" pitchFamily="34" charset="-120"/>
              </a:rPr>
              <a:t>. Possibilities range from weightlifting and boxing to athletic sprinting and cycling for shorter distances.</a:t>
            </a:r>
            <a:endParaRPr lang="en-US" sz="1000" dirty="0"/>
          </a:p>
          <a:p>
            <a:pPr indent="0" marL="0">
              <a:lnSpc>
                <a:spcPct val="105000"/>
              </a:lnSpc>
              <a:spcAft>
                <a:spcPts val="700"/>
              </a:spcAft>
              <a:buNone/>
            </a:pPr>
            <a:r>
              <a:rPr lang="en-US" sz="1000" dirty="0">
                <a:solidFill>
                  <a:srgbClr val="1B2559"/>
                </a:solidFill>
                <a:latin typeface="Georgia" pitchFamily="34" charset="0"/>
                <a:ea typeface="Georgia" pitchFamily="34" charset="-122"/>
                <a:cs typeface="Georgia" pitchFamily="34" charset="-120"/>
              </a:rPr>
              <a:t>A person who is an endomorph naturally carries more body fat.</a:t>
            </a:r>
            <a:pPr indent="0" marL="0">
              <a:lnSpc>
                <a:spcPct val="105000"/>
              </a:lnSpc>
              <a:spcAft>
                <a:spcPts val="700"/>
              </a:spcAft>
              <a:buNone/>
            </a:pPr>
            <a:r>
              <a:rPr lang="en-US" sz="1000" b="1" dirty="0">
                <a:solidFill>
                  <a:srgbClr val="2EB872"/>
                </a:solidFill>
                <a:latin typeface="Georgia" pitchFamily="34" charset="0"/>
                <a:ea typeface="Georgia" pitchFamily="34" charset="-122"/>
                <a:cs typeface="Georgia" pitchFamily="34" charset="-120"/>
              </a:rPr>
              <a:t> (5) ________ </a:t>
            </a:r>
            <a:pPr indent="0" marL="0">
              <a:lnSpc>
                <a:spcPct val="105000"/>
              </a:lnSpc>
              <a:spcAft>
                <a:spcPts val="700"/>
              </a:spcAft>
              <a:buNone/>
            </a:pPr>
            <a:r>
              <a:rPr lang="en-US" sz="1000" dirty="0">
                <a:solidFill>
                  <a:srgbClr val="1B2559"/>
                </a:solidFill>
                <a:latin typeface="Georgia" pitchFamily="34" charset="0"/>
                <a:ea typeface="Georgia" pitchFamily="34" charset="-122"/>
                <a:cs typeface="Georgia" pitchFamily="34" charset="-120"/>
              </a:rPr>
              <a:t>. They are often short, with a high waist, and well developed upper arms and thighs. While it may seem that an endomorph will not be very athletic, they can be very good at power sports because of their larger mass.</a:t>
            </a:r>
            <a:pPr indent="0" marL="0">
              <a:lnSpc>
                <a:spcPct val="105000"/>
              </a:lnSpc>
              <a:spcAft>
                <a:spcPts val="700"/>
              </a:spcAft>
              <a:buNone/>
            </a:pPr>
            <a:r>
              <a:rPr lang="en-US" sz="1000" b="1" dirty="0">
                <a:solidFill>
                  <a:srgbClr val="2EB872"/>
                </a:solidFill>
                <a:latin typeface="Georgia" pitchFamily="34" charset="0"/>
                <a:ea typeface="Georgia" pitchFamily="34" charset="-122"/>
                <a:cs typeface="Georgia" pitchFamily="34" charset="-120"/>
              </a:rPr>
              <a:t> (6) ________ </a:t>
            </a:r>
            <a:pPr indent="0" marL="0">
              <a:lnSpc>
                <a:spcPct val="105000"/>
              </a:lnSpc>
              <a:spcAft>
                <a:spcPts val="700"/>
              </a:spcAft>
              <a:buNone/>
            </a:pPr>
            <a:r>
              <a:rPr lang="en-US" sz="1000" dirty="0">
                <a:solidFill>
                  <a:srgbClr val="1B2559"/>
                </a:solidFill>
                <a:latin typeface="Georgia" pitchFamily="34" charset="0"/>
                <a:ea typeface="Georgia" pitchFamily="34" charset="-122"/>
                <a:cs typeface="Georgia" pitchFamily="34" charset="-120"/>
              </a:rPr>
              <a:t>, but strength activities like wrestling, discus-throwing, or power-lifting can be a great fit.</a:t>
            </a:r>
            <a:endParaRPr lang="en-US" sz="1000" dirty="0"/>
          </a:p>
          <a:p>
            <a:pPr indent="0" marL="0">
              <a:lnSpc>
                <a:spcPct val="105000"/>
              </a:lnSpc>
              <a:spcAft>
                <a:spcPts val="700"/>
              </a:spcAft>
              <a:buNone/>
            </a:pPr>
            <a:r>
              <a:rPr lang="en-US" sz="1000" dirty="0">
                <a:solidFill>
                  <a:srgbClr val="1B2559"/>
                </a:solidFill>
                <a:latin typeface="Georgia" pitchFamily="34" charset="0"/>
                <a:ea typeface="Georgia" pitchFamily="34" charset="-122"/>
                <a:cs typeface="Georgia" pitchFamily="34" charset="-120"/>
              </a:rPr>
              <a:t>A few extra considerations It is important to note that the three body types are extremes. No one is 100% ectomorph or completely endomorph.</a:t>
            </a:r>
            <a:pPr indent="0" marL="0">
              <a:lnSpc>
                <a:spcPct val="105000"/>
              </a:lnSpc>
              <a:spcAft>
                <a:spcPts val="700"/>
              </a:spcAft>
              <a:buNone/>
            </a:pPr>
            <a:r>
              <a:rPr lang="en-US" sz="1000" b="1" dirty="0">
                <a:solidFill>
                  <a:srgbClr val="2EB872"/>
                </a:solidFill>
                <a:latin typeface="Georgia" pitchFamily="34" charset="0"/>
                <a:ea typeface="Georgia" pitchFamily="34" charset="-122"/>
                <a:cs typeface="Georgia" pitchFamily="34" charset="-120"/>
              </a:rPr>
              <a:t> (7) ________ </a:t>
            </a:r>
            <a:pPr indent="0" marL="0">
              <a:lnSpc>
                <a:spcPct val="105000"/>
              </a:lnSpc>
              <a:spcAft>
                <a:spcPts val="700"/>
              </a:spcAft>
              <a:buNone/>
            </a:pPr>
            <a:r>
              <a:rPr lang="en-US" sz="1000" dirty="0">
                <a:solidFill>
                  <a:srgbClr val="1B2559"/>
                </a:solidFill>
                <a:latin typeface="Georgia" pitchFamily="34" charset="0"/>
                <a:ea typeface="Georgia" pitchFamily="34" charset="-122"/>
                <a:cs typeface="Georgia" pitchFamily="34" charset="-120"/>
              </a:rPr>
              <a:t>. Another key point is that diet and environment also contribute to athletic ability and genetics plays a large part. And the most important thing is to choose a sport you enjoy. The best exercise of all is the one that you will do!</a:t>
            </a:r>
            <a:endParaRPr lang="en-US" sz="1000" dirty="0"/>
          </a:p>
        </p:txBody>
      </p:sp>
      <p:sp>
        <p:nvSpPr>
          <p:cNvPr id="14" name="R1_rdE340"/>
          <p:cNvSpPr/>
          <p:nvPr/>
        </p:nvSpPr>
        <p:spPr>
          <a:xfrm>
            <a:off x="457200" y="1527048"/>
            <a:ext cx="5486400" cy="3090672"/>
          </a:xfrm>
          <a:prstGeom prst="rect">
            <a:avLst/>
          </a:prstGeom>
          <a:solidFill>
            <a:srgbClr val="FFFFFF"/>
          </a:solidFill>
          <a:ln/>
        </p:spPr>
        <p:txBody>
          <a:bodyPr wrap="square" lIns="0" tIns="0" rIns="0" bIns="0" rtlCol="0" anchor="t"/>
          <a:lstStyle/>
          <a:p>
            <a:pPr indent="0" marL="0">
              <a:lnSpc>
                <a:spcPct val="105000"/>
              </a:lnSpc>
              <a:spcAft>
                <a:spcPts val="400"/>
              </a:spcAft>
              <a:buNone/>
            </a:pPr>
            <a:r>
              <a:rPr lang="en-US" sz="1500" b="1" dirty="0">
                <a:solidFill>
                  <a:srgbClr val="1F6F43"/>
                </a:solidFill>
                <a:latin typeface="Georgia" pitchFamily="34" charset="0"/>
                <a:ea typeface="Georgia" pitchFamily="34" charset="-122"/>
                <a:cs typeface="Georgia" pitchFamily="34" charset="-120"/>
              </a:rPr>
              <a:t>What is the best sport for your body type? (2)</a:t>
            </a:r>
            <a:endParaRPr lang="en-US" sz="1000" dirty="0"/>
          </a:p>
          <a:p>
            <a:pPr indent="0" marL="0">
              <a:lnSpc>
                <a:spcPct val="105000"/>
              </a:lnSpc>
              <a:spcAft>
                <a:spcPts val="700"/>
              </a:spcAft>
              <a:buNone/>
            </a:pPr>
            <a:r>
              <a:rPr lang="en-US" sz="1000" b="1" dirty="0">
                <a:solidFill>
                  <a:srgbClr val="2EB872"/>
                </a:solidFill>
                <a:latin typeface="Georgia" pitchFamily="34" charset="0"/>
                <a:ea typeface="Georgia" pitchFamily="34" charset="-122"/>
                <a:cs typeface="Georgia" pitchFamily="34" charset="-120"/>
              </a:rPr>
              <a:t> (4) ________ </a:t>
            </a:r>
            <a:pPr indent="0" marL="0">
              <a:lnSpc>
                <a:spcPct val="105000"/>
              </a:lnSpc>
              <a:spcAft>
                <a:spcPts val="700"/>
              </a:spcAft>
              <a:buNone/>
            </a:pPr>
            <a:r>
              <a:rPr lang="en-US" sz="1000" dirty="0">
                <a:solidFill>
                  <a:srgbClr val="1B2559"/>
                </a:solidFill>
                <a:latin typeface="Georgia" pitchFamily="34" charset="0"/>
                <a:ea typeface="Georgia" pitchFamily="34" charset="-122"/>
                <a:cs typeface="Georgia" pitchFamily="34" charset="-120"/>
              </a:rPr>
              <a:t>. Possibilities range from weightlifting and boxing to athletic sprinting and cycling for shorter distances.</a:t>
            </a:r>
            <a:endParaRPr lang="en-US" sz="1000" dirty="0"/>
          </a:p>
          <a:p>
            <a:pPr indent="0" marL="0">
              <a:lnSpc>
                <a:spcPct val="105000"/>
              </a:lnSpc>
              <a:spcAft>
                <a:spcPts val="700"/>
              </a:spcAft>
              <a:buNone/>
            </a:pPr>
            <a:r>
              <a:rPr lang="en-US" sz="1000" dirty="0">
                <a:solidFill>
                  <a:srgbClr val="1B2559"/>
                </a:solidFill>
                <a:latin typeface="Georgia" pitchFamily="34" charset="0"/>
                <a:ea typeface="Georgia" pitchFamily="34" charset="-122"/>
                <a:cs typeface="Georgia" pitchFamily="34" charset="-120"/>
              </a:rPr>
              <a:t>A person who is an endomorph naturally carries more body fat.</a:t>
            </a:r>
            <a:pPr indent="0" marL="0">
              <a:lnSpc>
                <a:spcPct val="105000"/>
              </a:lnSpc>
              <a:spcAft>
                <a:spcPts val="700"/>
              </a:spcAft>
              <a:buNone/>
            </a:pPr>
            <a:r>
              <a:rPr lang="en-US" sz="1000" b="1" dirty="0">
                <a:solidFill>
                  <a:srgbClr val="2EB872"/>
                </a:solidFill>
                <a:latin typeface="Georgia" pitchFamily="34" charset="0"/>
                <a:ea typeface="Georgia" pitchFamily="34" charset="-122"/>
                <a:cs typeface="Georgia" pitchFamily="34" charset="-120"/>
              </a:rPr>
              <a:t> (5) ________ </a:t>
            </a:r>
            <a:pPr indent="0" marL="0">
              <a:lnSpc>
                <a:spcPct val="105000"/>
              </a:lnSpc>
              <a:spcAft>
                <a:spcPts val="700"/>
              </a:spcAft>
              <a:buNone/>
            </a:pPr>
            <a:r>
              <a:rPr lang="en-US" sz="1000" dirty="0">
                <a:solidFill>
                  <a:srgbClr val="1B2559"/>
                </a:solidFill>
                <a:latin typeface="Georgia" pitchFamily="34" charset="0"/>
                <a:ea typeface="Georgia" pitchFamily="34" charset="-122"/>
                <a:cs typeface="Georgia" pitchFamily="34" charset="-120"/>
              </a:rPr>
              <a:t>. They are often short, with a high waist, and well developed upper arms and thighs. While it may seem that an endomorph will not be very athletic, they can be very good at power sports because of their larger mass.</a:t>
            </a:r>
            <a:pPr indent="0" marL="0">
              <a:lnSpc>
                <a:spcPct val="105000"/>
              </a:lnSpc>
              <a:spcAft>
                <a:spcPts val="700"/>
              </a:spcAft>
              <a:buNone/>
            </a:pPr>
            <a:r>
              <a:rPr lang="en-US" sz="1000" b="1" dirty="0">
                <a:solidFill>
                  <a:srgbClr val="2EB872"/>
                </a:solidFill>
                <a:latin typeface="Georgia" pitchFamily="34" charset="0"/>
                <a:ea typeface="Georgia" pitchFamily="34" charset="-122"/>
                <a:cs typeface="Georgia" pitchFamily="34" charset="-120"/>
              </a:rPr>
              <a:t> (6) ________ </a:t>
            </a:r>
            <a:pPr indent="0" marL="0">
              <a:lnSpc>
                <a:spcPct val="105000"/>
              </a:lnSpc>
              <a:spcAft>
                <a:spcPts val="700"/>
              </a:spcAft>
              <a:buNone/>
            </a:pPr>
            <a:r>
              <a:rPr lang="en-US" sz="1000" dirty="0">
                <a:solidFill>
                  <a:srgbClr val="1B2559"/>
                </a:solidFill>
                <a:latin typeface="Georgia" pitchFamily="34" charset="0"/>
                <a:ea typeface="Georgia" pitchFamily="34" charset="-122"/>
                <a:cs typeface="Georgia" pitchFamily="34" charset="-120"/>
              </a:rPr>
              <a:t>, but strength activities like wrestling, discus-throwing, or power-lifting can be a great fit.</a:t>
            </a:r>
            <a:endParaRPr lang="en-US" sz="1000" dirty="0"/>
          </a:p>
          <a:p>
            <a:pPr indent="0" marL="0">
              <a:lnSpc>
                <a:spcPct val="105000"/>
              </a:lnSpc>
              <a:spcAft>
                <a:spcPts val="700"/>
              </a:spcAft>
              <a:buNone/>
            </a:pPr>
            <a:r>
              <a:rPr lang="en-US" sz="1000" dirty="0">
                <a:solidFill>
                  <a:srgbClr val="1B2559"/>
                </a:solidFill>
                <a:latin typeface="Georgia" pitchFamily="34" charset="0"/>
                <a:ea typeface="Georgia" pitchFamily="34" charset="-122"/>
                <a:cs typeface="Georgia" pitchFamily="34" charset="-120"/>
              </a:rPr>
              <a:t>A few extra considerations It is important to note that the three body types are extremes. No one is 100% ectomorph or completely endomorph.</a:t>
            </a:r>
            <a:pPr indent="0" marL="0">
              <a:lnSpc>
                <a:spcPct val="105000"/>
              </a:lnSpc>
              <a:spcAft>
                <a:spcPts val="700"/>
              </a:spcAft>
              <a:buNone/>
            </a:pPr>
            <a:r>
              <a:rPr lang="en-US" sz="1000" b="1" dirty="0">
                <a:solidFill>
                  <a:srgbClr val="2EB872"/>
                </a:solidFill>
                <a:latin typeface="Georgia" pitchFamily="34" charset="0"/>
                <a:ea typeface="Georgia" pitchFamily="34" charset="-122"/>
                <a:cs typeface="Georgia" pitchFamily="34" charset="-120"/>
              </a:rPr>
              <a:t> (7) ________ </a:t>
            </a:r>
            <a:pPr indent="0" marL="0">
              <a:lnSpc>
                <a:spcPct val="105000"/>
              </a:lnSpc>
              <a:spcAft>
                <a:spcPts val="700"/>
              </a:spcAft>
              <a:buNone/>
            </a:pPr>
            <a:r>
              <a:rPr lang="en-US" sz="1000" dirty="0">
                <a:solidFill>
                  <a:srgbClr val="1B2559"/>
                </a:solidFill>
                <a:latin typeface="Georgia" pitchFamily="34" charset="0"/>
                <a:ea typeface="Georgia" pitchFamily="34" charset="-122"/>
                <a:cs typeface="Georgia" pitchFamily="34" charset="-120"/>
              </a:rPr>
              <a:t>. Another key point is that diet and environment also contribute to athletic ability and genetics plays a large part. And the most important thing is to choose a sport you enjoy. </a:t>
            </a:r>
            <a:pPr indent="0" marL="0">
              <a:lnSpc>
                <a:spcPct val="105000"/>
              </a:lnSpc>
              <a:spcAft>
                <a:spcPts val="700"/>
              </a:spcAft>
              <a:buNone/>
            </a:pPr>
            <a:r>
              <a:rPr lang="en-US" sz="1000" b="1" dirty="0">
                <a:solidFill>
                  <a:srgbClr val="1B2559"/>
                </a:solidFill>
                <a:highlight>
                  <a:srgbClr val="FFE066"/>
                </a:highlight>
                <a:latin typeface="Georgia" pitchFamily="34" charset="0"/>
                <a:ea typeface="Georgia" pitchFamily="34" charset="-122"/>
                <a:cs typeface="Georgia" pitchFamily="34" charset="-120"/>
              </a:rPr>
              <a:t>The best exercise of all is the one that you will do!</a:t>
            </a:r>
            <a:endParaRPr lang="en-US" sz="1000" dirty="0"/>
          </a:p>
        </p:txBody>
      </p:sp>
      <p:sp>
        <p:nvSpPr>
          <p:cNvPr id="15" name="R1_rdA341"/>
          <p:cNvSpPr/>
          <p:nvPr/>
        </p:nvSpPr>
        <p:spPr>
          <a:xfrm>
            <a:off x="457200" y="1527048"/>
            <a:ext cx="5486400" cy="3090672"/>
          </a:xfrm>
          <a:prstGeom prst="rect">
            <a:avLst/>
          </a:prstGeom>
          <a:solidFill>
            <a:srgbClr val="FFFFFF"/>
          </a:solidFill>
          <a:ln/>
        </p:spPr>
        <p:txBody>
          <a:bodyPr wrap="square" lIns="0" tIns="0" rIns="0" bIns="0" rtlCol="0" anchor="t"/>
          <a:lstStyle/>
          <a:p>
            <a:pPr indent="0" marL="0">
              <a:lnSpc>
                <a:spcPct val="105000"/>
              </a:lnSpc>
              <a:spcAft>
                <a:spcPts val="400"/>
              </a:spcAft>
              <a:buNone/>
            </a:pPr>
            <a:r>
              <a:rPr lang="en-US" sz="1500" b="1" dirty="0">
                <a:solidFill>
                  <a:srgbClr val="1F6F43"/>
                </a:solidFill>
                <a:latin typeface="Georgia" pitchFamily="34" charset="0"/>
                <a:ea typeface="Georgia" pitchFamily="34" charset="-122"/>
                <a:cs typeface="Georgia" pitchFamily="34" charset="-120"/>
              </a:rPr>
              <a:t>What is the best sport for your body type? (2)</a:t>
            </a:r>
            <a:endParaRPr lang="en-US" sz="1000" dirty="0"/>
          </a:p>
          <a:p>
            <a:pPr indent="0" marL="0">
              <a:lnSpc>
                <a:spcPct val="105000"/>
              </a:lnSpc>
              <a:spcAft>
                <a:spcPts val="700"/>
              </a:spcAft>
              <a:buNone/>
            </a:pPr>
            <a:r>
              <a:rPr lang="en-US" sz="1000" b="1" dirty="0">
                <a:solidFill>
                  <a:srgbClr val="1B2559"/>
                </a:solidFill>
                <a:highlight>
                  <a:srgbClr val="FFE066"/>
                </a:highlight>
                <a:latin typeface="Georgia" pitchFamily="34" charset="0"/>
                <a:ea typeface="Georgia" pitchFamily="34" charset="-122"/>
                <a:cs typeface="Georgia" pitchFamily="34" charset="-120"/>
              </a:rPr>
              <a:t> (4) A A person with this body type has more choice of sports </a:t>
            </a:r>
            <a:pPr indent="0" marL="0">
              <a:lnSpc>
                <a:spcPct val="105000"/>
              </a:lnSpc>
              <a:spcAft>
                <a:spcPts val="700"/>
              </a:spcAft>
              <a:buNone/>
            </a:pPr>
            <a:r>
              <a:rPr lang="en-US" sz="1000" dirty="0">
                <a:solidFill>
                  <a:srgbClr val="1B2559"/>
                </a:solidFill>
                <a:latin typeface="Georgia" pitchFamily="34" charset="0"/>
                <a:ea typeface="Georgia" pitchFamily="34" charset="-122"/>
                <a:cs typeface="Georgia" pitchFamily="34" charset="-120"/>
              </a:rPr>
              <a:t>. Possibilities range from weightlifting and boxing to athletic sprinting and cycling for shorter distances.</a:t>
            </a:r>
            <a:endParaRPr lang="en-US" sz="1000" dirty="0"/>
          </a:p>
          <a:p>
            <a:pPr indent="0" marL="0">
              <a:lnSpc>
                <a:spcPct val="105000"/>
              </a:lnSpc>
              <a:spcAft>
                <a:spcPts val="700"/>
              </a:spcAft>
              <a:buNone/>
            </a:pPr>
            <a:r>
              <a:rPr lang="en-US" sz="1000" dirty="0">
                <a:solidFill>
                  <a:srgbClr val="1B2559"/>
                </a:solidFill>
                <a:latin typeface="Georgia" pitchFamily="34" charset="0"/>
                <a:ea typeface="Georgia" pitchFamily="34" charset="-122"/>
                <a:cs typeface="Georgia" pitchFamily="34" charset="-120"/>
              </a:rPr>
              <a:t>A person who is an endomorph naturally carries more body fat.</a:t>
            </a:r>
            <a:pPr indent="0" marL="0">
              <a:lnSpc>
                <a:spcPct val="105000"/>
              </a:lnSpc>
              <a:spcAft>
                <a:spcPts val="700"/>
              </a:spcAft>
              <a:buNone/>
            </a:pPr>
            <a:r>
              <a:rPr lang="en-US" sz="1000" b="1" dirty="0">
                <a:solidFill>
                  <a:srgbClr val="2EB872"/>
                </a:solidFill>
                <a:latin typeface="Georgia" pitchFamily="34" charset="0"/>
                <a:ea typeface="Georgia" pitchFamily="34" charset="-122"/>
                <a:cs typeface="Georgia" pitchFamily="34" charset="-120"/>
              </a:rPr>
              <a:t> (5) ________ </a:t>
            </a:r>
            <a:pPr indent="0" marL="0">
              <a:lnSpc>
                <a:spcPct val="105000"/>
              </a:lnSpc>
              <a:spcAft>
                <a:spcPts val="700"/>
              </a:spcAft>
              <a:buNone/>
            </a:pPr>
            <a:r>
              <a:rPr lang="en-US" sz="1000" dirty="0">
                <a:solidFill>
                  <a:srgbClr val="1B2559"/>
                </a:solidFill>
                <a:latin typeface="Georgia" pitchFamily="34" charset="0"/>
                <a:ea typeface="Georgia" pitchFamily="34" charset="-122"/>
                <a:cs typeface="Georgia" pitchFamily="34" charset="-120"/>
              </a:rPr>
              <a:t>. They are often short, with a high waist, and well developed upper arms and thighs. While it may seem that an endomorph will not be very athletic, they can be very good at power sports because of their larger mass.</a:t>
            </a:r>
            <a:pPr indent="0" marL="0">
              <a:lnSpc>
                <a:spcPct val="105000"/>
              </a:lnSpc>
              <a:spcAft>
                <a:spcPts val="700"/>
              </a:spcAft>
              <a:buNone/>
            </a:pPr>
            <a:r>
              <a:rPr lang="en-US" sz="1000" b="1" dirty="0">
                <a:solidFill>
                  <a:srgbClr val="2EB872"/>
                </a:solidFill>
                <a:latin typeface="Georgia" pitchFamily="34" charset="0"/>
                <a:ea typeface="Georgia" pitchFamily="34" charset="-122"/>
                <a:cs typeface="Georgia" pitchFamily="34" charset="-120"/>
              </a:rPr>
              <a:t> (6) ________ </a:t>
            </a:r>
            <a:pPr indent="0" marL="0">
              <a:lnSpc>
                <a:spcPct val="105000"/>
              </a:lnSpc>
              <a:spcAft>
                <a:spcPts val="700"/>
              </a:spcAft>
              <a:buNone/>
            </a:pPr>
            <a:r>
              <a:rPr lang="en-US" sz="1000" dirty="0">
                <a:solidFill>
                  <a:srgbClr val="1B2559"/>
                </a:solidFill>
                <a:latin typeface="Georgia" pitchFamily="34" charset="0"/>
                <a:ea typeface="Georgia" pitchFamily="34" charset="-122"/>
                <a:cs typeface="Georgia" pitchFamily="34" charset="-120"/>
              </a:rPr>
              <a:t>, but strength activities like wrestling, discus-throwing, or power-lifting can be a great fit.</a:t>
            </a:r>
            <a:endParaRPr lang="en-US" sz="1000" dirty="0"/>
          </a:p>
          <a:p>
            <a:pPr indent="0" marL="0">
              <a:lnSpc>
                <a:spcPct val="105000"/>
              </a:lnSpc>
              <a:spcAft>
                <a:spcPts val="700"/>
              </a:spcAft>
              <a:buNone/>
            </a:pPr>
            <a:r>
              <a:rPr lang="en-US" sz="1000" dirty="0">
                <a:solidFill>
                  <a:srgbClr val="1B2559"/>
                </a:solidFill>
                <a:latin typeface="Georgia" pitchFamily="34" charset="0"/>
                <a:ea typeface="Georgia" pitchFamily="34" charset="-122"/>
                <a:cs typeface="Georgia" pitchFamily="34" charset="-120"/>
              </a:rPr>
              <a:t>A few extra considerations It is important to note that the three body types are extremes. No one is 100% ectomorph or completely endomorph.</a:t>
            </a:r>
            <a:pPr indent="0" marL="0">
              <a:lnSpc>
                <a:spcPct val="105000"/>
              </a:lnSpc>
              <a:spcAft>
                <a:spcPts val="700"/>
              </a:spcAft>
              <a:buNone/>
            </a:pPr>
            <a:r>
              <a:rPr lang="en-US" sz="1000" b="1" dirty="0">
                <a:solidFill>
                  <a:srgbClr val="2EB872"/>
                </a:solidFill>
                <a:latin typeface="Georgia" pitchFamily="34" charset="0"/>
                <a:ea typeface="Georgia" pitchFamily="34" charset="-122"/>
                <a:cs typeface="Georgia" pitchFamily="34" charset="-120"/>
              </a:rPr>
              <a:t> (7) ________ </a:t>
            </a:r>
            <a:pPr indent="0" marL="0">
              <a:lnSpc>
                <a:spcPct val="105000"/>
              </a:lnSpc>
              <a:spcAft>
                <a:spcPts val="700"/>
              </a:spcAft>
              <a:buNone/>
            </a:pPr>
            <a:r>
              <a:rPr lang="en-US" sz="1000" dirty="0">
                <a:solidFill>
                  <a:srgbClr val="1B2559"/>
                </a:solidFill>
                <a:latin typeface="Georgia" pitchFamily="34" charset="0"/>
                <a:ea typeface="Georgia" pitchFamily="34" charset="-122"/>
                <a:cs typeface="Georgia" pitchFamily="34" charset="-120"/>
              </a:rPr>
              <a:t>. Another key point is that diet and environment also contribute to athletic ability and genetics plays a large part. And the most important thing is to choose a sport you enjoy. </a:t>
            </a:r>
            <a:pPr indent="0" marL="0">
              <a:lnSpc>
                <a:spcPct val="105000"/>
              </a:lnSpc>
              <a:spcAft>
                <a:spcPts val="700"/>
              </a:spcAft>
              <a:buNone/>
            </a:pPr>
            <a:r>
              <a:rPr lang="en-US" sz="1000" b="1" dirty="0">
                <a:solidFill>
                  <a:srgbClr val="1B2559"/>
                </a:solidFill>
                <a:highlight>
                  <a:srgbClr val="FFE066"/>
                </a:highlight>
                <a:latin typeface="Georgia" pitchFamily="34" charset="0"/>
                <a:ea typeface="Georgia" pitchFamily="34" charset="-122"/>
                <a:cs typeface="Georgia" pitchFamily="34" charset="-120"/>
              </a:rPr>
              <a:t>The best exercise of all is the one that you will do!</a:t>
            </a:r>
            <a:endParaRPr lang="en-US" sz="1000" dirty="0"/>
          </a:p>
        </p:txBody>
      </p:sp>
      <p:sp>
        <p:nvSpPr>
          <p:cNvPr id="16" name="R2_rdA342"/>
          <p:cNvSpPr/>
          <p:nvPr/>
        </p:nvSpPr>
        <p:spPr>
          <a:xfrm>
            <a:off x="457200" y="1527048"/>
            <a:ext cx="5486400" cy="3090672"/>
          </a:xfrm>
          <a:prstGeom prst="rect">
            <a:avLst/>
          </a:prstGeom>
          <a:solidFill>
            <a:srgbClr val="FFFFFF"/>
          </a:solidFill>
          <a:ln/>
        </p:spPr>
        <p:txBody>
          <a:bodyPr wrap="square" lIns="0" tIns="0" rIns="0" bIns="0" rtlCol="0" anchor="t"/>
          <a:lstStyle/>
          <a:p>
            <a:pPr indent="0" marL="0">
              <a:lnSpc>
                <a:spcPct val="105000"/>
              </a:lnSpc>
              <a:spcAft>
                <a:spcPts val="400"/>
              </a:spcAft>
              <a:buNone/>
            </a:pPr>
            <a:r>
              <a:rPr lang="en-US" sz="1500" b="1" dirty="0">
                <a:solidFill>
                  <a:srgbClr val="1F6F43"/>
                </a:solidFill>
                <a:latin typeface="Georgia" pitchFamily="34" charset="0"/>
                <a:ea typeface="Georgia" pitchFamily="34" charset="-122"/>
                <a:cs typeface="Georgia" pitchFamily="34" charset="-120"/>
              </a:rPr>
              <a:t>What is the best sport for your body type? (2)</a:t>
            </a:r>
            <a:endParaRPr lang="en-US" sz="1000" dirty="0"/>
          </a:p>
          <a:p>
            <a:pPr indent="0" marL="0">
              <a:lnSpc>
                <a:spcPct val="105000"/>
              </a:lnSpc>
              <a:spcAft>
                <a:spcPts val="700"/>
              </a:spcAft>
              <a:buNone/>
            </a:pPr>
            <a:r>
              <a:rPr lang="en-US" sz="1000" b="1" dirty="0">
                <a:solidFill>
                  <a:srgbClr val="1B2559"/>
                </a:solidFill>
                <a:highlight>
                  <a:srgbClr val="FFE066"/>
                </a:highlight>
                <a:latin typeface="Georgia" pitchFamily="34" charset="0"/>
                <a:ea typeface="Georgia" pitchFamily="34" charset="-122"/>
                <a:cs typeface="Georgia" pitchFamily="34" charset="-120"/>
              </a:rPr>
              <a:t> (4) A A person with this body type has more choice of sports </a:t>
            </a:r>
            <a:pPr indent="0" marL="0">
              <a:lnSpc>
                <a:spcPct val="105000"/>
              </a:lnSpc>
              <a:spcAft>
                <a:spcPts val="700"/>
              </a:spcAft>
              <a:buNone/>
            </a:pPr>
            <a:r>
              <a:rPr lang="en-US" sz="1000" dirty="0">
                <a:solidFill>
                  <a:srgbClr val="1B2559"/>
                </a:solidFill>
                <a:latin typeface="Georgia" pitchFamily="34" charset="0"/>
                <a:ea typeface="Georgia" pitchFamily="34" charset="-122"/>
                <a:cs typeface="Georgia" pitchFamily="34" charset="-120"/>
              </a:rPr>
              <a:t>. Possibilities range from weightlifting and boxing to athletic sprinting and cycling for shorter distances.</a:t>
            </a:r>
            <a:endParaRPr lang="en-US" sz="1000" dirty="0"/>
          </a:p>
          <a:p>
            <a:pPr indent="0" marL="0">
              <a:lnSpc>
                <a:spcPct val="105000"/>
              </a:lnSpc>
              <a:spcAft>
                <a:spcPts val="700"/>
              </a:spcAft>
              <a:buNone/>
            </a:pPr>
            <a:r>
              <a:rPr lang="en-US" sz="1000" dirty="0">
                <a:solidFill>
                  <a:srgbClr val="1B2559"/>
                </a:solidFill>
                <a:latin typeface="Georgia" pitchFamily="34" charset="0"/>
                <a:ea typeface="Georgia" pitchFamily="34" charset="-122"/>
                <a:cs typeface="Georgia" pitchFamily="34" charset="-120"/>
              </a:rPr>
              <a:t>A person who is an endomorph naturally carries more body fat.</a:t>
            </a:r>
            <a:pPr indent="0" marL="0">
              <a:lnSpc>
                <a:spcPct val="105000"/>
              </a:lnSpc>
              <a:spcAft>
                <a:spcPts val="700"/>
              </a:spcAft>
              <a:buNone/>
            </a:pPr>
            <a:r>
              <a:rPr lang="en-US" sz="1000" b="1" dirty="0">
                <a:solidFill>
                  <a:srgbClr val="1B2559"/>
                </a:solidFill>
                <a:highlight>
                  <a:srgbClr val="FFE066"/>
                </a:highlight>
                <a:latin typeface="Georgia" pitchFamily="34" charset="0"/>
                <a:ea typeface="Georgia" pitchFamily="34" charset="-122"/>
                <a:cs typeface="Georgia" pitchFamily="34" charset="-120"/>
              </a:rPr>
              <a:t> (5) F It is difficult for them to lose weight, but they gain muscle rapidly </a:t>
            </a:r>
            <a:pPr indent="0" marL="0">
              <a:lnSpc>
                <a:spcPct val="105000"/>
              </a:lnSpc>
              <a:spcAft>
                <a:spcPts val="700"/>
              </a:spcAft>
              <a:buNone/>
            </a:pPr>
            <a:r>
              <a:rPr lang="en-US" sz="1000" dirty="0">
                <a:solidFill>
                  <a:srgbClr val="1B2559"/>
                </a:solidFill>
                <a:latin typeface="Georgia" pitchFamily="34" charset="0"/>
                <a:ea typeface="Georgia" pitchFamily="34" charset="-122"/>
                <a:cs typeface="Georgia" pitchFamily="34" charset="-120"/>
              </a:rPr>
              <a:t>. They are often short, with a high waist, and well developed upper arms and thighs. While it may seem that an endomorph will not be very athletic, they can be very good at power sports because of their larger mass.</a:t>
            </a:r>
            <a:pPr indent="0" marL="0">
              <a:lnSpc>
                <a:spcPct val="105000"/>
              </a:lnSpc>
              <a:spcAft>
                <a:spcPts val="700"/>
              </a:spcAft>
              <a:buNone/>
            </a:pPr>
            <a:r>
              <a:rPr lang="en-US" sz="1000" b="1" dirty="0">
                <a:solidFill>
                  <a:srgbClr val="2EB872"/>
                </a:solidFill>
                <a:latin typeface="Georgia" pitchFamily="34" charset="0"/>
                <a:ea typeface="Georgia" pitchFamily="34" charset="-122"/>
                <a:cs typeface="Georgia" pitchFamily="34" charset="-120"/>
              </a:rPr>
              <a:t> (6) ________ </a:t>
            </a:r>
            <a:pPr indent="0" marL="0">
              <a:lnSpc>
                <a:spcPct val="105000"/>
              </a:lnSpc>
              <a:spcAft>
                <a:spcPts val="700"/>
              </a:spcAft>
              <a:buNone/>
            </a:pPr>
            <a:r>
              <a:rPr lang="en-US" sz="1000" dirty="0">
                <a:solidFill>
                  <a:srgbClr val="1B2559"/>
                </a:solidFill>
                <a:latin typeface="Georgia" pitchFamily="34" charset="0"/>
                <a:ea typeface="Georgia" pitchFamily="34" charset="-122"/>
                <a:cs typeface="Georgia" pitchFamily="34" charset="-120"/>
              </a:rPr>
              <a:t>, but strength activities like wrestling, discus-throwing, or power-lifting can be a great fit.</a:t>
            </a:r>
            <a:endParaRPr lang="en-US" sz="1000" dirty="0"/>
          </a:p>
          <a:p>
            <a:pPr indent="0" marL="0">
              <a:lnSpc>
                <a:spcPct val="105000"/>
              </a:lnSpc>
              <a:spcAft>
                <a:spcPts val="700"/>
              </a:spcAft>
              <a:buNone/>
            </a:pPr>
            <a:r>
              <a:rPr lang="en-US" sz="1000" dirty="0">
                <a:solidFill>
                  <a:srgbClr val="1B2559"/>
                </a:solidFill>
                <a:latin typeface="Georgia" pitchFamily="34" charset="0"/>
                <a:ea typeface="Georgia" pitchFamily="34" charset="-122"/>
                <a:cs typeface="Georgia" pitchFamily="34" charset="-120"/>
              </a:rPr>
              <a:t>A few extra considerations It is important to note that the three body types are extremes. No one is 100% ectomorph or completely endomorph.</a:t>
            </a:r>
            <a:pPr indent="0" marL="0">
              <a:lnSpc>
                <a:spcPct val="105000"/>
              </a:lnSpc>
              <a:spcAft>
                <a:spcPts val="700"/>
              </a:spcAft>
              <a:buNone/>
            </a:pPr>
            <a:r>
              <a:rPr lang="en-US" sz="1000" b="1" dirty="0">
                <a:solidFill>
                  <a:srgbClr val="2EB872"/>
                </a:solidFill>
                <a:latin typeface="Georgia" pitchFamily="34" charset="0"/>
                <a:ea typeface="Georgia" pitchFamily="34" charset="-122"/>
                <a:cs typeface="Georgia" pitchFamily="34" charset="-120"/>
              </a:rPr>
              <a:t> (7) ________ </a:t>
            </a:r>
            <a:pPr indent="0" marL="0">
              <a:lnSpc>
                <a:spcPct val="105000"/>
              </a:lnSpc>
              <a:spcAft>
                <a:spcPts val="700"/>
              </a:spcAft>
              <a:buNone/>
            </a:pPr>
            <a:r>
              <a:rPr lang="en-US" sz="1000" dirty="0">
                <a:solidFill>
                  <a:srgbClr val="1B2559"/>
                </a:solidFill>
                <a:latin typeface="Georgia" pitchFamily="34" charset="0"/>
                <a:ea typeface="Georgia" pitchFamily="34" charset="-122"/>
                <a:cs typeface="Georgia" pitchFamily="34" charset="-120"/>
              </a:rPr>
              <a:t>. Another key point is that diet and environment also contribute to athletic ability and genetics plays a large part. And the most important thing is to choose a sport you enjoy. </a:t>
            </a:r>
            <a:pPr indent="0" marL="0">
              <a:lnSpc>
                <a:spcPct val="105000"/>
              </a:lnSpc>
              <a:spcAft>
                <a:spcPts val="700"/>
              </a:spcAft>
              <a:buNone/>
            </a:pPr>
            <a:r>
              <a:rPr lang="en-US" sz="1000" b="1" dirty="0">
                <a:solidFill>
                  <a:srgbClr val="1B2559"/>
                </a:solidFill>
                <a:highlight>
                  <a:srgbClr val="FFE066"/>
                </a:highlight>
                <a:latin typeface="Georgia" pitchFamily="34" charset="0"/>
                <a:ea typeface="Georgia" pitchFamily="34" charset="-122"/>
                <a:cs typeface="Georgia" pitchFamily="34" charset="-120"/>
              </a:rPr>
              <a:t>The best exercise of all is the one that you will do!</a:t>
            </a:r>
            <a:endParaRPr lang="en-US" sz="1000" dirty="0"/>
          </a:p>
        </p:txBody>
      </p:sp>
      <p:sp>
        <p:nvSpPr>
          <p:cNvPr id="17" name="R3_rdA343"/>
          <p:cNvSpPr/>
          <p:nvPr/>
        </p:nvSpPr>
        <p:spPr>
          <a:xfrm>
            <a:off x="457200" y="1527048"/>
            <a:ext cx="5486400" cy="3090672"/>
          </a:xfrm>
          <a:prstGeom prst="rect">
            <a:avLst/>
          </a:prstGeom>
          <a:solidFill>
            <a:srgbClr val="FFFFFF"/>
          </a:solidFill>
          <a:ln/>
        </p:spPr>
        <p:txBody>
          <a:bodyPr wrap="square" lIns="0" tIns="0" rIns="0" bIns="0" rtlCol="0" anchor="t"/>
          <a:lstStyle/>
          <a:p>
            <a:pPr indent="0" marL="0">
              <a:lnSpc>
                <a:spcPct val="105000"/>
              </a:lnSpc>
              <a:spcAft>
                <a:spcPts val="400"/>
              </a:spcAft>
              <a:buNone/>
            </a:pPr>
            <a:r>
              <a:rPr lang="en-US" sz="1500" b="1" dirty="0">
                <a:solidFill>
                  <a:srgbClr val="1F6F43"/>
                </a:solidFill>
                <a:latin typeface="Georgia" pitchFamily="34" charset="0"/>
                <a:ea typeface="Georgia" pitchFamily="34" charset="-122"/>
                <a:cs typeface="Georgia" pitchFamily="34" charset="-120"/>
              </a:rPr>
              <a:t>What is the best sport for your body type? (2)</a:t>
            </a:r>
            <a:endParaRPr lang="en-US" sz="1000" dirty="0"/>
          </a:p>
          <a:p>
            <a:pPr indent="0" marL="0">
              <a:lnSpc>
                <a:spcPct val="105000"/>
              </a:lnSpc>
              <a:spcAft>
                <a:spcPts val="700"/>
              </a:spcAft>
              <a:buNone/>
            </a:pPr>
            <a:r>
              <a:rPr lang="en-US" sz="1000" b="1" dirty="0">
                <a:solidFill>
                  <a:srgbClr val="1B2559"/>
                </a:solidFill>
                <a:highlight>
                  <a:srgbClr val="FFE066"/>
                </a:highlight>
                <a:latin typeface="Georgia" pitchFamily="34" charset="0"/>
                <a:ea typeface="Georgia" pitchFamily="34" charset="-122"/>
                <a:cs typeface="Georgia" pitchFamily="34" charset="-120"/>
              </a:rPr>
              <a:t> (4) A A person with this body type has more choice of sports </a:t>
            </a:r>
            <a:pPr indent="0" marL="0">
              <a:lnSpc>
                <a:spcPct val="105000"/>
              </a:lnSpc>
              <a:spcAft>
                <a:spcPts val="700"/>
              </a:spcAft>
              <a:buNone/>
            </a:pPr>
            <a:r>
              <a:rPr lang="en-US" sz="1000" dirty="0">
                <a:solidFill>
                  <a:srgbClr val="1B2559"/>
                </a:solidFill>
                <a:latin typeface="Georgia" pitchFamily="34" charset="0"/>
                <a:ea typeface="Georgia" pitchFamily="34" charset="-122"/>
                <a:cs typeface="Georgia" pitchFamily="34" charset="-120"/>
              </a:rPr>
              <a:t>. Possibilities range from weightlifting and boxing to athletic sprinting and cycling for shorter distances.</a:t>
            </a:r>
            <a:endParaRPr lang="en-US" sz="1000" dirty="0"/>
          </a:p>
          <a:p>
            <a:pPr indent="0" marL="0">
              <a:lnSpc>
                <a:spcPct val="105000"/>
              </a:lnSpc>
              <a:spcAft>
                <a:spcPts val="700"/>
              </a:spcAft>
              <a:buNone/>
            </a:pPr>
            <a:r>
              <a:rPr lang="en-US" sz="1000" dirty="0">
                <a:solidFill>
                  <a:srgbClr val="1B2559"/>
                </a:solidFill>
                <a:latin typeface="Georgia" pitchFamily="34" charset="0"/>
                <a:ea typeface="Georgia" pitchFamily="34" charset="-122"/>
                <a:cs typeface="Georgia" pitchFamily="34" charset="-120"/>
              </a:rPr>
              <a:t>A person who is an endomorph naturally carries more body fat.</a:t>
            </a:r>
            <a:pPr indent="0" marL="0">
              <a:lnSpc>
                <a:spcPct val="105000"/>
              </a:lnSpc>
              <a:spcAft>
                <a:spcPts val="700"/>
              </a:spcAft>
              <a:buNone/>
            </a:pPr>
            <a:r>
              <a:rPr lang="en-US" sz="1000" b="1" dirty="0">
                <a:solidFill>
                  <a:srgbClr val="1B2559"/>
                </a:solidFill>
                <a:highlight>
                  <a:srgbClr val="FFE066"/>
                </a:highlight>
                <a:latin typeface="Georgia" pitchFamily="34" charset="0"/>
                <a:ea typeface="Georgia" pitchFamily="34" charset="-122"/>
                <a:cs typeface="Georgia" pitchFamily="34" charset="-120"/>
              </a:rPr>
              <a:t> (5) F It is difficult for them to lose weight, but they gain muscle rapidly </a:t>
            </a:r>
            <a:pPr indent="0" marL="0">
              <a:lnSpc>
                <a:spcPct val="105000"/>
              </a:lnSpc>
              <a:spcAft>
                <a:spcPts val="700"/>
              </a:spcAft>
              <a:buNone/>
            </a:pPr>
            <a:r>
              <a:rPr lang="en-US" sz="1000" dirty="0">
                <a:solidFill>
                  <a:srgbClr val="1B2559"/>
                </a:solidFill>
                <a:latin typeface="Georgia" pitchFamily="34" charset="0"/>
                <a:ea typeface="Georgia" pitchFamily="34" charset="-122"/>
                <a:cs typeface="Georgia" pitchFamily="34" charset="-120"/>
              </a:rPr>
              <a:t>. They are often short, with a high waist, and well developed upper arms and thighs. While it may seem that an endomorph will not be very athletic, they can be very good at power sports because of their larger mass.</a:t>
            </a:r>
            <a:pPr indent="0" marL="0">
              <a:lnSpc>
                <a:spcPct val="105000"/>
              </a:lnSpc>
              <a:spcAft>
                <a:spcPts val="700"/>
              </a:spcAft>
              <a:buNone/>
            </a:pPr>
            <a:r>
              <a:rPr lang="en-US" sz="1000" b="1" dirty="0">
                <a:solidFill>
                  <a:srgbClr val="1B2559"/>
                </a:solidFill>
                <a:highlight>
                  <a:srgbClr val="FFE066"/>
                </a:highlight>
                <a:latin typeface="Georgia" pitchFamily="34" charset="0"/>
                <a:ea typeface="Georgia" pitchFamily="34" charset="-122"/>
                <a:cs typeface="Georgia" pitchFamily="34" charset="-120"/>
              </a:rPr>
              <a:t> (6) G This body type is not suited for agility and speed </a:t>
            </a:r>
            <a:pPr indent="0" marL="0">
              <a:lnSpc>
                <a:spcPct val="105000"/>
              </a:lnSpc>
              <a:spcAft>
                <a:spcPts val="700"/>
              </a:spcAft>
              <a:buNone/>
            </a:pPr>
            <a:r>
              <a:rPr lang="en-US" sz="1000" dirty="0">
                <a:solidFill>
                  <a:srgbClr val="1B2559"/>
                </a:solidFill>
                <a:latin typeface="Georgia" pitchFamily="34" charset="0"/>
                <a:ea typeface="Georgia" pitchFamily="34" charset="-122"/>
                <a:cs typeface="Georgia" pitchFamily="34" charset="-120"/>
              </a:rPr>
              <a:t>, but strength activities like wrestling, discus-throwing, or power-lifting can be a great fit.</a:t>
            </a:r>
            <a:endParaRPr lang="en-US" sz="1000" dirty="0"/>
          </a:p>
          <a:p>
            <a:pPr indent="0" marL="0">
              <a:lnSpc>
                <a:spcPct val="105000"/>
              </a:lnSpc>
              <a:spcAft>
                <a:spcPts val="700"/>
              </a:spcAft>
              <a:buNone/>
            </a:pPr>
            <a:r>
              <a:rPr lang="en-US" sz="1000" dirty="0">
                <a:solidFill>
                  <a:srgbClr val="1B2559"/>
                </a:solidFill>
                <a:latin typeface="Georgia" pitchFamily="34" charset="0"/>
                <a:ea typeface="Georgia" pitchFamily="34" charset="-122"/>
                <a:cs typeface="Georgia" pitchFamily="34" charset="-120"/>
              </a:rPr>
              <a:t>A few extra considerations It is important to note that the three body types are extremes. No one is 100% ectomorph or completely endomorph.</a:t>
            </a:r>
            <a:pPr indent="0" marL="0">
              <a:lnSpc>
                <a:spcPct val="105000"/>
              </a:lnSpc>
              <a:spcAft>
                <a:spcPts val="700"/>
              </a:spcAft>
              <a:buNone/>
            </a:pPr>
            <a:r>
              <a:rPr lang="en-US" sz="1000" b="1" dirty="0">
                <a:solidFill>
                  <a:srgbClr val="2EB872"/>
                </a:solidFill>
                <a:latin typeface="Georgia" pitchFamily="34" charset="0"/>
                <a:ea typeface="Georgia" pitchFamily="34" charset="-122"/>
                <a:cs typeface="Georgia" pitchFamily="34" charset="-120"/>
              </a:rPr>
              <a:t> (7) ________ </a:t>
            </a:r>
            <a:pPr indent="0" marL="0">
              <a:lnSpc>
                <a:spcPct val="105000"/>
              </a:lnSpc>
              <a:spcAft>
                <a:spcPts val="700"/>
              </a:spcAft>
              <a:buNone/>
            </a:pPr>
            <a:r>
              <a:rPr lang="en-US" sz="1000" dirty="0">
                <a:solidFill>
                  <a:srgbClr val="1B2559"/>
                </a:solidFill>
                <a:latin typeface="Georgia" pitchFamily="34" charset="0"/>
                <a:ea typeface="Georgia" pitchFamily="34" charset="-122"/>
                <a:cs typeface="Georgia" pitchFamily="34" charset="-120"/>
              </a:rPr>
              <a:t>. Another key point is that diet and environment also contribute to athletic ability and genetics plays a large part. And the most important thing is to choose a sport you enjoy. </a:t>
            </a:r>
            <a:pPr indent="0" marL="0">
              <a:lnSpc>
                <a:spcPct val="105000"/>
              </a:lnSpc>
              <a:spcAft>
                <a:spcPts val="700"/>
              </a:spcAft>
              <a:buNone/>
            </a:pPr>
            <a:r>
              <a:rPr lang="en-US" sz="1000" b="1" dirty="0">
                <a:solidFill>
                  <a:srgbClr val="1B2559"/>
                </a:solidFill>
                <a:highlight>
                  <a:srgbClr val="FFE066"/>
                </a:highlight>
                <a:latin typeface="Georgia" pitchFamily="34" charset="0"/>
                <a:ea typeface="Georgia" pitchFamily="34" charset="-122"/>
                <a:cs typeface="Georgia" pitchFamily="34" charset="-120"/>
              </a:rPr>
              <a:t>The best exercise of all is the one that you will do!</a:t>
            </a:r>
            <a:endParaRPr lang="en-US" sz="1000" dirty="0"/>
          </a:p>
        </p:txBody>
      </p:sp>
      <p:sp>
        <p:nvSpPr>
          <p:cNvPr id="18" name="R4_rdA344"/>
          <p:cNvSpPr/>
          <p:nvPr/>
        </p:nvSpPr>
        <p:spPr>
          <a:xfrm>
            <a:off x="457200" y="1527048"/>
            <a:ext cx="5486400" cy="3090672"/>
          </a:xfrm>
          <a:prstGeom prst="rect">
            <a:avLst/>
          </a:prstGeom>
          <a:solidFill>
            <a:srgbClr val="FFFFFF"/>
          </a:solidFill>
          <a:ln/>
        </p:spPr>
        <p:txBody>
          <a:bodyPr wrap="square" lIns="0" tIns="0" rIns="0" bIns="0" rtlCol="0" anchor="t"/>
          <a:lstStyle/>
          <a:p>
            <a:pPr indent="0" marL="0">
              <a:lnSpc>
                <a:spcPct val="105000"/>
              </a:lnSpc>
              <a:spcAft>
                <a:spcPts val="400"/>
              </a:spcAft>
              <a:buNone/>
            </a:pPr>
            <a:r>
              <a:rPr lang="en-US" sz="1500" b="1" dirty="0">
                <a:solidFill>
                  <a:srgbClr val="1F6F43"/>
                </a:solidFill>
                <a:latin typeface="Georgia" pitchFamily="34" charset="0"/>
                <a:ea typeface="Georgia" pitchFamily="34" charset="-122"/>
                <a:cs typeface="Georgia" pitchFamily="34" charset="-120"/>
              </a:rPr>
              <a:t>What is the best sport for your body type? (2)</a:t>
            </a:r>
            <a:endParaRPr lang="en-US" sz="1000" dirty="0"/>
          </a:p>
          <a:p>
            <a:pPr indent="0" marL="0">
              <a:lnSpc>
                <a:spcPct val="105000"/>
              </a:lnSpc>
              <a:spcAft>
                <a:spcPts val="700"/>
              </a:spcAft>
              <a:buNone/>
            </a:pPr>
            <a:r>
              <a:rPr lang="en-US" sz="1000" b="1" dirty="0">
                <a:solidFill>
                  <a:srgbClr val="1B2559"/>
                </a:solidFill>
                <a:highlight>
                  <a:srgbClr val="FFE066"/>
                </a:highlight>
                <a:latin typeface="Georgia" pitchFamily="34" charset="0"/>
                <a:ea typeface="Georgia" pitchFamily="34" charset="-122"/>
                <a:cs typeface="Georgia" pitchFamily="34" charset="-120"/>
              </a:rPr>
              <a:t> (4) A A person with this body type has more choice of sports </a:t>
            </a:r>
            <a:pPr indent="0" marL="0">
              <a:lnSpc>
                <a:spcPct val="105000"/>
              </a:lnSpc>
              <a:spcAft>
                <a:spcPts val="700"/>
              </a:spcAft>
              <a:buNone/>
            </a:pPr>
            <a:r>
              <a:rPr lang="en-US" sz="1000" dirty="0">
                <a:solidFill>
                  <a:srgbClr val="1B2559"/>
                </a:solidFill>
                <a:latin typeface="Georgia" pitchFamily="34" charset="0"/>
                <a:ea typeface="Georgia" pitchFamily="34" charset="-122"/>
                <a:cs typeface="Georgia" pitchFamily="34" charset="-120"/>
              </a:rPr>
              <a:t>. Possibilities range from weightlifting and boxing to athletic sprinting and cycling for shorter distances.</a:t>
            </a:r>
            <a:endParaRPr lang="en-US" sz="1000" dirty="0"/>
          </a:p>
          <a:p>
            <a:pPr indent="0" marL="0">
              <a:lnSpc>
                <a:spcPct val="105000"/>
              </a:lnSpc>
              <a:spcAft>
                <a:spcPts val="700"/>
              </a:spcAft>
              <a:buNone/>
            </a:pPr>
            <a:r>
              <a:rPr lang="en-US" sz="1000" dirty="0">
                <a:solidFill>
                  <a:srgbClr val="1B2559"/>
                </a:solidFill>
                <a:latin typeface="Georgia" pitchFamily="34" charset="0"/>
                <a:ea typeface="Georgia" pitchFamily="34" charset="-122"/>
                <a:cs typeface="Georgia" pitchFamily="34" charset="-120"/>
              </a:rPr>
              <a:t>A person who is an endomorph naturally carries more body fat.</a:t>
            </a:r>
            <a:pPr indent="0" marL="0">
              <a:lnSpc>
                <a:spcPct val="105000"/>
              </a:lnSpc>
              <a:spcAft>
                <a:spcPts val="700"/>
              </a:spcAft>
              <a:buNone/>
            </a:pPr>
            <a:r>
              <a:rPr lang="en-US" sz="1000" b="1" dirty="0">
                <a:solidFill>
                  <a:srgbClr val="1B2559"/>
                </a:solidFill>
                <a:highlight>
                  <a:srgbClr val="FFE066"/>
                </a:highlight>
                <a:latin typeface="Georgia" pitchFamily="34" charset="0"/>
                <a:ea typeface="Georgia" pitchFamily="34" charset="-122"/>
                <a:cs typeface="Georgia" pitchFamily="34" charset="-120"/>
              </a:rPr>
              <a:t> (5) F It is difficult for them to lose weight, but they gain muscle rapidly </a:t>
            </a:r>
            <a:pPr indent="0" marL="0">
              <a:lnSpc>
                <a:spcPct val="105000"/>
              </a:lnSpc>
              <a:spcAft>
                <a:spcPts val="700"/>
              </a:spcAft>
              <a:buNone/>
            </a:pPr>
            <a:r>
              <a:rPr lang="en-US" sz="1000" dirty="0">
                <a:solidFill>
                  <a:srgbClr val="1B2559"/>
                </a:solidFill>
                <a:latin typeface="Georgia" pitchFamily="34" charset="0"/>
                <a:ea typeface="Georgia" pitchFamily="34" charset="-122"/>
                <a:cs typeface="Georgia" pitchFamily="34" charset="-120"/>
              </a:rPr>
              <a:t>. They are often short, with a high waist, and well developed upper arms and thighs. While it may seem that an endomorph will not be very athletic, they can be very good at power sports because of their larger mass.</a:t>
            </a:r>
            <a:pPr indent="0" marL="0">
              <a:lnSpc>
                <a:spcPct val="105000"/>
              </a:lnSpc>
              <a:spcAft>
                <a:spcPts val="700"/>
              </a:spcAft>
              <a:buNone/>
            </a:pPr>
            <a:r>
              <a:rPr lang="en-US" sz="1000" b="1" dirty="0">
                <a:solidFill>
                  <a:srgbClr val="1B2559"/>
                </a:solidFill>
                <a:highlight>
                  <a:srgbClr val="FFE066"/>
                </a:highlight>
                <a:latin typeface="Georgia" pitchFamily="34" charset="0"/>
                <a:ea typeface="Georgia" pitchFamily="34" charset="-122"/>
                <a:cs typeface="Georgia" pitchFamily="34" charset="-120"/>
              </a:rPr>
              <a:t> (6) G This body type is not suited for agility and speed </a:t>
            </a:r>
            <a:pPr indent="0" marL="0">
              <a:lnSpc>
                <a:spcPct val="105000"/>
              </a:lnSpc>
              <a:spcAft>
                <a:spcPts val="700"/>
              </a:spcAft>
              <a:buNone/>
            </a:pPr>
            <a:r>
              <a:rPr lang="en-US" sz="1000" dirty="0">
                <a:solidFill>
                  <a:srgbClr val="1B2559"/>
                </a:solidFill>
                <a:latin typeface="Georgia" pitchFamily="34" charset="0"/>
                <a:ea typeface="Georgia" pitchFamily="34" charset="-122"/>
                <a:cs typeface="Georgia" pitchFamily="34" charset="-120"/>
              </a:rPr>
              <a:t>, but strength activities like wrestling, discus-throwing, or power-lifting can be a great fit.</a:t>
            </a:r>
            <a:endParaRPr lang="en-US" sz="1000" dirty="0"/>
          </a:p>
          <a:p>
            <a:pPr indent="0" marL="0">
              <a:lnSpc>
                <a:spcPct val="105000"/>
              </a:lnSpc>
              <a:spcAft>
                <a:spcPts val="700"/>
              </a:spcAft>
              <a:buNone/>
            </a:pPr>
            <a:r>
              <a:rPr lang="en-US" sz="1000" dirty="0">
                <a:solidFill>
                  <a:srgbClr val="1B2559"/>
                </a:solidFill>
                <a:latin typeface="Georgia" pitchFamily="34" charset="0"/>
                <a:ea typeface="Georgia" pitchFamily="34" charset="-122"/>
                <a:cs typeface="Georgia" pitchFamily="34" charset="-120"/>
              </a:rPr>
              <a:t>A few extra considerations It is important to note that the three body types are extremes. No one is 100% ectomorph or completely endomorph.</a:t>
            </a:r>
            <a:pPr indent="0" marL="0">
              <a:lnSpc>
                <a:spcPct val="105000"/>
              </a:lnSpc>
              <a:spcAft>
                <a:spcPts val="700"/>
              </a:spcAft>
              <a:buNone/>
            </a:pPr>
            <a:r>
              <a:rPr lang="en-US" sz="1000" b="1" dirty="0">
                <a:solidFill>
                  <a:srgbClr val="1B2559"/>
                </a:solidFill>
                <a:highlight>
                  <a:srgbClr val="FFE066"/>
                </a:highlight>
                <a:latin typeface="Georgia" pitchFamily="34" charset="0"/>
                <a:ea typeface="Georgia" pitchFamily="34" charset="-122"/>
                <a:cs typeface="Georgia" pitchFamily="34" charset="-120"/>
              </a:rPr>
              <a:t> (7) D Everyone is a bit of a mix </a:t>
            </a:r>
            <a:pPr indent="0" marL="0">
              <a:lnSpc>
                <a:spcPct val="105000"/>
              </a:lnSpc>
              <a:spcAft>
                <a:spcPts val="700"/>
              </a:spcAft>
              <a:buNone/>
            </a:pPr>
            <a:r>
              <a:rPr lang="en-US" sz="1000" dirty="0">
                <a:solidFill>
                  <a:srgbClr val="1B2559"/>
                </a:solidFill>
                <a:latin typeface="Georgia" pitchFamily="34" charset="0"/>
                <a:ea typeface="Georgia" pitchFamily="34" charset="-122"/>
                <a:cs typeface="Georgia" pitchFamily="34" charset="-120"/>
              </a:rPr>
              <a:t>. Another key point is that diet and environment also contribute to athletic ability and genetics plays a large part. And the most important thing is to choose a sport you enjoy. </a:t>
            </a:r>
            <a:pPr indent="0" marL="0">
              <a:lnSpc>
                <a:spcPct val="105000"/>
              </a:lnSpc>
              <a:spcAft>
                <a:spcPts val="700"/>
              </a:spcAft>
              <a:buNone/>
            </a:pPr>
            <a:r>
              <a:rPr lang="en-US" sz="1000" b="1" dirty="0">
                <a:solidFill>
                  <a:srgbClr val="1B2559"/>
                </a:solidFill>
                <a:highlight>
                  <a:srgbClr val="FFE066"/>
                </a:highlight>
                <a:latin typeface="Georgia" pitchFamily="34" charset="0"/>
                <a:ea typeface="Georgia" pitchFamily="34" charset="-122"/>
                <a:cs typeface="Georgia" pitchFamily="34" charset="-120"/>
              </a:rPr>
              <a:t>The best exercise of all is the one that you will do!</a:t>
            </a:r>
            <a:endParaRPr lang="en-US" sz="1000" dirty="0"/>
          </a:p>
        </p:txBody>
      </p:sp>
      <p:sp>
        <p:nvSpPr>
          <p:cNvPr id="19" name="rbh_345"/>
          <p:cNvSpPr/>
          <p:nvPr/>
        </p:nvSpPr>
        <p:spPr>
          <a:xfrm>
            <a:off x="6263640" y="1417320"/>
            <a:ext cx="2606040" cy="329184"/>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Sentences A–G</a:t>
            </a:r>
            <a:endParaRPr lang="en-US" sz="1300" dirty="0"/>
          </a:p>
        </p:txBody>
      </p:sp>
      <p:sp>
        <p:nvSpPr>
          <p:cNvPr id="20" name="bd_346"/>
          <p:cNvSpPr/>
          <p:nvPr/>
        </p:nvSpPr>
        <p:spPr>
          <a:xfrm>
            <a:off x="6263640" y="1856885"/>
            <a:ext cx="310896" cy="310896"/>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A</a:t>
            </a:r>
            <a:endParaRPr lang="en-US" sz="1000" dirty="0"/>
          </a:p>
        </p:txBody>
      </p:sp>
      <p:sp>
        <p:nvSpPr>
          <p:cNvPr id="21" name="rb_347"/>
          <p:cNvSpPr/>
          <p:nvPr/>
        </p:nvSpPr>
        <p:spPr>
          <a:xfrm>
            <a:off x="6647688" y="1828800"/>
            <a:ext cx="2240280" cy="367066"/>
          </a:xfrm>
          <a:prstGeom prst="roundRect">
            <a:avLst>
              <a:gd name="adj" fmla="val 24911"/>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900" dirty="0">
                <a:solidFill>
                  <a:srgbClr val="1B2559"/>
                </a:solidFill>
                <a:latin typeface="Segoe UI Semibold" pitchFamily="34" charset="0"/>
                <a:ea typeface="Segoe UI Semibold" pitchFamily="34" charset="-122"/>
                <a:cs typeface="Segoe UI Semibold" pitchFamily="34" charset="-120"/>
              </a:rPr>
              <a:t>A person with this body type has more choice of sports</a:t>
            </a:r>
            <a:endParaRPr lang="en-US" sz="900" dirty="0"/>
          </a:p>
        </p:txBody>
      </p:sp>
      <p:sp>
        <p:nvSpPr>
          <p:cNvPr id="22" name="bd_348"/>
          <p:cNvSpPr/>
          <p:nvPr/>
        </p:nvSpPr>
        <p:spPr>
          <a:xfrm>
            <a:off x="6263640" y="2278815"/>
            <a:ext cx="310896" cy="310896"/>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B</a:t>
            </a:r>
            <a:endParaRPr lang="en-US" sz="1000" dirty="0"/>
          </a:p>
        </p:txBody>
      </p:sp>
      <p:sp>
        <p:nvSpPr>
          <p:cNvPr id="23" name="rb_349"/>
          <p:cNvSpPr/>
          <p:nvPr/>
        </p:nvSpPr>
        <p:spPr>
          <a:xfrm>
            <a:off x="6647688" y="2250730"/>
            <a:ext cx="2240280" cy="367066"/>
          </a:xfrm>
          <a:prstGeom prst="roundRect">
            <a:avLst>
              <a:gd name="adj" fmla="val 24911"/>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900" dirty="0">
                <a:solidFill>
                  <a:srgbClr val="1B2559"/>
                </a:solidFill>
                <a:latin typeface="Segoe UI Semibold" pitchFamily="34" charset="0"/>
                <a:ea typeface="Segoe UI Semibold" pitchFamily="34" charset="-122"/>
                <a:cs typeface="Segoe UI Semibold" pitchFamily="34" charset="-120"/>
              </a:rPr>
              <a:t>For the same reason, it takes them longer to build muscle</a:t>
            </a:r>
            <a:endParaRPr lang="en-US" sz="900" dirty="0"/>
          </a:p>
        </p:txBody>
      </p:sp>
      <p:sp>
        <p:nvSpPr>
          <p:cNvPr id="24" name="bd_350"/>
          <p:cNvSpPr/>
          <p:nvPr/>
        </p:nvSpPr>
        <p:spPr>
          <a:xfrm>
            <a:off x="6263640" y="2700746"/>
            <a:ext cx="310896" cy="310896"/>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C</a:t>
            </a:r>
            <a:endParaRPr lang="en-US" sz="1000" dirty="0"/>
          </a:p>
        </p:txBody>
      </p:sp>
      <p:sp>
        <p:nvSpPr>
          <p:cNvPr id="25" name="rb_351"/>
          <p:cNvSpPr/>
          <p:nvPr/>
        </p:nvSpPr>
        <p:spPr>
          <a:xfrm>
            <a:off x="6647688" y="2672661"/>
            <a:ext cx="2240280" cy="367066"/>
          </a:xfrm>
          <a:prstGeom prst="roundRect">
            <a:avLst>
              <a:gd name="adj" fmla="val 24911"/>
            </a:avLst>
          </a:prstGeom>
          <a:solidFill>
            <a:srgbClr val="FFFFFF"/>
          </a:solidFill>
          <a:ln w="28575">
            <a:solidFill>
              <a:srgbClr val="A8E5BE"/>
            </a:solidFill>
          </a:ln>
        </p:spPr>
        <p:txBody>
          <a:bodyPr wrap="square" lIns="101600" tIns="0" rIns="101600" bIns="0" rtlCol="0" anchor="ctr">
            <a:normAutofit/>
          </a:bodyPr>
          <a:lstStyle/>
          <a:p>
            <a:pPr indent="0" marL="0">
              <a:buNone/>
            </a:pPr>
            <a:r>
              <a:rPr lang="en-US" sz="700" dirty="0">
                <a:solidFill>
                  <a:srgbClr val="1B2559"/>
                </a:solidFill>
                <a:latin typeface="Segoe UI Semibold" pitchFamily="34" charset="0"/>
                <a:ea typeface="Segoe UI Semibold" pitchFamily="34" charset="-122"/>
                <a:cs typeface="Segoe UI Semibold" pitchFamily="34" charset="-120"/>
              </a:rPr>
              <a:t>Their arms and legs are muscular and they have broad shoulders and narrow hips</a:t>
            </a:r>
            <a:endParaRPr lang="en-US" sz="700" dirty="0"/>
          </a:p>
        </p:txBody>
      </p:sp>
      <p:sp>
        <p:nvSpPr>
          <p:cNvPr id="26" name="bd_352"/>
          <p:cNvSpPr/>
          <p:nvPr/>
        </p:nvSpPr>
        <p:spPr>
          <a:xfrm>
            <a:off x="6263640" y="3122676"/>
            <a:ext cx="310896" cy="310896"/>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D</a:t>
            </a:r>
            <a:endParaRPr lang="en-US" sz="1000" dirty="0"/>
          </a:p>
        </p:txBody>
      </p:sp>
      <p:sp>
        <p:nvSpPr>
          <p:cNvPr id="27" name="rb_353"/>
          <p:cNvSpPr/>
          <p:nvPr/>
        </p:nvSpPr>
        <p:spPr>
          <a:xfrm>
            <a:off x="6647688" y="3094591"/>
            <a:ext cx="2240280" cy="367066"/>
          </a:xfrm>
          <a:prstGeom prst="roundRect">
            <a:avLst>
              <a:gd name="adj" fmla="val 24911"/>
            </a:avLst>
          </a:prstGeom>
          <a:solidFill>
            <a:srgbClr val="FFFFFF"/>
          </a:solidFill>
          <a:ln w="28575">
            <a:solidFill>
              <a:srgbClr val="FFE07A"/>
            </a:solidFill>
          </a:ln>
        </p:spPr>
        <p:txBody>
          <a:bodyPr wrap="square" lIns="101600" tIns="0" rIns="101600" bIns="0" rtlCol="0" anchor="ctr">
            <a:normAutofit/>
          </a:bodyPr>
          <a:lstStyle/>
          <a:p>
            <a:pPr indent="0" marL="0">
              <a:buNone/>
            </a:pPr>
            <a:r>
              <a:rPr lang="en-US" sz="900" dirty="0">
                <a:solidFill>
                  <a:srgbClr val="1B2559"/>
                </a:solidFill>
                <a:latin typeface="Segoe UI Semibold" pitchFamily="34" charset="0"/>
                <a:ea typeface="Segoe UI Semibold" pitchFamily="34" charset="-122"/>
                <a:cs typeface="Segoe UI Semibold" pitchFamily="34" charset="-120"/>
              </a:rPr>
              <a:t>Everyone is a bit of a mix</a:t>
            </a:r>
            <a:endParaRPr lang="en-US" sz="900" dirty="0"/>
          </a:p>
        </p:txBody>
      </p:sp>
      <p:sp>
        <p:nvSpPr>
          <p:cNvPr id="28" name="bd_354"/>
          <p:cNvSpPr/>
          <p:nvPr/>
        </p:nvSpPr>
        <p:spPr>
          <a:xfrm>
            <a:off x="6263640" y="3544606"/>
            <a:ext cx="310896" cy="310896"/>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E</a:t>
            </a:r>
            <a:endParaRPr lang="en-US" sz="1000" dirty="0"/>
          </a:p>
        </p:txBody>
      </p:sp>
      <p:sp>
        <p:nvSpPr>
          <p:cNvPr id="29" name="rb_355"/>
          <p:cNvSpPr/>
          <p:nvPr/>
        </p:nvSpPr>
        <p:spPr>
          <a:xfrm>
            <a:off x="6647688" y="3516521"/>
            <a:ext cx="2240280" cy="367066"/>
          </a:xfrm>
          <a:prstGeom prst="roundRect">
            <a:avLst>
              <a:gd name="adj" fmla="val 24911"/>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900" dirty="0">
                <a:solidFill>
                  <a:srgbClr val="1B2559"/>
                </a:solidFill>
                <a:latin typeface="Segoe UI Semibold" pitchFamily="34" charset="0"/>
                <a:ea typeface="Segoe UI Semibold" pitchFamily="34" charset="-122"/>
                <a:cs typeface="Segoe UI Semibold" pitchFamily="34" charset="-120"/>
              </a:rPr>
              <a:t>If a person with this body type is very tall</a:t>
            </a:r>
            <a:endParaRPr lang="en-US" sz="900" dirty="0"/>
          </a:p>
        </p:txBody>
      </p:sp>
      <p:sp>
        <p:nvSpPr>
          <p:cNvPr id="30" name="bd_356"/>
          <p:cNvSpPr/>
          <p:nvPr/>
        </p:nvSpPr>
        <p:spPr>
          <a:xfrm>
            <a:off x="6263640" y="3966537"/>
            <a:ext cx="310896" cy="310896"/>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F</a:t>
            </a:r>
            <a:endParaRPr lang="en-US" sz="1000" dirty="0"/>
          </a:p>
        </p:txBody>
      </p:sp>
      <p:sp>
        <p:nvSpPr>
          <p:cNvPr id="31" name="rb_357"/>
          <p:cNvSpPr/>
          <p:nvPr/>
        </p:nvSpPr>
        <p:spPr>
          <a:xfrm>
            <a:off x="6647688" y="3938451"/>
            <a:ext cx="2240280" cy="367066"/>
          </a:xfrm>
          <a:prstGeom prst="roundRect">
            <a:avLst>
              <a:gd name="adj" fmla="val 24911"/>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800" dirty="0">
                <a:solidFill>
                  <a:srgbClr val="1B2559"/>
                </a:solidFill>
                <a:latin typeface="Segoe UI Semibold" pitchFamily="34" charset="0"/>
                <a:ea typeface="Segoe UI Semibold" pitchFamily="34" charset="-122"/>
                <a:cs typeface="Segoe UI Semibold" pitchFamily="34" charset="-120"/>
              </a:rPr>
              <a:t>It is difficult for them to lose weight, but they gain muscle rapidly</a:t>
            </a:r>
            <a:endParaRPr lang="en-US" sz="800" dirty="0"/>
          </a:p>
        </p:txBody>
      </p:sp>
      <p:sp>
        <p:nvSpPr>
          <p:cNvPr id="32" name="bd_358"/>
          <p:cNvSpPr/>
          <p:nvPr/>
        </p:nvSpPr>
        <p:spPr>
          <a:xfrm>
            <a:off x="6263640" y="4388467"/>
            <a:ext cx="310896" cy="310896"/>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G</a:t>
            </a:r>
            <a:endParaRPr lang="en-US" sz="1000" dirty="0"/>
          </a:p>
        </p:txBody>
      </p:sp>
      <p:sp>
        <p:nvSpPr>
          <p:cNvPr id="33" name="rb_359"/>
          <p:cNvSpPr/>
          <p:nvPr/>
        </p:nvSpPr>
        <p:spPr>
          <a:xfrm>
            <a:off x="6647688" y="4360382"/>
            <a:ext cx="2240280" cy="367066"/>
          </a:xfrm>
          <a:prstGeom prst="roundRect">
            <a:avLst>
              <a:gd name="adj" fmla="val 24911"/>
            </a:avLst>
          </a:prstGeom>
          <a:solidFill>
            <a:srgbClr val="FFFFFF"/>
          </a:solidFill>
          <a:ln w="28575">
            <a:solidFill>
              <a:srgbClr val="A8E5BE"/>
            </a:solidFill>
          </a:ln>
        </p:spPr>
        <p:txBody>
          <a:bodyPr wrap="square" lIns="101600" tIns="0" rIns="101600" bIns="0" rtlCol="0" anchor="ctr">
            <a:normAutofit/>
          </a:bodyPr>
          <a:lstStyle/>
          <a:p>
            <a:pPr indent="0" marL="0">
              <a:buNone/>
            </a:pPr>
            <a:r>
              <a:rPr lang="en-US" sz="900" dirty="0">
                <a:solidFill>
                  <a:srgbClr val="1B2559"/>
                </a:solidFill>
                <a:latin typeface="Segoe UI Semibold" pitchFamily="34" charset="0"/>
                <a:ea typeface="Segoe UI Semibold" pitchFamily="34" charset="-122"/>
                <a:cs typeface="Segoe UI Semibold" pitchFamily="34" charset="-120"/>
              </a:rPr>
              <a:t>This body type is not suited for agility and speed</a:t>
            </a:r>
            <a:endParaRPr lang="en-US" sz="9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00"/>
                                        <p:tgtEl>
                                          <p:spTgt spid="14"/>
                                        </p:tgtEl>
                                      </p:cBhvr>
                                    </p:animEffect>
                                  </p:childTnLst>
                                </p:cTn>
                              </p:par>
                              <p:par>
                                <p:cTn id="8" presetID="10" presetClass="entr" presetSubtype="0"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400"/>
                                        <p:tgtEl>
                                          <p:spTgt spid="1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400"/>
                                        <p:tgtEl>
                                          <p:spTgt spid="1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fade">
                                      <p:cBhvr>
                                        <p:cTn id="20"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fade">
                                      <p:cBhvr>
                                        <p:cTn id="25"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360"/>
          <p:cNvSpPr/>
          <p:nvPr/>
        </p:nvSpPr>
        <p:spPr>
          <a:xfrm>
            <a:off x="201168" y="164592"/>
            <a:ext cx="841248" cy="841248"/>
          </a:xfrm>
          <a:prstGeom prst="ellipse">
            <a:avLst/>
          </a:prstGeom>
          <a:solidFill>
            <a:srgbClr val="7B5CD6"/>
          </a:solidFill>
          <a:ln w="28575">
            <a:solidFill>
              <a:srgbClr val="CDBFF3"/>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13</a:t>
            </a:r>
            <a:endParaRPr lang="en-US" sz="2200" dirty="0"/>
          </a:p>
        </p:txBody>
      </p:sp>
      <p:pic>
        <p:nvPicPr>
          <p:cNvPr id="4" name="brY_361" descr="/home/claude/lls-course/v2/assets/brush-yellow.png">    </p:cNvPr>
          <p:cNvPicPr>
            <a:picLocks noChangeAspect="1"/>
          </p:cNvPicPr>
          <p:nvPr/>
        </p:nvPicPr>
        <p:blipFill>
          <a:blip r:embed="rId2"/>
          <a:stretch>
            <a:fillRect/>
          </a:stretch>
        </p:blipFill>
        <p:spPr>
          <a:xfrm>
            <a:off x="1097280" y="146304"/>
            <a:ext cx="3405226" cy="621792"/>
          </a:xfrm>
          <a:prstGeom prst="rect">
            <a:avLst/>
          </a:prstGeom>
        </p:spPr>
      </p:pic>
      <p:sp>
        <p:nvSpPr>
          <p:cNvPr id="5" name="title_362"/>
          <p:cNvSpPr/>
          <p:nvPr/>
        </p:nvSpPr>
        <p:spPr>
          <a:xfrm>
            <a:off x="1261872" y="164592"/>
            <a:ext cx="3130906"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Street interviews</a:t>
            </a:r>
            <a:endParaRPr lang="en-US" sz="2500" dirty="0"/>
          </a:p>
        </p:txBody>
      </p:sp>
      <p:pic>
        <p:nvPicPr>
          <p:cNvPr id="6" name="brP_363" descr="/home/claude/lls-course/v2/assets/brush-pink.png">    </p:cNvPr>
          <p:cNvPicPr>
            <a:picLocks noChangeAspect="1"/>
          </p:cNvPicPr>
          <p:nvPr/>
        </p:nvPicPr>
        <p:blipFill>
          <a:blip r:embed="rId3"/>
          <a:stretch>
            <a:fillRect/>
          </a:stretch>
        </p:blipFill>
        <p:spPr>
          <a:xfrm>
            <a:off x="1207008" y="731520"/>
            <a:ext cx="3598164" cy="402336"/>
          </a:xfrm>
          <a:prstGeom prst="rect">
            <a:avLst/>
          </a:prstGeom>
        </p:spPr>
      </p:pic>
      <p:sp>
        <p:nvSpPr>
          <p:cNvPr id="7" name="ins_364"/>
          <p:cNvSpPr/>
          <p:nvPr/>
        </p:nvSpPr>
        <p:spPr>
          <a:xfrm>
            <a:off x="1353312" y="731520"/>
            <a:ext cx="3342132"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Watch 5 people. Choose a, b or c.</a:t>
            </a:r>
            <a:endParaRPr lang="en-US" sz="1250" dirty="0"/>
          </a:p>
        </p:txBody>
      </p:sp>
      <p:sp>
        <p:nvSpPr>
          <p:cNvPr id="8" name="insIT_365"/>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Guarda 5 persone. Scegli a, b o c.</a:t>
            </a:r>
            <a:endParaRPr lang="en-US" sz="950" dirty="0"/>
          </a:p>
        </p:txBody>
      </p:sp>
      <p:sp>
        <p:nvSpPr>
          <p:cNvPr id="9" name="note_366"/>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WATCH</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CHECK</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6 min   👤 alone</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Listening · Authentic video</a:t>
            </a:r>
            <a:endParaRPr lang="en-US" sz="1150" dirty="0"/>
          </a:p>
        </p:txBody>
      </p:sp>
      <p:pic>
        <p:nvPicPr>
          <p:cNvPr id="10" name="logo_367"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368"/>
          <p:cNvSpPr/>
          <p:nvPr/>
        </p:nvSpPr>
        <p:spPr>
          <a:xfrm>
            <a:off x="274320" y="4873752"/>
            <a:ext cx="6858000" cy="219456"/>
          </a:xfrm>
          <a:prstGeom prst="rect">
            <a:avLst/>
          </a:prstGeom>
          <a:noFill/>
          <a:ln/>
        </p:spPr>
        <p:txBody>
          <a:bodyPr wrap="square" lIns="0" tIns="0" rIns="0" bIns="0" rtlCol="0" anchor="ctr"/>
          <a:lstStyle/>
          <a:p>
            <a:pPr indent="0" marL="0">
              <a:buNone/>
            </a:pPr>
            <a:r>
              <a:rPr lang="en-US" sz="700" dirty="0">
                <a:solidFill>
                  <a:srgbClr val="5B6785"/>
                </a:solidFill>
                <a:latin typeface="Segoe UI Semibold" pitchFamily="34" charset="0"/>
                <a:ea typeface="Segoe UI Semibold" pitchFamily="34" charset="-122"/>
                <a:cs typeface="Segoe UI Semibold" pitchFamily="34" charset="-120"/>
              </a:rPr>
              <a:t>R5-6 · Video · Can you understand these people?   ·   📖 SB p.65 · Can you understand these people? · video / audio 6.21 (script TG p.91)</a:t>
            </a:r>
            <a:endParaRPr lang="en-US" sz="700" dirty="0"/>
          </a:p>
        </p:txBody>
      </p:sp>
      <p:pic>
        <p:nvPicPr>
          <p:cNvPr id="12" name="Media 0">
            <a:hlinkClick r:id="" action="ppaction://media"/>
          </p:cNvPr>
          <p:cNvPicPr>
            <a:picLocks noChangeAspect="1"/>
          </p:cNvPicPr>
          <p:nvPr>
            <a:videoFile r:link="rId5"/>
            <p:extLst>
              <p:ext uri="{DAA4B4D4-6D71-4841-9C94-3DE7FCFB9230}">
                <p14:media xmlns:p14="http://schemas.microsoft.com/office/powerpoint/2010/main" r:embed="rId6"/>
              </p:ext>
            </p:extLst>
          </p:nvPr>
        </p:nvPicPr>
        <p:blipFill>
          <a:blip r:embed="rId7"/>
          <a:stretch>
            <a:fillRect/>
          </a:stretch>
        </p:blipFill>
        <p:spPr>
          <a:xfrm>
            <a:off x="365760" y="1417320"/>
            <a:ext cx="4480560" cy="2523744"/>
          </a:xfrm>
          <a:prstGeom prst="rect">
            <a:avLst/>
          </a:prstGeom>
        </p:spPr>
      </p:pic>
      <p:sp>
        <p:nvSpPr>
          <p:cNvPr id="13" name="cd_369"/>
          <p:cNvSpPr/>
          <p:nvPr/>
        </p:nvSpPr>
        <p:spPr>
          <a:xfrm>
            <a:off x="320040" y="4069080"/>
            <a:ext cx="4572000" cy="685800"/>
          </a:xfrm>
          <a:prstGeom prst="roundRect">
            <a:avLst>
              <a:gd name="adj" fmla="val 18667"/>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4" name="ii_370"/>
          <p:cNvSpPr/>
          <p:nvPr/>
        </p:nvSpPr>
        <p:spPr>
          <a:xfrm>
            <a:off x="411480" y="414223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5" name="ih_371"/>
          <p:cNvSpPr/>
          <p:nvPr/>
        </p:nvSpPr>
        <p:spPr>
          <a:xfrm>
            <a:off x="886968" y="4160520"/>
            <a:ext cx="3931920" cy="365760"/>
          </a:xfrm>
          <a:prstGeom prst="rect">
            <a:avLst/>
          </a:prstGeom>
          <a:noFill/>
          <a:ln/>
        </p:spPr>
        <p:txBody>
          <a:bodyPr wrap="square" lIns="0" tIns="0" rIns="0" bIns="0" rtlCol="0" anchor="ct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After watching</a:t>
            </a:r>
            <a:endParaRPr lang="en-US" sz="1200" dirty="0"/>
          </a:p>
        </p:txBody>
      </p:sp>
      <p:sp>
        <p:nvSpPr>
          <p:cNvPr id="16" name="il_372"/>
          <p:cNvSpPr/>
          <p:nvPr/>
        </p:nvSpPr>
        <p:spPr>
          <a:xfrm>
            <a:off x="886968" y="4562856"/>
            <a:ext cx="3913632" cy="118872"/>
          </a:xfrm>
          <a:prstGeom prst="rect">
            <a:avLst/>
          </a:prstGeom>
          <a:noFill/>
          <a:ln/>
        </p:spPr>
        <p:txBody>
          <a:bodyPr wrap="square" lIns="0" tIns="0" rIns="0" bIns="0" rtlCol="0" anchor="t">
            <a:normAutofit/>
          </a:bodyPr>
          <a:lstStyle/>
          <a:p>
            <a:pPr marL="152400" indent="-152400">
              <a:spcAft>
                <a:spcPts val="200"/>
              </a:spcAft>
              <a:buSzPct val="100000"/>
              <a:buChar char="•"/>
            </a:pPr>
            <a:r>
              <a:rPr lang="en-US" sz="700" dirty="0">
                <a:solidFill>
                  <a:srgbClr val="1B2559"/>
                </a:solidFill>
                <a:latin typeface="Segoe UI Semibold" pitchFamily="34" charset="0"/>
                <a:ea typeface="Segoe UI Semibold" pitchFamily="34" charset="-122"/>
                <a:cs typeface="Segoe UI Semibold" pitchFamily="34" charset="-120"/>
              </a:rPr>
              <a:t>Answer the same questions yourself: sport, online dating, cheating, a favourite film, your profile photo.</a:t>
            </a:r>
            <a:endParaRPr lang="en-US" sz="700" dirty="0"/>
          </a:p>
        </p:txBody>
      </p:sp>
      <p:sp>
        <p:nvSpPr>
          <p:cNvPr id="17" name="vq_373"/>
          <p:cNvSpPr/>
          <p:nvPr/>
        </p:nvSpPr>
        <p:spPr>
          <a:xfrm>
            <a:off x="5074920" y="1417320"/>
            <a:ext cx="2103120" cy="566928"/>
          </a:xfrm>
          <a:prstGeom prst="roundRect">
            <a:avLst>
              <a:gd name="adj" fmla="val 16129"/>
            </a:avLst>
          </a:prstGeom>
          <a:solidFill>
            <a:srgbClr val="FFFFFF"/>
          </a:solidFill>
          <a:ln w="28575">
            <a:solidFill>
              <a:srgbClr val="F7A6C4"/>
            </a:solidFill>
          </a:ln>
        </p:spPr>
        <p:txBody>
          <a:bodyPr wrap="square" lIns="76200" tIns="0" rIns="76200" bIns="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1 Philomena enjoys… a watching tennis b doing gymnastics c watching diving</a:t>
            </a:r>
            <a:endParaRPr lang="en-US" sz="950" dirty="0"/>
          </a:p>
        </p:txBody>
      </p:sp>
      <p:sp>
        <p:nvSpPr>
          <p:cNvPr id="18" name="R1_chip374"/>
          <p:cNvSpPr/>
          <p:nvPr/>
        </p:nvSpPr>
        <p:spPr>
          <a:xfrm>
            <a:off x="7269480" y="1417320"/>
            <a:ext cx="1600200" cy="566928"/>
          </a:xfrm>
          <a:prstGeom prst="roundRect">
            <a:avLst>
              <a:gd name="adj" fmla="val 16129"/>
            </a:avLst>
          </a:prstGeom>
          <a:solidFill>
            <a:srgbClr val="FFF6CC"/>
          </a:solidFill>
          <a:ln w="28575">
            <a:solidFill>
              <a:srgbClr val="FFE07A"/>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c – 'the rhythmic gymnastics or the diving… on TV'</a:t>
            </a:r>
            <a:endParaRPr lang="en-US" sz="1000" dirty="0"/>
          </a:p>
        </p:txBody>
      </p:sp>
      <p:sp>
        <p:nvSpPr>
          <p:cNvPr id="19" name="vq_375"/>
          <p:cNvSpPr/>
          <p:nvPr/>
        </p:nvSpPr>
        <p:spPr>
          <a:xfrm>
            <a:off x="5074920" y="2075688"/>
            <a:ext cx="2103120" cy="566928"/>
          </a:xfrm>
          <a:prstGeom prst="roundRect">
            <a:avLst>
              <a:gd name="adj" fmla="val 16129"/>
            </a:avLst>
          </a:prstGeom>
          <a:solidFill>
            <a:srgbClr val="FFFFFF"/>
          </a:solidFill>
          <a:ln w="28575">
            <a:solidFill>
              <a:srgbClr val="A9D3F5"/>
            </a:solidFill>
          </a:ln>
        </p:spPr>
        <p:txBody>
          <a:bodyPr wrap="square" lIns="76200" tIns="0" rIns="76200" bIns="0" rtlCol="0" anchor="ctr">
            <a:normAutofit/>
          </a:bodyPr>
          <a:lstStyle/>
          <a:p>
            <a:pPr indent="0" marL="0">
              <a:buNone/>
            </a:pPr>
            <a:r>
              <a:rPr lang="en-US" sz="800" dirty="0">
                <a:solidFill>
                  <a:srgbClr val="1B2559"/>
                </a:solidFill>
                <a:latin typeface="Segoe UI Semibold" pitchFamily="34" charset="0"/>
                <a:ea typeface="Segoe UI Semibold" pitchFamily="34" charset="-122"/>
                <a:cs typeface="Segoe UI Semibold" pitchFamily="34" charset="-120"/>
              </a:rPr>
              <a:t>2 Most people Rachel knows who met someone online… a are still with them b married them c broke up</a:t>
            </a:r>
            <a:endParaRPr lang="en-US" sz="800" dirty="0"/>
          </a:p>
        </p:txBody>
      </p:sp>
      <p:sp>
        <p:nvSpPr>
          <p:cNvPr id="20" name="R2_chip376"/>
          <p:cNvSpPr/>
          <p:nvPr/>
        </p:nvSpPr>
        <p:spPr>
          <a:xfrm>
            <a:off x="7269480" y="2075688"/>
            <a:ext cx="1600200" cy="566928"/>
          </a:xfrm>
          <a:prstGeom prst="roundRect">
            <a:avLst>
              <a:gd name="adj" fmla="val 16129"/>
            </a:avLst>
          </a:prstGeom>
          <a:solidFill>
            <a:srgbClr val="FFF6CC"/>
          </a:solidFill>
          <a:ln w="28575">
            <a:solidFill>
              <a:srgbClr val="FFE07A"/>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c – 'for a lot of them it didn't work out'</a:t>
            </a:r>
            <a:endParaRPr lang="en-US" sz="1000" dirty="0"/>
          </a:p>
        </p:txBody>
      </p:sp>
      <p:sp>
        <p:nvSpPr>
          <p:cNvPr id="21" name="vq_377"/>
          <p:cNvSpPr/>
          <p:nvPr/>
        </p:nvSpPr>
        <p:spPr>
          <a:xfrm>
            <a:off x="5074920" y="2734056"/>
            <a:ext cx="2103120" cy="566928"/>
          </a:xfrm>
          <a:prstGeom prst="roundRect">
            <a:avLst>
              <a:gd name="adj" fmla="val 16129"/>
            </a:avLst>
          </a:prstGeom>
          <a:solidFill>
            <a:srgbClr val="FFFFFF"/>
          </a:solidFill>
          <a:ln w="28575">
            <a:solidFill>
              <a:srgbClr val="A8E5BE"/>
            </a:solidFill>
          </a:ln>
        </p:spPr>
        <p:txBody>
          <a:bodyPr wrap="square" lIns="76200" tIns="0" rIns="76200" bIns="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3 Aileen kept a tissue with answers in… a her pocket b the bathroom c her backpack</a:t>
            </a:r>
            <a:endParaRPr lang="en-US" sz="950" dirty="0"/>
          </a:p>
        </p:txBody>
      </p:sp>
      <p:sp>
        <p:nvSpPr>
          <p:cNvPr id="22" name="R3_chip378"/>
          <p:cNvSpPr/>
          <p:nvPr/>
        </p:nvSpPr>
        <p:spPr>
          <a:xfrm>
            <a:off x="7269480" y="2734056"/>
            <a:ext cx="1600200" cy="566928"/>
          </a:xfrm>
          <a:prstGeom prst="roundRect">
            <a:avLst>
              <a:gd name="adj" fmla="val 16129"/>
            </a:avLst>
          </a:prstGeom>
          <a:solidFill>
            <a:srgbClr val="FFF6CC"/>
          </a:solidFill>
          <a:ln w="28575">
            <a:solidFill>
              <a:srgbClr val="FFE07A"/>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a – 'put it in my pocket'</a:t>
            </a:r>
            <a:endParaRPr lang="en-US" sz="1000" dirty="0"/>
          </a:p>
        </p:txBody>
      </p:sp>
      <p:sp>
        <p:nvSpPr>
          <p:cNvPr id="23" name="vq_379"/>
          <p:cNvSpPr/>
          <p:nvPr/>
        </p:nvSpPr>
        <p:spPr>
          <a:xfrm>
            <a:off x="5074920" y="3392424"/>
            <a:ext cx="2103120" cy="566928"/>
          </a:xfrm>
          <a:prstGeom prst="roundRect">
            <a:avLst>
              <a:gd name="adj" fmla="val 16129"/>
            </a:avLst>
          </a:prstGeom>
          <a:solidFill>
            <a:srgbClr val="FFFFFF"/>
          </a:solidFill>
          <a:ln w="28575">
            <a:solidFill>
              <a:srgbClr val="FFE07A"/>
            </a:solidFill>
          </a:ln>
        </p:spPr>
        <p:txBody>
          <a:bodyPr wrap="square" lIns="76200" tIns="0" rIns="76200" bIns="0" rtlCol="0" anchor="ctr">
            <a:normAutofit/>
          </a:bodyPr>
          <a:lstStyle/>
          <a:p>
            <a:pPr indent="0" marL="0">
              <a:buNone/>
            </a:pPr>
            <a:r>
              <a:rPr lang="en-US" sz="1000" dirty="0">
                <a:solidFill>
                  <a:srgbClr val="1B2559"/>
                </a:solidFill>
                <a:latin typeface="Segoe UI Semibold" pitchFamily="34" charset="0"/>
                <a:ea typeface="Segoe UI Semibold" pitchFamily="34" charset="-122"/>
                <a:cs typeface="Segoe UI Semibold" pitchFamily="34" charset="-120"/>
              </a:rPr>
              <a:t>4 Coleen… a prefers the films b loves the books and the films c prefers the books</a:t>
            </a:r>
            <a:endParaRPr lang="en-US" sz="1000" dirty="0"/>
          </a:p>
        </p:txBody>
      </p:sp>
      <p:sp>
        <p:nvSpPr>
          <p:cNvPr id="24" name="R4_chip380"/>
          <p:cNvSpPr/>
          <p:nvPr/>
        </p:nvSpPr>
        <p:spPr>
          <a:xfrm>
            <a:off x="7269480" y="3392424"/>
            <a:ext cx="1600200" cy="566928"/>
          </a:xfrm>
          <a:prstGeom prst="roundRect">
            <a:avLst>
              <a:gd name="adj" fmla="val 16129"/>
            </a:avLst>
          </a:prstGeom>
          <a:solidFill>
            <a:srgbClr val="FFF6CC"/>
          </a:solidFill>
          <a:ln w="28575">
            <a:solidFill>
              <a:srgbClr val="FFE07A"/>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b – 'I've read the books… I absolutely adored the films'</a:t>
            </a:r>
            <a:endParaRPr lang="en-US" sz="1000" dirty="0"/>
          </a:p>
        </p:txBody>
      </p:sp>
      <p:sp>
        <p:nvSpPr>
          <p:cNvPr id="25" name="vq_381"/>
          <p:cNvSpPr/>
          <p:nvPr/>
        </p:nvSpPr>
        <p:spPr>
          <a:xfrm>
            <a:off x="5074920" y="4050792"/>
            <a:ext cx="2103120" cy="566928"/>
          </a:xfrm>
          <a:prstGeom prst="roundRect">
            <a:avLst>
              <a:gd name="adj" fmla="val 16129"/>
            </a:avLst>
          </a:prstGeom>
          <a:solidFill>
            <a:srgbClr val="FFFFFF"/>
          </a:solidFill>
          <a:ln w="28575">
            <a:solidFill>
              <a:srgbClr val="F7A6C4"/>
            </a:solidFill>
          </a:ln>
        </p:spPr>
        <p:txBody>
          <a:bodyPr wrap="square" lIns="76200" tIns="0" rIns="76200" bIns="0" rtlCol="0" anchor="ctr">
            <a:normAutofit/>
          </a:bodyPr>
          <a:lstStyle/>
          <a:p>
            <a:pPr indent="0" marL="0">
              <a:buNone/>
            </a:pPr>
            <a:r>
              <a:rPr lang="en-US" sz="800" dirty="0">
                <a:solidFill>
                  <a:srgbClr val="1B2559"/>
                </a:solidFill>
                <a:latin typeface="Segoe UI Semibold" pitchFamily="34" charset="0"/>
                <a:ea typeface="Segoe UI Semibold" pitchFamily="34" charset="-122"/>
                <a:cs typeface="Segoe UI Semibold" pitchFamily="34" charset="-120"/>
              </a:rPr>
              <a:t>5 Miranda chose her profile photo because… a she liked how she looked b Las Vegas c anniversary</a:t>
            </a:r>
            <a:endParaRPr lang="en-US" sz="800" dirty="0"/>
          </a:p>
        </p:txBody>
      </p:sp>
      <p:sp>
        <p:nvSpPr>
          <p:cNvPr id="26" name="R5_chip382"/>
          <p:cNvSpPr/>
          <p:nvPr/>
        </p:nvSpPr>
        <p:spPr>
          <a:xfrm>
            <a:off x="7269480" y="4050792"/>
            <a:ext cx="1600200" cy="566928"/>
          </a:xfrm>
          <a:prstGeom prst="roundRect">
            <a:avLst>
              <a:gd name="adj" fmla="val 16129"/>
            </a:avLst>
          </a:prstGeom>
          <a:solidFill>
            <a:srgbClr val="FFF6CC"/>
          </a:solidFill>
          <a:ln w="28575">
            <a:solidFill>
              <a:srgbClr val="FFE07A"/>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a – 'my make-up looked good'</a:t>
            </a:r>
            <a:endParaRPr lang="en-US" sz="10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4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4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400"/>
                                        <p:tgtEl>
                                          <p:spTgt spid="2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4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28" restart="whenNotActive" fill="hold" evtFilter="cancelBubble" nodeType="interactiveSeq">
                <p:stCondLst>
                  <p:cond evt="onClick" delay="0">
                    <p:tgtEl>
                      <p:spTgt spid="12"/>
                    </p:tgtEl>
                  </p:cond>
                </p:stCondLst>
                <p:endSync evt="end" delay="0">
                  <p:rtn val="all"/>
                </p:endSync>
                <p:childTnLst>
                  <p:par>
                    <p:cTn id="29" fill="hold">
                      <p:stCondLst>
                        <p:cond delay="0"/>
                      </p:stCondLst>
                      <p:childTnLst>
                        <p:par>
                          <p:cTn id="30" fill="hold">
                            <p:stCondLst>
                              <p:cond delay="0"/>
                            </p:stCondLst>
                            <p:childTnLst>
                              <p:par>
                                <p:cTn id="31" presetID="2" presetClass="mediacall" presetSubtype="0" fill="hold" nodeType="clickEffect">
                                  <p:stCondLst>
                                    <p:cond delay="0"/>
                                  </p:stCondLst>
                                  <p:childTnLst>
                                    <p:cmd type="call" cmd="togglePause">
                                      <p:cBhvr>
                                        <p:cTn id="32" dur="1" fill="hold"/>
                                        <p:tgtEl>
                                          <p:spTgt spid="12"/>
                                        </p:tgtEl>
                                      </p:cBhvr>
                                    </p:cmd>
                                  </p:childTnLst>
                                </p:cTn>
                              </p:par>
                            </p:childTnLst>
                          </p:cTn>
                        </p:par>
                      </p:childTnLst>
                    </p:cTn>
                  </p:par>
                </p:childTnLst>
              </p:cTn>
              <p:nextCondLst>
                <p:cond evt="onClick" delay="0">
                  <p:tgtEl>
                    <p:spTgt spid="12"/>
                  </p:tgtEl>
                </p:cond>
              </p:nextCondLst>
            </p:seq>
            <p:video>
              <p:cMediaNode vol="80000">
                <p:cTn id="33" fill="hold" display="0">
                  <p:stCondLst>
                    <p:cond delay="indefinite"/>
                  </p:stCondLst>
                </p:cTn>
                <p:tgtEl>
                  <p:spTgt spid="12"/>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383"/>
          <p:cNvSpPr/>
          <p:nvPr/>
        </p:nvSpPr>
        <p:spPr>
          <a:xfrm>
            <a:off x="201168" y="164592"/>
            <a:ext cx="841248" cy="841248"/>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14</a:t>
            </a:r>
            <a:endParaRPr lang="en-US" sz="2200" dirty="0"/>
          </a:p>
        </p:txBody>
      </p:sp>
      <p:pic>
        <p:nvPicPr>
          <p:cNvPr id="4" name="brY_384" descr="/home/claude/lls-course/v2/assets/brush-yellow.png">    </p:cNvPr>
          <p:cNvPicPr>
            <a:picLocks noChangeAspect="1"/>
          </p:cNvPicPr>
          <p:nvPr/>
        </p:nvPicPr>
        <p:blipFill>
          <a:blip r:embed="rId2"/>
          <a:stretch>
            <a:fillRect/>
          </a:stretch>
        </p:blipFill>
        <p:spPr>
          <a:xfrm>
            <a:off x="1097280" y="146304"/>
            <a:ext cx="2147011" cy="621792"/>
          </a:xfrm>
          <a:prstGeom prst="rect">
            <a:avLst/>
          </a:prstGeom>
        </p:spPr>
      </p:pic>
      <p:sp>
        <p:nvSpPr>
          <p:cNvPr id="5" name="title_385"/>
          <p:cNvSpPr/>
          <p:nvPr/>
        </p:nvSpPr>
        <p:spPr>
          <a:xfrm>
            <a:off x="1261872" y="164592"/>
            <a:ext cx="1872691"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Can you…?</a:t>
            </a:r>
            <a:endParaRPr lang="en-US" sz="2400" dirty="0"/>
          </a:p>
        </p:txBody>
      </p:sp>
      <p:pic>
        <p:nvPicPr>
          <p:cNvPr id="6" name="brP_386" descr="/home/claude/lls-course/v2/assets/brush-pink.png">    </p:cNvPr>
          <p:cNvPicPr>
            <a:picLocks noChangeAspect="1"/>
          </p:cNvPicPr>
          <p:nvPr/>
        </p:nvPicPr>
        <p:blipFill>
          <a:blip r:embed="rId3"/>
          <a:stretch>
            <a:fillRect/>
          </a:stretch>
        </p:blipFill>
        <p:spPr>
          <a:xfrm>
            <a:off x="1207008" y="731520"/>
            <a:ext cx="5257800" cy="402336"/>
          </a:xfrm>
          <a:prstGeom prst="rect">
            <a:avLst/>
          </a:prstGeom>
        </p:spPr>
      </p:pic>
      <p:sp>
        <p:nvSpPr>
          <p:cNvPr id="7" name="ins_387"/>
          <p:cNvSpPr/>
          <p:nvPr/>
        </p:nvSpPr>
        <p:spPr>
          <a:xfrm>
            <a:off x="1353312" y="731520"/>
            <a:ext cx="5001768" cy="402336"/>
          </a:xfrm>
          <a:prstGeom prst="rect">
            <a:avLst/>
          </a:prstGeom>
          <a:noFill/>
          <a:ln/>
        </p:spPr>
        <p:txBody>
          <a:bodyPr wrap="square" lIns="0" tIns="0" rIns="0" bIns="0" rtlCol="0" anchor="ctr">
            <a:normAutofit/>
          </a:bodyPr>
          <a:lstStyle/>
          <a:p>
            <a:pPr indent="0" marL="0">
              <a:buNone/>
            </a:pPr>
            <a:r>
              <a:rPr lang="en-US" sz="1200" i="1" dirty="0">
                <a:solidFill>
                  <a:srgbClr val="1B2559"/>
                </a:solidFill>
                <a:latin typeface="Segoe UI Semibold" pitchFamily="34" charset="0"/>
                <a:ea typeface="Segoe UI Semibold" pitchFamily="34" charset="-122"/>
                <a:cs typeface="Segoe UI Semibold" pitchFamily="34" charset="-120"/>
              </a:rPr>
              <a:t>Can you say this in English? Show your partner – then tick!</a:t>
            </a:r>
            <a:endParaRPr lang="en-US" sz="1200" dirty="0"/>
          </a:p>
        </p:txBody>
      </p:sp>
      <p:sp>
        <p:nvSpPr>
          <p:cNvPr id="8" name="insIT_388"/>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Sai dirlo in inglese? Dimostralo al compagno – poi spunta!</a:t>
            </a:r>
            <a:endParaRPr lang="en-US" sz="950" dirty="0"/>
          </a:p>
        </p:txBody>
      </p:sp>
      <p:sp>
        <p:nvSpPr>
          <p:cNvPr id="9" name="note_389"/>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TALK</a:t>
            </a:r>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 PARLA</a:t>
            </a:r>
            <a:endParaRPr lang="en-US" sz="12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6 min   👥 pairs</a:t>
            </a:r>
            <a:endParaRPr lang="en-US" sz="12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Speaking · Communicative</a:t>
            </a:r>
            <a:endParaRPr lang="en-US" sz="1250" dirty="0"/>
          </a:p>
        </p:txBody>
      </p:sp>
      <p:pic>
        <p:nvPicPr>
          <p:cNvPr id="10" name="logo_390"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391"/>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R5-6 · Speaking · Can you say this in English?   ·   📖 SB p.65 · Can you say this in English? 1–4</a:t>
            </a:r>
            <a:endParaRPr lang="en-US" sz="800" dirty="0"/>
          </a:p>
        </p:txBody>
      </p:sp>
      <p:sp>
        <p:nvSpPr>
          <p:cNvPr id="12" name="cd_392"/>
          <p:cNvSpPr/>
          <p:nvPr/>
        </p:nvSpPr>
        <p:spPr>
          <a:xfrm>
            <a:off x="320040" y="1417320"/>
            <a:ext cx="2788920" cy="2139696"/>
          </a:xfrm>
          <a:prstGeom prst="roundRect">
            <a:avLst>
              <a:gd name="adj" fmla="val 5983"/>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3" name="ii_393"/>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4" name="ih_394"/>
          <p:cNvSpPr/>
          <p:nvPr/>
        </p:nvSpPr>
        <p:spPr>
          <a:xfrm>
            <a:off x="886968" y="1508760"/>
            <a:ext cx="214884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Useful phrases</a:t>
            </a:r>
            <a:endParaRPr lang="en-US" sz="1300" dirty="0"/>
          </a:p>
        </p:txBody>
      </p:sp>
      <p:sp>
        <p:nvSpPr>
          <p:cNvPr id="15" name="il_395"/>
          <p:cNvSpPr/>
          <p:nvPr/>
        </p:nvSpPr>
        <p:spPr>
          <a:xfrm>
            <a:off x="886968" y="1911096"/>
            <a:ext cx="2130552" cy="1572768"/>
          </a:xfrm>
          <a:prstGeom prst="rect">
            <a:avLst/>
          </a:prstGeom>
          <a:noFill/>
          <a:ln/>
        </p:spPr>
        <p:txBody>
          <a:bodyPr wrap="square" lIns="0" tIns="0" rIns="0" bIns="0" rtlCol="0" anchor="t">
            <a:normAutofit/>
          </a:bodyPr>
          <a:lstStyle/>
          <a:p>
            <a:pPr marL="152400" indent="-152400">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I was… when suddenly…</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I used to… but now I…</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It was set in… directed by…</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It might be… / It must be… / It can't be…</a:t>
            </a:r>
            <a:endParaRPr lang="en-US" sz="1150" dirty="0"/>
          </a:p>
        </p:txBody>
      </p:sp>
      <p:sp>
        <p:nvSpPr>
          <p:cNvPr id="16" name="R1_qb396"/>
          <p:cNvSpPr/>
          <p:nvPr/>
        </p:nvSpPr>
        <p:spPr>
          <a:xfrm>
            <a:off x="3273552" y="1453896"/>
            <a:ext cx="329184" cy="329184"/>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17" name="R1_sq397"/>
          <p:cNvSpPr/>
          <p:nvPr/>
        </p:nvSpPr>
        <p:spPr>
          <a:xfrm>
            <a:off x="3675888" y="1417320"/>
            <a:ext cx="5193792" cy="530352"/>
          </a:xfrm>
          <a:prstGeom prst="roundRect">
            <a:avLst>
              <a:gd name="adj" fmla="val 20690"/>
            </a:avLst>
          </a:prstGeom>
          <a:solidFill>
            <a:srgbClr val="FFFFFF"/>
          </a:solidFill>
          <a:ln w="2857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tell an anecdote about something that happened to you using the past simple, past continuous, and past perfect</a:t>
            </a:r>
            <a:endParaRPr lang="en-US" sz="950" dirty="0"/>
          </a:p>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e.g. I was driving to work when I realized I'd left my phone at home…</a:t>
            </a:r>
            <a:endParaRPr lang="en-US" sz="950" dirty="0"/>
          </a:p>
        </p:txBody>
      </p:sp>
      <p:sp>
        <p:nvSpPr>
          <p:cNvPr id="18" name="R2_qb398"/>
          <p:cNvSpPr/>
          <p:nvPr/>
        </p:nvSpPr>
        <p:spPr>
          <a:xfrm>
            <a:off x="3273552" y="2057400"/>
            <a:ext cx="329184" cy="329184"/>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19" name="R2_sq399"/>
          <p:cNvSpPr/>
          <p:nvPr/>
        </p:nvSpPr>
        <p:spPr>
          <a:xfrm>
            <a:off x="3675888" y="2020824"/>
            <a:ext cx="5193792" cy="530352"/>
          </a:xfrm>
          <a:prstGeom prst="roundRect">
            <a:avLst>
              <a:gd name="adj" fmla="val 20690"/>
            </a:avLst>
          </a:prstGeom>
          <a:solidFill>
            <a:srgbClr val="FFFFFF"/>
          </a:solidFill>
          <a:ln w="28575">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talk about three past and three present habits of yours</a:t>
            </a:r>
            <a:endParaRPr lang="en-US" sz="950" dirty="0"/>
          </a:p>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e.g. I used to play the piano. Now I usually go running.</a:t>
            </a:r>
            <a:endParaRPr lang="en-US" sz="950" dirty="0"/>
          </a:p>
        </p:txBody>
      </p:sp>
      <p:sp>
        <p:nvSpPr>
          <p:cNvPr id="20" name="R3_qb400"/>
          <p:cNvSpPr/>
          <p:nvPr/>
        </p:nvSpPr>
        <p:spPr>
          <a:xfrm>
            <a:off x="3273552" y="2660904"/>
            <a:ext cx="329184" cy="329184"/>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1" name="R3_sq401"/>
          <p:cNvSpPr/>
          <p:nvPr/>
        </p:nvSpPr>
        <p:spPr>
          <a:xfrm>
            <a:off x="3675888" y="2624328"/>
            <a:ext cx="5193792" cy="530352"/>
          </a:xfrm>
          <a:prstGeom prst="roundRect">
            <a:avLst>
              <a:gd name="adj" fmla="val 20690"/>
            </a:avLst>
          </a:prstGeom>
          <a:solidFill>
            <a:srgbClr val="FFFFFF"/>
          </a:solidFill>
          <a:ln w="28575">
            <a:solidFill>
              <a:srgbClr val="A8E5BE"/>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describe a film, saying where it was set, what it is based on, who it was directed by, and what you thought of it</a:t>
            </a:r>
            <a:endParaRPr lang="en-US" sz="950" dirty="0"/>
          </a:p>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e.g. It was set in New Zealand and directed by Peter Jackson…</a:t>
            </a:r>
            <a:endParaRPr lang="en-US" sz="950" dirty="0"/>
          </a:p>
        </p:txBody>
      </p:sp>
      <p:sp>
        <p:nvSpPr>
          <p:cNvPr id="22" name="R4_qb402"/>
          <p:cNvSpPr/>
          <p:nvPr/>
        </p:nvSpPr>
        <p:spPr>
          <a:xfrm>
            <a:off x="3273552" y="3264408"/>
            <a:ext cx="329184" cy="329184"/>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23" name="R4_sq403"/>
          <p:cNvSpPr/>
          <p:nvPr/>
        </p:nvSpPr>
        <p:spPr>
          <a:xfrm>
            <a:off x="3675888" y="3227832"/>
            <a:ext cx="5193792" cy="530352"/>
          </a:xfrm>
          <a:prstGeom prst="roundRect">
            <a:avLst>
              <a:gd name="adj" fmla="val 20690"/>
            </a:avLst>
          </a:prstGeom>
          <a:solidFill>
            <a:srgbClr val="FFFFFF"/>
          </a:solidFill>
          <a:ln w="28575">
            <a:solidFill>
              <a:srgbClr val="FFE07A"/>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make deductions about a photo on a friend's phone using might be, must be, and can't be</a:t>
            </a:r>
            <a:endParaRPr lang="en-US" sz="950" dirty="0"/>
          </a:p>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e.g. That must be her brother – they look the same!</a:t>
            </a:r>
            <a:endParaRPr lang="en-US" sz="9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400"/>
                                        <p:tgtEl>
                                          <p:spTgt spid="16"/>
                                        </p:tgtEl>
                                      </p:cBhvr>
                                    </p:animEffect>
                                  </p:childTnLst>
                                </p:cTn>
                              </p:par>
                              <p:par>
                                <p:cTn id="8" presetID="10" presetClass="entr" presetSubtype="0" fill="hold"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400"/>
                                        <p:tgtEl>
                                          <p:spTgt spid="18"/>
                                        </p:tgtEl>
                                      </p:cBhvr>
                                    </p:animEffect>
                                  </p:childTnLst>
                                </p:cTn>
                              </p:par>
                              <p:par>
                                <p:cTn id="16" presetID="10" presetClass="entr" presetSubtype="0" fill="hold" nodeType="with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fade">
                                      <p:cBhvr>
                                        <p:cTn id="18" dur="400"/>
                                        <p:tgtEl>
                                          <p:spTgt spid="1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0"/>
                                        </p:tgtEl>
                                        <p:attrNameLst>
                                          <p:attrName>style.visibility</p:attrName>
                                        </p:attrNameLst>
                                      </p:cBhvr>
                                      <p:to>
                                        <p:strVal val="visible"/>
                                      </p:to>
                                    </p:set>
                                    <p:animEffect transition="in" filter="fade">
                                      <p:cBhvr>
                                        <p:cTn id="23" dur="400"/>
                                        <p:tgtEl>
                                          <p:spTgt spid="20"/>
                                        </p:tgtEl>
                                      </p:cBhvr>
                                    </p:animEffect>
                                  </p:childTnLst>
                                </p:cTn>
                              </p:par>
                              <p:par>
                                <p:cTn id="24" presetID="10" presetClass="entr" presetSubtype="0" fill="hold" nodeType="withEffect">
                                  <p:stCondLst>
                                    <p:cond delay="0"/>
                                  </p:stCondLst>
                                  <p:childTnLst>
                                    <p:set>
                                      <p:cBhvr>
                                        <p:cTn id="25" dur="1" fill="hold">
                                          <p:stCondLst>
                                            <p:cond delay="0"/>
                                          </p:stCondLst>
                                        </p:cTn>
                                        <p:tgtEl>
                                          <p:spTgt spid="21"/>
                                        </p:tgtEl>
                                        <p:attrNameLst>
                                          <p:attrName>style.visibility</p:attrName>
                                        </p:attrNameLst>
                                      </p:cBhvr>
                                      <p:to>
                                        <p:strVal val="visible"/>
                                      </p:to>
                                    </p:set>
                                    <p:animEffect transition="in" filter="fade">
                                      <p:cBhvr>
                                        <p:cTn id="26" dur="400"/>
                                        <p:tgtEl>
                                          <p:spTgt spid="21"/>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fade">
                                      <p:cBhvr>
                                        <p:cTn id="31" dur="400"/>
                                        <p:tgtEl>
                                          <p:spTgt spid="22"/>
                                        </p:tgtEl>
                                      </p:cBhvr>
                                    </p:animEffect>
                                  </p:childTnLst>
                                </p:cTn>
                              </p:par>
                              <p:par>
                                <p:cTn id="32" presetID="10" presetClass="entr" presetSubtype="0" fill="hold" nodeType="withEffect">
                                  <p:stCondLst>
                                    <p:cond delay="0"/>
                                  </p:stCondLst>
                                  <p:childTnLst>
                                    <p:set>
                                      <p:cBhvr>
                                        <p:cTn id="33" dur="1" fill="hold">
                                          <p:stCondLst>
                                            <p:cond delay="0"/>
                                          </p:stCondLst>
                                        </p:cTn>
                                        <p:tgtEl>
                                          <p:spTgt spid="23"/>
                                        </p:tgtEl>
                                        <p:attrNameLst>
                                          <p:attrName>style.visibility</p:attrName>
                                        </p:attrNameLst>
                                      </p:cBhvr>
                                      <p:to>
                                        <p:strVal val="visible"/>
                                      </p:to>
                                    </p:set>
                                    <p:animEffect transition="in" filter="fade">
                                      <p:cBhvr>
                                        <p:cTn id="3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404"/>
          <p:cNvSpPr/>
          <p:nvPr/>
        </p:nvSpPr>
        <p:spPr>
          <a:xfrm>
            <a:off x="201168" y="164592"/>
            <a:ext cx="841248" cy="841248"/>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15</a:t>
            </a:r>
            <a:endParaRPr lang="en-US" sz="2200" dirty="0"/>
          </a:p>
        </p:txBody>
      </p:sp>
      <p:pic>
        <p:nvPicPr>
          <p:cNvPr id="4" name="brY_405" descr="/home/claude/lls-course/v2/assets/brush-yellow.png">    </p:cNvPr>
          <p:cNvPicPr>
            <a:picLocks noChangeAspect="1"/>
          </p:cNvPicPr>
          <p:nvPr/>
        </p:nvPicPr>
        <p:blipFill>
          <a:blip r:embed="rId2"/>
          <a:stretch>
            <a:fillRect/>
          </a:stretch>
        </p:blipFill>
        <p:spPr>
          <a:xfrm>
            <a:off x="1097280" y="146304"/>
            <a:ext cx="2147011" cy="621792"/>
          </a:xfrm>
          <a:prstGeom prst="rect">
            <a:avLst/>
          </a:prstGeom>
        </p:spPr>
      </p:pic>
      <p:sp>
        <p:nvSpPr>
          <p:cNvPr id="5" name="title_406"/>
          <p:cNvSpPr/>
          <p:nvPr/>
        </p:nvSpPr>
        <p:spPr>
          <a:xfrm>
            <a:off x="1261872" y="164592"/>
            <a:ext cx="1872691"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3 · 2 · 1</a:t>
            </a:r>
            <a:endParaRPr lang="en-US" sz="2500" dirty="0"/>
          </a:p>
        </p:txBody>
      </p:sp>
      <p:pic>
        <p:nvPicPr>
          <p:cNvPr id="6" name="brP_407" descr="/home/claude/lls-course/v2/assets/brush-pink.png">    </p:cNvPr>
          <p:cNvPicPr>
            <a:picLocks noChangeAspect="1"/>
          </p:cNvPicPr>
          <p:nvPr/>
        </p:nvPicPr>
        <p:blipFill>
          <a:blip r:embed="rId3"/>
          <a:stretch>
            <a:fillRect/>
          </a:stretch>
        </p:blipFill>
        <p:spPr>
          <a:xfrm>
            <a:off x="1207008" y="731520"/>
            <a:ext cx="3511296" cy="402336"/>
          </a:xfrm>
          <a:prstGeom prst="rect">
            <a:avLst/>
          </a:prstGeom>
        </p:spPr>
      </p:pic>
      <p:sp>
        <p:nvSpPr>
          <p:cNvPr id="7" name="ins_408"/>
          <p:cNvSpPr/>
          <p:nvPr/>
        </p:nvSpPr>
        <p:spPr>
          <a:xfrm>
            <a:off x="1353312" y="731520"/>
            <a:ext cx="3255264"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Books closed! Tell your partner…</a:t>
            </a:r>
            <a:endParaRPr lang="en-US" sz="1250" dirty="0"/>
          </a:p>
        </p:txBody>
      </p:sp>
      <p:sp>
        <p:nvSpPr>
          <p:cNvPr id="8" name="insIT_409"/>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Libri chiusi! Di' al compagno…</a:t>
            </a:r>
            <a:endParaRPr lang="en-US" sz="950" dirty="0"/>
          </a:p>
        </p:txBody>
      </p:sp>
      <p:sp>
        <p:nvSpPr>
          <p:cNvPr id="9" name="note_410"/>
          <p:cNvSpPr/>
          <p:nvPr/>
        </p:nvSpPr>
        <p:spPr>
          <a:xfrm rot="180000">
            <a:off x="6382512" y="128016"/>
            <a:ext cx="2029968" cy="74980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2 min   👥 pairs</a:t>
            </a:r>
            <a:endParaRPr lang="en-US" sz="110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Revision · Retrieval</a:t>
            </a:r>
            <a:endParaRPr lang="en-US" sz="1100" dirty="0"/>
          </a:p>
        </p:txBody>
      </p:sp>
      <p:pic>
        <p:nvPicPr>
          <p:cNvPr id="10" name="logo_411"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412"/>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R5-6 · Exit · what can you remember?</a:t>
            </a:r>
            <a:endParaRPr lang="en-US" sz="800" dirty="0"/>
          </a:p>
        </p:txBody>
      </p:sp>
      <p:sp>
        <p:nvSpPr>
          <p:cNvPr id="12" name="bd_413"/>
          <p:cNvSpPr/>
          <p:nvPr/>
        </p:nvSpPr>
        <p:spPr>
          <a:xfrm>
            <a:off x="457200" y="1508760"/>
            <a:ext cx="777240" cy="777240"/>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600" dirty="0">
                <a:solidFill>
                  <a:srgbClr val="FFFFFF"/>
                </a:solidFill>
                <a:latin typeface="Arial Rounded MT Bold" pitchFamily="34" charset="0"/>
                <a:ea typeface="Arial Rounded MT Bold" pitchFamily="34" charset="-122"/>
                <a:cs typeface="Arial Rounded MT Bold" pitchFamily="34" charset="-120"/>
              </a:rPr>
              <a:t>3</a:t>
            </a:r>
            <a:endParaRPr lang="en-US" sz="2600" dirty="0"/>
          </a:p>
        </p:txBody>
      </p:sp>
      <p:sp>
        <p:nvSpPr>
          <p:cNvPr id="13" name="rt_414"/>
          <p:cNvSpPr/>
          <p:nvPr/>
        </p:nvSpPr>
        <p:spPr>
          <a:xfrm>
            <a:off x="1417320" y="1581912"/>
            <a:ext cx="3931920" cy="640080"/>
          </a:xfrm>
          <a:prstGeom prst="roundRect">
            <a:avLst>
              <a:gd name="adj" fmla="val 20000"/>
            </a:avLst>
          </a:prstGeom>
          <a:solidFill>
            <a:srgbClr val="FFFFFF"/>
          </a:solidFill>
          <a:ln w="28575">
            <a:solidFill>
              <a:srgbClr val="F7A6C4"/>
            </a:solidFill>
          </a:ln>
          <a:effectLst>
            <a:outerShdw sx="100000" sy="100000" kx="0" ky="0" algn="bl" rotWithShape="0" blurRad="88900" dist="31750" dir="5400000">
              <a:srgbClr val="1B2559">
                <a:alpha val="8000"/>
              </a:srgbClr>
            </a:outerShdw>
          </a:effectLst>
        </p:spPr>
        <p:txBody>
          <a:bodyPr wrap="square" lIns="152400" tIns="0" rIns="152400" bIns="0" rtlCol="0" anchor="ctr">
            <a:normAutofit/>
          </a:bodyP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Tell me 3 sport words and 3 film words.</a:t>
            </a:r>
            <a:endParaRPr lang="en-US" sz="1400" dirty="0"/>
          </a:p>
        </p:txBody>
      </p:sp>
      <p:sp>
        <p:nvSpPr>
          <p:cNvPr id="14" name="bd_415"/>
          <p:cNvSpPr/>
          <p:nvPr/>
        </p:nvSpPr>
        <p:spPr>
          <a:xfrm>
            <a:off x="457200" y="2468880"/>
            <a:ext cx="777240" cy="777240"/>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600" dirty="0">
                <a:solidFill>
                  <a:srgbClr val="FFFFFF"/>
                </a:solidFill>
                <a:latin typeface="Arial Rounded MT Bold" pitchFamily="34" charset="0"/>
                <a:ea typeface="Arial Rounded MT Bold" pitchFamily="34" charset="-122"/>
                <a:cs typeface="Arial Rounded MT Bold" pitchFamily="34" charset="-120"/>
              </a:rPr>
              <a:t>2</a:t>
            </a:r>
            <a:endParaRPr lang="en-US" sz="2600" dirty="0"/>
          </a:p>
        </p:txBody>
      </p:sp>
      <p:sp>
        <p:nvSpPr>
          <p:cNvPr id="15" name="rt_416"/>
          <p:cNvSpPr/>
          <p:nvPr/>
        </p:nvSpPr>
        <p:spPr>
          <a:xfrm>
            <a:off x="1417320" y="2542032"/>
            <a:ext cx="3931920" cy="640080"/>
          </a:xfrm>
          <a:prstGeom prst="roundRect">
            <a:avLst>
              <a:gd name="adj" fmla="val 20000"/>
            </a:avLst>
          </a:prstGeom>
          <a:solidFill>
            <a:srgbClr val="FFFFFF"/>
          </a:solidFill>
          <a:ln w="28575">
            <a:solidFill>
              <a:srgbClr val="A9D3F5"/>
            </a:solidFill>
          </a:ln>
          <a:effectLst>
            <a:outerShdw sx="100000" sy="100000" kx="0" ky="0" algn="bl" rotWithShape="0" blurRad="88900" dist="31750" dir="5400000">
              <a:srgbClr val="1B2559">
                <a:alpha val="8000"/>
              </a:srgbClr>
            </a:outerShdw>
          </a:effectLst>
        </p:spPr>
        <p:txBody>
          <a:bodyPr wrap="square" lIns="152400" tIns="0" rIns="152400" bIns="0" rtlCol="0" anchor="ctr">
            <a:normAutofit/>
          </a:bodyP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Tell me 2 sentences in the passive.</a:t>
            </a:r>
            <a:endParaRPr lang="en-US" sz="1400" dirty="0"/>
          </a:p>
        </p:txBody>
      </p:sp>
      <p:sp>
        <p:nvSpPr>
          <p:cNvPr id="16" name="bd_417"/>
          <p:cNvSpPr/>
          <p:nvPr/>
        </p:nvSpPr>
        <p:spPr>
          <a:xfrm>
            <a:off x="457200" y="3429000"/>
            <a:ext cx="777240" cy="777240"/>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600" dirty="0">
                <a:solidFill>
                  <a:srgbClr val="FFFFFF"/>
                </a:solidFill>
                <a:latin typeface="Arial Rounded MT Bold" pitchFamily="34" charset="0"/>
                <a:ea typeface="Arial Rounded MT Bold" pitchFamily="34" charset="-122"/>
                <a:cs typeface="Arial Rounded MT Bold" pitchFamily="34" charset="-120"/>
              </a:rPr>
              <a:t>1</a:t>
            </a:r>
            <a:endParaRPr lang="en-US" sz="2600" dirty="0"/>
          </a:p>
        </p:txBody>
      </p:sp>
      <p:sp>
        <p:nvSpPr>
          <p:cNvPr id="17" name="rt_418"/>
          <p:cNvSpPr/>
          <p:nvPr/>
        </p:nvSpPr>
        <p:spPr>
          <a:xfrm>
            <a:off x="1417320" y="3502152"/>
            <a:ext cx="3931920" cy="640080"/>
          </a:xfrm>
          <a:prstGeom prst="roundRect">
            <a:avLst>
              <a:gd name="adj" fmla="val 20000"/>
            </a:avLst>
          </a:prstGeom>
          <a:solidFill>
            <a:srgbClr val="FFFFFF"/>
          </a:solidFill>
          <a:ln w="28575">
            <a:solidFill>
              <a:srgbClr val="A8E5BE"/>
            </a:solidFill>
          </a:ln>
          <a:effectLst>
            <a:outerShdw sx="100000" sy="100000" kx="0" ky="0" algn="bl" rotWithShape="0" blurRad="88900" dist="31750" dir="5400000">
              <a:srgbClr val="1B2559">
                <a:alpha val="8000"/>
              </a:srgbClr>
            </a:outerShdw>
          </a:effectLst>
        </p:spPr>
        <p:txBody>
          <a:bodyPr wrap="square" lIns="152400" tIns="0" rIns="152400" bIns="0" rtlCol="0" anchor="ctr">
            <a:normAutofit/>
          </a:bodyP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Tell me 1 thing you used to do as a child.</a:t>
            </a:r>
            <a:endParaRPr lang="en-US" sz="1400" dirty="0"/>
          </a:p>
        </p:txBody>
      </p:sp>
      <p:sp>
        <p:nvSpPr>
          <p:cNvPr id="18" name="cd_419"/>
          <p:cNvSpPr/>
          <p:nvPr/>
        </p:nvSpPr>
        <p:spPr>
          <a:xfrm>
            <a:off x="5669280" y="1417320"/>
            <a:ext cx="3200400" cy="1426464"/>
          </a:xfrm>
          <a:prstGeom prst="roundRect">
            <a:avLst>
              <a:gd name="adj" fmla="val 8974"/>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9" name="ii_420"/>
          <p:cNvSpPr/>
          <p:nvPr/>
        </p:nvSpPr>
        <p:spPr>
          <a:xfrm>
            <a:off x="576072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0" name="ih_421"/>
          <p:cNvSpPr/>
          <p:nvPr/>
        </p:nvSpPr>
        <p:spPr>
          <a:xfrm>
            <a:off x="6236208" y="1508760"/>
            <a:ext cx="2560320" cy="365760"/>
          </a:xfrm>
          <a:prstGeom prst="rect">
            <a:avLst/>
          </a:prstGeom>
          <a:noFill/>
          <a:ln/>
        </p:spPr>
        <p:txBody>
          <a:bodyPr wrap="square" lIns="0" tIns="0" rIns="0" bIns="0" rtlCol="0" anchor="ct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Homework · Compiti</a:t>
            </a:r>
            <a:endParaRPr lang="en-US" sz="1400" dirty="0"/>
          </a:p>
        </p:txBody>
      </p:sp>
      <p:sp>
        <p:nvSpPr>
          <p:cNvPr id="21" name="il_422"/>
          <p:cNvSpPr/>
          <p:nvPr/>
        </p:nvSpPr>
        <p:spPr>
          <a:xfrm>
            <a:off x="6236208" y="1911096"/>
            <a:ext cx="2542032" cy="859536"/>
          </a:xfrm>
          <a:prstGeom prst="rect">
            <a:avLst/>
          </a:prstGeom>
          <a:noFill/>
          <a:ln/>
        </p:spPr>
        <p:txBody>
          <a:bodyPr wrap="square" lIns="0" tIns="0" rIns="0" bIns="0" rtlCol="0" anchor="t">
            <a:normAutofit/>
          </a:bodyPr>
          <a:lstStyle/>
          <a:p>
            <a:pPr marL="152400" indent="-152400">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Redo the test questions you got wrong</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Homework sheet in the LLS app</a:t>
            </a:r>
            <a:endParaRPr lang="en-US" sz="1150" dirty="0"/>
          </a:p>
        </p:txBody>
      </p:sp>
      <p:sp>
        <p:nvSpPr>
          <p:cNvPr id="22" name="st_423"/>
          <p:cNvSpPr/>
          <p:nvPr/>
        </p:nvSpPr>
        <p:spPr>
          <a:xfrm rot="-180000">
            <a:off x="5806440" y="3099816"/>
            <a:ext cx="2926080" cy="685800"/>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00" dirty="0">
                <a:solidFill>
                  <a:srgbClr val="1B2559"/>
                </a:solidFill>
                <a:latin typeface="Arial Rounded MT Bold" pitchFamily="34" charset="0"/>
                <a:ea typeface="Arial Rounded MT Bold" pitchFamily="34" charset="-122"/>
                <a:cs typeface="Arial Rounded MT Bold" pitchFamily="34" charset="-120"/>
              </a:rPr>
              <a:t>Next lesson: 7A Live and learn (SB p.66)</a:t>
            </a:r>
            <a:endParaRPr lang="en-US" sz="1100" dirty="0"/>
          </a:p>
        </p:txBody>
      </p:sp>
    </p:spTree>
  </p:cSld>
  <p:clrMapOvr>
    <a:masterClrMapping/>
  </p:clrMapOvr>
  <p:transition spd="med">
    <p:push dir="l"/>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424"/>
          <p:cNvSpPr/>
          <p:nvPr/>
        </p:nvSpPr>
        <p:spPr>
          <a:xfrm>
            <a:off x="201168" y="164592"/>
            <a:ext cx="841248" cy="841248"/>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16</a:t>
            </a:r>
            <a:endParaRPr lang="en-US" sz="2200" dirty="0"/>
          </a:p>
        </p:txBody>
      </p:sp>
      <p:pic>
        <p:nvPicPr>
          <p:cNvPr id="4" name="brY_425" descr="/home/claude/lls-course/v2/assets/brush-yellow.png">    </p:cNvPr>
          <p:cNvPicPr>
            <a:picLocks noChangeAspect="1"/>
          </p:cNvPicPr>
          <p:nvPr/>
        </p:nvPicPr>
        <p:blipFill>
          <a:blip r:embed="rId2"/>
          <a:stretch>
            <a:fillRect/>
          </a:stretch>
        </p:blipFill>
        <p:spPr>
          <a:xfrm>
            <a:off x="1097280" y="146304"/>
            <a:ext cx="2304288" cy="621792"/>
          </a:xfrm>
          <a:prstGeom prst="rect">
            <a:avLst/>
          </a:prstGeom>
        </p:spPr>
      </p:pic>
      <p:sp>
        <p:nvSpPr>
          <p:cNvPr id="5" name="title_426"/>
          <p:cNvSpPr/>
          <p:nvPr/>
        </p:nvSpPr>
        <p:spPr>
          <a:xfrm>
            <a:off x="1261872" y="164592"/>
            <a:ext cx="2029968"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Today you…</a:t>
            </a:r>
            <a:endParaRPr lang="en-US" sz="2400" dirty="0"/>
          </a:p>
        </p:txBody>
      </p:sp>
      <p:pic>
        <p:nvPicPr>
          <p:cNvPr id="6" name="brP_427" descr="/home/claude/lls-course/v2/assets/brush-pink.png">    </p:cNvPr>
          <p:cNvPicPr>
            <a:picLocks noChangeAspect="1"/>
          </p:cNvPicPr>
          <p:nvPr/>
        </p:nvPicPr>
        <p:blipFill>
          <a:blip r:embed="rId3"/>
          <a:stretch>
            <a:fillRect/>
          </a:stretch>
        </p:blipFill>
        <p:spPr>
          <a:xfrm>
            <a:off x="1207008" y="731520"/>
            <a:ext cx="4553712" cy="402336"/>
          </a:xfrm>
          <a:prstGeom prst="rect">
            <a:avLst/>
          </a:prstGeom>
        </p:spPr>
      </p:pic>
      <p:sp>
        <p:nvSpPr>
          <p:cNvPr id="7" name="ins_428"/>
          <p:cNvSpPr/>
          <p:nvPr/>
        </p:nvSpPr>
        <p:spPr>
          <a:xfrm>
            <a:off x="1353312" y="731520"/>
            <a:ext cx="4297680"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Can you do it now? Thumbs up or thumbs down!</a:t>
            </a:r>
            <a:endParaRPr lang="en-US" sz="1250" dirty="0"/>
          </a:p>
        </p:txBody>
      </p:sp>
      <p:sp>
        <p:nvSpPr>
          <p:cNvPr id="8" name="insIT_429"/>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Ora sai farlo? Pollice su o pollice giù!</a:t>
            </a:r>
            <a:endParaRPr lang="en-US" sz="950" dirty="0"/>
          </a:p>
        </p:txBody>
      </p:sp>
      <p:sp>
        <p:nvSpPr>
          <p:cNvPr id="9" name="note_430"/>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THINK</a:t>
            </a:r>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 PENSA</a:t>
            </a:r>
            <a:endParaRPr lang="en-US" sz="12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1 min   🙋 whole class</a:t>
            </a:r>
            <a:endParaRPr lang="en-US" sz="12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Revision · Reflection</a:t>
            </a:r>
            <a:endParaRPr lang="en-US" sz="1250" dirty="0"/>
          </a:p>
        </p:txBody>
      </p:sp>
      <p:pic>
        <p:nvPicPr>
          <p:cNvPr id="10" name="logo_431"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432"/>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R5-6 · Review · what did you do today?</a:t>
            </a:r>
            <a:endParaRPr lang="en-US" sz="800" dirty="0"/>
          </a:p>
        </p:txBody>
      </p:sp>
      <p:sp>
        <p:nvSpPr>
          <p:cNvPr id="12" name="cd_433"/>
          <p:cNvSpPr/>
          <p:nvPr/>
        </p:nvSpPr>
        <p:spPr>
          <a:xfrm>
            <a:off x="548640" y="1417320"/>
            <a:ext cx="6035040" cy="530352"/>
          </a:xfrm>
          <a:prstGeom prst="roundRect">
            <a:avLst>
              <a:gd name="adj" fmla="val 24138"/>
            </a:avLst>
          </a:prstGeom>
          <a:solidFill>
            <a:srgbClr val="FFFFFF"/>
          </a:solidFill>
          <a:ln w="28575">
            <a:solidFill>
              <a:srgbClr val="F7A6C4"/>
            </a:solidFill>
            <a:prstDash val="solid"/>
          </a:ln>
          <a:effectLst>
            <a:outerShdw sx="100000" sy="100000" kx="0" ky="0" algn="bl" rotWithShape="0" blurRad="88900" dist="31750" dir="5400000">
              <a:srgbClr val="1B2559">
                <a:alpha val="12000"/>
              </a:srgbClr>
            </a:outerShdw>
          </a:effectLst>
        </p:spPr>
      </p:sp>
      <p:sp>
        <p:nvSpPr>
          <p:cNvPr id="13" name="te_434"/>
          <p:cNvSpPr/>
          <p:nvPr/>
        </p:nvSpPr>
        <p:spPr>
          <a:xfrm>
            <a:off x="640080" y="1453896"/>
            <a:ext cx="4572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4" name="tt_435"/>
          <p:cNvSpPr/>
          <p:nvPr/>
        </p:nvSpPr>
        <p:spPr>
          <a:xfrm>
            <a:off x="1188720" y="1417320"/>
            <a:ext cx="4754880" cy="530352"/>
          </a:xfrm>
          <a:prstGeom prst="rect">
            <a:avLst/>
          </a:prstGeom>
          <a:noFill/>
          <a:ln/>
        </p:spPr>
        <p:txBody>
          <a:bodyPr wrap="square" lIns="0" tIns="0" rIns="0" bIns="0" rtlCol="0" anchor="ctr">
            <a:normAutofit/>
          </a:bodyPr>
          <a:lstStyle/>
          <a:p>
            <a:pPr indent="0" marL="0">
              <a:buNone/>
            </a:pPr>
            <a:r>
              <a:rPr lang="en-US" sz="1350" dirty="0">
                <a:solidFill>
                  <a:srgbClr val="1B2559"/>
                </a:solidFill>
                <a:latin typeface="Segoe UI Semibold" pitchFamily="34" charset="0"/>
                <a:ea typeface="Segoe UI Semibold" pitchFamily="34" charset="-122"/>
                <a:cs typeface="Segoe UI Semibold" pitchFamily="34" charset="-120"/>
              </a:rPr>
              <a:t>Did a mini-test on Files 5 and 6</a:t>
            </a:r>
            <a:endParaRPr lang="en-US" sz="1350" dirty="0"/>
          </a:p>
        </p:txBody>
      </p:sp>
      <p:sp>
        <p:nvSpPr>
          <p:cNvPr id="15" name="R1_tk436"/>
          <p:cNvSpPr/>
          <p:nvPr/>
        </p:nvSpPr>
        <p:spPr>
          <a:xfrm>
            <a:off x="5989320" y="1453896"/>
            <a:ext cx="50292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6" name="cd_437"/>
          <p:cNvSpPr/>
          <p:nvPr/>
        </p:nvSpPr>
        <p:spPr>
          <a:xfrm>
            <a:off x="548640" y="2020824"/>
            <a:ext cx="6035040" cy="530352"/>
          </a:xfrm>
          <a:prstGeom prst="roundRect">
            <a:avLst>
              <a:gd name="adj" fmla="val 24138"/>
            </a:avLst>
          </a:prstGeom>
          <a:solidFill>
            <a:srgbClr val="FFFFFF"/>
          </a:solidFill>
          <a:ln w="28575">
            <a:solidFill>
              <a:srgbClr val="A9D3F5"/>
            </a:solidFill>
            <a:prstDash val="solid"/>
          </a:ln>
          <a:effectLst>
            <a:outerShdw sx="100000" sy="100000" kx="0" ky="0" algn="bl" rotWithShape="0" blurRad="88900" dist="31750" dir="5400000">
              <a:srgbClr val="1B2559">
                <a:alpha val="12000"/>
              </a:srgbClr>
            </a:outerShdw>
          </a:effectLst>
        </p:spPr>
      </p:sp>
      <p:sp>
        <p:nvSpPr>
          <p:cNvPr id="17" name="te_438"/>
          <p:cNvSpPr/>
          <p:nvPr/>
        </p:nvSpPr>
        <p:spPr>
          <a:xfrm>
            <a:off x="640080" y="2057400"/>
            <a:ext cx="4572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8" name="tt_439"/>
          <p:cNvSpPr/>
          <p:nvPr/>
        </p:nvSpPr>
        <p:spPr>
          <a:xfrm>
            <a:off x="1188720" y="2020824"/>
            <a:ext cx="4754880" cy="530352"/>
          </a:xfrm>
          <a:prstGeom prst="rect">
            <a:avLst/>
          </a:prstGeom>
          <a:noFill/>
          <a:ln/>
        </p:spPr>
        <p:txBody>
          <a:bodyPr wrap="square" lIns="0" tIns="0" rIns="0" bIns="0" rtlCol="0" anchor="ctr">
            <a:normAutofit/>
          </a:bodyPr>
          <a:lstStyle/>
          <a:p>
            <a:pPr indent="0" marL="0">
              <a:buNone/>
            </a:pPr>
            <a:r>
              <a:rPr lang="en-US" sz="1350" dirty="0">
                <a:solidFill>
                  <a:srgbClr val="1B2559"/>
                </a:solidFill>
                <a:latin typeface="Segoe UI Semibold" pitchFamily="34" charset="0"/>
                <a:ea typeface="Segoe UI Semibold" pitchFamily="34" charset="-122"/>
                <a:cs typeface="Segoe UI Semibold" pitchFamily="34" charset="-120"/>
              </a:rPr>
              <a:t>Revised sport, relationships, cinema and body words</a:t>
            </a:r>
            <a:endParaRPr lang="en-US" sz="1350" dirty="0"/>
          </a:p>
        </p:txBody>
      </p:sp>
      <p:sp>
        <p:nvSpPr>
          <p:cNvPr id="19" name="R2_tk440"/>
          <p:cNvSpPr/>
          <p:nvPr/>
        </p:nvSpPr>
        <p:spPr>
          <a:xfrm>
            <a:off x="5989320" y="2057400"/>
            <a:ext cx="50292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0" name="cd_441"/>
          <p:cNvSpPr/>
          <p:nvPr/>
        </p:nvSpPr>
        <p:spPr>
          <a:xfrm>
            <a:off x="548640" y="2624328"/>
            <a:ext cx="6035040" cy="530352"/>
          </a:xfrm>
          <a:prstGeom prst="roundRect">
            <a:avLst>
              <a:gd name="adj" fmla="val 24138"/>
            </a:avLst>
          </a:prstGeom>
          <a:solidFill>
            <a:srgbClr val="FFFFFF"/>
          </a:solidFill>
          <a:ln w="28575">
            <a:solidFill>
              <a:srgbClr val="A8E5BE"/>
            </a:solidFill>
            <a:prstDash val="solid"/>
          </a:ln>
          <a:effectLst>
            <a:outerShdw sx="100000" sy="100000" kx="0" ky="0" algn="bl" rotWithShape="0" blurRad="88900" dist="31750" dir="5400000">
              <a:srgbClr val="1B2559">
                <a:alpha val="12000"/>
              </a:srgbClr>
            </a:outerShdw>
          </a:effectLst>
        </p:spPr>
      </p:sp>
      <p:sp>
        <p:nvSpPr>
          <p:cNvPr id="21" name="te_442"/>
          <p:cNvSpPr/>
          <p:nvPr/>
        </p:nvSpPr>
        <p:spPr>
          <a:xfrm>
            <a:off x="640080" y="2660904"/>
            <a:ext cx="4572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2" name="tt_443"/>
          <p:cNvSpPr/>
          <p:nvPr/>
        </p:nvSpPr>
        <p:spPr>
          <a:xfrm>
            <a:off x="1188720" y="2624328"/>
            <a:ext cx="4754880" cy="530352"/>
          </a:xfrm>
          <a:prstGeom prst="rect">
            <a:avLst/>
          </a:prstGeom>
          <a:noFill/>
          <a:ln/>
        </p:spPr>
        <p:txBody>
          <a:bodyPr wrap="square" lIns="0" tIns="0" rIns="0" bIns="0" rtlCol="0" anchor="ctr">
            <a:normAutofit/>
          </a:bodyPr>
          <a:lstStyle/>
          <a:p>
            <a:pPr indent="0" marL="0">
              <a:buNone/>
            </a:pPr>
            <a:r>
              <a:rPr lang="en-US" sz="1350" dirty="0">
                <a:solidFill>
                  <a:srgbClr val="1B2559"/>
                </a:solidFill>
                <a:latin typeface="Segoe UI Semibold" pitchFamily="34" charset="0"/>
                <a:ea typeface="Segoe UI Semibold" pitchFamily="34" charset="-122"/>
                <a:cs typeface="Segoe UI Semibold" pitchFamily="34" charset="-120"/>
              </a:rPr>
              <a:t>Practised sounds and word stress</a:t>
            </a:r>
            <a:endParaRPr lang="en-US" sz="1350" dirty="0"/>
          </a:p>
        </p:txBody>
      </p:sp>
      <p:sp>
        <p:nvSpPr>
          <p:cNvPr id="23" name="R3_tk444"/>
          <p:cNvSpPr/>
          <p:nvPr/>
        </p:nvSpPr>
        <p:spPr>
          <a:xfrm>
            <a:off x="5989320" y="2660904"/>
            <a:ext cx="50292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4" name="cd_445"/>
          <p:cNvSpPr/>
          <p:nvPr/>
        </p:nvSpPr>
        <p:spPr>
          <a:xfrm>
            <a:off x="548640" y="3227832"/>
            <a:ext cx="6035040" cy="530352"/>
          </a:xfrm>
          <a:prstGeom prst="roundRect">
            <a:avLst>
              <a:gd name="adj" fmla="val 24138"/>
            </a:avLst>
          </a:prstGeom>
          <a:solidFill>
            <a:srgbClr val="FFFFFF"/>
          </a:solidFill>
          <a:ln w="28575">
            <a:solidFill>
              <a:srgbClr val="FFE07A"/>
            </a:solidFill>
            <a:prstDash val="solid"/>
          </a:ln>
          <a:effectLst>
            <a:outerShdw sx="100000" sy="100000" kx="0" ky="0" algn="bl" rotWithShape="0" blurRad="88900" dist="31750" dir="5400000">
              <a:srgbClr val="1B2559">
                <a:alpha val="12000"/>
              </a:srgbClr>
            </a:outerShdw>
          </a:effectLst>
        </p:spPr>
      </p:sp>
      <p:sp>
        <p:nvSpPr>
          <p:cNvPr id="25" name="te_446"/>
          <p:cNvSpPr/>
          <p:nvPr/>
        </p:nvSpPr>
        <p:spPr>
          <a:xfrm>
            <a:off x="640080" y="3264408"/>
            <a:ext cx="4572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6" name="tt_447"/>
          <p:cNvSpPr/>
          <p:nvPr/>
        </p:nvSpPr>
        <p:spPr>
          <a:xfrm>
            <a:off x="1188720" y="3227832"/>
            <a:ext cx="4754880" cy="530352"/>
          </a:xfrm>
          <a:prstGeom prst="rect">
            <a:avLst/>
          </a:prstGeom>
          <a:noFill/>
          <a:ln/>
        </p:spPr>
        <p:txBody>
          <a:bodyPr wrap="square" lIns="0" tIns="0" rIns="0" bIns="0" rtlCol="0" anchor="ctr">
            <a:normAutofit/>
          </a:bodyPr>
          <a:lstStyle/>
          <a:p>
            <a:pPr indent="0" marL="0">
              <a:buNone/>
            </a:pPr>
            <a:r>
              <a:rPr lang="en-US" sz="1350" dirty="0">
                <a:solidFill>
                  <a:srgbClr val="1B2559"/>
                </a:solidFill>
                <a:latin typeface="Segoe UI Semibold" pitchFamily="34" charset="0"/>
                <a:ea typeface="Segoe UI Semibold" pitchFamily="34" charset="-122"/>
                <a:cs typeface="Segoe UI Semibold" pitchFamily="34" charset="-120"/>
              </a:rPr>
              <a:t>Read about the best sport for your body type</a:t>
            </a:r>
            <a:endParaRPr lang="en-US" sz="1350" dirty="0"/>
          </a:p>
        </p:txBody>
      </p:sp>
      <p:sp>
        <p:nvSpPr>
          <p:cNvPr id="27" name="R4_tk448"/>
          <p:cNvSpPr/>
          <p:nvPr/>
        </p:nvSpPr>
        <p:spPr>
          <a:xfrm>
            <a:off x="5989320" y="3264408"/>
            <a:ext cx="50292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8" name="cd_449"/>
          <p:cNvSpPr/>
          <p:nvPr/>
        </p:nvSpPr>
        <p:spPr>
          <a:xfrm>
            <a:off x="548640" y="3831336"/>
            <a:ext cx="6035040" cy="530352"/>
          </a:xfrm>
          <a:prstGeom prst="roundRect">
            <a:avLst>
              <a:gd name="adj" fmla="val 24138"/>
            </a:avLst>
          </a:prstGeom>
          <a:solidFill>
            <a:srgbClr val="FFFFFF"/>
          </a:solidFill>
          <a:ln w="28575">
            <a:solidFill>
              <a:srgbClr val="F7A6C4"/>
            </a:solidFill>
            <a:prstDash val="solid"/>
          </a:ln>
          <a:effectLst>
            <a:outerShdw sx="100000" sy="100000" kx="0" ky="0" algn="bl" rotWithShape="0" blurRad="88900" dist="31750" dir="5400000">
              <a:srgbClr val="1B2559">
                <a:alpha val="12000"/>
              </a:srgbClr>
            </a:outerShdw>
          </a:effectLst>
        </p:spPr>
      </p:sp>
      <p:sp>
        <p:nvSpPr>
          <p:cNvPr id="29" name="te_450"/>
          <p:cNvSpPr/>
          <p:nvPr/>
        </p:nvSpPr>
        <p:spPr>
          <a:xfrm>
            <a:off x="640080" y="3867912"/>
            <a:ext cx="4572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30" name="tt_451"/>
          <p:cNvSpPr/>
          <p:nvPr/>
        </p:nvSpPr>
        <p:spPr>
          <a:xfrm>
            <a:off x="1188720" y="3831336"/>
            <a:ext cx="4754880" cy="530352"/>
          </a:xfrm>
          <a:prstGeom prst="rect">
            <a:avLst/>
          </a:prstGeom>
          <a:noFill/>
          <a:ln/>
        </p:spPr>
        <p:txBody>
          <a:bodyPr wrap="square" lIns="0" tIns="0" rIns="0" bIns="0" rtlCol="0" anchor="ctr">
            <a:normAutofit/>
          </a:bodyPr>
          <a:lstStyle/>
          <a:p>
            <a:pPr indent="0" marL="0">
              <a:buNone/>
            </a:pPr>
            <a:r>
              <a:rPr lang="en-US" sz="1350" dirty="0">
                <a:solidFill>
                  <a:srgbClr val="1B2559"/>
                </a:solidFill>
                <a:latin typeface="Segoe UI Semibold" pitchFamily="34" charset="0"/>
                <a:ea typeface="Segoe UI Semibold" pitchFamily="34" charset="-122"/>
                <a:cs typeface="Segoe UI Semibold" pitchFamily="34" charset="-120"/>
              </a:rPr>
              <a:t>Watched people talk about sport, films and photos</a:t>
            </a:r>
            <a:endParaRPr lang="en-US" sz="1350" dirty="0"/>
          </a:p>
        </p:txBody>
      </p:sp>
      <p:sp>
        <p:nvSpPr>
          <p:cNvPr id="31" name="R5_tk452"/>
          <p:cNvSpPr/>
          <p:nvPr/>
        </p:nvSpPr>
        <p:spPr>
          <a:xfrm>
            <a:off x="5989320" y="3867912"/>
            <a:ext cx="50292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32" name="st_453"/>
          <p:cNvSpPr/>
          <p:nvPr/>
        </p:nvSpPr>
        <p:spPr>
          <a:xfrm rot="180000">
            <a:off x="6949440" y="1691640"/>
            <a:ext cx="1828800" cy="1188720"/>
          </a:xfrm>
          <a:prstGeom prst="rect">
            <a:avLst/>
          </a:prstGeom>
          <a:solidFill>
            <a:srgbClr val="FFE07A"/>
          </a:solidFill>
          <a:ln>
            <a:solidFill>
              <a:srgbClr val="FFE07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  👌  👎</a:t>
            </a:r>
            <a:endParaRPr lang="en-US" sz="1300" dirty="0"/>
          </a:p>
          <a:p>
            <a:pPr algn="ct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Can you do it now?</a:t>
            </a:r>
            <a:endParaRPr lang="en-US" sz="1300" dirty="0"/>
          </a:p>
          <a:p>
            <a:pPr algn="ct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Ora sai farlo?</a:t>
            </a:r>
            <a:endParaRPr lang="en-US" sz="13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4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400"/>
                                        <p:tgtEl>
                                          <p:spTgt spid="2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400"/>
                                        <p:tgtEl>
                                          <p:spTgt spid="2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1"/>
                                        </p:tgtEl>
                                        <p:attrNameLst>
                                          <p:attrName>style.visibility</p:attrName>
                                        </p:attrNameLst>
                                      </p:cBhvr>
                                      <p:to>
                                        <p:strVal val="visible"/>
                                      </p:to>
                                    </p:set>
                                    <p:animEffect transition="in" filter="fade">
                                      <p:cBhvr>
                                        <p:cTn id="27"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R5-6 Revise and Check 5&amp;6</dc:title>
  <dc:subject>PptxGenJS Presentation</dc:subject>
  <dc:creator>PptxGenJS</dc:creator>
  <cp:lastModifiedBy>PptxGenJS</cp:lastModifiedBy>
  <cp:revision>1</cp:revision>
  <dcterms:created xsi:type="dcterms:W3CDTF">2026-10-23T08:00:07Z</dcterms:created>
  <dcterms:modified xsi:type="dcterms:W3CDTF">2026-10-23T08:00:07Z</dcterms:modified>
</cp:coreProperties>
</file>