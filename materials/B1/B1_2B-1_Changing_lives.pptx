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Show the photo: a safari lorry broken down on a red dirt road. Ask the THINK question; take 3–4 ideas (they wait for a mechanic… they meet the villagers… they go home…). Don't give the answer: 'In this story, the tourists built a SCHOOL!' comes out in the listening. Read the 'Today you're going to…' list together. lorry = camion (UK; US truck) – teach it now if nobody knows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ask 'Is there a time?' for each one – time = past simple, no time / just / yet = present perfect. Check one irregular verb: go – went – gone. Recall the scam stories: 'What should you do?' (hang up, delete it). Then play 'Odd one out!' – it uses these time words, participles and scam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(3 min)
RETRIEVAL WARMER (4 min) · books closed · format: odd one out with a reason (different from 2A-1's 'Who am I?' and 2A-2's 'Fix it!'). Two teams. Read the four items; 20 seconds; a team calls out the odd one out AND the reason – the reason wins the point (accept other logical reasons). Click once per line. Answers: 1 yesterday (finished time → past simple; just / already / yet → present perfect) · 2 Have you ever…? (present perfect; When / What time / How much did…? = past simple) · 3 went is past simple, not a participle (go – went – gone) · 4 Naomi Cooper wrote the scam email; Heather, Carl and Paul lost money in the scams in 2.12 · 5 click on the link (the others are what you should do – 'I'd hang up / delete it') · 6 the three scams in 2.12: an email from a friend abroad (Heather), a lottery win (Carl), a phone call from 'the bank' (Paul). Quick follow-up: 'Have you ever got a strange email?' – 'When did you get it?' ICQ: 'Is the answer enough?' (no –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Listening · key words first (3 min)
ELICIT + CONSOLIDATE (3 min). Only the words that block the two listenings (TG: remind them what a charity is, pre-teach orphan; book glossary: orphan, malnutrition, seeds, FAL, AIDS). Do 0 with the class. Pairs guess the meaning; click once per word – each chip gives the meaning AND the Italian (consolidation for slower students on the same slide). Also tell them (no slide): FAL = Functional Adult Literacy (classes where adults learn to read and write) · AIDS = an illness which attacks the body's immune system. Drill: orphan /ˈɔːfn/, charity /ˈtʃærəti/, malnutrition /ˌmælnjuˈtrɪʃn/, lorry /ˈlɒri/. CCQ: 'My car broke down – can I drive it?' (no). 'We raise money – do we spend it or collect it?' (collect it). SENSITIVE CONTENT (orphans, illness): keep it factual and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Listening · prediction (2 min)
PREDICTION (2 min). The introduction is written for this slide (it summarises audio 2.13 – no new facts). Pairs guess what each number is about: a year? a number of children? groups? e.g. 'I think 75 is the number of children in the school.' Every pair must guess before listening. Answers come in the two listenings (don't confirm now): 2008 = the charity started · 75 = children at the new school · 2010 = the new school opened (14 March) · 2012 = the children's home started · 57 = children in the children's home now · 11 = more FAL groups (adult classes). ICQ: 'Do you know or are you guessing?'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Listening · Part 1 · the story (3 min)
LISTENING PART 1 (3 min). Before listening: pairs look at A–C and guess the story (30 seconds). Play 2.13 ONCE (again if needed). Pairs compare, then click once per question. Answers (TG key 1a / audio script 2.13), book questions 1–4 and 9: 1 in 2008 · 2 on safari to see the mountain gorillas · 3 it broke down (in a small village called Igayaza) · 4 a primary school for orphans · 9 on 14 March 2010, with 75 children. Check the predictions: 2008, 2010, 75 ✓. Questions 5–8 are on the next slide. ICQ: 'Do you need every word?' (no – just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Listening · Part 1 · detail (3 min)
DETAIL (3 min). These gaps cover the book's questions 5–8 (5 What condition was the building in? 6 What did one of the tourists do with the children? 7 What did the head teacher tell them they needed? 8 What did the tourists decide to do when they got home?). Pairs guess first, then play 2.13 again. Click once per line. Answers (audio script 2.13): falling · broken · songs · school · charity · stopped. TG key: 5 terrible condition: the walls were falling down, the blackboards were broken, there weren't many desks · 6 she started teaching them English songs · 7 a new school · 8 to set up a charity to raise money to rebuild the school. Point at the last line: 'hasn't stopped' – since then – from 2010 until NOW (today's grammar is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Listening · Part 2 · the interview · gist (3 min)
GIST (3 min). Jane Cadwallader is the secretary of Adelante Africa – the teacher who sang songs with the children in 2008 (photo A). Students read the six projects (jumbled), then listen and number them in the order Jane mentions them. Play 2.14 ONCE. Pairs compare. Click once per project. Order (audio script 2.14): 1 a children's home (since 2012, 57 children) · 2 vegetable seeds (to improve their diet) · 3 water tanks (to collect rainwater) · 4 a sunflower oil factory · 5 FAL groups – classes for adults (since 2011, 11 more groups) · 6 a secondary school (just built, not finished). Check the predictions: 2012, 57, 11 ✓. This replaces SB 1b (numbering photos A–H, which we don't have on the slide); TG key for 1b if students use the book: B (example), 2 A · 3 E · 4 D · 5 H · 6 F · 7 C · 8 G. Then Jane also talks about two children: John and Rose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Listening · Part 2 · detail (4 min)
DETAIL (4 min). The nine SB 1c sentences, shortened to fit. Pairs first correct what they remember (1 min), then play 2.14 again, pausing after each project. Click once per sentence. Answers (TG key 1c / audio script): 1 there are 57 children in the children's home · 2 people in rural Uganda don't eat (a lot of) fruit and vegetables · 3 tanks to collect rainwater · 4 sunflower oil (healthier than palm oil) · 5 adults, mainly women, learn to read and write (and speak English) · 6 they have just built a secondary school · 7 the Ugandan volunteers make it all possible · 8 John Muzzei is studying to be a nurse · 9 when Rose arrived she never smiled – now she's running around, laughing. Sensitive content (orphans, AIDS, malnutrition): keep it factual and focus on what the charity has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Speaking · helping people (3 min)
RESPONSE TO THE LISTENING (3 min). Question 1 = SB 1d. Questions appear ONE PER CLICK – about 40 seconds each. Question 4 is the provocative one: get a quick show of hands (yes / no) before pairs argue. Uses 'would' from 2A part 1 (I'd love to…). Feedback: one or two interesting answers. Don't correct now – note errors for later. Voluntary work = volontariato (TG: a volunteer = someone who works without being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Grammar · from the interview (3 min)
NOTICING (3 min). Sentence 1 is the example (have been working). Pairs complete 2–6 with a past participle or -ing form from the box (Remember card). Play 2.15 to check. Click once per gap: the word appears highlighted IN the sentence. Answers (TG key / audio script 2.15): 2 doing · 3 running · 4 building · 5 started · 6 changed. Then CCQs: 'Is Jane still working with Adelante Africa?' (yes) · 'Is the children's home still running?' (yes) · 'When did it start?' (2012). So these sentences are about a period from the PAST until NOW (SB 2b question 1: answer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Grammar · guided discovery (2 min)
GUIDED DISCOVERY (2 min). SB 2b question 2: 'What's the difference in form between the verbs in 1–4 and in 5 and 6?' Pairs match each sentence to a colour; click once per sentence. Answers (TG key 2b): 1–4 present perfect continuous = have / has + been + -ing (BLUE) · 5–6 present perfect simple = have / has + past participle (GREEN). Question 1 answer: b – a period of time from the past until now. Ask: 'Can you see a word that comes again and again?' (since). Don't explain action / non-action yet –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Grammar · the rule (4 min)
RULE (4 min). Click once per column: the examples appear (meaning first, then form). All examples are from audio 2.16 and 2.17 (🎧 play them from the book audio – Grammar Bank 2B): students listen and repeat, copying the rhythm. Rules (TG grammar notes): How long…? + for / since uses the PRESENT PERFECT, not the present (✗ How long do you live in this town?). With ACTION verbs (learn, go, play, do, wait) we normally use the continuous; with NON-ACTION verbs (be, have, know, like, love) the simple. live and work can be both (live and work box). The continuous is also for a continuous action that has just stopped or is still going on (You look tired. – I've been cleaning the house all afternoon). Column 3 picture: paint on his face → 'He's been painting!' Last click = the Italian-speaker warning: 'Studio inglese da tre anni' = I've been studying English for three years (✗ I study / I am studying… for). Other typical mistakes: forgetting been (✗ How long have you learning…?). CCQs: 'They've known each other for ten years – do they know each other now?' (yes) · 'Your eyes are red – are you crying now?' (no, just before) · 'for or since… April?' (since – 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Grammar game · for or since? (2 min)
GAME (2 min). Fast and noisy. Read each time expression; the first team to shout the right word wins a point. Click once per line. Answers: 1 since 2012 (audio 2.15) · 2 for ten years (2.16) · 3 since lunchtime (2.18) · 4 for ages · 5 since I was a child · 6 for about three years (2.17). Rule to repeat: for + a PERIOD (how long), since + a POINT (when it started). Bonus point: make a true sentence about you with the expression ('I've lived in Bagheria since I was a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Grammar · controlled practice (3 min)
CONTROLLED PRACTICE (3 min). Do 0 with the class. Pairs say (or write) the full sentence: present perfect continuous or simple, for or since. Click once per line. Answers: 1–5 = Grammar Bank 2B a 1–5 (TG key): She's been studying English for three years · How long have they been watching TV? · It's been raining since lunchtime · I haven't been living here for very long · How long have you been learning to drive? · 6 = audio 2.16 (have = non-action → simple). The prompts are written for this slide from the key answers – the book's exercise layout may differ (Grammar Bank b 1–5 can be done in the book if there's time; c 1–10 is homework). Student as teacher: say WHY (action or non-action? period or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Pronunciation · sentence stress (3 min)
PRONUNCIATION (3 min). 3a: play 2.18, pausing; students write only the stressed words (the pink boxes in the book). Click 1 = the stressed words, click 2 = the full sentence (for each sentence). Answers (TG key 3a): 1 learning, French (book: How long is given) · 2 learning, French, three, years · 3 How, long, raining · 4 raining, lunchtime. 3b: pairs rebuild the unstressed words; listen again to check. 3c: drill chorally, then individually – stressed words strong and slow, the small words fast and weak: been /bɪn/, for /fə/, has /həz/, have /həv/. Italian speakers give every word the same stress – exaggerate the big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Pronunciation game · make questions (3 min)
GAME (3 min). SB 3d as a team game. Play 2.19 (🎧 from the book audio), pausing after each sentence – or read the sentence yourself. Teams have 10 seconds to say the How long…? question with the right stress; click to show the answer (audio script 2.19 – items 1, 2, 3, 4, 5 and 8; also 6 'I'm going to salsa classes' → How long have you been going to salsa classes? and 7 'It's raining' → How long has it been raining?). 1 point for the right question, +1 if the rhythm is good (HOW LONG has it been SNOWing?). Extra support (TG): write HOW LONG HAS … BEEN + -ing…? / HOW LONG HAVE … BEEN + -ing…? on the board. ICQ: 'Do you repeat the sentence?' (no – you ask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Speaking · How long…? (6 min)
SPEAKING (6 min). Squares appear ONE PER CLICK – go through all six first and elicit for each: action or non-action? → the question form (TG extra support): know, have → simple (How long have you known…? NOT been knowing); play, use, learn → continuous; live → both. 4a (1 min): students write ONE word or name for at least 6 squares (book p.21 has 10 squares; the others: a charity you support · a bar or restaurant you often go to · a possession which is very important for you · an organization, club or gym you are a member of). 4b: swap. The partner GUESSES what each word means ('Is Irina your sister?'), then the first question MUST be How long…?, then 2 more questions in any tense (book models: How long have you been supporting Adelante Africa? – Have you ever been to Uganda? / How long have you known Irina? – How often do you see her?). Demonstrate with two squares of your own on the board. Monitor: note 4–5 errors (been knowing, I study… since) for delayed correction at the end. Students choose which squares to fill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Grammar game · recent actions (4 min)
GAME (4 min). Like 2.17: 'Your eyes are red. Have you been crying? – No, I've been chopping onions.' A new mimer for each word stands with their back to the class, facing the screen; everyone else closes their eyes / turns round while you click. The mimer acts the RESULT (out of breath, red eyes, wet hair, paint on hands, chocolate on the mouth, bored, yawning, heavy bags) – no words. The team asks full questions: 'Have you been running?' The mimer nods or shakes their head. Point only for a correct question with been + -ing. When they guess, everybody says the answer together: 'He's been running!' Round 1 = Team A mimers, round 2 = Team B. ICQ: 'Do you mime the action or how you look after?' (how you look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Exit · what can you remember? (2 min)
RETRIEVAL EXIT (2 min). Books closed. Pairs: 3 Adelante Africa projects (children's home, water tanks, sunflower oil, FAL groups, secondary school, seeds), 2 How long…? questions (e.g. How long have you been learning English? / How long have you known your best friend?), 1 true for / since sentence. A few students share. Then 1 minute of delayed error correction from the speaking (4–5 errors on the board, students correct). Set homework (on the slide and in the app): Workbook 2B 1a–1e and 2a (2b uses the audio – Online Practice) + Grammar Bank 2B c 1–10 + Writing An informal email p.116 (TG: go through a and b in class if there's time; the email in c as homework – they stayed with British friends for a week last month and write to say thank you; d = check for mistakes; answers to a and b in the teacher key) + the 2B-1 homework sheet (easier version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Extra · Grammar PCM (8 min)
EXTRA (8 min, if there's time – or extra homework). Grammar photocopiable 2B (one copy per student). a: look at the pictures – what has been happening? Use the present perfect continuous (contractions). b: complete the questions and answers with the present perfect simple or continuous and for or since. Click once per line. Official answers (TG PCM): a 2 She's been playing the violin for two hours. 3 She hasn't been feeling well since last week. 4 They've been waiting for the bus for a long time. 5 It's been raining all day. 6 They've been watching TV since they got home. b 2 A have the children been doing B 've been doing, for · 3 A have you been going out B 've been going out since · 4 A has Penny been B 's been single since · 5 A have you had B 've had, for · 6 A has Pete been trying B 's been trying since · 7 A has your sister wanted B 's wanted, since · 8 A have you known B 've known, for. Student as teacher: action or non-action? for or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Extra · find someone who… (6 min)
EXTRA (6 min, if there's time). Mingle. The prompts appear ONE PER CLICK – show all six, then students copy them and stand up. They ask a yes / no question first; when someone says yes, they write the name and ask How long…? + one more question. First to complete 4 names wins. Checks action vs non-action (been learning / had / known / lived). The official activity is the Communicative photocopiable 2B 'How long have you been…?' (card game, B1_2B_Photocopiables.pdf p.2): questions in bold, e.g. Occupation – How long have you been working or studying there? · House – How long have you been living there? · Social media – How long have you been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audio" Target="../media/media-6-5.mp3"/><Relationship Id="rId6" Type="http://schemas.microsoft.com/office/2007/relationships/media" Target="../media/media-6-5.mp3"/><Relationship Id="rId7" Type="http://schemas.openxmlformats.org/officeDocument/2006/relationships/image" Target="../media/image-6-7.png"/><Relationship Id="rId8" Type="http://schemas.openxmlformats.org/officeDocument/2006/relationships/audio" Target="../media/media-6-8.mp3"/><Relationship Id="rId9" Type="http://schemas.microsoft.com/office/2007/relationships/media" Target="../media/media-6-8.mp3"/><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audio" Target="../media/media-7-5.mp3"/><Relationship Id="rId6" Type="http://schemas.microsoft.com/office/2007/relationships/media" Target="../media/media-7-5.mp3"/><Relationship Id="rId7" Type="http://schemas.openxmlformats.org/officeDocument/2006/relationships/image" Target="../media/image-7-7.png"/><Relationship Id="rId8" Type="http://schemas.openxmlformats.org/officeDocument/2006/relationships/audio" Target="../media/media-7-8.mp3"/><Relationship Id="rId9" Type="http://schemas.microsoft.com/office/2007/relationships/media" Target="../media/media-7-8.mp3"/><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audio" Target="../media/media-8-5.mp3"/><Relationship Id="rId6" Type="http://schemas.microsoft.com/office/2007/relationships/media" Target="../media/media-8-5.mp3"/><Relationship Id="rId7" Type="http://schemas.openxmlformats.org/officeDocument/2006/relationships/image" Target="../media/image-8-7.png"/><Relationship Id="rId8" Type="http://schemas.openxmlformats.org/officeDocument/2006/relationships/audio" Target="../media/media-8-8.mp3"/><Relationship Id="rId9" Type="http://schemas.microsoft.com/office/2007/relationships/media" Target="../media/media-8-8.mp3"/><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audio" Target="../media/media-9-5.mp3"/><Relationship Id="rId6" Type="http://schemas.microsoft.com/office/2007/relationships/media" Target="../media/media-9-5.mp3"/><Relationship Id="rId7" Type="http://schemas.openxmlformats.org/officeDocument/2006/relationships/image" Target="../media/image-9-7.png"/><Relationship Id="rId8" Type="http://schemas.openxmlformats.org/officeDocument/2006/relationships/audio" Target="../media/media-9-8.mp3"/><Relationship Id="rId9" Type="http://schemas.microsoft.com/office/2007/relationships/media" Target="../media/media-9-8.mp3"/><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audio" Target="../media/media-11-5.mp3"/><Relationship Id="rId6" Type="http://schemas.microsoft.com/office/2007/relationships/media" Target="../media/media-11-5.mp3"/><Relationship Id="rId7" Type="http://schemas.openxmlformats.org/officeDocument/2006/relationships/image" Target="../media/image-11-7.png"/><Relationship Id="rId8" Type="http://schemas.openxmlformats.org/officeDocument/2006/relationships/audio" Target="../media/media-11-8.mp3"/><Relationship Id="rId9" Type="http://schemas.microsoft.com/office/2007/relationships/media" Target="../media/media-11-8.mp3"/><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audio" Target="../media/media-13-5.mp3"/><Relationship Id="rId6" Type="http://schemas.microsoft.com/office/2007/relationships/media" Target="../media/media-13-5.mp3"/><Relationship Id="rId7" Type="http://schemas.openxmlformats.org/officeDocument/2006/relationships/image" Target="../media/image-13-7.png"/><Relationship Id="rId8" Type="http://schemas.openxmlformats.org/officeDocument/2006/relationships/audio" Target="../media/media-13-8.mp3"/><Relationship Id="rId9" Type="http://schemas.microsoft.com/office/2007/relationships/media" Target="../media/media-13-8.mp3"/><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slideLayout" Target="../slideLayouts/slideLayout1.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audio" Target="../media/media-16-5.mp3"/><Relationship Id="rId6" Type="http://schemas.microsoft.com/office/2007/relationships/media" Target="../media/media-16-5.mp3"/><Relationship Id="rId7" Type="http://schemas.openxmlformats.org/officeDocument/2006/relationships/image" Target="../media/image-16-7.png"/><Relationship Id="rId8" Type="http://schemas.openxmlformats.org/officeDocument/2006/relationships/audio" Target="../media/media-16-8.mp3"/><Relationship Id="rId9" Type="http://schemas.microsoft.com/office/2007/relationships/media" Target="../media/media-16-8.mp3"/><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pp.20–21</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2B-1</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Changing lives</a:t>
            </a:r>
            <a:endParaRPr lang="en-US" sz="24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A charity, a school and How long…?</a:t>
            </a:r>
            <a:endParaRPr lang="en-US" sz="110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pitchFamily="34" charset="0"/>
                <a:ea typeface="Segoe UI" pitchFamily="34" charset="-122"/>
                <a:cs typeface="Segoe UI" pitchFamily="34" charset="-120"/>
              </a:rPr>
              <a:t>🎧  listen to the true story of a charity</a:t>
            </a:r>
            <a:endParaRPr lang="en-US" sz="1050" dirty="0"/>
          </a:p>
          <a:p>
            <a:pPr indent="0" marL="0">
              <a:spcBef>
                <a:spcPts val="500"/>
              </a:spcBef>
              <a:spcAft>
                <a:spcPts val="200"/>
              </a:spcAft>
              <a:buNone/>
            </a:pPr>
            <a:r>
              <a:rPr lang="en-US" sz="1050" dirty="0">
                <a:solidFill>
                  <a:srgbClr val="1B2559"/>
                </a:solidFill>
                <a:latin typeface="Segoe UI" pitchFamily="34" charset="0"/>
                <a:ea typeface="Segoe UI" pitchFamily="34" charset="-122"/>
                <a:cs typeface="Segoe UI" pitchFamily="34" charset="-120"/>
              </a:rPr>
              <a:t>💬  talk about helping other people</a:t>
            </a:r>
            <a:endParaRPr lang="en-US" sz="1050" dirty="0"/>
          </a:p>
          <a:p>
            <a:pPr indent="0" marL="0">
              <a:spcBef>
                <a:spcPts val="500"/>
              </a:spcBef>
              <a:spcAft>
                <a:spcPts val="200"/>
              </a:spcAft>
              <a:buNone/>
            </a:pPr>
            <a:r>
              <a:rPr lang="en-US" sz="1050" dirty="0">
                <a:solidFill>
                  <a:srgbClr val="1B2559"/>
                </a:solidFill>
                <a:latin typeface="Segoe UI" pitchFamily="34" charset="0"/>
                <a:ea typeface="Segoe UI" pitchFamily="34" charset="-122"/>
                <a:cs typeface="Segoe UI" pitchFamily="34" charset="-120"/>
              </a:rPr>
              <a:t>✏️  ask How long…? with for and since</a:t>
            </a:r>
            <a:endParaRPr lang="en-US" sz="1050" dirty="0"/>
          </a:p>
          <a:p>
            <a:pPr indent="0" marL="0">
              <a:spcBef>
                <a:spcPts val="500"/>
              </a:spcBef>
              <a:spcAft>
                <a:spcPts val="200"/>
              </a:spcAft>
              <a:buNone/>
            </a:pPr>
            <a:r>
              <a:rPr lang="en-US" sz="1050" dirty="0">
                <a:solidFill>
                  <a:srgbClr val="1B2559"/>
                </a:solidFill>
                <a:latin typeface="Segoe UI" pitchFamily="34" charset="0"/>
                <a:ea typeface="Segoe UI" pitchFamily="34" charset="-122"/>
                <a:cs typeface="Segoe UI" pitchFamily="34" charset="-120"/>
              </a:rPr>
              <a:t>🔊  say How long…? questions with the right stress</a:t>
            </a:r>
            <a:endParaRPr lang="en-US" sz="105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 think I'd ask the people in the village for help.</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2b1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Your lorry breaks down in a tiny village in Uganda. What happens next?</a:t>
            </a:r>
            <a:endParaRPr lang="en-US" sz="15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2a2_scam_email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2A: money experiences and scams</a:t>
            </a:r>
            <a:endParaRPr lang="en-US" sz="1100" dirty="0"/>
          </a:p>
          <a:p>
            <a:pPr marL="152400" indent="-152400">
              <a:spcBef>
                <a:spcPts val="500"/>
              </a:spcBef>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present perfect or past simple?</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Present perfect = no time</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Have you ever lost your wallet?</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I've just paid the bill.</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We haven't paid the insurance yet.</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ever · never · just · already · yet</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Past simple = when?</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 bought these shoes yesterday.</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When did you get the email?</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He lost €2,000 last year.</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yesterday · last week · in 2020 · ago</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786384"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a scam</a:t>
            </a:r>
            <a:endParaRPr lang="en-US" sz="1050" dirty="0"/>
          </a:p>
        </p:txBody>
      </p:sp>
      <p:sp>
        <p:nvSpPr>
          <p:cNvPr id="28" name="w_42"/>
          <p:cNvSpPr/>
          <p:nvPr/>
        </p:nvSpPr>
        <p:spPr>
          <a:xfrm>
            <a:off x="4105656" y="4178808"/>
            <a:ext cx="1019556"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a scammer</a:t>
            </a:r>
            <a:endParaRPr lang="en-US" sz="1050" dirty="0"/>
          </a:p>
        </p:txBody>
      </p:sp>
      <p:sp>
        <p:nvSpPr>
          <p:cNvPr id="29" name="w_43"/>
          <p:cNvSpPr/>
          <p:nvPr/>
        </p:nvSpPr>
        <p:spPr>
          <a:xfrm>
            <a:off x="5198364" y="4178808"/>
            <a:ext cx="941832"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a victim</a:t>
            </a:r>
            <a:endParaRPr lang="en-US" sz="1050" dirty="0"/>
          </a:p>
        </p:txBody>
      </p:sp>
      <p:sp>
        <p:nvSpPr>
          <p:cNvPr id="30" name="w_44"/>
          <p:cNvSpPr/>
          <p:nvPr/>
        </p:nvSpPr>
        <p:spPr>
          <a:xfrm>
            <a:off x="6213348" y="4178808"/>
            <a:ext cx="1097280"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suspicious</a:t>
            </a:r>
            <a:endParaRPr lang="en-US" sz="1050" dirty="0"/>
          </a:p>
        </p:txBody>
      </p:sp>
      <p:sp>
        <p:nvSpPr>
          <p:cNvPr id="31" name="w_45"/>
          <p:cNvSpPr/>
          <p:nvPr/>
        </p:nvSpPr>
        <p:spPr>
          <a:xfrm>
            <a:off x="7383780" y="4178808"/>
            <a:ext cx="864108"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hang up</a:t>
            </a:r>
            <a:endParaRPr lang="en-US" sz="1050" dirty="0"/>
          </a:p>
        </p:txBody>
      </p:sp>
      <p:sp>
        <p:nvSpPr>
          <p:cNvPr id="32" name="w_46"/>
          <p:cNvSpPr/>
          <p:nvPr/>
        </p:nvSpPr>
        <p:spPr>
          <a:xfrm>
            <a:off x="3246120" y="4544568"/>
            <a:ext cx="1252728"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bank details</a:t>
            </a:r>
            <a:endParaRPr lang="en-US" sz="1050" dirty="0"/>
          </a:p>
        </p:txBody>
      </p:sp>
      <p:sp>
        <p:nvSpPr>
          <p:cNvPr id="33" name="w_47"/>
          <p:cNvSpPr/>
          <p:nvPr/>
        </p:nvSpPr>
        <p:spPr>
          <a:xfrm>
            <a:off x="4572000" y="4544568"/>
            <a:ext cx="1563624"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go – went – gone</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8"/>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9"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50"/>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Odd one out!</a:t>
            </a:r>
            <a:endParaRPr lang="en-US" sz="2500" dirty="0"/>
          </a:p>
        </p:txBody>
      </p:sp>
      <p:pic>
        <p:nvPicPr>
          <p:cNvPr id="6" name="brP_51"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52"/>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the odd one out. Say why!</a:t>
            </a:r>
            <a:endParaRPr lang="en-US" sz="1250" dirty="0"/>
          </a:p>
        </p:txBody>
      </p:sp>
      <p:sp>
        <p:nvSpPr>
          <p:cNvPr id="8" name="insIT_5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Trova l'intruso. Di' perché!</a:t>
            </a:r>
            <a:endParaRPr lang="en-US" sz="950" dirty="0"/>
          </a:p>
        </p:txBody>
      </p:sp>
      <p:sp>
        <p:nvSpPr>
          <p:cNvPr id="9" name="cmd_54"/>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55"/>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1" name="meta_56"/>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57"/>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Warmer · last lesson   ·   📖 Recycles 2A part 2: present perfect or past simple, scams (audio 2.12, the scam email)</a:t>
            </a:r>
            <a:endParaRPr lang="en-US" sz="800" dirty="0"/>
          </a:p>
        </p:txBody>
      </p:sp>
      <p:sp>
        <p:nvSpPr>
          <p:cNvPr id="15" name="cd_60"/>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63"/>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Read the four words.</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Leggi le quattro parole.</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Teams: find the odd one out – 20 seconds!</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Squadre: trovate l'intruso – 20 secondi!</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Odd one out + the reason = 1 point.</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Intruso + il motivo = 1 punto.</a:t>
            </a:r>
            <a:endParaRPr lang="en-US" sz="1000" dirty="0"/>
          </a:p>
        </p:txBody>
      </p:sp>
      <p:sp>
        <p:nvSpPr>
          <p:cNvPr id="19" name="pf_64"/>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65" descr="/home/claude/lls-course/v2/cache/spare_future_technology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bd_66"/>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67"/>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just · already · yesterday · yet</a:t>
            </a:r>
            <a:endParaRPr lang="en-US" sz="1100" dirty="0"/>
          </a:p>
        </p:txBody>
      </p:sp>
      <p:sp>
        <p:nvSpPr>
          <p:cNvPr id="23" name="R1_chip68"/>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yesterday → past simple (the others: present perfect)</a:t>
            </a:r>
            <a:endParaRPr lang="en-US" sz="1100" dirty="0"/>
          </a:p>
        </p:txBody>
      </p:sp>
      <p:sp>
        <p:nvSpPr>
          <p:cNvPr id="24" name="bd_69"/>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70"/>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When did…? · Have you ever…? · What time did…? · How much did…?</a:t>
            </a:r>
            <a:endParaRPr lang="en-US" sz="900" dirty="0"/>
          </a:p>
        </p:txBody>
      </p:sp>
      <p:sp>
        <p:nvSpPr>
          <p:cNvPr id="26" name="R2_chip71"/>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Have you ever…? → present perfect</a:t>
            </a:r>
            <a:endParaRPr lang="en-US" sz="1100" dirty="0"/>
          </a:p>
        </p:txBody>
      </p:sp>
      <p:sp>
        <p:nvSpPr>
          <p:cNvPr id="27" name="bd_72"/>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73"/>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won · lost · went · forgotten</a:t>
            </a:r>
            <a:endParaRPr lang="en-US" sz="1100" dirty="0"/>
          </a:p>
        </p:txBody>
      </p:sp>
      <p:sp>
        <p:nvSpPr>
          <p:cNvPr id="29" name="R3_chip74"/>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went → past simple (participle = gone)</a:t>
            </a:r>
            <a:endParaRPr lang="en-US" sz="1100" dirty="0"/>
          </a:p>
        </p:txBody>
      </p:sp>
      <p:sp>
        <p:nvSpPr>
          <p:cNvPr id="30" name="bd_75"/>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76"/>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Heather · Carl · Paul · Naomi</a:t>
            </a:r>
            <a:endParaRPr lang="en-US" sz="1100" dirty="0"/>
          </a:p>
        </p:txBody>
      </p:sp>
      <p:sp>
        <p:nvSpPr>
          <p:cNvPr id="32" name="R4_chip77"/>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Naomi → the scammer (the others were victims)</a:t>
            </a:r>
            <a:endParaRPr lang="en-US" sz="1100" dirty="0"/>
          </a:p>
        </p:txBody>
      </p:sp>
      <p:sp>
        <p:nvSpPr>
          <p:cNvPr id="33" name="bd_78"/>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79"/>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hang up · delete it · ignore it · click on the link</a:t>
            </a:r>
            <a:endParaRPr lang="en-US" sz="1100" dirty="0"/>
          </a:p>
        </p:txBody>
      </p:sp>
      <p:sp>
        <p:nvSpPr>
          <p:cNvPr id="35" name="R5_chip80"/>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click on the link → the dangerous one!</a:t>
            </a:r>
            <a:endParaRPr lang="en-US" sz="1100" dirty="0"/>
          </a:p>
        </p:txBody>
      </p:sp>
      <p:sp>
        <p:nvSpPr>
          <p:cNvPr id="36" name="bd_81"/>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7" name="gq_82"/>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 friend abroad · a lottery win · a call from 'the bank' · a birthday present</a:t>
            </a:r>
            <a:endParaRPr lang="en-US" sz="900" dirty="0"/>
          </a:p>
        </p:txBody>
      </p:sp>
      <p:sp>
        <p:nvSpPr>
          <p:cNvPr id="38" name="R6_chip83"/>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 birthday present → not a scam in the stories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4"/>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5"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86"/>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Key words first</a:t>
            </a:r>
            <a:endParaRPr lang="en-US" sz="2500" dirty="0"/>
          </a:p>
        </p:txBody>
      </p:sp>
      <p:pic>
        <p:nvPicPr>
          <p:cNvPr id="6" name="brP_87"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88"/>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meaning. Then click.</a:t>
            </a:r>
            <a:endParaRPr lang="en-US" sz="1250" dirty="0"/>
          </a:p>
        </p:txBody>
      </p:sp>
      <p:sp>
        <p:nvSpPr>
          <p:cNvPr id="8" name="insIT_8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il significato. Poi clicca.</a:t>
            </a:r>
            <a:endParaRPr lang="en-US" sz="950" dirty="0"/>
          </a:p>
        </p:txBody>
      </p:sp>
      <p:sp>
        <p:nvSpPr>
          <p:cNvPr id="9" name="cmd_90"/>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91"/>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92"/>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9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9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Listening · key words first   ·   📖 SB pp.20–21 · glossary + TG pre-teaching (charity, orphan, lorry, take shelter)</a:t>
            </a:r>
            <a:endParaRPr lang="en-US" sz="800" dirty="0"/>
          </a:p>
        </p:txBody>
      </p:sp>
      <p:sp>
        <p:nvSpPr>
          <p:cNvPr id="14" name="cd_95"/>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9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9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98"/>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an orphan → a child without a mother or father · un orfano / un'orfana</a:t>
            </a:r>
            <a:endParaRPr lang="en-US" sz="1050" dirty="0"/>
          </a:p>
        </p:txBody>
      </p:sp>
      <p:sp>
        <p:nvSpPr>
          <p:cNvPr id="18" name="pf_99"/>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100" descr="/home/claude/lls-course/v2/cache/2b1_schoolchildren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101"/>
          <p:cNvSpPr/>
          <p:nvPr/>
        </p:nvSpPr>
        <p:spPr>
          <a:xfrm>
            <a:off x="3246120" y="14447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102"/>
          <p:cNvSpPr/>
          <p:nvPr/>
        </p:nvSpPr>
        <p:spPr>
          <a:xfrm>
            <a:off x="3630168" y="141732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charity</a:t>
            </a:r>
            <a:endParaRPr lang="en-US" sz="1150" dirty="0"/>
          </a:p>
        </p:txBody>
      </p:sp>
      <p:sp>
        <p:nvSpPr>
          <p:cNvPr id="22" name="R1_chip103"/>
          <p:cNvSpPr/>
          <p:nvPr/>
        </p:nvSpPr>
        <p:spPr>
          <a:xfrm>
            <a:off x="5806440" y="14173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helps people in need · un ente benefico</a:t>
            </a:r>
            <a:endParaRPr lang="en-US" sz="1000" dirty="0"/>
          </a:p>
        </p:txBody>
      </p:sp>
      <p:sp>
        <p:nvSpPr>
          <p:cNvPr id="23" name="bd_104"/>
          <p:cNvSpPr/>
          <p:nvPr/>
        </p:nvSpPr>
        <p:spPr>
          <a:xfrm>
            <a:off x="3246120" y="185623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105"/>
          <p:cNvSpPr/>
          <p:nvPr/>
        </p:nvSpPr>
        <p:spPr>
          <a:xfrm>
            <a:off x="3630168" y="182880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lorry</a:t>
            </a:r>
            <a:endParaRPr lang="en-US" sz="1150" dirty="0"/>
          </a:p>
        </p:txBody>
      </p:sp>
      <p:sp>
        <p:nvSpPr>
          <p:cNvPr id="25" name="R2_chip106"/>
          <p:cNvSpPr/>
          <p:nvPr/>
        </p:nvSpPr>
        <p:spPr>
          <a:xfrm>
            <a:off x="5806440" y="18288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big truck · un camion</a:t>
            </a:r>
            <a:endParaRPr lang="en-US" sz="1000" dirty="0"/>
          </a:p>
        </p:txBody>
      </p:sp>
      <p:sp>
        <p:nvSpPr>
          <p:cNvPr id="26" name="bd_107"/>
          <p:cNvSpPr/>
          <p:nvPr/>
        </p:nvSpPr>
        <p:spPr>
          <a:xfrm>
            <a:off x="3246120" y="22677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108"/>
          <p:cNvSpPr/>
          <p:nvPr/>
        </p:nvSpPr>
        <p:spPr>
          <a:xfrm>
            <a:off x="3630168" y="224028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break down</a:t>
            </a:r>
            <a:endParaRPr lang="en-US" sz="1150" dirty="0"/>
          </a:p>
        </p:txBody>
      </p:sp>
      <p:sp>
        <p:nvSpPr>
          <p:cNvPr id="28" name="R3_chip109"/>
          <p:cNvSpPr/>
          <p:nvPr/>
        </p:nvSpPr>
        <p:spPr>
          <a:xfrm>
            <a:off x="5806440" y="22402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stop working (a car…) · guastarsi</a:t>
            </a:r>
            <a:endParaRPr lang="en-US" sz="1000" dirty="0"/>
          </a:p>
        </p:txBody>
      </p:sp>
      <p:sp>
        <p:nvSpPr>
          <p:cNvPr id="29" name="bd_110"/>
          <p:cNvSpPr/>
          <p:nvPr/>
        </p:nvSpPr>
        <p:spPr>
          <a:xfrm>
            <a:off x="3246120" y="267919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111"/>
          <p:cNvSpPr/>
          <p:nvPr/>
        </p:nvSpPr>
        <p:spPr>
          <a:xfrm>
            <a:off x="3630168" y="265176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take shelter</a:t>
            </a:r>
            <a:endParaRPr lang="en-US" sz="1150" dirty="0"/>
          </a:p>
        </p:txBody>
      </p:sp>
      <p:sp>
        <p:nvSpPr>
          <p:cNvPr id="31" name="R4_chip112"/>
          <p:cNvSpPr/>
          <p:nvPr/>
        </p:nvSpPr>
        <p:spPr>
          <a:xfrm>
            <a:off x="5806440" y="265176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go inside to be safe · ripararsi</a:t>
            </a:r>
            <a:endParaRPr lang="en-US" sz="1000" dirty="0"/>
          </a:p>
        </p:txBody>
      </p:sp>
      <p:sp>
        <p:nvSpPr>
          <p:cNvPr id="32" name="bd_113"/>
          <p:cNvSpPr/>
          <p:nvPr/>
        </p:nvSpPr>
        <p:spPr>
          <a:xfrm>
            <a:off x="3246120" y="30906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114"/>
          <p:cNvSpPr/>
          <p:nvPr/>
        </p:nvSpPr>
        <p:spPr>
          <a:xfrm>
            <a:off x="3630168" y="306324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raise money</a:t>
            </a:r>
            <a:endParaRPr lang="en-US" sz="1150" dirty="0"/>
          </a:p>
        </p:txBody>
      </p:sp>
      <p:sp>
        <p:nvSpPr>
          <p:cNvPr id="34" name="R5_chip115"/>
          <p:cNvSpPr/>
          <p:nvPr/>
        </p:nvSpPr>
        <p:spPr>
          <a:xfrm>
            <a:off x="5806440" y="306324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collect money for a good cause · raccogliere fondi</a:t>
            </a:r>
            <a:endParaRPr lang="en-US" sz="1000" dirty="0"/>
          </a:p>
        </p:txBody>
      </p:sp>
      <p:sp>
        <p:nvSpPr>
          <p:cNvPr id="35" name="bd_116"/>
          <p:cNvSpPr/>
          <p:nvPr/>
        </p:nvSpPr>
        <p:spPr>
          <a:xfrm>
            <a:off x="3246120" y="350215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117"/>
          <p:cNvSpPr/>
          <p:nvPr/>
        </p:nvSpPr>
        <p:spPr>
          <a:xfrm>
            <a:off x="3630168" y="347472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set up</a:t>
            </a:r>
            <a:endParaRPr lang="en-US" sz="1150" dirty="0"/>
          </a:p>
        </p:txBody>
      </p:sp>
      <p:sp>
        <p:nvSpPr>
          <p:cNvPr id="37" name="R6_chip118"/>
          <p:cNvSpPr/>
          <p:nvPr/>
        </p:nvSpPr>
        <p:spPr>
          <a:xfrm>
            <a:off x="5806440" y="34747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start (a charity, a business) · fondare</a:t>
            </a:r>
            <a:endParaRPr lang="en-US" sz="1000" dirty="0"/>
          </a:p>
        </p:txBody>
      </p:sp>
      <p:sp>
        <p:nvSpPr>
          <p:cNvPr id="38" name="bd_119"/>
          <p:cNvSpPr/>
          <p:nvPr/>
        </p:nvSpPr>
        <p:spPr>
          <a:xfrm>
            <a:off x="3246120" y="391363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9" name="q_120"/>
          <p:cNvSpPr/>
          <p:nvPr/>
        </p:nvSpPr>
        <p:spPr>
          <a:xfrm>
            <a:off x="3630168" y="388620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seeds</a:t>
            </a:r>
            <a:endParaRPr lang="en-US" sz="1150" dirty="0"/>
          </a:p>
        </p:txBody>
      </p:sp>
      <p:sp>
        <p:nvSpPr>
          <p:cNvPr id="40" name="R7_chip121"/>
          <p:cNvSpPr/>
          <p:nvPr/>
        </p:nvSpPr>
        <p:spPr>
          <a:xfrm>
            <a:off x="5806440" y="38862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new plant grows from them · i semi</a:t>
            </a:r>
            <a:endParaRPr lang="en-US" sz="1000" dirty="0"/>
          </a:p>
        </p:txBody>
      </p:sp>
      <p:sp>
        <p:nvSpPr>
          <p:cNvPr id="41" name="bd_122"/>
          <p:cNvSpPr/>
          <p:nvPr/>
        </p:nvSpPr>
        <p:spPr>
          <a:xfrm>
            <a:off x="3246120" y="432511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2" name="q_123"/>
          <p:cNvSpPr/>
          <p:nvPr/>
        </p:nvSpPr>
        <p:spPr>
          <a:xfrm>
            <a:off x="3630168" y="429768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malnutrition</a:t>
            </a:r>
            <a:endParaRPr lang="en-US" sz="1150" dirty="0"/>
          </a:p>
        </p:txBody>
      </p:sp>
      <p:sp>
        <p:nvSpPr>
          <p:cNvPr id="43" name="R8_chip124"/>
          <p:cNvSpPr/>
          <p:nvPr/>
        </p:nvSpPr>
        <p:spPr>
          <a:xfrm>
            <a:off x="5806440" y="42976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not having enough (good) food · la malnutrizione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5"/>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6"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127"/>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Guess the numbers</a:t>
            </a:r>
            <a:endParaRPr lang="en-US" sz="2400" dirty="0"/>
          </a:p>
        </p:txBody>
      </p:sp>
      <p:pic>
        <p:nvPicPr>
          <p:cNvPr id="6" name="brP_128"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129"/>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what are the numbers about?</a:t>
            </a:r>
            <a:endParaRPr lang="en-US" sz="1250" dirty="0"/>
          </a:p>
        </p:txBody>
      </p:sp>
      <p:sp>
        <p:nvSpPr>
          <p:cNvPr id="8" name="insIT_13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di cosa parlano i numeri?</a:t>
            </a:r>
            <a:endParaRPr lang="en-US" sz="950" dirty="0"/>
          </a:p>
        </p:txBody>
      </p:sp>
      <p:sp>
        <p:nvSpPr>
          <p:cNvPr id="9" name="cmd_13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132"/>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133"/>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134"/>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Prediction</a:t>
            </a:r>
            <a:endParaRPr lang="en-US" sz="850" dirty="0"/>
          </a:p>
        </p:txBody>
      </p:sp>
      <p:pic>
        <p:nvPicPr>
          <p:cNvPr id="13" name="logo_13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3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Listening · prediction   ·   📖 SB p.20 · 1 · numbers from audio 2.13 and 2.14</a:t>
            </a:r>
            <a:endParaRPr lang="en-US" sz="800" dirty="0"/>
          </a:p>
        </p:txBody>
      </p:sp>
      <p:sp>
        <p:nvSpPr>
          <p:cNvPr id="15" name="cd_137"/>
          <p:cNvSpPr/>
          <p:nvPr/>
        </p:nvSpPr>
        <p:spPr>
          <a:xfrm>
            <a:off x="320040" y="1417320"/>
            <a:ext cx="5029200" cy="1965960"/>
          </a:xfrm>
          <a:prstGeom prst="roundRect">
            <a:avLst>
              <a:gd name="adj" fmla="val 6512"/>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hl_138"/>
          <p:cNvSpPr/>
          <p:nvPr/>
        </p:nvSpPr>
        <p:spPr>
          <a:xfrm>
            <a:off x="502920" y="1508760"/>
            <a:ext cx="4663440" cy="548640"/>
          </a:xfrm>
          <a:prstGeom prst="rect">
            <a:avLst/>
          </a:prstGeom>
          <a:noFill/>
          <a:ln/>
        </p:spPr>
        <p:txBody>
          <a:bodyPr wrap="square" lIns="0" tIns="0" rIns="0" bIns="0" rtlCol="0" anchor="ctr"/>
          <a:lstStyle/>
          <a:p>
            <a:pPr indent="0" marL="0">
              <a:buNone/>
            </a:pPr>
            <a:r>
              <a:rPr lang="en-US" sz="2800" b="1" dirty="0">
                <a:solidFill>
                  <a:srgbClr val="1F6F43"/>
                </a:solidFill>
                <a:latin typeface="Georgia" pitchFamily="34" charset="0"/>
                <a:ea typeface="Georgia" pitchFamily="34" charset="-122"/>
                <a:cs typeface="Georgia" pitchFamily="34" charset="-120"/>
              </a:rPr>
              <a:t>Adelante Africa</a:t>
            </a:r>
            <a:endParaRPr lang="en-US" sz="2800" dirty="0"/>
          </a:p>
        </p:txBody>
      </p:sp>
      <p:sp>
        <p:nvSpPr>
          <p:cNvPr id="17" name="sf_139"/>
          <p:cNvSpPr/>
          <p:nvPr/>
        </p:nvSpPr>
        <p:spPr>
          <a:xfrm>
            <a:off x="521208" y="2039112"/>
            <a:ext cx="4663440" cy="1188720"/>
          </a:xfrm>
          <a:prstGeom prst="rect">
            <a:avLst/>
          </a:prstGeom>
          <a:noFill/>
          <a:ln/>
        </p:spPr>
        <p:txBody>
          <a:bodyPr wrap="square" lIns="0" tIns="0" rIns="0" bIns="0" rtlCol="0" anchor="t">
            <a:normAutofit/>
          </a:bodyPr>
          <a:lstStyle/>
          <a:p>
            <a:pPr indent="0" marL="0">
              <a:buNone/>
            </a:pPr>
            <a:r>
              <a:rPr lang="en-US" sz="1300" i="1" dirty="0">
                <a:solidFill>
                  <a:srgbClr val="1B2559"/>
                </a:solidFill>
                <a:latin typeface="Georgia" pitchFamily="34" charset="0"/>
                <a:ea typeface="Georgia" pitchFamily="34" charset="-122"/>
                <a:cs typeface="Georgia" pitchFamily="34" charset="-120"/>
              </a:rPr>
              <a:t>A group of tourists on holiday in Uganda. A broken lorry. A school with no desks. This is how a small charity started – and it's still changing lives today.</a:t>
            </a:r>
            <a:endParaRPr lang="en-US" sz="1300" dirty="0"/>
          </a:p>
        </p:txBody>
      </p:sp>
      <p:sp>
        <p:nvSpPr>
          <p:cNvPr id="18" name="nbl_140"/>
          <p:cNvSpPr/>
          <p:nvPr/>
        </p:nvSpPr>
        <p:spPr>
          <a:xfrm>
            <a:off x="365760" y="3566160"/>
            <a:ext cx="493776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NUMBER BANK · guess where they go!</a:t>
            </a:r>
            <a:endParaRPr lang="en-US" sz="1100" dirty="0"/>
          </a:p>
        </p:txBody>
      </p:sp>
      <p:sp>
        <p:nvSpPr>
          <p:cNvPr id="19" name="bd_141"/>
          <p:cNvSpPr/>
          <p:nvPr/>
        </p:nvSpPr>
        <p:spPr>
          <a:xfrm>
            <a:off x="365760"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2008</a:t>
            </a:r>
            <a:endParaRPr lang="en-US" sz="800" dirty="0"/>
          </a:p>
        </p:txBody>
      </p:sp>
      <p:sp>
        <p:nvSpPr>
          <p:cNvPr id="20" name="bd_142"/>
          <p:cNvSpPr/>
          <p:nvPr/>
        </p:nvSpPr>
        <p:spPr>
          <a:xfrm>
            <a:off x="987552"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75</a:t>
            </a:r>
            <a:endParaRPr lang="en-US" sz="1400" dirty="0"/>
          </a:p>
        </p:txBody>
      </p:sp>
      <p:sp>
        <p:nvSpPr>
          <p:cNvPr id="21" name="bd_143"/>
          <p:cNvSpPr/>
          <p:nvPr/>
        </p:nvSpPr>
        <p:spPr>
          <a:xfrm>
            <a:off x="1609344" y="3931920"/>
            <a:ext cx="548640" cy="5486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2010</a:t>
            </a:r>
            <a:endParaRPr lang="en-US" sz="800" dirty="0"/>
          </a:p>
        </p:txBody>
      </p:sp>
      <p:sp>
        <p:nvSpPr>
          <p:cNvPr id="22" name="bd_144"/>
          <p:cNvSpPr/>
          <p:nvPr/>
        </p:nvSpPr>
        <p:spPr>
          <a:xfrm>
            <a:off x="2231136" y="3931920"/>
            <a:ext cx="548640" cy="548640"/>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2012</a:t>
            </a:r>
            <a:endParaRPr lang="en-US" sz="800" dirty="0"/>
          </a:p>
        </p:txBody>
      </p:sp>
      <p:sp>
        <p:nvSpPr>
          <p:cNvPr id="23" name="bd_145"/>
          <p:cNvSpPr/>
          <p:nvPr/>
        </p:nvSpPr>
        <p:spPr>
          <a:xfrm>
            <a:off x="2852928"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57</a:t>
            </a:r>
            <a:endParaRPr lang="en-US" sz="1400" dirty="0"/>
          </a:p>
        </p:txBody>
      </p:sp>
      <p:sp>
        <p:nvSpPr>
          <p:cNvPr id="24" name="bd_146"/>
          <p:cNvSpPr/>
          <p:nvPr/>
        </p:nvSpPr>
        <p:spPr>
          <a:xfrm>
            <a:off x="3474720"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11</a:t>
            </a:r>
            <a:endParaRPr lang="en-US" sz="1400" dirty="0"/>
          </a:p>
        </p:txBody>
      </p:sp>
      <p:sp>
        <p:nvSpPr>
          <p:cNvPr id="25" name="pf_147"/>
          <p:cNvSpPr/>
          <p:nvPr/>
        </p:nvSpPr>
        <p:spPr>
          <a:xfrm rot="90000">
            <a:off x="5577840" y="1234440"/>
            <a:ext cx="3246120" cy="3383280"/>
          </a:xfrm>
          <a:prstGeom prst="roundRect">
            <a:avLst>
              <a:gd name="adj" fmla="val 47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148" descr="/home/claude/lls-course/v2/cache/2b1_gorillas_jpg_759x792_31.png">    </p:cNvPr>
          <p:cNvPicPr>
            <a:picLocks noChangeAspect="1"/>
          </p:cNvPicPr>
          <p:nvPr/>
        </p:nvPicPr>
        <p:blipFill>
          <a:blip r:embed="rId5"/>
          <a:stretch>
            <a:fillRect/>
          </a:stretch>
        </p:blipFill>
        <p:spPr>
          <a:xfrm rot="90000">
            <a:off x="5623560" y="1280160"/>
            <a:ext cx="3154680" cy="3291840"/>
          </a:xfrm>
          <a:prstGeom prst="rect">
            <a:avLst/>
          </a:prstGeom>
        </p:spPr>
      </p:pic>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4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50"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51"/>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The lorry broke down…</a:t>
            </a:r>
            <a:endParaRPr lang="en-US" sz="2400" dirty="0"/>
          </a:p>
        </p:txBody>
      </p:sp>
      <p:pic>
        <p:nvPicPr>
          <p:cNvPr id="6" name="brP_152"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153"/>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Part 1. Answer the questions.</a:t>
            </a:r>
            <a:endParaRPr lang="en-US" sz="1250" dirty="0"/>
          </a:p>
        </p:txBody>
      </p:sp>
      <p:sp>
        <p:nvSpPr>
          <p:cNvPr id="8" name="insIT_15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la Parte 1. Rispondi alle domande.</a:t>
            </a:r>
            <a:endParaRPr lang="en-US" sz="950" dirty="0"/>
          </a:p>
        </p:txBody>
      </p:sp>
      <p:sp>
        <p:nvSpPr>
          <p:cNvPr id="9" name="cmd_155"/>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15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15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1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Listening · Part 1 · the story   ·   📖 SB p.20 · 1a · audio 2.13</a:t>
            </a:r>
            <a:endParaRPr lang="en-US" sz="800" dirty="0"/>
          </a:p>
        </p:txBody>
      </p:sp>
      <p:sp>
        <p:nvSpPr>
          <p:cNvPr id="14" name="ap_160"/>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2.13  ·  play once</a:t>
            </a:r>
            <a:endParaRPr lang="en-US" sz="1100" dirty="0"/>
          </a:p>
        </p:txBody>
      </p:sp>
      <p:sp>
        <p:nvSpPr>
          <p:cNvPr id="15" name="ah_161"/>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162"/>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163"/>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164" descr="/home/claude/lls-course/v2/cache/2b1_cover_jpg_407x297_31.png">    </p:cNvPr>
          <p:cNvPicPr>
            <a:picLocks noChangeAspect="1"/>
          </p:cNvPicPr>
          <p:nvPr/>
        </p:nvPicPr>
        <p:blipFill>
          <a:blip r:embed="rId11"/>
          <a:stretch>
            <a:fillRect/>
          </a:stretch>
        </p:blipFill>
        <p:spPr>
          <a:xfrm rot="-90000">
            <a:off x="457200" y="2103120"/>
            <a:ext cx="1691640" cy="1234440"/>
          </a:xfrm>
          <a:prstGeom prst="rect">
            <a:avLst/>
          </a:prstGeom>
        </p:spPr>
      </p:pic>
      <p:sp>
        <p:nvSpPr>
          <p:cNvPr id="21" name="bd_165"/>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166"/>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167" descr="/home/claude/lls-course/v2/cache/2b1_gorillas_jpg_407x297_31.png">    </p:cNvPr>
          <p:cNvPicPr>
            <a:picLocks noChangeAspect="1"/>
          </p:cNvPicPr>
          <p:nvPr/>
        </p:nvPicPr>
        <p:blipFill>
          <a:blip r:embed="rId12"/>
          <a:stretch>
            <a:fillRect/>
          </a:stretch>
        </p:blipFill>
        <p:spPr>
          <a:xfrm rot="90000">
            <a:off x="2331720" y="2103120"/>
            <a:ext cx="1691640" cy="1234440"/>
          </a:xfrm>
          <a:prstGeom prst="rect">
            <a:avLst/>
          </a:prstGeom>
        </p:spPr>
      </p:pic>
      <p:sp>
        <p:nvSpPr>
          <p:cNvPr id="24" name="bd_168"/>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pf_169"/>
          <p:cNvSpPr/>
          <p:nvPr/>
        </p:nvSpPr>
        <p:spPr>
          <a:xfrm rot="-90000">
            <a:off x="416052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170" descr="/home/claude/lls-course/v2/cache/2b1_schoolchildren_jpg_407x297_31.png">    </p:cNvPr>
          <p:cNvPicPr>
            <a:picLocks noChangeAspect="1"/>
          </p:cNvPicPr>
          <p:nvPr/>
        </p:nvPicPr>
        <p:blipFill>
          <a:blip r:embed="rId13"/>
          <a:stretch>
            <a:fillRect/>
          </a:stretch>
        </p:blipFill>
        <p:spPr>
          <a:xfrm rot="-90000">
            <a:off x="4206240" y="2103120"/>
            <a:ext cx="1691640" cy="1234440"/>
          </a:xfrm>
          <a:prstGeom prst="rect">
            <a:avLst/>
          </a:prstGeom>
        </p:spPr>
      </p:pic>
      <p:sp>
        <p:nvSpPr>
          <p:cNvPr id="27" name="bd_171"/>
          <p:cNvSpPr/>
          <p:nvPr/>
        </p:nvSpPr>
        <p:spPr>
          <a:xfrm>
            <a:off x="4059936" y="1956816"/>
            <a:ext cx="420624" cy="42062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C</a:t>
            </a:r>
            <a:endParaRPr lang="en-US" sz="1400" dirty="0"/>
          </a:p>
        </p:txBody>
      </p:sp>
      <p:sp>
        <p:nvSpPr>
          <p:cNvPr id="28" name="cd_172"/>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9" name="ii_173"/>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174"/>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31" name="il_175"/>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Look at A–C. Tell the story in 3 sentences!</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A–C. Racconta la storia in 3 frasi!</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Listen. Answer the questions on the right.</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Ascolta. Rispondi alle domande a destra.</a:t>
            </a:r>
            <a:endParaRPr lang="en-US" sz="700" dirty="0"/>
          </a:p>
        </p:txBody>
      </p:sp>
      <p:sp>
        <p:nvSpPr>
          <p:cNvPr id="32" name="lq_176"/>
          <p:cNvSpPr/>
          <p:nvPr/>
        </p:nvSpPr>
        <p:spPr>
          <a:xfrm>
            <a:off x="6035040" y="2103120"/>
            <a:ext cx="1234440" cy="438912"/>
          </a:xfrm>
          <a:prstGeom prst="roundRect">
            <a:avLst>
              <a:gd name="adj" fmla="val 20833"/>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Started when?</a:t>
            </a:r>
            <a:endParaRPr lang="en-US" sz="1100" dirty="0"/>
          </a:p>
        </p:txBody>
      </p:sp>
      <p:sp>
        <p:nvSpPr>
          <p:cNvPr id="33" name="R1_chip177"/>
          <p:cNvSpPr/>
          <p:nvPr/>
        </p:nvSpPr>
        <p:spPr>
          <a:xfrm>
            <a:off x="7315200" y="2103120"/>
            <a:ext cx="1554480" cy="438912"/>
          </a:xfrm>
          <a:prstGeom prst="roundRect">
            <a:avLst>
              <a:gd name="adj" fmla="val 2083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in 2008</a:t>
            </a:r>
            <a:endParaRPr lang="en-US" sz="1050" dirty="0"/>
          </a:p>
        </p:txBody>
      </p:sp>
      <p:sp>
        <p:nvSpPr>
          <p:cNvPr id="34" name="lq_178"/>
          <p:cNvSpPr/>
          <p:nvPr/>
        </p:nvSpPr>
        <p:spPr>
          <a:xfrm>
            <a:off x="6035040" y="2633472"/>
            <a:ext cx="1234440" cy="438912"/>
          </a:xfrm>
          <a:prstGeom prst="roundRect">
            <a:avLst>
              <a:gd name="adj" fmla="val 20833"/>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Why in Uganda?</a:t>
            </a:r>
            <a:endParaRPr lang="en-US" sz="1100" dirty="0"/>
          </a:p>
        </p:txBody>
      </p:sp>
      <p:sp>
        <p:nvSpPr>
          <p:cNvPr id="35" name="R2_chip179"/>
          <p:cNvSpPr/>
          <p:nvPr/>
        </p:nvSpPr>
        <p:spPr>
          <a:xfrm>
            <a:off x="7315200" y="2633472"/>
            <a:ext cx="1554480" cy="438912"/>
          </a:xfrm>
          <a:prstGeom prst="roundRect">
            <a:avLst>
              <a:gd name="adj" fmla="val 2083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to see the mountain gorillas</a:t>
            </a:r>
            <a:endParaRPr lang="en-US" sz="1050" dirty="0"/>
          </a:p>
        </p:txBody>
      </p:sp>
      <p:sp>
        <p:nvSpPr>
          <p:cNvPr id="36" name="lq_180"/>
          <p:cNvSpPr/>
          <p:nvPr/>
        </p:nvSpPr>
        <p:spPr>
          <a:xfrm>
            <a:off x="6035040" y="3163824"/>
            <a:ext cx="1234440" cy="438912"/>
          </a:xfrm>
          <a:prstGeom prst="roundRect">
            <a:avLst>
              <a:gd name="adj" fmla="val 20833"/>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lorry…?</a:t>
            </a:r>
            <a:endParaRPr lang="en-US" sz="1100" dirty="0"/>
          </a:p>
        </p:txBody>
      </p:sp>
      <p:sp>
        <p:nvSpPr>
          <p:cNvPr id="37" name="R3_chip181"/>
          <p:cNvSpPr/>
          <p:nvPr/>
        </p:nvSpPr>
        <p:spPr>
          <a:xfrm>
            <a:off x="7315200" y="3163824"/>
            <a:ext cx="1554480" cy="438912"/>
          </a:xfrm>
          <a:prstGeom prst="roundRect">
            <a:avLst>
              <a:gd name="adj" fmla="val 2083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broke down (in Igayaza)</a:t>
            </a:r>
            <a:endParaRPr lang="en-US" sz="1050" dirty="0"/>
          </a:p>
        </p:txBody>
      </p:sp>
      <p:sp>
        <p:nvSpPr>
          <p:cNvPr id="38" name="lq_182"/>
          <p:cNvSpPr/>
          <p:nvPr/>
        </p:nvSpPr>
        <p:spPr>
          <a:xfrm>
            <a:off x="6035040" y="3694176"/>
            <a:ext cx="1234440" cy="438912"/>
          </a:xfrm>
          <a:prstGeom prst="roundRect">
            <a:avLst>
              <a:gd name="adj" fmla="val 20833"/>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building?</a:t>
            </a:r>
            <a:endParaRPr lang="en-US" sz="1100" dirty="0"/>
          </a:p>
        </p:txBody>
      </p:sp>
      <p:sp>
        <p:nvSpPr>
          <p:cNvPr id="39" name="R4_chip183"/>
          <p:cNvSpPr/>
          <p:nvPr/>
        </p:nvSpPr>
        <p:spPr>
          <a:xfrm>
            <a:off x="7315200" y="3694176"/>
            <a:ext cx="1554480" cy="438912"/>
          </a:xfrm>
          <a:prstGeom prst="roundRect">
            <a:avLst>
              <a:gd name="adj" fmla="val 2083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school for orphans</a:t>
            </a:r>
            <a:endParaRPr lang="en-US" sz="1050" dirty="0"/>
          </a:p>
        </p:txBody>
      </p:sp>
      <p:sp>
        <p:nvSpPr>
          <p:cNvPr id="40" name="lq_184"/>
          <p:cNvSpPr/>
          <p:nvPr/>
        </p:nvSpPr>
        <p:spPr>
          <a:xfrm>
            <a:off x="6035040" y="4224528"/>
            <a:ext cx="1234440" cy="438912"/>
          </a:xfrm>
          <a:prstGeom prst="roundRect">
            <a:avLst>
              <a:gd name="adj" fmla="val 20833"/>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New school opened?</a:t>
            </a:r>
            <a:endParaRPr lang="en-US" sz="1100" dirty="0"/>
          </a:p>
        </p:txBody>
      </p:sp>
      <p:sp>
        <p:nvSpPr>
          <p:cNvPr id="41" name="R5_chip185"/>
          <p:cNvSpPr/>
          <p:nvPr/>
        </p:nvSpPr>
        <p:spPr>
          <a:xfrm>
            <a:off x="7315200" y="4224528"/>
            <a:ext cx="1554480" cy="438912"/>
          </a:xfrm>
          <a:prstGeom prst="roundRect">
            <a:avLst>
              <a:gd name="adj" fmla="val 2083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14 March 2010 · 75 children</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4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4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6"/>
                                        </p:tgtEl>
                                      </p:cBhvr>
                                    </p:cmd>
                                  </p:childTnLst>
                                </p:cTn>
                              </p:par>
                            </p:childTnLst>
                          </p:cTn>
                        </p:par>
                      </p:childTnLst>
                    </p:cTn>
                  </p:par>
                </p:childTnLst>
              </p:cTn>
              <p:nextCondLst>
                <p:cond evt="onClick" delay="0">
                  <p:tgtEl>
                    <p:spTgt spid="16"/>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audio>
              <p:cMediaNode vol="80000">
                <p:cTn id="38" fill="hold" display="0">
                  <p:stCondLst>
                    <p:cond delay="indefinite"/>
                  </p:stCondLst>
                  <p:endCondLst>
                    <p:cond evt="onStopAudio" delay="0">
                      <p:tgtEl>
                        <p:sldTgt/>
                      </p:tgtEl>
                    </p:cond>
                  </p:endCondLst>
                </p:cTn>
                <p:tgtEl>
                  <p:spTgt spid="16"/>
                </p:tgtEl>
              </p:cMediaNode>
            </p:audio>
            <p:audio>
              <p:cMediaNode vol="80000">
                <p:cTn id="39" fill="hold" display="0">
                  <p:stCondLst>
                    <p:cond delay="indefinite"/>
                  </p:stCondLst>
                  <p:endCondLst>
                    <p:cond evt="onStopAudio" delay="0">
                      <p:tgtEl>
                        <p:sldTgt/>
                      </p:tgtEl>
                    </p:cond>
                  </p:endCondLst>
                </p:cTn>
                <p:tgtEl>
                  <p:spTgt spid="1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87"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188"/>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Listen again: complete</a:t>
            </a:r>
            <a:endParaRPr lang="en-US" sz="2500" dirty="0"/>
          </a:p>
        </p:txBody>
      </p:sp>
      <p:pic>
        <p:nvPicPr>
          <p:cNvPr id="6" name="brP_189"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190"/>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words. Then listen again.</a:t>
            </a:r>
            <a:endParaRPr lang="en-US" sz="1250" dirty="0"/>
          </a:p>
        </p:txBody>
      </p:sp>
      <p:sp>
        <p:nvSpPr>
          <p:cNvPr id="8" name="insIT_19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le parole. Poi riascolta.</a:t>
            </a:r>
            <a:endParaRPr lang="en-US" sz="950" dirty="0"/>
          </a:p>
        </p:txBody>
      </p:sp>
      <p:sp>
        <p:nvSpPr>
          <p:cNvPr id="9" name="cmd_192"/>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193"/>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194"/>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195"/>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19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9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Listening · Part 1 · detail   ·   📖 SB p.20 · 1a questions 5–8 · audio 2.13</a:t>
            </a:r>
            <a:endParaRPr lang="en-US" sz="800" dirty="0"/>
          </a:p>
        </p:txBody>
      </p:sp>
      <p:sp>
        <p:nvSpPr>
          <p:cNvPr id="15" name="ap_198"/>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2.13  ·  play again</a:t>
            </a:r>
            <a:endParaRPr lang="en-US" sz="1100" dirty="0"/>
          </a:p>
        </p:txBody>
      </p:sp>
      <p:sp>
        <p:nvSpPr>
          <p:cNvPr id="16" name="ah_199"/>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200"/>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201" descr="/home/claude/lls-course/v2/cache/2b1_schoolchildren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202"/>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203"/>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204"/>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205"/>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206"/>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walls were ___ down.</a:t>
            </a:r>
            <a:endParaRPr lang="en-US" sz="1200" dirty="0"/>
          </a:p>
        </p:txBody>
      </p:sp>
      <p:sp>
        <p:nvSpPr>
          <p:cNvPr id="26" name="R1_chip207"/>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falling</a:t>
            </a:r>
            <a:endParaRPr lang="en-US" sz="1200" dirty="0"/>
          </a:p>
        </p:txBody>
      </p:sp>
      <p:sp>
        <p:nvSpPr>
          <p:cNvPr id="27" name="gq_208"/>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blackboards were ___.</a:t>
            </a:r>
            <a:endParaRPr lang="en-US" sz="1200" dirty="0"/>
          </a:p>
        </p:txBody>
      </p:sp>
      <p:sp>
        <p:nvSpPr>
          <p:cNvPr id="28" name="R2_chip209"/>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broken</a:t>
            </a:r>
            <a:endParaRPr lang="en-US" sz="1200" dirty="0"/>
          </a:p>
        </p:txBody>
      </p:sp>
      <p:sp>
        <p:nvSpPr>
          <p:cNvPr id="29" name="gq_210"/>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One tourist taught them English ___.</a:t>
            </a:r>
            <a:endParaRPr lang="en-US" sz="1200" dirty="0"/>
          </a:p>
        </p:txBody>
      </p:sp>
      <p:sp>
        <p:nvSpPr>
          <p:cNvPr id="30" name="R3_chip211"/>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songs</a:t>
            </a:r>
            <a:endParaRPr lang="en-US" sz="1200" dirty="0"/>
          </a:p>
        </p:txBody>
      </p:sp>
      <p:sp>
        <p:nvSpPr>
          <p:cNvPr id="31" name="gq_212"/>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"What we need is a new ___!"</a:t>
            </a:r>
            <a:endParaRPr lang="en-US" sz="1200" dirty="0"/>
          </a:p>
        </p:txBody>
      </p:sp>
      <p:sp>
        <p:nvSpPr>
          <p:cNvPr id="32" name="R4_chip213"/>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school</a:t>
            </a:r>
            <a:endParaRPr lang="en-US" sz="1200" dirty="0"/>
          </a:p>
        </p:txBody>
      </p:sp>
      <p:sp>
        <p:nvSpPr>
          <p:cNvPr id="33" name="gq_214"/>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They set up a ___ to raise money.</a:t>
            </a:r>
            <a:endParaRPr lang="en-US" sz="1200" dirty="0"/>
          </a:p>
        </p:txBody>
      </p:sp>
      <p:sp>
        <p:nvSpPr>
          <p:cNvPr id="34" name="R5_chip215"/>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charity</a:t>
            </a:r>
            <a:endParaRPr lang="en-US" sz="1200" dirty="0"/>
          </a:p>
        </p:txBody>
      </p:sp>
      <p:sp>
        <p:nvSpPr>
          <p:cNvPr id="35" name="gq_216"/>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Since then Adelante Africa hasn't ___.</a:t>
            </a:r>
            <a:endParaRPr lang="en-US" sz="1200" dirty="0"/>
          </a:p>
        </p:txBody>
      </p:sp>
      <p:sp>
        <p:nvSpPr>
          <p:cNvPr id="36" name="R6_chip217"/>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stopped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18"/>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19"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220"/>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 has Jane done?</a:t>
            </a:r>
            <a:endParaRPr lang="en-US" sz="2400" dirty="0"/>
          </a:p>
        </p:txBody>
      </p:sp>
      <p:pic>
        <p:nvPicPr>
          <p:cNvPr id="6" name="brP_221"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222"/>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Part 2. Number the projects.</a:t>
            </a:r>
            <a:endParaRPr lang="en-US" sz="1250" dirty="0"/>
          </a:p>
        </p:txBody>
      </p:sp>
      <p:sp>
        <p:nvSpPr>
          <p:cNvPr id="8" name="insIT_22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la Parte 2. Numera i progetti.</a:t>
            </a:r>
            <a:endParaRPr lang="en-US" sz="950" dirty="0"/>
          </a:p>
        </p:txBody>
      </p:sp>
      <p:sp>
        <p:nvSpPr>
          <p:cNvPr id="9" name="cmd_224"/>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225"/>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226"/>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22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2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Listening · Part 2 · the interview · gist   ·   📖 SB p.20 · 1b · audio 2.14</a:t>
            </a:r>
            <a:endParaRPr lang="en-US" sz="800" dirty="0"/>
          </a:p>
        </p:txBody>
      </p:sp>
      <p:sp>
        <p:nvSpPr>
          <p:cNvPr id="14" name="ap_229"/>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2.14  ·  play once</a:t>
            </a:r>
            <a:endParaRPr lang="en-US" sz="1100" dirty="0"/>
          </a:p>
        </p:txBody>
      </p:sp>
      <p:sp>
        <p:nvSpPr>
          <p:cNvPr id="15" name="ah_230"/>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231"/>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232"/>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233" descr="/home/claude/lls-course/v2/cache/2b1_volunteer_jpg_407x297_31.png">    </p:cNvPr>
          <p:cNvPicPr>
            <a:picLocks noChangeAspect="1"/>
          </p:cNvPicPr>
          <p:nvPr/>
        </p:nvPicPr>
        <p:blipFill>
          <a:blip r:embed="rId11"/>
          <a:stretch>
            <a:fillRect/>
          </a:stretch>
        </p:blipFill>
        <p:spPr>
          <a:xfrm rot="-90000">
            <a:off x="457200" y="2103120"/>
            <a:ext cx="1691640" cy="1234440"/>
          </a:xfrm>
          <a:prstGeom prst="rect">
            <a:avLst/>
          </a:prstGeom>
        </p:spPr>
      </p:pic>
      <p:sp>
        <p:nvSpPr>
          <p:cNvPr id="21" name="bd_234"/>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235"/>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236" descr="/home/claude/lls-course/v2/cache/2b1_veg_garden_jpg_407x297_31.png">    </p:cNvPr>
          <p:cNvPicPr>
            <a:picLocks noChangeAspect="1"/>
          </p:cNvPicPr>
          <p:nvPr/>
        </p:nvPicPr>
        <p:blipFill>
          <a:blip r:embed="rId12"/>
          <a:stretch>
            <a:fillRect/>
          </a:stretch>
        </p:blipFill>
        <p:spPr>
          <a:xfrm rot="90000">
            <a:off x="2331720" y="2103120"/>
            <a:ext cx="1691640" cy="1234440"/>
          </a:xfrm>
          <a:prstGeom prst="rect">
            <a:avLst/>
          </a:prstGeom>
        </p:spPr>
      </p:pic>
      <p:sp>
        <p:nvSpPr>
          <p:cNvPr id="24" name="bd_237"/>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pf_238"/>
          <p:cNvSpPr/>
          <p:nvPr/>
        </p:nvSpPr>
        <p:spPr>
          <a:xfrm rot="-90000">
            <a:off x="416052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239" descr="/home/claude/lls-course/v2/cache/2b1_building_school_jpg_407x297_31.png">    </p:cNvPr>
          <p:cNvPicPr>
            <a:picLocks noChangeAspect="1"/>
          </p:cNvPicPr>
          <p:nvPr/>
        </p:nvPicPr>
        <p:blipFill>
          <a:blip r:embed="rId13"/>
          <a:stretch>
            <a:fillRect/>
          </a:stretch>
        </p:blipFill>
        <p:spPr>
          <a:xfrm rot="-90000">
            <a:off x="4206240" y="2103120"/>
            <a:ext cx="1691640" cy="1234440"/>
          </a:xfrm>
          <a:prstGeom prst="rect">
            <a:avLst/>
          </a:prstGeom>
        </p:spPr>
      </p:pic>
      <p:sp>
        <p:nvSpPr>
          <p:cNvPr id="27" name="bd_240"/>
          <p:cNvSpPr/>
          <p:nvPr/>
        </p:nvSpPr>
        <p:spPr>
          <a:xfrm>
            <a:off x="4059936" y="1956816"/>
            <a:ext cx="420624" cy="42062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C</a:t>
            </a:r>
            <a:endParaRPr lang="en-US" sz="1400" dirty="0"/>
          </a:p>
        </p:txBody>
      </p:sp>
      <p:sp>
        <p:nvSpPr>
          <p:cNvPr id="28" name="cd_241"/>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9" name="ii_242"/>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243"/>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31" name="il_244"/>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Read the six projects on the right.</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Leggi i sei progetti a destra.</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Listen. Number them 1–6 in order.</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Ascolta. Numerali 1–6 in ordine.</a:t>
            </a:r>
            <a:endParaRPr lang="en-US" sz="700" dirty="0"/>
          </a:p>
        </p:txBody>
      </p:sp>
      <p:sp>
        <p:nvSpPr>
          <p:cNvPr id="32" name="lq_245"/>
          <p:cNvSpPr/>
          <p:nvPr/>
        </p:nvSpPr>
        <p:spPr>
          <a:xfrm>
            <a:off x="6035040" y="2103120"/>
            <a:ext cx="1234440" cy="350520"/>
          </a:xfrm>
          <a:prstGeom prst="roundRect">
            <a:avLst>
              <a:gd name="adj" fmla="val 26087"/>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water tanks</a:t>
            </a:r>
            <a:endParaRPr lang="en-US" sz="1100" dirty="0"/>
          </a:p>
        </p:txBody>
      </p:sp>
      <p:sp>
        <p:nvSpPr>
          <p:cNvPr id="33" name="R1_chip246"/>
          <p:cNvSpPr/>
          <p:nvPr/>
        </p:nvSpPr>
        <p:spPr>
          <a:xfrm>
            <a:off x="7315200" y="210312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3</a:t>
            </a:r>
            <a:endParaRPr lang="en-US" sz="1050" dirty="0"/>
          </a:p>
        </p:txBody>
      </p:sp>
      <p:sp>
        <p:nvSpPr>
          <p:cNvPr id="34" name="lq_247"/>
          <p:cNvSpPr/>
          <p:nvPr/>
        </p:nvSpPr>
        <p:spPr>
          <a:xfrm>
            <a:off x="6035040" y="2545080"/>
            <a:ext cx="1234440" cy="350520"/>
          </a:xfrm>
          <a:prstGeom prst="roundRect">
            <a:avLst>
              <a:gd name="adj" fmla="val 26087"/>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a children's home</a:t>
            </a:r>
            <a:endParaRPr lang="en-US" sz="1000" dirty="0"/>
          </a:p>
        </p:txBody>
      </p:sp>
      <p:sp>
        <p:nvSpPr>
          <p:cNvPr id="35" name="R2_chip248"/>
          <p:cNvSpPr/>
          <p:nvPr/>
        </p:nvSpPr>
        <p:spPr>
          <a:xfrm>
            <a:off x="7315200" y="254508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1</a:t>
            </a:r>
            <a:endParaRPr lang="en-US" sz="1050" dirty="0"/>
          </a:p>
        </p:txBody>
      </p:sp>
      <p:sp>
        <p:nvSpPr>
          <p:cNvPr id="36" name="lq_249"/>
          <p:cNvSpPr/>
          <p:nvPr/>
        </p:nvSpPr>
        <p:spPr>
          <a:xfrm>
            <a:off x="6035040" y="2987040"/>
            <a:ext cx="1234440" cy="350520"/>
          </a:xfrm>
          <a:prstGeom prst="roundRect">
            <a:avLst>
              <a:gd name="adj" fmla="val 26087"/>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a secondary school</a:t>
            </a:r>
            <a:endParaRPr lang="en-US" sz="1000" dirty="0"/>
          </a:p>
        </p:txBody>
      </p:sp>
      <p:sp>
        <p:nvSpPr>
          <p:cNvPr id="37" name="R3_chip250"/>
          <p:cNvSpPr/>
          <p:nvPr/>
        </p:nvSpPr>
        <p:spPr>
          <a:xfrm>
            <a:off x="7315200" y="298704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6</a:t>
            </a:r>
            <a:endParaRPr lang="en-US" sz="1050" dirty="0"/>
          </a:p>
        </p:txBody>
      </p:sp>
      <p:sp>
        <p:nvSpPr>
          <p:cNvPr id="38" name="lq_251"/>
          <p:cNvSpPr/>
          <p:nvPr/>
        </p:nvSpPr>
        <p:spPr>
          <a:xfrm>
            <a:off x="6035040" y="3429000"/>
            <a:ext cx="1234440" cy="350520"/>
          </a:xfrm>
          <a:prstGeom prst="roundRect">
            <a:avLst>
              <a:gd name="adj" fmla="val 26087"/>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vegetable seeds</a:t>
            </a:r>
            <a:endParaRPr lang="en-US" sz="1000" dirty="0"/>
          </a:p>
        </p:txBody>
      </p:sp>
      <p:sp>
        <p:nvSpPr>
          <p:cNvPr id="39" name="R4_chip252"/>
          <p:cNvSpPr/>
          <p:nvPr/>
        </p:nvSpPr>
        <p:spPr>
          <a:xfrm>
            <a:off x="7315200" y="342900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2</a:t>
            </a:r>
            <a:endParaRPr lang="en-US" sz="1050" dirty="0"/>
          </a:p>
        </p:txBody>
      </p:sp>
      <p:sp>
        <p:nvSpPr>
          <p:cNvPr id="40" name="lq_253"/>
          <p:cNvSpPr/>
          <p:nvPr/>
        </p:nvSpPr>
        <p:spPr>
          <a:xfrm>
            <a:off x="6035040" y="3870960"/>
            <a:ext cx="1234440" cy="350520"/>
          </a:xfrm>
          <a:prstGeom prst="roundRect">
            <a:avLst>
              <a:gd name="adj" fmla="val 26087"/>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classes for adults</a:t>
            </a:r>
            <a:endParaRPr lang="en-US" sz="1000" dirty="0"/>
          </a:p>
        </p:txBody>
      </p:sp>
      <p:sp>
        <p:nvSpPr>
          <p:cNvPr id="41" name="R5_chip254"/>
          <p:cNvSpPr/>
          <p:nvPr/>
        </p:nvSpPr>
        <p:spPr>
          <a:xfrm>
            <a:off x="7315200" y="387096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5</a:t>
            </a:r>
            <a:endParaRPr lang="en-US" sz="1050" dirty="0"/>
          </a:p>
        </p:txBody>
      </p:sp>
      <p:sp>
        <p:nvSpPr>
          <p:cNvPr id="42" name="lq_255"/>
          <p:cNvSpPr/>
          <p:nvPr/>
        </p:nvSpPr>
        <p:spPr>
          <a:xfrm>
            <a:off x="6035040" y="4312920"/>
            <a:ext cx="1234440" cy="350520"/>
          </a:xfrm>
          <a:prstGeom prst="roundRect">
            <a:avLst>
              <a:gd name="adj" fmla="val 26087"/>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a sunflower oil factory</a:t>
            </a:r>
            <a:endParaRPr lang="en-US" sz="1000" dirty="0"/>
          </a:p>
        </p:txBody>
      </p:sp>
      <p:sp>
        <p:nvSpPr>
          <p:cNvPr id="43" name="R6_chip256"/>
          <p:cNvSpPr/>
          <p:nvPr/>
        </p:nvSpPr>
        <p:spPr>
          <a:xfrm>
            <a:off x="7315200" y="431292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4</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4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4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6"/>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6"/>
                                        </p:tgtEl>
                                      </p:cBhvr>
                                    </p:cmd>
                                  </p:childTnLst>
                                </p:cTn>
                              </p:par>
                            </p:childTnLst>
                          </p:cTn>
                        </p:par>
                      </p:childTnLst>
                    </p:cTn>
                  </p:par>
                </p:childTnLst>
              </p:cTn>
              <p:nextCondLst>
                <p:cond evt="onClick" delay="0">
                  <p:tgtEl>
                    <p:spTgt spid="16"/>
                  </p:tgtEl>
                </p:cond>
              </p:nextCondLst>
            </p:seq>
            <p:seq concurrent="1" nextAc="seek">
              <p:cTn id="38" restart="whenNotActive" fill="hold" evtFilter="cancelBubble" nodeType="interactiveSeq">
                <p:stCondLst>
                  <p:cond evt="onClick" delay="0">
                    <p:tgtEl>
                      <p:spTgt spid="1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7"/>
                                        </p:tgtEl>
                                      </p:cBhvr>
                                    </p:cmd>
                                  </p:childTnLst>
                                </p:cTn>
                              </p:par>
                            </p:childTnLst>
                          </p:cTn>
                        </p:par>
                      </p:childTnLst>
                    </p:cTn>
                  </p:par>
                </p:childTnLst>
              </p:cTn>
              <p:nextCondLst>
                <p:cond evt="onClick" delay="0">
                  <p:tgtEl>
                    <p:spTgt spid="17"/>
                  </p:tgtEl>
                </p:cond>
              </p:nextCondLst>
            </p:seq>
            <p:audio>
              <p:cMediaNode vol="80000">
                <p:cTn id="43" fill="hold" display="0">
                  <p:stCondLst>
                    <p:cond delay="indefinite"/>
                  </p:stCondLst>
                  <p:endCondLst>
                    <p:cond evt="onStopAudio" delay="0">
                      <p:tgtEl>
                        <p:sldTgt/>
                      </p:tgtEl>
                    </p:cond>
                  </p:endCondLst>
                </p:cTn>
                <p:tgtEl>
                  <p:spTgt spid="16"/>
                </p:tgtEl>
              </p:cMediaNode>
            </p:audio>
            <p:audio>
              <p:cMediaNode vol="80000">
                <p:cTn id="44" fill="hold" display="0">
                  <p:stCondLst>
                    <p:cond delay="indefinite"/>
                  </p:stCondLst>
                  <p:endCondLst>
                    <p:cond evt="onStopAudio" delay="0">
                      <p:tgtEl>
                        <p:sldTgt/>
                      </p:tgtEl>
                    </p:cond>
                  </p:endCondLst>
                </p:cTn>
                <p:tgtEl>
                  <p:spTgt spid="1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5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58"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259"/>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Correct the information</a:t>
            </a:r>
            <a:endParaRPr lang="en-US" sz="2500" dirty="0"/>
          </a:p>
        </p:txBody>
      </p:sp>
      <p:pic>
        <p:nvPicPr>
          <p:cNvPr id="6" name="brP_260"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261"/>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Every sentence is wrong. Correct it!</a:t>
            </a:r>
            <a:endParaRPr lang="en-US" sz="1250" dirty="0"/>
          </a:p>
        </p:txBody>
      </p:sp>
      <p:sp>
        <p:nvSpPr>
          <p:cNvPr id="8" name="insIT_26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Ogni frase è sbagliata. Correggila!</a:t>
            </a:r>
            <a:endParaRPr lang="en-US" sz="950" dirty="0"/>
          </a:p>
        </p:txBody>
      </p:sp>
      <p:sp>
        <p:nvSpPr>
          <p:cNvPr id="9" name="cmd_26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264"/>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E8508F"/>
                </a:solidFill>
                <a:latin typeface="Arial Rounded MT Bold" pitchFamily="34" charset="0"/>
                <a:ea typeface="Arial Rounded MT Bold" pitchFamily="34" charset="-122"/>
                <a:cs typeface="Arial Rounded MT Bold" pitchFamily="34" charset="-120"/>
              </a:rPr>
              <a:t>CHANGE THE WORD</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CAMBIA</a:t>
            </a:r>
            <a:endParaRPr lang="en-US" sz="800" dirty="0"/>
          </a:p>
        </p:txBody>
      </p:sp>
      <p:sp>
        <p:nvSpPr>
          <p:cNvPr id="11" name="meta_26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266"/>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26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6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Listening · Part 2 · detail   ·   📖 SB p.20 · 1c · audio 2.14 (sentences shortened)</a:t>
            </a:r>
            <a:endParaRPr lang="en-US" sz="800" dirty="0"/>
          </a:p>
        </p:txBody>
      </p:sp>
      <p:sp>
        <p:nvSpPr>
          <p:cNvPr id="15" name="ap_269"/>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2.14  ·  pause after each part</a:t>
            </a:r>
            <a:endParaRPr lang="en-US" sz="1100" dirty="0"/>
          </a:p>
        </p:txBody>
      </p:sp>
      <p:sp>
        <p:nvSpPr>
          <p:cNvPr id="16" name="ah_270"/>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271"/>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272" descr="/home/claude/lls-course/v2/cache/2b1_veg_garden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273"/>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274"/>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275"/>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276"/>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277"/>
          <p:cNvSpPr/>
          <p:nvPr/>
        </p:nvSpPr>
        <p:spPr>
          <a:xfrm>
            <a:off x="3383280" y="1417320"/>
            <a:ext cx="333756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47 children live in the home.</a:t>
            </a:r>
            <a:endParaRPr lang="en-US" sz="1200" dirty="0"/>
          </a:p>
        </p:txBody>
      </p:sp>
      <p:sp>
        <p:nvSpPr>
          <p:cNvPr id="26" name="R1_chip278"/>
          <p:cNvSpPr/>
          <p:nvPr/>
        </p:nvSpPr>
        <p:spPr>
          <a:xfrm>
            <a:off x="6812280" y="1417320"/>
            <a:ext cx="2057400" cy="301752"/>
          </a:xfrm>
          <a:prstGeom prst="roundRect">
            <a:avLst>
              <a:gd name="adj" fmla="val 3030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57</a:t>
            </a:r>
            <a:endParaRPr lang="en-US" sz="1200" dirty="0"/>
          </a:p>
        </p:txBody>
      </p:sp>
      <p:sp>
        <p:nvSpPr>
          <p:cNvPr id="27" name="gq_279"/>
          <p:cNvSpPr/>
          <p:nvPr/>
        </p:nvSpPr>
        <p:spPr>
          <a:xfrm>
            <a:off x="3383280" y="1783080"/>
            <a:ext cx="3337560" cy="301752"/>
          </a:xfrm>
          <a:prstGeom prst="roundRect">
            <a:avLst>
              <a:gd name="adj" fmla="val 3030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People eat a lot of vegetables.</a:t>
            </a:r>
            <a:endParaRPr lang="en-US" sz="1200" dirty="0"/>
          </a:p>
        </p:txBody>
      </p:sp>
      <p:sp>
        <p:nvSpPr>
          <p:cNvPr id="28" name="R2_chip280"/>
          <p:cNvSpPr/>
          <p:nvPr/>
        </p:nvSpPr>
        <p:spPr>
          <a:xfrm>
            <a:off x="6812280" y="1783080"/>
            <a:ext cx="2057400" cy="301752"/>
          </a:xfrm>
          <a:prstGeom prst="roundRect">
            <a:avLst>
              <a:gd name="adj" fmla="val 3030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they DON'T eat many</a:t>
            </a:r>
            <a:endParaRPr lang="en-US" sz="1200" dirty="0"/>
          </a:p>
        </p:txBody>
      </p:sp>
      <p:sp>
        <p:nvSpPr>
          <p:cNvPr id="29" name="gq_281"/>
          <p:cNvSpPr/>
          <p:nvPr/>
        </p:nvSpPr>
        <p:spPr>
          <a:xfrm>
            <a:off x="3383280" y="2148840"/>
            <a:ext cx="3337560" cy="301752"/>
          </a:xfrm>
          <a:prstGeom prst="roundRect">
            <a:avLst>
              <a:gd name="adj" fmla="val 30303"/>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Tanks to store petrol.</a:t>
            </a:r>
            <a:endParaRPr lang="en-US" sz="1200" dirty="0"/>
          </a:p>
        </p:txBody>
      </p:sp>
      <p:sp>
        <p:nvSpPr>
          <p:cNvPr id="30" name="R3_chip282"/>
          <p:cNvSpPr/>
          <p:nvPr/>
        </p:nvSpPr>
        <p:spPr>
          <a:xfrm>
            <a:off x="6812280" y="2148840"/>
            <a:ext cx="2057400" cy="301752"/>
          </a:xfrm>
          <a:prstGeom prst="roundRect">
            <a:avLst>
              <a:gd name="adj" fmla="val 3030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to collect rainwater</a:t>
            </a:r>
            <a:endParaRPr lang="en-US" sz="1200" dirty="0"/>
          </a:p>
        </p:txBody>
      </p:sp>
      <p:sp>
        <p:nvSpPr>
          <p:cNvPr id="31" name="gq_283"/>
          <p:cNvSpPr/>
          <p:nvPr/>
        </p:nvSpPr>
        <p:spPr>
          <a:xfrm>
            <a:off x="3383280" y="2514600"/>
            <a:ext cx="3337560" cy="301752"/>
          </a:xfrm>
          <a:prstGeom prst="roundRect">
            <a:avLst>
              <a:gd name="adj" fmla="val 30303"/>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factory makes palm oil.</a:t>
            </a:r>
            <a:endParaRPr lang="en-US" sz="1200" dirty="0"/>
          </a:p>
        </p:txBody>
      </p:sp>
      <p:sp>
        <p:nvSpPr>
          <p:cNvPr id="32" name="R4_chip284"/>
          <p:cNvSpPr/>
          <p:nvPr/>
        </p:nvSpPr>
        <p:spPr>
          <a:xfrm>
            <a:off x="6812280" y="2514600"/>
            <a:ext cx="2057400" cy="301752"/>
          </a:xfrm>
          <a:prstGeom prst="roundRect">
            <a:avLst>
              <a:gd name="adj" fmla="val 3030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sunflower oil</a:t>
            </a:r>
            <a:endParaRPr lang="en-US" sz="1200" dirty="0"/>
          </a:p>
        </p:txBody>
      </p:sp>
      <p:sp>
        <p:nvSpPr>
          <p:cNvPr id="33" name="gq_285"/>
          <p:cNvSpPr/>
          <p:nvPr/>
        </p:nvSpPr>
        <p:spPr>
          <a:xfrm>
            <a:off x="3383280" y="2880360"/>
            <a:ext cx="333756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FAL: children learn to read.</a:t>
            </a:r>
            <a:endParaRPr lang="en-US" sz="1200" dirty="0"/>
          </a:p>
        </p:txBody>
      </p:sp>
      <p:sp>
        <p:nvSpPr>
          <p:cNvPr id="34" name="R5_chip286"/>
          <p:cNvSpPr/>
          <p:nvPr/>
        </p:nvSpPr>
        <p:spPr>
          <a:xfrm>
            <a:off x="6812280" y="2880360"/>
            <a:ext cx="2057400" cy="301752"/>
          </a:xfrm>
          <a:prstGeom prst="roundRect">
            <a:avLst>
              <a:gd name="adj" fmla="val 3030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adults (mainly women)</a:t>
            </a:r>
            <a:endParaRPr lang="en-US" sz="1200" dirty="0"/>
          </a:p>
        </p:txBody>
      </p:sp>
      <p:sp>
        <p:nvSpPr>
          <p:cNvPr id="35" name="gq_287"/>
          <p:cNvSpPr/>
          <p:nvPr/>
        </p:nvSpPr>
        <p:spPr>
          <a:xfrm>
            <a:off x="3383280" y="3246120"/>
            <a:ext cx="3337560" cy="301752"/>
          </a:xfrm>
          <a:prstGeom prst="roundRect">
            <a:avLst>
              <a:gd name="adj" fmla="val 3030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They've just built a primary school.</a:t>
            </a:r>
            <a:endParaRPr lang="en-US" sz="1200" dirty="0"/>
          </a:p>
        </p:txBody>
      </p:sp>
      <p:sp>
        <p:nvSpPr>
          <p:cNvPr id="36" name="R6_chip288"/>
          <p:cNvSpPr/>
          <p:nvPr/>
        </p:nvSpPr>
        <p:spPr>
          <a:xfrm>
            <a:off x="6812280" y="3246120"/>
            <a:ext cx="2057400" cy="301752"/>
          </a:xfrm>
          <a:prstGeom prst="roundRect">
            <a:avLst>
              <a:gd name="adj" fmla="val 3030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 secondary school</a:t>
            </a:r>
            <a:endParaRPr lang="en-US" sz="1200" dirty="0"/>
          </a:p>
        </p:txBody>
      </p:sp>
      <p:sp>
        <p:nvSpPr>
          <p:cNvPr id="37" name="gq_289"/>
          <p:cNvSpPr/>
          <p:nvPr/>
        </p:nvSpPr>
        <p:spPr>
          <a:xfrm>
            <a:off x="3383280" y="3611880"/>
            <a:ext cx="3337560" cy="301752"/>
          </a:xfrm>
          <a:prstGeom prst="roundRect">
            <a:avLst>
              <a:gd name="adj" fmla="val 30303"/>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Most volunteers are from Europe.</a:t>
            </a:r>
            <a:endParaRPr lang="en-US" sz="1200" dirty="0"/>
          </a:p>
        </p:txBody>
      </p:sp>
      <p:sp>
        <p:nvSpPr>
          <p:cNvPr id="38" name="R7_chip290"/>
          <p:cNvSpPr/>
          <p:nvPr/>
        </p:nvSpPr>
        <p:spPr>
          <a:xfrm>
            <a:off x="6812280" y="3611880"/>
            <a:ext cx="2057400" cy="301752"/>
          </a:xfrm>
          <a:prstGeom prst="roundRect">
            <a:avLst>
              <a:gd name="adj" fmla="val 3030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from Uganda</a:t>
            </a:r>
            <a:endParaRPr lang="en-US" sz="1200" dirty="0"/>
          </a:p>
        </p:txBody>
      </p:sp>
      <p:sp>
        <p:nvSpPr>
          <p:cNvPr id="39" name="gq_291"/>
          <p:cNvSpPr/>
          <p:nvPr/>
        </p:nvSpPr>
        <p:spPr>
          <a:xfrm>
            <a:off x="3383280" y="3977640"/>
            <a:ext cx="3337560" cy="301752"/>
          </a:xfrm>
          <a:prstGeom prst="roundRect">
            <a:avLst>
              <a:gd name="adj" fmla="val 30303"/>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John is studying to be a teacher.</a:t>
            </a:r>
            <a:endParaRPr lang="en-US" sz="1200" dirty="0"/>
          </a:p>
        </p:txBody>
      </p:sp>
      <p:sp>
        <p:nvSpPr>
          <p:cNvPr id="40" name="R8_chip292"/>
          <p:cNvSpPr/>
          <p:nvPr/>
        </p:nvSpPr>
        <p:spPr>
          <a:xfrm>
            <a:off x="6812280" y="3977640"/>
            <a:ext cx="2057400" cy="301752"/>
          </a:xfrm>
          <a:prstGeom prst="roundRect">
            <a:avLst>
              <a:gd name="adj" fmla="val 3030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 nurse</a:t>
            </a:r>
            <a:endParaRPr lang="en-US" sz="1200" dirty="0"/>
          </a:p>
        </p:txBody>
      </p:sp>
      <p:sp>
        <p:nvSpPr>
          <p:cNvPr id="41" name="gq_293"/>
          <p:cNvSpPr/>
          <p:nvPr/>
        </p:nvSpPr>
        <p:spPr>
          <a:xfrm>
            <a:off x="3383280" y="4343400"/>
            <a:ext cx="333756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Rose never spoke.</a:t>
            </a:r>
            <a:endParaRPr lang="en-US" sz="1200" dirty="0"/>
          </a:p>
        </p:txBody>
      </p:sp>
      <p:sp>
        <p:nvSpPr>
          <p:cNvPr id="42" name="R9_chip294"/>
          <p:cNvSpPr/>
          <p:nvPr/>
        </p:nvSpPr>
        <p:spPr>
          <a:xfrm>
            <a:off x="6812280" y="4343400"/>
            <a:ext cx="2057400" cy="301752"/>
          </a:xfrm>
          <a:prstGeom prst="roundRect">
            <a:avLst>
              <a:gd name="adj" fmla="val 3030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she never smiled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8" restart="whenNotActive" fill="hold" evtFilter="cancelBubble" nodeType="interactiveSeq">
                <p:stCondLst>
                  <p:cond evt="onClick" delay="0">
                    <p:tgtEl>
                      <p:spTgt spid="17"/>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7"/>
                                        </p:tgtEl>
                                      </p:cBhvr>
                                    </p:cmd>
                                  </p:childTnLst>
                                </p:cTn>
                              </p:par>
                            </p:childTnLst>
                          </p:cTn>
                        </p:par>
                      </p:childTnLst>
                    </p:cTn>
                  </p:par>
                </p:childTnLst>
              </p:cTn>
              <p:nextCondLst>
                <p:cond evt="onClick" delay="0">
                  <p:tgtEl>
                    <p:spTgt spid="17"/>
                  </p:tgtEl>
                </p:cond>
              </p:nextCondLst>
            </p:seq>
            <p:seq concurrent="1" nextAc="seek">
              <p:cTn id="53" restart="whenNotActive" fill="hold" evtFilter="cancelBubble" nodeType="interactiveSeq">
                <p:stCondLst>
                  <p:cond evt="onClick" delay="0">
                    <p:tgtEl>
                      <p:spTgt spid="18"/>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18"/>
                                        </p:tgtEl>
                                      </p:cBhvr>
                                    </p:cmd>
                                  </p:childTnLst>
                                </p:cTn>
                              </p:par>
                            </p:childTnLst>
                          </p:cTn>
                        </p:par>
                      </p:childTnLst>
                    </p:cTn>
                  </p:par>
                </p:childTnLst>
              </p:cTn>
              <p:nextCondLst>
                <p:cond evt="onClick" delay="0">
                  <p:tgtEl>
                    <p:spTgt spid="18"/>
                  </p:tgtEl>
                </p:cond>
              </p:nextCondLst>
            </p:seq>
            <p:audio>
              <p:cMediaNode vol="80000">
                <p:cTn id="58" fill="hold" display="0">
                  <p:stCondLst>
                    <p:cond delay="indefinite"/>
                  </p:stCondLst>
                  <p:endCondLst>
                    <p:cond evt="onStopAudio" delay="0">
                      <p:tgtEl>
                        <p:sldTgt/>
                      </p:tgtEl>
                    </p:cond>
                  </p:endCondLst>
                </p:cTn>
                <p:tgtEl>
                  <p:spTgt spid="17"/>
                </p:tgtEl>
              </p:cMediaNode>
            </p:audio>
            <p:audio>
              <p:cMediaNode vol="80000">
                <p:cTn id="59" fill="hold" display="0">
                  <p:stCondLst>
                    <p:cond delay="indefinite"/>
                  </p:stCondLst>
                  <p:endCondLst>
                    <p:cond evt="onStopAudio" delay="0">
                      <p:tgtEl>
                        <p:sldTgt/>
                      </p:tgtEl>
                    </p:cond>
                  </p:endCondLst>
                </p:cTn>
                <p:tgtEl>
                  <p:spTgt spid="1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96"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297"/>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Could you help?</a:t>
            </a:r>
            <a:endParaRPr lang="en-US" sz="2500" dirty="0"/>
          </a:p>
        </p:txBody>
      </p:sp>
      <p:pic>
        <p:nvPicPr>
          <p:cNvPr id="6" name="brP_298"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299"/>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with a reason. Ask: Why?</a:t>
            </a:r>
            <a:endParaRPr lang="en-US" sz="1250" dirty="0"/>
          </a:p>
        </p:txBody>
      </p:sp>
      <p:sp>
        <p:nvSpPr>
          <p:cNvPr id="8" name="insIT_30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Rispondi con un motivo. Chiedi: Perché?</a:t>
            </a:r>
            <a:endParaRPr lang="en-US" sz="950" dirty="0"/>
          </a:p>
        </p:txBody>
      </p:sp>
      <p:sp>
        <p:nvSpPr>
          <p:cNvPr id="9" name="cmd_301"/>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30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30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30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0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Speaking · helping people   ·   📖 SB p.20 · 1d + follow-up</a:t>
            </a:r>
            <a:endParaRPr lang="en-US" sz="800" dirty="0"/>
          </a:p>
        </p:txBody>
      </p:sp>
      <p:sp>
        <p:nvSpPr>
          <p:cNvPr id="14" name="pf_306"/>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307" descr="/home/claude/lls-course/v2/cache/2b1_volunteer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308"/>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309"/>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10"/>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311"/>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I'd love to… because…</a:t>
            </a:r>
            <a:endParaRPr lang="en-US" sz="950" dirty="0"/>
          </a:p>
          <a:p>
            <a:pPr marL="152400" indent="-152400">
              <a:spcBef>
                <a:spcPts val="500"/>
              </a:spcBef>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I don't think I could…</a:t>
            </a:r>
            <a:endParaRPr lang="en-US" sz="950" dirty="0"/>
          </a:p>
          <a:p>
            <a:pPr marL="152400" indent="-152400">
              <a:spcBef>
                <a:spcPts val="500"/>
              </a:spcBef>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In my opinion, the most important…</a:t>
            </a:r>
            <a:endParaRPr lang="en-US" sz="950" dirty="0"/>
          </a:p>
        </p:txBody>
      </p:sp>
      <p:sp>
        <p:nvSpPr>
          <p:cNvPr id="20" name="R1_qb312"/>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313"/>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Do you know anybody like Jane who does voluntary work? What do they do?</a:t>
            </a:r>
            <a:endParaRPr lang="en-US" sz="950" dirty="0"/>
          </a:p>
          <a:p>
            <a:pPr indent="0" marL="0">
              <a:buNone/>
            </a:pPr>
            <a:r>
              <a:rPr lang="en-US" sz="750" i="1" dirty="0">
                <a:solidFill>
                  <a:srgbClr val="5B6785"/>
                </a:solidFill>
                <a:latin typeface="Segoe UI" pitchFamily="34" charset="0"/>
                <a:ea typeface="Segoe UI" pitchFamily="34" charset="-122"/>
                <a:cs typeface="Segoe UI" pitchFamily="34" charset="-120"/>
              </a:rPr>
              <a:t>e.g. My aunt helps at a food bank in Palermo every Saturday.</a:t>
            </a:r>
            <a:endParaRPr lang="en-US" sz="950" dirty="0"/>
          </a:p>
        </p:txBody>
      </p:sp>
      <p:sp>
        <p:nvSpPr>
          <p:cNvPr id="22" name="R2_qb314"/>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315"/>
          <p:cNvSpPr/>
          <p:nvPr/>
        </p:nvSpPr>
        <p:spPr>
          <a:xfrm>
            <a:off x="3675888" y="2020824"/>
            <a:ext cx="45079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Which Adelante Africa project is the most important? Why?</a:t>
            </a:r>
            <a:endParaRPr lang="en-US" sz="1050" dirty="0"/>
          </a:p>
          <a:p>
            <a:pPr indent="0" marL="0">
              <a:buNone/>
            </a:pPr>
            <a:r>
              <a:rPr lang="en-US" sz="850" i="1" dirty="0">
                <a:solidFill>
                  <a:srgbClr val="5B6785"/>
                </a:solidFill>
                <a:latin typeface="Segoe UI" pitchFamily="34" charset="0"/>
                <a:ea typeface="Segoe UI" pitchFamily="34" charset="-122"/>
                <a:cs typeface="Segoe UI" pitchFamily="34" charset="-120"/>
              </a:rPr>
              <a:t>e.g. The water tanks – clean water is the first thing you need.</a:t>
            </a:r>
            <a:endParaRPr lang="en-US" sz="1050" dirty="0"/>
          </a:p>
        </p:txBody>
      </p:sp>
      <p:pic>
        <p:nvPicPr>
          <p:cNvPr id="24" name="R2_th316" descr="/home/claude/lls-course/v2/cache/2b1_veg_garden_jpg_154x119_18.png">    </p:cNvPr>
          <p:cNvPicPr>
            <a:picLocks noChangeAspect="1"/>
          </p:cNvPicPr>
          <p:nvPr/>
        </p:nvPicPr>
        <p:blipFill>
          <a:blip r:embed="rId6"/>
          <a:stretch>
            <a:fillRect/>
          </a:stretch>
        </p:blipFill>
        <p:spPr>
          <a:xfrm>
            <a:off x="8257032" y="2039112"/>
            <a:ext cx="640080" cy="493776"/>
          </a:xfrm>
          <a:prstGeom prst="rect">
            <a:avLst/>
          </a:prstGeom>
        </p:spPr>
      </p:pic>
      <p:sp>
        <p:nvSpPr>
          <p:cNvPr id="25" name="R3_qb317"/>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318"/>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Would you like to volunteer abroad one day? Where?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I'd love to teach English songs to children, like Jane.</a:t>
            </a:r>
            <a:endParaRPr lang="en-US" sz="1250" dirty="0"/>
          </a:p>
        </p:txBody>
      </p:sp>
      <p:sp>
        <p:nvSpPr>
          <p:cNvPr id="27" name="R4_qb319"/>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320"/>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Should every student do voluntary work at school?</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No – it should be your choice, not homework!</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21"/>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22"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323"/>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 has Jane been doing?</a:t>
            </a:r>
            <a:endParaRPr lang="en-US" sz="2400" dirty="0"/>
          </a:p>
        </p:txBody>
      </p:sp>
      <p:pic>
        <p:nvPicPr>
          <p:cNvPr id="6" name="brP_324"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325"/>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with the words. Then listen.</a:t>
            </a:r>
            <a:endParaRPr lang="en-US" sz="1250" dirty="0"/>
          </a:p>
        </p:txBody>
      </p:sp>
      <p:sp>
        <p:nvSpPr>
          <p:cNvPr id="8" name="insIT_32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Completa con le parole. Poi ascolta.</a:t>
            </a:r>
            <a:endParaRPr lang="en-US" sz="950" dirty="0"/>
          </a:p>
        </p:txBody>
      </p:sp>
      <p:sp>
        <p:nvSpPr>
          <p:cNvPr id="9" name="cmd_327"/>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328"/>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329"/>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330"/>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33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3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Grammar · from the interview   ·   📖 SB p.21 · 2a, 2b · audio 2.15</a:t>
            </a:r>
            <a:endParaRPr lang="en-US" sz="800" dirty="0"/>
          </a:p>
        </p:txBody>
      </p:sp>
      <p:sp>
        <p:nvSpPr>
          <p:cNvPr id="15" name="cd_333"/>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334"/>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From the interview with Jane</a:t>
            </a:r>
            <a:endParaRPr lang="en-US" sz="1700" dirty="0"/>
          </a:p>
        </p:txBody>
      </p:sp>
      <p:sp>
        <p:nvSpPr>
          <p:cNvPr id="17" name="ln_335"/>
          <p:cNvSpPr/>
          <p:nvPr/>
        </p:nvSpPr>
        <p:spPr>
          <a:xfrm>
            <a:off x="548640" y="192024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1  Jane, how long have you been working with Adelante Africa?</a:t>
            </a:r>
            <a:endParaRPr lang="en-US" sz="1250" dirty="0"/>
          </a:p>
        </p:txBody>
      </p:sp>
      <p:sp>
        <p:nvSpPr>
          <p:cNvPr id="18" name="ln_336"/>
          <p:cNvSpPr/>
          <p:nvPr/>
        </p:nvSpPr>
        <p:spPr>
          <a:xfrm>
            <a:off x="548640" y="238506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2  Tell us what Adelante Africa has been </a:t>
            </a:r>
            <a:pPr indent="0" marL="0">
              <a:buNone/>
            </a:pPr>
            <a:r>
              <a:rPr lang="en-US" sz="1250" b="1" dirty="0">
                <a:solidFill>
                  <a:srgbClr val="2EB872"/>
                </a:solidFill>
                <a:latin typeface="Georgia" pitchFamily="34" charset="0"/>
                <a:ea typeface="Georgia" pitchFamily="34" charset="-122"/>
                <a:cs typeface="Georgia" pitchFamily="34" charset="-120"/>
              </a:rPr>
              <a:t> (2) _____ </a:t>
            </a:r>
            <a:pPr indent="0" marL="0">
              <a:buNone/>
            </a:pPr>
            <a:r>
              <a:rPr lang="en-US" sz="1250" dirty="0">
                <a:solidFill>
                  <a:srgbClr val="1B2559"/>
                </a:solidFill>
                <a:latin typeface="Georgia" pitchFamily="34" charset="0"/>
                <a:ea typeface="Georgia" pitchFamily="34" charset="-122"/>
                <a:cs typeface="Georgia" pitchFamily="34" charset="-120"/>
              </a:rPr>
              <a:t> since 2010.</a:t>
            </a:r>
            <a:endParaRPr lang="en-US" sz="1250" dirty="0"/>
          </a:p>
        </p:txBody>
      </p:sp>
      <p:sp>
        <p:nvSpPr>
          <p:cNvPr id="19" name="R1_lnA337"/>
          <p:cNvSpPr/>
          <p:nvPr/>
        </p:nvSpPr>
        <p:spPr>
          <a:xfrm>
            <a:off x="548640" y="238506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2  Tell us what Adelante Africa has been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doing</a:t>
            </a:r>
            <a:pPr indent="0" marL="0">
              <a:buNone/>
            </a:pPr>
            <a:r>
              <a:rPr lang="en-US" sz="1250" dirty="0">
                <a:solidFill>
                  <a:srgbClr val="1B2559"/>
                </a:solidFill>
                <a:latin typeface="Georgia" pitchFamily="34" charset="0"/>
                <a:ea typeface="Georgia" pitchFamily="34" charset="-122"/>
                <a:cs typeface="Georgia" pitchFamily="34" charset="-120"/>
              </a:rPr>
              <a:t> since 2010.</a:t>
            </a:r>
            <a:endParaRPr lang="en-US" sz="1250" dirty="0"/>
          </a:p>
        </p:txBody>
      </p:sp>
      <p:sp>
        <p:nvSpPr>
          <p:cNvPr id="20" name="ln_338"/>
          <p:cNvSpPr/>
          <p:nvPr/>
        </p:nvSpPr>
        <p:spPr>
          <a:xfrm>
            <a:off x="548640" y="284988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3  The children's home has been </a:t>
            </a:r>
            <a:pPr indent="0" marL="0">
              <a:buNone/>
            </a:pPr>
            <a:r>
              <a:rPr lang="en-US" sz="1250" b="1" dirty="0">
                <a:solidFill>
                  <a:srgbClr val="2EB872"/>
                </a:solidFill>
                <a:latin typeface="Georgia" pitchFamily="34" charset="0"/>
                <a:ea typeface="Georgia" pitchFamily="34" charset="-122"/>
                <a:cs typeface="Georgia" pitchFamily="34" charset="-120"/>
              </a:rPr>
              <a:t> (3) _____ </a:t>
            </a:r>
            <a:pPr indent="0" marL="0">
              <a:buNone/>
            </a:pPr>
            <a:r>
              <a:rPr lang="en-US" sz="1250" dirty="0">
                <a:solidFill>
                  <a:srgbClr val="1B2559"/>
                </a:solidFill>
                <a:latin typeface="Georgia" pitchFamily="34" charset="0"/>
                <a:ea typeface="Georgia" pitchFamily="34" charset="-122"/>
                <a:cs typeface="Georgia" pitchFamily="34" charset="-120"/>
              </a:rPr>
              <a:t> since 2012.</a:t>
            </a:r>
            <a:endParaRPr lang="en-US" sz="1250" dirty="0"/>
          </a:p>
        </p:txBody>
      </p:sp>
      <p:sp>
        <p:nvSpPr>
          <p:cNvPr id="21" name="R2_lnA339"/>
          <p:cNvSpPr/>
          <p:nvPr/>
        </p:nvSpPr>
        <p:spPr>
          <a:xfrm>
            <a:off x="548640" y="284988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3  The children's home has been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running</a:t>
            </a:r>
            <a:pPr indent="0" marL="0">
              <a:buNone/>
            </a:pPr>
            <a:r>
              <a:rPr lang="en-US" sz="1250" dirty="0">
                <a:solidFill>
                  <a:srgbClr val="1B2559"/>
                </a:solidFill>
                <a:latin typeface="Georgia" pitchFamily="34" charset="0"/>
                <a:ea typeface="Georgia" pitchFamily="34" charset="-122"/>
                <a:cs typeface="Georgia" pitchFamily="34" charset="-120"/>
              </a:rPr>
              <a:t> since 2012.</a:t>
            </a:r>
            <a:endParaRPr lang="en-US" sz="1250" dirty="0"/>
          </a:p>
        </p:txBody>
      </p:sp>
      <p:sp>
        <p:nvSpPr>
          <p:cNvPr id="22" name="ln_340"/>
          <p:cNvSpPr/>
          <p:nvPr/>
        </p:nvSpPr>
        <p:spPr>
          <a:xfrm>
            <a:off x="548640" y="331470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4  We've also been </a:t>
            </a:r>
            <a:pPr indent="0" marL="0">
              <a:buNone/>
            </a:pPr>
            <a:r>
              <a:rPr lang="en-US" sz="1250" b="1" dirty="0">
                <a:solidFill>
                  <a:srgbClr val="2EB872"/>
                </a:solidFill>
                <a:latin typeface="Georgia" pitchFamily="34" charset="0"/>
                <a:ea typeface="Georgia" pitchFamily="34" charset="-122"/>
                <a:cs typeface="Georgia" pitchFamily="34" charset="-120"/>
              </a:rPr>
              <a:t> (4) _____ </a:t>
            </a:r>
            <a:pPr indent="0" marL="0">
              <a:buNone/>
            </a:pPr>
            <a:r>
              <a:rPr lang="en-US" sz="1250" dirty="0">
                <a:solidFill>
                  <a:srgbClr val="1B2559"/>
                </a:solidFill>
                <a:latin typeface="Georgia" pitchFamily="34" charset="0"/>
                <a:ea typeface="Georgia" pitchFamily="34" charset="-122"/>
                <a:cs typeface="Georgia" pitchFamily="34" charset="-120"/>
              </a:rPr>
              <a:t> water tanks to collect rainwater.</a:t>
            </a:r>
            <a:endParaRPr lang="en-US" sz="1250" dirty="0"/>
          </a:p>
        </p:txBody>
      </p:sp>
      <p:sp>
        <p:nvSpPr>
          <p:cNvPr id="23" name="R3_lnA341"/>
          <p:cNvSpPr/>
          <p:nvPr/>
        </p:nvSpPr>
        <p:spPr>
          <a:xfrm>
            <a:off x="548640" y="331470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4  We've also been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building</a:t>
            </a:r>
            <a:pPr indent="0" marL="0">
              <a:buNone/>
            </a:pPr>
            <a:r>
              <a:rPr lang="en-US" sz="1250" dirty="0">
                <a:solidFill>
                  <a:srgbClr val="1B2559"/>
                </a:solidFill>
                <a:latin typeface="Georgia" pitchFamily="34" charset="0"/>
                <a:ea typeface="Georgia" pitchFamily="34" charset="-122"/>
                <a:cs typeface="Georgia" pitchFamily="34" charset="-120"/>
              </a:rPr>
              <a:t> water tanks to collect rainwater.</a:t>
            </a:r>
            <a:endParaRPr lang="en-US" sz="1250" dirty="0"/>
          </a:p>
        </p:txBody>
      </p:sp>
      <p:sp>
        <p:nvSpPr>
          <p:cNvPr id="24" name="ln_342"/>
          <p:cNvSpPr/>
          <p:nvPr/>
        </p:nvSpPr>
        <p:spPr>
          <a:xfrm>
            <a:off x="548640" y="377952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5  Since then we've </a:t>
            </a:r>
            <a:pPr indent="0" marL="0">
              <a:buNone/>
            </a:pPr>
            <a:r>
              <a:rPr lang="en-US" sz="1250" b="1" dirty="0">
                <a:solidFill>
                  <a:srgbClr val="2EB872"/>
                </a:solidFill>
                <a:latin typeface="Georgia" pitchFamily="34" charset="0"/>
                <a:ea typeface="Georgia" pitchFamily="34" charset="-122"/>
                <a:cs typeface="Georgia" pitchFamily="34" charset="-120"/>
              </a:rPr>
              <a:t> (5) _____ </a:t>
            </a:r>
            <a:pPr indent="0" marL="0">
              <a:buNone/>
            </a:pPr>
            <a:r>
              <a:rPr lang="en-US" sz="1250" dirty="0">
                <a:solidFill>
                  <a:srgbClr val="1B2559"/>
                </a:solidFill>
                <a:latin typeface="Georgia" pitchFamily="34" charset="0"/>
                <a:ea typeface="Georgia" pitchFamily="34" charset="-122"/>
                <a:cs typeface="Georgia" pitchFamily="34" charset="-120"/>
              </a:rPr>
              <a:t> 11 more FAL groups.</a:t>
            </a:r>
            <a:endParaRPr lang="en-US" sz="1250" dirty="0"/>
          </a:p>
        </p:txBody>
      </p:sp>
      <p:sp>
        <p:nvSpPr>
          <p:cNvPr id="25" name="R4_lnA343"/>
          <p:cNvSpPr/>
          <p:nvPr/>
        </p:nvSpPr>
        <p:spPr>
          <a:xfrm>
            <a:off x="548640" y="377952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5  Since then we've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started</a:t>
            </a:r>
            <a:pPr indent="0" marL="0">
              <a:buNone/>
            </a:pPr>
            <a:r>
              <a:rPr lang="en-US" sz="1250" dirty="0">
                <a:solidFill>
                  <a:srgbClr val="1B2559"/>
                </a:solidFill>
                <a:latin typeface="Georgia" pitchFamily="34" charset="0"/>
                <a:ea typeface="Georgia" pitchFamily="34" charset="-122"/>
                <a:cs typeface="Georgia" pitchFamily="34" charset="-120"/>
              </a:rPr>
              <a:t> 11 more FAL groups.</a:t>
            </a:r>
            <a:endParaRPr lang="en-US" sz="1250" dirty="0"/>
          </a:p>
        </p:txBody>
      </p:sp>
      <p:sp>
        <p:nvSpPr>
          <p:cNvPr id="26" name="ln_344"/>
          <p:cNvSpPr/>
          <p:nvPr/>
        </p:nvSpPr>
        <p:spPr>
          <a:xfrm>
            <a:off x="548640" y="424434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6  Since she came here she's </a:t>
            </a:r>
            <a:pPr indent="0" marL="0">
              <a:buNone/>
            </a:pPr>
            <a:r>
              <a:rPr lang="en-US" sz="1250" b="1" dirty="0">
                <a:solidFill>
                  <a:srgbClr val="2EB872"/>
                </a:solidFill>
                <a:latin typeface="Georgia" pitchFamily="34" charset="0"/>
                <a:ea typeface="Georgia" pitchFamily="34" charset="-122"/>
                <a:cs typeface="Georgia" pitchFamily="34" charset="-120"/>
              </a:rPr>
              <a:t> (6) _____ </a:t>
            </a:r>
            <a:pPr indent="0" marL="0">
              <a:buNone/>
            </a:pPr>
            <a:r>
              <a:rPr lang="en-US" sz="1250" dirty="0">
                <a:solidFill>
                  <a:srgbClr val="1B2559"/>
                </a:solidFill>
                <a:latin typeface="Georgia" pitchFamily="34" charset="0"/>
                <a:ea typeface="Georgia" pitchFamily="34" charset="-122"/>
                <a:cs typeface="Georgia" pitchFamily="34" charset="-120"/>
              </a:rPr>
              <a:t> completely.</a:t>
            </a:r>
            <a:endParaRPr lang="en-US" sz="1250" dirty="0"/>
          </a:p>
        </p:txBody>
      </p:sp>
      <p:sp>
        <p:nvSpPr>
          <p:cNvPr id="27" name="R5_lnA345"/>
          <p:cNvSpPr/>
          <p:nvPr/>
        </p:nvSpPr>
        <p:spPr>
          <a:xfrm>
            <a:off x="548640" y="424434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6  Since she came here she's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changed</a:t>
            </a:r>
            <a:pPr indent="0" marL="0">
              <a:buNone/>
            </a:pPr>
            <a:r>
              <a:rPr lang="en-US" sz="1250" dirty="0">
                <a:solidFill>
                  <a:srgbClr val="1B2559"/>
                </a:solidFill>
                <a:latin typeface="Georgia" pitchFamily="34" charset="0"/>
                <a:ea typeface="Georgia" pitchFamily="34" charset="-122"/>
                <a:cs typeface="Georgia" pitchFamily="34" charset="-120"/>
              </a:rPr>
              <a:t> completely.</a:t>
            </a:r>
            <a:endParaRPr lang="en-US" sz="1250" dirty="0"/>
          </a:p>
        </p:txBody>
      </p:sp>
      <p:sp>
        <p:nvSpPr>
          <p:cNvPr id="28" name="ap_346"/>
          <p:cNvSpPr/>
          <p:nvPr/>
        </p:nvSpPr>
        <p:spPr>
          <a:xfrm>
            <a:off x="6263640" y="1417320"/>
            <a:ext cx="201168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2.15</a:t>
            </a:r>
            <a:endParaRPr lang="en-US" sz="1100" dirty="0"/>
          </a:p>
        </p:txBody>
      </p:sp>
      <p:sp>
        <p:nvSpPr>
          <p:cNvPr id="29" name="ah_347"/>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30"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31"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32" name="pf_348"/>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3" name="ph_349" descr="/home/claude/lls-course/v2/cache/2b1_building_school_jpg_594x352_31.png">    </p:cNvPr>
          <p:cNvPicPr>
            <a:picLocks noChangeAspect="1"/>
          </p:cNvPicPr>
          <p:nvPr/>
        </p:nvPicPr>
        <p:blipFill>
          <a:blip r:embed="rId11"/>
          <a:stretch>
            <a:fillRect/>
          </a:stretch>
        </p:blipFill>
        <p:spPr>
          <a:xfrm rot="120000">
            <a:off x="6355080" y="2240280"/>
            <a:ext cx="2468880" cy="1463040"/>
          </a:xfrm>
          <a:prstGeom prst="rect">
            <a:avLst/>
          </a:prstGeom>
        </p:spPr>
      </p:pic>
      <p:sp>
        <p:nvSpPr>
          <p:cNvPr id="34" name="cd_350"/>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35" name="ii_351"/>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6" name="ih_352"/>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7" name="il_353"/>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building · changed · doing</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running · started</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30"/>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30"/>
                                        </p:tgtEl>
                                      </p:cBhvr>
                                    </p:cmd>
                                  </p:childTnLst>
                                </p:cTn>
                              </p:par>
                            </p:childTnLst>
                          </p:cTn>
                        </p:par>
                      </p:childTnLst>
                    </p:cTn>
                  </p:par>
                </p:childTnLst>
              </p:cTn>
              <p:nextCondLst>
                <p:cond evt="onClick" delay="0">
                  <p:tgtEl>
                    <p:spTgt spid="30"/>
                  </p:tgtEl>
                </p:cond>
              </p:nextCondLst>
            </p:seq>
            <p:seq concurrent="1" nextAc="seek">
              <p:cTn id="33" restart="whenNotActive" fill="hold" evtFilter="cancelBubble" nodeType="interactiveSeq">
                <p:stCondLst>
                  <p:cond evt="onClick" delay="0">
                    <p:tgtEl>
                      <p:spTgt spid="31"/>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31"/>
                                        </p:tgtEl>
                                      </p:cBhvr>
                                    </p:cmd>
                                  </p:childTnLst>
                                </p:cTn>
                              </p:par>
                            </p:childTnLst>
                          </p:cTn>
                        </p:par>
                      </p:childTnLst>
                    </p:cTn>
                  </p:par>
                </p:childTnLst>
              </p:cTn>
              <p:nextCondLst>
                <p:cond evt="onClick" delay="0">
                  <p:tgtEl>
                    <p:spTgt spid="31"/>
                  </p:tgtEl>
                </p:cond>
              </p:nextCondLst>
            </p:seq>
            <p:audio>
              <p:cMediaNode vol="80000">
                <p:cTn id="38" fill="hold" display="0">
                  <p:stCondLst>
                    <p:cond delay="indefinite"/>
                  </p:stCondLst>
                  <p:endCondLst>
                    <p:cond evt="onStopAudio" delay="0">
                      <p:tgtEl>
                        <p:sldTgt/>
                      </p:tgtEl>
                    </p:cond>
                  </p:endCondLst>
                </p:cTn>
                <p:tgtEl>
                  <p:spTgt spid="30"/>
                </p:tgtEl>
              </p:cMediaNode>
            </p:audio>
            <p:audio>
              <p:cMediaNode vol="80000">
                <p:cTn id="39" fill="hold" display="0">
                  <p:stCondLst>
                    <p:cond delay="indefinite"/>
                  </p:stCondLst>
                  <p:endCondLst>
                    <p:cond evt="onStopAudio" delay="0">
                      <p:tgtEl>
                        <p:sldTgt/>
                      </p:tgtEl>
                    </p:cond>
                  </p:endCondLst>
                </p:cTn>
                <p:tgtEl>
                  <p:spTgt spid="31"/>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55"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356"/>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been + -ing or participle?</a:t>
            </a:r>
            <a:endParaRPr lang="en-US" sz="2500" dirty="0"/>
          </a:p>
        </p:txBody>
      </p:sp>
      <p:pic>
        <p:nvPicPr>
          <p:cNvPr id="6" name="brP_357" descr="/home/claude/lls-course/v2/assets/brush-pink.png">    </p:cNvPr>
          <p:cNvPicPr>
            <a:picLocks noChangeAspect="1"/>
          </p:cNvPicPr>
          <p:nvPr/>
        </p:nvPicPr>
        <p:blipFill>
          <a:blip r:embed="rId3"/>
          <a:stretch>
            <a:fillRect/>
          </a:stretch>
        </p:blipFill>
        <p:spPr>
          <a:xfrm>
            <a:off x="1207008" y="731520"/>
            <a:ext cx="3250692" cy="402336"/>
          </a:xfrm>
          <a:prstGeom prst="rect">
            <a:avLst/>
          </a:prstGeom>
        </p:spPr>
      </p:pic>
      <p:sp>
        <p:nvSpPr>
          <p:cNvPr id="7" name="ins_358"/>
          <p:cNvSpPr/>
          <p:nvPr/>
        </p:nvSpPr>
        <p:spPr>
          <a:xfrm>
            <a:off x="1353312" y="731520"/>
            <a:ext cx="299466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form? Match the colour.</a:t>
            </a:r>
            <a:endParaRPr lang="en-US" sz="1250" dirty="0"/>
          </a:p>
        </p:txBody>
      </p:sp>
      <p:sp>
        <p:nvSpPr>
          <p:cNvPr id="8" name="insIT_35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Quale forma? Abbina il colore.</a:t>
            </a:r>
            <a:endParaRPr lang="en-US" sz="950" dirty="0"/>
          </a:p>
        </p:txBody>
      </p:sp>
      <p:sp>
        <p:nvSpPr>
          <p:cNvPr id="9" name="cmd_360"/>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meta_361"/>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362"/>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36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6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Grammar · guided discovery   ·   📖 SB p.21 · 2b</a:t>
            </a:r>
            <a:endParaRPr lang="en-US" sz="800" dirty="0"/>
          </a:p>
        </p:txBody>
      </p:sp>
      <p:sp>
        <p:nvSpPr>
          <p:cNvPr id="14" name="cd_365"/>
          <p:cNvSpPr/>
          <p:nvPr/>
        </p:nvSpPr>
        <p:spPr>
          <a:xfrm>
            <a:off x="320040" y="1417320"/>
            <a:ext cx="2697480" cy="1527048"/>
          </a:xfrm>
          <a:prstGeom prst="roundRect">
            <a:avLst>
              <a:gd name="adj" fmla="val 838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36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6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colours</a:t>
            </a:r>
            <a:endParaRPr lang="en-US" sz="1300" dirty="0"/>
          </a:p>
        </p:txBody>
      </p:sp>
      <p:sp>
        <p:nvSpPr>
          <p:cNvPr id="17" name="il_368"/>
          <p:cNvSpPr/>
          <p:nvPr/>
        </p:nvSpPr>
        <p:spPr>
          <a:xfrm>
            <a:off x="886968" y="1892808"/>
            <a:ext cx="2039112" cy="978408"/>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8" name="lg_369"/>
          <p:cNvSpPr/>
          <p:nvPr/>
        </p:nvSpPr>
        <p:spPr>
          <a:xfrm>
            <a:off x="457200"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been + -ing</a:t>
            </a:r>
            <a:endParaRPr lang="en-US" sz="1050" dirty="0"/>
          </a:p>
        </p:txBody>
      </p:sp>
      <p:sp>
        <p:nvSpPr>
          <p:cNvPr id="19" name="lg_370"/>
          <p:cNvSpPr/>
          <p:nvPr/>
        </p:nvSpPr>
        <p:spPr>
          <a:xfrm>
            <a:off x="1719072" y="1984248"/>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participle</a:t>
            </a:r>
            <a:endParaRPr lang="en-US" sz="1050" dirty="0"/>
          </a:p>
        </p:txBody>
      </p:sp>
      <p:sp>
        <p:nvSpPr>
          <p:cNvPr id="20" name="sq_371"/>
          <p:cNvSpPr/>
          <p:nvPr/>
        </p:nvSpPr>
        <p:spPr>
          <a:xfrm>
            <a:off x="3246120" y="1417320"/>
            <a:ext cx="3840480" cy="475488"/>
          </a:xfrm>
          <a:prstGeom prst="roundRect">
            <a:avLst>
              <a:gd name="adj" fmla="val 19231"/>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How long have you been working…?</a:t>
            </a:r>
            <a:endParaRPr lang="en-US" sz="1200" dirty="0"/>
          </a:p>
        </p:txBody>
      </p:sp>
      <p:sp>
        <p:nvSpPr>
          <p:cNvPr id="21" name="R1_tag372"/>
          <p:cNvSpPr/>
          <p:nvPr/>
        </p:nvSpPr>
        <p:spPr>
          <a:xfrm>
            <a:off x="7178040" y="1417320"/>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been + -ing</a:t>
            </a:r>
            <a:endParaRPr lang="en-US" sz="1150" dirty="0"/>
          </a:p>
        </p:txBody>
      </p:sp>
      <p:sp>
        <p:nvSpPr>
          <p:cNvPr id="22" name="sq_373"/>
          <p:cNvSpPr/>
          <p:nvPr/>
        </p:nvSpPr>
        <p:spPr>
          <a:xfrm>
            <a:off x="3246120" y="1956816"/>
            <a:ext cx="3840480" cy="475488"/>
          </a:xfrm>
          <a:prstGeom prst="roundRect">
            <a:avLst>
              <a:gd name="adj" fmla="val 19231"/>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…what Adelante Africa has been doing</a:t>
            </a:r>
            <a:endParaRPr lang="en-US" sz="1200" dirty="0"/>
          </a:p>
        </p:txBody>
      </p:sp>
      <p:sp>
        <p:nvSpPr>
          <p:cNvPr id="23" name="R2_tag374"/>
          <p:cNvSpPr/>
          <p:nvPr/>
        </p:nvSpPr>
        <p:spPr>
          <a:xfrm>
            <a:off x="7178040" y="1956816"/>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been + -ing</a:t>
            </a:r>
            <a:endParaRPr lang="en-US" sz="1150" dirty="0"/>
          </a:p>
        </p:txBody>
      </p:sp>
      <p:sp>
        <p:nvSpPr>
          <p:cNvPr id="24" name="sq_375"/>
          <p:cNvSpPr/>
          <p:nvPr/>
        </p:nvSpPr>
        <p:spPr>
          <a:xfrm>
            <a:off x="3246120" y="2496312"/>
            <a:ext cx="3840480" cy="475488"/>
          </a:xfrm>
          <a:prstGeom prst="roundRect">
            <a:avLst>
              <a:gd name="adj" fmla="val 19231"/>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The home has been running since 2012.</a:t>
            </a:r>
            <a:endParaRPr lang="en-US" sz="1200" dirty="0"/>
          </a:p>
        </p:txBody>
      </p:sp>
      <p:sp>
        <p:nvSpPr>
          <p:cNvPr id="25" name="R3_tag376"/>
          <p:cNvSpPr/>
          <p:nvPr/>
        </p:nvSpPr>
        <p:spPr>
          <a:xfrm>
            <a:off x="7178040" y="2496312"/>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been + -ing</a:t>
            </a:r>
            <a:endParaRPr lang="en-US" sz="1150" dirty="0"/>
          </a:p>
        </p:txBody>
      </p:sp>
      <p:sp>
        <p:nvSpPr>
          <p:cNvPr id="26" name="sq_377"/>
          <p:cNvSpPr/>
          <p:nvPr/>
        </p:nvSpPr>
        <p:spPr>
          <a:xfrm>
            <a:off x="3246120" y="3035808"/>
            <a:ext cx="3840480" cy="475488"/>
          </a:xfrm>
          <a:prstGeom prst="roundRect">
            <a:avLst>
              <a:gd name="adj" fmla="val 19231"/>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We've also been building water tanks.</a:t>
            </a:r>
            <a:endParaRPr lang="en-US" sz="1200" dirty="0"/>
          </a:p>
        </p:txBody>
      </p:sp>
      <p:sp>
        <p:nvSpPr>
          <p:cNvPr id="27" name="R4_tag378"/>
          <p:cNvSpPr/>
          <p:nvPr/>
        </p:nvSpPr>
        <p:spPr>
          <a:xfrm>
            <a:off x="7178040" y="3035808"/>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been + -ing</a:t>
            </a:r>
            <a:endParaRPr lang="en-US" sz="1150" dirty="0"/>
          </a:p>
        </p:txBody>
      </p:sp>
      <p:sp>
        <p:nvSpPr>
          <p:cNvPr id="28" name="sq_379"/>
          <p:cNvSpPr/>
          <p:nvPr/>
        </p:nvSpPr>
        <p:spPr>
          <a:xfrm>
            <a:off x="3246120" y="3575304"/>
            <a:ext cx="3840480" cy="475488"/>
          </a:xfrm>
          <a:prstGeom prst="roundRect">
            <a:avLst>
              <a:gd name="adj" fmla="val 19231"/>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Since then we've started 11 more groups.</a:t>
            </a:r>
            <a:endParaRPr lang="en-US" sz="1200" dirty="0"/>
          </a:p>
        </p:txBody>
      </p:sp>
      <p:sp>
        <p:nvSpPr>
          <p:cNvPr id="29" name="R5_tag380"/>
          <p:cNvSpPr/>
          <p:nvPr/>
        </p:nvSpPr>
        <p:spPr>
          <a:xfrm>
            <a:off x="7178040" y="3575304"/>
            <a:ext cx="1691640" cy="475488"/>
          </a:xfrm>
          <a:prstGeom prst="roundRect">
            <a:avLst>
              <a:gd name="adj" fmla="val 48077"/>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participle</a:t>
            </a:r>
            <a:endParaRPr lang="en-US" sz="1150" dirty="0"/>
          </a:p>
        </p:txBody>
      </p:sp>
      <p:sp>
        <p:nvSpPr>
          <p:cNvPr id="30" name="sq_381"/>
          <p:cNvSpPr/>
          <p:nvPr/>
        </p:nvSpPr>
        <p:spPr>
          <a:xfrm>
            <a:off x="3246120" y="4114800"/>
            <a:ext cx="3840480" cy="475488"/>
          </a:xfrm>
          <a:prstGeom prst="roundRect">
            <a:avLst>
              <a:gd name="adj" fmla="val 19231"/>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Since she came here she's changed.</a:t>
            </a:r>
            <a:endParaRPr lang="en-US" sz="1200" dirty="0"/>
          </a:p>
        </p:txBody>
      </p:sp>
      <p:sp>
        <p:nvSpPr>
          <p:cNvPr id="31" name="R6_tag382"/>
          <p:cNvSpPr/>
          <p:nvPr/>
        </p:nvSpPr>
        <p:spPr>
          <a:xfrm>
            <a:off x="7178040" y="4114800"/>
            <a:ext cx="1691640" cy="475488"/>
          </a:xfrm>
          <a:prstGeom prst="roundRect">
            <a:avLst>
              <a:gd name="adj" fmla="val 48077"/>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participle</a:t>
            </a:r>
            <a:endParaRPr lang="en-US" sz="1150" dirty="0"/>
          </a:p>
        </p:txBody>
      </p:sp>
      <p:sp>
        <p:nvSpPr>
          <p:cNvPr id="32" name="pf_383"/>
          <p:cNvSpPr/>
          <p:nvPr/>
        </p:nvSpPr>
        <p:spPr>
          <a:xfrm rot="-120000">
            <a:off x="411480" y="3703320"/>
            <a:ext cx="2514600" cy="1051560"/>
          </a:xfrm>
          <a:prstGeom prst="roundRect">
            <a:avLst>
              <a:gd name="adj" fmla="val 1478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3" name="ph_384" descr="/home/claude/lls-course/v2/cache/2b1_volunteer_jpg_583x231_31.png">    </p:cNvPr>
          <p:cNvPicPr>
            <a:picLocks noChangeAspect="1"/>
          </p:cNvPicPr>
          <p:nvPr/>
        </p:nvPicPr>
        <p:blipFill>
          <a:blip r:embed="rId5"/>
          <a:stretch>
            <a:fillRect/>
          </a:stretch>
        </p:blipFill>
        <p:spPr>
          <a:xfrm rot="-120000">
            <a:off x="457200" y="3749040"/>
            <a:ext cx="2423160" cy="9601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86"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387"/>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250" dirty="0">
                <a:solidFill>
                  <a:srgbClr val="1B2559"/>
                </a:solidFill>
                <a:latin typeface="Arial Rounded MT Bold" pitchFamily="34" charset="0"/>
                <a:ea typeface="Arial Rounded MT Bold" pitchFamily="34" charset="-122"/>
                <a:cs typeface="Arial Rounded MT Bold" pitchFamily="34" charset="-120"/>
              </a:rPr>
              <a:t>How long have you…?</a:t>
            </a:r>
            <a:endParaRPr lang="en-US" sz="2250" dirty="0"/>
          </a:p>
        </p:txBody>
      </p:sp>
      <p:pic>
        <p:nvPicPr>
          <p:cNvPr id="6" name="brP_388" descr="/home/claude/lls-course/v2/assets/brush-pink.png">    </p:cNvPr>
          <p:cNvPicPr>
            <a:picLocks noChangeAspect="1"/>
          </p:cNvPicPr>
          <p:nvPr/>
        </p:nvPicPr>
        <p:blipFill>
          <a:blip r:embed="rId3"/>
          <a:stretch>
            <a:fillRect/>
          </a:stretch>
        </p:blipFill>
        <p:spPr>
          <a:xfrm>
            <a:off x="1207008" y="731520"/>
            <a:ext cx="2642616" cy="402336"/>
          </a:xfrm>
          <a:prstGeom prst="rect">
            <a:avLst/>
          </a:prstGeom>
        </p:spPr>
      </p:pic>
      <p:sp>
        <p:nvSpPr>
          <p:cNvPr id="7" name="ins_389"/>
          <p:cNvSpPr/>
          <p:nvPr/>
        </p:nvSpPr>
        <p:spPr>
          <a:xfrm>
            <a:off x="1353312" y="731520"/>
            <a:ext cx="238658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Which form? Why?</a:t>
            </a:r>
            <a:endParaRPr lang="en-US" sz="1250" dirty="0"/>
          </a:p>
        </p:txBody>
      </p:sp>
      <p:sp>
        <p:nvSpPr>
          <p:cNvPr id="8" name="insIT_39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Quale forma? Perché?</a:t>
            </a:r>
            <a:endParaRPr lang="en-US" sz="950" dirty="0"/>
          </a:p>
        </p:txBody>
      </p:sp>
      <p:sp>
        <p:nvSpPr>
          <p:cNvPr id="9" name="cmd_39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39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1" name="tag_39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39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9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Grammar · the rule   ·   📖 Grammar Bank 2B p.135 · audio 2.16, 2.17</a:t>
            </a:r>
            <a:endParaRPr lang="en-US" sz="800" dirty="0"/>
          </a:p>
        </p:txBody>
      </p:sp>
      <p:sp>
        <p:nvSpPr>
          <p:cNvPr id="14" name="ap_396"/>
          <p:cNvSpPr/>
          <p:nvPr/>
        </p:nvSpPr>
        <p:spPr>
          <a:xfrm>
            <a:off x="6583680" y="914400"/>
            <a:ext cx="169164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2.16 + 2.17</a:t>
            </a:r>
            <a:endParaRPr lang="en-US" sz="1100" dirty="0"/>
          </a:p>
        </p:txBody>
      </p:sp>
      <p:sp>
        <p:nvSpPr>
          <p:cNvPr id="15" name="ah_397"/>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w_398"/>
          <p:cNvSpPr/>
          <p:nvPr/>
        </p:nvSpPr>
        <p:spPr>
          <a:xfrm>
            <a:off x="6583680" y="1335024"/>
            <a:ext cx="21945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2.17: play from the book audio</a:t>
            </a:r>
            <a:endParaRPr lang="en-US" sz="900" dirty="0"/>
          </a:p>
        </p:txBody>
      </p:sp>
      <p:sp>
        <p:nvSpPr>
          <p:cNvPr id="19" name="cd_399"/>
          <p:cNvSpPr/>
          <p:nvPr/>
        </p:nvSpPr>
        <p:spPr>
          <a:xfrm>
            <a:off x="320040" y="1417320"/>
            <a:ext cx="2758440" cy="3017520"/>
          </a:xfrm>
          <a:prstGeom prst="roundRect">
            <a:avLst>
              <a:gd name="adj" fmla="val 4641"/>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20" name="rh_400"/>
          <p:cNvSpPr/>
          <p:nvPr/>
        </p:nvSpPr>
        <p:spPr>
          <a:xfrm>
            <a:off x="429768" y="1508760"/>
            <a:ext cx="25389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PP simple + for / since</a:t>
            </a:r>
            <a:endParaRPr lang="en-US" sz="1250" dirty="0"/>
          </a:p>
        </p:txBody>
      </p:sp>
      <p:sp>
        <p:nvSpPr>
          <p:cNvPr id="21" name="pf_401"/>
          <p:cNvSpPr/>
          <p:nvPr/>
        </p:nvSpPr>
        <p:spPr>
          <a:xfrm>
            <a:off x="4297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402" descr="/home/claude/lls-course/v2/cache/2b1_old_couple_jpg_589x209_31.png">    </p:cNvPr>
          <p:cNvPicPr>
            <a:picLocks noChangeAspect="1"/>
          </p:cNvPicPr>
          <p:nvPr/>
        </p:nvPicPr>
        <p:blipFill>
          <a:blip r:embed="rId11"/>
          <a:stretch>
            <a:fillRect/>
          </a:stretch>
        </p:blipFill>
        <p:spPr>
          <a:xfrm>
            <a:off x="475488" y="1984248"/>
            <a:ext cx="2447544" cy="868680"/>
          </a:xfrm>
          <a:prstGeom prst="rect">
            <a:avLst/>
          </a:prstGeom>
        </p:spPr>
      </p:pic>
      <p:sp>
        <p:nvSpPr>
          <p:cNvPr id="23" name="ru_403"/>
          <p:cNvSpPr/>
          <p:nvPr/>
        </p:nvSpPr>
        <p:spPr>
          <a:xfrm>
            <a:off x="4114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be · have · know · like (no action)</a:t>
            </a:r>
            <a:endParaRPr lang="en-US" sz="1050" dirty="0"/>
          </a:p>
        </p:txBody>
      </p:sp>
      <p:sp>
        <p:nvSpPr>
          <p:cNvPr id="24" name="R1_rx404"/>
          <p:cNvSpPr/>
          <p:nvPr/>
        </p:nvSpPr>
        <p:spPr>
          <a:xfrm>
            <a:off x="4114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They've known each other for ten years.</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Julia's had that bag since she was at university.</a:t>
            </a:r>
            <a:endParaRPr lang="en-US" sz="1050" dirty="0"/>
          </a:p>
        </p:txBody>
      </p:sp>
      <p:sp>
        <p:nvSpPr>
          <p:cNvPr id="25" name="R1_ri405"/>
          <p:cNvSpPr/>
          <p:nvPr/>
        </p:nvSpPr>
        <p:spPr>
          <a:xfrm>
            <a:off x="4114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conosco… da · ho… da</a:t>
            </a:r>
            <a:endParaRPr lang="en-US" sz="900" dirty="0"/>
          </a:p>
        </p:txBody>
      </p:sp>
      <p:sp>
        <p:nvSpPr>
          <p:cNvPr id="26" name="cd_406"/>
          <p:cNvSpPr/>
          <p:nvPr/>
        </p:nvSpPr>
        <p:spPr>
          <a:xfrm>
            <a:off x="3215640" y="1417320"/>
            <a:ext cx="2758440" cy="3017520"/>
          </a:xfrm>
          <a:prstGeom prst="roundRect">
            <a:avLst>
              <a:gd name="adj" fmla="val 4641"/>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7" name="rh_407"/>
          <p:cNvSpPr/>
          <p:nvPr/>
        </p:nvSpPr>
        <p:spPr>
          <a:xfrm>
            <a:off x="3325368" y="1508760"/>
            <a:ext cx="25389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PP continuous · How long?</a:t>
            </a:r>
            <a:endParaRPr lang="en-US" sz="1250" dirty="0"/>
          </a:p>
        </p:txBody>
      </p:sp>
      <p:sp>
        <p:nvSpPr>
          <p:cNvPr id="28" name="pf_408"/>
          <p:cNvSpPr/>
          <p:nvPr/>
        </p:nvSpPr>
        <p:spPr>
          <a:xfrm>
            <a:off x="33253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9" name="ph_409" descr="/home/claude/lls-course/v2/cache/2b1_learning_french_jpg_589x209_31.png">    </p:cNvPr>
          <p:cNvPicPr>
            <a:picLocks noChangeAspect="1"/>
          </p:cNvPicPr>
          <p:nvPr/>
        </p:nvPicPr>
        <p:blipFill>
          <a:blip r:embed="rId12"/>
          <a:stretch>
            <a:fillRect/>
          </a:stretch>
        </p:blipFill>
        <p:spPr>
          <a:xfrm>
            <a:off x="3371088" y="1984248"/>
            <a:ext cx="2447544" cy="868680"/>
          </a:xfrm>
          <a:prstGeom prst="rect">
            <a:avLst/>
          </a:prstGeom>
        </p:spPr>
      </p:pic>
      <p:sp>
        <p:nvSpPr>
          <p:cNvPr id="30" name="ru_410"/>
          <p:cNvSpPr/>
          <p:nvPr/>
        </p:nvSpPr>
        <p:spPr>
          <a:xfrm>
            <a:off x="33070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action verbs: learn · work · go · wait</a:t>
            </a:r>
            <a:endParaRPr lang="en-US" sz="1050" dirty="0"/>
          </a:p>
        </p:txBody>
      </p:sp>
      <p:sp>
        <p:nvSpPr>
          <p:cNvPr id="31" name="R2_rx411"/>
          <p:cNvSpPr/>
          <p:nvPr/>
        </p:nvSpPr>
        <p:spPr>
          <a:xfrm>
            <a:off x="33070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How long have you been learning English?</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Nick has been working here since April.</a:t>
            </a:r>
            <a:endParaRPr lang="en-US" sz="1050" dirty="0"/>
          </a:p>
        </p:txBody>
      </p:sp>
      <p:sp>
        <p:nvSpPr>
          <p:cNvPr id="32" name="R2_ri412"/>
          <p:cNvSpPr/>
          <p:nvPr/>
        </p:nvSpPr>
        <p:spPr>
          <a:xfrm>
            <a:off x="33070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studio… da (ancora adesso)</a:t>
            </a:r>
            <a:endParaRPr lang="en-US" sz="900" dirty="0"/>
          </a:p>
        </p:txBody>
      </p:sp>
      <p:sp>
        <p:nvSpPr>
          <p:cNvPr id="33" name="cd_413"/>
          <p:cNvSpPr/>
          <p:nvPr/>
        </p:nvSpPr>
        <p:spPr>
          <a:xfrm>
            <a:off x="6111240" y="1417320"/>
            <a:ext cx="2758440" cy="3017520"/>
          </a:xfrm>
          <a:prstGeom prst="roundRect">
            <a:avLst>
              <a:gd name="adj" fmla="val 4641"/>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34" name="rh_414"/>
          <p:cNvSpPr/>
          <p:nvPr/>
        </p:nvSpPr>
        <p:spPr>
          <a:xfrm>
            <a:off x="6220968" y="1508760"/>
            <a:ext cx="25389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PP continuous · just now</a:t>
            </a:r>
            <a:endParaRPr lang="en-US" sz="1250" dirty="0"/>
          </a:p>
        </p:txBody>
      </p:sp>
      <p:sp>
        <p:nvSpPr>
          <p:cNvPr id="35" name="pf_415"/>
          <p:cNvSpPr/>
          <p:nvPr/>
        </p:nvSpPr>
        <p:spPr>
          <a:xfrm>
            <a:off x="62209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6" name="ph_416" descr="/home/claude/lls-course/v2/cache/2b1_painting_jpg_589x209_31.png">    </p:cNvPr>
          <p:cNvPicPr>
            <a:picLocks noChangeAspect="1"/>
          </p:cNvPicPr>
          <p:nvPr/>
        </p:nvPicPr>
        <p:blipFill>
          <a:blip r:embed="rId13"/>
          <a:stretch>
            <a:fillRect/>
          </a:stretch>
        </p:blipFill>
        <p:spPr>
          <a:xfrm>
            <a:off x="6266688" y="1984248"/>
            <a:ext cx="2447544" cy="868680"/>
          </a:xfrm>
          <a:prstGeom prst="rect">
            <a:avLst/>
          </a:prstGeom>
        </p:spPr>
      </p:pic>
      <p:sp>
        <p:nvSpPr>
          <p:cNvPr id="37" name="ru_417"/>
          <p:cNvSpPr/>
          <p:nvPr/>
        </p:nvSpPr>
        <p:spPr>
          <a:xfrm>
            <a:off x="62026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a long action that has just stopped</a:t>
            </a:r>
            <a:endParaRPr lang="en-US" sz="1050" dirty="0"/>
          </a:p>
        </p:txBody>
      </p:sp>
      <p:sp>
        <p:nvSpPr>
          <p:cNvPr id="38" name="R3_rx418"/>
          <p:cNvSpPr/>
          <p:nvPr/>
        </p:nvSpPr>
        <p:spPr>
          <a:xfrm>
            <a:off x="62026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Your eyes are red. Have you been crying?</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No, I've been chopping onions.</a:t>
            </a:r>
            <a:endParaRPr lang="en-US" sz="1050" dirty="0"/>
          </a:p>
        </p:txBody>
      </p:sp>
      <p:sp>
        <p:nvSpPr>
          <p:cNvPr id="39" name="R3_ri419"/>
          <p:cNvSpPr/>
          <p:nvPr/>
        </p:nvSpPr>
        <p:spPr>
          <a:xfrm>
            <a:off x="62026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ho appena… (si vede!)</a:t>
            </a:r>
            <a:endParaRPr lang="en-US" sz="900" dirty="0"/>
          </a:p>
        </p:txBody>
      </p:sp>
      <p:sp>
        <p:nvSpPr>
          <p:cNvPr id="40" name="R4_wc420"/>
          <p:cNvSpPr/>
          <p:nvPr/>
        </p:nvSpPr>
        <p:spPr>
          <a:xfrm>
            <a:off x="320040" y="4544568"/>
            <a:ext cx="8549640" cy="329184"/>
          </a:xfrm>
          <a:prstGeom prst="roundRect">
            <a:avLst>
              <a:gd name="adj" fmla="val 38889"/>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1" name="R4_w421"/>
          <p:cNvSpPr/>
          <p:nvPr/>
        </p:nvSpPr>
        <p:spPr>
          <a:xfrm>
            <a:off x="457200" y="4544568"/>
            <a:ext cx="8321040"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 for ten years · since April   ✗ I study English for 3 years → ✓ I've been studying…   ✗ been knowing → ✓ known</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par>
                                <p:cTn id="16" presetID="10" presetClass="entr" presetSubtype="0" fill="hold"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4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400"/>
                                        <p:tgtEl>
                                          <p:spTgt spid="38"/>
                                        </p:tgtEl>
                                      </p:cBhvr>
                                    </p:animEffect>
                                  </p:childTnLst>
                                </p:cTn>
                              </p:par>
                              <p:par>
                                <p:cTn id="24" presetID="10" presetClass="entr" presetSubtype="0" fill="hold" nodeType="with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400"/>
                                        <p:tgtEl>
                                          <p:spTgt spid="3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400"/>
                                        <p:tgtEl>
                                          <p:spTgt spid="40"/>
                                        </p:tgtEl>
                                      </p:cBhvr>
                                    </p:animEffect>
                                  </p:childTnLst>
                                </p:cTn>
                              </p:par>
                              <p:par>
                                <p:cTn id="32" presetID="10" presetClass="entr" presetSubtype="0" fill="hold"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5" restart="whenNotActive" fill="hold" evtFilter="cancelBubble" nodeType="interactiveSeq">
                <p:stCondLst>
                  <p:cond evt="onClick" delay="0">
                    <p:tgtEl>
                      <p:spTgt spid="16"/>
                    </p:tgtEl>
                  </p:cond>
                </p:stCondLst>
                <p:endSync evt="end" delay="0">
                  <p:rtn val="all"/>
                </p:endSync>
                <p:childTnLst>
                  <p:par>
                    <p:cTn id="36" fill="hold">
                      <p:stCondLst>
                        <p:cond delay="0"/>
                      </p:stCondLst>
                      <p:childTnLst>
                        <p:par>
                          <p:cTn id="37" fill="hold">
                            <p:stCondLst>
                              <p:cond delay="0"/>
                            </p:stCondLst>
                            <p:childTnLst>
                              <p:par>
                                <p:cTn id="38" presetID="2" presetClass="mediacall" presetSubtype="0" fill="hold" nodeType="clickEffect">
                                  <p:stCondLst>
                                    <p:cond delay="0"/>
                                  </p:stCondLst>
                                  <p:childTnLst>
                                    <p:cmd type="call" cmd="togglePause">
                                      <p:cBhvr>
                                        <p:cTn id="39" dur="1" fill="hold"/>
                                        <p:tgtEl>
                                          <p:spTgt spid="16"/>
                                        </p:tgtEl>
                                      </p:cBhvr>
                                    </p:cmd>
                                  </p:childTnLst>
                                </p:cTn>
                              </p:par>
                            </p:childTnLst>
                          </p:cTn>
                        </p:par>
                      </p:childTnLst>
                    </p:cTn>
                  </p:par>
                </p:childTnLst>
              </p:cTn>
              <p:nextCondLst>
                <p:cond evt="onClick" delay="0">
                  <p:tgtEl>
                    <p:spTgt spid="16"/>
                  </p:tgtEl>
                </p:cond>
              </p:nextCondLst>
            </p:seq>
            <p:seq concurrent="1" nextAc="seek">
              <p:cTn id="40" restart="whenNotActive" fill="hold" evtFilter="cancelBubble" nodeType="interactiveSeq">
                <p:stCondLst>
                  <p:cond evt="onClick" delay="0">
                    <p:tgtEl>
                      <p:spTgt spid="17"/>
                    </p:tgtEl>
                  </p:cond>
                </p:stCondLst>
                <p:endSync evt="end" delay="0">
                  <p:rtn val="all"/>
                </p:endSync>
                <p:childTnLst>
                  <p:par>
                    <p:cTn id="41" fill="hold">
                      <p:stCondLst>
                        <p:cond delay="0"/>
                      </p:stCondLst>
                      <p:childTnLst>
                        <p:par>
                          <p:cTn id="42" fill="hold">
                            <p:stCondLst>
                              <p:cond delay="0"/>
                            </p:stCondLst>
                            <p:childTnLst>
                              <p:par>
                                <p:cTn id="43" presetID="2" presetClass="mediacall" presetSubtype="0" fill="hold" nodeType="clickEffect">
                                  <p:stCondLst>
                                    <p:cond delay="0"/>
                                  </p:stCondLst>
                                  <p:childTnLst>
                                    <p:cmd type="call" cmd="togglePause">
                                      <p:cBhvr>
                                        <p:cTn id="44" dur="1" fill="hold"/>
                                        <p:tgtEl>
                                          <p:spTgt spid="17"/>
                                        </p:tgtEl>
                                      </p:cBhvr>
                                    </p:cmd>
                                  </p:childTnLst>
                                </p:cTn>
                              </p:par>
                            </p:childTnLst>
                          </p:cTn>
                        </p:par>
                      </p:childTnLst>
                    </p:cTn>
                  </p:par>
                </p:childTnLst>
              </p:cTn>
              <p:nextCondLst>
                <p:cond evt="onClick" delay="0">
                  <p:tgtEl>
                    <p:spTgt spid="17"/>
                  </p:tgtEl>
                </p:cond>
              </p:nextCondLst>
            </p:seq>
            <p:audio>
              <p:cMediaNode vol="80000">
                <p:cTn id="45" fill="hold" display="0">
                  <p:stCondLst>
                    <p:cond delay="indefinite"/>
                  </p:stCondLst>
                  <p:endCondLst>
                    <p:cond evt="onStopAudio" delay="0">
                      <p:tgtEl>
                        <p:sldTgt/>
                      </p:tgtEl>
                    </p:cond>
                  </p:endCondLst>
                </p:cTn>
                <p:tgtEl>
                  <p:spTgt spid="16"/>
                </p:tgtEl>
              </p:cMediaNode>
            </p:audio>
            <p:audio>
              <p:cMediaNode vol="80000">
                <p:cTn id="46" fill="hold" display="0">
                  <p:stCondLst>
                    <p:cond delay="indefinite"/>
                  </p:stCondLst>
                  <p:endCondLst>
                    <p:cond evt="onStopAudio" delay="0">
                      <p:tgtEl>
                        <p:sldTgt/>
                      </p:tgtEl>
                    </p:cond>
                  </p:endCondLst>
                </p:cTn>
                <p:tgtEl>
                  <p:spTgt spid="1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2"/>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23"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424"/>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for or since?</a:t>
            </a:r>
            <a:endParaRPr lang="en-US" sz="2500" dirty="0"/>
          </a:p>
        </p:txBody>
      </p:sp>
      <p:pic>
        <p:nvPicPr>
          <p:cNvPr id="6" name="brP_425" descr="/home/claude/lls-course/v2/assets/brush-pink.png">    </p:cNvPr>
          <p:cNvPicPr>
            <a:picLocks noChangeAspect="1"/>
          </p:cNvPicPr>
          <p:nvPr/>
        </p:nvPicPr>
        <p:blipFill>
          <a:blip r:embed="rId3"/>
          <a:stretch>
            <a:fillRect/>
          </a:stretch>
        </p:blipFill>
        <p:spPr>
          <a:xfrm>
            <a:off x="1207008" y="731520"/>
            <a:ext cx="3076956" cy="402336"/>
          </a:xfrm>
          <a:prstGeom prst="rect">
            <a:avLst/>
          </a:prstGeom>
        </p:spPr>
      </p:pic>
      <p:sp>
        <p:nvSpPr>
          <p:cNvPr id="7" name="ins_426"/>
          <p:cNvSpPr/>
          <p:nvPr/>
        </p:nvSpPr>
        <p:spPr>
          <a:xfrm>
            <a:off x="1353312" y="731520"/>
            <a:ext cx="28209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for or since? Shout it out!</a:t>
            </a:r>
            <a:endParaRPr lang="en-US" sz="1250" dirty="0"/>
          </a:p>
        </p:txBody>
      </p:sp>
      <p:sp>
        <p:nvSpPr>
          <p:cNvPr id="8" name="insIT_42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for o since? Dillo ad alta voce!</a:t>
            </a:r>
            <a:endParaRPr lang="en-US" sz="950" dirty="0"/>
          </a:p>
        </p:txBody>
      </p:sp>
      <p:sp>
        <p:nvSpPr>
          <p:cNvPr id="9" name="cmd_428"/>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429"/>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teams</a:t>
            </a:r>
            <a:endParaRPr lang="en-US" sz="950" dirty="0"/>
          </a:p>
        </p:txBody>
      </p:sp>
      <p:sp>
        <p:nvSpPr>
          <p:cNvPr id="11" name="tag_430"/>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43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3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Grammar game · for or since?   ·   📖 Grammar Bank 2B p.135 · for / since (audio 2.16, 2.17)</a:t>
            </a:r>
            <a:endParaRPr lang="en-US" sz="800" dirty="0"/>
          </a:p>
        </p:txBody>
      </p:sp>
      <p:sp>
        <p:nvSpPr>
          <p:cNvPr id="14" name="cd_433"/>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3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35"/>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436"/>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50" dirty="0">
                <a:solidFill>
                  <a:srgbClr val="1B2559"/>
                </a:solidFill>
                <a:latin typeface="Segoe UI" pitchFamily="34" charset="0"/>
                <a:ea typeface="Segoe UI" pitchFamily="34" charset="-122"/>
                <a:cs typeface="Segoe UI" pitchFamily="34" charset="-120"/>
              </a:rPr>
              <a:t>Read the time.</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Leggi il tempo.</a:t>
            </a:r>
            <a:endParaRPr lang="en-US" sz="1150" dirty="0"/>
          </a:p>
          <a:p>
            <a:pPr marL="190500" indent="-190500">
              <a:spcBef>
                <a:spcPts val="500"/>
              </a:spcBef>
              <a:spcAft>
                <a:spcPts val="200"/>
              </a:spcAft>
              <a:buSzPct val="100000"/>
              <a:buChar char="2"/>
            </a:pPr>
            <a:r>
              <a:rPr lang="en-US" sz="1150" dirty="0">
                <a:solidFill>
                  <a:srgbClr val="1B2559"/>
                </a:solidFill>
                <a:latin typeface="Segoe UI" pitchFamily="34" charset="0"/>
                <a:ea typeface="Segoe UI" pitchFamily="34" charset="-122"/>
                <a:cs typeface="Segoe UI" pitchFamily="34" charset="-120"/>
              </a:rPr>
              <a:t>Teams: shout FOR or SINCE!</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Squadre: gridate FOR o SINCE!</a:t>
            </a:r>
            <a:endParaRPr lang="en-US" sz="1150" dirty="0"/>
          </a:p>
          <a:p>
            <a:pPr marL="190500" indent="-190500">
              <a:spcBef>
                <a:spcPts val="500"/>
              </a:spcBef>
              <a:spcAft>
                <a:spcPts val="200"/>
              </a:spcAft>
              <a:buSzPct val="100000"/>
              <a:buChar char="3"/>
            </a:pPr>
            <a:r>
              <a:rPr lang="en-US" sz="1150" dirty="0">
                <a:solidFill>
                  <a:srgbClr val="1B2559"/>
                </a:solidFill>
                <a:latin typeface="Segoe UI" pitchFamily="34" charset="0"/>
                <a:ea typeface="Segoe UI" pitchFamily="34" charset="-122"/>
                <a:cs typeface="Segoe UI" pitchFamily="34" charset="-120"/>
              </a:rPr>
              <a:t>First right team = 1 point.</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La prima squadra giusta = 1 punto.</a:t>
            </a:r>
            <a:endParaRPr lang="en-US" sz="1150" dirty="0"/>
          </a:p>
        </p:txBody>
      </p:sp>
      <p:sp>
        <p:nvSpPr>
          <p:cNvPr id="18" name="pf_437"/>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438" descr="/home/claude/lls-course/v2/cache/2b1_old_couple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439"/>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440"/>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___ 2012</a:t>
            </a:r>
            <a:endParaRPr lang="en-US" sz="1100" dirty="0"/>
          </a:p>
        </p:txBody>
      </p:sp>
      <p:sp>
        <p:nvSpPr>
          <p:cNvPr id="22" name="R1_chip441"/>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since (a point)</a:t>
            </a:r>
            <a:endParaRPr lang="en-US" sz="1100" dirty="0"/>
          </a:p>
        </p:txBody>
      </p:sp>
      <p:sp>
        <p:nvSpPr>
          <p:cNvPr id="23" name="bd_442"/>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443"/>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___ ten years</a:t>
            </a:r>
            <a:endParaRPr lang="en-US" sz="1100" dirty="0"/>
          </a:p>
        </p:txBody>
      </p:sp>
      <p:sp>
        <p:nvSpPr>
          <p:cNvPr id="25" name="R2_chip444"/>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for (a period)</a:t>
            </a:r>
            <a:endParaRPr lang="en-US" sz="1100" dirty="0"/>
          </a:p>
        </p:txBody>
      </p:sp>
      <p:sp>
        <p:nvSpPr>
          <p:cNvPr id="26" name="bd_445"/>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446"/>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___ lunchtime</a:t>
            </a:r>
            <a:endParaRPr lang="en-US" sz="1100" dirty="0"/>
          </a:p>
        </p:txBody>
      </p:sp>
      <p:sp>
        <p:nvSpPr>
          <p:cNvPr id="28" name="R3_chip447"/>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since</a:t>
            </a:r>
            <a:endParaRPr lang="en-US" sz="1100" dirty="0"/>
          </a:p>
        </p:txBody>
      </p:sp>
      <p:sp>
        <p:nvSpPr>
          <p:cNvPr id="29" name="bd_448"/>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449"/>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___ ages</a:t>
            </a:r>
            <a:endParaRPr lang="en-US" sz="1100" dirty="0"/>
          </a:p>
        </p:txBody>
      </p:sp>
      <p:sp>
        <p:nvSpPr>
          <p:cNvPr id="31" name="R4_chip450"/>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for</a:t>
            </a:r>
            <a:endParaRPr lang="en-US" sz="1100" dirty="0"/>
          </a:p>
        </p:txBody>
      </p:sp>
      <p:sp>
        <p:nvSpPr>
          <p:cNvPr id="32" name="bd_451"/>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452"/>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___ I was a child</a:t>
            </a:r>
            <a:endParaRPr lang="en-US" sz="1100" dirty="0"/>
          </a:p>
        </p:txBody>
      </p:sp>
      <p:sp>
        <p:nvSpPr>
          <p:cNvPr id="34" name="R5_chip453"/>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since</a:t>
            </a:r>
            <a:endParaRPr lang="en-US" sz="1100" dirty="0"/>
          </a:p>
        </p:txBody>
      </p:sp>
      <p:sp>
        <p:nvSpPr>
          <p:cNvPr id="35" name="bd_454"/>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455"/>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___ about three years</a:t>
            </a:r>
            <a:endParaRPr lang="en-US" sz="1100" dirty="0"/>
          </a:p>
        </p:txBody>
      </p:sp>
      <p:sp>
        <p:nvSpPr>
          <p:cNvPr id="37" name="R6_chip456"/>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for</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58"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459"/>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Make the sentence</a:t>
            </a:r>
            <a:endParaRPr lang="en-US" sz="2500" dirty="0"/>
          </a:p>
        </p:txBody>
      </p:sp>
      <p:pic>
        <p:nvPicPr>
          <p:cNvPr id="6" name="brP_460"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461"/>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Make the sentence. for or since?</a:t>
            </a:r>
            <a:endParaRPr lang="en-US" sz="1250" dirty="0"/>
          </a:p>
        </p:txBody>
      </p:sp>
      <p:sp>
        <p:nvSpPr>
          <p:cNvPr id="8" name="insIT_46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Fai la frase. for o since?</a:t>
            </a:r>
            <a:endParaRPr lang="en-US" sz="950" dirty="0"/>
          </a:p>
        </p:txBody>
      </p:sp>
      <p:sp>
        <p:nvSpPr>
          <p:cNvPr id="9" name="cmd_463"/>
          <p:cNvSpPr/>
          <p:nvPr/>
        </p:nvSpPr>
        <p:spPr>
          <a:xfrm>
            <a:off x="6510528" y="182880"/>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WRITE</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SCRIVI</a:t>
            </a:r>
            <a:endParaRPr lang="en-US" sz="1100" dirty="0"/>
          </a:p>
        </p:txBody>
      </p:sp>
      <p:sp>
        <p:nvSpPr>
          <p:cNvPr id="10" name="cmd_464"/>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1" name="meta_46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466"/>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3" name="logo_46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6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Grammar · controlled practice   ·   📖 Grammar Bank 2B p.135 · a 1–5 (prompts written for the slide) · audio 2.16</a:t>
            </a:r>
            <a:endParaRPr lang="en-US" sz="800" dirty="0"/>
          </a:p>
        </p:txBody>
      </p:sp>
      <p:sp>
        <p:nvSpPr>
          <p:cNvPr id="15" name="cd_469"/>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47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471"/>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8" name="il_472"/>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I / learn English / six years → I've been learning English for six years.</a:t>
            </a:r>
            <a:endParaRPr lang="en-US" sz="1050" dirty="0"/>
          </a:p>
        </p:txBody>
      </p:sp>
      <p:sp>
        <p:nvSpPr>
          <p:cNvPr id="19" name="pf_473"/>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474" descr="/home/claude/lls-course/v2/cache/2b1_rain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1" name="bd_475"/>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476"/>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She / study English / three years</a:t>
            </a:r>
            <a:endParaRPr lang="en-US" sz="1150" dirty="0"/>
          </a:p>
        </p:txBody>
      </p:sp>
      <p:sp>
        <p:nvSpPr>
          <p:cNvPr id="23" name="R1_chip477"/>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She's been studying English for three years.</a:t>
            </a:r>
            <a:endParaRPr lang="en-US" sz="1000" dirty="0"/>
          </a:p>
        </p:txBody>
      </p:sp>
      <p:sp>
        <p:nvSpPr>
          <p:cNvPr id="24" name="bd_478"/>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479"/>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How long / they / watch TV?</a:t>
            </a:r>
            <a:endParaRPr lang="en-US" sz="1150" dirty="0"/>
          </a:p>
        </p:txBody>
      </p:sp>
      <p:sp>
        <p:nvSpPr>
          <p:cNvPr id="26" name="R2_chip480"/>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How long have they been watching TV?</a:t>
            </a:r>
            <a:endParaRPr lang="en-US" sz="1000" dirty="0"/>
          </a:p>
        </p:txBody>
      </p:sp>
      <p:sp>
        <p:nvSpPr>
          <p:cNvPr id="27" name="bd_481"/>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482"/>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It / rain / lunchtime</a:t>
            </a:r>
            <a:endParaRPr lang="en-US" sz="1150" dirty="0"/>
          </a:p>
        </p:txBody>
      </p:sp>
      <p:sp>
        <p:nvSpPr>
          <p:cNvPr id="29" name="R3_chip483"/>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It's been raining since lunchtime.</a:t>
            </a:r>
            <a:endParaRPr lang="en-US" sz="1000" dirty="0"/>
          </a:p>
        </p:txBody>
      </p:sp>
      <p:sp>
        <p:nvSpPr>
          <p:cNvPr id="30" name="bd_484"/>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485"/>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 / not live here / very long</a:t>
            </a:r>
            <a:endParaRPr lang="en-US" sz="1150" dirty="0"/>
          </a:p>
        </p:txBody>
      </p:sp>
      <p:sp>
        <p:nvSpPr>
          <p:cNvPr id="32" name="R4_chip486"/>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 haven't been living here for very long.</a:t>
            </a:r>
            <a:endParaRPr lang="en-US" sz="1000" dirty="0"/>
          </a:p>
        </p:txBody>
      </p:sp>
      <p:sp>
        <p:nvSpPr>
          <p:cNvPr id="33" name="bd_487"/>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488"/>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How long / you / learn to drive?</a:t>
            </a:r>
            <a:endParaRPr lang="en-US" sz="1150" dirty="0"/>
          </a:p>
        </p:txBody>
      </p:sp>
      <p:sp>
        <p:nvSpPr>
          <p:cNvPr id="35" name="R5_chip489"/>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How long have you been learning to drive?</a:t>
            </a:r>
            <a:endParaRPr lang="en-US" sz="1000" dirty="0"/>
          </a:p>
        </p:txBody>
      </p:sp>
      <p:sp>
        <p:nvSpPr>
          <p:cNvPr id="36" name="bd_490"/>
          <p:cNvSpPr/>
          <p:nvPr/>
        </p:nvSpPr>
        <p:spPr>
          <a:xfrm>
            <a:off x="3246120" y="400507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7" name="q_491"/>
          <p:cNvSpPr/>
          <p:nvPr/>
        </p:nvSpPr>
        <p:spPr>
          <a:xfrm>
            <a:off x="3630168" y="393192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Julia / have that bag / she was at university</a:t>
            </a:r>
            <a:endParaRPr lang="en-US" sz="1150" dirty="0"/>
          </a:p>
        </p:txBody>
      </p:sp>
      <p:sp>
        <p:nvSpPr>
          <p:cNvPr id="38" name="R6_chip492"/>
          <p:cNvSpPr/>
          <p:nvPr/>
        </p:nvSpPr>
        <p:spPr>
          <a:xfrm>
            <a:off x="5806440" y="39319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Julia's had that bag since she was at university. (have = no action)</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3"/>
          <p:cNvSpPr/>
          <p:nvPr/>
        </p:nvSpPr>
        <p:spPr>
          <a:xfrm>
            <a:off x="201168" y="164592"/>
            <a:ext cx="841248" cy="841248"/>
          </a:xfrm>
          <a:prstGeom prst="ellipse">
            <a:avLst/>
          </a:prstGeom>
          <a:solidFill>
            <a:srgbClr val="7B5CD6"/>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94"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495"/>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Hear the BIG words</a:t>
            </a:r>
            <a:endParaRPr lang="en-US" sz="2500" dirty="0"/>
          </a:p>
        </p:txBody>
      </p:sp>
      <p:pic>
        <p:nvPicPr>
          <p:cNvPr id="6" name="brP_496"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497"/>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Write only the BIG words.</a:t>
            </a:r>
            <a:endParaRPr lang="en-US" sz="1250" dirty="0"/>
          </a:p>
        </p:txBody>
      </p:sp>
      <p:sp>
        <p:nvSpPr>
          <p:cNvPr id="8" name="insIT_49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Scrivi solo le parole forti.</a:t>
            </a:r>
            <a:endParaRPr lang="en-US" sz="950" dirty="0"/>
          </a:p>
        </p:txBody>
      </p:sp>
      <p:sp>
        <p:nvSpPr>
          <p:cNvPr id="9" name="cmd_49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500"/>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501"/>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502"/>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Drilling</a:t>
            </a:r>
            <a:endParaRPr lang="en-US" sz="850" dirty="0"/>
          </a:p>
        </p:txBody>
      </p:sp>
      <p:pic>
        <p:nvPicPr>
          <p:cNvPr id="13" name="logo_50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0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Pronunciation · sentence stress   ·   📖 SB p.21 · 3a, 3b, 3c · audio 2.18</a:t>
            </a:r>
            <a:endParaRPr lang="en-US" sz="800" dirty="0"/>
          </a:p>
        </p:txBody>
      </p:sp>
      <p:sp>
        <p:nvSpPr>
          <p:cNvPr id="15" name="ap_505"/>
          <p:cNvSpPr/>
          <p:nvPr/>
        </p:nvSpPr>
        <p:spPr>
          <a:xfrm>
            <a:off x="365760" y="1417320"/>
            <a:ext cx="233172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2.18  ·  pause after each sentence</a:t>
            </a:r>
            <a:endParaRPr lang="en-US" sz="1100" dirty="0"/>
          </a:p>
        </p:txBody>
      </p:sp>
      <p:sp>
        <p:nvSpPr>
          <p:cNvPr id="16" name="ah_506"/>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cd_507"/>
          <p:cNvSpPr/>
          <p:nvPr/>
        </p:nvSpPr>
        <p:spPr>
          <a:xfrm>
            <a:off x="320040" y="2011680"/>
            <a:ext cx="2743200" cy="1463040"/>
          </a:xfrm>
          <a:prstGeom prst="roundRect">
            <a:avLst>
              <a:gd name="adj" fmla="val 8750"/>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20" name="ii_508"/>
          <p:cNvSpPr/>
          <p:nvPr/>
        </p:nvSpPr>
        <p:spPr>
          <a:xfrm>
            <a:off x="411480" y="20848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509"/>
          <p:cNvSpPr/>
          <p:nvPr/>
        </p:nvSpPr>
        <p:spPr>
          <a:xfrm>
            <a:off x="886968" y="2103120"/>
            <a:ext cx="2103120" cy="365760"/>
          </a:xfrm>
          <a:prstGeom prst="rect">
            <a:avLst/>
          </a:prstGeom>
          <a:noFill/>
          <a:ln/>
        </p:spPr>
        <p:txBody>
          <a:bodyPr wrap="square" lIns="0" tIns="0" rIns="0" bIns="0" rtlCol="0" anchor="ctr"/>
          <a:lstStyle/>
          <a:p>
            <a:pP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Big words = STRESSED</a:t>
            </a:r>
            <a:endParaRPr lang="en-US" sz="1250" dirty="0"/>
          </a:p>
        </p:txBody>
      </p:sp>
      <p:sp>
        <p:nvSpPr>
          <p:cNvPr id="22" name="il_510"/>
          <p:cNvSpPr/>
          <p:nvPr/>
        </p:nvSpPr>
        <p:spPr>
          <a:xfrm>
            <a:off x="886968" y="2487168"/>
            <a:ext cx="2084832" cy="91440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nouns, verbs, adjectives are strong</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to, a, the, of are weak and fast</a:t>
            </a:r>
            <a:endParaRPr lang="en-US" sz="1050" dirty="0"/>
          </a:p>
        </p:txBody>
      </p:sp>
      <p:sp>
        <p:nvSpPr>
          <p:cNvPr id="23" name="pf_511"/>
          <p:cNvSpPr/>
          <p:nvPr/>
        </p:nvSpPr>
        <p:spPr>
          <a:xfrm rot="-120000">
            <a:off x="777240" y="3611880"/>
            <a:ext cx="182880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4" name="ph_512" descr="/home/claude/lls-course/v2/cache/2b1_learning_french_jpg_418x253_31.png">    </p:cNvPr>
          <p:cNvPicPr>
            <a:picLocks noChangeAspect="1"/>
          </p:cNvPicPr>
          <p:nvPr/>
        </p:nvPicPr>
        <p:blipFill>
          <a:blip r:embed="rId11"/>
          <a:stretch>
            <a:fillRect/>
          </a:stretch>
        </p:blipFill>
        <p:spPr>
          <a:xfrm rot="-120000">
            <a:off x="822960" y="3657600"/>
            <a:ext cx="1737360" cy="1051560"/>
          </a:xfrm>
          <a:prstGeom prst="rect">
            <a:avLst/>
          </a:prstGeom>
        </p:spPr>
      </p:pic>
      <p:sp>
        <p:nvSpPr>
          <p:cNvPr id="25" name="bd_513"/>
          <p:cNvSpPr/>
          <p:nvPr/>
        </p:nvSpPr>
        <p:spPr>
          <a:xfrm>
            <a:off x="3291840" y="144475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6" name="R1_sw514"/>
          <p:cNvSpPr/>
          <p:nvPr/>
        </p:nvSpPr>
        <p:spPr>
          <a:xfrm>
            <a:off x="3749040" y="141732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How</a:t>
            </a:r>
            <a:endParaRPr lang="en-US" sz="1150" dirty="0"/>
          </a:p>
        </p:txBody>
      </p:sp>
      <p:sp>
        <p:nvSpPr>
          <p:cNvPr id="27" name="R1_sw515"/>
          <p:cNvSpPr/>
          <p:nvPr/>
        </p:nvSpPr>
        <p:spPr>
          <a:xfrm>
            <a:off x="4773168" y="141732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long</a:t>
            </a:r>
            <a:endParaRPr lang="en-US" sz="1150" dirty="0"/>
          </a:p>
        </p:txBody>
      </p:sp>
      <p:sp>
        <p:nvSpPr>
          <p:cNvPr id="28" name="R1_sw516"/>
          <p:cNvSpPr/>
          <p:nvPr/>
        </p:nvSpPr>
        <p:spPr>
          <a:xfrm>
            <a:off x="5797296" y="141732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learning</a:t>
            </a:r>
            <a:endParaRPr lang="en-US" sz="1150" dirty="0"/>
          </a:p>
        </p:txBody>
      </p:sp>
      <p:sp>
        <p:nvSpPr>
          <p:cNvPr id="29" name="R1_sw517"/>
          <p:cNvSpPr/>
          <p:nvPr/>
        </p:nvSpPr>
        <p:spPr>
          <a:xfrm>
            <a:off x="6821424" y="141732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French</a:t>
            </a:r>
            <a:endParaRPr lang="en-US" sz="1150" dirty="0"/>
          </a:p>
        </p:txBody>
      </p:sp>
      <p:sp>
        <p:nvSpPr>
          <p:cNvPr id="30" name="R2_sf518"/>
          <p:cNvSpPr/>
          <p:nvPr/>
        </p:nvSpPr>
        <p:spPr>
          <a:xfrm>
            <a:off x="3749040" y="181051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How long have you been learning French?</a:t>
            </a:r>
            <a:endParaRPr lang="en-US" sz="1100" dirty="0"/>
          </a:p>
        </p:txBody>
      </p:sp>
      <p:sp>
        <p:nvSpPr>
          <p:cNvPr id="31" name="bd_519"/>
          <p:cNvSpPr/>
          <p:nvPr/>
        </p:nvSpPr>
        <p:spPr>
          <a:xfrm>
            <a:off x="3291840" y="222199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32" name="R3_sw520"/>
          <p:cNvSpPr/>
          <p:nvPr/>
        </p:nvSpPr>
        <p:spPr>
          <a:xfrm>
            <a:off x="3749040" y="219456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learning</a:t>
            </a:r>
            <a:endParaRPr lang="en-US" sz="1150" dirty="0"/>
          </a:p>
        </p:txBody>
      </p:sp>
      <p:sp>
        <p:nvSpPr>
          <p:cNvPr id="33" name="R3_sw521"/>
          <p:cNvSpPr/>
          <p:nvPr/>
        </p:nvSpPr>
        <p:spPr>
          <a:xfrm>
            <a:off x="4773168" y="219456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French</a:t>
            </a:r>
            <a:endParaRPr lang="en-US" sz="1150" dirty="0"/>
          </a:p>
        </p:txBody>
      </p:sp>
      <p:sp>
        <p:nvSpPr>
          <p:cNvPr id="34" name="R3_sw522"/>
          <p:cNvSpPr/>
          <p:nvPr/>
        </p:nvSpPr>
        <p:spPr>
          <a:xfrm>
            <a:off x="5797296" y="219456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three</a:t>
            </a:r>
            <a:endParaRPr lang="en-US" sz="1150" dirty="0"/>
          </a:p>
        </p:txBody>
      </p:sp>
      <p:sp>
        <p:nvSpPr>
          <p:cNvPr id="35" name="R3_sw523"/>
          <p:cNvSpPr/>
          <p:nvPr/>
        </p:nvSpPr>
        <p:spPr>
          <a:xfrm>
            <a:off x="6821424" y="219456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years</a:t>
            </a:r>
            <a:endParaRPr lang="en-US" sz="1150" dirty="0"/>
          </a:p>
        </p:txBody>
      </p:sp>
      <p:sp>
        <p:nvSpPr>
          <p:cNvPr id="36" name="R4_sf524"/>
          <p:cNvSpPr/>
          <p:nvPr/>
        </p:nvSpPr>
        <p:spPr>
          <a:xfrm>
            <a:off x="3749040" y="258775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I've been learning French for three years.</a:t>
            </a:r>
            <a:endParaRPr lang="en-US" sz="1100" dirty="0"/>
          </a:p>
        </p:txBody>
      </p:sp>
      <p:sp>
        <p:nvSpPr>
          <p:cNvPr id="37" name="bd_525"/>
          <p:cNvSpPr/>
          <p:nvPr/>
        </p:nvSpPr>
        <p:spPr>
          <a:xfrm>
            <a:off x="3291840" y="2999232"/>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38" name="R5_sw526"/>
          <p:cNvSpPr/>
          <p:nvPr/>
        </p:nvSpPr>
        <p:spPr>
          <a:xfrm>
            <a:off x="3749040" y="297180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How</a:t>
            </a:r>
            <a:endParaRPr lang="en-US" sz="1150" dirty="0"/>
          </a:p>
        </p:txBody>
      </p:sp>
      <p:sp>
        <p:nvSpPr>
          <p:cNvPr id="39" name="R5_sw527"/>
          <p:cNvSpPr/>
          <p:nvPr/>
        </p:nvSpPr>
        <p:spPr>
          <a:xfrm>
            <a:off x="4773168" y="297180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long</a:t>
            </a:r>
            <a:endParaRPr lang="en-US" sz="1150" dirty="0"/>
          </a:p>
        </p:txBody>
      </p:sp>
      <p:sp>
        <p:nvSpPr>
          <p:cNvPr id="40" name="R5_sw528"/>
          <p:cNvSpPr/>
          <p:nvPr/>
        </p:nvSpPr>
        <p:spPr>
          <a:xfrm>
            <a:off x="5797296" y="297180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raining</a:t>
            </a:r>
            <a:endParaRPr lang="en-US" sz="1150" dirty="0"/>
          </a:p>
        </p:txBody>
      </p:sp>
      <p:sp>
        <p:nvSpPr>
          <p:cNvPr id="41" name="R6_sf529"/>
          <p:cNvSpPr/>
          <p:nvPr/>
        </p:nvSpPr>
        <p:spPr>
          <a:xfrm>
            <a:off x="3749040" y="336499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How long has it been raining?</a:t>
            </a:r>
            <a:endParaRPr lang="en-US" sz="1100" dirty="0"/>
          </a:p>
        </p:txBody>
      </p:sp>
      <p:sp>
        <p:nvSpPr>
          <p:cNvPr id="42" name="bd_530"/>
          <p:cNvSpPr/>
          <p:nvPr/>
        </p:nvSpPr>
        <p:spPr>
          <a:xfrm>
            <a:off x="3291840" y="3776472"/>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43" name="R7_sw531"/>
          <p:cNvSpPr/>
          <p:nvPr/>
        </p:nvSpPr>
        <p:spPr>
          <a:xfrm>
            <a:off x="3749040" y="374904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raining</a:t>
            </a:r>
            <a:endParaRPr lang="en-US" sz="1150" dirty="0"/>
          </a:p>
        </p:txBody>
      </p:sp>
      <p:sp>
        <p:nvSpPr>
          <p:cNvPr id="44" name="R7_sw532"/>
          <p:cNvSpPr/>
          <p:nvPr/>
        </p:nvSpPr>
        <p:spPr>
          <a:xfrm>
            <a:off x="4773168" y="374904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lunchtime</a:t>
            </a:r>
            <a:endParaRPr lang="en-US" sz="1150" dirty="0"/>
          </a:p>
        </p:txBody>
      </p:sp>
      <p:sp>
        <p:nvSpPr>
          <p:cNvPr id="45" name="R8_sf533"/>
          <p:cNvSpPr/>
          <p:nvPr/>
        </p:nvSpPr>
        <p:spPr>
          <a:xfrm>
            <a:off x="3749040" y="414223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It's been raining since lunchtime.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4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4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par>
                                <p:cTn id="30" presetID="10" presetClass="entr" presetSubtype="0" fill="hold"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par>
                                <p:cTn id="33" presetID="10"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400"/>
                                        <p:tgtEl>
                                          <p:spTgt spid="3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4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400"/>
                                        <p:tgtEl>
                                          <p:spTgt spid="38"/>
                                        </p:tgtEl>
                                      </p:cBhvr>
                                    </p:animEffect>
                                  </p:childTnLst>
                                </p:cTn>
                              </p:par>
                              <p:par>
                                <p:cTn id="46" presetID="10" presetClass="entr" presetSubtype="0" fill="hold"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fade">
                                      <p:cBhvr>
                                        <p:cTn id="48" dur="400"/>
                                        <p:tgtEl>
                                          <p:spTgt spid="39"/>
                                        </p:tgtEl>
                                      </p:cBhvr>
                                    </p:animEffect>
                                  </p:childTnLst>
                                </p:cTn>
                              </p:par>
                              <p:par>
                                <p:cTn id="49" presetID="10" presetClass="entr" presetSubtype="0" fill="hold"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400"/>
                                        <p:tgtEl>
                                          <p:spTgt spid="4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400"/>
                                        <p:tgtEl>
                                          <p:spTgt spid="4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400"/>
                                        <p:tgtEl>
                                          <p:spTgt spid="43"/>
                                        </p:tgtEl>
                                      </p:cBhvr>
                                    </p:animEffect>
                                  </p:childTnLst>
                                </p:cTn>
                              </p:par>
                              <p:par>
                                <p:cTn id="62" presetID="10" presetClass="entr" presetSubtype="0" fill="hold"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400"/>
                                        <p:tgtEl>
                                          <p:spTgt spid="4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0" restart="whenNotActive" fill="hold" evtFilter="cancelBubble" nodeType="interactiveSeq">
                <p:stCondLst>
                  <p:cond evt="onClick" delay="0">
                    <p:tgtEl>
                      <p:spTgt spid="17"/>
                    </p:tgtEl>
                  </p:cond>
                </p:stCondLst>
                <p:endSync evt="end" delay="0">
                  <p:rtn val="all"/>
                </p:endSync>
                <p:childTnLst>
                  <p:par>
                    <p:cTn id="71" fill="hold">
                      <p:stCondLst>
                        <p:cond delay="0"/>
                      </p:stCondLst>
                      <p:childTnLst>
                        <p:par>
                          <p:cTn id="72" fill="hold">
                            <p:stCondLst>
                              <p:cond delay="0"/>
                            </p:stCondLst>
                            <p:childTnLst>
                              <p:par>
                                <p:cTn id="73" presetID="2" presetClass="mediacall" presetSubtype="0" fill="hold" nodeType="clickEffect">
                                  <p:stCondLst>
                                    <p:cond delay="0"/>
                                  </p:stCondLst>
                                  <p:childTnLst>
                                    <p:cmd type="call" cmd="togglePause">
                                      <p:cBhvr>
                                        <p:cTn id="74" dur="1" fill="hold"/>
                                        <p:tgtEl>
                                          <p:spTgt spid="17"/>
                                        </p:tgtEl>
                                      </p:cBhvr>
                                    </p:cmd>
                                  </p:childTnLst>
                                </p:cTn>
                              </p:par>
                            </p:childTnLst>
                          </p:cTn>
                        </p:par>
                      </p:childTnLst>
                    </p:cTn>
                  </p:par>
                </p:childTnLst>
              </p:cTn>
              <p:nextCondLst>
                <p:cond evt="onClick" delay="0">
                  <p:tgtEl>
                    <p:spTgt spid="17"/>
                  </p:tgtEl>
                </p:cond>
              </p:nextCondLst>
            </p:seq>
            <p:seq concurrent="1" nextAc="seek">
              <p:cTn id="75" restart="whenNotActive" fill="hold" evtFilter="cancelBubble" nodeType="interactiveSeq">
                <p:stCondLst>
                  <p:cond evt="onClick" delay="0">
                    <p:tgtEl>
                      <p:spTgt spid="18"/>
                    </p:tgtEl>
                  </p:cond>
                </p:stCondLst>
                <p:endSync evt="end" delay="0">
                  <p:rtn val="all"/>
                </p:endSync>
                <p:childTnLst>
                  <p:par>
                    <p:cTn id="76" fill="hold">
                      <p:stCondLst>
                        <p:cond delay="0"/>
                      </p:stCondLst>
                      <p:childTnLst>
                        <p:par>
                          <p:cTn id="77" fill="hold">
                            <p:stCondLst>
                              <p:cond delay="0"/>
                            </p:stCondLst>
                            <p:childTnLst>
                              <p:par>
                                <p:cTn id="78" presetID="2" presetClass="mediacall" presetSubtype="0" fill="hold" nodeType="clickEffect">
                                  <p:stCondLst>
                                    <p:cond delay="0"/>
                                  </p:stCondLst>
                                  <p:childTnLst>
                                    <p:cmd type="call" cmd="togglePause">
                                      <p:cBhvr>
                                        <p:cTn id="79" dur="1" fill="hold"/>
                                        <p:tgtEl>
                                          <p:spTgt spid="18"/>
                                        </p:tgtEl>
                                      </p:cBhvr>
                                    </p:cmd>
                                  </p:childTnLst>
                                </p:cTn>
                              </p:par>
                            </p:childTnLst>
                          </p:cTn>
                        </p:par>
                      </p:childTnLst>
                    </p:cTn>
                  </p:par>
                </p:childTnLst>
              </p:cTn>
              <p:nextCondLst>
                <p:cond evt="onClick" delay="0">
                  <p:tgtEl>
                    <p:spTgt spid="18"/>
                  </p:tgtEl>
                </p:cond>
              </p:nextCondLst>
            </p:seq>
            <p:audio>
              <p:cMediaNode vol="80000">
                <p:cTn id="80" fill="hold" display="0">
                  <p:stCondLst>
                    <p:cond delay="indefinite"/>
                  </p:stCondLst>
                  <p:endCondLst>
                    <p:cond evt="onStopAudio" delay="0">
                      <p:tgtEl>
                        <p:sldTgt/>
                      </p:tgtEl>
                    </p:cond>
                  </p:endCondLst>
                </p:cTn>
                <p:tgtEl>
                  <p:spTgt spid="17"/>
                </p:tgtEl>
              </p:cMediaNode>
            </p:audio>
            <p:audio>
              <p:cMediaNode vol="80000">
                <p:cTn id="81" fill="hold" display="0">
                  <p:stCondLst>
                    <p:cond delay="indefinite"/>
                  </p:stCondLst>
                  <p:endCondLst>
                    <p:cond evt="onStopAudio" delay="0">
                      <p:tgtEl>
                        <p:sldTgt/>
                      </p:tgtEl>
                    </p:cond>
                  </p:endCondLst>
                </p:cTn>
                <p:tgtEl>
                  <p:spTgt spid="18"/>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35"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536"/>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How long…? Quick!</a:t>
            </a:r>
            <a:endParaRPr lang="en-US" sz="2400" dirty="0"/>
          </a:p>
        </p:txBody>
      </p:sp>
      <p:pic>
        <p:nvPicPr>
          <p:cNvPr id="6" name="brP_537"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538"/>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Hear the news. Ask How long…? fast!</a:t>
            </a:r>
            <a:endParaRPr lang="en-US" sz="1250" dirty="0"/>
          </a:p>
        </p:txBody>
      </p:sp>
      <p:sp>
        <p:nvSpPr>
          <p:cNvPr id="8" name="insIT_53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la notizia. Chiedi How long…? veloce!</a:t>
            </a:r>
            <a:endParaRPr lang="en-US" sz="950" dirty="0"/>
          </a:p>
        </p:txBody>
      </p:sp>
      <p:sp>
        <p:nvSpPr>
          <p:cNvPr id="9" name="cmd_540"/>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541"/>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542"/>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543"/>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54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4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Pronunciation game · make questions   ·   📖 SB p.21 · 3d · audio 2.19</a:t>
            </a:r>
            <a:endParaRPr lang="en-US" sz="800" dirty="0"/>
          </a:p>
        </p:txBody>
      </p:sp>
      <p:sp>
        <p:nvSpPr>
          <p:cNvPr id="15" name="cd_546"/>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54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54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549"/>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Read (or hear) the news.</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Leggi (o ascolta) la notizia.</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Teams: ask How long…? – 10 seconds!</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Squadre: chiedete How long…? – 10 secondi!</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Right question + rhythm = 1 point.</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Domanda giusta + ritmo = 1 punto.</a:t>
            </a:r>
            <a:endParaRPr lang="en-US" sz="1000" dirty="0"/>
          </a:p>
        </p:txBody>
      </p:sp>
      <p:sp>
        <p:nvSpPr>
          <p:cNvPr id="19" name="pf_550"/>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551" descr="/home/claude/lls-course/v2/cache/2b1_rain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bd_552"/>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553"/>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"It's snowing."</a:t>
            </a:r>
            <a:endParaRPr lang="en-US" sz="1100" dirty="0"/>
          </a:p>
        </p:txBody>
      </p:sp>
      <p:sp>
        <p:nvSpPr>
          <p:cNvPr id="23" name="R1_chip554"/>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long has it been snowing?</a:t>
            </a:r>
            <a:endParaRPr lang="en-US" sz="1100" dirty="0"/>
          </a:p>
        </p:txBody>
      </p:sp>
      <p:sp>
        <p:nvSpPr>
          <p:cNvPr id="24" name="bd_555"/>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556"/>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"I'm learning Russian."</a:t>
            </a:r>
            <a:endParaRPr lang="en-US" sz="1100" dirty="0"/>
          </a:p>
        </p:txBody>
      </p:sp>
      <p:sp>
        <p:nvSpPr>
          <p:cNvPr id="26" name="R2_chip557"/>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long have you been learning Russian?</a:t>
            </a:r>
            <a:endParaRPr lang="en-US" sz="1100" dirty="0"/>
          </a:p>
        </p:txBody>
      </p:sp>
      <p:sp>
        <p:nvSpPr>
          <p:cNvPr id="27" name="bd_558"/>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559"/>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"Susan is working in Italy."</a:t>
            </a:r>
            <a:endParaRPr lang="en-US" sz="1100" dirty="0"/>
          </a:p>
        </p:txBody>
      </p:sp>
      <p:sp>
        <p:nvSpPr>
          <p:cNvPr id="29" name="R3_chip560"/>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long has Susan been working in Italy?</a:t>
            </a:r>
            <a:endParaRPr lang="en-US" sz="1100" dirty="0"/>
          </a:p>
        </p:txBody>
      </p:sp>
      <p:sp>
        <p:nvSpPr>
          <p:cNvPr id="30" name="bd_561"/>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562"/>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"John is looking for a job."</a:t>
            </a:r>
            <a:endParaRPr lang="en-US" sz="1100" dirty="0"/>
          </a:p>
        </p:txBody>
      </p:sp>
      <p:sp>
        <p:nvSpPr>
          <p:cNvPr id="32" name="R4_chip563"/>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long has John been looking for a job?</a:t>
            </a:r>
            <a:endParaRPr lang="en-US" sz="1100" dirty="0"/>
          </a:p>
        </p:txBody>
      </p:sp>
      <p:sp>
        <p:nvSpPr>
          <p:cNvPr id="33" name="bd_564"/>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565"/>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"They're living with Mary's parents."</a:t>
            </a:r>
            <a:endParaRPr lang="en-US" sz="1100" dirty="0"/>
          </a:p>
        </p:txBody>
      </p:sp>
      <p:sp>
        <p:nvSpPr>
          <p:cNvPr id="35" name="R5_chip566"/>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long have they been living with Mary's parents?</a:t>
            </a:r>
            <a:endParaRPr lang="en-US" sz="1100" dirty="0"/>
          </a:p>
        </p:txBody>
      </p:sp>
      <p:sp>
        <p:nvSpPr>
          <p:cNvPr id="36" name="bd_567"/>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7" name="gq_568"/>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"John is going out with Emily."</a:t>
            </a:r>
            <a:endParaRPr lang="en-US" sz="1100" dirty="0"/>
          </a:p>
        </p:txBody>
      </p:sp>
      <p:sp>
        <p:nvSpPr>
          <p:cNvPr id="38" name="R6_chip569"/>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long has John been going out with Emily?</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7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71"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572"/>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Guess my square!</a:t>
            </a:r>
            <a:endParaRPr lang="en-US" sz="2500" dirty="0"/>
          </a:p>
        </p:txBody>
      </p:sp>
      <p:pic>
        <p:nvPicPr>
          <p:cNvPr id="6" name="brP_573" descr="/home/claude/lls-course/v2/assets/brush-pink.png">    </p:cNvPr>
          <p:cNvPicPr>
            <a:picLocks noChangeAspect="1"/>
          </p:cNvPicPr>
          <p:nvPr/>
        </p:nvPicPr>
        <p:blipFill>
          <a:blip r:embed="rId3"/>
          <a:stretch>
            <a:fillRect/>
          </a:stretch>
        </p:blipFill>
        <p:spPr>
          <a:xfrm>
            <a:off x="1207008" y="731520"/>
            <a:ext cx="4727448" cy="402336"/>
          </a:xfrm>
          <a:prstGeom prst="rect">
            <a:avLst/>
          </a:prstGeom>
        </p:spPr>
      </p:pic>
      <p:sp>
        <p:nvSpPr>
          <p:cNvPr id="7" name="ins_574"/>
          <p:cNvSpPr/>
          <p:nvPr/>
        </p:nvSpPr>
        <p:spPr>
          <a:xfrm>
            <a:off x="1353312" y="731520"/>
            <a:ext cx="447141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6 short answers. Partner asks How long…?</a:t>
            </a:r>
            <a:endParaRPr lang="en-US" sz="1250" dirty="0"/>
          </a:p>
        </p:txBody>
      </p:sp>
      <p:sp>
        <p:nvSpPr>
          <p:cNvPr id="8" name="insIT_57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Scrivi 6 risposte brevi. Il compagno chiede How long…?</a:t>
            </a:r>
            <a:endParaRPr lang="en-US" sz="950" dirty="0"/>
          </a:p>
        </p:txBody>
      </p:sp>
      <p:sp>
        <p:nvSpPr>
          <p:cNvPr id="9" name="cmd_576"/>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57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6 min   👥 pairs</a:t>
            </a:r>
            <a:endParaRPr lang="en-US" sz="950" dirty="0"/>
          </a:p>
        </p:txBody>
      </p:sp>
      <p:sp>
        <p:nvSpPr>
          <p:cNvPr id="11" name="tag_57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57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8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Speaking · How long…?   ·   📖 SB p.21 · 4a, 4b</a:t>
            </a:r>
            <a:endParaRPr lang="en-US" sz="800" dirty="0"/>
          </a:p>
        </p:txBody>
      </p:sp>
      <p:sp>
        <p:nvSpPr>
          <p:cNvPr id="14" name="pf_581"/>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82" descr="/home/claude/lls-course/v2/cache/spare_future_friends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583"/>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584"/>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585"/>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586"/>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Is WWF a charity you support?</a:t>
            </a:r>
            <a:endParaRPr lang="en-US" sz="950" dirty="0"/>
          </a:p>
          <a:p>
            <a:pPr marL="152400" indent="-152400">
              <a:spcBef>
                <a:spcPts val="500"/>
              </a:spcBef>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How long have you been + -ing…?</a:t>
            </a:r>
            <a:endParaRPr lang="en-US" sz="950" dirty="0"/>
          </a:p>
          <a:p>
            <a:pPr marL="152400" indent="-152400">
              <a:spcBef>
                <a:spcPts val="500"/>
              </a:spcBef>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How long have you had / known…?</a:t>
            </a:r>
            <a:endParaRPr lang="en-US" sz="950" dirty="0"/>
          </a:p>
        </p:txBody>
      </p:sp>
      <p:sp>
        <p:nvSpPr>
          <p:cNvPr id="20" name="R1_qb587"/>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588"/>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friend you know very well</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"Irina" → How long have you known Irina? – Since primary school.</a:t>
            </a:r>
            <a:endParaRPr lang="en-US" sz="1250" dirty="0"/>
          </a:p>
        </p:txBody>
      </p:sp>
      <p:sp>
        <p:nvSpPr>
          <p:cNvPr id="22" name="R2_qb589"/>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590"/>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sport or exercise you do regularly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"volleyball" → How long have you been playing volleyball? – For three years.</a:t>
            </a:r>
            <a:endParaRPr lang="en-US" sz="1250" dirty="0"/>
          </a:p>
        </p:txBody>
      </p:sp>
      <p:sp>
        <p:nvSpPr>
          <p:cNvPr id="24" name="R3_qb591"/>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592"/>
          <p:cNvSpPr/>
          <p:nvPr/>
        </p:nvSpPr>
        <p:spPr>
          <a:xfrm>
            <a:off x="3675888" y="2529840"/>
            <a:ext cx="45079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social media site you use regularly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"TikTok" → How long have you been using TikTok? – Since 2022.</a:t>
            </a:r>
            <a:endParaRPr lang="en-US" sz="1250" dirty="0"/>
          </a:p>
        </p:txBody>
      </p:sp>
      <p:pic>
        <p:nvPicPr>
          <p:cNvPr id="26" name="R3_th593" descr="/home/claude/lls-course/v2/cache/spare_future_technology_jpg_154x107_18.png">    </p:cNvPr>
          <p:cNvPicPr>
            <a:picLocks noChangeAspect="1"/>
          </p:cNvPicPr>
          <p:nvPr/>
        </p:nvPicPr>
        <p:blipFill>
          <a:blip r:embed="rId6"/>
          <a:stretch>
            <a:fillRect/>
          </a:stretch>
        </p:blipFill>
        <p:spPr>
          <a:xfrm>
            <a:off x="8257032" y="2548128"/>
            <a:ext cx="640080" cy="446532"/>
          </a:xfrm>
          <a:prstGeom prst="rect">
            <a:avLst/>
          </a:prstGeom>
        </p:spPr>
      </p:pic>
      <p:sp>
        <p:nvSpPr>
          <p:cNvPr id="27" name="R4_qb594"/>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595"/>
          <p:cNvSpPr/>
          <p:nvPr/>
        </p:nvSpPr>
        <p:spPr>
          <a:xfrm>
            <a:off x="3675888" y="3086100"/>
            <a:ext cx="51937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 bike, motorbike or car you have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"Vespa" → How long have you had your Vespa? – For a year.</a:t>
            </a:r>
            <a:endParaRPr lang="en-US" sz="1250" dirty="0"/>
          </a:p>
        </p:txBody>
      </p:sp>
      <p:sp>
        <p:nvSpPr>
          <p:cNvPr id="29" name="R5_qb596"/>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597"/>
          <p:cNvSpPr/>
          <p:nvPr/>
        </p:nvSpPr>
        <p:spPr>
          <a:xfrm>
            <a:off x="3675888" y="3642360"/>
            <a:ext cx="45079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something you're learning (to do)</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"guitar" → How long have you been learning the guitar?</a:t>
            </a:r>
            <a:endParaRPr lang="en-US" sz="1250" dirty="0"/>
          </a:p>
        </p:txBody>
      </p:sp>
      <p:pic>
        <p:nvPicPr>
          <p:cNvPr id="31" name="R5_th598" descr="/home/claude/lls-course/v2/cache/2b1_learning_french_jpg_154x107_18.png">    </p:cNvPr>
          <p:cNvPicPr>
            <a:picLocks noChangeAspect="1"/>
          </p:cNvPicPr>
          <p:nvPr/>
        </p:nvPicPr>
        <p:blipFill>
          <a:blip r:embed="rId7"/>
          <a:stretch>
            <a:fillRect/>
          </a:stretch>
        </p:blipFill>
        <p:spPr>
          <a:xfrm>
            <a:off x="8257032" y="3660648"/>
            <a:ext cx="640080" cy="446532"/>
          </a:xfrm>
          <a:prstGeom prst="rect">
            <a:avLst/>
          </a:prstGeom>
        </p:spPr>
      </p:pic>
      <p:sp>
        <p:nvSpPr>
          <p:cNvPr id="32" name="R6_qb599"/>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3" name="R6_sq600"/>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 place where you live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"Bagheria" → How long have you lived / been living there?</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00"/>
                                        <p:tgtEl>
                                          <p:spTgt spid="32"/>
                                        </p:tgtEl>
                                      </p:cBhvr>
                                    </p:animEffect>
                                  </p:childTnLst>
                                </p:cTn>
                              </p:par>
                              <p:par>
                                <p:cTn id="54" presetID="10" presetClass="entr" presetSubtype="0" fill="hold"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01"/>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602"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603"/>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Why are you so…?</a:t>
            </a:r>
            <a:endParaRPr lang="en-US" sz="2400" dirty="0"/>
          </a:p>
        </p:txBody>
      </p:sp>
      <p:pic>
        <p:nvPicPr>
          <p:cNvPr id="6" name="brP_604"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605"/>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Mime the RESULT. Team: Have you been…?</a:t>
            </a:r>
            <a:endParaRPr lang="en-US" sz="1250" dirty="0"/>
          </a:p>
        </p:txBody>
      </p:sp>
      <p:sp>
        <p:nvSpPr>
          <p:cNvPr id="8" name="insIT_60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Mima il RISULTATO. Squadra: Have you been…?</a:t>
            </a:r>
            <a:endParaRPr lang="en-US" sz="950" dirty="0"/>
          </a:p>
        </p:txBody>
      </p:sp>
      <p:sp>
        <p:nvSpPr>
          <p:cNvPr id="9" name="cmd_607"/>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608"/>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609"/>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2" name="tag_610"/>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61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61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Grammar game · recent actions   ·   📖 Grammar Bank 2B · present perfect continuous for recent actions (audio 2.17)</a:t>
            </a:r>
            <a:endParaRPr lang="en-US" sz="800" dirty="0"/>
          </a:p>
        </p:txBody>
      </p:sp>
      <p:sp>
        <p:nvSpPr>
          <p:cNvPr id="15" name="cd_613"/>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61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15"/>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616"/>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00" dirty="0">
                <a:solidFill>
                  <a:srgbClr val="1B2559"/>
                </a:solidFill>
                <a:latin typeface="Segoe UI" pitchFamily="34" charset="0"/>
                <a:ea typeface="Segoe UI" pitchFamily="34" charset="-122"/>
                <a:cs typeface="Segoe UI" pitchFamily="34" charset="-120"/>
              </a:rPr>
              <a:t>The mimer looks at the screen. The team doesn't!</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Il mimo guarda lo schermo. La squadra no!</a:t>
            </a:r>
            <a:endParaRPr lang="en-US" sz="900" dirty="0"/>
          </a:p>
          <a:p>
            <a:pPr marL="190500" indent="-190500">
              <a:spcBef>
                <a:spcPts val="500"/>
              </a:spcBef>
              <a:spcAft>
                <a:spcPts val="200"/>
              </a:spcAft>
              <a:buSzPct val="100000"/>
              <a:buChar char="2"/>
            </a:pPr>
            <a:r>
              <a:rPr lang="en-US" sz="900" dirty="0">
                <a:solidFill>
                  <a:srgbClr val="1B2559"/>
                </a:solidFill>
                <a:latin typeface="Segoe UI" pitchFamily="34" charset="0"/>
                <a:ea typeface="Segoe UI" pitchFamily="34" charset="-122"/>
                <a:cs typeface="Segoe UI" pitchFamily="34" charset="-120"/>
              </a:rPr>
              <a:t>Mime how you look NOW. No words!</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Mima come sei ADESSO. Niente parole!</a:t>
            </a:r>
            <a:endParaRPr lang="en-US" sz="900" dirty="0"/>
          </a:p>
          <a:p>
            <a:pPr marL="190500" indent="-190500">
              <a:spcBef>
                <a:spcPts val="500"/>
              </a:spcBef>
              <a:spcAft>
                <a:spcPts val="200"/>
              </a:spcAft>
              <a:buSzPct val="100000"/>
              <a:buChar char="3"/>
            </a:pPr>
            <a:r>
              <a:rPr lang="en-US" sz="900" dirty="0">
                <a:solidFill>
                  <a:srgbClr val="1B2559"/>
                </a:solidFill>
                <a:latin typeface="Segoe UI" pitchFamily="34" charset="0"/>
                <a:ea typeface="Segoe UI" pitchFamily="34" charset="-122"/>
                <a:cs typeface="Segoe UI" pitchFamily="34" charset="-120"/>
              </a:rPr>
              <a:t>Team asks: Have you been…-ing?</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La squadra chiede: Have you been…-ing?</a:t>
            </a:r>
            <a:endParaRPr lang="en-US" sz="900" dirty="0"/>
          </a:p>
        </p:txBody>
      </p:sp>
      <p:sp>
        <p:nvSpPr>
          <p:cNvPr id="19" name="pf_617"/>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618" descr="/home/claude/lls-course/v2/cache/2b1_out_of_breath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rl_619"/>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TEAM A · mime</a:t>
            </a:r>
            <a:endParaRPr lang="en-US" sz="1100" dirty="0"/>
          </a:p>
        </p:txBody>
      </p:sp>
      <p:sp>
        <p:nvSpPr>
          <p:cNvPr id="22" name="R1_w620"/>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RUNNING</a:t>
            </a:r>
            <a:endParaRPr lang="en-US" sz="1700" dirty="0"/>
          </a:p>
        </p:txBody>
      </p:sp>
      <p:sp>
        <p:nvSpPr>
          <p:cNvPr id="23" name="R3_w621"/>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CHOPPING ONIONS</a:t>
            </a:r>
            <a:endParaRPr lang="en-US" sz="1700" dirty="0"/>
          </a:p>
        </p:txBody>
      </p:sp>
      <p:sp>
        <p:nvSpPr>
          <p:cNvPr id="24" name="R5_w622"/>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SWIMMING</a:t>
            </a:r>
            <a:endParaRPr lang="en-US" sz="1700" dirty="0"/>
          </a:p>
        </p:txBody>
      </p:sp>
      <p:sp>
        <p:nvSpPr>
          <p:cNvPr id="25" name="R7_w623"/>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PAINTING</a:t>
            </a:r>
            <a:endParaRPr lang="en-US" sz="1700" dirty="0"/>
          </a:p>
        </p:txBody>
      </p:sp>
      <p:sp>
        <p:nvSpPr>
          <p:cNvPr id="26" name="rl_624"/>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TEAM B · mime</a:t>
            </a:r>
            <a:endParaRPr lang="en-US" sz="1100" dirty="0"/>
          </a:p>
        </p:txBody>
      </p:sp>
      <p:sp>
        <p:nvSpPr>
          <p:cNvPr id="27" name="R2_w625"/>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EATING CHOCOLATE</a:t>
            </a:r>
            <a:endParaRPr lang="en-US" sz="1700" dirty="0"/>
          </a:p>
        </p:txBody>
      </p:sp>
      <p:sp>
        <p:nvSpPr>
          <p:cNvPr id="28" name="R4_w626"/>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WAITING FOR A BUS</a:t>
            </a:r>
            <a:endParaRPr lang="en-US" sz="1700" dirty="0"/>
          </a:p>
        </p:txBody>
      </p:sp>
      <p:sp>
        <p:nvSpPr>
          <p:cNvPr id="29" name="R6_w627"/>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STUDYING ALL NIGHT</a:t>
            </a:r>
            <a:endParaRPr lang="en-US" sz="1700" dirty="0"/>
          </a:p>
        </p:txBody>
      </p:sp>
      <p:sp>
        <p:nvSpPr>
          <p:cNvPr id="30" name="R8_w628"/>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SHOPPING</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2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30"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631"/>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632"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33"/>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63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635"/>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636"/>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63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63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Exit · what can you remember?</a:t>
            </a:r>
            <a:endParaRPr lang="en-US" sz="800" dirty="0"/>
          </a:p>
        </p:txBody>
      </p:sp>
      <p:sp>
        <p:nvSpPr>
          <p:cNvPr id="13" name="bd_639"/>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640"/>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Adelante Africa projects (no looking!)</a:t>
            </a:r>
            <a:endParaRPr lang="en-US" sz="1400" dirty="0"/>
          </a:p>
        </p:txBody>
      </p:sp>
      <p:sp>
        <p:nvSpPr>
          <p:cNvPr id="15" name="bd_641"/>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642"/>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long…? questions: one been + -ing, one known / had</a:t>
            </a:r>
            <a:endParaRPr lang="en-US" sz="1400" dirty="0"/>
          </a:p>
        </p:txBody>
      </p:sp>
      <p:sp>
        <p:nvSpPr>
          <p:cNvPr id="17" name="bd_643"/>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644"/>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true sentence about you with for or since</a:t>
            </a:r>
            <a:endParaRPr lang="en-US" sz="1400" dirty="0"/>
          </a:p>
        </p:txBody>
      </p:sp>
      <p:sp>
        <p:nvSpPr>
          <p:cNvPr id="19" name="cd_645"/>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646"/>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647"/>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648"/>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2B: 1a–1e, 2a</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Grammar Bank 2B: c 1–10</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Writing p.116: an informal email</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Homework sheet 2B-1 in the LLS app</a:t>
            </a:r>
            <a:endParaRPr lang="en-US" sz="1150" dirty="0"/>
          </a:p>
        </p:txBody>
      </p:sp>
      <p:sp>
        <p:nvSpPr>
          <p:cNvPr id="23" name="st_649"/>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2B part 2 · The polar challenge · strong adjectives</a:t>
            </a:r>
            <a:endParaRPr lang="en-US" sz="110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5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51"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652"/>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250" dirty="0">
                <a:solidFill>
                  <a:srgbClr val="1B2559"/>
                </a:solidFill>
                <a:latin typeface="Arial Rounded MT Bold" pitchFamily="34" charset="0"/>
                <a:ea typeface="Arial Rounded MT Bold" pitchFamily="34" charset="-122"/>
                <a:cs typeface="Arial Rounded MT Bold" pitchFamily="34" charset="-120"/>
              </a:rPr>
              <a:t>What has been happening?</a:t>
            </a:r>
            <a:endParaRPr lang="en-US" sz="2250" dirty="0"/>
          </a:p>
        </p:txBody>
      </p:sp>
      <p:pic>
        <p:nvPicPr>
          <p:cNvPr id="6" name="brP_653"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654"/>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Check the photocopiable answers.</a:t>
            </a:r>
            <a:endParaRPr lang="en-US" sz="1250" dirty="0"/>
          </a:p>
        </p:txBody>
      </p:sp>
      <p:sp>
        <p:nvSpPr>
          <p:cNvPr id="8" name="insIT_65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Controlla le risposte della fotocopia.</a:t>
            </a:r>
            <a:endParaRPr lang="en-US" sz="950" dirty="0"/>
          </a:p>
        </p:txBody>
      </p:sp>
      <p:sp>
        <p:nvSpPr>
          <p:cNvPr id="9" name="cmd_656"/>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65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8 min   👤 alone</a:t>
            </a:r>
            <a:endParaRPr lang="en-US" sz="950" dirty="0"/>
          </a:p>
        </p:txBody>
      </p:sp>
      <p:sp>
        <p:nvSpPr>
          <p:cNvPr id="11" name="tag_65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6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Extra · Grammar PCM   ·   📖 📄 B1_2B_Photocopiables.pdf p.1 (TG p.152)</a:t>
            </a:r>
            <a:endParaRPr lang="en-US" sz="800" dirty="0"/>
          </a:p>
        </p:txBody>
      </p:sp>
      <p:sp>
        <p:nvSpPr>
          <p:cNvPr id="14" name="st_661"/>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662"/>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66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6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8" name="il_665"/>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a 1 and b 1 = the examples on the sheet</a:t>
            </a:r>
            <a:endParaRPr lang="en-US" sz="1050" dirty="0"/>
          </a:p>
        </p:txBody>
      </p:sp>
      <p:sp>
        <p:nvSpPr>
          <p:cNvPr id="19" name="pf_666"/>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667" descr="/home/claude/lls-course/v2/cache/2b1_painting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1" name="bd_668"/>
          <p:cNvSpPr/>
          <p:nvPr/>
        </p:nvSpPr>
        <p:spPr>
          <a:xfrm>
            <a:off x="3246120" y="1474143"/>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669"/>
          <p:cNvSpPr/>
          <p:nvPr/>
        </p:nvSpPr>
        <p:spPr>
          <a:xfrm>
            <a:off x="3630168" y="1417320"/>
            <a:ext cx="2103120" cy="424543"/>
          </a:xfrm>
          <a:prstGeom prst="roundRect">
            <a:avLst>
              <a:gd name="adj" fmla="val 2153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pictures 2–3</a:t>
            </a:r>
            <a:endParaRPr lang="en-US" sz="1150" dirty="0"/>
          </a:p>
        </p:txBody>
      </p:sp>
      <p:sp>
        <p:nvSpPr>
          <p:cNvPr id="23" name="R1_chip670"/>
          <p:cNvSpPr/>
          <p:nvPr/>
        </p:nvSpPr>
        <p:spPr>
          <a:xfrm>
            <a:off x="5806440" y="1417320"/>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2 She's been playing the violin for two hours. · 3 She hasn't been feeling well since last week.</a:t>
            </a:r>
            <a:endParaRPr lang="en-US" sz="900" dirty="0"/>
          </a:p>
        </p:txBody>
      </p:sp>
      <p:sp>
        <p:nvSpPr>
          <p:cNvPr id="24" name="bd_671"/>
          <p:cNvSpPr/>
          <p:nvPr/>
        </p:nvSpPr>
        <p:spPr>
          <a:xfrm>
            <a:off x="3246120" y="194440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672"/>
          <p:cNvSpPr/>
          <p:nvPr/>
        </p:nvSpPr>
        <p:spPr>
          <a:xfrm>
            <a:off x="3630168" y="1887583"/>
            <a:ext cx="2103120" cy="424543"/>
          </a:xfrm>
          <a:prstGeom prst="roundRect">
            <a:avLst>
              <a:gd name="adj" fmla="val 2153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pictures 4–5</a:t>
            </a:r>
            <a:endParaRPr lang="en-US" sz="1150" dirty="0"/>
          </a:p>
        </p:txBody>
      </p:sp>
      <p:sp>
        <p:nvSpPr>
          <p:cNvPr id="26" name="R2_chip673"/>
          <p:cNvSpPr/>
          <p:nvPr/>
        </p:nvSpPr>
        <p:spPr>
          <a:xfrm>
            <a:off x="5806440" y="1887583"/>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4 They've been waiting for the bus for a long time. · 5 It's been raining all day.</a:t>
            </a:r>
            <a:endParaRPr lang="en-US" sz="1000" dirty="0"/>
          </a:p>
        </p:txBody>
      </p:sp>
      <p:sp>
        <p:nvSpPr>
          <p:cNvPr id="27" name="bd_674"/>
          <p:cNvSpPr/>
          <p:nvPr/>
        </p:nvSpPr>
        <p:spPr>
          <a:xfrm>
            <a:off x="3246120" y="2414669"/>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675"/>
          <p:cNvSpPr/>
          <p:nvPr/>
        </p:nvSpPr>
        <p:spPr>
          <a:xfrm>
            <a:off x="3630168" y="2357846"/>
            <a:ext cx="2103120" cy="424543"/>
          </a:xfrm>
          <a:prstGeom prst="roundRect">
            <a:avLst>
              <a:gd name="adj" fmla="val 2153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picture 6</a:t>
            </a:r>
            <a:endParaRPr lang="en-US" sz="1150" dirty="0"/>
          </a:p>
        </p:txBody>
      </p:sp>
      <p:sp>
        <p:nvSpPr>
          <p:cNvPr id="29" name="R3_chip676"/>
          <p:cNvSpPr/>
          <p:nvPr/>
        </p:nvSpPr>
        <p:spPr>
          <a:xfrm>
            <a:off x="5806440" y="2357846"/>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They've been watching TV since they got home.</a:t>
            </a:r>
            <a:endParaRPr lang="en-US" sz="1000" dirty="0"/>
          </a:p>
        </p:txBody>
      </p:sp>
      <p:sp>
        <p:nvSpPr>
          <p:cNvPr id="30" name="bd_677"/>
          <p:cNvSpPr/>
          <p:nvPr/>
        </p:nvSpPr>
        <p:spPr>
          <a:xfrm>
            <a:off x="3246120" y="28849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678"/>
          <p:cNvSpPr/>
          <p:nvPr/>
        </p:nvSpPr>
        <p:spPr>
          <a:xfrm>
            <a:off x="3630168" y="2828109"/>
            <a:ext cx="2103120" cy="424543"/>
          </a:xfrm>
          <a:prstGeom prst="roundRect">
            <a:avLst>
              <a:gd name="adj" fmla="val 2153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  2–3</a:t>
            </a:r>
            <a:endParaRPr lang="en-US" sz="1150" dirty="0"/>
          </a:p>
        </p:txBody>
      </p:sp>
      <p:sp>
        <p:nvSpPr>
          <p:cNvPr id="32" name="R4_chip679"/>
          <p:cNvSpPr/>
          <p:nvPr/>
        </p:nvSpPr>
        <p:spPr>
          <a:xfrm>
            <a:off x="5806440" y="2828109"/>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800" b="1" dirty="0">
                <a:solidFill>
                  <a:srgbClr val="1B2559"/>
                </a:solidFill>
                <a:latin typeface="Segoe UI Semibold" pitchFamily="34" charset="0"/>
                <a:ea typeface="Segoe UI Semibold" pitchFamily="34" charset="-122"/>
                <a:cs typeface="Segoe UI Semibold" pitchFamily="34" charset="-120"/>
              </a:rPr>
              <a:t>2 have the children been doing / 've been doing, for · 3 have you been going out / 've been going out since</a:t>
            </a:r>
            <a:endParaRPr lang="en-US" sz="800" dirty="0"/>
          </a:p>
        </p:txBody>
      </p:sp>
      <p:sp>
        <p:nvSpPr>
          <p:cNvPr id="33" name="bd_680"/>
          <p:cNvSpPr/>
          <p:nvPr/>
        </p:nvSpPr>
        <p:spPr>
          <a:xfrm>
            <a:off x="3246120" y="3355195"/>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681"/>
          <p:cNvSpPr/>
          <p:nvPr/>
        </p:nvSpPr>
        <p:spPr>
          <a:xfrm>
            <a:off x="3630168" y="3298371"/>
            <a:ext cx="2103120" cy="424543"/>
          </a:xfrm>
          <a:prstGeom prst="roundRect">
            <a:avLst>
              <a:gd name="adj" fmla="val 2153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  4–5</a:t>
            </a:r>
            <a:endParaRPr lang="en-US" sz="1150" dirty="0"/>
          </a:p>
        </p:txBody>
      </p:sp>
      <p:sp>
        <p:nvSpPr>
          <p:cNvPr id="35" name="R5_chip682"/>
          <p:cNvSpPr/>
          <p:nvPr/>
        </p:nvSpPr>
        <p:spPr>
          <a:xfrm>
            <a:off x="5806440" y="3298371"/>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4 has Penny been / 's been single since · 5 have you had / 've had, for</a:t>
            </a:r>
            <a:endParaRPr lang="en-US" sz="1000" dirty="0"/>
          </a:p>
        </p:txBody>
      </p:sp>
      <p:sp>
        <p:nvSpPr>
          <p:cNvPr id="36" name="bd_683"/>
          <p:cNvSpPr/>
          <p:nvPr/>
        </p:nvSpPr>
        <p:spPr>
          <a:xfrm>
            <a:off x="3246120" y="3825458"/>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7" name="q_684"/>
          <p:cNvSpPr/>
          <p:nvPr/>
        </p:nvSpPr>
        <p:spPr>
          <a:xfrm>
            <a:off x="3630168" y="3768634"/>
            <a:ext cx="2103120" cy="424543"/>
          </a:xfrm>
          <a:prstGeom prst="roundRect">
            <a:avLst>
              <a:gd name="adj" fmla="val 2153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  6–7</a:t>
            </a:r>
            <a:endParaRPr lang="en-US" sz="1150" dirty="0"/>
          </a:p>
        </p:txBody>
      </p:sp>
      <p:sp>
        <p:nvSpPr>
          <p:cNvPr id="38" name="R6_chip685"/>
          <p:cNvSpPr/>
          <p:nvPr/>
        </p:nvSpPr>
        <p:spPr>
          <a:xfrm>
            <a:off x="5806440" y="3768634"/>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6 has Pete been trying / 's been trying since · 7 has your sister wanted / 's wanted, since</a:t>
            </a:r>
            <a:endParaRPr lang="en-US" sz="950" dirty="0"/>
          </a:p>
        </p:txBody>
      </p:sp>
      <p:sp>
        <p:nvSpPr>
          <p:cNvPr id="39" name="bd_686"/>
          <p:cNvSpPr/>
          <p:nvPr/>
        </p:nvSpPr>
        <p:spPr>
          <a:xfrm>
            <a:off x="3246120" y="4295721"/>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40" name="q_687"/>
          <p:cNvSpPr/>
          <p:nvPr/>
        </p:nvSpPr>
        <p:spPr>
          <a:xfrm>
            <a:off x="3630168" y="4238897"/>
            <a:ext cx="2103120" cy="424543"/>
          </a:xfrm>
          <a:prstGeom prst="roundRect">
            <a:avLst>
              <a:gd name="adj" fmla="val 2153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  8</a:t>
            </a:r>
            <a:endParaRPr lang="en-US" sz="1150" dirty="0"/>
          </a:p>
        </p:txBody>
      </p:sp>
      <p:sp>
        <p:nvSpPr>
          <p:cNvPr id="41" name="R7_chip688"/>
          <p:cNvSpPr/>
          <p:nvPr/>
        </p:nvSpPr>
        <p:spPr>
          <a:xfrm>
            <a:off x="5806440" y="4238897"/>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have you known / 've known, for</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8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690"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691"/>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250" dirty="0">
                <a:solidFill>
                  <a:srgbClr val="1B2559"/>
                </a:solidFill>
                <a:latin typeface="Arial Rounded MT Bold" pitchFamily="34" charset="0"/>
                <a:ea typeface="Arial Rounded MT Bold" pitchFamily="34" charset="-122"/>
                <a:cs typeface="Arial Rounded MT Bold" pitchFamily="34" charset="-120"/>
              </a:rPr>
              <a:t>Find someone who…</a:t>
            </a:r>
            <a:endParaRPr lang="en-US" sz="2250" dirty="0"/>
          </a:p>
        </p:txBody>
      </p:sp>
      <p:pic>
        <p:nvPicPr>
          <p:cNvPr id="6" name="brP_692"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693"/>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Stand up! Find someone who… Ask How long?</a:t>
            </a:r>
            <a:endParaRPr lang="en-US" sz="1250" dirty="0"/>
          </a:p>
        </p:txBody>
      </p:sp>
      <p:sp>
        <p:nvSpPr>
          <p:cNvPr id="8" name="insIT_69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Alzati! Trova qualcuno che… Chiedi How long?</a:t>
            </a:r>
            <a:endParaRPr lang="en-US" sz="950" dirty="0"/>
          </a:p>
        </p:txBody>
      </p:sp>
      <p:sp>
        <p:nvSpPr>
          <p:cNvPr id="9" name="cmd_695"/>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69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6 min   🚶 mingle</a:t>
            </a:r>
            <a:endParaRPr lang="en-US" sz="950" dirty="0"/>
          </a:p>
        </p:txBody>
      </p:sp>
      <p:sp>
        <p:nvSpPr>
          <p:cNvPr id="11" name="tag_69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69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9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2B-1 · Extra · find someone who…   ·   📖 Communicative PCM 2B 'How long have you been…?' (TG p.181) – adapted</a:t>
            </a:r>
            <a:endParaRPr lang="en-US" sz="800" dirty="0"/>
          </a:p>
        </p:txBody>
      </p:sp>
      <p:sp>
        <p:nvSpPr>
          <p:cNvPr id="14" name="st_700"/>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pf_701"/>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702" descr="/home/claude/lls-course/v2/cache/2b1_old_friends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7" name="cd_703"/>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8" name="ii_704"/>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705"/>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0" name="il_706"/>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Are you learning…?</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Have you had…?</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How long have you…?</a:t>
            </a:r>
            <a:endParaRPr lang="en-US" sz="1050" dirty="0"/>
          </a:p>
        </p:txBody>
      </p:sp>
      <p:sp>
        <p:nvSpPr>
          <p:cNvPr id="21" name="R1_qb707"/>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R1_sq708"/>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…is learning another language</a:t>
            </a:r>
            <a:endParaRPr lang="en-US" sz="1050" dirty="0"/>
          </a:p>
          <a:p>
            <a:pPr indent="0" marL="0">
              <a:buNone/>
            </a:pPr>
            <a:r>
              <a:rPr lang="en-US" sz="850" i="1" dirty="0">
                <a:solidFill>
                  <a:srgbClr val="5B6785"/>
                </a:solidFill>
                <a:latin typeface="Segoe UI" pitchFamily="34" charset="0"/>
                <a:ea typeface="Segoe UI" pitchFamily="34" charset="-122"/>
                <a:cs typeface="Segoe UI" pitchFamily="34" charset="-120"/>
              </a:rPr>
              <a:t>e.g. Are you learning another language? – Yes, Spanish. – How long have you been learning it?</a:t>
            </a:r>
            <a:endParaRPr lang="en-US" sz="1050" dirty="0"/>
          </a:p>
        </p:txBody>
      </p:sp>
      <p:sp>
        <p:nvSpPr>
          <p:cNvPr id="23" name="R2_qb709"/>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710"/>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…has had the same phone for 3+ years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How long have you had your phone? – Since 2021!</a:t>
            </a:r>
            <a:endParaRPr lang="en-US" sz="1250" dirty="0"/>
          </a:p>
        </p:txBody>
      </p:sp>
      <p:sp>
        <p:nvSpPr>
          <p:cNvPr id="25" name="R3_qb711"/>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712"/>
          <p:cNvSpPr/>
          <p:nvPr/>
        </p:nvSpPr>
        <p:spPr>
          <a:xfrm>
            <a:off x="3675888" y="2529840"/>
            <a:ext cx="51937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…has known their best friend since primary school</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How long have you known Giulia? – Since we were six.</a:t>
            </a:r>
            <a:endParaRPr lang="en-US" sz="1250" dirty="0"/>
          </a:p>
        </p:txBody>
      </p:sp>
      <p:sp>
        <p:nvSpPr>
          <p:cNvPr id="27" name="R4_qb713"/>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714"/>
          <p:cNvSpPr/>
          <p:nvPr/>
        </p:nvSpPr>
        <p:spPr>
          <a:xfrm>
            <a:off x="3675888" y="3086100"/>
            <a:ext cx="51937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…does a sport (5+ years)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How long have you been playing tennis? – For six years.</a:t>
            </a:r>
            <a:endParaRPr lang="en-US" sz="1250" dirty="0"/>
          </a:p>
        </p:txBody>
      </p:sp>
      <p:sp>
        <p:nvSpPr>
          <p:cNvPr id="29" name="R5_qb715"/>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716"/>
          <p:cNvSpPr/>
          <p:nvPr/>
        </p:nvSpPr>
        <p:spPr>
          <a:xfrm>
            <a:off x="3675888" y="364236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…has lived in the same house all their life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How long have you lived here? – Since I was born.</a:t>
            </a:r>
            <a:endParaRPr lang="en-US" sz="1250" dirty="0"/>
          </a:p>
        </p:txBody>
      </p:sp>
      <p:sp>
        <p:nvSpPr>
          <p:cNvPr id="31" name="R6_qb717"/>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2" name="R6_sq718"/>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reading a good book at the moment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How long have you been reading it? – For a week.</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4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400"/>
                                        <p:tgtEl>
                                          <p:spTgt spid="31"/>
                                        </p:tgtEl>
                                      </p:cBhvr>
                                    </p:animEffect>
                                  </p:childTnLst>
                                </p:cTn>
                              </p:par>
                              <p:par>
                                <p:cTn id="48" presetID="10" presetClass="entr" presetSubtype="0"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2B-1 Changing lives</dc:title>
  <dc:subject>PptxGenJS Presentation</dc:subject>
  <dc:creator>PptxGenJS</dc:creator>
  <cp:lastModifiedBy>PptxGenJS</cp:lastModifiedBy>
  <cp:revision>1</cp:revision>
  <dcterms:created xsi:type="dcterms:W3CDTF">2026-10-12T09:13:15Z</dcterms:created>
  <dcterms:modified xsi:type="dcterms:W3CDTF">2026-10-12T09:13:15Z</dcterms:modified>
</cp:coreProperties>
</file>