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(3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(4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(3 min).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How long…? (6 min)
SPEAKING (6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the true story of a charity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helping other people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ask How long…? with for and since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How long…? questions with the right stress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2_scam_email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2A: money experiences and scams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perfect or past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just paid the bill.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 · never · just · already · yet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lost €2,000 last year.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yesterday · last week · in 2020 · ago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a:t>
            </a:r>
            <a:endParaRPr lang="en-US" sz="1050" dirty="0"/>
          </a:p>
        </p:txBody>
      </p:sp>
      <p:sp>
        <p:nvSpPr>
          <p:cNvPr id="28" name="w_42"/>
          <p:cNvSpPr/>
          <p:nvPr/>
        </p:nvSpPr>
        <p:spPr>
          <a:xfrm>
            <a:off x="4105656"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scammer</a:t>
            </a:r>
            <a:endParaRPr lang="en-US" sz="1050" dirty="0"/>
          </a:p>
        </p:txBody>
      </p:sp>
      <p:sp>
        <p:nvSpPr>
          <p:cNvPr id="29" name="w_43"/>
          <p:cNvSpPr/>
          <p:nvPr/>
        </p:nvSpPr>
        <p:spPr>
          <a:xfrm>
            <a:off x="5198364"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victim</a:t>
            </a:r>
            <a:endParaRPr lang="en-US" sz="1050" dirty="0"/>
          </a:p>
        </p:txBody>
      </p:sp>
      <p:sp>
        <p:nvSpPr>
          <p:cNvPr id="30" name="w_44"/>
          <p:cNvSpPr/>
          <p:nvPr/>
        </p:nvSpPr>
        <p:spPr>
          <a:xfrm>
            <a:off x="6213348"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suspicious</a:t>
            </a:r>
            <a:endParaRPr lang="en-US" sz="1050" dirty="0"/>
          </a:p>
        </p:txBody>
      </p:sp>
      <p:sp>
        <p:nvSpPr>
          <p:cNvPr id="31" name="w_45"/>
          <p:cNvSpPr/>
          <p:nvPr/>
        </p:nvSpPr>
        <p:spPr>
          <a:xfrm>
            <a:off x="738378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32" name="w_46"/>
          <p:cNvSpPr/>
          <p:nvPr/>
        </p:nvSpPr>
        <p:spPr>
          <a:xfrm>
            <a:off x="3246120" y="454456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bank details</a:t>
            </a:r>
            <a:endParaRPr lang="en-US" sz="1050" dirty="0"/>
          </a:p>
        </p:txBody>
      </p:sp>
      <p:sp>
        <p:nvSpPr>
          <p:cNvPr id="33" name="w_47"/>
          <p:cNvSpPr/>
          <p:nvPr/>
        </p:nvSpPr>
        <p:spPr>
          <a:xfrm>
            <a:off x="4572000" y="4544568"/>
            <a:ext cx="156362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 went – gone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1" name="meta_5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Warmer · last lesson   ·   📖 Recycles 2A part 2: present perfect or past simple, scams (audio 2.12, the scam email)</a:t>
            </a:r>
            <a:endParaRPr lang="en-US" sz="800" dirty="0"/>
          </a:p>
        </p:txBody>
      </p:sp>
      <p:sp>
        <p:nvSpPr>
          <p:cNvPr id="15"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four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find the odd one out – 20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Odd one out + the reason = 1 point.</a:t>
            </a:r>
            <a:endParaRPr lang="en-US" sz="1150" dirty="0"/>
          </a:p>
        </p:txBody>
      </p:sp>
      <p:sp>
        <p:nvSpPr>
          <p:cNvPr id="19"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 descr="/home/claude/lls-course/v2/cache/spare_future_technology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1100" dirty="0"/>
          </a:p>
        </p:txBody>
      </p:sp>
      <p:sp>
        <p:nvSpPr>
          <p:cNvPr id="23"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00" dirty="0"/>
          </a:p>
        </p:txBody>
      </p:sp>
      <p:sp>
        <p:nvSpPr>
          <p:cNvPr id="24"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900" dirty="0"/>
          </a:p>
        </p:txBody>
      </p:sp>
      <p:sp>
        <p:nvSpPr>
          <p:cNvPr id="26"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00" dirty="0"/>
          </a:p>
        </p:txBody>
      </p:sp>
      <p:sp>
        <p:nvSpPr>
          <p:cNvPr id="27"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won · lost · went · forgotten</a:t>
            </a:r>
            <a:endParaRPr lang="en-US" sz="1100" dirty="0"/>
          </a:p>
        </p:txBody>
      </p:sp>
      <p:sp>
        <p:nvSpPr>
          <p:cNvPr id="29"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00" dirty="0"/>
          </a:p>
        </p:txBody>
      </p:sp>
      <p:sp>
        <p:nvSpPr>
          <p:cNvPr id="30"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Heather · Carl · Paul · Naomi</a:t>
            </a:r>
            <a:endParaRPr lang="en-US" sz="1100" dirty="0"/>
          </a:p>
        </p:txBody>
      </p:sp>
      <p:sp>
        <p:nvSpPr>
          <p:cNvPr id="32"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00" dirty="0"/>
          </a:p>
        </p:txBody>
      </p:sp>
      <p:sp>
        <p:nvSpPr>
          <p:cNvPr id="33"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1100" dirty="0"/>
          </a:p>
        </p:txBody>
      </p:sp>
      <p:sp>
        <p:nvSpPr>
          <p:cNvPr id="35"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00" dirty="0"/>
          </a:p>
        </p:txBody>
      </p:sp>
      <p:sp>
        <p:nvSpPr>
          <p:cNvPr id="36"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900" dirty="0"/>
          </a:p>
        </p:txBody>
      </p:sp>
      <p:sp>
        <p:nvSpPr>
          <p:cNvPr id="38"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key words first   ·   📖 SB pp.20–21 · glossary + TG pre-teaching (charity, orphan, lorry, take shelter)</a:t>
            </a:r>
            <a:endParaRPr lang="en-US" sz="800" dirty="0"/>
          </a:p>
        </p:txBody>
      </p:sp>
      <p:sp>
        <p:nvSpPr>
          <p:cNvPr id="14" name="cd_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 orphan → a child without a mother or father · un orfano / un'orfana</a:t>
            </a:r>
            <a:endParaRPr lang="en-US" sz="1050" dirty="0"/>
          </a:p>
        </p:txBody>
      </p:sp>
      <p:sp>
        <p:nvSpPr>
          <p:cNvPr id="18" name="pf_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0" descr="/home/claude/lls-course/v2/cache/2b1_schoolchildre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2"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1000" dirty="0"/>
          </a:p>
        </p:txBody>
      </p:sp>
      <p:sp>
        <p:nvSpPr>
          <p:cNvPr id="23"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5"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big truck · un camion</a:t>
            </a:r>
            <a:endParaRPr lang="en-US" sz="1000" dirty="0"/>
          </a:p>
        </p:txBody>
      </p:sp>
      <p:sp>
        <p:nvSpPr>
          <p:cNvPr id="26"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8"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1000" dirty="0"/>
          </a:p>
        </p:txBody>
      </p:sp>
      <p:sp>
        <p:nvSpPr>
          <p:cNvPr id="29"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31"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1000" dirty="0"/>
          </a:p>
        </p:txBody>
      </p:sp>
      <p:sp>
        <p:nvSpPr>
          <p:cNvPr id="32"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4"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1000" dirty="0"/>
          </a:p>
        </p:txBody>
      </p:sp>
      <p:sp>
        <p:nvSpPr>
          <p:cNvPr id="35"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7"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1000" dirty="0"/>
          </a:p>
        </p:txBody>
      </p:sp>
      <p:sp>
        <p:nvSpPr>
          <p:cNvPr id="38"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40"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1000" dirty="0"/>
          </a:p>
        </p:txBody>
      </p:sp>
      <p:sp>
        <p:nvSpPr>
          <p:cNvPr id="41"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3"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di cosa parlano i numeri?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prediction   ·   📖 SB p.20 · 1 · numbers from audio 2.13 and 2.14</a:t>
            </a:r>
            <a:endParaRPr lang="en-US" sz="800" dirty="0"/>
          </a:p>
        </p:txBody>
      </p:sp>
      <p:sp>
        <p:nvSpPr>
          <p:cNvPr id="15" name="cd_13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3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7" name="sf_139"/>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8" name="nbl_140"/>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41"/>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20" name="bd_142"/>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21" name="bd_143"/>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22" name="bd_144"/>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3" name="bd_145"/>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4" name="bd_146"/>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5" name="pf_147"/>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8" descr="/home/claude/lls-course/v2/cache/2b1_gorillas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4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1. Rispondi alle domande.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the story   ·   📖 SB p.20 · 1a · audio 2.13</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5" name="ah_1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6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4" descr="/home/claude/lls-course/v2/cache/2b1_cov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16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6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67" descr="/home/claude/lls-course/v2/cache/2b1_gorillas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16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16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70" descr="/home/claude/lls-course/v2/cache/2b1_schoolchildren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17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17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1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1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17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A–C. Tell the story in 3 sentences!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Answer the questions on the right.</a:t>
            </a:r>
            <a:endParaRPr lang="en-US" sz="1100" dirty="0"/>
          </a:p>
        </p:txBody>
      </p:sp>
      <p:sp>
        <p:nvSpPr>
          <p:cNvPr id="32" name="lq_176"/>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3" name="R1_chip177"/>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4" name="lq_178"/>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5" name="R2_chip179"/>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6" name="lq_180"/>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7" name="R3_chip181"/>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8" name="lq_182"/>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39" name="R4_chip183"/>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40" name="lq_184"/>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41" name="R5_chip185"/>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riascolta.</a:t>
            </a:r>
            <a:endParaRPr lang="en-US" sz="950" dirty="0"/>
          </a:p>
        </p:txBody>
      </p:sp>
      <p:sp>
        <p:nvSpPr>
          <p:cNvPr id="9" name="cmd_1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9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detail   ·   📖 SB p.20 · 1a questions 5–8 · audio 2.13</a:t>
            </a:r>
            <a:endParaRPr lang="en-US" sz="800" dirty="0"/>
          </a:p>
        </p:txBody>
      </p:sp>
      <p:sp>
        <p:nvSpPr>
          <p:cNvPr id="15" name="ap_19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6" name="ah_1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0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01" descr="/home/claude/lls-course/v2/cache/2b1_schoolchildr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0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0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6" name="R1_chip20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7" name="gq_20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8" name="R2_chip20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29" name="gq_21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30" name="R3_chip21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31" name="gq_21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32" name="R4_chip21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3" name="gq_21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4" name="R5_chip21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5" name="gq_21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6" name="R6_chip21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4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2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2. Numera i progetti.</a:t>
            </a:r>
            <a:endParaRPr lang="en-US" sz="950" dirty="0"/>
          </a:p>
        </p:txBody>
      </p:sp>
      <p:sp>
        <p:nvSpPr>
          <p:cNvPr id="9" name="cmd_2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the interview · gist   ·   📖 SB p.20 · 1b · audio 2.14</a:t>
            </a:r>
            <a:endParaRPr lang="en-US" sz="800" dirty="0"/>
          </a:p>
        </p:txBody>
      </p:sp>
      <p:sp>
        <p:nvSpPr>
          <p:cNvPr id="14" name="ap_229"/>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5" name="ah_23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3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3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33" descr="/home/claude/lls-course/v2/cache/2b1_volunte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23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3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36" descr="/home/claude/lls-course/v2/cache/2b1_veg_garden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23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38"/>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9" descr="/home/claude/lls-course/v2/cache/2b1_building_school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240"/>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4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4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4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4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Read the six projects on the right.</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Number them 1–6 in order.</a:t>
            </a:r>
            <a:endParaRPr lang="en-US" sz="1100" dirty="0"/>
          </a:p>
        </p:txBody>
      </p:sp>
      <p:sp>
        <p:nvSpPr>
          <p:cNvPr id="32" name="lq_245"/>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3" name="R1_chip246"/>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4" name="lq_247"/>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children's home</a:t>
            </a:r>
            <a:endParaRPr lang="en-US" sz="1000" dirty="0"/>
          </a:p>
        </p:txBody>
      </p:sp>
      <p:sp>
        <p:nvSpPr>
          <p:cNvPr id="35" name="R2_chip248"/>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6" name="lq_249"/>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secondary school</a:t>
            </a:r>
            <a:endParaRPr lang="en-US" sz="1000" dirty="0"/>
          </a:p>
        </p:txBody>
      </p:sp>
      <p:sp>
        <p:nvSpPr>
          <p:cNvPr id="37" name="R3_chip250"/>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8" name="lq_251"/>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vegetable seeds</a:t>
            </a:r>
            <a:endParaRPr lang="en-US" sz="1000" dirty="0"/>
          </a:p>
        </p:txBody>
      </p:sp>
      <p:sp>
        <p:nvSpPr>
          <p:cNvPr id="39" name="R4_chip252"/>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40" name="lq_253"/>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classes for adults</a:t>
            </a:r>
            <a:endParaRPr lang="en-US" sz="1000" dirty="0"/>
          </a:p>
        </p:txBody>
      </p:sp>
      <p:sp>
        <p:nvSpPr>
          <p:cNvPr id="41" name="R5_chip254"/>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2" name="lq_255"/>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sunflower oil factory</a:t>
            </a:r>
            <a:endParaRPr lang="en-US" sz="1000" dirty="0"/>
          </a:p>
        </p:txBody>
      </p:sp>
      <p:sp>
        <p:nvSpPr>
          <p:cNvPr id="43" name="R6_chip256"/>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6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Ogni frase è sbagliata. Correggila!</a:t>
            </a:r>
            <a:endParaRPr lang="en-US" sz="950" dirty="0"/>
          </a:p>
        </p:txBody>
      </p:sp>
      <p:sp>
        <p:nvSpPr>
          <p:cNvPr id="9" name="cmd_2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6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2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detail   ·   📖 SB p.20 · 1c · audio 2.14 (sentences shortened)</a:t>
            </a:r>
            <a:endParaRPr lang="en-US" sz="800" dirty="0"/>
          </a:p>
        </p:txBody>
      </p:sp>
      <p:sp>
        <p:nvSpPr>
          <p:cNvPr id="15" name="ap_2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6" name="ah_27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7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72" descr="/home/claude/lls-course/v2/cache/2b1_veg_gard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7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7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77"/>
          <p:cNvSpPr/>
          <p:nvPr/>
        </p:nvSpPr>
        <p:spPr>
          <a:xfrm>
            <a:off x="3383280" y="141732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6" name="R1_chip278"/>
          <p:cNvSpPr/>
          <p:nvPr/>
        </p:nvSpPr>
        <p:spPr>
          <a:xfrm>
            <a:off x="6812280" y="14173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7" name="gq_279"/>
          <p:cNvSpPr/>
          <p:nvPr/>
        </p:nvSpPr>
        <p:spPr>
          <a:xfrm>
            <a:off x="3383280" y="178308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8" name="R2_chip280"/>
          <p:cNvSpPr/>
          <p:nvPr/>
        </p:nvSpPr>
        <p:spPr>
          <a:xfrm>
            <a:off x="6812280" y="17830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29" name="gq_281"/>
          <p:cNvSpPr/>
          <p:nvPr/>
        </p:nvSpPr>
        <p:spPr>
          <a:xfrm>
            <a:off x="3383280" y="214884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30" name="R3_chip282"/>
          <p:cNvSpPr/>
          <p:nvPr/>
        </p:nvSpPr>
        <p:spPr>
          <a:xfrm>
            <a:off x="6812280" y="21488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31" name="gq_283"/>
          <p:cNvSpPr/>
          <p:nvPr/>
        </p:nvSpPr>
        <p:spPr>
          <a:xfrm>
            <a:off x="3383280" y="251460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32" name="R4_chip284"/>
          <p:cNvSpPr/>
          <p:nvPr/>
        </p:nvSpPr>
        <p:spPr>
          <a:xfrm>
            <a:off x="6812280" y="25146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3" name="gq_285"/>
          <p:cNvSpPr/>
          <p:nvPr/>
        </p:nvSpPr>
        <p:spPr>
          <a:xfrm>
            <a:off x="3383280" y="288036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4" name="R5_chip286"/>
          <p:cNvSpPr/>
          <p:nvPr/>
        </p:nvSpPr>
        <p:spPr>
          <a:xfrm>
            <a:off x="6812280" y="288036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5" name="gq_287"/>
          <p:cNvSpPr/>
          <p:nvPr/>
        </p:nvSpPr>
        <p:spPr>
          <a:xfrm>
            <a:off x="3383280" y="324612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6" name="R6_chip288"/>
          <p:cNvSpPr/>
          <p:nvPr/>
        </p:nvSpPr>
        <p:spPr>
          <a:xfrm>
            <a:off x="6812280" y="32461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7" name="gq_289"/>
          <p:cNvSpPr/>
          <p:nvPr/>
        </p:nvSpPr>
        <p:spPr>
          <a:xfrm>
            <a:off x="3383280" y="361188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8" name="R7_chip290"/>
          <p:cNvSpPr/>
          <p:nvPr/>
        </p:nvSpPr>
        <p:spPr>
          <a:xfrm>
            <a:off x="6812280" y="36118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39" name="gq_291"/>
          <p:cNvSpPr/>
          <p:nvPr/>
        </p:nvSpPr>
        <p:spPr>
          <a:xfrm>
            <a:off x="3383280" y="397764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40" name="R8_chip292"/>
          <p:cNvSpPr/>
          <p:nvPr/>
        </p:nvSpPr>
        <p:spPr>
          <a:xfrm>
            <a:off x="6812280" y="39776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41" name="gq_293"/>
          <p:cNvSpPr/>
          <p:nvPr/>
        </p:nvSpPr>
        <p:spPr>
          <a:xfrm>
            <a:off x="3383280" y="434340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42" name="R9_chip294"/>
          <p:cNvSpPr/>
          <p:nvPr/>
        </p:nvSpPr>
        <p:spPr>
          <a:xfrm>
            <a:off x="6812280" y="43434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8"/>
                                        </p:tgtEl>
                                      </p:cBhvr>
                                    </p:cmd>
                                  </p:childTnLst>
                                </p:cTn>
                              </p:par>
                            </p:childTnLst>
                          </p:cTn>
                        </p:par>
                      </p:childTnLst>
                    </p:cTn>
                  </p:par>
                </p:childTnLst>
              </p:cTn>
              <p:nextCondLst>
                <p:cond evt="onClick" delay="0">
                  <p:tgtEl>
                    <p:spTgt spid="18"/>
                  </p:tgtEl>
                </p:cond>
              </p:nextCondLst>
            </p:seq>
            <p:audio>
              <p:cMediaNode vol="80000">
                <p:cTn id="58" fill="hold" display="0">
                  <p:stCondLst>
                    <p:cond delay="indefinite"/>
                  </p:stCondLst>
                  <p:endCondLst>
                    <p:cond evt="onStopAudio" delay="0">
                      <p:tgtEl>
                        <p:sldTgt/>
                      </p:tgtEl>
                    </p:cond>
                  </p:endCondLst>
                </p:cTn>
                <p:tgtEl>
                  <p:spTgt spid="17"/>
                </p:tgtEl>
              </p:cMediaNode>
            </p:audio>
            <p:audio>
              <p:cMediaNode vol="80000">
                <p:cTn id="59" fill="hold" display="0">
                  <p:stCondLst>
                    <p:cond delay="indefinite"/>
                  </p:stCondLst>
                  <p:endCondLst>
                    <p:cond evt="onStopAudio" delay="0">
                      <p:tgtEl>
                        <p:sldTgt/>
                      </p:tgtEl>
                    </p:cond>
                  </p:endCondLst>
                </p:cTn>
                <p:tgtEl>
                  <p:spTgt spid="1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9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9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30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Chiedi: Perché?</a:t>
            </a:r>
            <a:endParaRPr lang="en-US" sz="950" dirty="0"/>
          </a:p>
        </p:txBody>
      </p:sp>
      <p:sp>
        <p:nvSpPr>
          <p:cNvPr id="9" name="cmd_30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helping people   ·   📖 SB p.20 · 1d + follow-up</a:t>
            </a:r>
            <a:endParaRPr lang="en-US" sz="800" dirty="0"/>
          </a:p>
        </p:txBody>
      </p:sp>
      <p:sp>
        <p:nvSpPr>
          <p:cNvPr id="14" name="pf_30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7" descr="/home/claude/lls-course/v2/cache/2b1_volunte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1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love to… because…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think I could…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the most important…</a:t>
            </a:r>
            <a:endParaRPr lang="en-US" sz="1050" dirty="0"/>
          </a:p>
        </p:txBody>
      </p:sp>
      <p:sp>
        <p:nvSpPr>
          <p:cNvPr id="20" name="R1_qb31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aunt helps at a food bank in Palermo every Saturday.</a:t>
            </a:r>
            <a:endParaRPr lang="en-US" sz="950" dirty="0"/>
          </a:p>
        </p:txBody>
      </p:sp>
      <p:sp>
        <p:nvSpPr>
          <p:cNvPr id="22" name="R2_qb31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5"/>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The water tanks – clean water is the first thing you need.</a:t>
            </a:r>
            <a:endParaRPr lang="en-US" sz="1050" dirty="0"/>
          </a:p>
        </p:txBody>
      </p:sp>
      <p:pic>
        <p:nvPicPr>
          <p:cNvPr id="24" name="R2_th316"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31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1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I'd love to teach English songs to children, like Jane.</a:t>
            </a:r>
            <a:endParaRPr lang="en-US" sz="1250" dirty="0"/>
          </a:p>
        </p:txBody>
      </p:sp>
      <p:sp>
        <p:nvSpPr>
          <p:cNvPr id="27" name="R4_qb31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2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it should be your choice, not homework!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2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4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2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le parole. Poi ascolta.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2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from the interview   ·   📖 SB p.21 · 2a, 2b · audio 2.15</a:t>
            </a:r>
            <a:endParaRPr lang="en-US" sz="800" dirty="0"/>
          </a:p>
        </p:txBody>
      </p:sp>
      <p:sp>
        <p:nvSpPr>
          <p:cNvPr id="15" name="cd_33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7" name="ln_33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8" name="ln_33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9" name="R1_lnA33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20" name="ln_33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1" name="R2_lnA33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2" name="ln_34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3" name="R3_lnA34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4" name="ln_34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5" name="R4_lnA34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6" name="ln_34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7" name="R5_lnA34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8" name="ap_34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9" name="ah_34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2" name="pf_34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49" descr="/home/claude/lls-course/v2/cache/2b1_building_school_jpg_594x352_31.png">    </p:cNvPr>
          <p:cNvPicPr>
            <a:picLocks noChangeAspect="1"/>
          </p:cNvPicPr>
          <p:nvPr/>
        </p:nvPicPr>
        <p:blipFill>
          <a:blip r:embed="rId11"/>
          <a:stretch>
            <a:fillRect/>
          </a:stretch>
        </p:blipFill>
        <p:spPr>
          <a:xfrm rot="120000">
            <a:off x="6355080" y="2240280"/>
            <a:ext cx="2468880" cy="1463040"/>
          </a:xfrm>
          <a:prstGeom prst="rect">
            <a:avLst/>
          </a:prstGeom>
        </p:spPr>
      </p:pic>
      <p:sp>
        <p:nvSpPr>
          <p:cNvPr id="34" name="cd_35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35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35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35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building · changed · doing</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running · started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audio>
              <p:cMediaNode vol="80000">
                <p:cTn id="38" fill="hold" display="0">
                  <p:stCondLst>
                    <p:cond delay="indefinite"/>
                  </p:stCondLst>
                  <p:endCondLst>
                    <p:cond evt="onStopAudio" delay="0">
                      <p:tgtEl>
                        <p:sldTgt/>
                      </p:tgtEl>
                    </p:cond>
                  </p:endCondLst>
                </p:cTn>
                <p:tgtEl>
                  <p:spTgt spid="30"/>
                </p:tgtEl>
              </p:cMediaNode>
            </p:audio>
            <p:audio>
              <p:cMediaNode vol="80000">
                <p:cTn id="39" fill="hold" display="0">
                  <p:stCondLst>
                    <p:cond delay="indefinite"/>
                  </p:stCondLst>
                  <p:endCondLst>
                    <p:cond evt="onStopAudio" delay="0">
                      <p:tgtEl>
                        <p:sldTgt/>
                      </p:tgtEl>
                    </p:cond>
                  </p:endCondLst>
                </p:cTn>
                <p:tgtEl>
                  <p:spTgt spid="31"/>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5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5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Abbina il colore.</a:t>
            </a:r>
            <a:endParaRPr lang="en-US" sz="950" dirty="0"/>
          </a:p>
        </p:txBody>
      </p:sp>
      <p:sp>
        <p:nvSpPr>
          <p:cNvPr id="9" name="cmd_36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36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guided discovery   ·   📖 SB p.21 · 2b</a:t>
            </a:r>
            <a:endParaRPr lang="en-US" sz="800" dirty="0"/>
          </a:p>
        </p:txBody>
      </p:sp>
      <p:sp>
        <p:nvSpPr>
          <p:cNvPr id="14" name="cd_365"/>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68"/>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69"/>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9" name="lg_370"/>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20" name="sq_37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21" name="R1_tag372"/>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2" name="sq_37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3" name="R2_tag374"/>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4" name="sq_37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5" name="R3_tag376"/>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6" name="sq_37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7" name="R4_tag378"/>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8" name="sq_37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9" name="R5_tag380"/>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0" name="sq_38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31" name="R6_tag382"/>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2" name="pf_3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84" descr="/home/claude/lls-course/v2/cache/2b1_volunteer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8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25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89"/>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Perché?</a:t>
            </a:r>
            <a:endParaRPr lang="en-US" sz="950" dirty="0"/>
          </a:p>
        </p:txBody>
      </p:sp>
      <p:sp>
        <p:nvSpPr>
          <p:cNvPr id="9" name="cmd_3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the rule   ·   📖 Grammar Bank 2B p.135 · audio 2.16, 2.17</a:t>
            </a:r>
            <a:endParaRPr lang="en-US" sz="800" dirty="0"/>
          </a:p>
        </p:txBody>
      </p:sp>
      <p:sp>
        <p:nvSpPr>
          <p:cNvPr id="14" name="ap_396"/>
          <p:cNvSpPr/>
          <p:nvPr/>
        </p:nvSpPr>
        <p:spPr>
          <a:xfrm>
            <a:off x="6583680" y="914400"/>
            <a:ext cx="16916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2.16 + 2.17</a:t>
            </a:r>
            <a:endParaRPr lang="en-US" sz="1100" dirty="0"/>
          </a:p>
        </p:txBody>
      </p:sp>
      <p:sp>
        <p:nvSpPr>
          <p:cNvPr id="15" name="ah_3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w_398"/>
          <p:cNvSpPr/>
          <p:nvPr/>
        </p:nvSpPr>
        <p:spPr>
          <a:xfrm>
            <a:off x="6583680" y="133502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2.17: play from the book audio</a:t>
            </a:r>
            <a:endParaRPr lang="en-US" sz="900" dirty="0"/>
          </a:p>
        </p:txBody>
      </p:sp>
      <p:sp>
        <p:nvSpPr>
          <p:cNvPr id="19" name="cd_399"/>
          <p:cNvSpPr/>
          <p:nvPr/>
        </p:nvSpPr>
        <p:spPr>
          <a:xfrm>
            <a:off x="3200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0" name="rh_400"/>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21" name="pf_4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02" descr="/home/claude/lls-course/v2/cache/2b1_old_coupl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3" name="ru_4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4" name="R1_rx4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5" name="R1_ri4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conosco… da · ho… da</a:t>
            </a:r>
            <a:endParaRPr lang="en-US" sz="900" dirty="0"/>
          </a:p>
        </p:txBody>
      </p:sp>
      <p:sp>
        <p:nvSpPr>
          <p:cNvPr id="26" name="cd_4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7" name="rh_4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8" name="pf_4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09" descr="/home/claude/lls-course/v2/cache/2b1_learning_french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30" name="ru_4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31" name="R2_rx4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32" name="R2_ri4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studio… da (ancora adesso)</a:t>
            </a:r>
            <a:endParaRPr lang="en-US" sz="900" dirty="0"/>
          </a:p>
        </p:txBody>
      </p:sp>
      <p:sp>
        <p:nvSpPr>
          <p:cNvPr id="33" name="cd_413"/>
          <p:cNvSpPr/>
          <p:nvPr/>
        </p:nvSpPr>
        <p:spPr>
          <a:xfrm>
            <a:off x="61112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4" name="rh_414"/>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5" name="pf_4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16" descr="/home/claude/lls-course/v2/cache/2b1_painting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7" name="ru_4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8" name="R3_rx4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9" name="R3_ri4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ho appena… (si vede!)</a:t>
            </a:r>
            <a:endParaRPr lang="en-US" sz="900" dirty="0"/>
          </a:p>
        </p:txBody>
      </p:sp>
      <p:sp>
        <p:nvSpPr>
          <p:cNvPr id="40" name="R4_wc4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1" name="R4_w4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40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6"/>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2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 o since? Dillo ad alta voce!</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1" name="tag_4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for or since?   ·   📖 Grammar Bank 2B p.135 · for / since (audio 2.16, 2.17)</a:t>
            </a:r>
            <a:endParaRPr lang="en-US" sz="800" dirty="0"/>
          </a:p>
        </p:txBody>
      </p:sp>
      <p:sp>
        <p:nvSpPr>
          <p:cNvPr id="14" name="cd_43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36"/>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time.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shout FOR or SINCE!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team = 1 point.</a:t>
            </a:r>
            <a:endParaRPr lang="en-US" sz="1150" dirty="0"/>
          </a:p>
        </p:txBody>
      </p:sp>
      <p:sp>
        <p:nvSpPr>
          <p:cNvPr id="18" name="pf_4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8" descr="/home/claude/lls-course/v2/cache/2b1_old_coup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3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2012</a:t>
            </a:r>
            <a:endParaRPr lang="en-US" sz="1100" dirty="0"/>
          </a:p>
        </p:txBody>
      </p:sp>
      <p:sp>
        <p:nvSpPr>
          <p:cNvPr id="22" name="R1_chip44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 (a point)</a:t>
            </a:r>
            <a:endParaRPr lang="en-US" sz="1100" dirty="0"/>
          </a:p>
        </p:txBody>
      </p:sp>
      <p:sp>
        <p:nvSpPr>
          <p:cNvPr id="23" name="bd_44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ten years</a:t>
            </a:r>
            <a:endParaRPr lang="en-US" sz="1100" dirty="0"/>
          </a:p>
        </p:txBody>
      </p:sp>
      <p:sp>
        <p:nvSpPr>
          <p:cNvPr id="25" name="R2_chip44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 (a period)</a:t>
            </a:r>
            <a:endParaRPr lang="en-US" sz="1100" dirty="0"/>
          </a:p>
        </p:txBody>
      </p:sp>
      <p:sp>
        <p:nvSpPr>
          <p:cNvPr id="26" name="bd_44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4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lunchtime</a:t>
            </a:r>
            <a:endParaRPr lang="en-US" sz="1100" dirty="0"/>
          </a:p>
        </p:txBody>
      </p:sp>
      <p:sp>
        <p:nvSpPr>
          <p:cNvPr id="28" name="R3_chip44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29" name="bd_44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4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ages</a:t>
            </a:r>
            <a:endParaRPr lang="en-US" sz="1100" dirty="0"/>
          </a:p>
        </p:txBody>
      </p:sp>
      <p:sp>
        <p:nvSpPr>
          <p:cNvPr id="31" name="R4_chip45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
        <p:nvSpPr>
          <p:cNvPr id="32" name="bd_45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I was a child</a:t>
            </a:r>
            <a:endParaRPr lang="en-US" sz="1100" dirty="0"/>
          </a:p>
        </p:txBody>
      </p:sp>
      <p:sp>
        <p:nvSpPr>
          <p:cNvPr id="34" name="R5_chip45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35" name="bd_45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5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about three years</a:t>
            </a:r>
            <a:endParaRPr lang="en-US" sz="1100" dirty="0"/>
          </a:p>
        </p:txBody>
      </p:sp>
      <p:sp>
        <p:nvSpPr>
          <p:cNvPr id="37" name="R6_chip45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5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6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for o since?</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6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controlled practice   ·   📖 Grammar Bank 2B p.135 · a 1–5 (prompts written for the slide) · audio 2.16</a:t>
            </a:r>
            <a:endParaRPr lang="en-US" sz="800" dirty="0"/>
          </a:p>
        </p:txBody>
      </p:sp>
      <p:sp>
        <p:nvSpPr>
          <p:cNvPr id="15" name="cd_46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47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 learn English / six years → I've been learning English for six years.</a:t>
            </a:r>
            <a:endParaRPr lang="en-US" sz="1050" dirty="0"/>
          </a:p>
        </p:txBody>
      </p:sp>
      <p:sp>
        <p:nvSpPr>
          <p:cNvPr id="19" name="pf_47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74" descr="/home/claude/lls-course/v2/cache/2b1_rai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47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47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3" name="R1_chip47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00" dirty="0"/>
          </a:p>
        </p:txBody>
      </p:sp>
      <p:sp>
        <p:nvSpPr>
          <p:cNvPr id="24" name="bd_47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47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6" name="R2_chip48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00" dirty="0"/>
          </a:p>
        </p:txBody>
      </p:sp>
      <p:sp>
        <p:nvSpPr>
          <p:cNvPr id="27" name="bd_48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48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9" name="R3_chip48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00" dirty="0"/>
          </a:p>
        </p:txBody>
      </p:sp>
      <p:sp>
        <p:nvSpPr>
          <p:cNvPr id="30" name="bd_48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48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32" name="R4_chip48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00" dirty="0"/>
          </a:p>
        </p:txBody>
      </p:sp>
      <p:sp>
        <p:nvSpPr>
          <p:cNvPr id="33" name="bd_48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48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5" name="R5_chip48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00" dirty="0"/>
          </a:p>
        </p:txBody>
      </p:sp>
      <p:sp>
        <p:nvSpPr>
          <p:cNvPr id="36" name="bd_49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49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8" name="R6_chip49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9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4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4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0"/>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0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0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 sentence stress   ·   📖 SB p.21 · 3a, 3b, 3c · audio 2.18</a:t>
            </a:r>
            <a:endParaRPr lang="en-US" sz="800" dirty="0"/>
          </a:p>
        </p:txBody>
      </p:sp>
      <p:sp>
        <p:nvSpPr>
          <p:cNvPr id="15" name="ap_505"/>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6" name="ah_50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07"/>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08"/>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09"/>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510"/>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511"/>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12" descr="/home/claude/lls-course/v2/cache/2b1_learning_french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13"/>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14"/>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7" name="R1_sw515"/>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8" name="R1_sw516"/>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29" name="R1_sw517"/>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0" name="R2_sf51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31" name="bd_519"/>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520"/>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3" name="R3_sw521"/>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4" name="R3_sw522"/>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5" name="R3_sw523"/>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6" name="R4_sf524"/>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7" name="bd_525"/>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8" name="R5_sw526"/>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39" name="R5_sw527"/>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40" name="R5_sw528"/>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1" name="R6_sf529"/>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2" name="bd_530"/>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3" name="R7_sw531"/>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4" name="R7_sw532"/>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5" name="R8_sf533"/>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00"/>
                                        <p:tgtEl>
                                          <p:spTgt spid="38"/>
                                        </p:tgtEl>
                                      </p:cBhvr>
                                    </p:animEffect>
                                  </p:childTnLst>
                                </p:cTn>
                              </p:par>
                              <p:par>
                                <p:cTn id="46" presetID="10" presetClass="entr" presetSubtype="0" fill="hold" nodeType="with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00"/>
                                        <p:tgtEl>
                                          <p:spTgt spid="39"/>
                                        </p:tgtEl>
                                      </p:cBhvr>
                                    </p:animEffect>
                                  </p:childTnLst>
                                </p:cTn>
                              </p:par>
                              <p:par>
                                <p:cTn id="49" presetID="10" presetClass="entr" presetSubtype="0" fill="hold"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1"/>
                                        </p:tgtEl>
                                        <p:attrNameLst>
                                          <p:attrName>style.visibility</p:attrName>
                                        </p:attrNameLst>
                                      </p:cBhvr>
                                      <p:to>
                                        <p:strVal val="visible"/>
                                      </p:to>
                                    </p:set>
                                    <p:animEffect transition="in" filter="fade">
                                      <p:cBhvr>
                                        <p:cTn id="56" dur="400"/>
                                        <p:tgtEl>
                                          <p:spTgt spid="41"/>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5"/>
                                        </p:tgtEl>
                                        <p:attrNameLst>
                                          <p:attrName>style.visibility</p:attrName>
                                        </p:attrNameLst>
                                      </p:cBhvr>
                                      <p:to>
                                        <p:strVal val="visible"/>
                                      </p:to>
                                    </p:set>
                                    <p:animEffect transition="in" filter="fade">
                                      <p:cBhvr>
                                        <p:cTn id="6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7"/>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7"/>
                                        </p:tgtEl>
                                      </p:cBhvr>
                                    </p:cmd>
                                  </p:childTnLst>
                                </p:cTn>
                              </p:par>
                            </p:childTnLst>
                          </p:cTn>
                        </p:par>
                      </p:childTnLst>
                    </p:cTn>
                  </p:par>
                </p:childTnLst>
              </p:cTn>
              <p:nextCondLst>
                <p:cond evt="onClick" delay="0">
                  <p:tgtEl>
                    <p:spTgt spid="17"/>
                  </p:tgtEl>
                </p:cond>
              </p:nextCondLst>
            </p:seq>
            <p:seq concurrent="1" nextAc="seek">
              <p:cTn id="75" restart="whenNotActive" fill="hold" evtFilter="cancelBubble" nodeType="interactiveSeq">
                <p:stCondLst>
                  <p:cond evt="onClick" delay="0">
                    <p:tgtEl>
                      <p:spTgt spid="18"/>
                    </p:tgtEl>
                  </p:cond>
                </p:stCondLst>
                <p:endSync evt="end" delay="0">
                  <p:rtn val="all"/>
                </p:endSync>
                <p:childTnLst>
                  <p:par>
                    <p:cTn id="76" fill="hold">
                      <p:stCondLst>
                        <p:cond delay="0"/>
                      </p:stCondLst>
                      <p:childTnLst>
                        <p:par>
                          <p:cTn id="77" fill="hold">
                            <p:stCondLst>
                              <p:cond delay="0"/>
                            </p:stCondLst>
                            <p:childTnLst>
                              <p:par>
                                <p:cTn id="78" presetID="2" presetClass="mediacall" presetSubtype="0" fill="hold" nodeType="clickEffect">
                                  <p:stCondLst>
                                    <p:cond delay="0"/>
                                  </p:stCondLst>
                                  <p:childTnLst>
                                    <p:cmd type="call" cmd="togglePause">
                                      <p:cBhvr>
                                        <p:cTn id="79" dur="1" fill="hold"/>
                                        <p:tgtEl>
                                          <p:spTgt spid="18"/>
                                        </p:tgtEl>
                                      </p:cBhvr>
                                    </p:cmd>
                                  </p:childTnLst>
                                </p:cTn>
                              </p:par>
                            </p:childTnLst>
                          </p:cTn>
                        </p:par>
                      </p:childTnLst>
                    </p:cTn>
                  </p:par>
                </p:childTnLst>
              </p:cTn>
              <p:nextCondLst>
                <p:cond evt="onClick" delay="0">
                  <p:tgtEl>
                    <p:spTgt spid="18"/>
                  </p:tgtEl>
                </p:cond>
              </p:nextCondLst>
            </p:seq>
            <p:audio>
              <p:cMediaNode vol="80000">
                <p:cTn id="80" fill="hold" display="0">
                  <p:stCondLst>
                    <p:cond delay="indefinite"/>
                  </p:stCondLst>
                  <p:endCondLst>
                    <p:cond evt="onStopAudio" delay="0">
                      <p:tgtEl>
                        <p:sldTgt/>
                      </p:tgtEl>
                    </p:cond>
                  </p:endCondLst>
                </p:cTn>
                <p:tgtEl>
                  <p:spTgt spid="17"/>
                </p:tgtEl>
              </p:cMediaNode>
            </p:audio>
            <p:audio>
              <p:cMediaNode vol="80000">
                <p:cTn id="81"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400" dirty="0"/>
          </a:p>
        </p:txBody>
      </p:sp>
      <p:pic>
        <p:nvPicPr>
          <p:cNvPr id="6" name="brP_53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3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notizia. Chiedi How long…? veloce!</a:t>
            </a:r>
            <a:endParaRPr lang="en-US" sz="950" dirty="0"/>
          </a:p>
        </p:txBody>
      </p:sp>
      <p:sp>
        <p:nvSpPr>
          <p:cNvPr id="9" name="cmd_54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4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4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4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game · make questions   ·   📖 SB p.21 · 3d · audio 2.19</a:t>
            </a:r>
            <a:endParaRPr lang="en-US" sz="800" dirty="0"/>
          </a:p>
        </p:txBody>
      </p:sp>
      <p:sp>
        <p:nvSpPr>
          <p:cNvPr id="15" name="cd_54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4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49"/>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(or hear) the news.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ask How long…? – 10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question + rhythm = 1 point.</a:t>
            </a:r>
            <a:endParaRPr lang="en-US" sz="1150" dirty="0"/>
          </a:p>
        </p:txBody>
      </p:sp>
      <p:sp>
        <p:nvSpPr>
          <p:cNvPr id="19" name="pf_55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51" descr="/home/claude/lls-course/v2/cache/2b1_rai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5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5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snowing."</a:t>
            </a:r>
            <a:endParaRPr lang="en-US" sz="1100" dirty="0"/>
          </a:p>
        </p:txBody>
      </p:sp>
      <p:sp>
        <p:nvSpPr>
          <p:cNvPr id="23" name="R1_chip55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100" dirty="0"/>
          </a:p>
        </p:txBody>
      </p:sp>
      <p:sp>
        <p:nvSpPr>
          <p:cNvPr id="24" name="bd_55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learning Russian."</a:t>
            </a:r>
            <a:endParaRPr lang="en-US" sz="1100" dirty="0"/>
          </a:p>
        </p:txBody>
      </p:sp>
      <p:sp>
        <p:nvSpPr>
          <p:cNvPr id="26" name="R2_chip55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100" dirty="0"/>
          </a:p>
        </p:txBody>
      </p:sp>
      <p:sp>
        <p:nvSpPr>
          <p:cNvPr id="27" name="bd_55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"Susan is working in Italy."</a:t>
            </a:r>
            <a:endParaRPr lang="en-US" sz="1100" dirty="0"/>
          </a:p>
        </p:txBody>
      </p:sp>
      <p:sp>
        <p:nvSpPr>
          <p:cNvPr id="29" name="R3_chip56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100" dirty="0"/>
          </a:p>
        </p:txBody>
      </p:sp>
      <p:sp>
        <p:nvSpPr>
          <p:cNvPr id="30" name="bd_56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6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looking for a job."</a:t>
            </a:r>
            <a:endParaRPr lang="en-US" sz="1100" dirty="0"/>
          </a:p>
        </p:txBody>
      </p:sp>
      <p:sp>
        <p:nvSpPr>
          <p:cNvPr id="32" name="R4_chip56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100" dirty="0"/>
          </a:p>
        </p:txBody>
      </p:sp>
      <p:sp>
        <p:nvSpPr>
          <p:cNvPr id="33" name="bd_56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6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100" dirty="0"/>
          </a:p>
        </p:txBody>
      </p:sp>
      <p:sp>
        <p:nvSpPr>
          <p:cNvPr id="35" name="R5_chip56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100" dirty="0"/>
          </a:p>
        </p:txBody>
      </p:sp>
      <p:sp>
        <p:nvSpPr>
          <p:cNvPr id="36" name="bd_56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6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100" dirty="0"/>
          </a:p>
        </p:txBody>
      </p:sp>
      <p:sp>
        <p:nvSpPr>
          <p:cNvPr id="38" name="R6_chip56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7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74"/>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5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brevi. Il compagno chiede How long…?</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How long…?   ·   📖 SB p.21 · 4a, 4b</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spare_future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WWF a charity you support?</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How long have you been + -ing…?</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How long have you had / known…?</a:t>
            </a:r>
            <a:endParaRPr lang="en-US" sz="100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"Irina" → How long have you known Irina? – Since primary school.</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"volleyball" → How long have you been playing volleyball? – For three years.</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"TikTok" → How long have you been using TikTok? – Since 2022.</a:t>
            </a:r>
            <a:endParaRPr lang="en-US" sz="1250" dirty="0"/>
          </a:p>
        </p:txBody>
      </p:sp>
      <p:pic>
        <p:nvPicPr>
          <p:cNvPr id="26" name="R3_th593"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9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"Vespa" → How long have you had your Vespa? – For a year.</a:t>
            </a:r>
            <a:endParaRPr lang="en-US" sz="1250" dirty="0"/>
          </a:p>
        </p:txBody>
      </p:sp>
      <p:sp>
        <p:nvSpPr>
          <p:cNvPr id="29" name="R5_qb59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97"/>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"guitar" → How long have you been learning the guitar?</a:t>
            </a:r>
            <a:endParaRPr lang="en-US" sz="1250" dirty="0"/>
          </a:p>
        </p:txBody>
      </p:sp>
      <p:pic>
        <p:nvPicPr>
          <p:cNvPr id="31" name="R5_th598"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59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0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place where you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"Bagheria" → How long have you lived / been living there?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0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400" dirty="0"/>
          </a:p>
        </p:txBody>
      </p:sp>
      <p:pic>
        <p:nvPicPr>
          <p:cNvPr id="6" name="brP_60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0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6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RISULTATO. Squadra: Have you been…?</a:t>
            </a:r>
            <a:endParaRPr lang="en-US" sz="950" dirty="0"/>
          </a:p>
        </p:txBody>
      </p:sp>
      <p:sp>
        <p:nvSpPr>
          <p:cNvPr id="9" name="cmd_60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60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60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61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6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recent actions   ·   📖 Grammar Bank 2B · present perfect continuous for recent actions (audio 2.17)</a:t>
            </a:r>
            <a:endParaRPr lang="en-US" sz="800" dirty="0"/>
          </a:p>
        </p:txBody>
      </p:sp>
      <p:sp>
        <p:nvSpPr>
          <p:cNvPr id="15" name="cd_61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1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1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616"/>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The mimer looks at the screen. The team doesn't!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Mime how you look NOW. No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asks: Have you been…-ing?</a:t>
            </a:r>
            <a:endParaRPr lang="en-US" sz="1150" dirty="0"/>
          </a:p>
        </p:txBody>
      </p:sp>
      <p:sp>
        <p:nvSpPr>
          <p:cNvPr id="19" name="pf_61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18" descr="/home/claude/lls-course/v2/cache/2b1_out_of_breat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1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22" name="R1_w62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3" name="R2_w62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4" name="R3_w62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5" name="R4_w62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6" name="rl_62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7" name="R5_w62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8" name="R6_w62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9" name="R7_w62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30" name="R8_w62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3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Exit · what can you remember?</a:t>
            </a:r>
            <a:endParaRPr lang="en-US" sz="800" dirty="0"/>
          </a:p>
        </p:txBody>
      </p:sp>
      <p:sp>
        <p:nvSpPr>
          <p:cNvPr id="13" name="bd_63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Adelante Africa projects (no looking!)</a:t>
            </a:r>
            <a:endParaRPr lang="en-US" sz="1400" dirty="0"/>
          </a:p>
        </p:txBody>
      </p:sp>
      <p:sp>
        <p:nvSpPr>
          <p:cNvPr id="15" name="bd_64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long…? questions: one been + -ing, one known / had</a:t>
            </a:r>
            <a:endParaRPr lang="en-US" sz="1400" dirty="0"/>
          </a:p>
        </p:txBody>
      </p:sp>
      <p:sp>
        <p:nvSpPr>
          <p:cNvPr id="17" name="bd_64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about you with for or since</a:t>
            </a:r>
            <a:endParaRPr lang="en-US" sz="1400" dirty="0"/>
          </a:p>
        </p:txBody>
      </p:sp>
      <p:sp>
        <p:nvSpPr>
          <p:cNvPr id="19" name="cd_64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1a–1e, 2a</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2B: c 1–10</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p.116: an informal email</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2B-1 in the LLS app</a:t>
            </a:r>
            <a:endParaRPr lang="en-US" sz="1150" dirty="0"/>
          </a:p>
        </p:txBody>
      </p:sp>
      <p:sp>
        <p:nvSpPr>
          <p:cNvPr id="23" name="st_64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5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250" dirty="0"/>
          </a:p>
        </p:txBody>
      </p:sp>
      <p:pic>
        <p:nvPicPr>
          <p:cNvPr id="6" name="brP_65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5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6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le risposte della fotocopia.</a:t>
            </a:r>
            <a:endParaRPr lang="en-US" sz="950" dirty="0"/>
          </a:p>
        </p:txBody>
      </p:sp>
      <p:sp>
        <p:nvSpPr>
          <p:cNvPr id="9" name="cmd_65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65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alone</a:t>
            </a:r>
            <a:endParaRPr lang="en-US" sz="950" dirty="0"/>
          </a:p>
        </p:txBody>
      </p:sp>
      <p:sp>
        <p:nvSpPr>
          <p:cNvPr id="11" name="tag_65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Grammar PCM   ·   📖 📄 B1_2B_Photocopiables.pdf p.1 (TG p.152)</a:t>
            </a:r>
            <a:endParaRPr lang="en-US" sz="800" dirty="0"/>
          </a:p>
        </p:txBody>
      </p:sp>
      <p:sp>
        <p:nvSpPr>
          <p:cNvPr id="14" name="st_66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6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6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6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1 and b 1 = the examples on the sheet</a:t>
            </a:r>
            <a:endParaRPr lang="en-US" sz="1050" dirty="0"/>
          </a:p>
        </p:txBody>
      </p:sp>
      <p:sp>
        <p:nvSpPr>
          <p:cNvPr id="19" name="pf_66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7" descr="/home/claude/lls-course/v2/cache/2b1_pain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6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6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3" name="R1_chip67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900" dirty="0"/>
          </a:p>
        </p:txBody>
      </p:sp>
      <p:sp>
        <p:nvSpPr>
          <p:cNvPr id="24" name="bd_67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7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6" name="R2_chip67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1000" dirty="0"/>
          </a:p>
        </p:txBody>
      </p:sp>
      <p:sp>
        <p:nvSpPr>
          <p:cNvPr id="27" name="bd_67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7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9" name="R3_chip67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1000" dirty="0"/>
          </a:p>
        </p:txBody>
      </p:sp>
      <p:sp>
        <p:nvSpPr>
          <p:cNvPr id="30" name="bd_67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7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2" name="R4_chip67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800" dirty="0"/>
          </a:p>
        </p:txBody>
      </p:sp>
      <p:sp>
        <p:nvSpPr>
          <p:cNvPr id="33" name="bd_68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8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5" name="R5_chip68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1000" dirty="0"/>
          </a:p>
        </p:txBody>
      </p:sp>
      <p:sp>
        <p:nvSpPr>
          <p:cNvPr id="36" name="bd_68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68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8" name="R6_chip68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950" dirty="0"/>
          </a:p>
        </p:txBody>
      </p:sp>
      <p:sp>
        <p:nvSpPr>
          <p:cNvPr id="39" name="bd_68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68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41" name="R7_chip68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9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25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69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6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Alzati! Trova qualcuno che… Chiedi How long?</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6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find someone who…   ·   📖 Communicative PCM 2B 'How long have you been…?' (TG p.181) – adapted</a:t>
            </a:r>
            <a:endParaRPr lang="en-US" sz="800" dirty="0"/>
          </a:p>
        </p:txBody>
      </p:sp>
      <p:sp>
        <p:nvSpPr>
          <p:cNvPr id="14" name="st_70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0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02" descr="/home/claude/lls-course/v2/cache/2b1_old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0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0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0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0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Are you learning…?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you had…?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have you…?</a:t>
            </a:r>
            <a:endParaRPr lang="en-US" sz="1050" dirty="0"/>
          </a:p>
        </p:txBody>
      </p:sp>
      <p:sp>
        <p:nvSpPr>
          <p:cNvPr id="21" name="R1_qb70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0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Are you learning another language? – Yes, Spanish. – How long have you been learning it?</a:t>
            </a:r>
            <a:endParaRPr lang="en-US" sz="1050" dirty="0"/>
          </a:p>
        </p:txBody>
      </p:sp>
      <p:sp>
        <p:nvSpPr>
          <p:cNvPr id="23" name="R2_qb70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1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had your phone? – Since 2021!</a:t>
            </a:r>
            <a:endParaRPr lang="en-US" sz="1250" dirty="0"/>
          </a:p>
        </p:txBody>
      </p:sp>
      <p:sp>
        <p:nvSpPr>
          <p:cNvPr id="25" name="R3_qb71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1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known Giulia? – Since we were six.</a:t>
            </a:r>
            <a:endParaRPr lang="en-US" sz="1250" dirty="0"/>
          </a:p>
        </p:txBody>
      </p:sp>
      <p:sp>
        <p:nvSpPr>
          <p:cNvPr id="27" name="R4_qb71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1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 sport (5+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playing tennis? – For six years.</a:t>
            </a:r>
            <a:endParaRPr lang="en-US" sz="1250" dirty="0"/>
          </a:p>
        </p:txBody>
      </p:sp>
      <p:sp>
        <p:nvSpPr>
          <p:cNvPr id="29" name="R5_qb71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1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lived here? – Since I was born.</a:t>
            </a:r>
            <a:endParaRPr lang="en-US" sz="1250" dirty="0"/>
          </a:p>
        </p:txBody>
      </p:sp>
      <p:sp>
        <p:nvSpPr>
          <p:cNvPr id="31" name="R6_qb71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1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reading it? – For a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2026-10-11T16:13:01Z</dcterms:created>
  <dcterms:modified xsi:type="dcterms:W3CDTF">2026-10-11T16:13:01Z</dcterms:modified>
</cp:coreProperties>
</file>