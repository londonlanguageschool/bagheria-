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(2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(3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(2 min – take 3 of the 4 questions if time is short).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it comes straight after the rule and the for / since game, so the meaning is clear; now students HEAR How long…? + for / since 15–20 times before they have to produce it in 'Make the sentence', the stress work and 'Guess my square!'. It recycles the present perfect continuous (has been waiting, 's been smiling), the simple with non-action verbs (have known, has had) and for / since. Click once per line. For each line: 1) say it, 2) ask the questions in grey round the class (yes/no → either/or → who/what/how long), 3) let the CLASS change details: 'Is Marco waiting for a bus? No? What is he waiting for?' – accept their idea and use it in later lines (change Giulia's Vespa if they invent something funnier). Students answer with one word or a short phrase ('Since seven!' 'For two hours!') – that's fine. Push for 'since + a point / for + a period' in the answers. Finish: 'What happens next?' – one or two ideas, then move on. If the class is quiet, make it personal: 'Sara, how long have you been learning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How long…? (6 min)
SPEAKING (5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the true story of a charity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talk about helping other people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ask How long…? with for and since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say How long…? questions with the right stress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2a2_scam_email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2A: money experiences and scams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present perfect or past simple?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 scam</a:t>
            </a:r>
            <a:endParaRPr lang="en-US" sz="1200" dirty="0"/>
          </a:p>
        </p:txBody>
      </p:sp>
      <p:sp>
        <p:nvSpPr>
          <p:cNvPr id="20" name="w_34"/>
          <p:cNvSpPr/>
          <p:nvPr/>
        </p:nvSpPr>
        <p:spPr>
          <a:xfrm>
            <a:off x="4270248" y="1783080"/>
            <a:ext cx="119329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 scammer</a:t>
            </a:r>
            <a:endParaRPr lang="en-US" sz="1200" dirty="0"/>
          </a:p>
        </p:txBody>
      </p:sp>
      <p:sp>
        <p:nvSpPr>
          <p:cNvPr id="21" name="w_35"/>
          <p:cNvSpPr/>
          <p:nvPr/>
        </p:nvSpPr>
        <p:spPr>
          <a:xfrm>
            <a:off x="5554980" y="1783080"/>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 victim</a:t>
            </a:r>
            <a:endParaRPr lang="en-US" sz="1200" dirty="0"/>
          </a:p>
        </p:txBody>
      </p:sp>
      <p:sp>
        <p:nvSpPr>
          <p:cNvPr id="22" name="w_36"/>
          <p:cNvSpPr/>
          <p:nvPr/>
        </p:nvSpPr>
        <p:spPr>
          <a:xfrm>
            <a:off x="6752844" y="1783080"/>
            <a:ext cx="1280160"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suspicious</a:t>
            </a:r>
            <a:endParaRPr lang="en-US" sz="1200" dirty="0"/>
          </a:p>
        </p:txBody>
      </p:sp>
      <p:sp>
        <p:nvSpPr>
          <p:cNvPr id="23" name="w_37"/>
          <p:cNvSpPr/>
          <p:nvPr/>
        </p:nvSpPr>
        <p:spPr>
          <a:xfrm>
            <a:off x="3246120" y="2185416"/>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hang up</a:t>
            </a:r>
            <a:endParaRPr lang="en-US" sz="1200" dirty="0"/>
          </a:p>
        </p:txBody>
      </p:sp>
      <p:sp>
        <p:nvSpPr>
          <p:cNvPr id="24" name="w_38"/>
          <p:cNvSpPr/>
          <p:nvPr/>
        </p:nvSpPr>
        <p:spPr>
          <a:xfrm>
            <a:off x="4357116" y="2185416"/>
            <a:ext cx="1453896"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bank details</a:t>
            </a:r>
            <a:endParaRPr lang="en-US" sz="1200" dirty="0"/>
          </a:p>
        </p:txBody>
      </p:sp>
      <p:sp>
        <p:nvSpPr>
          <p:cNvPr id="25" name="w_39"/>
          <p:cNvSpPr/>
          <p:nvPr/>
        </p:nvSpPr>
        <p:spPr>
          <a:xfrm>
            <a:off x="5902452" y="2185416"/>
            <a:ext cx="180136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 – gone</a:t>
            </a:r>
            <a:endParaRPr lang="en-US" sz="1200" dirty="0"/>
          </a:p>
        </p:txBody>
      </p:sp>
      <p:sp>
        <p:nvSpPr>
          <p:cNvPr id="26" name="lv_40"/>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7" name="lv_41"/>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8" name="lv_42"/>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9" name="cd_43"/>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0" name="rh_44"/>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100" dirty="0"/>
          </a:p>
        </p:txBody>
      </p:sp>
      <p:sp>
        <p:nvSpPr>
          <p:cNvPr id="31" name="rf_45"/>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ever · a never · a just · an already · a yet</a:t>
            </a:r>
            <a:endParaRPr lang="en-US" sz="850" dirty="0"/>
          </a:p>
        </p:txBody>
      </p:sp>
      <p:sp>
        <p:nvSpPr>
          <p:cNvPr id="32" name="R1_rl46"/>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I've just paid the bill.</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00" dirty="0"/>
          </a:p>
        </p:txBody>
      </p:sp>
      <p:sp>
        <p:nvSpPr>
          <p:cNvPr id="33" name="cd_47"/>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4" name="rh_48"/>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100" dirty="0"/>
          </a:p>
        </p:txBody>
      </p:sp>
      <p:sp>
        <p:nvSpPr>
          <p:cNvPr id="35" name="rf_49"/>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yesterday · a last week · an in 2020 · an ago</a:t>
            </a:r>
            <a:endParaRPr lang="en-US" sz="850" dirty="0"/>
          </a:p>
        </p:txBody>
      </p:sp>
      <p:sp>
        <p:nvSpPr>
          <p:cNvPr id="36" name="R2_rl50"/>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He lost €2,000 last year.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note_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150" dirty="0"/>
          </a:p>
        </p:txBody>
      </p:sp>
      <p:pic>
        <p:nvPicPr>
          <p:cNvPr id="10"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Warmer · last lesson   ·   📖 Recycles 2A part 2: present perfect or past simple, scams (audio 2.12, the scam email)</a:t>
            </a:r>
            <a:endParaRPr lang="en-US" sz="800" dirty="0"/>
          </a:p>
        </p:txBody>
      </p:sp>
      <p:sp>
        <p:nvSpPr>
          <p:cNvPr id="12" name="cd_60"/>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3"/>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four words.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le quattro parole.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Odd one out + the reason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Intruso + il motivo = 1 punto.</a:t>
            </a:r>
            <a:endParaRPr lang="en-US" sz="1200" dirty="0"/>
          </a:p>
        </p:txBody>
      </p:sp>
      <p:sp>
        <p:nvSpPr>
          <p:cNvPr id="16" name="pf_64"/>
          <p:cNvSpPr/>
          <p:nvPr/>
        </p:nvSpPr>
        <p:spPr>
          <a:xfrm rot="-120000">
            <a:off x="1086324" y="3590544"/>
            <a:ext cx="1119191" cy="1143000"/>
          </a:xfrm>
          <a:prstGeom prst="roundRect">
            <a:avLst>
              <a:gd name="adj" fmla="val 138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5" descr="/home/claude/lls-course/v2/cache/spare_future_technology_jpg_247x253_31.png">    </p:cNvPr>
          <p:cNvPicPr>
            <a:picLocks noChangeAspect="1"/>
          </p:cNvPicPr>
          <p:nvPr/>
        </p:nvPicPr>
        <p:blipFill>
          <a:blip r:embed="rId5"/>
          <a:stretch>
            <a:fillRect/>
          </a:stretch>
        </p:blipFill>
        <p:spPr>
          <a:xfrm rot="-120000">
            <a:off x="1132044" y="3636264"/>
            <a:ext cx="1027751" cy="1051560"/>
          </a:xfrm>
          <a:prstGeom prst="rect">
            <a:avLst/>
          </a:prstGeom>
        </p:spPr>
      </p:pic>
      <p:sp>
        <p:nvSpPr>
          <p:cNvPr id="18" name="bd_6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900" dirty="0"/>
          </a:p>
        </p:txBody>
      </p:sp>
      <p:sp>
        <p:nvSpPr>
          <p:cNvPr id="20" name="chip_6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50" dirty="0"/>
          </a:p>
        </p:txBody>
      </p:sp>
      <p:sp>
        <p:nvSpPr>
          <p:cNvPr id="21" name="bd_6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900" dirty="0"/>
          </a:p>
        </p:txBody>
      </p:sp>
      <p:sp>
        <p:nvSpPr>
          <p:cNvPr id="23" name="R1_chip7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50" dirty="0"/>
          </a:p>
        </p:txBody>
      </p:sp>
      <p:sp>
        <p:nvSpPr>
          <p:cNvPr id="24" name="bd_7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won · lost · went · forgotten</a:t>
            </a:r>
            <a:endParaRPr lang="en-US" sz="900" dirty="0"/>
          </a:p>
        </p:txBody>
      </p:sp>
      <p:sp>
        <p:nvSpPr>
          <p:cNvPr id="26" name="R2_chip7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50" dirty="0"/>
          </a:p>
        </p:txBody>
      </p:sp>
      <p:sp>
        <p:nvSpPr>
          <p:cNvPr id="27" name="bd_7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Heather · Carl · Paul · Naomi</a:t>
            </a:r>
            <a:endParaRPr lang="en-US" sz="900" dirty="0"/>
          </a:p>
        </p:txBody>
      </p:sp>
      <p:sp>
        <p:nvSpPr>
          <p:cNvPr id="29" name="R3_chip7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50" dirty="0"/>
          </a:p>
        </p:txBody>
      </p:sp>
      <p:sp>
        <p:nvSpPr>
          <p:cNvPr id="30" name="bd_7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900" dirty="0"/>
          </a:p>
        </p:txBody>
      </p:sp>
      <p:sp>
        <p:nvSpPr>
          <p:cNvPr id="32" name="R4_chip8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50" dirty="0"/>
          </a:p>
        </p:txBody>
      </p:sp>
      <p:sp>
        <p:nvSpPr>
          <p:cNvPr id="33" name="bd_8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900" dirty="0"/>
          </a:p>
        </p:txBody>
      </p:sp>
      <p:sp>
        <p:nvSpPr>
          <p:cNvPr id="35" name="R5_chip8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note_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250" dirty="0"/>
          </a:p>
        </p:txBody>
      </p:sp>
      <p:pic>
        <p:nvPicPr>
          <p:cNvPr id="10"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key words first   ·   📖 SB pp.20–21 · glossary + TG pre-teaching (charity, orphan, lorry, take shelter)</a:t>
            </a:r>
            <a:endParaRPr lang="en-US" sz="800" dirty="0"/>
          </a:p>
        </p:txBody>
      </p:sp>
      <p:sp>
        <p:nvSpPr>
          <p:cNvPr id="12" name="cd_93"/>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96"/>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 orphan → a child without a mother or father · un orfano / un'orfana</a:t>
            </a:r>
            <a:endParaRPr lang="en-US" sz="1050" dirty="0"/>
          </a:p>
        </p:txBody>
      </p:sp>
      <p:sp>
        <p:nvSpPr>
          <p:cNvPr id="16" name="pf_97"/>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8" descr="/home/claude/lls-course/v2/cache/2b1_schoolchildren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8" name="bd_99"/>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00"/>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0" name="R1_chip101"/>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950" dirty="0"/>
          </a:p>
        </p:txBody>
      </p:sp>
      <p:sp>
        <p:nvSpPr>
          <p:cNvPr id="21" name="bd_102"/>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03"/>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3" name="R2_chip104"/>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big truck · un camion</a:t>
            </a:r>
            <a:endParaRPr lang="en-US" sz="950" dirty="0"/>
          </a:p>
        </p:txBody>
      </p:sp>
      <p:sp>
        <p:nvSpPr>
          <p:cNvPr id="24" name="bd_105"/>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06"/>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6" name="R3_chip107"/>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950" dirty="0"/>
          </a:p>
        </p:txBody>
      </p:sp>
      <p:sp>
        <p:nvSpPr>
          <p:cNvPr id="27" name="bd_108"/>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09"/>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29" name="R4_chip110"/>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950" dirty="0"/>
          </a:p>
        </p:txBody>
      </p:sp>
      <p:sp>
        <p:nvSpPr>
          <p:cNvPr id="30" name="bd_111"/>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2"/>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2" name="R5_chip113"/>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950" dirty="0"/>
          </a:p>
        </p:txBody>
      </p:sp>
      <p:sp>
        <p:nvSpPr>
          <p:cNvPr id="33" name="bd_114"/>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15"/>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5" name="R6_chip116"/>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950" dirty="0"/>
          </a:p>
        </p:txBody>
      </p:sp>
      <p:sp>
        <p:nvSpPr>
          <p:cNvPr id="36" name="bd_117"/>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18"/>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38" name="R7_chip119"/>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950" dirty="0"/>
          </a:p>
        </p:txBody>
      </p:sp>
      <p:sp>
        <p:nvSpPr>
          <p:cNvPr id="39" name="bd_120"/>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21"/>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1" name="R8_chip122"/>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di cosa parlano i numeri?</a:t>
            </a:r>
            <a:endParaRPr lang="en-US" sz="950" dirty="0"/>
          </a:p>
        </p:txBody>
      </p:sp>
      <p:sp>
        <p:nvSpPr>
          <p:cNvPr id="9" name="note_12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Prediction</a:t>
            </a:r>
            <a:endParaRPr lang="en-US" sz="1150" dirty="0"/>
          </a:p>
        </p:txBody>
      </p:sp>
      <p:pic>
        <p:nvPicPr>
          <p:cNvPr id="10"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prediction   ·   📖 SB p.20 · 1 · numbers from audio 2.13 and 2.14</a:t>
            </a:r>
            <a:endParaRPr lang="en-US" sz="800" dirty="0"/>
          </a:p>
        </p:txBody>
      </p:sp>
      <p:sp>
        <p:nvSpPr>
          <p:cNvPr id="12" name="cd_132"/>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13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4" name="sf_134"/>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5" name="nbl_13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6" name="bd_136"/>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17" name="bd_137"/>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18" name="bd_138"/>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19" name="bd_139"/>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0" name="bd_140"/>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1" name="bd_141"/>
          <p:cNvSpPr/>
          <p:nvPr/>
        </p:nvSpPr>
        <p:spPr>
          <a:xfrm>
            <a:off x="3474720"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2" name="pf_142"/>
          <p:cNvSpPr/>
          <p:nvPr/>
        </p:nvSpPr>
        <p:spPr>
          <a:xfrm rot="90000">
            <a:off x="5577840" y="1829211"/>
            <a:ext cx="3246120" cy="2193738"/>
          </a:xfrm>
          <a:prstGeom prst="roundRect">
            <a:avLst>
              <a:gd name="adj" fmla="val 708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43" descr="/home/claude/lls-course/v2/cache/2b1_gorillas_jpg_759x506_31.png">    </p:cNvPr>
          <p:cNvPicPr>
            <a:picLocks noChangeAspect="1"/>
          </p:cNvPicPr>
          <p:nvPr/>
        </p:nvPicPr>
        <p:blipFill>
          <a:blip r:embed="rId5"/>
          <a:stretch>
            <a:fillRect/>
          </a:stretch>
        </p:blipFill>
        <p:spPr>
          <a:xfrm rot="90000">
            <a:off x="5623560" y="1874931"/>
            <a:ext cx="3154680" cy="2102298"/>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4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1. Rispondi alle domande.</a:t>
            </a:r>
            <a:endParaRPr lang="en-US" sz="950" dirty="0"/>
          </a:p>
        </p:txBody>
      </p:sp>
      <p:sp>
        <p:nvSpPr>
          <p:cNvPr id="9" name="note_1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the story   ·   📖 SB p.20 · 1a · audio 2.13</a:t>
            </a:r>
            <a:endParaRPr lang="en-US" sz="800" dirty="0"/>
          </a:p>
        </p:txBody>
      </p:sp>
      <p:sp>
        <p:nvSpPr>
          <p:cNvPr id="12" name="ap_153"/>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3" name="ah_15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5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5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5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58" descr="/home/claude/lls-course/v2/cache/2b1_cov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159"/>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16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1" descr="/home/claude/lls-course/v2/cache/2b1_gorillas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162"/>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163"/>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64" descr="/home/claude/lls-course/v2/cache/2b1_schoolchildren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165"/>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166"/>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16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169"/>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Look at A–C. Tell the story in 3 sentences!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Guarda A–C. Racconta la storia in 3 frasi!</a:t>
            </a:r>
            <a:endParaRPr lang="en-US" sz="1100" dirty="0"/>
          </a:p>
        </p:txBody>
      </p:sp>
      <p:sp>
        <p:nvSpPr>
          <p:cNvPr id="31" name="lq_170"/>
          <p:cNvSpPr/>
          <p:nvPr/>
        </p:nvSpPr>
        <p:spPr>
          <a:xfrm>
            <a:off x="6035040" y="2103120"/>
            <a:ext cx="1234440" cy="438912"/>
          </a:xfrm>
          <a:prstGeom prst="roundRect">
            <a:avLst>
              <a:gd name="adj" fmla="val 20833"/>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2" name="R1_chip171"/>
          <p:cNvSpPr/>
          <p:nvPr/>
        </p:nvSpPr>
        <p:spPr>
          <a:xfrm>
            <a:off x="7315200" y="2103120"/>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3" name="lq_172"/>
          <p:cNvSpPr/>
          <p:nvPr/>
        </p:nvSpPr>
        <p:spPr>
          <a:xfrm>
            <a:off x="6035040" y="2633472"/>
            <a:ext cx="1234440" cy="438912"/>
          </a:xfrm>
          <a:prstGeom prst="roundRect">
            <a:avLst>
              <a:gd name="adj" fmla="val 20833"/>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4" name="R2_chip173"/>
          <p:cNvSpPr/>
          <p:nvPr/>
        </p:nvSpPr>
        <p:spPr>
          <a:xfrm>
            <a:off x="7315200" y="2633472"/>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5" name="lq_174"/>
          <p:cNvSpPr/>
          <p:nvPr/>
        </p:nvSpPr>
        <p:spPr>
          <a:xfrm>
            <a:off x="6035040" y="3163824"/>
            <a:ext cx="1234440" cy="438912"/>
          </a:xfrm>
          <a:prstGeom prst="roundRect">
            <a:avLst>
              <a:gd name="adj" fmla="val 20833"/>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6" name="R3_chip175"/>
          <p:cNvSpPr/>
          <p:nvPr/>
        </p:nvSpPr>
        <p:spPr>
          <a:xfrm>
            <a:off x="7315200" y="3163824"/>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7" name="lq_176"/>
          <p:cNvSpPr/>
          <p:nvPr/>
        </p:nvSpPr>
        <p:spPr>
          <a:xfrm>
            <a:off x="6035040" y="3694176"/>
            <a:ext cx="1234440" cy="438912"/>
          </a:xfrm>
          <a:prstGeom prst="roundRect">
            <a:avLst>
              <a:gd name="adj" fmla="val 20833"/>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38" name="R4_chip177"/>
          <p:cNvSpPr/>
          <p:nvPr/>
        </p:nvSpPr>
        <p:spPr>
          <a:xfrm>
            <a:off x="7315200" y="3694176"/>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39" name="lq_178"/>
          <p:cNvSpPr/>
          <p:nvPr/>
        </p:nvSpPr>
        <p:spPr>
          <a:xfrm>
            <a:off x="6035040" y="4224528"/>
            <a:ext cx="1234440" cy="438912"/>
          </a:xfrm>
          <a:prstGeom prst="roundRect">
            <a:avLst>
              <a:gd name="adj" fmla="val 20833"/>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40" name="R5_chip179"/>
          <p:cNvSpPr/>
          <p:nvPr/>
        </p:nvSpPr>
        <p:spPr>
          <a:xfrm>
            <a:off x="7315200" y="4224528"/>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8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riascolta.</a:t>
            </a:r>
            <a:endParaRPr lang="en-US" sz="950" dirty="0"/>
          </a:p>
        </p:txBody>
      </p:sp>
      <p:sp>
        <p:nvSpPr>
          <p:cNvPr id="9" name="note_1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detail   ·   📖 SB p.20 · 1a questions 5–8 · audio 2.13</a:t>
            </a:r>
            <a:endParaRPr lang="en-US" sz="800" dirty="0"/>
          </a:p>
        </p:txBody>
      </p:sp>
      <p:sp>
        <p:nvSpPr>
          <p:cNvPr id="12" name="ap_18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3" name="ah_19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9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9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93" descr="/home/claude/lls-course/v2/cache/2b1_schoolchildr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194"/>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9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9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9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3" name="R1_chip19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4" name="gq_19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5" name="R2_chip20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26" name="gq_20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27" name="R3_chip20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28" name="gq_20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29" name="R4_chip20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0" name="gq_20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1" name="R5_chip20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2" name="gq_207"/>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3" name="R6_chip208"/>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1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4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2. Numera i progetti.</a:t>
            </a:r>
            <a:endParaRPr lang="en-US" sz="950" dirty="0"/>
          </a:p>
        </p:txBody>
      </p:sp>
      <p:sp>
        <p:nvSpPr>
          <p:cNvPr id="9" name="note_2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the interview · gist   ·   📖 SB p.20 · 1b · audio 2.14</a:t>
            </a:r>
            <a:endParaRPr lang="en-US" sz="800" dirty="0"/>
          </a:p>
        </p:txBody>
      </p:sp>
      <p:sp>
        <p:nvSpPr>
          <p:cNvPr id="12" name="ap_218"/>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3" name="ah_21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2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22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22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23" descr="/home/claude/lls-course/v2/cache/2b1_volunte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224"/>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22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26" descr="/home/claude/lls-course/v2/cache/2b1_veg_garden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227"/>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228"/>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29" descr="/home/claude/lls-course/v2/cache/2b1_building_school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230"/>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231"/>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23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3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234"/>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six projects on the right.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Leggi i sei progetti a destra.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them 1–6 in order.</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Numerali 1–6 in ordine.</a:t>
            </a:r>
            <a:endParaRPr lang="en-US" sz="700" dirty="0"/>
          </a:p>
        </p:txBody>
      </p:sp>
      <p:sp>
        <p:nvSpPr>
          <p:cNvPr id="31" name="lq_235"/>
          <p:cNvSpPr/>
          <p:nvPr/>
        </p:nvSpPr>
        <p:spPr>
          <a:xfrm>
            <a:off x="6035040" y="210312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2" name="R1_chip236"/>
          <p:cNvSpPr/>
          <p:nvPr/>
        </p:nvSpPr>
        <p:spPr>
          <a:xfrm>
            <a:off x="7315200" y="21031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3" name="lq_237"/>
          <p:cNvSpPr/>
          <p:nvPr/>
        </p:nvSpPr>
        <p:spPr>
          <a:xfrm>
            <a:off x="6035040" y="254508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children's home</a:t>
            </a:r>
            <a:endParaRPr lang="en-US" sz="1000" dirty="0"/>
          </a:p>
        </p:txBody>
      </p:sp>
      <p:sp>
        <p:nvSpPr>
          <p:cNvPr id="34" name="R2_chip238"/>
          <p:cNvSpPr/>
          <p:nvPr/>
        </p:nvSpPr>
        <p:spPr>
          <a:xfrm>
            <a:off x="7315200" y="254508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5" name="lq_239"/>
          <p:cNvSpPr/>
          <p:nvPr/>
        </p:nvSpPr>
        <p:spPr>
          <a:xfrm>
            <a:off x="6035040" y="2987040"/>
            <a:ext cx="1234440" cy="350520"/>
          </a:xfrm>
          <a:prstGeom prst="roundRect">
            <a:avLst>
              <a:gd name="adj" fmla="val 26087"/>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secondary school</a:t>
            </a:r>
            <a:endParaRPr lang="en-US" sz="1000" dirty="0"/>
          </a:p>
        </p:txBody>
      </p:sp>
      <p:sp>
        <p:nvSpPr>
          <p:cNvPr id="36" name="R3_chip240"/>
          <p:cNvSpPr/>
          <p:nvPr/>
        </p:nvSpPr>
        <p:spPr>
          <a:xfrm>
            <a:off x="7315200" y="298704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7" name="lq_241"/>
          <p:cNvSpPr/>
          <p:nvPr/>
        </p:nvSpPr>
        <p:spPr>
          <a:xfrm>
            <a:off x="6035040" y="3429000"/>
            <a:ext cx="1234440" cy="350520"/>
          </a:xfrm>
          <a:prstGeom prst="roundRect">
            <a:avLst>
              <a:gd name="adj" fmla="val 26087"/>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vegetable seeds</a:t>
            </a:r>
            <a:endParaRPr lang="en-US" sz="1000" dirty="0"/>
          </a:p>
        </p:txBody>
      </p:sp>
      <p:sp>
        <p:nvSpPr>
          <p:cNvPr id="38" name="R4_chip242"/>
          <p:cNvSpPr/>
          <p:nvPr/>
        </p:nvSpPr>
        <p:spPr>
          <a:xfrm>
            <a:off x="7315200" y="342900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39" name="lq_243"/>
          <p:cNvSpPr/>
          <p:nvPr/>
        </p:nvSpPr>
        <p:spPr>
          <a:xfrm>
            <a:off x="6035040" y="387096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classes for adults</a:t>
            </a:r>
            <a:endParaRPr lang="en-US" sz="1000" dirty="0"/>
          </a:p>
        </p:txBody>
      </p:sp>
      <p:sp>
        <p:nvSpPr>
          <p:cNvPr id="40" name="R5_chip244"/>
          <p:cNvSpPr/>
          <p:nvPr/>
        </p:nvSpPr>
        <p:spPr>
          <a:xfrm>
            <a:off x="7315200" y="387096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1" name="lq_245"/>
          <p:cNvSpPr/>
          <p:nvPr/>
        </p:nvSpPr>
        <p:spPr>
          <a:xfrm>
            <a:off x="6035040" y="431292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sunflower oil factory</a:t>
            </a:r>
            <a:endParaRPr lang="en-US" sz="1000" dirty="0"/>
          </a:p>
        </p:txBody>
      </p:sp>
      <p:sp>
        <p:nvSpPr>
          <p:cNvPr id="42" name="R6_chip246"/>
          <p:cNvSpPr/>
          <p:nvPr/>
        </p:nvSpPr>
        <p:spPr>
          <a:xfrm>
            <a:off x="7315200" y="43129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4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Ogni frase è sbagliata. Correggila!</a:t>
            </a:r>
            <a:endParaRPr lang="en-US" sz="950" dirty="0"/>
          </a:p>
        </p:txBody>
      </p:sp>
      <p:sp>
        <p:nvSpPr>
          <p:cNvPr id="9" name="note_25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detail   ·   📖 SB p.20 · 1c · audio 2.14 (sentences shortened)</a:t>
            </a:r>
            <a:endParaRPr lang="en-US" sz="800" dirty="0"/>
          </a:p>
        </p:txBody>
      </p:sp>
      <p:sp>
        <p:nvSpPr>
          <p:cNvPr id="12" name="ap_25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3" name="ah_25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5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5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60" descr="/home/claude/lls-course/v2/cache/2b1_veg_gard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26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6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6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64"/>
          <p:cNvSpPr/>
          <p:nvPr/>
        </p:nvSpPr>
        <p:spPr>
          <a:xfrm>
            <a:off x="3383280" y="1417320"/>
            <a:ext cx="3337560" cy="301752"/>
          </a:xfrm>
          <a:prstGeom prst="roundRect">
            <a:avLst>
              <a:gd name="adj" fmla="val 3030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3" name="R1_chip265"/>
          <p:cNvSpPr/>
          <p:nvPr/>
        </p:nvSpPr>
        <p:spPr>
          <a:xfrm>
            <a:off x="6812280" y="141732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4" name="gq_266"/>
          <p:cNvSpPr/>
          <p:nvPr/>
        </p:nvSpPr>
        <p:spPr>
          <a:xfrm>
            <a:off x="3383280" y="1783080"/>
            <a:ext cx="3337560" cy="301752"/>
          </a:xfrm>
          <a:prstGeom prst="roundRect">
            <a:avLst>
              <a:gd name="adj" fmla="val 30303"/>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5" name="R2_chip267"/>
          <p:cNvSpPr/>
          <p:nvPr/>
        </p:nvSpPr>
        <p:spPr>
          <a:xfrm>
            <a:off x="6812280" y="178308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26" name="gq_268"/>
          <p:cNvSpPr/>
          <p:nvPr/>
        </p:nvSpPr>
        <p:spPr>
          <a:xfrm>
            <a:off x="3383280" y="2148840"/>
            <a:ext cx="3337560" cy="301752"/>
          </a:xfrm>
          <a:prstGeom prst="roundRect">
            <a:avLst>
              <a:gd name="adj" fmla="val 30303"/>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27" name="R3_chip269"/>
          <p:cNvSpPr/>
          <p:nvPr/>
        </p:nvSpPr>
        <p:spPr>
          <a:xfrm>
            <a:off x="6812280" y="214884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28" name="gq_270"/>
          <p:cNvSpPr/>
          <p:nvPr/>
        </p:nvSpPr>
        <p:spPr>
          <a:xfrm>
            <a:off x="3383280" y="2514600"/>
            <a:ext cx="3337560" cy="301752"/>
          </a:xfrm>
          <a:prstGeom prst="roundRect">
            <a:avLst>
              <a:gd name="adj" fmla="val 30303"/>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29" name="R4_chip271"/>
          <p:cNvSpPr/>
          <p:nvPr/>
        </p:nvSpPr>
        <p:spPr>
          <a:xfrm>
            <a:off x="6812280" y="251460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0" name="gq_272"/>
          <p:cNvSpPr/>
          <p:nvPr/>
        </p:nvSpPr>
        <p:spPr>
          <a:xfrm>
            <a:off x="3383280" y="2880360"/>
            <a:ext cx="3337560" cy="301752"/>
          </a:xfrm>
          <a:prstGeom prst="roundRect">
            <a:avLst>
              <a:gd name="adj" fmla="val 3030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1" name="R5_chip273"/>
          <p:cNvSpPr/>
          <p:nvPr/>
        </p:nvSpPr>
        <p:spPr>
          <a:xfrm>
            <a:off x="6812280" y="288036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2" name="gq_274"/>
          <p:cNvSpPr/>
          <p:nvPr/>
        </p:nvSpPr>
        <p:spPr>
          <a:xfrm>
            <a:off x="3383280" y="3246120"/>
            <a:ext cx="3337560" cy="301752"/>
          </a:xfrm>
          <a:prstGeom prst="roundRect">
            <a:avLst>
              <a:gd name="adj" fmla="val 30303"/>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3" name="R6_chip275"/>
          <p:cNvSpPr/>
          <p:nvPr/>
        </p:nvSpPr>
        <p:spPr>
          <a:xfrm>
            <a:off x="6812280" y="324612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4" name="gq_276"/>
          <p:cNvSpPr/>
          <p:nvPr/>
        </p:nvSpPr>
        <p:spPr>
          <a:xfrm>
            <a:off x="3383280" y="3611880"/>
            <a:ext cx="3337560" cy="301752"/>
          </a:xfrm>
          <a:prstGeom prst="roundRect">
            <a:avLst>
              <a:gd name="adj" fmla="val 30303"/>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5" name="R7_chip277"/>
          <p:cNvSpPr/>
          <p:nvPr/>
        </p:nvSpPr>
        <p:spPr>
          <a:xfrm>
            <a:off x="6812280" y="361188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36" name="gq_278"/>
          <p:cNvSpPr/>
          <p:nvPr/>
        </p:nvSpPr>
        <p:spPr>
          <a:xfrm>
            <a:off x="3383280" y="3977640"/>
            <a:ext cx="3337560" cy="301752"/>
          </a:xfrm>
          <a:prstGeom prst="roundRect">
            <a:avLst>
              <a:gd name="adj" fmla="val 30303"/>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37" name="R8_chip279"/>
          <p:cNvSpPr/>
          <p:nvPr/>
        </p:nvSpPr>
        <p:spPr>
          <a:xfrm>
            <a:off x="6812280" y="397764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38" name="gq_280"/>
          <p:cNvSpPr/>
          <p:nvPr/>
        </p:nvSpPr>
        <p:spPr>
          <a:xfrm>
            <a:off x="3383280" y="4343400"/>
            <a:ext cx="3337560" cy="301752"/>
          </a:xfrm>
          <a:prstGeom prst="roundRect">
            <a:avLst>
              <a:gd name="adj" fmla="val 3030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39" name="R9_chip281"/>
          <p:cNvSpPr/>
          <p:nvPr/>
        </p:nvSpPr>
        <p:spPr>
          <a:xfrm>
            <a:off x="6812280" y="4343400"/>
            <a:ext cx="2057400" cy="301752"/>
          </a:xfrm>
          <a:prstGeom prst="roundRect">
            <a:avLst>
              <a:gd name="adj" fmla="val 3030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4"/>
                                        </p:tgtEl>
                                      </p:cBhvr>
                                    </p:cmd>
                                  </p:childTnLst>
                                </p:cTn>
                              </p:par>
                            </p:childTnLst>
                          </p:cTn>
                        </p:par>
                      </p:childTnLst>
                    </p:cTn>
                  </p:par>
                </p:childTnLst>
              </p:cTn>
              <p:nextCondLst>
                <p:cond evt="onClick" delay="0">
                  <p:tgtEl>
                    <p:spTgt spid="14"/>
                  </p:tgtEl>
                </p:cond>
              </p:nextCondLst>
            </p:seq>
            <p:seq concurrent="1" nextAc="seek">
              <p:cTn id="53" restart="whenNotActive" fill="hold" evtFilter="cancelBubble" nodeType="interactiveSeq">
                <p:stCondLst>
                  <p:cond evt="onClick" delay="0">
                    <p:tgtEl>
                      <p:spTgt spid="16"/>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6"/>
                                        </p:tgtEl>
                                      </p:cBhvr>
                                    </p:cmd>
                                  </p:childTnLst>
                                </p:cTn>
                              </p:par>
                            </p:childTnLst>
                          </p:cTn>
                        </p:par>
                      </p:childTnLst>
                    </p:cTn>
                  </p:par>
                </p:childTnLst>
              </p:cTn>
              <p:nextCondLst>
                <p:cond evt="onClick" delay="0">
                  <p:tgtEl>
                    <p:spTgt spid="16"/>
                  </p:tgtEl>
                </p:cond>
              </p:nextCondLst>
            </p:seq>
            <p:audio>
              <p:cMediaNode vol="80000">
                <p:cTn id="58" fill="hold" display="0">
                  <p:stCondLst>
                    <p:cond delay="indefinite"/>
                  </p:stCondLst>
                  <p:endCondLst>
                    <p:cond evt="onStopAudio" delay="0">
                      <p:tgtEl>
                        <p:sldTgt/>
                      </p:tgtEl>
                    </p:cond>
                  </p:endCondLst>
                </p:cTn>
                <p:tgtEl>
                  <p:spTgt spid="14"/>
                </p:tgtEl>
              </p:cMediaNode>
            </p:audio>
            <p:audio>
              <p:cMediaNode vol="80000">
                <p:cTn id="59" fill="hold" display="0">
                  <p:stCondLst>
                    <p:cond delay="indefinite"/>
                  </p:stCondLst>
                  <p:endCondLst>
                    <p:cond evt="onStopAudio" delay="0">
                      <p:tgtEl>
                        <p:sldTgt/>
                      </p:tgtEl>
                    </p:cond>
                  </p:endCondLst>
                </p:cTn>
                <p:tgtEl>
                  <p:spTgt spid="16"/>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28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2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Chiedi: Perché?</a:t>
            </a:r>
            <a:endParaRPr lang="en-US" sz="950" dirty="0"/>
          </a:p>
        </p:txBody>
      </p:sp>
      <p:sp>
        <p:nvSpPr>
          <p:cNvPr id="9" name="note_2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helping people   ·   📖 SB p.20 · 1d + follow-up</a:t>
            </a:r>
            <a:endParaRPr lang="en-US" sz="800" dirty="0"/>
          </a:p>
        </p:txBody>
      </p:sp>
      <p:sp>
        <p:nvSpPr>
          <p:cNvPr id="12" name="pf_291"/>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92" descr="/home/claude/lls-course/v2/cache/2b1_volunteer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29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9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love to…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 could…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opinion, the most important…</a:t>
            </a:r>
            <a:endParaRPr lang="en-US" sz="1150" dirty="0"/>
          </a:p>
        </p:txBody>
      </p:sp>
      <p:sp>
        <p:nvSpPr>
          <p:cNvPr id="18" name="R1_qb2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aunt helps at a food bank in Palermo every Saturday.</a:t>
            </a:r>
            <a:endParaRPr lang="en-US" sz="950" dirty="0"/>
          </a:p>
        </p:txBody>
      </p:sp>
      <p:sp>
        <p:nvSpPr>
          <p:cNvPr id="20" name="R2_qb2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00"/>
          <p:cNvSpPr/>
          <p:nvPr/>
        </p:nvSpPr>
        <p:spPr>
          <a:xfrm>
            <a:off x="3675888" y="2020824"/>
            <a:ext cx="45079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water tanks – clean water is the first thing you need.</a:t>
            </a:r>
            <a:endParaRPr lang="en-US" sz="950" dirty="0"/>
          </a:p>
        </p:txBody>
      </p:sp>
      <p:pic>
        <p:nvPicPr>
          <p:cNvPr id="22" name="R2_th301"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3" name="R3_qb30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0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I'd love to teach English songs to children, like Jane.</a:t>
            </a:r>
            <a:endParaRPr lang="en-US" sz="950" dirty="0"/>
          </a:p>
        </p:txBody>
      </p:sp>
      <p:sp>
        <p:nvSpPr>
          <p:cNvPr id="25" name="R4_qb30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0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 it should be your choice, not homework!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0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400" dirty="0"/>
          </a:p>
        </p:txBody>
      </p:sp>
      <p:pic>
        <p:nvPicPr>
          <p:cNvPr id="6" name="brP_30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1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le parole. Poi ascolta.</a:t>
            </a:r>
            <a:endParaRPr lang="en-US" sz="950" dirty="0"/>
          </a:p>
        </p:txBody>
      </p:sp>
      <p:sp>
        <p:nvSpPr>
          <p:cNvPr id="9" name="note_31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3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from the interview   ·   📖 SB p.21 · 2a, 2b · audio 2.15</a:t>
            </a:r>
            <a:endParaRPr lang="en-US" sz="800" dirty="0"/>
          </a:p>
        </p:txBody>
      </p:sp>
      <p:sp>
        <p:nvSpPr>
          <p:cNvPr id="12" name="cd_31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1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4" name="ln_317"/>
          <p:cNvSpPr/>
          <p:nvPr/>
        </p:nvSpPr>
        <p:spPr>
          <a:xfrm>
            <a:off x="548640" y="192024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5" name="ln_318"/>
          <p:cNvSpPr/>
          <p:nvPr/>
        </p:nvSpPr>
        <p:spPr>
          <a:xfrm>
            <a:off x="548640" y="238506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6" name="R1_lnA319"/>
          <p:cNvSpPr/>
          <p:nvPr/>
        </p:nvSpPr>
        <p:spPr>
          <a:xfrm>
            <a:off x="548640" y="2385060"/>
            <a:ext cx="5349240" cy="464820"/>
          </a:xfrm>
          <a:prstGeom prst="rect">
            <a:avLst/>
          </a:prstGeom>
          <a:solidFill>
            <a:srgbClr val="FFFFFF"/>
          </a:solid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7" name="ln_320"/>
          <p:cNvSpPr/>
          <p:nvPr/>
        </p:nvSpPr>
        <p:spPr>
          <a:xfrm>
            <a:off x="548640" y="284988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18" name="R2_lnA321"/>
          <p:cNvSpPr/>
          <p:nvPr/>
        </p:nvSpPr>
        <p:spPr>
          <a:xfrm>
            <a:off x="548640" y="2849880"/>
            <a:ext cx="5349240" cy="464820"/>
          </a:xfrm>
          <a:prstGeom prst="rect">
            <a:avLst/>
          </a:prstGeom>
          <a:solidFill>
            <a:srgbClr val="FFFFFF"/>
          </a:solid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19" name="ln_322"/>
          <p:cNvSpPr/>
          <p:nvPr/>
        </p:nvSpPr>
        <p:spPr>
          <a:xfrm>
            <a:off x="548640" y="331470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0" name="R3_lnA323"/>
          <p:cNvSpPr/>
          <p:nvPr/>
        </p:nvSpPr>
        <p:spPr>
          <a:xfrm>
            <a:off x="548640" y="3314700"/>
            <a:ext cx="5349240" cy="464820"/>
          </a:xfrm>
          <a:prstGeom prst="rect">
            <a:avLst/>
          </a:prstGeom>
          <a:solidFill>
            <a:srgbClr val="FFFFFF"/>
          </a:solid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1" name="ln_324"/>
          <p:cNvSpPr/>
          <p:nvPr/>
        </p:nvSpPr>
        <p:spPr>
          <a:xfrm>
            <a:off x="548640" y="377952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2" name="R4_lnA325"/>
          <p:cNvSpPr/>
          <p:nvPr/>
        </p:nvSpPr>
        <p:spPr>
          <a:xfrm>
            <a:off x="548640" y="3779520"/>
            <a:ext cx="5349240" cy="464820"/>
          </a:xfrm>
          <a:prstGeom prst="rect">
            <a:avLst/>
          </a:prstGeom>
          <a:solidFill>
            <a:srgbClr val="FFFFFF"/>
          </a:solid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3" name="ln_326"/>
          <p:cNvSpPr/>
          <p:nvPr/>
        </p:nvSpPr>
        <p:spPr>
          <a:xfrm>
            <a:off x="548640" y="4244340"/>
            <a:ext cx="5349240" cy="464820"/>
          </a:xfrm>
          <a:prstGeom prst="rect">
            <a:avLst/>
          </a:prstGeom>
          <a:no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4" name="R5_lnA327"/>
          <p:cNvSpPr/>
          <p:nvPr/>
        </p:nvSpPr>
        <p:spPr>
          <a:xfrm>
            <a:off x="548640" y="4244340"/>
            <a:ext cx="5349240" cy="464820"/>
          </a:xfrm>
          <a:prstGeom prst="rect">
            <a:avLst/>
          </a:prstGeom>
          <a:solidFill>
            <a:srgbClr val="FFFFFF"/>
          </a:solidFill>
          <a:ln/>
        </p:spPr>
        <p:txBody>
          <a:bodyPr wrap="square" lIns="0" tIns="0" rIns="0" bIns="0" rtlCol="0" anchor="ct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5" name="ap_328"/>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6" name="ah_32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8" name="ah_33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0" name="pf_331"/>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332" descr="/home/claude/lls-course/v2/cache/2b1_building_school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32" name="cd_33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3" name="ii_33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4" name="ih_33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5" name="il_33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building · changed · doing</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running · started</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2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7"/>
                                        </p:tgtEl>
                                      </p:cBhvr>
                                    </p:cmd>
                                  </p:childTnLst>
                                </p:cTn>
                              </p:par>
                            </p:childTnLst>
                          </p:cTn>
                        </p:par>
                      </p:childTnLst>
                    </p:cTn>
                  </p:par>
                </p:childTnLst>
              </p:cTn>
              <p:nextCondLst>
                <p:cond evt="onClick" delay="0">
                  <p:tgtEl>
                    <p:spTgt spid="27"/>
                  </p:tgtEl>
                </p:cond>
              </p:nextCondLst>
            </p:seq>
            <p:seq concurrent="1" nextAc="seek">
              <p:cTn id="33" restart="whenNotActive" fill="hold" evtFilter="cancelBubble" nodeType="interactiveSeq">
                <p:stCondLst>
                  <p:cond evt="onClick" delay="0">
                    <p:tgtEl>
                      <p:spTgt spid="2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9"/>
                                        </p:tgtEl>
                                      </p:cBhvr>
                                    </p:cmd>
                                  </p:childTnLst>
                                </p:cTn>
                              </p:par>
                            </p:childTnLst>
                          </p:cTn>
                        </p:par>
                      </p:childTnLst>
                    </p:cTn>
                  </p:par>
                </p:childTnLst>
              </p:cTn>
              <p:nextCondLst>
                <p:cond evt="onClick" delay="0">
                  <p:tgtEl>
                    <p:spTgt spid="29"/>
                  </p:tgtEl>
                </p:cond>
              </p:nextCondLst>
            </p:seq>
            <p:audio>
              <p:cMediaNode vol="80000">
                <p:cTn id="38" fill="hold" display="0">
                  <p:stCondLst>
                    <p:cond delay="indefinite"/>
                  </p:stCondLst>
                  <p:endCondLst>
                    <p:cond evt="onStopAudio" delay="0">
                      <p:tgtEl>
                        <p:sldTgt/>
                      </p:tgtEl>
                    </p:cond>
                  </p:endCondLst>
                </p:cTn>
                <p:tgtEl>
                  <p:spTgt spid="27"/>
                </p:tgtEl>
              </p:cMediaNode>
            </p:audio>
            <p:audio>
              <p:cMediaNode vol="80000">
                <p:cTn id="39" fill="hold" display="0">
                  <p:stCondLst>
                    <p:cond delay="indefinite"/>
                  </p:stCondLst>
                  <p:endCondLst>
                    <p:cond evt="onStopAudio" delay="0">
                      <p:tgtEl>
                        <p:sldTgt/>
                      </p:tgtEl>
                    </p:cond>
                  </p:endCondLst>
                </p:cTn>
                <p:tgtEl>
                  <p:spTgt spid="2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8"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39"/>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40"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41"/>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Abbina il colore.</a:t>
            </a:r>
            <a:endParaRPr lang="en-US" sz="950" dirty="0"/>
          </a:p>
        </p:txBody>
      </p:sp>
      <p:sp>
        <p:nvSpPr>
          <p:cNvPr id="9" name="note_34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guided discovery   ·   📖 SB p.21 · 2b</a:t>
            </a:r>
            <a:endParaRPr lang="en-US" sz="800" dirty="0"/>
          </a:p>
        </p:txBody>
      </p:sp>
      <p:sp>
        <p:nvSpPr>
          <p:cNvPr id="12" name="cd_346"/>
          <p:cNvSpPr/>
          <p:nvPr/>
        </p:nvSpPr>
        <p:spPr>
          <a:xfrm>
            <a:off x="320040" y="1417320"/>
            <a:ext cx="2697480" cy="1527048"/>
          </a:xfrm>
          <a:prstGeom prst="roundRect">
            <a:avLst>
              <a:gd name="adj" fmla="val 83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4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4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349"/>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6" name="lg_350"/>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17" name="sq_351"/>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18" name="R1_tag352"/>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19" name="sq_353"/>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0" name="R2_tag354"/>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1" name="sq_355"/>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2" name="R3_tag356"/>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3" name="sq_357"/>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4" name="R4_tag358"/>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5" name="sq_359"/>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6" name="R5_tag360"/>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27" name="sq_361"/>
          <p:cNvSpPr/>
          <p:nvPr/>
        </p:nvSpPr>
        <p:spPr>
          <a:xfrm>
            <a:off x="3246120" y="4114800"/>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28" name="R6_tag362"/>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29" name="pf_363"/>
          <p:cNvSpPr/>
          <p:nvPr/>
        </p:nvSpPr>
        <p:spPr>
          <a:xfrm rot="-120000">
            <a:off x="810260" y="3703320"/>
            <a:ext cx="171704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64" descr="/home/claude/lls-course/v2/cache/2b1_volunteer_jpg_391x220_31.png">    </p:cNvPr>
          <p:cNvPicPr>
            <a:picLocks noChangeAspect="1"/>
          </p:cNvPicPr>
          <p:nvPr/>
        </p:nvPicPr>
        <p:blipFill>
          <a:blip r:embed="rId5"/>
          <a:stretch>
            <a:fillRect/>
          </a:stretch>
        </p:blipFill>
        <p:spPr>
          <a:xfrm rot="-120000">
            <a:off x="855980" y="3749040"/>
            <a:ext cx="162560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25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69"/>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Perché?</a:t>
            </a:r>
            <a:endParaRPr lang="en-US" sz="950" dirty="0"/>
          </a:p>
        </p:txBody>
      </p:sp>
      <p:sp>
        <p:nvSpPr>
          <p:cNvPr id="9" name="note_37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the rule   ·   📖 Grammar Bank 2B p.135 · audio 2.16, 2.17</a:t>
            </a:r>
            <a:endParaRPr lang="en-US" sz="800" dirty="0"/>
          </a:p>
        </p:txBody>
      </p:sp>
      <p:sp>
        <p:nvSpPr>
          <p:cNvPr id="12" name="ah_374"/>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2.16 + 2.17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37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376"/>
          <p:cNvSpPr/>
          <p:nvPr/>
        </p:nvSpPr>
        <p:spPr>
          <a:xfrm>
            <a:off x="3200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7" name="rh_377"/>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18" name="pf_378"/>
          <p:cNvSpPr/>
          <p:nvPr/>
        </p:nvSpPr>
        <p:spPr>
          <a:xfrm>
            <a:off x="100253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79" descr="/home/claude/lls-course/v2/cache/2b1_old_couple_jpg_313x209_31.png">    </p:cNvPr>
          <p:cNvPicPr>
            <a:picLocks noChangeAspect="1"/>
          </p:cNvPicPr>
          <p:nvPr/>
        </p:nvPicPr>
        <p:blipFill>
          <a:blip r:embed="rId11"/>
          <a:stretch>
            <a:fillRect/>
          </a:stretch>
        </p:blipFill>
        <p:spPr>
          <a:xfrm>
            <a:off x="1048259" y="1984248"/>
            <a:ext cx="1302003" cy="868680"/>
          </a:xfrm>
          <a:prstGeom prst="rect">
            <a:avLst/>
          </a:prstGeom>
        </p:spPr>
      </p:pic>
      <p:sp>
        <p:nvSpPr>
          <p:cNvPr id="20" name="ru_380"/>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1" name="R1_rx381"/>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2" name="R1_ri382"/>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conosco… da · ho… da</a:t>
            </a:r>
            <a:endParaRPr lang="en-US" sz="900" dirty="0"/>
          </a:p>
        </p:txBody>
      </p:sp>
      <p:sp>
        <p:nvSpPr>
          <p:cNvPr id="23" name="cd_383"/>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384"/>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5" name="pf_385"/>
          <p:cNvSpPr/>
          <p:nvPr/>
        </p:nvSpPr>
        <p:spPr>
          <a:xfrm>
            <a:off x="4059312" y="1938528"/>
            <a:ext cx="1071097"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86" descr="/home/claude/lls-course/v2/cache/2b1_learning_french_jpg_236x209_31.png">    </p:cNvPr>
          <p:cNvPicPr>
            <a:picLocks noChangeAspect="1"/>
          </p:cNvPicPr>
          <p:nvPr/>
        </p:nvPicPr>
        <p:blipFill>
          <a:blip r:embed="rId12"/>
          <a:stretch>
            <a:fillRect/>
          </a:stretch>
        </p:blipFill>
        <p:spPr>
          <a:xfrm>
            <a:off x="4105032" y="1984248"/>
            <a:ext cx="979657" cy="868680"/>
          </a:xfrm>
          <a:prstGeom prst="rect">
            <a:avLst/>
          </a:prstGeom>
        </p:spPr>
      </p:pic>
      <p:sp>
        <p:nvSpPr>
          <p:cNvPr id="27" name="ru_387"/>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28" name="R2_rx388"/>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29" name="R2_ri389"/>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studio… da (ancora adesso)</a:t>
            </a:r>
            <a:endParaRPr lang="en-US" sz="900" dirty="0"/>
          </a:p>
        </p:txBody>
      </p:sp>
      <p:sp>
        <p:nvSpPr>
          <p:cNvPr id="30" name="cd_390"/>
          <p:cNvSpPr/>
          <p:nvPr/>
        </p:nvSpPr>
        <p:spPr>
          <a:xfrm>
            <a:off x="61112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391"/>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2" name="pf_392"/>
          <p:cNvSpPr/>
          <p:nvPr/>
        </p:nvSpPr>
        <p:spPr>
          <a:xfrm>
            <a:off x="6791444" y="1938528"/>
            <a:ext cx="139803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93" descr="/home/claude/lls-course/v2/cache/2b1_painting_jpg_314x209_31.png">    </p:cNvPr>
          <p:cNvPicPr>
            <a:picLocks noChangeAspect="1"/>
          </p:cNvPicPr>
          <p:nvPr/>
        </p:nvPicPr>
        <p:blipFill>
          <a:blip r:embed="rId13"/>
          <a:stretch>
            <a:fillRect/>
          </a:stretch>
        </p:blipFill>
        <p:spPr>
          <a:xfrm>
            <a:off x="6837164" y="1984248"/>
            <a:ext cx="1306593" cy="868680"/>
          </a:xfrm>
          <a:prstGeom prst="rect">
            <a:avLst/>
          </a:prstGeom>
        </p:spPr>
      </p:pic>
      <p:sp>
        <p:nvSpPr>
          <p:cNvPr id="34" name="ru_394"/>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5" name="R3_rx395"/>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6" name="R3_ri396"/>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ho appena… (si vede!)</a:t>
            </a:r>
            <a:endParaRPr lang="en-US" sz="900" dirty="0"/>
          </a:p>
        </p:txBody>
      </p:sp>
      <p:sp>
        <p:nvSpPr>
          <p:cNvPr id="37" name="R4_wc397"/>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8" name="R4_w398"/>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animEffect transition="in" filter="fade">
                                      <p:cBhvr>
                                        <p:cTn id="31" dur="400"/>
                                        <p:tgtEl>
                                          <p:spTgt spid="37"/>
                                        </p:tgtEl>
                                      </p:cBhvr>
                                    </p:animEffect>
                                  </p:childTnLst>
                                </p:cTn>
                              </p:par>
                              <p:par>
                                <p:cTn id="32" presetID="10" presetClass="entr" presetSubtype="0" fill="hold" nodeType="withEffect">
                                  <p:stCondLst>
                                    <p:cond delay="0"/>
                                  </p:stCondLst>
                                  <p:childTnLst>
                                    <p:set>
                                      <p:cBhvr>
                                        <p:cTn id="33" dur="1" fill="hold">
                                          <p:stCondLst>
                                            <p:cond delay="0"/>
                                          </p:stCondLst>
                                        </p:cTn>
                                        <p:tgtEl>
                                          <p:spTgt spid="38"/>
                                        </p:tgtEl>
                                        <p:attrNameLst>
                                          <p:attrName>style.visibility</p:attrName>
                                        </p:attrNameLst>
                                      </p:cBhvr>
                                      <p:to>
                                        <p:strVal val="visible"/>
                                      </p:to>
                                    </p:set>
                                    <p:animEffect transition="in" filter="fade">
                                      <p:cBhvr>
                                        <p:cTn id="34"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3"/>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3"/>
                                        </p:tgtEl>
                                      </p:cBhvr>
                                    </p:cmd>
                                  </p:childTnLst>
                                </p:cTn>
                              </p:par>
                            </p:childTnLst>
                          </p:cTn>
                        </p:par>
                      </p:childTnLst>
                    </p:cTn>
                  </p:par>
                </p:childTnLst>
              </p:cTn>
              <p:nextCondLst>
                <p:cond evt="onClick" delay="0">
                  <p:tgtEl>
                    <p:spTgt spid="13"/>
                  </p:tgtEl>
                </p:cond>
              </p:nextCondLst>
            </p:seq>
            <p:seq concurrent="1" nextAc="seek">
              <p:cTn id="40" restart="whenNotActive" fill="hold" evtFilter="cancelBubble" nodeType="interactiveSeq">
                <p:stCondLst>
                  <p:cond evt="onClick" delay="0">
                    <p:tgtEl>
                      <p:spTgt spid="15"/>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5"/>
                                        </p:tgtEl>
                                      </p:cBhvr>
                                    </p:cmd>
                                  </p:childTnLst>
                                </p:cTn>
                              </p:par>
                            </p:childTnLst>
                          </p:cTn>
                        </p:par>
                      </p:childTnLst>
                    </p:cTn>
                  </p:par>
                </p:childTnLst>
              </p:cTn>
              <p:nextCondLst>
                <p:cond evt="onClick" delay="0">
                  <p:tgtEl>
                    <p:spTgt spid="15"/>
                  </p:tgtEl>
                </p:cond>
              </p:nextCondLst>
            </p:seq>
            <p:audio>
              <p:cMediaNode vol="80000">
                <p:cTn id="45" fill="hold" display="0">
                  <p:stCondLst>
                    <p:cond delay="indefinite"/>
                  </p:stCondLst>
                  <p:endCondLst>
                    <p:cond evt="onStopAudio" delay="0">
                      <p:tgtEl>
                        <p:sldTgt/>
                      </p:tgtEl>
                    </p:cond>
                  </p:endCondLst>
                </p:cTn>
                <p:tgtEl>
                  <p:spTgt spid="13"/>
                </p:tgtEl>
              </p:cMediaNode>
            </p:audio>
            <p:audio>
              <p:cMediaNode vol="80000">
                <p:cTn id="46" fill="hold" display="0">
                  <p:stCondLst>
                    <p:cond delay="indefinite"/>
                  </p:stCondLst>
                  <p:endCondLst>
                    <p:cond evt="onStopAudio" delay="0">
                      <p:tgtEl>
                        <p:sldTgt/>
                      </p:tgtEl>
                    </p:cond>
                  </p:endCondLst>
                </p:cTn>
                <p:tgtEl>
                  <p:spTgt spid="15"/>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0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03"/>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 o since? Dillo ad alta voce!</a:t>
            </a:r>
            <a:endParaRPr lang="en-US" sz="950" dirty="0"/>
          </a:p>
        </p:txBody>
      </p:sp>
      <p:sp>
        <p:nvSpPr>
          <p:cNvPr id="9" name="note_4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for or since?   ·   📖 Grammar Bank 2B p.135 · for / since (audio 2.16, 2.17)</a:t>
            </a:r>
            <a:endParaRPr lang="en-US" sz="800" dirty="0"/>
          </a:p>
        </p:txBody>
      </p:sp>
      <p:sp>
        <p:nvSpPr>
          <p:cNvPr id="12" name="cd_408"/>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1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11"/>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time.</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il tempo.</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First right team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La prima squadra giusta = 1 punto.</a:t>
            </a:r>
            <a:endParaRPr lang="en-US" sz="1200" dirty="0"/>
          </a:p>
        </p:txBody>
      </p:sp>
      <p:sp>
        <p:nvSpPr>
          <p:cNvPr id="16" name="pf_412"/>
          <p:cNvSpPr/>
          <p:nvPr/>
        </p:nvSpPr>
        <p:spPr>
          <a:xfrm rot="-120000">
            <a:off x="812146" y="3590544"/>
            <a:ext cx="1667549"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13" descr="/home/claude/lls-course/v2/cache/2b1_old_couple_jpg_379x253_31.png">    </p:cNvPr>
          <p:cNvPicPr>
            <a:picLocks noChangeAspect="1"/>
          </p:cNvPicPr>
          <p:nvPr/>
        </p:nvPicPr>
        <p:blipFill>
          <a:blip r:embed="rId5"/>
          <a:stretch>
            <a:fillRect/>
          </a:stretch>
        </p:blipFill>
        <p:spPr>
          <a:xfrm rot="-120000">
            <a:off x="857866" y="3636264"/>
            <a:ext cx="1576109" cy="1051560"/>
          </a:xfrm>
          <a:prstGeom prst="rect">
            <a:avLst/>
          </a:prstGeom>
        </p:spPr>
      </p:pic>
      <p:sp>
        <p:nvSpPr>
          <p:cNvPr id="18" name="bd_414"/>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15"/>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2012</a:t>
            </a:r>
            <a:endParaRPr lang="en-US" sz="1250" dirty="0"/>
          </a:p>
        </p:txBody>
      </p:sp>
      <p:sp>
        <p:nvSpPr>
          <p:cNvPr id="20" name="chip_416"/>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since (a point)</a:t>
            </a:r>
            <a:endParaRPr lang="en-US" sz="1200" dirty="0"/>
          </a:p>
        </p:txBody>
      </p:sp>
      <p:sp>
        <p:nvSpPr>
          <p:cNvPr id="21" name="bd_417"/>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18"/>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ten years</a:t>
            </a:r>
            <a:endParaRPr lang="en-US" sz="1250" dirty="0"/>
          </a:p>
        </p:txBody>
      </p:sp>
      <p:sp>
        <p:nvSpPr>
          <p:cNvPr id="23" name="R1_chip419"/>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for (a period)</a:t>
            </a:r>
            <a:endParaRPr lang="en-US" sz="1200" dirty="0"/>
          </a:p>
        </p:txBody>
      </p:sp>
      <p:sp>
        <p:nvSpPr>
          <p:cNvPr id="24" name="bd_420"/>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21"/>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lunchtime</a:t>
            </a:r>
            <a:endParaRPr lang="en-US" sz="1250" dirty="0"/>
          </a:p>
        </p:txBody>
      </p:sp>
      <p:sp>
        <p:nvSpPr>
          <p:cNvPr id="26" name="R2_chip422"/>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since</a:t>
            </a:r>
            <a:endParaRPr lang="en-US" sz="1200" dirty="0"/>
          </a:p>
        </p:txBody>
      </p:sp>
      <p:sp>
        <p:nvSpPr>
          <p:cNvPr id="27" name="bd_423"/>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24"/>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ages</a:t>
            </a:r>
            <a:endParaRPr lang="en-US" sz="1250" dirty="0"/>
          </a:p>
        </p:txBody>
      </p:sp>
      <p:sp>
        <p:nvSpPr>
          <p:cNvPr id="29" name="R3_chip425"/>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for</a:t>
            </a:r>
            <a:endParaRPr lang="en-US" sz="1200" dirty="0"/>
          </a:p>
        </p:txBody>
      </p:sp>
      <p:sp>
        <p:nvSpPr>
          <p:cNvPr id="30" name="bd_426"/>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27"/>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I was a child</a:t>
            </a:r>
            <a:endParaRPr lang="en-US" sz="1250" dirty="0"/>
          </a:p>
        </p:txBody>
      </p:sp>
      <p:sp>
        <p:nvSpPr>
          <p:cNvPr id="32" name="R4_chip428"/>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since</a:t>
            </a:r>
            <a:endParaRPr lang="en-US" sz="1200" dirty="0"/>
          </a:p>
        </p:txBody>
      </p:sp>
      <p:sp>
        <p:nvSpPr>
          <p:cNvPr id="33" name="bd_429"/>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30"/>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___ about three years</a:t>
            </a:r>
            <a:endParaRPr lang="en-US" sz="1250" dirty="0"/>
          </a:p>
        </p:txBody>
      </p:sp>
      <p:sp>
        <p:nvSpPr>
          <p:cNvPr id="35" name="R5_chip431"/>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3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Marco's very long wait</a:t>
            </a:r>
            <a:endParaRPr lang="en-US" sz="2500" dirty="0"/>
          </a:p>
        </p:txBody>
      </p:sp>
      <p:pic>
        <p:nvPicPr>
          <p:cNvPr id="6" name="brP_43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3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3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class story (TPRS)</a:t>
            </a:r>
            <a:endParaRPr lang="en-US" sz="800" dirty="0"/>
          </a:p>
        </p:txBody>
      </p:sp>
      <p:sp>
        <p:nvSpPr>
          <p:cNvPr id="12" name="pf_441"/>
          <p:cNvSpPr/>
          <p:nvPr/>
        </p:nvSpPr>
        <p:spPr>
          <a:xfrm rot="-90000">
            <a:off x="853440" y="1417320"/>
            <a:ext cx="167640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42" descr="/home/claude/lls-course/v2/cache/2b1_old_friends_jpg_381x286_31.png">    </p:cNvPr>
          <p:cNvPicPr>
            <a:picLocks noChangeAspect="1"/>
          </p:cNvPicPr>
          <p:nvPr/>
        </p:nvPicPr>
        <p:blipFill>
          <a:blip r:embed="rId5"/>
          <a:stretch>
            <a:fillRect/>
          </a:stretch>
        </p:blipFill>
        <p:spPr>
          <a:xfrm rot="-90000">
            <a:off x="899160" y="1463040"/>
            <a:ext cx="1584960" cy="1188720"/>
          </a:xfrm>
          <a:prstGeom prst="rect">
            <a:avLst/>
          </a:prstGeom>
        </p:spPr>
      </p:pic>
      <p:sp>
        <p:nvSpPr>
          <p:cNvPr id="14" name="cd_443"/>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44"/>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5"/>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46"/>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has been waiting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sta aspettando (da…)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since seven o'clock</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dalle sette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for two hours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da due ore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How long have you been…?</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Da quanto tempo…?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have known each other</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si conoscono (da…)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has had</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ha (da…)</a:t>
            </a:r>
            <a:endParaRPr lang="en-US" sz="700" dirty="0"/>
          </a:p>
        </p:txBody>
      </p:sp>
      <p:sp>
        <p:nvSpPr>
          <p:cNvPr id="18" name="R1_sb447"/>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48"/>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Marco. He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has been waiting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for the bus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since seven o'clock</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Marco waiting for a bus or a train? · Since when has he been waiting?</a:t>
            </a:r>
            <a:endParaRPr lang="en-US" sz="1100" dirty="0"/>
          </a:p>
        </p:txBody>
      </p:sp>
      <p:sp>
        <p:nvSpPr>
          <p:cNvPr id="20" name="R2_sb449"/>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50"/>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it's nine. He</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 been waiting for two hours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bus is very late.</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Has he been waiting for two hours or two minutes? · Why is the bus late? (you decide!)</a:t>
            </a:r>
            <a:endParaRPr lang="en-US" sz="1050" dirty="0"/>
          </a:p>
        </p:txBody>
      </p:sp>
      <p:sp>
        <p:nvSpPr>
          <p:cNvPr id="22" name="R3_sb451"/>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52"/>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girl asks him: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How long have you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'Since breakfast!'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asks the question? · How long has Marco been waiting?</a:t>
            </a:r>
            <a:endParaRPr lang="en-US" sz="1050" dirty="0"/>
          </a:p>
        </p:txBody>
      </p:sp>
      <p:sp>
        <p:nvSpPr>
          <p:cNvPr id="24" name="R4_sb453"/>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54"/>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Giulia! They</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've known each other since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primary school.</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Giulia a new friend or an old friend? · How long have they known each other?</a:t>
            </a:r>
            <a:endParaRPr lang="en-US" sz="1100" dirty="0"/>
          </a:p>
        </p:txBody>
      </p:sp>
      <p:sp>
        <p:nvSpPr>
          <p:cNvPr id="26" name="R5_sb455"/>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56"/>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has had</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Vespa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year. 'Jump on!' she says.</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Has Giulia had a Vespa or a car? · How long has she had it?</a:t>
            </a:r>
            <a:endParaRPr lang="en-US" sz="1150" dirty="0"/>
          </a:p>
        </p:txBody>
      </p:sp>
      <p:sp>
        <p:nvSpPr>
          <p:cNvPr id="28" name="R6_sb457"/>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58"/>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get to school in five minutes. Marco</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been smiling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all day!</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Why has he been smiling? · And you – how long have you known your best friend?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6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6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frase. for o since?</a:t>
            </a:r>
            <a:endParaRPr lang="en-US" sz="950" dirty="0"/>
          </a:p>
        </p:txBody>
      </p:sp>
      <p:sp>
        <p:nvSpPr>
          <p:cNvPr id="9" name="note_46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Controlled practice</a:t>
            </a:r>
            <a:endParaRPr lang="en-US" sz="1150" dirty="0"/>
          </a:p>
        </p:txBody>
      </p:sp>
      <p:pic>
        <p:nvPicPr>
          <p:cNvPr id="10"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controlled practice   ·   📖 Grammar Bank 2B p.135 · a 1–5 (prompts written for the slide) · audio 2.16</a:t>
            </a:r>
            <a:endParaRPr lang="en-US" sz="800" dirty="0"/>
          </a:p>
        </p:txBody>
      </p:sp>
      <p:sp>
        <p:nvSpPr>
          <p:cNvPr id="12" name="cd_468"/>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7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471"/>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 learn English / six years → I've been learning English for six years.</a:t>
            </a:r>
            <a:endParaRPr lang="en-US" sz="1050" dirty="0"/>
          </a:p>
        </p:txBody>
      </p:sp>
      <p:sp>
        <p:nvSpPr>
          <p:cNvPr id="16" name="pf_472"/>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73" descr="/home/claude/lls-course/v2/cache/2b1_rain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8" name="bd_47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47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0" name="R1_chip47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50" dirty="0"/>
          </a:p>
        </p:txBody>
      </p:sp>
      <p:sp>
        <p:nvSpPr>
          <p:cNvPr id="21" name="bd_47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47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3" name="R2_chip47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50" dirty="0"/>
          </a:p>
        </p:txBody>
      </p:sp>
      <p:sp>
        <p:nvSpPr>
          <p:cNvPr id="24" name="bd_48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48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6" name="R3_chip48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50" dirty="0"/>
          </a:p>
        </p:txBody>
      </p:sp>
      <p:sp>
        <p:nvSpPr>
          <p:cNvPr id="27" name="bd_48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48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29" name="R4_chip48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50" dirty="0"/>
          </a:p>
        </p:txBody>
      </p:sp>
      <p:sp>
        <p:nvSpPr>
          <p:cNvPr id="30" name="bd_48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48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2" name="R5_chip488"/>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50" dirty="0"/>
          </a:p>
        </p:txBody>
      </p:sp>
      <p:sp>
        <p:nvSpPr>
          <p:cNvPr id="33" name="bd_489"/>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490"/>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5" name="R6_chip491"/>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9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49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4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note_49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4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 sentence stress   ·   📖 SB p.21 · 3a, 3b, 3c · audio 2.18</a:t>
            </a:r>
            <a:endParaRPr lang="en-US" sz="800" dirty="0"/>
          </a:p>
        </p:txBody>
      </p:sp>
      <p:sp>
        <p:nvSpPr>
          <p:cNvPr id="12" name="ap_501"/>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3" name="ah_50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04"/>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05"/>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06"/>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507"/>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1" name="pf_508"/>
          <p:cNvSpPr/>
          <p:nvPr/>
        </p:nvSpPr>
        <p:spPr>
          <a:xfrm rot="-120000">
            <a:off x="1052970" y="3611880"/>
            <a:ext cx="127734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09" descr="/home/claude/lls-course/v2/cache/2b1_learning_french_jpg_285x253_31.png">    </p:cNvPr>
          <p:cNvPicPr>
            <a:picLocks noChangeAspect="1"/>
          </p:cNvPicPr>
          <p:nvPr/>
        </p:nvPicPr>
        <p:blipFill>
          <a:blip r:embed="rId11"/>
          <a:stretch>
            <a:fillRect/>
          </a:stretch>
        </p:blipFill>
        <p:spPr>
          <a:xfrm rot="-120000">
            <a:off x="1098690" y="3657600"/>
            <a:ext cx="1185900" cy="1051560"/>
          </a:xfrm>
          <a:prstGeom prst="rect">
            <a:avLst/>
          </a:prstGeom>
        </p:spPr>
      </p:pic>
      <p:sp>
        <p:nvSpPr>
          <p:cNvPr id="23" name="bd_510"/>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511"/>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5" name="R1_sw512"/>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6" name="R1_sw513"/>
          <p:cNvSpPr/>
          <p:nvPr/>
        </p:nvSpPr>
        <p:spPr>
          <a:xfrm>
            <a:off x="5797296"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27" name="R1_sw514"/>
          <p:cNvSpPr/>
          <p:nvPr/>
        </p:nvSpPr>
        <p:spPr>
          <a:xfrm>
            <a:off x="6821424"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28" name="R2_sf515"/>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29" name="bd_516"/>
          <p:cNvSpPr/>
          <p:nvPr/>
        </p:nvSpPr>
        <p:spPr>
          <a:xfrm>
            <a:off x="3291840" y="222199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0" name="R3_sw517"/>
          <p:cNvSpPr/>
          <p:nvPr/>
        </p:nvSpPr>
        <p:spPr>
          <a:xfrm>
            <a:off x="3749040"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1" name="R3_sw518"/>
          <p:cNvSpPr/>
          <p:nvPr/>
        </p:nvSpPr>
        <p:spPr>
          <a:xfrm>
            <a:off x="4773168"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2" name="R3_sw519"/>
          <p:cNvSpPr/>
          <p:nvPr/>
        </p:nvSpPr>
        <p:spPr>
          <a:xfrm>
            <a:off x="5797296"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3" name="R3_sw520"/>
          <p:cNvSpPr/>
          <p:nvPr/>
        </p:nvSpPr>
        <p:spPr>
          <a:xfrm>
            <a:off x="6821424"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4" name="R4_sf521"/>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5" name="bd_522"/>
          <p:cNvSpPr/>
          <p:nvPr/>
        </p:nvSpPr>
        <p:spPr>
          <a:xfrm>
            <a:off x="3291840" y="29992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523"/>
          <p:cNvSpPr/>
          <p:nvPr/>
        </p:nvSpPr>
        <p:spPr>
          <a:xfrm>
            <a:off x="3749040"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37" name="R5_sw524"/>
          <p:cNvSpPr/>
          <p:nvPr/>
        </p:nvSpPr>
        <p:spPr>
          <a:xfrm>
            <a:off x="4773168"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38" name="R5_sw525"/>
          <p:cNvSpPr/>
          <p:nvPr/>
        </p:nvSpPr>
        <p:spPr>
          <a:xfrm>
            <a:off x="5797296"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39" name="R6_sf526"/>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0" name="bd_527"/>
          <p:cNvSpPr/>
          <p:nvPr/>
        </p:nvSpPr>
        <p:spPr>
          <a:xfrm>
            <a:off x="3291840" y="377647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528"/>
          <p:cNvSpPr/>
          <p:nvPr/>
        </p:nvSpPr>
        <p:spPr>
          <a:xfrm>
            <a:off x="3749040"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2" name="R7_sw529"/>
          <p:cNvSpPr/>
          <p:nvPr/>
        </p:nvSpPr>
        <p:spPr>
          <a:xfrm>
            <a:off x="4773168"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3" name="R8_sf530"/>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par>
                                <p:cTn id="30" presetID="10" presetClass="entr" presetSubtype="0"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par>
                                <p:cTn id="33" presetID="10" presetClass="entr" presetSubtype="0"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400"/>
                                        <p:tgtEl>
                                          <p:spTgt spid="3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400"/>
                                        <p:tgtEl>
                                          <p:spTgt spid="3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00"/>
                                        <p:tgtEl>
                                          <p:spTgt spid="41"/>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400"/>
                                        <p:tgtEl>
                                          <p:spTgt spid="4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3"/>
                                        </p:tgtEl>
                                        <p:attrNameLst>
                                          <p:attrName>style.visibility</p:attrName>
                                        </p:attrNameLst>
                                      </p:cBhvr>
                                      <p:to>
                                        <p:strVal val="visible"/>
                                      </p:to>
                                    </p:set>
                                    <p:animEffect transition="in" filter="fade">
                                      <p:cBhvr>
                                        <p:cTn id="69"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4"/>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4"/>
                                        </p:tgtEl>
                                      </p:cBhvr>
                                    </p:cmd>
                                  </p:childTnLst>
                                </p:cTn>
                              </p:par>
                            </p:childTnLst>
                          </p:cTn>
                        </p:par>
                      </p:childTnLst>
                    </p:cTn>
                  </p:par>
                </p:childTnLst>
              </p:cTn>
              <p:nextCondLst>
                <p:cond evt="onClick" delay="0">
                  <p:tgtEl>
                    <p:spTgt spid="14"/>
                  </p:tgtEl>
                </p:cond>
              </p:nextCondLst>
            </p:seq>
            <p:seq concurrent="1" nextAc="seek">
              <p:cTn id="75" restart="whenNotActive" fill="hold" evtFilter="cancelBubble" nodeType="interactiveSeq">
                <p:stCondLst>
                  <p:cond evt="onClick" delay="0">
                    <p:tgtEl>
                      <p:spTgt spid="16"/>
                    </p:tgtEl>
                  </p:cond>
                </p:stCondLst>
                <p:endSync evt="end" delay="0">
                  <p:rtn val="all"/>
                </p:endSync>
                <p:childTnLst>
                  <p:par>
                    <p:cTn id="76" fill="hold">
                      <p:stCondLst>
                        <p:cond delay="0"/>
                      </p:stCondLst>
                      <p:childTnLst>
                        <p:par>
                          <p:cTn id="77" fill="hold">
                            <p:stCondLst>
                              <p:cond delay="0"/>
                            </p:stCondLst>
                            <p:childTnLst>
                              <p:par>
                                <p:cTn id="78" presetID="2" presetClass="mediacall" presetSubtype="0" fill="hold" nodeType="clickEffect">
                                  <p:stCondLst>
                                    <p:cond delay="0"/>
                                  </p:stCondLst>
                                  <p:childTnLst>
                                    <p:cmd type="call" cmd="togglePause">
                                      <p:cBhvr>
                                        <p:cTn id="79" dur="1" fill="hold"/>
                                        <p:tgtEl>
                                          <p:spTgt spid="16"/>
                                        </p:tgtEl>
                                      </p:cBhvr>
                                    </p:cmd>
                                  </p:childTnLst>
                                </p:cTn>
                              </p:par>
                            </p:childTnLst>
                          </p:cTn>
                        </p:par>
                      </p:childTnLst>
                    </p:cTn>
                  </p:par>
                </p:childTnLst>
              </p:cTn>
              <p:nextCondLst>
                <p:cond evt="onClick" delay="0">
                  <p:tgtEl>
                    <p:spTgt spid="16"/>
                  </p:tgtEl>
                </p:cond>
              </p:nextCondLst>
            </p:seq>
            <p:audio>
              <p:cMediaNode vol="80000">
                <p:cTn id="80" fill="hold" display="0">
                  <p:stCondLst>
                    <p:cond delay="indefinite"/>
                  </p:stCondLst>
                  <p:endCondLst>
                    <p:cond evt="onStopAudio" delay="0">
                      <p:tgtEl>
                        <p:sldTgt/>
                      </p:tgtEl>
                    </p:cond>
                  </p:endCondLst>
                </p:cTn>
                <p:tgtEl>
                  <p:spTgt spid="14"/>
                </p:tgtEl>
              </p:cMediaNode>
            </p:audio>
            <p:audio>
              <p:cMediaNode vol="80000">
                <p:cTn id="81"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3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400" dirty="0"/>
          </a:p>
        </p:txBody>
      </p:sp>
      <p:pic>
        <p:nvPicPr>
          <p:cNvPr id="6" name="brP_5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notizia. Chiedi How long…? veloce!</a:t>
            </a:r>
            <a:endParaRPr lang="en-US" sz="950" dirty="0"/>
          </a:p>
        </p:txBody>
      </p:sp>
      <p:sp>
        <p:nvSpPr>
          <p:cNvPr id="9" name="note_53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Communicative game</a:t>
            </a:r>
            <a:endParaRPr lang="en-US" sz="1150" dirty="0"/>
          </a:p>
        </p:txBody>
      </p:sp>
      <p:pic>
        <p:nvPicPr>
          <p:cNvPr id="10" name="logo_5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game · make questions   ·   📖 SB p.21 · 3d · audio 2.19</a:t>
            </a:r>
            <a:endParaRPr lang="en-US" sz="800" dirty="0"/>
          </a:p>
        </p:txBody>
      </p:sp>
      <p:sp>
        <p:nvSpPr>
          <p:cNvPr id="12" name="cd_540"/>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4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4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43"/>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ask How long…? – 10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chiedete How long…? – 10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question + rhythm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Domanda giusta + ritmo = 1 punto.</a:t>
            </a:r>
            <a:endParaRPr lang="en-US" sz="1200" dirty="0"/>
          </a:p>
        </p:txBody>
      </p:sp>
      <p:sp>
        <p:nvSpPr>
          <p:cNvPr id="16" name="pf_544"/>
          <p:cNvSpPr/>
          <p:nvPr/>
        </p:nvSpPr>
        <p:spPr>
          <a:xfrm rot="-120000">
            <a:off x="899160" y="3980688"/>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45" descr="/home/claude/lls-course/v2/cache/2b1_rain_jpg_337x253_31.png">    </p:cNvPr>
          <p:cNvPicPr>
            <a:picLocks noChangeAspect="1"/>
          </p:cNvPicPr>
          <p:nvPr/>
        </p:nvPicPr>
        <p:blipFill>
          <a:blip r:embed="rId5"/>
          <a:stretch>
            <a:fillRect/>
          </a:stretch>
        </p:blipFill>
        <p:spPr>
          <a:xfrm rot="-120000">
            <a:off x="944880" y="4026408"/>
            <a:ext cx="1402080" cy="1051560"/>
          </a:xfrm>
          <a:prstGeom prst="rect">
            <a:avLst/>
          </a:prstGeom>
        </p:spPr>
      </p:pic>
      <p:sp>
        <p:nvSpPr>
          <p:cNvPr id="18" name="bd_54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4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snowing."</a:t>
            </a:r>
            <a:endParaRPr lang="en-US" sz="1250" dirty="0"/>
          </a:p>
        </p:txBody>
      </p:sp>
      <p:sp>
        <p:nvSpPr>
          <p:cNvPr id="20" name="chip_54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200" dirty="0"/>
          </a:p>
        </p:txBody>
      </p:sp>
      <p:sp>
        <p:nvSpPr>
          <p:cNvPr id="21" name="bd_54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5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"I'm learning Russian."</a:t>
            </a:r>
            <a:endParaRPr lang="en-US" sz="1250" dirty="0"/>
          </a:p>
        </p:txBody>
      </p:sp>
      <p:sp>
        <p:nvSpPr>
          <p:cNvPr id="23" name="R1_chip55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200" dirty="0"/>
          </a:p>
        </p:txBody>
      </p:sp>
      <p:sp>
        <p:nvSpPr>
          <p:cNvPr id="24" name="bd_55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"Susan is working in Italy."</a:t>
            </a:r>
            <a:endParaRPr lang="en-US" sz="1250" dirty="0"/>
          </a:p>
        </p:txBody>
      </p:sp>
      <p:sp>
        <p:nvSpPr>
          <p:cNvPr id="26" name="R2_chip55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200" dirty="0"/>
          </a:p>
        </p:txBody>
      </p:sp>
      <p:sp>
        <p:nvSpPr>
          <p:cNvPr id="27" name="bd_55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"John is looking for a job."</a:t>
            </a:r>
            <a:endParaRPr lang="en-US" sz="1250" dirty="0"/>
          </a:p>
        </p:txBody>
      </p:sp>
      <p:sp>
        <p:nvSpPr>
          <p:cNvPr id="29" name="R3_chip55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200" dirty="0"/>
          </a:p>
        </p:txBody>
      </p:sp>
      <p:sp>
        <p:nvSpPr>
          <p:cNvPr id="30" name="bd_55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250" dirty="0"/>
          </a:p>
        </p:txBody>
      </p:sp>
      <p:sp>
        <p:nvSpPr>
          <p:cNvPr id="32" name="R4_chip56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200" dirty="0"/>
          </a:p>
        </p:txBody>
      </p:sp>
      <p:sp>
        <p:nvSpPr>
          <p:cNvPr id="33" name="bd_56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6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250" dirty="0"/>
          </a:p>
        </p:txBody>
      </p:sp>
      <p:sp>
        <p:nvSpPr>
          <p:cNvPr id="35" name="R5_chip56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6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68"/>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5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brevi. Il compagno chiede How long…?</a:t>
            </a:r>
            <a:endParaRPr lang="en-US" sz="950" dirty="0"/>
          </a:p>
        </p:txBody>
      </p:sp>
      <p:sp>
        <p:nvSpPr>
          <p:cNvPr id="9" name="note_57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How long…?   ·   📖 SB p.21 · 4a, 4b</a:t>
            </a:r>
            <a:endParaRPr lang="en-US" sz="800" dirty="0"/>
          </a:p>
        </p:txBody>
      </p:sp>
      <p:sp>
        <p:nvSpPr>
          <p:cNvPr id="12" name="pf_573"/>
          <p:cNvSpPr/>
          <p:nvPr/>
        </p:nvSpPr>
        <p:spPr>
          <a:xfrm rot="-120000">
            <a:off x="988673" y="1371600"/>
            <a:ext cx="1451653"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74" descr="/home/claude/lls-course/v2/cache/spare_future_friends_jpg_327x297_31.png">    </p:cNvPr>
          <p:cNvPicPr>
            <a:picLocks noChangeAspect="1"/>
          </p:cNvPicPr>
          <p:nvPr/>
        </p:nvPicPr>
        <p:blipFill>
          <a:blip r:embed="rId5"/>
          <a:stretch>
            <a:fillRect/>
          </a:stretch>
        </p:blipFill>
        <p:spPr>
          <a:xfrm rot="-120000">
            <a:off x="1034393" y="1417320"/>
            <a:ext cx="1360213" cy="1234440"/>
          </a:xfrm>
          <a:prstGeom prst="rect">
            <a:avLst/>
          </a:prstGeom>
        </p:spPr>
      </p:pic>
      <p:sp>
        <p:nvSpPr>
          <p:cNvPr id="14" name="cd_57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7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7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7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Is WWF a charity you support?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long have you been + -ing…?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long have you had / known…?</a:t>
            </a:r>
            <a:endParaRPr lang="en-US" sz="1100" dirty="0"/>
          </a:p>
        </p:txBody>
      </p:sp>
      <p:sp>
        <p:nvSpPr>
          <p:cNvPr id="18" name="R1_qb57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80"/>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"Irina" → How long have you known Irina? – Since primary school.</a:t>
            </a:r>
            <a:endParaRPr lang="en-US" sz="1050" dirty="0"/>
          </a:p>
        </p:txBody>
      </p:sp>
      <p:sp>
        <p:nvSpPr>
          <p:cNvPr id="20" name="R2_qb581"/>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82"/>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"volleyball" → How long have you been playing volleyball? – For three years.</a:t>
            </a:r>
            <a:endParaRPr lang="en-US" sz="1050" dirty="0"/>
          </a:p>
        </p:txBody>
      </p:sp>
      <p:sp>
        <p:nvSpPr>
          <p:cNvPr id="22" name="R3_qb583"/>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84"/>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"TikTok" → How long have you been using TikTok? – Since 2022.</a:t>
            </a:r>
            <a:endParaRPr lang="en-US" sz="1050" dirty="0"/>
          </a:p>
        </p:txBody>
      </p:sp>
      <p:pic>
        <p:nvPicPr>
          <p:cNvPr id="24" name="R3_th585"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5" name="R4_qb586"/>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87"/>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"Vespa" → How long have you had your Vespa? – For a year.</a:t>
            </a:r>
            <a:endParaRPr lang="en-US" sz="1050" dirty="0"/>
          </a:p>
        </p:txBody>
      </p:sp>
      <p:sp>
        <p:nvSpPr>
          <p:cNvPr id="27" name="R5_qb588"/>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89"/>
          <p:cNvSpPr/>
          <p:nvPr/>
        </p:nvSpPr>
        <p:spPr>
          <a:xfrm>
            <a:off x="3675888" y="364236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"guitar" → How long have you been learning the guitar?</a:t>
            </a:r>
            <a:endParaRPr lang="en-US" sz="1050" dirty="0"/>
          </a:p>
        </p:txBody>
      </p:sp>
      <p:pic>
        <p:nvPicPr>
          <p:cNvPr id="29" name="R5_th590"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0" name="R6_qb591"/>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92"/>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place where you live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"Bagheria" → How long have you lived / been living there?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par>
                                <p:cTn id="54" presetID="10" presetClass="entr" presetSubtype="0" fill="hold"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9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400" dirty="0"/>
          </a:p>
        </p:txBody>
      </p:sp>
      <p:pic>
        <p:nvPicPr>
          <p:cNvPr id="6" name="brP_5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5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RISULTATO. Squadra: Have you been…?</a:t>
            </a:r>
            <a:endParaRPr lang="en-US" sz="950" dirty="0"/>
          </a:p>
        </p:txBody>
      </p:sp>
      <p:sp>
        <p:nvSpPr>
          <p:cNvPr id="9" name="note_5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recent actions   ·   📖 Grammar Bank 2B · present perfect continuous for recent actions (audio 2.17)</a:t>
            </a:r>
            <a:endParaRPr lang="en-US" sz="800" dirty="0"/>
          </a:p>
        </p:txBody>
      </p:sp>
      <p:sp>
        <p:nvSpPr>
          <p:cNvPr id="12" name="cd_602"/>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05"/>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mimer looks at the screen. The team doesn't!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Il mimo guarda lo schermo. La squadra 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Mime how you look NOW. No words!</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Mima come sei ADESSO. Niente parole!</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Team asks: Have you been…-ing?</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chiede: Have you been…-ing?</a:t>
            </a:r>
            <a:endParaRPr lang="en-US" sz="850" dirty="0"/>
          </a:p>
        </p:txBody>
      </p:sp>
      <p:sp>
        <p:nvSpPr>
          <p:cNvPr id="16" name="pf_606"/>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07" descr="/home/claude/lls-course/v2/cache/2b1_out_of_breath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rl_60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19" name="R1_w609"/>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0" name="R3_w610"/>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1" name="R5_w611"/>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2" name="R7_w612"/>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3" name="rl_61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4" name="R2_w614"/>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5" name="R4_w615"/>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6" name="R6_w616"/>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27" name="R8_w617"/>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2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2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Exit · what can you remember?</a:t>
            </a:r>
            <a:endParaRPr lang="en-US" sz="800" dirty="0"/>
          </a:p>
        </p:txBody>
      </p:sp>
      <p:sp>
        <p:nvSpPr>
          <p:cNvPr id="12" name="bd_62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2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Adelante Africa projects (no looking!)</a:t>
            </a:r>
            <a:endParaRPr lang="en-US" sz="1400" dirty="0"/>
          </a:p>
        </p:txBody>
      </p:sp>
      <p:sp>
        <p:nvSpPr>
          <p:cNvPr id="14" name="bd_62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3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How long…? questions: one been + -ing, one known / had</a:t>
            </a:r>
            <a:endParaRPr lang="en-US" sz="1400" dirty="0"/>
          </a:p>
        </p:txBody>
      </p:sp>
      <p:sp>
        <p:nvSpPr>
          <p:cNvPr id="16" name="bd_63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3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true sentence about you with for or since</a:t>
            </a:r>
            <a:endParaRPr lang="en-US" sz="1400" dirty="0"/>
          </a:p>
        </p:txBody>
      </p:sp>
      <p:sp>
        <p:nvSpPr>
          <p:cNvPr id="18" name="cd_633"/>
          <p:cNvSpPr/>
          <p:nvPr/>
        </p:nvSpPr>
        <p:spPr>
          <a:xfrm>
            <a:off x="5669280" y="1417320"/>
            <a:ext cx="320040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3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3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36"/>
          <p:cNvSpPr/>
          <p:nvPr/>
        </p:nvSpPr>
        <p:spPr>
          <a:xfrm>
            <a:off x="6236208" y="1911096"/>
            <a:ext cx="254203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2B: 1a–1e, 2a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2B: c 1–10</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p.116: an informal email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2B-1 in the LLS app</a:t>
            </a:r>
            <a:endParaRPr lang="en-US" sz="1150" dirty="0"/>
          </a:p>
        </p:txBody>
      </p:sp>
      <p:sp>
        <p:nvSpPr>
          <p:cNvPr id="22" name="st_637"/>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3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4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4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4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Review · what did you do today?</a:t>
            </a:r>
            <a:endParaRPr lang="en-US" sz="800" dirty="0"/>
          </a:p>
        </p:txBody>
      </p:sp>
      <p:sp>
        <p:nvSpPr>
          <p:cNvPr id="12" name="cd_647"/>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48"/>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49"/>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the true story of a charity</a:t>
            </a:r>
            <a:endParaRPr lang="en-US" sz="1350" dirty="0"/>
          </a:p>
        </p:txBody>
      </p:sp>
      <p:sp>
        <p:nvSpPr>
          <p:cNvPr id="15" name="R1_tk650"/>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51"/>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52"/>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53"/>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helping other people</a:t>
            </a:r>
            <a:endParaRPr lang="en-US" sz="1350" dirty="0"/>
          </a:p>
        </p:txBody>
      </p:sp>
      <p:sp>
        <p:nvSpPr>
          <p:cNvPr id="19" name="R2_tk654"/>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55"/>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56"/>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57"/>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Asked How long…? with for and since</a:t>
            </a:r>
            <a:endParaRPr lang="en-US" sz="1350" dirty="0"/>
          </a:p>
        </p:txBody>
      </p:sp>
      <p:sp>
        <p:nvSpPr>
          <p:cNvPr id="23" name="R3_tk658"/>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59"/>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60"/>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61"/>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62"/>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63"/>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64"/>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65"/>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How long…? questions with the right stress</a:t>
            </a:r>
            <a:endParaRPr lang="en-US" sz="1350" dirty="0"/>
          </a:p>
        </p:txBody>
      </p:sp>
      <p:sp>
        <p:nvSpPr>
          <p:cNvPr id="31" name="R5_tk666"/>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6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68"/>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69"/>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70"/>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71"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67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7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250" dirty="0"/>
          </a:p>
        </p:txBody>
      </p:sp>
      <p:pic>
        <p:nvPicPr>
          <p:cNvPr id="6" name="brP_67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7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6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le risposte della fotocopia.</a:t>
            </a:r>
            <a:endParaRPr lang="en-US" sz="950" dirty="0"/>
          </a:p>
        </p:txBody>
      </p:sp>
      <p:sp>
        <p:nvSpPr>
          <p:cNvPr id="9" name="note_6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Controlled practice</a:t>
            </a:r>
            <a:endParaRPr lang="en-US" sz="1250" dirty="0"/>
          </a:p>
        </p:txBody>
      </p:sp>
      <p:pic>
        <p:nvPicPr>
          <p:cNvPr id="10" name="logo_6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Grammar PCM   ·   📖 📄 B1_2B_Photocopiables.pdf p.1 (TG p.152)</a:t>
            </a:r>
            <a:endParaRPr lang="en-US" sz="800" dirty="0"/>
          </a:p>
        </p:txBody>
      </p:sp>
      <p:sp>
        <p:nvSpPr>
          <p:cNvPr id="12" name="ext_68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82"/>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8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1 and b 1 = the examples on the sheet</a:t>
            </a:r>
            <a:endParaRPr lang="en-US" sz="1050" dirty="0"/>
          </a:p>
        </p:txBody>
      </p:sp>
      <p:sp>
        <p:nvSpPr>
          <p:cNvPr id="17" name="pf_68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87" descr="/home/claude/lls-course/v2/cache/2b1_painting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9" name="bd_688"/>
          <p:cNvSpPr/>
          <p:nvPr/>
        </p:nvSpPr>
        <p:spPr>
          <a:xfrm>
            <a:off x="324612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89"/>
          <p:cNvSpPr/>
          <p:nvPr/>
        </p:nvSpPr>
        <p:spPr>
          <a:xfrm>
            <a:off x="3630168" y="1417320"/>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1" name="R1_chip690"/>
          <p:cNvSpPr/>
          <p:nvPr/>
        </p:nvSpPr>
        <p:spPr>
          <a:xfrm>
            <a:off x="5806440" y="1417320"/>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900" dirty="0"/>
          </a:p>
        </p:txBody>
      </p:sp>
      <p:sp>
        <p:nvSpPr>
          <p:cNvPr id="22" name="bd_691"/>
          <p:cNvSpPr/>
          <p:nvPr/>
        </p:nvSpPr>
        <p:spPr>
          <a:xfrm>
            <a:off x="324612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692"/>
          <p:cNvSpPr/>
          <p:nvPr/>
        </p:nvSpPr>
        <p:spPr>
          <a:xfrm>
            <a:off x="3630168" y="1887583"/>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4" name="R2_chip693"/>
          <p:cNvSpPr/>
          <p:nvPr/>
        </p:nvSpPr>
        <p:spPr>
          <a:xfrm>
            <a:off x="5806440" y="1887583"/>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900" dirty="0"/>
          </a:p>
        </p:txBody>
      </p:sp>
      <p:sp>
        <p:nvSpPr>
          <p:cNvPr id="25" name="bd_694"/>
          <p:cNvSpPr/>
          <p:nvPr/>
        </p:nvSpPr>
        <p:spPr>
          <a:xfrm>
            <a:off x="324612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695"/>
          <p:cNvSpPr/>
          <p:nvPr/>
        </p:nvSpPr>
        <p:spPr>
          <a:xfrm>
            <a:off x="3630168" y="2357846"/>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7" name="R3_chip696"/>
          <p:cNvSpPr/>
          <p:nvPr/>
        </p:nvSpPr>
        <p:spPr>
          <a:xfrm>
            <a:off x="5806440" y="2357846"/>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900" dirty="0"/>
          </a:p>
        </p:txBody>
      </p:sp>
      <p:sp>
        <p:nvSpPr>
          <p:cNvPr id="28" name="bd_697"/>
          <p:cNvSpPr/>
          <p:nvPr/>
        </p:nvSpPr>
        <p:spPr>
          <a:xfrm>
            <a:off x="324612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698"/>
          <p:cNvSpPr/>
          <p:nvPr/>
        </p:nvSpPr>
        <p:spPr>
          <a:xfrm>
            <a:off x="3630168" y="2828109"/>
            <a:ext cx="210312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0" name="R4_chip699"/>
          <p:cNvSpPr/>
          <p:nvPr/>
        </p:nvSpPr>
        <p:spPr>
          <a:xfrm>
            <a:off x="5806440" y="2828109"/>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800" dirty="0"/>
          </a:p>
        </p:txBody>
      </p:sp>
      <p:sp>
        <p:nvSpPr>
          <p:cNvPr id="31" name="bd_700"/>
          <p:cNvSpPr/>
          <p:nvPr/>
        </p:nvSpPr>
        <p:spPr>
          <a:xfrm>
            <a:off x="324612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701"/>
          <p:cNvSpPr/>
          <p:nvPr/>
        </p:nvSpPr>
        <p:spPr>
          <a:xfrm>
            <a:off x="3630168" y="3298371"/>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3" name="R5_chip702"/>
          <p:cNvSpPr/>
          <p:nvPr/>
        </p:nvSpPr>
        <p:spPr>
          <a:xfrm>
            <a:off x="5806440" y="3298371"/>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900" dirty="0"/>
          </a:p>
        </p:txBody>
      </p:sp>
      <p:sp>
        <p:nvSpPr>
          <p:cNvPr id="34" name="bd_703"/>
          <p:cNvSpPr/>
          <p:nvPr/>
        </p:nvSpPr>
        <p:spPr>
          <a:xfrm>
            <a:off x="324612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704"/>
          <p:cNvSpPr/>
          <p:nvPr/>
        </p:nvSpPr>
        <p:spPr>
          <a:xfrm>
            <a:off x="3630168" y="3768634"/>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6" name="R6_chip705"/>
          <p:cNvSpPr/>
          <p:nvPr/>
        </p:nvSpPr>
        <p:spPr>
          <a:xfrm>
            <a:off x="5806440" y="3768634"/>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900" dirty="0"/>
          </a:p>
        </p:txBody>
      </p:sp>
      <p:sp>
        <p:nvSpPr>
          <p:cNvPr id="37" name="bd_706"/>
          <p:cNvSpPr/>
          <p:nvPr/>
        </p:nvSpPr>
        <p:spPr>
          <a:xfrm>
            <a:off x="324612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707"/>
          <p:cNvSpPr/>
          <p:nvPr/>
        </p:nvSpPr>
        <p:spPr>
          <a:xfrm>
            <a:off x="3630168" y="4238897"/>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39" name="R7_chip708"/>
          <p:cNvSpPr/>
          <p:nvPr/>
        </p:nvSpPr>
        <p:spPr>
          <a:xfrm>
            <a:off x="5806440" y="4238897"/>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1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1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250" dirty="0"/>
          </a:p>
        </p:txBody>
      </p:sp>
      <p:pic>
        <p:nvPicPr>
          <p:cNvPr id="6" name="brP_7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7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Alzati! Trova qualcuno che… Chiedi How long?</a:t>
            </a:r>
            <a:endParaRPr lang="en-US" sz="950" dirty="0"/>
          </a:p>
        </p:txBody>
      </p:sp>
      <p:sp>
        <p:nvSpPr>
          <p:cNvPr id="9" name="note_7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mingle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7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find someone who…   ·   📖 Communicative PCM 2B 'How long have you been…?' (TG p.181) – adapted</a:t>
            </a:r>
            <a:endParaRPr lang="en-US" sz="800" dirty="0"/>
          </a:p>
        </p:txBody>
      </p:sp>
      <p:sp>
        <p:nvSpPr>
          <p:cNvPr id="12" name="ext_718"/>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719"/>
          <p:cNvSpPr/>
          <p:nvPr/>
        </p:nvSpPr>
        <p:spPr>
          <a:xfrm rot="-120000">
            <a:off x="845820" y="1371600"/>
            <a:ext cx="173736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720" descr="/home/claude/lls-course/v2/cache/2b1_old_friends_jpg_396x297_31.png">    </p:cNvPr>
          <p:cNvPicPr>
            <a:picLocks noChangeAspect="1"/>
          </p:cNvPicPr>
          <p:nvPr/>
        </p:nvPicPr>
        <p:blipFill>
          <a:blip r:embed="rId5"/>
          <a:stretch>
            <a:fillRect/>
          </a:stretch>
        </p:blipFill>
        <p:spPr>
          <a:xfrm rot="-120000">
            <a:off x="891540" y="1417320"/>
            <a:ext cx="1645920" cy="1234440"/>
          </a:xfrm>
          <a:prstGeom prst="rect">
            <a:avLst/>
          </a:prstGeom>
        </p:spPr>
      </p:pic>
      <p:sp>
        <p:nvSpPr>
          <p:cNvPr id="15" name="cd_721"/>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72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2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724"/>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Are you learning…?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Have you had…?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long have you…?</a:t>
            </a:r>
            <a:endParaRPr lang="en-US" sz="1150" dirty="0"/>
          </a:p>
        </p:txBody>
      </p:sp>
      <p:sp>
        <p:nvSpPr>
          <p:cNvPr id="19" name="R1_qb72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726"/>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Are you learning another language? – Yes, Spanish. – How long have you been learning it?</a:t>
            </a:r>
            <a:endParaRPr lang="en-US" sz="900" dirty="0"/>
          </a:p>
        </p:txBody>
      </p:sp>
      <p:sp>
        <p:nvSpPr>
          <p:cNvPr id="21" name="R2_qb727"/>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728"/>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long have you had your phone? – Since 2021!</a:t>
            </a:r>
            <a:endParaRPr lang="en-US" sz="1000" dirty="0"/>
          </a:p>
        </p:txBody>
      </p:sp>
      <p:sp>
        <p:nvSpPr>
          <p:cNvPr id="23" name="R3_qb729"/>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730"/>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long have you known Giulia? – Since we were six.</a:t>
            </a:r>
            <a:endParaRPr lang="en-US" sz="1000" dirty="0"/>
          </a:p>
        </p:txBody>
      </p:sp>
      <p:sp>
        <p:nvSpPr>
          <p:cNvPr id="25" name="R4_qb731"/>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732"/>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…does a sport (5+ years)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long have you been playing tennis? – For six years.</a:t>
            </a:r>
            <a:endParaRPr lang="en-US" sz="1000" dirty="0"/>
          </a:p>
        </p:txBody>
      </p:sp>
      <p:sp>
        <p:nvSpPr>
          <p:cNvPr id="27" name="R5_qb733"/>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734"/>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long have you lived here? – Since I was born.</a:t>
            </a:r>
            <a:endParaRPr lang="en-US" sz="1000" dirty="0"/>
          </a:p>
        </p:txBody>
      </p:sp>
      <p:sp>
        <p:nvSpPr>
          <p:cNvPr id="29" name="R6_qb735"/>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736"/>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long have you been reading it? – For a week.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2026-10-21T09:55:05Z</dcterms:created>
  <dcterms:modified xsi:type="dcterms:W3CDTF">2026-10-21T09:55:05Z</dcterms:modified>
</cp:coreProperties>
</file>