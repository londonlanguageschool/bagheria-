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(4 min)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ONE click shows all the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(5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(3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ONE click shows all the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toys and your childhood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radio programme: pink and blue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prepositions: afraid of, good at…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"Just a minute!"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3b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men, women and stereotypes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articles: a / an, the, no article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 / an  ·  the</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a lawyer.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 / an = first time, jobs · the = we know which one, only one</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Men usually love football.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things in general · home, work, school · next week</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171907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generally speaking</a:t>
            </a:r>
            <a:endParaRPr lang="en-US" sz="1050" dirty="0"/>
          </a:p>
        </p:txBody>
      </p:sp>
      <p:sp>
        <p:nvSpPr>
          <p:cNvPr id="27" name="w_41"/>
          <p:cNvSpPr/>
          <p:nvPr/>
        </p:nvSpPr>
        <p:spPr>
          <a:xfrm>
            <a:off x="5038344"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whole</a:t>
            </a:r>
            <a:endParaRPr lang="en-US" sz="1050" dirty="0"/>
          </a:p>
        </p:txBody>
      </p:sp>
      <p:sp>
        <p:nvSpPr>
          <p:cNvPr id="28" name="w_42"/>
          <p:cNvSpPr/>
          <p:nvPr/>
        </p:nvSpPr>
        <p:spPr>
          <a:xfrm>
            <a:off x="6364224"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tend to</a:t>
            </a:r>
            <a:endParaRPr lang="en-US" sz="1050" dirty="0"/>
          </a:p>
        </p:txBody>
      </p:sp>
      <p:sp>
        <p:nvSpPr>
          <p:cNvPr id="29" name="w_43"/>
          <p:cNvSpPr/>
          <p:nvPr/>
        </p:nvSpPr>
        <p:spPr>
          <a:xfrm>
            <a:off x="7301484" y="4178808"/>
            <a:ext cx="125272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stereotype</a:t>
            </a:r>
            <a:endParaRPr lang="en-US" sz="1050" dirty="0"/>
          </a:p>
        </p:txBody>
      </p:sp>
      <p:sp>
        <p:nvSpPr>
          <p:cNvPr id="30" name="w_44"/>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hour</a:t>
            </a:r>
            <a:endParaRPr lang="en-US" sz="1050" dirty="0"/>
          </a:p>
        </p:txBody>
      </p:sp>
      <p:sp>
        <p:nvSpPr>
          <p:cNvPr id="31" name="w_45"/>
          <p:cNvSpPr/>
          <p:nvPr/>
        </p:nvSpPr>
        <p:spPr>
          <a:xfrm>
            <a:off x="418338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cinema</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 2 o 3 punti!</a:t>
            </a:r>
            <a:endParaRPr lang="en-US" sz="950" dirty="0"/>
          </a:p>
        </p:txBody>
      </p:sp>
      <p:sp>
        <p:nvSpPr>
          <p:cNvPr id="9" name="cmd_5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Warmer · last lesson: articles   ·   📖 Recycles 3B part 1 · Grammar Bank 3B · Grammar photocopiable 3B</a:t>
            </a:r>
            <a:endParaRPr lang="en-US" sz="800" dirty="0"/>
          </a:p>
        </p:txBody>
      </p:sp>
      <p:sp>
        <p:nvSpPr>
          <p:cNvPr id="13" name="cd_5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 Right or wrong?</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Bet 1, 2 or 3 points.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Wrong? Correct it to win!</a:t>
            </a:r>
            <a:endParaRPr lang="en-US" sz="1150" dirty="0"/>
          </a:p>
        </p:txBody>
      </p:sp>
      <p:sp>
        <p:nvSpPr>
          <p:cNvPr id="17" name="st_60"/>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61"/>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62"/>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1100" dirty="0"/>
          </a:p>
        </p:txBody>
      </p:sp>
      <p:sp>
        <p:nvSpPr>
          <p:cNvPr id="20" name="R1_chip63"/>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late for school</a:t>
            </a:r>
            <a:endParaRPr lang="en-US" sz="1100" dirty="0"/>
          </a:p>
        </p:txBody>
      </p:sp>
      <p:sp>
        <p:nvSpPr>
          <p:cNvPr id="21" name="bd_64"/>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65"/>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1100" dirty="0"/>
          </a:p>
        </p:txBody>
      </p:sp>
      <p:sp>
        <p:nvSpPr>
          <p:cNvPr id="23" name="R2_chip66"/>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a:t>
            </a:r>
            <a:endParaRPr lang="en-US" sz="1100" dirty="0"/>
          </a:p>
        </p:txBody>
      </p:sp>
      <p:sp>
        <p:nvSpPr>
          <p:cNvPr id="24" name="bd_67"/>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68"/>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1100" dirty="0"/>
          </a:p>
        </p:txBody>
      </p:sp>
      <p:sp>
        <p:nvSpPr>
          <p:cNvPr id="26" name="R3_chip69"/>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people … football</a:t>
            </a:r>
            <a:endParaRPr lang="en-US" sz="1100" dirty="0"/>
          </a:p>
        </p:txBody>
      </p:sp>
      <p:sp>
        <p:nvSpPr>
          <p:cNvPr id="27" name="bd_70"/>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71"/>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1100" dirty="0"/>
          </a:p>
        </p:txBody>
      </p:sp>
      <p:sp>
        <p:nvSpPr>
          <p:cNvPr id="29" name="R4_chip72"/>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100" dirty="0"/>
          </a:p>
        </p:txBody>
      </p:sp>
      <p:sp>
        <p:nvSpPr>
          <p:cNvPr id="30" name="bd_73"/>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74"/>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1100" dirty="0"/>
          </a:p>
        </p:txBody>
      </p:sp>
      <p:sp>
        <p:nvSpPr>
          <p:cNvPr id="32" name="R5_chip75"/>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an easy question</a:t>
            </a:r>
            <a:endParaRPr lang="en-US" sz="1100" dirty="0"/>
          </a:p>
        </p:txBody>
      </p:sp>
      <p:sp>
        <p:nvSpPr>
          <p:cNvPr id="33" name="bd_76"/>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77"/>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1100" dirty="0"/>
          </a:p>
        </p:txBody>
      </p:sp>
      <p:sp>
        <p:nvSpPr>
          <p:cNvPr id="35" name="R6_chip78"/>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good health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Come si chiama il giocattolo?</a:t>
            </a:r>
            <a:endParaRPr lang="en-US" sz="950" dirty="0"/>
          </a:p>
        </p:txBody>
      </p:sp>
      <p:sp>
        <p:nvSpPr>
          <p:cNvPr id="9" name="cmd_8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8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toys   ·   📖 SB p.32 · 4a (the book's list of toys)</a:t>
            </a:r>
            <a:endParaRPr lang="en-US" sz="800" dirty="0"/>
          </a:p>
        </p:txBody>
      </p:sp>
      <p:sp>
        <p:nvSpPr>
          <p:cNvPr id="13" name="cd_8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92"/>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kick it in the garden → a football</a:t>
            </a:r>
            <a:endParaRPr lang="en-US" sz="1050" dirty="0"/>
          </a:p>
        </p:txBody>
      </p:sp>
      <p:sp>
        <p:nvSpPr>
          <p:cNvPr id="17" name="pf_9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4" descr="/home/claude/lls-course/v2/cache/3b2_brick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95"/>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96"/>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150" dirty="0"/>
          </a:p>
        </p:txBody>
      </p:sp>
      <p:sp>
        <p:nvSpPr>
          <p:cNvPr id="21" name="R1_chip97"/>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00" dirty="0"/>
          </a:p>
        </p:txBody>
      </p:sp>
      <p:sp>
        <p:nvSpPr>
          <p:cNvPr id="22" name="bd_98"/>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99"/>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150" dirty="0"/>
          </a:p>
        </p:txBody>
      </p:sp>
      <p:sp>
        <p:nvSpPr>
          <p:cNvPr id="24" name="R2_chip100"/>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dolls</a:t>
            </a:r>
            <a:endParaRPr lang="en-US" sz="1000" dirty="0"/>
          </a:p>
        </p:txBody>
      </p:sp>
      <p:sp>
        <p:nvSpPr>
          <p:cNvPr id="25" name="bd_101"/>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02"/>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150" dirty="0"/>
          </a:p>
        </p:txBody>
      </p:sp>
      <p:sp>
        <p:nvSpPr>
          <p:cNvPr id="27" name="R3_chip103"/>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dressing-up clothes</a:t>
            </a:r>
            <a:endParaRPr lang="en-US" sz="1000" dirty="0"/>
          </a:p>
        </p:txBody>
      </p:sp>
      <p:sp>
        <p:nvSpPr>
          <p:cNvPr id="28" name="bd_104"/>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05"/>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150" dirty="0"/>
          </a:p>
        </p:txBody>
      </p:sp>
      <p:sp>
        <p:nvSpPr>
          <p:cNvPr id="30" name="R4_chip106"/>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jigsaw</a:t>
            </a:r>
            <a:endParaRPr lang="en-US" sz="1000" dirty="0"/>
          </a:p>
        </p:txBody>
      </p:sp>
      <p:sp>
        <p:nvSpPr>
          <p:cNvPr id="31" name="bd_107"/>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08"/>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teddy bear is one</a:t>
            </a:r>
            <a:endParaRPr lang="en-US" sz="1150" dirty="0"/>
          </a:p>
        </p:txBody>
      </p:sp>
      <p:sp>
        <p:nvSpPr>
          <p:cNvPr id="33" name="R5_chip109"/>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soft toys</a:t>
            </a:r>
            <a:endParaRPr lang="en-US" sz="1000" dirty="0"/>
          </a:p>
        </p:txBody>
      </p:sp>
      <p:sp>
        <p:nvSpPr>
          <p:cNvPr id="34" name="bd_110"/>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11"/>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150" dirty="0"/>
          </a:p>
        </p:txBody>
      </p:sp>
      <p:sp>
        <p:nvSpPr>
          <p:cNvPr id="36" name="R6_chip112"/>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vehicles</a:t>
            </a:r>
            <a:endParaRPr lang="en-US" sz="1000" dirty="0"/>
          </a:p>
        </p:txBody>
      </p:sp>
      <p:sp>
        <p:nvSpPr>
          <p:cNvPr id="37" name="bd_113"/>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8" name="q_114"/>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150" dirty="0"/>
          </a:p>
        </p:txBody>
      </p:sp>
      <p:sp>
        <p:nvSpPr>
          <p:cNvPr id="39" name="R7_chip115"/>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weapons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7"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18"/>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1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2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12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3" name="cd_12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2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2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200" dirty="0"/>
          </a:p>
        </p:txBody>
      </p:sp>
      <p:sp>
        <p:nvSpPr>
          <p:cNvPr id="16" name="R1_it12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giochi di costruzione</a:t>
            </a:r>
            <a:endParaRPr lang="en-US" sz="1000" dirty="0"/>
          </a:p>
        </p:txBody>
      </p:sp>
      <p:sp>
        <p:nvSpPr>
          <p:cNvPr id="17" name="cd_13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3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3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20" name="R1_it13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1" name="cd_13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3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3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200" dirty="0"/>
          </a:p>
        </p:txBody>
      </p:sp>
      <p:sp>
        <p:nvSpPr>
          <p:cNvPr id="24" name="R1_it13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costumi (per travestirsi)</a:t>
            </a:r>
            <a:endParaRPr lang="en-US" sz="1000" dirty="0"/>
          </a:p>
        </p:txBody>
      </p:sp>
      <p:sp>
        <p:nvSpPr>
          <p:cNvPr id="25" name="cd_13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3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4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8" name="R1_it14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29" name="cd_14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4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4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2" name="R1_it14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3" name="cd_14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4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4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6" name="R1_it14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macchinine, trenini…</a:t>
            </a:r>
            <a:endParaRPr lang="en-US" sz="1000" dirty="0"/>
          </a:p>
        </p:txBody>
      </p:sp>
      <p:sp>
        <p:nvSpPr>
          <p:cNvPr id="37" name="cd_15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5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5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40" name="R1_it15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1" name="cd_15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5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5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4" name="R1_it15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corsia (del negozio)</a:t>
            </a:r>
            <a:endParaRPr lang="en-US" sz="1000" dirty="0"/>
          </a:p>
        </p:txBody>
      </p:sp>
      <p:sp>
        <p:nvSpPr>
          <p:cNvPr id="45" name="cd_15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5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6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8" name="R1_it16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1000" dirty="0"/>
          </a:p>
        </p:txBody>
      </p:sp>
      <p:sp>
        <p:nvSpPr>
          <p:cNvPr id="49" name="cd_16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6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6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2" name="R1_it16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3" name="cd_16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6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6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6" name="R1_it16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7" name="cd_17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7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7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60" name="R1_it17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1000" dirty="0"/>
          </a:p>
        </p:txBody>
      </p:sp>
      <p:sp>
        <p:nvSpPr>
          <p:cNvPr id="61" name="R1_wc17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7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7"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78"/>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79"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0"/>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Bambine, bambini o entrambi? Spiega perché.</a:t>
            </a:r>
            <a:endParaRPr lang="en-US" sz="950" dirty="0"/>
          </a:p>
        </p:txBody>
      </p:sp>
      <p:sp>
        <p:nvSpPr>
          <p:cNvPr id="9" name="cmd_18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8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toys   ·   📖 SB p.32 · 4a</a:t>
            </a:r>
            <a:endParaRPr lang="en-US" sz="800" dirty="0"/>
          </a:p>
        </p:txBody>
      </p:sp>
      <p:sp>
        <p:nvSpPr>
          <p:cNvPr id="13" name="pf_18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87" descr="/home/claude/lls-course/v2/cache/3b2_dressing_u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18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8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9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191"/>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Generally speaking, girls / boys play with… more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Both equally!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whole, I think…</a:t>
            </a:r>
            <a:endParaRPr lang="en-US" sz="1050" dirty="0"/>
          </a:p>
        </p:txBody>
      </p:sp>
      <p:sp>
        <p:nvSpPr>
          <p:cNvPr id="19" name="R1_qb19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193"/>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Generally speaking, girls play with dolls more, but everyone loves soft toys.</a:t>
            </a:r>
            <a:endParaRPr lang="en-US" sz="1250" dirty="0"/>
          </a:p>
        </p:txBody>
      </p:sp>
      <p:pic>
        <p:nvPicPr>
          <p:cNvPr id="21" name="R1_th194"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2" name="R2_qb19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96"/>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My sister loved Lego.</a:t>
            </a:r>
            <a:endParaRPr lang="en-US" sz="1250" dirty="0"/>
          </a:p>
        </p:txBody>
      </p:sp>
      <p:pic>
        <p:nvPicPr>
          <p:cNvPr id="24" name="R2_th197"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5" name="R3_qb19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19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boys – my brother had 50 toy cars!</a:t>
            </a:r>
            <a:endParaRPr lang="en-US" sz="1250" dirty="0"/>
          </a:p>
        </p:txBody>
      </p:sp>
      <p:sp>
        <p:nvSpPr>
          <p:cNvPr id="27" name="R4_qb20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201"/>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at Carnevale everybody dresses up!</a:t>
            </a:r>
            <a:endParaRPr lang="en-US" sz="1250" dirty="0"/>
          </a:p>
        </p:txBody>
      </p:sp>
      <p:pic>
        <p:nvPicPr>
          <p:cNvPr id="29" name="R4_th202"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0" name="R5_qb20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20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had lots of jigsaws and a big box of Lego.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par>
                                <p:cTn id="49" presetID="10"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07"/>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Rispondi alle domande 1–3.</a:t>
            </a:r>
            <a:endParaRPr lang="en-US" sz="950" dirty="0"/>
          </a:p>
        </p:txBody>
      </p:sp>
      <p:sp>
        <p:nvSpPr>
          <p:cNvPr id="9" name="cmd_21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21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2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gist   ·   📖 SB p.32 · 4b, 4c · audio 3.24</a:t>
            </a:r>
            <a:endParaRPr lang="en-US" sz="800" dirty="0"/>
          </a:p>
        </p:txBody>
      </p:sp>
      <p:sp>
        <p:nvSpPr>
          <p:cNvPr id="13" name="ap_21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4" name="ah_21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21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21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19" descr="/home/claude/lls-course/v2/cache/3b2_vintage_baby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22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22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2" descr="/home/claude/lls-course/v2/cache/3b2_toy_aisle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22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22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25" descr="/home/claude/lls-course/v2/cache/3b2_two_mums_jpg_407x297_31.png">    </p:cNvPr>
          <p:cNvPicPr>
            <a:picLocks noChangeAspect="1"/>
          </p:cNvPicPr>
          <p:nvPr/>
        </p:nvPicPr>
        <p:blipFill>
          <a:blip r:embed="rId10"/>
          <a:stretch>
            <a:fillRect/>
          </a:stretch>
        </p:blipFill>
        <p:spPr>
          <a:xfrm rot="-90000">
            <a:off x="4206240" y="2103120"/>
            <a:ext cx="1691640" cy="1234440"/>
          </a:xfrm>
          <a:prstGeom prst="rect">
            <a:avLst/>
          </a:prstGeom>
        </p:spPr>
      </p:pic>
      <p:sp>
        <p:nvSpPr>
          <p:cNvPr id="25" name="bd_22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22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22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2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230"/>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  100 years ago: what colour was for boys?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  Are girls genetically attracted to pink?</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  Do Alison and Natasha agree about toy colours?</a:t>
            </a:r>
            <a:endParaRPr lang="en-US" sz="1100" dirty="0"/>
          </a:p>
        </p:txBody>
      </p:sp>
      <p:sp>
        <p:nvSpPr>
          <p:cNvPr id="30" name="lq_231"/>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1" name="R1_chip232"/>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2" name="lq_233"/>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3" name="R2_chip234"/>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4" name="lq_235"/>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5" name="R3_chip236"/>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5"/>
                                        </p:tgtEl>
                                      </p:cBhvr>
                                    </p:cmd>
                                  </p:childTnLst>
                                </p:cTn>
                              </p:par>
                            </p:childTnLst>
                          </p:cTn>
                        </p:par>
                      </p:childTnLst>
                    </p:cTn>
                  </p:par>
                </p:childTnLst>
              </p:cTn>
              <p:nextCondLst>
                <p:cond evt="onClick" delay="0">
                  <p:tgtEl>
                    <p:spTgt spid="15"/>
                  </p:tgtEl>
                </p:cond>
              </p:nextCondLst>
            </p:seq>
            <p:audio>
              <p:cMediaNode vol="80000">
                <p:cTn id="23" fill="hold" display="0">
                  <p:stCondLst>
                    <p:cond delay="indefinite"/>
                  </p:stCondLst>
                  <p:endCondLst>
                    <p:cond evt="onStopAudio" delay="0">
                      <p:tgtEl>
                        <p:sldTgt/>
                      </p:tgtEl>
                    </p:cond>
                  </p:endCondLst>
                </p:cTn>
                <p:tgtEl>
                  <p:spTgt spid="15"/>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3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di nuovo. Scegli a, b o c.</a:t>
            </a:r>
            <a:endParaRPr lang="en-US" sz="950" dirty="0"/>
          </a:p>
        </p:txBody>
      </p:sp>
      <p:sp>
        <p:nvSpPr>
          <p:cNvPr id="9" name="cmd_24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244"/>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24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detail   ·   📖 SB p.32 · 4d · audio 3.24</a:t>
            </a:r>
            <a:endParaRPr lang="en-US" sz="800" dirty="0"/>
          </a:p>
        </p:txBody>
      </p:sp>
      <p:sp>
        <p:nvSpPr>
          <p:cNvPr id="14" name="ap_24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5" name="ah_24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25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51" descr="/home/claude/lls-course/v2/cache/3b2_toy_aisl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25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5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5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5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5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200" dirty="0"/>
          </a:p>
        </p:txBody>
      </p:sp>
      <p:sp>
        <p:nvSpPr>
          <p:cNvPr id="24" name="R1_chip25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5" name="gq_25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200" dirty="0"/>
          </a:p>
        </p:txBody>
      </p:sp>
      <p:sp>
        <p:nvSpPr>
          <p:cNvPr id="26" name="R2_chip25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27" name="gq_26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1200" dirty="0"/>
          </a:p>
        </p:txBody>
      </p:sp>
      <p:sp>
        <p:nvSpPr>
          <p:cNvPr id="28" name="R3_chip26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29" name="gq_26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200" dirty="0"/>
          </a:p>
        </p:txBody>
      </p:sp>
      <p:sp>
        <p:nvSpPr>
          <p:cNvPr id="30" name="R4_chip26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1" name="gq_26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1200" dirty="0"/>
          </a:p>
        </p:txBody>
      </p:sp>
      <p:sp>
        <p:nvSpPr>
          <p:cNvPr id="32" name="R5_chip26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6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al compagno: Perché?</a:t>
            </a:r>
            <a:endParaRPr lang="en-US" sz="950" dirty="0"/>
          </a:p>
        </p:txBody>
      </p:sp>
      <p:sp>
        <p:nvSpPr>
          <p:cNvPr id="9" name="cmd_27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7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your opinion   ·   📖 SB p.32 · 4e</a:t>
            </a:r>
            <a:endParaRPr lang="en-US" sz="800" dirty="0"/>
          </a:p>
        </p:txBody>
      </p:sp>
      <p:sp>
        <p:nvSpPr>
          <p:cNvPr id="13" name="pf_27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77" descr="/home/claude/lls-course/v2/cache/3b2_two_mum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7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27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8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81"/>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agree with Alison / Natasha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opinion… · Generally speaking…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Why?</a:t>
            </a:r>
            <a:endParaRPr lang="en-US" sz="1050" dirty="0"/>
          </a:p>
        </p:txBody>
      </p:sp>
      <p:sp>
        <p:nvSpPr>
          <p:cNvPr id="19" name="R1_qb28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8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girls think science isn't for them.</a:t>
            </a:r>
            <a:endParaRPr lang="en-US" sz="1250" dirty="0"/>
          </a:p>
        </p:txBody>
      </p:sp>
      <p:sp>
        <p:nvSpPr>
          <p:cNvPr id="21" name="R2_qb28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8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Natasha! A pink box is a clever idea.</a:t>
            </a:r>
            <a:endParaRPr lang="en-US" sz="1250" dirty="0"/>
          </a:p>
        </p:txBody>
      </p:sp>
      <p:sp>
        <p:nvSpPr>
          <p:cNvPr id="23" name="R3_qb28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8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I had dolls and lots of toy cars.</a:t>
            </a:r>
            <a:endParaRPr lang="en-US" sz="1250" dirty="0"/>
          </a:p>
        </p:txBody>
      </p:sp>
      <p:sp>
        <p:nvSpPr>
          <p:cNvPr id="25" name="R4_qb28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28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Why not? Colours are for everyone.</a:t>
            </a:r>
            <a:endParaRPr lang="en-US" sz="1250" dirty="0"/>
          </a:p>
        </p:txBody>
      </p:sp>
      <p:sp>
        <p:nvSpPr>
          <p:cNvPr id="27" name="R5_qb29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29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A horrible yellow jumper from my nonna.</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9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9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2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Poi ascolta e controlla.</a:t>
            </a:r>
            <a:endParaRPr lang="en-US" sz="950" dirty="0"/>
          </a:p>
        </p:txBody>
      </p:sp>
      <p:sp>
        <p:nvSpPr>
          <p:cNvPr id="9" name="cmd_29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300" dirty="0"/>
          </a:p>
        </p:txBody>
      </p:sp>
      <p:sp>
        <p:nvSpPr>
          <p:cNvPr id="10" name="cmd_299"/>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30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prepositions in the programme   ·   📖 SB p.33 · 5a · audio script 3.24 (p.127)</a:t>
            </a:r>
            <a:endParaRPr lang="en-US" sz="800" dirty="0"/>
          </a:p>
        </p:txBody>
      </p:sp>
      <p:sp>
        <p:nvSpPr>
          <p:cNvPr id="14" name="cd_3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04"/>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6" name="ln_30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7" name="R1_lnA306"/>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8" name="ln_30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19" name="R2_lnA308"/>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ln_309"/>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1" name="R3_lnA310"/>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2" name="ln_31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3" name="R4_lnA31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4" name="ln_31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5" name="R5_lnA314"/>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6" name="ln_31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2EB872"/>
                </a:solidFill>
                <a:latin typeface="Georgia" pitchFamily="34" charset="0"/>
                <a:ea typeface="Georgia" pitchFamily="34" charset="-122"/>
                <a:cs typeface="Georgia" pitchFamily="34" charset="-120"/>
              </a:rPr>
              <a:t> (6) _____ </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7" name="R6_lnA316"/>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8" name="ap_317"/>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29" name="ah_31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3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31" name="pf_31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320" descr="/home/claude/lls-course/v2/cache/3b2_two_mums_jpg_594x352_31.png">    </p:cNvPr>
          <p:cNvPicPr>
            <a:picLocks noChangeAspect="1"/>
          </p:cNvPicPr>
          <p:nvPr/>
        </p:nvPicPr>
        <p:blipFill>
          <a:blip r:embed="rId8"/>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30"/>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0"/>
                                        </p:tgtEl>
                                      </p:cBhvr>
                                    </p:cmd>
                                  </p:childTnLst>
                                </p:cTn>
                              </p:par>
                            </p:childTnLst>
                          </p:cTn>
                        </p:par>
                      </p:childTnLst>
                    </p:cTn>
                  </p:par>
                </p:childTnLst>
              </p:cTn>
              <p:nextCondLst>
                <p:cond evt="onClick" delay="0">
                  <p:tgtEl>
                    <p:spTgt spid="30"/>
                  </p:tgtEl>
                </p:cond>
              </p:nextCondLst>
            </p:seq>
            <p:audio>
              <p:cMediaNode vol="80000">
                <p:cTn id="38" fill="hold" display="0">
                  <p:stCondLst>
                    <p:cond delay="indefinite"/>
                  </p:stCondLst>
                  <p:endCondLst>
                    <p:cond evt="onStopAudio" delay="0">
                      <p:tgtEl>
                        <p:sldTgt/>
                      </p:tgtEl>
                    </p:cond>
                  </p:endCondLst>
                </p:cTn>
                <p:tgtEl>
                  <p:spTgt spid="30"/>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2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preposizioni. Poi ascolta.</a:t>
            </a:r>
            <a:endParaRPr lang="en-US" sz="950" dirty="0"/>
          </a:p>
        </p:txBody>
      </p:sp>
      <p:sp>
        <p:nvSpPr>
          <p:cNvPr id="9" name="cmd_32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328"/>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32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3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verb + preposition   ·   📖 Vocabulary Bank Dependent prepositions p.156 · 1 After verbs · audio 3.25</a:t>
            </a:r>
            <a:endParaRPr lang="en-US" sz="800" dirty="0"/>
          </a:p>
        </p:txBody>
      </p:sp>
      <p:sp>
        <p:nvSpPr>
          <p:cNvPr id="14" name="ap_33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5" name="ah_33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3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5" descr="/home/claude/lls-course/v2/cache/3b2_argu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3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3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3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4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4" name="R1_chip34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5" name="gq_34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6" name="R2_chip34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27" name="gq_34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28" name="R3_chip34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9" name="gq_34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30" name="R4_chip34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1" name="gq_34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2" name="R5_chip34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3" name="gq_35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4" name="R6_chip35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5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5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Abbina il colore.</a:t>
            </a:r>
            <a:endParaRPr lang="en-US" sz="950" dirty="0"/>
          </a:p>
        </p:txBody>
      </p:sp>
      <p:sp>
        <p:nvSpPr>
          <p:cNvPr id="9" name="cmd_35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3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adjective + preposition   ·   📖 Vocabulary Bank p.156 · 2 After adjectives · audio 3.26</a:t>
            </a:r>
            <a:endParaRPr lang="en-US" sz="800" dirty="0"/>
          </a:p>
        </p:txBody>
      </p:sp>
      <p:sp>
        <p:nvSpPr>
          <p:cNvPr id="13" name="cd_36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36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6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8" name="lg_36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19" name="lg_36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20" name="lg_36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1" name="lg_370"/>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2" name="lg_371"/>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3" name="sq_37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200" dirty="0"/>
          </a:p>
        </p:txBody>
      </p:sp>
      <p:sp>
        <p:nvSpPr>
          <p:cNvPr id="24" name="R1_tag373"/>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5" name="sq_37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200" dirty="0"/>
          </a:p>
        </p:txBody>
      </p:sp>
      <p:sp>
        <p:nvSpPr>
          <p:cNvPr id="26" name="R2_tag375"/>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7" name="sq_37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200" dirty="0"/>
          </a:p>
        </p:txBody>
      </p:sp>
      <p:sp>
        <p:nvSpPr>
          <p:cNvPr id="28" name="R3_tag377"/>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29" name="sq_37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200" dirty="0"/>
          </a:p>
        </p:txBody>
      </p:sp>
      <p:sp>
        <p:nvSpPr>
          <p:cNvPr id="30" name="R4_tag379"/>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1" name="sq_38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200" dirty="0"/>
          </a:p>
        </p:txBody>
      </p:sp>
      <p:sp>
        <p:nvSpPr>
          <p:cNvPr id="32" name="R5_tag381"/>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3" name="sq_38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200" dirty="0"/>
          </a:p>
        </p:txBody>
      </p:sp>
      <p:sp>
        <p:nvSpPr>
          <p:cNvPr id="34" name="R6_tag383"/>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5" name="sq_38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200" dirty="0"/>
          </a:p>
        </p:txBody>
      </p:sp>
      <p:sp>
        <p:nvSpPr>
          <p:cNvPr id="36" name="R7_tag385"/>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7" name="sq_38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200" dirty="0"/>
          </a:p>
        </p:txBody>
      </p:sp>
      <p:sp>
        <p:nvSpPr>
          <p:cNvPr id="38" name="R8_tag387"/>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9" name="pf_38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389" descr="/home/claude/lls-course/v2/cache/3b2_fed_up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9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9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96"/>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9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3" name="cd_40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40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40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6" name="R1_it40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7" name="cd_40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40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40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20" name="R1_it40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1" name="cd_40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40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41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4" name="R1_it41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 pensare a, ricordare</a:t>
            </a:r>
            <a:endParaRPr lang="en-US" sz="1000" dirty="0"/>
          </a:p>
        </p:txBody>
      </p:sp>
      <p:sp>
        <p:nvSpPr>
          <p:cNvPr id="25" name="cd_41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41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41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8" name="R1_it41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1000" dirty="0"/>
          </a:p>
        </p:txBody>
      </p:sp>
      <p:sp>
        <p:nvSpPr>
          <p:cNvPr id="29" name="cd_41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41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41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200" dirty="0"/>
          </a:p>
        </p:txBody>
      </p:sp>
      <p:sp>
        <p:nvSpPr>
          <p:cNvPr id="32" name="R1_it41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3" name="cd_42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42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42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6" name="R1_it42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 in / per</a:t>
            </a:r>
            <a:endParaRPr lang="en-US" sz="1000" dirty="0"/>
          </a:p>
        </p:txBody>
      </p:sp>
      <p:sp>
        <p:nvSpPr>
          <p:cNvPr id="37" name="cd_42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42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42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40" name="R1_it42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1" name="cd_42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42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43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4" name="R1_it43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5" name="cd_43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43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43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8" name="R1_it43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49" name="cd_43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43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43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2" name="R1_it43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3" name="cd_44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44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44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6" name="R1_it44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7" name="cd_44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44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44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60" name="R1_it44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1" name="R1_wc44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44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5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5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5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Mimalo! Il compagno dice la frase.</a:t>
            </a:r>
            <a:endParaRPr lang="en-US" sz="950" dirty="0"/>
          </a:p>
        </p:txBody>
      </p:sp>
      <p:sp>
        <p:nvSpPr>
          <p:cNvPr id="9" name="cmd_45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5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game</a:t>
            </a:r>
            <a:endParaRPr lang="en-US" sz="800" dirty="0"/>
          </a:p>
        </p:txBody>
      </p:sp>
      <p:sp>
        <p:nvSpPr>
          <p:cNvPr id="13" name="cd_4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63"/>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mimes it. No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says: "You're afraid of…!" Then swap.</a:t>
            </a:r>
            <a:endParaRPr lang="en-US" sz="1150" dirty="0"/>
          </a:p>
        </p:txBody>
      </p:sp>
      <p:sp>
        <p:nvSpPr>
          <p:cNvPr id="17" name="pf_4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65" descr="/home/claude/lls-course/v2/cache/3b2_afraid_dark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46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mimes</a:t>
            </a:r>
            <a:endParaRPr lang="en-US" sz="1100" dirty="0"/>
          </a:p>
        </p:txBody>
      </p:sp>
      <p:sp>
        <p:nvSpPr>
          <p:cNvPr id="20" name="R1_w467"/>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1" name="R2_w468"/>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2" name="R3_w469"/>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3" name="R4_w470"/>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4" name="rl_47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mimes</a:t>
            </a:r>
            <a:endParaRPr lang="en-US" sz="1100" dirty="0"/>
          </a:p>
        </p:txBody>
      </p:sp>
      <p:sp>
        <p:nvSpPr>
          <p:cNvPr id="25" name="R5_w472"/>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6" name="R6_w473"/>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7" name="R7_w474"/>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8" name="R8_w475"/>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8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4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Finiscila: preposizione + un finale vero!</a:t>
            </a:r>
            <a:endParaRPr lang="en-US" sz="950" dirty="0"/>
          </a:p>
        </p:txBody>
      </p:sp>
      <p:sp>
        <p:nvSpPr>
          <p:cNvPr id="9" name="cmd_48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8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48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4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a:t>
            </a:r>
            <a:endParaRPr lang="en-US" sz="800" dirty="0"/>
          </a:p>
        </p:txBody>
      </p:sp>
      <p:sp>
        <p:nvSpPr>
          <p:cNvPr id="14" name="cd_48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9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beginning.</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finish it in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preposition = 1 point.</a:t>
            </a:r>
            <a:endParaRPr lang="en-US" sz="1150" dirty="0"/>
          </a:p>
        </p:txBody>
      </p:sp>
      <p:sp>
        <p:nvSpPr>
          <p:cNvPr id="18" name="pf_49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92" descr="/home/claude/lls-course/v2/cache/3b2_prou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9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100" dirty="0"/>
          </a:p>
        </p:txBody>
      </p:sp>
      <p:sp>
        <p:nvSpPr>
          <p:cNvPr id="22" name="R1_chip49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the dark / of dogs</a:t>
            </a:r>
            <a:endParaRPr lang="en-US" sz="1100" dirty="0"/>
          </a:p>
        </p:txBody>
      </p:sp>
      <p:sp>
        <p:nvSpPr>
          <p:cNvPr id="23" name="bd_49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very good…</a:t>
            </a:r>
            <a:endParaRPr lang="en-US" sz="1100" dirty="0"/>
          </a:p>
        </p:txBody>
      </p:sp>
      <p:sp>
        <p:nvSpPr>
          <p:cNvPr id="25" name="R2_chip49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maths / at singing</a:t>
            </a:r>
            <a:endParaRPr lang="en-US" sz="1100" dirty="0"/>
          </a:p>
        </p:txBody>
      </p:sp>
      <p:sp>
        <p:nvSpPr>
          <p:cNvPr id="26" name="bd_49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0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really fed up…</a:t>
            </a:r>
            <a:endParaRPr lang="en-US" sz="1100" dirty="0"/>
          </a:p>
        </p:txBody>
      </p:sp>
      <p:sp>
        <p:nvSpPr>
          <p:cNvPr id="28" name="R3_chip50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100" dirty="0"/>
          </a:p>
        </p:txBody>
      </p:sp>
      <p:sp>
        <p:nvSpPr>
          <p:cNvPr id="29" name="bd_50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100" dirty="0"/>
          </a:p>
        </p:txBody>
      </p:sp>
      <p:sp>
        <p:nvSpPr>
          <p:cNvPr id="31" name="R4_chip50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me / of my cousin</a:t>
            </a:r>
            <a:endParaRPr lang="en-US" sz="1100" dirty="0"/>
          </a:p>
        </p:txBody>
      </p:sp>
      <p:sp>
        <p:nvSpPr>
          <p:cNvPr id="32" name="bd_50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100" dirty="0"/>
          </a:p>
        </p:txBody>
      </p:sp>
      <p:sp>
        <p:nvSpPr>
          <p:cNvPr id="34" name="R5_chip50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100" dirty="0"/>
          </a:p>
        </p:txBody>
      </p:sp>
      <p:sp>
        <p:nvSpPr>
          <p:cNvPr id="35" name="bd_50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song reminds me…</a:t>
            </a:r>
            <a:endParaRPr lang="en-US" sz="1100" dirty="0"/>
          </a:p>
        </p:txBody>
      </p:sp>
      <p:sp>
        <p:nvSpPr>
          <p:cNvPr id="37" name="R6_chip51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last summer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1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1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domande. Poi ascolta.</a:t>
            </a:r>
            <a:endParaRPr lang="en-US" sz="950" dirty="0"/>
          </a:p>
        </p:txBody>
      </p:sp>
      <p:sp>
        <p:nvSpPr>
          <p:cNvPr id="9" name="cmd_517"/>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518"/>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51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5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questions   ·   📖 SB p.33 · 5c, 5d · audio 3.27</a:t>
            </a:r>
            <a:endParaRPr lang="en-US" sz="800" dirty="0"/>
          </a:p>
        </p:txBody>
      </p:sp>
      <p:sp>
        <p:nvSpPr>
          <p:cNvPr id="14" name="ap_52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5" name="ah_523"/>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2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25" descr="/home/claude/lls-course/v2/cache/3b2_just_a_minute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52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2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2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2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3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4" name="R1_chip53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5" name="gq_53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6" name="R2_chip53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27" name="gq_53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28" name="R3_chip53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29" name="gq_53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30" name="R4_chip53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1" name="gq_53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2" name="R5_chip53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3" name="gq_54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4" name="R6_chip54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4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4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Parla per 30 secondi. Non fermarti!</a:t>
            </a:r>
            <a:endParaRPr lang="en-US" sz="950" dirty="0"/>
          </a:p>
        </p:txBody>
      </p:sp>
      <p:sp>
        <p:nvSpPr>
          <p:cNvPr id="9" name="cmd_54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4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55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 · fluency   ·   📖 SB p.33 · 5d (speaking)</a:t>
            </a:r>
            <a:endParaRPr lang="en-US" sz="800" dirty="0"/>
          </a:p>
        </p:txBody>
      </p:sp>
      <p:sp>
        <p:nvSpPr>
          <p:cNvPr id="14" name="cd_55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5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5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5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Groups of 3: A answers a question for 30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times it. C counts the prepositions.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30 seconds = 2 points + 1 per preposition. Swap!</a:t>
            </a:r>
            <a:endParaRPr lang="en-US" sz="1150" dirty="0"/>
          </a:p>
        </p:txBody>
      </p:sp>
      <p:sp>
        <p:nvSpPr>
          <p:cNvPr id="18" name="pf_55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58" descr="/home/claude/lls-course/v2/cache/3b2_just_a_minut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5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6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100" dirty="0"/>
          </a:p>
        </p:txBody>
      </p:sp>
      <p:sp>
        <p:nvSpPr>
          <p:cNvPr id="22" name="R1_chip56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100" dirty="0"/>
          </a:p>
        </p:txBody>
      </p:sp>
      <p:sp>
        <p:nvSpPr>
          <p:cNvPr id="23" name="bd_56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6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100" dirty="0"/>
          </a:p>
        </p:txBody>
      </p:sp>
      <p:sp>
        <p:nvSpPr>
          <p:cNvPr id="25" name="R2_chip56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100" dirty="0"/>
          </a:p>
        </p:txBody>
      </p:sp>
      <p:sp>
        <p:nvSpPr>
          <p:cNvPr id="26" name="bd_56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6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Bagheria famous for?</a:t>
            </a:r>
            <a:endParaRPr lang="en-US" sz="1100" dirty="0"/>
          </a:p>
        </p:txBody>
      </p:sp>
      <p:sp>
        <p:nvSpPr>
          <p:cNvPr id="28" name="R3_chip56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100" dirty="0"/>
          </a:p>
        </p:txBody>
      </p:sp>
      <p:sp>
        <p:nvSpPr>
          <p:cNvPr id="29" name="bd_56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6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100" dirty="0"/>
          </a:p>
        </p:txBody>
      </p:sp>
      <p:sp>
        <p:nvSpPr>
          <p:cNvPr id="31" name="R4_chip57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00" dirty="0"/>
          </a:p>
        </p:txBody>
      </p:sp>
      <p:sp>
        <p:nvSpPr>
          <p:cNvPr id="32" name="bd_57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7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afraid of?</a:t>
            </a:r>
            <a:endParaRPr lang="en-US" sz="1100" dirty="0"/>
          </a:p>
        </p:txBody>
      </p:sp>
      <p:sp>
        <p:nvSpPr>
          <p:cNvPr id="34" name="R5_chip57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100" dirty="0"/>
          </a:p>
        </p:txBody>
      </p:sp>
      <p:sp>
        <p:nvSpPr>
          <p:cNvPr id="35" name="bd_57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7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100" dirty="0"/>
          </a:p>
        </p:txBody>
      </p:sp>
      <p:sp>
        <p:nvSpPr>
          <p:cNvPr id="37" name="R6_chip57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7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8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8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83"/>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Exit · what can you remember?</a:t>
            </a:r>
            <a:endParaRPr lang="en-US" sz="800" dirty="0"/>
          </a:p>
        </p:txBody>
      </p:sp>
      <p:sp>
        <p:nvSpPr>
          <p:cNvPr id="12" name="bd_58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8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toys from today (no looking!)</a:t>
            </a:r>
            <a:endParaRPr lang="en-US" sz="1400" dirty="0"/>
          </a:p>
        </p:txBody>
      </p:sp>
      <p:sp>
        <p:nvSpPr>
          <p:cNvPr id="14" name="bd_58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8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 preposition: depend on…</a:t>
            </a:r>
            <a:endParaRPr lang="en-US" sz="1400" dirty="0"/>
          </a:p>
        </p:txBody>
      </p:sp>
      <p:sp>
        <p:nvSpPr>
          <p:cNvPr id="16" name="bd_59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9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"I'm afraid of…"</a:t>
            </a:r>
            <a:endParaRPr lang="en-US" sz="1400" dirty="0"/>
          </a:p>
        </p:txBody>
      </p:sp>
      <p:sp>
        <p:nvSpPr>
          <p:cNvPr id="18" name="cd_59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9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9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95"/>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3a, 3b, 4a (audio: Online Practice)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p.156: cover the prepositions and test yourself</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59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9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un giocattolo per TUTTI i bambini!</a:t>
            </a:r>
            <a:endParaRPr lang="en-US" sz="950" dirty="0"/>
          </a:p>
        </p:txBody>
      </p:sp>
      <p:sp>
        <p:nvSpPr>
          <p:cNvPr id="9" name="cmd_60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0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pic>
        <p:nvPicPr>
          <p:cNvPr id="11" name="logo_6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Extra · design task</a:t>
            </a:r>
            <a:endParaRPr lang="en-US" sz="800" dirty="0"/>
          </a:p>
        </p:txBody>
      </p:sp>
      <p:sp>
        <p:nvSpPr>
          <p:cNvPr id="13" name="st_60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0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9" descr="/home/claude/lls-course/v2/cache/3b2_brick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1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13"/>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good for children who are interested in…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Kids who are keen on… will love it!</a:t>
            </a:r>
            <a:endParaRPr lang="en-US" sz="1050" dirty="0"/>
          </a:p>
        </p:txBody>
      </p:sp>
      <p:sp>
        <p:nvSpPr>
          <p:cNvPr id="20" name="R1_qb61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1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'Robo-Builder', for children aged 6–10.</a:t>
            </a:r>
            <a:endParaRPr lang="en-US" sz="1250" dirty="0"/>
          </a:p>
        </p:txBody>
      </p:sp>
      <p:sp>
        <p:nvSpPr>
          <p:cNvPr id="22" name="R2_qb61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1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Green and yellow – for boys AND girls!</a:t>
            </a:r>
            <a:endParaRPr lang="en-US" sz="1250" dirty="0"/>
          </a:p>
        </p:txBody>
      </p:sp>
      <p:sp>
        <p:nvSpPr>
          <p:cNvPr id="24" name="R3_qb61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1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good for children who are interested in science.</a:t>
            </a:r>
            <a:endParaRPr lang="en-US" sz="1250" dirty="0"/>
          </a:p>
        </p:txBody>
      </p:sp>
      <p:sp>
        <p:nvSpPr>
          <p:cNvPr id="26" name="R4_qb62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2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does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€29.99 – cheaper than a video game!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2026-10-08T16:01:24Z</dcterms:created>
  <dcterms:modified xsi:type="dcterms:W3CDTF">2026-10-08T16:01:24Z</dcterms:modified>
</cp:coreProperties>
</file>