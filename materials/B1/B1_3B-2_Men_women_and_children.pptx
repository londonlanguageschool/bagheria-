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Show the photo. Ask the THINK question: 'Pink for girls, blue for boys – is it always like this?' Take 3–4 ideas, then click for the example answer. Don't confirm anything: the radio programme will surprise them (100 years ago it was the opposite!). Read the 'Today you're going to…' list together. (Book: SB pp.32–33 · 4 Listening &amp; Speaking, 5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Revision · last lesson (2 min)
REVISION (2 min) before the warmer game. Read the examples with the class. Quick checks: 'I love ___ pizza' (no article – in general) vs '___ pizza in this restaurant is great' (the – a specific pizza). 'She's ___ engineer' (an – job + vowel sound). Remind them of the big Italian trap: 'Gli uomini amano il calcio' → Men love football (NO the). Then play 'Bet on it!' – every sentence in the game tests exactly these article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Warmer · last lesson: articles (4 min)
RETRIEVAL WARMER (4 min) – recycles 3B part 1 (articles). Format: betting game (different from 3B-1's warmer). Two teams start with 10 points. For each sentence, teams decide RIGHT or WRONG and bet 1, 2 or 3 points – write the bets on the board BEFORE you click. Correct = win the bet; wrong = lose it. A WRONG sentence wins only if the team also corrects it. Click once per sentence. Sentences adapted from Grammar photocopiable 3B items 11, 12, 14, 15, 18, 20 (official key: 11 – · 12 an · 14 –, – · 15 the, – · 18 an, the · 20 –, –). Why: 1 school as an institution = no article · 2 an + job ✓ · 3 people / football in general = no article · 4 the people = specific people (in my office) ✓ · 5 an + vowel sound · 6 health in general = no article. Sentences 3 and 4 make a nice contrast. ICQs: 'Do you bet before or after I click?' (before) · 'Is a wrong sentence enough?' (no – correct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Vocabulary · toys (3 min)
ELICIT FIRST (3 min). Demo item 0 with the class. Pairs read each clue and name the toy (in English if they can). Click once per item. The seven answers are exactly the book's list in 4a: construction toys · dolls · dressing-up clothes · jigsaws · soft toys · toy vehicles · toy weapons. Drill the words (jigsaw /ˈdʒɪɡsɔː/, vehicle /ˈviːəkl/ – the h is silent, weapon /ˈwepən/). ICQ: 'Are you guessing the toy or the colour?' (the toy). Next slide = Italian + the key words for the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Vocabulary · in Italian (2 min)
CONSOLIDATION for slower students (2 min). Class says the Italian aloud, then ONE click shows all the Italian. The last five words (aisle, package, genetically, advertisers, equal to men) are the blocking words for the radio programme (TG extra support: pre-teach aisle, package, construction toys). CCQ: 'Where do you find aisles? In a park or a supermarket?' (supermarket). 'If you package a toy, what do you put it in?' (a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Speaking · toys (3 min)
SPEAKING (3 min). SB 4a: which toys do a) girls play with more than boys, b) boys more than girls, c) boys and girls equally? Questions appear ONE PER CLICK (about 30 seconds each). Recycle 3B-1: push them to use 'Generally speaking… / On the whole…' (purple box) – and no article when they generalize (✗ The girls play with the dolls → ✓ Girls play with dolls). Quick class vote on question 3. Don't give your opinion yet – the radio programme comes next. Personalisation with boundaries: no one has to say why they had a toy.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Listening · gist (4 min)
GIST (4 min). 4b first (1 min): show the two photos on SB p.32 (The Pink and Blue Project by South Korean photographer JeongMee Yoon: Tess with all her pink things, Jimin with all his blue things). 'What is the artist saying with these images?' Take 2–3 ideas. Then look at A–C on the slide and predict. Play 3.24 ONCE. Pairs compare, then click once per question. Answers (audio script + TG): 1 100 years ago it was the exact opposite – 'pink for boys and blue for girls' (pink = a stronger colour, blue = more delicate) · 2 'It seems not.' · 3 No – Alison Carr thinks toys should be the same colours for all children; Natasha Crookes thinks we should package science and engineering toys in a pink box. ICQ: 'How many times do we listen now?'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Listening · detail (5 min)
DETAIL (5 min). Pairs read the five sentences BEFORE listening and guess (book 4d, shortened on the slide). Play 3.24 again. Pairs compare; click once per answer. Answers (TG): 1 c · 2 a · 3 b · 4 a · 5 c. Evidence in the audio script: 1 'pink, being a stronger colour, is more suitable for a boy' · 2 'The idea of women being equal to men emerged and, as a result, people started dressing little girls in pink' (advertisers came AFTER – that's the trap in b) · 3 'Most girls' toys are still based on dolls and dressing up, while boys' toys are more likely to be related to building and cars' · 4 'the toys we play with influence our interests, and even the jobs… they'll be less likely to choose to study it at school' · 5 'we should package science and engineering toys in a pink box'. EXTRA SUPPORT: play a third time with the audio script (SB p.127).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Speaking · your opinion (4 min)
SPEAKING (4 min). SB 4e questions 1–3 (slide 2, 3, 5) + two concrete questions from the programme (1, 4). Questions appear ONE PER CLICK, about 45 seconds each. The listener must ask at least one follow-up question ('Why?' 'Really?'). Monitor and note 4–5 errors for delayed correction. Feedback: show of hands – Alison or Natasha? Tell them your own answer to one question (TG). EXTRA IDEA (TG): students with young children can say what toys / clothes their children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Vocabulary · prepositions in the programme (3 min)
NOTICING (3 min). SB 5a has lines 2, 3 and 5 (answers TG: about · between · in); lines 1, 4 and 6 are extra lines from the audio script 3.24. Pairs guess the preposition from memory. Click once per gap: the answer appears highlighted IN the text. Answers: 1 to · 2 about · 3 between · 4 on · 5 in · 6 about. If they're unsure, play the beginning of 3.24 again (or read the lines aloud). Point out: worry ABOUT, interested IN – some verbs and adjectives are always followed by the same preposition ('dependent prepositions'). That leads into the Vocabulary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Vocabulary · verb + preposition (4 min)
VOCABULARY (4 min). Sentences from Vocabulary Bank p.156, 1 After verbs (audio 3.25). Do sentence 1 together as the worked example (apologize TO a person FOR something). Pairs guess the prepositions first; then play 3.25 (pause after each one) and click once per sentence. Answers (key / audio script 3.25 items 1, 2, 9, 11, 12, 14): 1 to, for · 2 with, about · 3 on · 4 at · 5 to · 6 of. Then students do the whole Vocabulary Bank section (or for homework): arrive in Milan / at the airport · ask for the bill · believe in · belong to · choose between · dream about · pay for · spend money on · talk to sb about sth (spend money on comes back on the Italian slide and in 'Finish it!'). Point out: argue = litigare (false friend: argomento = topic). ICQ: 'Are you writing a word or a whole sentence?' (one word – the preposition).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Vocabulary · adjective + preposition (4 min)
VOCABULARY (4 min). Sentences from Vocabulary Bank p.156, 2 After adjectives (audio 3.26). Pairs choose the preposition (colour) for a–h; play 3.26 to check (or read the sentences); click once per sentence. Answers: a of · b at · c with · d in · e on · f of · g about · h of. Box 'Gerunds after prepositions' (TG): after a preposition we use verb + -ing – I'm tired of walking, She's worried about losing her job, proud of learning (c, f, g, h). Notes (TG): good at = you're an expert / good for = beneficial; 'fed up of' is informal – teach fed up with. Other book items for homework: angry with sb about sth · close to · different from · excited about · famous for · fond of · kind to · married to · pleased with · rude to. CCQ: 'I'm interested ___ music – of or in?'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Vocabulary · in Italian (2 min)
CONSOLIDATION for slower students (2 min). Class says the Italian aloud, then ONE click shows all the Italian. Spend 30 seconds on the warning line: these are the mistakes Italian speakers make because the Italian preposition is different (dipendere DA, sposato CON). famous for: Bagheria is famous for its villas! Quick CCQ: 'I can't wait for the holidays – I'm looking forward ___ the holidays'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Vocabulary game (3 min)
GAME 2 (3 min) – a variation of 'Describe it!'. Demo first: mime being terrified of a spider → class says 'You're afraid of spiders!'. Click to show each phrase (round 1 = A mimes 4 phrases while B faces away; round 2 = swap, B mimes). B must say a FULL sentence with the right preposition: 'You're laughing at a joke!' 'You're apologizing for being late!' 20 seconds per phrase. ICQs: 'Can you speak when you mime?' (no) · 'Is one word enough?' (no – a sentence with the preposition).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Speaking game (3 min)
GAME 3 (3 min). Read each beginning; teams have 10 seconds to say an ending with the right preposition (and a TRUE or funny ending). Click to show a model answer – accept any correct ending. 1 point for the right preposition, +1 if a gerund is needed and correct (e.g. 'afraid of swimming'). Monitor the -ing after prepositions.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Vocabulary · questions (4 min)
VOCABULARY + PRONUNCIATION (4 min). SB 5c: pairs complete all 12 questions in the book; the slide shows the 6 used in 'Just a minute!' (book numbers 1, 2, 3, 6, 7, 12). Play 3.27 to check; click once per question. Answers on the slide: 1 about · 2 at · 3 to · 6 of · 7 for · 12 on. Other book answers (TG): 4 to (closest to) · 5 on (keen on) · 8 in (believe in) · 9 of (tired of) · 10 with, about · 11 with (pleased with). PRONUNCIATION (TG): play again for repetition. At the END of a question the preposition is stressed and NOT weak: What are you afraid OF? (/ɒv/, not /əv/). Italian speakers often drop the final preposition – insist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Speaking game · fluency (5 min)
GAME 4 / FREER PRACTICE (5 min). Inspired by the radio game 'Just a Minute'. Groups of 3, so everyone has a job: A speaks for 30 seconds (no long pauses, no Italian), B times it, C counts correct verb / adjective + preposition phrases. A 3-second pause or an Italian word = stop. Click to show each question with an example start (A can also choose any question from SB p.33 5c). Swap roles after each turn. At the end the top scorer in each group answers one question for the class. Personal questions: students can always choose another question. Then 1–2 minutes delayed error correction from the speaking tasks (board, students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Exit · what can you remember? (2 min)
RETRIEVAL EXIT (2 min). Books closed. Pairs: 3 toys, 2 verbs with their prepositions, 1 true sentence with an adjective + preposition. A few students share. Set homework (on the slide and in the app; easier version of the sheet available). Answers in the teacher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Extra · design task (6 min)
EXTRA (6 min, if there's time). Groups invent a toy that boys AND girls will love, then present it in a 1-minute 'advert'. They must use 3 preposition phrases (good for, interested in, keen on…). Questions appear one per click to guide the planning. Links Alison's and Natasha's ideas: will their toy be in a pink box, a blue box, or another colour? The class votes for the toy they would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audio" Target="../media/media-7-5.mp3"/><Relationship Id="rId6" Type="http://schemas.microsoft.com/office/2007/relationships/media" Target="../media/media-7-5.mp3"/><Relationship Id="rId7" Type="http://schemas.openxmlformats.org/officeDocument/2006/relationships/image" Target="../media/image-7-7.png"/><Relationship Id="rId8" Type="http://schemas.openxmlformats.org/officeDocument/2006/relationships/audio" Target="../media/media-7-8.mp3"/><Relationship Id="rId9" Type="http://schemas.microsoft.com/office/2007/relationships/media" Target="../media/media-7-8.mp3"/><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slideLayout" Target="../slideLayouts/slideLayout1.xml"/><Relationship Id="rId1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audio" Target="../media/media-8-5.mp3"/><Relationship Id="rId6" Type="http://schemas.microsoft.com/office/2007/relationships/media" Target="../media/media-8-5.mp3"/><Relationship Id="rId7" Type="http://schemas.openxmlformats.org/officeDocument/2006/relationships/image" Target="../media/image-8-7.png"/><Relationship Id="rId8" Type="http://schemas.openxmlformats.org/officeDocument/2006/relationships/audio" Target="../media/media-8-8.mp3"/><Relationship Id="rId9" Type="http://schemas.microsoft.com/office/2007/relationships/media" Target="../media/media-8-8.mp3"/><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slideLayout" Target="../slideLayouts/slideLayout1.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audio" Target="../media/media-10-5.mp3"/><Relationship Id="rId6" Type="http://schemas.microsoft.com/office/2007/relationships/media" Target="../media/media-10-5.mp3"/><Relationship Id="rId7" Type="http://schemas.openxmlformats.org/officeDocument/2006/relationships/image" Target="../media/image-10-7.png"/><Relationship Id="rId8" Type="http://schemas.openxmlformats.org/officeDocument/2006/relationships/audio" Target="../media/media-10-8.mp3"/><Relationship Id="rId9" Type="http://schemas.microsoft.com/office/2007/relationships/media" Target="../media/media-10-8.mp3"/><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slideLayout" Target="../slideLayouts/slideLayout1.xml"/><Relationship Id="rId1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audio" Target="../media/media-11-5.mp3"/><Relationship Id="rId6" Type="http://schemas.microsoft.com/office/2007/relationships/media" Target="../media/media-11-5.mp3"/><Relationship Id="rId7" Type="http://schemas.openxmlformats.org/officeDocument/2006/relationships/image" Target="../media/image-11-7.png"/><Relationship Id="rId8" Type="http://schemas.openxmlformats.org/officeDocument/2006/relationships/audio" Target="../media/media-11-8.mp3"/><Relationship Id="rId9" Type="http://schemas.microsoft.com/office/2007/relationships/media" Target="../media/media-11-8.mp3"/><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slideLayout" Target="../slideLayouts/slideLayout1.xml"/><Relationship Id="rId1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audio" Target="../media/media-16-5.mp3"/><Relationship Id="rId6" Type="http://schemas.microsoft.com/office/2007/relationships/media" Target="../media/media-16-5.mp3"/><Relationship Id="rId7" Type="http://schemas.openxmlformats.org/officeDocument/2006/relationships/image" Target="../media/image-16-7.png"/><Relationship Id="rId8" Type="http://schemas.openxmlformats.org/officeDocument/2006/relationships/audio" Target="../media/media-16-8.mp3"/><Relationship Id="rId9" Type="http://schemas.microsoft.com/office/2007/relationships/media" Target="../media/media-16-8.mp3"/><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slideLayout" Target="../slideLayouts/slideLayout1.xml"/><Relationship Id="rId1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English File B1 · SB pp.32–33</a:t>
            </a:r>
            <a:endParaRPr lang="en-US" sz="1000" dirty="0"/>
          </a:p>
        </p:txBody>
      </p:sp>
      <p:sp>
        <p:nvSpPr>
          <p:cNvPr id="4" name="bd_2"/>
          <p:cNvSpPr/>
          <p:nvPr/>
        </p:nvSpPr>
        <p:spPr>
          <a:xfrm>
            <a:off x="365760" y="640080"/>
            <a:ext cx="1051560" cy="105156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600" dirty="0">
                <a:solidFill>
                  <a:srgbClr val="FFFFFF"/>
                </a:solidFill>
                <a:latin typeface="Arial Rounded MT Bold" pitchFamily="34" charset="0"/>
                <a:ea typeface="Arial Rounded MT Bold" pitchFamily="34" charset="-122"/>
                <a:cs typeface="Arial Rounded MT Bold" pitchFamily="34" charset="-120"/>
              </a:rPr>
              <a:t>3B-2</a:t>
            </a:r>
            <a:endParaRPr lang="en-US" sz="16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1900" dirty="0">
                <a:solidFill>
                  <a:srgbClr val="1B2559"/>
                </a:solidFill>
                <a:latin typeface="Arial Rounded MT Bold" pitchFamily="34" charset="0"/>
                <a:ea typeface="Arial Rounded MT Bold" pitchFamily="34" charset="-122"/>
                <a:cs typeface="Arial Rounded MT Bold" pitchFamily="34" charset="-120"/>
              </a:rPr>
              <a:t>Men, women, and children</a:t>
            </a:r>
            <a:endParaRPr lang="en-US" sz="19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200" i="1" dirty="0">
                <a:solidFill>
                  <a:srgbClr val="1B2559"/>
                </a:solidFill>
                <a:latin typeface="Segoe UI Semibold" pitchFamily="34" charset="0"/>
                <a:ea typeface="Segoe UI Semibold" pitchFamily="34" charset="-122"/>
                <a:cs typeface="Segoe UI Semibold" pitchFamily="34" charset="-120"/>
              </a:rPr>
              <a:t>Pink and blue · toys · prepositions</a:t>
            </a:r>
            <a:endParaRPr lang="en-US" sz="1200" dirty="0"/>
          </a:p>
        </p:txBody>
      </p:sp>
      <p:sp>
        <p:nvSpPr>
          <p:cNvPr id="9" name="cd_7"/>
          <p:cNvSpPr/>
          <p:nvPr/>
        </p:nvSpPr>
        <p:spPr>
          <a:xfrm>
            <a:off x="365760" y="2148840"/>
            <a:ext cx="4206240" cy="1691640"/>
          </a:xfrm>
          <a:prstGeom prst="roundRect">
            <a:avLst>
              <a:gd name="adj" fmla="val 7568"/>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24328"/>
            <a:ext cx="3547872" cy="1143000"/>
          </a:xfrm>
          <a:prstGeom prst="rect">
            <a:avLst/>
          </a:prstGeom>
          <a:noFill/>
          <a:ln/>
        </p:spPr>
        <p:txBody>
          <a:bodyPr wrap="square" lIns="0" tIns="0" rIns="0" bIns="0" rtlCol="0" anchor="t">
            <a:normAutofit/>
          </a:bodyPr>
          <a:lstStyle/>
          <a:p>
            <a:pPr indent="0" marL="0">
              <a:spcAft>
                <a:spcPts val="200"/>
              </a:spcAft>
              <a:buNone/>
            </a:pPr>
            <a:r>
              <a:rPr lang="en-US" sz="1250" dirty="0">
                <a:solidFill>
                  <a:srgbClr val="1B2559"/>
                </a:solidFill>
                <a:latin typeface="Segoe UI" pitchFamily="34" charset="0"/>
                <a:ea typeface="Segoe UI" pitchFamily="34" charset="-122"/>
                <a:cs typeface="Segoe UI" pitchFamily="34" charset="-120"/>
              </a:rPr>
              <a:t>💬  talk about toys and your childhood</a:t>
            </a:r>
            <a:endParaRPr lang="en-US" sz="1250" dirty="0"/>
          </a:p>
          <a:p>
            <a:pPr indent="0" marL="0">
              <a:spcAft>
                <a:spcPts val="200"/>
              </a:spcAft>
              <a:buNone/>
            </a:pPr>
            <a:r>
              <a:rPr lang="en-US" sz="1250" dirty="0">
                <a:solidFill>
                  <a:srgbClr val="1B2559"/>
                </a:solidFill>
                <a:latin typeface="Segoe UI" pitchFamily="34" charset="0"/>
                <a:ea typeface="Segoe UI" pitchFamily="34" charset="-122"/>
                <a:cs typeface="Segoe UI" pitchFamily="34" charset="-120"/>
              </a:rPr>
              <a:t>🎧  listen to a radio programme: pink and blue</a:t>
            </a:r>
            <a:endParaRPr lang="en-US" sz="1250" dirty="0"/>
          </a:p>
          <a:p>
            <a:pPr indent="0" marL="0">
              <a:spcAft>
                <a:spcPts val="200"/>
              </a:spcAft>
              <a:buNone/>
            </a:pPr>
            <a:r>
              <a:rPr lang="en-US" sz="1250" dirty="0">
                <a:solidFill>
                  <a:srgbClr val="1B2559"/>
                </a:solidFill>
                <a:latin typeface="Segoe UI" pitchFamily="34" charset="0"/>
                <a:ea typeface="Segoe UI" pitchFamily="34" charset="-122"/>
                <a:cs typeface="Segoe UI" pitchFamily="34" charset="-120"/>
              </a:rPr>
              <a:t>✏️  use prepositions: afraid of, good at…</a:t>
            </a:r>
            <a:endParaRPr lang="en-US" sz="1250" dirty="0"/>
          </a:p>
          <a:p>
            <a:pPr indent="0" marL="0">
              <a:spcAft>
                <a:spcPts val="200"/>
              </a:spcAft>
              <a:buNone/>
            </a:pPr>
            <a:r>
              <a:rPr lang="en-US" sz="1250" dirty="0">
                <a:solidFill>
                  <a:srgbClr val="1B2559"/>
                </a:solidFill>
                <a:latin typeface="Segoe UI" pitchFamily="34" charset="0"/>
                <a:ea typeface="Segoe UI" pitchFamily="34" charset="-122"/>
                <a:cs typeface="Segoe UI" pitchFamily="34" charset="-120"/>
              </a:rPr>
              <a:t>🎲  play "Just a minute!"</a:t>
            </a:r>
            <a:endParaRPr lang="en-US" sz="1250" dirty="0"/>
          </a:p>
        </p:txBody>
      </p:sp>
      <p:sp>
        <p:nvSpPr>
          <p:cNvPr id="13" name="R1_ex11"/>
          <p:cNvSpPr/>
          <p:nvPr/>
        </p:nvSpPr>
        <p:spPr>
          <a:xfrm>
            <a:off x="365760" y="3950208"/>
            <a:ext cx="4206240" cy="603504"/>
          </a:xfrm>
          <a:prstGeom prst="roundRect">
            <a:avLst>
              <a:gd name="adj" fmla="val 18182"/>
            </a:avLst>
          </a:prstGeom>
          <a:solidFill>
            <a:srgbClr val="FFF6CC"/>
          </a:solidFill>
          <a:ln w="19050">
            <a:solidFill>
              <a:srgbClr val="FFE07A"/>
            </a:solidFill>
          </a:ln>
        </p:spPr>
        <p:txBody>
          <a:bodyPr wrap="square" lIns="152400" tIns="25400" rIns="152400" bIns="25400" rtlCol="0" anchor="ctr">
            <a:normAutofit/>
          </a:bodyPr>
          <a:lstStyle/>
          <a:p>
            <a:pPr indent="0" marL="0">
              <a:buNone/>
            </a:pPr>
            <a:r>
              <a:rPr lang="en-US" sz="10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300" i="1" dirty="0">
                <a:solidFill>
                  <a:srgbClr val="1B2559"/>
                </a:solidFill>
                <a:latin typeface="Segoe UI Semibold" pitchFamily="34" charset="0"/>
                <a:ea typeface="Segoe UI Semibold" pitchFamily="34" charset="-122"/>
                <a:cs typeface="Segoe UI Semibold" pitchFamily="34" charset="-120"/>
              </a:rPr>
              <a:t>No! My little brother loves pink, and my sister's favourite colour is blue.</a:t>
            </a:r>
            <a:endParaRPr lang="en-US" sz="1000" dirty="0"/>
          </a:p>
        </p:txBody>
      </p:sp>
      <p:sp>
        <p:nvSpPr>
          <p:cNvPr id="14" name="pf_12"/>
          <p:cNvSpPr/>
          <p:nvPr/>
        </p:nvSpPr>
        <p:spPr>
          <a:xfrm rot="90000">
            <a:off x="4846320" y="777240"/>
            <a:ext cx="3977640" cy="3200400"/>
          </a:xfrm>
          <a:prstGeom prst="roundRect">
            <a:avLst>
              <a:gd name="adj" fmla="val 485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3" descr="/home/claude/lls-course/v2/cache/3b2_cover_jpg_935x748_31.png">    </p:cNvPr>
          <p:cNvPicPr>
            <a:picLocks noChangeAspect="1"/>
          </p:cNvPicPr>
          <p:nvPr/>
        </p:nvPicPr>
        <p:blipFill>
          <a:blip r:embed="rId4"/>
          <a:stretch>
            <a:fillRect/>
          </a:stretch>
        </p:blipFill>
        <p:spPr>
          <a:xfrm rot="90000">
            <a:off x="4892040" y="822960"/>
            <a:ext cx="3886200" cy="3108960"/>
          </a:xfrm>
          <a:prstGeom prst="rect">
            <a:avLst/>
          </a:prstGeom>
        </p:spPr>
      </p:pic>
      <p:sp>
        <p:nvSpPr>
          <p:cNvPr id="16" name="bb_14"/>
          <p:cNvSpPr/>
          <p:nvPr/>
        </p:nvSpPr>
        <p:spPr>
          <a:xfrm>
            <a:off x="5120640" y="3611880"/>
            <a:ext cx="3566160" cy="822960"/>
          </a:xfrm>
          <a:prstGeom prst="wedgeRoundRectCallout">
            <a:avLst/>
          </a:prstGeom>
          <a:solidFill>
            <a:srgbClr val="FFFFFF"/>
          </a:solidFill>
          <a:ln w="25400">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Pink for girls, blue for boys. Always?</a:t>
            </a:r>
            <a:endParaRPr lang="en-US" sz="16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5"/>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9"/>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Remember last lesson?</a:t>
            </a:r>
            <a:endParaRPr lang="en-US" sz="24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21"/>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What did we learn? Read the examples.</a:t>
            </a:r>
            <a:endParaRPr lang="en-US" sz="1250" dirty="0"/>
          </a:p>
        </p:txBody>
      </p:sp>
      <p:sp>
        <p:nvSpPr>
          <p:cNvPr id="8" name="insIT_2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Cosa abbiamo imparato? Leggi gli esempi.</a:t>
            </a:r>
            <a:endParaRPr lang="en-US" sz="950" dirty="0"/>
          </a:p>
        </p:txBody>
      </p:sp>
      <p:sp>
        <p:nvSpPr>
          <p:cNvPr id="9" name="cmd_23"/>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0" name="meta_24"/>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sp>
        <p:nvSpPr>
          <p:cNvPr id="11" name="tag_25"/>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2" name="logo_2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3B-2 · Revision · last lesson</a:t>
            </a:r>
            <a:endParaRPr lang="en-US" sz="800" dirty="0"/>
          </a:p>
        </p:txBody>
      </p:sp>
      <p:sp>
        <p:nvSpPr>
          <p:cNvPr id="14" name="pf_28"/>
          <p:cNvSpPr/>
          <p:nvPr/>
        </p:nvSpPr>
        <p:spPr>
          <a:xfrm rot="-120000">
            <a:off x="365760" y="1371600"/>
            <a:ext cx="2651760" cy="1828800"/>
          </a:xfrm>
          <a:prstGeom prst="roundRect">
            <a:avLst>
              <a:gd name="adj" fmla="val 85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29" descr="/home/claude/lls-course/v2/cache/3b1_cover_jpg_616x418_31.png">    </p:cNvPr>
          <p:cNvPicPr>
            <a:picLocks noChangeAspect="1"/>
          </p:cNvPicPr>
          <p:nvPr/>
        </p:nvPicPr>
        <p:blipFill>
          <a:blip r:embed="rId5"/>
          <a:stretch>
            <a:fillRect/>
          </a:stretch>
        </p:blipFill>
        <p:spPr>
          <a:xfrm rot="-120000">
            <a:off x="411480" y="1417320"/>
            <a:ext cx="2560320" cy="1737360"/>
          </a:xfrm>
          <a:prstGeom prst="rect">
            <a:avLst/>
          </a:prstGeom>
        </p:spPr>
      </p:pic>
      <p:sp>
        <p:nvSpPr>
          <p:cNvPr id="16" name="cd_30"/>
          <p:cNvSpPr/>
          <p:nvPr/>
        </p:nvSpPr>
        <p:spPr>
          <a:xfrm>
            <a:off x="320040" y="3383280"/>
            <a:ext cx="2743200" cy="1325880"/>
          </a:xfrm>
          <a:prstGeom prst="roundRect">
            <a:avLst>
              <a:gd name="adj" fmla="val 9655"/>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7" name="ii_31"/>
          <p:cNvSpPr/>
          <p:nvPr/>
        </p:nvSpPr>
        <p:spPr>
          <a:xfrm>
            <a:off x="411480" y="34564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32"/>
          <p:cNvSpPr/>
          <p:nvPr/>
        </p:nvSpPr>
        <p:spPr>
          <a:xfrm>
            <a:off x="886968" y="347472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Last lesson…</a:t>
            </a:r>
            <a:endParaRPr lang="en-US" sz="1300" dirty="0"/>
          </a:p>
        </p:txBody>
      </p:sp>
      <p:sp>
        <p:nvSpPr>
          <p:cNvPr id="19" name="il_33"/>
          <p:cNvSpPr/>
          <p:nvPr/>
        </p:nvSpPr>
        <p:spPr>
          <a:xfrm>
            <a:off x="886968" y="3858768"/>
            <a:ext cx="208483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3B: men, women and stereotypes</a:t>
            </a:r>
            <a:endParaRPr lang="en-US" sz="1100" dirty="0"/>
          </a:p>
          <a:p>
            <a:pPr marL="152400" indent="-152400">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articles: a / an, the, no article</a:t>
            </a:r>
            <a:endParaRPr lang="en-US" sz="1100" dirty="0"/>
          </a:p>
        </p:txBody>
      </p:sp>
      <p:sp>
        <p:nvSpPr>
          <p:cNvPr id="20" name="cd_34"/>
          <p:cNvSpPr/>
          <p:nvPr/>
        </p:nvSpPr>
        <p:spPr>
          <a:xfrm>
            <a:off x="3246120" y="1417320"/>
            <a:ext cx="2788920" cy="2331720"/>
          </a:xfrm>
          <a:prstGeom prst="roundRect">
            <a:avLst>
              <a:gd name="adj" fmla="val 5490"/>
            </a:avLst>
          </a:prstGeom>
          <a:solidFill>
            <a:srgbClr val="FFFFFF"/>
          </a:solidFill>
          <a:ln w="25400">
            <a:solidFill>
              <a:srgbClr val="F7A6C4"/>
            </a:solidFill>
            <a:prstDash val="solid"/>
          </a:ln>
          <a:effectLst>
            <a:outerShdw sx="100000" sy="100000" kx="0" ky="0" algn="bl" rotWithShape="0" blurRad="88900" dist="31750" dir="5400000">
              <a:srgbClr val="1B2559">
                <a:alpha val="12000"/>
              </a:srgbClr>
            </a:outerShdw>
          </a:effectLst>
        </p:spPr>
      </p:sp>
      <p:sp>
        <p:nvSpPr>
          <p:cNvPr id="21" name="rh_35"/>
          <p:cNvSpPr/>
          <p:nvPr/>
        </p:nvSpPr>
        <p:spPr>
          <a:xfrm>
            <a:off x="3355848" y="1508760"/>
            <a:ext cx="2569464" cy="347472"/>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00" dirty="0">
                <a:solidFill>
                  <a:srgbClr val="FFFFFF"/>
                </a:solidFill>
                <a:latin typeface="Arial Rounded MT Bold" pitchFamily="34" charset="0"/>
                <a:ea typeface="Arial Rounded MT Bold" pitchFamily="34" charset="-122"/>
                <a:cs typeface="Arial Rounded MT Bold" pitchFamily="34" charset="-120"/>
              </a:rPr>
              <a:t>a / an  ·  the</a:t>
            </a:r>
            <a:endParaRPr lang="en-US" sz="1200" dirty="0"/>
          </a:p>
        </p:txBody>
      </p:sp>
      <p:sp>
        <p:nvSpPr>
          <p:cNvPr id="22" name="rl_36"/>
          <p:cNvSpPr/>
          <p:nvPr/>
        </p:nvSpPr>
        <p:spPr>
          <a:xfrm>
            <a:off x="338328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I saw an old man with a dog. The dog was barking.</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She's a lawyer.</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The moon goes round the Earth.</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a / an = first time, jobs · the = we know which one, only one</a:t>
            </a:r>
            <a:endParaRPr lang="en-US" sz="1150" dirty="0"/>
          </a:p>
        </p:txBody>
      </p:sp>
      <p:sp>
        <p:nvSpPr>
          <p:cNvPr id="23" name="cd_37"/>
          <p:cNvSpPr/>
          <p:nvPr/>
        </p:nvSpPr>
        <p:spPr>
          <a:xfrm>
            <a:off x="6126480" y="1417320"/>
            <a:ext cx="2788920" cy="2331720"/>
          </a:xfrm>
          <a:prstGeom prst="roundRect">
            <a:avLst>
              <a:gd name="adj" fmla="val 5490"/>
            </a:avLst>
          </a:prstGeom>
          <a:solidFill>
            <a:srgbClr val="FFFFFF"/>
          </a:solidFill>
          <a:ln w="25400">
            <a:solidFill>
              <a:srgbClr val="A9D3F5"/>
            </a:solidFill>
            <a:prstDash val="solid"/>
          </a:ln>
          <a:effectLst>
            <a:outerShdw sx="100000" sy="100000" kx="0" ky="0" algn="bl" rotWithShape="0" blurRad="88900" dist="31750" dir="5400000">
              <a:srgbClr val="1B2559">
                <a:alpha val="12000"/>
              </a:srgbClr>
            </a:outerShdw>
          </a:effectLst>
        </p:spPr>
      </p:sp>
      <p:sp>
        <p:nvSpPr>
          <p:cNvPr id="24" name="rh_38"/>
          <p:cNvSpPr/>
          <p:nvPr/>
        </p:nvSpPr>
        <p:spPr>
          <a:xfrm>
            <a:off x="6236208" y="1508760"/>
            <a:ext cx="2569464" cy="347472"/>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00" dirty="0">
                <a:solidFill>
                  <a:srgbClr val="FFFFFF"/>
                </a:solidFill>
                <a:latin typeface="Arial Rounded MT Bold" pitchFamily="34" charset="0"/>
                <a:ea typeface="Arial Rounded MT Bold" pitchFamily="34" charset="-122"/>
                <a:cs typeface="Arial Rounded MT Bold" pitchFamily="34" charset="-120"/>
              </a:rPr>
              <a:t>No article = in general</a:t>
            </a:r>
            <a:endParaRPr lang="en-US" sz="1200" dirty="0"/>
          </a:p>
        </p:txBody>
      </p:sp>
      <p:sp>
        <p:nvSpPr>
          <p:cNvPr id="25" name="rl_39"/>
          <p:cNvSpPr/>
          <p:nvPr/>
        </p:nvSpPr>
        <p:spPr>
          <a:xfrm>
            <a:off x="626364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Men usually love football.</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Love is more important than money.</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I'm at home. I'm going to school.</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things in general · home, work, school · next week</a:t>
            </a:r>
            <a:endParaRPr lang="en-US" sz="1150" dirty="0"/>
          </a:p>
        </p:txBody>
      </p:sp>
      <p:sp>
        <p:nvSpPr>
          <p:cNvPr id="26" name="kw_40"/>
          <p:cNvSpPr/>
          <p:nvPr/>
        </p:nvSpPr>
        <p:spPr>
          <a:xfrm>
            <a:off x="3246120" y="3867912"/>
            <a:ext cx="2743200" cy="274320"/>
          </a:xfrm>
          <a:prstGeom prst="rect">
            <a:avLst/>
          </a:prstGeom>
          <a:noFill/>
          <a:ln/>
        </p:spPr>
        <p:txBody>
          <a:bodyPr wrap="square" lIns="0" tIns="0" rIns="0" bIns="0" rtlCol="0" anchor="ct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 KEY WORDS</a:t>
            </a:r>
            <a:endParaRPr lang="en-US" sz="1100" dirty="0"/>
          </a:p>
        </p:txBody>
      </p:sp>
      <p:sp>
        <p:nvSpPr>
          <p:cNvPr id="27" name="w_41"/>
          <p:cNvSpPr/>
          <p:nvPr/>
        </p:nvSpPr>
        <p:spPr>
          <a:xfrm>
            <a:off x="3246120" y="4178808"/>
            <a:ext cx="1719072"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generally speaking</a:t>
            </a:r>
            <a:endParaRPr lang="en-US" sz="1050" dirty="0"/>
          </a:p>
        </p:txBody>
      </p:sp>
      <p:sp>
        <p:nvSpPr>
          <p:cNvPr id="28" name="w_42"/>
          <p:cNvSpPr/>
          <p:nvPr/>
        </p:nvSpPr>
        <p:spPr>
          <a:xfrm>
            <a:off x="5038344" y="4178808"/>
            <a:ext cx="1252728"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on the whole</a:t>
            </a:r>
            <a:endParaRPr lang="en-US" sz="1050" dirty="0"/>
          </a:p>
        </p:txBody>
      </p:sp>
      <p:sp>
        <p:nvSpPr>
          <p:cNvPr id="29" name="w_43"/>
          <p:cNvSpPr/>
          <p:nvPr/>
        </p:nvSpPr>
        <p:spPr>
          <a:xfrm>
            <a:off x="6364224" y="4178808"/>
            <a:ext cx="864108"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tend to</a:t>
            </a:r>
            <a:endParaRPr lang="en-US" sz="1050" dirty="0"/>
          </a:p>
        </p:txBody>
      </p:sp>
      <p:sp>
        <p:nvSpPr>
          <p:cNvPr id="30" name="w_44"/>
          <p:cNvSpPr/>
          <p:nvPr/>
        </p:nvSpPr>
        <p:spPr>
          <a:xfrm>
            <a:off x="7301484" y="4178808"/>
            <a:ext cx="1252728" cy="310896"/>
          </a:xfrm>
          <a:prstGeom prst="roundRect">
            <a:avLst>
              <a:gd name="adj" fmla="val 50000"/>
            </a:avLst>
          </a:prstGeom>
          <a:solidFill>
            <a:srgbClr val="FFF6CC"/>
          </a:solidFill>
          <a:ln>
            <a:solidFill>
              <a:srgbClr val="FFE07A"/>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a stereotype</a:t>
            </a:r>
            <a:endParaRPr lang="en-US" sz="1050" dirty="0"/>
          </a:p>
        </p:txBody>
      </p:sp>
      <p:sp>
        <p:nvSpPr>
          <p:cNvPr id="31" name="w_45"/>
          <p:cNvSpPr/>
          <p:nvPr/>
        </p:nvSpPr>
        <p:spPr>
          <a:xfrm>
            <a:off x="3246120" y="4544568"/>
            <a:ext cx="864108"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an hour</a:t>
            </a:r>
            <a:endParaRPr lang="en-US" sz="1050" dirty="0"/>
          </a:p>
        </p:txBody>
      </p:sp>
      <p:sp>
        <p:nvSpPr>
          <p:cNvPr id="32" name="w_46"/>
          <p:cNvSpPr/>
          <p:nvPr/>
        </p:nvSpPr>
        <p:spPr>
          <a:xfrm>
            <a:off x="4183380" y="4544568"/>
            <a:ext cx="1097280"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the cinema</a:t>
            </a:r>
            <a:endParaRPr lang="en-US" sz="1050" dirty="0"/>
          </a:p>
        </p:txBody>
      </p:sp>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7"/>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48"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49"/>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Bet on it!</a:t>
            </a:r>
            <a:endParaRPr lang="en-US" sz="2500" dirty="0"/>
          </a:p>
        </p:txBody>
      </p:sp>
      <p:pic>
        <p:nvPicPr>
          <p:cNvPr id="6" name="brP_50"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51"/>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Right or wrong? Bet 1, 2 or 3 points!</a:t>
            </a:r>
            <a:endParaRPr lang="en-US" sz="1250" dirty="0"/>
          </a:p>
        </p:txBody>
      </p:sp>
      <p:sp>
        <p:nvSpPr>
          <p:cNvPr id="8" name="insIT_5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Giusta o sbagliata? Scommetti 1, 2 o 3 punti!</a:t>
            </a:r>
            <a:endParaRPr lang="en-US" sz="950" dirty="0"/>
          </a:p>
        </p:txBody>
      </p:sp>
      <p:sp>
        <p:nvSpPr>
          <p:cNvPr id="9" name="cmd_53"/>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54"/>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teams</a:t>
            </a:r>
            <a:endParaRPr lang="en-US" sz="950" dirty="0"/>
          </a:p>
        </p:txBody>
      </p:sp>
      <p:sp>
        <p:nvSpPr>
          <p:cNvPr id="11" name="tag_55"/>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2" name="logo_5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3B-2 · Warmer · last lesson: articles   ·   📖 Recycles 3B part 1 · Grammar Bank 3B · Grammar photocopiable 3B</a:t>
            </a:r>
            <a:endParaRPr lang="en-US" sz="800" dirty="0"/>
          </a:p>
        </p:txBody>
      </p:sp>
      <p:sp>
        <p:nvSpPr>
          <p:cNvPr id="14" name="cd_58"/>
          <p:cNvSpPr/>
          <p:nvPr/>
        </p:nvSpPr>
        <p:spPr>
          <a:xfrm>
            <a:off x="320040" y="1417320"/>
            <a:ext cx="2697480" cy="2057400"/>
          </a:xfrm>
          <a:prstGeom prst="roundRect">
            <a:avLst>
              <a:gd name="adj" fmla="val 6222"/>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59"/>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60"/>
          <p:cNvSpPr/>
          <p:nvPr/>
        </p:nvSpPr>
        <p:spPr>
          <a:xfrm>
            <a:off x="886968" y="1508760"/>
            <a:ext cx="2057400" cy="365760"/>
          </a:xfrm>
          <a:prstGeom prst="rect">
            <a:avLst/>
          </a:prstGeom>
          <a:noFill/>
          <a:ln/>
        </p:spPr>
        <p:txBody>
          <a:bodyPr wrap="square" lIns="0" tIns="0" rIns="0" bIns="0" rtlCol="0" anchor="ctr"/>
          <a:lstStyle/>
          <a:p>
            <a:pPr indent="0" marL="0">
              <a:buNone/>
            </a:pPr>
            <a:r>
              <a:rPr lang="en-US" sz="1500" dirty="0">
                <a:solidFill>
                  <a:srgbClr val="1B2559"/>
                </a:solidFill>
                <a:latin typeface="Arial Rounded MT Bold" pitchFamily="34" charset="0"/>
                <a:ea typeface="Arial Rounded MT Bold" pitchFamily="34" charset="-122"/>
                <a:cs typeface="Arial Rounded MT Bold" pitchFamily="34" charset="-120"/>
              </a:rPr>
              <a:t>How to play</a:t>
            </a:r>
            <a:endParaRPr lang="en-US" sz="1500" dirty="0"/>
          </a:p>
        </p:txBody>
      </p:sp>
      <p:sp>
        <p:nvSpPr>
          <p:cNvPr id="17" name="il_61"/>
          <p:cNvSpPr/>
          <p:nvPr/>
        </p:nvSpPr>
        <p:spPr>
          <a:xfrm>
            <a:off x="886968" y="1892808"/>
            <a:ext cx="2039112" cy="1508760"/>
          </a:xfrm>
          <a:prstGeom prst="rect">
            <a:avLst/>
          </a:prstGeom>
          <a:noFill/>
          <a:ln/>
        </p:spPr>
        <p:txBody>
          <a:bodyPr wrap="square" lIns="0" tIns="0" rIns="0" bIns="0" rtlCol="0" anchor="t">
            <a:normAutofit/>
          </a:bodyPr>
          <a:lstStyle/>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Read the sentence. Right or wrong?</a:t>
            </a:r>
            <a:endParaRPr lang="en-US" sz="1150" dirty="0"/>
          </a:p>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Bet 1, 2 or 3 points.</a:t>
            </a:r>
            <a:endParaRPr lang="en-US" sz="1150" dirty="0"/>
          </a:p>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Wrong? Correct it to win!</a:t>
            </a:r>
            <a:endParaRPr lang="en-US" sz="1150" dirty="0"/>
          </a:p>
        </p:txBody>
      </p:sp>
      <p:sp>
        <p:nvSpPr>
          <p:cNvPr id="18" name="st_62"/>
          <p:cNvSpPr/>
          <p:nvPr/>
        </p:nvSpPr>
        <p:spPr>
          <a:xfrm rot="-180000">
            <a:off x="502920" y="3703320"/>
            <a:ext cx="2286000" cy="77724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19" name="bd_63"/>
          <p:cNvSpPr/>
          <p:nvPr/>
        </p:nvSpPr>
        <p:spPr>
          <a:xfrm>
            <a:off x="3246120" y="149123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0" name="gq_64"/>
          <p:cNvSpPr/>
          <p:nvPr/>
        </p:nvSpPr>
        <p:spPr>
          <a:xfrm>
            <a:off x="3657600" y="141732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Hurry up! You're going to be late for the school.</a:t>
            </a:r>
            <a:endParaRPr lang="en-US" sz="1100" dirty="0"/>
          </a:p>
        </p:txBody>
      </p:sp>
      <p:sp>
        <p:nvSpPr>
          <p:cNvPr id="21" name="R1_chip65"/>
          <p:cNvSpPr/>
          <p:nvPr/>
        </p:nvSpPr>
        <p:spPr>
          <a:xfrm>
            <a:off x="6263640" y="14173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 late for school</a:t>
            </a:r>
            <a:endParaRPr lang="en-US" sz="1100" dirty="0"/>
          </a:p>
        </p:txBody>
      </p:sp>
      <p:sp>
        <p:nvSpPr>
          <p:cNvPr id="22" name="bd_66"/>
          <p:cNvSpPr/>
          <p:nvPr/>
        </p:nvSpPr>
        <p:spPr>
          <a:xfrm>
            <a:off x="3246120" y="203225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gq_67"/>
          <p:cNvSpPr/>
          <p:nvPr/>
        </p:nvSpPr>
        <p:spPr>
          <a:xfrm>
            <a:off x="3657600" y="195834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 have a friend who is an electrician.</a:t>
            </a:r>
            <a:endParaRPr lang="en-US" sz="1100" dirty="0"/>
          </a:p>
        </p:txBody>
      </p:sp>
      <p:sp>
        <p:nvSpPr>
          <p:cNvPr id="24" name="R2_chip68"/>
          <p:cNvSpPr/>
          <p:nvPr/>
        </p:nvSpPr>
        <p:spPr>
          <a:xfrm>
            <a:off x="6263640" y="195834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 correct</a:t>
            </a:r>
            <a:endParaRPr lang="en-US" sz="1100" dirty="0"/>
          </a:p>
        </p:txBody>
      </p:sp>
      <p:sp>
        <p:nvSpPr>
          <p:cNvPr id="25" name="bd_69"/>
          <p:cNvSpPr/>
          <p:nvPr/>
        </p:nvSpPr>
        <p:spPr>
          <a:xfrm>
            <a:off x="3246120" y="257327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6" name="gq_70"/>
          <p:cNvSpPr/>
          <p:nvPr/>
        </p:nvSpPr>
        <p:spPr>
          <a:xfrm>
            <a:off x="3657600" y="2499360"/>
            <a:ext cx="2514600" cy="477012"/>
          </a:xfrm>
          <a:prstGeom prst="roundRect">
            <a:avLst>
              <a:gd name="adj" fmla="val 19169"/>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 don't like the people who talk about the football all the time.</a:t>
            </a:r>
            <a:endParaRPr lang="en-US" sz="1100" dirty="0"/>
          </a:p>
        </p:txBody>
      </p:sp>
      <p:sp>
        <p:nvSpPr>
          <p:cNvPr id="27" name="R3_chip71"/>
          <p:cNvSpPr/>
          <p:nvPr/>
        </p:nvSpPr>
        <p:spPr>
          <a:xfrm>
            <a:off x="6263640" y="249936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 people … football</a:t>
            </a:r>
            <a:endParaRPr lang="en-US" sz="1100" dirty="0"/>
          </a:p>
        </p:txBody>
      </p:sp>
      <p:sp>
        <p:nvSpPr>
          <p:cNvPr id="28" name="bd_72"/>
          <p:cNvSpPr/>
          <p:nvPr/>
        </p:nvSpPr>
        <p:spPr>
          <a:xfrm>
            <a:off x="3246120" y="311429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9" name="gq_73"/>
          <p:cNvSpPr/>
          <p:nvPr/>
        </p:nvSpPr>
        <p:spPr>
          <a:xfrm>
            <a:off x="3657600" y="3040380"/>
            <a:ext cx="2514600" cy="477012"/>
          </a:xfrm>
          <a:prstGeom prst="roundRect">
            <a:avLst>
              <a:gd name="adj" fmla="val 19169"/>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Luckily, the people who work in my office don't talk about sport.</a:t>
            </a:r>
            <a:endParaRPr lang="en-US" sz="1050" dirty="0"/>
          </a:p>
        </p:txBody>
      </p:sp>
      <p:sp>
        <p:nvSpPr>
          <p:cNvPr id="30" name="R4_chip74"/>
          <p:cNvSpPr/>
          <p:nvPr/>
        </p:nvSpPr>
        <p:spPr>
          <a:xfrm>
            <a:off x="6263640" y="304038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 correct (specific people)</a:t>
            </a:r>
            <a:endParaRPr lang="en-US" sz="1100" dirty="0"/>
          </a:p>
        </p:txBody>
      </p:sp>
      <p:sp>
        <p:nvSpPr>
          <p:cNvPr id="31" name="bd_75"/>
          <p:cNvSpPr/>
          <p:nvPr/>
        </p:nvSpPr>
        <p:spPr>
          <a:xfrm>
            <a:off x="3246120" y="365531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2" name="gq_76"/>
          <p:cNvSpPr/>
          <p:nvPr/>
        </p:nvSpPr>
        <p:spPr>
          <a:xfrm>
            <a:off x="3657600" y="358140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That's a easy question. I think I know the answer.</a:t>
            </a:r>
            <a:endParaRPr lang="en-US" sz="1100" dirty="0"/>
          </a:p>
        </p:txBody>
      </p:sp>
      <p:sp>
        <p:nvSpPr>
          <p:cNvPr id="33" name="R5_chip77"/>
          <p:cNvSpPr/>
          <p:nvPr/>
        </p:nvSpPr>
        <p:spPr>
          <a:xfrm>
            <a:off x="6263640" y="358140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 an easy question</a:t>
            </a:r>
            <a:endParaRPr lang="en-US" sz="1100" dirty="0"/>
          </a:p>
        </p:txBody>
      </p:sp>
      <p:sp>
        <p:nvSpPr>
          <p:cNvPr id="34" name="bd_78"/>
          <p:cNvSpPr/>
          <p:nvPr/>
        </p:nvSpPr>
        <p:spPr>
          <a:xfrm>
            <a:off x="3246120" y="419633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5" name="gq_79"/>
          <p:cNvSpPr/>
          <p:nvPr/>
        </p:nvSpPr>
        <p:spPr>
          <a:xfrm>
            <a:off x="3657600" y="412242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 think the good health is more important than money.</a:t>
            </a:r>
            <a:endParaRPr lang="en-US" sz="1100" dirty="0"/>
          </a:p>
        </p:txBody>
      </p:sp>
      <p:sp>
        <p:nvSpPr>
          <p:cNvPr id="36" name="R6_chip80"/>
          <p:cNvSpPr/>
          <p:nvPr/>
        </p:nvSpPr>
        <p:spPr>
          <a:xfrm>
            <a:off x="6263640" y="41224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 good health</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4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81"/>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82" descr="/home/claude/lls-course/v2/assets/brush-yellow.png">    </p:cNvPr>
          <p:cNvPicPr>
            <a:picLocks noChangeAspect="1"/>
          </p:cNvPicPr>
          <p:nvPr/>
        </p:nvPicPr>
        <p:blipFill>
          <a:blip r:embed="rId2"/>
          <a:stretch>
            <a:fillRect/>
          </a:stretch>
        </p:blipFill>
        <p:spPr>
          <a:xfrm>
            <a:off x="1097280" y="146304"/>
            <a:ext cx="2776118" cy="621792"/>
          </a:xfrm>
          <a:prstGeom prst="rect">
            <a:avLst/>
          </a:prstGeom>
        </p:spPr>
      </p:pic>
      <p:sp>
        <p:nvSpPr>
          <p:cNvPr id="5" name="title_83"/>
          <p:cNvSpPr/>
          <p:nvPr/>
        </p:nvSpPr>
        <p:spPr>
          <a:xfrm>
            <a:off x="1261872" y="164592"/>
            <a:ext cx="250179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Name the toy!</a:t>
            </a:r>
            <a:endParaRPr lang="en-US" sz="2500" dirty="0"/>
          </a:p>
        </p:txBody>
      </p:sp>
      <p:pic>
        <p:nvPicPr>
          <p:cNvPr id="6" name="brP_84" descr="/home/claude/lls-course/v2/assets/brush-pink.png">    </p:cNvPr>
          <p:cNvPicPr>
            <a:picLocks noChangeAspect="1"/>
          </p:cNvPicPr>
          <p:nvPr/>
        </p:nvPicPr>
        <p:blipFill>
          <a:blip r:embed="rId3"/>
          <a:stretch>
            <a:fillRect/>
          </a:stretch>
        </p:blipFill>
        <p:spPr>
          <a:xfrm>
            <a:off x="1207008" y="731520"/>
            <a:ext cx="3163824" cy="402336"/>
          </a:xfrm>
          <a:prstGeom prst="rect">
            <a:avLst/>
          </a:prstGeom>
        </p:spPr>
      </p:pic>
      <p:sp>
        <p:nvSpPr>
          <p:cNvPr id="7" name="ins_85"/>
          <p:cNvSpPr/>
          <p:nvPr/>
        </p:nvSpPr>
        <p:spPr>
          <a:xfrm>
            <a:off x="1353312" y="731520"/>
            <a:ext cx="290779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clue. Name the toy!</a:t>
            </a:r>
            <a:endParaRPr lang="en-US" sz="1250" dirty="0"/>
          </a:p>
        </p:txBody>
      </p:sp>
      <p:sp>
        <p:nvSpPr>
          <p:cNvPr id="8" name="insIT_86"/>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Leggi l'indizio. Come si chiama il giocattolo?</a:t>
            </a:r>
            <a:endParaRPr lang="en-US" sz="950" dirty="0"/>
          </a:p>
        </p:txBody>
      </p:sp>
      <p:sp>
        <p:nvSpPr>
          <p:cNvPr id="9" name="cmd_87"/>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0" name="meta_88"/>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89"/>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Controlled practice</a:t>
            </a:r>
            <a:endParaRPr lang="en-US" sz="850" dirty="0"/>
          </a:p>
        </p:txBody>
      </p:sp>
      <p:pic>
        <p:nvPicPr>
          <p:cNvPr id="12" name="logo_9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9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3B-2 · Vocabulary · toys   ·   📖 SB p.32 · 4a (the book's list of toys)</a:t>
            </a:r>
            <a:endParaRPr lang="en-US" sz="800" dirty="0"/>
          </a:p>
        </p:txBody>
      </p:sp>
      <p:sp>
        <p:nvSpPr>
          <p:cNvPr id="14" name="cd_92"/>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93"/>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94"/>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7" name="il_95"/>
          <p:cNvSpPr/>
          <p:nvPr/>
        </p:nvSpPr>
        <p:spPr>
          <a:xfrm>
            <a:off x="886968" y="1892808"/>
            <a:ext cx="20391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0  You kick it in the garden → a football</a:t>
            </a:r>
            <a:endParaRPr lang="en-US" sz="1050" dirty="0"/>
          </a:p>
        </p:txBody>
      </p:sp>
      <p:sp>
        <p:nvSpPr>
          <p:cNvPr id="18" name="pf_96"/>
          <p:cNvSpPr/>
          <p:nvPr/>
        </p:nvSpPr>
        <p:spPr>
          <a:xfrm rot="-90000">
            <a:off x="365760" y="2697480"/>
            <a:ext cx="2606040" cy="1965960"/>
          </a:xfrm>
          <a:prstGeom prst="roundRect">
            <a:avLst>
              <a:gd name="adj" fmla="val 790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97" descr="/home/claude/lls-course/v2/cache/3b2_bricks_jpg_605x451_31.png">    </p:cNvPr>
          <p:cNvPicPr>
            <a:picLocks noChangeAspect="1"/>
          </p:cNvPicPr>
          <p:nvPr/>
        </p:nvPicPr>
        <p:blipFill>
          <a:blip r:embed="rId5"/>
          <a:stretch>
            <a:fillRect/>
          </a:stretch>
        </p:blipFill>
        <p:spPr>
          <a:xfrm rot="-90000">
            <a:off x="411480" y="2743200"/>
            <a:ext cx="2514600" cy="1874520"/>
          </a:xfrm>
          <a:prstGeom prst="rect">
            <a:avLst/>
          </a:prstGeom>
        </p:spPr>
      </p:pic>
      <p:sp>
        <p:nvSpPr>
          <p:cNvPr id="20" name="bd_98"/>
          <p:cNvSpPr/>
          <p:nvPr/>
        </p:nvSpPr>
        <p:spPr>
          <a:xfrm>
            <a:off x="3246120" y="1474143"/>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1" name="q_99"/>
          <p:cNvSpPr/>
          <p:nvPr/>
        </p:nvSpPr>
        <p:spPr>
          <a:xfrm>
            <a:off x="3630168" y="1417320"/>
            <a:ext cx="2103120" cy="424543"/>
          </a:xfrm>
          <a:prstGeom prst="roundRect">
            <a:avLst>
              <a:gd name="adj" fmla="val 21538"/>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You build towers and houses with them</a:t>
            </a:r>
            <a:endParaRPr lang="en-US" sz="1150" dirty="0"/>
          </a:p>
        </p:txBody>
      </p:sp>
      <p:sp>
        <p:nvSpPr>
          <p:cNvPr id="22" name="R1_chip100"/>
          <p:cNvSpPr/>
          <p:nvPr/>
        </p:nvSpPr>
        <p:spPr>
          <a:xfrm>
            <a:off x="5806440" y="1417320"/>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construction toys (Lego, bricks)</a:t>
            </a:r>
            <a:endParaRPr lang="en-US" sz="1000" dirty="0"/>
          </a:p>
        </p:txBody>
      </p:sp>
      <p:sp>
        <p:nvSpPr>
          <p:cNvPr id="23" name="bd_101"/>
          <p:cNvSpPr/>
          <p:nvPr/>
        </p:nvSpPr>
        <p:spPr>
          <a:xfrm>
            <a:off x="3246120" y="1944406"/>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4" name="q_102"/>
          <p:cNvSpPr/>
          <p:nvPr/>
        </p:nvSpPr>
        <p:spPr>
          <a:xfrm>
            <a:off x="3630168" y="1887583"/>
            <a:ext cx="2103120" cy="424543"/>
          </a:xfrm>
          <a:prstGeom prst="roundRect">
            <a:avLst>
              <a:gd name="adj" fmla="val 21538"/>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Little people: you dress them and brush their hair</a:t>
            </a:r>
            <a:endParaRPr lang="en-US" sz="1100" dirty="0"/>
          </a:p>
        </p:txBody>
      </p:sp>
      <p:sp>
        <p:nvSpPr>
          <p:cNvPr id="25" name="R2_chip103"/>
          <p:cNvSpPr/>
          <p:nvPr/>
        </p:nvSpPr>
        <p:spPr>
          <a:xfrm>
            <a:off x="5806440" y="1887583"/>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dolls</a:t>
            </a:r>
            <a:endParaRPr lang="en-US" sz="1000" dirty="0"/>
          </a:p>
        </p:txBody>
      </p:sp>
      <p:sp>
        <p:nvSpPr>
          <p:cNvPr id="26" name="bd_104"/>
          <p:cNvSpPr/>
          <p:nvPr/>
        </p:nvSpPr>
        <p:spPr>
          <a:xfrm>
            <a:off x="3246120" y="2414669"/>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7" name="q_105"/>
          <p:cNvSpPr/>
          <p:nvPr/>
        </p:nvSpPr>
        <p:spPr>
          <a:xfrm>
            <a:off x="3630168" y="2357846"/>
            <a:ext cx="2103120" cy="424543"/>
          </a:xfrm>
          <a:prstGeom prst="roundRect">
            <a:avLst>
              <a:gd name="adj" fmla="val 21538"/>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Costumes: a pirate, a princess…</a:t>
            </a:r>
            <a:endParaRPr lang="en-US" sz="1150" dirty="0"/>
          </a:p>
        </p:txBody>
      </p:sp>
      <p:sp>
        <p:nvSpPr>
          <p:cNvPr id="28" name="R3_chip106"/>
          <p:cNvSpPr/>
          <p:nvPr/>
        </p:nvSpPr>
        <p:spPr>
          <a:xfrm>
            <a:off x="5806440" y="2357846"/>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dressing-up clothes</a:t>
            </a:r>
            <a:endParaRPr lang="en-US" sz="1000" dirty="0"/>
          </a:p>
        </p:txBody>
      </p:sp>
      <p:sp>
        <p:nvSpPr>
          <p:cNvPr id="29" name="bd_107"/>
          <p:cNvSpPr/>
          <p:nvPr/>
        </p:nvSpPr>
        <p:spPr>
          <a:xfrm>
            <a:off x="3246120" y="288493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0" name="q_108"/>
          <p:cNvSpPr/>
          <p:nvPr/>
        </p:nvSpPr>
        <p:spPr>
          <a:xfrm>
            <a:off x="3630168" y="2828109"/>
            <a:ext cx="2103120" cy="424543"/>
          </a:xfrm>
          <a:prstGeom prst="roundRect">
            <a:avLst>
              <a:gd name="adj" fmla="val 21538"/>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 picture in 500 pieces</a:t>
            </a:r>
            <a:endParaRPr lang="en-US" sz="1150" dirty="0"/>
          </a:p>
        </p:txBody>
      </p:sp>
      <p:sp>
        <p:nvSpPr>
          <p:cNvPr id="31" name="R4_chip109"/>
          <p:cNvSpPr/>
          <p:nvPr/>
        </p:nvSpPr>
        <p:spPr>
          <a:xfrm>
            <a:off x="5806440" y="2828109"/>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 jigsaw</a:t>
            </a:r>
            <a:endParaRPr lang="en-US" sz="1000" dirty="0"/>
          </a:p>
        </p:txBody>
      </p:sp>
      <p:sp>
        <p:nvSpPr>
          <p:cNvPr id="32" name="bd_110"/>
          <p:cNvSpPr/>
          <p:nvPr/>
        </p:nvSpPr>
        <p:spPr>
          <a:xfrm>
            <a:off x="3246120" y="3355195"/>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3" name="q_111"/>
          <p:cNvSpPr/>
          <p:nvPr/>
        </p:nvSpPr>
        <p:spPr>
          <a:xfrm>
            <a:off x="3630168" y="3298371"/>
            <a:ext cx="2103120" cy="424543"/>
          </a:xfrm>
          <a:prstGeom prst="roundRect">
            <a:avLst>
              <a:gd name="adj" fmla="val 21538"/>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 teddy bear is one</a:t>
            </a:r>
            <a:endParaRPr lang="en-US" sz="1150" dirty="0"/>
          </a:p>
        </p:txBody>
      </p:sp>
      <p:sp>
        <p:nvSpPr>
          <p:cNvPr id="34" name="R5_chip112"/>
          <p:cNvSpPr/>
          <p:nvPr/>
        </p:nvSpPr>
        <p:spPr>
          <a:xfrm>
            <a:off x="5806440" y="3298371"/>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soft toys</a:t>
            </a:r>
            <a:endParaRPr lang="en-US" sz="1000" dirty="0"/>
          </a:p>
        </p:txBody>
      </p:sp>
      <p:sp>
        <p:nvSpPr>
          <p:cNvPr id="35" name="bd_113"/>
          <p:cNvSpPr/>
          <p:nvPr/>
        </p:nvSpPr>
        <p:spPr>
          <a:xfrm>
            <a:off x="3246120" y="3825458"/>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6" name="q_114"/>
          <p:cNvSpPr/>
          <p:nvPr/>
        </p:nvSpPr>
        <p:spPr>
          <a:xfrm>
            <a:off x="3630168" y="3768634"/>
            <a:ext cx="2103120" cy="424543"/>
          </a:xfrm>
          <a:prstGeom prst="roundRect">
            <a:avLst>
              <a:gd name="adj" fmla="val 21538"/>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Little cars, trains and lorries</a:t>
            </a:r>
            <a:endParaRPr lang="en-US" sz="1150" dirty="0"/>
          </a:p>
        </p:txBody>
      </p:sp>
      <p:sp>
        <p:nvSpPr>
          <p:cNvPr id="37" name="R6_chip115"/>
          <p:cNvSpPr/>
          <p:nvPr/>
        </p:nvSpPr>
        <p:spPr>
          <a:xfrm>
            <a:off x="5806440" y="3768634"/>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toy vehicles</a:t>
            </a:r>
            <a:endParaRPr lang="en-US" sz="1000" dirty="0"/>
          </a:p>
        </p:txBody>
      </p:sp>
      <p:sp>
        <p:nvSpPr>
          <p:cNvPr id="38" name="bd_116"/>
          <p:cNvSpPr/>
          <p:nvPr/>
        </p:nvSpPr>
        <p:spPr>
          <a:xfrm>
            <a:off x="3246120" y="4295721"/>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39" name="q_117"/>
          <p:cNvSpPr/>
          <p:nvPr/>
        </p:nvSpPr>
        <p:spPr>
          <a:xfrm>
            <a:off x="3630168" y="4238897"/>
            <a:ext cx="2103120" cy="424543"/>
          </a:xfrm>
          <a:prstGeom prst="roundRect">
            <a:avLst>
              <a:gd name="adj" fmla="val 21538"/>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Swords and water pistols</a:t>
            </a:r>
            <a:endParaRPr lang="en-US" sz="1150" dirty="0"/>
          </a:p>
        </p:txBody>
      </p:sp>
      <p:sp>
        <p:nvSpPr>
          <p:cNvPr id="40" name="R7_chip118"/>
          <p:cNvSpPr/>
          <p:nvPr/>
        </p:nvSpPr>
        <p:spPr>
          <a:xfrm>
            <a:off x="5806440" y="4238897"/>
            <a:ext cx="3063240" cy="424543"/>
          </a:xfrm>
          <a:prstGeom prst="roundRect">
            <a:avLst>
              <a:gd name="adj" fmla="val 21538"/>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toy weapons</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19"/>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120" descr="/home/claude/lls-course/v2/assets/brush-yellow.png">    </p:cNvPr>
          <p:cNvPicPr>
            <a:picLocks noChangeAspect="1"/>
          </p:cNvPicPr>
          <p:nvPr/>
        </p:nvPicPr>
        <p:blipFill>
          <a:blip r:embed="rId2"/>
          <a:stretch>
            <a:fillRect/>
          </a:stretch>
        </p:blipFill>
        <p:spPr>
          <a:xfrm>
            <a:off x="1097280" y="146304"/>
            <a:ext cx="3877056" cy="621792"/>
          </a:xfrm>
          <a:prstGeom prst="rect">
            <a:avLst/>
          </a:prstGeom>
        </p:spPr>
      </p:pic>
      <p:sp>
        <p:nvSpPr>
          <p:cNvPr id="5" name="title_121"/>
          <p:cNvSpPr/>
          <p:nvPr/>
        </p:nvSpPr>
        <p:spPr>
          <a:xfrm>
            <a:off x="1261872" y="164592"/>
            <a:ext cx="360273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Toy words in Italian</a:t>
            </a:r>
            <a:endParaRPr lang="en-US" sz="2500" dirty="0"/>
          </a:p>
        </p:txBody>
      </p:sp>
      <p:pic>
        <p:nvPicPr>
          <p:cNvPr id="6" name="brP_122"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123"/>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it in Italian. Then click!</a:t>
            </a:r>
            <a:endParaRPr lang="en-US" sz="1250" dirty="0"/>
          </a:p>
        </p:txBody>
      </p:sp>
      <p:sp>
        <p:nvSpPr>
          <p:cNvPr id="8" name="insIT_12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Dillo in italiano. Poi clicca!</a:t>
            </a:r>
            <a:endParaRPr lang="en-US" sz="950" dirty="0"/>
          </a:p>
        </p:txBody>
      </p:sp>
      <p:sp>
        <p:nvSpPr>
          <p:cNvPr id="9" name="cmd_125"/>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0" name="meta_126"/>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sp>
        <p:nvSpPr>
          <p:cNvPr id="11" name="tag_127"/>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meaning</a:t>
            </a:r>
            <a:endParaRPr lang="en-US" sz="850" dirty="0"/>
          </a:p>
        </p:txBody>
      </p:sp>
      <p:pic>
        <p:nvPicPr>
          <p:cNvPr id="12" name="logo_12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2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3B-2 · Vocabulary · in Italian</a:t>
            </a:r>
            <a:endParaRPr lang="en-US" sz="800" dirty="0"/>
          </a:p>
        </p:txBody>
      </p:sp>
      <p:sp>
        <p:nvSpPr>
          <p:cNvPr id="14" name="cd_130"/>
          <p:cNvSpPr/>
          <p:nvPr/>
        </p:nvSpPr>
        <p:spPr>
          <a:xfrm>
            <a:off x="320040" y="141732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15" name="e_131"/>
          <p:cNvSpPr/>
          <p:nvPr/>
        </p:nvSpPr>
        <p:spPr>
          <a:xfrm>
            <a:off x="393192" y="152704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en_132"/>
          <p:cNvSpPr/>
          <p:nvPr/>
        </p:nvSpPr>
        <p:spPr>
          <a:xfrm>
            <a:off x="978408" y="1472184"/>
            <a:ext cx="1362456" cy="329184"/>
          </a:xfrm>
          <a:prstGeom prst="rect">
            <a:avLst/>
          </a:prstGeom>
          <a:noFill/>
          <a:ln/>
        </p:spPr>
        <p:txBody>
          <a:bodyPr wrap="square" lIns="0" tIns="0" rIns="0" bIns="0" rtlCol="0" anchor="ctr">
            <a:normAutofit/>
          </a:bodyPr>
          <a:lstStyle/>
          <a:p>
            <a:pP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construction toys</a:t>
            </a:r>
            <a:endParaRPr lang="en-US" sz="1150" dirty="0"/>
          </a:p>
        </p:txBody>
      </p:sp>
      <p:sp>
        <p:nvSpPr>
          <p:cNvPr id="17" name="R1_it133"/>
          <p:cNvSpPr/>
          <p:nvPr/>
        </p:nvSpPr>
        <p:spPr>
          <a:xfrm>
            <a:off x="978408" y="1801368"/>
            <a:ext cx="1362456" cy="292608"/>
          </a:xfrm>
          <a:prstGeom prst="rect">
            <a:avLst/>
          </a:prstGeom>
          <a:noFill/>
          <a:ln/>
        </p:spPr>
        <p:txBody>
          <a:bodyPr wrap="square" lIns="0" tIns="0" rIns="0" bIns="0" rtlCol="0" anchor="ctr">
            <a:normAutofit/>
          </a:bodyPr>
          <a:lstStyle/>
          <a:p>
            <a:pPr indent="0" marL="0">
              <a:buNone/>
            </a:pPr>
            <a:r>
              <a:rPr lang="en-US" sz="950" i="1" dirty="0">
                <a:solidFill>
                  <a:srgbClr val="2EB872"/>
                </a:solidFill>
                <a:latin typeface="Segoe UI Semibold" pitchFamily="34" charset="0"/>
                <a:ea typeface="Segoe UI Semibold" pitchFamily="34" charset="-122"/>
                <a:cs typeface="Segoe UI Semibold" pitchFamily="34" charset="-120"/>
              </a:rPr>
              <a:t>giochi di costruzione</a:t>
            </a:r>
            <a:endParaRPr lang="en-US" sz="950" dirty="0"/>
          </a:p>
        </p:txBody>
      </p:sp>
      <p:sp>
        <p:nvSpPr>
          <p:cNvPr id="18" name="cd_134"/>
          <p:cNvSpPr/>
          <p:nvPr/>
        </p:nvSpPr>
        <p:spPr>
          <a:xfrm>
            <a:off x="2487168" y="141732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9" name="e_135"/>
          <p:cNvSpPr/>
          <p:nvPr/>
        </p:nvSpPr>
        <p:spPr>
          <a:xfrm>
            <a:off x="2560320" y="152704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0" name="en_136"/>
          <p:cNvSpPr/>
          <p:nvPr/>
        </p:nvSpPr>
        <p:spPr>
          <a:xfrm>
            <a:off x="3145536"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dolls</a:t>
            </a:r>
            <a:endParaRPr lang="en-US" sz="1200" dirty="0"/>
          </a:p>
        </p:txBody>
      </p:sp>
      <p:sp>
        <p:nvSpPr>
          <p:cNvPr id="21" name="R1_it137"/>
          <p:cNvSpPr/>
          <p:nvPr/>
        </p:nvSpPr>
        <p:spPr>
          <a:xfrm>
            <a:off x="3145536"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bambole</a:t>
            </a:r>
            <a:endParaRPr lang="en-US" sz="1000" dirty="0"/>
          </a:p>
        </p:txBody>
      </p:sp>
      <p:sp>
        <p:nvSpPr>
          <p:cNvPr id="22" name="cd_138"/>
          <p:cNvSpPr/>
          <p:nvPr/>
        </p:nvSpPr>
        <p:spPr>
          <a:xfrm>
            <a:off x="4654296" y="141732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23" name="e_139"/>
          <p:cNvSpPr/>
          <p:nvPr/>
        </p:nvSpPr>
        <p:spPr>
          <a:xfrm>
            <a:off x="4727448" y="152704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4" name="en_140"/>
          <p:cNvSpPr/>
          <p:nvPr/>
        </p:nvSpPr>
        <p:spPr>
          <a:xfrm>
            <a:off x="5312664" y="1472184"/>
            <a:ext cx="1362456" cy="329184"/>
          </a:xfrm>
          <a:prstGeom prst="rect">
            <a:avLst/>
          </a:prstGeom>
          <a:noFill/>
          <a:ln/>
        </p:spPr>
        <p:txBody>
          <a:bodyPr wrap="square" lIns="0" tIns="0" rIns="0" bIns="0" rtlCol="0" anchor="ctr">
            <a:normAutofit/>
          </a:bodyPr>
          <a:lstStyle/>
          <a:p>
            <a:pPr indent="0" marL="0">
              <a:buNone/>
            </a:pPr>
            <a:r>
              <a:rPr lang="en-US" sz="1000" dirty="0">
                <a:solidFill>
                  <a:srgbClr val="1B2559"/>
                </a:solidFill>
                <a:latin typeface="Arial Rounded MT Bold" pitchFamily="34" charset="0"/>
                <a:ea typeface="Arial Rounded MT Bold" pitchFamily="34" charset="-122"/>
                <a:cs typeface="Arial Rounded MT Bold" pitchFamily="34" charset="-120"/>
              </a:rPr>
              <a:t>dressing-up clothes</a:t>
            </a:r>
            <a:endParaRPr lang="en-US" sz="1000" dirty="0"/>
          </a:p>
        </p:txBody>
      </p:sp>
      <p:sp>
        <p:nvSpPr>
          <p:cNvPr id="25" name="R1_it141"/>
          <p:cNvSpPr/>
          <p:nvPr/>
        </p:nvSpPr>
        <p:spPr>
          <a:xfrm>
            <a:off x="5312664" y="180136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costumi (per travestirsi)</a:t>
            </a:r>
            <a:endParaRPr lang="en-US" sz="800" dirty="0"/>
          </a:p>
        </p:txBody>
      </p:sp>
      <p:sp>
        <p:nvSpPr>
          <p:cNvPr id="26" name="cd_142"/>
          <p:cNvSpPr/>
          <p:nvPr/>
        </p:nvSpPr>
        <p:spPr>
          <a:xfrm>
            <a:off x="6821424" y="141732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7" name="e_143"/>
          <p:cNvSpPr/>
          <p:nvPr/>
        </p:nvSpPr>
        <p:spPr>
          <a:xfrm>
            <a:off x="6894576" y="152704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en_144"/>
          <p:cNvSpPr/>
          <p:nvPr/>
        </p:nvSpPr>
        <p:spPr>
          <a:xfrm>
            <a:off x="7479792"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a jigsaw</a:t>
            </a:r>
            <a:endParaRPr lang="en-US" sz="1200" dirty="0"/>
          </a:p>
        </p:txBody>
      </p:sp>
      <p:sp>
        <p:nvSpPr>
          <p:cNvPr id="29" name="R1_it145"/>
          <p:cNvSpPr/>
          <p:nvPr/>
        </p:nvSpPr>
        <p:spPr>
          <a:xfrm>
            <a:off x="7479792"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un puzzle</a:t>
            </a:r>
            <a:endParaRPr lang="en-US" sz="1000" dirty="0"/>
          </a:p>
        </p:txBody>
      </p:sp>
      <p:sp>
        <p:nvSpPr>
          <p:cNvPr id="30" name="cd_146"/>
          <p:cNvSpPr/>
          <p:nvPr/>
        </p:nvSpPr>
        <p:spPr>
          <a:xfrm>
            <a:off x="320040" y="224028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31" name="e_147"/>
          <p:cNvSpPr/>
          <p:nvPr/>
        </p:nvSpPr>
        <p:spPr>
          <a:xfrm>
            <a:off x="393192" y="235000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2" name="en_148"/>
          <p:cNvSpPr/>
          <p:nvPr/>
        </p:nvSpPr>
        <p:spPr>
          <a:xfrm>
            <a:off x="978408"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soft toys</a:t>
            </a:r>
            <a:endParaRPr lang="en-US" sz="1200" dirty="0"/>
          </a:p>
        </p:txBody>
      </p:sp>
      <p:sp>
        <p:nvSpPr>
          <p:cNvPr id="33" name="R1_it149"/>
          <p:cNvSpPr/>
          <p:nvPr/>
        </p:nvSpPr>
        <p:spPr>
          <a:xfrm>
            <a:off x="978408"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peluche</a:t>
            </a:r>
            <a:endParaRPr lang="en-US" sz="1000" dirty="0"/>
          </a:p>
        </p:txBody>
      </p:sp>
      <p:sp>
        <p:nvSpPr>
          <p:cNvPr id="34" name="cd_150"/>
          <p:cNvSpPr/>
          <p:nvPr/>
        </p:nvSpPr>
        <p:spPr>
          <a:xfrm>
            <a:off x="2487168" y="224028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35" name="e_151"/>
          <p:cNvSpPr/>
          <p:nvPr/>
        </p:nvSpPr>
        <p:spPr>
          <a:xfrm>
            <a:off x="2560320" y="235000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6" name="en_152"/>
          <p:cNvSpPr/>
          <p:nvPr/>
        </p:nvSpPr>
        <p:spPr>
          <a:xfrm>
            <a:off x="3145536"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toy vehicles</a:t>
            </a:r>
            <a:endParaRPr lang="en-US" sz="1200" dirty="0"/>
          </a:p>
        </p:txBody>
      </p:sp>
      <p:sp>
        <p:nvSpPr>
          <p:cNvPr id="37" name="R1_it153"/>
          <p:cNvSpPr/>
          <p:nvPr/>
        </p:nvSpPr>
        <p:spPr>
          <a:xfrm>
            <a:off x="3145536" y="2624328"/>
            <a:ext cx="1362456" cy="292608"/>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macchinine, trenini…</a:t>
            </a:r>
            <a:endParaRPr lang="en-US" sz="900" dirty="0"/>
          </a:p>
        </p:txBody>
      </p:sp>
      <p:sp>
        <p:nvSpPr>
          <p:cNvPr id="38" name="cd_154"/>
          <p:cNvSpPr/>
          <p:nvPr/>
        </p:nvSpPr>
        <p:spPr>
          <a:xfrm>
            <a:off x="4654296" y="224028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39" name="e_155"/>
          <p:cNvSpPr/>
          <p:nvPr/>
        </p:nvSpPr>
        <p:spPr>
          <a:xfrm>
            <a:off x="4727448" y="235000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0" name="en_156"/>
          <p:cNvSpPr/>
          <p:nvPr/>
        </p:nvSpPr>
        <p:spPr>
          <a:xfrm>
            <a:off x="5312664"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toy weapons</a:t>
            </a:r>
            <a:endParaRPr lang="en-US" sz="1200" dirty="0"/>
          </a:p>
        </p:txBody>
      </p:sp>
      <p:sp>
        <p:nvSpPr>
          <p:cNvPr id="41" name="R1_it157"/>
          <p:cNvSpPr/>
          <p:nvPr/>
        </p:nvSpPr>
        <p:spPr>
          <a:xfrm>
            <a:off x="5312664"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armi giocattolo</a:t>
            </a:r>
            <a:endParaRPr lang="en-US" sz="1000" dirty="0"/>
          </a:p>
        </p:txBody>
      </p:sp>
      <p:sp>
        <p:nvSpPr>
          <p:cNvPr id="42" name="cd_158"/>
          <p:cNvSpPr/>
          <p:nvPr/>
        </p:nvSpPr>
        <p:spPr>
          <a:xfrm>
            <a:off x="6821424" y="224028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43" name="e_159"/>
          <p:cNvSpPr/>
          <p:nvPr/>
        </p:nvSpPr>
        <p:spPr>
          <a:xfrm>
            <a:off x="6894576" y="235000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4" name="en_160"/>
          <p:cNvSpPr/>
          <p:nvPr/>
        </p:nvSpPr>
        <p:spPr>
          <a:xfrm>
            <a:off x="7479792"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an aisle /aɪl/</a:t>
            </a:r>
            <a:endParaRPr lang="en-US" sz="1200" dirty="0"/>
          </a:p>
        </p:txBody>
      </p:sp>
      <p:sp>
        <p:nvSpPr>
          <p:cNvPr id="45" name="R1_it161"/>
          <p:cNvSpPr/>
          <p:nvPr/>
        </p:nvSpPr>
        <p:spPr>
          <a:xfrm>
            <a:off x="7479792" y="262432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una corsia (del negozio)</a:t>
            </a:r>
            <a:endParaRPr lang="en-US" sz="800" dirty="0"/>
          </a:p>
        </p:txBody>
      </p:sp>
      <p:sp>
        <p:nvSpPr>
          <p:cNvPr id="46" name="cd_162"/>
          <p:cNvSpPr/>
          <p:nvPr/>
        </p:nvSpPr>
        <p:spPr>
          <a:xfrm>
            <a:off x="320040" y="306324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47" name="e_163"/>
          <p:cNvSpPr/>
          <p:nvPr/>
        </p:nvSpPr>
        <p:spPr>
          <a:xfrm>
            <a:off x="393192" y="317296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8" name="en_164"/>
          <p:cNvSpPr/>
          <p:nvPr/>
        </p:nvSpPr>
        <p:spPr>
          <a:xfrm>
            <a:off x="978408"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package (v)</a:t>
            </a:r>
            <a:endParaRPr lang="en-US" sz="1200" dirty="0"/>
          </a:p>
        </p:txBody>
      </p:sp>
      <p:sp>
        <p:nvSpPr>
          <p:cNvPr id="49" name="R1_it165"/>
          <p:cNvSpPr/>
          <p:nvPr/>
        </p:nvSpPr>
        <p:spPr>
          <a:xfrm>
            <a:off x="978408" y="344728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confezionare, impacchettare</a:t>
            </a:r>
            <a:endParaRPr lang="en-US" sz="800" dirty="0"/>
          </a:p>
        </p:txBody>
      </p:sp>
      <p:sp>
        <p:nvSpPr>
          <p:cNvPr id="50" name="cd_166"/>
          <p:cNvSpPr/>
          <p:nvPr/>
        </p:nvSpPr>
        <p:spPr>
          <a:xfrm>
            <a:off x="2487168" y="306324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51" name="e_167"/>
          <p:cNvSpPr/>
          <p:nvPr/>
        </p:nvSpPr>
        <p:spPr>
          <a:xfrm>
            <a:off x="2560320" y="317296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2" name="en_168"/>
          <p:cNvSpPr/>
          <p:nvPr/>
        </p:nvSpPr>
        <p:spPr>
          <a:xfrm>
            <a:off x="3145536"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genetically</a:t>
            </a:r>
            <a:endParaRPr lang="en-US" sz="1200" dirty="0"/>
          </a:p>
        </p:txBody>
      </p:sp>
      <p:sp>
        <p:nvSpPr>
          <p:cNvPr id="53" name="R1_it169"/>
          <p:cNvSpPr/>
          <p:nvPr/>
        </p:nvSpPr>
        <p:spPr>
          <a:xfrm>
            <a:off x="3145536"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geneticamente</a:t>
            </a:r>
            <a:endParaRPr lang="en-US" sz="1000" dirty="0"/>
          </a:p>
        </p:txBody>
      </p:sp>
      <p:sp>
        <p:nvSpPr>
          <p:cNvPr id="54" name="cd_170"/>
          <p:cNvSpPr/>
          <p:nvPr/>
        </p:nvSpPr>
        <p:spPr>
          <a:xfrm>
            <a:off x="4654296" y="306324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55" name="e_171"/>
          <p:cNvSpPr/>
          <p:nvPr/>
        </p:nvSpPr>
        <p:spPr>
          <a:xfrm>
            <a:off x="4727448" y="317296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6" name="en_172"/>
          <p:cNvSpPr/>
          <p:nvPr/>
        </p:nvSpPr>
        <p:spPr>
          <a:xfrm>
            <a:off x="5312664"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advertisers</a:t>
            </a:r>
            <a:endParaRPr lang="en-US" sz="1200" dirty="0"/>
          </a:p>
        </p:txBody>
      </p:sp>
      <p:sp>
        <p:nvSpPr>
          <p:cNvPr id="57" name="R1_it173"/>
          <p:cNvSpPr/>
          <p:nvPr/>
        </p:nvSpPr>
        <p:spPr>
          <a:xfrm>
            <a:off x="5312664"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i pubblicitari</a:t>
            </a:r>
            <a:endParaRPr lang="en-US" sz="1000" dirty="0"/>
          </a:p>
        </p:txBody>
      </p:sp>
      <p:sp>
        <p:nvSpPr>
          <p:cNvPr id="58" name="cd_174"/>
          <p:cNvSpPr/>
          <p:nvPr/>
        </p:nvSpPr>
        <p:spPr>
          <a:xfrm>
            <a:off x="6821424" y="306324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59" name="e_175"/>
          <p:cNvSpPr/>
          <p:nvPr/>
        </p:nvSpPr>
        <p:spPr>
          <a:xfrm>
            <a:off x="6894576" y="317296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60" name="en_176"/>
          <p:cNvSpPr/>
          <p:nvPr/>
        </p:nvSpPr>
        <p:spPr>
          <a:xfrm>
            <a:off x="7479792"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equal to men</a:t>
            </a:r>
            <a:endParaRPr lang="en-US" sz="1200" dirty="0"/>
          </a:p>
        </p:txBody>
      </p:sp>
      <p:sp>
        <p:nvSpPr>
          <p:cNvPr id="61" name="R1_it177"/>
          <p:cNvSpPr/>
          <p:nvPr/>
        </p:nvSpPr>
        <p:spPr>
          <a:xfrm>
            <a:off x="7479792" y="344728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uguali agli uomini (parità)</a:t>
            </a:r>
            <a:endParaRPr lang="en-US" sz="800" dirty="0"/>
          </a:p>
        </p:txBody>
      </p:sp>
      <p:sp>
        <p:nvSpPr>
          <p:cNvPr id="62" name="R1_wc178"/>
          <p:cNvSpPr/>
          <p:nvPr/>
        </p:nvSpPr>
        <p:spPr>
          <a:xfrm>
            <a:off x="320040" y="3931920"/>
            <a:ext cx="8549640" cy="457200"/>
          </a:xfrm>
          <a:prstGeom prst="roundRect">
            <a:avLst>
              <a:gd name="adj" fmla="val 28000"/>
            </a:avLst>
          </a:prstGeom>
          <a:solidFill>
            <a:srgbClr val="FFE3EE"/>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63" name="R1_w179"/>
          <p:cNvSpPr/>
          <p:nvPr/>
        </p:nvSpPr>
        <p:spPr>
          <a:xfrm>
            <a:off x="457200" y="3931920"/>
            <a:ext cx="8321040" cy="45720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Watch out!  jigsaw = un puzzle  ·  dressing-up clothes ≠ vestiti eleganti  ·  aisle /aɪl/: the s is silent!</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400"/>
                                        <p:tgtEl>
                                          <p:spTgt spid="25"/>
                                        </p:tgtEl>
                                      </p:cBhvr>
                                    </p:animEffect>
                                  </p:childTnLst>
                                </p:cTn>
                              </p:par>
                              <p:par>
                                <p:cTn id="14" presetID="10" presetClass="entr" presetSubtype="0" fill="hold"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400"/>
                                        <p:tgtEl>
                                          <p:spTgt spid="29"/>
                                        </p:tgtEl>
                                      </p:cBhvr>
                                    </p:animEffect>
                                  </p:childTnLst>
                                </p:cTn>
                              </p:par>
                              <p:par>
                                <p:cTn id="17" presetID="10" presetClass="entr" presetSubtype="0"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400"/>
                                        <p:tgtEl>
                                          <p:spTgt spid="33"/>
                                        </p:tgtEl>
                                      </p:cBhvr>
                                    </p:animEffect>
                                  </p:childTnLst>
                                </p:cTn>
                              </p:par>
                              <p:par>
                                <p:cTn id="20" presetID="10" presetClass="entr" presetSubtype="0" fill="hold"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400"/>
                                        <p:tgtEl>
                                          <p:spTgt spid="37"/>
                                        </p:tgtEl>
                                      </p:cBhvr>
                                    </p:animEffect>
                                  </p:childTnLst>
                                </p:cTn>
                              </p:par>
                              <p:par>
                                <p:cTn id="23" presetID="10"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400"/>
                                        <p:tgtEl>
                                          <p:spTgt spid="41"/>
                                        </p:tgtEl>
                                      </p:cBhvr>
                                    </p:animEffect>
                                  </p:childTnLst>
                                </p:cTn>
                              </p:par>
                              <p:par>
                                <p:cTn id="26" presetID="10" presetClass="entr" presetSubtype="0" fill="hold" nodeType="with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fade">
                                      <p:cBhvr>
                                        <p:cTn id="28" dur="400"/>
                                        <p:tgtEl>
                                          <p:spTgt spid="45"/>
                                        </p:tgtEl>
                                      </p:cBhvr>
                                    </p:animEffect>
                                  </p:childTnLst>
                                </p:cTn>
                              </p:par>
                              <p:par>
                                <p:cTn id="29" presetID="10" presetClass="entr" presetSubtype="0" fill="hold" nodeType="with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fade">
                                      <p:cBhvr>
                                        <p:cTn id="31" dur="400"/>
                                        <p:tgtEl>
                                          <p:spTgt spid="49"/>
                                        </p:tgtEl>
                                      </p:cBhvr>
                                    </p:animEffect>
                                  </p:childTnLst>
                                </p:cTn>
                              </p:par>
                              <p:par>
                                <p:cTn id="32" presetID="10" presetClass="entr" presetSubtype="0" fill="hold" nodeType="withEffect">
                                  <p:stCondLst>
                                    <p:cond delay="0"/>
                                  </p:stCondLst>
                                  <p:childTnLst>
                                    <p:set>
                                      <p:cBhvr>
                                        <p:cTn id="33" dur="1" fill="hold">
                                          <p:stCondLst>
                                            <p:cond delay="0"/>
                                          </p:stCondLst>
                                        </p:cTn>
                                        <p:tgtEl>
                                          <p:spTgt spid="53"/>
                                        </p:tgtEl>
                                        <p:attrNameLst>
                                          <p:attrName>style.visibility</p:attrName>
                                        </p:attrNameLst>
                                      </p:cBhvr>
                                      <p:to>
                                        <p:strVal val="visible"/>
                                      </p:to>
                                    </p:set>
                                    <p:animEffect transition="in" filter="fade">
                                      <p:cBhvr>
                                        <p:cTn id="34" dur="400"/>
                                        <p:tgtEl>
                                          <p:spTgt spid="53"/>
                                        </p:tgtEl>
                                      </p:cBhvr>
                                    </p:animEffect>
                                  </p:childTnLst>
                                </p:cTn>
                              </p:par>
                              <p:par>
                                <p:cTn id="35" presetID="10" presetClass="entr" presetSubtype="0" fill="hold" nodeType="with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fade">
                                      <p:cBhvr>
                                        <p:cTn id="37" dur="400"/>
                                        <p:tgtEl>
                                          <p:spTgt spid="57"/>
                                        </p:tgtEl>
                                      </p:cBhvr>
                                    </p:animEffect>
                                  </p:childTnLst>
                                </p:cTn>
                              </p:par>
                              <p:par>
                                <p:cTn id="38" presetID="10" presetClass="entr" presetSubtype="0" fill="hold" nodeType="withEffect">
                                  <p:stCondLst>
                                    <p:cond delay="0"/>
                                  </p:stCondLst>
                                  <p:childTnLst>
                                    <p:set>
                                      <p:cBhvr>
                                        <p:cTn id="39" dur="1" fill="hold">
                                          <p:stCondLst>
                                            <p:cond delay="0"/>
                                          </p:stCondLst>
                                        </p:cTn>
                                        <p:tgtEl>
                                          <p:spTgt spid="61"/>
                                        </p:tgtEl>
                                        <p:attrNameLst>
                                          <p:attrName>style.visibility</p:attrName>
                                        </p:attrNameLst>
                                      </p:cBhvr>
                                      <p:to>
                                        <p:strVal val="visible"/>
                                      </p:to>
                                    </p:set>
                                    <p:animEffect transition="in" filter="fade">
                                      <p:cBhvr>
                                        <p:cTn id="40" dur="400"/>
                                        <p:tgtEl>
                                          <p:spTgt spid="61"/>
                                        </p:tgtEl>
                                      </p:cBhvr>
                                    </p:animEffect>
                                  </p:childTnLst>
                                </p:cTn>
                              </p:par>
                              <p:par>
                                <p:cTn id="41" presetID="10" presetClass="entr" presetSubtype="0" fill="hold" nodeType="withEffect">
                                  <p:stCondLst>
                                    <p:cond delay="0"/>
                                  </p:stCondLst>
                                  <p:childTnLst>
                                    <p:set>
                                      <p:cBhvr>
                                        <p:cTn id="42" dur="1" fill="hold">
                                          <p:stCondLst>
                                            <p:cond delay="0"/>
                                          </p:stCondLst>
                                        </p:cTn>
                                        <p:tgtEl>
                                          <p:spTgt spid="62"/>
                                        </p:tgtEl>
                                        <p:attrNameLst>
                                          <p:attrName>style.visibility</p:attrName>
                                        </p:attrNameLst>
                                      </p:cBhvr>
                                      <p:to>
                                        <p:strVal val="visible"/>
                                      </p:to>
                                    </p:set>
                                    <p:animEffect transition="in" filter="fade">
                                      <p:cBhvr>
                                        <p:cTn id="43" dur="400"/>
                                        <p:tgtEl>
                                          <p:spTgt spid="62"/>
                                        </p:tgtEl>
                                      </p:cBhvr>
                                    </p:animEffect>
                                  </p:childTnLst>
                                </p:cTn>
                              </p:par>
                              <p:par>
                                <p:cTn id="44" presetID="10" presetClass="entr" presetSubtype="0" fill="hold" nodeType="withEffect">
                                  <p:stCondLst>
                                    <p:cond delay="0"/>
                                  </p:stCondLst>
                                  <p:childTnLst>
                                    <p:set>
                                      <p:cBhvr>
                                        <p:cTn id="45" dur="1" fill="hold">
                                          <p:stCondLst>
                                            <p:cond delay="0"/>
                                          </p:stCondLst>
                                        </p:cTn>
                                        <p:tgtEl>
                                          <p:spTgt spid="63"/>
                                        </p:tgtEl>
                                        <p:attrNameLst>
                                          <p:attrName>style.visibility</p:attrName>
                                        </p:attrNameLst>
                                      </p:cBhvr>
                                      <p:to>
                                        <p:strVal val="visible"/>
                                      </p:to>
                                    </p:set>
                                    <p:animEffect transition="in" filter="fade">
                                      <p:cBhvr>
                                        <p:cTn id="46" dur="4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80"/>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81" descr="/home/claude/lls-course/v2/assets/brush-yellow.png">    </p:cNvPr>
          <p:cNvPicPr>
            <a:picLocks noChangeAspect="1"/>
          </p:cNvPicPr>
          <p:nvPr/>
        </p:nvPicPr>
        <p:blipFill>
          <a:blip r:embed="rId2"/>
          <a:stretch>
            <a:fillRect/>
          </a:stretch>
        </p:blipFill>
        <p:spPr>
          <a:xfrm>
            <a:off x="1097280" y="146304"/>
            <a:ext cx="3877056" cy="621792"/>
          </a:xfrm>
          <a:prstGeom prst="rect">
            <a:avLst/>
          </a:prstGeom>
        </p:spPr>
      </p:pic>
      <p:sp>
        <p:nvSpPr>
          <p:cNvPr id="5" name="title_182"/>
          <p:cNvSpPr/>
          <p:nvPr/>
        </p:nvSpPr>
        <p:spPr>
          <a:xfrm>
            <a:off x="1261872" y="164592"/>
            <a:ext cx="360273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Girls, boys or both?</a:t>
            </a:r>
            <a:endParaRPr lang="en-US" sz="2500" dirty="0"/>
          </a:p>
        </p:txBody>
      </p:sp>
      <p:pic>
        <p:nvPicPr>
          <p:cNvPr id="6" name="brP_183" descr="/home/claude/lls-course/v2/assets/brush-pink.png">    </p:cNvPr>
          <p:cNvPicPr>
            <a:picLocks noChangeAspect="1"/>
          </p:cNvPicPr>
          <p:nvPr/>
        </p:nvPicPr>
        <p:blipFill>
          <a:blip r:embed="rId3"/>
          <a:stretch>
            <a:fillRect/>
          </a:stretch>
        </p:blipFill>
        <p:spPr>
          <a:xfrm>
            <a:off x="1207008" y="731520"/>
            <a:ext cx="3250692" cy="402336"/>
          </a:xfrm>
          <a:prstGeom prst="rect">
            <a:avLst/>
          </a:prstGeom>
        </p:spPr>
      </p:pic>
      <p:sp>
        <p:nvSpPr>
          <p:cNvPr id="7" name="ins_184"/>
          <p:cNvSpPr/>
          <p:nvPr/>
        </p:nvSpPr>
        <p:spPr>
          <a:xfrm>
            <a:off x="1353312" y="731520"/>
            <a:ext cx="299466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Girls, boys or both? Say why.</a:t>
            </a:r>
            <a:endParaRPr lang="en-US" sz="1250" dirty="0"/>
          </a:p>
        </p:txBody>
      </p:sp>
      <p:sp>
        <p:nvSpPr>
          <p:cNvPr id="8" name="insIT_18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Bambine, bambini o entrambi? Spiega perché.</a:t>
            </a:r>
            <a:endParaRPr lang="en-US" sz="950" dirty="0"/>
          </a:p>
        </p:txBody>
      </p:sp>
      <p:sp>
        <p:nvSpPr>
          <p:cNvPr id="9" name="cmd_186"/>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187"/>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188"/>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18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9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3B-2 · Speaking · toys   ·   📖 SB p.32 · 4a</a:t>
            </a:r>
            <a:endParaRPr lang="en-US" sz="800" dirty="0"/>
          </a:p>
        </p:txBody>
      </p:sp>
      <p:sp>
        <p:nvSpPr>
          <p:cNvPr id="14" name="pf_191"/>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92" descr="/home/claude/lls-course/v2/cache/3b2_dressing_up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6" name="cd_193"/>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194"/>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195"/>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196"/>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Generally speaking, girls / boys play with… more</a:t>
            </a:r>
            <a:endParaRPr lang="en-US" sz="1050" dirty="0"/>
          </a:p>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Both equally!</a:t>
            </a:r>
            <a:endParaRPr lang="en-US" sz="1050" dirty="0"/>
          </a:p>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On the whole, I think…</a:t>
            </a:r>
            <a:endParaRPr lang="en-US" sz="1050" dirty="0"/>
          </a:p>
        </p:txBody>
      </p:sp>
      <p:sp>
        <p:nvSpPr>
          <p:cNvPr id="20" name="R1_qb197"/>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198"/>
          <p:cNvSpPr/>
          <p:nvPr/>
        </p:nvSpPr>
        <p:spPr>
          <a:xfrm>
            <a:off x="3675888" y="1417320"/>
            <a:ext cx="45079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Dolls and soft toys: girls more, boys more, or both?</a:t>
            </a:r>
            <a:endParaRPr lang="en-US" sz="1050" dirty="0"/>
          </a:p>
          <a:p>
            <a:pPr indent="0" marL="0">
              <a:buNone/>
            </a:pPr>
            <a:r>
              <a:rPr lang="en-US" sz="850" i="1" dirty="0">
                <a:solidFill>
                  <a:srgbClr val="5B6785"/>
                </a:solidFill>
                <a:latin typeface="Segoe UI" pitchFamily="34" charset="0"/>
                <a:ea typeface="Segoe UI" pitchFamily="34" charset="-122"/>
                <a:cs typeface="Segoe UI" pitchFamily="34" charset="-120"/>
              </a:rPr>
              <a:t>e.g. Generally speaking, girls play with dolls more, but everyone loves soft toys.</a:t>
            </a:r>
            <a:endParaRPr lang="en-US" sz="1050" dirty="0"/>
          </a:p>
        </p:txBody>
      </p:sp>
      <p:pic>
        <p:nvPicPr>
          <p:cNvPr id="22" name="R1_th199" descr="/home/claude/lls-course/v2/cache/3b2_dolls_jpg_154x119_18.png">    </p:cNvPr>
          <p:cNvPicPr>
            <a:picLocks noChangeAspect="1"/>
          </p:cNvPicPr>
          <p:nvPr/>
        </p:nvPicPr>
        <p:blipFill>
          <a:blip r:embed="rId6"/>
          <a:stretch>
            <a:fillRect/>
          </a:stretch>
        </p:blipFill>
        <p:spPr>
          <a:xfrm>
            <a:off x="8257032" y="1435608"/>
            <a:ext cx="640080" cy="493776"/>
          </a:xfrm>
          <a:prstGeom prst="rect">
            <a:avLst/>
          </a:prstGeom>
        </p:spPr>
      </p:pic>
      <p:sp>
        <p:nvSpPr>
          <p:cNvPr id="23" name="R2_qb200"/>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R2_sq201"/>
          <p:cNvSpPr/>
          <p:nvPr/>
        </p:nvSpPr>
        <p:spPr>
          <a:xfrm>
            <a:off x="3675888" y="2020824"/>
            <a:ext cx="45079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Construction toys and jigsaws: girls, boys, or both?</a:t>
            </a:r>
            <a:endParaRPr lang="en-US" sz="1200" dirty="0"/>
          </a:p>
          <a:p>
            <a:pPr indent="0" marL="0">
              <a:buNone/>
            </a:pPr>
            <a:r>
              <a:rPr lang="en-US" sz="950" i="1" dirty="0">
                <a:solidFill>
                  <a:srgbClr val="5B6785"/>
                </a:solidFill>
                <a:latin typeface="Segoe UI" pitchFamily="34" charset="0"/>
                <a:ea typeface="Segoe UI" pitchFamily="34" charset="-122"/>
                <a:cs typeface="Segoe UI" pitchFamily="34" charset="-120"/>
              </a:rPr>
              <a:t>e.g. Both! My sister loved Lego.</a:t>
            </a:r>
            <a:endParaRPr lang="en-US" sz="1200" dirty="0"/>
          </a:p>
        </p:txBody>
      </p:sp>
      <p:pic>
        <p:nvPicPr>
          <p:cNvPr id="25" name="R2_th202" descr="/home/claude/lls-course/v2/cache/3b2_bricks_jpg_154x119_18.png">    </p:cNvPr>
          <p:cNvPicPr>
            <a:picLocks noChangeAspect="1"/>
          </p:cNvPicPr>
          <p:nvPr/>
        </p:nvPicPr>
        <p:blipFill>
          <a:blip r:embed="rId7"/>
          <a:stretch>
            <a:fillRect/>
          </a:stretch>
        </p:blipFill>
        <p:spPr>
          <a:xfrm>
            <a:off x="8257032" y="2039112"/>
            <a:ext cx="640080" cy="493776"/>
          </a:xfrm>
          <a:prstGeom prst="rect">
            <a:avLst/>
          </a:prstGeom>
        </p:spPr>
      </p:pic>
      <p:sp>
        <p:nvSpPr>
          <p:cNvPr id="26" name="R3_qb203"/>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R3_sq204"/>
          <p:cNvSpPr/>
          <p:nvPr/>
        </p:nvSpPr>
        <p:spPr>
          <a:xfrm>
            <a:off x="3675888" y="2624328"/>
            <a:ext cx="51937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Toy vehicles and toy weapons: girls, boys, or both?</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On the whole, boys – my brother had 50 toy cars!</a:t>
            </a:r>
            <a:endParaRPr lang="en-US" sz="1250" dirty="0"/>
          </a:p>
        </p:txBody>
      </p:sp>
      <p:sp>
        <p:nvSpPr>
          <p:cNvPr id="28" name="R4_qb205"/>
          <p:cNvSpPr/>
          <p:nvPr/>
        </p:nvSpPr>
        <p:spPr>
          <a:xfrm>
            <a:off x="3273552" y="326440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9" name="R4_sq206"/>
          <p:cNvSpPr/>
          <p:nvPr/>
        </p:nvSpPr>
        <p:spPr>
          <a:xfrm>
            <a:off x="3675888" y="3227832"/>
            <a:ext cx="4507992" cy="530352"/>
          </a:xfrm>
          <a:prstGeom prst="roundRect">
            <a:avLst>
              <a:gd name="adj" fmla="val 20690"/>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Dressing-up clothes: girls, boys, or both?</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Both – at Carnevale everybody dresses up!</a:t>
            </a:r>
            <a:endParaRPr lang="en-US" sz="1250" dirty="0"/>
          </a:p>
        </p:txBody>
      </p:sp>
      <p:pic>
        <p:nvPicPr>
          <p:cNvPr id="30" name="R4_th207" descr="/home/claude/lls-course/v2/cache/3b2_dressing_up_jpg_154x119_18.png">    </p:cNvPr>
          <p:cNvPicPr>
            <a:picLocks noChangeAspect="1"/>
          </p:cNvPicPr>
          <p:nvPr/>
        </p:nvPicPr>
        <p:blipFill>
          <a:blip r:embed="rId8"/>
          <a:stretch>
            <a:fillRect/>
          </a:stretch>
        </p:blipFill>
        <p:spPr>
          <a:xfrm>
            <a:off x="8257032" y="3246120"/>
            <a:ext cx="640080" cy="493776"/>
          </a:xfrm>
          <a:prstGeom prst="rect">
            <a:avLst/>
          </a:prstGeom>
        </p:spPr>
      </p:pic>
      <p:sp>
        <p:nvSpPr>
          <p:cNvPr id="31" name="R5_qb208"/>
          <p:cNvSpPr/>
          <p:nvPr/>
        </p:nvSpPr>
        <p:spPr>
          <a:xfrm>
            <a:off x="3273552" y="3867912"/>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2" name="R5_sq209"/>
          <p:cNvSpPr/>
          <p:nvPr/>
        </p:nvSpPr>
        <p:spPr>
          <a:xfrm>
            <a:off x="3675888" y="3831336"/>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Which of these toys did you have?</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 had lots of jigsaws and a big box of Lego.</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400"/>
                                        <p:tgtEl>
                                          <p:spTgt spid="2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par>
                                <p:cTn id="19" presetID="10"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400"/>
                                        <p:tgtEl>
                                          <p:spTgt spid="24"/>
                                        </p:tgtEl>
                                      </p:cBhvr>
                                    </p:animEffect>
                                  </p:childTnLst>
                                </p:cTn>
                              </p:par>
                              <p:par>
                                <p:cTn id="22" presetID="10" presetClass="entr" presetSubtype="0" fill="hold" nodeType="with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400"/>
                                        <p:tgtEl>
                                          <p:spTgt spid="25"/>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par>
                                <p:cTn id="30" presetID="10" presetClass="entr" presetSubtype="0" fill="hold"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4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par>
                                <p:cTn id="38" presetID="10" presetClass="entr" presetSubtype="0" fill="hold"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400"/>
                                        <p:tgtEl>
                                          <p:spTgt spid="29"/>
                                        </p:tgtEl>
                                      </p:cBhvr>
                                    </p:animEffect>
                                  </p:childTnLst>
                                </p:cTn>
                              </p:par>
                              <p:par>
                                <p:cTn id="41" presetID="10" presetClass="entr" presetSubtype="0"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fade">
                                      <p:cBhvr>
                                        <p:cTn id="43" dur="400"/>
                                        <p:tgtEl>
                                          <p:spTgt spid="30"/>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1"/>
                                        </p:tgtEl>
                                        <p:attrNameLst>
                                          <p:attrName>style.visibility</p:attrName>
                                        </p:attrNameLst>
                                      </p:cBhvr>
                                      <p:to>
                                        <p:strVal val="visible"/>
                                      </p:to>
                                    </p:set>
                                    <p:animEffect transition="in" filter="fade">
                                      <p:cBhvr>
                                        <p:cTn id="48" dur="400"/>
                                        <p:tgtEl>
                                          <p:spTgt spid="31"/>
                                        </p:tgtEl>
                                      </p:cBhvr>
                                    </p:animEffect>
                                  </p:childTnLst>
                                </p:cTn>
                              </p:par>
                              <p:par>
                                <p:cTn id="49" presetID="10" presetClass="entr" presetSubtype="0" fill="hold" nodeType="with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fade">
                                      <p:cBhvr>
                                        <p:cTn id="51"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10"/>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211" descr="/home/claude/lls-course/v2/assets/brush-yellow.png">    </p:cNvPr>
          <p:cNvPicPr>
            <a:picLocks noChangeAspect="1"/>
          </p:cNvPicPr>
          <p:nvPr/>
        </p:nvPicPr>
        <p:blipFill>
          <a:blip r:embed="rId2"/>
          <a:stretch>
            <a:fillRect/>
          </a:stretch>
        </p:blipFill>
        <p:spPr>
          <a:xfrm>
            <a:off x="1097280" y="146304"/>
            <a:ext cx="4663440" cy="621792"/>
          </a:xfrm>
          <a:prstGeom prst="rect">
            <a:avLst/>
          </a:prstGeom>
        </p:spPr>
      </p:pic>
      <p:sp>
        <p:nvSpPr>
          <p:cNvPr id="5" name="title_212"/>
          <p:cNvSpPr/>
          <p:nvPr/>
        </p:nvSpPr>
        <p:spPr>
          <a:xfrm>
            <a:off x="1261872" y="164592"/>
            <a:ext cx="438912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The Pink and Blue Project</a:t>
            </a:r>
            <a:endParaRPr lang="en-US" sz="2500" dirty="0"/>
          </a:p>
        </p:txBody>
      </p:sp>
      <p:pic>
        <p:nvPicPr>
          <p:cNvPr id="6" name="brP_213" descr="/home/claude/lls-course/v2/assets/brush-pink.png">    </p:cNvPr>
          <p:cNvPicPr>
            <a:picLocks noChangeAspect="1"/>
          </p:cNvPicPr>
          <p:nvPr/>
        </p:nvPicPr>
        <p:blipFill>
          <a:blip r:embed="rId3"/>
          <a:stretch>
            <a:fillRect/>
          </a:stretch>
        </p:blipFill>
        <p:spPr>
          <a:xfrm>
            <a:off x="1207008" y="731520"/>
            <a:ext cx="3685032" cy="402336"/>
          </a:xfrm>
          <a:prstGeom prst="rect">
            <a:avLst/>
          </a:prstGeom>
        </p:spPr>
      </p:pic>
      <p:sp>
        <p:nvSpPr>
          <p:cNvPr id="7" name="ins_214"/>
          <p:cNvSpPr/>
          <p:nvPr/>
        </p:nvSpPr>
        <p:spPr>
          <a:xfrm>
            <a:off x="1353312" y="731520"/>
            <a:ext cx="342900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once. Answer questions 1–3.</a:t>
            </a:r>
            <a:endParaRPr lang="en-US" sz="1250" dirty="0"/>
          </a:p>
        </p:txBody>
      </p:sp>
      <p:sp>
        <p:nvSpPr>
          <p:cNvPr id="8" name="insIT_21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Ascolta una volta. Rispondi alle domande 1–3.</a:t>
            </a:r>
            <a:endParaRPr lang="en-US" sz="950" dirty="0"/>
          </a:p>
        </p:txBody>
      </p:sp>
      <p:sp>
        <p:nvSpPr>
          <p:cNvPr id="9" name="cmd_216"/>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meta_217"/>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alone</a:t>
            </a:r>
            <a:endParaRPr lang="en-US" sz="950" dirty="0"/>
          </a:p>
        </p:txBody>
      </p:sp>
      <p:sp>
        <p:nvSpPr>
          <p:cNvPr id="11" name="tag_218"/>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gist</a:t>
            </a:r>
            <a:endParaRPr lang="en-US" sz="850" dirty="0"/>
          </a:p>
        </p:txBody>
      </p:sp>
      <p:pic>
        <p:nvPicPr>
          <p:cNvPr id="12" name="logo_21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2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3B-2 · Listening · gist   ·   📖 SB p.32 · 4b, 4c · audio 3.24</a:t>
            </a:r>
            <a:endParaRPr lang="en-US" sz="800" dirty="0"/>
          </a:p>
        </p:txBody>
      </p:sp>
      <p:sp>
        <p:nvSpPr>
          <p:cNvPr id="14" name="ap_221"/>
          <p:cNvSpPr/>
          <p:nvPr/>
        </p:nvSpPr>
        <p:spPr>
          <a:xfrm>
            <a:off x="365760" y="1417320"/>
            <a:ext cx="26517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3.24  ·  play once</a:t>
            </a:r>
            <a:endParaRPr lang="en-US" sz="1100" dirty="0"/>
          </a:p>
        </p:txBody>
      </p:sp>
      <p:sp>
        <p:nvSpPr>
          <p:cNvPr id="15" name="ah_222"/>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6"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7"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8" name="ah2_223"/>
          <p:cNvSpPr/>
          <p:nvPr/>
        </p:nvSpPr>
        <p:spPr>
          <a:xfrm>
            <a:off x="3090672" y="1417320"/>
            <a:ext cx="1737360" cy="402336"/>
          </a:xfrm>
          <a:prstGeom prst="rect">
            <a:avLst/>
          </a:prstGeom>
          <a:noFill/>
          <a:ln/>
        </p:spPr>
        <p:txBody>
          <a:bodyPr wrap="square" lIns="0" tIns="0" rIns="0" bIns="0" rtlCol="0" anchor="ctr"/>
          <a:lstStyle/>
          <a:p>
            <a:pPr indent="0" marL="0">
              <a:buNone/>
            </a:pPr>
            <a:r>
              <a:rPr lang="en-US" sz="900" i="1" dirty="0">
                <a:solidFill>
                  <a:srgbClr val="5B6785"/>
                </a:solidFill>
                <a:latin typeface="Segoe UI" pitchFamily="34" charset="0"/>
                <a:ea typeface="Segoe UI" pitchFamily="34" charset="-122"/>
                <a:cs typeface="Segoe UI" pitchFamily="34" charset="-120"/>
              </a:rPr>
              <a:t>↘ speaker bottom right</a:t>
            </a:r>
            <a:endParaRPr lang="en-US" sz="900" dirty="0"/>
          </a:p>
        </p:txBody>
      </p:sp>
      <p:sp>
        <p:nvSpPr>
          <p:cNvPr id="19" name="pf_224"/>
          <p:cNvSpPr/>
          <p:nvPr/>
        </p:nvSpPr>
        <p:spPr>
          <a:xfrm rot="-90000">
            <a:off x="41148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225" descr="/home/claude/lls-course/v2/cache/3b2_vintage_baby_jpg_407x297_31.png">    </p:cNvPr>
          <p:cNvPicPr>
            <a:picLocks noChangeAspect="1"/>
          </p:cNvPicPr>
          <p:nvPr/>
        </p:nvPicPr>
        <p:blipFill>
          <a:blip r:embed="rId11"/>
          <a:stretch>
            <a:fillRect/>
          </a:stretch>
        </p:blipFill>
        <p:spPr>
          <a:xfrm rot="-90000">
            <a:off x="457200" y="2103120"/>
            <a:ext cx="1691640" cy="1234440"/>
          </a:xfrm>
          <a:prstGeom prst="rect">
            <a:avLst/>
          </a:prstGeom>
        </p:spPr>
      </p:pic>
      <p:sp>
        <p:nvSpPr>
          <p:cNvPr id="21" name="bd_226"/>
          <p:cNvSpPr/>
          <p:nvPr/>
        </p:nvSpPr>
        <p:spPr>
          <a:xfrm>
            <a:off x="310896" y="1956816"/>
            <a:ext cx="420624" cy="42062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A</a:t>
            </a:r>
            <a:endParaRPr lang="en-US" sz="1400" dirty="0"/>
          </a:p>
        </p:txBody>
      </p:sp>
      <p:sp>
        <p:nvSpPr>
          <p:cNvPr id="22" name="pf_227"/>
          <p:cNvSpPr/>
          <p:nvPr/>
        </p:nvSpPr>
        <p:spPr>
          <a:xfrm rot="90000">
            <a:off x="228600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3" name="ph_228" descr="/home/claude/lls-course/v2/cache/3b2_toy_aisle_jpg_407x297_31.png">    </p:cNvPr>
          <p:cNvPicPr>
            <a:picLocks noChangeAspect="1"/>
          </p:cNvPicPr>
          <p:nvPr/>
        </p:nvPicPr>
        <p:blipFill>
          <a:blip r:embed="rId12"/>
          <a:stretch>
            <a:fillRect/>
          </a:stretch>
        </p:blipFill>
        <p:spPr>
          <a:xfrm rot="90000">
            <a:off x="2331720" y="2103120"/>
            <a:ext cx="1691640" cy="1234440"/>
          </a:xfrm>
          <a:prstGeom prst="rect">
            <a:avLst/>
          </a:prstGeom>
        </p:spPr>
      </p:pic>
      <p:sp>
        <p:nvSpPr>
          <p:cNvPr id="24" name="bd_229"/>
          <p:cNvSpPr/>
          <p:nvPr/>
        </p:nvSpPr>
        <p:spPr>
          <a:xfrm>
            <a:off x="2185416" y="1956816"/>
            <a:ext cx="420624" cy="42062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B</a:t>
            </a:r>
            <a:endParaRPr lang="en-US" sz="1400" dirty="0"/>
          </a:p>
        </p:txBody>
      </p:sp>
      <p:sp>
        <p:nvSpPr>
          <p:cNvPr id="25" name="pf_230"/>
          <p:cNvSpPr/>
          <p:nvPr/>
        </p:nvSpPr>
        <p:spPr>
          <a:xfrm rot="-90000">
            <a:off x="416052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6" name="ph_231" descr="/home/claude/lls-course/v2/cache/3b2_two_mums_jpg_407x297_31.png">    </p:cNvPr>
          <p:cNvPicPr>
            <a:picLocks noChangeAspect="1"/>
          </p:cNvPicPr>
          <p:nvPr/>
        </p:nvPicPr>
        <p:blipFill>
          <a:blip r:embed="rId13"/>
          <a:stretch>
            <a:fillRect/>
          </a:stretch>
        </p:blipFill>
        <p:spPr>
          <a:xfrm rot="-90000">
            <a:off x="4206240" y="2103120"/>
            <a:ext cx="1691640" cy="1234440"/>
          </a:xfrm>
          <a:prstGeom prst="rect">
            <a:avLst/>
          </a:prstGeom>
        </p:spPr>
      </p:pic>
      <p:sp>
        <p:nvSpPr>
          <p:cNvPr id="27" name="bd_232"/>
          <p:cNvSpPr/>
          <p:nvPr/>
        </p:nvSpPr>
        <p:spPr>
          <a:xfrm>
            <a:off x="4059936" y="1956816"/>
            <a:ext cx="420624" cy="42062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C</a:t>
            </a:r>
            <a:endParaRPr lang="en-US" sz="1400" dirty="0"/>
          </a:p>
        </p:txBody>
      </p:sp>
      <p:sp>
        <p:nvSpPr>
          <p:cNvPr id="28" name="cd_233"/>
          <p:cNvSpPr/>
          <p:nvPr/>
        </p:nvSpPr>
        <p:spPr>
          <a:xfrm>
            <a:off x="365760" y="3611880"/>
            <a:ext cx="5440680" cy="1097280"/>
          </a:xfrm>
          <a:prstGeom prst="roundRect">
            <a:avLst>
              <a:gd name="adj" fmla="val 11667"/>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29" name="ii_234"/>
          <p:cNvSpPr/>
          <p:nvPr/>
        </p:nvSpPr>
        <p:spPr>
          <a:xfrm>
            <a:off x="457200" y="36850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0" name="ih_235"/>
          <p:cNvSpPr/>
          <p:nvPr/>
        </p:nvSpPr>
        <p:spPr>
          <a:xfrm>
            <a:off x="932688" y="3703320"/>
            <a:ext cx="48006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While you listen</a:t>
            </a:r>
            <a:endParaRPr lang="en-US" sz="1300" dirty="0"/>
          </a:p>
        </p:txBody>
      </p:sp>
      <p:sp>
        <p:nvSpPr>
          <p:cNvPr id="31" name="il_236"/>
          <p:cNvSpPr/>
          <p:nvPr/>
        </p:nvSpPr>
        <p:spPr>
          <a:xfrm>
            <a:off x="932688" y="4087368"/>
            <a:ext cx="47823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1  100 years ago: what colour was for boys?</a:t>
            </a:r>
            <a:endParaRPr lang="en-US" sz="1050" dirty="0"/>
          </a:p>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2  Are girls genetically attracted to pink?</a:t>
            </a:r>
            <a:endParaRPr lang="en-US" sz="1050" dirty="0"/>
          </a:p>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3  Do Alison and Natasha agree about toy colours?</a:t>
            </a:r>
            <a:endParaRPr lang="en-US" sz="1050" dirty="0"/>
          </a:p>
        </p:txBody>
      </p:sp>
      <p:sp>
        <p:nvSpPr>
          <p:cNvPr id="32" name="lq_237"/>
          <p:cNvSpPr/>
          <p:nvPr/>
        </p:nvSpPr>
        <p:spPr>
          <a:xfrm>
            <a:off x="6035040" y="2103120"/>
            <a:ext cx="1234440" cy="566928"/>
          </a:xfrm>
          <a:prstGeom prst="roundRect">
            <a:avLst>
              <a:gd name="adj" fmla="val 16129"/>
            </a:avLst>
          </a:prstGeom>
          <a:solidFill>
            <a:srgbClr val="FFFFFF"/>
          </a:solidFill>
          <a:ln w="19050">
            <a:solidFill>
              <a:srgbClr val="F7A6C4"/>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1 · 100 years ago?</a:t>
            </a:r>
            <a:endParaRPr lang="en-US" sz="1100" dirty="0"/>
          </a:p>
        </p:txBody>
      </p:sp>
      <p:sp>
        <p:nvSpPr>
          <p:cNvPr id="33" name="R1_chip238"/>
          <p:cNvSpPr/>
          <p:nvPr/>
        </p:nvSpPr>
        <p:spPr>
          <a:xfrm>
            <a:off x="7315200" y="2103120"/>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pink = BOYS! blue = girls</a:t>
            </a:r>
            <a:endParaRPr lang="en-US" sz="1050" dirty="0"/>
          </a:p>
        </p:txBody>
      </p:sp>
      <p:sp>
        <p:nvSpPr>
          <p:cNvPr id="34" name="lq_239"/>
          <p:cNvSpPr/>
          <p:nvPr/>
        </p:nvSpPr>
        <p:spPr>
          <a:xfrm>
            <a:off x="6035040" y="2761488"/>
            <a:ext cx="1234440" cy="566928"/>
          </a:xfrm>
          <a:prstGeom prst="roundRect">
            <a:avLst>
              <a:gd name="adj" fmla="val 16129"/>
            </a:avLst>
          </a:prstGeom>
          <a:solidFill>
            <a:srgbClr val="FFFFFF"/>
          </a:solidFill>
          <a:ln w="19050">
            <a:solidFill>
              <a:srgbClr val="A9D3F5"/>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2 · Born to love pink?</a:t>
            </a:r>
            <a:endParaRPr lang="en-US" sz="1100" dirty="0"/>
          </a:p>
        </p:txBody>
      </p:sp>
      <p:sp>
        <p:nvSpPr>
          <p:cNvPr id="35" name="R2_chip240"/>
          <p:cNvSpPr/>
          <p:nvPr/>
        </p:nvSpPr>
        <p:spPr>
          <a:xfrm>
            <a:off x="7315200" y="2761488"/>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No – it seems not</a:t>
            </a:r>
            <a:endParaRPr lang="en-US" sz="1050" dirty="0"/>
          </a:p>
        </p:txBody>
      </p:sp>
      <p:sp>
        <p:nvSpPr>
          <p:cNvPr id="36" name="lq_241"/>
          <p:cNvSpPr/>
          <p:nvPr/>
        </p:nvSpPr>
        <p:spPr>
          <a:xfrm>
            <a:off x="6035040" y="3419856"/>
            <a:ext cx="1234440" cy="566928"/>
          </a:xfrm>
          <a:prstGeom prst="roundRect">
            <a:avLst>
              <a:gd name="adj" fmla="val 16129"/>
            </a:avLst>
          </a:prstGeom>
          <a:solidFill>
            <a:srgbClr val="FFFFFF"/>
          </a:solidFill>
          <a:ln w="19050">
            <a:solidFill>
              <a:srgbClr val="A8E5BE"/>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3 · Alison &amp; Natasha agree?</a:t>
            </a:r>
            <a:endParaRPr lang="en-US" sz="1100" dirty="0"/>
          </a:p>
        </p:txBody>
      </p:sp>
      <p:sp>
        <p:nvSpPr>
          <p:cNvPr id="37" name="R3_chip242"/>
          <p:cNvSpPr/>
          <p:nvPr/>
        </p:nvSpPr>
        <p:spPr>
          <a:xfrm>
            <a:off x="7315200" y="3419856"/>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No, they don't</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4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8" restart="whenNotActive" fill="hold" evtFilter="cancelBubble" nodeType="interactiveSeq">
                <p:stCondLst>
                  <p:cond evt="onClick" delay="0">
                    <p:tgtEl>
                      <p:spTgt spid="16"/>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16"/>
                                        </p:tgtEl>
                                      </p:cBhvr>
                                    </p:cmd>
                                  </p:childTnLst>
                                </p:cTn>
                              </p:par>
                            </p:childTnLst>
                          </p:cTn>
                        </p:par>
                      </p:childTnLst>
                    </p:cTn>
                  </p:par>
                </p:childTnLst>
              </p:cTn>
              <p:nextCondLst>
                <p:cond evt="onClick" delay="0">
                  <p:tgtEl>
                    <p:spTgt spid="16"/>
                  </p:tgtEl>
                </p:cond>
              </p:nextCondLst>
            </p:seq>
            <p:seq concurrent="1" nextAc="seek">
              <p:cTn id="23" restart="whenNotActive" fill="hold" evtFilter="cancelBubble" nodeType="interactiveSeq">
                <p:stCondLst>
                  <p:cond evt="onClick" delay="0">
                    <p:tgtEl>
                      <p:spTgt spid="17"/>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7"/>
                                        </p:tgtEl>
                                      </p:cBhvr>
                                    </p:cmd>
                                  </p:childTnLst>
                                </p:cTn>
                              </p:par>
                            </p:childTnLst>
                          </p:cTn>
                        </p:par>
                      </p:childTnLst>
                    </p:cTn>
                  </p:par>
                </p:childTnLst>
              </p:cTn>
              <p:nextCondLst>
                <p:cond evt="onClick" delay="0">
                  <p:tgtEl>
                    <p:spTgt spid="17"/>
                  </p:tgtEl>
                </p:cond>
              </p:nextCondLst>
            </p:seq>
            <p:audio>
              <p:cMediaNode vol="80000">
                <p:cTn id="28" fill="hold" display="0">
                  <p:stCondLst>
                    <p:cond delay="indefinite"/>
                  </p:stCondLst>
                  <p:endCondLst>
                    <p:cond evt="onStopAudio" delay="0">
                      <p:tgtEl>
                        <p:sldTgt/>
                      </p:tgtEl>
                    </p:cond>
                  </p:endCondLst>
                </p:cTn>
                <p:tgtEl>
                  <p:spTgt spid="16"/>
                </p:tgtEl>
              </p:cMediaNode>
            </p:audio>
            <p:audio>
              <p:cMediaNode vol="80000">
                <p:cTn id="29" fill="hold" display="0">
                  <p:stCondLst>
                    <p:cond delay="indefinite"/>
                  </p:stCondLst>
                  <p:endCondLst>
                    <p:cond evt="onStopAudio" delay="0">
                      <p:tgtEl>
                        <p:sldTgt/>
                      </p:tgtEl>
                    </p:cond>
                  </p:endCondLst>
                </p:cTn>
                <p:tgtEl>
                  <p:spTgt spid="17"/>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43"/>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244" descr="/home/claude/lls-course/v2/assets/brush-yellow.png">    </p:cNvPr>
          <p:cNvPicPr>
            <a:picLocks noChangeAspect="1"/>
          </p:cNvPicPr>
          <p:nvPr/>
        </p:nvPicPr>
        <p:blipFill>
          <a:blip r:embed="rId2"/>
          <a:stretch>
            <a:fillRect/>
          </a:stretch>
        </p:blipFill>
        <p:spPr>
          <a:xfrm>
            <a:off x="1097280" y="146304"/>
            <a:ext cx="4506163" cy="621792"/>
          </a:xfrm>
          <a:prstGeom prst="rect">
            <a:avLst/>
          </a:prstGeom>
        </p:spPr>
      </p:pic>
      <p:sp>
        <p:nvSpPr>
          <p:cNvPr id="5" name="title_245"/>
          <p:cNvSpPr/>
          <p:nvPr/>
        </p:nvSpPr>
        <p:spPr>
          <a:xfrm>
            <a:off x="1261872" y="164592"/>
            <a:ext cx="423184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Listen again: a, b or c?</a:t>
            </a:r>
            <a:endParaRPr lang="en-US" sz="2500" dirty="0"/>
          </a:p>
        </p:txBody>
      </p:sp>
      <p:pic>
        <p:nvPicPr>
          <p:cNvPr id="6" name="brP_246" descr="/home/claude/lls-course/v2/assets/brush-pink.png">    </p:cNvPr>
          <p:cNvPicPr>
            <a:picLocks noChangeAspect="1"/>
          </p:cNvPicPr>
          <p:nvPr/>
        </p:nvPicPr>
        <p:blipFill>
          <a:blip r:embed="rId3"/>
          <a:stretch>
            <a:fillRect/>
          </a:stretch>
        </p:blipFill>
        <p:spPr>
          <a:xfrm>
            <a:off x="1207008" y="731520"/>
            <a:ext cx="3424428" cy="402336"/>
          </a:xfrm>
          <a:prstGeom prst="rect">
            <a:avLst/>
          </a:prstGeom>
        </p:spPr>
      </p:pic>
      <p:sp>
        <p:nvSpPr>
          <p:cNvPr id="7" name="ins_247"/>
          <p:cNvSpPr/>
          <p:nvPr/>
        </p:nvSpPr>
        <p:spPr>
          <a:xfrm>
            <a:off x="1353312" y="731520"/>
            <a:ext cx="316839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again. Choose a, b or c.</a:t>
            </a:r>
            <a:endParaRPr lang="en-US" sz="1250" dirty="0"/>
          </a:p>
        </p:txBody>
      </p:sp>
      <p:sp>
        <p:nvSpPr>
          <p:cNvPr id="8" name="insIT_248"/>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Ascolta di nuovo. Scegli a, b o c.</a:t>
            </a:r>
            <a:endParaRPr lang="en-US" sz="950" dirty="0"/>
          </a:p>
        </p:txBody>
      </p:sp>
      <p:sp>
        <p:nvSpPr>
          <p:cNvPr id="9" name="cmd_249"/>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250"/>
          <p:cNvSpPr/>
          <p:nvPr/>
        </p:nvSpPr>
        <p:spPr>
          <a:xfrm>
            <a:off x="6510528" y="566928"/>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1" name="meta_251"/>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pairs</a:t>
            </a:r>
            <a:endParaRPr lang="en-US" sz="950" dirty="0"/>
          </a:p>
        </p:txBody>
      </p:sp>
      <p:sp>
        <p:nvSpPr>
          <p:cNvPr id="12" name="tag_252"/>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detail</a:t>
            </a:r>
            <a:endParaRPr lang="en-US" sz="850" dirty="0"/>
          </a:p>
        </p:txBody>
      </p:sp>
      <p:pic>
        <p:nvPicPr>
          <p:cNvPr id="13" name="logo_25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25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3B-2 · Listening · detail   ·   📖 SB p.32 · 4d · audio 3.24</a:t>
            </a:r>
            <a:endParaRPr lang="en-US" sz="800" dirty="0"/>
          </a:p>
        </p:txBody>
      </p:sp>
      <p:sp>
        <p:nvSpPr>
          <p:cNvPr id="15" name="ap_255"/>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3.24  ·  play again</a:t>
            </a:r>
            <a:endParaRPr lang="en-US" sz="1100" dirty="0"/>
          </a:p>
        </p:txBody>
      </p:sp>
      <p:sp>
        <p:nvSpPr>
          <p:cNvPr id="16" name="ah_256"/>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9" name="pf_257"/>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258" descr="/home/claude/lls-course/v2/cache/3b2_toy_aisle_jpg_627x407_31.png">    </p:cNvPr>
          <p:cNvPicPr>
            <a:picLocks noChangeAspect="1"/>
          </p:cNvPicPr>
          <p:nvPr/>
        </p:nvPicPr>
        <p:blipFill>
          <a:blip r:embed="rId11"/>
          <a:stretch>
            <a:fillRect/>
          </a:stretch>
        </p:blipFill>
        <p:spPr>
          <a:xfrm rot="-90000">
            <a:off x="457200" y="2103120"/>
            <a:ext cx="2606040" cy="1691640"/>
          </a:xfrm>
          <a:prstGeom prst="rect">
            <a:avLst/>
          </a:prstGeom>
        </p:spPr>
      </p:pic>
      <p:sp>
        <p:nvSpPr>
          <p:cNvPr id="21" name="cd_259"/>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2" name="ii_260"/>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ih_261"/>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4" name="il_262"/>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5" name="gq_263"/>
          <p:cNvSpPr/>
          <p:nvPr/>
        </p:nvSpPr>
        <p:spPr>
          <a:xfrm>
            <a:off x="3383280" y="1417320"/>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1  100 years ago pink was ___ than blue.  a more attractive · b more delicate · c stronger</a:t>
            </a:r>
            <a:endParaRPr lang="en-US" sz="1000" dirty="0"/>
          </a:p>
        </p:txBody>
      </p:sp>
      <p:sp>
        <p:nvSpPr>
          <p:cNvPr id="26" name="R1_chip264"/>
          <p:cNvSpPr/>
          <p:nvPr/>
        </p:nvSpPr>
        <p:spPr>
          <a:xfrm>
            <a:off x="6812280" y="141732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c  stronger</a:t>
            </a:r>
            <a:endParaRPr lang="en-US" sz="1200" dirty="0"/>
          </a:p>
        </p:txBody>
      </p:sp>
      <p:sp>
        <p:nvSpPr>
          <p:cNvPr id="27" name="gq_265"/>
          <p:cNvSpPr/>
          <p:nvPr/>
        </p:nvSpPr>
        <p:spPr>
          <a:xfrm>
            <a:off x="3383280" y="1938528"/>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2  Girls in pink after 1945 because of…  a equality · b advertisers · c it suited them</a:t>
            </a:r>
            <a:endParaRPr lang="en-US" sz="1100" dirty="0"/>
          </a:p>
        </p:txBody>
      </p:sp>
      <p:sp>
        <p:nvSpPr>
          <p:cNvPr id="28" name="R2_chip266"/>
          <p:cNvSpPr/>
          <p:nvPr/>
        </p:nvSpPr>
        <p:spPr>
          <a:xfrm>
            <a:off x="6812280" y="1938528"/>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  gender equality</a:t>
            </a:r>
            <a:endParaRPr lang="en-US" sz="1200" dirty="0"/>
          </a:p>
        </p:txBody>
      </p:sp>
      <p:sp>
        <p:nvSpPr>
          <p:cNvPr id="29" name="gq_267"/>
          <p:cNvSpPr/>
          <p:nvPr/>
        </p:nvSpPr>
        <p:spPr>
          <a:xfrm>
            <a:off x="3383280" y="2459736"/>
            <a:ext cx="333756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3  Girls' toys today are ___ boys' toys.  a similar to · b very different from · c more similar to</a:t>
            </a:r>
            <a:endParaRPr lang="en-US" sz="950" dirty="0"/>
          </a:p>
        </p:txBody>
      </p:sp>
      <p:sp>
        <p:nvSpPr>
          <p:cNvPr id="30" name="R3_chip268"/>
          <p:cNvSpPr/>
          <p:nvPr/>
        </p:nvSpPr>
        <p:spPr>
          <a:xfrm>
            <a:off x="6812280" y="2459736"/>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b  very different from</a:t>
            </a:r>
            <a:endParaRPr lang="en-US" sz="1200" dirty="0"/>
          </a:p>
        </p:txBody>
      </p:sp>
      <p:sp>
        <p:nvSpPr>
          <p:cNvPr id="31" name="gq_269"/>
          <p:cNvSpPr/>
          <p:nvPr/>
        </p:nvSpPr>
        <p:spPr>
          <a:xfrm>
            <a:off x="3383280" y="2980944"/>
            <a:ext cx="333756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4  Alison: toys influence children's future…  a education · b relationships · c personalities</a:t>
            </a:r>
            <a:endParaRPr lang="en-US" sz="1000" dirty="0"/>
          </a:p>
        </p:txBody>
      </p:sp>
      <p:sp>
        <p:nvSpPr>
          <p:cNvPr id="32" name="R4_chip270"/>
          <p:cNvSpPr/>
          <p:nvPr/>
        </p:nvSpPr>
        <p:spPr>
          <a:xfrm>
            <a:off x="6812280" y="2980944"/>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  education</a:t>
            </a:r>
            <a:endParaRPr lang="en-US" sz="1200" dirty="0"/>
          </a:p>
        </p:txBody>
      </p:sp>
      <p:sp>
        <p:nvSpPr>
          <p:cNvPr id="33" name="gq_271"/>
          <p:cNvSpPr/>
          <p:nvPr/>
        </p:nvSpPr>
        <p:spPr>
          <a:xfrm>
            <a:off x="3383280" y="3502152"/>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850" dirty="0">
                <a:solidFill>
                  <a:srgbClr val="1B2559"/>
                </a:solidFill>
                <a:latin typeface="Segoe UI Semibold" pitchFamily="34" charset="0"/>
                <a:ea typeface="Segoe UI Semibold" pitchFamily="34" charset="-122"/>
                <a:cs typeface="Segoe UI Semibold" pitchFamily="34" charset="-120"/>
              </a:rPr>
              <a:t>5  Natasha: girls choose science toys if…  a parents say so · b they choose · c they're in a pink box</a:t>
            </a:r>
            <a:endParaRPr lang="en-US" sz="850" dirty="0"/>
          </a:p>
        </p:txBody>
      </p:sp>
      <p:sp>
        <p:nvSpPr>
          <p:cNvPr id="34" name="R5_chip272"/>
          <p:cNvSpPr/>
          <p:nvPr/>
        </p:nvSpPr>
        <p:spPr>
          <a:xfrm>
            <a:off x="6812280" y="3502152"/>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c  a pink box</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8" restart="whenNotActive" fill="hold" evtFilter="cancelBubble" nodeType="interactiveSeq">
                <p:stCondLst>
                  <p:cond evt="onClick" delay="0">
                    <p:tgtEl>
                      <p:spTgt spid="17"/>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7"/>
                                        </p:tgtEl>
                                      </p:cBhvr>
                                    </p:cmd>
                                  </p:childTnLst>
                                </p:cTn>
                              </p:par>
                            </p:childTnLst>
                          </p:cTn>
                        </p:par>
                      </p:childTnLst>
                    </p:cTn>
                  </p:par>
                </p:childTnLst>
              </p:cTn>
              <p:nextCondLst>
                <p:cond evt="onClick" delay="0">
                  <p:tgtEl>
                    <p:spTgt spid="17"/>
                  </p:tgtEl>
                </p:cond>
              </p:nextCondLst>
            </p:seq>
            <p:seq concurrent="1" nextAc="seek">
              <p:cTn id="33" restart="whenNotActive" fill="hold" evtFilter="cancelBubble" nodeType="interactiveSeq">
                <p:stCondLst>
                  <p:cond evt="onClick" delay="0">
                    <p:tgtEl>
                      <p:spTgt spid="18"/>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18"/>
                                        </p:tgtEl>
                                      </p:cBhvr>
                                    </p:cmd>
                                  </p:childTnLst>
                                </p:cTn>
                              </p:par>
                            </p:childTnLst>
                          </p:cTn>
                        </p:par>
                      </p:childTnLst>
                    </p:cTn>
                  </p:par>
                </p:childTnLst>
              </p:cTn>
              <p:nextCondLst>
                <p:cond evt="onClick" delay="0">
                  <p:tgtEl>
                    <p:spTgt spid="18"/>
                  </p:tgtEl>
                </p:cond>
              </p:nextCondLst>
            </p:seq>
            <p:audio>
              <p:cMediaNode vol="80000">
                <p:cTn id="38" fill="hold" display="0">
                  <p:stCondLst>
                    <p:cond delay="indefinite"/>
                  </p:stCondLst>
                  <p:endCondLst>
                    <p:cond evt="onStopAudio" delay="0">
                      <p:tgtEl>
                        <p:sldTgt/>
                      </p:tgtEl>
                    </p:cond>
                  </p:endCondLst>
                </p:cTn>
                <p:tgtEl>
                  <p:spTgt spid="17"/>
                </p:tgtEl>
              </p:cMediaNode>
            </p:audio>
            <p:audio>
              <p:cMediaNode vol="80000">
                <p:cTn id="39" fill="hold" display="0">
                  <p:stCondLst>
                    <p:cond delay="indefinite"/>
                  </p:stCondLst>
                  <p:endCondLst>
                    <p:cond evt="onStopAudio" delay="0">
                      <p:tgtEl>
                        <p:sldTgt/>
                      </p:tgtEl>
                    </p:cond>
                  </p:endCondLst>
                </p:cTn>
                <p:tgtEl>
                  <p:spTgt spid="18"/>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73"/>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274" descr="/home/claude/lls-course/v2/assets/brush-yellow.png">    </p:cNvPr>
          <p:cNvPicPr>
            <a:picLocks noChangeAspect="1"/>
          </p:cNvPicPr>
          <p:nvPr/>
        </p:nvPicPr>
        <p:blipFill>
          <a:blip r:embed="rId2"/>
          <a:stretch>
            <a:fillRect/>
          </a:stretch>
        </p:blipFill>
        <p:spPr>
          <a:xfrm>
            <a:off x="1097280" y="146304"/>
            <a:ext cx="4506163" cy="621792"/>
          </a:xfrm>
          <a:prstGeom prst="rect">
            <a:avLst/>
          </a:prstGeom>
        </p:spPr>
      </p:pic>
      <p:sp>
        <p:nvSpPr>
          <p:cNvPr id="5" name="title_275"/>
          <p:cNvSpPr/>
          <p:nvPr/>
        </p:nvSpPr>
        <p:spPr>
          <a:xfrm>
            <a:off x="1261872" y="164592"/>
            <a:ext cx="423184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Pink box or no pink box?</a:t>
            </a:r>
            <a:endParaRPr lang="en-US" sz="2500" dirty="0"/>
          </a:p>
        </p:txBody>
      </p:sp>
      <p:pic>
        <p:nvPicPr>
          <p:cNvPr id="6" name="brP_276"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277"/>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Answer. Then ask your partner: Why?</a:t>
            </a:r>
            <a:endParaRPr lang="en-US" sz="1250" dirty="0"/>
          </a:p>
        </p:txBody>
      </p:sp>
      <p:sp>
        <p:nvSpPr>
          <p:cNvPr id="8" name="insIT_278"/>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Rispondi. Poi chiedi al compagno: Perché?</a:t>
            </a:r>
            <a:endParaRPr lang="en-US" sz="950" dirty="0"/>
          </a:p>
        </p:txBody>
      </p:sp>
      <p:sp>
        <p:nvSpPr>
          <p:cNvPr id="9" name="cmd_279"/>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280"/>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pairs</a:t>
            </a:r>
            <a:endParaRPr lang="en-US" sz="950" dirty="0"/>
          </a:p>
        </p:txBody>
      </p:sp>
      <p:sp>
        <p:nvSpPr>
          <p:cNvPr id="11" name="tag_281"/>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28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8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3B-2 · Speaking · your opinion   ·   📖 SB p.32 · 4e</a:t>
            </a:r>
            <a:endParaRPr lang="en-US" sz="800" dirty="0"/>
          </a:p>
        </p:txBody>
      </p:sp>
      <p:sp>
        <p:nvSpPr>
          <p:cNvPr id="14" name="pf_284"/>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285" descr="/home/claude/lls-course/v2/cache/3b2_two_mums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6" name="cd_286"/>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287"/>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288"/>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289"/>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pitchFamily="34" charset="0"/>
                <a:ea typeface="Segoe UI" pitchFamily="34" charset="-122"/>
                <a:cs typeface="Segoe UI" pitchFamily="34" charset="-120"/>
              </a:rPr>
              <a:t>I agree with Alison / Natasha because…</a:t>
            </a:r>
            <a:endParaRPr lang="en-US" sz="900" dirty="0"/>
          </a:p>
          <a:p>
            <a:pPr marL="152400" indent="-152400">
              <a:spcAft>
                <a:spcPts val="200"/>
              </a:spcAft>
              <a:buSzPct val="100000"/>
              <a:buChar char="•"/>
            </a:pPr>
            <a:r>
              <a:rPr lang="en-US" sz="900" dirty="0">
                <a:solidFill>
                  <a:srgbClr val="1B2559"/>
                </a:solidFill>
                <a:latin typeface="Segoe UI" pitchFamily="34" charset="0"/>
                <a:ea typeface="Segoe UI" pitchFamily="34" charset="-122"/>
                <a:cs typeface="Segoe UI" pitchFamily="34" charset="-120"/>
              </a:rPr>
              <a:t>In my opinion… · Generally speaking…</a:t>
            </a:r>
            <a:endParaRPr lang="en-US" sz="900" dirty="0"/>
          </a:p>
          <a:p>
            <a:pPr marL="152400" indent="-152400">
              <a:spcAft>
                <a:spcPts val="200"/>
              </a:spcAft>
              <a:buSzPct val="100000"/>
              <a:buChar char="•"/>
            </a:pPr>
            <a:r>
              <a:rPr lang="en-US" sz="900" dirty="0">
                <a:solidFill>
                  <a:srgbClr val="1B2559"/>
                </a:solidFill>
                <a:latin typeface="Segoe UI" pitchFamily="34" charset="0"/>
                <a:ea typeface="Segoe UI" pitchFamily="34" charset="-122"/>
                <a:cs typeface="Segoe UI" pitchFamily="34" charset="-120"/>
              </a:rPr>
              <a:t>Really? Why?</a:t>
            </a:r>
            <a:endParaRPr lang="en-US" sz="900" dirty="0"/>
          </a:p>
        </p:txBody>
      </p:sp>
      <p:sp>
        <p:nvSpPr>
          <p:cNvPr id="20" name="R1_qb290"/>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291"/>
          <p:cNvSpPr/>
          <p:nvPr/>
        </p:nvSpPr>
        <p:spPr>
          <a:xfrm>
            <a:off x="3675888" y="1417320"/>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89% of girls' toys are pink. Is that a problem?</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Yes – girls think science isn't for them.</a:t>
            </a:r>
            <a:endParaRPr lang="en-US" sz="1250" dirty="0"/>
          </a:p>
        </p:txBody>
      </p:sp>
      <p:sp>
        <p:nvSpPr>
          <p:cNvPr id="22" name="R2_qb292"/>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293"/>
          <p:cNvSpPr/>
          <p:nvPr/>
        </p:nvSpPr>
        <p:spPr>
          <a:xfrm>
            <a:off x="3675888" y="2020824"/>
            <a:ext cx="51937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Same colours for all toys (Alison) or a pink box (Natasha)?</a:t>
            </a:r>
            <a:endParaRPr lang="en-US" sz="1200" dirty="0"/>
          </a:p>
          <a:p>
            <a:pPr indent="0" marL="0">
              <a:buNone/>
            </a:pPr>
            <a:r>
              <a:rPr lang="en-US" sz="950" i="1" dirty="0">
                <a:solidFill>
                  <a:srgbClr val="5B6785"/>
                </a:solidFill>
                <a:latin typeface="Segoe UI" pitchFamily="34" charset="0"/>
                <a:ea typeface="Segoe UI" pitchFamily="34" charset="-122"/>
                <a:cs typeface="Segoe UI" pitchFamily="34" charset="-120"/>
              </a:rPr>
              <a:t>e.g. Natasha! A pink box is a clever idea.</a:t>
            </a:r>
            <a:endParaRPr lang="en-US" sz="1200" dirty="0"/>
          </a:p>
        </p:txBody>
      </p:sp>
      <p:sp>
        <p:nvSpPr>
          <p:cNvPr id="24" name="R3_qb294"/>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R3_sq295"/>
          <p:cNvSpPr/>
          <p:nvPr/>
        </p:nvSpPr>
        <p:spPr>
          <a:xfrm>
            <a:off x="3675888" y="2624328"/>
            <a:ext cx="51937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What toys did you play with? 'Girls' toys' or 'boys' toys'?</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Both – I had dolls and lots of toy cars.</a:t>
            </a:r>
            <a:endParaRPr lang="en-US" sz="1250" dirty="0"/>
          </a:p>
        </p:txBody>
      </p:sp>
      <p:sp>
        <p:nvSpPr>
          <p:cNvPr id="26" name="R4_qb296"/>
          <p:cNvSpPr/>
          <p:nvPr/>
        </p:nvSpPr>
        <p:spPr>
          <a:xfrm>
            <a:off x="3273552" y="326440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7" name="R4_sq297"/>
          <p:cNvSpPr/>
          <p:nvPr/>
        </p:nvSpPr>
        <p:spPr>
          <a:xfrm>
            <a:off x="3675888" y="3227832"/>
            <a:ext cx="5193792" cy="530352"/>
          </a:xfrm>
          <a:prstGeom prst="roundRect">
            <a:avLst>
              <a:gd name="adj" fmla="val 20690"/>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Would you buy a pink toy for a little boy?</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Why not? Colours are for everyone.</a:t>
            </a:r>
            <a:endParaRPr lang="en-US" sz="1250" dirty="0"/>
          </a:p>
        </p:txBody>
      </p:sp>
      <p:sp>
        <p:nvSpPr>
          <p:cNvPr id="28" name="R5_qb298"/>
          <p:cNvSpPr/>
          <p:nvPr/>
        </p:nvSpPr>
        <p:spPr>
          <a:xfrm>
            <a:off x="3273552" y="3867912"/>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29" name="R5_sq299"/>
          <p:cNvSpPr/>
          <p:nvPr/>
        </p:nvSpPr>
        <p:spPr>
          <a:xfrm>
            <a:off x="3675888" y="3831336"/>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Did your parents ever make you wear clothes you didn't like?</a:t>
            </a:r>
            <a:endParaRPr lang="en-US" sz="1100" dirty="0"/>
          </a:p>
          <a:p>
            <a:pPr indent="0" marL="0">
              <a:buNone/>
            </a:pPr>
            <a:r>
              <a:rPr lang="en-US" sz="900" i="1" dirty="0">
                <a:solidFill>
                  <a:srgbClr val="5B6785"/>
                </a:solidFill>
                <a:latin typeface="Segoe UI" pitchFamily="34" charset="0"/>
                <a:ea typeface="Segoe UI" pitchFamily="34" charset="-122"/>
                <a:cs typeface="Segoe UI" pitchFamily="34" charset="-120"/>
              </a:rPr>
              <a:t>e.g. Yes! A horrible yellow jumper from my nonna.</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400"/>
                                        <p:tgtEl>
                                          <p:spTgt spid="28"/>
                                        </p:tgtEl>
                                      </p:cBhvr>
                                    </p:animEffect>
                                  </p:childTnLst>
                                </p:cTn>
                              </p:par>
                              <p:par>
                                <p:cTn id="40" presetID="10" presetClass="entr" presetSubtype="0" fill="hold"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00"/>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301" descr="/home/claude/lls-course/v2/assets/brush-yellow.png">    </p:cNvPr>
          <p:cNvPicPr>
            <a:picLocks noChangeAspect="1"/>
          </p:cNvPicPr>
          <p:nvPr/>
        </p:nvPicPr>
        <p:blipFill>
          <a:blip r:embed="rId2"/>
          <a:stretch>
            <a:fillRect/>
          </a:stretch>
        </p:blipFill>
        <p:spPr>
          <a:xfrm>
            <a:off x="1097280" y="146304"/>
            <a:ext cx="4820717" cy="621792"/>
          </a:xfrm>
          <a:prstGeom prst="rect">
            <a:avLst/>
          </a:prstGeom>
        </p:spPr>
      </p:pic>
      <p:sp>
        <p:nvSpPr>
          <p:cNvPr id="5" name="title_302"/>
          <p:cNvSpPr/>
          <p:nvPr/>
        </p:nvSpPr>
        <p:spPr>
          <a:xfrm>
            <a:off x="1261872" y="164592"/>
            <a:ext cx="4546397" cy="566928"/>
          </a:xfrm>
          <a:prstGeom prst="rect">
            <a:avLst/>
          </a:prstGeom>
          <a:noFill/>
          <a:ln/>
        </p:spPr>
        <p:txBody>
          <a:bodyPr wrap="square" lIns="0" tIns="0" rIns="0" bIns="0" rtlCol="0" anchor="ctr">
            <a:normAutofit/>
          </a:bodyPr>
          <a:lstStyle/>
          <a:p>
            <a:pPr indent="0" marL="0">
              <a:buNone/>
            </a:pPr>
            <a:r>
              <a:rPr lang="en-US" sz="2300" dirty="0">
                <a:solidFill>
                  <a:srgbClr val="1B2559"/>
                </a:solidFill>
                <a:latin typeface="Arial Rounded MT Bold" pitchFamily="34" charset="0"/>
                <a:ea typeface="Arial Rounded MT Bold" pitchFamily="34" charset="-122"/>
                <a:cs typeface="Arial Rounded MT Bold" pitchFamily="34" charset="-120"/>
              </a:rPr>
              <a:t>Remember the prepositions?</a:t>
            </a:r>
            <a:endParaRPr lang="en-US" sz="2300" dirty="0"/>
          </a:p>
        </p:txBody>
      </p:sp>
      <p:pic>
        <p:nvPicPr>
          <p:cNvPr id="6" name="brP_303" descr="/home/claude/lls-course/v2/assets/brush-pink.png">    </p:cNvPr>
          <p:cNvPicPr>
            <a:picLocks noChangeAspect="1"/>
          </p:cNvPicPr>
          <p:nvPr/>
        </p:nvPicPr>
        <p:blipFill>
          <a:blip r:embed="rId3"/>
          <a:stretch>
            <a:fillRect/>
          </a:stretch>
        </p:blipFill>
        <p:spPr>
          <a:xfrm>
            <a:off x="1207008" y="731520"/>
            <a:ext cx="4293108" cy="402336"/>
          </a:xfrm>
          <a:prstGeom prst="rect">
            <a:avLst/>
          </a:prstGeom>
        </p:spPr>
      </p:pic>
      <p:sp>
        <p:nvSpPr>
          <p:cNvPr id="7" name="ins_304"/>
          <p:cNvSpPr/>
          <p:nvPr/>
        </p:nvSpPr>
        <p:spPr>
          <a:xfrm>
            <a:off x="1353312" y="731520"/>
            <a:ext cx="403707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Which preposition? Then listen and check.</a:t>
            </a:r>
            <a:endParaRPr lang="en-US" sz="1250" dirty="0"/>
          </a:p>
        </p:txBody>
      </p:sp>
      <p:sp>
        <p:nvSpPr>
          <p:cNvPr id="8" name="insIT_30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Quale preposizione? Poi ascolta e controlla.</a:t>
            </a:r>
            <a:endParaRPr lang="en-US" sz="950" dirty="0"/>
          </a:p>
        </p:txBody>
      </p:sp>
      <p:sp>
        <p:nvSpPr>
          <p:cNvPr id="9" name="cmd_306"/>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FIND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TROVA</a:t>
            </a:r>
            <a:endParaRPr lang="en-US" sz="1100" dirty="0"/>
          </a:p>
        </p:txBody>
      </p:sp>
      <p:sp>
        <p:nvSpPr>
          <p:cNvPr id="10" name="cmd_307"/>
          <p:cNvSpPr/>
          <p:nvPr/>
        </p:nvSpPr>
        <p:spPr>
          <a:xfrm>
            <a:off x="6510528" y="566928"/>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1" name="meta_308"/>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309"/>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reading</a:t>
            </a:r>
            <a:endParaRPr lang="en-US" sz="850" dirty="0"/>
          </a:p>
        </p:txBody>
      </p:sp>
      <p:pic>
        <p:nvPicPr>
          <p:cNvPr id="13" name="logo_31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31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3B-2 · Vocabulary · prepositions in the programme   ·   📖 SB p.33 · 5a · audio script 3.24 (p.127)</a:t>
            </a:r>
            <a:endParaRPr lang="en-US" sz="800" dirty="0"/>
          </a:p>
        </p:txBody>
      </p:sp>
      <p:sp>
        <p:nvSpPr>
          <p:cNvPr id="15" name="cd_312"/>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6" name="sh_313"/>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From the radio programme</a:t>
            </a:r>
            <a:endParaRPr lang="en-US" sz="1700" dirty="0"/>
          </a:p>
        </p:txBody>
      </p:sp>
      <p:sp>
        <p:nvSpPr>
          <p:cNvPr id="17" name="ln_314"/>
          <p:cNvSpPr/>
          <p:nvPr/>
        </p:nvSpPr>
        <p:spPr>
          <a:xfrm>
            <a:off x="548640" y="1920240"/>
            <a:ext cx="5349240" cy="464820"/>
          </a:xfrm>
          <a:prstGeom prst="rect">
            <a:avLst/>
          </a:prstGeom>
          <a:no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Are little girls genetically attracted </a:t>
            </a:r>
            <a:pPr indent="0" marL="0">
              <a:buNone/>
            </a:pPr>
            <a:r>
              <a:rPr lang="en-US" sz="1250" b="1" dirty="0">
                <a:solidFill>
                  <a:srgbClr val="2EB872"/>
                </a:solidFill>
                <a:latin typeface="Georgia" pitchFamily="34" charset="0"/>
                <a:ea typeface="Georgia" pitchFamily="34" charset="-122"/>
                <a:cs typeface="Georgia" pitchFamily="34" charset="-120"/>
              </a:rPr>
              <a:t> (1) _____ </a:t>
            </a:r>
            <a:pPr indent="0" marL="0">
              <a:buNone/>
            </a:pPr>
            <a:r>
              <a:rPr lang="en-US" sz="1250" dirty="0">
                <a:solidFill>
                  <a:srgbClr val="1B2559"/>
                </a:solidFill>
                <a:latin typeface="Georgia" pitchFamily="34" charset="0"/>
                <a:ea typeface="Georgia" pitchFamily="34" charset="-122"/>
                <a:cs typeface="Georgia" pitchFamily="34" charset="-120"/>
              </a:rPr>
              <a:t> pink?</a:t>
            </a:r>
            <a:endParaRPr lang="en-US" sz="1250" dirty="0"/>
          </a:p>
        </p:txBody>
      </p:sp>
      <p:sp>
        <p:nvSpPr>
          <p:cNvPr id="18" name="R1_lnA315"/>
          <p:cNvSpPr/>
          <p:nvPr/>
        </p:nvSpPr>
        <p:spPr>
          <a:xfrm>
            <a:off x="548640" y="1920240"/>
            <a:ext cx="5349240" cy="464820"/>
          </a:xfrm>
          <a:prstGeom prst="rect">
            <a:avLst/>
          </a:prstGeom>
          <a:solidFill>
            <a:srgbClr val="FFFFFF"/>
          </a:solid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Are little girls genetically attracted </a:t>
            </a:r>
            <a:pPr indent="0" marL="0">
              <a:buNone/>
            </a:pPr>
            <a:r>
              <a:rPr lang="en-US" sz="1250" b="1" dirty="0">
                <a:solidFill>
                  <a:srgbClr val="1B2559"/>
                </a:solidFill>
                <a:highlight>
                  <a:srgbClr val="FFE066"/>
                </a:highlight>
                <a:latin typeface="Georgia" pitchFamily="34" charset="0"/>
                <a:ea typeface="Georgia" pitchFamily="34" charset="-122"/>
                <a:cs typeface="Georgia" pitchFamily="34" charset="-120"/>
              </a:rPr>
              <a:t>to</a:t>
            </a:r>
            <a:pPr indent="0" marL="0">
              <a:buNone/>
            </a:pPr>
            <a:r>
              <a:rPr lang="en-US" sz="1250" dirty="0">
                <a:solidFill>
                  <a:srgbClr val="1B2559"/>
                </a:solidFill>
                <a:latin typeface="Georgia" pitchFamily="34" charset="0"/>
                <a:ea typeface="Georgia" pitchFamily="34" charset="-122"/>
                <a:cs typeface="Georgia" pitchFamily="34" charset="-120"/>
              </a:rPr>
              <a:t> pink?</a:t>
            </a:r>
            <a:endParaRPr lang="en-US" sz="1250" dirty="0"/>
          </a:p>
        </p:txBody>
      </p:sp>
      <p:sp>
        <p:nvSpPr>
          <p:cNvPr id="19" name="ln_316"/>
          <p:cNvSpPr/>
          <p:nvPr/>
        </p:nvSpPr>
        <p:spPr>
          <a:xfrm>
            <a:off x="548640" y="2385060"/>
            <a:ext cx="5349240" cy="464820"/>
          </a:xfrm>
          <a:prstGeom prst="rect">
            <a:avLst/>
          </a:prstGeom>
          <a:no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But is this something we really need to worry </a:t>
            </a:r>
            <a:pPr indent="0" marL="0">
              <a:buNone/>
            </a:pPr>
            <a:r>
              <a:rPr lang="en-US" sz="1250" b="1" dirty="0">
                <a:solidFill>
                  <a:srgbClr val="2EB872"/>
                </a:solidFill>
                <a:latin typeface="Georgia" pitchFamily="34" charset="0"/>
                <a:ea typeface="Georgia" pitchFamily="34" charset="-122"/>
                <a:cs typeface="Georgia" pitchFamily="34" charset="-120"/>
              </a:rPr>
              <a:t> (2) _____ </a:t>
            </a:r>
            <a:pPr indent="0" marL="0">
              <a:buNone/>
            </a:pPr>
            <a:r>
              <a:rPr lang="en-US" sz="1250" dirty="0">
                <a:solidFill>
                  <a:srgbClr val="1B2559"/>
                </a:solidFill>
                <a:latin typeface="Georgia" pitchFamily="34" charset="0"/>
                <a:ea typeface="Georgia" pitchFamily="34" charset="-122"/>
                <a:cs typeface="Georgia" pitchFamily="34" charset="-120"/>
              </a:rPr>
              <a:t>?</a:t>
            </a:r>
            <a:endParaRPr lang="en-US" sz="1250" dirty="0"/>
          </a:p>
        </p:txBody>
      </p:sp>
      <p:sp>
        <p:nvSpPr>
          <p:cNvPr id="20" name="R2_lnA317"/>
          <p:cNvSpPr/>
          <p:nvPr/>
        </p:nvSpPr>
        <p:spPr>
          <a:xfrm>
            <a:off x="548640" y="2385060"/>
            <a:ext cx="5349240" cy="464820"/>
          </a:xfrm>
          <a:prstGeom prst="rect">
            <a:avLst/>
          </a:prstGeom>
          <a:solidFill>
            <a:srgbClr val="FFFFFF"/>
          </a:solid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But is this something we really need to worry </a:t>
            </a:r>
            <a:pPr indent="0" marL="0">
              <a:buNone/>
            </a:pPr>
            <a:r>
              <a:rPr lang="en-US" sz="1250" b="1" dirty="0">
                <a:solidFill>
                  <a:srgbClr val="1B2559"/>
                </a:solidFill>
                <a:highlight>
                  <a:srgbClr val="FFE066"/>
                </a:highlight>
                <a:latin typeface="Georgia" pitchFamily="34" charset="0"/>
                <a:ea typeface="Georgia" pitchFamily="34" charset="-122"/>
                <a:cs typeface="Georgia" pitchFamily="34" charset="-120"/>
              </a:rPr>
              <a:t>about</a:t>
            </a:r>
            <a:pPr indent="0" marL="0">
              <a:buNone/>
            </a:pPr>
            <a:r>
              <a:rPr lang="en-US" sz="1250" dirty="0">
                <a:solidFill>
                  <a:srgbClr val="1B2559"/>
                </a:solidFill>
                <a:latin typeface="Georgia" pitchFamily="34" charset="0"/>
                <a:ea typeface="Georgia" pitchFamily="34" charset="-122"/>
                <a:cs typeface="Georgia" pitchFamily="34" charset="-120"/>
              </a:rPr>
              <a:t>?</a:t>
            </a:r>
            <a:endParaRPr lang="en-US" sz="1250" dirty="0"/>
          </a:p>
        </p:txBody>
      </p:sp>
      <p:sp>
        <p:nvSpPr>
          <p:cNvPr id="21" name="ln_318"/>
          <p:cNvSpPr/>
          <p:nvPr/>
        </p:nvSpPr>
        <p:spPr>
          <a:xfrm>
            <a:off x="548640" y="2849880"/>
            <a:ext cx="5349240" cy="464820"/>
          </a:xfrm>
          <a:prstGeom prst="rect">
            <a:avLst/>
          </a:prstGeom>
          <a:no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When we're choosing </a:t>
            </a:r>
            <a:pPr indent="0" marL="0">
              <a:buNone/>
            </a:pPr>
            <a:r>
              <a:rPr lang="en-US" sz="1250" b="1" dirty="0">
                <a:solidFill>
                  <a:srgbClr val="2EB872"/>
                </a:solidFill>
                <a:latin typeface="Georgia" pitchFamily="34" charset="0"/>
                <a:ea typeface="Georgia" pitchFamily="34" charset="-122"/>
                <a:cs typeface="Georgia" pitchFamily="34" charset="-120"/>
              </a:rPr>
              <a:t> (3) _____ </a:t>
            </a:r>
            <a:pPr indent="0" marL="0">
              <a:buNone/>
            </a:pPr>
            <a:r>
              <a:rPr lang="en-US" sz="1250" dirty="0">
                <a:solidFill>
                  <a:srgbClr val="1B2559"/>
                </a:solidFill>
                <a:latin typeface="Georgia" pitchFamily="34" charset="0"/>
                <a:ea typeface="Georgia" pitchFamily="34" charset="-122"/>
                <a:cs typeface="Georgia" pitchFamily="34" charset="-120"/>
              </a:rPr>
              <a:t> one toy or another…</a:t>
            </a:r>
            <a:endParaRPr lang="en-US" sz="1250" dirty="0"/>
          </a:p>
        </p:txBody>
      </p:sp>
      <p:sp>
        <p:nvSpPr>
          <p:cNvPr id="22" name="R3_lnA319"/>
          <p:cNvSpPr/>
          <p:nvPr/>
        </p:nvSpPr>
        <p:spPr>
          <a:xfrm>
            <a:off x="548640" y="2849880"/>
            <a:ext cx="5349240" cy="464820"/>
          </a:xfrm>
          <a:prstGeom prst="rect">
            <a:avLst/>
          </a:prstGeom>
          <a:solidFill>
            <a:srgbClr val="FFFFFF"/>
          </a:solid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When we're choosing </a:t>
            </a:r>
            <a:pPr indent="0" marL="0">
              <a:buNone/>
            </a:pPr>
            <a:r>
              <a:rPr lang="en-US" sz="1250" b="1" dirty="0">
                <a:solidFill>
                  <a:srgbClr val="1B2559"/>
                </a:solidFill>
                <a:highlight>
                  <a:srgbClr val="FFE066"/>
                </a:highlight>
                <a:latin typeface="Georgia" pitchFamily="34" charset="0"/>
                <a:ea typeface="Georgia" pitchFamily="34" charset="-122"/>
                <a:cs typeface="Georgia" pitchFamily="34" charset="-120"/>
              </a:rPr>
              <a:t>between</a:t>
            </a:r>
            <a:pPr indent="0" marL="0">
              <a:buNone/>
            </a:pPr>
            <a:r>
              <a:rPr lang="en-US" sz="1250" dirty="0">
                <a:solidFill>
                  <a:srgbClr val="1B2559"/>
                </a:solidFill>
                <a:latin typeface="Georgia" pitchFamily="34" charset="0"/>
                <a:ea typeface="Georgia" pitchFamily="34" charset="-122"/>
                <a:cs typeface="Georgia" pitchFamily="34" charset="-120"/>
              </a:rPr>
              <a:t> one toy or another…</a:t>
            </a:r>
            <a:endParaRPr lang="en-US" sz="1250" dirty="0"/>
          </a:p>
        </p:txBody>
      </p:sp>
      <p:sp>
        <p:nvSpPr>
          <p:cNvPr id="23" name="ln_320"/>
          <p:cNvSpPr/>
          <p:nvPr/>
        </p:nvSpPr>
        <p:spPr>
          <a:xfrm>
            <a:off x="548640" y="3314700"/>
            <a:ext cx="5349240" cy="464820"/>
          </a:xfrm>
          <a:prstGeom prst="rect">
            <a:avLst/>
          </a:prstGeom>
          <a:no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Most girls' toys are still based </a:t>
            </a:r>
            <a:pPr indent="0" marL="0">
              <a:buNone/>
            </a:pPr>
            <a:r>
              <a:rPr lang="en-US" sz="1250" b="1" dirty="0">
                <a:solidFill>
                  <a:srgbClr val="2EB872"/>
                </a:solidFill>
                <a:latin typeface="Georgia" pitchFamily="34" charset="0"/>
                <a:ea typeface="Georgia" pitchFamily="34" charset="-122"/>
                <a:cs typeface="Georgia" pitchFamily="34" charset="-120"/>
              </a:rPr>
              <a:t> (4) _____ </a:t>
            </a:r>
            <a:pPr indent="0" marL="0">
              <a:buNone/>
            </a:pPr>
            <a:r>
              <a:rPr lang="en-US" sz="1250" dirty="0">
                <a:solidFill>
                  <a:srgbClr val="1B2559"/>
                </a:solidFill>
                <a:latin typeface="Georgia" pitchFamily="34" charset="0"/>
                <a:ea typeface="Georgia" pitchFamily="34" charset="-122"/>
                <a:cs typeface="Georgia" pitchFamily="34" charset="-120"/>
              </a:rPr>
              <a:t> dolls and dressing up.</a:t>
            </a:r>
            <a:endParaRPr lang="en-US" sz="1250" dirty="0"/>
          </a:p>
        </p:txBody>
      </p:sp>
      <p:sp>
        <p:nvSpPr>
          <p:cNvPr id="24" name="R4_lnA321"/>
          <p:cNvSpPr/>
          <p:nvPr/>
        </p:nvSpPr>
        <p:spPr>
          <a:xfrm>
            <a:off x="548640" y="3314700"/>
            <a:ext cx="5349240" cy="464820"/>
          </a:xfrm>
          <a:prstGeom prst="rect">
            <a:avLst/>
          </a:prstGeom>
          <a:solidFill>
            <a:srgbClr val="FFFFFF"/>
          </a:solid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Most girls' toys are still based </a:t>
            </a:r>
            <a:pPr indent="0" marL="0">
              <a:buNone/>
            </a:pPr>
            <a:r>
              <a:rPr lang="en-US" sz="1250" b="1" dirty="0">
                <a:solidFill>
                  <a:srgbClr val="1B2559"/>
                </a:solidFill>
                <a:highlight>
                  <a:srgbClr val="FFE066"/>
                </a:highlight>
                <a:latin typeface="Georgia" pitchFamily="34" charset="0"/>
                <a:ea typeface="Georgia" pitchFamily="34" charset="-122"/>
                <a:cs typeface="Georgia" pitchFamily="34" charset="-120"/>
              </a:rPr>
              <a:t>on</a:t>
            </a:r>
            <a:pPr indent="0" marL="0">
              <a:buNone/>
            </a:pPr>
            <a:r>
              <a:rPr lang="en-US" sz="1250" dirty="0">
                <a:solidFill>
                  <a:srgbClr val="1B2559"/>
                </a:solidFill>
                <a:latin typeface="Georgia" pitchFamily="34" charset="0"/>
                <a:ea typeface="Georgia" pitchFamily="34" charset="-122"/>
                <a:cs typeface="Georgia" pitchFamily="34" charset="-120"/>
              </a:rPr>
              <a:t> dolls and dressing up.</a:t>
            </a:r>
            <a:endParaRPr lang="en-US" sz="1250" dirty="0"/>
          </a:p>
        </p:txBody>
      </p:sp>
      <p:sp>
        <p:nvSpPr>
          <p:cNvPr id="25" name="ln_322"/>
          <p:cNvSpPr/>
          <p:nvPr/>
        </p:nvSpPr>
        <p:spPr>
          <a:xfrm>
            <a:off x="548640" y="3779520"/>
            <a:ext cx="5349240" cy="464820"/>
          </a:xfrm>
          <a:prstGeom prst="rect">
            <a:avLst/>
          </a:prstGeom>
          <a:no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If we want girls to get interested </a:t>
            </a:r>
            <a:pPr indent="0" marL="0">
              <a:buNone/>
            </a:pPr>
            <a:r>
              <a:rPr lang="en-US" sz="1250" b="1" dirty="0">
                <a:solidFill>
                  <a:srgbClr val="2EB872"/>
                </a:solidFill>
                <a:latin typeface="Georgia" pitchFamily="34" charset="0"/>
                <a:ea typeface="Georgia" pitchFamily="34" charset="-122"/>
                <a:cs typeface="Georgia" pitchFamily="34" charset="-120"/>
              </a:rPr>
              <a:t> (5) _____ </a:t>
            </a:r>
            <a:pPr indent="0" marL="0">
              <a:buNone/>
            </a:pPr>
            <a:r>
              <a:rPr lang="en-US" sz="1250" dirty="0">
                <a:solidFill>
                  <a:srgbClr val="1B2559"/>
                </a:solidFill>
                <a:latin typeface="Georgia" pitchFamily="34" charset="0"/>
                <a:ea typeface="Georgia" pitchFamily="34" charset="-122"/>
                <a:cs typeface="Georgia" pitchFamily="34" charset="-120"/>
              </a:rPr>
              <a:t> maths and science…</a:t>
            </a:r>
            <a:endParaRPr lang="en-US" sz="1250" dirty="0"/>
          </a:p>
        </p:txBody>
      </p:sp>
      <p:sp>
        <p:nvSpPr>
          <p:cNvPr id="26" name="R5_lnA323"/>
          <p:cNvSpPr/>
          <p:nvPr/>
        </p:nvSpPr>
        <p:spPr>
          <a:xfrm>
            <a:off x="548640" y="3779520"/>
            <a:ext cx="5349240" cy="464820"/>
          </a:xfrm>
          <a:prstGeom prst="rect">
            <a:avLst/>
          </a:prstGeom>
          <a:solidFill>
            <a:srgbClr val="FFFFFF"/>
          </a:solid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If we want girls to get interested </a:t>
            </a:r>
            <a:pPr indent="0" marL="0">
              <a:buNone/>
            </a:pPr>
            <a:r>
              <a:rPr lang="en-US" sz="1250" b="1" dirty="0">
                <a:solidFill>
                  <a:srgbClr val="1B2559"/>
                </a:solidFill>
                <a:highlight>
                  <a:srgbClr val="FFE066"/>
                </a:highlight>
                <a:latin typeface="Georgia" pitchFamily="34" charset="0"/>
                <a:ea typeface="Georgia" pitchFamily="34" charset="-122"/>
                <a:cs typeface="Georgia" pitchFamily="34" charset="-120"/>
              </a:rPr>
              <a:t>in</a:t>
            </a:r>
            <a:pPr indent="0" marL="0">
              <a:buNone/>
            </a:pPr>
            <a:r>
              <a:rPr lang="en-US" sz="1250" dirty="0">
                <a:solidFill>
                  <a:srgbClr val="1B2559"/>
                </a:solidFill>
                <a:latin typeface="Georgia" pitchFamily="34" charset="0"/>
                <a:ea typeface="Georgia" pitchFamily="34" charset="-122"/>
                <a:cs typeface="Georgia" pitchFamily="34" charset="-120"/>
              </a:rPr>
              <a:t> maths and science…</a:t>
            </a:r>
            <a:endParaRPr lang="en-US" sz="1250" dirty="0"/>
          </a:p>
        </p:txBody>
      </p:sp>
      <p:sp>
        <p:nvSpPr>
          <p:cNvPr id="27" name="ln_324"/>
          <p:cNvSpPr/>
          <p:nvPr/>
        </p:nvSpPr>
        <p:spPr>
          <a:xfrm>
            <a:off x="548640" y="4244340"/>
            <a:ext cx="5349240" cy="464820"/>
          </a:xfrm>
          <a:prstGeom prst="rect">
            <a:avLst/>
          </a:prstGeom>
          <a:no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…parents need to forget </a:t>
            </a:r>
            <a:pPr indent="0" marL="0">
              <a:buNone/>
            </a:pPr>
            <a:r>
              <a:rPr lang="en-US" sz="1250" b="1" dirty="0">
                <a:solidFill>
                  <a:srgbClr val="2EB872"/>
                </a:solidFill>
                <a:latin typeface="Georgia" pitchFamily="34" charset="0"/>
                <a:ea typeface="Georgia" pitchFamily="34" charset="-122"/>
                <a:cs typeface="Georgia" pitchFamily="34" charset="-120"/>
              </a:rPr>
              <a:t> (6) _____ </a:t>
            </a:r>
            <a:pPr indent="0" marL="0">
              <a:buNone/>
            </a:pPr>
            <a:r>
              <a:rPr lang="en-US" sz="1250" dirty="0">
                <a:solidFill>
                  <a:srgbClr val="1B2559"/>
                </a:solidFill>
                <a:latin typeface="Georgia" pitchFamily="34" charset="0"/>
                <a:ea typeface="Georgia" pitchFamily="34" charset="-122"/>
                <a:cs typeface="Georgia" pitchFamily="34" charset="-120"/>
              </a:rPr>
              <a:t> the stereotypes.</a:t>
            </a:r>
            <a:endParaRPr lang="en-US" sz="1250" dirty="0"/>
          </a:p>
        </p:txBody>
      </p:sp>
      <p:sp>
        <p:nvSpPr>
          <p:cNvPr id="28" name="R6_lnA325"/>
          <p:cNvSpPr/>
          <p:nvPr/>
        </p:nvSpPr>
        <p:spPr>
          <a:xfrm>
            <a:off x="548640" y="4244340"/>
            <a:ext cx="5349240" cy="464820"/>
          </a:xfrm>
          <a:prstGeom prst="rect">
            <a:avLst/>
          </a:prstGeom>
          <a:solidFill>
            <a:srgbClr val="FFFFFF"/>
          </a:solidFill>
          <a:ln/>
        </p:spPr>
        <p:txBody>
          <a:bodyPr wrap="square" lIns="0" tIns="0" rIns="0" bIns="0" rtlCol="0" anchor="ctr">
            <a:normAutofit/>
          </a:bodyPr>
          <a:lstStyle/>
          <a:p>
            <a:pPr indent="0" marL="0">
              <a:buNone/>
            </a:pPr>
            <a:r>
              <a:rPr lang="en-US" sz="1250" dirty="0">
                <a:solidFill>
                  <a:srgbClr val="1B2559"/>
                </a:solidFill>
                <a:latin typeface="Georgia" pitchFamily="34" charset="0"/>
                <a:ea typeface="Georgia" pitchFamily="34" charset="-122"/>
                <a:cs typeface="Georgia" pitchFamily="34" charset="-120"/>
              </a:rPr>
              <a:t>…parents need to forget </a:t>
            </a:r>
            <a:pPr indent="0" marL="0">
              <a:buNone/>
            </a:pPr>
            <a:r>
              <a:rPr lang="en-US" sz="1250" b="1" dirty="0">
                <a:solidFill>
                  <a:srgbClr val="1B2559"/>
                </a:solidFill>
                <a:highlight>
                  <a:srgbClr val="FFE066"/>
                </a:highlight>
                <a:latin typeface="Georgia" pitchFamily="34" charset="0"/>
                <a:ea typeface="Georgia" pitchFamily="34" charset="-122"/>
                <a:cs typeface="Georgia" pitchFamily="34" charset="-120"/>
              </a:rPr>
              <a:t>about</a:t>
            </a:r>
            <a:pPr indent="0" marL="0">
              <a:buNone/>
            </a:pPr>
            <a:r>
              <a:rPr lang="en-US" sz="1250" dirty="0">
                <a:solidFill>
                  <a:srgbClr val="1B2559"/>
                </a:solidFill>
                <a:latin typeface="Georgia" pitchFamily="34" charset="0"/>
                <a:ea typeface="Georgia" pitchFamily="34" charset="-122"/>
                <a:cs typeface="Georgia" pitchFamily="34" charset="-120"/>
              </a:rPr>
              <a:t> the stereotypes.</a:t>
            </a:r>
            <a:endParaRPr lang="en-US" sz="1250" dirty="0"/>
          </a:p>
        </p:txBody>
      </p:sp>
      <p:sp>
        <p:nvSpPr>
          <p:cNvPr id="29" name="ap_326"/>
          <p:cNvSpPr/>
          <p:nvPr/>
        </p:nvSpPr>
        <p:spPr>
          <a:xfrm>
            <a:off x="6263640" y="1417320"/>
            <a:ext cx="201168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3.24</a:t>
            </a:r>
            <a:endParaRPr lang="en-US" sz="1100" dirty="0"/>
          </a:p>
        </p:txBody>
      </p:sp>
      <p:sp>
        <p:nvSpPr>
          <p:cNvPr id="30" name="ah_327"/>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31"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32"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33" name="pf_328"/>
          <p:cNvSpPr/>
          <p:nvPr/>
        </p:nvSpPr>
        <p:spPr>
          <a:xfrm rot="120000">
            <a:off x="6309360" y="2194560"/>
            <a:ext cx="2560320" cy="1554480"/>
          </a:xfrm>
          <a:prstGeom prst="roundRect">
            <a:avLst>
              <a:gd name="adj" fmla="val 100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4" name="ph_329" descr="/home/claude/lls-course/v2/cache/3b2_two_mums_jpg_594x352_31.png">    </p:cNvPr>
          <p:cNvPicPr>
            <a:picLocks noChangeAspect="1"/>
          </p:cNvPicPr>
          <p:nvPr/>
        </p:nvPicPr>
        <p:blipFill>
          <a:blip r:embed="rId11"/>
          <a:stretch>
            <a:fillRect/>
          </a:stretch>
        </p:blipFill>
        <p:spPr>
          <a:xfrm rot="120000">
            <a:off x="6355080" y="2240280"/>
            <a:ext cx="2468880" cy="146304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31"/>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31"/>
                                        </p:tgtEl>
                                      </p:cBhvr>
                                    </p:cmd>
                                  </p:childTnLst>
                                </p:cTn>
                              </p:par>
                            </p:childTnLst>
                          </p:cTn>
                        </p:par>
                      </p:childTnLst>
                    </p:cTn>
                  </p:par>
                </p:childTnLst>
              </p:cTn>
              <p:nextCondLst>
                <p:cond evt="onClick" delay="0">
                  <p:tgtEl>
                    <p:spTgt spid="31"/>
                  </p:tgtEl>
                </p:cond>
              </p:nextCondLst>
            </p:seq>
            <p:seq concurrent="1" nextAc="seek">
              <p:cTn id="38" restart="whenNotActive" fill="hold" evtFilter="cancelBubble" nodeType="interactiveSeq">
                <p:stCondLst>
                  <p:cond evt="onClick" delay="0">
                    <p:tgtEl>
                      <p:spTgt spid="32"/>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32"/>
                                        </p:tgtEl>
                                      </p:cBhvr>
                                    </p:cmd>
                                  </p:childTnLst>
                                </p:cTn>
                              </p:par>
                            </p:childTnLst>
                          </p:cTn>
                        </p:par>
                      </p:childTnLst>
                    </p:cTn>
                  </p:par>
                </p:childTnLst>
              </p:cTn>
              <p:nextCondLst>
                <p:cond evt="onClick" delay="0">
                  <p:tgtEl>
                    <p:spTgt spid="32"/>
                  </p:tgtEl>
                </p:cond>
              </p:nextCondLst>
            </p:seq>
            <p:audio>
              <p:cMediaNode vol="80000">
                <p:cTn id="43" fill="hold" display="0">
                  <p:stCondLst>
                    <p:cond delay="indefinite"/>
                  </p:stCondLst>
                  <p:endCondLst>
                    <p:cond evt="onStopAudio" delay="0">
                      <p:tgtEl>
                        <p:sldTgt/>
                      </p:tgtEl>
                    </p:cond>
                  </p:endCondLst>
                </p:cTn>
                <p:tgtEl>
                  <p:spTgt spid="31"/>
                </p:tgtEl>
              </p:cMediaNode>
            </p:audio>
            <p:audio>
              <p:cMediaNode vol="80000">
                <p:cTn id="44" fill="hold" display="0">
                  <p:stCondLst>
                    <p:cond delay="indefinite"/>
                  </p:stCondLst>
                  <p:endCondLst>
                    <p:cond evt="onStopAudio" delay="0">
                      <p:tgtEl>
                        <p:sldTgt/>
                      </p:tgtEl>
                    </p:cond>
                  </p:endCondLst>
                </p:cTn>
                <p:tgtEl>
                  <p:spTgt spid="32"/>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30"/>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331"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332"/>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Verb + preposition</a:t>
            </a:r>
            <a:endParaRPr lang="en-US" sz="2500" dirty="0"/>
          </a:p>
        </p:txBody>
      </p:sp>
      <p:pic>
        <p:nvPicPr>
          <p:cNvPr id="6" name="brP_333"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334"/>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Write the prepositions. Then listen.</a:t>
            </a:r>
            <a:endParaRPr lang="en-US" sz="1250" dirty="0"/>
          </a:p>
        </p:txBody>
      </p:sp>
      <p:sp>
        <p:nvSpPr>
          <p:cNvPr id="8" name="insIT_33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Scrivi le preposizioni. Poi ascolta.</a:t>
            </a:r>
            <a:endParaRPr lang="en-US" sz="950" dirty="0"/>
          </a:p>
        </p:txBody>
      </p:sp>
      <p:sp>
        <p:nvSpPr>
          <p:cNvPr id="9" name="cmd_336"/>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0" name="cmd_337"/>
          <p:cNvSpPr/>
          <p:nvPr/>
        </p:nvSpPr>
        <p:spPr>
          <a:xfrm>
            <a:off x="6510528" y="566928"/>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1" name="meta_338"/>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pairs</a:t>
            </a:r>
            <a:endParaRPr lang="en-US" sz="950" dirty="0"/>
          </a:p>
        </p:txBody>
      </p:sp>
      <p:sp>
        <p:nvSpPr>
          <p:cNvPr id="12" name="tag_339"/>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detail</a:t>
            </a:r>
            <a:endParaRPr lang="en-US" sz="850" dirty="0"/>
          </a:p>
        </p:txBody>
      </p:sp>
      <p:pic>
        <p:nvPicPr>
          <p:cNvPr id="13" name="logo_34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34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3B-2 · Vocabulary · verb + preposition   ·   📖 Vocabulary Bank Dependent prepositions p.156 · 1 After verbs · audio 3.25</a:t>
            </a:r>
            <a:endParaRPr lang="en-US" sz="800" dirty="0"/>
          </a:p>
        </p:txBody>
      </p:sp>
      <p:sp>
        <p:nvSpPr>
          <p:cNvPr id="15" name="ap_342"/>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3.25  ·  pause after each one</a:t>
            </a:r>
            <a:endParaRPr lang="en-US" sz="1100" dirty="0"/>
          </a:p>
        </p:txBody>
      </p:sp>
      <p:sp>
        <p:nvSpPr>
          <p:cNvPr id="16" name="ah_343"/>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9" name="pf_344"/>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345" descr="/home/claude/lls-course/v2/cache/3b2_argue_jpg_627x407_31.png">    </p:cNvPr>
          <p:cNvPicPr>
            <a:picLocks noChangeAspect="1"/>
          </p:cNvPicPr>
          <p:nvPr/>
        </p:nvPicPr>
        <p:blipFill>
          <a:blip r:embed="rId11"/>
          <a:stretch>
            <a:fillRect/>
          </a:stretch>
        </p:blipFill>
        <p:spPr>
          <a:xfrm rot="-90000">
            <a:off x="457200" y="2103120"/>
            <a:ext cx="2606040" cy="1691640"/>
          </a:xfrm>
          <a:prstGeom prst="rect">
            <a:avLst/>
          </a:prstGeom>
        </p:spPr>
      </p:pic>
      <p:sp>
        <p:nvSpPr>
          <p:cNvPr id="21" name="cd_346"/>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2" name="ii_347"/>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ih_348"/>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4" name="il_349"/>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5" name="gq_350"/>
          <p:cNvSpPr/>
          <p:nvPr/>
        </p:nvSpPr>
        <p:spPr>
          <a:xfrm>
            <a:off x="3383280" y="1417320"/>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He apologized ___ the police officer ___ driving fast.</a:t>
            </a:r>
            <a:endParaRPr lang="en-US" sz="1200" dirty="0"/>
          </a:p>
        </p:txBody>
      </p:sp>
      <p:sp>
        <p:nvSpPr>
          <p:cNvPr id="26" name="R1_chip351"/>
          <p:cNvSpPr/>
          <p:nvPr/>
        </p:nvSpPr>
        <p:spPr>
          <a:xfrm>
            <a:off x="6812280" y="141732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to · for</a:t>
            </a:r>
            <a:endParaRPr lang="en-US" sz="1200" dirty="0"/>
          </a:p>
        </p:txBody>
      </p:sp>
      <p:sp>
        <p:nvSpPr>
          <p:cNvPr id="27" name="gq_352"/>
          <p:cNvSpPr/>
          <p:nvPr/>
        </p:nvSpPr>
        <p:spPr>
          <a:xfrm>
            <a:off x="3383280" y="1938528"/>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I never argue ___ my husband ___ money.</a:t>
            </a:r>
            <a:endParaRPr lang="en-US" sz="1200" dirty="0"/>
          </a:p>
        </p:txBody>
      </p:sp>
      <p:sp>
        <p:nvSpPr>
          <p:cNvPr id="28" name="R2_chip353"/>
          <p:cNvSpPr/>
          <p:nvPr/>
        </p:nvSpPr>
        <p:spPr>
          <a:xfrm>
            <a:off x="6812280" y="1938528"/>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with · about</a:t>
            </a:r>
            <a:endParaRPr lang="en-US" sz="1200" dirty="0"/>
          </a:p>
        </p:txBody>
      </p:sp>
      <p:sp>
        <p:nvSpPr>
          <p:cNvPr id="29" name="gq_354"/>
          <p:cNvSpPr/>
          <p:nvPr/>
        </p:nvSpPr>
        <p:spPr>
          <a:xfrm>
            <a:off x="3383280" y="2459736"/>
            <a:ext cx="333756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3  We might go out. It depends ___ the weather.</a:t>
            </a:r>
            <a:endParaRPr lang="en-US" sz="1200" dirty="0"/>
          </a:p>
        </p:txBody>
      </p:sp>
      <p:sp>
        <p:nvSpPr>
          <p:cNvPr id="30" name="R3_chip355"/>
          <p:cNvSpPr/>
          <p:nvPr/>
        </p:nvSpPr>
        <p:spPr>
          <a:xfrm>
            <a:off x="6812280" y="2459736"/>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on</a:t>
            </a:r>
            <a:endParaRPr lang="en-US" sz="1200" dirty="0"/>
          </a:p>
        </p:txBody>
      </p:sp>
      <p:sp>
        <p:nvSpPr>
          <p:cNvPr id="31" name="gq_356"/>
          <p:cNvSpPr/>
          <p:nvPr/>
        </p:nvSpPr>
        <p:spPr>
          <a:xfrm>
            <a:off x="3383280" y="2980944"/>
            <a:ext cx="333756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  Don't laugh ___ me! I'm doing my best!</a:t>
            </a:r>
            <a:endParaRPr lang="en-US" sz="1200" dirty="0"/>
          </a:p>
        </p:txBody>
      </p:sp>
      <p:sp>
        <p:nvSpPr>
          <p:cNvPr id="32" name="R4_chip357"/>
          <p:cNvSpPr/>
          <p:nvPr/>
        </p:nvSpPr>
        <p:spPr>
          <a:xfrm>
            <a:off x="6812280" y="2980944"/>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at</a:t>
            </a:r>
            <a:endParaRPr lang="en-US" sz="1200" dirty="0"/>
          </a:p>
        </p:txBody>
      </p:sp>
      <p:sp>
        <p:nvSpPr>
          <p:cNvPr id="33" name="gq_358"/>
          <p:cNvSpPr/>
          <p:nvPr/>
        </p:nvSpPr>
        <p:spPr>
          <a:xfrm>
            <a:off x="3383280" y="3502152"/>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5  I'm really looking forward ___ the party.</a:t>
            </a:r>
            <a:endParaRPr lang="en-US" sz="1200" dirty="0"/>
          </a:p>
        </p:txBody>
      </p:sp>
      <p:sp>
        <p:nvSpPr>
          <p:cNvPr id="34" name="R5_chip359"/>
          <p:cNvSpPr/>
          <p:nvPr/>
        </p:nvSpPr>
        <p:spPr>
          <a:xfrm>
            <a:off x="6812280" y="3502152"/>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to</a:t>
            </a:r>
            <a:endParaRPr lang="en-US" sz="1200" dirty="0"/>
          </a:p>
        </p:txBody>
      </p:sp>
      <p:sp>
        <p:nvSpPr>
          <p:cNvPr id="35" name="gq_360"/>
          <p:cNvSpPr/>
          <p:nvPr/>
        </p:nvSpPr>
        <p:spPr>
          <a:xfrm>
            <a:off x="3383280" y="4023360"/>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6  This music reminds me ___ our honeymoon in Italy.</a:t>
            </a:r>
            <a:endParaRPr lang="en-US" sz="1200" dirty="0"/>
          </a:p>
        </p:txBody>
      </p:sp>
      <p:sp>
        <p:nvSpPr>
          <p:cNvPr id="36" name="R6_chip361"/>
          <p:cNvSpPr/>
          <p:nvPr/>
        </p:nvSpPr>
        <p:spPr>
          <a:xfrm>
            <a:off x="6812280" y="402336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of</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17"/>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17"/>
                                        </p:tgtEl>
                                      </p:cBhvr>
                                    </p:cmd>
                                  </p:childTnLst>
                                </p:cTn>
                              </p:par>
                            </p:childTnLst>
                          </p:cTn>
                        </p:par>
                      </p:childTnLst>
                    </p:cTn>
                  </p:par>
                </p:childTnLst>
              </p:cTn>
              <p:nextCondLst>
                <p:cond evt="onClick" delay="0">
                  <p:tgtEl>
                    <p:spTgt spid="17"/>
                  </p:tgtEl>
                </p:cond>
              </p:nextCondLst>
            </p:seq>
            <p:seq concurrent="1" nextAc="seek">
              <p:cTn id="38" restart="whenNotActive" fill="hold" evtFilter="cancelBubble" nodeType="interactiveSeq">
                <p:stCondLst>
                  <p:cond evt="onClick" delay="0">
                    <p:tgtEl>
                      <p:spTgt spid="18"/>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18"/>
                                        </p:tgtEl>
                                      </p:cBhvr>
                                    </p:cmd>
                                  </p:childTnLst>
                                </p:cTn>
                              </p:par>
                            </p:childTnLst>
                          </p:cTn>
                        </p:par>
                      </p:childTnLst>
                    </p:cTn>
                  </p:par>
                </p:childTnLst>
              </p:cTn>
              <p:nextCondLst>
                <p:cond evt="onClick" delay="0">
                  <p:tgtEl>
                    <p:spTgt spid="18"/>
                  </p:tgtEl>
                </p:cond>
              </p:nextCondLst>
            </p:seq>
            <p:audio>
              <p:cMediaNode vol="80000">
                <p:cTn id="43" fill="hold" display="0">
                  <p:stCondLst>
                    <p:cond delay="indefinite"/>
                  </p:stCondLst>
                  <p:endCondLst>
                    <p:cond evt="onStopAudio" delay="0">
                      <p:tgtEl>
                        <p:sldTgt/>
                      </p:tgtEl>
                    </p:cond>
                  </p:endCondLst>
                </p:cTn>
                <p:tgtEl>
                  <p:spTgt spid="17"/>
                </p:tgtEl>
              </p:cMediaNode>
            </p:audio>
            <p:audio>
              <p:cMediaNode vol="80000">
                <p:cTn id="44" fill="hold" display="0">
                  <p:stCondLst>
                    <p:cond delay="indefinite"/>
                  </p:stCondLst>
                  <p:endCondLst>
                    <p:cond evt="onStopAudio" delay="0">
                      <p:tgtEl>
                        <p:sldTgt/>
                      </p:tgtEl>
                    </p:cond>
                  </p:endCondLst>
                </p:cTn>
                <p:tgtEl>
                  <p:spTgt spid="18"/>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62"/>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363" descr="/home/claude/lls-course/v2/assets/brush-yellow.png">    </p:cNvPr>
          <p:cNvPicPr>
            <a:picLocks noChangeAspect="1"/>
          </p:cNvPicPr>
          <p:nvPr/>
        </p:nvPicPr>
        <p:blipFill>
          <a:blip r:embed="rId2"/>
          <a:stretch>
            <a:fillRect/>
          </a:stretch>
        </p:blipFill>
        <p:spPr>
          <a:xfrm>
            <a:off x="1097280" y="146304"/>
            <a:ext cx="4348886" cy="621792"/>
          </a:xfrm>
          <a:prstGeom prst="rect">
            <a:avLst/>
          </a:prstGeom>
        </p:spPr>
      </p:pic>
      <p:sp>
        <p:nvSpPr>
          <p:cNvPr id="5" name="title_364"/>
          <p:cNvSpPr/>
          <p:nvPr/>
        </p:nvSpPr>
        <p:spPr>
          <a:xfrm>
            <a:off x="1261872" y="164592"/>
            <a:ext cx="407456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Adjective + preposition</a:t>
            </a:r>
            <a:endParaRPr lang="en-US" sz="2500" dirty="0"/>
          </a:p>
        </p:txBody>
      </p:sp>
      <p:pic>
        <p:nvPicPr>
          <p:cNvPr id="6" name="brP_365"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366"/>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Which preposition? Match the colour.</a:t>
            </a:r>
            <a:endParaRPr lang="en-US" sz="1250" dirty="0"/>
          </a:p>
        </p:txBody>
      </p:sp>
      <p:sp>
        <p:nvSpPr>
          <p:cNvPr id="8" name="insIT_367"/>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Quale preposizione? Abbina il colore.</a:t>
            </a:r>
            <a:endParaRPr lang="en-US" sz="950" dirty="0"/>
          </a:p>
        </p:txBody>
      </p:sp>
      <p:sp>
        <p:nvSpPr>
          <p:cNvPr id="9" name="cmd_368"/>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MATCH</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ABBINA</a:t>
            </a:r>
            <a:endParaRPr lang="en-US" sz="1100" dirty="0"/>
          </a:p>
        </p:txBody>
      </p:sp>
      <p:sp>
        <p:nvSpPr>
          <p:cNvPr id="10" name="meta_369"/>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pairs</a:t>
            </a:r>
            <a:endParaRPr lang="en-US" sz="950" dirty="0"/>
          </a:p>
        </p:txBody>
      </p:sp>
      <p:sp>
        <p:nvSpPr>
          <p:cNvPr id="11" name="tag_370"/>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Guided discovery</a:t>
            </a:r>
            <a:endParaRPr lang="en-US" sz="850" dirty="0"/>
          </a:p>
        </p:txBody>
      </p:sp>
      <p:pic>
        <p:nvPicPr>
          <p:cNvPr id="12" name="logo_37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7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3B-2 · Vocabulary · adjective + preposition   ·   📖 Vocabulary Bank p.156 · 2 After adjectives · audio 3.26</a:t>
            </a:r>
            <a:endParaRPr lang="en-US" sz="800" dirty="0"/>
          </a:p>
        </p:txBody>
      </p:sp>
      <p:sp>
        <p:nvSpPr>
          <p:cNvPr id="14" name="cd_373"/>
          <p:cNvSpPr/>
          <p:nvPr/>
        </p:nvSpPr>
        <p:spPr>
          <a:xfrm>
            <a:off x="320040" y="1417320"/>
            <a:ext cx="2697480" cy="2295144"/>
          </a:xfrm>
          <a:prstGeom prst="roundRect">
            <a:avLst>
              <a:gd name="adj" fmla="val 5578"/>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374"/>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75"/>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The colours</a:t>
            </a:r>
            <a:endParaRPr lang="en-US" sz="1300" dirty="0"/>
          </a:p>
        </p:txBody>
      </p:sp>
      <p:sp>
        <p:nvSpPr>
          <p:cNvPr id="17" name="il_376"/>
          <p:cNvSpPr/>
          <p:nvPr/>
        </p:nvSpPr>
        <p:spPr>
          <a:xfrm>
            <a:off x="886968" y="1892808"/>
            <a:ext cx="2039112" cy="1746504"/>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18" name="lg_377"/>
          <p:cNvSpPr/>
          <p:nvPr/>
        </p:nvSpPr>
        <p:spPr>
          <a:xfrm>
            <a:off x="457200" y="1984248"/>
            <a:ext cx="1188720" cy="310896"/>
          </a:xfrm>
          <a:prstGeom prst="roundRect">
            <a:avLst>
              <a:gd name="adj" fmla="val 50000"/>
            </a:avLst>
          </a:prstGeom>
          <a:solidFill>
            <a:srgbClr val="F7A6C4"/>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of</a:t>
            </a:r>
            <a:endParaRPr lang="en-US" sz="1050" dirty="0"/>
          </a:p>
        </p:txBody>
      </p:sp>
      <p:sp>
        <p:nvSpPr>
          <p:cNvPr id="19" name="lg_378"/>
          <p:cNvSpPr/>
          <p:nvPr/>
        </p:nvSpPr>
        <p:spPr>
          <a:xfrm>
            <a:off x="1719072" y="1984248"/>
            <a:ext cx="1188720" cy="310896"/>
          </a:xfrm>
          <a:prstGeom prst="roundRect">
            <a:avLst>
              <a:gd name="adj" fmla="val 50000"/>
            </a:avLst>
          </a:prstGeom>
          <a:solidFill>
            <a:srgbClr val="8FC9F2"/>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at</a:t>
            </a:r>
            <a:endParaRPr lang="en-US" sz="1050" dirty="0"/>
          </a:p>
        </p:txBody>
      </p:sp>
      <p:sp>
        <p:nvSpPr>
          <p:cNvPr id="20" name="lg_379"/>
          <p:cNvSpPr/>
          <p:nvPr/>
        </p:nvSpPr>
        <p:spPr>
          <a:xfrm>
            <a:off x="457200" y="2368296"/>
            <a:ext cx="1188720" cy="310896"/>
          </a:xfrm>
          <a:prstGeom prst="roundRect">
            <a:avLst>
              <a:gd name="adj" fmla="val 50000"/>
            </a:avLst>
          </a:prstGeom>
          <a:solidFill>
            <a:srgbClr val="FFD966"/>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with</a:t>
            </a:r>
            <a:endParaRPr lang="en-US" sz="1050" dirty="0"/>
          </a:p>
        </p:txBody>
      </p:sp>
      <p:sp>
        <p:nvSpPr>
          <p:cNvPr id="21" name="lg_380"/>
          <p:cNvSpPr/>
          <p:nvPr/>
        </p:nvSpPr>
        <p:spPr>
          <a:xfrm>
            <a:off x="1719072" y="2368296"/>
            <a:ext cx="1188720" cy="310896"/>
          </a:xfrm>
          <a:prstGeom prst="roundRect">
            <a:avLst>
              <a:gd name="adj" fmla="val 50000"/>
            </a:avLst>
          </a:prstGeom>
          <a:solidFill>
            <a:srgbClr val="8FD9A8"/>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in</a:t>
            </a:r>
            <a:endParaRPr lang="en-US" sz="1050" dirty="0"/>
          </a:p>
        </p:txBody>
      </p:sp>
      <p:sp>
        <p:nvSpPr>
          <p:cNvPr id="22" name="lg_381"/>
          <p:cNvSpPr/>
          <p:nvPr/>
        </p:nvSpPr>
        <p:spPr>
          <a:xfrm>
            <a:off x="457200" y="2752344"/>
            <a:ext cx="1188720" cy="310896"/>
          </a:xfrm>
          <a:prstGeom prst="roundRect">
            <a:avLst>
              <a:gd name="adj" fmla="val 50000"/>
            </a:avLst>
          </a:prstGeom>
          <a:solidFill>
            <a:srgbClr val="CDBFF3"/>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on</a:t>
            </a:r>
            <a:endParaRPr lang="en-US" sz="1050" dirty="0"/>
          </a:p>
        </p:txBody>
      </p:sp>
      <p:sp>
        <p:nvSpPr>
          <p:cNvPr id="23" name="lg_382"/>
          <p:cNvSpPr/>
          <p:nvPr/>
        </p:nvSpPr>
        <p:spPr>
          <a:xfrm>
            <a:off x="1719072" y="2752344"/>
            <a:ext cx="1188720" cy="310896"/>
          </a:xfrm>
          <a:prstGeom prst="roundRect">
            <a:avLst>
              <a:gd name="adj" fmla="val 50000"/>
            </a:avLst>
          </a:prstGeom>
          <a:solidFill>
            <a:srgbClr val="FFB98A"/>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about</a:t>
            </a:r>
            <a:endParaRPr lang="en-US" sz="1050" dirty="0"/>
          </a:p>
        </p:txBody>
      </p:sp>
      <p:sp>
        <p:nvSpPr>
          <p:cNvPr id="24" name="sq_383"/>
          <p:cNvSpPr/>
          <p:nvPr/>
        </p:nvSpPr>
        <p:spPr>
          <a:xfrm>
            <a:off x="3246120" y="1417320"/>
            <a:ext cx="3840480" cy="347472"/>
          </a:xfrm>
          <a:prstGeom prst="roundRect">
            <a:avLst>
              <a:gd name="adj" fmla="val 2631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a  My brother is afraid ___ bats.</a:t>
            </a:r>
            <a:endParaRPr lang="en-US" sz="1200" dirty="0"/>
          </a:p>
        </p:txBody>
      </p:sp>
      <p:sp>
        <p:nvSpPr>
          <p:cNvPr id="25" name="R1_tag384"/>
          <p:cNvSpPr/>
          <p:nvPr/>
        </p:nvSpPr>
        <p:spPr>
          <a:xfrm>
            <a:off x="7178040" y="1417320"/>
            <a:ext cx="1691640" cy="347472"/>
          </a:xfrm>
          <a:prstGeom prst="roundRect">
            <a:avLst>
              <a:gd name="adj" fmla="val 65789"/>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of</a:t>
            </a:r>
            <a:endParaRPr lang="en-US" sz="1150" dirty="0"/>
          </a:p>
        </p:txBody>
      </p:sp>
      <p:sp>
        <p:nvSpPr>
          <p:cNvPr id="26" name="sq_385"/>
          <p:cNvSpPr/>
          <p:nvPr/>
        </p:nvSpPr>
        <p:spPr>
          <a:xfrm>
            <a:off x="3246120" y="1828800"/>
            <a:ext cx="3840480" cy="347472"/>
          </a:xfrm>
          <a:prstGeom prst="roundRect">
            <a:avLst>
              <a:gd name="adj" fmla="val 2631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b  I've never been good ___ sport.</a:t>
            </a:r>
            <a:endParaRPr lang="en-US" sz="1200" dirty="0"/>
          </a:p>
        </p:txBody>
      </p:sp>
      <p:sp>
        <p:nvSpPr>
          <p:cNvPr id="27" name="R2_tag386"/>
          <p:cNvSpPr/>
          <p:nvPr/>
        </p:nvSpPr>
        <p:spPr>
          <a:xfrm>
            <a:off x="7178040" y="1828800"/>
            <a:ext cx="1691640" cy="347472"/>
          </a:xfrm>
          <a:prstGeom prst="roundRect">
            <a:avLst>
              <a:gd name="adj" fmla="val 65789"/>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at</a:t>
            </a:r>
            <a:endParaRPr lang="en-US" sz="1150" dirty="0"/>
          </a:p>
        </p:txBody>
      </p:sp>
      <p:sp>
        <p:nvSpPr>
          <p:cNvPr id="28" name="sq_387"/>
          <p:cNvSpPr/>
          <p:nvPr/>
        </p:nvSpPr>
        <p:spPr>
          <a:xfrm>
            <a:off x="3246120" y="2240280"/>
            <a:ext cx="3840480" cy="347472"/>
          </a:xfrm>
          <a:prstGeom prst="roundRect">
            <a:avLst>
              <a:gd name="adj" fmla="val 2631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c  I'm fed up ___ sitting in this traffic jam.</a:t>
            </a:r>
            <a:endParaRPr lang="en-US" sz="1200" dirty="0"/>
          </a:p>
        </p:txBody>
      </p:sp>
      <p:sp>
        <p:nvSpPr>
          <p:cNvPr id="29" name="R3_tag388"/>
          <p:cNvSpPr/>
          <p:nvPr/>
        </p:nvSpPr>
        <p:spPr>
          <a:xfrm>
            <a:off x="7178040" y="2240280"/>
            <a:ext cx="1691640" cy="347472"/>
          </a:xfrm>
          <a:prstGeom prst="roundRect">
            <a:avLst>
              <a:gd name="adj" fmla="val 65789"/>
            </a:avLst>
          </a:prstGeom>
          <a:solidFill>
            <a:srgbClr val="FFD966"/>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with</a:t>
            </a:r>
            <a:endParaRPr lang="en-US" sz="1150" dirty="0"/>
          </a:p>
        </p:txBody>
      </p:sp>
      <p:sp>
        <p:nvSpPr>
          <p:cNvPr id="30" name="sq_389"/>
          <p:cNvSpPr/>
          <p:nvPr/>
        </p:nvSpPr>
        <p:spPr>
          <a:xfrm>
            <a:off x="3246120" y="2651760"/>
            <a:ext cx="3840480" cy="347472"/>
          </a:xfrm>
          <a:prstGeom prst="roundRect">
            <a:avLst>
              <a:gd name="adj" fmla="val 2631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d  My sister is very interested ___ astrology.</a:t>
            </a:r>
            <a:endParaRPr lang="en-US" sz="1200" dirty="0"/>
          </a:p>
        </p:txBody>
      </p:sp>
      <p:sp>
        <p:nvSpPr>
          <p:cNvPr id="31" name="R4_tag390"/>
          <p:cNvSpPr/>
          <p:nvPr/>
        </p:nvSpPr>
        <p:spPr>
          <a:xfrm>
            <a:off x="7178040" y="2651760"/>
            <a:ext cx="1691640" cy="347472"/>
          </a:xfrm>
          <a:prstGeom prst="roundRect">
            <a:avLst>
              <a:gd name="adj" fmla="val 65789"/>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in</a:t>
            </a:r>
            <a:endParaRPr lang="en-US" sz="1150" dirty="0"/>
          </a:p>
        </p:txBody>
      </p:sp>
      <p:sp>
        <p:nvSpPr>
          <p:cNvPr id="32" name="sq_391"/>
          <p:cNvSpPr/>
          <p:nvPr/>
        </p:nvSpPr>
        <p:spPr>
          <a:xfrm>
            <a:off x="3246120" y="3063240"/>
            <a:ext cx="3840480" cy="347472"/>
          </a:xfrm>
          <a:prstGeom prst="roundRect">
            <a:avLst>
              <a:gd name="adj" fmla="val 2631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e  She's very keen ___ cycling.</a:t>
            </a:r>
            <a:endParaRPr lang="en-US" sz="1200" dirty="0"/>
          </a:p>
        </p:txBody>
      </p:sp>
      <p:sp>
        <p:nvSpPr>
          <p:cNvPr id="33" name="R5_tag392"/>
          <p:cNvSpPr/>
          <p:nvPr/>
        </p:nvSpPr>
        <p:spPr>
          <a:xfrm>
            <a:off x="7178040" y="3063240"/>
            <a:ext cx="1691640" cy="347472"/>
          </a:xfrm>
          <a:prstGeom prst="roundRect">
            <a:avLst>
              <a:gd name="adj" fmla="val 65789"/>
            </a:avLst>
          </a:prstGeom>
          <a:solidFill>
            <a:srgbClr val="CDBFF3"/>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on</a:t>
            </a:r>
            <a:endParaRPr lang="en-US" sz="1150" dirty="0"/>
          </a:p>
        </p:txBody>
      </p:sp>
      <p:sp>
        <p:nvSpPr>
          <p:cNvPr id="34" name="sq_393"/>
          <p:cNvSpPr/>
          <p:nvPr/>
        </p:nvSpPr>
        <p:spPr>
          <a:xfrm>
            <a:off x="3246120" y="3474720"/>
            <a:ext cx="3840480" cy="347472"/>
          </a:xfrm>
          <a:prstGeom prst="roundRect">
            <a:avLst>
              <a:gd name="adj" fmla="val 2631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f  My dad was very proud ___ learning to ski.</a:t>
            </a:r>
            <a:endParaRPr lang="en-US" sz="1200" dirty="0"/>
          </a:p>
        </p:txBody>
      </p:sp>
      <p:sp>
        <p:nvSpPr>
          <p:cNvPr id="35" name="R6_tag394"/>
          <p:cNvSpPr/>
          <p:nvPr/>
        </p:nvSpPr>
        <p:spPr>
          <a:xfrm>
            <a:off x="7178040" y="3474720"/>
            <a:ext cx="1691640" cy="347472"/>
          </a:xfrm>
          <a:prstGeom prst="roundRect">
            <a:avLst>
              <a:gd name="adj" fmla="val 65789"/>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of</a:t>
            </a:r>
            <a:endParaRPr lang="en-US" sz="1150" dirty="0"/>
          </a:p>
        </p:txBody>
      </p:sp>
      <p:sp>
        <p:nvSpPr>
          <p:cNvPr id="36" name="sq_395"/>
          <p:cNvSpPr/>
          <p:nvPr/>
        </p:nvSpPr>
        <p:spPr>
          <a:xfrm>
            <a:off x="3246120" y="3886200"/>
            <a:ext cx="3840480" cy="347472"/>
          </a:xfrm>
          <a:prstGeom prst="roundRect">
            <a:avLst>
              <a:gd name="adj" fmla="val 2631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g  Rachel is worried ___ losing her job.</a:t>
            </a:r>
            <a:endParaRPr lang="en-US" sz="1200" dirty="0"/>
          </a:p>
        </p:txBody>
      </p:sp>
      <p:sp>
        <p:nvSpPr>
          <p:cNvPr id="37" name="R7_tag396"/>
          <p:cNvSpPr/>
          <p:nvPr/>
        </p:nvSpPr>
        <p:spPr>
          <a:xfrm>
            <a:off x="7178040" y="3886200"/>
            <a:ext cx="1691640" cy="347472"/>
          </a:xfrm>
          <a:prstGeom prst="roundRect">
            <a:avLst>
              <a:gd name="adj" fmla="val 65789"/>
            </a:avLst>
          </a:prstGeom>
          <a:solidFill>
            <a:srgbClr val="FFB98A"/>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about</a:t>
            </a:r>
            <a:endParaRPr lang="en-US" sz="1150" dirty="0"/>
          </a:p>
        </p:txBody>
      </p:sp>
      <p:sp>
        <p:nvSpPr>
          <p:cNvPr id="38" name="sq_397"/>
          <p:cNvSpPr/>
          <p:nvPr/>
        </p:nvSpPr>
        <p:spPr>
          <a:xfrm>
            <a:off x="3246120" y="4297680"/>
            <a:ext cx="3840480" cy="347472"/>
          </a:xfrm>
          <a:prstGeom prst="roundRect">
            <a:avLst>
              <a:gd name="adj" fmla="val 2631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h  I'm tired ___ walking. Let's stop.</a:t>
            </a:r>
            <a:endParaRPr lang="en-US" sz="1200" dirty="0"/>
          </a:p>
        </p:txBody>
      </p:sp>
      <p:sp>
        <p:nvSpPr>
          <p:cNvPr id="39" name="R8_tag398"/>
          <p:cNvSpPr/>
          <p:nvPr/>
        </p:nvSpPr>
        <p:spPr>
          <a:xfrm>
            <a:off x="7178040" y="4297680"/>
            <a:ext cx="1691640" cy="347472"/>
          </a:xfrm>
          <a:prstGeom prst="roundRect">
            <a:avLst>
              <a:gd name="adj" fmla="val 65789"/>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of</a:t>
            </a:r>
            <a:endParaRPr lang="en-US" sz="1150" dirty="0"/>
          </a:p>
        </p:txBody>
      </p:sp>
      <p:sp>
        <p:nvSpPr>
          <p:cNvPr id="40" name="pf_399"/>
          <p:cNvSpPr/>
          <p:nvPr/>
        </p:nvSpPr>
        <p:spPr>
          <a:xfrm rot="-120000">
            <a:off x="411480" y="3703320"/>
            <a:ext cx="2514600" cy="1051560"/>
          </a:xfrm>
          <a:prstGeom prst="roundRect">
            <a:avLst>
              <a:gd name="adj" fmla="val 1478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41" name="ph_400" descr="/home/claude/lls-course/v2/cache/3b2_fed_up_jpg_583x231_31.png">    </p:cNvPr>
          <p:cNvPicPr>
            <a:picLocks noChangeAspect="1"/>
          </p:cNvPicPr>
          <p:nvPr/>
        </p:nvPicPr>
        <p:blipFill>
          <a:blip r:embed="rId5"/>
          <a:stretch>
            <a:fillRect/>
          </a:stretch>
        </p:blipFill>
        <p:spPr>
          <a:xfrm rot="-120000">
            <a:off x="457200" y="3749040"/>
            <a:ext cx="2423160" cy="9601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4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400"/>
                                        <p:tgtEl>
                                          <p:spTgt spid="3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9"/>
                                        </p:tgtEl>
                                        <p:attrNameLst>
                                          <p:attrName>style.visibility</p:attrName>
                                        </p:attrNameLst>
                                      </p:cBhvr>
                                      <p:to>
                                        <p:strVal val="visible"/>
                                      </p:to>
                                    </p:set>
                                    <p:animEffect transition="in" filter="fade">
                                      <p:cBhvr>
                                        <p:cTn id="42"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01"/>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402" descr="/home/claude/lls-course/v2/assets/brush-yellow.png">    </p:cNvPr>
          <p:cNvPicPr>
            <a:picLocks noChangeAspect="1"/>
          </p:cNvPicPr>
          <p:nvPr/>
        </p:nvPicPr>
        <p:blipFill>
          <a:blip r:embed="rId2"/>
          <a:stretch>
            <a:fillRect/>
          </a:stretch>
        </p:blipFill>
        <p:spPr>
          <a:xfrm>
            <a:off x="1097280" y="146304"/>
            <a:ext cx="4348886" cy="621792"/>
          </a:xfrm>
          <a:prstGeom prst="rect">
            <a:avLst/>
          </a:prstGeom>
        </p:spPr>
      </p:pic>
      <p:sp>
        <p:nvSpPr>
          <p:cNvPr id="5" name="title_403"/>
          <p:cNvSpPr/>
          <p:nvPr/>
        </p:nvSpPr>
        <p:spPr>
          <a:xfrm>
            <a:off x="1261872" y="164592"/>
            <a:ext cx="407456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Prepositions in Italian</a:t>
            </a:r>
            <a:endParaRPr lang="en-US" sz="2500" dirty="0"/>
          </a:p>
        </p:txBody>
      </p:sp>
      <p:pic>
        <p:nvPicPr>
          <p:cNvPr id="6" name="brP_404"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405"/>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it in Italian. Then click!</a:t>
            </a:r>
            <a:endParaRPr lang="en-US" sz="1250" dirty="0"/>
          </a:p>
        </p:txBody>
      </p:sp>
      <p:sp>
        <p:nvSpPr>
          <p:cNvPr id="8" name="insIT_406"/>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Dillo in italiano. Poi clicca!</a:t>
            </a:r>
            <a:endParaRPr lang="en-US" sz="950" dirty="0"/>
          </a:p>
        </p:txBody>
      </p:sp>
      <p:sp>
        <p:nvSpPr>
          <p:cNvPr id="9" name="cmd_407"/>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0" name="meta_408"/>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sp>
        <p:nvSpPr>
          <p:cNvPr id="11" name="tag_409"/>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meaning</a:t>
            </a:r>
            <a:endParaRPr lang="en-US" sz="850" dirty="0"/>
          </a:p>
        </p:txBody>
      </p:sp>
      <p:pic>
        <p:nvPicPr>
          <p:cNvPr id="12" name="logo_41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41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3B-2 · Vocabulary · in Italian</a:t>
            </a:r>
            <a:endParaRPr lang="en-US" sz="800" dirty="0"/>
          </a:p>
        </p:txBody>
      </p:sp>
      <p:sp>
        <p:nvSpPr>
          <p:cNvPr id="14" name="cd_412"/>
          <p:cNvSpPr/>
          <p:nvPr/>
        </p:nvSpPr>
        <p:spPr>
          <a:xfrm>
            <a:off x="320040" y="141732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15" name="e_413"/>
          <p:cNvSpPr/>
          <p:nvPr/>
        </p:nvSpPr>
        <p:spPr>
          <a:xfrm>
            <a:off x="393192" y="152704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en_414"/>
          <p:cNvSpPr/>
          <p:nvPr/>
        </p:nvSpPr>
        <p:spPr>
          <a:xfrm>
            <a:off x="978408"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depend on</a:t>
            </a:r>
            <a:endParaRPr lang="en-US" sz="1200" dirty="0"/>
          </a:p>
        </p:txBody>
      </p:sp>
      <p:sp>
        <p:nvSpPr>
          <p:cNvPr id="17" name="R1_it415"/>
          <p:cNvSpPr/>
          <p:nvPr/>
        </p:nvSpPr>
        <p:spPr>
          <a:xfrm>
            <a:off x="978408"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dipendere da</a:t>
            </a:r>
            <a:endParaRPr lang="en-US" sz="1000" dirty="0"/>
          </a:p>
        </p:txBody>
      </p:sp>
      <p:sp>
        <p:nvSpPr>
          <p:cNvPr id="18" name="cd_416"/>
          <p:cNvSpPr/>
          <p:nvPr/>
        </p:nvSpPr>
        <p:spPr>
          <a:xfrm>
            <a:off x="2487168" y="141732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9" name="e_417"/>
          <p:cNvSpPr/>
          <p:nvPr/>
        </p:nvSpPr>
        <p:spPr>
          <a:xfrm>
            <a:off x="2560320" y="152704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0" name="en_418"/>
          <p:cNvSpPr/>
          <p:nvPr/>
        </p:nvSpPr>
        <p:spPr>
          <a:xfrm>
            <a:off x="3145536"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look forward to</a:t>
            </a:r>
            <a:endParaRPr lang="en-US" sz="1200" dirty="0"/>
          </a:p>
        </p:txBody>
      </p:sp>
      <p:sp>
        <p:nvSpPr>
          <p:cNvPr id="21" name="R1_it419"/>
          <p:cNvSpPr/>
          <p:nvPr/>
        </p:nvSpPr>
        <p:spPr>
          <a:xfrm>
            <a:off x="3145536"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non vedere l'ora di</a:t>
            </a:r>
            <a:endParaRPr lang="en-US" sz="1000" dirty="0"/>
          </a:p>
        </p:txBody>
      </p:sp>
      <p:sp>
        <p:nvSpPr>
          <p:cNvPr id="22" name="cd_420"/>
          <p:cNvSpPr/>
          <p:nvPr/>
        </p:nvSpPr>
        <p:spPr>
          <a:xfrm>
            <a:off x="4654296" y="141732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23" name="e_421"/>
          <p:cNvSpPr/>
          <p:nvPr/>
        </p:nvSpPr>
        <p:spPr>
          <a:xfrm>
            <a:off x="4727448" y="152704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4" name="en_422"/>
          <p:cNvSpPr/>
          <p:nvPr/>
        </p:nvSpPr>
        <p:spPr>
          <a:xfrm>
            <a:off x="5312664"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remind sb of</a:t>
            </a:r>
            <a:endParaRPr lang="en-US" sz="1200" dirty="0"/>
          </a:p>
        </p:txBody>
      </p:sp>
      <p:sp>
        <p:nvSpPr>
          <p:cNvPr id="25" name="R1_it423"/>
          <p:cNvSpPr/>
          <p:nvPr/>
        </p:nvSpPr>
        <p:spPr>
          <a:xfrm>
            <a:off x="5312664" y="1801368"/>
            <a:ext cx="1362456" cy="292608"/>
          </a:xfrm>
          <a:prstGeom prst="rect">
            <a:avLst/>
          </a:prstGeom>
          <a:noFill/>
          <a:ln/>
        </p:spPr>
        <p:txBody>
          <a:bodyPr wrap="square" lIns="0" tIns="0" rIns="0" bIns="0" rtlCol="0" anchor="ctr">
            <a:normAutofit/>
          </a:bodyPr>
          <a:lstStyle/>
          <a:p>
            <a:pPr indent="0" marL="0">
              <a:buNone/>
            </a:pPr>
            <a:r>
              <a:rPr lang="en-US" sz="850" i="1" dirty="0">
                <a:solidFill>
                  <a:srgbClr val="2EB872"/>
                </a:solidFill>
                <a:latin typeface="Segoe UI Semibold" pitchFamily="34" charset="0"/>
                <a:ea typeface="Segoe UI Semibold" pitchFamily="34" charset="-122"/>
                <a:cs typeface="Segoe UI Semibold" pitchFamily="34" charset="-120"/>
              </a:rPr>
              <a:t>far pensare a, ricordare</a:t>
            </a:r>
            <a:endParaRPr lang="en-US" sz="850" dirty="0"/>
          </a:p>
        </p:txBody>
      </p:sp>
      <p:sp>
        <p:nvSpPr>
          <p:cNvPr id="26" name="cd_424"/>
          <p:cNvSpPr/>
          <p:nvPr/>
        </p:nvSpPr>
        <p:spPr>
          <a:xfrm>
            <a:off x="6821424" y="141732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7" name="e_425"/>
          <p:cNvSpPr/>
          <p:nvPr/>
        </p:nvSpPr>
        <p:spPr>
          <a:xfrm>
            <a:off x="6894576" y="152704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en_426"/>
          <p:cNvSpPr/>
          <p:nvPr/>
        </p:nvSpPr>
        <p:spPr>
          <a:xfrm>
            <a:off x="7479792"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laugh at</a:t>
            </a:r>
            <a:endParaRPr lang="en-US" sz="1200" dirty="0"/>
          </a:p>
        </p:txBody>
      </p:sp>
      <p:sp>
        <p:nvSpPr>
          <p:cNvPr id="29" name="R1_it427"/>
          <p:cNvSpPr/>
          <p:nvPr/>
        </p:nvSpPr>
        <p:spPr>
          <a:xfrm>
            <a:off x="7479792" y="180136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ridere di, prendere in giro</a:t>
            </a:r>
            <a:endParaRPr lang="en-US" sz="800" dirty="0"/>
          </a:p>
        </p:txBody>
      </p:sp>
      <p:sp>
        <p:nvSpPr>
          <p:cNvPr id="30" name="cd_428"/>
          <p:cNvSpPr/>
          <p:nvPr/>
        </p:nvSpPr>
        <p:spPr>
          <a:xfrm>
            <a:off x="320040" y="224028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31" name="e_429"/>
          <p:cNvSpPr/>
          <p:nvPr/>
        </p:nvSpPr>
        <p:spPr>
          <a:xfrm>
            <a:off x="393192" y="235000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2" name="en_430"/>
          <p:cNvSpPr/>
          <p:nvPr/>
        </p:nvSpPr>
        <p:spPr>
          <a:xfrm>
            <a:off x="978408" y="2295144"/>
            <a:ext cx="1362456" cy="329184"/>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apologize to sb for</a:t>
            </a:r>
            <a:endParaRPr lang="en-US" sz="1100" dirty="0"/>
          </a:p>
        </p:txBody>
      </p:sp>
      <p:sp>
        <p:nvSpPr>
          <p:cNvPr id="33" name="R1_it431"/>
          <p:cNvSpPr/>
          <p:nvPr/>
        </p:nvSpPr>
        <p:spPr>
          <a:xfrm>
            <a:off x="978408"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scusarsi con qn per</a:t>
            </a:r>
            <a:endParaRPr lang="en-US" sz="1000" dirty="0"/>
          </a:p>
        </p:txBody>
      </p:sp>
      <p:sp>
        <p:nvSpPr>
          <p:cNvPr id="34" name="cd_432"/>
          <p:cNvSpPr/>
          <p:nvPr/>
        </p:nvSpPr>
        <p:spPr>
          <a:xfrm>
            <a:off x="2487168" y="224028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35" name="e_433"/>
          <p:cNvSpPr/>
          <p:nvPr/>
        </p:nvSpPr>
        <p:spPr>
          <a:xfrm>
            <a:off x="2560320" y="235000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6" name="en_434"/>
          <p:cNvSpPr/>
          <p:nvPr/>
        </p:nvSpPr>
        <p:spPr>
          <a:xfrm>
            <a:off x="3145536"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spend money on</a:t>
            </a:r>
            <a:endParaRPr lang="en-US" sz="1200" dirty="0"/>
          </a:p>
        </p:txBody>
      </p:sp>
      <p:sp>
        <p:nvSpPr>
          <p:cNvPr id="37" name="R1_it435"/>
          <p:cNvSpPr/>
          <p:nvPr/>
        </p:nvSpPr>
        <p:spPr>
          <a:xfrm>
            <a:off x="3145536" y="2624328"/>
            <a:ext cx="1362456" cy="292608"/>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spendere soldi in / per</a:t>
            </a:r>
            <a:endParaRPr lang="en-US" sz="900" dirty="0"/>
          </a:p>
        </p:txBody>
      </p:sp>
      <p:sp>
        <p:nvSpPr>
          <p:cNvPr id="38" name="cd_436"/>
          <p:cNvSpPr/>
          <p:nvPr/>
        </p:nvSpPr>
        <p:spPr>
          <a:xfrm>
            <a:off x="4654296" y="224028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39" name="e_437"/>
          <p:cNvSpPr/>
          <p:nvPr/>
        </p:nvSpPr>
        <p:spPr>
          <a:xfrm>
            <a:off x="4727448" y="235000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0" name="en_438"/>
          <p:cNvSpPr/>
          <p:nvPr/>
        </p:nvSpPr>
        <p:spPr>
          <a:xfrm>
            <a:off x="5312664"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afraid of</a:t>
            </a:r>
            <a:endParaRPr lang="en-US" sz="1200" dirty="0"/>
          </a:p>
        </p:txBody>
      </p:sp>
      <p:sp>
        <p:nvSpPr>
          <p:cNvPr id="41" name="R1_it439"/>
          <p:cNvSpPr/>
          <p:nvPr/>
        </p:nvSpPr>
        <p:spPr>
          <a:xfrm>
            <a:off x="5312664"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aver paura di</a:t>
            </a:r>
            <a:endParaRPr lang="en-US" sz="1000" dirty="0"/>
          </a:p>
        </p:txBody>
      </p:sp>
      <p:sp>
        <p:nvSpPr>
          <p:cNvPr id="42" name="cd_440"/>
          <p:cNvSpPr/>
          <p:nvPr/>
        </p:nvSpPr>
        <p:spPr>
          <a:xfrm>
            <a:off x="6821424" y="224028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43" name="e_441"/>
          <p:cNvSpPr/>
          <p:nvPr/>
        </p:nvSpPr>
        <p:spPr>
          <a:xfrm>
            <a:off x="6894576" y="235000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4" name="en_442"/>
          <p:cNvSpPr/>
          <p:nvPr/>
        </p:nvSpPr>
        <p:spPr>
          <a:xfrm>
            <a:off x="7479792"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good at</a:t>
            </a:r>
            <a:endParaRPr lang="en-US" sz="1200" dirty="0"/>
          </a:p>
        </p:txBody>
      </p:sp>
      <p:sp>
        <p:nvSpPr>
          <p:cNvPr id="45" name="R1_it443"/>
          <p:cNvSpPr/>
          <p:nvPr/>
        </p:nvSpPr>
        <p:spPr>
          <a:xfrm>
            <a:off x="7479792"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bravo in</a:t>
            </a:r>
            <a:endParaRPr lang="en-US" sz="1000" dirty="0"/>
          </a:p>
        </p:txBody>
      </p:sp>
      <p:sp>
        <p:nvSpPr>
          <p:cNvPr id="46" name="cd_444"/>
          <p:cNvSpPr/>
          <p:nvPr/>
        </p:nvSpPr>
        <p:spPr>
          <a:xfrm>
            <a:off x="320040" y="306324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47" name="e_445"/>
          <p:cNvSpPr/>
          <p:nvPr/>
        </p:nvSpPr>
        <p:spPr>
          <a:xfrm>
            <a:off x="393192" y="317296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8" name="en_446"/>
          <p:cNvSpPr/>
          <p:nvPr/>
        </p:nvSpPr>
        <p:spPr>
          <a:xfrm>
            <a:off x="978408"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interested in</a:t>
            </a:r>
            <a:endParaRPr lang="en-US" sz="1200" dirty="0"/>
          </a:p>
        </p:txBody>
      </p:sp>
      <p:sp>
        <p:nvSpPr>
          <p:cNvPr id="49" name="R1_it447"/>
          <p:cNvSpPr/>
          <p:nvPr/>
        </p:nvSpPr>
        <p:spPr>
          <a:xfrm>
            <a:off x="978408"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interessato a</a:t>
            </a:r>
            <a:endParaRPr lang="en-US" sz="1000" dirty="0"/>
          </a:p>
        </p:txBody>
      </p:sp>
      <p:sp>
        <p:nvSpPr>
          <p:cNvPr id="50" name="cd_448"/>
          <p:cNvSpPr/>
          <p:nvPr/>
        </p:nvSpPr>
        <p:spPr>
          <a:xfrm>
            <a:off x="2487168" y="306324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51" name="e_449"/>
          <p:cNvSpPr/>
          <p:nvPr/>
        </p:nvSpPr>
        <p:spPr>
          <a:xfrm>
            <a:off x="2560320" y="317296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2" name="en_450"/>
          <p:cNvSpPr/>
          <p:nvPr/>
        </p:nvSpPr>
        <p:spPr>
          <a:xfrm>
            <a:off x="3145536"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keen on</a:t>
            </a:r>
            <a:endParaRPr lang="en-US" sz="1200" dirty="0"/>
          </a:p>
        </p:txBody>
      </p:sp>
      <p:sp>
        <p:nvSpPr>
          <p:cNvPr id="53" name="R1_it451"/>
          <p:cNvSpPr/>
          <p:nvPr/>
        </p:nvSpPr>
        <p:spPr>
          <a:xfrm>
            <a:off x="3145536"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appassionato di</a:t>
            </a:r>
            <a:endParaRPr lang="en-US" sz="1000" dirty="0"/>
          </a:p>
        </p:txBody>
      </p:sp>
      <p:sp>
        <p:nvSpPr>
          <p:cNvPr id="54" name="cd_452"/>
          <p:cNvSpPr/>
          <p:nvPr/>
        </p:nvSpPr>
        <p:spPr>
          <a:xfrm>
            <a:off x="4654296" y="306324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55" name="e_453"/>
          <p:cNvSpPr/>
          <p:nvPr/>
        </p:nvSpPr>
        <p:spPr>
          <a:xfrm>
            <a:off x="4727448" y="317296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6" name="en_454"/>
          <p:cNvSpPr/>
          <p:nvPr/>
        </p:nvSpPr>
        <p:spPr>
          <a:xfrm>
            <a:off x="5312664"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fed up with</a:t>
            </a:r>
            <a:endParaRPr lang="en-US" sz="1200" dirty="0"/>
          </a:p>
        </p:txBody>
      </p:sp>
      <p:sp>
        <p:nvSpPr>
          <p:cNvPr id="57" name="R1_it455"/>
          <p:cNvSpPr/>
          <p:nvPr/>
        </p:nvSpPr>
        <p:spPr>
          <a:xfrm>
            <a:off x="5312664"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stufo di</a:t>
            </a:r>
            <a:endParaRPr lang="en-US" sz="1000" dirty="0"/>
          </a:p>
        </p:txBody>
      </p:sp>
      <p:sp>
        <p:nvSpPr>
          <p:cNvPr id="58" name="cd_456"/>
          <p:cNvSpPr/>
          <p:nvPr/>
        </p:nvSpPr>
        <p:spPr>
          <a:xfrm>
            <a:off x="6821424" y="306324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59" name="e_457"/>
          <p:cNvSpPr/>
          <p:nvPr/>
        </p:nvSpPr>
        <p:spPr>
          <a:xfrm>
            <a:off x="6894576" y="317296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60" name="en_458"/>
          <p:cNvSpPr/>
          <p:nvPr/>
        </p:nvSpPr>
        <p:spPr>
          <a:xfrm>
            <a:off x="7479792"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famous for</a:t>
            </a:r>
            <a:endParaRPr lang="en-US" sz="1200" dirty="0"/>
          </a:p>
        </p:txBody>
      </p:sp>
      <p:sp>
        <p:nvSpPr>
          <p:cNvPr id="61" name="R1_it459"/>
          <p:cNvSpPr/>
          <p:nvPr/>
        </p:nvSpPr>
        <p:spPr>
          <a:xfrm>
            <a:off x="7479792"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famoso per</a:t>
            </a:r>
            <a:endParaRPr lang="en-US" sz="1000" dirty="0"/>
          </a:p>
        </p:txBody>
      </p:sp>
      <p:sp>
        <p:nvSpPr>
          <p:cNvPr id="62" name="R1_wc460"/>
          <p:cNvSpPr/>
          <p:nvPr/>
        </p:nvSpPr>
        <p:spPr>
          <a:xfrm>
            <a:off x="320040" y="3931920"/>
            <a:ext cx="8549640" cy="457200"/>
          </a:xfrm>
          <a:prstGeom prst="roundRect">
            <a:avLst>
              <a:gd name="adj" fmla="val 28000"/>
            </a:avLst>
          </a:prstGeom>
          <a:solidFill>
            <a:srgbClr val="FFE3EE"/>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63" name="R1_w461"/>
          <p:cNvSpPr/>
          <p:nvPr/>
        </p:nvSpPr>
        <p:spPr>
          <a:xfrm>
            <a:off x="457200" y="3931920"/>
            <a:ext cx="8321040" cy="45720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Watch out!  ✗ depend from → depend ON  ·  ✗ interested of → interested IN  ·  ✗ married with → married TO  ·  + -ing: I'm tired of walking</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400"/>
                                        <p:tgtEl>
                                          <p:spTgt spid="25"/>
                                        </p:tgtEl>
                                      </p:cBhvr>
                                    </p:animEffect>
                                  </p:childTnLst>
                                </p:cTn>
                              </p:par>
                              <p:par>
                                <p:cTn id="14" presetID="10" presetClass="entr" presetSubtype="0" fill="hold"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400"/>
                                        <p:tgtEl>
                                          <p:spTgt spid="29"/>
                                        </p:tgtEl>
                                      </p:cBhvr>
                                    </p:animEffect>
                                  </p:childTnLst>
                                </p:cTn>
                              </p:par>
                              <p:par>
                                <p:cTn id="17" presetID="10" presetClass="entr" presetSubtype="0"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400"/>
                                        <p:tgtEl>
                                          <p:spTgt spid="33"/>
                                        </p:tgtEl>
                                      </p:cBhvr>
                                    </p:animEffect>
                                  </p:childTnLst>
                                </p:cTn>
                              </p:par>
                              <p:par>
                                <p:cTn id="20" presetID="10" presetClass="entr" presetSubtype="0" fill="hold"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400"/>
                                        <p:tgtEl>
                                          <p:spTgt spid="37"/>
                                        </p:tgtEl>
                                      </p:cBhvr>
                                    </p:animEffect>
                                  </p:childTnLst>
                                </p:cTn>
                              </p:par>
                              <p:par>
                                <p:cTn id="23" presetID="10"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animEffect transition="in" filter="fade">
                                      <p:cBhvr>
                                        <p:cTn id="25" dur="400"/>
                                        <p:tgtEl>
                                          <p:spTgt spid="41"/>
                                        </p:tgtEl>
                                      </p:cBhvr>
                                    </p:animEffect>
                                  </p:childTnLst>
                                </p:cTn>
                              </p:par>
                              <p:par>
                                <p:cTn id="26" presetID="10" presetClass="entr" presetSubtype="0" fill="hold" nodeType="with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fade">
                                      <p:cBhvr>
                                        <p:cTn id="28" dur="400"/>
                                        <p:tgtEl>
                                          <p:spTgt spid="45"/>
                                        </p:tgtEl>
                                      </p:cBhvr>
                                    </p:animEffect>
                                  </p:childTnLst>
                                </p:cTn>
                              </p:par>
                              <p:par>
                                <p:cTn id="29" presetID="10" presetClass="entr" presetSubtype="0" fill="hold" nodeType="with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fade">
                                      <p:cBhvr>
                                        <p:cTn id="31" dur="400"/>
                                        <p:tgtEl>
                                          <p:spTgt spid="49"/>
                                        </p:tgtEl>
                                      </p:cBhvr>
                                    </p:animEffect>
                                  </p:childTnLst>
                                </p:cTn>
                              </p:par>
                              <p:par>
                                <p:cTn id="32" presetID="10" presetClass="entr" presetSubtype="0" fill="hold" nodeType="withEffect">
                                  <p:stCondLst>
                                    <p:cond delay="0"/>
                                  </p:stCondLst>
                                  <p:childTnLst>
                                    <p:set>
                                      <p:cBhvr>
                                        <p:cTn id="33" dur="1" fill="hold">
                                          <p:stCondLst>
                                            <p:cond delay="0"/>
                                          </p:stCondLst>
                                        </p:cTn>
                                        <p:tgtEl>
                                          <p:spTgt spid="53"/>
                                        </p:tgtEl>
                                        <p:attrNameLst>
                                          <p:attrName>style.visibility</p:attrName>
                                        </p:attrNameLst>
                                      </p:cBhvr>
                                      <p:to>
                                        <p:strVal val="visible"/>
                                      </p:to>
                                    </p:set>
                                    <p:animEffect transition="in" filter="fade">
                                      <p:cBhvr>
                                        <p:cTn id="34" dur="400"/>
                                        <p:tgtEl>
                                          <p:spTgt spid="53"/>
                                        </p:tgtEl>
                                      </p:cBhvr>
                                    </p:animEffect>
                                  </p:childTnLst>
                                </p:cTn>
                              </p:par>
                              <p:par>
                                <p:cTn id="35" presetID="10" presetClass="entr" presetSubtype="0" fill="hold" nodeType="with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fade">
                                      <p:cBhvr>
                                        <p:cTn id="37" dur="400"/>
                                        <p:tgtEl>
                                          <p:spTgt spid="57"/>
                                        </p:tgtEl>
                                      </p:cBhvr>
                                    </p:animEffect>
                                  </p:childTnLst>
                                </p:cTn>
                              </p:par>
                              <p:par>
                                <p:cTn id="38" presetID="10" presetClass="entr" presetSubtype="0" fill="hold" nodeType="withEffect">
                                  <p:stCondLst>
                                    <p:cond delay="0"/>
                                  </p:stCondLst>
                                  <p:childTnLst>
                                    <p:set>
                                      <p:cBhvr>
                                        <p:cTn id="39" dur="1" fill="hold">
                                          <p:stCondLst>
                                            <p:cond delay="0"/>
                                          </p:stCondLst>
                                        </p:cTn>
                                        <p:tgtEl>
                                          <p:spTgt spid="61"/>
                                        </p:tgtEl>
                                        <p:attrNameLst>
                                          <p:attrName>style.visibility</p:attrName>
                                        </p:attrNameLst>
                                      </p:cBhvr>
                                      <p:to>
                                        <p:strVal val="visible"/>
                                      </p:to>
                                    </p:set>
                                    <p:animEffect transition="in" filter="fade">
                                      <p:cBhvr>
                                        <p:cTn id="40" dur="400"/>
                                        <p:tgtEl>
                                          <p:spTgt spid="61"/>
                                        </p:tgtEl>
                                      </p:cBhvr>
                                    </p:animEffect>
                                  </p:childTnLst>
                                </p:cTn>
                              </p:par>
                              <p:par>
                                <p:cTn id="41" presetID="10" presetClass="entr" presetSubtype="0" fill="hold" nodeType="withEffect">
                                  <p:stCondLst>
                                    <p:cond delay="0"/>
                                  </p:stCondLst>
                                  <p:childTnLst>
                                    <p:set>
                                      <p:cBhvr>
                                        <p:cTn id="42" dur="1" fill="hold">
                                          <p:stCondLst>
                                            <p:cond delay="0"/>
                                          </p:stCondLst>
                                        </p:cTn>
                                        <p:tgtEl>
                                          <p:spTgt spid="62"/>
                                        </p:tgtEl>
                                        <p:attrNameLst>
                                          <p:attrName>style.visibility</p:attrName>
                                        </p:attrNameLst>
                                      </p:cBhvr>
                                      <p:to>
                                        <p:strVal val="visible"/>
                                      </p:to>
                                    </p:set>
                                    <p:animEffect transition="in" filter="fade">
                                      <p:cBhvr>
                                        <p:cTn id="43" dur="400"/>
                                        <p:tgtEl>
                                          <p:spTgt spid="62"/>
                                        </p:tgtEl>
                                      </p:cBhvr>
                                    </p:animEffect>
                                  </p:childTnLst>
                                </p:cTn>
                              </p:par>
                              <p:par>
                                <p:cTn id="44" presetID="10" presetClass="entr" presetSubtype="0" fill="hold" nodeType="withEffect">
                                  <p:stCondLst>
                                    <p:cond delay="0"/>
                                  </p:stCondLst>
                                  <p:childTnLst>
                                    <p:set>
                                      <p:cBhvr>
                                        <p:cTn id="45" dur="1" fill="hold">
                                          <p:stCondLst>
                                            <p:cond delay="0"/>
                                          </p:stCondLst>
                                        </p:cTn>
                                        <p:tgtEl>
                                          <p:spTgt spid="63"/>
                                        </p:tgtEl>
                                        <p:attrNameLst>
                                          <p:attrName>style.visibility</p:attrName>
                                        </p:attrNameLst>
                                      </p:cBhvr>
                                      <p:to>
                                        <p:strVal val="visible"/>
                                      </p:to>
                                    </p:set>
                                    <p:animEffect transition="in" filter="fade">
                                      <p:cBhvr>
                                        <p:cTn id="46" dur="4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62"/>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463" descr="/home/claude/lls-course/v2/assets/brush-yellow.png">    </p:cNvPr>
          <p:cNvPicPr>
            <a:picLocks noChangeAspect="1"/>
          </p:cNvPicPr>
          <p:nvPr/>
        </p:nvPicPr>
        <p:blipFill>
          <a:blip r:embed="rId2"/>
          <a:stretch>
            <a:fillRect/>
          </a:stretch>
        </p:blipFill>
        <p:spPr>
          <a:xfrm>
            <a:off x="1097280" y="146304"/>
            <a:ext cx="1989734" cy="621792"/>
          </a:xfrm>
          <a:prstGeom prst="rect">
            <a:avLst/>
          </a:prstGeom>
        </p:spPr>
      </p:pic>
      <p:sp>
        <p:nvSpPr>
          <p:cNvPr id="5" name="title_464"/>
          <p:cNvSpPr/>
          <p:nvPr/>
        </p:nvSpPr>
        <p:spPr>
          <a:xfrm>
            <a:off x="1261872" y="164592"/>
            <a:ext cx="1715414"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Mime it!</a:t>
            </a:r>
            <a:endParaRPr lang="en-US" sz="2500" dirty="0"/>
          </a:p>
        </p:txBody>
      </p:sp>
      <p:pic>
        <p:nvPicPr>
          <p:cNvPr id="6" name="brP_465" descr="/home/claude/lls-course/v2/assets/brush-pink.png">    </p:cNvPr>
          <p:cNvPicPr>
            <a:picLocks noChangeAspect="1"/>
          </p:cNvPicPr>
          <p:nvPr/>
        </p:nvPicPr>
        <p:blipFill>
          <a:blip r:embed="rId3"/>
          <a:stretch>
            <a:fillRect/>
          </a:stretch>
        </p:blipFill>
        <p:spPr>
          <a:xfrm>
            <a:off x="1207008" y="731520"/>
            <a:ext cx="4206240" cy="402336"/>
          </a:xfrm>
          <a:prstGeom prst="rect">
            <a:avLst/>
          </a:prstGeom>
        </p:spPr>
      </p:pic>
      <p:sp>
        <p:nvSpPr>
          <p:cNvPr id="7" name="ins_466"/>
          <p:cNvSpPr/>
          <p:nvPr/>
        </p:nvSpPr>
        <p:spPr>
          <a:xfrm>
            <a:off x="1353312" y="731520"/>
            <a:ext cx="395020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Mime it! Your partner says the sentence.</a:t>
            </a:r>
            <a:endParaRPr lang="en-US" sz="1250" dirty="0"/>
          </a:p>
        </p:txBody>
      </p:sp>
      <p:sp>
        <p:nvSpPr>
          <p:cNvPr id="8" name="insIT_467"/>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Mimalo! Il compagno dice la frase.</a:t>
            </a:r>
            <a:endParaRPr lang="en-US" sz="950" dirty="0"/>
          </a:p>
        </p:txBody>
      </p:sp>
      <p:sp>
        <p:nvSpPr>
          <p:cNvPr id="9" name="cmd_468"/>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469"/>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470"/>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2" name="logo_47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47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3B-2 · Vocabulary game</a:t>
            </a:r>
            <a:endParaRPr lang="en-US" sz="800" dirty="0"/>
          </a:p>
        </p:txBody>
      </p:sp>
      <p:sp>
        <p:nvSpPr>
          <p:cNvPr id="14" name="cd_473"/>
          <p:cNvSpPr/>
          <p:nvPr/>
        </p:nvSpPr>
        <p:spPr>
          <a:xfrm>
            <a:off x="320040" y="1417320"/>
            <a:ext cx="2697480" cy="2057400"/>
          </a:xfrm>
          <a:prstGeom prst="roundRect">
            <a:avLst>
              <a:gd name="adj" fmla="val 6222"/>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474"/>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475"/>
          <p:cNvSpPr/>
          <p:nvPr/>
        </p:nvSpPr>
        <p:spPr>
          <a:xfrm>
            <a:off x="886968" y="1508760"/>
            <a:ext cx="2057400" cy="365760"/>
          </a:xfrm>
          <a:prstGeom prst="rect">
            <a:avLst/>
          </a:prstGeom>
          <a:noFill/>
          <a:ln/>
        </p:spPr>
        <p:txBody>
          <a:bodyPr wrap="square" lIns="0" tIns="0" rIns="0" bIns="0" rtlCol="0" anchor="ctr"/>
          <a:lstStyle/>
          <a:p>
            <a:pPr indent="0" marL="0">
              <a:buNone/>
            </a:pPr>
            <a:r>
              <a:rPr lang="en-US" sz="1500" dirty="0">
                <a:solidFill>
                  <a:srgbClr val="1B2559"/>
                </a:solidFill>
                <a:latin typeface="Arial Rounded MT Bold" pitchFamily="34" charset="0"/>
                <a:ea typeface="Arial Rounded MT Bold" pitchFamily="34" charset="-122"/>
                <a:cs typeface="Arial Rounded MT Bold" pitchFamily="34" charset="-120"/>
              </a:rPr>
              <a:t>How to play</a:t>
            </a:r>
            <a:endParaRPr lang="en-US" sz="1500" dirty="0"/>
          </a:p>
        </p:txBody>
      </p:sp>
      <p:sp>
        <p:nvSpPr>
          <p:cNvPr id="17" name="il_476"/>
          <p:cNvSpPr/>
          <p:nvPr/>
        </p:nvSpPr>
        <p:spPr>
          <a:xfrm>
            <a:off x="886968" y="1892808"/>
            <a:ext cx="2039112" cy="1508760"/>
          </a:xfrm>
          <a:prstGeom prst="rect">
            <a:avLst/>
          </a:prstGeom>
          <a:noFill/>
          <a:ln/>
        </p:spPr>
        <p:txBody>
          <a:bodyPr wrap="square" lIns="0" tIns="0" rIns="0" bIns="0" rtlCol="0" anchor="t">
            <a:normAutofit/>
          </a:bodyPr>
          <a:lstStyle/>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A looks at the screen. B turns around.</a:t>
            </a:r>
            <a:endParaRPr lang="en-US" sz="1150" dirty="0"/>
          </a:p>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A mimes it. No words!</a:t>
            </a:r>
            <a:endParaRPr lang="en-US" sz="1150" dirty="0"/>
          </a:p>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B says: "You're afraid of…!" Then swap.</a:t>
            </a:r>
            <a:endParaRPr lang="en-US" sz="1150" dirty="0"/>
          </a:p>
        </p:txBody>
      </p:sp>
      <p:sp>
        <p:nvSpPr>
          <p:cNvPr id="18" name="pf_477"/>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478" descr="/home/claude/lls-course/v2/cache/3b2_afraid_dark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0" name="rl_479"/>
          <p:cNvSpPr/>
          <p:nvPr/>
        </p:nvSpPr>
        <p:spPr>
          <a:xfrm>
            <a:off x="3246120" y="1417320"/>
            <a:ext cx="2651760" cy="310896"/>
          </a:xfrm>
          <a:prstGeom prst="roundRect">
            <a:avLst>
              <a:gd name="adj" fmla="val 50000"/>
            </a:avLst>
          </a:prstGeom>
          <a:solidFill>
            <a:srgbClr val="E8508F"/>
          </a:solidFill>
          <a:ln/>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ROUND 1 · A mimes</a:t>
            </a:r>
            <a:endParaRPr lang="en-US" sz="1100" dirty="0"/>
          </a:p>
        </p:txBody>
      </p:sp>
      <p:sp>
        <p:nvSpPr>
          <p:cNvPr id="21" name="R1_w480"/>
          <p:cNvSpPr/>
          <p:nvPr/>
        </p:nvSpPr>
        <p:spPr>
          <a:xfrm>
            <a:off x="3246120" y="185623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afraid of (spiders)</a:t>
            </a:r>
            <a:endParaRPr lang="en-US" sz="1700" dirty="0"/>
          </a:p>
        </p:txBody>
      </p:sp>
      <p:sp>
        <p:nvSpPr>
          <p:cNvPr id="22" name="R2_w481"/>
          <p:cNvSpPr/>
          <p:nvPr/>
        </p:nvSpPr>
        <p:spPr>
          <a:xfrm>
            <a:off x="3246120" y="258775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laugh at (a joke)</a:t>
            </a:r>
            <a:endParaRPr lang="en-US" sz="1700" dirty="0"/>
          </a:p>
        </p:txBody>
      </p:sp>
      <p:sp>
        <p:nvSpPr>
          <p:cNvPr id="23" name="R3_w482"/>
          <p:cNvSpPr/>
          <p:nvPr/>
        </p:nvSpPr>
        <p:spPr>
          <a:xfrm>
            <a:off x="3246120" y="331927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argue with (your brother)</a:t>
            </a:r>
            <a:endParaRPr lang="en-US" sz="1700" dirty="0"/>
          </a:p>
        </p:txBody>
      </p:sp>
      <p:sp>
        <p:nvSpPr>
          <p:cNvPr id="24" name="R4_w483"/>
          <p:cNvSpPr/>
          <p:nvPr/>
        </p:nvSpPr>
        <p:spPr>
          <a:xfrm>
            <a:off x="3246120" y="405079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proud of (your exam)</a:t>
            </a:r>
            <a:endParaRPr lang="en-US" sz="1700" dirty="0"/>
          </a:p>
        </p:txBody>
      </p:sp>
      <p:sp>
        <p:nvSpPr>
          <p:cNvPr id="25" name="rl_484"/>
          <p:cNvSpPr/>
          <p:nvPr/>
        </p:nvSpPr>
        <p:spPr>
          <a:xfrm>
            <a:off x="6080760" y="1417320"/>
            <a:ext cx="2651760" cy="310896"/>
          </a:xfrm>
          <a:prstGeom prst="roundRect">
            <a:avLst>
              <a:gd name="adj" fmla="val 50000"/>
            </a:avLst>
          </a:prstGeom>
          <a:solidFill>
            <a:srgbClr val="2F8DE4"/>
          </a:solidFill>
          <a:ln/>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ROUND 2 · B mimes</a:t>
            </a:r>
            <a:endParaRPr lang="en-US" sz="1100" dirty="0"/>
          </a:p>
        </p:txBody>
      </p:sp>
      <p:sp>
        <p:nvSpPr>
          <p:cNvPr id="26" name="R5_w485"/>
          <p:cNvSpPr/>
          <p:nvPr/>
        </p:nvSpPr>
        <p:spPr>
          <a:xfrm>
            <a:off x="6080760" y="185623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fed up with (homework)</a:t>
            </a:r>
            <a:endParaRPr lang="en-US" sz="1700" dirty="0"/>
          </a:p>
        </p:txBody>
      </p:sp>
      <p:sp>
        <p:nvSpPr>
          <p:cNvPr id="27" name="R6_w486"/>
          <p:cNvSpPr/>
          <p:nvPr/>
        </p:nvSpPr>
        <p:spPr>
          <a:xfrm>
            <a:off x="6080760" y="258775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apologize for (being late)</a:t>
            </a:r>
            <a:endParaRPr lang="en-US" sz="1700" dirty="0"/>
          </a:p>
        </p:txBody>
      </p:sp>
      <p:sp>
        <p:nvSpPr>
          <p:cNvPr id="28" name="R7_w487"/>
          <p:cNvSpPr/>
          <p:nvPr/>
        </p:nvSpPr>
        <p:spPr>
          <a:xfrm>
            <a:off x="6080760" y="331927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keen on (football)</a:t>
            </a:r>
            <a:endParaRPr lang="en-US" sz="1700" dirty="0"/>
          </a:p>
        </p:txBody>
      </p:sp>
      <p:sp>
        <p:nvSpPr>
          <p:cNvPr id="29" name="R8_w488"/>
          <p:cNvSpPr/>
          <p:nvPr/>
        </p:nvSpPr>
        <p:spPr>
          <a:xfrm>
            <a:off x="6080760" y="405079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looking forward to (holidays)</a:t>
            </a:r>
            <a:endParaRPr lang="en-US" sz="17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4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4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400"/>
                                        <p:tgtEl>
                                          <p:spTgt spid="2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4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89"/>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490"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491"/>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Finish it!</a:t>
            </a:r>
            <a:endParaRPr lang="en-US" sz="2500" dirty="0"/>
          </a:p>
        </p:txBody>
      </p:sp>
      <p:pic>
        <p:nvPicPr>
          <p:cNvPr id="6" name="brP_492" descr="/home/claude/lls-course/v2/assets/brush-pink.png">    </p:cNvPr>
          <p:cNvPicPr>
            <a:picLocks noChangeAspect="1"/>
          </p:cNvPicPr>
          <p:nvPr/>
        </p:nvPicPr>
        <p:blipFill>
          <a:blip r:embed="rId3"/>
          <a:stretch>
            <a:fillRect/>
          </a:stretch>
        </p:blipFill>
        <p:spPr>
          <a:xfrm>
            <a:off x="1207008" y="731520"/>
            <a:ext cx="4119372" cy="402336"/>
          </a:xfrm>
          <a:prstGeom prst="rect">
            <a:avLst/>
          </a:prstGeom>
        </p:spPr>
      </p:pic>
      <p:sp>
        <p:nvSpPr>
          <p:cNvPr id="7" name="ins_493"/>
          <p:cNvSpPr/>
          <p:nvPr/>
        </p:nvSpPr>
        <p:spPr>
          <a:xfrm>
            <a:off x="1353312" y="731520"/>
            <a:ext cx="386334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Finish it: preposition + a true ending!</a:t>
            </a:r>
            <a:endParaRPr lang="en-US" sz="1250" dirty="0"/>
          </a:p>
        </p:txBody>
      </p:sp>
      <p:sp>
        <p:nvSpPr>
          <p:cNvPr id="8" name="insIT_49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Finiscila: preposizione + un finale vero!</a:t>
            </a:r>
            <a:endParaRPr lang="en-US" sz="950" dirty="0"/>
          </a:p>
        </p:txBody>
      </p:sp>
      <p:sp>
        <p:nvSpPr>
          <p:cNvPr id="9" name="cmd_495"/>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cmd_496"/>
          <p:cNvSpPr/>
          <p:nvPr/>
        </p:nvSpPr>
        <p:spPr>
          <a:xfrm>
            <a:off x="6510528" y="566928"/>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1" name="meta_497"/>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teams</a:t>
            </a:r>
            <a:endParaRPr lang="en-US" sz="950" dirty="0"/>
          </a:p>
        </p:txBody>
      </p:sp>
      <p:sp>
        <p:nvSpPr>
          <p:cNvPr id="12" name="tag_498"/>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3" name="logo_49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50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3B-2 · Speaking game</a:t>
            </a:r>
            <a:endParaRPr lang="en-US" sz="800" dirty="0"/>
          </a:p>
        </p:txBody>
      </p:sp>
      <p:sp>
        <p:nvSpPr>
          <p:cNvPr id="15" name="cd_501"/>
          <p:cNvSpPr/>
          <p:nvPr/>
        </p:nvSpPr>
        <p:spPr>
          <a:xfrm>
            <a:off x="320040" y="1417320"/>
            <a:ext cx="2697480" cy="2057400"/>
          </a:xfrm>
          <a:prstGeom prst="roundRect">
            <a:avLst>
              <a:gd name="adj" fmla="val 6222"/>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502"/>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503"/>
          <p:cNvSpPr/>
          <p:nvPr/>
        </p:nvSpPr>
        <p:spPr>
          <a:xfrm>
            <a:off x="886968" y="1508760"/>
            <a:ext cx="2057400" cy="365760"/>
          </a:xfrm>
          <a:prstGeom prst="rect">
            <a:avLst/>
          </a:prstGeom>
          <a:noFill/>
          <a:ln/>
        </p:spPr>
        <p:txBody>
          <a:bodyPr wrap="square" lIns="0" tIns="0" rIns="0" bIns="0" rtlCol="0" anchor="ctr"/>
          <a:lstStyle/>
          <a:p>
            <a:pPr indent="0" marL="0">
              <a:buNone/>
            </a:pPr>
            <a:r>
              <a:rPr lang="en-US" sz="1500" dirty="0">
                <a:solidFill>
                  <a:srgbClr val="1B2559"/>
                </a:solidFill>
                <a:latin typeface="Arial Rounded MT Bold" pitchFamily="34" charset="0"/>
                <a:ea typeface="Arial Rounded MT Bold" pitchFamily="34" charset="-122"/>
                <a:cs typeface="Arial Rounded MT Bold" pitchFamily="34" charset="-120"/>
              </a:rPr>
              <a:t>How to play</a:t>
            </a:r>
            <a:endParaRPr lang="en-US" sz="1500" dirty="0"/>
          </a:p>
        </p:txBody>
      </p:sp>
      <p:sp>
        <p:nvSpPr>
          <p:cNvPr id="18" name="il_504"/>
          <p:cNvSpPr/>
          <p:nvPr/>
        </p:nvSpPr>
        <p:spPr>
          <a:xfrm>
            <a:off x="886968" y="1892808"/>
            <a:ext cx="2039112" cy="1508760"/>
          </a:xfrm>
          <a:prstGeom prst="rect">
            <a:avLst/>
          </a:prstGeom>
          <a:noFill/>
          <a:ln/>
        </p:spPr>
        <p:txBody>
          <a:bodyPr wrap="square" lIns="0" tIns="0" rIns="0" bIns="0" rtlCol="0" anchor="t">
            <a:normAutofit/>
          </a:bodyPr>
          <a:lstStyle/>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Read the beginning.</a:t>
            </a:r>
            <a:endParaRPr lang="en-US" sz="1150" dirty="0"/>
          </a:p>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Teams: finish it in 10 seconds.</a:t>
            </a:r>
            <a:endParaRPr lang="en-US" sz="1150" dirty="0"/>
          </a:p>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Right preposition = 1 point.</a:t>
            </a:r>
            <a:endParaRPr lang="en-US" sz="1150" dirty="0"/>
          </a:p>
        </p:txBody>
      </p:sp>
      <p:sp>
        <p:nvSpPr>
          <p:cNvPr id="19" name="pf_505"/>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506" descr="/home/claude/lls-course/v2/cache/3b2_proud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1" name="bd_507"/>
          <p:cNvSpPr/>
          <p:nvPr/>
        </p:nvSpPr>
        <p:spPr>
          <a:xfrm>
            <a:off x="3246120" y="149123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2" name="gq_508"/>
          <p:cNvSpPr/>
          <p:nvPr/>
        </p:nvSpPr>
        <p:spPr>
          <a:xfrm>
            <a:off x="3657600" y="141732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When I was a child, I was afraid…</a:t>
            </a:r>
            <a:endParaRPr lang="en-US" sz="1100" dirty="0"/>
          </a:p>
        </p:txBody>
      </p:sp>
      <p:sp>
        <p:nvSpPr>
          <p:cNvPr id="23" name="R1_chip509"/>
          <p:cNvSpPr/>
          <p:nvPr/>
        </p:nvSpPr>
        <p:spPr>
          <a:xfrm>
            <a:off x="6263640" y="14173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…of the dark / of dogs</a:t>
            </a:r>
            <a:endParaRPr lang="en-US" sz="1100" dirty="0"/>
          </a:p>
        </p:txBody>
      </p:sp>
      <p:sp>
        <p:nvSpPr>
          <p:cNvPr id="24" name="bd_510"/>
          <p:cNvSpPr/>
          <p:nvPr/>
        </p:nvSpPr>
        <p:spPr>
          <a:xfrm>
            <a:off x="3246120" y="203225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5" name="gq_511"/>
          <p:cNvSpPr/>
          <p:nvPr/>
        </p:nvSpPr>
        <p:spPr>
          <a:xfrm>
            <a:off x="3657600" y="195834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I've never been very good…</a:t>
            </a:r>
            <a:endParaRPr lang="en-US" sz="1100" dirty="0"/>
          </a:p>
        </p:txBody>
      </p:sp>
      <p:sp>
        <p:nvSpPr>
          <p:cNvPr id="26" name="R2_chip512"/>
          <p:cNvSpPr/>
          <p:nvPr/>
        </p:nvSpPr>
        <p:spPr>
          <a:xfrm>
            <a:off x="6263640" y="195834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…at maths / at singing</a:t>
            </a:r>
            <a:endParaRPr lang="en-US" sz="1100" dirty="0"/>
          </a:p>
        </p:txBody>
      </p:sp>
      <p:sp>
        <p:nvSpPr>
          <p:cNvPr id="27" name="bd_513"/>
          <p:cNvSpPr/>
          <p:nvPr/>
        </p:nvSpPr>
        <p:spPr>
          <a:xfrm>
            <a:off x="3246120" y="257327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8" name="gq_514"/>
          <p:cNvSpPr/>
          <p:nvPr/>
        </p:nvSpPr>
        <p:spPr>
          <a:xfrm>
            <a:off x="3657600" y="2499360"/>
            <a:ext cx="2514600" cy="477012"/>
          </a:xfrm>
          <a:prstGeom prst="roundRect">
            <a:avLst>
              <a:gd name="adj" fmla="val 19169"/>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I'm really fed up…</a:t>
            </a:r>
            <a:endParaRPr lang="en-US" sz="1100" dirty="0"/>
          </a:p>
        </p:txBody>
      </p:sp>
      <p:sp>
        <p:nvSpPr>
          <p:cNvPr id="29" name="R3_chip515"/>
          <p:cNvSpPr/>
          <p:nvPr/>
        </p:nvSpPr>
        <p:spPr>
          <a:xfrm>
            <a:off x="6263640" y="249936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…with homework / with the rain</a:t>
            </a:r>
            <a:endParaRPr lang="en-US" sz="1100" dirty="0"/>
          </a:p>
        </p:txBody>
      </p:sp>
      <p:sp>
        <p:nvSpPr>
          <p:cNvPr id="30" name="bd_516"/>
          <p:cNvSpPr/>
          <p:nvPr/>
        </p:nvSpPr>
        <p:spPr>
          <a:xfrm>
            <a:off x="3246120" y="311429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1" name="gq_517"/>
          <p:cNvSpPr/>
          <p:nvPr/>
        </p:nvSpPr>
        <p:spPr>
          <a:xfrm>
            <a:off x="3657600" y="3040380"/>
            <a:ext cx="2514600" cy="477012"/>
          </a:xfrm>
          <a:prstGeom prst="roundRect">
            <a:avLst>
              <a:gd name="adj" fmla="val 19169"/>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My grandparents are very proud…</a:t>
            </a:r>
            <a:endParaRPr lang="en-US" sz="1100" dirty="0"/>
          </a:p>
        </p:txBody>
      </p:sp>
      <p:sp>
        <p:nvSpPr>
          <p:cNvPr id="32" name="R4_chip518"/>
          <p:cNvSpPr/>
          <p:nvPr/>
        </p:nvSpPr>
        <p:spPr>
          <a:xfrm>
            <a:off x="6263640" y="304038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…of me / of my cousin</a:t>
            </a:r>
            <a:endParaRPr lang="en-US" sz="1100" dirty="0"/>
          </a:p>
        </p:txBody>
      </p:sp>
      <p:sp>
        <p:nvSpPr>
          <p:cNvPr id="33" name="bd_519"/>
          <p:cNvSpPr/>
          <p:nvPr/>
        </p:nvSpPr>
        <p:spPr>
          <a:xfrm>
            <a:off x="3246120" y="365531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4" name="gq_520"/>
          <p:cNvSpPr/>
          <p:nvPr/>
        </p:nvSpPr>
        <p:spPr>
          <a:xfrm>
            <a:off x="3657600" y="358140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I'd like to spend more money…</a:t>
            </a:r>
            <a:endParaRPr lang="en-US" sz="1100" dirty="0"/>
          </a:p>
        </p:txBody>
      </p:sp>
      <p:sp>
        <p:nvSpPr>
          <p:cNvPr id="35" name="R5_chip521"/>
          <p:cNvSpPr/>
          <p:nvPr/>
        </p:nvSpPr>
        <p:spPr>
          <a:xfrm>
            <a:off x="6263640" y="358140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…on clothes / on video games</a:t>
            </a:r>
            <a:endParaRPr lang="en-US" sz="1100" dirty="0"/>
          </a:p>
        </p:txBody>
      </p:sp>
      <p:sp>
        <p:nvSpPr>
          <p:cNvPr id="36" name="bd_522"/>
          <p:cNvSpPr/>
          <p:nvPr/>
        </p:nvSpPr>
        <p:spPr>
          <a:xfrm>
            <a:off x="3246120" y="419633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7" name="gq_523"/>
          <p:cNvSpPr/>
          <p:nvPr/>
        </p:nvSpPr>
        <p:spPr>
          <a:xfrm>
            <a:off x="3657600" y="412242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This song reminds me…</a:t>
            </a:r>
            <a:endParaRPr lang="en-US" sz="1100" dirty="0"/>
          </a:p>
        </p:txBody>
      </p:sp>
      <p:sp>
        <p:nvSpPr>
          <p:cNvPr id="38" name="R6_chip524"/>
          <p:cNvSpPr/>
          <p:nvPr/>
        </p:nvSpPr>
        <p:spPr>
          <a:xfrm>
            <a:off x="6263640" y="41224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…of last summer</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25"/>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16</a:t>
            </a:r>
            <a:endParaRPr lang="en-US" sz="2200" dirty="0"/>
          </a:p>
        </p:txBody>
      </p:sp>
      <p:pic>
        <p:nvPicPr>
          <p:cNvPr id="4" name="brY_526" descr="/home/claude/lls-course/v2/assets/brush-yellow.png">    </p:cNvPr>
          <p:cNvPicPr>
            <a:picLocks noChangeAspect="1"/>
          </p:cNvPicPr>
          <p:nvPr/>
        </p:nvPicPr>
        <p:blipFill>
          <a:blip r:embed="rId2"/>
          <a:stretch>
            <a:fillRect/>
          </a:stretch>
        </p:blipFill>
        <p:spPr>
          <a:xfrm>
            <a:off x="1097280" y="146304"/>
            <a:ext cx="4191610" cy="621792"/>
          </a:xfrm>
          <a:prstGeom prst="rect">
            <a:avLst/>
          </a:prstGeom>
        </p:spPr>
      </p:pic>
      <p:sp>
        <p:nvSpPr>
          <p:cNvPr id="5" name="title_527"/>
          <p:cNvSpPr/>
          <p:nvPr/>
        </p:nvSpPr>
        <p:spPr>
          <a:xfrm>
            <a:off x="1261872" y="164592"/>
            <a:ext cx="391729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Complete the questions</a:t>
            </a:r>
            <a:endParaRPr lang="en-US" sz="2500" dirty="0"/>
          </a:p>
        </p:txBody>
      </p:sp>
      <p:pic>
        <p:nvPicPr>
          <p:cNvPr id="6" name="brP_528"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529"/>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Complete the questions. Then listen.</a:t>
            </a:r>
            <a:endParaRPr lang="en-US" sz="1250" dirty="0"/>
          </a:p>
        </p:txBody>
      </p:sp>
      <p:sp>
        <p:nvSpPr>
          <p:cNvPr id="8" name="insIT_530"/>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Completa le domande. Poi ascolta.</a:t>
            </a:r>
            <a:endParaRPr lang="en-US" sz="950" dirty="0"/>
          </a:p>
        </p:txBody>
      </p:sp>
      <p:sp>
        <p:nvSpPr>
          <p:cNvPr id="9" name="cmd_531"/>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0" name="cmd_532"/>
          <p:cNvSpPr/>
          <p:nvPr/>
        </p:nvSpPr>
        <p:spPr>
          <a:xfrm>
            <a:off x="6510528" y="566928"/>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1" name="meta_533"/>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pairs</a:t>
            </a:r>
            <a:endParaRPr lang="en-US" sz="950" dirty="0"/>
          </a:p>
        </p:txBody>
      </p:sp>
      <p:sp>
        <p:nvSpPr>
          <p:cNvPr id="12" name="tag_534"/>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detail</a:t>
            </a:r>
            <a:endParaRPr lang="en-US" sz="850" dirty="0"/>
          </a:p>
        </p:txBody>
      </p:sp>
      <p:pic>
        <p:nvPicPr>
          <p:cNvPr id="13" name="logo_53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53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3B-2 · Vocabulary · questions   ·   📖 SB p.33 · 5c, 5d · audio 3.27</a:t>
            </a:r>
            <a:endParaRPr lang="en-US" sz="800" dirty="0"/>
          </a:p>
        </p:txBody>
      </p:sp>
      <p:sp>
        <p:nvSpPr>
          <p:cNvPr id="15" name="ap_537"/>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3.27  ·  pause, then repeat</a:t>
            </a:r>
            <a:endParaRPr lang="en-US" sz="1100" dirty="0"/>
          </a:p>
        </p:txBody>
      </p:sp>
      <p:sp>
        <p:nvSpPr>
          <p:cNvPr id="16" name="ah_538"/>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9" name="pf_539"/>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540" descr="/home/claude/lls-course/v2/cache/3b2_just_a_minute_jpg_627x407_31.png">    </p:cNvPr>
          <p:cNvPicPr>
            <a:picLocks noChangeAspect="1"/>
          </p:cNvPicPr>
          <p:nvPr/>
        </p:nvPicPr>
        <p:blipFill>
          <a:blip r:embed="rId11"/>
          <a:stretch>
            <a:fillRect/>
          </a:stretch>
        </p:blipFill>
        <p:spPr>
          <a:xfrm rot="-90000">
            <a:off x="457200" y="2103120"/>
            <a:ext cx="2606040" cy="1691640"/>
          </a:xfrm>
          <a:prstGeom prst="rect">
            <a:avLst/>
          </a:prstGeom>
        </p:spPr>
      </p:pic>
      <p:sp>
        <p:nvSpPr>
          <p:cNvPr id="21" name="cd_541"/>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2" name="ii_542"/>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ih_543"/>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4" name="il_544"/>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5" name="gq_545"/>
          <p:cNvSpPr/>
          <p:nvPr/>
        </p:nvSpPr>
        <p:spPr>
          <a:xfrm>
            <a:off x="3383280" y="1417320"/>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With friends of the same sex, what do you usually talk ___?</a:t>
            </a:r>
            <a:endParaRPr lang="en-US" sz="1200" dirty="0"/>
          </a:p>
        </p:txBody>
      </p:sp>
      <p:sp>
        <p:nvSpPr>
          <p:cNvPr id="26" name="R1_chip546"/>
          <p:cNvSpPr/>
          <p:nvPr/>
        </p:nvSpPr>
        <p:spPr>
          <a:xfrm>
            <a:off x="6812280" y="141732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about</a:t>
            </a:r>
            <a:endParaRPr lang="en-US" sz="1200" dirty="0"/>
          </a:p>
        </p:txBody>
      </p:sp>
      <p:sp>
        <p:nvSpPr>
          <p:cNvPr id="27" name="gq_547"/>
          <p:cNvSpPr/>
          <p:nvPr/>
        </p:nvSpPr>
        <p:spPr>
          <a:xfrm>
            <a:off x="3383280" y="1938528"/>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Are there any sports or games that you're good ___?</a:t>
            </a:r>
            <a:endParaRPr lang="en-US" sz="1200" dirty="0"/>
          </a:p>
        </p:txBody>
      </p:sp>
      <p:sp>
        <p:nvSpPr>
          <p:cNvPr id="28" name="R2_chip548"/>
          <p:cNvSpPr/>
          <p:nvPr/>
        </p:nvSpPr>
        <p:spPr>
          <a:xfrm>
            <a:off x="6812280" y="1938528"/>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at</a:t>
            </a:r>
            <a:endParaRPr lang="en-US" sz="1200" dirty="0"/>
          </a:p>
        </p:txBody>
      </p:sp>
      <p:sp>
        <p:nvSpPr>
          <p:cNvPr id="29" name="gq_549"/>
          <p:cNvSpPr/>
          <p:nvPr/>
        </p:nvSpPr>
        <p:spPr>
          <a:xfrm>
            <a:off x="3383280" y="2459736"/>
            <a:ext cx="333756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3  Is there anything you're really looking forward ___?</a:t>
            </a:r>
            <a:endParaRPr lang="en-US" sz="1200" dirty="0"/>
          </a:p>
        </p:txBody>
      </p:sp>
      <p:sp>
        <p:nvSpPr>
          <p:cNvPr id="30" name="R3_chip550"/>
          <p:cNvSpPr/>
          <p:nvPr/>
        </p:nvSpPr>
        <p:spPr>
          <a:xfrm>
            <a:off x="6812280" y="2459736"/>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to</a:t>
            </a:r>
            <a:endParaRPr lang="en-US" sz="1200" dirty="0"/>
          </a:p>
        </p:txBody>
      </p:sp>
      <p:sp>
        <p:nvSpPr>
          <p:cNvPr id="31" name="gq_551"/>
          <p:cNvSpPr/>
          <p:nvPr/>
        </p:nvSpPr>
        <p:spPr>
          <a:xfrm>
            <a:off x="3383280" y="2980944"/>
            <a:ext cx="333756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6  Are there any animals or insects that you're afraid ___?</a:t>
            </a:r>
            <a:endParaRPr lang="en-US" sz="1200" dirty="0"/>
          </a:p>
        </p:txBody>
      </p:sp>
      <p:sp>
        <p:nvSpPr>
          <p:cNvPr id="32" name="R4_chip552"/>
          <p:cNvSpPr/>
          <p:nvPr/>
        </p:nvSpPr>
        <p:spPr>
          <a:xfrm>
            <a:off x="6812280" y="2980944"/>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of</a:t>
            </a:r>
            <a:endParaRPr lang="en-US" sz="1200" dirty="0"/>
          </a:p>
        </p:txBody>
      </p:sp>
      <p:sp>
        <p:nvSpPr>
          <p:cNvPr id="33" name="gq_553"/>
          <p:cNvSpPr/>
          <p:nvPr/>
        </p:nvSpPr>
        <p:spPr>
          <a:xfrm>
            <a:off x="3383280" y="3502152"/>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7  What's your town or region famous ___?</a:t>
            </a:r>
            <a:endParaRPr lang="en-US" sz="1200" dirty="0"/>
          </a:p>
        </p:txBody>
      </p:sp>
      <p:sp>
        <p:nvSpPr>
          <p:cNvPr id="34" name="R5_chip554"/>
          <p:cNvSpPr/>
          <p:nvPr/>
        </p:nvSpPr>
        <p:spPr>
          <a:xfrm>
            <a:off x="6812280" y="3502152"/>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for</a:t>
            </a:r>
            <a:endParaRPr lang="en-US" sz="1200" dirty="0"/>
          </a:p>
        </p:txBody>
      </p:sp>
      <p:sp>
        <p:nvSpPr>
          <p:cNvPr id="35" name="gq_555"/>
          <p:cNvSpPr/>
          <p:nvPr/>
        </p:nvSpPr>
        <p:spPr>
          <a:xfrm>
            <a:off x="3383280" y="4023360"/>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12  What do you think success in an exam depends ___?</a:t>
            </a:r>
            <a:endParaRPr lang="en-US" sz="1200" dirty="0"/>
          </a:p>
        </p:txBody>
      </p:sp>
      <p:sp>
        <p:nvSpPr>
          <p:cNvPr id="36" name="R6_chip556"/>
          <p:cNvSpPr/>
          <p:nvPr/>
        </p:nvSpPr>
        <p:spPr>
          <a:xfrm>
            <a:off x="6812280" y="402336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on</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17"/>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17"/>
                                        </p:tgtEl>
                                      </p:cBhvr>
                                    </p:cmd>
                                  </p:childTnLst>
                                </p:cTn>
                              </p:par>
                            </p:childTnLst>
                          </p:cTn>
                        </p:par>
                      </p:childTnLst>
                    </p:cTn>
                  </p:par>
                </p:childTnLst>
              </p:cTn>
              <p:nextCondLst>
                <p:cond evt="onClick" delay="0">
                  <p:tgtEl>
                    <p:spTgt spid="17"/>
                  </p:tgtEl>
                </p:cond>
              </p:nextCondLst>
            </p:seq>
            <p:seq concurrent="1" nextAc="seek">
              <p:cTn id="38" restart="whenNotActive" fill="hold" evtFilter="cancelBubble" nodeType="interactiveSeq">
                <p:stCondLst>
                  <p:cond evt="onClick" delay="0">
                    <p:tgtEl>
                      <p:spTgt spid="18"/>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18"/>
                                        </p:tgtEl>
                                      </p:cBhvr>
                                    </p:cmd>
                                  </p:childTnLst>
                                </p:cTn>
                              </p:par>
                            </p:childTnLst>
                          </p:cTn>
                        </p:par>
                      </p:childTnLst>
                    </p:cTn>
                  </p:par>
                </p:childTnLst>
              </p:cTn>
              <p:nextCondLst>
                <p:cond evt="onClick" delay="0">
                  <p:tgtEl>
                    <p:spTgt spid="18"/>
                  </p:tgtEl>
                </p:cond>
              </p:nextCondLst>
            </p:seq>
            <p:audio>
              <p:cMediaNode vol="80000">
                <p:cTn id="43" fill="hold" display="0">
                  <p:stCondLst>
                    <p:cond delay="indefinite"/>
                  </p:stCondLst>
                  <p:endCondLst>
                    <p:cond evt="onStopAudio" delay="0">
                      <p:tgtEl>
                        <p:sldTgt/>
                      </p:tgtEl>
                    </p:cond>
                  </p:endCondLst>
                </p:cTn>
                <p:tgtEl>
                  <p:spTgt spid="17"/>
                </p:tgtEl>
              </p:cMediaNode>
            </p:audio>
            <p:audio>
              <p:cMediaNode vol="80000">
                <p:cTn id="44" fill="hold" display="0">
                  <p:stCondLst>
                    <p:cond delay="indefinite"/>
                  </p:stCondLst>
                  <p:endCondLst>
                    <p:cond evt="onStopAudio" delay="0">
                      <p:tgtEl>
                        <p:sldTgt/>
                      </p:tgtEl>
                    </p:cond>
                  </p:endCondLst>
                </p:cTn>
                <p:tgtEl>
                  <p:spTgt spid="18"/>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57"/>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17</a:t>
            </a:r>
            <a:endParaRPr lang="en-US" sz="2200" dirty="0"/>
          </a:p>
        </p:txBody>
      </p:sp>
      <p:pic>
        <p:nvPicPr>
          <p:cNvPr id="4" name="brY_558"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559"/>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Just a minute!</a:t>
            </a:r>
            <a:endParaRPr lang="en-US" sz="2500" dirty="0"/>
          </a:p>
        </p:txBody>
      </p:sp>
      <p:pic>
        <p:nvPicPr>
          <p:cNvPr id="6" name="brP_560"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561"/>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Talk for 30 seconds. Don't stop!</a:t>
            </a:r>
            <a:endParaRPr lang="en-US" sz="1250" dirty="0"/>
          </a:p>
        </p:txBody>
      </p:sp>
      <p:sp>
        <p:nvSpPr>
          <p:cNvPr id="8" name="insIT_56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Parla per 30 secondi. Non fermarti!</a:t>
            </a:r>
            <a:endParaRPr lang="en-US" sz="950" dirty="0"/>
          </a:p>
        </p:txBody>
      </p:sp>
      <p:sp>
        <p:nvSpPr>
          <p:cNvPr id="9" name="cmd_563"/>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cmd_564"/>
          <p:cNvSpPr/>
          <p:nvPr/>
        </p:nvSpPr>
        <p:spPr>
          <a:xfrm>
            <a:off x="6510528" y="566928"/>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1" name="meta_565"/>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groups</a:t>
            </a:r>
            <a:endParaRPr lang="en-US" sz="950" dirty="0"/>
          </a:p>
        </p:txBody>
      </p:sp>
      <p:sp>
        <p:nvSpPr>
          <p:cNvPr id="12" name="tag_566"/>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3" name="logo_56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56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3B-2 · Speaking game · fluency   ·   📖 SB p.33 · 5d (speaking)</a:t>
            </a:r>
            <a:endParaRPr lang="en-US" sz="800" dirty="0"/>
          </a:p>
        </p:txBody>
      </p:sp>
      <p:sp>
        <p:nvSpPr>
          <p:cNvPr id="15" name="cd_569"/>
          <p:cNvSpPr/>
          <p:nvPr/>
        </p:nvSpPr>
        <p:spPr>
          <a:xfrm>
            <a:off x="320040" y="1417320"/>
            <a:ext cx="2697480" cy="2057400"/>
          </a:xfrm>
          <a:prstGeom prst="roundRect">
            <a:avLst>
              <a:gd name="adj" fmla="val 6222"/>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570"/>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571"/>
          <p:cNvSpPr/>
          <p:nvPr/>
        </p:nvSpPr>
        <p:spPr>
          <a:xfrm>
            <a:off x="886968" y="1508760"/>
            <a:ext cx="2057400" cy="365760"/>
          </a:xfrm>
          <a:prstGeom prst="rect">
            <a:avLst/>
          </a:prstGeom>
          <a:noFill/>
          <a:ln/>
        </p:spPr>
        <p:txBody>
          <a:bodyPr wrap="square" lIns="0" tIns="0" rIns="0" bIns="0" rtlCol="0" anchor="ctr"/>
          <a:lstStyle/>
          <a:p>
            <a:pPr indent="0" marL="0">
              <a:buNone/>
            </a:pPr>
            <a:r>
              <a:rPr lang="en-US" sz="1500" dirty="0">
                <a:solidFill>
                  <a:srgbClr val="1B2559"/>
                </a:solidFill>
                <a:latin typeface="Arial Rounded MT Bold" pitchFamily="34" charset="0"/>
                <a:ea typeface="Arial Rounded MT Bold" pitchFamily="34" charset="-122"/>
                <a:cs typeface="Arial Rounded MT Bold" pitchFamily="34" charset="-120"/>
              </a:rPr>
              <a:t>How to play</a:t>
            </a:r>
            <a:endParaRPr lang="en-US" sz="1500" dirty="0"/>
          </a:p>
        </p:txBody>
      </p:sp>
      <p:sp>
        <p:nvSpPr>
          <p:cNvPr id="18" name="il_572"/>
          <p:cNvSpPr/>
          <p:nvPr/>
        </p:nvSpPr>
        <p:spPr>
          <a:xfrm>
            <a:off x="886968" y="1892808"/>
            <a:ext cx="2039112" cy="1508760"/>
          </a:xfrm>
          <a:prstGeom prst="rect">
            <a:avLst/>
          </a:prstGeom>
          <a:noFill/>
          <a:ln/>
        </p:spPr>
        <p:txBody>
          <a:bodyPr wrap="square" lIns="0" tIns="0" rIns="0" bIns="0" rtlCol="0" anchor="t">
            <a:normAutofit/>
          </a:bodyPr>
          <a:lstStyle/>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Groups of 3: A answers a question for 30 seconds.</a:t>
            </a:r>
            <a:endParaRPr lang="en-US" sz="1150" dirty="0"/>
          </a:p>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B times it. C counts the prepositions.</a:t>
            </a:r>
            <a:endParaRPr lang="en-US" sz="1150" dirty="0"/>
          </a:p>
          <a:p>
            <a:pPr marL="177800" indent="-177800">
              <a:spcAft>
                <a:spcPts val="200"/>
              </a:spcAft>
              <a:buSzPct val="100000"/>
              <a:buFont typeface="+mj-lt"/>
              <a:buAutoNum type="arabicPeriod" startAt="1"/>
            </a:pPr>
            <a:r>
              <a:rPr lang="en-US" sz="1150" dirty="0">
                <a:solidFill>
                  <a:srgbClr val="1B2559"/>
                </a:solidFill>
                <a:latin typeface="Segoe UI" pitchFamily="34" charset="0"/>
                <a:ea typeface="Segoe UI" pitchFamily="34" charset="-122"/>
                <a:cs typeface="Segoe UI" pitchFamily="34" charset="-120"/>
              </a:rPr>
              <a:t>30 seconds = 2 points + 1 per preposition. Swap!</a:t>
            </a:r>
            <a:endParaRPr lang="en-US" sz="1150" dirty="0"/>
          </a:p>
        </p:txBody>
      </p:sp>
      <p:sp>
        <p:nvSpPr>
          <p:cNvPr id="19" name="pf_573"/>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574" descr="/home/claude/lls-course/v2/cache/3b2_just_a_minute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1" name="bd_575"/>
          <p:cNvSpPr/>
          <p:nvPr/>
        </p:nvSpPr>
        <p:spPr>
          <a:xfrm>
            <a:off x="3246120" y="149123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2" name="gq_576"/>
          <p:cNvSpPr/>
          <p:nvPr/>
        </p:nvSpPr>
        <p:spPr>
          <a:xfrm>
            <a:off x="3657600" y="141732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What do you usually talk about with your friends?</a:t>
            </a:r>
            <a:endParaRPr lang="en-US" sz="1100" dirty="0"/>
          </a:p>
        </p:txBody>
      </p:sp>
      <p:sp>
        <p:nvSpPr>
          <p:cNvPr id="23" name="R1_chip577"/>
          <p:cNvSpPr/>
          <p:nvPr/>
        </p:nvSpPr>
        <p:spPr>
          <a:xfrm>
            <a:off x="6263640" y="14173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We usually talk about football and…</a:t>
            </a:r>
            <a:endParaRPr lang="en-US" sz="1100" dirty="0"/>
          </a:p>
        </p:txBody>
      </p:sp>
      <p:sp>
        <p:nvSpPr>
          <p:cNvPr id="24" name="bd_578"/>
          <p:cNvSpPr/>
          <p:nvPr/>
        </p:nvSpPr>
        <p:spPr>
          <a:xfrm>
            <a:off x="3246120" y="203225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5" name="gq_579"/>
          <p:cNvSpPr/>
          <p:nvPr/>
        </p:nvSpPr>
        <p:spPr>
          <a:xfrm>
            <a:off x="3657600" y="195834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Is there anything you're looking forward to?</a:t>
            </a:r>
            <a:endParaRPr lang="en-US" sz="1100" dirty="0"/>
          </a:p>
        </p:txBody>
      </p:sp>
      <p:sp>
        <p:nvSpPr>
          <p:cNvPr id="26" name="R2_chip580"/>
          <p:cNvSpPr/>
          <p:nvPr/>
        </p:nvSpPr>
        <p:spPr>
          <a:xfrm>
            <a:off x="6263640" y="195834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I'm really looking forward to the summer, because…</a:t>
            </a:r>
            <a:endParaRPr lang="en-US" sz="1100" dirty="0"/>
          </a:p>
        </p:txBody>
      </p:sp>
      <p:sp>
        <p:nvSpPr>
          <p:cNvPr id="27" name="bd_581"/>
          <p:cNvSpPr/>
          <p:nvPr/>
        </p:nvSpPr>
        <p:spPr>
          <a:xfrm>
            <a:off x="3246120" y="257327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8" name="gq_582"/>
          <p:cNvSpPr/>
          <p:nvPr/>
        </p:nvSpPr>
        <p:spPr>
          <a:xfrm>
            <a:off x="3657600" y="2499360"/>
            <a:ext cx="2514600" cy="477012"/>
          </a:xfrm>
          <a:prstGeom prst="roundRect">
            <a:avLst>
              <a:gd name="adj" fmla="val 19169"/>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What's Bagheria famous for?</a:t>
            </a:r>
            <a:endParaRPr lang="en-US" sz="1100" dirty="0"/>
          </a:p>
        </p:txBody>
      </p:sp>
      <p:sp>
        <p:nvSpPr>
          <p:cNvPr id="29" name="R3_chip583"/>
          <p:cNvSpPr/>
          <p:nvPr/>
        </p:nvSpPr>
        <p:spPr>
          <a:xfrm>
            <a:off x="6263640" y="249936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Bagheria is famous for its villas and…</a:t>
            </a:r>
            <a:endParaRPr lang="en-US" sz="1100" dirty="0"/>
          </a:p>
        </p:txBody>
      </p:sp>
      <p:sp>
        <p:nvSpPr>
          <p:cNvPr id="30" name="bd_584"/>
          <p:cNvSpPr/>
          <p:nvPr/>
        </p:nvSpPr>
        <p:spPr>
          <a:xfrm>
            <a:off x="3246120" y="311429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1" name="gq_585"/>
          <p:cNvSpPr/>
          <p:nvPr/>
        </p:nvSpPr>
        <p:spPr>
          <a:xfrm>
            <a:off x="3657600" y="3040380"/>
            <a:ext cx="2514600" cy="477012"/>
          </a:xfrm>
          <a:prstGeom prst="roundRect">
            <a:avLst>
              <a:gd name="adj" fmla="val 19169"/>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Are you good at any sports or games?</a:t>
            </a:r>
            <a:endParaRPr lang="en-US" sz="1100" dirty="0"/>
          </a:p>
        </p:txBody>
      </p:sp>
      <p:sp>
        <p:nvSpPr>
          <p:cNvPr id="32" name="R4_chip586"/>
          <p:cNvSpPr/>
          <p:nvPr/>
        </p:nvSpPr>
        <p:spPr>
          <a:xfrm>
            <a:off x="6263640" y="304038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I'm quite good at volleyball, but I'm not keen on…</a:t>
            </a:r>
            <a:endParaRPr lang="en-US" sz="1100" dirty="0"/>
          </a:p>
        </p:txBody>
      </p:sp>
      <p:sp>
        <p:nvSpPr>
          <p:cNvPr id="33" name="bd_587"/>
          <p:cNvSpPr/>
          <p:nvPr/>
        </p:nvSpPr>
        <p:spPr>
          <a:xfrm>
            <a:off x="3246120" y="365531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4" name="gq_588"/>
          <p:cNvSpPr/>
          <p:nvPr/>
        </p:nvSpPr>
        <p:spPr>
          <a:xfrm>
            <a:off x="3657600" y="358140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What are you afraid of?</a:t>
            </a:r>
            <a:endParaRPr lang="en-US" sz="1100" dirty="0"/>
          </a:p>
        </p:txBody>
      </p:sp>
      <p:sp>
        <p:nvSpPr>
          <p:cNvPr id="35" name="R5_chip589"/>
          <p:cNvSpPr/>
          <p:nvPr/>
        </p:nvSpPr>
        <p:spPr>
          <a:xfrm>
            <a:off x="6263640" y="358140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I'm afraid of spiders! When I was a child…</a:t>
            </a:r>
            <a:endParaRPr lang="en-US" sz="1100" dirty="0"/>
          </a:p>
        </p:txBody>
      </p:sp>
      <p:sp>
        <p:nvSpPr>
          <p:cNvPr id="36" name="bd_590"/>
          <p:cNvSpPr/>
          <p:nvPr/>
        </p:nvSpPr>
        <p:spPr>
          <a:xfrm>
            <a:off x="3246120" y="419633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7" name="gq_591"/>
          <p:cNvSpPr/>
          <p:nvPr/>
        </p:nvSpPr>
        <p:spPr>
          <a:xfrm>
            <a:off x="3657600" y="412242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What does success in an exam depend on?</a:t>
            </a:r>
            <a:endParaRPr lang="en-US" sz="1100" dirty="0"/>
          </a:p>
        </p:txBody>
      </p:sp>
      <p:sp>
        <p:nvSpPr>
          <p:cNvPr id="38" name="R6_chip592"/>
          <p:cNvSpPr/>
          <p:nvPr/>
        </p:nvSpPr>
        <p:spPr>
          <a:xfrm>
            <a:off x="6263640" y="41224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 think it depends on how much you study…</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93"/>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18</a:t>
            </a:r>
            <a:endParaRPr lang="en-US" sz="2200" dirty="0"/>
          </a:p>
        </p:txBody>
      </p:sp>
      <p:pic>
        <p:nvPicPr>
          <p:cNvPr id="4" name="brY_594"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595"/>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596"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597"/>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What can you remember?</a:t>
            </a:r>
            <a:endParaRPr lang="en-US" sz="1250" dirty="0"/>
          </a:p>
        </p:txBody>
      </p:sp>
      <p:sp>
        <p:nvSpPr>
          <p:cNvPr id="8" name="insIT_598"/>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Libri chiusi! Cosa ricordi?</a:t>
            </a:r>
            <a:endParaRPr lang="en-US" sz="950" dirty="0"/>
          </a:p>
        </p:txBody>
      </p:sp>
      <p:sp>
        <p:nvSpPr>
          <p:cNvPr id="9" name="meta_599"/>
          <p:cNvSpPr/>
          <p:nvPr/>
        </p:nvSpPr>
        <p:spPr>
          <a:xfrm>
            <a:off x="6583680" y="182880"/>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0" name="tag_600"/>
          <p:cNvSpPr/>
          <p:nvPr/>
        </p:nvSpPr>
        <p:spPr>
          <a:xfrm>
            <a:off x="6510528" y="420624"/>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1" name="logo_60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60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3B-2 · Exit · what can you remember?</a:t>
            </a:r>
            <a:endParaRPr lang="en-US" sz="800" dirty="0"/>
          </a:p>
        </p:txBody>
      </p:sp>
      <p:sp>
        <p:nvSpPr>
          <p:cNvPr id="13" name="bd_603"/>
          <p:cNvSpPr/>
          <p:nvPr/>
        </p:nvSpPr>
        <p:spPr>
          <a:xfrm>
            <a:off x="457200" y="1508760"/>
            <a:ext cx="777240" cy="7772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4" name="rt_604"/>
          <p:cNvSpPr/>
          <p:nvPr/>
        </p:nvSpPr>
        <p:spPr>
          <a:xfrm>
            <a:off x="1417320" y="1581912"/>
            <a:ext cx="3931920" cy="640080"/>
          </a:xfrm>
          <a:prstGeom prst="roundRect">
            <a:avLst>
              <a:gd name="adj" fmla="val 2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toys from today (no looking!)</a:t>
            </a:r>
            <a:endParaRPr lang="en-US" sz="1400" dirty="0"/>
          </a:p>
        </p:txBody>
      </p:sp>
      <p:sp>
        <p:nvSpPr>
          <p:cNvPr id="15" name="bd_605"/>
          <p:cNvSpPr/>
          <p:nvPr/>
        </p:nvSpPr>
        <p:spPr>
          <a:xfrm>
            <a:off x="457200" y="2468880"/>
            <a:ext cx="777240" cy="777240"/>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6" name="rt_606"/>
          <p:cNvSpPr/>
          <p:nvPr/>
        </p:nvSpPr>
        <p:spPr>
          <a:xfrm>
            <a:off x="1417320" y="2542032"/>
            <a:ext cx="3931920" cy="640080"/>
          </a:xfrm>
          <a:prstGeom prst="roundRect">
            <a:avLst>
              <a:gd name="adj" fmla="val 2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verbs + preposition: depend on…</a:t>
            </a:r>
            <a:endParaRPr lang="en-US" sz="1400" dirty="0"/>
          </a:p>
        </p:txBody>
      </p:sp>
      <p:sp>
        <p:nvSpPr>
          <p:cNvPr id="17" name="bd_607"/>
          <p:cNvSpPr/>
          <p:nvPr/>
        </p:nvSpPr>
        <p:spPr>
          <a:xfrm>
            <a:off x="457200" y="3429000"/>
            <a:ext cx="777240" cy="777240"/>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8" name="rt_608"/>
          <p:cNvSpPr/>
          <p:nvPr/>
        </p:nvSpPr>
        <p:spPr>
          <a:xfrm>
            <a:off x="1417320" y="3502152"/>
            <a:ext cx="3931920" cy="640080"/>
          </a:xfrm>
          <a:prstGeom prst="roundRect">
            <a:avLst>
              <a:gd name="adj" fmla="val 2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true sentence: "I'm afraid of…"</a:t>
            </a:r>
            <a:endParaRPr lang="en-US" sz="1400" dirty="0"/>
          </a:p>
        </p:txBody>
      </p:sp>
      <p:sp>
        <p:nvSpPr>
          <p:cNvPr id="19" name="cd_609"/>
          <p:cNvSpPr/>
          <p:nvPr/>
        </p:nvSpPr>
        <p:spPr>
          <a:xfrm>
            <a:off x="5669280" y="1417320"/>
            <a:ext cx="3200400" cy="2286000"/>
          </a:xfrm>
          <a:prstGeom prst="roundRect">
            <a:avLst>
              <a:gd name="adj" fmla="val 56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0" name="ii_610"/>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611"/>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2" name="il_612"/>
          <p:cNvSpPr/>
          <p:nvPr/>
        </p:nvSpPr>
        <p:spPr>
          <a:xfrm>
            <a:off x="6236208" y="1892808"/>
            <a:ext cx="2542032" cy="173736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Workbook 3B: 3a, 3b, 4a (audio: Online Practice)</a:t>
            </a:r>
            <a:endParaRPr lang="en-US" sz="1150" dirty="0"/>
          </a:p>
          <a:p>
            <a:pPr marL="152400" indent="-152400">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Vocabulary Bank p.156: cover the prepositions and test yourself</a:t>
            </a:r>
            <a:endParaRPr lang="en-US" sz="1150" dirty="0"/>
          </a:p>
          <a:p>
            <a:pPr marL="152400" indent="-152400">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Homework sheet in the LLS app</a:t>
            </a:r>
            <a:endParaRPr lang="en-US" sz="1150" dirty="0"/>
          </a:p>
        </p:txBody>
      </p:sp>
      <p:sp>
        <p:nvSpPr>
          <p:cNvPr id="23" name="st_613"/>
          <p:cNvSpPr/>
          <p:nvPr/>
        </p:nvSpPr>
        <p:spPr>
          <a:xfrm rot="-180000">
            <a:off x="5806440" y="3931920"/>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Practical English 2 · A difficult celebrity</a:t>
            </a:r>
            <a:endParaRPr lang="en-US" sz="1100" dirty="0"/>
          </a:p>
        </p:txBody>
      </p:sp>
    </p:spTree>
  </p:cSld>
  <p:clrMapOvr>
    <a:masterClrMapping/>
  </p:clrMapOvr>
  <p:transition spd="med">
    <p:push dir="l"/>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14"/>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19</a:t>
            </a:r>
            <a:endParaRPr lang="en-US" sz="2200" dirty="0"/>
          </a:p>
        </p:txBody>
      </p:sp>
      <p:pic>
        <p:nvPicPr>
          <p:cNvPr id="4" name="brY_615"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616"/>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A toy for everyone</a:t>
            </a:r>
            <a:endParaRPr lang="en-US" sz="2500" dirty="0"/>
          </a:p>
        </p:txBody>
      </p:sp>
      <p:pic>
        <p:nvPicPr>
          <p:cNvPr id="6" name="brP_617"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618"/>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Design a toy for ALL children!</a:t>
            </a:r>
            <a:endParaRPr lang="en-US" sz="1250" dirty="0"/>
          </a:p>
        </p:txBody>
      </p:sp>
      <p:sp>
        <p:nvSpPr>
          <p:cNvPr id="8" name="insIT_619"/>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Inventate un giocattolo per TUTTI i bambini!</a:t>
            </a:r>
            <a:endParaRPr lang="en-US" sz="950" dirty="0"/>
          </a:p>
        </p:txBody>
      </p:sp>
      <p:sp>
        <p:nvSpPr>
          <p:cNvPr id="9" name="cmd_620"/>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621"/>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6 min   👨‍👩‍👧 groups</a:t>
            </a:r>
            <a:endParaRPr lang="en-US" sz="950" dirty="0"/>
          </a:p>
        </p:txBody>
      </p:sp>
      <p:sp>
        <p:nvSpPr>
          <p:cNvPr id="11" name="tag_622"/>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62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62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3B-2 · Extra · design task</a:t>
            </a:r>
            <a:endParaRPr lang="en-US" sz="800" dirty="0"/>
          </a:p>
        </p:txBody>
      </p:sp>
      <p:sp>
        <p:nvSpPr>
          <p:cNvPr id="14" name="st_625"/>
          <p:cNvSpPr/>
          <p:nvPr/>
        </p:nvSpPr>
        <p:spPr>
          <a:xfrm rot="-180000">
            <a:off x="7315200" y="4773168"/>
            <a:ext cx="1600200" cy="292608"/>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00" dirty="0">
                <a:solidFill>
                  <a:srgbClr val="1B2559"/>
                </a:solidFill>
                <a:latin typeface="Arial Rounded MT Bold" pitchFamily="34" charset="0"/>
                <a:ea typeface="Arial Rounded MT Bold" pitchFamily="34" charset="-122"/>
                <a:cs typeface="Arial Rounded MT Bold" pitchFamily="34" charset="-120"/>
              </a:rPr>
              <a:t>EXTRA · if there's time</a:t>
            </a:r>
            <a:endParaRPr lang="en-US" sz="900" dirty="0"/>
          </a:p>
        </p:txBody>
      </p:sp>
      <p:sp>
        <p:nvSpPr>
          <p:cNvPr id="15" name="pf_626"/>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6" name="ph_627" descr="/home/claude/lls-course/v2/cache/3b2_bricks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7" name="cd_628"/>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8" name="ii_629"/>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ih_630"/>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20" name="il_631"/>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It's good for children who are interested in…</a:t>
            </a:r>
            <a:endParaRPr lang="en-US" sz="1050" dirty="0"/>
          </a:p>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Kids who are keen on… will love it!</a:t>
            </a:r>
            <a:endParaRPr lang="en-US" sz="1050" dirty="0"/>
          </a:p>
        </p:txBody>
      </p:sp>
      <p:sp>
        <p:nvSpPr>
          <p:cNvPr id="21" name="R1_qb632"/>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2" name="R1_sq633"/>
          <p:cNvSpPr/>
          <p:nvPr/>
        </p:nvSpPr>
        <p:spPr>
          <a:xfrm>
            <a:off x="3675888" y="1417320"/>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What's it called? How old are the children?</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It's called 'Robo-Builder', for children aged 6–10.</a:t>
            </a:r>
            <a:endParaRPr lang="en-US" sz="1250" dirty="0"/>
          </a:p>
        </p:txBody>
      </p:sp>
      <p:sp>
        <p:nvSpPr>
          <p:cNvPr id="23" name="R2_qb634"/>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R2_sq635"/>
          <p:cNvSpPr/>
          <p:nvPr/>
        </p:nvSpPr>
        <p:spPr>
          <a:xfrm>
            <a:off x="3675888" y="2020824"/>
            <a:ext cx="51937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What colour is the box: pink, blue or another colour?</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Green and yellow – for boys AND girls!</a:t>
            </a:r>
            <a:endParaRPr lang="en-US" sz="1250" dirty="0"/>
          </a:p>
        </p:txBody>
      </p:sp>
      <p:sp>
        <p:nvSpPr>
          <p:cNvPr id="25" name="R3_qb636"/>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6" name="R3_sq637"/>
          <p:cNvSpPr/>
          <p:nvPr/>
        </p:nvSpPr>
        <p:spPr>
          <a:xfrm>
            <a:off x="3675888" y="2624328"/>
            <a:ext cx="51937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What do children learn from it?</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It's good for children who are interested in science.</a:t>
            </a:r>
            <a:endParaRPr lang="en-US" sz="1250" dirty="0"/>
          </a:p>
        </p:txBody>
      </p:sp>
      <p:sp>
        <p:nvSpPr>
          <p:cNvPr id="27" name="R4_qb638"/>
          <p:cNvSpPr/>
          <p:nvPr/>
        </p:nvSpPr>
        <p:spPr>
          <a:xfrm>
            <a:off x="3273552" y="326440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8" name="R4_sq639"/>
          <p:cNvSpPr/>
          <p:nvPr/>
        </p:nvSpPr>
        <p:spPr>
          <a:xfrm>
            <a:off x="3675888" y="3227832"/>
            <a:ext cx="5193792" cy="530352"/>
          </a:xfrm>
          <a:prstGeom prst="roundRect">
            <a:avLst>
              <a:gd name="adj" fmla="val 20690"/>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How much does it cost?</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€29.99 – cheaper than a video game!</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4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par>
                                <p:cTn id="24" presetID="10" presetClass="entr" presetSubtype="0" fill="hold"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400"/>
                                        <p:tgtEl>
                                          <p:spTgt spid="2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400"/>
                                        <p:tgtEl>
                                          <p:spTgt spid="27"/>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3B-2 Men, women, and children</dc:title>
  <dc:subject>PptxGenJS Presentation</dc:subject>
  <dc:creator>PptxGenJS</dc:creator>
  <cp:lastModifiedBy>PptxGenJS</cp:lastModifiedBy>
  <cp:revision>1</cp:revision>
  <dcterms:created xsi:type="dcterms:W3CDTF">2026-10-11T16:13:47Z</dcterms:created>
  <dcterms:modified xsi:type="dcterms:W3CDTF">2026-10-11T16:13:47Z</dcterms:modified>
</cp:coreProperties>
</file>