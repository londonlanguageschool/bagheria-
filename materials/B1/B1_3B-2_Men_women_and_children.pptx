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Ask the THINK question: 'Pink for girls, blue for boys – is it always like this?' Take 3–4 ideas, then click for the example answer. Don't confirm anything: the radio programme will surprise them (100 years ago it was the opposite!). Read the 'Today you're going to…' list together. (Book: SB pp.32–33 · 4 Listening &amp; Speaking, 5 Vocabulary.)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Read the examples with the class. Quick checks: 'I love ___ pizza' (no article – in general) vs '___ pizza in this restaurant is great' (the – a specific pizza). 'She's ___ engineer' (an – job + vowel sound). Remind them of the big Italian trap: 'Gli uomini amano il calcio' → Men love football (NO the). Then play 'Bet on it!' – every sentence in the game tests exactly these article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articles (4 min)
RETRIEVAL WARMER (3 min – keep it brisk) – recycles 3B part 1 (articles). Format: betting game (different from 3B-1's warmer). Two teams start with 10 points. For each sentence, teams decide RIGHT or WRONG and bet 1, 2 or 3 points – write the bets on the board BEFORE you click. Correct = win the bet; wrong = lose it. A WRONG sentence wins only if the team also corrects it. Click once per sentence. Sentences adapted from Grammar photocopiable 3B items 11, 12, 14, 15, 18, 20 (official key: 11 – · 12 an · 14 –, – · 15 the, – · 18 an, the · 20 –, –). Why: 1 school as an institution = no article · 2 an + job ✓ · 3 people / football in general = no article · 4 the people = specific people (in my office) ✓ · 5 an + vowel sound · 6 health in general = no article. Sentences 3 and 4 make a nice contrast. ICQs: 'Do you bet before or after I click?' (before) · 'Is a wrong sentence enough?' (no – correct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toys (3 min)
ELICIT FIRST (3 min). Demo item 0 with the class. Pairs read each clue and name the toy (in English if they can). Click once per item. The seven answers are exactly the book's list in 4a: construction toys · dolls · dressing-up clothes · jigsaws · soft toys · toy vehicles · toy weapons. Drill the words (jigsaw /ˈdʒɪɡsɔː/, vehicle /ˈviːəkl/ – the h is silent, weapon /ˈwepən/). ICQ: 'Are you guessing the toy or the colour?' (the toy). Next slide = Italian + the key words for the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in Italian (2 min)
CONSOLIDATION for slower students (2 min). Class says the Italian aloud, then click once per word to show its Italian. The last five words (aisle, package, genetically, advertisers, equal to men) are the blocking words for the radio programme (TG extra support: pre-teach aisle, package, construction toys). CCQ: 'Where do you find aisles? In a park or a supermarket?' (supermarket). 'If you package a toy, what do you put it in?' (a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Speaking · toys (3 min)
SPEAKING (3 min). SB 4a: which toys do a) girls play with more than boys, b) boys more than girls, c) boys and girls equally? Questions appear ONE PER CLICK (about 30 seconds each). Recycle 3B-1: push them to use 'Generally speaking… / On the whole…' (purple box) – and no article when they generalize (✗ The girls play with the dolls → ✓ Girls play with dolls). Quick class vote on question 3. Don't give your opinion yet – the radio programme comes next. Personalisation with boundaries: no one has to say why they had a toy.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gist (4 min)
GIST (4 min). 4b first (1 min): show the two photos on SB p.32 (The Pink and Blue Project by South Korean photographer JeongMee Yoon: Tess with all her pink things, Jimin with all his blue things). 'What is the artist saying with these images?' Take 2–3 ideas. Then look at A–C on the slide and predict. Play 3.24 ONCE. Pairs compare, then click once per question. Answers (audio script + TG): 1 100 years ago it was the exact opposite – 'pink for boys and blue for girls' (pink = a stronger colour, blue = more delicate) · 2 'It seems not.' · 3 No – Alison Carr thinks toys should be the same colours for all children; Natasha Crookes thinks we should package science and engineering toys in a pink box. ICQ: 'How many times do we listen now?'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Listening · detail (5 min)
DETAIL (4 min). Pairs read the five sentences BEFORE listening and guess (book 4d, shortened on the slide). Play 3.24 again. Pairs compare; click once per answer. Answers (TG): 1 c · 2 a · 3 b · 4 a · 5 c. Evidence in the audio script: 1 'pink, being a stronger colour, is more suitable for a boy' · 2 'The idea of women being equal to men emerged and, as a result, people started dressing little girls in pink' (advertisers came AFTER – that's the trap in b) · 3 'Most girls' toys are still based on dolls and dressing up, while boys' toys are more likely to be related to building and cars' · 4 'the toys we play with influence our interests, and even the jobs… they'll be less likely to choose to study it at school' · 5 'we should package science and engineering toys in a pink box'. EXTRA SUPPORT: play a third time with the audio script (SB p.127).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Speaking · your opinion (4 min)
SPEAKING (4 min). SB 4e questions 1–3 (slide 2, 3, 5) + two concrete questions from the programme (1, 4). Questions appear ONE PER CLICK, about 45 seconds each. The listener must ask at least one follow-up question ('Why?' 'Really?'). Monitor and note 4–5 errors for delayed correction. Feedback: show of hands – Alison or Natasha? Tell them your own answer to one question (TG). EXTRA IDEA (TG): students with young children can say what toys / clothes their children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Vocabulary · prepositions in the programme (3 min)
NOTICING (2 min). SB 5a has lines 2, 3 and 5 (answers TG: about · between · in); lines 1, 4 and 6 are extra lines from the audio script 3.24. Pairs guess the preposition from memory. Click once per gap: the answer appears highlighted IN the text. Answers: 1 to · 2 about · 3 between · 4 on · 5 in · 6 about. If they're unsure, play the beginning of 3.24 again (or read the lines aloud). Point out: worry ABOUT, interested IN – some verbs and adjectives are always followed by the same preposition ('dependent prepositions'). That leads into the Vocabulary Bank.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Vocabulary · verb + preposition (4 min)
VOCABULARY (4 min). Sentences from Vocabulary Bank p.156, 1 After verbs (audio 3.25). Do sentence 1 together as the worked example (apologize TO a person FOR something). Pairs guess the prepositions first; then play 3.25 (pause after each one) and click once per sentence. Answers (key / audio script 3.25 items 1, 2, 9, 11, 12, 14): 1 to, for · 2 with, about · 3 on · 4 at · 5 to · 6 of. Then students do the whole Vocabulary Bank section (or for homework): arrive in Milan / at the airport · ask for the bill · believe in · belong to · choose between · dream about · pay for · spend money on · talk to sb about sth (spend money on comes back on the Italian slide and in 'Finish it!'). Point out: argue = litigare (false friend: argomento = topic). ICQ: 'Are you writing a word or a whole sentence?' (one word –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Vocabulary · adjective + preposition (4 min)
VOCABULARY (4 min). Sentences from Vocabulary Bank p.156, 2 After adjectives (audio 3.26). Pairs choose the preposition (colour) for a–h; play 3.26 to check (or read the sentences); click once per sentence. Answers: a of · b at · c with · d in · e on · f of · g about · h of. Box 'Gerunds after prepositions' (TG): after a preposition we use verb + -ing – I'm tired of walking, She's worried about losing her job, proud of learning (c, f, g, h). Notes (TG): good at = you're an expert / good for = beneficial; 'fed up of' is informal – teach fed up with. Other book items for homework: angry with sb about sth · close to · different from · excited about · famous for · fond of · kind to · married to · pleased with · rude to. CCQ: 'I'm interested ___ music – of or in?'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Vocabulary · in Italian (2 min)
CONSOLIDATION for slower students (2 min). Class says the Italian aloud, then click once per word to show its Italian. Spend 30 seconds on the warning line: these are the mistakes Italian speakers make because the Italian preposition is different (dipendere DA, sposato CON). famous for: Bagheria is famous for its villas! Quick CCQ: 'I can't wait for the holidays – I'm looking forward ___ the holidays'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Speaking · class story (TPRS) (4 min)
TPRS CLASS STORY (4 min) – after the Italian check, so the meaning of the prepositions is clear; now students HEAR the verb / adjective + preposition phrases 15–20 times before the games and 'Just a minute!' use them freely. Click once per line. For each line: 1) say it, 2) ask the questions in grey round the class (yes/no → either/or → who/what) – insist on the preposition in the answers ('He's afraid OF spiders'), 3) let the CLASS change details: 'Is Luca afraid of spiders? No? What is he afraid of?' – accept their idea and use it in later lines (change line 5 to match!). Students answer with one word or a short phrase – that's fine. Finish: 'What happens next?' – one or two ideas, then move on. Recycles: afraid of, good at, looking forward to, depend on, fed up with + -ing, laugh at, apologize to sb for sth. If the class is quiet, make it personal: 'Giulia, what are you looking forward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Vocabulary game (3 min)
GAME 2 (3 min) – a variation of 'Describe it!'. Demo first: mime being terrified of a spider → class says 'You're afraid of spiders!'. Click to show each phrase (round 1 = A mimes 4 phrases while B faces away; round 2 = swap, B mimes). B must say a FULL sentence with the right preposition: 'You're laughing at a joke!' 'You're apologizing for being late!' 20 seconds per phrase. ICQs: 'Can you speak when you mime?' (no) · 'Is one word enough?' (no – a sentence with the preposition).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Speaking game (3 min)
GAME 3 (3 min). Read each beginning; teams have 10 seconds to say an ending with the right preposition (and a TRUE or funny ending). Click to show a model answer – accept any correct ending. 1 point for the right preposition, +1 if a gerund is needed and correct (e.g. 'afraid of swimming'). Monitor the -ing after prepositions.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Vocabulary · questions (4 min)
VOCABULARY + PRONUNCIATION (4 min). SB 5c: pairs complete all 12 questions in the book; the slide shows the 6 used in 'Just a minute!' (book numbers 1, 2, 3, 6, 7, 12). Play 3.27 to check; click once per question. Answers on the slide: 1 about · 2 at · 3 to · 6 of · 7 for · 12 on. Other book answers (TG): 4 to (closest to) · 5 on (keen on) · 8 in (believe in) · 9 of (tired of) · 10 with, about · 11 with (pleased with). PRONUNCIATION (TG): play again for repetition. At the END of a question the preposition is stressed and NOT weak: What are you afraid OF? (/ɒv/, not /əv/). Italian speakers often drop the final preposition – insist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game · fluency (5 min)
GAME 4 / FREER PRACTICE (5 min). Inspired by the radio game 'Just a Minute'. Groups of 3, so everyone has a job: A speaks for 30 seconds (no long pauses, no Italian), B times it, C counts correct verb / adjective + preposition phrases. A 3-second pause or an Italian word = stop. Click to show each question with an example start (A can also choose any question from SB p.33 5c). Swap roles after each turn. At the end the top scorer in each group answers one question for the class. Personal questions: students can always choose another question. Then 1–2 minutes delayed error correction from the speaking tasks (board, students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Exit · what can you remember? (2 min)
RETRIEVAL EXIT (2 min). Books closed. Pairs: 3 toys, 2 verbs with their prepositions, 1 true sentence with an adjective + preposition. A few students share. Set homework (on the slide and in the app; easier version of the sheet available). Answers in the teacher key.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Extra · design task (6 min)
EXTRA (6 min, if there's time). Groups invent a toy that boys AND girls will love, then present it in a 1-minute 'advert'. They must use 3 preposition phrases (good for, interested in, keen on…). Questions appear one per click to guide the planning. Links Alison's and Natasha's ideas: will their toy be in a pink box, a blue box, or another colour? The class votes for the toy they would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1.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slideLayout" Target="../slideLayouts/slideLayout1.xml"/><Relationship Id="rId10"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image" Target="../media/image-7-11.png"/><Relationship Id="rId12" Type="http://schemas.openxmlformats.org/officeDocument/2006/relationships/image" Target="../media/image-7-12.png"/><Relationship Id="rId13" Type="http://schemas.openxmlformats.org/officeDocument/2006/relationships/image" Target="../media/image-7-13.png"/><Relationship Id="rId14" Type="http://schemas.openxmlformats.org/officeDocument/2006/relationships/slideLayout" Target="../slideLayouts/slideLayout1.xml"/><Relationship Id="rId1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audio" Target="../media/media-8-5.mp3"/><Relationship Id="rId6" Type="http://schemas.microsoft.com/office/2007/relationships/media" Target="../media/media-8-5.mp3"/><Relationship Id="rId7" Type="http://schemas.openxmlformats.org/officeDocument/2006/relationships/image" Target="../media/image-8-7.png"/><Relationship Id="rId8" Type="http://schemas.openxmlformats.org/officeDocument/2006/relationships/audio" Target="../media/media-8-8.mp3"/><Relationship Id="rId9" Type="http://schemas.microsoft.com/office/2007/relationships/media" Target="../media/media-8-8.mp3"/><Relationship Id="rId10" Type="http://schemas.openxmlformats.org/officeDocument/2006/relationships/image" Target="../media/image-8-10.png"/><Relationship Id="rId11" Type="http://schemas.openxmlformats.org/officeDocument/2006/relationships/image" Target="../media/image-8-11.png"/><Relationship Id="rId12" Type="http://schemas.openxmlformats.org/officeDocument/2006/relationships/slideLayout" Target="../slideLayouts/slideLayout1.xml"/><Relationship Id="rId1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audio" Target="../media/media-10-5.mp3"/><Relationship Id="rId6" Type="http://schemas.microsoft.com/office/2007/relationships/media" Target="../media/media-10-5.mp3"/><Relationship Id="rId7" Type="http://schemas.openxmlformats.org/officeDocument/2006/relationships/image" Target="../media/image-10-7.png"/><Relationship Id="rId8" Type="http://schemas.openxmlformats.org/officeDocument/2006/relationships/audio" Target="../media/media-10-8.mp3"/><Relationship Id="rId9" Type="http://schemas.microsoft.com/office/2007/relationships/media" Target="../media/media-10-8.mp3"/><Relationship Id="rId10" Type="http://schemas.openxmlformats.org/officeDocument/2006/relationships/image" Target="../media/image-10-10.png"/><Relationship Id="rId11" Type="http://schemas.openxmlformats.org/officeDocument/2006/relationships/image" Target="../media/image-10-11.png"/><Relationship Id="rId12" Type="http://schemas.openxmlformats.org/officeDocument/2006/relationships/slideLayout" Target="../slideLayouts/slideLayout1.xml"/><Relationship Id="rId1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audio" Target="../media/media-11-5.mp3"/><Relationship Id="rId6" Type="http://schemas.microsoft.com/office/2007/relationships/media" Target="../media/media-11-5.mp3"/><Relationship Id="rId7" Type="http://schemas.openxmlformats.org/officeDocument/2006/relationships/image" Target="../media/image-11-7.png"/><Relationship Id="rId8" Type="http://schemas.openxmlformats.org/officeDocument/2006/relationships/audio" Target="../media/media-11-8.mp3"/><Relationship Id="rId9" Type="http://schemas.microsoft.com/office/2007/relationships/media" Target="../media/media-11-8.mp3"/><Relationship Id="rId10" Type="http://schemas.openxmlformats.org/officeDocument/2006/relationships/image" Target="../media/image-11-10.png"/><Relationship Id="rId11" Type="http://schemas.openxmlformats.org/officeDocument/2006/relationships/image" Target="../media/image-11-11.png"/><Relationship Id="rId12" Type="http://schemas.openxmlformats.org/officeDocument/2006/relationships/slideLayout" Target="../slideLayouts/slideLayout1.xml"/><Relationship Id="rId1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slideLayout" Target="../slideLayouts/slideLayout1.xml"/><Relationship Id="rId7"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slideLayout" Target="../slideLayouts/slideLayout1.xml"/><Relationship Id="rId7"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image" Target="../media/image-21-5.png"/><Relationship Id="rId6" Type="http://schemas.openxmlformats.org/officeDocument/2006/relationships/slideLayout" Target="../slideLayouts/slideLayout1.xml"/><Relationship Id="rId7"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pp.32–33</a:t>
            </a:r>
            <a:endParaRPr lang="en-US" sz="1000" dirty="0"/>
          </a:p>
        </p:txBody>
      </p:sp>
      <p:sp>
        <p:nvSpPr>
          <p:cNvPr id="4" name="bd_2"/>
          <p:cNvSpPr/>
          <p:nvPr/>
        </p:nvSpPr>
        <p:spPr>
          <a:xfrm>
            <a:off x="365760" y="640080"/>
            <a:ext cx="1051560" cy="105156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3B-2</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1900" dirty="0">
                <a:solidFill>
                  <a:srgbClr val="1B2559"/>
                </a:solidFill>
                <a:latin typeface="Arial Rounded MT Bold" pitchFamily="34" charset="0"/>
                <a:ea typeface="Arial Rounded MT Bold" pitchFamily="34" charset="-122"/>
                <a:cs typeface="Arial Rounded MT Bold" pitchFamily="34" charset="-120"/>
              </a:rPr>
              <a:t>Men, women, and children</a:t>
            </a:r>
            <a:endParaRPr lang="en-US" sz="19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00" i="1" dirty="0">
                <a:solidFill>
                  <a:srgbClr val="1B2559"/>
                </a:solidFill>
                <a:latin typeface="Segoe UI Semibold" pitchFamily="34" charset="0"/>
                <a:ea typeface="Segoe UI Semibold" pitchFamily="34" charset="-122"/>
                <a:cs typeface="Segoe UI Semibold" pitchFamily="34" charset="-120"/>
              </a:rPr>
              <a:t>Pink and blue · toys · prepositions</a:t>
            </a:r>
            <a:endParaRPr lang="en-US" sz="1200" dirty="0"/>
          </a:p>
        </p:txBody>
      </p:sp>
      <p:sp>
        <p:nvSpPr>
          <p:cNvPr id="9" name="cd_7"/>
          <p:cNvSpPr/>
          <p:nvPr/>
        </p:nvSpPr>
        <p:spPr>
          <a:xfrm>
            <a:off x="365760" y="2148840"/>
            <a:ext cx="4206240" cy="1691640"/>
          </a:xfrm>
          <a:prstGeom prst="roundRect">
            <a:avLst>
              <a:gd name="adj" fmla="val 7568"/>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24328"/>
            <a:ext cx="3547872" cy="1143000"/>
          </a:xfrm>
          <a:prstGeom prst="rect">
            <a:avLst/>
          </a:prstGeom>
          <a:noFill/>
          <a:ln/>
        </p:spPr>
        <p:txBody>
          <a:bodyPr wrap="square" lIns="0" tIns="0" rIns="0" bIns="0" rtlCol="0" anchor="t">
            <a:normAutofit/>
          </a:bodyPr>
          <a:lstStyle/>
          <a:p>
            <a:pPr indent="0" marL="0">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talk about toys and your childhood</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radio programme: pink and blue</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use prepositions: afraid of, good at…</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1000" dirty="0"/>
          </a:p>
          <a:p>
            <a:pPr indent="0" marL="0">
              <a:spcBef>
                <a:spcPts val="500"/>
              </a:spcBef>
              <a:spcAft>
                <a:spcPts val="200"/>
              </a:spcAft>
              <a:buNone/>
            </a:pPr>
            <a:r>
              <a:rPr lang="en-US" sz="1000" dirty="0">
                <a:solidFill>
                  <a:srgbClr val="1B2559"/>
                </a:solidFill>
                <a:latin typeface="Segoe UI Semibold" pitchFamily="34" charset="0"/>
                <a:ea typeface="Segoe UI Semibold" pitchFamily="34" charset="-122"/>
                <a:cs typeface="Segoe UI Semibold" pitchFamily="34" charset="-120"/>
              </a:rPr>
              <a:t>🎲  play "Just a minute!"</a:t>
            </a:r>
            <a:endParaRPr lang="en-US" sz="1000" dirty="0"/>
          </a:p>
        </p:txBody>
      </p:sp>
      <p:sp>
        <p:nvSpPr>
          <p:cNvPr id="13" name="R1_ex11"/>
          <p:cNvSpPr/>
          <p:nvPr/>
        </p:nvSpPr>
        <p:spPr>
          <a:xfrm>
            <a:off x="365760" y="3950208"/>
            <a:ext cx="4206240" cy="603504"/>
          </a:xfrm>
          <a:prstGeom prst="roundRect">
            <a:avLst>
              <a:gd name="adj" fmla="val 18182"/>
            </a:avLst>
          </a:prstGeom>
          <a:solidFill>
            <a:srgbClr val="FFF6CC"/>
          </a:solidFill>
          <a:ln w="19050">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My little brother loves pink, and my sister's favourite colour is blue.</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3b2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5400">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Pink for girls, blue for boys. Always?</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2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did we learn? Read the examples.</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abbiamo imparato? Leggi gli esempi.</a:t>
            </a:r>
            <a:endParaRPr lang="en-US" sz="950" dirty="0"/>
          </a:p>
        </p:txBody>
      </p:sp>
      <p:sp>
        <p:nvSpPr>
          <p:cNvPr id="9" name="cmd_2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2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2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2" name="logo_2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Revision · last lesson</a:t>
            </a:r>
            <a:endParaRPr lang="en-US" sz="800" dirty="0"/>
          </a:p>
        </p:txBody>
      </p:sp>
      <p:sp>
        <p:nvSpPr>
          <p:cNvPr id="14" name="pf_28"/>
          <p:cNvSpPr/>
          <p:nvPr/>
        </p:nvSpPr>
        <p:spPr>
          <a:xfrm rot="-120000">
            <a:off x="365760" y="1371600"/>
            <a:ext cx="2651760" cy="1828800"/>
          </a:xfrm>
          <a:prstGeom prst="roundRect">
            <a:avLst>
              <a:gd name="adj" fmla="val 85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9" descr="/home/claude/lls-course/v2/cache/3b1_cover_jpg_616x418_31.png">    </p:cNvPr>
          <p:cNvPicPr>
            <a:picLocks noChangeAspect="1"/>
          </p:cNvPicPr>
          <p:nvPr/>
        </p:nvPicPr>
        <p:blipFill>
          <a:blip r:embed="rId5"/>
          <a:stretch>
            <a:fillRect/>
          </a:stretch>
        </p:blipFill>
        <p:spPr>
          <a:xfrm rot="-120000">
            <a:off x="411480" y="1417320"/>
            <a:ext cx="2560320" cy="1737360"/>
          </a:xfrm>
          <a:prstGeom prst="rect">
            <a:avLst/>
          </a:prstGeom>
        </p:spPr>
      </p:pic>
      <p:sp>
        <p:nvSpPr>
          <p:cNvPr id="16" name="cd_30"/>
          <p:cNvSpPr/>
          <p:nvPr/>
        </p:nvSpPr>
        <p:spPr>
          <a:xfrm>
            <a:off x="320040" y="3383280"/>
            <a:ext cx="2743200" cy="1325880"/>
          </a:xfrm>
          <a:prstGeom prst="roundRect">
            <a:avLst>
              <a:gd name="adj" fmla="val 9655"/>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7" name="ii_31"/>
          <p:cNvSpPr/>
          <p:nvPr/>
        </p:nvSpPr>
        <p:spPr>
          <a:xfrm>
            <a:off x="411480" y="34564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32"/>
          <p:cNvSpPr/>
          <p:nvPr/>
        </p:nvSpPr>
        <p:spPr>
          <a:xfrm>
            <a:off x="886968" y="347472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9" name="il_33"/>
          <p:cNvSpPr/>
          <p:nvPr/>
        </p:nvSpPr>
        <p:spPr>
          <a:xfrm>
            <a:off x="886968" y="3858768"/>
            <a:ext cx="208483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3B: men, women and stereotypes</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articles: a / an, the, no article</a:t>
            </a:r>
            <a:endParaRPr lang="en-US" sz="1050" dirty="0"/>
          </a:p>
        </p:txBody>
      </p:sp>
      <p:sp>
        <p:nvSpPr>
          <p:cNvPr id="20" name="cd_34"/>
          <p:cNvSpPr/>
          <p:nvPr/>
        </p:nvSpPr>
        <p:spPr>
          <a:xfrm>
            <a:off x="3246120" y="1417320"/>
            <a:ext cx="2788920" cy="2331720"/>
          </a:xfrm>
          <a:prstGeom prst="roundRect">
            <a:avLst>
              <a:gd name="adj" fmla="val 5490"/>
            </a:avLst>
          </a:prstGeom>
          <a:solidFill>
            <a:srgbClr val="FFFFFF"/>
          </a:solidFill>
          <a:ln w="25400">
            <a:solidFill>
              <a:srgbClr val="F7A6C4"/>
            </a:solidFill>
            <a:prstDash val="solid"/>
          </a:ln>
          <a:effectLst>
            <a:outerShdw sx="100000" sy="100000" kx="0" ky="0" algn="bl" rotWithShape="0" blurRad="88900" dist="31750" dir="5400000">
              <a:srgbClr val="1B2559">
                <a:alpha val="12000"/>
              </a:srgbClr>
            </a:outerShdw>
          </a:effectLst>
        </p:spPr>
      </p:sp>
      <p:sp>
        <p:nvSpPr>
          <p:cNvPr id="21" name="rh_35"/>
          <p:cNvSpPr/>
          <p:nvPr/>
        </p:nvSpPr>
        <p:spPr>
          <a:xfrm>
            <a:off x="3355848" y="1508760"/>
            <a:ext cx="2569464" cy="347472"/>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a / an  ·  the</a:t>
            </a:r>
            <a:endParaRPr lang="en-US" sz="1200" dirty="0"/>
          </a:p>
        </p:txBody>
      </p:sp>
      <p:sp>
        <p:nvSpPr>
          <p:cNvPr id="22" name="rl_36"/>
          <p:cNvSpPr/>
          <p:nvPr/>
        </p:nvSpPr>
        <p:spPr>
          <a:xfrm>
            <a:off x="338328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 saw an old man with a dog. The dog was barking.</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She's a lawyer.</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The moon goes round the Earth.</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a / an = first time, jobs · the = we know which one, only one</a:t>
            </a:r>
            <a:endParaRPr lang="en-US" sz="1150" dirty="0"/>
          </a:p>
        </p:txBody>
      </p:sp>
      <p:sp>
        <p:nvSpPr>
          <p:cNvPr id="23" name="cd_37"/>
          <p:cNvSpPr/>
          <p:nvPr/>
        </p:nvSpPr>
        <p:spPr>
          <a:xfrm>
            <a:off x="6126480" y="1417320"/>
            <a:ext cx="2788920" cy="2331720"/>
          </a:xfrm>
          <a:prstGeom prst="roundRect">
            <a:avLst>
              <a:gd name="adj" fmla="val 5490"/>
            </a:avLst>
          </a:prstGeom>
          <a:solidFill>
            <a:srgbClr val="FFFFFF"/>
          </a:solidFill>
          <a:ln w="25400">
            <a:solidFill>
              <a:srgbClr val="A9D3F5"/>
            </a:solidFill>
            <a:prstDash val="solid"/>
          </a:ln>
          <a:effectLst>
            <a:outerShdw sx="100000" sy="100000" kx="0" ky="0" algn="bl" rotWithShape="0" blurRad="88900" dist="31750" dir="5400000">
              <a:srgbClr val="1B2559">
                <a:alpha val="12000"/>
              </a:srgbClr>
            </a:outerShdw>
          </a:effectLst>
        </p:spPr>
      </p:sp>
      <p:sp>
        <p:nvSpPr>
          <p:cNvPr id="24" name="rh_38"/>
          <p:cNvSpPr/>
          <p:nvPr/>
        </p:nvSpPr>
        <p:spPr>
          <a:xfrm>
            <a:off x="6236208" y="1508760"/>
            <a:ext cx="2569464" cy="347472"/>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00" dirty="0">
                <a:solidFill>
                  <a:srgbClr val="FFFFFF"/>
                </a:solidFill>
                <a:latin typeface="Arial Rounded MT Bold" pitchFamily="34" charset="0"/>
                <a:ea typeface="Arial Rounded MT Bold" pitchFamily="34" charset="-122"/>
                <a:cs typeface="Arial Rounded MT Bold" pitchFamily="34" charset="-120"/>
              </a:rPr>
              <a:t>No article = in general</a:t>
            </a:r>
            <a:endParaRPr lang="en-US" sz="1200" dirty="0"/>
          </a:p>
        </p:txBody>
      </p:sp>
      <p:sp>
        <p:nvSpPr>
          <p:cNvPr id="25" name="rl_39"/>
          <p:cNvSpPr/>
          <p:nvPr/>
        </p:nvSpPr>
        <p:spPr>
          <a:xfrm>
            <a:off x="6263640" y="1920240"/>
            <a:ext cx="2514600" cy="1737360"/>
          </a:xfrm>
          <a:prstGeom prst="rect">
            <a:avLst/>
          </a:prstGeom>
          <a:noFill/>
          <a:ln/>
        </p:spPr>
        <p:txBody>
          <a:bodyPr wrap="square" lIns="0" tIns="0" rIns="0" bIns="0" rtlCol="0" anchor="t">
            <a:normAutofit/>
          </a:bodyPr>
          <a:lstStyle/>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Men usually love football.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Love is more important than money.</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I'm at home. I'm going to school.</a:t>
            </a:r>
            <a:endParaRPr lang="en-US" sz="1150" dirty="0"/>
          </a:p>
          <a:p>
            <a:pPr indent="0" marL="0">
              <a:spcAft>
                <a:spcPts val="400"/>
              </a:spcAft>
              <a:buNone/>
            </a:pPr>
            <a:r>
              <a:rPr lang="en-US" sz="1150" dirty="0">
                <a:solidFill>
                  <a:srgbClr val="1B2559"/>
                </a:solidFill>
                <a:latin typeface="Segoe UI Semibold" pitchFamily="34" charset="0"/>
                <a:ea typeface="Segoe UI Semibold" pitchFamily="34" charset="-122"/>
                <a:cs typeface="Segoe UI Semibold" pitchFamily="34" charset="-120"/>
              </a:rPr>
              <a:t>→ things in general · home, work, school · next week</a:t>
            </a:r>
            <a:endParaRPr lang="en-US" sz="1150" dirty="0"/>
          </a:p>
        </p:txBody>
      </p:sp>
      <p:sp>
        <p:nvSpPr>
          <p:cNvPr id="26" name="kw_40"/>
          <p:cNvSpPr/>
          <p:nvPr/>
        </p:nvSpPr>
        <p:spPr>
          <a:xfrm>
            <a:off x="3246120" y="3867912"/>
            <a:ext cx="2743200" cy="274320"/>
          </a:xfrm>
          <a:prstGeom prst="rect">
            <a:avLst/>
          </a:prstGeom>
          <a:noFill/>
          <a:ln/>
        </p:spPr>
        <p:txBody>
          <a:bodyPr wrap="square" lIns="0" tIns="0" rIns="0" bIns="0" rtlCol="0" anchor="ct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 KEY WORDS</a:t>
            </a:r>
            <a:endParaRPr lang="en-US" sz="1100" dirty="0"/>
          </a:p>
        </p:txBody>
      </p:sp>
      <p:sp>
        <p:nvSpPr>
          <p:cNvPr id="27" name="w_41"/>
          <p:cNvSpPr/>
          <p:nvPr/>
        </p:nvSpPr>
        <p:spPr>
          <a:xfrm>
            <a:off x="3246120" y="4178808"/>
            <a:ext cx="1719072"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generally speaking</a:t>
            </a:r>
            <a:endParaRPr lang="en-US" sz="1050" dirty="0"/>
          </a:p>
        </p:txBody>
      </p:sp>
      <p:sp>
        <p:nvSpPr>
          <p:cNvPr id="28" name="w_42"/>
          <p:cNvSpPr/>
          <p:nvPr/>
        </p:nvSpPr>
        <p:spPr>
          <a:xfrm>
            <a:off x="5038344" y="4178808"/>
            <a:ext cx="1252728"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on the whole</a:t>
            </a:r>
            <a:endParaRPr lang="en-US" sz="1050" dirty="0"/>
          </a:p>
        </p:txBody>
      </p:sp>
      <p:sp>
        <p:nvSpPr>
          <p:cNvPr id="29" name="w_43"/>
          <p:cNvSpPr/>
          <p:nvPr/>
        </p:nvSpPr>
        <p:spPr>
          <a:xfrm>
            <a:off x="6364224" y="4178808"/>
            <a:ext cx="864108" cy="310896"/>
          </a:xfrm>
          <a:prstGeom prst="roundRect">
            <a:avLst>
              <a:gd name="adj" fmla="val 50000"/>
            </a:avLst>
          </a:prstGeom>
          <a:solidFill>
            <a:srgbClr val="E3F7EA"/>
          </a:solidFill>
          <a:ln>
            <a:solidFill>
              <a:srgbClr val="A8E5BE"/>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tend to</a:t>
            </a:r>
            <a:endParaRPr lang="en-US" sz="1050" dirty="0"/>
          </a:p>
        </p:txBody>
      </p:sp>
      <p:sp>
        <p:nvSpPr>
          <p:cNvPr id="30" name="w_44"/>
          <p:cNvSpPr/>
          <p:nvPr/>
        </p:nvSpPr>
        <p:spPr>
          <a:xfrm>
            <a:off x="7301484" y="4178808"/>
            <a:ext cx="1252728" cy="310896"/>
          </a:xfrm>
          <a:prstGeom prst="roundRect">
            <a:avLst>
              <a:gd name="adj" fmla="val 50000"/>
            </a:avLst>
          </a:prstGeom>
          <a:solidFill>
            <a:srgbClr val="FFF6CC"/>
          </a:solidFill>
          <a:ln>
            <a:solidFill>
              <a:srgbClr val="FFE07A"/>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 stereotype</a:t>
            </a:r>
            <a:endParaRPr lang="en-US" sz="1050" dirty="0"/>
          </a:p>
        </p:txBody>
      </p:sp>
      <p:sp>
        <p:nvSpPr>
          <p:cNvPr id="31" name="w_45"/>
          <p:cNvSpPr/>
          <p:nvPr/>
        </p:nvSpPr>
        <p:spPr>
          <a:xfrm>
            <a:off x="3246120" y="4544568"/>
            <a:ext cx="864108" cy="310896"/>
          </a:xfrm>
          <a:prstGeom prst="roundRect">
            <a:avLst>
              <a:gd name="adj" fmla="val 50000"/>
            </a:avLst>
          </a:prstGeom>
          <a:solidFill>
            <a:srgbClr val="FFE3EE"/>
          </a:solidFill>
          <a:ln>
            <a:solidFill>
              <a:srgbClr val="F7A6C4"/>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an hour</a:t>
            </a:r>
            <a:endParaRPr lang="en-US" sz="1050" dirty="0"/>
          </a:p>
        </p:txBody>
      </p:sp>
      <p:sp>
        <p:nvSpPr>
          <p:cNvPr id="32" name="w_46"/>
          <p:cNvSpPr/>
          <p:nvPr/>
        </p:nvSpPr>
        <p:spPr>
          <a:xfrm>
            <a:off x="4183380" y="4544568"/>
            <a:ext cx="1097280" cy="310896"/>
          </a:xfrm>
          <a:prstGeom prst="roundRect">
            <a:avLst>
              <a:gd name="adj" fmla="val 50000"/>
            </a:avLst>
          </a:prstGeom>
          <a:solidFill>
            <a:srgbClr val="E3F1FD"/>
          </a:solidFill>
          <a:ln>
            <a:solidFill>
              <a:srgbClr val="A9D3F5"/>
            </a:solidFill>
          </a:ln>
        </p:spPr>
        <p:txBody>
          <a:bodyPr wrap="square" lIns="0" tIns="0" rIns="0" bIns="0" rtlCol="0" anchor="ct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cinema</a:t>
            </a:r>
            <a:endParaRPr lang="en-US" sz="1050" dirty="0"/>
          </a:p>
        </p:txBody>
      </p:sp>
    </p:spTree>
  </p:cSld>
  <p:clrMapOvr>
    <a:masterClrMapping/>
  </p:clrMapOvr>
  <p:transition spd="med">
    <p:push dir="l"/>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7"/>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Bet on it!</a:t>
            </a:r>
            <a:endParaRPr lang="en-US" sz="2500" dirty="0"/>
          </a:p>
        </p:txBody>
      </p:sp>
      <p:pic>
        <p:nvPicPr>
          <p:cNvPr id="6" name="brP_50"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1"/>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Right or wrong? Bet 1, 2 or 3 points!</a:t>
            </a:r>
            <a:endParaRPr lang="en-US" sz="1250" dirty="0"/>
          </a:p>
        </p:txBody>
      </p:sp>
      <p:sp>
        <p:nvSpPr>
          <p:cNvPr id="8" name="insIT_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Giusta o sbagliata? Scommetti 1, 2 o 3 punti!</a:t>
            </a:r>
            <a:endParaRPr lang="en-US" sz="950" dirty="0"/>
          </a:p>
        </p:txBody>
      </p:sp>
      <p:sp>
        <p:nvSpPr>
          <p:cNvPr id="9" name="cmd_5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teams</a:t>
            </a:r>
            <a:endParaRPr lang="en-US" sz="950" dirty="0"/>
          </a:p>
        </p:txBody>
      </p:sp>
      <p:sp>
        <p:nvSpPr>
          <p:cNvPr id="11" name="tag_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Warmer · last lesson: articles   ·   📖 Recycles 3B part 1 · Grammar Bank 3B · Grammar photocopiable 3B</a:t>
            </a:r>
            <a:endParaRPr lang="en-US" sz="800" dirty="0"/>
          </a:p>
        </p:txBody>
      </p:sp>
      <p:sp>
        <p:nvSpPr>
          <p:cNvPr id="14" name="cd_58"/>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61"/>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Read the sentence. Right or wrong?</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Leggi la frase. Giusta o sbagliata?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Bet 1, 2 or 3 points.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Scommetti 1, 2 o 3 punti.</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Wrong? Correct it to win!</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Sbagliata? Correggila per vincere!</a:t>
            </a:r>
            <a:endParaRPr lang="en-US" sz="1000" dirty="0"/>
          </a:p>
        </p:txBody>
      </p:sp>
      <p:sp>
        <p:nvSpPr>
          <p:cNvPr id="18" name="st_62"/>
          <p:cNvSpPr/>
          <p:nvPr/>
        </p:nvSpPr>
        <p:spPr>
          <a:xfrm rot="-180000">
            <a:off x="502920" y="3703320"/>
            <a:ext cx="2286000" cy="77724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9" name="bd_63"/>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gq_64"/>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Hurry up! You're going to be late for the school.</a:t>
            </a:r>
            <a:endParaRPr lang="en-US" sz="1100" dirty="0"/>
          </a:p>
        </p:txBody>
      </p:sp>
      <p:sp>
        <p:nvSpPr>
          <p:cNvPr id="21" name="R1_chip65"/>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late for school</a:t>
            </a:r>
            <a:endParaRPr lang="en-US" sz="1100" dirty="0"/>
          </a:p>
        </p:txBody>
      </p:sp>
      <p:sp>
        <p:nvSpPr>
          <p:cNvPr id="22" name="bd_66"/>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gq_67"/>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have a friend who is an electrician.</a:t>
            </a:r>
            <a:endParaRPr lang="en-US" sz="1100" dirty="0"/>
          </a:p>
        </p:txBody>
      </p:sp>
      <p:sp>
        <p:nvSpPr>
          <p:cNvPr id="24" name="R2_chip68"/>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a:t>
            </a:r>
            <a:endParaRPr lang="en-US" sz="1100" dirty="0"/>
          </a:p>
        </p:txBody>
      </p:sp>
      <p:sp>
        <p:nvSpPr>
          <p:cNvPr id="25" name="bd_69"/>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gq_70"/>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don't like the people who talk about the football all the time.</a:t>
            </a:r>
            <a:endParaRPr lang="en-US" sz="1100" dirty="0"/>
          </a:p>
        </p:txBody>
      </p:sp>
      <p:sp>
        <p:nvSpPr>
          <p:cNvPr id="27" name="R3_chip71"/>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people … football</a:t>
            </a:r>
            <a:endParaRPr lang="en-US" sz="1100" dirty="0"/>
          </a:p>
        </p:txBody>
      </p:sp>
      <p:sp>
        <p:nvSpPr>
          <p:cNvPr id="28" name="bd_72"/>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gq_73"/>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Luckily, the people who work in my office don't talk about sport.</a:t>
            </a:r>
            <a:endParaRPr lang="en-US" sz="1050" dirty="0"/>
          </a:p>
        </p:txBody>
      </p:sp>
      <p:sp>
        <p:nvSpPr>
          <p:cNvPr id="30" name="R4_chip74"/>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correct (specific people)</a:t>
            </a:r>
            <a:endParaRPr lang="en-US" sz="1100" dirty="0"/>
          </a:p>
        </p:txBody>
      </p:sp>
      <p:sp>
        <p:nvSpPr>
          <p:cNvPr id="31" name="bd_75"/>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gq_76"/>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That's a easy question. I think I know the answer.</a:t>
            </a:r>
            <a:endParaRPr lang="en-US" sz="1100" dirty="0"/>
          </a:p>
        </p:txBody>
      </p:sp>
      <p:sp>
        <p:nvSpPr>
          <p:cNvPr id="33" name="R5_chip77"/>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an easy question</a:t>
            </a:r>
            <a:endParaRPr lang="en-US" sz="1100" dirty="0"/>
          </a:p>
        </p:txBody>
      </p:sp>
      <p:sp>
        <p:nvSpPr>
          <p:cNvPr id="34" name="bd_78"/>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5" name="gq_79"/>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 think the good health is more important than money.</a:t>
            </a:r>
            <a:endParaRPr lang="en-US" sz="1100" dirty="0"/>
          </a:p>
        </p:txBody>
      </p:sp>
      <p:sp>
        <p:nvSpPr>
          <p:cNvPr id="36" name="R6_chip80"/>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 good health</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4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83"/>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Name the toy!</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85"/>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clue. Name the toy!</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l'indizio. Come si chiama il giocattolo?</a:t>
            </a:r>
            <a:endParaRPr lang="en-US" sz="950" dirty="0"/>
          </a:p>
        </p:txBody>
      </p:sp>
      <p:sp>
        <p:nvSpPr>
          <p:cNvPr id="9" name="cmd_87"/>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88"/>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89"/>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Controlled practice</a:t>
            </a:r>
            <a:endParaRPr lang="en-US" sz="700" dirty="0"/>
          </a:p>
        </p:txBody>
      </p:sp>
      <p:pic>
        <p:nvPicPr>
          <p:cNvPr id="12" name="logo_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toys   ·   📖 SB p.32 · 4a (the book's list of toys)</a:t>
            </a:r>
            <a:endParaRPr lang="en-US" sz="800" dirty="0"/>
          </a:p>
        </p:txBody>
      </p:sp>
      <p:sp>
        <p:nvSpPr>
          <p:cNvPr id="14" name="cd_92"/>
          <p:cNvSpPr/>
          <p:nvPr/>
        </p:nvSpPr>
        <p:spPr>
          <a:xfrm>
            <a:off x="320040" y="1417320"/>
            <a:ext cx="2697480" cy="1097280"/>
          </a:xfrm>
          <a:prstGeom prst="roundRect">
            <a:avLst>
              <a:gd name="adj" fmla="val 11667"/>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7" name="il_95"/>
          <p:cNvSpPr/>
          <p:nvPr/>
        </p:nvSpPr>
        <p:spPr>
          <a:xfrm>
            <a:off x="886968" y="1892808"/>
            <a:ext cx="2039112" cy="548640"/>
          </a:xfrm>
          <a:prstGeom prst="rect">
            <a:avLst/>
          </a:prstGeom>
          <a:noFill/>
          <a:ln/>
        </p:spPr>
        <p:txBody>
          <a:bodyPr wrap="square" lIns="0" tIns="0" rIns="0" bIns="0" rtlCol="0" anchor="t">
            <a:normAutofit/>
          </a:bodyPr>
          <a:lstStyle/>
          <a:p>
            <a:pPr indent="0" marL="0">
              <a:spcAft>
                <a:spcPts val="200"/>
              </a:spcAft>
              <a:buNone/>
            </a:pPr>
            <a:r>
              <a:rPr lang="en-US" sz="1050" dirty="0">
                <a:solidFill>
                  <a:srgbClr val="1B2559"/>
                </a:solidFill>
                <a:latin typeface="Segoe UI Semibold" pitchFamily="34" charset="0"/>
                <a:ea typeface="Segoe UI Semibold" pitchFamily="34" charset="-122"/>
                <a:cs typeface="Segoe UI Semibold" pitchFamily="34" charset="-120"/>
              </a:rPr>
              <a:t>You kick it in the garden → a football</a:t>
            </a:r>
            <a:endParaRPr lang="en-US" sz="1050" dirty="0"/>
          </a:p>
        </p:txBody>
      </p:sp>
      <p:sp>
        <p:nvSpPr>
          <p:cNvPr id="18" name="pf_96"/>
          <p:cNvSpPr/>
          <p:nvPr/>
        </p:nvSpPr>
        <p:spPr>
          <a:xfrm rot="-90000">
            <a:off x="365760" y="2697480"/>
            <a:ext cx="2606040" cy="1965960"/>
          </a:xfrm>
          <a:prstGeom prst="roundRect">
            <a:avLst>
              <a:gd name="adj" fmla="val 790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97" descr="/home/claude/lls-course/v2/cache/3b2_bricks_jpg_605x451_31.png">    </p:cNvPr>
          <p:cNvPicPr>
            <a:picLocks noChangeAspect="1"/>
          </p:cNvPicPr>
          <p:nvPr/>
        </p:nvPicPr>
        <p:blipFill>
          <a:blip r:embed="rId5"/>
          <a:stretch>
            <a:fillRect/>
          </a:stretch>
        </p:blipFill>
        <p:spPr>
          <a:xfrm rot="-90000">
            <a:off x="411480" y="2743200"/>
            <a:ext cx="2514600" cy="1874520"/>
          </a:xfrm>
          <a:prstGeom prst="rect">
            <a:avLst/>
          </a:prstGeom>
        </p:spPr>
      </p:pic>
      <p:sp>
        <p:nvSpPr>
          <p:cNvPr id="20" name="bd_98"/>
          <p:cNvSpPr/>
          <p:nvPr/>
        </p:nvSpPr>
        <p:spPr>
          <a:xfrm>
            <a:off x="3246120" y="1474143"/>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1" name="q_99"/>
          <p:cNvSpPr/>
          <p:nvPr/>
        </p:nvSpPr>
        <p:spPr>
          <a:xfrm>
            <a:off x="3630168" y="1417320"/>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You build towers and houses with them</a:t>
            </a:r>
            <a:endParaRPr lang="en-US" sz="1150" dirty="0"/>
          </a:p>
        </p:txBody>
      </p:sp>
      <p:sp>
        <p:nvSpPr>
          <p:cNvPr id="22" name="R1_chip100"/>
          <p:cNvSpPr/>
          <p:nvPr/>
        </p:nvSpPr>
        <p:spPr>
          <a:xfrm>
            <a:off x="5806440" y="1417320"/>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construction toys (Lego, bricks)</a:t>
            </a:r>
            <a:endParaRPr lang="en-US" sz="1000" dirty="0"/>
          </a:p>
        </p:txBody>
      </p:sp>
      <p:sp>
        <p:nvSpPr>
          <p:cNvPr id="23" name="bd_101"/>
          <p:cNvSpPr/>
          <p:nvPr/>
        </p:nvSpPr>
        <p:spPr>
          <a:xfrm>
            <a:off x="3246120" y="194440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4" name="q_102"/>
          <p:cNvSpPr/>
          <p:nvPr/>
        </p:nvSpPr>
        <p:spPr>
          <a:xfrm>
            <a:off x="3630168" y="1887583"/>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Little people: you dress them and brush their hair</a:t>
            </a:r>
            <a:endParaRPr lang="en-US" sz="1100" dirty="0"/>
          </a:p>
        </p:txBody>
      </p:sp>
      <p:sp>
        <p:nvSpPr>
          <p:cNvPr id="25" name="R2_chip103"/>
          <p:cNvSpPr/>
          <p:nvPr/>
        </p:nvSpPr>
        <p:spPr>
          <a:xfrm>
            <a:off x="5806440" y="1887583"/>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dolls</a:t>
            </a:r>
            <a:endParaRPr lang="en-US" sz="1000" dirty="0"/>
          </a:p>
        </p:txBody>
      </p:sp>
      <p:sp>
        <p:nvSpPr>
          <p:cNvPr id="26" name="bd_104"/>
          <p:cNvSpPr/>
          <p:nvPr/>
        </p:nvSpPr>
        <p:spPr>
          <a:xfrm>
            <a:off x="3246120" y="2414669"/>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7" name="q_105"/>
          <p:cNvSpPr/>
          <p:nvPr/>
        </p:nvSpPr>
        <p:spPr>
          <a:xfrm>
            <a:off x="3630168" y="2357846"/>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Costumes: a pirate, a princess…</a:t>
            </a:r>
            <a:endParaRPr lang="en-US" sz="1150" dirty="0"/>
          </a:p>
        </p:txBody>
      </p:sp>
      <p:sp>
        <p:nvSpPr>
          <p:cNvPr id="28" name="R3_chip106"/>
          <p:cNvSpPr/>
          <p:nvPr/>
        </p:nvSpPr>
        <p:spPr>
          <a:xfrm>
            <a:off x="5806440" y="2357846"/>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dressing-up clothes</a:t>
            </a:r>
            <a:endParaRPr lang="en-US" sz="1000" dirty="0"/>
          </a:p>
        </p:txBody>
      </p:sp>
      <p:sp>
        <p:nvSpPr>
          <p:cNvPr id="29" name="bd_107"/>
          <p:cNvSpPr/>
          <p:nvPr/>
        </p:nvSpPr>
        <p:spPr>
          <a:xfrm>
            <a:off x="3246120" y="2884932"/>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30" name="q_108"/>
          <p:cNvSpPr/>
          <p:nvPr/>
        </p:nvSpPr>
        <p:spPr>
          <a:xfrm>
            <a:off x="3630168" y="2828109"/>
            <a:ext cx="2103120" cy="424543"/>
          </a:xfrm>
          <a:prstGeom prst="roundRect">
            <a:avLst>
              <a:gd name="adj" fmla="val 21538"/>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picture in 500 pieces</a:t>
            </a:r>
            <a:endParaRPr lang="en-US" sz="1150" dirty="0"/>
          </a:p>
        </p:txBody>
      </p:sp>
      <p:sp>
        <p:nvSpPr>
          <p:cNvPr id="31" name="R4_chip109"/>
          <p:cNvSpPr/>
          <p:nvPr/>
        </p:nvSpPr>
        <p:spPr>
          <a:xfrm>
            <a:off x="5806440" y="2828109"/>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a jigsaw</a:t>
            </a:r>
            <a:endParaRPr lang="en-US" sz="1000" dirty="0"/>
          </a:p>
        </p:txBody>
      </p:sp>
      <p:sp>
        <p:nvSpPr>
          <p:cNvPr id="32" name="bd_110"/>
          <p:cNvSpPr/>
          <p:nvPr/>
        </p:nvSpPr>
        <p:spPr>
          <a:xfrm>
            <a:off x="3246120" y="3355195"/>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3" name="q_111"/>
          <p:cNvSpPr/>
          <p:nvPr/>
        </p:nvSpPr>
        <p:spPr>
          <a:xfrm>
            <a:off x="3630168" y="3298371"/>
            <a:ext cx="2103120" cy="424543"/>
          </a:xfrm>
          <a:prstGeom prst="roundRect">
            <a:avLst>
              <a:gd name="adj" fmla="val 21538"/>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A teddy bear is one</a:t>
            </a:r>
            <a:endParaRPr lang="en-US" sz="1150" dirty="0"/>
          </a:p>
        </p:txBody>
      </p:sp>
      <p:sp>
        <p:nvSpPr>
          <p:cNvPr id="34" name="R5_chip112"/>
          <p:cNvSpPr/>
          <p:nvPr/>
        </p:nvSpPr>
        <p:spPr>
          <a:xfrm>
            <a:off x="5806440" y="3298371"/>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soft toys</a:t>
            </a:r>
            <a:endParaRPr lang="en-US" sz="1000" dirty="0"/>
          </a:p>
        </p:txBody>
      </p:sp>
      <p:sp>
        <p:nvSpPr>
          <p:cNvPr id="35" name="bd_113"/>
          <p:cNvSpPr/>
          <p:nvPr/>
        </p:nvSpPr>
        <p:spPr>
          <a:xfrm>
            <a:off x="3246120" y="3825458"/>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6" name="q_114"/>
          <p:cNvSpPr/>
          <p:nvPr/>
        </p:nvSpPr>
        <p:spPr>
          <a:xfrm>
            <a:off x="3630168" y="3768634"/>
            <a:ext cx="2103120" cy="424543"/>
          </a:xfrm>
          <a:prstGeom prst="roundRect">
            <a:avLst>
              <a:gd name="adj" fmla="val 21538"/>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Little cars, trains and lorries</a:t>
            </a:r>
            <a:endParaRPr lang="en-US" sz="1150" dirty="0"/>
          </a:p>
        </p:txBody>
      </p:sp>
      <p:sp>
        <p:nvSpPr>
          <p:cNvPr id="37" name="R6_chip115"/>
          <p:cNvSpPr/>
          <p:nvPr/>
        </p:nvSpPr>
        <p:spPr>
          <a:xfrm>
            <a:off x="5806440" y="3768634"/>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vehicles</a:t>
            </a:r>
            <a:endParaRPr lang="en-US" sz="1000" dirty="0"/>
          </a:p>
        </p:txBody>
      </p:sp>
      <p:sp>
        <p:nvSpPr>
          <p:cNvPr id="38" name="bd_116"/>
          <p:cNvSpPr/>
          <p:nvPr/>
        </p:nvSpPr>
        <p:spPr>
          <a:xfrm>
            <a:off x="3246120" y="4295721"/>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7</a:t>
            </a:r>
            <a:endParaRPr lang="en-US" sz="1000" dirty="0"/>
          </a:p>
        </p:txBody>
      </p:sp>
      <p:sp>
        <p:nvSpPr>
          <p:cNvPr id="39" name="q_117"/>
          <p:cNvSpPr/>
          <p:nvPr/>
        </p:nvSpPr>
        <p:spPr>
          <a:xfrm>
            <a:off x="3630168" y="4238897"/>
            <a:ext cx="2103120" cy="424543"/>
          </a:xfrm>
          <a:prstGeom prst="roundRect">
            <a:avLst>
              <a:gd name="adj" fmla="val 21538"/>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50" b="1" dirty="0">
                <a:solidFill>
                  <a:srgbClr val="1B2559"/>
                </a:solidFill>
                <a:latin typeface="Segoe UI Semibold" pitchFamily="34" charset="0"/>
                <a:ea typeface="Segoe UI Semibold" pitchFamily="34" charset="-122"/>
                <a:cs typeface="Segoe UI Semibold" pitchFamily="34" charset="-120"/>
              </a:rPr>
              <a:t>Swords and water pistols</a:t>
            </a:r>
            <a:endParaRPr lang="en-US" sz="1150" dirty="0"/>
          </a:p>
        </p:txBody>
      </p:sp>
      <p:sp>
        <p:nvSpPr>
          <p:cNvPr id="40" name="R7_chip118"/>
          <p:cNvSpPr/>
          <p:nvPr/>
        </p:nvSpPr>
        <p:spPr>
          <a:xfrm>
            <a:off x="5806440" y="4238897"/>
            <a:ext cx="3063240" cy="424543"/>
          </a:xfrm>
          <a:prstGeom prst="roundRect">
            <a:avLst>
              <a:gd name="adj" fmla="val 21538"/>
            </a:avLst>
          </a:prstGeom>
          <a:solidFill>
            <a:srgbClr val="E3F7EA"/>
          </a:solidFill>
          <a:ln w="19050">
            <a:solidFill>
              <a:srgbClr val="2EB872"/>
            </a:solidFill>
          </a:ln>
        </p:spPr>
        <p:txBody>
          <a:bodyPr wrap="square" lIns="101600" tIns="0" rIns="101600" bIns="0" rtlCol="0" anchor="ctr">
            <a:normAutofit/>
          </a:bodyPr>
          <a:lstStyle/>
          <a:p>
            <a:pPr algn="l" indent="0" marL="0">
              <a:buNone/>
            </a:pPr>
            <a:r>
              <a:rPr lang="en-US" sz="1000" b="1" dirty="0">
                <a:solidFill>
                  <a:srgbClr val="1B2559"/>
                </a:solidFill>
                <a:latin typeface="Segoe UI Semibold" pitchFamily="34" charset="0"/>
                <a:ea typeface="Segoe UI Semibold" pitchFamily="34" charset="-122"/>
                <a:cs typeface="Segoe UI Semibold" pitchFamily="34" charset="-120"/>
              </a:rPr>
              <a:t>toy weapons</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0"/>
                                        </p:tgtEl>
                                        <p:attrNameLst>
                                          <p:attrName>style.visibility</p:attrName>
                                        </p:attrNameLst>
                                      </p:cBhvr>
                                      <p:to>
                                        <p:strVal val="visible"/>
                                      </p:to>
                                    </p:set>
                                    <p:animEffect transition="in" filter="fade">
                                      <p:cBhvr>
                                        <p:cTn id="37" dur="400"/>
                                        <p:tgtEl>
                                          <p:spTgt spid="4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9"/>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20"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21"/>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Toy words in Italian</a:t>
            </a:r>
            <a:endParaRPr lang="en-US" sz="2500" dirty="0"/>
          </a:p>
        </p:txBody>
      </p:sp>
      <p:pic>
        <p:nvPicPr>
          <p:cNvPr id="6" name="brP_12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12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12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125"/>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12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12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12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2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in Italian</a:t>
            </a:r>
            <a:endParaRPr lang="en-US" sz="800" dirty="0"/>
          </a:p>
        </p:txBody>
      </p:sp>
      <p:sp>
        <p:nvSpPr>
          <p:cNvPr id="14" name="cd_130"/>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13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13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construction toys</a:t>
            </a:r>
            <a:endParaRPr lang="en-US" sz="1150" dirty="0"/>
          </a:p>
        </p:txBody>
      </p:sp>
      <p:sp>
        <p:nvSpPr>
          <p:cNvPr id="17" name="R1_it13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giochi di costruzione</a:t>
            </a:r>
            <a:endParaRPr lang="en-US" sz="950" dirty="0"/>
          </a:p>
        </p:txBody>
      </p:sp>
      <p:sp>
        <p:nvSpPr>
          <p:cNvPr id="18" name="cd_134"/>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13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13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dolls</a:t>
            </a:r>
            <a:endParaRPr lang="en-US" sz="1200" dirty="0"/>
          </a:p>
        </p:txBody>
      </p:sp>
      <p:sp>
        <p:nvSpPr>
          <p:cNvPr id="21" name="R2_it13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bambole</a:t>
            </a:r>
            <a:endParaRPr lang="en-US" sz="1000" dirty="0"/>
          </a:p>
        </p:txBody>
      </p:sp>
      <p:sp>
        <p:nvSpPr>
          <p:cNvPr id="22" name="cd_138"/>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13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14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Arial Rounded MT Bold" pitchFamily="34" charset="0"/>
                <a:ea typeface="Arial Rounded MT Bold" pitchFamily="34" charset="-122"/>
                <a:cs typeface="Arial Rounded MT Bold" pitchFamily="34" charset="-120"/>
              </a:rPr>
              <a:t>dressing-up clothes</a:t>
            </a:r>
            <a:endParaRPr lang="en-US" sz="1000" dirty="0"/>
          </a:p>
        </p:txBody>
      </p:sp>
      <p:sp>
        <p:nvSpPr>
          <p:cNvPr id="25" name="R3_it14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costumi (per travestirsi)</a:t>
            </a:r>
            <a:endParaRPr lang="en-US" sz="800" dirty="0"/>
          </a:p>
        </p:txBody>
      </p:sp>
      <p:sp>
        <p:nvSpPr>
          <p:cNvPr id="26" name="cd_142"/>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14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14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 jigsaw</a:t>
            </a:r>
            <a:endParaRPr lang="en-US" sz="1200" dirty="0"/>
          </a:p>
        </p:txBody>
      </p:sp>
      <p:sp>
        <p:nvSpPr>
          <p:cNvPr id="29" name="R4_it14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un puzzle</a:t>
            </a:r>
            <a:endParaRPr lang="en-US" sz="1000" dirty="0"/>
          </a:p>
        </p:txBody>
      </p:sp>
      <p:sp>
        <p:nvSpPr>
          <p:cNvPr id="30" name="cd_146"/>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14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14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soft toys</a:t>
            </a:r>
            <a:endParaRPr lang="en-US" sz="1200" dirty="0"/>
          </a:p>
        </p:txBody>
      </p:sp>
      <p:sp>
        <p:nvSpPr>
          <p:cNvPr id="33" name="R5_it14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peluche</a:t>
            </a:r>
            <a:endParaRPr lang="en-US" sz="1000" dirty="0"/>
          </a:p>
        </p:txBody>
      </p:sp>
      <p:sp>
        <p:nvSpPr>
          <p:cNvPr id="34" name="cd_150"/>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15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15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vehicles</a:t>
            </a:r>
            <a:endParaRPr lang="en-US" sz="1200" dirty="0"/>
          </a:p>
        </p:txBody>
      </p:sp>
      <p:sp>
        <p:nvSpPr>
          <p:cNvPr id="37" name="R6_it15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macchinine, trenini…</a:t>
            </a:r>
            <a:endParaRPr lang="en-US" sz="900" dirty="0"/>
          </a:p>
        </p:txBody>
      </p:sp>
      <p:sp>
        <p:nvSpPr>
          <p:cNvPr id="38" name="cd_154"/>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15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15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toy weapons</a:t>
            </a:r>
            <a:endParaRPr lang="en-US" sz="1200" dirty="0"/>
          </a:p>
        </p:txBody>
      </p:sp>
      <p:sp>
        <p:nvSpPr>
          <p:cNvPr id="41" name="R7_it15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armi giocattolo</a:t>
            </a:r>
            <a:endParaRPr lang="en-US" sz="1000" dirty="0"/>
          </a:p>
        </p:txBody>
      </p:sp>
      <p:sp>
        <p:nvSpPr>
          <p:cNvPr id="42" name="cd_158"/>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15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16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an aisle /aɪl/</a:t>
            </a:r>
            <a:endParaRPr lang="en-US" sz="1200" dirty="0"/>
          </a:p>
        </p:txBody>
      </p:sp>
      <p:sp>
        <p:nvSpPr>
          <p:cNvPr id="45" name="R8_it16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una corsia (del negozio)</a:t>
            </a:r>
            <a:endParaRPr lang="en-US" sz="800" dirty="0"/>
          </a:p>
        </p:txBody>
      </p:sp>
      <p:sp>
        <p:nvSpPr>
          <p:cNvPr id="46" name="cd_162"/>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16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16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package (v)</a:t>
            </a:r>
            <a:endParaRPr lang="en-US" sz="1200" dirty="0"/>
          </a:p>
        </p:txBody>
      </p:sp>
      <p:sp>
        <p:nvSpPr>
          <p:cNvPr id="49" name="R9_it16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confezionare, impacchettare</a:t>
            </a:r>
            <a:endParaRPr lang="en-US" sz="800" dirty="0"/>
          </a:p>
        </p:txBody>
      </p:sp>
      <p:sp>
        <p:nvSpPr>
          <p:cNvPr id="50" name="cd_166"/>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16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16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genetically</a:t>
            </a:r>
            <a:endParaRPr lang="en-US" sz="1200" dirty="0"/>
          </a:p>
        </p:txBody>
      </p:sp>
      <p:sp>
        <p:nvSpPr>
          <p:cNvPr id="53" name="R10_it16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geneticamente</a:t>
            </a:r>
            <a:endParaRPr lang="en-US" sz="1000" dirty="0"/>
          </a:p>
        </p:txBody>
      </p:sp>
      <p:sp>
        <p:nvSpPr>
          <p:cNvPr id="54" name="cd_170"/>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17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17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advertisers</a:t>
            </a:r>
            <a:endParaRPr lang="en-US" sz="1200" dirty="0"/>
          </a:p>
        </p:txBody>
      </p:sp>
      <p:sp>
        <p:nvSpPr>
          <p:cNvPr id="57" name="R11_it17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 pubblicitari</a:t>
            </a:r>
            <a:endParaRPr lang="en-US" sz="1000" dirty="0"/>
          </a:p>
        </p:txBody>
      </p:sp>
      <p:sp>
        <p:nvSpPr>
          <p:cNvPr id="58" name="cd_174"/>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17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17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equal to men</a:t>
            </a:r>
            <a:endParaRPr lang="en-US" sz="1200" dirty="0"/>
          </a:p>
        </p:txBody>
      </p:sp>
      <p:sp>
        <p:nvSpPr>
          <p:cNvPr id="61" name="R12_it17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uguali agli uomini (parità)</a:t>
            </a:r>
            <a:endParaRPr lang="en-US" sz="800" dirty="0"/>
          </a:p>
        </p:txBody>
      </p:sp>
      <p:sp>
        <p:nvSpPr>
          <p:cNvPr id="62" name="R13_wc178"/>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17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jigsaw = un puzzle  ·  dressing-up clothes ≠ vestiti eleganti  ·  aisle /aɪl/: the s is silent!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81" descr="/home/claude/lls-course/v2/assets/brush-yellow.png">    </p:cNvPr>
          <p:cNvPicPr>
            <a:picLocks noChangeAspect="1"/>
          </p:cNvPicPr>
          <p:nvPr/>
        </p:nvPicPr>
        <p:blipFill>
          <a:blip r:embed="rId2"/>
          <a:stretch>
            <a:fillRect/>
          </a:stretch>
        </p:blipFill>
        <p:spPr>
          <a:xfrm>
            <a:off x="1097280" y="146304"/>
            <a:ext cx="3877056" cy="621792"/>
          </a:xfrm>
          <a:prstGeom prst="rect">
            <a:avLst/>
          </a:prstGeom>
        </p:spPr>
      </p:pic>
      <p:sp>
        <p:nvSpPr>
          <p:cNvPr id="5" name="title_182"/>
          <p:cNvSpPr/>
          <p:nvPr/>
        </p:nvSpPr>
        <p:spPr>
          <a:xfrm>
            <a:off x="1261872" y="164592"/>
            <a:ext cx="360273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Girls, boys or both?</a:t>
            </a:r>
            <a:endParaRPr lang="en-US" sz="2500" dirty="0"/>
          </a:p>
        </p:txBody>
      </p:sp>
      <p:pic>
        <p:nvPicPr>
          <p:cNvPr id="6" name="brP_183" descr="/home/claude/lls-course/v2/assets/brush-pink.png">    </p:cNvPr>
          <p:cNvPicPr>
            <a:picLocks noChangeAspect="1"/>
          </p:cNvPicPr>
          <p:nvPr/>
        </p:nvPicPr>
        <p:blipFill>
          <a:blip r:embed="rId3"/>
          <a:stretch>
            <a:fillRect/>
          </a:stretch>
        </p:blipFill>
        <p:spPr>
          <a:xfrm>
            <a:off x="1207008" y="731520"/>
            <a:ext cx="3250692" cy="402336"/>
          </a:xfrm>
          <a:prstGeom prst="rect">
            <a:avLst/>
          </a:prstGeom>
        </p:spPr>
      </p:pic>
      <p:sp>
        <p:nvSpPr>
          <p:cNvPr id="7" name="ins_184"/>
          <p:cNvSpPr/>
          <p:nvPr/>
        </p:nvSpPr>
        <p:spPr>
          <a:xfrm>
            <a:off x="1353312" y="731520"/>
            <a:ext cx="299466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Girls, boys or both? Say why.</a:t>
            </a:r>
            <a:endParaRPr lang="en-US" sz="1250" dirty="0"/>
          </a:p>
        </p:txBody>
      </p:sp>
      <p:sp>
        <p:nvSpPr>
          <p:cNvPr id="8" name="insIT_18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Bambine, bambini o entrambi? Spiega perché.</a:t>
            </a:r>
            <a:endParaRPr lang="en-US" sz="950" dirty="0"/>
          </a:p>
        </p:txBody>
      </p:sp>
      <p:sp>
        <p:nvSpPr>
          <p:cNvPr id="9" name="cmd_186"/>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18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18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1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1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toys   ·   📖 SB p.32 · 4a</a:t>
            </a:r>
            <a:endParaRPr lang="en-US" sz="800" dirty="0"/>
          </a:p>
        </p:txBody>
      </p:sp>
      <p:sp>
        <p:nvSpPr>
          <p:cNvPr id="14" name="pf_1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92" descr="/home/claude/lls-course/v2/cache/3b2_dressing_up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1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1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1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1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Generally speaking, girls / boys play with… more</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Both equally!</a:t>
            </a:r>
            <a:endParaRPr lang="en-US" sz="900" dirty="0"/>
          </a:p>
          <a:p>
            <a:pPr marL="152400" indent="-152400">
              <a:spcBef>
                <a:spcPts val="5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On the whole, I think…</a:t>
            </a:r>
            <a:endParaRPr lang="en-US" sz="900" dirty="0"/>
          </a:p>
        </p:txBody>
      </p:sp>
      <p:sp>
        <p:nvSpPr>
          <p:cNvPr id="20" name="R1_qb1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198"/>
          <p:cNvSpPr/>
          <p:nvPr/>
        </p:nvSpPr>
        <p:spPr>
          <a:xfrm>
            <a:off x="3675888" y="1417320"/>
            <a:ext cx="45079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Dolls and soft toys: girls more, boys more, or both?</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Generally speaking, girls play with dolls more, but everyone loves soft toys.</a:t>
            </a:r>
            <a:endParaRPr lang="en-US" sz="1000" dirty="0"/>
          </a:p>
        </p:txBody>
      </p:sp>
      <p:pic>
        <p:nvPicPr>
          <p:cNvPr id="22" name="R1_th199" descr="/home/claude/lls-course/v2/cache/3b2_dolls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3" name="R2_qb200"/>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201"/>
          <p:cNvSpPr/>
          <p:nvPr/>
        </p:nvSpPr>
        <p:spPr>
          <a:xfrm>
            <a:off x="3675888" y="2020824"/>
            <a:ext cx="45079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Construction toys and jigsaws: girls, boys, or both?</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Both! My sister loved Lego.</a:t>
            </a:r>
            <a:endParaRPr lang="en-US" sz="1200" dirty="0"/>
          </a:p>
        </p:txBody>
      </p:sp>
      <p:pic>
        <p:nvPicPr>
          <p:cNvPr id="25" name="R2_th202" descr="/home/claude/lls-course/v2/cache/3b2_bricks_jpg_154x119_18.png">    </p:cNvPr>
          <p:cNvPicPr>
            <a:picLocks noChangeAspect="1"/>
          </p:cNvPicPr>
          <p:nvPr/>
        </p:nvPicPr>
        <p:blipFill>
          <a:blip r:embed="rId7"/>
          <a:stretch>
            <a:fillRect/>
          </a:stretch>
        </p:blipFill>
        <p:spPr>
          <a:xfrm>
            <a:off x="8257032" y="2039112"/>
            <a:ext cx="640080" cy="493776"/>
          </a:xfrm>
          <a:prstGeom prst="rect">
            <a:avLst/>
          </a:prstGeom>
        </p:spPr>
      </p:pic>
      <p:sp>
        <p:nvSpPr>
          <p:cNvPr id="26" name="R3_qb203"/>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R3_sq204"/>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Toy vehicles and toy weapons: girls, boys, or both?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On the whole, boys – my brother had 50 toy cars!</a:t>
            </a:r>
            <a:endParaRPr lang="en-US" sz="1250" dirty="0"/>
          </a:p>
        </p:txBody>
      </p:sp>
      <p:sp>
        <p:nvSpPr>
          <p:cNvPr id="28" name="R4_qb205"/>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9" name="R4_sq206"/>
          <p:cNvSpPr/>
          <p:nvPr/>
        </p:nvSpPr>
        <p:spPr>
          <a:xfrm>
            <a:off x="3675888" y="3227832"/>
            <a:ext cx="45079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Dressing-up clothes: girls, boys, or both?</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Both – at Carnevale everybody dresses up!</a:t>
            </a:r>
            <a:endParaRPr lang="en-US" sz="1250" dirty="0"/>
          </a:p>
        </p:txBody>
      </p:sp>
      <p:pic>
        <p:nvPicPr>
          <p:cNvPr id="30" name="R4_th207" descr="/home/claude/lls-course/v2/cache/3b2_dressing_up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31" name="R5_qb208"/>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2" name="R5_sq209"/>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Which of these toys did you have?</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 had lots of jigsaws and a big box of Lego.</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par>
                                <p:cTn id="11" presetID="10" presetClass="entr" presetSubtype="0" fill="hold" nodeType="withEffect">
                                  <p:stCondLst>
                                    <p:cond delay="0"/>
                                  </p:stCondLst>
                                  <p:childTnLst>
                                    <p:set>
                                      <p:cBhvr>
                                        <p:cTn id="12" dur="1" fill="hold">
                                          <p:stCondLst>
                                            <p:cond delay="0"/>
                                          </p:stCondLst>
                                        </p:cTn>
                                        <p:tgtEl>
                                          <p:spTgt spid="22"/>
                                        </p:tgtEl>
                                        <p:attrNameLst>
                                          <p:attrName>style.visibility</p:attrName>
                                        </p:attrNameLst>
                                      </p:cBhvr>
                                      <p:to>
                                        <p:strVal val="visible"/>
                                      </p:to>
                                    </p:set>
                                    <p:animEffect transition="in" filter="fade">
                                      <p:cBhvr>
                                        <p:cTn id="13" dur="400"/>
                                        <p:tgtEl>
                                          <p:spTgt spid="2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par>
                                <p:cTn id="19" presetID="10" presetClass="entr" presetSubtype="0" fill="hold" nodeType="withEffect">
                                  <p:stCondLst>
                                    <p:cond delay="0"/>
                                  </p:stCondLst>
                                  <p:childTnLst>
                                    <p:set>
                                      <p:cBhvr>
                                        <p:cTn id="20" dur="1" fill="hold">
                                          <p:stCondLst>
                                            <p:cond delay="0"/>
                                          </p:stCondLst>
                                        </p:cTn>
                                        <p:tgtEl>
                                          <p:spTgt spid="24"/>
                                        </p:tgtEl>
                                        <p:attrNameLst>
                                          <p:attrName>style.visibility</p:attrName>
                                        </p:attrNameLst>
                                      </p:cBhvr>
                                      <p:to>
                                        <p:strVal val="visible"/>
                                      </p:to>
                                    </p:set>
                                    <p:animEffect transition="in" filter="fade">
                                      <p:cBhvr>
                                        <p:cTn id="21" dur="400"/>
                                        <p:tgtEl>
                                          <p:spTgt spid="24"/>
                                        </p:tgtEl>
                                      </p:cBhvr>
                                    </p:animEffect>
                                  </p:childTnLst>
                                </p:cTn>
                              </p:par>
                              <p:par>
                                <p:cTn id="22" presetID="10" presetClass="entr" presetSubtype="0" fill="hold" nodeType="withEffect">
                                  <p:stCondLst>
                                    <p:cond delay="0"/>
                                  </p:stCondLst>
                                  <p:childTnLst>
                                    <p:set>
                                      <p:cBhvr>
                                        <p:cTn id="23" dur="1" fill="hold">
                                          <p:stCondLst>
                                            <p:cond delay="0"/>
                                          </p:stCondLst>
                                        </p:cTn>
                                        <p:tgtEl>
                                          <p:spTgt spid="25"/>
                                        </p:tgtEl>
                                        <p:attrNameLst>
                                          <p:attrName>style.visibility</p:attrName>
                                        </p:attrNameLst>
                                      </p:cBhvr>
                                      <p:to>
                                        <p:strVal val="visible"/>
                                      </p:to>
                                    </p:set>
                                    <p:animEffect transition="in" filter="fade">
                                      <p:cBhvr>
                                        <p:cTn id="24" dur="400"/>
                                        <p:tgtEl>
                                          <p:spTgt spid="2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26"/>
                                        </p:tgtEl>
                                        <p:attrNameLst>
                                          <p:attrName>style.visibility</p:attrName>
                                        </p:attrNameLst>
                                      </p:cBhvr>
                                      <p:to>
                                        <p:strVal val="visible"/>
                                      </p:to>
                                    </p:set>
                                    <p:animEffect transition="in" filter="fade">
                                      <p:cBhvr>
                                        <p:cTn id="29" dur="400"/>
                                        <p:tgtEl>
                                          <p:spTgt spid="26"/>
                                        </p:tgtEl>
                                      </p:cBhvr>
                                    </p:animEffect>
                                  </p:childTnLst>
                                </p:cTn>
                              </p:par>
                              <p:par>
                                <p:cTn id="30" presetID="10" presetClass="entr" presetSubtype="0" fill="hold" nodeType="withEffect">
                                  <p:stCondLst>
                                    <p:cond delay="0"/>
                                  </p:stCondLst>
                                  <p:childTnLst>
                                    <p:set>
                                      <p:cBhvr>
                                        <p:cTn id="31" dur="1" fill="hold">
                                          <p:stCondLst>
                                            <p:cond delay="0"/>
                                          </p:stCondLst>
                                        </p:cTn>
                                        <p:tgtEl>
                                          <p:spTgt spid="27"/>
                                        </p:tgtEl>
                                        <p:attrNameLst>
                                          <p:attrName>style.visibility</p:attrName>
                                        </p:attrNameLst>
                                      </p:cBhvr>
                                      <p:to>
                                        <p:strVal val="visible"/>
                                      </p:to>
                                    </p:set>
                                    <p:animEffect transition="in" filter="fade">
                                      <p:cBhvr>
                                        <p:cTn id="32" dur="400"/>
                                        <p:tgtEl>
                                          <p:spTgt spid="2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400"/>
                                        <p:tgtEl>
                                          <p:spTgt spid="28"/>
                                        </p:tgtEl>
                                      </p:cBhvr>
                                    </p:animEffect>
                                  </p:childTnLst>
                                </p:cTn>
                              </p:par>
                              <p:par>
                                <p:cTn id="38" presetID="10" presetClass="entr" presetSubtype="0" fill="hold" nodeType="withEffect">
                                  <p:stCondLst>
                                    <p:cond delay="0"/>
                                  </p:stCondLst>
                                  <p:childTnLst>
                                    <p:set>
                                      <p:cBhvr>
                                        <p:cTn id="39" dur="1" fill="hold">
                                          <p:stCondLst>
                                            <p:cond delay="0"/>
                                          </p:stCondLst>
                                        </p:cTn>
                                        <p:tgtEl>
                                          <p:spTgt spid="29"/>
                                        </p:tgtEl>
                                        <p:attrNameLst>
                                          <p:attrName>style.visibility</p:attrName>
                                        </p:attrNameLst>
                                      </p:cBhvr>
                                      <p:to>
                                        <p:strVal val="visible"/>
                                      </p:to>
                                    </p:set>
                                    <p:animEffect transition="in" filter="fade">
                                      <p:cBhvr>
                                        <p:cTn id="40" dur="400"/>
                                        <p:tgtEl>
                                          <p:spTgt spid="29"/>
                                        </p:tgtEl>
                                      </p:cBhvr>
                                    </p:animEffect>
                                  </p:childTnLst>
                                </p:cTn>
                              </p:par>
                              <p:par>
                                <p:cTn id="41" presetID="10" presetClass="entr" presetSubtype="0" fill="hold" nodeType="withEffect">
                                  <p:stCondLst>
                                    <p:cond delay="0"/>
                                  </p:stCondLst>
                                  <p:childTnLst>
                                    <p:set>
                                      <p:cBhvr>
                                        <p:cTn id="42" dur="1" fill="hold">
                                          <p:stCondLst>
                                            <p:cond delay="0"/>
                                          </p:stCondLst>
                                        </p:cTn>
                                        <p:tgtEl>
                                          <p:spTgt spid="30"/>
                                        </p:tgtEl>
                                        <p:attrNameLst>
                                          <p:attrName>style.visibility</p:attrName>
                                        </p:attrNameLst>
                                      </p:cBhvr>
                                      <p:to>
                                        <p:strVal val="visible"/>
                                      </p:to>
                                    </p:set>
                                    <p:animEffect transition="in" filter="fade">
                                      <p:cBhvr>
                                        <p:cTn id="43" dur="400"/>
                                        <p:tgtEl>
                                          <p:spTgt spid="30"/>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31"/>
                                        </p:tgtEl>
                                        <p:attrNameLst>
                                          <p:attrName>style.visibility</p:attrName>
                                        </p:attrNameLst>
                                      </p:cBhvr>
                                      <p:to>
                                        <p:strVal val="visible"/>
                                      </p:to>
                                    </p:set>
                                    <p:animEffect transition="in" filter="fade">
                                      <p:cBhvr>
                                        <p:cTn id="48" dur="400"/>
                                        <p:tgtEl>
                                          <p:spTgt spid="31"/>
                                        </p:tgtEl>
                                      </p:cBhvr>
                                    </p:animEffect>
                                  </p:childTnLst>
                                </p:cTn>
                              </p:par>
                              <p:par>
                                <p:cTn id="49" presetID="10" presetClass="entr" presetSubtype="0" fill="hold" nodeType="with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fade">
                                      <p:cBhvr>
                                        <p:cTn id="51"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0"/>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211" descr="/home/claude/lls-course/v2/assets/brush-yellow.png">    </p:cNvPr>
          <p:cNvPicPr>
            <a:picLocks noChangeAspect="1"/>
          </p:cNvPicPr>
          <p:nvPr/>
        </p:nvPicPr>
        <p:blipFill>
          <a:blip r:embed="rId2"/>
          <a:stretch>
            <a:fillRect/>
          </a:stretch>
        </p:blipFill>
        <p:spPr>
          <a:xfrm>
            <a:off x="1097280" y="146304"/>
            <a:ext cx="4663440" cy="621792"/>
          </a:xfrm>
          <a:prstGeom prst="rect">
            <a:avLst/>
          </a:prstGeom>
        </p:spPr>
      </p:pic>
      <p:sp>
        <p:nvSpPr>
          <p:cNvPr id="5" name="title_212"/>
          <p:cNvSpPr/>
          <p:nvPr/>
        </p:nvSpPr>
        <p:spPr>
          <a:xfrm>
            <a:off x="1261872" y="164592"/>
            <a:ext cx="438912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The Pink and Blue Project</a:t>
            </a:r>
            <a:endParaRPr lang="en-US" sz="2500" dirty="0"/>
          </a:p>
        </p:txBody>
      </p:sp>
      <p:pic>
        <p:nvPicPr>
          <p:cNvPr id="6" name="brP_213" descr="/home/claude/lls-course/v2/assets/brush-pink.png">    </p:cNvPr>
          <p:cNvPicPr>
            <a:picLocks noChangeAspect="1"/>
          </p:cNvPicPr>
          <p:nvPr/>
        </p:nvPicPr>
        <p:blipFill>
          <a:blip r:embed="rId3"/>
          <a:stretch>
            <a:fillRect/>
          </a:stretch>
        </p:blipFill>
        <p:spPr>
          <a:xfrm>
            <a:off x="1207008" y="731520"/>
            <a:ext cx="3685032" cy="402336"/>
          </a:xfrm>
          <a:prstGeom prst="rect">
            <a:avLst/>
          </a:prstGeom>
        </p:spPr>
      </p:pic>
      <p:sp>
        <p:nvSpPr>
          <p:cNvPr id="7" name="ins_214"/>
          <p:cNvSpPr/>
          <p:nvPr/>
        </p:nvSpPr>
        <p:spPr>
          <a:xfrm>
            <a:off x="1353312" y="731520"/>
            <a:ext cx="342900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once. Answer questions 1–3.</a:t>
            </a:r>
            <a:endParaRPr lang="en-US" sz="1250" dirty="0"/>
          </a:p>
        </p:txBody>
      </p:sp>
      <p:sp>
        <p:nvSpPr>
          <p:cNvPr id="8" name="insIT_21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una volta. Rispondi alle domande 1–3.</a:t>
            </a:r>
            <a:endParaRPr lang="en-US" sz="950" dirty="0"/>
          </a:p>
        </p:txBody>
      </p:sp>
      <p:sp>
        <p:nvSpPr>
          <p:cNvPr id="9" name="cmd_216"/>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meta_217"/>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alone</a:t>
            </a:r>
            <a:endParaRPr lang="en-US" sz="950" dirty="0"/>
          </a:p>
        </p:txBody>
      </p:sp>
      <p:sp>
        <p:nvSpPr>
          <p:cNvPr id="11" name="tag_218"/>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gist</a:t>
            </a:r>
            <a:endParaRPr lang="en-US" sz="850" dirty="0"/>
          </a:p>
        </p:txBody>
      </p:sp>
      <p:pic>
        <p:nvPicPr>
          <p:cNvPr id="12" name="logo_21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2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Listening · gist   ·   📖 SB p.32 · 4b, 4c · audio 3.24</a:t>
            </a:r>
            <a:endParaRPr lang="en-US" sz="800" dirty="0"/>
          </a:p>
        </p:txBody>
      </p:sp>
      <p:sp>
        <p:nvSpPr>
          <p:cNvPr id="14" name="ap_221"/>
          <p:cNvSpPr/>
          <p:nvPr/>
        </p:nvSpPr>
        <p:spPr>
          <a:xfrm>
            <a:off x="365760" y="1417320"/>
            <a:ext cx="26517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once</a:t>
            </a:r>
            <a:endParaRPr lang="en-US" sz="1100" dirty="0"/>
          </a:p>
        </p:txBody>
      </p:sp>
      <p:sp>
        <p:nvSpPr>
          <p:cNvPr id="15" name="ah_222"/>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6"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7" name="ah_223"/>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9" name="ah2_224"/>
          <p:cNvSpPr/>
          <p:nvPr/>
        </p:nvSpPr>
        <p:spPr>
          <a:xfrm>
            <a:off x="3090672" y="1417320"/>
            <a:ext cx="1737360" cy="402336"/>
          </a:xfrm>
          <a:prstGeom prst="rect">
            <a:avLst/>
          </a:prstGeom>
          <a:noFill/>
          <a:ln/>
        </p:spPr>
        <p:txBody>
          <a:bodyPr wrap="square" lIns="0" tIns="0" rIns="0" bIns="0" rtlCol="0" anchor="ctr"/>
          <a:lstStyle/>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speaker bottom right</a:t>
            </a:r>
            <a:endParaRPr lang="en-US" sz="900" dirty="0"/>
          </a:p>
        </p:txBody>
      </p:sp>
      <p:sp>
        <p:nvSpPr>
          <p:cNvPr id="20" name="pf_225"/>
          <p:cNvSpPr/>
          <p:nvPr/>
        </p:nvSpPr>
        <p:spPr>
          <a:xfrm rot="-90000">
            <a:off x="41148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26" descr="/home/claude/lls-course/v2/cache/3b2_vintage_baby_jpg_407x297_31.png">    </p:cNvPr>
          <p:cNvPicPr>
            <a:picLocks noChangeAspect="1"/>
          </p:cNvPicPr>
          <p:nvPr/>
        </p:nvPicPr>
        <p:blipFill>
          <a:blip r:embed="rId11"/>
          <a:stretch>
            <a:fillRect/>
          </a:stretch>
        </p:blipFill>
        <p:spPr>
          <a:xfrm rot="-90000">
            <a:off x="457200" y="2103120"/>
            <a:ext cx="1691640" cy="1234440"/>
          </a:xfrm>
          <a:prstGeom prst="rect">
            <a:avLst/>
          </a:prstGeom>
        </p:spPr>
      </p:pic>
      <p:sp>
        <p:nvSpPr>
          <p:cNvPr id="22" name="bd_227"/>
          <p:cNvSpPr/>
          <p:nvPr/>
        </p:nvSpPr>
        <p:spPr>
          <a:xfrm>
            <a:off x="310896" y="1956816"/>
            <a:ext cx="420624" cy="42062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A</a:t>
            </a:r>
            <a:endParaRPr lang="en-US" sz="1400" dirty="0"/>
          </a:p>
        </p:txBody>
      </p:sp>
      <p:sp>
        <p:nvSpPr>
          <p:cNvPr id="23" name="pf_228"/>
          <p:cNvSpPr/>
          <p:nvPr/>
        </p:nvSpPr>
        <p:spPr>
          <a:xfrm rot="90000">
            <a:off x="228600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229" descr="/home/claude/lls-course/v2/cache/3b2_toy_aisle_jpg_407x297_31.png">    </p:cNvPr>
          <p:cNvPicPr>
            <a:picLocks noChangeAspect="1"/>
          </p:cNvPicPr>
          <p:nvPr/>
        </p:nvPicPr>
        <p:blipFill>
          <a:blip r:embed="rId12"/>
          <a:stretch>
            <a:fillRect/>
          </a:stretch>
        </p:blipFill>
        <p:spPr>
          <a:xfrm rot="90000">
            <a:off x="2331720" y="2103120"/>
            <a:ext cx="1691640" cy="1234440"/>
          </a:xfrm>
          <a:prstGeom prst="rect">
            <a:avLst/>
          </a:prstGeom>
        </p:spPr>
      </p:pic>
      <p:sp>
        <p:nvSpPr>
          <p:cNvPr id="25" name="bd_230"/>
          <p:cNvSpPr/>
          <p:nvPr/>
        </p:nvSpPr>
        <p:spPr>
          <a:xfrm>
            <a:off x="2185416" y="1956816"/>
            <a:ext cx="420624" cy="42062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B</a:t>
            </a:r>
            <a:endParaRPr lang="en-US" sz="1400" dirty="0"/>
          </a:p>
        </p:txBody>
      </p:sp>
      <p:sp>
        <p:nvSpPr>
          <p:cNvPr id="26" name="pf_231"/>
          <p:cNvSpPr/>
          <p:nvPr/>
        </p:nvSpPr>
        <p:spPr>
          <a:xfrm rot="-90000">
            <a:off x="4160520" y="2057400"/>
            <a:ext cx="178308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7" name="ph_232" descr="/home/claude/lls-course/v2/cache/3b2_two_mums_jpg_407x297_31.png">    </p:cNvPr>
          <p:cNvPicPr>
            <a:picLocks noChangeAspect="1"/>
          </p:cNvPicPr>
          <p:nvPr/>
        </p:nvPicPr>
        <p:blipFill>
          <a:blip r:embed="rId13"/>
          <a:stretch>
            <a:fillRect/>
          </a:stretch>
        </p:blipFill>
        <p:spPr>
          <a:xfrm rot="-90000">
            <a:off x="4206240" y="2103120"/>
            <a:ext cx="1691640" cy="1234440"/>
          </a:xfrm>
          <a:prstGeom prst="rect">
            <a:avLst/>
          </a:prstGeom>
        </p:spPr>
      </p:pic>
      <p:sp>
        <p:nvSpPr>
          <p:cNvPr id="28" name="bd_233"/>
          <p:cNvSpPr/>
          <p:nvPr/>
        </p:nvSpPr>
        <p:spPr>
          <a:xfrm>
            <a:off x="4059936" y="1956816"/>
            <a:ext cx="420624" cy="42062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400" dirty="0">
                <a:solidFill>
                  <a:srgbClr val="FFFFFF"/>
                </a:solidFill>
                <a:latin typeface="Arial Rounded MT Bold" pitchFamily="34" charset="0"/>
                <a:ea typeface="Arial Rounded MT Bold" pitchFamily="34" charset="-122"/>
                <a:cs typeface="Arial Rounded MT Bold" pitchFamily="34" charset="-120"/>
              </a:rPr>
              <a:t>C</a:t>
            </a:r>
            <a:endParaRPr lang="en-US" sz="1400" dirty="0"/>
          </a:p>
        </p:txBody>
      </p:sp>
      <p:sp>
        <p:nvSpPr>
          <p:cNvPr id="29" name="cd_234"/>
          <p:cNvSpPr/>
          <p:nvPr/>
        </p:nvSpPr>
        <p:spPr>
          <a:xfrm>
            <a:off x="365760" y="3611880"/>
            <a:ext cx="5440680" cy="1097280"/>
          </a:xfrm>
          <a:prstGeom prst="roundRect">
            <a:avLst>
              <a:gd name="adj" fmla="val 11667"/>
            </a:avLst>
          </a:prstGeom>
          <a:solidFill>
            <a:srgbClr val="E3F1FD"/>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0" name="ii_235"/>
          <p:cNvSpPr/>
          <p:nvPr/>
        </p:nvSpPr>
        <p:spPr>
          <a:xfrm>
            <a:off x="457200" y="36850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31" name="ih_236"/>
          <p:cNvSpPr/>
          <p:nvPr/>
        </p:nvSpPr>
        <p:spPr>
          <a:xfrm>
            <a:off x="932688" y="3703320"/>
            <a:ext cx="48006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While you listen</a:t>
            </a:r>
            <a:endParaRPr lang="en-US" sz="1300" dirty="0"/>
          </a:p>
        </p:txBody>
      </p:sp>
      <p:sp>
        <p:nvSpPr>
          <p:cNvPr id="32" name="il_237"/>
          <p:cNvSpPr/>
          <p:nvPr/>
        </p:nvSpPr>
        <p:spPr>
          <a:xfrm>
            <a:off x="932688" y="4087368"/>
            <a:ext cx="4782312" cy="5486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1  100 years ago: what colour was for boys?</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2  Are girls genetically attracted to pink?</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3  Do Alison and Natasha agree about toy colours?</a:t>
            </a:r>
            <a:endParaRPr lang="en-US" sz="800" dirty="0"/>
          </a:p>
        </p:txBody>
      </p:sp>
      <p:sp>
        <p:nvSpPr>
          <p:cNvPr id="33" name="lq_238"/>
          <p:cNvSpPr/>
          <p:nvPr/>
        </p:nvSpPr>
        <p:spPr>
          <a:xfrm>
            <a:off x="6035040" y="2103120"/>
            <a:ext cx="1234440" cy="566928"/>
          </a:xfrm>
          <a:prstGeom prst="roundRect">
            <a:avLst>
              <a:gd name="adj" fmla="val 16129"/>
            </a:avLst>
          </a:prstGeom>
          <a:solidFill>
            <a:srgbClr val="FFFFFF"/>
          </a:solidFill>
          <a:ln w="19050">
            <a:solidFill>
              <a:srgbClr val="F7A6C4"/>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1 · 100 years ago?</a:t>
            </a:r>
            <a:endParaRPr lang="en-US" sz="1100" dirty="0"/>
          </a:p>
        </p:txBody>
      </p:sp>
      <p:sp>
        <p:nvSpPr>
          <p:cNvPr id="34" name="R1_chip239"/>
          <p:cNvSpPr/>
          <p:nvPr/>
        </p:nvSpPr>
        <p:spPr>
          <a:xfrm>
            <a:off x="7315200" y="2103120"/>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pink = BOYS! blue = girls</a:t>
            </a:r>
            <a:endParaRPr lang="en-US" sz="1050" dirty="0"/>
          </a:p>
        </p:txBody>
      </p:sp>
      <p:sp>
        <p:nvSpPr>
          <p:cNvPr id="35" name="lq_240"/>
          <p:cNvSpPr/>
          <p:nvPr/>
        </p:nvSpPr>
        <p:spPr>
          <a:xfrm>
            <a:off x="6035040" y="2761488"/>
            <a:ext cx="1234440" cy="566928"/>
          </a:xfrm>
          <a:prstGeom prst="roundRect">
            <a:avLst>
              <a:gd name="adj" fmla="val 16129"/>
            </a:avLst>
          </a:prstGeom>
          <a:solidFill>
            <a:srgbClr val="FFFFFF"/>
          </a:solidFill>
          <a:ln w="19050">
            <a:solidFill>
              <a:srgbClr val="A9D3F5"/>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 Born to love pink?</a:t>
            </a:r>
            <a:endParaRPr lang="en-US" sz="1100" dirty="0"/>
          </a:p>
        </p:txBody>
      </p:sp>
      <p:sp>
        <p:nvSpPr>
          <p:cNvPr id="36" name="R2_chip241"/>
          <p:cNvSpPr/>
          <p:nvPr/>
        </p:nvSpPr>
        <p:spPr>
          <a:xfrm>
            <a:off x="7315200" y="2761488"/>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 it seems not</a:t>
            </a:r>
            <a:endParaRPr lang="en-US" sz="1050" dirty="0"/>
          </a:p>
        </p:txBody>
      </p:sp>
      <p:sp>
        <p:nvSpPr>
          <p:cNvPr id="37" name="lq_242"/>
          <p:cNvSpPr/>
          <p:nvPr/>
        </p:nvSpPr>
        <p:spPr>
          <a:xfrm>
            <a:off x="6035040" y="3419856"/>
            <a:ext cx="1234440" cy="566928"/>
          </a:xfrm>
          <a:prstGeom prst="roundRect">
            <a:avLst>
              <a:gd name="adj" fmla="val 16129"/>
            </a:avLst>
          </a:prstGeom>
          <a:solidFill>
            <a:srgbClr val="FFFFFF"/>
          </a:solidFill>
          <a:ln w="19050">
            <a:solidFill>
              <a:srgbClr val="A8E5BE"/>
            </a:solidFill>
          </a:ln>
        </p:spPr>
        <p:txBody>
          <a:bodyPr wrap="square" lIns="76200" tIns="0" rIns="762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3 · Alison &amp; Natasha agree?</a:t>
            </a:r>
            <a:endParaRPr lang="en-US" sz="1100" dirty="0"/>
          </a:p>
        </p:txBody>
      </p:sp>
      <p:sp>
        <p:nvSpPr>
          <p:cNvPr id="38" name="R3_chip243"/>
          <p:cNvSpPr/>
          <p:nvPr/>
        </p:nvSpPr>
        <p:spPr>
          <a:xfrm>
            <a:off x="7315200" y="3419856"/>
            <a:ext cx="1554480" cy="566928"/>
          </a:xfrm>
          <a:prstGeom prst="roundRect">
            <a:avLst>
              <a:gd name="adj" fmla="val 16129"/>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No, they don't</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4"/>
                                        </p:tgtEl>
                                        <p:attrNameLst>
                                          <p:attrName>style.visibility</p:attrName>
                                        </p:attrNameLst>
                                      </p:cBhvr>
                                      <p:to>
                                        <p:strVal val="visible"/>
                                      </p:to>
                                    </p:set>
                                    <p:animEffect transition="in" filter="fade">
                                      <p:cBhvr>
                                        <p:cTn id="7" dur="400"/>
                                        <p:tgtEl>
                                          <p:spTgt spid="34"/>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6"/>
                                        </p:tgtEl>
                                        <p:attrNameLst>
                                          <p:attrName>style.visibility</p:attrName>
                                        </p:attrNameLst>
                                      </p:cBhvr>
                                      <p:to>
                                        <p:strVal val="visible"/>
                                      </p:to>
                                    </p:set>
                                    <p:animEffect transition="in" filter="fade">
                                      <p:cBhvr>
                                        <p:cTn id="12" dur="400"/>
                                        <p:tgtEl>
                                          <p:spTgt spid="3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8"/>
                                        </p:tgtEl>
                                        <p:attrNameLst>
                                          <p:attrName>style.visibility</p:attrName>
                                        </p:attrNameLst>
                                      </p:cBhvr>
                                      <p:to>
                                        <p:strVal val="visible"/>
                                      </p:to>
                                    </p:set>
                                    <p:animEffect transition="in" filter="fade">
                                      <p:cBhvr>
                                        <p:cTn id="17"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18" restart="whenNotActive" fill="hold" evtFilter="cancelBubble" nodeType="interactiveSeq">
                <p:stCondLst>
                  <p:cond evt="onClick" delay="0">
                    <p:tgtEl>
                      <p:spTgt spid="16"/>
                    </p:tgtEl>
                  </p:cond>
                </p:stCondLst>
                <p:endSync evt="end" delay="0">
                  <p:rtn val="all"/>
                </p:endSync>
                <p:childTnLst>
                  <p:par>
                    <p:cTn id="19" fill="hold">
                      <p:stCondLst>
                        <p:cond delay="0"/>
                      </p:stCondLst>
                      <p:childTnLst>
                        <p:par>
                          <p:cTn id="20" fill="hold">
                            <p:stCondLst>
                              <p:cond delay="0"/>
                            </p:stCondLst>
                            <p:childTnLst>
                              <p:par>
                                <p:cTn id="21" presetID="2" presetClass="mediacall" presetSubtype="0" fill="hold" nodeType="clickEffect">
                                  <p:stCondLst>
                                    <p:cond delay="0"/>
                                  </p:stCondLst>
                                  <p:childTnLst>
                                    <p:cmd type="call" cmd="togglePause">
                                      <p:cBhvr>
                                        <p:cTn id="22" dur="1" fill="hold"/>
                                        <p:tgtEl>
                                          <p:spTgt spid="16"/>
                                        </p:tgtEl>
                                      </p:cBhvr>
                                    </p:cmd>
                                  </p:childTnLst>
                                </p:cTn>
                              </p:par>
                            </p:childTnLst>
                          </p:cTn>
                        </p:par>
                      </p:childTnLst>
                    </p:cTn>
                  </p:par>
                </p:childTnLst>
              </p:cTn>
              <p:nextCondLst>
                <p:cond evt="onClick" delay="0">
                  <p:tgtEl>
                    <p:spTgt spid="16"/>
                  </p:tgtEl>
                </p:cond>
              </p:nextCondLst>
            </p:seq>
            <p:seq concurrent="1" nextAc="seek">
              <p:cTn id="23" restart="whenNotActive" fill="hold" evtFilter="cancelBubble" nodeType="interactiveSeq">
                <p:stCondLst>
                  <p:cond evt="onClick" delay="0">
                    <p:tgtEl>
                      <p:spTgt spid="18"/>
                    </p:tgtEl>
                  </p:cond>
                </p:stCondLst>
                <p:endSync evt="end" delay="0">
                  <p:rtn val="all"/>
                </p:endSync>
                <p:childTnLst>
                  <p:par>
                    <p:cTn id="24" fill="hold">
                      <p:stCondLst>
                        <p:cond delay="0"/>
                      </p:stCondLst>
                      <p:childTnLst>
                        <p:par>
                          <p:cTn id="25" fill="hold">
                            <p:stCondLst>
                              <p:cond delay="0"/>
                            </p:stCondLst>
                            <p:childTnLst>
                              <p:par>
                                <p:cTn id="26" presetID="2" presetClass="mediacall" presetSubtype="0" fill="hold" nodeType="clickEffect">
                                  <p:stCondLst>
                                    <p:cond delay="0"/>
                                  </p:stCondLst>
                                  <p:childTnLst>
                                    <p:cmd type="call" cmd="togglePause">
                                      <p:cBhvr>
                                        <p:cTn id="27" dur="1" fill="hold"/>
                                        <p:tgtEl>
                                          <p:spTgt spid="18"/>
                                        </p:tgtEl>
                                      </p:cBhvr>
                                    </p:cmd>
                                  </p:childTnLst>
                                </p:cTn>
                              </p:par>
                            </p:childTnLst>
                          </p:cTn>
                        </p:par>
                      </p:childTnLst>
                    </p:cTn>
                  </p:par>
                </p:childTnLst>
              </p:cTn>
              <p:nextCondLst>
                <p:cond evt="onClick" delay="0">
                  <p:tgtEl>
                    <p:spTgt spid="18"/>
                  </p:tgtEl>
                </p:cond>
              </p:nextCondLst>
            </p:seq>
            <p:audio>
              <p:cMediaNode vol="80000">
                <p:cTn id="28" fill="hold" display="0">
                  <p:stCondLst>
                    <p:cond delay="indefinite"/>
                  </p:stCondLst>
                  <p:endCondLst>
                    <p:cond evt="onStopAudio" delay="0">
                      <p:tgtEl>
                        <p:sldTgt/>
                      </p:tgtEl>
                    </p:cond>
                  </p:endCondLst>
                </p:cTn>
                <p:tgtEl>
                  <p:spTgt spid="16"/>
                </p:tgtEl>
              </p:cMediaNode>
            </p:audio>
            <p:audio>
              <p:cMediaNode vol="80000">
                <p:cTn id="29"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44"/>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45"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46"/>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Listen again: a, b or c?</a:t>
            </a:r>
            <a:endParaRPr lang="en-US" sz="2500" dirty="0"/>
          </a:p>
        </p:txBody>
      </p:sp>
      <p:pic>
        <p:nvPicPr>
          <p:cNvPr id="6" name="brP_247"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248"/>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again. Choose a, b or c.</a:t>
            </a:r>
            <a:endParaRPr lang="en-US" sz="1250" dirty="0"/>
          </a:p>
        </p:txBody>
      </p:sp>
      <p:sp>
        <p:nvSpPr>
          <p:cNvPr id="8" name="insIT_24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di nuovo. Scegli a, b o c.</a:t>
            </a:r>
            <a:endParaRPr lang="en-US" sz="950" dirty="0"/>
          </a:p>
        </p:txBody>
      </p:sp>
      <p:sp>
        <p:nvSpPr>
          <p:cNvPr id="9" name="cmd_250"/>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251"/>
          <p:cNvSpPr/>
          <p:nvPr/>
        </p:nvSpPr>
        <p:spPr>
          <a:xfrm>
            <a:off x="6510528" y="566928"/>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1" name="meta_252"/>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pairs</a:t>
            </a:r>
            <a:endParaRPr lang="en-US" sz="950" dirty="0"/>
          </a:p>
        </p:txBody>
      </p:sp>
      <p:sp>
        <p:nvSpPr>
          <p:cNvPr id="12" name="tag_253"/>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Listening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for detail</a:t>
            </a:r>
            <a:endParaRPr lang="en-US" sz="850" dirty="0"/>
          </a:p>
        </p:txBody>
      </p:sp>
      <p:pic>
        <p:nvPicPr>
          <p:cNvPr id="13" name="logo_25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25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Listening · detail   ·   📖 SB p.32 · 4d · audio 3.24</a:t>
            </a:r>
            <a:endParaRPr lang="en-US" sz="800" dirty="0"/>
          </a:p>
        </p:txBody>
      </p:sp>
      <p:sp>
        <p:nvSpPr>
          <p:cNvPr id="15" name="ap_256"/>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  ·  play again</a:t>
            </a:r>
            <a:endParaRPr lang="en-US" sz="1100" dirty="0"/>
          </a:p>
        </p:txBody>
      </p:sp>
      <p:sp>
        <p:nvSpPr>
          <p:cNvPr id="16" name="ah_257"/>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258"/>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259"/>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260" descr="/home/claude/lls-course/v2/cache/3b2_toy_aisl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261"/>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262"/>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263"/>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264"/>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265"/>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1  100 years ago pink was ___ than blue.  a more attractive · b more delicate · c stronger</a:t>
            </a:r>
            <a:endParaRPr lang="en-US" sz="1000" dirty="0"/>
          </a:p>
        </p:txBody>
      </p:sp>
      <p:sp>
        <p:nvSpPr>
          <p:cNvPr id="27" name="R1_chip266"/>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stronger</a:t>
            </a:r>
            <a:endParaRPr lang="en-US" sz="1200" dirty="0"/>
          </a:p>
        </p:txBody>
      </p:sp>
      <p:sp>
        <p:nvSpPr>
          <p:cNvPr id="28" name="gq_267"/>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2  Girls in pink after 1945 because of…  a equality · b advertisers · c it suited them</a:t>
            </a:r>
            <a:endParaRPr lang="en-US" sz="1100" dirty="0"/>
          </a:p>
        </p:txBody>
      </p:sp>
      <p:sp>
        <p:nvSpPr>
          <p:cNvPr id="29" name="R2_chip268"/>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gender equality</a:t>
            </a:r>
            <a:endParaRPr lang="en-US" sz="1200" dirty="0"/>
          </a:p>
        </p:txBody>
      </p:sp>
      <p:sp>
        <p:nvSpPr>
          <p:cNvPr id="30" name="gq_269"/>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3  Girls' toys today are ___ boys' toys.  a similar to · b very different from · c more similar to</a:t>
            </a:r>
            <a:endParaRPr lang="en-US" sz="950" dirty="0"/>
          </a:p>
        </p:txBody>
      </p:sp>
      <p:sp>
        <p:nvSpPr>
          <p:cNvPr id="31" name="R3_chip270"/>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b  very different from</a:t>
            </a:r>
            <a:endParaRPr lang="en-US" sz="1200" dirty="0"/>
          </a:p>
        </p:txBody>
      </p:sp>
      <p:sp>
        <p:nvSpPr>
          <p:cNvPr id="32" name="gq_271"/>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4  Alison: toys influence children's future…  a education · b relationships · c personalities</a:t>
            </a:r>
            <a:endParaRPr lang="en-US" sz="1000" dirty="0"/>
          </a:p>
        </p:txBody>
      </p:sp>
      <p:sp>
        <p:nvSpPr>
          <p:cNvPr id="33" name="R4_chip272"/>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  education</a:t>
            </a:r>
            <a:endParaRPr lang="en-US" sz="1200" dirty="0"/>
          </a:p>
        </p:txBody>
      </p:sp>
      <p:sp>
        <p:nvSpPr>
          <p:cNvPr id="34" name="gq_273"/>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850" dirty="0">
                <a:solidFill>
                  <a:srgbClr val="1B2559"/>
                </a:solidFill>
                <a:latin typeface="Segoe UI Semibold" pitchFamily="34" charset="0"/>
                <a:ea typeface="Segoe UI Semibold" pitchFamily="34" charset="-122"/>
                <a:cs typeface="Segoe UI Semibold" pitchFamily="34" charset="-120"/>
              </a:rPr>
              <a:t>5  Natasha: girls choose science toys if…  a parents say so · b they choose · c they're in a pink box</a:t>
            </a:r>
            <a:endParaRPr lang="en-US" sz="850" dirty="0"/>
          </a:p>
        </p:txBody>
      </p:sp>
      <p:sp>
        <p:nvSpPr>
          <p:cNvPr id="35" name="R5_chip274"/>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  a pink box</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7"/>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7"/>
                                        </p:tgtEl>
                                      </p:cBhvr>
                                    </p:cmd>
                                  </p:childTnLst>
                                </p:cTn>
                              </p:par>
                            </p:childTnLst>
                          </p:cTn>
                        </p:par>
                      </p:childTnLst>
                    </p:cTn>
                  </p:par>
                </p:childTnLst>
              </p:cTn>
              <p:nextCondLst>
                <p:cond evt="onClick" delay="0">
                  <p:tgtEl>
                    <p:spTgt spid="17"/>
                  </p:tgtEl>
                </p:cond>
              </p:nextCondLst>
            </p:seq>
            <p:seq concurrent="1" nextAc="seek">
              <p:cTn id="33" restart="whenNotActive" fill="hold" evtFilter="cancelBubble" nodeType="interactiveSeq">
                <p:stCondLst>
                  <p:cond evt="onClick" delay="0">
                    <p:tgtEl>
                      <p:spTgt spid="19"/>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9"/>
                                        </p:tgtEl>
                                      </p:cBhvr>
                                    </p:cmd>
                                  </p:childTnLst>
                                </p:cTn>
                              </p:par>
                            </p:childTnLst>
                          </p:cTn>
                        </p:par>
                      </p:childTnLst>
                    </p:cTn>
                  </p:par>
                </p:childTnLst>
              </p:cTn>
              <p:nextCondLst>
                <p:cond evt="onClick" delay="0">
                  <p:tgtEl>
                    <p:spTgt spid="19"/>
                  </p:tgtEl>
                </p:cond>
              </p:nextCondLst>
            </p:seq>
            <p:audio>
              <p:cMediaNode vol="80000">
                <p:cTn id="38" fill="hold" display="0">
                  <p:stCondLst>
                    <p:cond delay="indefinite"/>
                  </p:stCondLst>
                  <p:endCondLst>
                    <p:cond evt="onStopAudio" delay="0">
                      <p:tgtEl>
                        <p:sldTgt/>
                      </p:tgtEl>
                    </p:cond>
                  </p:endCondLst>
                </p:cTn>
                <p:tgtEl>
                  <p:spTgt spid="17"/>
                </p:tgtEl>
              </p:cMediaNode>
            </p:audio>
            <p:audio>
              <p:cMediaNode vol="80000">
                <p:cTn id="39" fill="hold" display="0">
                  <p:stCondLst>
                    <p:cond delay="indefinite"/>
                  </p:stCondLst>
                  <p:endCondLst>
                    <p:cond evt="onStopAudio" delay="0">
                      <p:tgtEl>
                        <p:sldTgt/>
                      </p:tgtEl>
                    </p:cond>
                  </p:endCondLst>
                </p:cTn>
                <p:tgtEl>
                  <p:spTgt spid="19"/>
                </p:tgtEl>
              </p:cMediaNode>
            </p:audio>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5"/>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6" descr="/home/claude/lls-course/v2/assets/brush-yellow.png">    </p:cNvPr>
          <p:cNvPicPr>
            <a:picLocks noChangeAspect="1"/>
          </p:cNvPicPr>
          <p:nvPr/>
        </p:nvPicPr>
        <p:blipFill>
          <a:blip r:embed="rId2"/>
          <a:stretch>
            <a:fillRect/>
          </a:stretch>
        </p:blipFill>
        <p:spPr>
          <a:xfrm>
            <a:off x="1097280" y="146304"/>
            <a:ext cx="4506163" cy="621792"/>
          </a:xfrm>
          <a:prstGeom prst="rect">
            <a:avLst/>
          </a:prstGeom>
        </p:spPr>
      </p:pic>
      <p:sp>
        <p:nvSpPr>
          <p:cNvPr id="5" name="title_277"/>
          <p:cNvSpPr/>
          <p:nvPr/>
        </p:nvSpPr>
        <p:spPr>
          <a:xfrm>
            <a:off x="1261872" y="164592"/>
            <a:ext cx="423184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Pink box or no pink box?</a:t>
            </a:r>
            <a:endParaRPr lang="en-US" sz="2500" dirty="0"/>
          </a:p>
        </p:txBody>
      </p:sp>
      <p:pic>
        <p:nvPicPr>
          <p:cNvPr id="6" name="brP_278"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279"/>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Answer. Then ask your partner: Why?</a:t>
            </a:r>
            <a:endParaRPr lang="en-US" sz="1250" dirty="0"/>
          </a:p>
        </p:txBody>
      </p:sp>
      <p:sp>
        <p:nvSpPr>
          <p:cNvPr id="8" name="insIT_28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Rispondi. Poi chiedi al compagno: Perché?</a:t>
            </a:r>
            <a:endParaRPr lang="en-US" sz="950" dirty="0"/>
          </a:p>
        </p:txBody>
      </p:sp>
      <p:sp>
        <p:nvSpPr>
          <p:cNvPr id="9" name="cmd_281"/>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28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28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28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28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your opinion   ·   📖 SB p.32 · 4e</a:t>
            </a:r>
            <a:endParaRPr lang="en-US" sz="800" dirty="0"/>
          </a:p>
        </p:txBody>
      </p:sp>
      <p:sp>
        <p:nvSpPr>
          <p:cNvPr id="14" name="pf_286"/>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287" descr="/home/claude/lls-course/v2/cache/3b2_two_mum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6" name="cd_288"/>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7" name="ii_289"/>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8" name="ih_290"/>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9" name="il_291"/>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 agree with Alison / Natasha because…</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In my opinion… · Generally speaking…</a:t>
            </a:r>
            <a:endParaRPr lang="en-US" sz="800" dirty="0"/>
          </a:p>
          <a:p>
            <a:pPr marL="152400" indent="-152400">
              <a:spcBef>
                <a:spcPts val="500"/>
              </a:spcBef>
              <a:spcAft>
                <a:spcPts val="200"/>
              </a:spcAft>
              <a:buSzPct val="100000"/>
              <a:buChar char="•"/>
            </a:pPr>
            <a:r>
              <a:rPr lang="en-US" sz="800" dirty="0">
                <a:solidFill>
                  <a:srgbClr val="1B2559"/>
                </a:solidFill>
                <a:latin typeface="Segoe UI Semibold" pitchFamily="34" charset="0"/>
                <a:ea typeface="Segoe UI Semibold" pitchFamily="34" charset="-122"/>
                <a:cs typeface="Segoe UI Semibold" pitchFamily="34" charset="-120"/>
              </a:rPr>
              <a:t>Really? Why?</a:t>
            </a:r>
            <a:endParaRPr lang="en-US" sz="800" dirty="0"/>
          </a:p>
        </p:txBody>
      </p:sp>
      <p:sp>
        <p:nvSpPr>
          <p:cNvPr id="20" name="R1_qb292"/>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R1_sq293"/>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89% of girls' toys are pink. Is that a problem?</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Yes – girls think science isn't for them.</a:t>
            </a:r>
            <a:endParaRPr lang="en-US" sz="1250" dirty="0"/>
          </a:p>
        </p:txBody>
      </p:sp>
      <p:sp>
        <p:nvSpPr>
          <p:cNvPr id="22" name="R2_qb294"/>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3" name="R2_sq295"/>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Same colours for all toys (Alison) or a pink box (Natasha)?</a:t>
            </a:r>
            <a:endParaRPr lang="en-US" sz="1200" dirty="0"/>
          </a:p>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e.g. Natasha! A pink box is a clever idea.</a:t>
            </a:r>
            <a:endParaRPr lang="en-US" sz="1200" dirty="0"/>
          </a:p>
        </p:txBody>
      </p:sp>
      <p:sp>
        <p:nvSpPr>
          <p:cNvPr id="24" name="R3_qb296"/>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5" name="R3_sq297"/>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toys did you play with? 'Girls' toys' or 'boys' toys'?</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Both – I had dolls and lots of toy cars.</a:t>
            </a:r>
            <a:endParaRPr lang="en-US" sz="1250" dirty="0"/>
          </a:p>
        </p:txBody>
      </p:sp>
      <p:sp>
        <p:nvSpPr>
          <p:cNvPr id="26" name="R4_qb298"/>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299"/>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Would you buy a pink toy for a little boy?</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Why not? Colours are for everyone.</a:t>
            </a:r>
            <a:endParaRPr lang="en-US" sz="1250" dirty="0"/>
          </a:p>
        </p:txBody>
      </p:sp>
      <p:sp>
        <p:nvSpPr>
          <p:cNvPr id="28" name="R5_qb300"/>
          <p:cNvSpPr/>
          <p:nvPr/>
        </p:nvSpPr>
        <p:spPr>
          <a:xfrm>
            <a:off x="3273552" y="3867912"/>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29" name="R5_sq301"/>
          <p:cNvSpPr/>
          <p:nvPr/>
        </p:nvSpPr>
        <p:spPr>
          <a:xfrm>
            <a:off x="3675888" y="3831336"/>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Did your parents ever make you wear clothes you didn't like?</a:t>
            </a:r>
            <a:endParaRPr lang="en-US" sz="110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A horrible yellow jumper from my nonna.</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par>
                                <p:cTn id="8" presetID="10" presetClass="entr" presetSubtype="0" fill="hold" nodeType="withEffect">
                                  <p:stCondLst>
                                    <p:cond delay="0"/>
                                  </p:stCondLst>
                                  <p:childTnLst>
                                    <p:set>
                                      <p:cBhvr>
                                        <p:cTn id="9" dur="1" fill="hold">
                                          <p:stCondLst>
                                            <p:cond delay="0"/>
                                          </p:stCondLst>
                                        </p:cTn>
                                        <p:tgtEl>
                                          <p:spTgt spid="21"/>
                                        </p:tgtEl>
                                        <p:attrNameLst>
                                          <p:attrName>style.visibility</p:attrName>
                                        </p:attrNameLst>
                                      </p:cBhvr>
                                      <p:to>
                                        <p:strVal val="visible"/>
                                      </p:to>
                                    </p:set>
                                    <p:animEffect transition="in" filter="fade">
                                      <p:cBhvr>
                                        <p:cTn id="10" dur="400"/>
                                        <p:tgtEl>
                                          <p:spTgt spid="21"/>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animEffect transition="in" filter="fade">
                                      <p:cBhvr>
                                        <p:cTn id="15" dur="400"/>
                                        <p:tgtEl>
                                          <p:spTgt spid="22"/>
                                        </p:tgtEl>
                                      </p:cBhvr>
                                    </p:animEffect>
                                  </p:childTnLst>
                                </p:cTn>
                              </p:par>
                              <p:par>
                                <p:cTn id="16" presetID="10" presetClass="entr" presetSubtype="0" fill="hold" nodeType="withEffect">
                                  <p:stCondLst>
                                    <p:cond delay="0"/>
                                  </p:stCondLst>
                                  <p:childTnLst>
                                    <p:set>
                                      <p:cBhvr>
                                        <p:cTn id="17" dur="1" fill="hold">
                                          <p:stCondLst>
                                            <p:cond delay="0"/>
                                          </p:stCondLst>
                                        </p:cTn>
                                        <p:tgtEl>
                                          <p:spTgt spid="23"/>
                                        </p:tgtEl>
                                        <p:attrNameLst>
                                          <p:attrName>style.visibility</p:attrName>
                                        </p:attrNameLst>
                                      </p:cBhvr>
                                      <p:to>
                                        <p:strVal val="visible"/>
                                      </p:to>
                                    </p:set>
                                    <p:animEffect transition="in" filter="fade">
                                      <p:cBhvr>
                                        <p:cTn id="18" dur="400"/>
                                        <p:tgtEl>
                                          <p:spTgt spid="23"/>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400"/>
                                        <p:tgtEl>
                                          <p:spTgt spid="24"/>
                                        </p:tgtEl>
                                      </p:cBhvr>
                                    </p:animEffect>
                                  </p:childTnLst>
                                </p:cTn>
                              </p:par>
                              <p:par>
                                <p:cTn id="24" presetID="10" presetClass="entr" presetSubtype="0" fill="hold" nodeType="withEffect">
                                  <p:stCondLst>
                                    <p:cond delay="0"/>
                                  </p:stCondLst>
                                  <p:childTnLst>
                                    <p:set>
                                      <p:cBhvr>
                                        <p:cTn id="25" dur="1" fill="hold">
                                          <p:stCondLst>
                                            <p:cond delay="0"/>
                                          </p:stCondLst>
                                        </p:cTn>
                                        <p:tgtEl>
                                          <p:spTgt spid="25"/>
                                        </p:tgtEl>
                                        <p:attrNameLst>
                                          <p:attrName>style.visibility</p:attrName>
                                        </p:attrNameLst>
                                      </p:cBhvr>
                                      <p:to>
                                        <p:strVal val="visible"/>
                                      </p:to>
                                    </p:set>
                                    <p:animEffect transition="in" filter="fade">
                                      <p:cBhvr>
                                        <p:cTn id="26" dur="400"/>
                                        <p:tgtEl>
                                          <p:spTgt spid="25"/>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400"/>
                                        <p:tgtEl>
                                          <p:spTgt spid="26"/>
                                        </p:tgtEl>
                                      </p:cBhvr>
                                    </p:animEffect>
                                  </p:childTnLst>
                                </p:cTn>
                              </p:par>
                              <p:par>
                                <p:cTn id="32" presetID="10" presetClass="entr" presetSubtype="0" fill="hold"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400"/>
                                        <p:tgtEl>
                                          <p:spTgt spid="27"/>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8"/>
                                        </p:tgtEl>
                                        <p:attrNameLst>
                                          <p:attrName>style.visibility</p:attrName>
                                        </p:attrNameLst>
                                      </p:cBhvr>
                                      <p:to>
                                        <p:strVal val="visible"/>
                                      </p:to>
                                    </p:set>
                                    <p:animEffect transition="in" filter="fade">
                                      <p:cBhvr>
                                        <p:cTn id="39" dur="400"/>
                                        <p:tgtEl>
                                          <p:spTgt spid="28"/>
                                        </p:tgtEl>
                                      </p:cBhvr>
                                    </p:animEffect>
                                  </p:childTnLst>
                                </p:cTn>
                              </p:par>
                              <p:par>
                                <p:cTn id="40" presetID="10" presetClass="entr" presetSubtype="0" fill="hold" nodeType="with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02"/>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303" descr="/home/claude/lls-course/v2/assets/brush-yellow.png">    </p:cNvPr>
          <p:cNvPicPr>
            <a:picLocks noChangeAspect="1"/>
          </p:cNvPicPr>
          <p:nvPr/>
        </p:nvPicPr>
        <p:blipFill>
          <a:blip r:embed="rId2"/>
          <a:stretch>
            <a:fillRect/>
          </a:stretch>
        </p:blipFill>
        <p:spPr>
          <a:xfrm>
            <a:off x="1097280" y="146304"/>
            <a:ext cx="4820717" cy="621792"/>
          </a:xfrm>
          <a:prstGeom prst="rect">
            <a:avLst/>
          </a:prstGeom>
        </p:spPr>
      </p:pic>
      <p:sp>
        <p:nvSpPr>
          <p:cNvPr id="5" name="title_304"/>
          <p:cNvSpPr/>
          <p:nvPr/>
        </p:nvSpPr>
        <p:spPr>
          <a:xfrm>
            <a:off x="1261872" y="164592"/>
            <a:ext cx="4546397" cy="566928"/>
          </a:xfrm>
          <a:prstGeom prst="rect">
            <a:avLst/>
          </a:prstGeom>
          <a:noFill/>
          <a:ln/>
        </p:spPr>
        <p:txBody>
          <a:bodyPr wrap="square" lIns="0" tIns="0" rIns="0" bIns="0" rtlCol="0" anchor="ctr">
            <a:normAutofit/>
          </a:bodyPr>
          <a:lstStyle/>
          <a:p>
            <a:pPr indent="0" marL="0">
              <a:buNone/>
            </a:pPr>
            <a:r>
              <a:rPr lang="en-US" sz="2300" dirty="0">
                <a:solidFill>
                  <a:srgbClr val="1B2559"/>
                </a:solidFill>
                <a:latin typeface="Arial Rounded MT Bold" pitchFamily="34" charset="0"/>
                <a:ea typeface="Arial Rounded MT Bold" pitchFamily="34" charset="-122"/>
                <a:cs typeface="Arial Rounded MT Bold" pitchFamily="34" charset="-120"/>
              </a:rPr>
              <a:t>Remember the prepositions?</a:t>
            </a:r>
            <a:endParaRPr lang="en-US" sz="2300" dirty="0"/>
          </a:p>
        </p:txBody>
      </p:sp>
      <p:pic>
        <p:nvPicPr>
          <p:cNvPr id="6" name="brP_305" descr="/home/claude/lls-course/v2/assets/brush-pink.png">    </p:cNvPr>
          <p:cNvPicPr>
            <a:picLocks noChangeAspect="1"/>
          </p:cNvPicPr>
          <p:nvPr/>
        </p:nvPicPr>
        <p:blipFill>
          <a:blip r:embed="rId3"/>
          <a:stretch>
            <a:fillRect/>
          </a:stretch>
        </p:blipFill>
        <p:spPr>
          <a:xfrm>
            <a:off x="1207008" y="731520"/>
            <a:ext cx="4293108" cy="402336"/>
          </a:xfrm>
          <a:prstGeom prst="rect">
            <a:avLst/>
          </a:prstGeom>
        </p:spPr>
      </p:pic>
      <p:sp>
        <p:nvSpPr>
          <p:cNvPr id="7" name="ins_306"/>
          <p:cNvSpPr/>
          <p:nvPr/>
        </p:nvSpPr>
        <p:spPr>
          <a:xfrm>
            <a:off x="1353312" y="731520"/>
            <a:ext cx="403707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Then listen and check.</a:t>
            </a:r>
            <a:endParaRPr lang="en-US" sz="1250" dirty="0"/>
          </a:p>
        </p:txBody>
      </p:sp>
      <p:sp>
        <p:nvSpPr>
          <p:cNvPr id="8" name="insIT_30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preposizione? Poi ascolta e controlla.</a:t>
            </a:r>
            <a:endParaRPr lang="en-US" sz="950" dirty="0"/>
          </a:p>
        </p:txBody>
      </p:sp>
      <p:sp>
        <p:nvSpPr>
          <p:cNvPr id="9" name="cmd_308"/>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FIND</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TROVA</a:t>
            </a:r>
            <a:endParaRPr lang="en-US" sz="1100" dirty="0"/>
          </a:p>
        </p:txBody>
      </p:sp>
      <p:sp>
        <p:nvSpPr>
          <p:cNvPr id="10" name="cmd_309"/>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10"/>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2" name="tag_311"/>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5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50" dirty="0">
                <a:solidFill>
                  <a:srgbClr val="7B5CD6"/>
                </a:solidFill>
                <a:latin typeface="Segoe UI Semibold" pitchFamily="34" charset="0"/>
                <a:ea typeface="Segoe UI Semibold" pitchFamily="34" charset="-122"/>
                <a:cs typeface="Segoe UI Semibold" pitchFamily="34" charset="-120"/>
              </a:rPr>
              <a:t>  ·  TPRS · reading</a:t>
            </a:r>
            <a:endParaRPr lang="en-US" sz="750" dirty="0"/>
          </a:p>
        </p:txBody>
      </p:sp>
      <p:pic>
        <p:nvPicPr>
          <p:cNvPr id="13" name="logo_31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1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prepositions in the programme   ·   📖 SB p.33 · 5a · audio script 3.24 (p.127)</a:t>
            </a:r>
            <a:endParaRPr lang="en-US" sz="800" dirty="0"/>
          </a:p>
        </p:txBody>
      </p:sp>
      <p:sp>
        <p:nvSpPr>
          <p:cNvPr id="15" name="cd_314"/>
          <p:cNvSpPr/>
          <p:nvPr/>
        </p:nvSpPr>
        <p:spPr>
          <a:xfrm>
            <a:off x="320040" y="1417320"/>
            <a:ext cx="5715000" cy="3337560"/>
          </a:xfrm>
          <a:prstGeom prst="roundRect">
            <a:avLst>
              <a:gd name="adj" fmla="val 3836"/>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16" name="sh_315"/>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From the radio programme</a:t>
            </a:r>
            <a:endParaRPr lang="en-US" sz="1700" dirty="0"/>
          </a:p>
        </p:txBody>
      </p:sp>
      <p:sp>
        <p:nvSpPr>
          <p:cNvPr id="17" name="ln_316"/>
          <p:cNvSpPr/>
          <p:nvPr/>
        </p:nvSpPr>
        <p:spPr>
          <a:xfrm>
            <a:off x="548640" y="19202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2EB872"/>
                </a:solidFill>
                <a:latin typeface="Georgia" pitchFamily="34" charset="0"/>
                <a:ea typeface="Georgia" pitchFamily="34" charset="-122"/>
                <a:cs typeface="Georgia" pitchFamily="34" charset="-120"/>
              </a:rPr>
              <a:t> (1) ________ </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8" name="R1_lnA317"/>
          <p:cNvSpPr/>
          <p:nvPr/>
        </p:nvSpPr>
        <p:spPr>
          <a:xfrm>
            <a:off x="548640" y="19202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Are little girls genetically attracted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to</a:t>
            </a:r>
            <a:pPr indent="0" marL="0">
              <a:buNone/>
            </a:pPr>
            <a:r>
              <a:rPr lang="en-US" sz="1250" dirty="0">
                <a:solidFill>
                  <a:srgbClr val="1B2559"/>
                </a:solidFill>
                <a:latin typeface="Georgia" pitchFamily="34" charset="0"/>
                <a:ea typeface="Georgia" pitchFamily="34" charset="-122"/>
                <a:cs typeface="Georgia" pitchFamily="34" charset="-120"/>
              </a:rPr>
              <a:t> pink?</a:t>
            </a:r>
            <a:endParaRPr lang="en-US" sz="1250" dirty="0"/>
          </a:p>
        </p:txBody>
      </p:sp>
      <p:sp>
        <p:nvSpPr>
          <p:cNvPr id="19" name="ln_318"/>
          <p:cNvSpPr/>
          <p:nvPr/>
        </p:nvSpPr>
        <p:spPr>
          <a:xfrm>
            <a:off x="548640" y="238506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2EB872"/>
                </a:solidFill>
                <a:latin typeface="Georgia" pitchFamily="34" charset="0"/>
                <a:ea typeface="Georgia" pitchFamily="34" charset="-122"/>
                <a:cs typeface="Georgia" pitchFamily="34" charset="-120"/>
              </a:rPr>
              <a:t> (2) ________ </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0" name="R2_lnA319"/>
          <p:cNvSpPr/>
          <p:nvPr/>
        </p:nvSpPr>
        <p:spPr>
          <a:xfrm>
            <a:off x="548640" y="238506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But is this something we really need to worry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a:t>
            </a:r>
            <a:endParaRPr lang="en-US" sz="1250" dirty="0"/>
          </a:p>
        </p:txBody>
      </p:sp>
      <p:sp>
        <p:nvSpPr>
          <p:cNvPr id="21" name="ln_320"/>
          <p:cNvSpPr/>
          <p:nvPr/>
        </p:nvSpPr>
        <p:spPr>
          <a:xfrm>
            <a:off x="548640" y="284988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2EB872"/>
                </a:solidFill>
                <a:latin typeface="Georgia" pitchFamily="34" charset="0"/>
                <a:ea typeface="Georgia" pitchFamily="34" charset="-122"/>
                <a:cs typeface="Georgia" pitchFamily="34" charset="-120"/>
              </a:rPr>
              <a:t> (3) ________ </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2" name="R3_lnA321"/>
          <p:cNvSpPr/>
          <p:nvPr/>
        </p:nvSpPr>
        <p:spPr>
          <a:xfrm>
            <a:off x="548640" y="284988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When we're choosing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between</a:t>
            </a:r>
            <a:pPr indent="0" marL="0">
              <a:buNone/>
            </a:pPr>
            <a:r>
              <a:rPr lang="en-US" sz="1250" dirty="0">
                <a:solidFill>
                  <a:srgbClr val="1B2559"/>
                </a:solidFill>
                <a:latin typeface="Georgia" pitchFamily="34" charset="0"/>
                <a:ea typeface="Georgia" pitchFamily="34" charset="-122"/>
                <a:cs typeface="Georgia" pitchFamily="34" charset="-120"/>
              </a:rPr>
              <a:t> one toy or another…</a:t>
            </a:r>
            <a:endParaRPr lang="en-US" sz="1250" dirty="0"/>
          </a:p>
        </p:txBody>
      </p:sp>
      <p:sp>
        <p:nvSpPr>
          <p:cNvPr id="23" name="ln_322"/>
          <p:cNvSpPr/>
          <p:nvPr/>
        </p:nvSpPr>
        <p:spPr>
          <a:xfrm>
            <a:off x="548640" y="331470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2EB872"/>
                </a:solidFill>
                <a:latin typeface="Georgia" pitchFamily="34" charset="0"/>
                <a:ea typeface="Georgia" pitchFamily="34" charset="-122"/>
                <a:cs typeface="Georgia" pitchFamily="34" charset="-120"/>
              </a:rPr>
              <a:t> (4) ________ </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4" name="R4_lnA323"/>
          <p:cNvSpPr/>
          <p:nvPr/>
        </p:nvSpPr>
        <p:spPr>
          <a:xfrm>
            <a:off x="548640" y="331470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Most girls' toys are still based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on</a:t>
            </a:r>
            <a:pPr indent="0" marL="0">
              <a:buNone/>
            </a:pPr>
            <a:r>
              <a:rPr lang="en-US" sz="1250" dirty="0">
                <a:solidFill>
                  <a:srgbClr val="1B2559"/>
                </a:solidFill>
                <a:latin typeface="Georgia" pitchFamily="34" charset="0"/>
                <a:ea typeface="Georgia" pitchFamily="34" charset="-122"/>
                <a:cs typeface="Georgia" pitchFamily="34" charset="-120"/>
              </a:rPr>
              <a:t> dolls and dressing up.</a:t>
            </a:r>
            <a:endParaRPr lang="en-US" sz="1250" dirty="0"/>
          </a:p>
        </p:txBody>
      </p:sp>
      <p:sp>
        <p:nvSpPr>
          <p:cNvPr id="25" name="ln_324"/>
          <p:cNvSpPr/>
          <p:nvPr/>
        </p:nvSpPr>
        <p:spPr>
          <a:xfrm>
            <a:off x="548640" y="377952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2EB872"/>
                </a:solidFill>
                <a:latin typeface="Georgia" pitchFamily="34" charset="0"/>
                <a:ea typeface="Georgia" pitchFamily="34" charset="-122"/>
                <a:cs typeface="Georgia" pitchFamily="34" charset="-120"/>
              </a:rPr>
              <a:t> (5) ________ </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6" name="R5_lnA325"/>
          <p:cNvSpPr/>
          <p:nvPr/>
        </p:nvSpPr>
        <p:spPr>
          <a:xfrm>
            <a:off x="548640" y="377952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If we want girls to get interested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in</a:t>
            </a:r>
            <a:pPr indent="0" marL="0">
              <a:buNone/>
            </a:pPr>
            <a:r>
              <a:rPr lang="en-US" sz="1250" dirty="0">
                <a:solidFill>
                  <a:srgbClr val="1B2559"/>
                </a:solidFill>
                <a:latin typeface="Georgia" pitchFamily="34" charset="0"/>
                <a:ea typeface="Georgia" pitchFamily="34" charset="-122"/>
                <a:cs typeface="Georgia" pitchFamily="34" charset="-120"/>
              </a:rPr>
              <a:t> maths and science…</a:t>
            </a:r>
            <a:endParaRPr lang="en-US" sz="1250" dirty="0"/>
          </a:p>
        </p:txBody>
      </p:sp>
      <p:sp>
        <p:nvSpPr>
          <p:cNvPr id="27" name="ln_326"/>
          <p:cNvSpPr/>
          <p:nvPr/>
        </p:nvSpPr>
        <p:spPr>
          <a:xfrm>
            <a:off x="548640" y="4244340"/>
            <a:ext cx="5349240" cy="464820"/>
          </a:xfrm>
          <a:prstGeom prst="rect">
            <a:avLst/>
          </a:prstGeom>
          <a:no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2EB872"/>
                </a:solidFill>
                <a:latin typeface="Georgia" pitchFamily="34" charset="0"/>
                <a:ea typeface="Georgia" pitchFamily="34" charset="-122"/>
                <a:cs typeface="Georgia" pitchFamily="34" charset="-120"/>
              </a:rPr>
              <a:t> (6) ________ </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8" name="R6_lnA327"/>
          <p:cNvSpPr/>
          <p:nvPr/>
        </p:nvSpPr>
        <p:spPr>
          <a:xfrm>
            <a:off x="548640" y="4244340"/>
            <a:ext cx="5349240" cy="464820"/>
          </a:xfrm>
          <a:prstGeom prst="rect">
            <a:avLst/>
          </a:prstGeom>
          <a:solidFill>
            <a:srgbClr val="FFFFFF"/>
          </a:solidFill>
          <a:ln/>
        </p:spPr>
        <p:txBody>
          <a:bodyPr wrap="square" lIns="0" tIns="0" rIns="0" bIns="0" rtlCol="0" anchor="ctr">
            <a:normAutofit/>
          </a:bodyPr>
          <a:lstStyle/>
          <a:p>
            <a:pPr indent="0" marL="0">
              <a:buNone/>
            </a:pPr>
            <a:r>
              <a:rPr lang="en-US" sz="1250" dirty="0">
                <a:solidFill>
                  <a:srgbClr val="1B2559"/>
                </a:solidFill>
                <a:latin typeface="Georgia" pitchFamily="34" charset="0"/>
                <a:ea typeface="Georgia" pitchFamily="34" charset="-122"/>
                <a:cs typeface="Georgia" pitchFamily="34" charset="-120"/>
              </a:rPr>
              <a:t>…parents need to forget </a:t>
            </a:r>
            <a:pPr indent="0" marL="0">
              <a:buNone/>
            </a:pPr>
            <a:r>
              <a:rPr lang="en-US" sz="1250" b="1" dirty="0">
                <a:solidFill>
                  <a:srgbClr val="1B2559"/>
                </a:solidFill>
                <a:highlight>
                  <a:srgbClr val="FFE066"/>
                </a:highlight>
                <a:latin typeface="Georgia" pitchFamily="34" charset="0"/>
                <a:ea typeface="Georgia" pitchFamily="34" charset="-122"/>
                <a:cs typeface="Georgia" pitchFamily="34" charset="-120"/>
              </a:rPr>
              <a:t>about</a:t>
            </a:r>
            <a:pPr indent="0" marL="0">
              <a:buNone/>
            </a:pPr>
            <a:r>
              <a:rPr lang="en-US" sz="1250" dirty="0">
                <a:solidFill>
                  <a:srgbClr val="1B2559"/>
                </a:solidFill>
                <a:latin typeface="Georgia" pitchFamily="34" charset="0"/>
                <a:ea typeface="Georgia" pitchFamily="34" charset="-122"/>
                <a:cs typeface="Georgia" pitchFamily="34" charset="-120"/>
              </a:rPr>
              <a:t> the stereotypes.</a:t>
            </a:r>
            <a:endParaRPr lang="en-US" sz="1250" dirty="0"/>
          </a:p>
        </p:txBody>
      </p:sp>
      <p:sp>
        <p:nvSpPr>
          <p:cNvPr id="29" name="ap_328"/>
          <p:cNvSpPr/>
          <p:nvPr/>
        </p:nvSpPr>
        <p:spPr>
          <a:xfrm>
            <a:off x="6263640" y="1417320"/>
            <a:ext cx="201168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3.24</a:t>
            </a:r>
            <a:endParaRPr lang="en-US" sz="1100" dirty="0"/>
          </a:p>
        </p:txBody>
      </p:sp>
      <p:sp>
        <p:nvSpPr>
          <p:cNvPr id="30" name="ah_329"/>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31"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32" name="ah_330"/>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33"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34" name="pf_331"/>
          <p:cNvSpPr/>
          <p:nvPr/>
        </p:nvSpPr>
        <p:spPr>
          <a:xfrm rot="120000">
            <a:off x="6309360" y="1965960"/>
            <a:ext cx="2560320"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5" name="ph_332" descr="/home/claude/lls-course/v2/cache/3b2_two_mums_jpg_594x341_31.png">    </p:cNvPr>
          <p:cNvPicPr>
            <a:picLocks noChangeAspect="1"/>
          </p:cNvPicPr>
          <p:nvPr/>
        </p:nvPicPr>
        <p:blipFill>
          <a:blip r:embed="rId11"/>
          <a:stretch>
            <a:fillRect/>
          </a:stretch>
        </p:blipFill>
        <p:spPr>
          <a:xfrm rot="120000">
            <a:off x="6355080" y="2011680"/>
            <a:ext cx="2468880" cy="14173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0"/>
                                        </p:tgtEl>
                                        <p:attrNameLst>
                                          <p:attrName>style.visibility</p:attrName>
                                        </p:attrNameLst>
                                      </p:cBhvr>
                                      <p:to>
                                        <p:strVal val="visible"/>
                                      </p:to>
                                    </p:set>
                                    <p:animEffect transition="in" filter="fade">
                                      <p:cBhvr>
                                        <p:cTn id="12" dur="400"/>
                                        <p:tgtEl>
                                          <p:spTgt spid="20"/>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4"/>
                                        </p:tgtEl>
                                        <p:attrNameLst>
                                          <p:attrName>style.visibility</p:attrName>
                                        </p:attrNameLst>
                                      </p:cBhvr>
                                      <p:to>
                                        <p:strVal val="visible"/>
                                      </p:to>
                                    </p:set>
                                    <p:animEffect transition="in" filter="fade">
                                      <p:cBhvr>
                                        <p:cTn id="22" dur="400"/>
                                        <p:tgtEl>
                                          <p:spTgt spid="24"/>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6"/>
                                        </p:tgtEl>
                                        <p:attrNameLst>
                                          <p:attrName>style.visibility</p:attrName>
                                        </p:attrNameLst>
                                      </p:cBhvr>
                                      <p:to>
                                        <p:strVal val="visible"/>
                                      </p:to>
                                    </p:set>
                                    <p:animEffect transition="in" filter="fade">
                                      <p:cBhvr>
                                        <p:cTn id="27" dur="400"/>
                                        <p:tgtEl>
                                          <p:spTgt spid="26"/>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31"/>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31"/>
                                        </p:tgtEl>
                                      </p:cBhvr>
                                    </p:cmd>
                                  </p:childTnLst>
                                </p:cTn>
                              </p:par>
                            </p:childTnLst>
                          </p:cTn>
                        </p:par>
                      </p:childTnLst>
                    </p:cTn>
                  </p:par>
                </p:childTnLst>
              </p:cTn>
              <p:nextCondLst>
                <p:cond evt="onClick" delay="0">
                  <p:tgtEl>
                    <p:spTgt spid="31"/>
                  </p:tgtEl>
                </p:cond>
              </p:nextCondLst>
            </p:seq>
            <p:seq concurrent="1" nextAc="seek">
              <p:cTn id="38" restart="whenNotActive" fill="hold" evtFilter="cancelBubble" nodeType="interactiveSeq">
                <p:stCondLst>
                  <p:cond evt="onClick" delay="0">
                    <p:tgtEl>
                      <p:spTgt spid="33"/>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33"/>
                                        </p:tgtEl>
                                      </p:cBhvr>
                                    </p:cmd>
                                  </p:childTnLst>
                                </p:cTn>
                              </p:par>
                            </p:childTnLst>
                          </p:cTn>
                        </p:par>
                      </p:childTnLst>
                    </p:cTn>
                  </p:par>
                </p:childTnLst>
              </p:cTn>
              <p:nextCondLst>
                <p:cond evt="onClick" delay="0">
                  <p:tgtEl>
                    <p:spTgt spid="33"/>
                  </p:tgtEl>
                </p:cond>
              </p:nextCondLst>
            </p:seq>
            <p:audio>
              <p:cMediaNode vol="80000">
                <p:cTn id="43" fill="hold" display="0">
                  <p:stCondLst>
                    <p:cond delay="indefinite"/>
                  </p:stCondLst>
                  <p:endCondLst>
                    <p:cond evt="onStopAudio" delay="0">
                      <p:tgtEl>
                        <p:sldTgt/>
                      </p:tgtEl>
                    </p:cond>
                  </p:endCondLst>
                </p:cTn>
                <p:tgtEl>
                  <p:spTgt spid="31"/>
                </p:tgtEl>
              </p:cMediaNode>
            </p:audio>
            <p:audio>
              <p:cMediaNode vol="80000">
                <p:cTn id="44" fill="hold" display="0">
                  <p:stCondLst>
                    <p:cond delay="indefinite"/>
                  </p:stCondLst>
                  <p:endCondLst>
                    <p:cond evt="onStopAudio" delay="0">
                      <p:tgtEl>
                        <p:sldTgt/>
                      </p:tgtEl>
                    </p:cond>
                  </p:endCondLst>
                </p:cTn>
                <p:tgtEl>
                  <p:spTgt spid="33"/>
                </p:tgtEl>
              </p:cMediaNode>
            </p:audio>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33"/>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3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3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Verb + preposition</a:t>
            </a:r>
            <a:endParaRPr lang="en-US" sz="2500" dirty="0"/>
          </a:p>
        </p:txBody>
      </p:sp>
      <p:pic>
        <p:nvPicPr>
          <p:cNvPr id="6" name="brP_336"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37"/>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Write the prepositions. Then listen.</a:t>
            </a:r>
            <a:endParaRPr lang="en-US" sz="1250" dirty="0"/>
          </a:p>
        </p:txBody>
      </p:sp>
      <p:sp>
        <p:nvSpPr>
          <p:cNvPr id="8" name="insIT_33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Scrivi le preposizioni. Poi ascolta.</a:t>
            </a:r>
            <a:endParaRPr lang="en-US" sz="950" dirty="0"/>
          </a:p>
        </p:txBody>
      </p:sp>
      <p:sp>
        <p:nvSpPr>
          <p:cNvPr id="9" name="cmd_339"/>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340"/>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341"/>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342"/>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34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34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verb + preposition   ·   📖 Vocabulary Bank Dependent prepositions p.156 · 1 After verbs · audio 3.25</a:t>
            </a:r>
            <a:endParaRPr lang="en-US" sz="800" dirty="0"/>
          </a:p>
        </p:txBody>
      </p:sp>
      <p:sp>
        <p:nvSpPr>
          <p:cNvPr id="15" name="ap_345"/>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3.25  ·  pause after each one</a:t>
            </a:r>
            <a:endParaRPr lang="en-US" sz="1100" dirty="0"/>
          </a:p>
        </p:txBody>
      </p:sp>
      <p:sp>
        <p:nvSpPr>
          <p:cNvPr id="16" name="ah_346"/>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347"/>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348"/>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349" descr="/home/claude/lls-course/v2/cache/3b2_argu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350"/>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351"/>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352"/>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353"/>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354"/>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 apologized ___ the police officer ___ driving fast.</a:t>
            </a:r>
            <a:endParaRPr lang="en-US" sz="1200" dirty="0"/>
          </a:p>
        </p:txBody>
      </p:sp>
      <p:sp>
        <p:nvSpPr>
          <p:cNvPr id="27" name="R1_chip355"/>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 · for</a:t>
            </a:r>
            <a:endParaRPr lang="en-US" sz="1200" dirty="0"/>
          </a:p>
        </p:txBody>
      </p:sp>
      <p:sp>
        <p:nvSpPr>
          <p:cNvPr id="28" name="gq_356"/>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I never argue ___ my husband ___ money.</a:t>
            </a:r>
            <a:endParaRPr lang="en-US" sz="1200" dirty="0"/>
          </a:p>
        </p:txBody>
      </p:sp>
      <p:sp>
        <p:nvSpPr>
          <p:cNvPr id="29" name="R2_chip357"/>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with · about</a:t>
            </a:r>
            <a:endParaRPr lang="en-US" sz="1200" dirty="0"/>
          </a:p>
        </p:txBody>
      </p:sp>
      <p:sp>
        <p:nvSpPr>
          <p:cNvPr id="30" name="gq_358"/>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We might go out. It depends ___ the weather.</a:t>
            </a:r>
            <a:endParaRPr lang="en-US" sz="1200" dirty="0"/>
          </a:p>
        </p:txBody>
      </p:sp>
      <p:sp>
        <p:nvSpPr>
          <p:cNvPr id="31" name="R3_chip359"/>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
        <p:nvSpPr>
          <p:cNvPr id="32" name="gq_360"/>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Don't laugh ___ me! I'm doing my best!</a:t>
            </a:r>
            <a:endParaRPr lang="en-US" sz="1200" dirty="0"/>
          </a:p>
        </p:txBody>
      </p:sp>
      <p:sp>
        <p:nvSpPr>
          <p:cNvPr id="33" name="R4_chip361"/>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4" name="gq_362"/>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I'm really looking forward ___ the party.</a:t>
            </a:r>
            <a:endParaRPr lang="en-US" sz="1200" dirty="0"/>
          </a:p>
        </p:txBody>
      </p:sp>
      <p:sp>
        <p:nvSpPr>
          <p:cNvPr id="35" name="R5_chip363"/>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6" name="gq_364"/>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This music reminds me ___ our honeymoon in Italy.</a:t>
            </a:r>
            <a:endParaRPr lang="en-US" sz="1200" dirty="0"/>
          </a:p>
        </p:txBody>
      </p:sp>
      <p:sp>
        <p:nvSpPr>
          <p:cNvPr id="37" name="R6_chip365"/>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66"/>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67"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368"/>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Adjective + preposition</a:t>
            </a:r>
            <a:endParaRPr lang="en-US" sz="2500" dirty="0"/>
          </a:p>
        </p:txBody>
      </p:sp>
      <p:pic>
        <p:nvPicPr>
          <p:cNvPr id="6" name="brP_36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37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Which preposition? Match the colour.</a:t>
            </a:r>
            <a:endParaRPr lang="en-US" sz="1250" dirty="0"/>
          </a:p>
        </p:txBody>
      </p:sp>
      <p:sp>
        <p:nvSpPr>
          <p:cNvPr id="8" name="insIT_3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Quale preposizione? Abbina il colore.</a:t>
            </a:r>
            <a:endParaRPr lang="en-US" sz="950" dirty="0"/>
          </a:p>
        </p:txBody>
      </p:sp>
      <p:sp>
        <p:nvSpPr>
          <p:cNvPr id="9" name="cmd_372"/>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MATCH</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ABBINA</a:t>
            </a:r>
            <a:endParaRPr lang="en-US" sz="1100" dirty="0"/>
          </a:p>
        </p:txBody>
      </p:sp>
      <p:sp>
        <p:nvSpPr>
          <p:cNvPr id="10" name="meta_373"/>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1" name="tag_374"/>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Guided discovery</a:t>
            </a:r>
            <a:endParaRPr lang="en-US" sz="700" dirty="0"/>
          </a:p>
        </p:txBody>
      </p:sp>
      <p:pic>
        <p:nvPicPr>
          <p:cNvPr id="12" name="logo_37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37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adjective + preposition   ·   📖 Vocabulary Bank p.156 · 2 After adjectives · audio 3.26</a:t>
            </a:r>
            <a:endParaRPr lang="en-US" sz="800" dirty="0"/>
          </a:p>
        </p:txBody>
      </p:sp>
      <p:sp>
        <p:nvSpPr>
          <p:cNvPr id="14" name="cd_377"/>
          <p:cNvSpPr/>
          <p:nvPr/>
        </p:nvSpPr>
        <p:spPr>
          <a:xfrm>
            <a:off x="320040" y="1417320"/>
            <a:ext cx="2697480" cy="2295144"/>
          </a:xfrm>
          <a:prstGeom prst="roundRect">
            <a:avLst>
              <a:gd name="adj" fmla="val 5578"/>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378"/>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79"/>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The colours</a:t>
            </a:r>
            <a:endParaRPr lang="en-US" sz="1300" dirty="0"/>
          </a:p>
        </p:txBody>
      </p:sp>
      <p:sp>
        <p:nvSpPr>
          <p:cNvPr id="17" name="il_380"/>
          <p:cNvSpPr/>
          <p:nvPr/>
        </p:nvSpPr>
        <p:spPr>
          <a:xfrm>
            <a:off x="886968" y="1892808"/>
            <a:ext cx="2039112" cy="1746504"/>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18" name="lg_381"/>
          <p:cNvSpPr/>
          <p:nvPr/>
        </p:nvSpPr>
        <p:spPr>
          <a:xfrm>
            <a:off x="457200"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of</a:t>
            </a:r>
            <a:endParaRPr lang="en-US" sz="1050" dirty="0"/>
          </a:p>
        </p:txBody>
      </p:sp>
      <p:sp>
        <p:nvSpPr>
          <p:cNvPr id="19" name="lg_382"/>
          <p:cNvSpPr/>
          <p:nvPr/>
        </p:nvSpPr>
        <p:spPr>
          <a:xfrm>
            <a:off x="1719072" y="1984248"/>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at</a:t>
            </a:r>
            <a:endParaRPr lang="en-US" sz="1050" dirty="0"/>
          </a:p>
        </p:txBody>
      </p:sp>
      <p:sp>
        <p:nvSpPr>
          <p:cNvPr id="20" name="lg_383"/>
          <p:cNvSpPr/>
          <p:nvPr/>
        </p:nvSpPr>
        <p:spPr>
          <a:xfrm>
            <a:off x="457200"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with</a:t>
            </a:r>
            <a:endParaRPr lang="en-US" sz="1050" dirty="0"/>
          </a:p>
        </p:txBody>
      </p:sp>
      <p:sp>
        <p:nvSpPr>
          <p:cNvPr id="21" name="lg_384"/>
          <p:cNvSpPr/>
          <p:nvPr/>
        </p:nvSpPr>
        <p:spPr>
          <a:xfrm>
            <a:off x="1719072" y="2368296"/>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in</a:t>
            </a:r>
            <a:endParaRPr lang="en-US" sz="1050" dirty="0"/>
          </a:p>
        </p:txBody>
      </p:sp>
      <p:sp>
        <p:nvSpPr>
          <p:cNvPr id="22" name="lg_385"/>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on</a:t>
            </a:r>
            <a:endParaRPr lang="en-US" sz="1050" dirty="0"/>
          </a:p>
        </p:txBody>
      </p:sp>
      <p:sp>
        <p:nvSpPr>
          <p:cNvPr id="23" name="lg_386"/>
          <p:cNvSpPr/>
          <p:nvPr/>
        </p:nvSpPr>
        <p:spPr>
          <a:xfrm>
            <a:off x="1719072" y="2752344"/>
            <a:ext cx="1188720" cy="310896"/>
          </a:xfrm>
          <a:prstGeom prst="roundRect">
            <a:avLst>
              <a:gd name="adj" fmla="val 50000"/>
            </a:avLst>
          </a:prstGeom>
          <a:solidFill>
            <a:srgbClr val="FFB98A"/>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about</a:t>
            </a:r>
            <a:endParaRPr lang="en-US" sz="1050" dirty="0"/>
          </a:p>
        </p:txBody>
      </p:sp>
      <p:sp>
        <p:nvSpPr>
          <p:cNvPr id="24" name="sq_387"/>
          <p:cNvSpPr/>
          <p:nvPr/>
        </p:nvSpPr>
        <p:spPr>
          <a:xfrm>
            <a:off x="3246120" y="141732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a  My brother is afraid ___ bats.</a:t>
            </a:r>
            <a:endParaRPr lang="en-US" sz="1200" dirty="0"/>
          </a:p>
        </p:txBody>
      </p:sp>
      <p:sp>
        <p:nvSpPr>
          <p:cNvPr id="25" name="R1_tag388"/>
          <p:cNvSpPr/>
          <p:nvPr/>
        </p:nvSpPr>
        <p:spPr>
          <a:xfrm>
            <a:off x="7178040" y="14173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26" name="sq_389"/>
          <p:cNvSpPr/>
          <p:nvPr/>
        </p:nvSpPr>
        <p:spPr>
          <a:xfrm>
            <a:off x="3246120" y="182880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b  I've never been good ___ sport.</a:t>
            </a:r>
            <a:endParaRPr lang="en-US" sz="1200" dirty="0"/>
          </a:p>
        </p:txBody>
      </p:sp>
      <p:sp>
        <p:nvSpPr>
          <p:cNvPr id="27" name="R2_tag390"/>
          <p:cNvSpPr/>
          <p:nvPr/>
        </p:nvSpPr>
        <p:spPr>
          <a:xfrm>
            <a:off x="7178040" y="1828800"/>
            <a:ext cx="1691640" cy="347472"/>
          </a:xfrm>
          <a:prstGeom prst="roundRect">
            <a:avLst>
              <a:gd name="adj" fmla="val 65789"/>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at</a:t>
            </a:r>
            <a:endParaRPr lang="en-US" sz="1150" dirty="0"/>
          </a:p>
        </p:txBody>
      </p:sp>
      <p:sp>
        <p:nvSpPr>
          <p:cNvPr id="28" name="sq_391"/>
          <p:cNvSpPr/>
          <p:nvPr/>
        </p:nvSpPr>
        <p:spPr>
          <a:xfrm>
            <a:off x="3246120" y="224028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c  I'm fed up ___ sitting in this traffic jam.</a:t>
            </a:r>
            <a:endParaRPr lang="en-US" sz="1200" dirty="0"/>
          </a:p>
        </p:txBody>
      </p:sp>
      <p:sp>
        <p:nvSpPr>
          <p:cNvPr id="29" name="R3_tag392"/>
          <p:cNvSpPr/>
          <p:nvPr/>
        </p:nvSpPr>
        <p:spPr>
          <a:xfrm>
            <a:off x="7178040" y="2240280"/>
            <a:ext cx="1691640" cy="347472"/>
          </a:xfrm>
          <a:prstGeom prst="roundRect">
            <a:avLst>
              <a:gd name="adj" fmla="val 65789"/>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with</a:t>
            </a:r>
            <a:endParaRPr lang="en-US" sz="1150" dirty="0"/>
          </a:p>
        </p:txBody>
      </p:sp>
      <p:sp>
        <p:nvSpPr>
          <p:cNvPr id="30" name="sq_393"/>
          <p:cNvSpPr/>
          <p:nvPr/>
        </p:nvSpPr>
        <p:spPr>
          <a:xfrm>
            <a:off x="3246120" y="265176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d  My sister is very interested ___ astrology.</a:t>
            </a:r>
            <a:endParaRPr lang="en-US" sz="1200" dirty="0"/>
          </a:p>
        </p:txBody>
      </p:sp>
      <p:sp>
        <p:nvSpPr>
          <p:cNvPr id="31" name="R4_tag394"/>
          <p:cNvSpPr/>
          <p:nvPr/>
        </p:nvSpPr>
        <p:spPr>
          <a:xfrm>
            <a:off x="7178040" y="2651760"/>
            <a:ext cx="1691640" cy="347472"/>
          </a:xfrm>
          <a:prstGeom prst="roundRect">
            <a:avLst>
              <a:gd name="adj" fmla="val 65789"/>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in</a:t>
            </a:r>
            <a:endParaRPr lang="en-US" sz="1150" dirty="0"/>
          </a:p>
        </p:txBody>
      </p:sp>
      <p:sp>
        <p:nvSpPr>
          <p:cNvPr id="32" name="sq_395"/>
          <p:cNvSpPr/>
          <p:nvPr/>
        </p:nvSpPr>
        <p:spPr>
          <a:xfrm>
            <a:off x="3246120" y="3063240"/>
            <a:ext cx="3840480" cy="347472"/>
          </a:xfrm>
          <a:prstGeom prst="roundRect">
            <a:avLst>
              <a:gd name="adj" fmla="val 26316"/>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e  She's very keen ___ cycling.</a:t>
            </a:r>
            <a:endParaRPr lang="en-US" sz="1200" dirty="0"/>
          </a:p>
        </p:txBody>
      </p:sp>
      <p:sp>
        <p:nvSpPr>
          <p:cNvPr id="33" name="R5_tag396"/>
          <p:cNvSpPr/>
          <p:nvPr/>
        </p:nvSpPr>
        <p:spPr>
          <a:xfrm>
            <a:off x="7178040" y="3063240"/>
            <a:ext cx="1691640" cy="347472"/>
          </a:xfrm>
          <a:prstGeom prst="roundRect">
            <a:avLst>
              <a:gd name="adj" fmla="val 65789"/>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on</a:t>
            </a:r>
            <a:endParaRPr lang="en-US" sz="1150" dirty="0"/>
          </a:p>
        </p:txBody>
      </p:sp>
      <p:sp>
        <p:nvSpPr>
          <p:cNvPr id="34" name="sq_397"/>
          <p:cNvSpPr/>
          <p:nvPr/>
        </p:nvSpPr>
        <p:spPr>
          <a:xfrm>
            <a:off x="3246120" y="3474720"/>
            <a:ext cx="3840480" cy="347472"/>
          </a:xfrm>
          <a:prstGeom prst="roundRect">
            <a:avLst>
              <a:gd name="adj" fmla="val 26316"/>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f  My dad was very proud ___ learning to ski.</a:t>
            </a:r>
            <a:endParaRPr lang="en-US" sz="1200" dirty="0"/>
          </a:p>
        </p:txBody>
      </p:sp>
      <p:sp>
        <p:nvSpPr>
          <p:cNvPr id="35" name="R6_tag398"/>
          <p:cNvSpPr/>
          <p:nvPr/>
        </p:nvSpPr>
        <p:spPr>
          <a:xfrm>
            <a:off x="7178040" y="347472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36" name="sq_399"/>
          <p:cNvSpPr/>
          <p:nvPr/>
        </p:nvSpPr>
        <p:spPr>
          <a:xfrm>
            <a:off x="3246120" y="3886200"/>
            <a:ext cx="3840480" cy="347472"/>
          </a:xfrm>
          <a:prstGeom prst="roundRect">
            <a:avLst>
              <a:gd name="adj" fmla="val 26316"/>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g  Rachel is worried ___ losing her job.</a:t>
            </a:r>
            <a:endParaRPr lang="en-US" sz="1200" dirty="0"/>
          </a:p>
        </p:txBody>
      </p:sp>
      <p:sp>
        <p:nvSpPr>
          <p:cNvPr id="37" name="R7_tag400"/>
          <p:cNvSpPr/>
          <p:nvPr/>
        </p:nvSpPr>
        <p:spPr>
          <a:xfrm>
            <a:off x="7178040" y="3886200"/>
            <a:ext cx="1691640" cy="347472"/>
          </a:xfrm>
          <a:prstGeom prst="roundRect">
            <a:avLst>
              <a:gd name="adj" fmla="val 65789"/>
            </a:avLst>
          </a:prstGeom>
          <a:solidFill>
            <a:srgbClr val="FFB98A"/>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about</a:t>
            </a:r>
            <a:endParaRPr lang="en-US" sz="1150" dirty="0"/>
          </a:p>
        </p:txBody>
      </p:sp>
      <p:sp>
        <p:nvSpPr>
          <p:cNvPr id="38" name="sq_401"/>
          <p:cNvSpPr/>
          <p:nvPr/>
        </p:nvSpPr>
        <p:spPr>
          <a:xfrm>
            <a:off x="3246120" y="4297680"/>
            <a:ext cx="3840480" cy="347472"/>
          </a:xfrm>
          <a:prstGeom prst="roundRect">
            <a:avLst>
              <a:gd name="adj" fmla="val 26316"/>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h  I'm tired ___ walking. Let's stop.</a:t>
            </a:r>
            <a:endParaRPr lang="en-US" sz="1200" dirty="0"/>
          </a:p>
        </p:txBody>
      </p:sp>
      <p:sp>
        <p:nvSpPr>
          <p:cNvPr id="39" name="R8_tag402"/>
          <p:cNvSpPr/>
          <p:nvPr/>
        </p:nvSpPr>
        <p:spPr>
          <a:xfrm>
            <a:off x="7178040" y="4297680"/>
            <a:ext cx="1691640" cy="347472"/>
          </a:xfrm>
          <a:prstGeom prst="roundRect">
            <a:avLst>
              <a:gd name="adj" fmla="val 65789"/>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of</a:t>
            </a:r>
            <a:endParaRPr lang="en-US" sz="1150" dirty="0"/>
          </a:p>
        </p:txBody>
      </p:sp>
      <p:sp>
        <p:nvSpPr>
          <p:cNvPr id="40" name="pf_403"/>
          <p:cNvSpPr/>
          <p:nvPr/>
        </p:nvSpPr>
        <p:spPr>
          <a:xfrm rot="-120000">
            <a:off x="411480" y="3703320"/>
            <a:ext cx="2514600"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1" name="ph_404" descr="/home/claude/lls-course/v2/cache/3b2_fed_up_jpg_583x220_31.png">    </p:cNvPr>
          <p:cNvPicPr>
            <a:picLocks noChangeAspect="1"/>
          </p:cNvPicPr>
          <p:nvPr/>
        </p:nvPicPr>
        <p:blipFill>
          <a:blip r:embed="rId5"/>
          <a:stretch>
            <a:fillRect/>
          </a:stretch>
        </p:blipFill>
        <p:spPr>
          <a:xfrm rot="-120000">
            <a:off x="457200" y="3749040"/>
            <a:ext cx="2423160"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7"/>
                                        </p:tgtEl>
                                        <p:attrNameLst>
                                          <p:attrName>style.visibility</p:attrName>
                                        </p:attrNameLst>
                                      </p:cBhvr>
                                      <p:to>
                                        <p:strVal val="visible"/>
                                      </p:to>
                                    </p:set>
                                    <p:animEffect transition="in" filter="fade">
                                      <p:cBhvr>
                                        <p:cTn id="37" dur="400"/>
                                        <p:tgtEl>
                                          <p:spTgt spid="37"/>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39"/>
                                        </p:tgtEl>
                                        <p:attrNameLst>
                                          <p:attrName>style.visibility</p:attrName>
                                        </p:attrNameLst>
                                      </p:cBhvr>
                                      <p:to>
                                        <p:strVal val="visible"/>
                                      </p:to>
                                    </p:set>
                                    <p:animEffect transition="in" filter="fade">
                                      <p:cBhvr>
                                        <p:cTn id="42"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05"/>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406" descr="/home/claude/lls-course/v2/assets/brush-yellow.png">    </p:cNvPr>
          <p:cNvPicPr>
            <a:picLocks noChangeAspect="1"/>
          </p:cNvPicPr>
          <p:nvPr/>
        </p:nvPicPr>
        <p:blipFill>
          <a:blip r:embed="rId2"/>
          <a:stretch>
            <a:fillRect/>
          </a:stretch>
        </p:blipFill>
        <p:spPr>
          <a:xfrm>
            <a:off x="1097280" y="146304"/>
            <a:ext cx="4348886" cy="621792"/>
          </a:xfrm>
          <a:prstGeom prst="rect">
            <a:avLst/>
          </a:prstGeom>
        </p:spPr>
      </p:pic>
      <p:sp>
        <p:nvSpPr>
          <p:cNvPr id="5" name="title_407"/>
          <p:cNvSpPr/>
          <p:nvPr/>
        </p:nvSpPr>
        <p:spPr>
          <a:xfrm>
            <a:off x="1261872" y="164592"/>
            <a:ext cx="407456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Prepositions in Italian</a:t>
            </a:r>
            <a:endParaRPr lang="en-US" sz="2500" dirty="0"/>
          </a:p>
        </p:txBody>
      </p:sp>
      <p:pic>
        <p:nvPicPr>
          <p:cNvPr id="6" name="brP_408"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409"/>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41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cmd_411"/>
          <p:cNvSpPr/>
          <p:nvPr/>
        </p:nvSpPr>
        <p:spPr>
          <a:xfrm>
            <a:off x="6510528" y="182880"/>
            <a:ext cx="1901952" cy="329184"/>
          </a:xfrm>
          <a:prstGeom prst="roundRect">
            <a:avLst>
              <a:gd name="adj" fmla="val 5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EB872"/>
                </a:solidFill>
                <a:latin typeface="Arial Rounded MT Bold" pitchFamily="34" charset="0"/>
                <a:ea typeface="Arial Rounded MT Bold" pitchFamily="34" charset="-122"/>
                <a:cs typeface="Arial Rounded MT Bold" pitchFamily="34" charset="-120"/>
              </a:rPr>
              <a:t>CHECK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CONTROLLA</a:t>
            </a:r>
            <a:endParaRPr lang="en-US" sz="1100" dirty="0"/>
          </a:p>
        </p:txBody>
      </p:sp>
      <p:sp>
        <p:nvSpPr>
          <p:cNvPr id="10" name="meta_412"/>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whole class</a:t>
            </a:r>
            <a:endParaRPr lang="en-US" sz="950" dirty="0"/>
          </a:p>
        </p:txBody>
      </p:sp>
      <p:sp>
        <p:nvSpPr>
          <p:cNvPr id="11" name="tag_413"/>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TPRS · meaning</a:t>
            </a:r>
            <a:endParaRPr lang="en-US" sz="700" dirty="0"/>
          </a:p>
        </p:txBody>
      </p:sp>
      <p:pic>
        <p:nvPicPr>
          <p:cNvPr id="12" name="logo_41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41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in Italian</a:t>
            </a:r>
            <a:endParaRPr lang="en-US" sz="800" dirty="0"/>
          </a:p>
        </p:txBody>
      </p:sp>
      <p:sp>
        <p:nvSpPr>
          <p:cNvPr id="14" name="cd_416"/>
          <p:cNvSpPr/>
          <p:nvPr/>
        </p:nvSpPr>
        <p:spPr>
          <a:xfrm>
            <a:off x="320040" y="141732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e_417"/>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6" name="en_418"/>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depend on</a:t>
            </a:r>
            <a:endParaRPr lang="en-US" sz="1200" dirty="0"/>
          </a:p>
        </p:txBody>
      </p:sp>
      <p:sp>
        <p:nvSpPr>
          <p:cNvPr id="17" name="R1_it419"/>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dipendere da</a:t>
            </a:r>
            <a:endParaRPr lang="en-US" sz="1000" dirty="0"/>
          </a:p>
        </p:txBody>
      </p:sp>
      <p:sp>
        <p:nvSpPr>
          <p:cNvPr id="18" name="cd_420"/>
          <p:cNvSpPr/>
          <p:nvPr/>
        </p:nvSpPr>
        <p:spPr>
          <a:xfrm>
            <a:off x="2487168" y="141732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e_421"/>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0" name="en_422"/>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look forward to</a:t>
            </a:r>
            <a:endParaRPr lang="en-US" sz="1200" dirty="0"/>
          </a:p>
        </p:txBody>
      </p:sp>
      <p:sp>
        <p:nvSpPr>
          <p:cNvPr id="21" name="R2_it423"/>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non vedere l'ora di</a:t>
            </a:r>
            <a:endParaRPr lang="en-US" sz="1000" dirty="0"/>
          </a:p>
        </p:txBody>
      </p:sp>
      <p:sp>
        <p:nvSpPr>
          <p:cNvPr id="22" name="cd_424"/>
          <p:cNvSpPr/>
          <p:nvPr/>
        </p:nvSpPr>
        <p:spPr>
          <a:xfrm>
            <a:off x="4654296" y="141732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e_425"/>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4" name="en_426"/>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remind sb of</a:t>
            </a:r>
            <a:endParaRPr lang="en-US" sz="1200" dirty="0"/>
          </a:p>
        </p:txBody>
      </p:sp>
      <p:sp>
        <p:nvSpPr>
          <p:cNvPr id="25" name="R3_it427"/>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far pensare a, ricordare</a:t>
            </a:r>
            <a:endParaRPr lang="en-US" sz="850" dirty="0"/>
          </a:p>
        </p:txBody>
      </p:sp>
      <p:sp>
        <p:nvSpPr>
          <p:cNvPr id="26" name="cd_428"/>
          <p:cNvSpPr/>
          <p:nvPr/>
        </p:nvSpPr>
        <p:spPr>
          <a:xfrm>
            <a:off x="6821424" y="141732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e_429"/>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8" name="en_430"/>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laugh at</a:t>
            </a:r>
            <a:endParaRPr lang="en-US" sz="1200" dirty="0"/>
          </a:p>
        </p:txBody>
      </p:sp>
      <p:sp>
        <p:nvSpPr>
          <p:cNvPr id="29" name="R4_it431"/>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ridere di, prendere in giro</a:t>
            </a:r>
            <a:endParaRPr lang="en-US" sz="800" dirty="0"/>
          </a:p>
        </p:txBody>
      </p:sp>
      <p:sp>
        <p:nvSpPr>
          <p:cNvPr id="30" name="cd_432"/>
          <p:cNvSpPr/>
          <p:nvPr/>
        </p:nvSpPr>
        <p:spPr>
          <a:xfrm>
            <a:off x="320040" y="224028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e_433"/>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2" name="en_434"/>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apologize to sb for</a:t>
            </a:r>
            <a:endParaRPr lang="en-US" sz="1100" dirty="0"/>
          </a:p>
        </p:txBody>
      </p:sp>
      <p:sp>
        <p:nvSpPr>
          <p:cNvPr id="33" name="R5_it435"/>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34" name="cd_436"/>
          <p:cNvSpPr/>
          <p:nvPr/>
        </p:nvSpPr>
        <p:spPr>
          <a:xfrm>
            <a:off x="2487168" y="224028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35" name="e_437"/>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6" name="en_438"/>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spend money on</a:t>
            </a:r>
            <a:endParaRPr lang="en-US" sz="1200" dirty="0"/>
          </a:p>
        </p:txBody>
      </p:sp>
      <p:sp>
        <p:nvSpPr>
          <p:cNvPr id="37" name="R6_it439"/>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00" i="1" dirty="0">
                <a:solidFill>
                  <a:srgbClr val="2EB872"/>
                </a:solidFill>
                <a:latin typeface="Segoe UI Semibold" pitchFamily="34" charset="0"/>
                <a:ea typeface="Segoe UI Semibold" pitchFamily="34" charset="-122"/>
                <a:cs typeface="Segoe UI Semibold" pitchFamily="34" charset="-120"/>
              </a:rPr>
              <a:t>spendere soldi in / per</a:t>
            </a:r>
            <a:endParaRPr lang="en-US" sz="900" dirty="0"/>
          </a:p>
        </p:txBody>
      </p:sp>
      <p:sp>
        <p:nvSpPr>
          <p:cNvPr id="38" name="cd_440"/>
          <p:cNvSpPr/>
          <p:nvPr/>
        </p:nvSpPr>
        <p:spPr>
          <a:xfrm>
            <a:off x="4654296" y="224028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39" name="e_441"/>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0" name="en_442"/>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afraid of</a:t>
            </a:r>
            <a:endParaRPr lang="en-US" sz="1200" dirty="0"/>
          </a:p>
        </p:txBody>
      </p:sp>
      <p:sp>
        <p:nvSpPr>
          <p:cNvPr id="41" name="R7_it443"/>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aver paura di</a:t>
            </a:r>
            <a:endParaRPr lang="en-US" sz="1000" dirty="0"/>
          </a:p>
        </p:txBody>
      </p:sp>
      <p:sp>
        <p:nvSpPr>
          <p:cNvPr id="42" name="cd_444"/>
          <p:cNvSpPr/>
          <p:nvPr/>
        </p:nvSpPr>
        <p:spPr>
          <a:xfrm>
            <a:off x="6821424" y="224028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43" name="e_445"/>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4" name="en_446"/>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good at</a:t>
            </a:r>
            <a:endParaRPr lang="en-US" sz="1200" dirty="0"/>
          </a:p>
        </p:txBody>
      </p:sp>
      <p:sp>
        <p:nvSpPr>
          <p:cNvPr id="45" name="R8_it447"/>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bravo in</a:t>
            </a:r>
            <a:endParaRPr lang="en-US" sz="1000" dirty="0"/>
          </a:p>
        </p:txBody>
      </p:sp>
      <p:sp>
        <p:nvSpPr>
          <p:cNvPr id="46" name="cd_448"/>
          <p:cNvSpPr/>
          <p:nvPr/>
        </p:nvSpPr>
        <p:spPr>
          <a:xfrm>
            <a:off x="320040" y="3063240"/>
            <a:ext cx="2075688" cy="731520"/>
          </a:xfrm>
          <a:prstGeom prst="roundRect">
            <a:avLst>
              <a:gd name="adj" fmla="val 17500"/>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47" name="e_449"/>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8" name="en_450"/>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interested in</a:t>
            </a:r>
            <a:endParaRPr lang="en-US" sz="1200" dirty="0"/>
          </a:p>
        </p:txBody>
      </p:sp>
      <p:sp>
        <p:nvSpPr>
          <p:cNvPr id="49" name="R9_it451"/>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interessato a</a:t>
            </a:r>
            <a:endParaRPr lang="en-US" sz="1000" dirty="0"/>
          </a:p>
        </p:txBody>
      </p:sp>
      <p:sp>
        <p:nvSpPr>
          <p:cNvPr id="50" name="cd_452"/>
          <p:cNvSpPr/>
          <p:nvPr/>
        </p:nvSpPr>
        <p:spPr>
          <a:xfrm>
            <a:off x="2487168" y="3063240"/>
            <a:ext cx="2075688" cy="731520"/>
          </a:xfrm>
          <a:prstGeom prst="roundRect">
            <a:avLst>
              <a:gd name="adj" fmla="val 17500"/>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51" name="e_453"/>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2" name="en_454"/>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keen on</a:t>
            </a:r>
            <a:endParaRPr lang="en-US" sz="1200" dirty="0"/>
          </a:p>
        </p:txBody>
      </p:sp>
      <p:sp>
        <p:nvSpPr>
          <p:cNvPr id="53" name="R10_it455"/>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appassionato di</a:t>
            </a:r>
            <a:endParaRPr lang="en-US" sz="1000" dirty="0"/>
          </a:p>
        </p:txBody>
      </p:sp>
      <p:sp>
        <p:nvSpPr>
          <p:cNvPr id="54" name="cd_456"/>
          <p:cNvSpPr/>
          <p:nvPr/>
        </p:nvSpPr>
        <p:spPr>
          <a:xfrm>
            <a:off x="4654296" y="3063240"/>
            <a:ext cx="2075688" cy="731520"/>
          </a:xfrm>
          <a:prstGeom prst="roundRect">
            <a:avLst>
              <a:gd name="adj" fmla="val 17500"/>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55" name="e_457"/>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6" name="en_458"/>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fed up with</a:t>
            </a:r>
            <a:endParaRPr lang="en-US" sz="1200" dirty="0"/>
          </a:p>
        </p:txBody>
      </p:sp>
      <p:sp>
        <p:nvSpPr>
          <p:cNvPr id="57" name="R11_it459"/>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stufo di</a:t>
            </a:r>
            <a:endParaRPr lang="en-US" sz="1000" dirty="0"/>
          </a:p>
        </p:txBody>
      </p:sp>
      <p:sp>
        <p:nvSpPr>
          <p:cNvPr id="58" name="cd_460"/>
          <p:cNvSpPr/>
          <p:nvPr/>
        </p:nvSpPr>
        <p:spPr>
          <a:xfrm>
            <a:off x="6821424" y="3063240"/>
            <a:ext cx="2075688" cy="731520"/>
          </a:xfrm>
          <a:prstGeom prst="roundRect">
            <a:avLst>
              <a:gd name="adj" fmla="val 17500"/>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59" name="e_461"/>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60" name="en_462"/>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famous for</a:t>
            </a:r>
            <a:endParaRPr lang="en-US" sz="1200" dirty="0"/>
          </a:p>
        </p:txBody>
      </p:sp>
      <p:sp>
        <p:nvSpPr>
          <p:cNvPr id="61" name="R12_it463"/>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famoso per</a:t>
            </a:r>
            <a:endParaRPr lang="en-US" sz="1000" dirty="0"/>
          </a:p>
        </p:txBody>
      </p:sp>
      <p:sp>
        <p:nvSpPr>
          <p:cNvPr id="62" name="R13_wc464"/>
          <p:cNvSpPr/>
          <p:nvPr/>
        </p:nvSpPr>
        <p:spPr>
          <a:xfrm>
            <a:off x="320040" y="3931920"/>
            <a:ext cx="8549640" cy="457200"/>
          </a:xfrm>
          <a:prstGeom prst="roundRect">
            <a:avLst>
              <a:gd name="adj" fmla="val 28000"/>
            </a:avLst>
          </a:prstGeom>
          <a:solidFill>
            <a:srgbClr val="FFE3EE"/>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63" name="R13_w465"/>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 depend from → depend ON  ·  ✗ interested of → interested IN  ·  ✗ married with → married TO  ·  + -ing: I'm tired of walking</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41"/>
                                        </p:tgtEl>
                                        <p:attrNameLst>
                                          <p:attrName>style.visibility</p:attrName>
                                        </p:attrNameLst>
                                      </p:cBhvr>
                                      <p:to>
                                        <p:strVal val="visible"/>
                                      </p:to>
                                    </p:set>
                                    <p:animEffect transition="in" filter="fade">
                                      <p:cBhvr>
                                        <p:cTn id="37" dur="400"/>
                                        <p:tgtEl>
                                          <p:spTgt spid="41"/>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5"/>
                                        </p:tgtEl>
                                        <p:attrNameLst>
                                          <p:attrName>style.visibility</p:attrName>
                                        </p:attrNameLst>
                                      </p:cBhvr>
                                      <p:to>
                                        <p:strVal val="visible"/>
                                      </p:to>
                                    </p:set>
                                    <p:animEffect transition="in" filter="fade">
                                      <p:cBhvr>
                                        <p:cTn id="42" dur="400"/>
                                        <p:tgtEl>
                                          <p:spTgt spid="4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9"/>
                                        </p:tgtEl>
                                        <p:attrNameLst>
                                          <p:attrName>style.visibility</p:attrName>
                                        </p:attrNameLst>
                                      </p:cBhvr>
                                      <p:to>
                                        <p:strVal val="visible"/>
                                      </p:to>
                                    </p:set>
                                    <p:animEffect transition="in" filter="fade">
                                      <p:cBhvr>
                                        <p:cTn id="47" dur="400"/>
                                        <p:tgtEl>
                                          <p:spTgt spid="49"/>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3"/>
                                        </p:tgtEl>
                                        <p:attrNameLst>
                                          <p:attrName>style.visibility</p:attrName>
                                        </p:attrNameLst>
                                      </p:cBhvr>
                                      <p:to>
                                        <p:strVal val="visible"/>
                                      </p:to>
                                    </p:set>
                                    <p:animEffect transition="in" filter="fade">
                                      <p:cBhvr>
                                        <p:cTn id="52" dur="400"/>
                                        <p:tgtEl>
                                          <p:spTgt spid="53"/>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7"/>
                                        </p:tgtEl>
                                        <p:attrNameLst>
                                          <p:attrName>style.visibility</p:attrName>
                                        </p:attrNameLst>
                                      </p:cBhvr>
                                      <p:to>
                                        <p:strVal val="visible"/>
                                      </p:to>
                                    </p:set>
                                    <p:animEffect transition="in" filter="fade">
                                      <p:cBhvr>
                                        <p:cTn id="57" dur="400"/>
                                        <p:tgtEl>
                                          <p:spTgt spid="57"/>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61"/>
                                        </p:tgtEl>
                                        <p:attrNameLst>
                                          <p:attrName>style.visibility</p:attrName>
                                        </p:attrNameLst>
                                      </p:cBhvr>
                                      <p:to>
                                        <p:strVal val="visible"/>
                                      </p:to>
                                    </p:set>
                                    <p:animEffect transition="in" filter="fade">
                                      <p:cBhvr>
                                        <p:cTn id="62" dur="400"/>
                                        <p:tgtEl>
                                          <p:spTgt spid="6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2"/>
                                        </p:tgtEl>
                                        <p:attrNameLst>
                                          <p:attrName>style.visibility</p:attrName>
                                        </p:attrNameLst>
                                      </p:cBhvr>
                                      <p:to>
                                        <p:strVal val="visible"/>
                                      </p:to>
                                    </p:set>
                                    <p:animEffect transition="in" filter="fade">
                                      <p:cBhvr>
                                        <p:cTn id="67" dur="400"/>
                                        <p:tgtEl>
                                          <p:spTgt spid="62"/>
                                        </p:tgtEl>
                                      </p:cBhvr>
                                    </p:animEffect>
                                  </p:childTnLst>
                                </p:cTn>
                              </p:par>
                              <p:par>
                                <p:cTn id="68" presetID="10" presetClass="entr" presetSubtype="0" fill="hold" nodeType="withEffect">
                                  <p:stCondLst>
                                    <p:cond delay="0"/>
                                  </p:stCondLst>
                                  <p:childTnLst>
                                    <p:set>
                                      <p:cBhvr>
                                        <p:cTn id="69" dur="1" fill="hold">
                                          <p:stCondLst>
                                            <p:cond delay="0"/>
                                          </p:stCondLst>
                                        </p:cTn>
                                        <p:tgtEl>
                                          <p:spTgt spid="63"/>
                                        </p:tgtEl>
                                        <p:attrNameLst>
                                          <p:attrName>style.visibility</p:attrName>
                                        </p:attrNameLst>
                                      </p:cBhvr>
                                      <p:to>
                                        <p:strVal val="visible"/>
                                      </p:to>
                                    </p:set>
                                    <p:animEffect transition="in" filter="fade">
                                      <p:cBhvr>
                                        <p:cTn id="70" dur="400"/>
                                        <p:tgtEl>
                                          <p:spTgt spid="6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66"/>
          <p:cNvSpPr/>
          <p:nvPr/>
        </p:nvSpPr>
        <p:spPr>
          <a:xfrm>
            <a:off x="201168" y="164592"/>
            <a:ext cx="841248" cy="841248"/>
          </a:xfrm>
          <a:prstGeom prst="ellipse">
            <a:avLst/>
          </a:prstGeom>
          <a:solidFill>
            <a:srgbClr val="7B5CD6"/>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67" descr="/home/claude/lls-course/v2/assets/brush-yellow.png">    </p:cNvPr>
          <p:cNvPicPr>
            <a:picLocks noChangeAspect="1"/>
          </p:cNvPicPr>
          <p:nvPr/>
        </p:nvPicPr>
        <p:blipFill>
          <a:blip r:embed="rId2"/>
          <a:stretch>
            <a:fillRect/>
          </a:stretch>
        </p:blipFill>
        <p:spPr>
          <a:xfrm>
            <a:off x="1097280" y="146304"/>
            <a:ext cx="3719779" cy="621792"/>
          </a:xfrm>
          <a:prstGeom prst="rect">
            <a:avLst/>
          </a:prstGeom>
        </p:spPr>
      </p:pic>
      <p:sp>
        <p:nvSpPr>
          <p:cNvPr id="5" name="title_468"/>
          <p:cNvSpPr/>
          <p:nvPr/>
        </p:nvSpPr>
        <p:spPr>
          <a:xfrm>
            <a:off x="1261872" y="164592"/>
            <a:ext cx="3445459"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Luca and the spider</a:t>
            </a:r>
            <a:endParaRPr lang="en-US" sz="2500" dirty="0"/>
          </a:p>
        </p:txBody>
      </p:sp>
      <p:pic>
        <p:nvPicPr>
          <p:cNvPr id="6" name="brP_469"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70"/>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7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cmd_472"/>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0" name="cmd_473"/>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474"/>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whole class</a:t>
            </a:r>
            <a:endParaRPr lang="en-US" sz="950" dirty="0"/>
          </a:p>
        </p:txBody>
      </p:sp>
      <p:sp>
        <p:nvSpPr>
          <p:cNvPr id="12" name="tag_475"/>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TPRS · story</a:t>
            </a:r>
            <a:endParaRPr lang="en-US" sz="850" dirty="0"/>
          </a:p>
        </p:txBody>
      </p:sp>
      <p:pic>
        <p:nvPicPr>
          <p:cNvPr id="13" name="logo_47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47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 class story (TPRS)</a:t>
            </a:r>
            <a:endParaRPr lang="en-US" sz="800" dirty="0"/>
          </a:p>
        </p:txBody>
      </p:sp>
      <p:sp>
        <p:nvSpPr>
          <p:cNvPr id="15" name="cd_478"/>
          <p:cNvSpPr/>
          <p:nvPr/>
        </p:nvSpPr>
        <p:spPr>
          <a:xfrm>
            <a:off x="320040" y="1417320"/>
            <a:ext cx="2697480" cy="2852928"/>
          </a:xfrm>
          <a:prstGeom prst="roundRect">
            <a:avLst>
              <a:gd name="adj" fmla="val 4746"/>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47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480"/>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8" name="il_481"/>
          <p:cNvSpPr/>
          <p:nvPr/>
        </p:nvSpPr>
        <p:spPr>
          <a:xfrm>
            <a:off x="886968" y="1892808"/>
            <a:ext cx="2039112" cy="230428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afraid of</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aver paura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look forward to</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non vedere l'ora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depend on</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dipendere da</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fed up with</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stufo di</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laugh at</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ridere di, prendere in giro</a:t>
            </a:r>
            <a:endParaRPr lang="en-US" sz="1000" dirty="0"/>
          </a:p>
          <a:p>
            <a:pPr marL="152400" indent="-152400">
              <a:spcBef>
                <a:spcPts val="500"/>
              </a:spcBef>
              <a:spcAft>
                <a:spcPts val="200"/>
              </a:spcAft>
              <a:buSzPct val="100000"/>
              <a:buChar char="•"/>
            </a:pPr>
            <a:r>
              <a:rPr lang="en-US" sz="1000" dirty="0">
                <a:solidFill>
                  <a:srgbClr val="1B2559"/>
                </a:solidFill>
                <a:latin typeface="Segoe UI Semibold" pitchFamily="34" charset="0"/>
                <a:ea typeface="Segoe UI Semibold" pitchFamily="34" charset="-122"/>
                <a:cs typeface="Segoe UI Semibold" pitchFamily="34" charset="-120"/>
              </a:rPr>
              <a:t>apologize to sb for</a:t>
            </a:r>
            <a:endParaRPr lang="en-US" sz="1000" dirty="0"/>
          </a:p>
          <a:p>
            <a:pPr marL="152400" indent="-152400">
              <a:spcAft>
                <a:spcPts val="200"/>
              </a:spcAft>
              <a:buSzPct val="100000"/>
              <a:buChar char=" "/>
            </a:pPr>
            <a:r>
              <a:rPr lang="en-US" sz="850" i="1" dirty="0">
                <a:solidFill>
                  <a:srgbClr val="5B6785"/>
                </a:solidFill>
                <a:latin typeface="Segoe UI Semibold" pitchFamily="34" charset="0"/>
                <a:ea typeface="Segoe UI Semibold" pitchFamily="34" charset="-122"/>
                <a:cs typeface="Segoe UI Semibold" pitchFamily="34" charset="-120"/>
              </a:rPr>
              <a:t>scusarsi con qn per</a:t>
            </a:r>
            <a:endParaRPr lang="en-US" sz="1000" dirty="0"/>
          </a:p>
        </p:txBody>
      </p:sp>
      <p:sp>
        <p:nvSpPr>
          <p:cNvPr id="19" name="R1_sb482"/>
          <p:cNvSpPr/>
          <p:nvPr/>
        </p:nvSpPr>
        <p:spPr>
          <a:xfrm>
            <a:off x="3200400" y="145389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R1_sl483"/>
          <p:cNvSpPr/>
          <p:nvPr/>
        </p:nvSpPr>
        <p:spPr>
          <a:xfrm>
            <a:off x="3584448" y="141732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This is Luca. He's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good at</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football, but he's </a:t>
            </a:r>
            <a:pPr indent="0" marL="0">
              <a:buNone/>
            </a:pPr>
            <a:r>
              <a:rPr lang="en-US" sz="1200" b="1" dirty="0">
                <a:solidFill>
                  <a:srgbClr val="7B5CD6"/>
                </a:solidFill>
                <a:highlight>
                  <a:srgbClr val="FFF1A8"/>
                </a:highlight>
                <a:latin typeface="Segoe UI Semibold" pitchFamily="34" charset="0"/>
                <a:ea typeface="Segoe UI Semibold" pitchFamily="34" charset="-122"/>
                <a:cs typeface="Segoe UI Semibold" pitchFamily="34" charset="-120"/>
              </a:rPr>
              <a:t>afraid of</a:t>
            </a:r>
            <a:pPr indent="0" marL="0">
              <a:buNone/>
            </a:pPr>
            <a:r>
              <a:rPr lang="en-US" sz="1200" dirty="0">
                <a:solidFill>
                  <a:srgbClr val="1B2559"/>
                </a:solidFill>
                <a:latin typeface="Segoe UI Semibold" pitchFamily="34" charset="0"/>
                <a:ea typeface="Segoe UI Semibold" pitchFamily="34" charset="-122"/>
                <a:cs typeface="Segoe UI Semibold" pitchFamily="34" charset="-120"/>
              </a:rPr>
              <a:t> spiders.</a:t>
            </a:r>
            <a:endParaRPr lang="en-US" sz="12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Luca good at football? · Is he afraid of spiders or dogs?</a:t>
            </a:r>
            <a:endParaRPr lang="en-US" sz="1200" dirty="0"/>
          </a:p>
        </p:txBody>
      </p:sp>
      <p:sp>
        <p:nvSpPr>
          <p:cNvPr id="21" name="R2_sb484"/>
          <p:cNvSpPr/>
          <p:nvPr/>
        </p:nvSpPr>
        <p:spPr>
          <a:xfrm>
            <a:off x="3200400" y="201777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2" name="R2_sl485"/>
          <p:cNvSpPr/>
          <p:nvPr/>
        </p:nvSpPr>
        <p:spPr>
          <a:xfrm>
            <a:off x="3584448" y="198120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He's really </a:t>
            </a:r>
            <a:pPr indent="0" marL="0">
              <a:buNone/>
            </a:pPr>
            <a:r>
              <a:rPr lang="en-US" sz="1250" b="1" dirty="0">
                <a:solidFill>
                  <a:srgbClr val="7B5CD6"/>
                </a:solidFill>
                <a:highlight>
                  <a:srgbClr val="FFF1A8"/>
                </a:highlight>
                <a:latin typeface="Segoe UI Semibold" pitchFamily="34" charset="0"/>
                <a:ea typeface="Segoe UI Semibold" pitchFamily="34" charset="-122"/>
                <a:cs typeface="Segoe UI Semibold" pitchFamily="34" charset="-120"/>
              </a:rPr>
              <a:t>looking forward to</a:t>
            </a:r>
            <a:pPr indent="0" marL="0">
              <a:buNone/>
            </a:pPr>
            <a:r>
              <a:rPr lang="en-US" sz="1250" dirty="0">
                <a:solidFill>
                  <a:srgbClr val="1B2559"/>
                </a:solidFill>
                <a:latin typeface="Segoe UI Semibold" pitchFamily="34" charset="0"/>
                <a:ea typeface="Segoe UI Semibold" pitchFamily="34" charset="-122"/>
                <a:cs typeface="Segoe UI Semibold" pitchFamily="34" charset="-120"/>
              </a:rPr>
              <a:t> the big match on Saturday.</a:t>
            </a:r>
            <a:endParaRPr lang="en-US" sz="12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he looking forward to a match or an exam? · When is the match?</a:t>
            </a:r>
            <a:endParaRPr lang="en-US" sz="1250" dirty="0"/>
          </a:p>
        </p:txBody>
      </p:sp>
      <p:sp>
        <p:nvSpPr>
          <p:cNvPr id="23" name="R3_sb486"/>
          <p:cNvSpPr/>
          <p:nvPr/>
        </p:nvSpPr>
        <p:spPr>
          <a:xfrm>
            <a:off x="3200400" y="2581656"/>
            <a:ext cx="310896" cy="310896"/>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4" name="R3_sl487"/>
          <p:cNvSpPr/>
          <p:nvPr/>
        </p:nvSpPr>
        <p:spPr>
          <a:xfrm>
            <a:off x="3584448" y="2545080"/>
            <a:ext cx="5303520" cy="499872"/>
          </a:xfrm>
          <a:prstGeom prst="roundRect">
            <a:avLst>
              <a:gd name="adj" fmla="val 21951"/>
            </a:avLst>
          </a:prstGeom>
          <a:solidFill>
            <a:srgbClr val="FFFFFF"/>
          </a:solidFill>
          <a:ln w="19050">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But the match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depends on</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the weather – and on Saturday it rains!</a:t>
            </a:r>
            <a:endParaRPr lang="en-US" sz="11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 Does the match depend on the weather? · What's the weather like?</a:t>
            </a:r>
            <a:endParaRPr lang="en-US" sz="1100" dirty="0"/>
          </a:p>
        </p:txBody>
      </p:sp>
      <p:sp>
        <p:nvSpPr>
          <p:cNvPr id="25" name="R4_sb488"/>
          <p:cNvSpPr/>
          <p:nvPr/>
        </p:nvSpPr>
        <p:spPr>
          <a:xfrm>
            <a:off x="3200400" y="3145536"/>
            <a:ext cx="310896" cy="310896"/>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6" name="R4_sl489"/>
          <p:cNvSpPr/>
          <p:nvPr/>
        </p:nvSpPr>
        <p:spPr>
          <a:xfrm>
            <a:off x="3584448" y="3108960"/>
            <a:ext cx="5303520" cy="499872"/>
          </a:xfrm>
          <a:prstGeom prst="roundRect">
            <a:avLst>
              <a:gd name="adj" fmla="val 21951"/>
            </a:avLst>
          </a:prstGeom>
          <a:solidFill>
            <a:srgbClr val="FFFFFF"/>
          </a:solidFill>
          <a:ln w="19050">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Luca is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fed up with</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waiting, so he plays football in nonna's garage.</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Is he fed up with waiting? · Where does he play?</a:t>
            </a:r>
            <a:endParaRPr lang="en-US" sz="1050" dirty="0"/>
          </a:p>
        </p:txBody>
      </p:sp>
      <p:sp>
        <p:nvSpPr>
          <p:cNvPr id="27" name="R5_sb490"/>
          <p:cNvSpPr/>
          <p:nvPr/>
        </p:nvSpPr>
        <p:spPr>
          <a:xfrm>
            <a:off x="3200400" y="3709416"/>
            <a:ext cx="310896" cy="310896"/>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8" name="R5_sl491"/>
          <p:cNvSpPr/>
          <p:nvPr/>
        </p:nvSpPr>
        <p:spPr>
          <a:xfrm>
            <a:off x="3584448" y="3672840"/>
            <a:ext cx="5303520" cy="499872"/>
          </a:xfrm>
          <a:prstGeom prst="roundRect">
            <a:avLst>
              <a:gd name="adj" fmla="val 21951"/>
            </a:avLst>
          </a:prstGeom>
          <a:solidFill>
            <a:srgbClr val="FFFFFF"/>
          </a:solidFill>
          <a:ln w="19050">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950" dirty="0">
                <a:solidFill>
                  <a:srgbClr val="1B2559"/>
                </a:solidFill>
                <a:latin typeface="Segoe UI Semibold" pitchFamily="34" charset="0"/>
                <a:ea typeface="Segoe UI Semibold" pitchFamily="34" charset="-122"/>
                <a:cs typeface="Segoe UI Semibold" pitchFamily="34" charset="-120"/>
              </a:rPr>
              <a:t>A huge spider runs across the ball. Luca screams! His sister </a:t>
            </a:r>
            <a:pPr indent="0" marL="0">
              <a:buNone/>
            </a:pPr>
            <a:r>
              <a:rPr lang="en-US" sz="950" b="1" dirty="0">
                <a:solidFill>
                  <a:srgbClr val="7B5CD6"/>
                </a:solidFill>
                <a:highlight>
                  <a:srgbClr val="FFF1A8"/>
                </a:highlight>
                <a:latin typeface="Segoe UI Semibold" pitchFamily="34" charset="0"/>
                <a:ea typeface="Segoe UI Semibold" pitchFamily="34" charset="-122"/>
                <a:cs typeface="Segoe UI Semibold" pitchFamily="34" charset="-120"/>
              </a:rPr>
              <a:t>laughs at</a:t>
            </a:r>
            <a:pPr indent="0" marL="0">
              <a:buNone/>
            </a:pPr>
            <a:r>
              <a:rPr lang="en-US" sz="950" dirty="0">
                <a:solidFill>
                  <a:srgbClr val="1B2559"/>
                </a:solidFill>
                <a:latin typeface="Segoe UI Semibold" pitchFamily="34" charset="0"/>
                <a:ea typeface="Segoe UI Semibold" pitchFamily="34" charset="-122"/>
                <a:cs typeface="Segoe UI Semibold" pitchFamily="34" charset="-120"/>
              </a:rPr>
              <a:t> him.</a:t>
            </a:r>
            <a:endParaRPr lang="en-US" sz="95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spider big or small? · Who laughs at Luca?</a:t>
            </a:r>
            <a:endParaRPr lang="en-US" sz="950" dirty="0"/>
          </a:p>
        </p:txBody>
      </p:sp>
      <p:sp>
        <p:nvSpPr>
          <p:cNvPr id="29" name="R6_sb492"/>
          <p:cNvSpPr/>
          <p:nvPr/>
        </p:nvSpPr>
        <p:spPr>
          <a:xfrm>
            <a:off x="3200400" y="4273296"/>
            <a:ext cx="310896" cy="310896"/>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30" name="R6_sl493"/>
          <p:cNvSpPr/>
          <p:nvPr/>
        </p:nvSpPr>
        <p:spPr>
          <a:xfrm>
            <a:off x="3584448" y="4236720"/>
            <a:ext cx="5303520" cy="499872"/>
          </a:xfrm>
          <a:prstGeom prst="roundRect">
            <a:avLst>
              <a:gd name="adj" fmla="val 21951"/>
            </a:avLst>
          </a:prstGeom>
          <a:solidFill>
            <a:srgbClr val="FFFFFF"/>
          </a:solidFill>
          <a:ln w="19050">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The ball breaks a window. Luca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apologizes to</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nonna </a:t>
            </a:r>
            <a:pPr indent="0" marL="0">
              <a:buNone/>
            </a:pPr>
            <a:r>
              <a:rPr lang="en-US" sz="1050" b="1" dirty="0">
                <a:solidFill>
                  <a:srgbClr val="7B5CD6"/>
                </a:solidFill>
                <a:highlight>
                  <a:srgbClr val="FFF1A8"/>
                </a:highlight>
                <a:latin typeface="Segoe UI Semibold" pitchFamily="34" charset="0"/>
                <a:ea typeface="Segoe UI Semibold" pitchFamily="34" charset="-122"/>
                <a:cs typeface="Segoe UI Semibold" pitchFamily="34" charset="-120"/>
              </a:rPr>
              <a:t>for</a:t>
            </a:r>
            <a:pPr indent="0" marL="0">
              <a:buNone/>
            </a:pPr>
            <a:r>
              <a:rPr lang="en-US" sz="1050" dirty="0">
                <a:solidFill>
                  <a:srgbClr val="1B2559"/>
                </a:solidFill>
                <a:latin typeface="Segoe UI Semibold" pitchFamily="34" charset="0"/>
                <a:ea typeface="Segoe UI Semibold" pitchFamily="34" charset="-122"/>
                <a:cs typeface="Segoe UI Semibold" pitchFamily="34" charset="-120"/>
              </a:rPr>
              <a:t> the window.</a:t>
            </a:r>
            <a:endParaRPr lang="en-US" sz="105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does he apologize to? · What for? · And you – what are you afraid of?</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5"/>
                                        </p:tgtEl>
                                        <p:attrNameLst>
                                          <p:attrName>style.visibility</p:attrName>
                                        </p:attrNameLst>
                                      </p:cBhvr>
                                      <p:to>
                                        <p:strVal val="visible"/>
                                      </p:to>
                                    </p:set>
                                    <p:animEffect transition="in" filter="fade">
                                      <p:cBhvr>
                                        <p:cTn id="31" dur="400"/>
                                        <p:tgtEl>
                                          <p:spTgt spid="25"/>
                                        </p:tgtEl>
                                      </p:cBhvr>
                                    </p:animEffect>
                                  </p:childTnLst>
                                </p:cTn>
                              </p:par>
                              <p:par>
                                <p:cTn id="32" presetID="10" presetClass="entr" presetSubtype="0" fill="hold" nodeType="withEffect">
                                  <p:stCondLst>
                                    <p:cond delay="0"/>
                                  </p:stCondLst>
                                  <p:childTnLst>
                                    <p:set>
                                      <p:cBhvr>
                                        <p:cTn id="33" dur="1" fill="hold">
                                          <p:stCondLst>
                                            <p:cond delay="0"/>
                                          </p:stCondLst>
                                        </p:cTn>
                                        <p:tgtEl>
                                          <p:spTgt spid="26"/>
                                        </p:tgtEl>
                                        <p:attrNameLst>
                                          <p:attrName>style.visibility</p:attrName>
                                        </p:attrNameLst>
                                      </p:cBhvr>
                                      <p:to>
                                        <p:strVal val="visible"/>
                                      </p:to>
                                    </p:set>
                                    <p:animEffect transition="in" filter="fade">
                                      <p:cBhvr>
                                        <p:cTn id="34" dur="400"/>
                                        <p:tgtEl>
                                          <p:spTgt spid="26"/>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animEffect transition="in" filter="fade">
                                      <p:cBhvr>
                                        <p:cTn id="39" dur="400"/>
                                        <p:tgtEl>
                                          <p:spTgt spid="27"/>
                                        </p:tgtEl>
                                      </p:cBhvr>
                                    </p:animEffect>
                                  </p:childTnLst>
                                </p:cTn>
                              </p:par>
                              <p:par>
                                <p:cTn id="40" presetID="10" presetClass="entr" presetSubtype="0" fill="hold" nodeType="withEffect">
                                  <p:stCondLst>
                                    <p:cond delay="0"/>
                                  </p:stCondLst>
                                  <p:childTnLst>
                                    <p:set>
                                      <p:cBhvr>
                                        <p:cTn id="41" dur="1" fill="hold">
                                          <p:stCondLst>
                                            <p:cond delay="0"/>
                                          </p:stCondLst>
                                        </p:cTn>
                                        <p:tgtEl>
                                          <p:spTgt spid="28"/>
                                        </p:tgtEl>
                                        <p:attrNameLst>
                                          <p:attrName>style.visibility</p:attrName>
                                        </p:attrNameLst>
                                      </p:cBhvr>
                                      <p:to>
                                        <p:strVal val="visible"/>
                                      </p:to>
                                    </p:set>
                                    <p:animEffect transition="in" filter="fade">
                                      <p:cBhvr>
                                        <p:cTn id="42" dur="400"/>
                                        <p:tgtEl>
                                          <p:spTgt spid="28"/>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9"/>
                                        </p:tgtEl>
                                        <p:attrNameLst>
                                          <p:attrName>style.visibility</p:attrName>
                                        </p:attrNameLst>
                                      </p:cBhvr>
                                      <p:to>
                                        <p:strVal val="visible"/>
                                      </p:to>
                                    </p:set>
                                    <p:animEffect transition="in" filter="fade">
                                      <p:cBhvr>
                                        <p:cTn id="47" dur="400"/>
                                        <p:tgtEl>
                                          <p:spTgt spid="29"/>
                                        </p:tgtEl>
                                      </p:cBhvr>
                                    </p:animEffect>
                                  </p:childTnLst>
                                </p:cTn>
                              </p:par>
                              <p:par>
                                <p:cTn id="48" presetID="10" presetClass="entr" presetSubtype="0" fill="hold" nodeType="withEffect">
                                  <p:stCondLst>
                                    <p:cond delay="0"/>
                                  </p:stCondLst>
                                  <p:childTnLst>
                                    <p:set>
                                      <p:cBhvr>
                                        <p:cTn id="49" dur="1" fill="hold">
                                          <p:stCondLst>
                                            <p:cond delay="0"/>
                                          </p:stCondLst>
                                        </p:cTn>
                                        <p:tgtEl>
                                          <p:spTgt spid="30"/>
                                        </p:tgtEl>
                                        <p:attrNameLst>
                                          <p:attrName>style.visibility</p:attrName>
                                        </p:attrNameLst>
                                      </p:cBhvr>
                                      <p:to>
                                        <p:strVal val="visible"/>
                                      </p:to>
                                    </p:set>
                                    <p:animEffect transition="in" filter="fade">
                                      <p:cBhvr>
                                        <p:cTn id="50" dur="4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4"/>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95" descr="/home/claude/lls-course/v2/assets/brush-yellow.png">    </p:cNvPr>
          <p:cNvPicPr>
            <a:picLocks noChangeAspect="1"/>
          </p:cNvPicPr>
          <p:nvPr/>
        </p:nvPicPr>
        <p:blipFill>
          <a:blip r:embed="rId2"/>
          <a:stretch>
            <a:fillRect/>
          </a:stretch>
        </p:blipFill>
        <p:spPr>
          <a:xfrm>
            <a:off x="1097280" y="146304"/>
            <a:ext cx="1989734" cy="621792"/>
          </a:xfrm>
          <a:prstGeom prst="rect">
            <a:avLst/>
          </a:prstGeom>
        </p:spPr>
      </p:pic>
      <p:sp>
        <p:nvSpPr>
          <p:cNvPr id="5" name="title_496"/>
          <p:cNvSpPr/>
          <p:nvPr/>
        </p:nvSpPr>
        <p:spPr>
          <a:xfrm>
            <a:off x="1261872" y="164592"/>
            <a:ext cx="1715414"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Mime it!</a:t>
            </a:r>
            <a:endParaRPr lang="en-US" sz="2500" dirty="0"/>
          </a:p>
        </p:txBody>
      </p:sp>
      <p:pic>
        <p:nvPicPr>
          <p:cNvPr id="6" name="brP_497"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498"/>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Mime it! Your partner says the sentence.</a:t>
            </a:r>
            <a:endParaRPr lang="en-US" sz="1250" dirty="0"/>
          </a:p>
        </p:txBody>
      </p:sp>
      <p:sp>
        <p:nvSpPr>
          <p:cNvPr id="8" name="insIT_49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Mimalo! Il compagno dice la frase.</a:t>
            </a:r>
            <a:endParaRPr lang="en-US" sz="950" dirty="0"/>
          </a:p>
        </p:txBody>
      </p:sp>
      <p:sp>
        <p:nvSpPr>
          <p:cNvPr id="9" name="cmd_500"/>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meta_501"/>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pairs</a:t>
            </a:r>
            <a:endParaRPr lang="en-US" sz="950" dirty="0"/>
          </a:p>
        </p:txBody>
      </p:sp>
      <p:sp>
        <p:nvSpPr>
          <p:cNvPr id="11" name="tag_502"/>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2" name="logo_50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50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game</a:t>
            </a:r>
            <a:endParaRPr lang="en-US" sz="800" dirty="0"/>
          </a:p>
        </p:txBody>
      </p:sp>
      <p:sp>
        <p:nvSpPr>
          <p:cNvPr id="14" name="cd_505"/>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5" name="ii_506"/>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07"/>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7" name="il_508"/>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0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000" dirty="0"/>
          </a:p>
          <a:p>
            <a:pPr marL="190500" indent="-190500">
              <a:spcBef>
                <a:spcPts val="500"/>
              </a:spcBef>
              <a:spcAft>
                <a:spcPts val="200"/>
              </a:spcAft>
              <a:buSzPct val="100000"/>
              <a:buChar char="2"/>
            </a:pPr>
            <a:r>
              <a:rPr lang="en-US" sz="1000" dirty="0">
                <a:solidFill>
                  <a:srgbClr val="1B2559"/>
                </a:solidFill>
                <a:latin typeface="Segoe UI Semibold" pitchFamily="34" charset="0"/>
                <a:ea typeface="Segoe UI Semibold" pitchFamily="34" charset="-122"/>
                <a:cs typeface="Segoe UI Semibold" pitchFamily="34" charset="-120"/>
              </a:rPr>
              <a:t>A mimes it. No words!</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A mima. Niente parole!</a:t>
            </a:r>
            <a:endParaRPr lang="en-US" sz="1000" dirty="0"/>
          </a:p>
          <a:p>
            <a:pPr marL="190500" indent="-190500">
              <a:spcBef>
                <a:spcPts val="500"/>
              </a:spcBef>
              <a:spcAft>
                <a:spcPts val="200"/>
              </a:spcAft>
              <a:buSzPct val="100000"/>
              <a:buChar char="3"/>
            </a:pPr>
            <a:r>
              <a:rPr lang="en-US" sz="1000" dirty="0">
                <a:solidFill>
                  <a:srgbClr val="1B2559"/>
                </a:solidFill>
                <a:latin typeface="Segoe UI Semibold" pitchFamily="34" charset="0"/>
                <a:ea typeface="Segoe UI Semibold" pitchFamily="34" charset="-122"/>
                <a:cs typeface="Segoe UI Semibold" pitchFamily="34" charset="-120"/>
              </a:rPr>
              <a:t>B says: "You're afraid of…!" Then swap.</a:t>
            </a:r>
            <a:endParaRPr lang="en-US" sz="1000" dirty="0"/>
          </a:p>
          <a:p>
            <a:pPr marL="190500" indent="-190500">
              <a:spcAft>
                <a:spcPts val="200"/>
              </a:spcAft>
              <a:buSzPct val="100000"/>
              <a:buChar char=" "/>
            </a:pPr>
            <a:r>
              <a:rPr lang="en-US" sz="900" i="1" dirty="0">
                <a:solidFill>
                  <a:srgbClr val="5B6785"/>
                </a:solidFill>
                <a:latin typeface="Segoe UI Semibold" pitchFamily="34" charset="0"/>
                <a:ea typeface="Segoe UI Semibold" pitchFamily="34" charset="-122"/>
                <a:cs typeface="Segoe UI Semibold" pitchFamily="34" charset="-120"/>
              </a:rPr>
              <a:t>B dice: "Hai paura di…!" Poi scambiatevi.</a:t>
            </a:r>
            <a:endParaRPr lang="en-US" sz="1000" dirty="0"/>
          </a:p>
        </p:txBody>
      </p:sp>
      <p:sp>
        <p:nvSpPr>
          <p:cNvPr id="18" name="pf_509"/>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9" name="ph_510" descr="/home/claude/lls-course/v2/cache/3b2_afraid_dark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0" name="rl_511"/>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mimes</a:t>
            </a:r>
            <a:endParaRPr lang="en-US" sz="1100" dirty="0"/>
          </a:p>
        </p:txBody>
      </p:sp>
      <p:sp>
        <p:nvSpPr>
          <p:cNvPr id="21" name="R1_w512"/>
          <p:cNvSpPr/>
          <p:nvPr/>
        </p:nvSpPr>
        <p:spPr>
          <a:xfrm>
            <a:off x="3246120" y="185623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afraid of (spiders)</a:t>
            </a:r>
            <a:endParaRPr lang="en-US" sz="1700" dirty="0"/>
          </a:p>
        </p:txBody>
      </p:sp>
      <p:sp>
        <p:nvSpPr>
          <p:cNvPr id="22" name="R3_w513"/>
          <p:cNvSpPr/>
          <p:nvPr/>
        </p:nvSpPr>
        <p:spPr>
          <a:xfrm>
            <a:off x="3246120" y="258775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laugh at (a joke)</a:t>
            </a:r>
            <a:endParaRPr lang="en-US" sz="1700" dirty="0"/>
          </a:p>
        </p:txBody>
      </p:sp>
      <p:sp>
        <p:nvSpPr>
          <p:cNvPr id="23" name="R5_w514"/>
          <p:cNvSpPr/>
          <p:nvPr/>
        </p:nvSpPr>
        <p:spPr>
          <a:xfrm>
            <a:off x="3246120" y="331927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argue with (your brother)</a:t>
            </a:r>
            <a:endParaRPr lang="en-US" sz="1700" dirty="0"/>
          </a:p>
        </p:txBody>
      </p:sp>
      <p:sp>
        <p:nvSpPr>
          <p:cNvPr id="24" name="R7_w515"/>
          <p:cNvSpPr/>
          <p:nvPr/>
        </p:nvSpPr>
        <p:spPr>
          <a:xfrm>
            <a:off x="3246120" y="4050792"/>
            <a:ext cx="2651760" cy="621792"/>
          </a:xfrm>
          <a:prstGeom prst="roundRect">
            <a:avLst>
              <a:gd name="adj" fmla="val 20588"/>
            </a:avLst>
          </a:prstGeom>
          <a:solidFill>
            <a:srgbClr val="FFFFFF"/>
          </a:solidFill>
          <a:ln w="31750">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proud of (your exam)</a:t>
            </a:r>
            <a:endParaRPr lang="en-US" sz="1700" dirty="0"/>
          </a:p>
        </p:txBody>
      </p:sp>
      <p:sp>
        <p:nvSpPr>
          <p:cNvPr id="25" name="rl_516"/>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mimes</a:t>
            </a:r>
            <a:endParaRPr lang="en-US" sz="1100" dirty="0"/>
          </a:p>
        </p:txBody>
      </p:sp>
      <p:sp>
        <p:nvSpPr>
          <p:cNvPr id="26" name="R2_w517"/>
          <p:cNvSpPr/>
          <p:nvPr/>
        </p:nvSpPr>
        <p:spPr>
          <a:xfrm>
            <a:off x="6080760" y="185623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fed up with (homework)</a:t>
            </a:r>
            <a:endParaRPr lang="en-US" sz="1700" dirty="0"/>
          </a:p>
        </p:txBody>
      </p:sp>
      <p:sp>
        <p:nvSpPr>
          <p:cNvPr id="27" name="R4_w518"/>
          <p:cNvSpPr/>
          <p:nvPr/>
        </p:nvSpPr>
        <p:spPr>
          <a:xfrm>
            <a:off x="6080760" y="258775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apologize for (being late)</a:t>
            </a:r>
            <a:endParaRPr lang="en-US" sz="1700" dirty="0"/>
          </a:p>
        </p:txBody>
      </p:sp>
      <p:sp>
        <p:nvSpPr>
          <p:cNvPr id="28" name="R6_w519"/>
          <p:cNvSpPr/>
          <p:nvPr/>
        </p:nvSpPr>
        <p:spPr>
          <a:xfrm>
            <a:off x="6080760" y="331927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keen on (football)</a:t>
            </a:r>
            <a:endParaRPr lang="en-US" sz="1700" dirty="0"/>
          </a:p>
        </p:txBody>
      </p:sp>
      <p:sp>
        <p:nvSpPr>
          <p:cNvPr id="29" name="R8_w520"/>
          <p:cNvSpPr/>
          <p:nvPr/>
        </p:nvSpPr>
        <p:spPr>
          <a:xfrm>
            <a:off x="6080760" y="4050792"/>
            <a:ext cx="2651760" cy="621792"/>
          </a:xfrm>
          <a:prstGeom prst="roundRect">
            <a:avLst>
              <a:gd name="adj" fmla="val 20588"/>
            </a:avLst>
          </a:prstGeom>
          <a:solidFill>
            <a:srgbClr val="FFFFFF"/>
          </a:solidFill>
          <a:ln w="31750">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looking forward to (holidays)</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400"/>
                                        <p:tgtEl>
                                          <p:spTgt spid="22"/>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3"/>
                                        </p:tgtEl>
                                        <p:attrNameLst>
                                          <p:attrName>style.visibility</p:attrName>
                                        </p:attrNameLst>
                                      </p:cBhvr>
                                      <p:to>
                                        <p:strVal val="visible"/>
                                      </p:to>
                                    </p:set>
                                    <p:animEffect transition="in" filter="fade">
                                      <p:cBhvr>
                                        <p:cTn id="27" dur="400"/>
                                        <p:tgtEl>
                                          <p:spTgt spid="2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8"/>
                                        </p:tgtEl>
                                        <p:attrNameLst>
                                          <p:attrName>style.visibility</p:attrName>
                                        </p:attrNameLst>
                                      </p:cBhvr>
                                      <p:to>
                                        <p:strVal val="visible"/>
                                      </p:to>
                                    </p:set>
                                    <p:animEffect transition="in" filter="fade">
                                      <p:cBhvr>
                                        <p:cTn id="32" dur="400"/>
                                        <p:tgtEl>
                                          <p:spTgt spid="28"/>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4"/>
                                        </p:tgtEl>
                                        <p:attrNameLst>
                                          <p:attrName>style.visibility</p:attrName>
                                        </p:attrNameLst>
                                      </p:cBhvr>
                                      <p:to>
                                        <p:strVal val="visible"/>
                                      </p:to>
                                    </p:set>
                                    <p:animEffect transition="in" filter="fade">
                                      <p:cBhvr>
                                        <p:cTn id="37" dur="400"/>
                                        <p:tgtEl>
                                          <p:spTgt spid="24"/>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9"/>
                                        </p:tgtEl>
                                        <p:attrNameLst>
                                          <p:attrName>style.visibility</p:attrName>
                                        </p:attrNameLst>
                                      </p:cBhvr>
                                      <p:to>
                                        <p:strVal val="visible"/>
                                      </p:to>
                                    </p:set>
                                    <p:animEffect transition="in" filter="fade">
                                      <p:cBhvr>
                                        <p:cTn id="42"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21"/>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522"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523"/>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Finish it!</a:t>
            </a:r>
            <a:endParaRPr lang="en-US" sz="2500" dirty="0"/>
          </a:p>
        </p:txBody>
      </p:sp>
      <p:pic>
        <p:nvPicPr>
          <p:cNvPr id="6" name="brP_524" descr="/home/claude/lls-course/v2/assets/brush-pink.png">    </p:cNvPr>
          <p:cNvPicPr>
            <a:picLocks noChangeAspect="1"/>
          </p:cNvPicPr>
          <p:nvPr/>
        </p:nvPicPr>
        <p:blipFill>
          <a:blip r:embed="rId3"/>
          <a:stretch>
            <a:fillRect/>
          </a:stretch>
        </p:blipFill>
        <p:spPr>
          <a:xfrm>
            <a:off x="1207008" y="731520"/>
            <a:ext cx="4119372" cy="402336"/>
          </a:xfrm>
          <a:prstGeom prst="rect">
            <a:avLst/>
          </a:prstGeom>
        </p:spPr>
      </p:pic>
      <p:sp>
        <p:nvSpPr>
          <p:cNvPr id="7" name="ins_525"/>
          <p:cNvSpPr/>
          <p:nvPr/>
        </p:nvSpPr>
        <p:spPr>
          <a:xfrm>
            <a:off x="1353312" y="731520"/>
            <a:ext cx="386334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Finish it: preposition + a true ending!</a:t>
            </a:r>
            <a:endParaRPr lang="en-US" sz="1250" dirty="0"/>
          </a:p>
        </p:txBody>
      </p:sp>
      <p:sp>
        <p:nvSpPr>
          <p:cNvPr id="8" name="insIT_52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Finiscila: preposizione + un finale vero!</a:t>
            </a:r>
            <a:endParaRPr lang="en-US" sz="950" dirty="0"/>
          </a:p>
        </p:txBody>
      </p:sp>
      <p:sp>
        <p:nvSpPr>
          <p:cNvPr id="9" name="cmd_527"/>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28"/>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29"/>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3 min   🏆 teams</a:t>
            </a:r>
            <a:endParaRPr lang="en-US" sz="950" dirty="0"/>
          </a:p>
        </p:txBody>
      </p:sp>
      <p:sp>
        <p:nvSpPr>
          <p:cNvPr id="12" name="tag_530"/>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5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game</a:t>
            </a:r>
            <a:endParaRPr lang="en-US" sz="800" dirty="0"/>
          </a:p>
        </p:txBody>
      </p:sp>
      <p:sp>
        <p:nvSpPr>
          <p:cNvPr id="15" name="cd_533"/>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534"/>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535"/>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536"/>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1100" dirty="0">
                <a:solidFill>
                  <a:srgbClr val="1B2559"/>
                </a:solidFill>
                <a:latin typeface="Segoe UI Semibold" pitchFamily="34" charset="0"/>
                <a:ea typeface="Segoe UI Semibold" pitchFamily="34" charset="-122"/>
                <a:cs typeface="Segoe UI Semibold" pitchFamily="34" charset="-120"/>
              </a:rPr>
              <a:t>Read the beginning.</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Leggi l'inizio.</a:t>
            </a:r>
            <a:endParaRPr lang="en-US" sz="1100" dirty="0"/>
          </a:p>
          <a:p>
            <a:pPr marL="190500" indent="-190500">
              <a:spcBef>
                <a:spcPts val="500"/>
              </a:spcBef>
              <a:spcAft>
                <a:spcPts val="200"/>
              </a:spcAft>
              <a:buSzPct val="100000"/>
              <a:buChar char="2"/>
            </a:pPr>
            <a:r>
              <a:rPr lang="en-US" sz="1100" dirty="0">
                <a:solidFill>
                  <a:srgbClr val="1B2559"/>
                </a:solidFill>
                <a:latin typeface="Segoe UI Semibold" pitchFamily="34" charset="0"/>
                <a:ea typeface="Segoe UI Semibold" pitchFamily="34" charset="-122"/>
                <a:cs typeface="Segoe UI Semibold" pitchFamily="34" charset="-120"/>
              </a:rPr>
              <a:t>Teams: finish it in 10 seconds.</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Squadre: finitela in 10 secondi.</a:t>
            </a:r>
            <a:endParaRPr lang="en-US" sz="1100" dirty="0"/>
          </a:p>
          <a:p>
            <a:pPr marL="190500" indent="-190500">
              <a:spcBef>
                <a:spcPts val="500"/>
              </a:spcBef>
              <a:spcAft>
                <a:spcPts val="200"/>
              </a:spcAft>
              <a:buSzPct val="100000"/>
              <a:buChar char="3"/>
            </a:pPr>
            <a:r>
              <a:rPr lang="en-US" sz="1100" dirty="0">
                <a:solidFill>
                  <a:srgbClr val="1B2559"/>
                </a:solidFill>
                <a:latin typeface="Segoe UI Semibold" pitchFamily="34" charset="0"/>
                <a:ea typeface="Segoe UI Semibold" pitchFamily="34" charset="-122"/>
                <a:cs typeface="Segoe UI Semibold" pitchFamily="34" charset="-120"/>
              </a:rPr>
              <a:t>Right preposition = 1 point.</a:t>
            </a:r>
            <a:endParaRPr lang="en-US" sz="1100" dirty="0"/>
          </a:p>
          <a:p>
            <a:pPr marL="190500" indent="-190500">
              <a:spcAft>
                <a:spcPts val="200"/>
              </a:spcAft>
              <a:buSzPct val="100000"/>
              <a:buChar char=" "/>
            </a:pPr>
            <a:r>
              <a:rPr lang="en-US" sz="950" i="1" dirty="0">
                <a:solidFill>
                  <a:srgbClr val="5B6785"/>
                </a:solidFill>
                <a:latin typeface="Segoe UI Semibold" pitchFamily="34" charset="0"/>
                <a:ea typeface="Segoe UI Semibold" pitchFamily="34" charset="-122"/>
                <a:cs typeface="Segoe UI Semibold" pitchFamily="34" charset="-120"/>
              </a:rPr>
              <a:t>Preposizione giusta = 1 punto.</a:t>
            </a:r>
            <a:endParaRPr lang="en-US" sz="1100" dirty="0"/>
          </a:p>
        </p:txBody>
      </p:sp>
      <p:sp>
        <p:nvSpPr>
          <p:cNvPr id="19" name="pf_537"/>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538" descr="/home/claude/lls-course/v2/cache/3b2_proud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539"/>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540"/>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When I was a child, I was afraid…</a:t>
            </a:r>
            <a:endParaRPr lang="en-US" sz="1100" dirty="0"/>
          </a:p>
        </p:txBody>
      </p:sp>
      <p:sp>
        <p:nvSpPr>
          <p:cNvPr id="23" name="R1_chip541"/>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the dark / of dogs</a:t>
            </a:r>
            <a:endParaRPr lang="en-US" sz="1100" dirty="0"/>
          </a:p>
        </p:txBody>
      </p:sp>
      <p:sp>
        <p:nvSpPr>
          <p:cNvPr id="24" name="bd_542"/>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543"/>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I've never been very good…</a:t>
            </a:r>
            <a:endParaRPr lang="en-US" sz="1100" dirty="0"/>
          </a:p>
        </p:txBody>
      </p:sp>
      <p:sp>
        <p:nvSpPr>
          <p:cNvPr id="26" name="R2_chip544"/>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…at maths / at singing</a:t>
            </a:r>
            <a:endParaRPr lang="en-US" sz="1100" dirty="0"/>
          </a:p>
        </p:txBody>
      </p:sp>
      <p:sp>
        <p:nvSpPr>
          <p:cNvPr id="27" name="bd_545"/>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546"/>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I'm really fed up…</a:t>
            </a:r>
            <a:endParaRPr lang="en-US" sz="1100" dirty="0"/>
          </a:p>
        </p:txBody>
      </p:sp>
      <p:sp>
        <p:nvSpPr>
          <p:cNvPr id="29" name="R3_chip547"/>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…with homework / with the rain</a:t>
            </a:r>
            <a:endParaRPr lang="en-US" sz="1100" dirty="0"/>
          </a:p>
        </p:txBody>
      </p:sp>
      <p:sp>
        <p:nvSpPr>
          <p:cNvPr id="30" name="bd_548"/>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549"/>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My grandparents are very proud…</a:t>
            </a:r>
            <a:endParaRPr lang="en-US" sz="1100" dirty="0"/>
          </a:p>
        </p:txBody>
      </p:sp>
      <p:sp>
        <p:nvSpPr>
          <p:cNvPr id="32" name="R4_chip550"/>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me / of my cousin</a:t>
            </a:r>
            <a:endParaRPr lang="en-US" sz="1100" dirty="0"/>
          </a:p>
        </p:txBody>
      </p:sp>
      <p:sp>
        <p:nvSpPr>
          <p:cNvPr id="33" name="bd_551"/>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552"/>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I'd like to spend more money…</a:t>
            </a:r>
            <a:endParaRPr lang="en-US" sz="1100" dirty="0"/>
          </a:p>
        </p:txBody>
      </p:sp>
      <p:sp>
        <p:nvSpPr>
          <p:cNvPr id="35" name="R5_chip553"/>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…on clothes / on video games</a:t>
            </a:r>
            <a:endParaRPr lang="en-US" sz="1100" dirty="0"/>
          </a:p>
        </p:txBody>
      </p:sp>
      <p:sp>
        <p:nvSpPr>
          <p:cNvPr id="36" name="bd_554"/>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555"/>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This song reminds me…</a:t>
            </a:r>
            <a:endParaRPr lang="en-US" sz="1100" dirty="0"/>
          </a:p>
        </p:txBody>
      </p:sp>
      <p:sp>
        <p:nvSpPr>
          <p:cNvPr id="38" name="R6_chip556"/>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…of last summer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7"/>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58"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559"/>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Complete the questions</a:t>
            </a:r>
            <a:endParaRPr lang="en-US" sz="2500" dirty="0"/>
          </a:p>
        </p:txBody>
      </p:sp>
      <p:pic>
        <p:nvPicPr>
          <p:cNvPr id="6" name="brP_560"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61"/>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Complete the questions. Then listen.</a:t>
            </a:r>
            <a:endParaRPr lang="en-US" sz="1250" dirty="0"/>
          </a:p>
        </p:txBody>
      </p:sp>
      <p:sp>
        <p:nvSpPr>
          <p:cNvPr id="8" name="insIT_56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Completa le domande. Poi ascolta.</a:t>
            </a:r>
            <a:endParaRPr lang="en-US" sz="950" dirty="0"/>
          </a:p>
        </p:txBody>
      </p:sp>
      <p:sp>
        <p:nvSpPr>
          <p:cNvPr id="9" name="cmd_563"/>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800" dirty="0">
                <a:solidFill>
                  <a:srgbClr val="000000"/>
                </a:solidFill>
              </a:rPr>
              <a:t>✏️ </a:t>
            </a:r>
            <a:pPr indent="0" marL="0">
              <a:buNone/>
            </a:pPr>
            <a:r>
              <a:rPr lang="en-US" sz="900" dirty="0">
                <a:solidFill>
                  <a:srgbClr val="F2B705"/>
                </a:solidFill>
                <a:latin typeface="Arial Rounded MT Bold" pitchFamily="34" charset="0"/>
                <a:ea typeface="Arial Rounded MT Bold" pitchFamily="34" charset="-122"/>
                <a:cs typeface="Arial Rounded MT Bold" pitchFamily="34" charset="-120"/>
              </a:rPr>
              <a:t>FILL THE GAPS</a:t>
            </a:r>
            <a:pPr indent="0" marL="0">
              <a:buNone/>
            </a:pPr>
            <a:r>
              <a:rPr lang="en-US" sz="700" dirty="0">
                <a:solidFill>
                  <a:srgbClr val="5B6785"/>
                </a:solidFill>
                <a:latin typeface="Segoe UI Semibold" pitchFamily="34" charset="0"/>
                <a:ea typeface="Segoe UI Semibold" pitchFamily="34" charset="-122"/>
                <a:cs typeface="Segoe UI Semibold" pitchFamily="34" charset="-120"/>
              </a:rPr>
              <a:t>  COMPLETA</a:t>
            </a:r>
            <a:endParaRPr lang="en-US" sz="800" dirty="0"/>
          </a:p>
        </p:txBody>
      </p:sp>
      <p:sp>
        <p:nvSpPr>
          <p:cNvPr id="10" name="cmd_564"/>
          <p:cNvSpPr/>
          <p:nvPr/>
        </p:nvSpPr>
        <p:spPr>
          <a:xfrm>
            <a:off x="6510528" y="566928"/>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LISTEN</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ASCOLTA</a:t>
            </a:r>
            <a:endParaRPr lang="en-US" sz="1100" dirty="0"/>
          </a:p>
        </p:txBody>
      </p:sp>
      <p:sp>
        <p:nvSpPr>
          <p:cNvPr id="11" name="meta_565"/>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4 min   👥 pairs</a:t>
            </a:r>
            <a:endParaRPr lang="en-US" sz="950" dirty="0"/>
          </a:p>
        </p:txBody>
      </p:sp>
      <p:sp>
        <p:nvSpPr>
          <p:cNvPr id="12" name="tag_566"/>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Vocabulary</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Listening for detail</a:t>
            </a:r>
            <a:endParaRPr lang="en-US" sz="700" dirty="0"/>
          </a:p>
        </p:txBody>
      </p:sp>
      <p:pic>
        <p:nvPicPr>
          <p:cNvPr id="13" name="logo_5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5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Vocabulary · questions   ·   📖 SB p.33 · 5c, 5d · audio 3.27</a:t>
            </a:r>
            <a:endParaRPr lang="en-US" sz="800" dirty="0"/>
          </a:p>
        </p:txBody>
      </p:sp>
      <p:sp>
        <p:nvSpPr>
          <p:cNvPr id="15" name="ap_569"/>
          <p:cNvSpPr/>
          <p:nvPr/>
        </p:nvSpPr>
        <p:spPr>
          <a:xfrm>
            <a:off x="365760" y="1417320"/>
            <a:ext cx="2194560" cy="402336"/>
          </a:xfrm>
          <a:prstGeom prst="roundRect">
            <a:avLst>
              <a:gd name="adj" fmla="val 50000"/>
            </a:avLst>
          </a:prstGeom>
          <a:solidFill>
            <a:srgbClr val="E3F1FD"/>
          </a:solidFill>
          <a:ln w="19050">
            <a:solidFill>
              <a:srgbClr val="2F8DE4"/>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3.27  ·  pause, then repeat</a:t>
            </a:r>
            <a:endParaRPr lang="en-US" sz="1100" dirty="0"/>
          </a:p>
        </p:txBody>
      </p:sp>
      <p:sp>
        <p:nvSpPr>
          <p:cNvPr id="16" name="ah_570"/>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7"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8" name="ah_571"/>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9"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20" name="pf_572"/>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1" name="ph_573" descr="/home/claude/lls-course/v2/cache/3b2_just_a_minute_jpg_627x407_31.png">    </p:cNvPr>
          <p:cNvPicPr>
            <a:picLocks noChangeAspect="1"/>
          </p:cNvPicPr>
          <p:nvPr/>
        </p:nvPicPr>
        <p:blipFill>
          <a:blip r:embed="rId11"/>
          <a:stretch>
            <a:fillRect/>
          </a:stretch>
        </p:blipFill>
        <p:spPr>
          <a:xfrm rot="-90000">
            <a:off x="457200" y="2103120"/>
            <a:ext cx="2606040" cy="1691640"/>
          </a:xfrm>
          <a:prstGeom prst="rect">
            <a:avLst/>
          </a:prstGeom>
        </p:spPr>
      </p:pic>
      <p:sp>
        <p:nvSpPr>
          <p:cNvPr id="22" name="cd_574"/>
          <p:cNvSpPr/>
          <p:nvPr/>
        </p:nvSpPr>
        <p:spPr>
          <a:xfrm>
            <a:off x="320040" y="4023360"/>
            <a:ext cx="2788920" cy="731520"/>
          </a:xfrm>
          <a:prstGeom prst="roundRect">
            <a:avLst>
              <a:gd name="adj" fmla="val 175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3" name="ii_575"/>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4" name="ih_576"/>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5" name="il_577"/>
          <p:cNvSpPr/>
          <p:nvPr/>
        </p:nvSpPr>
        <p:spPr>
          <a:xfrm>
            <a:off x="886968" y="4498848"/>
            <a:ext cx="2130552" cy="182880"/>
          </a:xfrm>
          <a:prstGeom prst="rect">
            <a:avLst/>
          </a:prstGeom>
          <a:noFill/>
          <a:ln/>
        </p:spPr>
        <p:txBody>
          <a:bodyPr wrap="square" lIns="0" tIns="0" rIns="0" bIns="0" rtlCol="0" anchor="t">
            <a:normAutofit/>
          </a:bodyPr>
          <a:lstStyle/>
          <a:p>
            <a:pPr indent="0" marL="0">
              <a:spcAft>
                <a:spcPts val="200"/>
              </a:spcAft>
              <a:buNone/>
            </a:pPr>
            <a:endParaRPr lang="en-US" sz="1100" dirty="0"/>
          </a:p>
        </p:txBody>
      </p:sp>
      <p:sp>
        <p:nvSpPr>
          <p:cNvPr id="26" name="gq_578"/>
          <p:cNvSpPr/>
          <p:nvPr/>
        </p:nvSpPr>
        <p:spPr>
          <a:xfrm>
            <a:off x="3383280" y="1417320"/>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With friends of the same sex, what do you usually talk ___?</a:t>
            </a:r>
            <a:endParaRPr lang="en-US" sz="1200" dirty="0"/>
          </a:p>
        </p:txBody>
      </p:sp>
      <p:sp>
        <p:nvSpPr>
          <p:cNvPr id="27" name="R1_chip579"/>
          <p:cNvSpPr/>
          <p:nvPr/>
        </p:nvSpPr>
        <p:spPr>
          <a:xfrm>
            <a:off x="6812280" y="141732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about</a:t>
            </a:r>
            <a:endParaRPr lang="en-US" sz="1200" dirty="0"/>
          </a:p>
        </p:txBody>
      </p:sp>
      <p:sp>
        <p:nvSpPr>
          <p:cNvPr id="28" name="gq_580"/>
          <p:cNvSpPr/>
          <p:nvPr/>
        </p:nvSpPr>
        <p:spPr>
          <a:xfrm>
            <a:off x="3383280" y="1938528"/>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Are there any sports or games that you're good ___?</a:t>
            </a:r>
            <a:endParaRPr lang="en-US" sz="1200" dirty="0"/>
          </a:p>
        </p:txBody>
      </p:sp>
      <p:sp>
        <p:nvSpPr>
          <p:cNvPr id="29" name="R2_chip581"/>
          <p:cNvSpPr/>
          <p:nvPr/>
        </p:nvSpPr>
        <p:spPr>
          <a:xfrm>
            <a:off x="6812280" y="1938528"/>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at</a:t>
            </a:r>
            <a:endParaRPr lang="en-US" sz="1200" dirty="0"/>
          </a:p>
        </p:txBody>
      </p:sp>
      <p:sp>
        <p:nvSpPr>
          <p:cNvPr id="30" name="gq_582"/>
          <p:cNvSpPr/>
          <p:nvPr/>
        </p:nvSpPr>
        <p:spPr>
          <a:xfrm>
            <a:off x="3383280" y="2459736"/>
            <a:ext cx="3337560" cy="457200"/>
          </a:xfrm>
          <a:prstGeom prst="roundRect">
            <a:avLst>
              <a:gd name="adj" fmla="val 20000"/>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Is there anything you're really looking forward ___?</a:t>
            </a:r>
            <a:endParaRPr lang="en-US" sz="1200" dirty="0"/>
          </a:p>
        </p:txBody>
      </p:sp>
      <p:sp>
        <p:nvSpPr>
          <p:cNvPr id="31" name="R3_chip583"/>
          <p:cNvSpPr/>
          <p:nvPr/>
        </p:nvSpPr>
        <p:spPr>
          <a:xfrm>
            <a:off x="6812280" y="2459736"/>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to</a:t>
            </a:r>
            <a:endParaRPr lang="en-US" sz="1200" dirty="0"/>
          </a:p>
        </p:txBody>
      </p:sp>
      <p:sp>
        <p:nvSpPr>
          <p:cNvPr id="32" name="gq_584"/>
          <p:cNvSpPr/>
          <p:nvPr/>
        </p:nvSpPr>
        <p:spPr>
          <a:xfrm>
            <a:off x="3383280" y="2980944"/>
            <a:ext cx="3337560" cy="457200"/>
          </a:xfrm>
          <a:prstGeom prst="roundRect">
            <a:avLst>
              <a:gd name="adj" fmla="val 20000"/>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Are there any animals or insects that you're afraid ___?</a:t>
            </a:r>
            <a:endParaRPr lang="en-US" sz="1200" dirty="0"/>
          </a:p>
        </p:txBody>
      </p:sp>
      <p:sp>
        <p:nvSpPr>
          <p:cNvPr id="33" name="R4_chip585"/>
          <p:cNvSpPr/>
          <p:nvPr/>
        </p:nvSpPr>
        <p:spPr>
          <a:xfrm>
            <a:off x="6812280" y="2980944"/>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of</a:t>
            </a:r>
            <a:endParaRPr lang="en-US" sz="1200" dirty="0"/>
          </a:p>
        </p:txBody>
      </p:sp>
      <p:sp>
        <p:nvSpPr>
          <p:cNvPr id="34" name="gq_586"/>
          <p:cNvSpPr/>
          <p:nvPr/>
        </p:nvSpPr>
        <p:spPr>
          <a:xfrm>
            <a:off x="3383280" y="3502152"/>
            <a:ext cx="3337560" cy="457200"/>
          </a:xfrm>
          <a:prstGeom prst="roundRect">
            <a:avLst>
              <a:gd name="adj" fmla="val 20000"/>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What's your town or region famous ___?</a:t>
            </a:r>
            <a:endParaRPr lang="en-US" sz="1200" dirty="0"/>
          </a:p>
        </p:txBody>
      </p:sp>
      <p:sp>
        <p:nvSpPr>
          <p:cNvPr id="35" name="R5_chip587"/>
          <p:cNvSpPr/>
          <p:nvPr/>
        </p:nvSpPr>
        <p:spPr>
          <a:xfrm>
            <a:off x="6812280" y="3502152"/>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for</a:t>
            </a:r>
            <a:endParaRPr lang="en-US" sz="1200" dirty="0"/>
          </a:p>
        </p:txBody>
      </p:sp>
      <p:sp>
        <p:nvSpPr>
          <p:cNvPr id="36" name="gq_588"/>
          <p:cNvSpPr/>
          <p:nvPr/>
        </p:nvSpPr>
        <p:spPr>
          <a:xfrm>
            <a:off x="3383280" y="4023360"/>
            <a:ext cx="3337560" cy="457200"/>
          </a:xfrm>
          <a:prstGeom prst="roundRect">
            <a:avLst>
              <a:gd name="adj" fmla="val 20000"/>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12  What do you think success in an exam depends ___?</a:t>
            </a:r>
            <a:endParaRPr lang="en-US" sz="1200" dirty="0"/>
          </a:p>
        </p:txBody>
      </p:sp>
      <p:sp>
        <p:nvSpPr>
          <p:cNvPr id="37" name="R6_chip589"/>
          <p:cNvSpPr/>
          <p:nvPr/>
        </p:nvSpPr>
        <p:spPr>
          <a:xfrm>
            <a:off x="6812280" y="4023360"/>
            <a:ext cx="2057400" cy="457200"/>
          </a:xfrm>
          <a:prstGeom prst="roundRect">
            <a:avLst>
              <a:gd name="adj" fmla="val 20000"/>
            </a:avLst>
          </a:prstGeom>
          <a:solidFill>
            <a:srgbClr val="FFF6CC"/>
          </a:solidFill>
          <a:ln w="19050">
            <a:solidFill>
              <a:srgbClr val="F2B705"/>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9"/>
                                        </p:tgtEl>
                                        <p:attrNameLst>
                                          <p:attrName>style.visibility</p:attrName>
                                        </p:attrNameLst>
                                      </p:cBhvr>
                                      <p:to>
                                        <p:strVal val="visible"/>
                                      </p:to>
                                    </p:set>
                                    <p:animEffect transition="in" filter="fade">
                                      <p:cBhvr>
                                        <p:cTn id="12" dur="400"/>
                                        <p:tgtEl>
                                          <p:spTgt spid="2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400"/>
                                        <p:tgtEl>
                                          <p:spTgt spid="3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3"/>
                                        </p:tgtEl>
                                        <p:attrNameLst>
                                          <p:attrName>style.visibility</p:attrName>
                                        </p:attrNameLst>
                                      </p:cBhvr>
                                      <p:to>
                                        <p:strVal val="visible"/>
                                      </p:to>
                                    </p:set>
                                    <p:animEffect transition="in" filter="fade">
                                      <p:cBhvr>
                                        <p:cTn id="22" dur="400"/>
                                        <p:tgtEl>
                                          <p:spTgt spid="33"/>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400"/>
                                        <p:tgtEl>
                                          <p:spTgt spid="3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7"/>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7"/>
                                        </p:tgtEl>
                                      </p:cBhvr>
                                    </p:cmd>
                                  </p:childTnLst>
                                </p:cTn>
                              </p:par>
                            </p:childTnLst>
                          </p:cTn>
                        </p:par>
                      </p:childTnLst>
                    </p:cTn>
                  </p:par>
                </p:childTnLst>
              </p:cTn>
              <p:nextCondLst>
                <p:cond evt="onClick" delay="0">
                  <p:tgtEl>
                    <p:spTgt spid="17"/>
                  </p:tgtEl>
                </p:cond>
              </p:nextCondLst>
            </p:seq>
            <p:seq concurrent="1" nextAc="seek">
              <p:cTn id="38" restart="whenNotActive" fill="hold" evtFilter="cancelBubble" nodeType="interactiveSeq">
                <p:stCondLst>
                  <p:cond evt="onClick" delay="0">
                    <p:tgtEl>
                      <p:spTgt spid="19"/>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9"/>
                                        </p:tgtEl>
                                      </p:cBhvr>
                                    </p:cmd>
                                  </p:childTnLst>
                                </p:cTn>
                              </p:par>
                            </p:childTnLst>
                          </p:cTn>
                        </p:par>
                      </p:childTnLst>
                    </p:cTn>
                  </p:par>
                </p:childTnLst>
              </p:cTn>
              <p:nextCondLst>
                <p:cond evt="onClick" delay="0">
                  <p:tgtEl>
                    <p:spTgt spid="19"/>
                  </p:tgtEl>
                </p:cond>
              </p:nextCondLst>
            </p:seq>
            <p:audio>
              <p:cMediaNode vol="80000">
                <p:cTn id="43" fill="hold" display="0">
                  <p:stCondLst>
                    <p:cond delay="indefinite"/>
                  </p:stCondLst>
                  <p:endCondLst>
                    <p:cond evt="onStopAudio" delay="0">
                      <p:tgtEl>
                        <p:sldTgt/>
                      </p:tgtEl>
                    </p:cond>
                  </p:endCondLst>
                </p:cTn>
                <p:tgtEl>
                  <p:spTgt spid="17"/>
                </p:tgtEl>
              </p:cMediaNode>
            </p:audio>
            <p:audio>
              <p:cMediaNode vol="80000">
                <p:cTn id="44" fill="hold" display="0">
                  <p:stCondLst>
                    <p:cond delay="indefinite"/>
                  </p:stCondLst>
                  <p:endCondLst>
                    <p:cond evt="onStopAudio" delay="0">
                      <p:tgtEl>
                        <p:sldTgt/>
                      </p:tgtEl>
                    </p:cond>
                  </p:endCondLst>
                </p:cTn>
                <p:tgtEl>
                  <p:spTgt spid="19"/>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90"/>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91" descr="/home/claude/lls-course/v2/assets/brush-yellow.png">    </p:cNvPr>
          <p:cNvPicPr>
            <a:picLocks noChangeAspect="1"/>
          </p:cNvPicPr>
          <p:nvPr/>
        </p:nvPicPr>
        <p:blipFill>
          <a:blip r:embed="rId2"/>
          <a:stretch>
            <a:fillRect/>
          </a:stretch>
        </p:blipFill>
        <p:spPr>
          <a:xfrm>
            <a:off x="1097280" y="146304"/>
            <a:ext cx="2933395" cy="621792"/>
          </a:xfrm>
          <a:prstGeom prst="rect">
            <a:avLst/>
          </a:prstGeom>
        </p:spPr>
      </p:pic>
      <p:sp>
        <p:nvSpPr>
          <p:cNvPr id="5" name="title_592"/>
          <p:cNvSpPr/>
          <p:nvPr/>
        </p:nvSpPr>
        <p:spPr>
          <a:xfrm>
            <a:off x="1261872" y="164592"/>
            <a:ext cx="265907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Just a minute!</a:t>
            </a:r>
            <a:endParaRPr lang="en-US" sz="2500" dirty="0"/>
          </a:p>
        </p:txBody>
      </p:sp>
      <p:pic>
        <p:nvPicPr>
          <p:cNvPr id="6" name="brP_593"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594"/>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Talk for 30 seconds. Don't stop!</a:t>
            </a:r>
            <a:endParaRPr lang="en-US" sz="1250" dirty="0"/>
          </a:p>
        </p:txBody>
      </p:sp>
      <p:sp>
        <p:nvSpPr>
          <p:cNvPr id="8" name="insIT_59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Parla per 30 secondi. Non fermarti!</a:t>
            </a:r>
            <a:endParaRPr lang="en-US" sz="950" dirty="0"/>
          </a:p>
        </p:txBody>
      </p:sp>
      <p:sp>
        <p:nvSpPr>
          <p:cNvPr id="9" name="cmd_596"/>
          <p:cNvSpPr/>
          <p:nvPr/>
        </p:nvSpPr>
        <p:spPr>
          <a:xfrm>
            <a:off x="6510528" y="182880"/>
            <a:ext cx="1901952" cy="329184"/>
          </a:xfrm>
          <a:prstGeom prst="roundRect">
            <a:avLst>
              <a:gd name="adj" fmla="val 50000"/>
            </a:avLst>
          </a:prstGeom>
          <a:solidFill>
            <a:srgbClr val="FFFFFF"/>
          </a:solidFill>
          <a:ln w="25400">
            <a:solidFill>
              <a:srgbClr val="FFE07A"/>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F2B705"/>
                </a:solidFill>
                <a:latin typeface="Arial Rounded MT Bold" pitchFamily="34" charset="0"/>
                <a:ea typeface="Arial Rounded MT Bold" pitchFamily="34" charset="-122"/>
                <a:cs typeface="Arial Rounded MT Bold" pitchFamily="34" charset="-120"/>
              </a:rPr>
              <a:t>PLAY</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GIOCA</a:t>
            </a:r>
            <a:endParaRPr lang="en-US" sz="1100" dirty="0"/>
          </a:p>
        </p:txBody>
      </p:sp>
      <p:sp>
        <p:nvSpPr>
          <p:cNvPr id="10" name="cmd_597"/>
          <p:cNvSpPr/>
          <p:nvPr/>
        </p:nvSpPr>
        <p:spPr>
          <a:xfrm>
            <a:off x="6510528" y="566928"/>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1" name="meta_598"/>
          <p:cNvSpPr/>
          <p:nvPr/>
        </p:nvSpPr>
        <p:spPr>
          <a:xfrm>
            <a:off x="6510528" y="950976"/>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5 min   👨‍👩‍👧 groups</a:t>
            </a:r>
            <a:endParaRPr lang="en-US" sz="950" dirty="0"/>
          </a:p>
        </p:txBody>
      </p:sp>
      <p:sp>
        <p:nvSpPr>
          <p:cNvPr id="12" name="tag_599"/>
          <p:cNvSpPr/>
          <p:nvPr/>
        </p:nvSpPr>
        <p:spPr>
          <a:xfrm>
            <a:off x="6510528" y="1188720"/>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7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700" dirty="0">
                <a:solidFill>
                  <a:srgbClr val="7B5CD6"/>
                </a:solidFill>
                <a:latin typeface="Segoe UI Semibold" pitchFamily="34" charset="0"/>
                <a:ea typeface="Segoe UI Semibold" pitchFamily="34" charset="-122"/>
                <a:cs typeface="Segoe UI Semibold" pitchFamily="34" charset="-120"/>
              </a:rPr>
              <a:t>  ·  Communicative game</a:t>
            </a:r>
            <a:endParaRPr lang="en-US" sz="700" dirty="0"/>
          </a:p>
        </p:txBody>
      </p:sp>
      <p:pic>
        <p:nvPicPr>
          <p:cNvPr id="13" name="logo_60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4" name="foot_60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Speaking game · fluency   ·   📖 SB p.33 · 5d (speaking)</a:t>
            </a:r>
            <a:endParaRPr lang="en-US" sz="800" dirty="0"/>
          </a:p>
        </p:txBody>
      </p:sp>
      <p:sp>
        <p:nvSpPr>
          <p:cNvPr id="15" name="cd_602"/>
          <p:cNvSpPr/>
          <p:nvPr/>
        </p:nvSpPr>
        <p:spPr>
          <a:xfrm>
            <a:off x="320040" y="1417320"/>
            <a:ext cx="2697480" cy="2194560"/>
          </a:xfrm>
          <a:prstGeom prst="roundRect">
            <a:avLst>
              <a:gd name="adj" fmla="val 5833"/>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16" name="ii_60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04"/>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8" name="il_605"/>
          <p:cNvSpPr/>
          <p:nvPr/>
        </p:nvSpPr>
        <p:spPr>
          <a:xfrm>
            <a:off x="886968" y="1892808"/>
            <a:ext cx="2039112" cy="1645920"/>
          </a:xfrm>
          <a:prstGeom prst="rect">
            <a:avLst/>
          </a:prstGeom>
          <a:noFill/>
          <a:ln/>
        </p:spPr>
        <p:txBody>
          <a:bodyPr wrap="square" lIns="0" tIns="0" rIns="0" bIns="0" rtlCol="0" anchor="t">
            <a:normAutofit/>
          </a:bodyPr>
          <a:lstStyle/>
          <a:p>
            <a:pPr marL="190500" indent="-190500">
              <a:spcAft>
                <a:spcPts val="200"/>
              </a:spcAft>
              <a:buSzPct val="100000"/>
              <a:buChar char="1"/>
            </a:pPr>
            <a:r>
              <a:rPr lang="en-US" sz="800" dirty="0">
                <a:solidFill>
                  <a:srgbClr val="1B2559"/>
                </a:solidFill>
                <a:latin typeface="Segoe UI Semibold" pitchFamily="34" charset="0"/>
                <a:ea typeface="Segoe UI Semibold" pitchFamily="34" charset="-122"/>
                <a:cs typeface="Segoe UI Semibold" pitchFamily="34" charset="-120"/>
              </a:rPr>
              <a:t>Groups of 3: A answers a question for 30 seconds.</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Gruppi di 3: A risponde per 30 secondi.</a:t>
            </a:r>
            <a:endParaRPr lang="en-US" sz="800" dirty="0"/>
          </a:p>
          <a:p>
            <a:pPr marL="190500" indent="-190500">
              <a:spcBef>
                <a:spcPts val="500"/>
              </a:spcBef>
              <a:spcAft>
                <a:spcPts val="200"/>
              </a:spcAft>
              <a:buSzPct val="100000"/>
              <a:buChar char="2"/>
            </a:pPr>
            <a:r>
              <a:rPr lang="en-US" sz="800" dirty="0">
                <a:solidFill>
                  <a:srgbClr val="1B2559"/>
                </a:solidFill>
                <a:latin typeface="Segoe UI Semibold" pitchFamily="34" charset="0"/>
                <a:ea typeface="Segoe UI Semibold" pitchFamily="34" charset="-122"/>
                <a:cs typeface="Segoe UI Semibold" pitchFamily="34" charset="-120"/>
              </a:rPr>
              <a:t>B times it. C counts the prepositions.</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B cronometra. C conta le preposizioni.</a:t>
            </a:r>
            <a:endParaRPr lang="en-US" sz="800" dirty="0"/>
          </a:p>
          <a:p>
            <a:pPr marL="190500" indent="-190500">
              <a:spcBef>
                <a:spcPts val="500"/>
              </a:spcBef>
              <a:spcAft>
                <a:spcPts val="200"/>
              </a:spcAft>
              <a:buSzPct val="100000"/>
              <a:buChar char="3"/>
            </a:pPr>
            <a:r>
              <a:rPr lang="en-US" sz="800" dirty="0">
                <a:solidFill>
                  <a:srgbClr val="1B2559"/>
                </a:solidFill>
                <a:latin typeface="Segoe UI Semibold" pitchFamily="34" charset="0"/>
                <a:ea typeface="Segoe UI Semibold" pitchFamily="34" charset="-122"/>
                <a:cs typeface="Segoe UI Semibold" pitchFamily="34" charset="-120"/>
              </a:rPr>
              <a:t>30 seconds = 2 points + 1 per preposition. Swap!</a:t>
            </a:r>
            <a:endParaRPr lang="en-US" sz="800" dirty="0"/>
          </a:p>
          <a:p>
            <a:pPr marL="190500" indent="-190500">
              <a:spcAft>
                <a:spcPts val="200"/>
              </a:spcAft>
              <a:buSzPct val="100000"/>
              <a:buChar char=" "/>
            </a:pPr>
            <a:r>
              <a:rPr lang="en-US" sz="750" i="1" dirty="0">
                <a:solidFill>
                  <a:srgbClr val="5B6785"/>
                </a:solidFill>
                <a:latin typeface="Segoe UI Semibold" pitchFamily="34" charset="0"/>
                <a:ea typeface="Segoe UI Semibold" pitchFamily="34" charset="-122"/>
                <a:cs typeface="Segoe UI Semibold" pitchFamily="34" charset="-120"/>
              </a:rPr>
              <a:t>30 secondi = 2 punti + 1 per preposizione. Cambiate!</a:t>
            </a:r>
            <a:endParaRPr lang="en-US" sz="800" dirty="0"/>
          </a:p>
        </p:txBody>
      </p:sp>
      <p:sp>
        <p:nvSpPr>
          <p:cNvPr id="19" name="pf_606"/>
          <p:cNvSpPr/>
          <p:nvPr/>
        </p:nvSpPr>
        <p:spPr>
          <a:xfrm rot="-120000">
            <a:off x="411480" y="3611880"/>
            <a:ext cx="246888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607" descr="/home/claude/lls-course/v2/cache/3b2_just_a_minute_jpg_572x253_31.png">    </p:cNvPr>
          <p:cNvPicPr>
            <a:picLocks noChangeAspect="1"/>
          </p:cNvPicPr>
          <p:nvPr/>
        </p:nvPicPr>
        <p:blipFill>
          <a:blip r:embed="rId5"/>
          <a:stretch>
            <a:fillRect/>
          </a:stretch>
        </p:blipFill>
        <p:spPr>
          <a:xfrm rot="-120000">
            <a:off x="457200" y="3657600"/>
            <a:ext cx="2377440" cy="1051560"/>
          </a:xfrm>
          <a:prstGeom prst="rect">
            <a:avLst/>
          </a:prstGeom>
        </p:spPr>
      </p:pic>
      <p:sp>
        <p:nvSpPr>
          <p:cNvPr id="21" name="bd_608"/>
          <p:cNvSpPr/>
          <p:nvPr/>
        </p:nvSpPr>
        <p:spPr>
          <a:xfrm>
            <a:off x="3246120" y="149123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gq_609"/>
          <p:cNvSpPr/>
          <p:nvPr/>
        </p:nvSpPr>
        <p:spPr>
          <a:xfrm>
            <a:off x="3657600" y="141732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usually talk about with your friends?</a:t>
            </a:r>
            <a:endParaRPr lang="en-US" sz="1100" dirty="0"/>
          </a:p>
        </p:txBody>
      </p:sp>
      <p:sp>
        <p:nvSpPr>
          <p:cNvPr id="23" name="R1_chip610"/>
          <p:cNvSpPr/>
          <p:nvPr/>
        </p:nvSpPr>
        <p:spPr>
          <a:xfrm>
            <a:off x="6263640" y="14173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We usually talk about football and…</a:t>
            </a:r>
            <a:endParaRPr lang="en-US" sz="1100" dirty="0"/>
          </a:p>
        </p:txBody>
      </p:sp>
      <p:sp>
        <p:nvSpPr>
          <p:cNvPr id="24" name="bd_611"/>
          <p:cNvSpPr/>
          <p:nvPr/>
        </p:nvSpPr>
        <p:spPr>
          <a:xfrm>
            <a:off x="3246120" y="203225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5" name="gq_612"/>
          <p:cNvSpPr/>
          <p:nvPr/>
        </p:nvSpPr>
        <p:spPr>
          <a:xfrm>
            <a:off x="3657600" y="195834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Is there anything you're looking forward to?</a:t>
            </a:r>
            <a:endParaRPr lang="en-US" sz="1100" dirty="0"/>
          </a:p>
        </p:txBody>
      </p:sp>
      <p:sp>
        <p:nvSpPr>
          <p:cNvPr id="26" name="R2_chip613"/>
          <p:cNvSpPr/>
          <p:nvPr/>
        </p:nvSpPr>
        <p:spPr>
          <a:xfrm>
            <a:off x="6263640" y="195834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really looking forward to the summer, because…</a:t>
            </a:r>
            <a:endParaRPr lang="en-US" sz="1100" dirty="0"/>
          </a:p>
        </p:txBody>
      </p:sp>
      <p:sp>
        <p:nvSpPr>
          <p:cNvPr id="27" name="bd_614"/>
          <p:cNvSpPr/>
          <p:nvPr/>
        </p:nvSpPr>
        <p:spPr>
          <a:xfrm>
            <a:off x="3246120" y="257327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8" name="gq_615"/>
          <p:cNvSpPr/>
          <p:nvPr/>
        </p:nvSpPr>
        <p:spPr>
          <a:xfrm>
            <a:off x="3657600" y="2499360"/>
            <a:ext cx="2514600" cy="477012"/>
          </a:xfrm>
          <a:prstGeom prst="roundRect">
            <a:avLst>
              <a:gd name="adj" fmla="val 19169"/>
            </a:avLst>
          </a:prstGeom>
          <a:solidFill>
            <a:srgbClr val="FFFFFF"/>
          </a:solidFill>
          <a:ln w="19050">
            <a:solidFill>
              <a:srgbClr val="A8E5BE"/>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What's Bagheria famous for?</a:t>
            </a:r>
            <a:endParaRPr lang="en-US" sz="1100" dirty="0"/>
          </a:p>
        </p:txBody>
      </p:sp>
      <p:sp>
        <p:nvSpPr>
          <p:cNvPr id="29" name="R3_chip616"/>
          <p:cNvSpPr/>
          <p:nvPr/>
        </p:nvSpPr>
        <p:spPr>
          <a:xfrm>
            <a:off x="6263640" y="249936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Bagheria is famous for its villas and…</a:t>
            </a:r>
            <a:endParaRPr lang="en-US" sz="1100" dirty="0"/>
          </a:p>
        </p:txBody>
      </p:sp>
      <p:sp>
        <p:nvSpPr>
          <p:cNvPr id="30" name="bd_617"/>
          <p:cNvSpPr/>
          <p:nvPr/>
        </p:nvSpPr>
        <p:spPr>
          <a:xfrm>
            <a:off x="3246120" y="3114294"/>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1" name="gq_618"/>
          <p:cNvSpPr/>
          <p:nvPr/>
        </p:nvSpPr>
        <p:spPr>
          <a:xfrm>
            <a:off x="3657600" y="3040380"/>
            <a:ext cx="2514600" cy="477012"/>
          </a:xfrm>
          <a:prstGeom prst="roundRect">
            <a:avLst>
              <a:gd name="adj" fmla="val 19169"/>
            </a:avLst>
          </a:prstGeom>
          <a:solidFill>
            <a:srgbClr val="FFFFFF"/>
          </a:solidFill>
          <a:ln w="19050">
            <a:solidFill>
              <a:srgbClr val="FFE07A"/>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Are you good at any sports or games?</a:t>
            </a:r>
            <a:endParaRPr lang="en-US" sz="1100" dirty="0"/>
          </a:p>
        </p:txBody>
      </p:sp>
      <p:sp>
        <p:nvSpPr>
          <p:cNvPr id="32" name="R4_chip619"/>
          <p:cNvSpPr/>
          <p:nvPr/>
        </p:nvSpPr>
        <p:spPr>
          <a:xfrm>
            <a:off x="6263640" y="304038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quite good at volleyball, but I'm not keen on…</a:t>
            </a:r>
            <a:endParaRPr lang="en-US" sz="1100" dirty="0"/>
          </a:p>
        </p:txBody>
      </p:sp>
      <p:sp>
        <p:nvSpPr>
          <p:cNvPr id="33" name="bd_620"/>
          <p:cNvSpPr/>
          <p:nvPr/>
        </p:nvSpPr>
        <p:spPr>
          <a:xfrm>
            <a:off x="3246120" y="3655314"/>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4" name="gq_621"/>
          <p:cNvSpPr/>
          <p:nvPr/>
        </p:nvSpPr>
        <p:spPr>
          <a:xfrm>
            <a:off x="3657600" y="3581400"/>
            <a:ext cx="2514600" cy="477012"/>
          </a:xfrm>
          <a:prstGeom prst="roundRect">
            <a:avLst>
              <a:gd name="adj" fmla="val 19169"/>
            </a:avLst>
          </a:prstGeom>
          <a:solidFill>
            <a:srgbClr val="FFFFFF"/>
          </a:solidFill>
          <a:ln w="19050">
            <a:solidFill>
              <a:srgbClr val="F7A6C4"/>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are you afraid of?</a:t>
            </a:r>
            <a:endParaRPr lang="en-US" sz="1100" dirty="0"/>
          </a:p>
        </p:txBody>
      </p:sp>
      <p:sp>
        <p:nvSpPr>
          <p:cNvPr id="35" name="R5_chip622"/>
          <p:cNvSpPr/>
          <p:nvPr/>
        </p:nvSpPr>
        <p:spPr>
          <a:xfrm>
            <a:off x="6263640" y="358140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I'm afraid of spiders! When I was a child…</a:t>
            </a:r>
            <a:endParaRPr lang="en-US" sz="1100" dirty="0"/>
          </a:p>
        </p:txBody>
      </p:sp>
      <p:sp>
        <p:nvSpPr>
          <p:cNvPr id="36" name="bd_623"/>
          <p:cNvSpPr/>
          <p:nvPr/>
        </p:nvSpPr>
        <p:spPr>
          <a:xfrm>
            <a:off x="3246120" y="4196334"/>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7" name="gq_624"/>
          <p:cNvSpPr/>
          <p:nvPr/>
        </p:nvSpPr>
        <p:spPr>
          <a:xfrm>
            <a:off x="3657600" y="4122420"/>
            <a:ext cx="2514600" cy="477012"/>
          </a:xfrm>
          <a:prstGeom prst="roundRect">
            <a:avLst>
              <a:gd name="adj" fmla="val 19169"/>
            </a:avLst>
          </a:prstGeom>
          <a:solidFill>
            <a:srgbClr val="FFFFFF"/>
          </a:solidFill>
          <a:ln w="19050">
            <a:solidFill>
              <a:srgbClr val="A9D3F5"/>
            </a:solidFill>
          </a:ln>
        </p:spPr>
        <p:txBody>
          <a:bodyPr wrap="square" lIns="101600" tIns="0" rIns="10160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success in an exam depend on?</a:t>
            </a:r>
            <a:endParaRPr lang="en-US" sz="1100" dirty="0"/>
          </a:p>
        </p:txBody>
      </p:sp>
      <p:sp>
        <p:nvSpPr>
          <p:cNvPr id="38" name="R6_chip625"/>
          <p:cNvSpPr/>
          <p:nvPr/>
        </p:nvSpPr>
        <p:spPr>
          <a:xfrm>
            <a:off x="6263640" y="4122420"/>
            <a:ext cx="2560320" cy="477012"/>
          </a:xfrm>
          <a:prstGeom prst="roundRect">
            <a:avLst>
              <a:gd name="adj" fmla="val 19169"/>
            </a:avLst>
          </a:prstGeom>
          <a:solidFill>
            <a:srgbClr val="FFE3EE"/>
          </a:solidFill>
          <a:ln w="19050">
            <a:solidFill>
              <a:srgbClr val="E8508F"/>
            </a:solidFill>
          </a:ln>
        </p:spPr>
        <p:txBody>
          <a:bodyPr wrap="square" lIns="101600" tIns="0" rIns="101600" bIns="0" rtlCol="0" anchor="ctr">
            <a:normAutofit/>
          </a:bodyPr>
          <a:lstStyle/>
          <a:p>
            <a:pPr algn="l" indent="0" marL="0">
              <a:buNone/>
            </a:pPr>
            <a:r>
              <a:rPr lang="en-US" sz="1100" b="1" dirty="0">
                <a:solidFill>
                  <a:srgbClr val="1B2559"/>
                </a:solidFill>
                <a:latin typeface="Segoe UI Semibold" pitchFamily="34" charset="0"/>
                <a:ea typeface="Segoe UI Semibold" pitchFamily="34" charset="-122"/>
                <a:cs typeface="Segoe UI Semibold" pitchFamily="34" charset="-120"/>
              </a:rPr>
              <a:t>→ I think it depends on how much you study…</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fade">
                                      <p:cBhvr>
                                        <p:cTn id="12" dur="4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2"/>
                                        </p:tgtEl>
                                        <p:attrNameLst>
                                          <p:attrName>style.visibility</p:attrName>
                                        </p:attrNameLst>
                                      </p:cBhvr>
                                      <p:to>
                                        <p:strVal val="visible"/>
                                      </p:to>
                                    </p:set>
                                    <p:animEffect transition="in" filter="fade">
                                      <p:cBhvr>
                                        <p:cTn id="22" dur="400"/>
                                        <p:tgtEl>
                                          <p:spTgt spid="32"/>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5"/>
                                        </p:tgtEl>
                                        <p:attrNameLst>
                                          <p:attrName>style.visibility</p:attrName>
                                        </p:attrNameLst>
                                      </p:cBhvr>
                                      <p:to>
                                        <p:strVal val="visible"/>
                                      </p:to>
                                    </p:set>
                                    <p:animEffect transition="in" filter="fade">
                                      <p:cBhvr>
                                        <p:cTn id="27" dur="400"/>
                                        <p:tgtEl>
                                          <p:spTgt spid="35"/>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8"/>
                                        </p:tgtEl>
                                        <p:attrNameLst>
                                          <p:attrName>style.visibility</p:attrName>
                                        </p:attrNameLst>
                                      </p:cBhvr>
                                      <p:to>
                                        <p:strVal val="visible"/>
                                      </p:to>
                                    </p:set>
                                    <p:animEffect transition="in" filter="fade">
                                      <p:cBhvr>
                                        <p:cTn id="32" dur="400"/>
                                        <p:tgtEl>
                                          <p:spTgt spid="3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6"/>
          <p:cNvSpPr/>
          <p:nvPr/>
        </p:nvSpPr>
        <p:spPr>
          <a:xfrm>
            <a:off x="201168" y="164592"/>
            <a:ext cx="841248" cy="841248"/>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62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2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2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3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meta_632"/>
          <p:cNvSpPr/>
          <p:nvPr/>
        </p:nvSpPr>
        <p:spPr>
          <a:xfrm>
            <a:off x="6510528" y="182880"/>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2 min   👥 pairs</a:t>
            </a:r>
            <a:endParaRPr lang="en-US" sz="950" dirty="0"/>
          </a:p>
        </p:txBody>
      </p:sp>
      <p:sp>
        <p:nvSpPr>
          <p:cNvPr id="10" name="tag_633"/>
          <p:cNvSpPr/>
          <p:nvPr/>
        </p:nvSpPr>
        <p:spPr>
          <a:xfrm>
            <a:off x="6510528" y="420624"/>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Retrieval</a:t>
            </a:r>
            <a:endParaRPr lang="en-US" sz="850" dirty="0"/>
          </a:p>
        </p:txBody>
      </p:sp>
      <p:pic>
        <p:nvPicPr>
          <p:cNvPr id="11" name="logo_63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2" name="foot_63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Exit · what can you remember?</a:t>
            </a:r>
            <a:endParaRPr lang="en-US" sz="800" dirty="0"/>
          </a:p>
        </p:txBody>
      </p:sp>
      <p:sp>
        <p:nvSpPr>
          <p:cNvPr id="13" name="bd_636"/>
          <p:cNvSpPr/>
          <p:nvPr/>
        </p:nvSpPr>
        <p:spPr>
          <a:xfrm>
            <a:off x="457200" y="1508760"/>
            <a:ext cx="777240" cy="777240"/>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4" name="rt_637"/>
          <p:cNvSpPr/>
          <p:nvPr/>
        </p:nvSpPr>
        <p:spPr>
          <a:xfrm>
            <a:off x="1417320" y="1581912"/>
            <a:ext cx="3931920" cy="640080"/>
          </a:xfrm>
          <a:prstGeom prst="roundRect">
            <a:avLst>
              <a:gd name="adj" fmla="val 2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toys from today (no looking!)</a:t>
            </a:r>
            <a:endParaRPr lang="en-US" sz="1400" dirty="0"/>
          </a:p>
        </p:txBody>
      </p:sp>
      <p:sp>
        <p:nvSpPr>
          <p:cNvPr id="15" name="bd_638"/>
          <p:cNvSpPr/>
          <p:nvPr/>
        </p:nvSpPr>
        <p:spPr>
          <a:xfrm>
            <a:off x="457200" y="2468880"/>
            <a:ext cx="777240" cy="777240"/>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6" name="rt_639"/>
          <p:cNvSpPr/>
          <p:nvPr/>
        </p:nvSpPr>
        <p:spPr>
          <a:xfrm>
            <a:off x="1417320" y="2542032"/>
            <a:ext cx="3931920" cy="640080"/>
          </a:xfrm>
          <a:prstGeom prst="roundRect">
            <a:avLst>
              <a:gd name="adj" fmla="val 2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verbs + preposition: depend on…</a:t>
            </a:r>
            <a:endParaRPr lang="en-US" sz="1400" dirty="0"/>
          </a:p>
        </p:txBody>
      </p:sp>
      <p:sp>
        <p:nvSpPr>
          <p:cNvPr id="17" name="bd_640"/>
          <p:cNvSpPr/>
          <p:nvPr/>
        </p:nvSpPr>
        <p:spPr>
          <a:xfrm>
            <a:off x="457200" y="3429000"/>
            <a:ext cx="777240" cy="777240"/>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8" name="rt_641"/>
          <p:cNvSpPr/>
          <p:nvPr/>
        </p:nvSpPr>
        <p:spPr>
          <a:xfrm>
            <a:off x="1417320" y="3502152"/>
            <a:ext cx="3931920" cy="640080"/>
          </a:xfrm>
          <a:prstGeom prst="roundRect">
            <a:avLst>
              <a:gd name="adj" fmla="val 20000"/>
            </a:avLst>
          </a:prstGeom>
          <a:solidFill>
            <a:srgbClr val="FFFFFF"/>
          </a:solidFill>
          <a:ln w="25400">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true sentence: "I'm afraid of…"</a:t>
            </a:r>
            <a:endParaRPr lang="en-US" sz="1400" dirty="0"/>
          </a:p>
        </p:txBody>
      </p:sp>
      <p:sp>
        <p:nvSpPr>
          <p:cNvPr id="19" name="cd_642"/>
          <p:cNvSpPr/>
          <p:nvPr/>
        </p:nvSpPr>
        <p:spPr>
          <a:xfrm>
            <a:off x="5669280" y="1417320"/>
            <a:ext cx="3200400" cy="2286000"/>
          </a:xfrm>
          <a:prstGeom prst="roundRect">
            <a:avLst>
              <a:gd name="adj" fmla="val 5600"/>
            </a:avLst>
          </a:prstGeom>
          <a:solidFill>
            <a:srgbClr val="FFF6CC"/>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0" name="ii_643"/>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644"/>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2" name="il_645"/>
          <p:cNvSpPr/>
          <p:nvPr/>
        </p:nvSpPr>
        <p:spPr>
          <a:xfrm>
            <a:off x="6236208" y="1892808"/>
            <a:ext cx="2542032" cy="173736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3B: 3a, 3b, 4a (audio: Online Practice)</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Vocabulary Bank p.156: cover the prepositions and test yourself</a:t>
            </a:r>
            <a:endParaRPr lang="en-US" sz="1150" dirty="0"/>
          </a:p>
          <a:p>
            <a:pPr marL="152400" indent="-152400">
              <a:spcBef>
                <a:spcPts val="5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3" name="st_646"/>
          <p:cNvSpPr/>
          <p:nvPr/>
        </p:nvSpPr>
        <p:spPr>
          <a:xfrm rot="-180000">
            <a:off x="5806440" y="3931920"/>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Practical English 2 · A difficult celebrity</a:t>
            </a:r>
            <a:endParaRPr lang="en-US" sz="1100" dirty="0"/>
          </a:p>
        </p:txBody>
      </p:sp>
    </p:spTree>
  </p:cSld>
  <p:clrMapOvr>
    <a:masterClrMapping/>
  </p:clrMapOvr>
  <p:transition spd="med">
    <p:push dir="l"/>
  </p:transition>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47"/>
          <p:cNvSpPr/>
          <p:nvPr/>
        </p:nvSpPr>
        <p:spPr>
          <a:xfrm>
            <a:off x="201168" y="164592"/>
            <a:ext cx="841248" cy="841248"/>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48"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49"/>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50"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51"/>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5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cmd_653"/>
          <p:cNvSpPr/>
          <p:nvPr/>
        </p:nvSpPr>
        <p:spPr>
          <a:xfrm>
            <a:off x="6510528" y="182880"/>
            <a:ext cx="1901952" cy="329184"/>
          </a:xfrm>
          <a:prstGeom prst="roundRect">
            <a:avLst>
              <a:gd name="adj" fmla="val 50000"/>
            </a:avLst>
          </a:prstGeom>
          <a:solidFill>
            <a:srgbClr val="FFFFFF"/>
          </a:solidFill>
          <a:ln w="25400">
            <a:solidFill>
              <a:srgbClr val="A9D3F5"/>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2F8DE4"/>
                </a:solidFill>
                <a:latin typeface="Arial Rounded MT Bold" pitchFamily="34" charset="0"/>
                <a:ea typeface="Arial Rounded MT Bold" pitchFamily="34" charset="-122"/>
                <a:cs typeface="Arial Rounded MT Bold" pitchFamily="34" charset="-120"/>
              </a:rPr>
              <a:t>THINK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PENSA</a:t>
            </a:r>
            <a:endParaRPr lang="en-US" sz="1100" dirty="0"/>
          </a:p>
        </p:txBody>
      </p:sp>
      <p:sp>
        <p:nvSpPr>
          <p:cNvPr id="10" name="meta_654"/>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1 min   🙋 whole class</a:t>
            </a:r>
            <a:endParaRPr lang="en-US" sz="950" dirty="0"/>
          </a:p>
        </p:txBody>
      </p:sp>
      <p:sp>
        <p:nvSpPr>
          <p:cNvPr id="11" name="tag_655"/>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50" b="1" dirty="0">
                <a:solidFill>
                  <a:srgbClr val="1B2559"/>
                </a:solidFill>
                <a:latin typeface="Segoe UI Semibold" pitchFamily="34" charset="0"/>
                <a:ea typeface="Segoe UI Semibold" pitchFamily="34" charset="-122"/>
                <a:cs typeface="Segoe UI Semibold" pitchFamily="34" charset="-120"/>
              </a:rPr>
              <a:t>🎯 Revision</a:t>
            </a:r>
            <a:pPr algn="ctr" indent="0" marL="0">
              <a:buNone/>
            </a:pPr>
            <a:r>
              <a:rPr lang="en-US" sz="850" dirty="0">
                <a:solidFill>
                  <a:srgbClr val="7B5CD6"/>
                </a:solidFill>
                <a:latin typeface="Segoe UI Semibold" pitchFamily="34" charset="0"/>
                <a:ea typeface="Segoe UI Semibold" pitchFamily="34" charset="-122"/>
                <a:cs typeface="Segoe UI Semibold" pitchFamily="34" charset="-120"/>
              </a:rPr>
              <a:t>  ·  Reflection</a:t>
            </a:r>
            <a:endParaRPr lang="en-US" sz="850" dirty="0"/>
          </a:p>
        </p:txBody>
      </p:sp>
      <p:pic>
        <p:nvPicPr>
          <p:cNvPr id="12" name="logo_6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Review · what did you do today?</a:t>
            </a:r>
            <a:endParaRPr lang="en-US" sz="800" dirty="0"/>
          </a:p>
        </p:txBody>
      </p:sp>
      <p:sp>
        <p:nvSpPr>
          <p:cNvPr id="14" name="cd_658"/>
          <p:cNvSpPr/>
          <p:nvPr/>
        </p:nvSpPr>
        <p:spPr>
          <a:xfrm>
            <a:off x="548640" y="1417320"/>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15" name="te_659"/>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tt_660"/>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toys and your childhood</a:t>
            </a:r>
            <a:endParaRPr lang="en-US" sz="1350" dirty="0"/>
          </a:p>
        </p:txBody>
      </p:sp>
      <p:sp>
        <p:nvSpPr>
          <p:cNvPr id="17" name="R1_tk661"/>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cd_662"/>
          <p:cNvSpPr/>
          <p:nvPr/>
        </p:nvSpPr>
        <p:spPr>
          <a:xfrm>
            <a:off x="548640" y="2020824"/>
            <a:ext cx="6035040" cy="530352"/>
          </a:xfrm>
          <a:prstGeom prst="roundRect">
            <a:avLst>
              <a:gd name="adj" fmla="val 24138"/>
            </a:avLst>
          </a:prstGeom>
          <a:solidFill>
            <a:srgbClr val="FFFFFF"/>
          </a:solidFill>
          <a:ln w="19050">
            <a:solidFill>
              <a:srgbClr val="A9D3F5"/>
            </a:solidFill>
            <a:prstDash val="solid"/>
          </a:ln>
          <a:effectLst>
            <a:outerShdw sx="100000" sy="100000" kx="0" ky="0" algn="bl" rotWithShape="0" blurRad="88900" dist="31750" dir="5400000">
              <a:srgbClr val="1B2559">
                <a:alpha val="12000"/>
              </a:srgbClr>
            </a:outerShdw>
          </a:effectLst>
        </p:spPr>
      </p:sp>
      <p:sp>
        <p:nvSpPr>
          <p:cNvPr id="19" name="te_663"/>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tt_664"/>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radio programme: pink and blue</a:t>
            </a:r>
            <a:endParaRPr lang="en-US" sz="1350" dirty="0"/>
          </a:p>
        </p:txBody>
      </p:sp>
      <p:sp>
        <p:nvSpPr>
          <p:cNvPr id="21" name="R2_tk665"/>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cd_666"/>
          <p:cNvSpPr/>
          <p:nvPr/>
        </p:nvSpPr>
        <p:spPr>
          <a:xfrm>
            <a:off x="548640" y="2624328"/>
            <a:ext cx="6035040" cy="530352"/>
          </a:xfrm>
          <a:prstGeom prst="roundRect">
            <a:avLst>
              <a:gd name="adj" fmla="val 24138"/>
            </a:avLst>
          </a:prstGeom>
          <a:solidFill>
            <a:srgbClr val="FFFFFF"/>
          </a:solidFill>
          <a:ln w="19050">
            <a:solidFill>
              <a:srgbClr val="A8E5BE"/>
            </a:solidFill>
            <a:prstDash val="solid"/>
          </a:ln>
          <a:effectLst>
            <a:outerShdw sx="100000" sy="100000" kx="0" ky="0" algn="bl" rotWithShape="0" blurRad="88900" dist="31750" dir="5400000">
              <a:srgbClr val="1B2559">
                <a:alpha val="12000"/>
              </a:srgbClr>
            </a:outerShdw>
          </a:effectLst>
        </p:spPr>
      </p:sp>
      <p:sp>
        <p:nvSpPr>
          <p:cNvPr id="23" name="te_667"/>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tt_668"/>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Used prepositions: afraid of, good at…</a:t>
            </a:r>
            <a:endParaRPr lang="en-US" sz="1350" dirty="0"/>
          </a:p>
        </p:txBody>
      </p:sp>
      <p:sp>
        <p:nvSpPr>
          <p:cNvPr id="25" name="R3_tk669"/>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cd_670"/>
          <p:cNvSpPr/>
          <p:nvPr/>
        </p:nvSpPr>
        <p:spPr>
          <a:xfrm>
            <a:off x="548640" y="3227832"/>
            <a:ext cx="6035040" cy="530352"/>
          </a:xfrm>
          <a:prstGeom prst="roundRect">
            <a:avLst>
              <a:gd name="adj" fmla="val 24138"/>
            </a:avLst>
          </a:prstGeom>
          <a:solidFill>
            <a:srgbClr val="FFFFFF"/>
          </a:solidFill>
          <a:ln w="19050">
            <a:solidFill>
              <a:srgbClr val="FFE07A"/>
            </a:solidFill>
            <a:prstDash val="solid"/>
          </a:ln>
          <a:effectLst>
            <a:outerShdw sx="100000" sy="100000" kx="0" ky="0" algn="bl" rotWithShape="0" blurRad="88900" dist="31750" dir="5400000">
              <a:srgbClr val="1B2559">
                <a:alpha val="12000"/>
              </a:srgbClr>
            </a:outerShdw>
          </a:effectLst>
        </p:spPr>
      </p:sp>
      <p:sp>
        <p:nvSpPr>
          <p:cNvPr id="27" name="te_671"/>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tt_672"/>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9" name="R4_tk673"/>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cd_674"/>
          <p:cNvSpPr/>
          <p:nvPr/>
        </p:nvSpPr>
        <p:spPr>
          <a:xfrm>
            <a:off x="548640" y="3831336"/>
            <a:ext cx="6035040" cy="530352"/>
          </a:xfrm>
          <a:prstGeom prst="roundRect">
            <a:avLst>
              <a:gd name="adj" fmla="val 24138"/>
            </a:avLst>
          </a:prstGeom>
          <a:solidFill>
            <a:srgbClr val="FFFFFF"/>
          </a:solidFill>
          <a:ln w="19050">
            <a:solidFill>
              <a:srgbClr val="F7A6C4"/>
            </a:solidFill>
            <a:prstDash val="solid"/>
          </a:ln>
          <a:effectLst>
            <a:outerShdw sx="100000" sy="100000" kx="0" ky="0" algn="bl" rotWithShape="0" blurRad="88900" dist="31750" dir="5400000">
              <a:srgbClr val="1B2559">
                <a:alpha val="12000"/>
              </a:srgbClr>
            </a:outerShdw>
          </a:effectLst>
        </p:spPr>
      </p:sp>
      <p:sp>
        <p:nvSpPr>
          <p:cNvPr id="31" name="te_675"/>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tt_676"/>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"Just a minute!"</a:t>
            </a:r>
            <a:endParaRPr lang="en-US" sz="1350" dirty="0"/>
          </a:p>
        </p:txBody>
      </p:sp>
      <p:sp>
        <p:nvSpPr>
          <p:cNvPr id="33" name="R5_tk677"/>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4" name="st_678"/>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400"/>
                                        <p:tgtEl>
                                          <p:spTgt spid="21"/>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79"/>
          <p:cNvSpPr/>
          <p:nvPr/>
        </p:nvSpPr>
        <p:spPr>
          <a:xfrm>
            <a:off x="201168" y="164592"/>
            <a:ext cx="841248" cy="841248"/>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80"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681"/>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A toy for everyone</a:t>
            </a:r>
            <a:endParaRPr lang="en-US" sz="2500" dirty="0"/>
          </a:p>
        </p:txBody>
      </p:sp>
      <p:pic>
        <p:nvPicPr>
          <p:cNvPr id="6" name="brP_682"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683"/>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Design a toy for ALL children!</a:t>
            </a:r>
            <a:endParaRPr lang="en-US" sz="1250" dirty="0"/>
          </a:p>
        </p:txBody>
      </p:sp>
      <p:sp>
        <p:nvSpPr>
          <p:cNvPr id="8" name="insIT_68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Inventate un giocattolo per TUTTI i bambini!</a:t>
            </a:r>
            <a:endParaRPr lang="en-US" sz="950" dirty="0"/>
          </a:p>
        </p:txBody>
      </p:sp>
      <p:sp>
        <p:nvSpPr>
          <p:cNvPr id="9" name="cmd_685"/>
          <p:cNvSpPr/>
          <p:nvPr/>
        </p:nvSpPr>
        <p:spPr>
          <a:xfrm>
            <a:off x="6510528" y="182880"/>
            <a:ext cx="1901952" cy="329184"/>
          </a:xfrm>
          <a:prstGeom prst="roundRect">
            <a:avLst>
              <a:gd name="adj" fmla="val 50000"/>
            </a:avLst>
          </a:prstGeom>
          <a:solidFill>
            <a:srgbClr val="FFFFFF"/>
          </a:solidFill>
          <a:ln w="25400">
            <a:solidFill>
              <a:srgbClr val="F7A6C4"/>
            </a:solidFill>
          </a:ln>
          <a:effectLst>
            <a:outerShdw sx="100000" sy="100000" kx="0" ky="0" algn="bl" rotWithShape="0" blurRad="88900" dist="31750" dir="5400000">
              <a:srgbClr val="1B2559">
                <a:alpha val="8000"/>
              </a:srgbClr>
            </a:outerShdw>
          </a:effectLst>
        </p:spPr>
        <p:txBody>
          <a:bodyPr wrap="square" lIns="101600" tIns="0" rIns="101600" bIns="0" rtlCol="0" anchor="ctr">
            <a:normAutofit/>
          </a:bodyPr>
          <a:lstStyle/>
          <a:p>
            <a:pPr indent="0" marL="0">
              <a:buNone/>
            </a:pPr>
            <a:r>
              <a:rPr lang="en-US" sz="1100" dirty="0">
                <a:solidFill>
                  <a:srgbClr val="000000"/>
                </a:solidFill>
              </a:rPr>
              <a:t>💬 </a:t>
            </a:r>
            <a:pPr indent="0" marL="0">
              <a:buNone/>
            </a:pPr>
            <a:r>
              <a:rPr lang="en-US" sz="1200" dirty="0">
                <a:solidFill>
                  <a:srgbClr val="E8508F"/>
                </a:solidFill>
                <a:latin typeface="Arial Rounded MT Bold" pitchFamily="34" charset="0"/>
                <a:ea typeface="Arial Rounded MT Bold" pitchFamily="34" charset="-122"/>
                <a:cs typeface="Arial Rounded MT Bold" pitchFamily="34" charset="-120"/>
              </a:rPr>
              <a:t>TALK</a:t>
            </a:r>
            <a:pPr indent="0" marL="0">
              <a:buNone/>
            </a:pPr>
            <a:r>
              <a:rPr lang="en-US" sz="850" dirty="0">
                <a:solidFill>
                  <a:srgbClr val="5B6785"/>
                </a:solidFill>
                <a:latin typeface="Segoe UI Semibold" pitchFamily="34" charset="0"/>
                <a:ea typeface="Segoe UI Semibold" pitchFamily="34" charset="-122"/>
                <a:cs typeface="Segoe UI Semibold" pitchFamily="34" charset="-120"/>
              </a:rPr>
              <a:t>  PARLA</a:t>
            </a:r>
            <a:endParaRPr lang="en-US" sz="1100" dirty="0"/>
          </a:p>
        </p:txBody>
      </p:sp>
      <p:sp>
        <p:nvSpPr>
          <p:cNvPr id="10" name="meta_686"/>
          <p:cNvSpPr/>
          <p:nvPr/>
        </p:nvSpPr>
        <p:spPr>
          <a:xfrm>
            <a:off x="6510528" y="566928"/>
            <a:ext cx="1901952" cy="228600"/>
          </a:xfrm>
          <a:prstGeom prst="rect">
            <a:avLst/>
          </a:prstGeom>
          <a:noFill/>
          <a:ln/>
        </p:spPr>
        <p:txBody>
          <a:bodyPr wrap="square" lIns="0" tIns="0" rIns="0" bIns="0" rtlCol="0" anchor="ctr">
            <a:normAutofit/>
          </a:bodyPr>
          <a:lstStyle/>
          <a:p>
            <a:pPr algn="ctr" indent="0" marL="0">
              <a:buNone/>
            </a:pPr>
            <a:r>
              <a:rPr lang="en-US" sz="950" dirty="0">
                <a:solidFill>
                  <a:srgbClr val="5B6785"/>
                </a:solidFill>
                <a:latin typeface="Segoe UI Semibold" pitchFamily="34" charset="0"/>
                <a:ea typeface="Segoe UI Semibold" pitchFamily="34" charset="-122"/>
                <a:cs typeface="Segoe UI Semibold" pitchFamily="34" charset="-120"/>
              </a:rPr>
              <a:t>⏱ 6 min   👨‍👩‍👧 groups</a:t>
            </a:r>
            <a:endParaRPr lang="en-US" sz="950" dirty="0"/>
          </a:p>
        </p:txBody>
      </p:sp>
      <p:sp>
        <p:nvSpPr>
          <p:cNvPr id="11" name="tag_687"/>
          <p:cNvSpPr/>
          <p:nvPr/>
        </p:nvSpPr>
        <p:spPr>
          <a:xfrm>
            <a:off x="6510528" y="804672"/>
            <a:ext cx="1901952" cy="219456"/>
          </a:xfrm>
          <a:prstGeom prst="roundRect">
            <a:avLst>
              <a:gd name="adj" fmla="val 58333"/>
            </a:avLst>
          </a:prstGeom>
          <a:solidFill>
            <a:srgbClr val="F3EEFF"/>
          </a:solidFill>
          <a:ln w="12700">
            <a:solidFill>
              <a:srgbClr val="D9CCF5"/>
            </a:solidFill>
          </a:ln>
        </p:spPr>
        <p:txBody>
          <a:bodyPr wrap="square" lIns="76200" tIns="0" rIns="76200" bIns="0" rtlCol="0" anchor="ctr">
            <a:normAutofit/>
          </a:bodyPr>
          <a:lstStyle/>
          <a:p>
            <a:pPr algn="ctr" indent="0" marL="0">
              <a:buNone/>
            </a:pPr>
            <a:r>
              <a:rPr lang="en-US" sz="800" b="1" dirty="0">
                <a:solidFill>
                  <a:srgbClr val="1B2559"/>
                </a:solidFill>
                <a:latin typeface="Segoe UI Semibold" pitchFamily="34" charset="0"/>
                <a:ea typeface="Segoe UI Semibold" pitchFamily="34" charset="-122"/>
                <a:cs typeface="Segoe UI Semibold" pitchFamily="34" charset="-120"/>
              </a:rPr>
              <a:t>🎯 Speaking</a:t>
            </a:r>
            <a:pPr algn="ctr" indent="0" marL="0">
              <a:buNone/>
            </a:pPr>
            <a:r>
              <a:rPr lang="en-US" sz="800" dirty="0">
                <a:solidFill>
                  <a:srgbClr val="7B5CD6"/>
                </a:solidFill>
                <a:latin typeface="Segoe UI Semibold" pitchFamily="34" charset="0"/>
                <a:ea typeface="Segoe UI Semibold" pitchFamily="34" charset="-122"/>
                <a:cs typeface="Segoe UI Semibold" pitchFamily="34" charset="-120"/>
              </a:rPr>
              <a:t>  ·  Communicative</a:t>
            </a:r>
            <a:endParaRPr lang="en-US" sz="800" dirty="0"/>
          </a:p>
        </p:txBody>
      </p:sp>
      <p:pic>
        <p:nvPicPr>
          <p:cNvPr id="12" name="logo_6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3" name="foot_6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3B-2 · Extra · design task</a:t>
            </a:r>
            <a:endParaRPr lang="en-US" sz="800" dirty="0"/>
          </a:p>
        </p:txBody>
      </p:sp>
      <p:sp>
        <p:nvSpPr>
          <p:cNvPr id="14" name="st_690"/>
          <p:cNvSpPr/>
          <p:nvPr/>
        </p:nvSpPr>
        <p:spPr>
          <a:xfrm rot="-180000">
            <a:off x="7315200" y="4773168"/>
            <a:ext cx="1600200" cy="292608"/>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00" dirty="0">
                <a:solidFill>
                  <a:srgbClr val="1B2559"/>
                </a:solidFill>
                <a:latin typeface="Arial Rounded MT Bold" pitchFamily="34" charset="0"/>
                <a:ea typeface="Arial Rounded MT Bold" pitchFamily="34" charset="-122"/>
                <a:cs typeface="Arial Rounded MT Bold" pitchFamily="34" charset="-120"/>
              </a:rPr>
              <a:t>EXTRA · if there's time</a:t>
            </a:r>
            <a:endParaRPr lang="en-US" sz="900" dirty="0"/>
          </a:p>
        </p:txBody>
      </p:sp>
      <p:sp>
        <p:nvSpPr>
          <p:cNvPr id="15" name="pf_691"/>
          <p:cNvSpPr/>
          <p:nvPr/>
        </p:nvSpPr>
        <p:spPr>
          <a:xfrm rot="-120000">
            <a:off x="320040" y="1371600"/>
            <a:ext cx="2788920" cy="1874520"/>
          </a:xfrm>
          <a:prstGeom prst="roundRect">
            <a:avLst>
              <a:gd name="adj" fmla="val 829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6" name="ph_692" descr="/home/claude/lls-course/v2/cache/3b2_bricks_jpg_649x429_31.png">    </p:cNvPr>
          <p:cNvPicPr>
            <a:picLocks noChangeAspect="1"/>
          </p:cNvPicPr>
          <p:nvPr/>
        </p:nvPicPr>
        <p:blipFill>
          <a:blip r:embed="rId5"/>
          <a:stretch>
            <a:fillRect/>
          </a:stretch>
        </p:blipFill>
        <p:spPr>
          <a:xfrm rot="-120000">
            <a:off x="365760" y="1417320"/>
            <a:ext cx="2697480" cy="1783080"/>
          </a:xfrm>
          <a:prstGeom prst="rect">
            <a:avLst/>
          </a:prstGeom>
        </p:spPr>
      </p:pic>
      <p:sp>
        <p:nvSpPr>
          <p:cNvPr id="17" name="cd_693"/>
          <p:cNvSpPr/>
          <p:nvPr/>
        </p:nvSpPr>
        <p:spPr>
          <a:xfrm>
            <a:off x="320040" y="3429000"/>
            <a:ext cx="2788920" cy="1325880"/>
          </a:xfrm>
          <a:prstGeom prst="roundRect">
            <a:avLst>
              <a:gd name="adj" fmla="val 9655"/>
            </a:avLst>
          </a:prstGeom>
          <a:solidFill>
            <a:srgbClr val="EEE8FB"/>
          </a:solidFill>
          <a:ln w="19050">
            <a:solidFill>
              <a:srgbClr val="CDBFF3"/>
            </a:solidFill>
            <a:prstDash val="solid"/>
          </a:ln>
          <a:effectLst>
            <a:outerShdw sx="100000" sy="100000" kx="0" ky="0" algn="bl" rotWithShape="0" blurRad="88900" dist="31750" dir="5400000">
              <a:srgbClr val="1B2559">
                <a:alpha val="12000"/>
              </a:srgbClr>
            </a:outerShdw>
          </a:effectLst>
        </p:spPr>
      </p:sp>
      <p:sp>
        <p:nvSpPr>
          <p:cNvPr id="18" name="ii_694"/>
          <p:cNvSpPr/>
          <p:nvPr/>
        </p:nvSpPr>
        <p:spPr>
          <a:xfrm>
            <a:off x="411480" y="35021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695"/>
          <p:cNvSpPr/>
          <p:nvPr/>
        </p:nvSpPr>
        <p:spPr>
          <a:xfrm>
            <a:off x="886968" y="352044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20" name="il_696"/>
          <p:cNvSpPr/>
          <p:nvPr/>
        </p:nvSpPr>
        <p:spPr>
          <a:xfrm>
            <a:off x="886968" y="3904488"/>
            <a:ext cx="2130552" cy="77724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It's good for children who are interested in…</a:t>
            </a:r>
            <a:endParaRPr lang="en-US" sz="1050" dirty="0"/>
          </a:p>
          <a:p>
            <a:pPr marL="152400" indent="-152400">
              <a:spcBef>
                <a:spcPts val="5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Kids who are keen on… will love it!</a:t>
            </a:r>
            <a:endParaRPr lang="en-US" sz="1050" dirty="0"/>
          </a:p>
        </p:txBody>
      </p:sp>
      <p:sp>
        <p:nvSpPr>
          <p:cNvPr id="21" name="R1_qb697"/>
          <p:cNvSpPr/>
          <p:nvPr/>
        </p:nvSpPr>
        <p:spPr>
          <a:xfrm>
            <a:off x="3273552" y="1453896"/>
            <a:ext cx="329184" cy="329184"/>
          </a:xfrm>
          <a:prstGeom prst="ellipse">
            <a:avLst/>
          </a:prstGeom>
          <a:solidFill>
            <a:srgbClr val="E8508F"/>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2" name="R1_sq698"/>
          <p:cNvSpPr/>
          <p:nvPr/>
        </p:nvSpPr>
        <p:spPr>
          <a:xfrm>
            <a:off x="3675888" y="1417320"/>
            <a:ext cx="5193792" cy="530352"/>
          </a:xfrm>
          <a:prstGeom prst="roundRect">
            <a:avLst>
              <a:gd name="adj" fmla="val 20690"/>
            </a:avLst>
          </a:prstGeom>
          <a:solidFill>
            <a:srgbClr val="FFFFFF"/>
          </a:solidFill>
          <a:ln w="2222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What's it called? How old are the children?</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called 'Robo-Builder', for children aged 6–10.</a:t>
            </a:r>
            <a:endParaRPr lang="en-US" sz="1250" dirty="0"/>
          </a:p>
        </p:txBody>
      </p:sp>
      <p:sp>
        <p:nvSpPr>
          <p:cNvPr id="23" name="R2_qb699"/>
          <p:cNvSpPr/>
          <p:nvPr/>
        </p:nvSpPr>
        <p:spPr>
          <a:xfrm>
            <a:off x="3273552" y="2057400"/>
            <a:ext cx="329184" cy="329184"/>
          </a:xfrm>
          <a:prstGeom prst="ellipse">
            <a:avLst/>
          </a:prstGeom>
          <a:solidFill>
            <a:srgbClr val="2F8DE4"/>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R2_sq700"/>
          <p:cNvSpPr/>
          <p:nvPr/>
        </p:nvSpPr>
        <p:spPr>
          <a:xfrm>
            <a:off x="3675888" y="2020824"/>
            <a:ext cx="5193792" cy="530352"/>
          </a:xfrm>
          <a:prstGeom prst="roundRect">
            <a:avLst>
              <a:gd name="adj" fmla="val 20690"/>
            </a:avLst>
          </a:prstGeom>
          <a:solidFill>
            <a:srgbClr val="FFFFFF"/>
          </a:solidFill>
          <a:ln w="2222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colour is the box: pink, blue or another colour?</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Green and yellow – for boys AND girls!</a:t>
            </a:r>
            <a:endParaRPr lang="en-US" sz="1250" dirty="0"/>
          </a:p>
        </p:txBody>
      </p:sp>
      <p:sp>
        <p:nvSpPr>
          <p:cNvPr id="25" name="R3_qb701"/>
          <p:cNvSpPr/>
          <p:nvPr/>
        </p:nvSpPr>
        <p:spPr>
          <a:xfrm>
            <a:off x="3273552" y="2660904"/>
            <a:ext cx="329184" cy="329184"/>
          </a:xfrm>
          <a:prstGeom prst="ellipse">
            <a:avLst/>
          </a:prstGeom>
          <a:solidFill>
            <a:srgbClr val="2EB872"/>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6" name="R3_sq702"/>
          <p:cNvSpPr/>
          <p:nvPr/>
        </p:nvSpPr>
        <p:spPr>
          <a:xfrm>
            <a:off x="3675888" y="2624328"/>
            <a:ext cx="5193792" cy="530352"/>
          </a:xfrm>
          <a:prstGeom prst="roundRect">
            <a:avLst>
              <a:gd name="adj" fmla="val 20690"/>
            </a:avLst>
          </a:prstGeom>
          <a:solidFill>
            <a:srgbClr val="FFFFFF"/>
          </a:solidFill>
          <a:ln w="2222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What do children learn from it?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It's good for children who are interested in science.</a:t>
            </a:r>
            <a:endParaRPr lang="en-US" sz="1250" dirty="0"/>
          </a:p>
        </p:txBody>
      </p:sp>
      <p:sp>
        <p:nvSpPr>
          <p:cNvPr id="27" name="R4_qb703"/>
          <p:cNvSpPr/>
          <p:nvPr/>
        </p:nvSpPr>
        <p:spPr>
          <a:xfrm>
            <a:off x="3273552" y="3264408"/>
            <a:ext cx="329184" cy="329184"/>
          </a:xfrm>
          <a:prstGeom prst="ellipse">
            <a:avLst/>
          </a:prstGeom>
          <a:solidFill>
            <a:srgbClr val="F2B705"/>
          </a:solidFill>
          <a:ln w="25400">
            <a:solidFill>
              <a:srgbClr val="FFFFFF"/>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8" name="R4_sq704"/>
          <p:cNvSpPr/>
          <p:nvPr/>
        </p:nvSpPr>
        <p:spPr>
          <a:xfrm>
            <a:off x="3675888" y="3227832"/>
            <a:ext cx="5193792" cy="530352"/>
          </a:xfrm>
          <a:prstGeom prst="roundRect">
            <a:avLst>
              <a:gd name="adj" fmla="val 20690"/>
            </a:avLst>
          </a:prstGeom>
          <a:solidFill>
            <a:srgbClr val="FFFFFF"/>
          </a:solidFill>
          <a:ln w="2222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How much does it cost?</a:t>
            </a:r>
            <a:endParaRPr lang="en-US" sz="1250" dirty="0"/>
          </a:p>
          <a:p>
            <a:pPr indent="0" marL="0">
              <a:buNone/>
            </a:pPr>
            <a:r>
              <a:rPr lang="en-US" sz="1000" i="1" dirty="0">
                <a:solidFill>
                  <a:srgbClr val="5B6785"/>
                </a:solidFill>
                <a:latin typeface="Segoe UI Semibold" pitchFamily="34" charset="0"/>
                <a:ea typeface="Segoe UI Semibold" pitchFamily="34" charset="-122"/>
                <a:cs typeface="Segoe UI Semibold" pitchFamily="34" charset="-120"/>
              </a:rPr>
              <a:t>e.g. €29.99 – cheaper than a video game!</a:t>
            </a:r>
            <a:endParaRPr lang="en-US" sz="12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par>
                                <p:cTn id="8" presetID="10" presetClass="entr" presetSubtype="0" fill="hold" nodeType="withEffect">
                                  <p:stCondLst>
                                    <p:cond delay="0"/>
                                  </p:stCondLst>
                                  <p:childTnLst>
                                    <p:set>
                                      <p:cBhvr>
                                        <p:cTn id="9" dur="1" fill="hold">
                                          <p:stCondLst>
                                            <p:cond delay="0"/>
                                          </p:stCondLst>
                                        </p:cTn>
                                        <p:tgtEl>
                                          <p:spTgt spid="22"/>
                                        </p:tgtEl>
                                        <p:attrNameLst>
                                          <p:attrName>style.visibility</p:attrName>
                                        </p:attrNameLst>
                                      </p:cBhvr>
                                      <p:to>
                                        <p:strVal val="visible"/>
                                      </p:to>
                                    </p:set>
                                    <p:animEffect transition="in" filter="fade">
                                      <p:cBhvr>
                                        <p:cTn id="10" dur="400"/>
                                        <p:tgtEl>
                                          <p:spTgt spid="2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5" dur="400"/>
                                        <p:tgtEl>
                                          <p:spTgt spid="23"/>
                                        </p:tgtEl>
                                      </p:cBhvr>
                                    </p:animEffect>
                                  </p:childTnLst>
                                </p:cTn>
                              </p:par>
                              <p:par>
                                <p:cTn id="16" presetID="10" presetClass="entr" presetSubtype="0" fill="hold" nodeType="withEffect">
                                  <p:stCondLst>
                                    <p:cond delay="0"/>
                                  </p:stCondLst>
                                  <p:childTnLst>
                                    <p:set>
                                      <p:cBhvr>
                                        <p:cTn id="17" dur="1" fill="hold">
                                          <p:stCondLst>
                                            <p:cond delay="0"/>
                                          </p:stCondLst>
                                        </p:cTn>
                                        <p:tgtEl>
                                          <p:spTgt spid="24"/>
                                        </p:tgtEl>
                                        <p:attrNameLst>
                                          <p:attrName>style.visibility</p:attrName>
                                        </p:attrNameLst>
                                      </p:cBhvr>
                                      <p:to>
                                        <p:strVal val="visible"/>
                                      </p:to>
                                    </p:set>
                                    <p:animEffect transition="in" filter="fade">
                                      <p:cBhvr>
                                        <p:cTn id="18" dur="400"/>
                                        <p:tgtEl>
                                          <p:spTgt spid="2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5"/>
                                        </p:tgtEl>
                                        <p:attrNameLst>
                                          <p:attrName>style.visibility</p:attrName>
                                        </p:attrNameLst>
                                      </p:cBhvr>
                                      <p:to>
                                        <p:strVal val="visible"/>
                                      </p:to>
                                    </p:set>
                                    <p:animEffect transition="in" filter="fade">
                                      <p:cBhvr>
                                        <p:cTn id="23" dur="400"/>
                                        <p:tgtEl>
                                          <p:spTgt spid="25"/>
                                        </p:tgtEl>
                                      </p:cBhvr>
                                    </p:animEffect>
                                  </p:childTnLst>
                                </p:cTn>
                              </p:par>
                              <p:par>
                                <p:cTn id="24" presetID="10" presetClass="entr" presetSubtype="0" fill="hold" nodeType="withEffect">
                                  <p:stCondLst>
                                    <p:cond delay="0"/>
                                  </p:stCondLst>
                                  <p:childTnLst>
                                    <p:set>
                                      <p:cBhvr>
                                        <p:cTn id="25" dur="1" fill="hold">
                                          <p:stCondLst>
                                            <p:cond delay="0"/>
                                          </p:stCondLst>
                                        </p:cTn>
                                        <p:tgtEl>
                                          <p:spTgt spid="26"/>
                                        </p:tgtEl>
                                        <p:attrNameLst>
                                          <p:attrName>style.visibility</p:attrName>
                                        </p:attrNameLst>
                                      </p:cBhvr>
                                      <p:to>
                                        <p:strVal val="visible"/>
                                      </p:to>
                                    </p:set>
                                    <p:animEffect transition="in" filter="fade">
                                      <p:cBhvr>
                                        <p:cTn id="26" dur="400"/>
                                        <p:tgtEl>
                                          <p:spTgt spid="26"/>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7"/>
                                        </p:tgtEl>
                                        <p:attrNameLst>
                                          <p:attrName>style.visibility</p:attrName>
                                        </p:attrNameLst>
                                      </p:cBhvr>
                                      <p:to>
                                        <p:strVal val="visible"/>
                                      </p:to>
                                    </p:set>
                                    <p:animEffect transition="in" filter="fade">
                                      <p:cBhvr>
                                        <p:cTn id="31" dur="400"/>
                                        <p:tgtEl>
                                          <p:spTgt spid="27"/>
                                        </p:tgtEl>
                                      </p:cBhvr>
                                    </p:animEffect>
                                  </p:childTnLst>
                                </p:cTn>
                              </p:par>
                              <p:par>
                                <p:cTn id="32" presetID="10" presetClass="entr" presetSubtype="0" fill="hold" nodeType="withEffect">
                                  <p:stCondLst>
                                    <p:cond delay="0"/>
                                  </p:stCondLst>
                                  <p:childTnLst>
                                    <p:set>
                                      <p:cBhvr>
                                        <p:cTn id="33" dur="1" fill="hold">
                                          <p:stCondLst>
                                            <p:cond delay="0"/>
                                          </p:stCondLst>
                                        </p:cTn>
                                        <p:tgtEl>
                                          <p:spTgt spid="28"/>
                                        </p:tgtEl>
                                        <p:attrNameLst>
                                          <p:attrName>style.visibility</p:attrName>
                                        </p:attrNameLst>
                                      </p:cBhvr>
                                      <p:to>
                                        <p:strVal val="visible"/>
                                      </p:to>
                                    </p:set>
                                    <p:animEffect transition="in" filter="fade">
                                      <p:cBhvr>
                                        <p:cTn id="34" dur="4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3B-2 Men, women, and children</dc:title>
  <dc:subject>PptxGenJS Presentation</dc:subject>
  <dc:creator>PptxGenJS</dc:creator>
  <cp:lastModifiedBy>PptxGenJS</cp:lastModifiedBy>
  <cp:revision>1</cp:revision>
  <dcterms:created xsi:type="dcterms:W3CDTF">2026-10-12T17:10:30Z</dcterms:created>
  <dcterms:modified xsi:type="dcterms:W3CDTF">2026-10-12T17:10:30Z</dcterms:modified>
</cp:coreProperties>
</file>