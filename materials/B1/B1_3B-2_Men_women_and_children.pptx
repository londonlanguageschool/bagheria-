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(3 min – keep it brisk)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click once per word to show its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(4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(2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click once per word to show its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after the Italian check, so the meaning of the prepositions is clear; now students HEAR the verb / adjective + preposition phrases 15–20 times before the games and 'Just a minute!' use them freely. Click once per line. For each line: 1) say it, 2) ask the questions in grey round the class (yes/no → either/or → who/what) – insist on the preposition in the answers ('He's afraid OF spiders'), 3) let the CLASS change details: 'Is Luca afraid of spiders? No? What is he afraid of?' – accept their idea and use it in later lines (change line 5 to match!). Students answer with one word or a short phrase – that's fine. Finish: 'What happens next?' – one or two ideas, then move on. Recycles: afraid of, good at, looking forward to, depend on, fed up with + -ing, laugh at, apologize to sb for sth. If the class is quiet, make it personal: 'Giulia, what are you looking forward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toys and your childhood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radio programme: pink and blue</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prepositions: afraid of, good at…</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play "Just a minute!"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3B: men, women and stereotypes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articles: a / an, the, no article</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 / an  ·  the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a lawyer.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 / an = first time, jobs · the = we know which one, only one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Men usually love football.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things in general · home, work, school · next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71907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generally speaking</a:t>
            </a:r>
            <a:endParaRPr lang="en-US" sz="1050" dirty="0"/>
          </a:p>
        </p:txBody>
      </p:sp>
      <p:sp>
        <p:nvSpPr>
          <p:cNvPr id="28" name="w_42"/>
          <p:cNvSpPr/>
          <p:nvPr/>
        </p:nvSpPr>
        <p:spPr>
          <a:xfrm>
            <a:off x="5038344"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whole</a:t>
            </a:r>
            <a:endParaRPr lang="en-US" sz="1050" dirty="0"/>
          </a:p>
        </p:txBody>
      </p:sp>
      <p:sp>
        <p:nvSpPr>
          <p:cNvPr id="29" name="w_43"/>
          <p:cNvSpPr/>
          <p:nvPr/>
        </p:nvSpPr>
        <p:spPr>
          <a:xfrm>
            <a:off x="6364224"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tend to</a:t>
            </a:r>
            <a:endParaRPr lang="en-US" sz="1050" dirty="0"/>
          </a:p>
        </p:txBody>
      </p:sp>
      <p:sp>
        <p:nvSpPr>
          <p:cNvPr id="30" name="w_44"/>
          <p:cNvSpPr/>
          <p:nvPr/>
        </p:nvSpPr>
        <p:spPr>
          <a:xfrm>
            <a:off x="7301484" y="4178808"/>
            <a:ext cx="125272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stereotype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hour</a:t>
            </a:r>
            <a:endParaRPr lang="en-US" sz="1050" dirty="0"/>
          </a:p>
        </p:txBody>
      </p:sp>
      <p:sp>
        <p:nvSpPr>
          <p:cNvPr id="32" name="w_46"/>
          <p:cNvSpPr/>
          <p:nvPr/>
        </p:nvSpPr>
        <p:spPr>
          <a:xfrm>
            <a:off x="418338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cinema</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 2 o 3 punti!</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Warmer · last lesson: articles   ·   📖 Recycles 3B part 1 · Grammar Bank 3B · Grammar photocopiable 3B</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 Right or wrong?</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 Giusta o sbagliata?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Bet 1, 2 or 3 points.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Scommetti 1, 2 o 3 punti.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Wrong? Correct it to win!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10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late for school</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people … football</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105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an easy question</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good health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Come si chiama il giocattolo?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toys   ·   📖 SB p.32 · 4a (the book's list of toys)</a:t>
            </a:r>
            <a:endParaRPr lang="en-US" sz="800" dirty="0"/>
          </a:p>
        </p:txBody>
      </p:sp>
      <p:sp>
        <p:nvSpPr>
          <p:cNvPr id="14" name="cd_9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You kick it in the garden → a football</a:t>
            </a:r>
            <a:endParaRPr lang="en-US" sz="1050" dirty="0"/>
          </a:p>
        </p:txBody>
      </p:sp>
      <p:sp>
        <p:nvSpPr>
          <p:cNvPr id="18" name="pf_9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7" descr="/home/claude/lls-course/v2/cache/3b2_brick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9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150" dirty="0"/>
          </a:p>
        </p:txBody>
      </p:sp>
      <p:sp>
        <p:nvSpPr>
          <p:cNvPr id="22" name="R1_chip10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00" dirty="0"/>
          </a:p>
        </p:txBody>
      </p:sp>
      <p:sp>
        <p:nvSpPr>
          <p:cNvPr id="23" name="bd_10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100" dirty="0"/>
          </a:p>
        </p:txBody>
      </p:sp>
      <p:sp>
        <p:nvSpPr>
          <p:cNvPr id="25" name="R2_chip10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dolls</a:t>
            </a:r>
            <a:endParaRPr lang="en-US" sz="1000" dirty="0"/>
          </a:p>
        </p:txBody>
      </p:sp>
      <p:sp>
        <p:nvSpPr>
          <p:cNvPr id="26" name="bd_10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150" dirty="0"/>
          </a:p>
        </p:txBody>
      </p:sp>
      <p:sp>
        <p:nvSpPr>
          <p:cNvPr id="28" name="R3_chip10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dressing-up clothes</a:t>
            </a:r>
            <a:endParaRPr lang="en-US" sz="1000" dirty="0"/>
          </a:p>
        </p:txBody>
      </p:sp>
      <p:sp>
        <p:nvSpPr>
          <p:cNvPr id="29" name="bd_10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150" dirty="0"/>
          </a:p>
        </p:txBody>
      </p:sp>
      <p:sp>
        <p:nvSpPr>
          <p:cNvPr id="31" name="R4_chip10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jigsaw</a:t>
            </a:r>
            <a:endParaRPr lang="en-US" sz="1000" dirty="0"/>
          </a:p>
        </p:txBody>
      </p:sp>
      <p:sp>
        <p:nvSpPr>
          <p:cNvPr id="32" name="bd_11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teddy bear is one</a:t>
            </a:r>
            <a:endParaRPr lang="en-US" sz="1150" dirty="0"/>
          </a:p>
        </p:txBody>
      </p:sp>
      <p:sp>
        <p:nvSpPr>
          <p:cNvPr id="34" name="R5_chip11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soft toys</a:t>
            </a:r>
            <a:endParaRPr lang="en-US" sz="1000" dirty="0"/>
          </a:p>
        </p:txBody>
      </p:sp>
      <p:sp>
        <p:nvSpPr>
          <p:cNvPr id="35" name="bd_11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150" dirty="0"/>
          </a:p>
        </p:txBody>
      </p:sp>
      <p:sp>
        <p:nvSpPr>
          <p:cNvPr id="37" name="R6_chip11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vehicles</a:t>
            </a:r>
            <a:endParaRPr lang="en-US" sz="1000" dirty="0"/>
          </a:p>
        </p:txBody>
      </p:sp>
      <p:sp>
        <p:nvSpPr>
          <p:cNvPr id="38" name="bd_11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150" dirty="0"/>
          </a:p>
        </p:txBody>
      </p:sp>
      <p:sp>
        <p:nvSpPr>
          <p:cNvPr id="40" name="R7_chip11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weapons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2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4" name="cd_1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150" dirty="0"/>
          </a:p>
        </p:txBody>
      </p:sp>
      <p:sp>
        <p:nvSpPr>
          <p:cNvPr id="17" name="R1_it1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giochi di costruzione</a:t>
            </a:r>
            <a:endParaRPr lang="en-US" sz="950" dirty="0"/>
          </a:p>
        </p:txBody>
      </p:sp>
      <p:sp>
        <p:nvSpPr>
          <p:cNvPr id="18" name="cd_1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21" name="R2_it1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2" name="cd_1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000" dirty="0"/>
          </a:p>
        </p:txBody>
      </p:sp>
      <p:sp>
        <p:nvSpPr>
          <p:cNvPr id="25" name="R3_it1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costumi (per travestirsi)</a:t>
            </a:r>
            <a:endParaRPr lang="en-US" sz="800" dirty="0"/>
          </a:p>
        </p:txBody>
      </p:sp>
      <p:sp>
        <p:nvSpPr>
          <p:cNvPr id="26" name="cd_1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9" name="R4_it1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30" name="cd_1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3" name="R5_it1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4" name="cd_1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7" name="R6_it1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macchinine, trenini…</a:t>
            </a:r>
            <a:endParaRPr lang="en-US" sz="900" dirty="0"/>
          </a:p>
        </p:txBody>
      </p:sp>
      <p:sp>
        <p:nvSpPr>
          <p:cNvPr id="38" name="cd_1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41" name="R7_it1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2" name="cd_1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5" name="R8_it1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corsia (del negozio)</a:t>
            </a:r>
            <a:endParaRPr lang="en-US" sz="800" dirty="0"/>
          </a:p>
        </p:txBody>
      </p:sp>
      <p:sp>
        <p:nvSpPr>
          <p:cNvPr id="46" name="cd_1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9" name="R9_it1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800" dirty="0"/>
          </a:p>
        </p:txBody>
      </p:sp>
      <p:sp>
        <p:nvSpPr>
          <p:cNvPr id="50" name="cd_1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3" name="R10_it1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4" name="cd_1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7" name="R11_it1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8" name="cd_1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61" name="R12_it1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800" dirty="0"/>
          </a:p>
        </p:txBody>
      </p:sp>
      <p:sp>
        <p:nvSpPr>
          <p:cNvPr id="62" name="R13_wc1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8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Bambine, bambini o entrambi? Spiega perché.</a:t>
            </a:r>
            <a:endParaRPr lang="en-US" sz="950" dirty="0"/>
          </a:p>
        </p:txBody>
      </p:sp>
      <p:sp>
        <p:nvSpPr>
          <p:cNvPr id="9" name="cmd_1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toys   ·   📖 SB p.32 · 4a</a:t>
            </a:r>
            <a:endParaRPr lang="en-US" sz="800" dirty="0"/>
          </a:p>
        </p:txBody>
      </p:sp>
      <p:sp>
        <p:nvSpPr>
          <p:cNvPr id="14" name="pf_1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2" descr="/home/claude/lls-course/v2/cache/3b2_dressing_u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Generally speaking, girls / boys play with… more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Both equally!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On the whole, I think…</a:t>
            </a:r>
            <a:endParaRPr lang="en-US" sz="900" dirty="0"/>
          </a:p>
        </p:txBody>
      </p:sp>
      <p:sp>
        <p:nvSpPr>
          <p:cNvPr id="20" name="R1_qb1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9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Generally speaking, girls play with dolls more, but everyone loves soft toys.</a:t>
            </a:r>
            <a:endParaRPr lang="en-US" sz="1000" dirty="0"/>
          </a:p>
        </p:txBody>
      </p:sp>
      <p:pic>
        <p:nvPicPr>
          <p:cNvPr id="22" name="R1_th199"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2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01"/>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Both! My sister loved Lego.</a:t>
            </a:r>
            <a:endParaRPr lang="en-US" sz="1200" dirty="0"/>
          </a:p>
        </p:txBody>
      </p:sp>
      <p:pic>
        <p:nvPicPr>
          <p:cNvPr id="25" name="R2_th202"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6" name="R3_qb2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2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whole, boys – my brother had 50 toy cars!</a:t>
            </a:r>
            <a:endParaRPr lang="en-US" sz="1250" dirty="0"/>
          </a:p>
        </p:txBody>
      </p:sp>
      <p:sp>
        <p:nvSpPr>
          <p:cNvPr id="28" name="R4_qb2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0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Both – at Carnevale everybody dresses up!</a:t>
            </a:r>
            <a:endParaRPr lang="en-US" sz="1250" dirty="0"/>
          </a:p>
        </p:txBody>
      </p:sp>
      <p:pic>
        <p:nvPicPr>
          <p:cNvPr id="30" name="R4_th207"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2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2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had lots of jigsaws and a big box of Lego.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1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Rispondi alle domande 1–3.</a:t>
            </a:r>
            <a:endParaRPr lang="en-US" sz="950" dirty="0"/>
          </a:p>
        </p:txBody>
      </p:sp>
      <p:sp>
        <p:nvSpPr>
          <p:cNvPr id="9" name="cmd_2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1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1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gist   ·   📖 SB p.32 · 4b, 4c · audio 3.24</a:t>
            </a:r>
            <a:endParaRPr lang="en-US" sz="800" dirty="0"/>
          </a:p>
        </p:txBody>
      </p:sp>
      <p:sp>
        <p:nvSpPr>
          <p:cNvPr id="14" name="ap_22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5" name="ah_2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2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2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6" descr="/home/claude/lls-course/v2/cache/3b2_vintage_baby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22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2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29" descr="/home/claude/lls-course/v2/cache/3b2_toy_aisl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23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3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32" descr="/home/claude/lls-course/v2/cache/3b2_two_mums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23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3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3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3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3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1  100 years ago: what colour was for boys?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2  Are girls genetically attracted to pink?</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3  Do Alison and Natasha agree about toy colours?</a:t>
            </a:r>
            <a:endParaRPr lang="en-US" sz="800" dirty="0"/>
          </a:p>
        </p:txBody>
      </p:sp>
      <p:sp>
        <p:nvSpPr>
          <p:cNvPr id="33" name="lq_23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4" name="R1_chip23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5" name="lq_24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6" name="R2_chip24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7" name="lq_24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8" name="R3_chip24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4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di nuovo. Scegli a, b o c.</a:t>
            </a:r>
            <a:endParaRPr lang="en-US" sz="950" dirty="0"/>
          </a:p>
        </p:txBody>
      </p:sp>
      <p:sp>
        <p:nvSpPr>
          <p:cNvPr id="9" name="cmd_2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detail   ·   📖 SB p.32 · 4d · audio 3.24</a:t>
            </a:r>
            <a:endParaRPr lang="en-US" sz="800" dirty="0"/>
          </a:p>
        </p:txBody>
      </p:sp>
      <p:sp>
        <p:nvSpPr>
          <p:cNvPr id="15" name="ap_25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6" name="ah_25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5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5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60" descr="/home/claude/lls-course/v2/cache/3b2_toy_aisl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6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6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6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6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6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000" dirty="0"/>
          </a:p>
        </p:txBody>
      </p:sp>
      <p:sp>
        <p:nvSpPr>
          <p:cNvPr id="27" name="R1_chip26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8" name="gq_26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100" dirty="0"/>
          </a:p>
        </p:txBody>
      </p:sp>
      <p:sp>
        <p:nvSpPr>
          <p:cNvPr id="29" name="R2_chip26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30" name="gq_26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950" dirty="0"/>
          </a:p>
        </p:txBody>
      </p:sp>
      <p:sp>
        <p:nvSpPr>
          <p:cNvPr id="31" name="R3_chip27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32" name="gq_27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000" dirty="0"/>
          </a:p>
        </p:txBody>
      </p:sp>
      <p:sp>
        <p:nvSpPr>
          <p:cNvPr id="33" name="R4_chip27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4" name="gq_27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850" dirty="0"/>
          </a:p>
        </p:txBody>
      </p:sp>
      <p:sp>
        <p:nvSpPr>
          <p:cNvPr id="35" name="R5_chip27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7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7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Perché?</a:t>
            </a:r>
            <a:endParaRPr lang="en-US" sz="950" dirty="0"/>
          </a:p>
        </p:txBody>
      </p:sp>
      <p:sp>
        <p:nvSpPr>
          <p:cNvPr id="9" name="cmd_28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your opinion   ·   📖 SB p.32 · 4e</a:t>
            </a:r>
            <a:endParaRPr lang="en-US" sz="800" dirty="0"/>
          </a:p>
        </p:txBody>
      </p:sp>
      <p:sp>
        <p:nvSpPr>
          <p:cNvPr id="14" name="pf_28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87" descr="/home/claude/lls-course/v2/cache/3b2_two_mum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8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8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9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agree with Alison / Natasha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In my opinion… · Generally speaking…</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Why?</a:t>
            </a:r>
            <a:endParaRPr lang="en-US" sz="800" dirty="0"/>
          </a:p>
        </p:txBody>
      </p:sp>
      <p:sp>
        <p:nvSpPr>
          <p:cNvPr id="20" name="R1_qb29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9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girls think science isn't for them.</a:t>
            </a:r>
            <a:endParaRPr lang="en-US" sz="1250" dirty="0"/>
          </a:p>
        </p:txBody>
      </p:sp>
      <p:sp>
        <p:nvSpPr>
          <p:cNvPr id="22" name="R2_qb29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9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Natasha! A pink box is a clever idea.</a:t>
            </a:r>
            <a:endParaRPr lang="en-US" sz="1200" dirty="0"/>
          </a:p>
        </p:txBody>
      </p:sp>
      <p:sp>
        <p:nvSpPr>
          <p:cNvPr id="24" name="R3_qb29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9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Both – I had dolls and lots of toy cars.</a:t>
            </a:r>
            <a:endParaRPr lang="en-US" sz="1250" dirty="0"/>
          </a:p>
        </p:txBody>
      </p:sp>
      <p:sp>
        <p:nvSpPr>
          <p:cNvPr id="26" name="R4_qb29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9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Why not? Colours are for everyone.</a:t>
            </a:r>
            <a:endParaRPr lang="en-US" sz="1250" dirty="0"/>
          </a:p>
        </p:txBody>
      </p:sp>
      <p:sp>
        <p:nvSpPr>
          <p:cNvPr id="28" name="R5_qb30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0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A horrible yellow jumper from my nonna.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3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3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Poi ascolta e controlla.</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cmd_30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3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prepositions in the programme   ·   📖 SB p.33 · 5a · audio script 3.24 (p.127)</a:t>
            </a:r>
            <a:endParaRPr lang="en-US" sz="800" dirty="0"/>
          </a:p>
        </p:txBody>
      </p:sp>
      <p:sp>
        <p:nvSpPr>
          <p:cNvPr id="15" name="cd_3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7" name="ln_31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8" name="R1_lnA317"/>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9" name="ln_318"/>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2_lnA319"/>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32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2" name="R3_lnA321"/>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3" name="ln_32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4" name="R4_lnA323"/>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5" name="ln_324"/>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6" name="R5_lnA325"/>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7" name="ln_32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8" name="R6_lnA32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9" name="ap_32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30" name="ah_32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2" name="ah_33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4" name="pf_331"/>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32" descr="/home/claude/lls-course/v2/cache/3b2_two_mums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seq concurrent="1" nextAc="seek">
              <p:cTn id="38" restart="whenNotActive" fill="hold" evtFilter="cancelBubble" nodeType="interactiveSeq">
                <p:stCondLst>
                  <p:cond evt="onClick" delay="0">
                    <p:tgtEl>
                      <p:spTgt spid="33"/>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33"/>
                                        </p:tgtEl>
                                      </p:cBhvr>
                                    </p:cmd>
                                  </p:childTnLst>
                                </p:cTn>
                              </p:par>
                            </p:childTnLst>
                          </p:cTn>
                        </p:par>
                      </p:childTnLst>
                    </p:cTn>
                  </p:par>
                </p:childTnLst>
              </p:cTn>
              <p:nextCondLst>
                <p:cond evt="onClick" delay="0">
                  <p:tgtEl>
                    <p:spTgt spid="33"/>
                  </p:tgtEl>
                </p:cond>
              </p:nextCondLst>
            </p:seq>
            <p:audio>
              <p:cMediaNode vol="80000">
                <p:cTn id="43" fill="hold" display="0">
                  <p:stCondLst>
                    <p:cond delay="indefinite"/>
                  </p:stCondLst>
                  <p:endCondLst>
                    <p:cond evt="onStopAudio" delay="0">
                      <p:tgtEl>
                        <p:sldTgt/>
                      </p:tgtEl>
                    </p:cond>
                  </p:endCondLst>
                </p:cTn>
                <p:tgtEl>
                  <p:spTgt spid="31"/>
                </p:tgtEl>
              </p:cMediaNode>
            </p:audio>
            <p:audio>
              <p:cMediaNode vol="80000">
                <p:cTn id="44" fill="hold" display="0">
                  <p:stCondLst>
                    <p:cond delay="indefinite"/>
                  </p:stCondLst>
                  <p:endCondLst>
                    <p:cond evt="onStopAudio" delay="0">
                      <p:tgtEl>
                        <p:sldTgt/>
                      </p:tgtEl>
                    </p:cond>
                  </p:endCondLst>
                </p:cTn>
                <p:tgtEl>
                  <p:spTgt spid="33"/>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preposizioni.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verb + preposition   ·   📖 Vocabulary Bank Dependent prepositions p.156 · 1 After verbs · audio 3.25</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6" name="ah_3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9" descr="/home/claude/lls-course/v2/cache/3b2_argu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7" name="R1_chip3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8" name="gq_3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9" name="R2_chip3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30" name="gq_3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31" name="R3_chip3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32" name="gq_3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33" name="R4_chip3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4" name="gq_3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5" name="R5_chip3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6" name="gq_36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7" name="R6_chip36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7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Abbina il colore.</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adjective + preposition   ·   📖 Vocabulary Bank p.156 · 2 After adjectives · audio 3.26</a:t>
            </a:r>
            <a:endParaRPr lang="en-US" sz="800" dirty="0"/>
          </a:p>
        </p:txBody>
      </p:sp>
      <p:sp>
        <p:nvSpPr>
          <p:cNvPr id="14" name="cd_37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8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8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9" name="lg_38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20" name="lg_383"/>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21" name="lg_384"/>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2" name="lg_385"/>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3" name="lg_386"/>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4" name="sq_387"/>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200" dirty="0"/>
          </a:p>
        </p:txBody>
      </p:sp>
      <p:sp>
        <p:nvSpPr>
          <p:cNvPr id="25" name="R1_tag388"/>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6" name="sq_389"/>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200" dirty="0"/>
          </a:p>
        </p:txBody>
      </p:sp>
      <p:sp>
        <p:nvSpPr>
          <p:cNvPr id="27" name="R2_tag390"/>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8" name="sq_391"/>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200" dirty="0"/>
          </a:p>
        </p:txBody>
      </p:sp>
      <p:sp>
        <p:nvSpPr>
          <p:cNvPr id="29" name="R3_tag392"/>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30" name="sq_393"/>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200" dirty="0"/>
          </a:p>
        </p:txBody>
      </p:sp>
      <p:sp>
        <p:nvSpPr>
          <p:cNvPr id="31" name="R4_tag394"/>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2" name="sq_395"/>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200" dirty="0"/>
          </a:p>
        </p:txBody>
      </p:sp>
      <p:sp>
        <p:nvSpPr>
          <p:cNvPr id="33" name="R5_tag396"/>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4" name="sq_397"/>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200" dirty="0"/>
          </a:p>
        </p:txBody>
      </p:sp>
      <p:sp>
        <p:nvSpPr>
          <p:cNvPr id="35" name="R6_tag398"/>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6" name="sq_399"/>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200" dirty="0"/>
          </a:p>
        </p:txBody>
      </p:sp>
      <p:sp>
        <p:nvSpPr>
          <p:cNvPr id="37" name="R7_tag400"/>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8" name="sq_401"/>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200" dirty="0"/>
          </a:p>
        </p:txBody>
      </p:sp>
      <p:sp>
        <p:nvSpPr>
          <p:cNvPr id="39" name="R8_tag40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40" name="pf_403"/>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04" descr="/home/claude/lls-course/v2/cache/3b2_fed_up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4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1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1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4" name="cd_41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7" name="R1_it41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8" name="cd_42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2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2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21" name="R2_it42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2" name="cd_42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2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5" name="R3_it42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far pensare a, ricordare</a:t>
            </a:r>
            <a:endParaRPr lang="en-US" sz="850" dirty="0"/>
          </a:p>
        </p:txBody>
      </p:sp>
      <p:sp>
        <p:nvSpPr>
          <p:cNvPr id="26" name="cd_42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3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9" name="R4_it43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800" dirty="0"/>
          </a:p>
        </p:txBody>
      </p:sp>
      <p:sp>
        <p:nvSpPr>
          <p:cNvPr id="30" name="cd_43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3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3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100" dirty="0"/>
          </a:p>
        </p:txBody>
      </p:sp>
      <p:sp>
        <p:nvSpPr>
          <p:cNvPr id="33" name="R5_it43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4" name="cd_43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7" name="R6_it43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spendere soldi in / per</a:t>
            </a:r>
            <a:endParaRPr lang="en-US" sz="900" dirty="0"/>
          </a:p>
        </p:txBody>
      </p:sp>
      <p:sp>
        <p:nvSpPr>
          <p:cNvPr id="38" name="cd_44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4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4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41" name="R7_it44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2" name="cd_44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4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5" name="R8_it44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6" name="cd_44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5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9" name="R9_it45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50" name="cd_45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5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5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3" name="R10_it45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4" name="cd_45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7" name="R11_it45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8" name="cd_46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6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6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61" name="R12_it46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2" name="R13_wc46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6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6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 and the spider</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7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7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class story (TPRS)</a:t>
            </a:r>
            <a:endParaRPr lang="en-US" sz="800" dirty="0"/>
          </a:p>
        </p:txBody>
      </p:sp>
      <p:sp>
        <p:nvSpPr>
          <p:cNvPr id="15" name="cd_47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8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afraid of</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aver paura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look forward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vedere l'ora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depend on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dipendere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fed up with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stufo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laugh at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ridere di, prendere in giro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apologize to sb for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19" name="R1_sb48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8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is Luca.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good 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football, but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afraid of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spiders.</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Luca good at football? · Is he afraid of spiders or dogs?</a:t>
            </a:r>
            <a:endParaRPr lang="en-US" sz="1200" dirty="0"/>
          </a:p>
        </p:txBody>
      </p:sp>
      <p:sp>
        <p:nvSpPr>
          <p:cNvPr id="21" name="R2_sb48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8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looking forward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big match on Saturday.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looking forward to a match or an exam? · When is the match?</a:t>
            </a:r>
            <a:endParaRPr lang="en-US" sz="1250" dirty="0"/>
          </a:p>
        </p:txBody>
      </p:sp>
      <p:sp>
        <p:nvSpPr>
          <p:cNvPr id="23" name="R3_sb48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the match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depends 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weather – and on Saturday it rains!</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the match depend on the weather? · What's the weather like?</a:t>
            </a:r>
            <a:endParaRPr lang="en-US" sz="1100" dirty="0"/>
          </a:p>
        </p:txBody>
      </p:sp>
      <p:sp>
        <p:nvSpPr>
          <p:cNvPr id="25" name="R4_sb48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fed up with</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waiting, so he plays football in nonna's garage.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he fed up with waiting? · Where does he play?</a:t>
            </a:r>
            <a:endParaRPr lang="en-US" sz="1050" dirty="0"/>
          </a:p>
        </p:txBody>
      </p:sp>
      <p:sp>
        <p:nvSpPr>
          <p:cNvPr id="27" name="R5_sb49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9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huge spider runs across the ball. Luca screams! His sister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laughs at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him.</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spider big or small? · Who laughs at Luca?</a:t>
            </a:r>
            <a:endParaRPr lang="en-US" sz="950" dirty="0"/>
          </a:p>
        </p:txBody>
      </p:sp>
      <p:sp>
        <p:nvSpPr>
          <p:cNvPr id="29" name="R6_sb49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9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ball breaks a window. Luca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apologizes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window.</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does he apologize to? · What for? · And you – what are you afraid of?</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96"/>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9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Mimalo! Il compagno dice la frase.</a:t>
            </a:r>
            <a:endParaRPr lang="en-US" sz="950" dirty="0"/>
          </a:p>
        </p:txBody>
      </p:sp>
      <p:sp>
        <p:nvSpPr>
          <p:cNvPr id="9" name="cmd_50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0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0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game</a:t>
            </a:r>
            <a:endParaRPr lang="en-US" sz="800" dirty="0"/>
          </a:p>
        </p:txBody>
      </p:sp>
      <p:sp>
        <p:nvSpPr>
          <p:cNvPr id="14" name="cd_50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0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mimes it. No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mima.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says: "You're afraid of…!"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dice: "Hai paura di…!" Poi scambiatevi.</a:t>
            </a:r>
            <a:endParaRPr lang="en-US" sz="1000" dirty="0"/>
          </a:p>
        </p:txBody>
      </p:sp>
      <p:sp>
        <p:nvSpPr>
          <p:cNvPr id="18" name="pf_50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10" descr="/home/claude/lls-course/v2/cache/3b2_afraid_dark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51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51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2" name="R3_w51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3" name="R5_w51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4" name="R7_w51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5" name="rl_51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51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7" name="R4_w51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8" name="R6_w51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9" name="R8_w52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52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5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Finiscila: preposizione + un finale vero!</a:t>
            </a:r>
            <a:endParaRPr lang="en-US" sz="950" dirty="0"/>
          </a:p>
        </p:txBody>
      </p:sp>
      <p:sp>
        <p:nvSpPr>
          <p:cNvPr id="9" name="cmd_5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2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2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3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a:t>
            </a:r>
            <a:endParaRPr lang="en-US" sz="800" dirty="0"/>
          </a:p>
        </p:txBody>
      </p:sp>
      <p:sp>
        <p:nvSpPr>
          <p:cNvPr id="15" name="cd_5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beginning.</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l'inizio.</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finish it in 10 seconds.</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finitela in 10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Right preposition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Preposizione giusta = 1 punto.</a:t>
            </a:r>
            <a:endParaRPr lang="en-US" sz="1100" dirty="0"/>
          </a:p>
        </p:txBody>
      </p:sp>
      <p:sp>
        <p:nvSpPr>
          <p:cNvPr id="19" name="pf_5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38" descr="/home/claude/lls-course/v2/cache/3b2_prou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3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100" dirty="0"/>
          </a:p>
        </p:txBody>
      </p:sp>
      <p:sp>
        <p:nvSpPr>
          <p:cNvPr id="23" name="R1_chip54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the dark / of dogs</a:t>
            </a:r>
            <a:endParaRPr lang="en-US" sz="1100" dirty="0"/>
          </a:p>
        </p:txBody>
      </p:sp>
      <p:sp>
        <p:nvSpPr>
          <p:cNvPr id="24" name="bd_54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very good…</a:t>
            </a:r>
            <a:endParaRPr lang="en-US" sz="1100" dirty="0"/>
          </a:p>
        </p:txBody>
      </p:sp>
      <p:sp>
        <p:nvSpPr>
          <p:cNvPr id="26" name="R2_chip54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maths / at singing</a:t>
            </a:r>
            <a:endParaRPr lang="en-US" sz="1100" dirty="0"/>
          </a:p>
        </p:txBody>
      </p:sp>
      <p:sp>
        <p:nvSpPr>
          <p:cNvPr id="27" name="bd_54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really fed up…</a:t>
            </a:r>
            <a:endParaRPr lang="en-US" sz="1100" dirty="0"/>
          </a:p>
        </p:txBody>
      </p:sp>
      <p:sp>
        <p:nvSpPr>
          <p:cNvPr id="29" name="R3_chip54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100" dirty="0"/>
          </a:p>
        </p:txBody>
      </p:sp>
      <p:sp>
        <p:nvSpPr>
          <p:cNvPr id="30" name="bd_54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4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100" dirty="0"/>
          </a:p>
        </p:txBody>
      </p:sp>
      <p:sp>
        <p:nvSpPr>
          <p:cNvPr id="32" name="R4_chip55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me / of my cousin</a:t>
            </a:r>
            <a:endParaRPr lang="en-US" sz="1100" dirty="0"/>
          </a:p>
        </p:txBody>
      </p:sp>
      <p:sp>
        <p:nvSpPr>
          <p:cNvPr id="33" name="bd_55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100" dirty="0"/>
          </a:p>
        </p:txBody>
      </p:sp>
      <p:sp>
        <p:nvSpPr>
          <p:cNvPr id="35" name="R5_chip55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100" dirty="0"/>
          </a:p>
        </p:txBody>
      </p:sp>
      <p:sp>
        <p:nvSpPr>
          <p:cNvPr id="36" name="bd_55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song reminds me…</a:t>
            </a:r>
            <a:endParaRPr lang="en-US" sz="1100" dirty="0"/>
          </a:p>
        </p:txBody>
      </p:sp>
      <p:sp>
        <p:nvSpPr>
          <p:cNvPr id="38" name="R6_chip55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last summer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5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Poi ascolta.</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564"/>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6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6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questions   ·   📖 SB p.33 · 5c, 5d · audio 3.27</a:t>
            </a:r>
            <a:endParaRPr lang="en-US" sz="800" dirty="0"/>
          </a:p>
        </p:txBody>
      </p:sp>
      <p:sp>
        <p:nvSpPr>
          <p:cNvPr id="15" name="ap_5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6" name="ah_5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73" descr="/home/claude/lls-course/v2/cache/3b2_just_a_minut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7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7" name="R1_chip57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8" name="gq_58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9" name="R2_chip58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0" name="gq_58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31" name="R3_chip58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2" name="gq_58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33" name="R4_chip58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4" name="gq_58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5" name="R5_chip58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6" name="gq_58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7" name="R6_chip58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Parla per 30 secondi. Non fermarti!</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9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 · fluency   ·   📖 SB p.33 · 5d (speaking)</a:t>
            </a:r>
            <a:endParaRPr lang="en-US" sz="800" dirty="0"/>
          </a:p>
        </p:txBody>
      </p:sp>
      <p:sp>
        <p:nvSpPr>
          <p:cNvPr id="15" name="cd_60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0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Groups of 3: A answers a question for 30 seconds.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Gruppi di 3: A risponde per 30 secondi.</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B times it. C counts the prepositions.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B cronometra. C conta le preposizioni.</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30 seconds = 2 points + 1 per preposition. Swap!</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30 secondi = 2 punti + 1 per preposizione. Cambiate!</a:t>
            </a:r>
            <a:endParaRPr lang="en-US" sz="800" dirty="0"/>
          </a:p>
        </p:txBody>
      </p:sp>
      <p:sp>
        <p:nvSpPr>
          <p:cNvPr id="19" name="pf_60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3b2_just_a_minut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0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0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100" dirty="0"/>
          </a:p>
        </p:txBody>
      </p:sp>
      <p:sp>
        <p:nvSpPr>
          <p:cNvPr id="23" name="R1_chip61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100" dirty="0"/>
          </a:p>
        </p:txBody>
      </p:sp>
      <p:sp>
        <p:nvSpPr>
          <p:cNvPr id="24" name="bd_61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1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100" dirty="0"/>
          </a:p>
        </p:txBody>
      </p:sp>
      <p:sp>
        <p:nvSpPr>
          <p:cNvPr id="26" name="R2_chip61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100" dirty="0"/>
          </a:p>
        </p:txBody>
      </p:sp>
      <p:sp>
        <p:nvSpPr>
          <p:cNvPr id="27" name="bd_61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1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Bagheria famous for?</a:t>
            </a:r>
            <a:endParaRPr lang="en-US" sz="1100" dirty="0"/>
          </a:p>
        </p:txBody>
      </p:sp>
      <p:sp>
        <p:nvSpPr>
          <p:cNvPr id="29" name="R3_chip61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100" dirty="0"/>
          </a:p>
        </p:txBody>
      </p:sp>
      <p:sp>
        <p:nvSpPr>
          <p:cNvPr id="30" name="bd_61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100" dirty="0"/>
          </a:p>
        </p:txBody>
      </p:sp>
      <p:sp>
        <p:nvSpPr>
          <p:cNvPr id="32" name="R4_chip61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00" dirty="0"/>
          </a:p>
        </p:txBody>
      </p:sp>
      <p:sp>
        <p:nvSpPr>
          <p:cNvPr id="33" name="bd_62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2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afraid of?</a:t>
            </a:r>
            <a:endParaRPr lang="en-US" sz="1100" dirty="0"/>
          </a:p>
        </p:txBody>
      </p:sp>
      <p:sp>
        <p:nvSpPr>
          <p:cNvPr id="35" name="R5_chip62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100" dirty="0"/>
          </a:p>
        </p:txBody>
      </p:sp>
      <p:sp>
        <p:nvSpPr>
          <p:cNvPr id="36" name="bd_62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2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100" dirty="0"/>
          </a:p>
        </p:txBody>
      </p:sp>
      <p:sp>
        <p:nvSpPr>
          <p:cNvPr id="38" name="R6_chip62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2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2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32"/>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3"/>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Exit · what can you remember?</a:t>
            </a:r>
            <a:endParaRPr lang="en-US" sz="800" dirty="0"/>
          </a:p>
        </p:txBody>
      </p:sp>
      <p:sp>
        <p:nvSpPr>
          <p:cNvPr id="13" name="bd_63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3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toys from today (no looking!)</a:t>
            </a:r>
            <a:endParaRPr lang="en-US" sz="1400" dirty="0"/>
          </a:p>
        </p:txBody>
      </p:sp>
      <p:sp>
        <p:nvSpPr>
          <p:cNvPr id="15" name="bd_63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3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 preposition: depend on…</a:t>
            </a:r>
            <a:endParaRPr lang="en-US" sz="1400" dirty="0"/>
          </a:p>
        </p:txBody>
      </p:sp>
      <p:sp>
        <p:nvSpPr>
          <p:cNvPr id="17" name="bd_64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"I'm afraid of…"</a:t>
            </a:r>
            <a:endParaRPr lang="en-US" sz="1400" dirty="0"/>
          </a:p>
        </p:txBody>
      </p:sp>
      <p:sp>
        <p:nvSpPr>
          <p:cNvPr id="19" name="cd_64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3B: 3a, 3b, 4a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p.156: cover the prepositions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4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5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5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Review · what did you do today?</a:t>
            </a:r>
            <a:endParaRPr lang="en-US" sz="800" dirty="0"/>
          </a:p>
        </p:txBody>
      </p:sp>
      <p:sp>
        <p:nvSpPr>
          <p:cNvPr id="14" name="cd_658"/>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5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6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toys and your childhood</a:t>
            </a:r>
            <a:endParaRPr lang="en-US" sz="1350" dirty="0"/>
          </a:p>
        </p:txBody>
      </p:sp>
      <p:sp>
        <p:nvSpPr>
          <p:cNvPr id="17" name="R1_tk66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62"/>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6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6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programme: pink and blue</a:t>
            </a:r>
            <a:endParaRPr lang="en-US" sz="1350" dirty="0"/>
          </a:p>
        </p:txBody>
      </p:sp>
      <p:sp>
        <p:nvSpPr>
          <p:cNvPr id="21" name="R2_tk66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66"/>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6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6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prepositions: afraid of, good at…</a:t>
            </a:r>
            <a:endParaRPr lang="en-US" sz="1350" dirty="0"/>
          </a:p>
        </p:txBody>
      </p:sp>
      <p:sp>
        <p:nvSpPr>
          <p:cNvPr id="25" name="R3_tk66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70"/>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7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7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7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74"/>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7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7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"Just a minute!"</a:t>
            </a:r>
            <a:endParaRPr lang="en-US" sz="1350" dirty="0"/>
          </a:p>
        </p:txBody>
      </p:sp>
      <p:sp>
        <p:nvSpPr>
          <p:cNvPr id="33" name="R5_tk67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7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8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Inventate un giocattolo per TUTTI i bambini!</a:t>
            </a:r>
            <a:endParaRPr lang="en-US" sz="950" dirty="0"/>
          </a:p>
        </p:txBody>
      </p:sp>
      <p:sp>
        <p:nvSpPr>
          <p:cNvPr id="9" name="cmd_68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8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Extra · design task</a:t>
            </a:r>
            <a:endParaRPr lang="en-US" sz="800" dirty="0"/>
          </a:p>
        </p:txBody>
      </p:sp>
      <p:sp>
        <p:nvSpPr>
          <p:cNvPr id="14" name="st_69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92" descr="/home/claude/lls-course/v2/cache/3b2_brick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It's good for children who are interested in…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Kids who are keen on… will love it!</a:t>
            </a:r>
            <a:endParaRPr lang="en-US" sz="1050" dirty="0"/>
          </a:p>
        </p:txBody>
      </p:sp>
      <p:sp>
        <p:nvSpPr>
          <p:cNvPr id="21" name="R1_qb6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called 'Robo-Builder', for children aged 6–10.</a:t>
            </a:r>
            <a:endParaRPr lang="en-US" sz="1250" dirty="0"/>
          </a:p>
        </p:txBody>
      </p:sp>
      <p:sp>
        <p:nvSpPr>
          <p:cNvPr id="23" name="R2_qb69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0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Green and yellow – for boys AND girls!</a:t>
            </a:r>
            <a:endParaRPr lang="en-US" sz="1250" dirty="0"/>
          </a:p>
        </p:txBody>
      </p:sp>
      <p:sp>
        <p:nvSpPr>
          <p:cNvPr id="25" name="R3_qb70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0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good for children who are interested in science.</a:t>
            </a:r>
            <a:endParaRPr lang="en-US" sz="1250" dirty="0"/>
          </a:p>
        </p:txBody>
      </p:sp>
      <p:sp>
        <p:nvSpPr>
          <p:cNvPr id="27" name="R4_qb70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0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does it cost?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€29.99 – cheaper than a video game!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2026-10-15T08:39:17Z</dcterms:created>
  <dcterms:modified xsi:type="dcterms:W3CDTF">2026-10-15T08:39:17Z</dcterms:modified>
</cp:coreProperties>
</file>