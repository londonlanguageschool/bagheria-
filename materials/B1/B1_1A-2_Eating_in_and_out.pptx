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1A PART 2 (60 min) · SB pp.8–9. Show the photo. Ask the THINK question: 'Who's the best cook you know?' Take 3–4 answers (my nonna, my dad, me!) and ask one follow-up: 'What does she / he make?' Don't correct yet – just listen for present simple. Read the 'Today you're going to…' list together. Link: 'Today we meet a real chef: who taught HER to cook?' (her family – the listening). PICTURE: 1a2-cover.jpg in the img folder shows a young man eating spaghetti in a piazza (the picture list asked for a lobster with lemon and olive oil) – the question works with either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food word for each group (fish / meat / veg) and one more cooking word (grilled, roast…). Drill the 8 sound pictures quickly: fish, tree, cat, car, clock, horse, bull, boot – they are the answers in the game. Point at the silent letters (lamb, salmon). Then play 'Food clues + sounds' – every answer is a word from this slide or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food and vowel sounds (4 min)
RETRIEVAL WARMER (3 min) – recycles 1A-1 (food and cooking words + the 8 vowel sound pictures). Different format from last lesson's 'Guess why!' speaking warmer: a team quiz. Two or three teams, one pen and paper each, books closed. Before you start, elicit the 8 sound pictures from last lesson onto the board: fish, tree, cat, car, clock, horse, bull, boot (they reappear in the answers). Show the clue (the clue rows are all visible), teams write the WORD and the SOUND PICTURE of its vowel (10–15 seconds each), then click to reveal. 1 point for the word (correct spelling), 1 point for the sound. Answers: 1 squid – fish /ɪ/ · 2 steamed – tree /iː/ · 3 lamb – cat /æ/ (silent b!) · 4 jar – car /ɑː/ · 5 raw – horse /ɔː/ · 6 hot – clock /ɒ/ · 7 cook – bull /ʊ/ · 8 tuna – boot /uː/ (/ˈtjuːnə/). Drill each answer chorally after the reveal. ICQs: 'Do you write one thing or two?' (two – the word and the sound) · 'Do you shout the answer?' (no – write it). If short of time: do items 1–6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Listening · lead-in (2 min)
LEAD-IN (2 min). SB 5a: the introduction to Marianna, with five key words gapped. Pairs read and put the word-bank words in the gaps (30–60 seconds), then click once per gap: the word appears highlighted in the text. Answers (SB p.8): 1 head chef · 2 Crete · 3 fisherman · 4 Scottish · 5 seafood. Elicit that Cretan = from Crete, a Greek island (TG). TG EXTRA SUPPORT comprehension questions: Where is Marianna's mother from? (Scotland) · Who owned a seafood restaurant? (Marianna's parents) · Where does Marianna work now? (Morito, London). Pre-teach ONE blocking word for the listening (Remember box): caught = past of catch (pescare). The book uses a photo of the real Marianna; our picture is a generic chef (placeholder until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Listening · part 1 · prediction (5 min)
PREDICTION + LISTENING (5 min). SB 5a: in the book each extract goes with a photo (1 a box of fish · 2 a lobster · 3 a notebook · 4 grapes, sheep and olive trees · 5 souvlaki) – describe them or show the book page. Pairs say how they think each extract finishes (2 min). Get some ideas, but DON'T say if they're right (TG). 5b: play 1.8 once the whole way through; pairs compare; play again if necessary. Click once per extract. Answers (TG + audio script): 1 my dad caught · 2 lemon and olive oil · 3 a small blue notebook · 4 animals, a garden, olive trees and grapes · 5 Greek sandwich with pitta bread. 'used to' in 5 = she did it often in the past – receptive only today, no need to teach it. ICQ: 'Do you know the answers now?' (no – we guess first) · 'Do you write a whole sentence?' (no – just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part 1 · detail (3 min)
DETAIL (3 min). SB 5c: play 1.8 again, pausing after Marianna talks about each photo (TG extra support) so students can note ONE more fact. Pairs compare, then click once per line. Answers (audio script 1.8): 1 her dad still goes fishing every night (fish is expensive, even on an island) · 2 when he caught a lobster he never sold it – it was always for the family; that's how she cooks lobster today at Morito · 3 she spent every evening in the restaurant and helped in the kitchen instead of playing · 4 her aunt knew everything about wild food in Crete and only ate what she had grown, found or made herself · 5 souvlaki has pork, tomato, red onion and lots of thick yoghurt; they never ate out in the evening because the restaurant was open seven days a week. Photos: A = fishing family, B = family taverna, C = a wrap like souvlaki. Local link: 'Does this remind you of anyone in Porticello or Aspra?'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part 2 · gist then detail (5 min)
GIST THEN DETAIL (5 min). Question 0 (our gist question): ask it before playing – most students say yes, so the answer is a surprise: no, she wanted to be a psychologist. Play 1.9 once for 0. Then go quickly through 1–5 (the book's questions, shortened) and play again, pausing after each answer if needed (TG). Pairs compare; click once per question. Answers (TG): 0 No – she wanted to be a psychologist · 1 She studied psychology at Kent University; she travelled round southern Europe and South America (Ecuador); she went back to Crete and worked in the family restaurant (for two years) · 2 When she was a student, she used to save money and go and eat there; she went back because she wanted to work there · 3 She became head chef · 4 It has more Cretan dishes on the menu · 5 Four or five times a year; they share all the food and always order too much. Listen for one sentence for the grammar: 'This week, for example, I'm making ntakos' (a Cretan salad). TG EXTRA SUPPORT: if there's time, listen again with the script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what about you? (3 min)
SPEAKING (3 min). SB 5e questions 1–3 + one forced choice (our addition). Answer question 1 yourself first as a model (TG: you could also tell them about yourself). Questions appear ONE PER CLICK – about 40 seconds each. Forced choice: no 'both' or 'it depends' – choose and give a reason; quick show of hands at the end. PRIVACY: for question 2 'or another person in your family' is fine. Listen for present simple (I love…, I prefer…) – a bridge to the grammar. ICQ: 'Can you say both in the last one?'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Grammar · what did she say? (3 min)
GUIDED DISCOVERY 1 (3 min). SB 6a: 1–3 are the book's sentences; 4–6 are more sentences from the same interview (audio scripts 1.8 and 1.9). Students choose alone, then compare. Play 1.10 to check 1–3 (it contains only those three); 4–6 are exactly what Marianna says in the interview. Click once per sentence. Answers: 1 don't need · 2 I'm making · 3 I go · 4 goes · 5 order · 6 miss. Don't explain WHY yet – that's the next slide. For 1 and 6 they may just 'feel' the answer (TG): good! ICQ: 'Do you choose one form or two?'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Grammar · why? (3 min)
GUIDED DISCOVERY 2 (3 min). SB 6b: 'say why you think she uses each form' (Italian is fine – TG). The colours: pink = something you do regularly (habit) · blue = happening now or only this week (temporary) · yellow = verbs like need, miss, like, smell that we don't use with -ing. Sentences 7–8 are from audio 1.13 (Grammar Bank): 'What are you cooking? It smells delicious.' Pairs decide, then click once per sentence. Answers: 1 yellow (need) · 2 blue (this week – temporary) · 3 pink (four or five times a year) · 4 pink (every night) · 5 pink (always) · 6 yellow (miss) · 7 blue (now) · 8 yellow (smell). CCQs: 'Is she making ntakos every week of the year?' (no – just this week) · 'Does she go to Crete once or many times?' (many – a habit). This is the moment to give the name: action and non-action verbs (TG).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 the rule (4 min)
RULE (4 min). Students open Grammar Bank 1A p.132. Click once per column: the examples appear (meaning first, then form). Optional: play 1.11, 1.12 and 1.13 (only 1.11 shows on the slide – play 1.12 and 1.13 from the book audio) for students to listen and repeat; copy the rhythm (TG). Columns 1–3 use sentences from those tracks; column 4 sentences are ours (the Grammar Bank box uses have and think as its examples – check the book's sentences). TG notes: present simple = things that are always true or happen regularly; remind them of 3rd person -s /s/ cooks, /z/ plays, /ɪz/ watches, and says /sez/, does /dʌz/. Present continuous = actions in progress now or around now, temporary actions, changing situations (+ future arrangements – in 1B). Non-action verbs (states, feelings, senses) are not normally used in the continuous. have: possession = non-action (I have a car); eat / drink = action (I'm having lunch). think: opinion = non-action (I think it's good); using your brain = action (What are you thinking about?). Last click = typical Italian-speaker mistakes. CCQs: 'I'm having lunch – do I own lunch?' (no – I'm eating it) · 'House prices are going up – always, or now, changing?' (now,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non-action verbs in Italian (2 min)
CONSOLIDATION for slower students (2 min). Class says the Italian for each verb, then click once per word to show its Italian (and the 'But' line). These are common non-action verbs (the full list is in Grammar Bank 1A p.132 – check it with the class). Quick check: 'I'm loving this pizza' – right or wrong? (wrong in the grammar book: I love this pizza; the ad slogan is a special case – mention only if a student asks). TG points: enjoy is NOT a non-action verb: Are you enjoying it? ✓; look (= seem) is non-action, but look at is an action verb. smell and taste: 'It smells / tastes delicious' (non-action).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class story (TPRS) (4 min)
TPRS CLASS STORY (4 min) – this comes straight after the rule and the non-action verb list, so students hear simple vs continuous and the non-action verbs (taste, smell, need, know) 15–20 times BEFORE they produce them in the Grammar Bank practice and the games. Click once per line. For each line: 1) say it, 2) ask the questions in grey round the class (yes/no → either/or → who/what), 3) let the CLASS change details: 'Is Nino making a dessert? No? What is he making?' – accept their idea and use it in later lines (change the secret ingredient in line 5 to match!). Students answer with one word or a short phrase – that's fine. Point out the contrast as you go: usually cooks (habit) vs 's making this week (temporary) · tastes / smells / needs / knows – never -ing · is having lunch = eating (action). Finish: 'What happens next?' – one or two ideas, then move on. PQA if the class is quiet: 'Giulia, what do you usually cook? Are you learning anything new at the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controlled practice (3 min)
CONTROLLED PRACTICE (3 min). The sentences are Grammar Bank 1A exercise b 1–5 (key sentences from the TG); the verb prompts in brackets are ours – check the book's exercise format. Students write alone (1.5 min), compare with a partner, then click once per sentence: the answer appears highlighted in the sentence. Answers (TG): 1 eat · 2 Are you taking · 3 don't like · 4 Does your boyfriend know · 5 order. Ask WHY for each (student as teacher): 1 habit (never) · 2 around now · 3 like = non-action · 4 know = non-action · 5 habit (once a week). Get students to read the full sentences aloud. Grammar Bank a 1–5 can be done in the book if there's time (answers: 1 is coming · 2 doesn't want · 3 isn't working · 4 seems · 5 aren't speaking). a 6–10 and b 6–10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game (3 min)
GAME 2 (3 min). Two or three teams. Show a sentence; teams have 10 seconds to decide RIGHT or WRONG (hands up / show a ✓ or ✗ card). Then the team must say the corrected sentence for the bonus point. Click once per sentence. Answers: 1 wrong → I need a new phone · 2 right (habit) · 3 wrong → He's having lunch (have = eat = action, now) · 4 wrong → tastes · 5 right (enjoy is an action verb!) · 6 wrong → What are you cooking? (now) – 'smells' is right. These are typical Italian-speaker mistakes. ICQs: 'If it's wrong, what do you do?' (correct it) · 'Is every sentence wrong?'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game · questions (3 min)
GAME 3 (3 min). SB 6d prompts (6 of 11; the other 5 are on the next slide). First elicit diet = the food you eat and drink regularly, and drill /ˈdaɪət/ (TG). Elicit: 'On a typical day' prompts = habits → present simple + do you. 'At the moment / Nowadays' prompts → continuous if it's an action verb, simple if it's non-action (need, want) (TG). Teams race: the first team to say the full, correct question wins a point; click to reveal. Answers (TG): 1 What do you usually have for breakfast? · 2 Do you ever cook? What do you make? · 3 Do you prefer eating at home or eating out? · 4 Are you trying to cut down on anything at the moment? · 5 Do you need to buy any food today? (need = non-action) · 6 Do you want anything to eat right now? (want = non-action). After each one, drill the rhythm: stress the information words (TG extra support): What do you USUALLY HAVE for BREAKFAST? Teams should remember the questions – they ask them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your diet (5 min)
SPEAKING – accurate practice (4 min). Pairs interview each other: first the 6 questions from the game, then these 5 prompts (they appear ONE PER CLICK; each example shows the correct question and a model answer – click when pairs have tried to make it). Always one follow-up question (How often? Why? What kind?). TG: the focus here is ACCURATE practice of the grammar – monitor and correct simple / continuous on the spot (gently: 'Now or every day?'). Answers (TG): Where do you normally have lunch? · What do you usually have for lunch during the week? · Do you drink fizzy drinks, e.g. Coke? How many glasses do you drink a day? · Are you taking vitamins or food supplements at the moment? · Is the diet in your country getting better or worse? Feedback: one surprising answer per pair. ICQ: 'How many questions after each answer?' (one more – a follow-up).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agreeing and disagreeing (5 min)
SPEAKING – fluency (4 min; with less time, let groups choose 3–4 statements). SB 7a–b: the book's six statements, ONE PER CLICK. Go through the 'Agreeing and disagreeing' box first (Useful phrases – the book's box). Groups of 3: for each statement, everyone says agree or disagree with ONE reason or example (about 45 seconds per statement; the TG suggests 2 minutes each – with less time, let groups choose 3 statements). TG EXTRA CHALLENGE: I completely / totally (dis)agree, I agree up to a point, I couldn't agree more! DON'T over-correct: note 4–5 errors (especially simple / continuous) for 1 minute of delayed correction on the board at the end. Feedback: 'Which statement caused the biggest argument?' Watch: 'I agree' – NOT 'I am agree' (Italian 'sono d'accordo'). ICQ: 'Is it OK to disagree with your partner?' (yes – but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facts about Marianna (e.g. her dad was a fisherman · she studied psychology · she's head chef at Morito · she goes to Crete 4–5 times a year), 2 non-action verbs (need, like, know, want, love, smell…), 1 sentence about themselves with both tenses (e.g. I usually have a cornetto for breakfast, but this week I'm trying to eat healthier food). 3–4 students share. Set homework (on the slide and in the app): Workbook 1A grammar 3a–3e + Grammar Bank 1A a 6–10, b 6–10 + the 1A-2 homework sheet (easier version available). Answers are in the teacher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role play (5 min)
EXTRA (5 min, if there's time). Role play based on the Marianna interview (1.8 / 1.9). B invents a restaurant (name, town, speciality) in 1 minute; A asks the questions (one per click; they're models – A can add more). Both tenses: What do you usually…? (habit) / What are you making this week? (temporary). Swap roles. Then 2–3 'chefs' are presented to the class by their journalist: 'Her restaurant is in… This week she's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slideLayout" Target="../slideLayouts/slideLayout1.xml"/><Relationship Id="rId1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pp.8–9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Eating in… and out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chef's story</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chef's story</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say what you usually do – and what you're doing now</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find the verbs that never take -ing</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interview a partner about your diet</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agree and disagree about food</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My nonna – her pasta alla Norma is amazing!</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Who's the best cook you know?</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a1_cooking_method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1A: food and cooking words</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short and long vowel sounds</a:t>
            </a:r>
            <a:endParaRPr lang="en-US" sz="105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Food: fish, meat, fruit and veg</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In Sicily we fry squid in rings.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Lamb is meat from a young sheep.</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Aubergine is the star of caponata!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pig = the animal · pork = the meat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Cooking + vowel sounds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like my eggs fried, not boiled.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Steamed fish is very healthy.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Sushi is raw fish.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fish /ɪ/ · tree /iː/ · car /ɑː/ · boot /uː/</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squid</a:t>
            </a:r>
            <a:endParaRPr lang="en-US" sz="1050" dirty="0"/>
          </a:p>
        </p:txBody>
      </p:sp>
      <p:sp>
        <p:nvSpPr>
          <p:cNvPr id="28" name="w_42"/>
          <p:cNvSpPr/>
          <p:nvPr/>
        </p:nvSpPr>
        <p:spPr>
          <a:xfrm>
            <a:off x="4027932" y="417880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tuna</a:t>
            </a:r>
            <a:endParaRPr lang="en-US" sz="1050" dirty="0"/>
          </a:p>
        </p:txBody>
      </p:sp>
      <p:sp>
        <p:nvSpPr>
          <p:cNvPr id="29" name="w_43"/>
          <p:cNvSpPr/>
          <p:nvPr/>
        </p:nvSpPr>
        <p:spPr>
          <a:xfrm>
            <a:off x="4732020" y="4178808"/>
            <a:ext cx="63093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lamb</a:t>
            </a:r>
            <a:endParaRPr lang="en-US" sz="1050" dirty="0"/>
          </a:p>
        </p:txBody>
      </p:sp>
      <p:sp>
        <p:nvSpPr>
          <p:cNvPr id="30" name="w_44"/>
          <p:cNvSpPr/>
          <p:nvPr/>
        </p:nvSpPr>
        <p:spPr>
          <a:xfrm>
            <a:off x="5436108"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aubergine</a:t>
            </a:r>
            <a:endParaRPr lang="en-US" sz="1050" dirty="0"/>
          </a:p>
        </p:txBody>
      </p:sp>
      <p:sp>
        <p:nvSpPr>
          <p:cNvPr id="31" name="w_45"/>
          <p:cNvSpPr/>
          <p:nvPr/>
        </p:nvSpPr>
        <p:spPr>
          <a:xfrm>
            <a:off x="6528816"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steamed</a:t>
            </a:r>
            <a:endParaRPr lang="en-US" sz="1050" dirty="0"/>
          </a:p>
        </p:txBody>
      </p:sp>
      <p:sp>
        <p:nvSpPr>
          <p:cNvPr id="32" name="w_46"/>
          <p:cNvSpPr/>
          <p:nvPr/>
        </p:nvSpPr>
        <p:spPr>
          <a:xfrm>
            <a:off x="7466076" y="4178808"/>
            <a:ext cx="55321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3" name="w_47"/>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jar</a:t>
            </a:r>
            <a:endParaRPr lang="en-US" sz="1050" dirty="0"/>
          </a:p>
        </p:txBody>
      </p:sp>
      <p:sp>
        <p:nvSpPr>
          <p:cNvPr id="34" name="w_48"/>
          <p:cNvSpPr/>
          <p:nvPr/>
        </p:nvSpPr>
        <p:spPr>
          <a:xfrm>
            <a:off x="3246120" y="454456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cook</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clues + sounds</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food and its sound!</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il cibo e il suo suono!</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6"/>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5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1A-2 · Warmer · last lesson: food and vowel sounds   ·   📖 Revision of 1A-1 · Vocabulary Bank p.152 · Pronunciation 2a–b (audio 1.6)</a:t>
            </a:r>
            <a:endParaRPr lang="en-US" sz="750" dirty="0"/>
          </a:p>
        </p:txBody>
      </p:sp>
      <p:sp>
        <p:nvSpPr>
          <p:cNvPr id="15" name="cd_6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Read the clue.</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Leggi l'indizio.</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Teams: write the word AND its sound picture.</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Squadre: scrivete la parola E l'immagine-suono.</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Word = 1 point. Sound = 1 point.</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Parola = 1 punto. Suono = 1 punto.</a:t>
            </a:r>
            <a:endParaRPr lang="en-US" sz="950" dirty="0"/>
          </a:p>
        </p:txBody>
      </p:sp>
      <p:sp>
        <p:nvSpPr>
          <p:cNvPr id="19" name="pf_6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6" descr="/home/claude/lls-course/v2/cache/1a1_fish_marke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7"/>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8"/>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Sicily we fry it in rings.</a:t>
            </a:r>
            <a:endParaRPr lang="en-US" sz="1100" dirty="0"/>
          </a:p>
        </p:txBody>
      </p:sp>
      <p:sp>
        <p:nvSpPr>
          <p:cNvPr id="23" name="R1_chip69"/>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squid · 🐟 fish /ɪ/</a:t>
            </a:r>
            <a:endParaRPr lang="en-US" sz="1100" dirty="0"/>
          </a:p>
        </p:txBody>
      </p:sp>
      <p:sp>
        <p:nvSpPr>
          <p:cNvPr id="24" name="bd_70"/>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1"/>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over hot water.</a:t>
            </a:r>
            <a:endParaRPr lang="en-US" sz="1100" dirty="0"/>
          </a:p>
        </p:txBody>
      </p:sp>
      <p:sp>
        <p:nvSpPr>
          <p:cNvPr id="26" name="R2_chip72"/>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steamed · 🌳 tree /iː/</a:t>
            </a:r>
            <a:endParaRPr lang="en-US" sz="1100" dirty="0"/>
          </a:p>
        </p:txBody>
      </p:sp>
      <p:sp>
        <p:nvSpPr>
          <p:cNvPr id="27" name="bd_73"/>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4"/>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Meat from a young sheep.</a:t>
            </a:r>
            <a:endParaRPr lang="en-US" sz="1100" dirty="0"/>
          </a:p>
        </p:txBody>
      </p:sp>
      <p:sp>
        <p:nvSpPr>
          <p:cNvPr id="29" name="R3_chip75"/>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lamb · 🐱 cat /æ/</a:t>
            </a:r>
            <a:endParaRPr lang="en-US" sz="1100" dirty="0"/>
          </a:p>
        </p:txBody>
      </p:sp>
      <p:sp>
        <p:nvSpPr>
          <p:cNvPr id="30" name="bd_76"/>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7"/>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 comes in a glass…</a:t>
            </a:r>
            <a:endParaRPr lang="en-US" sz="1100" dirty="0"/>
          </a:p>
        </p:txBody>
      </p:sp>
      <p:sp>
        <p:nvSpPr>
          <p:cNvPr id="32" name="R4_chip78"/>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jar · 🚗 car /ɑː/</a:t>
            </a:r>
            <a:endParaRPr lang="en-US" sz="1100" dirty="0"/>
          </a:p>
        </p:txBody>
      </p:sp>
      <p:sp>
        <p:nvSpPr>
          <p:cNvPr id="33" name="bd_79"/>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0"/>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950" dirty="0"/>
          </a:p>
        </p:txBody>
      </p:sp>
      <p:sp>
        <p:nvSpPr>
          <p:cNvPr id="35" name="R5_chip81"/>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raw · 🐴 horse /ɔː/</a:t>
            </a:r>
            <a:endParaRPr lang="en-US" sz="1100" dirty="0"/>
          </a:p>
        </p:txBody>
      </p:sp>
      <p:sp>
        <p:nvSpPr>
          <p:cNvPr id="36" name="bd_82"/>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3"/>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Chillies are very… (not 'spicy'!)</a:t>
            </a:r>
            <a:endParaRPr lang="en-US" sz="1050" dirty="0"/>
          </a:p>
        </p:txBody>
      </p:sp>
      <p:sp>
        <p:nvSpPr>
          <p:cNvPr id="38" name="R6_chip84"/>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 ⏰ clock /ɒ/</a:t>
            </a:r>
            <a:endParaRPr lang="en-US" sz="1100" dirty="0"/>
          </a:p>
        </p:txBody>
      </p:sp>
      <p:sp>
        <p:nvSpPr>
          <p:cNvPr id="39" name="bd_85"/>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86"/>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nonna is a very good…</a:t>
            </a:r>
            <a:endParaRPr lang="en-US" sz="1100" dirty="0"/>
          </a:p>
        </p:txBody>
      </p:sp>
      <p:sp>
        <p:nvSpPr>
          <p:cNvPr id="41" name="R7_chip87"/>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cook · 🐂 bull /ʊ/</a:t>
            </a:r>
            <a:endParaRPr lang="en-US" sz="1100" dirty="0"/>
          </a:p>
        </p:txBody>
      </p:sp>
      <p:sp>
        <p:nvSpPr>
          <p:cNvPr id="42" name="bd_88"/>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3" name="gq_89"/>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Big red fish – famous in Sicily!</a:t>
            </a:r>
            <a:endParaRPr lang="en-US" sz="1100" dirty="0"/>
          </a:p>
        </p:txBody>
      </p:sp>
      <p:sp>
        <p:nvSpPr>
          <p:cNvPr id="44" name="R8_chip90"/>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tuna · 👢 boot /uː/</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9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Marianna</a:t>
            </a:r>
            <a:endParaRPr lang="en-US" sz="2500" dirty="0"/>
          </a:p>
        </p:txBody>
      </p:sp>
      <p:pic>
        <p:nvPicPr>
          <p:cNvPr id="6" name="brP_9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9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the missing words.</a:t>
            </a:r>
            <a:endParaRPr lang="en-US" sz="1250" dirty="0"/>
          </a:p>
        </p:txBody>
      </p:sp>
      <p:sp>
        <p:nvSpPr>
          <p:cNvPr id="8" name="insIT_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le parole mancanti.</a:t>
            </a:r>
            <a:endParaRPr lang="en-US" sz="950" dirty="0"/>
          </a:p>
        </p:txBody>
      </p:sp>
      <p:sp>
        <p:nvSpPr>
          <p:cNvPr id="9" name="cmd_9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9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9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0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TPRS · reading</a:t>
            </a:r>
            <a:endParaRPr lang="en-US" sz="800" dirty="0"/>
          </a:p>
        </p:txBody>
      </p:sp>
      <p:pic>
        <p:nvPicPr>
          <p:cNvPr id="13" name="logo_1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Listening · lead-in   ·   📖 SB p.8 · 5a</a:t>
            </a:r>
            <a:endParaRPr lang="en-US" sz="800" dirty="0"/>
          </a:p>
        </p:txBody>
      </p:sp>
      <p:sp>
        <p:nvSpPr>
          <p:cNvPr id="15" name="cd_10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0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Marianna Leivaditaki</a:t>
            </a:r>
            <a:endParaRPr lang="en-US" sz="1700" dirty="0"/>
          </a:p>
        </p:txBody>
      </p:sp>
      <p:sp>
        <p:nvSpPr>
          <p:cNvPr id="17" name="ln_10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Marianna is the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at Morito, a very popular restaurant on Hackney Road, in London.</a:t>
            </a:r>
            <a:endParaRPr lang="en-US" sz="1300" dirty="0"/>
          </a:p>
        </p:txBody>
      </p:sp>
      <p:sp>
        <p:nvSpPr>
          <p:cNvPr id="18" name="R1_lnA10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Marianna is the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head chef</a:t>
            </a:r>
            <a:pPr indent="0" marL="0">
              <a:buNone/>
            </a:pPr>
            <a:r>
              <a:rPr lang="en-US" sz="1300" dirty="0">
                <a:solidFill>
                  <a:srgbClr val="1B2559"/>
                </a:solidFill>
                <a:latin typeface="Georgia" pitchFamily="34" charset="0"/>
                <a:ea typeface="Georgia" pitchFamily="34" charset="-122"/>
                <a:cs typeface="Georgia" pitchFamily="34" charset="-120"/>
              </a:rPr>
              <a:t> at Morito, a very popular restaurant on Hackney Road, in London.</a:t>
            </a:r>
            <a:endParaRPr lang="en-US" sz="1300" dirty="0"/>
          </a:p>
        </p:txBody>
      </p:sp>
      <p:sp>
        <p:nvSpPr>
          <p:cNvPr id="19" name="ln_10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She was born on the island of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in Greece.</a:t>
            </a:r>
            <a:endParaRPr lang="en-US" sz="1300" dirty="0"/>
          </a:p>
        </p:txBody>
      </p:sp>
      <p:sp>
        <p:nvSpPr>
          <p:cNvPr id="20" name="R2_lnA108"/>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She was born on the island of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Crete</a:t>
            </a:r>
            <a:pPr indent="0" marL="0">
              <a:buNone/>
            </a:pPr>
            <a:r>
              <a:rPr lang="en-US" sz="1300" dirty="0">
                <a:solidFill>
                  <a:srgbClr val="1B2559"/>
                </a:solidFill>
                <a:latin typeface="Georgia" pitchFamily="34" charset="0"/>
                <a:ea typeface="Georgia" pitchFamily="34" charset="-122"/>
                <a:cs typeface="Georgia" pitchFamily="34" charset="-120"/>
              </a:rPr>
              <a:t>, in Greece.</a:t>
            </a:r>
            <a:endParaRPr lang="en-US" sz="1300" dirty="0"/>
          </a:p>
        </p:txBody>
      </p:sp>
      <p:sp>
        <p:nvSpPr>
          <p:cNvPr id="21" name="ln_10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Her father was a Cretan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and her mother was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2" name="R3_lnA11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Her father was a Cretan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fisherman</a:t>
            </a:r>
            <a:pPr indent="0" marL="0">
              <a:buNone/>
            </a:pPr>
            <a:r>
              <a:rPr lang="en-US" sz="1300" dirty="0">
                <a:solidFill>
                  <a:srgbClr val="1B2559"/>
                </a:solidFill>
                <a:latin typeface="Georgia" pitchFamily="34" charset="0"/>
                <a:ea typeface="Georgia" pitchFamily="34" charset="-122"/>
                <a:cs typeface="Georgia" pitchFamily="34" charset="-120"/>
              </a:rPr>
              <a:t> and her mother was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Scottish</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3" name="ln_11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Together they ran a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restaurant, which is where Marianna spent most of her childhood.</a:t>
            </a:r>
            <a:endParaRPr lang="en-US" sz="1300" dirty="0"/>
          </a:p>
        </p:txBody>
      </p:sp>
      <p:sp>
        <p:nvSpPr>
          <p:cNvPr id="24" name="R4_lnA11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Together they ran a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seafood</a:t>
            </a:r>
            <a:pPr indent="0" marL="0">
              <a:buNone/>
            </a:pPr>
            <a:r>
              <a:rPr lang="en-US" sz="1300" dirty="0">
                <a:solidFill>
                  <a:srgbClr val="1B2559"/>
                </a:solidFill>
                <a:latin typeface="Georgia" pitchFamily="34" charset="0"/>
                <a:ea typeface="Georgia" pitchFamily="34" charset="-122"/>
                <a:cs typeface="Georgia" pitchFamily="34" charset="-120"/>
              </a:rPr>
              <a:t> restaurant, which is where Marianna spent most of her childhood.</a:t>
            </a:r>
            <a:endParaRPr lang="en-US" sz="1300" dirty="0"/>
          </a:p>
        </p:txBody>
      </p:sp>
      <p:sp>
        <p:nvSpPr>
          <p:cNvPr id="25" name="pf_113"/>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14" descr="/home/claude/lls-course/v2/cache/1a2_head_chef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11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11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1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118"/>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Word bank: Crete · fisherman · head chef · Scottish · seafood</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caught = past of catch · pescare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2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chef's childhood</a:t>
            </a:r>
            <a:endParaRPr lang="en-US" sz="2500" dirty="0"/>
          </a:p>
        </p:txBody>
      </p:sp>
      <p:pic>
        <p:nvPicPr>
          <p:cNvPr id="6" name="brP_122"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23"/>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endings. Then listen.</a:t>
            </a:r>
            <a:endParaRPr lang="en-US" sz="1250" dirty="0"/>
          </a:p>
        </p:txBody>
      </p:sp>
      <p:sp>
        <p:nvSpPr>
          <p:cNvPr id="8" name="insIT_1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come finiscono. Poi ascolta.</a:t>
            </a:r>
            <a:endParaRPr lang="en-US" sz="950" dirty="0"/>
          </a:p>
        </p:txBody>
      </p:sp>
      <p:sp>
        <p:nvSpPr>
          <p:cNvPr id="9" name="cmd_12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2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2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12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1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Listening · part 1 · prediction   ·   📖 SB p.8 · 5a, 5b · audio 1.8</a:t>
            </a:r>
            <a:endParaRPr lang="en-US" sz="800" dirty="0"/>
          </a:p>
        </p:txBody>
      </p:sp>
      <p:sp>
        <p:nvSpPr>
          <p:cNvPr id="15" name="ap_13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1.8  ·  play once, then again</a:t>
            </a:r>
            <a:endParaRPr lang="en-US" sz="1100" dirty="0"/>
          </a:p>
        </p:txBody>
      </p:sp>
      <p:sp>
        <p:nvSpPr>
          <p:cNvPr id="16" name="ah_13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13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13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135" descr="/home/claude/lls-course/v2/cache/1a2_fisherman_daught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13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13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13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13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14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We ate fish every day, which ___.</a:t>
            </a:r>
            <a:endParaRPr lang="en-US" sz="1200" dirty="0"/>
          </a:p>
        </p:txBody>
      </p:sp>
      <p:sp>
        <p:nvSpPr>
          <p:cNvPr id="27" name="R1_chip14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my dad caught</a:t>
            </a:r>
            <a:endParaRPr lang="en-US" sz="1200" dirty="0"/>
          </a:p>
        </p:txBody>
      </p:sp>
      <p:sp>
        <p:nvSpPr>
          <p:cNvPr id="28" name="gq_14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We boiled it and ate it with ___.</a:t>
            </a:r>
            <a:endParaRPr lang="en-US" sz="1200" dirty="0"/>
          </a:p>
        </p:txBody>
      </p:sp>
      <p:sp>
        <p:nvSpPr>
          <p:cNvPr id="29" name="R2_chip14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lemon and olive oil</a:t>
            </a:r>
            <a:endParaRPr lang="en-US" sz="1200" dirty="0"/>
          </a:p>
        </p:txBody>
      </p:sp>
      <p:sp>
        <p:nvSpPr>
          <p:cNvPr id="30" name="gq_14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wrote down recipes which I wanted to cook for the family in ___.</a:t>
            </a:r>
            <a:endParaRPr lang="en-US" sz="1200" dirty="0"/>
          </a:p>
        </p:txBody>
      </p:sp>
      <p:sp>
        <p:nvSpPr>
          <p:cNvPr id="31" name="R3_chip14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small blue notebook</a:t>
            </a:r>
            <a:endParaRPr lang="en-US" sz="1200" dirty="0"/>
          </a:p>
        </p:txBody>
      </p:sp>
      <p:sp>
        <p:nvSpPr>
          <p:cNvPr id="32" name="gq_14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My aunt, Thia Koula, had ___.</a:t>
            </a:r>
            <a:endParaRPr lang="en-US" sz="1200" dirty="0"/>
          </a:p>
        </p:txBody>
      </p:sp>
      <p:sp>
        <p:nvSpPr>
          <p:cNvPr id="33" name="R4_chip14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animals, a garden, olive trees and grapes</a:t>
            </a:r>
            <a:endParaRPr lang="en-US" sz="1200" dirty="0"/>
          </a:p>
        </p:txBody>
      </p:sp>
      <p:sp>
        <p:nvSpPr>
          <p:cNvPr id="34" name="gq_14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5  Occasionally, my mum used to buy me and my brother souvlaki for lunch, a sort of ___.</a:t>
            </a:r>
            <a:endParaRPr lang="en-US" sz="950" dirty="0"/>
          </a:p>
        </p:txBody>
      </p:sp>
      <p:sp>
        <p:nvSpPr>
          <p:cNvPr id="35" name="R5_chip14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Greek sandwich with pitta bread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5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what else?</a:t>
            </a:r>
            <a:endParaRPr lang="en-US" sz="2500" dirty="0"/>
          </a:p>
        </p:txBody>
      </p:sp>
      <p:pic>
        <p:nvPicPr>
          <p:cNvPr id="6" name="brP_15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5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What else does she say?</a:t>
            </a:r>
            <a:endParaRPr lang="en-US" sz="1250" dirty="0"/>
          </a:p>
        </p:txBody>
      </p:sp>
      <p:sp>
        <p:nvSpPr>
          <p:cNvPr id="8" name="insIT_1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Cos'altro dice?</a:t>
            </a:r>
            <a:endParaRPr lang="en-US" sz="950" dirty="0"/>
          </a:p>
        </p:txBody>
      </p:sp>
      <p:sp>
        <p:nvSpPr>
          <p:cNvPr id="9" name="cmd_15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5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5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1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Listening · part 1 · detail   ·   📖 SB p.8 · 5c · audio 1.8</a:t>
            </a:r>
            <a:endParaRPr lang="en-US" sz="800" dirty="0"/>
          </a:p>
        </p:txBody>
      </p:sp>
      <p:sp>
        <p:nvSpPr>
          <p:cNvPr id="14" name="ap_16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1.8  ·  pause after each photo</a:t>
            </a:r>
            <a:endParaRPr lang="en-US" sz="1100" dirty="0"/>
          </a:p>
        </p:txBody>
      </p:sp>
      <p:sp>
        <p:nvSpPr>
          <p:cNvPr id="15" name="ah_16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16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16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16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166" descr="/home/claude/lls-course/v2/cache/1a2_fisherman_daught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16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16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69" descr="/home/claude/lls-course/v2/cache/1a2_taverna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17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171"/>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172" descr="/home/claude/lls-course/v2/cache/spare_1a2_street_food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173"/>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17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17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17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177"/>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again. One more fact about each extract.</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Riascolta. Un'altra informazione per ogni frase.</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Compare with your partner.</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Confronta con il compagno.</a:t>
            </a:r>
            <a:endParaRPr lang="en-US" sz="700" dirty="0"/>
          </a:p>
        </p:txBody>
      </p:sp>
      <p:sp>
        <p:nvSpPr>
          <p:cNvPr id="33" name="lq_178"/>
          <p:cNvSpPr/>
          <p:nvPr/>
        </p:nvSpPr>
        <p:spPr>
          <a:xfrm>
            <a:off x="6035040" y="2103120"/>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fish</a:t>
            </a:r>
            <a:endParaRPr lang="en-US" sz="1100" dirty="0"/>
          </a:p>
        </p:txBody>
      </p:sp>
      <p:sp>
        <p:nvSpPr>
          <p:cNvPr id="34" name="R1_chip179"/>
          <p:cNvSpPr/>
          <p:nvPr/>
        </p:nvSpPr>
        <p:spPr>
          <a:xfrm>
            <a:off x="7315200" y="2103120"/>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Dad still goes fishing every night</a:t>
            </a:r>
            <a:endParaRPr lang="en-US" sz="1050" dirty="0"/>
          </a:p>
        </p:txBody>
      </p:sp>
      <p:sp>
        <p:nvSpPr>
          <p:cNvPr id="35" name="lq_180"/>
          <p:cNvSpPr/>
          <p:nvPr/>
        </p:nvSpPr>
        <p:spPr>
          <a:xfrm>
            <a:off x="6035040" y="2633472"/>
            <a:ext cx="1234440" cy="438912"/>
          </a:xfrm>
          <a:prstGeom prst="roundRect">
            <a:avLst>
              <a:gd name="adj" fmla="val 20833"/>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lobster</a:t>
            </a:r>
            <a:endParaRPr lang="en-US" sz="1100" dirty="0"/>
          </a:p>
        </p:txBody>
      </p:sp>
      <p:sp>
        <p:nvSpPr>
          <p:cNvPr id="36" name="R2_chip181"/>
          <p:cNvSpPr/>
          <p:nvPr/>
        </p:nvSpPr>
        <p:spPr>
          <a:xfrm>
            <a:off x="7315200" y="2633472"/>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never sold it – always for the family</a:t>
            </a:r>
            <a:endParaRPr lang="en-US" sz="950" dirty="0"/>
          </a:p>
        </p:txBody>
      </p:sp>
      <p:sp>
        <p:nvSpPr>
          <p:cNvPr id="37" name="lq_182"/>
          <p:cNvSpPr/>
          <p:nvPr/>
        </p:nvSpPr>
        <p:spPr>
          <a:xfrm>
            <a:off x="6035040" y="3163824"/>
            <a:ext cx="1234440" cy="438912"/>
          </a:xfrm>
          <a:prstGeom prst="roundRect">
            <a:avLst>
              <a:gd name="adj" fmla="val 20833"/>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notebook</a:t>
            </a:r>
            <a:endParaRPr lang="en-US" sz="1100" dirty="0"/>
          </a:p>
        </p:txBody>
      </p:sp>
      <p:sp>
        <p:nvSpPr>
          <p:cNvPr id="38" name="R3_chip183"/>
          <p:cNvSpPr/>
          <p:nvPr/>
        </p:nvSpPr>
        <p:spPr>
          <a:xfrm>
            <a:off x="7315200" y="3163824"/>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helped in the kitchen – didn't play</a:t>
            </a:r>
            <a:endParaRPr lang="en-US" sz="950" dirty="0"/>
          </a:p>
        </p:txBody>
      </p:sp>
      <p:sp>
        <p:nvSpPr>
          <p:cNvPr id="39" name="lq_184"/>
          <p:cNvSpPr/>
          <p:nvPr/>
        </p:nvSpPr>
        <p:spPr>
          <a:xfrm>
            <a:off x="6035040" y="3694176"/>
            <a:ext cx="1234440" cy="438912"/>
          </a:xfrm>
          <a:prstGeom prst="roundRect">
            <a:avLst>
              <a:gd name="adj" fmla="val 20833"/>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aunt</a:t>
            </a:r>
            <a:endParaRPr lang="en-US" sz="1100" dirty="0"/>
          </a:p>
        </p:txBody>
      </p:sp>
      <p:sp>
        <p:nvSpPr>
          <p:cNvPr id="40" name="R4_chip185"/>
          <p:cNvSpPr/>
          <p:nvPr/>
        </p:nvSpPr>
        <p:spPr>
          <a:xfrm>
            <a:off x="7315200" y="3694176"/>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only ate food she grew, found or made</a:t>
            </a:r>
            <a:endParaRPr lang="en-US" sz="950" dirty="0"/>
          </a:p>
        </p:txBody>
      </p:sp>
      <p:sp>
        <p:nvSpPr>
          <p:cNvPr id="41" name="lq_186"/>
          <p:cNvSpPr/>
          <p:nvPr/>
        </p:nvSpPr>
        <p:spPr>
          <a:xfrm>
            <a:off x="6035040" y="4224528"/>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souvlaki</a:t>
            </a:r>
            <a:endParaRPr lang="en-US" sz="1100" dirty="0"/>
          </a:p>
        </p:txBody>
      </p:sp>
      <p:sp>
        <p:nvSpPr>
          <p:cNvPr id="42" name="R5_chip187"/>
          <p:cNvSpPr/>
          <p:nvPr/>
        </p:nvSpPr>
        <p:spPr>
          <a:xfrm>
            <a:off x="7315200" y="4224528"/>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pork, tomato, red onion, thick yoghurt</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9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From psychology to chef</a:t>
            </a:r>
            <a:endParaRPr lang="en-US" sz="2400" dirty="0"/>
          </a:p>
        </p:txBody>
      </p:sp>
      <p:pic>
        <p:nvPicPr>
          <p:cNvPr id="6" name="brP_19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9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Answer 0 first, then 1–5.</a:t>
            </a:r>
            <a:endParaRPr lang="en-US" sz="1250" dirty="0"/>
          </a:p>
        </p:txBody>
      </p:sp>
      <p:sp>
        <p:nvSpPr>
          <p:cNvPr id="8" name="insIT_1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Rispondi prima alla 0, poi 1–5.</a:t>
            </a:r>
            <a:endParaRPr lang="en-US" sz="950" dirty="0"/>
          </a:p>
        </p:txBody>
      </p:sp>
      <p:sp>
        <p:nvSpPr>
          <p:cNvPr id="9" name="cmd_19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9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19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2" name="logo_1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Listening · part 2 · gist then detail   ·   📖 SB p.8 · 5d · audio 1.9</a:t>
            </a:r>
            <a:endParaRPr lang="en-US" sz="800" dirty="0"/>
          </a:p>
        </p:txBody>
      </p:sp>
      <p:sp>
        <p:nvSpPr>
          <p:cNvPr id="14" name="ap_19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1.9  ·  play twice</a:t>
            </a:r>
            <a:endParaRPr lang="en-US" sz="1100" dirty="0"/>
          </a:p>
        </p:txBody>
      </p:sp>
      <p:sp>
        <p:nvSpPr>
          <p:cNvPr id="15" name="ah_20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20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20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03" descr="/home/claude/lls-course/v2/cache/spare_1a2_menu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20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0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0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0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0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Did she always want to be a chef?</a:t>
            </a:r>
            <a:endParaRPr lang="en-US" sz="1200" dirty="0"/>
          </a:p>
        </p:txBody>
      </p:sp>
      <p:sp>
        <p:nvSpPr>
          <p:cNvPr id="26" name="R1_chip20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a psychologist</a:t>
            </a:r>
            <a:endParaRPr lang="en-US" sz="1200" dirty="0"/>
          </a:p>
        </p:txBody>
      </p:sp>
      <p:sp>
        <p:nvSpPr>
          <p:cNvPr id="27" name="gq_21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 three things did she do before London?</a:t>
            </a:r>
            <a:endParaRPr lang="en-US" sz="1200" dirty="0"/>
          </a:p>
        </p:txBody>
      </p:sp>
      <p:sp>
        <p:nvSpPr>
          <p:cNvPr id="28" name="R2_chip21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studied psychology (Kent) · travelled · family restaurant</a:t>
            </a:r>
            <a:endParaRPr lang="en-US" sz="950" dirty="0"/>
          </a:p>
        </p:txBody>
      </p:sp>
      <p:sp>
        <p:nvSpPr>
          <p:cNvPr id="29" name="gq_21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Moro: her first connection? Why go back?</a:t>
            </a:r>
            <a:endParaRPr lang="en-US" sz="1200" dirty="0"/>
          </a:p>
        </p:txBody>
      </p:sp>
      <p:sp>
        <p:nvSpPr>
          <p:cNvPr id="30" name="R3_chip21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saved money to eat there · wanted a job</a:t>
            </a:r>
            <a:endParaRPr lang="en-US" sz="1200" dirty="0"/>
          </a:p>
        </p:txBody>
      </p:sp>
      <p:sp>
        <p:nvSpPr>
          <p:cNvPr id="31" name="gq_21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happened seven years later?</a:t>
            </a:r>
            <a:endParaRPr lang="en-US" sz="1200" dirty="0"/>
          </a:p>
        </p:txBody>
      </p:sp>
      <p:sp>
        <p:nvSpPr>
          <p:cNvPr id="32" name="R4_chip21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became head chef</a:t>
            </a:r>
            <a:endParaRPr lang="en-US" sz="1200" dirty="0"/>
          </a:p>
        </p:txBody>
      </p:sp>
      <p:sp>
        <p:nvSpPr>
          <p:cNvPr id="33" name="gq_216"/>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How is Morito different from Moro?</a:t>
            </a:r>
            <a:endParaRPr lang="en-US" sz="1200" dirty="0"/>
          </a:p>
        </p:txBody>
      </p:sp>
      <p:sp>
        <p:nvSpPr>
          <p:cNvPr id="34" name="R5_chip217"/>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more Cretan dishes on the menu</a:t>
            </a:r>
            <a:endParaRPr lang="en-US" sz="1200" dirty="0"/>
          </a:p>
        </p:txBody>
      </p:sp>
      <p:sp>
        <p:nvSpPr>
          <p:cNvPr id="35" name="gq_218"/>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Crete: how often? Lunch with friends?</a:t>
            </a:r>
            <a:endParaRPr lang="en-US" sz="1200" dirty="0"/>
          </a:p>
        </p:txBody>
      </p:sp>
      <p:sp>
        <p:nvSpPr>
          <p:cNvPr id="36" name="R6_chip219"/>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4–5 times a year · share it all, order too much</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6"/>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2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about you?</a:t>
            </a:r>
            <a:endParaRPr lang="en-US" sz="2500" dirty="0"/>
          </a:p>
        </p:txBody>
      </p:sp>
      <p:pic>
        <p:nvPicPr>
          <p:cNvPr id="6" name="brP_22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2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Then choose ONE!</a:t>
            </a:r>
            <a:endParaRPr lang="en-US" sz="1250" dirty="0"/>
          </a:p>
        </p:txBody>
      </p:sp>
      <p:sp>
        <p:nvSpPr>
          <p:cNvPr id="8" name="insIT_2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e rispondi. Poi scegline UNA!</a:t>
            </a:r>
            <a:endParaRPr lang="en-US" sz="950" dirty="0"/>
          </a:p>
        </p:txBody>
      </p:sp>
      <p:sp>
        <p:nvSpPr>
          <p:cNvPr id="9" name="cmd_22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2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2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Speaking · what about you?   ·   📖 SB p.8 · 5e</a:t>
            </a:r>
            <a:endParaRPr lang="en-US" sz="800" dirty="0"/>
          </a:p>
        </p:txBody>
      </p:sp>
      <p:sp>
        <p:nvSpPr>
          <p:cNvPr id="14" name="pf_23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32" descr="/home/claude/lls-course/v2/cache/spare_1a2_cultur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3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3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3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3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When I was a child, I loved…</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My favourite was…</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Really? Me too! / Not me!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What about you?</a:t>
            </a:r>
            <a:endParaRPr lang="en-US" sz="800" dirty="0"/>
          </a:p>
        </p:txBody>
      </p:sp>
      <p:sp>
        <p:nvSpPr>
          <p:cNvPr id="20" name="R1_qb23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3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was your favourite food when you were a child?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nonna's pasta al forno – every Sunday!</a:t>
            </a:r>
            <a:endParaRPr lang="en-US" sz="1250" dirty="0"/>
          </a:p>
        </p:txBody>
      </p:sp>
      <p:sp>
        <p:nvSpPr>
          <p:cNvPr id="22" name="R2_qb23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4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kind of things did your mother or father cook? Do you still eat them?</a:t>
            </a:r>
            <a:endParaRPr lang="en-US" sz="9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My dad made grilled fish. Yes – I still love it!</a:t>
            </a:r>
            <a:endParaRPr lang="en-US" sz="950" dirty="0"/>
          </a:p>
        </p:txBody>
      </p:sp>
      <p:sp>
        <p:nvSpPr>
          <p:cNvPr id="24" name="R3_qb24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4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have a favourite restaurant? What do you like most – the food, the atmosphere, the service or the price?</a:t>
            </a:r>
            <a:endParaRPr lang="en-US" sz="9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A pizzeria in Bagheria – the price and the atmosphere!</a:t>
            </a:r>
            <a:endParaRPr lang="en-US" sz="950" dirty="0"/>
          </a:p>
        </p:txBody>
      </p:sp>
      <p:sp>
        <p:nvSpPr>
          <p:cNvPr id="26" name="R4_qb24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4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ONE: your nonna's food or a famous chef's food?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nonna's! Nobody cooks like her.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4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4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one did she say?</a:t>
            </a:r>
            <a:endParaRPr lang="en-US" sz="2500" dirty="0"/>
          </a:p>
        </p:txBody>
      </p:sp>
      <p:pic>
        <p:nvPicPr>
          <p:cNvPr id="6" name="brP_24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4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right form. Then listen.</a:t>
            </a:r>
            <a:endParaRPr lang="en-US" sz="1250" dirty="0"/>
          </a:p>
        </p:txBody>
      </p:sp>
      <p:sp>
        <p:nvSpPr>
          <p:cNvPr id="8" name="insIT_2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la forma giusta. Poi ascolta.</a:t>
            </a:r>
            <a:endParaRPr lang="en-US" sz="950" dirty="0"/>
          </a:p>
        </p:txBody>
      </p:sp>
      <p:sp>
        <p:nvSpPr>
          <p:cNvPr id="9" name="cmd_25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52"/>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5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5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2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what did she say?   ·   📖 SB p.9 · 6a, 6b · audio 1.10 (4–6 from audio scripts 1.8, 1.9)</a:t>
            </a:r>
            <a:endParaRPr lang="en-US" sz="800" dirty="0"/>
          </a:p>
        </p:txBody>
      </p:sp>
      <p:sp>
        <p:nvSpPr>
          <p:cNvPr id="15" name="ap_25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1.10  ·  sentences 1–3</a:t>
            </a:r>
            <a:endParaRPr lang="en-US" sz="1100" dirty="0"/>
          </a:p>
        </p:txBody>
      </p:sp>
      <p:sp>
        <p:nvSpPr>
          <p:cNvPr id="16" name="ah_25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25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26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61" descr="/home/claude/lls-course/v2/cache/1a2_head_chef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26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26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6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26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26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(don't need / aren't needing) anything except lemon and olive oil…</a:t>
            </a:r>
            <a:endParaRPr lang="en-US" sz="1200" dirty="0"/>
          </a:p>
        </p:txBody>
      </p:sp>
      <p:sp>
        <p:nvSpPr>
          <p:cNvPr id="27" name="R1_chip26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don't need</a:t>
            </a:r>
            <a:endParaRPr lang="en-US" sz="1200" dirty="0"/>
          </a:p>
        </p:txBody>
      </p:sp>
      <p:sp>
        <p:nvSpPr>
          <p:cNvPr id="28" name="gq_26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This week, for example, (I make / I'm making) ntakos, a Cretan salad.</a:t>
            </a:r>
            <a:endParaRPr lang="en-US" sz="1200" dirty="0"/>
          </a:p>
        </p:txBody>
      </p:sp>
      <p:sp>
        <p:nvSpPr>
          <p:cNvPr id="29" name="R2_chip26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 making</a:t>
            </a:r>
            <a:endParaRPr lang="en-US" sz="1200" dirty="0"/>
          </a:p>
        </p:txBody>
      </p:sp>
      <p:sp>
        <p:nvSpPr>
          <p:cNvPr id="30" name="gq_27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go / I'm going) to Crete maybe four or five times a year.</a:t>
            </a:r>
            <a:endParaRPr lang="en-US" sz="1200" dirty="0"/>
          </a:p>
        </p:txBody>
      </p:sp>
      <p:sp>
        <p:nvSpPr>
          <p:cNvPr id="31" name="R3_chip27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go</a:t>
            </a:r>
            <a:endParaRPr lang="en-US" sz="1200" dirty="0"/>
          </a:p>
        </p:txBody>
      </p:sp>
      <p:sp>
        <p:nvSpPr>
          <p:cNvPr id="32" name="gq_27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My dad still (goes / is going) fishing every night!</a:t>
            </a:r>
            <a:endParaRPr lang="en-US" sz="1200" dirty="0"/>
          </a:p>
        </p:txBody>
      </p:sp>
      <p:sp>
        <p:nvSpPr>
          <p:cNvPr id="33" name="R4_chip27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goes</a:t>
            </a:r>
            <a:endParaRPr lang="en-US" sz="1200" dirty="0"/>
          </a:p>
        </p:txBody>
      </p:sp>
      <p:sp>
        <p:nvSpPr>
          <p:cNvPr id="34" name="gq_27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We always (order / are ordering) too much.</a:t>
            </a:r>
            <a:endParaRPr lang="en-US" sz="1200" dirty="0"/>
          </a:p>
        </p:txBody>
      </p:sp>
      <p:sp>
        <p:nvSpPr>
          <p:cNvPr id="35" name="R5_chip27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order</a:t>
            </a:r>
            <a:endParaRPr lang="en-US" sz="1200" dirty="0"/>
          </a:p>
        </p:txBody>
      </p:sp>
      <p:sp>
        <p:nvSpPr>
          <p:cNvPr id="36" name="gq_276"/>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 people I (miss / 'm missing) when I'm in London.</a:t>
            </a:r>
            <a:endParaRPr lang="en-US" sz="1200" dirty="0"/>
          </a:p>
        </p:txBody>
      </p:sp>
      <p:sp>
        <p:nvSpPr>
          <p:cNvPr id="37" name="R6_chip277"/>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miss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79"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80"/>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Why simple? Why -ing?</a:t>
            </a:r>
            <a:endParaRPr lang="en-US" sz="2400" dirty="0"/>
          </a:p>
        </p:txBody>
      </p:sp>
      <p:pic>
        <p:nvPicPr>
          <p:cNvPr id="6" name="brP_281"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82"/>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Why this form? Match the colour.</a:t>
            </a:r>
            <a:endParaRPr lang="en-US" sz="1250" dirty="0"/>
          </a:p>
        </p:txBody>
      </p:sp>
      <p:sp>
        <p:nvSpPr>
          <p:cNvPr id="8" name="insIT_28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Perché questa forma? Abbina il colore.</a:t>
            </a:r>
            <a:endParaRPr lang="en-US" sz="950" dirty="0"/>
          </a:p>
        </p:txBody>
      </p:sp>
      <p:sp>
        <p:nvSpPr>
          <p:cNvPr id="9" name="cmd_28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28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8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why?   ·   📖 SB p.9 · 6b · audio 1.10, 1.13</a:t>
            </a:r>
            <a:endParaRPr lang="en-US" sz="800" dirty="0"/>
          </a:p>
        </p:txBody>
      </p:sp>
      <p:sp>
        <p:nvSpPr>
          <p:cNvPr id="14" name="cd_289"/>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292"/>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293"/>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habit</a:t>
            </a:r>
            <a:endParaRPr lang="en-US" sz="1050" dirty="0"/>
          </a:p>
        </p:txBody>
      </p:sp>
      <p:sp>
        <p:nvSpPr>
          <p:cNvPr id="19" name="lg_294"/>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around now</a:t>
            </a:r>
            <a:endParaRPr lang="en-US" sz="1050" dirty="0"/>
          </a:p>
        </p:txBody>
      </p:sp>
      <p:sp>
        <p:nvSpPr>
          <p:cNvPr id="20" name="lg_295"/>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no -ing verb</a:t>
            </a:r>
            <a:endParaRPr lang="en-US" sz="1050" dirty="0"/>
          </a:p>
        </p:txBody>
      </p:sp>
      <p:sp>
        <p:nvSpPr>
          <p:cNvPr id="21" name="sq_296"/>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need anything except lemon and olive oil.</a:t>
            </a:r>
            <a:endParaRPr lang="en-US" sz="1000" dirty="0"/>
          </a:p>
        </p:txBody>
      </p:sp>
      <p:sp>
        <p:nvSpPr>
          <p:cNvPr id="22" name="R1_tag297"/>
          <p:cNvSpPr/>
          <p:nvPr/>
        </p:nvSpPr>
        <p:spPr>
          <a:xfrm>
            <a:off x="7178040" y="141732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23" name="sq_298"/>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This week I'm making ntakos.</a:t>
            </a:r>
            <a:endParaRPr lang="en-US" sz="1200" dirty="0"/>
          </a:p>
        </p:txBody>
      </p:sp>
      <p:sp>
        <p:nvSpPr>
          <p:cNvPr id="24" name="R2_tag299"/>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around now</a:t>
            </a:r>
            <a:endParaRPr lang="en-US" sz="1150" dirty="0"/>
          </a:p>
        </p:txBody>
      </p:sp>
      <p:sp>
        <p:nvSpPr>
          <p:cNvPr id="25" name="sq_300"/>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go to Crete four or five times a year.</a:t>
            </a:r>
            <a:endParaRPr lang="en-US" sz="1200" dirty="0"/>
          </a:p>
        </p:txBody>
      </p:sp>
      <p:sp>
        <p:nvSpPr>
          <p:cNvPr id="26" name="R3_tag301"/>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27" name="sq_302"/>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My dad still goes fishing every night.</a:t>
            </a:r>
            <a:endParaRPr lang="en-US" sz="1200" dirty="0"/>
          </a:p>
        </p:txBody>
      </p:sp>
      <p:sp>
        <p:nvSpPr>
          <p:cNvPr id="28" name="R4_tag303"/>
          <p:cNvSpPr/>
          <p:nvPr/>
        </p:nvSpPr>
        <p:spPr>
          <a:xfrm>
            <a:off x="7178040" y="265176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29" name="sq_304"/>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We always order too much.</a:t>
            </a:r>
            <a:endParaRPr lang="en-US" sz="1200" dirty="0"/>
          </a:p>
        </p:txBody>
      </p:sp>
      <p:sp>
        <p:nvSpPr>
          <p:cNvPr id="30" name="R5_tag305"/>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31" name="sq_306"/>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people I miss when I'm in London.</a:t>
            </a:r>
            <a:endParaRPr lang="en-US" sz="1200" dirty="0"/>
          </a:p>
        </p:txBody>
      </p:sp>
      <p:sp>
        <p:nvSpPr>
          <p:cNvPr id="32" name="R6_tag307"/>
          <p:cNvSpPr/>
          <p:nvPr/>
        </p:nvSpPr>
        <p:spPr>
          <a:xfrm>
            <a:off x="7178040" y="347472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33" name="sq_308"/>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are you cooking?</a:t>
            </a:r>
            <a:endParaRPr lang="en-US" sz="1200" dirty="0"/>
          </a:p>
        </p:txBody>
      </p:sp>
      <p:sp>
        <p:nvSpPr>
          <p:cNvPr id="34" name="R7_tag309"/>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around now</a:t>
            </a:r>
            <a:endParaRPr lang="en-US" sz="1150" dirty="0"/>
          </a:p>
        </p:txBody>
      </p:sp>
      <p:sp>
        <p:nvSpPr>
          <p:cNvPr id="35" name="sq_310"/>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It smells delicious!</a:t>
            </a:r>
            <a:endParaRPr lang="en-US" sz="1200" dirty="0"/>
          </a:p>
        </p:txBody>
      </p:sp>
      <p:sp>
        <p:nvSpPr>
          <p:cNvPr id="36" name="R8_tag311"/>
          <p:cNvSpPr/>
          <p:nvPr/>
        </p:nvSpPr>
        <p:spPr>
          <a:xfrm>
            <a:off x="7178040" y="42976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37" name="pf_312"/>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313" descr="/home/claude/lls-course/v2/cache/spare_1a2_cooking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31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Simple or continuous?</a:t>
            </a:r>
            <a:endParaRPr lang="en-US" sz="2500" dirty="0"/>
          </a:p>
        </p:txBody>
      </p:sp>
      <p:pic>
        <p:nvPicPr>
          <p:cNvPr id="6" name="brP_31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1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examples. Then click!</a:t>
            </a:r>
            <a:endParaRPr lang="en-US" sz="1250" dirty="0"/>
          </a:p>
        </p:txBody>
      </p:sp>
      <p:sp>
        <p:nvSpPr>
          <p:cNvPr id="8" name="insIT_3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gli esempi. Poi clicca!</a:t>
            </a:r>
            <a:endParaRPr lang="en-US" sz="950" dirty="0"/>
          </a:p>
        </p:txBody>
      </p:sp>
      <p:sp>
        <p:nvSpPr>
          <p:cNvPr id="9" name="cmd_32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32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2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3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the rule   ·   📖 Grammar Bank 1A p.132 · audio 1.11, 1.12, 1.13</a:t>
            </a:r>
            <a:endParaRPr lang="en-US" sz="800" dirty="0"/>
          </a:p>
        </p:txBody>
      </p:sp>
      <p:sp>
        <p:nvSpPr>
          <p:cNvPr id="14" name="ah_325"/>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1.11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6" name="ah_32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8" name="cd_327"/>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328"/>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simple</a:t>
            </a:r>
            <a:endParaRPr lang="en-US" sz="1250" dirty="0"/>
          </a:p>
        </p:txBody>
      </p:sp>
      <p:sp>
        <p:nvSpPr>
          <p:cNvPr id="20" name="pf_329"/>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30" descr="/home/claude/lls-course/v2/cache/1a2_dad_cooks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331"/>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habits · always true</a:t>
            </a:r>
            <a:endParaRPr lang="en-US" sz="1050" dirty="0"/>
          </a:p>
        </p:txBody>
      </p:sp>
      <p:sp>
        <p:nvSpPr>
          <p:cNvPr id="23" name="R1_rx332"/>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works in a restaurant.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only eat out about once a month.</a:t>
            </a:r>
            <a:endParaRPr lang="en-US" sz="1050" dirty="0"/>
          </a:p>
        </p:txBody>
      </p:sp>
      <p:sp>
        <p:nvSpPr>
          <p:cNvPr id="24" name="R1_ri333"/>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abitudini, cose sempre vere</a:t>
            </a:r>
            <a:endParaRPr lang="en-US" sz="900" dirty="0"/>
          </a:p>
        </p:txBody>
      </p:sp>
      <p:sp>
        <p:nvSpPr>
          <p:cNvPr id="25" name="cd_334"/>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335"/>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continuous</a:t>
            </a:r>
            <a:endParaRPr lang="en-US" sz="1250" dirty="0"/>
          </a:p>
        </p:txBody>
      </p:sp>
      <p:sp>
        <p:nvSpPr>
          <p:cNvPr id="27" name="pf_336"/>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337" descr="/home/claude/lls-course/v2/cache/1a2_cooking_now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338"/>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now · around now · temporary</a:t>
            </a:r>
            <a:endParaRPr lang="en-US" sz="1050" dirty="0"/>
          </a:p>
        </p:txBody>
      </p:sp>
      <p:sp>
        <p:nvSpPr>
          <p:cNvPr id="30" name="R2_rx339"/>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phone's ringing. Can you answer it?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House prices are going up at the moment.</a:t>
            </a:r>
            <a:endParaRPr lang="en-US" sz="1050" dirty="0"/>
          </a:p>
        </p:txBody>
      </p:sp>
      <p:sp>
        <p:nvSpPr>
          <p:cNvPr id="31" name="R2_ri340"/>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adesso, in questo periodo</a:t>
            </a:r>
            <a:endParaRPr lang="en-US" sz="900" dirty="0"/>
          </a:p>
        </p:txBody>
      </p:sp>
      <p:sp>
        <p:nvSpPr>
          <p:cNvPr id="32" name="cd_341"/>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342"/>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non-action verbs</a:t>
            </a:r>
            <a:endParaRPr lang="en-US" sz="1250" dirty="0"/>
          </a:p>
        </p:txBody>
      </p:sp>
      <p:sp>
        <p:nvSpPr>
          <p:cNvPr id="34" name="pf_343"/>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344" descr="/home/claude/lls-course/v2/cache/1a2_tasting_soup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345"/>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feelings, thoughts, senses: no -ing!</a:t>
            </a:r>
            <a:endParaRPr lang="en-US" sz="1050" dirty="0"/>
          </a:p>
        </p:txBody>
      </p:sp>
      <p:sp>
        <p:nvSpPr>
          <p:cNvPr id="37" name="R3_rx346"/>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It smells delicious.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Great! I love pasta.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But I need them now!</a:t>
            </a:r>
            <a:endParaRPr lang="en-US" sz="1050" dirty="0"/>
          </a:p>
        </p:txBody>
      </p:sp>
      <p:sp>
        <p:nvSpPr>
          <p:cNvPr id="38" name="R3_ri347"/>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verbi di stato: mai -ing</a:t>
            </a:r>
            <a:endParaRPr lang="en-US" sz="900" dirty="0"/>
          </a:p>
        </p:txBody>
      </p:sp>
      <p:sp>
        <p:nvSpPr>
          <p:cNvPr id="39" name="cd_348"/>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349"/>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have / think</a:t>
            </a:r>
            <a:endParaRPr lang="en-US" sz="1250" dirty="0"/>
          </a:p>
        </p:txBody>
      </p:sp>
      <p:sp>
        <p:nvSpPr>
          <p:cNvPr id="41" name="pf_350"/>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351" descr="/home/claude/lls-course/v2/cache/1a2_cover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352"/>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both – different meaning!</a:t>
            </a:r>
            <a:endParaRPr lang="en-US" sz="1050" dirty="0"/>
          </a:p>
        </p:txBody>
      </p:sp>
      <p:sp>
        <p:nvSpPr>
          <p:cNvPr id="44" name="R4_rx353"/>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big kitchen. / I'm having lunch.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think it's good. / What are you thinking about?</a:t>
            </a:r>
            <a:endParaRPr lang="en-US" sz="1050" dirty="0"/>
          </a:p>
        </p:txBody>
      </p:sp>
      <p:sp>
        <p:nvSpPr>
          <p:cNvPr id="45" name="R4_ri354"/>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Semibold" pitchFamily="34" charset="0"/>
                <a:ea typeface="Segoe UI Semibold" pitchFamily="34" charset="-122"/>
                <a:cs typeface="Segoe UI Semibold" pitchFamily="34" charset="-120"/>
              </a:rPr>
              <a:t>possedere / mangiare · opinione / riflettere</a:t>
            </a:r>
            <a:endParaRPr lang="en-US" sz="750" dirty="0"/>
          </a:p>
        </p:txBody>
      </p:sp>
      <p:sp>
        <p:nvSpPr>
          <p:cNvPr id="46" name="R5_wc355"/>
          <p:cNvSpPr/>
          <p:nvPr/>
        </p:nvSpPr>
        <p:spPr>
          <a:xfrm>
            <a:off x="320040" y="4544568"/>
            <a:ext cx="3172968"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356"/>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 I'm needing a new phone → ✓ I need   ✗ This soup is tasting good → ✓ It tastes good   ✗ What do you do? (now) → ✓ What are you doing?</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5"/>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5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 -ing verbs in Italian</a:t>
            </a:r>
            <a:endParaRPr lang="en-US" sz="2500" dirty="0"/>
          </a:p>
        </p:txBody>
      </p:sp>
      <p:pic>
        <p:nvPicPr>
          <p:cNvPr id="6" name="brP_36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6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36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6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6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3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non-action verbs in Italian</a:t>
            </a:r>
            <a:endParaRPr lang="en-US" sz="800" dirty="0"/>
          </a:p>
        </p:txBody>
      </p:sp>
      <p:sp>
        <p:nvSpPr>
          <p:cNvPr id="14" name="cd_36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6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7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love</a:t>
            </a:r>
            <a:endParaRPr lang="en-US" sz="1200" dirty="0"/>
          </a:p>
        </p:txBody>
      </p:sp>
      <p:sp>
        <p:nvSpPr>
          <p:cNvPr id="17" name="R1_it37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amare, adorare</a:t>
            </a:r>
            <a:endParaRPr lang="en-US" sz="1000" dirty="0"/>
          </a:p>
        </p:txBody>
      </p:sp>
      <p:sp>
        <p:nvSpPr>
          <p:cNvPr id="18" name="cd_37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7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7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like</a:t>
            </a:r>
            <a:endParaRPr lang="en-US" sz="1200" dirty="0"/>
          </a:p>
        </p:txBody>
      </p:sp>
      <p:sp>
        <p:nvSpPr>
          <p:cNvPr id="21" name="R2_it37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piacere</a:t>
            </a:r>
            <a:endParaRPr lang="en-US" sz="1000" dirty="0"/>
          </a:p>
        </p:txBody>
      </p:sp>
      <p:sp>
        <p:nvSpPr>
          <p:cNvPr id="22" name="cd_37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7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7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hate</a:t>
            </a:r>
            <a:endParaRPr lang="en-US" sz="1200" dirty="0"/>
          </a:p>
        </p:txBody>
      </p:sp>
      <p:sp>
        <p:nvSpPr>
          <p:cNvPr id="25" name="R3_it37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odiare</a:t>
            </a:r>
            <a:endParaRPr lang="en-US" sz="1000" dirty="0"/>
          </a:p>
        </p:txBody>
      </p:sp>
      <p:sp>
        <p:nvSpPr>
          <p:cNvPr id="26" name="cd_38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8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8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want</a:t>
            </a:r>
            <a:endParaRPr lang="en-US" sz="1200" dirty="0"/>
          </a:p>
        </p:txBody>
      </p:sp>
      <p:sp>
        <p:nvSpPr>
          <p:cNvPr id="29" name="R4_it38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volere</a:t>
            </a:r>
            <a:endParaRPr lang="en-US" sz="1000" dirty="0"/>
          </a:p>
        </p:txBody>
      </p:sp>
      <p:sp>
        <p:nvSpPr>
          <p:cNvPr id="30" name="cd_38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8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8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need</a:t>
            </a:r>
            <a:endParaRPr lang="en-US" sz="1200" dirty="0"/>
          </a:p>
        </p:txBody>
      </p:sp>
      <p:sp>
        <p:nvSpPr>
          <p:cNvPr id="33" name="R5_it38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 bisogno di</a:t>
            </a:r>
            <a:endParaRPr lang="en-US" sz="1000" dirty="0"/>
          </a:p>
        </p:txBody>
      </p:sp>
      <p:sp>
        <p:nvSpPr>
          <p:cNvPr id="34" name="cd_38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8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9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know</a:t>
            </a:r>
            <a:endParaRPr lang="en-US" sz="1200" dirty="0"/>
          </a:p>
        </p:txBody>
      </p:sp>
      <p:sp>
        <p:nvSpPr>
          <p:cNvPr id="37" name="R6_it39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sapere, conoscere</a:t>
            </a:r>
            <a:endParaRPr lang="en-US" sz="1000" dirty="0"/>
          </a:p>
        </p:txBody>
      </p:sp>
      <p:sp>
        <p:nvSpPr>
          <p:cNvPr id="38" name="cd_39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9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9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1" name="R7_it39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ricordare</a:t>
            </a:r>
            <a:endParaRPr lang="en-US" sz="1000" dirty="0"/>
          </a:p>
        </p:txBody>
      </p:sp>
      <p:sp>
        <p:nvSpPr>
          <p:cNvPr id="42" name="cd_39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9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9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understand</a:t>
            </a:r>
            <a:endParaRPr lang="en-US" sz="1200" dirty="0"/>
          </a:p>
        </p:txBody>
      </p:sp>
      <p:sp>
        <p:nvSpPr>
          <p:cNvPr id="45" name="R8_it39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capire</a:t>
            </a:r>
            <a:endParaRPr lang="en-US" sz="1000" dirty="0"/>
          </a:p>
        </p:txBody>
      </p:sp>
      <p:sp>
        <p:nvSpPr>
          <p:cNvPr id="46" name="cd_40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40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40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prefer</a:t>
            </a:r>
            <a:endParaRPr lang="en-US" sz="1200" dirty="0"/>
          </a:p>
        </p:txBody>
      </p:sp>
      <p:sp>
        <p:nvSpPr>
          <p:cNvPr id="49" name="R9_it40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preferire</a:t>
            </a:r>
            <a:endParaRPr lang="en-US" sz="1000" dirty="0"/>
          </a:p>
        </p:txBody>
      </p:sp>
      <p:sp>
        <p:nvSpPr>
          <p:cNvPr id="50" name="cd_40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40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40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miss</a:t>
            </a:r>
            <a:endParaRPr lang="en-US" sz="1200" dirty="0"/>
          </a:p>
        </p:txBody>
      </p:sp>
      <p:sp>
        <p:nvSpPr>
          <p:cNvPr id="53" name="R10_it40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sentire la mancanza</a:t>
            </a:r>
            <a:endParaRPr lang="en-US" sz="1000" dirty="0"/>
          </a:p>
        </p:txBody>
      </p:sp>
      <p:sp>
        <p:nvSpPr>
          <p:cNvPr id="54" name="cd_40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40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41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smell</a:t>
            </a:r>
            <a:endParaRPr lang="en-US" sz="1200" dirty="0"/>
          </a:p>
        </p:txBody>
      </p:sp>
      <p:sp>
        <p:nvSpPr>
          <p:cNvPr id="57" name="R11_it41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avere odore, profumare</a:t>
            </a:r>
            <a:endParaRPr lang="en-US" sz="850" dirty="0"/>
          </a:p>
        </p:txBody>
      </p:sp>
      <p:sp>
        <p:nvSpPr>
          <p:cNvPr id="58" name="cd_41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41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41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taste</a:t>
            </a:r>
            <a:endParaRPr lang="en-US" sz="1200" dirty="0"/>
          </a:p>
        </p:txBody>
      </p:sp>
      <p:sp>
        <p:nvSpPr>
          <p:cNvPr id="61" name="R12_it41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avere sapore</a:t>
            </a:r>
            <a:endParaRPr lang="en-US" sz="1000" dirty="0"/>
          </a:p>
        </p:txBody>
      </p:sp>
      <p:sp>
        <p:nvSpPr>
          <p:cNvPr id="62" name="R13_wc416"/>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41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BUT: enjoy = action → Are you enjoying your dinner? ✓   ·   look (= seem): That looks delicious.  /  look at = action: We're looking at the menu. ✓</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8"/>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2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Nino's terrible dessert</a:t>
            </a:r>
            <a:endParaRPr lang="en-US" sz="2500" dirty="0"/>
          </a:p>
        </p:txBody>
      </p:sp>
      <p:pic>
        <p:nvPicPr>
          <p:cNvPr id="6" name="brP_421"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22"/>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25"/>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2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2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Speaking · class story (TPRS)</a:t>
            </a:r>
            <a:endParaRPr lang="en-US" sz="800" dirty="0"/>
          </a:p>
        </p:txBody>
      </p:sp>
      <p:sp>
        <p:nvSpPr>
          <p:cNvPr id="15" name="cd_430"/>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3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33"/>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usually cooks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cucina di solito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is making (this week)</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sta preparando (in questi giorni)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tastes / smells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ha sapore / ha odore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needs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ha bisogno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is having lunch</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sta pranzando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knows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sa, conosce</a:t>
            </a:r>
            <a:endParaRPr lang="en-US" sz="1000" dirty="0"/>
          </a:p>
        </p:txBody>
      </p:sp>
      <p:sp>
        <p:nvSpPr>
          <p:cNvPr id="19" name="R1_sb434"/>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35"/>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This is Nino. He's a chef in Bagheria. 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usually cooks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fish.</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Nino usually cook fish or pizza? · Where does he work?</a:t>
            </a:r>
            <a:endParaRPr lang="en-US" sz="1250" dirty="0"/>
          </a:p>
        </p:txBody>
      </p:sp>
      <p:sp>
        <p:nvSpPr>
          <p:cNvPr id="21" name="R2_sb436"/>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37"/>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But this week he</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 making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a new dessert for a big competition.</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Is he making a dessert or a salad? · Why? (you decide!)</a:t>
            </a:r>
            <a:endParaRPr lang="en-US" sz="1100" dirty="0"/>
          </a:p>
        </p:txBody>
      </p:sp>
      <p:sp>
        <p:nvSpPr>
          <p:cNvPr id="23" name="R3_sb438"/>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39"/>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tastes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it. Oh no! It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tastes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terrible – like fish!</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it taste good or terrible? · What does it taste like?</a:t>
            </a:r>
            <a:endParaRPr lang="en-US" sz="1250" dirty="0"/>
          </a:p>
        </p:txBody>
      </p:sp>
      <p:sp>
        <p:nvSpPr>
          <p:cNvPr id="25" name="R4_sb440"/>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41"/>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needs</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help, so he phones his nonna. She</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's having lunch</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Who does he phone? · Is nonna having lunch or sleeping?</a:t>
            </a:r>
            <a:endParaRPr lang="en-US" sz="1200" dirty="0"/>
          </a:p>
        </p:txBody>
      </p:sp>
      <p:sp>
        <p:nvSpPr>
          <p:cNvPr id="27" name="R5_sb442"/>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43"/>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knows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secret: 'You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don't need</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fish, you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need</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pistachios!'</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Does Nino need fish? · What does he need?</a:t>
            </a:r>
            <a:endParaRPr lang="en-US" sz="1050" dirty="0"/>
          </a:p>
        </p:txBody>
      </p:sp>
      <p:sp>
        <p:nvSpPr>
          <p:cNvPr id="29" name="R6_sb444"/>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45"/>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Now the dessert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smells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amazing, and Nino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is winning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competition!</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Does it smell good now? · And you – what are you learning to do these days?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4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Grammar Bank practice</a:t>
            </a:r>
            <a:endParaRPr lang="en-US" sz="2400" dirty="0"/>
          </a:p>
        </p:txBody>
      </p:sp>
      <p:pic>
        <p:nvPicPr>
          <p:cNvPr id="6" name="brP_44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5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the verb. Then click!</a:t>
            </a:r>
            <a:endParaRPr lang="en-US" sz="1250" dirty="0"/>
          </a:p>
        </p:txBody>
      </p:sp>
      <p:sp>
        <p:nvSpPr>
          <p:cNvPr id="8" name="insIT_45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con il verbo. Poi clicca!</a:t>
            </a:r>
            <a:endParaRPr lang="en-US" sz="950" dirty="0"/>
          </a:p>
        </p:txBody>
      </p:sp>
      <p:sp>
        <p:nvSpPr>
          <p:cNvPr id="9" name="cmd_45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453"/>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45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2" name="tag_45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TPRS · reading</a:t>
            </a:r>
            <a:endParaRPr lang="en-US" sz="800" dirty="0"/>
          </a:p>
        </p:txBody>
      </p:sp>
      <p:pic>
        <p:nvPicPr>
          <p:cNvPr id="13" name="logo_4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controlled practice   ·   📖 Grammar Bank 1A p.132 · b 1–5 (6–10 = homework)</a:t>
            </a:r>
            <a:endParaRPr lang="en-US" sz="800" dirty="0"/>
          </a:p>
        </p:txBody>
      </p:sp>
      <p:sp>
        <p:nvSpPr>
          <p:cNvPr id="15" name="cd_45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45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Simple or continuous?</a:t>
            </a:r>
            <a:endParaRPr lang="en-US" sz="1700" dirty="0"/>
          </a:p>
        </p:txBody>
      </p:sp>
      <p:sp>
        <p:nvSpPr>
          <p:cNvPr id="17" name="ln_46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I have high cholesterol, so I never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fried food. (eat)</a:t>
            </a:r>
            <a:endParaRPr lang="en-US" sz="1300" dirty="0"/>
          </a:p>
        </p:txBody>
      </p:sp>
      <p:sp>
        <p:nvSpPr>
          <p:cNvPr id="18" name="R1_lnA461"/>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I have high cholesterol, so I never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eat</a:t>
            </a:r>
            <a:pPr indent="0" marL="0">
              <a:buNone/>
            </a:pPr>
            <a:r>
              <a:rPr lang="en-US" sz="1300" dirty="0">
                <a:solidFill>
                  <a:srgbClr val="1B2559"/>
                </a:solidFill>
                <a:latin typeface="Georgia" pitchFamily="34" charset="0"/>
                <a:ea typeface="Georgia" pitchFamily="34" charset="-122"/>
                <a:cs typeface="Georgia" pitchFamily="34" charset="-120"/>
              </a:rPr>
              <a:t> fried food. (eat)</a:t>
            </a:r>
            <a:endParaRPr lang="en-US" sz="1300" dirty="0"/>
          </a:p>
        </p:txBody>
      </p:sp>
      <p:sp>
        <p:nvSpPr>
          <p:cNvPr id="19" name="ln_462"/>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any vitamins at the moment? (you / take)</a:t>
            </a:r>
            <a:endParaRPr lang="en-US" sz="1300" dirty="0"/>
          </a:p>
        </p:txBody>
      </p:sp>
      <p:sp>
        <p:nvSpPr>
          <p:cNvPr id="20" name="R2_lnA463"/>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Are you taking</a:t>
            </a:r>
            <a:pPr indent="0" marL="0">
              <a:buNone/>
            </a:pPr>
            <a:r>
              <a:rPr lang="en-US" sz="1300" dirty="0">
                <a:solidFill>
                  <a:srgbClr val="1B2559"/>
                </a:solidFill>
                <a:latin typeface="Georgia" pitchFamily="34" charset="0"/>
                <a:ea typeface="Georgia" pitchFamily="34" charset="-122"/>
                <a:cs typeface="Georgia" pitchFamily="34" charset="-120"/>
              </a:rPr>
              <a:t> any vitamins at the moment? (you / take)</a:t>
            </a:r>
            <a:endParaRPr lang="en-US" sz="1300" dirty="0"/>
          </a:p>
        </p:txBody>
      </p:sp>
      <p:sp>
        <p:nvSpPr>
          <p:cNvPr id="21" name="ln_464"/>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Don't eat the spinach if you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it. (not like)</a:t>
            </a:r>
            <a:endParaRPr lang="en-US" sz="1300" dirty="0"/>
          </a:p>
        </p:txBody>
      </p:sp>
      <p:sp>
        <p:nvSpPr>
          <p:cNvPr id="22" name="R3_lnA465"/>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Don't eat the spinach if you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don't like</a:t>
            </a:r>
            <a:pPr indent="0" marL="0">
              <a:buNone/>
            </a:pPr>
            <a:r>
              <a:rPr lang="en-US" sz="1300" dirty="0">
                <a:solidFill>
                  <a:srgbClr val="1B2559"/>
                </a:solidFill>
                <a:latin typeface="Georgia" pitchFamily="34" charset="0"/>
                <a:ea typeface="Georgia" pitchFamily="34" charset="-122"/>
                <a:cs typeface="Georgia" pitchFamily="34" charset="-120"/>
              </a:rPr>
              <a:t> it. (not like)</a:t>
            </a:r>
            <a:endParaRPr lang="en-US" sz="1300" dirty="0"/>
          </a:p>
        </p:txBody>
      </p:sp>
      <p:sp>
        <p:nvSpPr>
          <p:cNvPr id="23" name="ln_466"/>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how to cook fish? (your boyfriend / know)</a:t>
            </a:r>
            <a:endParaRPr lang="en-US" sz="1300" dirty="0"/>
          </a:p>
        </p:txBody>
      </p:sp>
      <p:sp>
        <p:nvSpPr>
          <p:cNvPr id="24" name="R4_lnA467"/>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Does your boyfriend know</a:t>
            </a:r>
            <a:pPr indent="0" marL="0">
              <a:buNone/>
            </a:pPr>
            <a:r>
              <a:rPr lang="en-US" sz="1300" dirty="0">
                <a:solidFill>
                  <a:srgbClr val="1B2559"/>
                </a:solidFill>
                <a:latin typeface="Georgia" pitchFamily="34" charset="0"/>
                <a:ea typeface="Georgia" pitchFamily="34" charset="-122"/>
                <a:cs typeface="Georgia" pitchFamily="34" charset="-120"/>
              </a:rPr>
              <a:t> how to cook fish? (your boyfriend / know)</a:t>
            </a:r>
            <a:endParaRPr lang="en-US" sz="1300" dirty="0"/>
          </a:p>
        </p:txBody>
      </p:sp>
      <p:sp>
        <p:nvSpPr>
          <p:cNvPr id="25" name="ln_468"/>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We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takeaway pizzas once a week. (order)</a:t>
            </a:r>
            <a:endParaRPr lang="en-US" sz="1300" dirty="0"/>
          </a:p>
        </p:txBody>
      </p:sp>
      <p:sp>
        <p:nvSpPr>
          <p:cNvPr id="26" name="R5_lnA469"/>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We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order</a:t>
            </a:r>
            <a:pPr indent="0" marL="0">
              <a:buNone/>
            </a:pPr>
            <a:r>
              <a:rPr lang="en-US" sz="1300" dirty="0">
                <a:solidFill>
                  <a:srgbClr val="1B2559"/>
                </a:solidFill>
                <a:latin typeface="Georgia" pitchFamily="34" charset="0"/>
                <a:ea typeface="Georgia" pitchFamily="34" charset="-122"/>
                <a:cs typeface="Georgia" pitchFamily="34" charset="-120"/>
              </a:rPr>
              <a:t> takeaway pizzas once a week. (order)</a:t>
            </a:r>
            <a:endParaRPr lang="en-US" sz="1300" dirty="0"/>
          </a:p>
        </p:txBody>
      </p:sp>
      <p:sp>
        <p:nvSpPr>
          <p:cNvPr id="27" name="pf_470"/>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471" descr="/home/claude/lls-course/v2/cache/spare_1a2_food_preference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9" name="cd_47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47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47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47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never, once a week → simple</a:t>
            </a:r>
            <a:endParaRPr lang="en-US" sz="750" dirty="0"/>
          </a:p>
          <a:p>
            <a:pPr marL="152400" indent="-152400">
              <a:spcBef>
                <a:spcPts val="500"/>
              </a:spcBef>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at the moment → -ing (if it's an action!)</a:t>
            </a:r>
            <a:endParaRPr lang="en-US" sz="7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7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Right or wrong?</a:t>
            </a:r>
            <a:endParaRPr lang="en-US" sz="2500" dirty="0"/>
          </a:p>
        </p:txBody>
      </p:sp>
      <p:pic>
        <p:nvPicPr>
          <p:cNvPr id="6" name="brP_47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8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Fix the wrong ones!</a:t>
            </a:r>
            <a:endParaRPr lang="en-US" sz="1250" dirty="0"/>
          </a:p>
        </p:txBody>
      </p:sp>
      <p:sp>
        <p:nvSpPr>
          <p:cNvPr id="8" name="insIT_4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Giusto o sbagliato? Correggi gli errori!</a:t>
            </a:r>
            <a:endParaRPr lang="en-US" sz="950" dirty="0"/>
          </a:p>
        </p:txBody>
      </p:sp>
      <p:sp>
        <p:nvSpPr>
          <p:cNvPr id="9" name="cmd_48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8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1" name="meta_48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48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4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game</a:t>
            </a:r>
            <a:endParaRPr lang="en-US" sz="800" dirty="0"/>
          </a:p>
        </p:txBody>
      </p:sp>
      <p:sp>
        <p:nvSpPr>
          <p:cNvPr id="15" name="cd_48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8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9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49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Read the sentence.</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Leggi la frase.</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Teams: right or wrong? Fix it!</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Squadre: giusta o sbagliata? Correggila!</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Right answer = 1 point. Correct fix = +1.</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Risposta giusta = 1 punto. Correzione giusta = +1.</a:t>
            </a:r>
            <a:endParaRPr lang="en-US" sz="950" dirty="0"/>
          </a:p>
        </p:txBody>
      </p:sp>
      <p:sp>
        <p:nvSpPr>
          <p:cNvPr id="19" name="st_492"/>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49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9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needing a new phone.</a:t>
            </a:r>
            <a:endParaRPr lang="en-US" sz="1100" dirty="0"/>
          </a:p>
        </p:txBody>
      </p:sp>
      <p:sp>
        <p:nvSpPr>
          <p:cNvPr id="22" name="R1_chip49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I need a new phone. (need: no -ing)</a:t>
            </a:r>
            <a:endParaRPr lang="en-US" sz="1100" dirty="0"/>
          </a:p>
        </p:txBody>
      </p:sp>
      <p:sp>
        <p:nvSpPr>
          <p:cNvPr id="23" name="bd_49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9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dad cooks every Sunday.</a:t>
            </a:r>
            <a:endParaRPr lang="en-US" sz="1100" dirty="0"/>
          </a:p>
        </p:txBody>
      </p:sp>
      <p:sp>
        <p:nvSpPr>
          <p:cNvPr id="25" name="R2_chip49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 (habit)</a:t>
            </a:r>
            <a:endParaRPr lang="en-US" sz="1100" dirty="0"/>
          </a:p>
        </p:txBody>
      </p:sp>
      <p:sp>
        <p:nvSpPr>
          <p:cNvPr id="26" name="bd_49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0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Marco? – He has lunch.</a:t>
            </a:r>
            <a:endParaRPr lang="en-US" sz="1100" dirty="0"/>
          </a:p>
        </p:txBody>
      </p:sp>
      <p:sp>
        <p:nvSpPr>
          <p:cNvPr id="28" name="R3_chip50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He's having lunch. (now)</a:t>
            </a:r>
            <a:endParaRPr lang="en-US" sz="1100" dirty="0"/>
          </a:p>
        </p:txBody>
      </p:sp>
      <p:sp>
        <p:nvSpPr>
          <p:cNvPr id="29" name="bd_50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0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pizza is tasting amazing!</a:t>
            </a:r>
            <a:endParaRPr lang="en-US" sz="1100" dirty="0"/>
          </a:p>
        </p:txBody>
      </p:sp>
      <p:sp>
        <p:nvSpPr>
          <p:cNvPr id="31" name="R4_chip50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This pizza tastes amazing!</a:t>
            </a:r>
            <a:endParaRPr lang="en-US" sz="1100" dirty="0"/>
          </a:p>
        </p:txBody>
      </p:sp>
      <p:sp>
        <p:nvSpPr>
          <p:cNvPr id="32" name="bd_50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0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enjoying the lesson?</a:t>
            </a:r>
            <a:endParaRPr lang="en-US" sz="1100" dirty="0"/>
          </a:p>
        </p:txBody>
      </p:sp>
      <p:sp>
        <p:nvSpPr>
          <p:cNvPr id="34" name="R5_chip50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 (enjoy = action)</a:t>
            </a:r>
            <a:endParaRPr lang="en-US" sz="1100" dirty="0"/>
          </a:p>
        </p:txBody>
      </p:sp>
      <p:sp>
        <p:nvSpPr>
          <p:cNvPr id="35" name="bd_50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0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Shh! What do you cook? It smells great!</a:t>
            </a:r>
            <a:endParaRPr lang="en-US" sz="1100" dirty="0"/>
          </a:p>
        </p:txBody>
      </p:sp>
      <p:sp>
        <p:nvSpPr>
          <p:cNvPr id="37" name="R6_chip51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What are you cooking?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1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6" name="brP_51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1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Fastest team wins!</a:t>
            </a:r>
            <a:endParaRPr lang="en-US" sz="1250" dirty="0"/>
          </a:p>
        </p:txBody>
      </p:sp>
      <p:sp>
        <p:nvSpPr>
          <p:cNvPr id="8" name="insIT_5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Forma la domanda. Vince la squadra più veloce!</a:t>
            </a:r>
            <a:endParaRPr lang="en-US" sz="950" dirty="0"/>
          </a:p>
        </p:txBody>
      </p:sp>
      <p:sp>
        <p:nvSpPr>
          <p:cNvPr id="9" name="cmd_51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18"/>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51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2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game · questions   ·   📖 SB p.9 · 6d</a:t>
            </a:r>
            <a:endParaRPr lang="en-US" sz="800" dirty="0"/>
          </a:p>
        </p:txBody>
      </p:sp>
      <p:sp>
        <p:nvSpPr>
          <p:cNvPr id="15" name="cd_52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2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2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2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Semibold" pitchFamily="34" charset="0"/>
                <a:ea typeface="Segoe UI Semibold" pitchFamily="34" charset="-122"/>
                <a:cs typeface="Segoe UI Semibold" pitchFamily="34" charset="-120"/>
              </a:rPr>
              <a:t>Read the prompt.</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Leggi lo spunto.</a:t>
            </a:r>
            <a:endParaRPr lang="en-US" sz="1150" dirty="0"/>
          </a:p>
          <a:p>
            <a:pPr marL="190500" indent="-190500">
              <a:spcBef>
                <a:spcPts val="500"/>
              </a:spcBef>
              <a:spcAft>
                <a:spcPts val="200"/>
              </a:spcAft>
              <a:buSzPct val="100000"/>
              <a:buChar char="2"/>
            </a:pPr>
            <a:r>
              <a:rPr lang="en-US" sz="1150" dirty="0">
                <a:solidFill>
                  <a:srgbClr val="1B2559"/>
                </a:solidFill>
                <a:latin typeface="Segoe UI Semibold" pitchFamily="34" charset="0"/>
                <a:ea typeface="Segoe UI Semibold" pitchFamily="34" charset="-122"/>
                <a:cs typeface="Segoe UI Semibold" pitchFamily="34" charset="-120"/>
              </a:rPr>
              <a:t>Teams: say the full question.</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Squadre: dite la domanda completa.</a:t>
            </a:r>
            <a:endParaRPr lang="en-US" sz="1150" dirty="0"/>
          </a:p>
          <a:p>
            <a:pPr marL="190500" indent="-190500">
              <a:spcBef>
                <a:spcPts val="500"/>
              </a:spcBef>
              <a:spcAft>
                <a:spcPts val="200"/>
              </a:spcAft>
              <a:buSzPct val="100000"/>
              <a:buChar char="3"/>
            </a:pPr>
            <a:r>
              <a:rPr lang="en-US" sz="1150" dirty="0">
                <a:solidFill>
                  <a:srgbClr val="1B2559"/>
                </a:solidFill>
                <a:latin typeface="Segoe UI Semibold" pitchFamily="34" charset="0"/>
                <a:ea typeface="Segoe UI Semibold" pitchFamily="34" charset="-122"/>
                <a:cs typeface="Segoe UI Semibold" pitchFamily="34" charset="-120"/>
              </a:rPr>
              <a:t>Right question = 1 point.</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Domanda giusta = 1 punto.</a:t>
            </a:r>
            <a:endParaRPr lang="en-US" sz="1150" dirty="0"/>
          </a:p>
        </p:txBody>
      </p:sp>
      <p:sp>
        <p:nvSpPr>
          <p:cNvPr id="19" name="pf_52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28" descr="/home/claude/lls-course/v2/cache/1a2_breakfast_tabl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29"/>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30"/>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usually have for breakfast?</a:t>
            </a:r>
            <a:endParaRPr lang="en-US" sz="1100" dirty="0"/>
          </a:p>
        </p:txBody>
      </p:sp>
      <p:sp>
        <p:nvSpPr>
          <p:cNvPr id="23" name="R1_chip531"/>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do you usually have for breakfast?</a:t>
            </a:r>
            <a:endParaRPr lang="en-US" sz="1100" dirty="0"/>
          </a:p>
        </p:txBody>
      </p:sp>
      <p:sp>
        <p:nvSpPr>
          <p:cNvPr id="24" name="bd_532"/>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33"/>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ever cook? What / make?</a:t>
            </a:r>
            <a:endParaRPr lang="en-US" sz="1100" dirty="0"/>
          </a:p>
        </p:txBody>
      </p:sp>
      <p:sp>
        <p:nvSpPr>
          <p:cNvPr id="26" name="R2_chip534"/>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ever cook? What do you make?</a:t>
            </a:r>
            <a:endParaRPr lang="en-US" sz="1100" dirty="0"/>
          </a:p>
        </p:txBody>
      </p:sp>
      <p:sp>
        <p:nvSpPr>
          <p:cNvPr id="27" name="bd_535"/>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36"/>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prefer eating at home or eating out?</a:t>
            </a:r>
            <a:endParaRPr lang="en-US" sz="1100" dirty="0"/>
          </a:p>
        </p:txBody>
      </p:sp>
      <p:sp>
        <p:nvSpPr>
          <p:cNvPr id="29" name="R3_chip537"/>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prefer eating at home or eating out?</a:t>
            </a:r>
            <a:endParaRPr lang="en-US" sz="1100" dirty="0"/>
          </a:p>
        </p:txBody>
      </p:sp>
      <p:sp>
        <p:nvSpPr>
          <p:cNvPr id="30" name="bd_538"/>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39"/>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try to cut down on anything at the moment?</a:t>
            </a:r>
            <a:endParaRPr lang="en-US" sz="1100" dirty="0"/>
          </a:p>
        </p:txBody>
      </p:sp>
      <p:sp>
        <p:nvSpPr>
          <p:cNvPr id="32" name="R4_chip540"/>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Are you trying to cut down on anything at the moment?</a:t>
            </a:r>
            <a:endParaRPr lang="en-US" sz="1100" dirty="0"/>
          </a:p>
        </p:txBody>
      </p:sp>
      <p:sp>
        <p:nvSpPr>
          <p:cNvPr id="33" name="bd_541"/>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42"/>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need to buy any food today?</a:t>
            </a:r>
            <a:endParaRPr lang="en-US" sz="1100" dirty="0"/>
          </a:p>
        </p:txBody>
      </p:sp>
      <p:sp>
        <p:nvSpPr>
          <p:cNvPr id="35" name="R5_chip543"/>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need to buy any food today?</a:t>
            </a:r>
            <a:endParaRPr lang="en-US" sz="1100" dirty="0"/>
          </a:p>
        </p:txBody>
      </p:sp>
      <p:sp>
        <p:nvSpPr>
          <p:cNvPr id="36" name="bd_544"/>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45"/>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want anything to eat right now?</a:t>
            </a:r>
            <a:endParaRPr lang="en-US" sz="1100" dirty="0"/>
          </a:p>
        </p:txBody>
      </p:sp>
      <p:sp>
        <p:nvSpPr>
          <p:cNvPr id="38" name="R6_chip546"/>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want anything to eat right now?</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4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4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Interview: your diet</a:t>
            </a:r>
            <a:endParaRPr lang="en-US" sz="2500" dirty="0"/>
          </a:p>
        </p:txBody>
      </p:sp>
      <p:pic>
        <p:nvPicPr>
          <p:cNvPr id="6" name="brP_550"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51"/>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Ask it. Then ask 1 more!</a:t>
            </a:r>
            <a:endParaRPr lang="en-US" sz="1250" dirty="0"/>
          </a:p>
        </p:txBody>
      </p:sp>
      <p:sp>
        <p:nvSpPr>
          <p:cNvPr id="8" name="insIT_5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Forma la domanda. Falla. Poi fanne 1 in più!</a:t>
            </a:r>
            <a:endParaRPr lang="en-US" sz="950" dirty="0"/>
          </a:p>
        </p:txBody>
      </p:sp>
      <p:sp>
        <p:nvSpPr>
          <p:cNvPr id="9" name="cmd_55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5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Speaking · your diet   ·   📖 SB p.9 · 6d</a:t>
            </a:r>
            <a:endParaRPr lang="en-US" sz="800" dirty="0"/>
          </a:p>
        </p:txBody>
      </p:sp>
      <p:sp>
        <p:nvSpPr>
          <p:cNvPr id="14" name="pf_55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59" descr="/home/claude/lls-course/v2/cache/spare_1a2_die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6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6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6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6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What kind?  How often?  Why?</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Really? Me too!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Is that healthy?!</a:t>
            </a:r>
            <a:endParaRPr lang="en-US" sz="1000" dirty="0"/>
          </a:p>
        </p:txBody>
      </p:sp>
      <p:sp>
        <p:nvSpPr>
          <p:cNvPr id="20" name="R1_qb56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6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 normally have lunch?</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Where do you normally have lunch? – At school, at about 1.30.</a:t>
            </a:r>
            <a:endParaRPr lang="en-US" sz="1250" dirty="0"/>
          </a:p>
        </p:txBody>
      </p:sp>
      <p:sp>
        <p:nvSpPr>
          <p:cNvPr id="22" name="R2_qb56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6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 usually have for lunch during the week?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What do you usually have for lunch…? – A panino and some fruit.</a:t>
            </a:r>
            <a:endParaRPr lang="en-US" sz="1250" dirty="0"/>
          </a:p>
        </p:txBody>
      </p:sp>
      <p:sp>
        <p:nvSpPr>
          <p:cNvPr id="24" name="R3_qb56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6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drink fizzy drinks, e.g. Coke? How many glasses / drink a day?</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Do you drink fizzy drinks? How many glasses do you drink a day? – One.</a:t>
            </a:r>
            <a:endParaRPr lang="en-US" sz="1100" dirty="0"/>
          </a:p>
        </p:txBody>
      </p:sp>
      <p:sp>
        <p:nvSpPr>
          <p:cNvPr id="26" name="R4_qb57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7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take vitamins or food supplements at the moment?</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Are you taking vitamins at the moment? – Yes, vitamin C – it's winter!</a:t>
            </a:r>
            <a:endParaRPr lang="en-US" sz="1200" dirty="0"/>
          </a:p>
        </p:txBody>
      </p:sp>
      <p:sp>
        <p:nvSpPr>
          <p:cNvPr id="28" name="R5_qb572"/>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73"/>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diet in your country / get better or worse?</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Is the diet in your country getting better or worse? – Worse – too much fast food!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5"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76"/>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 you agree?</a:t>
            </a:r>
            <a:endParaRPr lang="en-US" sz="2500" dirty="0"/>
          </a:p>
        </p:txBody>
      </p:sp>
      <p:pic>
        <p:nvPicPr>
          <p:cNvPr id="6" name="brP_577"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78"/>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Give reasons!</a:t>
            </a:r>
            <a:endParaRPr lang="en-US" sz="1250" dirty="0"/>
          </a:p>
        </p:txBody>
      </p:sp>
      <p:sp>
        <p:nvSpPr>
          <p:cNvPr id="8" name="insIT_5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Sei d'accordo o no? Dai dei motivi!</a:t>
            </a:r>
            <a:endParaRPr lang="en-US" sz="950" dirty="0"/>
          </a:p>
        </p:txBody>
      </p:sp>
      <p:sp>
        <p:nvSpPr>
          <p:cNvPr id="9" name="cmd_58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8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8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Speaking · agreeing and disagreeing   ·   📖 SB p.9 · 7a, 7b</a:t>
            </a:r>
            <a:endParaRPr lang="en-US" sz="800" dirty="0"/>
          </a:p>
        </p:txBody>
      </p:sp>
      <p:sp>
        <p:nvSpPr>
          <p:cNvPr id="14" name="pf_58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6" descr="/home/claude/lls-course/v2/cache/spare_1a2_restauran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8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8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9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I agree / I don't agree / I disagree with that.</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I think / I don't think that's true.</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I think you're right.</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I think it depends.</a:t>
            </a:r>
            <a:endParaRPr lang="en-US" sz="700" dirty="0"/>
          </a:p>
        </p:txBody>
      </p:sp>
      <p:sp>
        <p:nvSpPr>
          <p:cNvPr id="20" name="R1_qb59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92"/>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Good service is more important than good food.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disagree. If the food is bad, I never go back!</a:t>
            </a:r>
            <a:endParaRPr lang="en-US" sz="1250" dirty="0"/>
          </a:p>
        </p:txBody>
      </p:sp>
      <p:sp>
        <p:nvSpPr>
          <p:cNvPr id="22" name="R2_qb593"/>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94"/>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best chefs are usually men.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don't think that's true. My nonna is the best cook I know!</a:t>
            </a:r>
            <a:endParaRPr lang="en-US" sz="1250" dirty="0"/>
          </a:p>
        </p:txBody>
      </p:sp>
      <p:sp>
        <p:nvSpPr>
          <p:cNvPr id="24" name="R3_qb595"/>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96"/>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Everybody should learn to cook at school.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agree with that. Then we don't need takeaways!</a:t>
            </a:r>
            <a:endParaRPr lang="en-US" sz="1250" dirty="0"/>
          </a:p>
        </p:txBody>
      </p:sp>
      <p:pic>
        <p:nvPicPr>
          <p:cNvPr id="26" name="R3_th597" descr="/home/claude/lls-course/v2/cache/1a2_school_cooking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598"/>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99"/>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Cheap restaurants always serve bad food.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don't agree – the best panelle in Bagheria are cheap!</a:t>
            </a:r>
            <a:endParaRPr lang="en-US" sz="1250" dirty="0"/>
          </a:p>
        </p:txBody>
      </p:sp>
      <p:sp>
        <p:nvSpPr>
          <p:cNvPr id="29" name="R5_qb600"/>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01"/>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Waiters should earn a good salary and tips should be banned.</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I think it depends. A tip is a nice way to say thank you.</a:t>
            </a:r>
            <a:endParaRPr lang="en-US" sz="1000" dirty="0"/>
          </a:p>
        </p:txBody>
      </p:sp>
      <p:pic>
        <p:nvPicPr>
          <p:cNvPr id="31" name="R5_th602" descr="/home/claude/lls-course/v2/cache/1a2_waiter_tip_jpg_154x107_18.png">    </p:cNvPr>
          <p:cNvPicPr>
            <a:picLocks noChangeAspect="1"/>
          </p:cNvPicPr>
          <p:nvPr/>
        </p:nvPicPr>
        <p:blipFill>
          <a:blip r:embed="rId7"/>
          <a:stretch>
            <a:fillRect/>
          </a:stretch>
        </p:blipFill>
        <p:spPr>
          <a:xfrm>
            <a:off x="8257032" y="3660648"/>
            <a:ext cx="640080" cy="446532"/>
          </a:xfrm>
          <a:prstGeom prst="rect">
            <a:avLst/>
          </a:prstGeom>
        </p:spPr>
      </p:pic>
      <p:sp>
        <p:nvSpPr>
          <p:cNvPr id="32" name="R6_qb603"/>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R6_sq604"/>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Italian food is the best in the world.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agree with you! But Sicilian food is even better.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0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0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0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11"/>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12"/>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Exit · what can you remember?</a:t>
            </a:r>
            <a:endParaRPr lang="en-US" sz="800" dirty="0"/>
          </a:p>
        </p:txBody>
      </p:sp>
      <p:sp>
        <p:nvSpPr>
          <p:cNvPr id="13" name="bd_61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1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facts about Marianna's life</a:t>
            </a:r>
            <a:endParaRPr lang="en-US" sz="1400" dirty="0"/>
          </a:p>
        </p:txBody>
      </p:sp>
      <p:sp>
        <p:nvSpPr>
          <p:cNvPr id="15" name="bd_61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1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verbs that never take -ing</a:t>
            </a:r>
            <a:endParaRPr lang="en-US" sz="1400" dirty="0"/>
          </a:p>
        </p:txBody>
      </p:sp>
      <p:sp>
        <p:nvSpPr>
          <p:cNvPr id="17" name="bd_61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2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I usually… but this week I'm…</a:t>
            </a:r>
            <a:endParaRPr lang="en-US" sz="1400" dirty="0"/>
          </a:p>
        </p:txBody>
      </p:sp>
      <p:sp>
        <p:nvSpPr>
          <p:cNvPr id="19" name="cd_62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2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2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24"/>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1A: 3a–3e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1A: a 6–10, b 6–10</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1A-2 in the LLS app</a:t>
            </a:r>
            <a:endParaRPr lang="en-US" sz="1150" dirty="0"/>
          </a:p>
        </p:txBody>
      </p:sp>
      <p:sp>
        <p:nvSpPr>
          <p:cNvPr id="23" name="st_62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1B part 1 · Modern families · future forms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2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29"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30"/>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3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3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Review · what did you do today?</a:t>
            </a:r>
            <a:endParaRPr lang="en-US" sz="800" dirty="0"/>
          </a:p>
        </p:txBody>
      </p:sp>
      <p:sp>
        <p:nvSpPr>
          <p:cNvPr id="14" name="cd_637"/>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38"/>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39"/>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chef's story</a:t>
            </a:r>
            <a:endParaRPr lang="en-US" sz="1350" dirty="0"/>
          </a:p>
        </p:txBody>
      </p:sp>
      <p:sp>
        <p:nvSpPr>
          <p:cNvPr id="17" name="R1_tk640"/>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41"/>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42"/>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43"/>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what you usually do – and what you're doing now</a:t>
            </a:r>
            <a:endParaRPr lang="en-US" sz="1350" dirty="0"/>
          </a:p>
        </p:txBody>
      </p:sp>
      <p:sp>
        <p:nvSpPr>
          <p:cNvPr id="21" name="R2_tk644"/>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45"/>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46"/>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47"/>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Found the verbs that never take -ing</a:t>
            </a:r>
            <a:endParaRPr lang="en-US" sz="1350" dirty="0"/>
          </a:p>
        </p:txBody>
      </p:sp>
      <p:sp>
        <p:nvSpPr>
          <p:cNvPr id="25" name="R3_tk648"/>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49"/>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50"/>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51"/>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Interviewed a partner about your diet</a:t>
            </a:r>
            <a:endParaRPr lang="en-US" sz="1350" dirty="0"/>
          </a:p>
        </p:txBody>
      </p:sp>
      <p:sp>
        <p:nvSpPr>
          <p:cNvPr id="29" name="R4_tk652"/>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53"/>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54"/>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55"/>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656"/>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657"/>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658"/>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659"/>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and disagree about food</a:t>
            </a:r>
            <a:endParaRPr lang="en-US" sz="1350" dirty="0"/>
          </a:p>
        </p:txBody>
      </p:sp>
      <p:sp>
        <p:nvSpPr>
          <p:cNvPr id="37" name="R6_tk660"/>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661"/>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3"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64"/>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Interview a chef</a:t>
            </a:r>
            <a:endParaRPr lang="en-US" sz="2500" dirty="0"/>
          </a:p>
        </p:txBody>
      </p:sp>
      <p:pic>
        <p:nvPicPr>
          <p:cNvPr id="6" name="brP_66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66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 journalist. B = famous chef. Swap!</a:t>
            </a:r>
            <a:endParaRPr lang="en-US" sz="1250" dirty="0"/>
          </a:p>
        </p:txBody>
      </p:sp>
      <p:sp>
        <p:nvSpPr>
          <p:cNvPr id="8" name="insIT_6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 giornalista. B = chef famoso. Scambiatevi!</a:t>
            </a:r>
            <a:endParaRPr lang="en-US" sz="950" dirty="0"/>
          </a:p>
        </p:txBody>
      </p:sp>
      <p:sp>
        <p:nvSpPr>
          <p:cNvPr id="9" name="cmd_66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6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67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Extra · role play</a:t>
            </a:r>
            <a:endParaRPr lang="en-US" sz="800" dirty="0"/>
          </a:p>
        </p:txBody>
      </p:sp>
      <p:sp>
        <p:nvSpPr>
          <p:cNvPr id="14" name="st_67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7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75" descr="/home/claude/lls-course/v2/cache/1a2_chef_interview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7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7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7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79"/>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My restaurant is called… It's in…</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usually… / At the moment I'm…</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Did you always want to be a chef?</a:t>
            </a:r>
            <a:endParaRPr lang="en-US" sz="900" dirty="0"/>
          </a:p>
        </p:txBody>
      </p:sp>
      <p:sp>
        <p:nvSpPr>
          <p:cNvPr id="21" name="R1_qb68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8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the name of your restaurant? Where is it?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It's called 'Il Pescatore'. It's in Aspra, by the sea.</a:t>
            </a:r>
            <a:endParaRPr lang="en-US" sz="1250" dirty="0"/>
          </a:p>
        </p:txBody>
      </p:sp>
      <p:sp>
        <p:nvSpPr>
          <p:cNvPr id="23" name="R2_qb68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83"/>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 always want to be a chef?</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 I wanted to be a footballer!</a:t>
            </a:r>
            <a:endParaRPr lang="en-US" sz="1250" dirty="0"/>
          </a:p>
        </p:txBody>
      </p:sp>
      <p:sp>
        <p:nvSpPr>
          <p:cNvPr id="25" name="R3_qb684"/>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85"/>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usually cook?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usually cook fish – my dad catches it every morning.</a:t>
            </a:r>
            <a:endParaRPr lang="en-US" sz="1250" dirty="0"/>
          </a:p>
        </p:txBody>
      </p:sp>
      <p:sp>
        <p:nvSpPr>
          <p:cNvPr id="27" name="R4_qb686"/>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87"/>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you making this week?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This week I'm making a new pistachio pesto.</a:t>
            </a:r>
            <a:endParaRPr lang="en-US" sz="1250" dirty="0"/>
          </a:p>
        </p:txBody>
      </p:sp>
      <p:sp>
        <p:nvSpPr>
          <p:cNvPr id="29" name="R5_qb68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8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often do you go on holiday?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Once a year – and I always eat in other people's restaurants!</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1A-2 Eating in… and out</dc:title>
  <dc:subject>PptxGenJS Presentation</dc:subject>
  <dc:creator>PptxGenJS</dc:creator>
  <cp:lastModifiedBy>PptxGenJS</cp:lastModifiedBy>
  <cp:revision>1</cp:revision>
  <dcterms:created xsi:type="dcterms:W3CDTF">2026-10-15T08:37:01Z</dcterms:created>
  <dcterms:modified xsi:type="dcterms:W3CDTF">2026-10-15T08:37:01Z</dcterms:modified>
</cp:coreProperties>
</file>