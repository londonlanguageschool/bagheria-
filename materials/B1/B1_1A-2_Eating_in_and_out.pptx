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(3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click once per word to show its Italian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this comes straight after the rule and the non-action verb list, so students hear simple vs continuous and the non-action verbs (taste, smell, need, know) 15–20 times BEFORE they produce them in the Grammar Bank practice and the games. Click once per line. For each line: 1) say it, 2) ask the questions in grey round the class (yes/no → either/or → who/what), 3) let the CLASS change details: 'Is Nino making a dessert? No? What is he making?' – accept their idea and use it in later lines (change the secret ingredient in line 5 to match!). Students answer with one word or a short phrase – that's fine. Point out the contrast as you go: usually cooks (habit) vs 's making this week (temporary) · tastes / smells / needs / knows – never -ing · is having lunch = eating (action). Finish: 'What happens next?' – one or two ideas, then move on. PQA if the class is quiet: 'Giulia, what do you usually cook? Are you learning anything new at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diet (5 min)
SPEAKING – accurate practice (4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agreeing and disagreeing (5 min)
SPEAKING – fluency (4 min; with less time, let groups choose 3–4 statements).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chef's story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say what you usually do – and what you're doing now</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find the verbs that never take -ing</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interview a partner about your diet</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agree and disagree about food</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cooking_method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1A: food and cooking words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short and long vowel sounds</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pig = the animal · pork = the meat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Sushi is raw fish.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fish /ɪ/ · tree /iː/ · car /ɑː/ · boot /uː/</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squid</a:t>
            </a:r>
            <a:endParaRPr lang="en-US" sz="1050" dirty="0"/>
          </a:p>
        </p:txBody>
      </p:sp>
      <p:sp>
        <p:nvSpPr>
          <p:cNvPr id="28" name="w_42"/>
          <p:cNvSpPr/>
          <p:nvPr/>
        </p:nvSpPr>
        <p:spPr>
          <a:xfrm>
            <a:off x="4027932" y="417880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tuna</a:t>
            </a:r>
            <a:endParaRPr lang="en-US" sz="1050" dirty="0"/>
          </a:p>
        </p:txBody>
      </p:sp>
      <p:sp>
        <p:nvSpPr>
          <p:cNvPr id="29" name="w_43"/>
          <p:cNvSpPr/>
          <p:nvPr/>
        </p:nvSpPr>
        <p:spPr>
          <a:xfrm>
            <a:off x="4732020"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
        <p:nvSpPr>
          <p:cNvPr id="30" name="w_44"/>
          <p:cNvSpPr/>
          <p:nvPr/>
        </p:nvSpPr>
        <p:spPr>
          <a:xfrm>
            <a:off x="5436108"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1" name="w_45"/>
          <p:cNvSpPr/>
          <p:nvPr/>
        </p:nvSpPr>
        <p:spPr>
          <a:xfrm>
            <a:off x="6528816"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steamed</a:t>
            </a:r>
            <a:endParaRPr lang="en-US" sz="1050" dirty="0"/>
          </a:p>
        </p:txBody>
      </p:sp>
      <p:sp>
        <p:nvSpPr>
          <p:cNvPr id="32" name="w_46"/>
          <p:cNvSpPr/>
          <p:nvPr/>
        </p:nvSpPr>
        <p:spPr>
          <a:xfrm>
            <a:off x="7466076" y="4178808"/>
            <a:ext cx="55321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jar</a:t>
            </a:r>
            <a:endParaRPr lang="en-US" sz="1050" dirty="0"/>
          </a:p>
        </p:txBody>
      </p:sp>
      <p:sp>
        <p:nvSpPr>
          <p:cNvPr id="34" name="w_48"/>
          <p:cNvSpPr/>
          <p:nvPr/>
        </p:nvSpPr>
        <p:spPr>
          <a:xfrm>
            <a:off x="324612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cook</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il cibo e il suo suono!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2" name="tag_5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1A-2 · Warmer · last lesson: food and vowel sounds   ·   📖 Revision of 1A-1 · Vocabulary Bank p.152 · Pronunciation 2a–b (audio 1.6)</a:t>
            </a:r>
            <a:endParaRPr lang="en-US" sz="750" dirty="0"/>
          </a:p>
        </p:txBody>
      </p:sp>
      <p:sp>
        <p:nvSpPr>
          <p:cNvPr id="15" name="cd_6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clue.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l'indizio.</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write the word AND its sound picture.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scrivete la parola E l'immagine-suono.</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Word = 1 point. Sound = 1 point.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Parola = 1 punto. Suono = 1 punto.</a:t>
            </a:r>
            <a:endParaRPr lang="en-US" sz="950" dirty="0"/>
          </a:p>
        </p:txBody>
      </p:sp>
      <p:sp>
        <p:nvSpPr>
          <p:cNvPr id="19" name="pf_6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7"/>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8"/>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23" name="R1_chip69"/>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 🐟 fish /ɪ/</a:t>
            </a:r>
            <a:endParaRPr lang="en-US" sz="1100" dirty="0"/>
          </a:p>
        </p:txBody>
      </p:sp>
      <p:sp>
        <p:nvSpPr>
          <p:cNvPr id="24" name="bd_70"/>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1"/>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26" name="R2_chip72"/>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 🌳 tree /iː/</a:t>
            </a:r>
            <a:endParaRPr lang="en-US" sz="1100" dirty="0"/>
          </a:p>
        </p:txBody>
      </p:sp>
      <p:sp>
        <p:nvSpPr>
          <p:cNvPr id="27" name="bd_73"/>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4"/>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a:t>
            </a:r>
            <a:endParaRPr lang="en-US" sz="1100" dirty="0"/>
          </a:p>
        </p:txBody>
      </p:sp>
      <p:sp>
        <p:nvSpPr>
          <p:cNvPr id="29" name="R3_chip75"/>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 · 🐱 cat /æ/</a:t>
            </a:r>
            <a:endParaRPr lang="en-US" sz="1100" dirty="0"/>
          </a:p>
        </p:txBody>
      </p:sp>
      <p:sp>
        <p:nvSpPr>
          <p:cNvPr id="30" name="bd_76"/>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77"/>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 comes in a glass…</a:t>
            </a:r>
            <a:endParaRPr lang="en-US" sz="1100" dirty="0"/>
          </a:p>
        </p:txBody>
      </p:sp>
      <p:sp>
        <p:nvSpPr>
          <p:cNvPr id="32" name="R4_chip78"/>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 🚗 car /ɑː/</a:t>
            </a:r>
            <a:endParaRPr lang="en-US" sz="1100" dirty="0"/>
          </a:p>
        </p:txBody>
      </p:sp>
      <p:sp>
        <p:nvSpPr>
          <p:cNvPr id="33" name="bd_79"/>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0"/>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50" dirty="0"/>
          </a:p>
        </p:txBody>
      </p:sp>
      <p:sp>
        <p:nvSpPr>
          <p:cNvPr id="35" name="R5_chip81"/>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 · 🐴 horse /ɔː/</a:t>
            </a:r>
            <a:endParaRPr lang="en-US" sz="1100" dirty="0"/>
          </a:p>
        </p:txBody>
      </p:sp>
      <p:sp>
        <p:nvSpPr>
          <p:cNvPr id="36" name="bd_82"/>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3"/>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Chillies are very… (not 'spicy'!)</a:t>
            </a:r>
            <a:endParaRPr lang="en-US" sz="1050" dirty="0"/>
          </a:p>
        </p:txBody>
      </p:sp>
      <p:sp>
        <p:nvSpPr>
          <p:cNvPr id="38" name="R6_chip84"/>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 ⏰ clock /ɒ/</a:t>
            </a:r>
            <a:endParaRPr lang="en-US" sz="1100" dirty="0"/>
          </a:p>
        </p:txBody>
      </p:sp>
      <p:sp>
        <p:nvSpPr>
          <p:cNvPr id="39" name="bd_85"/>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6"/>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is a very good…</a:t>
            </a:r>
            <a:endParaRPr lang="en-US" sz="1100" dirty="0"/>
          </a:p>
        </p:txBody>
      </p:sp>
      <p:sp>
        <p:nvSpPr>
          <p:cNvPr id="41" name="R7_chip87"/>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 · 🐂 bull /ʊ/</a:t>
            </a:r>
            <a:endParaRPr lang="en-US" sz="1100" dirty="0"/>
          </a:p>
        </p:txBody>
      </p:sp>
      <p:sp>
        <p:nvSpPr>
          <p:cNvPr id="42" name="bd_88"/>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3" name="gq_89"/>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44" name="R8_chip90"/>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tuna · 👢 boot /uː/</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cmd_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9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1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lead-in   ·   📖 SB p.8 · 5a</a:t>
            </a:r>
            <a:endParaRPr lang="en-US" sz="800" dirty="0"/>
          </a:p>
        </p:txBody>
      </p:sp>
      <p:sp>
        <p:nvSpPr>
          <p:cNvPr id="15" name="cd_1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7" name="ln_1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8" name="R1_lnA10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9" name="ln_10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0" name="R2_lnA10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1" name="ln_10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3_lnA11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ln_11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4" name="R4_lnA11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5" name="pf_1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14" descr="/home/claude/lls-course/v2/cache/1a2_head_chef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1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Word bank: Crete · fisherman · head chef · Scottish · seafood</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caught = past of catch · pescare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2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finiscono. Poi ascolta.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2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2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12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prediction   ·   📖 SB p.8 · 5a, 5b · audio 1.8</a:t>
            </a:r>
            <a:endParaRPr lang="en-US" sz="800" dirty="0"/>
          </a:p>
        </p:txBody>
      </p:sp>
      <p:sp>
        <p:nvSpPr>
          <p:cNvPr id="15" name="ap_1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6" name="ah_13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3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3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35" descr="/home/claude/lls-course/v2/cache/1a2_fisherman_daught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3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3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3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3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4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7" name="R1_chip14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8" name="gq_14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9" name="R2_chip14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30" name="gq_14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31" name="R3_chip14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32" name="gq_14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33" name="R4_chip14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4" name="gq_14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950" dirty="0"/>
          </a:p>
        </p:txBody>
      </p:sp>
      <p:sp>
        <p:nvSpPr>
          <p:cNvPr id="35" name="R5_chip14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5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5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Cos'altro dice?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5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detail   ·   📖 SB p.8 · 5c · audio 1.8</a:t>
            </a:r>
            <a:endParaRPr lang="en-US" sz="800" dirty="0"/>
          </a:p>
        </p:txBody>
      </p:sp>
      <p:sp>
        <p:nvSpPr>
          <p:cNvPr id="14" name="ap_16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5" name="ah_16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6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6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6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66" descr="/home/claude/lls-course/v2/cache/1a2_fisherman_daught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16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6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9" descr="/home/claude/lls-course/v2/cache/1a2_taverna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17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17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72" descr="/home/claude/lls-course/v2/cache/spare_1a2_street_food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17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17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17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7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17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One more fact about each extract.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Riascolta. Un'altra informazione per ogni frase.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with your partner.</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Confronta con il compagno.</a:t>
            </a:r>
            <a:endParaRPr lang="en-US" sz="700" dirty="0"/>
          </a:p>
        </p:txBody>
      </p:sp>
      <p:sp>
        <p:nvSpPr>
          <p:cNvPr id="33" name="lq_178"/>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4" name="R1_chip179"/>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5" name="lq_180"/>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6" name="R2_chip181"/>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950" dirty="0"/>
          </a:p>
        </p:txBody>
      </p:sp>
      <p:sp>
        <p:nvSpPr>
          <p:cNvPr id="37" name="lq_182"/>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8" name="R3_chip183"/>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950" dirty="0"/>
          </a:p>
        </p:txBody>
      </p:sp>
      <p:sp>
        <p:nvSpPr>
          <p:cNvPr id="39" name="lq_184"/>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40" name="R4_chip185"/>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950" dirty="0"/>
          </a:p>
        </p:txBody>
      </p:sp>
      <p:sp>
        <p:nvSpPr>
          <p:cNvPr id="41" name="lq_186"/>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42" name="R5_chip187"/>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fade">
                                      <p:cBhvr>
                                        <p:cTn id="27"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9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400" dirty="0"/>
          </a:p>
        </p:txBody>
      </p:sp>
      <p:pic>
        <p:nvPicPr>
          <p:cNvPr id="6" name="brP_19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9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Rispondi prima alla 0, poi 1–5.</a:t>
            </a:r>
            <a:endParaRPr lang="en-US" sz="950" dirty="0"/>
          </a:p>
        </p:txBody>
      </p:sp>
      <p:sp>
        <p:nvSpPr>
          <p:cNvPr id="9" name="cmd_19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1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2"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2 · gist then detail   ·   📖 SB p.8 · 5d · audio 1.9</a:t>
            </a:r>
            <a:endParaRPr lang="en-US" sz="800" dirty="0"/>
          </a:p>
        </p:txBody>
      </p:sp>
      <p:sp>
        <p:nvSpPr>
          <p:cNvPr id="14" name="ap_19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5" name="ah_20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0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20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03" descr="/home/claude/lls-course/v2/cache/spare_1a2_menu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0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0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0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0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6" name="R1_chip20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7" name="gq_21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8" name="R2_chip21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950" dirty="0"/>
          </a:p>
        </p:txBody>
      </p:sp>
      <p:sp>
        <p:nvSpPr>
          <p:cNvPr id="29" name="gq_21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30" name="R3_chip21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31" name="gq_21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32" name="R4_chip21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3" name="gq_21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4" name="R5_chip21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5" name="gq_21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6" name="R6_chip21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Poi scegline UNA!</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what about you?   ·   📖 SB p.8 · 5e</a:t>
            </a:r>
            <a:endParaRPr lang="en-US" sz="800" dirty="0"/>
          </a:p>
        </p:txBody>
      </p:sp>
      <p:sp>
        <p:nvSpPr>
          <p:cNvPr id="14" name="pf_23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32" descr="/home/claude/lls-course/v2/cache/spare_1a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3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3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3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3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When I was a child, I loved…</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My favourite was…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Me too! / Not me!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What about you?</a:t>
            </a:r>
            <a:endParaRPr lang="en-US" sz="800" dirty="0"/>
          </a:p>
        </p:txBody>
      </p:sp>
      <p:sp>
        <p:nvSpPr>
          <p:cNvPr id="20" name="R1_qb23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3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pasta al forno – every Sunday!</a:t>
            </a:r>
            <a:endParaRPr lang="en-US" sz="1250" dirty="0"/>
          </a:p>
        </p:txBody>
      </p:sp>
      <p:sp>
        <p:nvSpPr>
          <p:cNvPr id="22" name="R2_qb23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4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My dad made grilled fish. Yes – I still love it!</a:t>
            </a:r>
            <a:endParaRPr lang="en-US" sz="950" dirty="0"/>
          </a:p>
        </p:txBody>
      </p:sp>
      <p:sp>
        <p:nvSpPr>
          <p:cNvPr id="24" name="R3_qb24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4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9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A pizzeria in Bagheria – the price and the atmosphere!</a:t>
            </a:r>
            <a:endParaRPr lang="en-US" sz="950" dirty="0"/>
          </a:p>
        </p:txBody>
      </p:sp>
      <p:sp>
        <p:nvSpPr>
          <p:cNvPr id="26" name="R4_qb24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4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nonna's! Nobody cooks like her.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4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4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4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 forma giusta. Poi ascolta.</a:t>
            </a:r>
            <a:endParaRPr lang="en-US" sz="950" dirty="0"/>
          </a:p>
        </p:txBody>
      </p:sp>
      <p:sp>
        <p:nvSpPr>
          <p:cNvPr id="9" name="cmd_25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2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what did she say?   ·   📖 SB p.9 · 6a, 6b · audio 1.10 (4–6 from audio scripts 1.8, 1.9)</a:t>
            </a:r>
            <a:endParaRPr lang="en-US" sz="800" dirty="0"/>
          </a:p>
        </p:txBody>
      </p:sp>
      <p:sp>
        <p:nvSpPr>
          <p:cNvPr id="15" name="ap_25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6" name="ah_25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5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6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61" descr="/home/claude/lls-course/v2/cache/1a2_head_chef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6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6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6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6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6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7" name="R1_chip26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8" name="gq_26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9" name="R2_chip26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30" name="gq_27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31" name="R3_chip27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32" name="gq_27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33" name="R4_chip27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4" name="gq_27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5" name="R5_chip27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6" name="gq_27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7" name="R6_chip27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400" dirty="0"/>
          </a:p>
        </p:txBody>
      </p:sp>
      <p:pic>
        <p:nvPicPr>
          <p:cNvPr id="6" name="brP_28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8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8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Perché questa forma? Abbina il colore.</a:t>
            </a:r>
            <a:endParaRPr lang="en-US" sz="950" dirty="0"/>
          </a:p>
        </p:txBody>
      </p:sp>
      <p:sp>
        <p:nvSpPr>
          <p:cNvPr id="9" name="cmd_28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8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8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2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why?   ·   📖 SB p.9 · 6b · audio 1.10, 1.13</a:t>
            </a:r>
            <a:endParaRPr lang="en-US" sz="800" dirty="0"/>
          </a:p>
        </p:txBody>
      </p:sp>
      <p:sp>
        <p:nvSpPr>
          <p:cNvPr id="14" name="cd_289"/>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292"/>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29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9" name="lg_29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20" name="lg_295"/>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21" name="sq_296"/>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000" dirty="0"/>
          </a:p>
        </p:txBody>
      </p:sp>
      <p:sp>
        <p:nvSpPr>
          <p:cNvPr id="22" name="R1_tag297"/>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3" name="sq_298"/>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200" dirty="0"/>
          </a:p>
        </p:txBody>
      </p:sp>
      <p:sp>
        <p:nvSpPr>
          <p:cNvPr id="24" name="R2_tag299"/>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5" name="sq_300"/>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200" dirty="0"/>
          </a:p>
        </p:txBody>
      </p:sp>
      <p:sp>
        <p:nvSpPr>
          <p:cNvPr id="26" name="R3_tag30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7" name="sq_302"/>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200" dirty="0"/>
          </a:p>
        </p:txBody>
      </p:sp>
      <p:sp>
        <p:nvSpPr>
          <p:cNvPr id="28" name="R4_tag303"/>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9" name="sq_304"/>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always order too much.</a:t>
            </a:r>
            <a:endParaRPr lang="en-US" sz="1200" dirty="0"/>
          </a:p>
        </p:txBody>
      </p:sp>
      <p:sp>
        <p:nvSpPr>
          <p:cNvPr id="30" name="R5_tag30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31" name="sq_306"/>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200" dirty="0"/>
          </a:p>
        </p:txBody>
      </p:sp>
      <p:sp>
        <p:nvSpPr>
          <p:cNvPr id="32" name="R6_tag307"/>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3" name="sq_308"/>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cooking?</a:t>
            </a:r>
            <a:endParaRPr lang="en-US" sz="1200" dirty="0"/>
          </a:p>
        </p:txBody>
      </p:sp>
      <p:sp>
        <p:nvSpPr>
          <p:cNvPr id="34" name="R7_tag309"/>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5" name="sq_310"/>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 smells delicious!</a:t>
            </a:r>
            <a:endParaRPr lang="en-US" sz="1200" dirty="0"/>
          </a:p>
        </p:txBody>
      </p:sp>
      <p:sp>
        <p:nvSpPr>
          <p:cNvPr id="36" name="R8_tag311"/>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7" name="pf_312"/>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313" descr="/home/claude/lls-course/v2/cache/spare_1a2_cooking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1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1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3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the rule   ·   📖 Grammar Bank 1A p.132 · audio 1.11, 1.12, 1.13</a:t>
            </a:r>
            <a:endParaRPr lang="en-US" sz="800" dirty="0"/>
          </a:p>
        </p:txBody>
      </p:sp>
      <p:sp>
        <p:nvSpPr>
          <p:cNvPr id="14" name="ah_325"/>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1.11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6" name="ah_32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8" name="cd_32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32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20" name="pf_32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30" descr="/home/claude/lls-course/v2/cache/1a2_dad_cook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33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3" name="R1_rx33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4" name="R1_ri33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abitudini, cose sempre vere</a:t>
            </a:r>
            <a:endParaRPr lang="en-US" sz="900" dirty="0"/>
          </a:p>
        </p:txBody>
      </p:sp>
      <p:sp>
        <p:nvSpPr>
          <p:cNvPr id="25" name="cd_33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33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7" name="pf_33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337" descr="/home/claude/lls-course/v2/cache/1a2_cooking_now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33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30" name="R2_rx33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31" name="R2_ri34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adesso, in questo periodo</a:t>
            </a:r>
            <a:endParaRPr lang="en-US" sz="900" dirty="0"/>
          </a:p>
        </p:txBody>
      </p:sp>
      <p:sp>
        <p:nvSpPr>
          <p:cNvPr id="32" name="cd_34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34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4" name="pf_34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44" descr="/home/claude/lls-course/v2/cache/1a2_tasting_soup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34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7" name="R3_rx34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8" name="R3_ri34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verbi di stato: mai -ing</a:t>
            </a:r>
            <a:endParaRPr lang="en-US" sz="900" dirty="0"/>
          </a:p>
        </p:txBody>
      </p:sp>
      <p:sp>
        <p:nvSpPr>
          <p:cNvPr id="39" name="cd_34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34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41" name="pf_35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351" descr="/home/claude/lls-course/v2/cache/1a2_cover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35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4" name="R4_rx35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5" name="R4_ri35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possedere / mangiare · opinione / riflettere</a:t>
            </a:r>
            <a:endParaRPr lang="en-US" sz="750" dirty="0"/>
          </a:p>
        </p:txBody>
      </p:sp>
      <p:sp>
        <p:nvSpPr>
          <p:cNvPr id="46" name="R5_wc355"/>
          <p:cNvSpPr/>
          <p:nvPr/>
        </p:nvSpPr>
        <p:spPr>
          <a:xfrm>
            <a:off x="320040" y="4544568"/>
            <a:ext cx="3172968"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356"/>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5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6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6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6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meaning</a:t>
            </a:r>
            <a:endParaRPr lang="en-US" sz="750" dirty="0"/>
          </a:p>
        </p:txBody>
      </p:sp>
      <p:pic>
        <p:nvPicPr>
          <p:cNvPr id="12"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non-action verbs in Italian</a:t>
            </a:r>
            <a:endParaRPr lang="en-US" sz="800" dirty="0"/>
          </a:p>
        </p:txBody>
      </p:sp>
      <p:sp>
        <p:nvSpPr>
          <p:cNvPr id="14" name="cd_36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6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7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7" name="R1_it37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8" name="cd_37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7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7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21" name="R2_it37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2" name="cd_37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7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7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5" name="R3_it37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6" name="cd_38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8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8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9" name="R4_it38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30" name="cd_38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8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8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3" name="R5_it38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4" name="cd_38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8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9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7" name="R6_it39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8" name="cd_39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9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9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1" name="R7_it39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2" name="cd_39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9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9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5" name="R8_it39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6" name="cd_40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0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0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9" name="R9_it40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50" name="cd_40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0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0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3" name="R10_it40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4" name="cd_40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0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1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7" name="R11_it41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avere odore, profumare</a:t>
            </a:r>
            <a:endParaRPr lang="en-US" sz="850" dirty="0"/>
          </a:p>
        </p:txBody>
      </p:sp>
      <p:sp>
        <p:nvSpPr>
          <p:cNvPr id="58" name="cd_41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1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1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61" name="R12_it41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2" name="R13_wc41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1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2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Nino's terrible dessert</a:t>
            </a:r>
            <a:endParaRPr lang="en-US" sz="2500" dirty="0"/>
          </a:p>
        </p:txBody>
      </p:sp>
      <p:pic>
        <p:nvPicPr>
          <p:cNvPr id="6" name="brP_42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2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25"/>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2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class story (TPRS)</a:t>
            </a:r>
            <a:endParaRPr lang="en-US" sz="800" dirty="0"/>
          </a:p>
        </p:txBody>
      </p:sp>
      <p:sp>
        <p:nvSpPr>
          <p:cNvPr id="15" name="cd_430"/>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33"/>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usually cooks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cucina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making (this week)</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preparando (in questi giorni)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tastes / smells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sapore / ha odore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needs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ha bisogno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having lunch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 pranzando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knows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sa, conosce</a:t>
            </a:r>
            <a:endParaRPr lang="en-US" sz="1000" dirty="0"/>
          </a:p>
        </p:txBody>
      </p:sp>
      <p:sp>
        <p:nvSpPr>
          <p:cNvPr id="19" name="R1_sb434"/>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35"/>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Nino. He's a chef in Bagheria.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usually cooks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fish.</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Nino usually cook fish or pizza? · Where does he work?</a:t>
            </a:r>
            <a:endParaRPr lang="en-US" sz="1250" dirty="0"/>
          </a:p>
        </p:txBody>
      </p:sp>
      <p:sp>
        <p:nvSpPr>
          <p:cNvPr id="21" name="R2_sb436"/>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37"/>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this week he</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's making</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 new dessert for a big competition.</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he making a dessert or a salad? · Why? (you decide!)</a:t>
            </a:r>
            <a:endParaRPr lang="en-US" sz="1100" dirty="0"/>
          </a:p>
        </p:txBody>
      </p:sp>
      <p:sp>
        <p:nvSpPr>
          <p:cNvPr id="23" name="R3_sb438"/>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9"/>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it. Oh no! It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terrible – like fish!</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it taste good or terrible? · What does it taste like?</a:t>
            </a:r>
            <a:endParaRPr lang="en-US" sz="1250" dirty="0"/>
          </a:p>
        </p:txBody>
      </p:sp>
      <p:sp>
        <p:nvSpPr>
          <p:cNvPr id="25" name="R4_sb440"/>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41"/>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needs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help, so he phones his nonna. She</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 having lunch</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Who does he phone? · Is nonna having lunch or sleeping?</a:t>
            </a:r>
            <a:endParaRPr lang="en-US" sz="1200" dirty="0"/>
          </a:p>
        </p:txBody>
      </p:sp>
      <p:sp>
        <p:nvSpPr>
          <p:cNvPr id="27" name="R5_sb442"/>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43"/>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knows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secret: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don't 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fish, you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need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pistachios!'</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Nino need fish? · What does he need?</a:t>
            </a:r>
            <a:endParaRPr lang="en-US" sz="1050" dirty="0"/>
          </a:p>
        </p:txBody>
      </p:sp>
      <p:sp>
        <p:nvSpPr>
          <p:cNvPr id="29" name="R6_sb444"/>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45"/>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the dessert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smells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amazing, and Nino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 winning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competition!</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Does it smell good now? · And you – what are you learning to do these days?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400" dirty="0"/>
          </a:p>
        </p:txBody>
      </p:sp>
      <p:pic>
        <p:nvPicPr>
          <p:cNvPr id="6" name="brP_4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5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il verbo. Poi clicca!</a:t>
            </a:r>
            <a:endParaRPr lang="en-US" sz="950" dirty="0"/>
          </a:p>
        </p:txBody>
      </p:sp>
      <p:sp>
        <p:nvSpPr>
          <p:cNvPr id="9" name="cmd_45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53"/>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45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2" name="tag_45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4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controlled practice   ·   📖 Grammar Bank 1A p.132 · b 1–5 (6–10 = homework)</a:t>
            </a:r>
            <a:endParaRPr lang="en-US" sz="800" dirty="0"/>
          </a:p>
        </p:txBody>
      </p:sp>
      <p:sp>
        <p:nvSpPr>
          <p:cNvPr id="15" name="cd_45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5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7" name="ln_4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8" name="R1_lnA461"/>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9" name="ln_46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0" name="R2_lnA46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1" name="ln_46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2" name="R3_lnA46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3" name="ln_4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4" name="R4_lnA467"/>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5" name="ln_468"/>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6" name="R5_lnA469"/>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7" name="pf_47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471" descr="/home/claude/lls-course/v2/cache/spare_1a2_food_preference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9" name="cd_47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47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47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47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never, once a week → simple</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at the moment → -ing (if it's an action!)</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7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8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Giusto o sbagliato? Correggi gli errori!</a:t>
            </a:r>
            <a:endParaRPr lang="en-US" sz="950" dirty="0"/>
          </a:p>
        </p:txBody>
      </p:sp>
      <p:sp>
        <p:nvSpPr>
          <p:cNvPr id="9" name="cmd_48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8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48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48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4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a:t>
            </a:r>
            <a:endParaRPr lang="en-US" sz="800" dirty="0"/>
          </a:p>
        </p:txBody>
      </p:sp>
      <p:sp>
        <p:nvSpPr>
          <p:cNvPr id="15" name="cd_48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9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Read the sentence.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Leggi la frase.</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Teams: right or wrong? Fix it!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Squadre: giusta o sbagliata? Correggila!</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Right answer = 1 point. Correct fix = +1.</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Risposta giusta = 1 punto. Correzione giusta = +1.</a:t>
            </a:r>
            <a:endParaRPr lang="en-US" sz="950" dirty="0"/>
          </a:p>
        </p:txBody>
      </p:sp>
      <p:sp>
        <p:nvSpPr>
          <p:cNvPr id="19" name="st_49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9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needing a new phone.</a:t>
            </a:r>
            <a:endParaRPr lang="en-US" sz="1100" dirty="0"/>
          </a:p>
        </p:txBody>
      </p:sp>
      <p:sp>
        <p:nvSpPr>
          <p:cNvPr id="22" name="R1_chip49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100" dirty="0"/>
          </a:p>
        </p:txBody>
      </p:sp>
      <p:sp>
        <p:nvSpPr>
          <p:cNvPr id="23" name="bd_49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dad cooks every Sunday.</a:t>
            </a:r>
            <a:endParaRPr lang="en-US" sz="1100" dirty="0"/>
          </a:p>
        </p:txBody>
      </p:sp>
      <p:sp>
        <p:nvSpPr>
          <p:cNvPr id="25" name="R2_chip49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(habit)</a:t>
            </a:r>
            <a:endParaRPr lang="en-US" sz="1100" dirty="0"/>
          </a:p>
        </p:txBody>
      </p:sp>
      <p:sp>
        <p:nvSpPr>
          <p:cNvPr id="26" name="bd_49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0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Marco? – He has lunch.</a:t>
            </a:r>
            <a:endParaRPr lang="en-US" sz="1100" dirty="0"/>
          </a:p>
        </p:txBody>
      </p:sp>
      <p:sp>
        <p:nvSpPr>
          <p:cNvPr id="28" name="R3_chip50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He's having lunch. (now)</a:t>
            </a:r>
            <a:endParaRPr lang="en-US" sz="1100" dirty="0"/>
          </a:p>
        </p:txBody>
      </p:sp>
      <p:sp>
        <p:nvSpPr>
          <p:cNvPr id="29" name="bd_50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100" dirty="0"/>
          </a:p>
        </p:txBody>
      </p:sp>
      <p:sp>
        <p:nvSpPr>
          <p:cNvPr id="31" name="R4_chip50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100" dirty="0"/>
          </a:p>
        </p:txBody>
      </p:sp>
      <p:sp>
        <p:nvSpPr>
          <p:cNvPr id="32" name="bd_50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100" dirty="0"/>
          </a:p>
        </p:txBody>
      </p:sp>
      <p:sp>
        <p:nvSpPr>
          <p:cNvPr id="34" name="R5_chip50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(enjoy = action)</a:t>
            </a:r>
            <a:endParaRPr lang="en-US" sz="1100" dirty="0"/>
          </a:p>
        </p:txBody>
      </p:sp>
      <p:sp>
        <p:nvSpPr>
          <p:cNvPr id="35" name="bd_50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100" dirty="0"/>
          </a:p>
        </p:txBody>
      </p:sp>
      <p:sp>
        <p:nvSpPr>
          <p:cNvPr id="37" name="R6_chip51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51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5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Vince la squadra più veloce!</a:t>
            </a:r>
            <a:endParaRPr lang="en-US" sz="950" dirty="0"/>
          </a:p>
        </p:txBody>
      </p:sp>
      <p:sp>
        <p:nvSpPr>
          <p:cNvPr id="9" name="cmd_51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18"/>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1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2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 · questions   ·   📖 SB p.9 · 6d</a:t>
            </a:r>
            <a:endParaRPr lang="en-US" sz="800" dirty="0"/>
          </a:p>
        </p:txBody>
      </p:sp>
      <p:sp>
        <p:nvSpPr>
          <p:cNvPr id="15" name="cd_52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2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2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prompt.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lo spunto.</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Teams: say the full question.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Squadre: dite la domanda completa.</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question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Domanda giusta = 1 punto.</a:t>
            </a:r>
            <a:endParaRPr lang="en-US" sz="1150" dirty="0"/>
          </a:p>
        </p:txBody>
      </p:sp>
      <p:sp>
        <p:nvSpPr>
          <p:cNvPr id="19" name="pf_52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28" descr="/home/claude/lls-course/v2/cache/1a2_breakfast_tab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2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3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100" dirty="0"/>
          </a:p>
        </p:txBody>
      </p:sp>
      <p:sp>
        <p:nvSpPr>
          <p:cNvPr id="23" name="R1_chip53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00" dirty="0"/>
          </a:p>
        </p:txBody>
      </p:sp>
      <p:sp>
        <p:nvSpPr>
          <p:cNvPr id="24" name="bd_53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3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ever cook? What / make?</a:t>
            </a:r>
            <a:endParaRPr lang="en-US" sz="1100" dirty="0"/>
          </a:p>
        </p:txBody>
      </p:sp>
      <p:sp>
        <p:nvSpPr>
          <p:cNvPr id="26" name="R2_chip53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00" dirty="0"/>
          </a:p>
        </p:txBody>
      </p:sp>
      <p:sp>
        <p:nvSpPr>
          <p:cNvPr id="27" name="bd_53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3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100" dirty="0"/>
          </a:p>
        </p:txBody>
      </p:sp>
      <p:sp>
        <p:nvSpPr>
          <p:cNvPr id="29" name="R3_chip53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00" dirty="0"/>
          </a:p>
        </p:txBody>
      </p:sp>
      <p:sp>
        <p:nvSpPr>
          <p:cNvPr id="30" name="bd_53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3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100" dirty="0"/>
          </a:p>
        </p:txBody>
      </p:sp>
      <p:sp>
        <p:nvSpPr>
          <p:cNvPr id="32" name="R4_chip54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00" dirty="0"/>
          </a:p>
        </p:txBody>
      </p:sp>
      <p:sp>
        <p:nvSpPr>
          <p:cNvPr id="33" name="bd_54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4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100" dirty="0"/>
          </a:p>
        </p:txBody>
      </p:sp>
      <p:sp>
        <p:nvSpPr>
          <p:cNvPr id="35" name="R5_chip54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00" dirty="0"/>
          </a:p>
        </p:txBody>
      </p:sp>
      <p:sp>
        <p:nvSpPr>
          <p:cNvPr id="36" name="bd_54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4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100" dirty="0"/>
          </a:p>
        </p:txBody>
      </p:sp>
      <p:sp>
        <p:nvSpPr>
          <p:cNvPr id="38" name="R6_chip54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4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5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5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Falla. Poi fanne 1 in più!</a:t>
            </a:r>
            <a:endParaRPr lang="en-US" sz="950" dirty="0"/>
          </a:p>
        </p:txBody>
      </p:sp>
      <p:sp>
        <p:nvSpPr>
          <p:cNvPr id="9" name="cmd_5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5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your diet   ·   📖 SB p.9 · 6d</a:t>
            </a:r>
            <a:endParaRPr lang="en-US" sz="800" dirty="0"/>
          </a:p>
        </p:txBody>
      </p:sp>
      <p:sp>
        <p:nvSpPr>
          <p:cNvPr id="14" name="pf_5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9" descr="/home/claude/lls-course/v2/cache/spare_1a2_di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kind?  How often?  Why?</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Really? Me too!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Is that healthy?!</a:t>
            </a:r>
            <a:endParaRPr lang="en-US" sz="1000" dirty="0"/>
          </a:p>
        </p:txBody>
      </p:sp>
      <p:sp>
        <p:nvSpPr>
          <p:cNvPr id="20" name="R1_qb5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normally have lunch?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Where do you normally have lunch? – At school, at about 1.30.</a:t>
            </a:r>
            <a:endParaRPr lang="en-US" sz="1250" dirty="0"/>
          </a:p>
        </p:txBody>
      </p:sp>
      <p:sp>
        <p:nvSpPr>
          <p:cNvPr id="22" name="R2_qb5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What do you usually have for lunch…? – A panino and some fruit.</a:t>
            </a:r>
            <a:endParaRPr lang="en-US" sz="1250" dirty="0"/>
          </a:p>
        </p:txBody>
      </p:sp>
      <p:sp>
        <p:nvSpPr>
          <p:cNvPr id="24" name="R3_qb5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Do you drink fizzy drinks? How many glasses do you drink a day? – One.</a:t>
            </a:r>
            <a:endParaRPr lang="en-US" sz="1100" dirty="0"/>
          </a:p>
        </p:txBody>
      </p:sp>
      <p:sp>
        <p:nvSpPr>
          <p:cNvPr id="26" name="R4_qb5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Are you taking vitamins at the moment? – Yes, vitamin C – it's winter!</a:t>
            </a:r>
            <a:endParaRPr lang="en-US" sz="1200" dirty="0"/>
          </a:p>
        </p:txBody>
      </p:sp>
      <p:sp>
        <p:nvSpPr>
          <p:cNvPr id="28" name="R5_qb57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73"/>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the diet in your country getting better or worse? – Worse – too much fast food!</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7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7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7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Sei d'accordo o no? Dai dei motivi!</a:t>
            </a:r>
            <a:endParaRPr lang="en-US" sz="950" dirty="0"/>
          </a:p>
        </p:txBody>
      </p:sp>
      <p:sp>
        <p:nvSpPr>
          <p:cNvPr id="9" name="cmd_58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8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8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agreeing and disagreeing   ·   📖 SB p.9 · 7a, 7b</a:t>
            </a:r>
            <a:endParaRPr lang="en-US" sz="800" dirty="0"/>
          </a:p>
        </p:txBody>
      </p:sp>
      <p:sp>
        <p:nvSpPr>
          <p:cNvPr id="14" name="pf_5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6" descr="/home/claude/lls-course/v2/cache/spare_1a2_restauran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agree / I don't agree / I disagree with that.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 I don't think that's true.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you're right.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I think it depends.</a:t>
            </a:r>
            <a:endParaRPr lang="en-US" sz="700" dirty="0"/>
          </a:p>
        </p:txBody>
      </p:sp>
      <p:sp>
        <p:nvSpPr>
          <p:cNvPr id="20" name="R1_qb5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9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disagree. If the food is bad, I never go back!</a:t>
            </a:r>
            <a:endParaRPr lang="en-US" sz="1250" dirty="0"/>
          </a:p>
        </p:txBody>
      </p:sp>
      <p:sp>
        <p:nvSpPr>
          <p:cNvPr id="22" name="R2_qb59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think that's true. My nonna is the best cook I know!</a:t>
            </a:r>
            <a:endParaRPr lang="en-US" sz="1250" dirty="0"/>
          </a:p>
        </p:txBody>
      </p:sp>
      <p:sp>
        <p:nvSpPr>
          <p:cNvPr id="24" name="R3_qb59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agree with that. Then we don't need takeaways!</a:t>
            </a:r>
            <a:endParaRPr lang="en-US" sz="1250" dirty="0"/>
          </a:p>
        </p:txBody>
      </p:sp>
      <p:pic>
        <p:nvPicPr>
          <p:cNvPr id="26" name="R3_th597" descr="/home/claude/lls-course/v2/cache/1a2_school_cook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9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9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don't agree – the best panelle in Bagheria are cheap!</a:t>
            </a:r>
            <a:endParaRPr lang="en-US" sz="1250" dirty="0"/>
          </a:p>
        </p:txBody>
      </p:sp>
      <p:sp>
        <p:nvSpPr>
          <p:cNvPr id="29" name="R5_qb60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01"/>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 think it depends. A tip is a nice way to say thank you.</a:t>
            </a:r>
            <a:endParaRPr lang="en-US" sz="1000" dirty="0"/>
          </a:p>
        </p:txBody>
      </p:sp>
      <p:pic>
        <p:nvPicPr>
          <p:cNvPr id="31" name="R5_th602" descr="/home/claude/lls-course/v2/cache/1a2_waiter_tip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2" name="R6_qb60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60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agree with you! But Sicilian food is even better.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0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0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11"/>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12"/>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Exit · what can you remember?</a:t>
            </a:r>
            <a:endParaRPr lang="en-US" sz="800" dirty="0"/>
          </a:p>
        </p:txBody>
      </p:sp>
      <p:sp>
        <p:nvSpPr>
          <p:cNvPr id="13" name="bd_61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1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Marianna's life</a:t>
            </a:r>
            <a:endParaRPr lang="en-US" sz="1400" dirty="0"/>
          </a:p>
        </p:txBody>
      </p:sp>
      <p:sp>
        <p:nvSpPr>
          <p:cNvPr id="15" name="bd_61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1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that never take -ing</a:t>
            </a:r>
            <a:endParaRPr lang="en-US" sz="1400" dirty="0"/>
          </a:p>
        </p:txBody>
      </p:sp>
      <p:sp>
        <p:nvSpPr>
          <p:cNvPr id="17" name="bd_61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2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I usually… but this week I'm…</a:t>
            </a:r>
            <a:endParaRPr lang="en-US" sz="1400" dirty="0"/>
          </a:p>
        </p:txBody>
      </p:sp>
      <p:sp>
        <p:nvSpPr>
          <p:cNvPr id="19" name="cd_62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2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2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2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1A: 3a–3e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1A: a 6–10, b 6–10</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1A-2 in the LLS app</a:t>
            </a:r>
            <a:endParaRPr lang="en-US" sz="1150" dirty="0"/>
          </a:p>
        </p:txBody>
      </p:sp>
      <p:sp>
        <p:nvSpPr>
          <p:cNvPr id="23" name="st_62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2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3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Review · what did you do today?</a:t>
            </a:r>
            <a:endParaRPr lang="en-US" sz="800" dirty="0"/>
          </a:p>
        </p:txBody>
      </p:sp>
      <p:sp>
        <p:nvSpPr>
          <p:cNvPr id="14" name="cd_637"/>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8"/>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9"/>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chef's story</a:t>
            </a:r>
            <a:endParaRPr lang="en-US" sz="1350" dirty="0"/>
          </a:p>
        </p:txBody>
      </p:sp>
      <p:sp>
        <p:nvSpPr>
          <p:cNvPr id="17" name="R1_tk640"/>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41"/>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42"/>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43"/>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usually do – and what you're doing now</a:t>
            </a:r>
            <a:endParaRPr lang="en-US" sz="1350" dirty="0"/>
          </a:p>
        </p:txBody>
      </p:sp>
      <p:sp>
        <p:nvSpPr>
          <p:cNvPr id="21" name="R2_tk644"/>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5"/>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6"/>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7"/>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the verbs that never take -ing</a:t>
            </a:r>
            <a:endParaRPr lang="en-US" sz="1350" dirty="0"/>
          </a:p>
        </p:txBody>
      </p:sp>
      <p:sp>
        <p:nvSpPr>
          <p:cNvPr id="25" name="R3_tk648"/>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9"/>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50"/>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51"/>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Interviewed a partner about your diet</a:t>
            </a:r>
            <a:endParaRPr lang="en-US" sz="1350" dirty="0"/>
          </a:p>
        </p:txBody>
      </p:sp>
      <p:sp>
        <p:nvSpPr>
          <p:cNvPr id="29" name="R4_tk652"/>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53"/>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54"/>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5"/>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656"/>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657"/>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658"/>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659"/>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about food</a:t>
            </a:r>
            <a:endParaRPr lang="en-US" sz="1350" dirty="0"/>
          </a:p>
        </p:txBody>
      </p:sp>
      <p:sp>
        <p:nvSpPr>
          <p:cNvPr id="37" name="R6_tk660"/>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66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3"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64"/>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66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6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6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 giornalista. B = chef famoso. Scambiatevi!</a:t>
            </a:r>
            <a:endParaRPr lang="en-US" sz="950" dirty="0"/>
          </a:p>
        </p:txBody>
      </p:sp>
      <p:sp>
        <p:nvSpPr>
          <p:cNvPr id="9" name="cmd_66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6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Extra · role play</a:t>
            </a:r>
            <a:endParaRPr lang="en-US" sz="800" dirty="0"/>
          </a:p>
        </p:txBody>
      </p:sp>
      <p:sp>
        <p:nvSpPr>
          <p:cNvPr id="14" name="st_6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7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75" descr="/home/claude/lls-course/v2/cache/1a2_chef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7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7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7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7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My restaurant is called… It's in…</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 usually… / At the moment I'm…</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900" dirty="0"/>
          </a:p>
        </p:txBody>
      </p:sp>
      <p:sp>
        <p:nvSpPr>
          <p:cNvPr id="21" name="R1_qb68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8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called 'Il Pescatore'. It's in Aspra, by the sea.</a:t>
            </a:r>
            <a:endParaRPr lang="en-US" sz="1250" dirty="0"/>
          </a:p>
        </p:txBody>
      </p:sp>
      <p:sp>
        <p:nvSpPr>
          <p:cNvPr id="23" name="R2_qb68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8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No – I wanted to be a footballer!</a:t>
            </a:r>
            <a:endParaRPr lang="en-US" sz="1250" dirty="0"/>
          </a:p>
        </p:txBody>
      </p:sp>
      <p:sp>
        <p:nvSpPr>
          <p:cNvPr id="25" name="R3_qb68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8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cook?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usually cook fish – my dad catches it every morning.</a:t>
            </a:r>
            <a:endParaRPr lang="en-US" sz="1250" dirty="0"/>
          </a:p>
        </p:txBody>
      </p:sp>
      <p:sp>
        <p:nvSpPr>
          <p:cNvPr id="27" name="R4_qb68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8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This week I'm making a new pistachio pesto.</a:t>
            </a:r>
            <a:endParaRPr lang="en-US" sz="1250" dirty="0"/>
          </a:p>
        </p:txBody>
      </p:sp>
      <p:sp>
        <p:nvSpPr>
          <p:cNvPr id="29" name="R5_qb68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8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Once a year – and I always eat in other people's restaurants!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2026-10-12T17:08:16Z</dcterms:created>
  <dcterms:modified xsi:type="dcterms:W3CDTF">2026-10-12T17:08:16Z</dcterms:modified>
</cp:coreProperties>
</file>