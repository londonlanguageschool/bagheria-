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(3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click once per word to show its Italian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this comes straight after the rule and the non-action verb list, so students hear simple vs continuous and the non-action verbs (taste, smell, need, know) 15–20 times BEFORE they produce them in the Grammar Bank practice and the games. Click once per line. For each line: 1) say it, 2) ask the questions in grey round the class (yes/no → either/or → who/what), 3) let the CLASS change details: 'Is Nino making a dessert? No? What is he making?' – accept their idea and use it in later lines (change the secret ingredient in line 5 to match!). Students answer with one word or a short phrase – that's fine. Point out the contrast as you go: usually cooks (habit) vs 's making this week (temporary) · tastes / smells / needs / knows – never -ing · is having lunch = eating (action). Finish: 'What happens next?' – one or two ideas, then move on. PQA if the class is quiet: 'Giulia, what do you usually cook? Are you learning anything new at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diet (5 min)
SPEAKING – accurate practice (4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agreeing and disagreeing (5 min)
SPEAKING – fluency (4 min; with less time, let groups choose 3–4 statements).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1.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slideLayout" Target="../slideLayouts/slideLayout1.xml"/><Relationship Id="rId1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slideLayout" Target="../slideLayouts/slideLayout1.xml"/><Relationship Id="rId1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chef's story</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say what you usually do – and what you're doing now</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find the verbs that never take -ing</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interview a partner about your diet</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  agree and disagree about food</a:t>
            </a:r>
            <a:endParaRPr lang="en-US" sz="7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Revision · last lesson</a:t>
            </a:r>
            <a:endParaRPr lang="en-US" sz="800" dirty="0"/>
          </a:p>
        </p:txBody>
      </p:sp>
      <p:sp>
        <p:nvSpPr>
          <p:cNvPr id="12" name="pf_26"/>
          <p:cNvSpPr/>
          <p:nvPr/>
        </p:nvSpPr>
        <p:spPr>
          <a:xfrm rot="-120000">
            <a:off x="365760" y="1701037"/>
            <a:ext cx="2651760" cy="987046"/>
          </a:xfrm>
          <a:prstGeom prst="roundRect">
            <a:avLst>
              <a:gd name="adj" fmla="val 157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1a1_cooking_methods_jpg_616x215_31.png">    </p:cNvPr>
          <p:cNvPicPr>
            <a:picLocks noChangeAspect="1"/>
          </p:cNvPicPr>
          <p:nvPr/>
        </p:nvPicPr>
        <p:blipFill>
          <a:blip r:embed="rId5"/>
          <a:stretch>
            <a:fillRect/>
          </a:stretch>
        </p:blipFill>
        <p:spPr>
          <a:xfrm rot="-120000">
            <a:off x="411480" y="1746757"/>
            <a:ext cx="2560320" cy="895606"/>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1A: food and cooking words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short and long vowel sounds</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squid</a:t>
            </a:r>
            <a:endParaRPr lang="en-US" sz="1200" dirty="0"/>
          </a:p>
        </p:txBody>
      </p:sp>
      <p:sp>
        <p:nvSpPr>
          <p:cNvPr id="20" name="w_34"/>
          <p:cNvSpPr/>
          <p:nvPr/>
        </p:nvSpPr>
        <p:spPr>
          <a:xfrm>
            <a:off x="4183380" y="1783080"/>
            <a:ext cx="75895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tuna</a:t>
            </a:r>
            <a:endParaRPr lang="en-US" sz="1200" dirty="0"/>
          </a:p>
        </p:txBody>
      </p:sp>
      <p:sp>
        <p:nvSpPr>
          <p:cNvPr id="21" name="w_35"/>
          <p:cNvSpPr/>
          <p:nvPr/>
        </p:nvSpPr>
        <p:spPr>
          <a:xfrm>
            <a:off x="5033772" y="1783080"/>
            <a:ext cx="75895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lamb</a:t>
            </a:r>
            <a:endParaRPr lang="en-US" sz="1200" dirty="0"/>
          </a:p>
        </p:txBody>
      </p:sp>
      <p:sp>
        <p:nvSpPr>
          <p:cNvPr id="22" name="w_36"/>
          <p:cNvSpPr/>
          <p:nvPr/>
        </p:nvSpPr>
        <p:spPr>
          <a:xfrm>
            <a:off x="5884164" y="1783080"/>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aubergine</a:t>
            </a:r>
            <a:endParaRPr lang="en-US" sz="1200" dirty="0"/>
          </a:p>
        </p:txBody>
      </p:sp>
      <p:sp>
        <p:nvSpPr>
          <p:cNvPr id="23" name="w_37"/>
          <p:cNvSpPr/>
          <p:nvPr/>
        </p:nvSpPr>
        <p:spPr>
          <a:xfrm>
            <a:off x="7168896" y="1783080"/>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steamed</a:t>
            </a:r>
            <a:endParaRPr lang="en-US" sz="1200" dirty="0"/>
          </a:p>
        </p:txBody>
      </p:sp>
      <p:sp>
        <p:nvSpPr>
          <p:cNvPr id="24" name="w_38"/>
          <p:cNvSpPr/>
          <p:nvPr/>
        </p:nvSpPr>
        <p:spPr>
          <a:xfrm>
            <a:off x="3246120" y="2185416"/>
            <a:ext cx="67208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5" name="w_39"/>
          <p:cNvSpPr/>
          <p:nvPr/>
        </p:nvSpPr>
        <p:spPr>
          <a:xfrm>
            <a:off x="4009644" y="2185416"/>
            <a:ext cx="67208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jar</a:t>
            </a:r>
            <a:endParaRPr lang="en-US" sz="1200" dirty="0"/>
          </a:p>
        </p:txBody>
      </p:sp>
      <p:sp>
        <p:nvSpPr>
          <p:cNvPr id="26" name="w_40"/>
          <p:cNvSpPr/>
          <p:nvPr/>
        </p:nvSpPr>
        <p:spPr>
          <a:xfrm>
            <a:off x="4773168" y="2185416"/>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cook</a:t>
            </a:r>
            <a:endParaRPr lang="en-US" sz="1200" dirty="0"/>
          </a:p>
        </p:txBody>
      </p:sp>
      <p:sp>
        <p:nvSpPr>
          <p:cNvPr id="27" name="lv_41"/>
          <p:cNvSpPr/>
          <p:nvPr/>
        </p:nvSpPr>
        <p:spPr>
          <a:xfrm>
            <a:off x="324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2642616"/>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172968"/>
            <a:ext cx="2756916" cy="1581912"/>
          </a:xfrm>
          <a:prstGeom prst="roundRect">
            <a:avLst>
              <a:gd name="adj" fmla="val 80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246120"/>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950" dirty="0"/>
          </a:p>
        </p:txBody>
      </p:sp>
      <p:sp>
        <p:nvSpPr>
          <p:cNvPr id="32" name="rf_46"/>
          <p:cNvSpPr/>
          <p:nvPr/>
        </p:nvSpPr>
        <p:spPr>
          <a:xfrm>
            <a:off x="3383280"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pig = the animal · a pork = the meat</a:t>
            </a:r>
            <a:endParaRPr lang="en-US" sz="850" dirty="0"/>
          </a:p>
        </p:txBody>
      </p:sp>
      <p:sp>
        <p:nvSpPr>
          <p:cNvPr id="33" name="R1_rl47"/>
          <p:cNvSpPr/>
          <p:nvPr/>
        </p:nvSpPr>
        <p:spPr>
          <a:xfrm>
            <a:off x="3383280"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050" dirty="0"/>
          </a:p>
          <a:p>
            <a:pPr indent="0" marL="0">
              <a:spcAft>
                <a:spcPts val="300"/>
              </a:spcAft>
              <a:buNone/>
            </a:pPr>
            <a:r>
              <a:rPr lang="en-US" sz="10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050" dirty="0"/>
          </a:p>
        </p:txBody>
      </p:sp>
      <p:sp>
        <p:nvSpPr>
          <p:cNvPr id="34" name="cd_48"/>
          <p:cNvSpPr/>
          <p:nvPr/>
        </p:nvSpPr>
        <p:spPr>
          <a:xfrm>
            <a:off x="6112764" y="3172968"/>
            <a:ext cx="2756916" cy="1581912"/>
          </a:xfrm>
          <a:prstGeom prst="roundRect">
            <a:avLst>
              <a:gd name="adj" fmla="val 80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246120"/>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100" dirty="0"/>
          </a:p>
        </p:txBody>
      </p:sp>
      <p:sp>
        <p:nvSpPr>
          <p:cNvPr id="36" name="rf_50"/>
          <p:cNvSpPr/>
          <p:nvPr/>
        </p:nvSpPr>
        <p:spPr>
          <a:xfrm>
            <a:off x="6249924" y="3593592"/>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fish /ɪ/ · a tree /iː/ · a car /ɑː/ · a boot /uː/</a:t>
            </a:r>
            <a:endParaRPr lang="en-US" sz="850" dirty="0"/>
          </a:p>
        </p:txBody>
      </p:sp>
      <p:sp>
        <p:nvSpPr>
          <p:cNvPr id="37" name="R2_rl51"/>
          <p:cNvSpPr/>
          <p:nvPr/>
        </p:nvSpPr>
        <p:spPr>
          <a:xfrm>
            <a:off x="6249924" y="3922776"/>
            <a:ext cx="2482596" cy="758952"/>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Sushi is raw fish.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il cibo e il suo suono!</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1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1A-2 · Warmer · last lesson: food and vowel sounds   ·   📖 Revision of 1A-1 · Vocabulary Bank p.152 · Pronunciation 2a–b (audio 1.6)</a:t>
            </a:r>
            <a:endParaRPr lang="en-US" sz="750" dirty="0"/>
          </a:p>
        </p:txBody>
      </p:sp>
      <p:sp>
        <p:nvSpPr>
          <p:cNvPr id="12" name="cd_61"/>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Teams: write the word AND its sound picture.</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Squadre: scrivete la parola E l'immagine-suono.</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Word = 1 point. Sound = 1 point.</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Parola = 1 punto. Suono = 1 punto.</a:t>
            </a:r>
            <a:endParaRPr lang="en-US" sz="1100" dirty="0"/>
          </a:p>
        </p:txBody>
      </p:sp>
      <p:sp>
        <p:nvSpPr>
          <p:cNvPr id="16" name="pf_65"/>
          <p:cNvSpPr/>
          <p:nvPr/>
        </p:nvSpPr>
        <p:spPr>
          <a:xfrm rot="-120000">
            <a:off x="770832" y="3980688"/>
            <a:ext cx="1750177"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1a1_fish_market_jpg_399x253_31.png">    </p:cNvPr>
          <p:cNvPicPr>
            <a:picLocks noChangeAspect="1"/>
          </p:cNvPicPr>
          <p:nvPr/>
        </p:nvPicPr>
        <p:blipFill>
          <a:blip r:embed="rId5"/>
          <a:stretch>
            <a:fillRect/>
          </a:stretch>
        </p:blipFill>
        <p:spPr>
          <a:xfrm rot="-120000">
            <a:off x="816552" y="4026408"/>
            <a:ext cx="1658737" cy="1051560"/>
          </a:xfrm>
          <a:prstGeom prst="rect">
            <a:avLst/>
          </a:prstGeom>
        </p:spPr>
      </p:pic>
      <p:sp>
        <p:nvSpPr>
          <p:cNvPr id="18" name="bd_6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900" dirty="0"/>
          </a:p>
        </p:txBody>
      </p:sp>
      <p:sp>
        <p:nvSpPr>
          <p:cNvPr id="20" name="chip_6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squid · 🐟 fish /ɪ/</a:t>
            </a:r>
            <a:endParaRPr lang="en-US" sz="1200" dirty="0"/>
          </a:p>
        </p:txBody>
      </p:sp>
      <p:sp>
        <p:nvSpPr>
          <p:cNvPr id="21" name="bd_7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Cooked over hot water.</a:t>
            </a:r>
            <a:endParaRPr lang="en-US" sz="900" dirty="0"/>
          </a:p>
        </p:txBody>
      </p:sp>
      <p:sp>
        <p:nvSpPr>
          <p:cNvPr id="23" name="R1_chip7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steamed · 🌳 tree /iː/</a:t>
            </a:r>
            <a:endParaRPr lang="en-US" sz="1200" dirty="0"/>
          </a:p>
        </p:txBody>
      </p:sp>
      <p:sp>
        <p:nvSpPr>
          <p:cNvPr id="24" name="bd_7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Meat from a young sheep.</a:t>
            </a:r>
            <a:endParaRPr lang="en-US" sz="900" dirty="0"/>
          </a:p>
        </p:txBody>
      </p:sp>
      <p:sp>
        <p:nvSpPr>
          <p:cNvPr id="26" name="R2_chip7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lamb · 🐱 cat /æ/</a:t>
            </a:r>
            <a:endParaRPr lang="en-US" sz="1200" dirty="0"/>
          </a:p>
        </p:txBody>
      </p:sp>
      <p:sp>
        <p:nvSpPr>
          <p:cNvPr id="27" name="bd_7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Jam comes in a glass…</a:t>
            </a:r>
            <a:endParaRPr lang="en-US" sz="900" dirty="0"/>
          </a:p>
        </p:txBody>
      </p:sp>
      <p:sp>
        <p:nvSpPr>
          <p:cNvPr id="29" name="R3_chip7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jar · 🚗 car /ɑː/</a:t>
            </a:r>
            <a:endParaRPr lang="en-US" sz="1200" dirty="0"/>
          </a:p>
        </p:txBody>
      </p:sp>
      <p:sp>
        <p:nvSpPr>
          <p:cNvPr id="30" name="bd_7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900" dirty="0"/>
          </a:p>
        </p:txBody>
      </p:sp>
      <p:sp>
        <p:nvSpPr>
          <p:cNvPr id="32" name="R4_chip8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raw · 🐴 horse /ɔː/</a:t>
            </a:r>
            <a:endParaRPr lang="en-US" sz="1200" dirty="0"/>
          </a:p>
        </p:txBody>
      </p:sp>
      <p:sp>
        <p:nvSpPr>
          <p:cNvPr id="33" name="bd_8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Chillies are very… (not 'spicy'!)</a:t>
            </a:r>
            <a:endParaRPr lang="en-US" sz="900" dirty="0"/>
          </a:p>
        </p:txBody>
      </p:sp>
      <p:sp>
        <p:nvSpPr>
          <p:cNvPr id="35" name="R5_chip8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hot · ⏰ clock /ɒ/</a:t>
            </a:r>
            <a:endParaRPr lang="en-US" sz="1200" dirty="0"/>
          </a:p>
        </p:txBody>
      </p:sp>
      <p:sp>
        <p:nvSpPr>
          <p:cNvPr id="36" name="bd_8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My nonna is a very good…</a:t>
            </a:r>
            <a:endParaRPr lang="en-US" sz="900" dirty="0"/>
          </a:p>
        </p:txBody>
      </p:sp>
      <p:sp>
        <p:nvSpPr>
          <p:cNvPr id="38" name="R6_chip8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cook · 🐂 bull /ʊ/</a:t>
            </a:r>
            <a:endParaRPr lang="en-US" sz="1200" dirty="0"/>
          </a:p>
        </p:txBody>
      </p:sp>
      <p:sp>
        <p:nvSpPr>
          <p:cNvPr id="39" name="bd_8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900" dirty="0"/>
          </a:p>
        </p:txBody>
      </p:sp>
      <p:sp>
        <p:nvSpPr>
          <p:cNvPr id="41" name="R7_chip9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tuna · 👢 boot /uː/</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note_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TPRS · reading</a:t>
            </a:r>
            <a:endParaRPr lang="en-US" sz="1150" dirty="0"/>
          </a:p>
        </p:txBody>
      </p:sp>
      <p:pic>
        <p:nvPicPr>
          <p:cNvPr id="10"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lead-in   ·   📖 SB p.8 · 5a</a:t>
            </a:r>
            <a:endParaRPr lang="en-US" sz="800" dirty="0"/>
          </a:p>
        </p:txBody>
      </p:sp>
      <p:sp>
        <p:nvSpPr>
          <p:cNvPr id="12" name="cd_100"/>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0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4" name="ln_102"/>
          <p:cNvSpPr/>
          <p:nvPr/>
        </p:nvSpPr>
        <p:spPr>
          <a:xfrm>
            <a:off x="548640" y="1920240"/>
            <a:ext cx="5349240" cy="83407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5" name="R1_lnA103"/>
          <p:cNvSpPr/>
          <p:nvPr/>
        </p:nvSpPr>
        <p:spPr>
          <a:xfrm>
            <a:off x="548640" y="1920240"/>
            <a:ext cx="5349240" cy="83407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6" name="ln_104"/>
          <p:cNvSpPr/>
          <p:nvPr/>
        </p:nvSpPr>
        <p:spPr>
          <a:xfrm>
            <a:off x="548640" y="2754310"/>
            <a:ext cx="5349240" cy="46047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17" name="R2_lnA105"/>
          <p:cNvSpPr/>
          <p:nvPr/>
        </p:nvSpPr>
        <p:spPr>
          <a:xfrm>
            <a:off x="548640" y="2754310"/>
            <a:ext cx="5349240" cy="46047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18" name="ln_106"/>
          <p:cNvSpPr/>
          <p:nvPr/>
        </p:nvSpPr>
        <p:spPr>
          <a:xfrm>
            <a:off x="548640" y="3214785"/>
            <a:ext cx="5349240" cy="64292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9" name="R3_lnA107"/>
          <p:cNvSpPr/>
          <p:nvPr/>
        </p:nvSpPr>
        <p:spPr>
          <a:xfrm>
            <a:off x="548640" y="3214785"/>
            <a:ext cx="5349240" cy="64292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0" name="ln_108"/>
          <p:cNvSpPr/>
          <p:nvPr/>
        </p:nvSpPr>
        <p:spPr>
          <a:xfrm>
            <a:off x="548640" y="3857714"/>
            <a:ext cx="5349240" cy="85144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1" name="R4_lnA109"/>
          <p:cNvSpPr/>
          <p:nvPr/>
        </p:nvSpPr>
        <p:spPr>
          <a:xfrm>
            <a:off x="548640" y="3857714"/>
            <a:ext cx="5349240" cy="85144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2" name="pf_11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11" descr="/home/claude/lls-course/v2/cache/1a2_head_chef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112"/>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11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1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115"/>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Word bank: Crete · fisherman · head chef · Scottish · seafood</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caught = past of catch · pescare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1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1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come finiscono. Poi ascolta.</a:t>
            </a:r>
            <a:endParaRPr lang="en-US" sz="950" dirty="0"/>
          </a:p>
        </p:txBody>
      </p:sp>
      <p:sp>
        <p:nvSpPr>
          <p:cNvPr id="9" name="note_1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prediction   ·   📖 SB p.8 · 5a, 5b · audio 1.8</a:t>
            </a:r>
            <a:endParaRPr lang="en-US" sz="800" dirty="0"/>
          </a:p>
        </p:txBody>
      </p:sp>
      <p:sp>
        <p:nvSpPr>
          <p:cNvPr id="12" name="ap_125"/>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3" name="ah_12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2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2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29" descr="/home/claude/lls-course/v2/cache/1a2_fisherman_daught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13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3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3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3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3" name="R1_chip13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4" name="gq_13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5" name="R2_chip13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26" name="gq_13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27" name="R3_chip13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28" name="gq_13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29" name="R4_chip14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0" name="gq_14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950" dirty="0"/>
          </a:p>
        </p:txBody>
      </p:sp>
      <p:sp>
        <p:nvSpPr>
          <p:cNvPr id="31" name="R5_chip14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4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4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4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Cos'altro dice?</a:t>
            </a:r>
            <a:endParaRPr lang="en-US" sz="950" dirty="0"/>
          </a:p>
        </p:txBody>
      </p:sp>
      <p:sp>
        <p:nvSpPr>
          <p:cNvPr id="9" name="note_14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1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1 · detail   ·   📖 SB p.8 · 5c · audio 1.8</a:t>
            </a:r>
            <a:endParaRPr lang="en-US" sz="800" dirty="0"/>
          </a:p>
        </p:txBody>
      </p:sp>
      <p:sp>
        <p:nvSpPr>
          <p:cNvPr id="12" name="ap_152"/>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3" name="ah_15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5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15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15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57" descr="/home/claude/lls-course/v2/cache/1a2_fisherman_daught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158"/>
          <p:cNvSpPr/>
          <p:nvPr/>
        </p:nvSpPr>
        <p:spPr>
          <a:xfrm>
            <a:off x="310896"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pf_15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0" descr="/home/claude/lls-course/v2/cache/1a2_taverna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3" name="bd_161"/>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4" name="pf_162"/>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63" descr="/home/claude/lls-course/v2/cache/spare_1a2_street_food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6" name="bd_164"/>
          <p:cNvSpPr/>
          <p:nvPr/>
        </p:nvSpPr>
        <p:spPr>
          <a:xfrm>
            <a:off x="4059936" y="1956816"/>
            <a:ext cx="420624" cy="42062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7" name="cd_16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8" name="ii_16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6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0" name="il_16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One more fact about each extract.</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Riascolta. Un'altra informazione per ogni frase.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Compare with your partner.</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Confronta con il compagno.</a:t>
            </a:r>
            <a:endParaRPr lang="en-US" sz="700" dirty="0"/>
          </a:p>
        </p:txBody>
      </p:sp>
      <p:sp>
        <p:nvSpPr>
          <p:cNvPr id="31" name="lq_169"/>
          <p:cNvSpPr/>
          <p:nvPr/>
        </p:nvSpPr>
        <p:spPr>
          <a:xfrm>
            <a:off x="6035040" y="2103120"/>
            <a:ext cx="1234440" cy="438912"/>
          </a:xfrm>
          <a:prstGeom prst="roundRect">
            <a:avLst>
              <a:gd name="adj" fmla="val 20833"/>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2" name="R1_chip170"/>
          <p:cNvSpPr/>
          <p:nvPr/>
        </p:nvSpPr>
        <p:spPr>
          <a:xfrm>
            <a:off x="7315200" y="2103120"/>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3" name="lq_171"/>
          <p:cNvSpPr/>
          <p:nvPr/>
        </p:nvSpPr>
        <p:spPr>
          <a:xfrm>
            <a:off x="6035040" y="2633472"/>
            <a:ext cx="1234440" cy="438912"/>
          </a:xfrm>
          <a:prstGeom prst="roundRect">
            <a:avLst>
              <a:gd name="adj" fmla="val 20833"/>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4" name="R2_chip172"/>
          <p:cNvSpPr/>
          <p:nvPr/>
        </p:nvSpPr>
        <p:spPr>
          <a:xfrm>
            <a:off x="7315200" y="2633472"/>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950" dirty="0"/>
          </a:p>
        </p:txBody>
      </p:sp>
      <p:sp>
        <p:nvSpPr>
          <p:cNvPr id="35" name="lq_173"/>
          <p:cNvSpPr/>
          <p:nvPr/>
        </p:nvSpPr>
        <p:spPr>
          <a:xfrm>
            <a:off x="6035040" y="3163824"/>
            <a:ext cx="1234440" cy="438912"/>
          </a:xfrm>
          <a:prstGeom prst="roundRect">
            <a:avLst>
              <a:gd name="adj" fmla="val 20833"/>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6" name="R3_chip174"/>
          <p:cNvSpPr/>
          <p:nvPr/>
        </p:nvSpPr>
        <p:spPr>
          <a:xfrm>
            <a:off x="7315200" y="3163824"/>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950" dirty="0"/>
          </a:p>
        </p:txBody>
      </p:sp>
      <p:sp>
        <p:nvSpPr>
          <p:cNvPr id="37" name="lq_175"/>
          <p:cNvSpPr/>
          <p:nvPr/>
        </p:nvSpPr>
        <p:spPr>
          <a:xfrm>
            <a:off x="6035040" y="3694176"/>
            <a:ext cx="1234440" cy="438912"/>
          </a:xfrm>
          <a:prstGeom prst="roundRect">
            <a:avLst>
              <a:gd name="adj" fmla="val 20833"/>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38" name="R4_chip176"/>
          <p:cNvSpPr/>
          <p:nvPr/>
        </p:nvSpPr>
        <p:spPr>
          <a:xfrm>
            <a:off x="7315200" y="3694176"/>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950" dirty="0"/>
          </a:p>
        </p:txBody>
      </p:sp>
      <p:sp>
        <p:nvSpPr>
          <p:cNvPr id="39" name="lq_177"/>
          <p:cNvSpPr/>
          <p:nvPr/>
        </p:nvSpPr>
        <p:spPr>
          <a:xfrm>
            <a:off x="6035040" y="4224528"/>
            <a:ext cx="1234440" cy="438912"/>
          </a:xfrm>
          <a:prstGeom prst="roundRect">
            <a:avLst>
              <a:gd name="adj" fmla="val 20833"/>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40" name="R5_chip178"/>
          <p:cNvSpPr/>
          <p:nvPr/>
        </p:nvSpPr>
        <p:spPr>
          <a:xfrm>
            <a:off x="7315200" y="4224528"/>
            <a:ext cx="1554480" cy="438912"/>
          </a:xfrm>
          <a:prstGeom prst="roundRect">
            <a:avLst>
              <a:gd name="adj" fmla="val 20833"/>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8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400" dirty="0"/>
          </a:p>
        </p:txBody>
      </p:sp>
      <p:pic>
        <p:nvPicPr>
          <p:cNvPr id="6" name="brP_18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8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Rispondi prima alla 0, poi 1–5.</a:t>
            </a:r>
            <a:endParaRPr lang="en-US" sz="950" dirty="0"/>
          </a:p>
        </p:txBody>
      </p:sp>
      <p:sp>
        <p:nvSpPr>
          <p:cNvPr id="9" name="note_1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250" dirty="0"/>
          </a:p>
        </p:txBody>
      </p:sp>
      <p:pic>
        <p:nvPicPr>
          <p:cNvPr id="10" name="logo_1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Listening · part 2 · gist then detail   ·   📖 SB p.8 · 5d · audio 1.9</a:t>
            </a:r>
            <a:endParaRPr lang="en-US" sz="800" dirty="0"/>
          </a:p>
        </p:txBody>
      </p:sp>
      <p:sp>
        <p:nvSpPr>
          <p:cNvPr id="12" name="ap_188"/>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3" name="ah_18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9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9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92" descr="/home/claude/lls-course/v2/cache/spare_1a2_menu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193"/>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9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9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96"/>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3" name="R1_chip197"/>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4" name="gq_198"/>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5" name="R2_chip199"/>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950" dirty="0"/>
          </a:p>
        </p:txBody>
      </p:sp>
      <p:sp>
        <p:nvSpPr>
          <p:cNvPr id="26" name="gq_200"/>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27" name="R3_chip201"/>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28" name="gq_202"/>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29" name="R4_chip203"/>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0" name="gq_204"/>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1" name="R5_chip205"/>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2" name="gq_206"/>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3" name="R6_chip207"/>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11"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12"/>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e rispondi. Poi scegline UNA!</a:t>
            </a:r>
            <a:endParaRPr lang="en-US" sz="950" dirty="0"/>
          </a:p>
        </p:txBody>
      </p:sp>
      <p:sp>
        <p:nvSpPr>
          <p:cNvPr id="9" name="note_2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what about you?   ·   📖 SB p.8 · 5e</a:t>
            </a:r>
            <a:endParaRPr lang="en-US" sz="800" dirty="0"/>
          </a:p>
        </p:txBody>
      </p:sp>
      <p:sp>
        <p:nvSpPr>
          <p:cNvPr id="12" name="pf_217"/>
          <p:cNvSpPr/>
          <p:nvPr/>
        </p:nvSpPr>
        <p:spPr>
          <a:xfrm rot="-120000">
            <a:off x="1088789" y="1371600"/>
            <a:ext cx="1251422" cy="1325880"/>
          </a:xfrm>
          <a:prstGeom prst="roundRect">
            <a:avLst>
              <a:gd name="adj" fmla="val 124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18" descr="/home/claude/lls-course/v2/cache/spare_1a2_culture_jpg_279x297_31.png">    </p:cNvPr>
          <p:cNvPicPr>
            <a:picLocks noChangeAspect="1"/>
          </p:cNvPicPr>
          <p:nvPr/>
        </p:nvPicPr>
        <p:blipFill>
          <a:blip r:embed="rId5"/>
          <a:stretch>
            <a:fillRect/>
          </a:stretch>
        </p:blipFill>
        <p:spPr>
          <a:xfrm rot="-120000">
            <a:off x="1134509" y="1417320"/>
            <a:ext cx="1159982" cy="1234440"/>
          </a:xfrm>
          <a:prstGeom prst="rect">
            <a:avLst/>
          </a:prstGeom>
        </p:spPr>
      </p:pic>
      <p:sp>
        <p:nvSpPr>
          <p:cNvPr id="14" name="cd_219"/>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20"/>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21"/>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222"/>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When I was a child, I loved…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favourite was…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Me too! / Not me!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about you?</a:t>
            </a:r>
            <a:endParaRPr lang="en-US" sz="1150" dirty="0"/>
          </a:p>
        </p:txBody>
      </p:sp>
      <p:sp>
        <p:nvSpPr>
          <p:cNvPr id="18" name="R1_qb22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22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nonna's pasta al forno – every Sunday!</a:t>
            </a:r>
            <a:endParaRPr lang="en-US" sz="950" dirty="0"/>
          </a:p>
        </p:txBody>
      </p:sp>
      <p:sp>
        <p:nvSpPr>
          <p:cNvPr id="20" name="R2_qb22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22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dad made grilled fish. Yes – I still love it!</a:t>
            </a:r>
            <a:endParaRPr lang="en-US" sz="950" dirty="0"/>
          </a:p>
        </p:txBody>
      </p:sp>
      <p:sp>
        <p:nvSpPr>
          <p:cNvPr id="22" name="R3_qb22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22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 pizzeria in Bagheria – the price and the atmosphere!</a:t>
            </a:r>
            <a:endParaRPr lang="en-US" sz="950" dirty="0"/>
          </a:p>
        </p:txBody>
      </p:sp>
      <p:sp>
        <p:nvSpPr>
          <p:cNvPr id="24" name="R4_qb22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23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nonna's! Nobody cooks like her.</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3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3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Scegli la forma giusta. Poi ascolta.</a:t>
            </a:r>
            <a:endParaRPr lang="en-US" sz="950" dirty="0"/>
          </a:p>
        </p:txBody>
      </p:sp>
      <p:sp>
        <p:nvSpPr>
          <p:cNvPr id="9" name="note_23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Listening for detail</a:t>
            </a:r>
            <a:endParaRPr lang="en-US" sz="1150" dirty="0"/>
          </a:p>
        </p:txBody>
      </p:sp>
      <p:pic>
        <p:nvPicPr>
          <p:cNvPr id="10" name="logo_23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what did she say?   ·   📖 SB p.9 · 6a, 6b · audio 1.10 (4–6 from audio scripts 1.8, 1.9)</a:t>
            </a:r>
            <a:endParaRPr lang="en-US" sz="800" dirty="0"/>
          </a:p>
        </p:txBody>
      </p:sp>
      <p:sp>
        <p:nvSpPr>
          <p:cNvPr id="12" name="ap_240"/>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3" name="ah_24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24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24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4" descr="/home/claude/lls-course/v2/cache/1a2_head_chef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245"/>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24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4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248"/>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3" name="R1_chip249"/>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4" name="gq_250"/>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5" name="R2_chip251"/>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26" name="gq_252"/>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27" name="R3_chip253"/>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28" name="gq_254"/>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29" name="R4_chip255"/>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0" name="gq_256"/>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1" name="R5_chip257"/>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2" name="gq_258"/>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3" name="R6_chip259"/>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40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6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Perché questa forma? Abbina il colore.</a:t>
            </a:r>
            <a:endParaRPr lang="en-US" sz="950" dirty="0"/>
          </a:p>
        </p:txBody>
      </p:sp>
      <p:sp>
        <p:nvSpPr>
          <p:cNvPr id="9" name="note_26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why?   ·   📖 SB p.9 · 6b · audio 1.10, 1.13</a:t>
            </a:r>
            <a:endParaRPr lang="en-US" sz="800" dirty="0"/>
          </a:p>
        </p:txBody>
      </p:sp>
      <p:sp>
        <p:nvSpPr>
          <p:cNvPr id="12" name="cd_269"/>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5" name="lg_272"/>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6" name="lg_273"/>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17" name="lg_274"/>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18" name="sq_275"/>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000" dirty="0"/>
          </a:p>
        </p:txBody>
      </p:sp>
      <p:sp>
        <p:nvSpPr>
          <p:cNvPr id="19" name="R1_tag276"/>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0" name="sq_277"/>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000" dirty="0"/>
          </a:p>
        </p:txBody>
      </p:sp>
      <p:sp>
        <p:nvSpPr>
          <p:cNvPr id="21" name="R2_tag278"/>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2" name="sq_279"/>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000" dirty="0"/>
          </a:p>
        </p:txBody>
      </p:sp>
      <p:sp>
        <p:nvSpPr>
          <p:cNvPr id="23" name="R3_tag280"/>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4" name="sq_281"/>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000" dirty="0"/>
          </a:p>
        </p:txBody>
      </p:sp>
      <p:sp>
        <p:nvSpPr>
          <p:cNvPr id="25" name="R4_tag282"/>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6" name="sq_283"/>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We always order too much.</a:t>
            </a:r>
            <a:endParaRPr lang="en-US" sz="1000" dirty="0"/>
          </a:p>
        </p:txBody>
      </p:sp>
      <p:sp>
        <p:nvSpPr>
          <p:cNvPr id="27" name="R5_tag284"/>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8" name="sq_285"/>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000" dirty="0"/>
          </a:p>
        </p:txBody>
      </p:sp>
      <p:sp>
        <p:nvSpPr>
          <p:cNvPr id="29" name="R6_tag286"/>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0" name="sq_287"/>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 are you cooking?</a:t>
            </a:r>
            <a:endParaRPr lang="en-US" sz="1000" dirty="0"/>
          </a:p>
        </p:txBody>
      </p:sp>
      <p:sp>
        <p:nvSpPr>
          <p:cNvPr id="31" name="R7_tag288"/>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2" name="sq_289"/>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It smells delicious!</a:t>
            </a:r>
            <a:endParaRPr lang="en-US" sz="1000" dirty="0"/>
          </a:p>
        </p:txBody>
      </p:sp>
      <p:sp>
        <p:nvSpPr>
          <p:cNvPr id="33" name="R8_tag290"/>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4" name="pf_291"/>
          <p:cNvSpPr/>
          <p:nvPr/>
        </p:nvSpPr>
        <p:spPr>
          <a:xfrm rot="-120000">
            <a:off x="1105873" y="3703320"/>
            <a:ext cx="1125814"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92" descr="/home/claude/lls-course/v2/cache/spare_1a2_cooking_jpg_249x220_31.png">    </p:cNvPr>
          <p:cNvPicPr>
            <a:picLocks noChangeAspect="1"/>
          </p:cNvPicPr>
          <p:nvPr/>
        </p:nvPicPr>
        <p:blipFill>
          <a:blip r:embed="rId5"/>
          <a:stretch>
            <a:fillRect/>
          </a:stretch>
        </p:blipFill>
        <p:spPr>
          <a:xfrm rot="-120000">
            <a:off x="1151593" y="3749040"/>
            <a:ext cx="1034374"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9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2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gli esempi. Poi clicca!</a:t>
            </a:r>
            <a:endParaRPr lang="en-US" sz="950" dirty="0"/>
          </a:p>
        </p:txBody>
      </p:sp>
      <p:sp>
        <p:nvSpPr>
          <p:cNvPr id="9" name="note_2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the rule   ·   📖 Grammar Bank 1A p.132 · audio 1.11, 1.12, 1.13</a:t>
            </a:r>
            <a:endParaRPr lang="en-US" sz="800" dirty="0"/>
          </a:p>
        </p:txBody>
      </p:sp>
      <p:sp>
        <p:nvSpPr>
          <p:cNvPr id="12" name="ah_302"/>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1.11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3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304"/>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7" name="rh_30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18" name="pf_30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7" descr="/home/claude/lls-course/v2/cache/1a2_dad_cooks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0" name="ru_30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1" name="R1_rx30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2" name="R1_ri31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abitudini, cose sempre vere</a:t>
            </a:r>
            <a:endParaRPr lang="en-US" sz="900" dirty="0"/>
          </a:p>
        </p:txBody>
      </p:sp>
      <p:sp>
        <p:nvSpPr>
          <p:cNvPr id="23" name="cd_311"/>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31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5" name="pf_313"/>
          <p:cNvSpPr/>
          <p:nvPr/>
        </p:nvSpPr>
        <p:spPr>
          <a:xfrm>
            <a:off x="281228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14" descr="/home/claude/lls-course/v2/cache/1a2_cooking_now_jpg_313x209_31.png">    </p:cNvPr>
          <p:cNvPicPr>
            <a:picLocks noChangeAspect="1"/>
          </p:cNvPicPr>
          <p:nvPr/>
        </p:nvPicPr>
        <p:blipFill>
          <a:blip r:embed="rId12"/>
          <a:stretch>
            <a:fillRect/>
          </a:stretch>
        </p:blipFill>
        <p:spPr>
          <a:xfrm>
            <a:off x="2858009" y="1984248"/>
            <a:ext cx="1302003" cy="868680"/>
          </a:xfrm>
          <a:prstGeom prst="rect">
            <a:avLst/>
          </a:prstGeom>
        </p:spPr>
      </p:pic>
      <p:sp>
        <p:nvSpPr>
          <p:cNvPr id="27" name="ru_31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28" name="R2_rx31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29" name="R2_ri31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adesso, in questo periodo</a:t>
            </a:r>
            <a:endParaRPr lang="en-US" sz="900" dirty="0"/>
          </a:p>
        </p:txBody>
      </p:sp>
      <p:sp>
        <p:nvSpPr>
          <p:cNvPr id="30" name="cd_318"/>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1" name="rh_31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2" name="pf_320"/>
          <p:cNvSpPr/>
          <p:nvPr/>
        </p:nvSpPr>
        <p:spPr>
          <a:xfrm>
            <a:off x="4983989" y="1938528"/>
            <a:ext cx="139344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321" descr="/home/claude/lls-course/v2/cache/1a2_tasting_soup_jpg_313x209_31.png">    </p:cNvPr>
          <p:cNvPicPr>
            <a:picLocks noChangeAspect="1"/>
          </p:cNvPicPr>
          <p:nvPr/>
        </p:nvPicPr>
        <p:blipFill>
          <a:blip r:embed="rId13"/>
          <a:stretch>
            <a:fillRect/>
          </a:stretch>
        </p:blipFill>
        <p:spPr>
          <a:xfrm>
            <a:off x="5029709" y="1984248"/>
            <a:ext cx="1302003" cy="868680"/>
          </a:xfrm>
          <a:prstGeom prst="rect">
            <a:avLst/>
          </a:prstGeom>
        </p:spPr>
      </p:pic>
      <p:sp>
        <p:nvSpPr>
          <p:cNvPr id="34" name="ru_32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5" name="R3_rx32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6" name="R3_ri32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verbi di stato: mai -ing</a:t>
            </a:r>
            <a:endParaRPr lang="en-US" sz="900" dirty="0"/>
          </a:p>
        </p:txBody>
      </p:sp>
      <p:sp>
        <p:nvSpPr>
          <p:cNvPr id="37" name="cd_325"/>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8" name="rh_32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39" name="pf_327"/>
          <p:cNvSpPr/>
          <p:nvPr/>
        </p:nvSpPr>
        <p:spPr>
          <a:xfrm>
            <a:off x="7175073" y="1938528"/>
            <a:ext cx="135467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328" descr="/home/claude/lls-course/v2/cache/1a2_cover_jpg_304x209_31.png">    </p:cNvPr>
          <p:cNvPicPr>
            <a:picLocks noChangeAspect="1"/>
          </p:cNvPicPr>
          <p:nvPr/>
        </p:nvPicPr>
        <p:blipFill>
          <a:blip r:embed="rId14"/>
          <a:stretch>
            <a:fillRect/>
          </a:stretch>
        </p:blipFill>
        <p:spPr>
          <a:xfrm>
            <a:off x="7220793" y="1984248"/>
            <a:ext cx="1263233" cy="868680"/>
          </a:xfrm>
          <a:prstGeom prst="rect">
            <a:avLst/>
          </a:prstGeom>
        </p:spPr>
      </p:pic>
      <p:sp>
        <p:nvSpPr>
          <p:cNvPr id="41" name="ru_32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2" name="R4_rx33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3" name="R4_ri33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750" i="1" dirty="0">
                <a:solidFill>
                  <a:srgbClr val="5B6785"/>
                </a:solidFill>
                <a:latin typeface="Segoe UI Semibold" pitchFamily="34" charset="0"/>
                <a:ea typeface="Segoe UI Semibold" pitchFamily="34" charset="-122"/>
                <a:cs typeface="Segoe UI Semibold" pitchFamily="34" charset="-120"/>
              </a:rPr>
              <a:t>possedere / mangiare · opinione / riflettere</a:t>
            </a:r>
            <a:endParaRPr lang="en-US" sz="750" dirty="0"/>
          </a:p>
        </p:txBody>
      </p:sp>
      <p:sp>
        <p:nvSpPr>
          <p:cNvPr id="44" name="R5_wc332"/>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R5_w333"/>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3"/>
                                        </p:tgtEl>
                                      </p:cBhvr>
                                    </p:cmd>
                                  </p:childTnLst>
                                </p:cTn>
                              </p:par>
                            </p:childTnLst>
                          </p:cTn>
                        </p:par>
                      </p:childTnLst>
                    </p:cTn>
                  </p:par>
                </p:childTnLst>
              </p:cTn>
              <p:nextCondLst>
                <p:cond evt="onClick" delay="0">
                  <p:tgtEl>
                    <p:spTgt spid="13"/>
                  </p:tgtEl>
                </p:cond>
              </p:nextCondLst>
            </p:seq>
            <p:seq concurrent="1" nextAc="seek">
              <p:cTn id="48" restart="whenNotActive" fill="hold" evtFilter="cancelBubble" nodeType="interactiveSeq">
                <p:stCondLst>
                  <p:cond evt="onClick" delay="0">
                    <p:tgtEl>
                      <p:spTgt spid="15"/>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5"/>
                                        </p:tgtEl>
                                      </p:cBhvr>
                                    </p:cmd>
                                  </p:childTnLst>
                                </p:cTn>
                              </p:par>
                            </p:childTnLst>
                          </p:cTn>
                        </p:par>
                      </p:childTnLst>
                    </p:cTn>
                  </p:par>
                </p:childTnLst>
              </p:cTn>
              <p:nextCondLst>
                <p:cond evt="onClick" delay="0">
                  <p:tgtEl>
                    <p:spTgt spid="15"/>
                  </p:tgtEl>
                </p:cond>
              </p:nextCondLst>
            </p:seq>
            <p:audio>
              <p:cMediaNode vol="80000">
                <p:cTn id="53" fill="hold" display="0">
                  <p:stCondLst>
                    <p:cond delay="indefinite"/>
                  </p:stCondLst>
                  <p:endCondLst>
                    <p:cond evt="onStopAudio" delay="0">
                      <p:tgtEl>
                        <p:sldTgt/>
                      </p:tgtEl>
                    </p:cond>
                  </p:endCondLst>
                </p:cTn>
                <p:tgtEl>
                  <p:spTgt spid="13"/>
                </p:tgtEl>
              </p:cMediaNode>
            </p:audio>
            <p:audio>
              <p:cMediaNode vol="80000">
                <p:cTn id="54" fill="hold" display="0">
                  <p:stCondLst>
                    <p:cond delay="indefinite"/>
                  </p:stCondLst>
                  <p:endCondLst>
                    <p:cond evt="onStopAudio" delay="0">
                      <p:tgtEl>
                        <p:sldTgt/>
                      </p:tgtEl>
                    </p:cond>
                  </p:endCondLst>
                </p:cTn>
                <p:tgtEl>
                  <p:spTgt spid="15"/>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3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3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3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34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meaning</a:t>
            </a:r>
            <a:endParaRPr lang="en-US" sz="1250" dirty="0"/>
          </a:p>
        </p:txBody>
      </p:sp>
      <p:pic>
        <p:nvPicPr>
          <p:cNvPr id="10" name="logo_3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non-action verbs in Italian</a:t>
            </a:r>
            <a:endParaRPr lang="en-US" sz="800" dirty="0"/>
          </a:p>
        </p:txBody>
      </p:sp>
      <p:sp>
        <p:nvSpPr>
          <p:cNvPr id="12" name="cd_343"/>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34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34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5" name="R1_it34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6" name="cd_347"/>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34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34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19" name="R2_it35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0" name="cd_351"/>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35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35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3" name="R3_it35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4" name="cd_355"/>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35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35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7" name="R4_it35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28" name="cd_359"/>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36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36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1" name="R5_it36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2" name="cd_363"/>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36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36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5" name="R6_it36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6" name="cd_367"/>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36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36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9" name="R7_it37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0" name="cd_371"/>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37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37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3" name="R8_it37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4" name="cd_375"/>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37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37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7" name="R9_it37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48" name="cd_379"/>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38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38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1" name="R10_it38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2" name="cd_383"/>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38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38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5" name="R11_it38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avere odore, profumare</a:t>
            </a:r>
            <a:endParaRPr lang="en-US" sz="850" dirty="0"/>
          </a:p>
        </p:txBody>
      </p:sp>
      <p:sp>
        <p:nvSpPr>
          <p:cNvPr id="56" name="cd_387"/>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38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38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59" name="R12_it39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0" name="R13_wc391"/>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39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3"/>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Nino's terrible dessert</a:t>
            </a:r>
            <a:endParaRPr lang="en-US" sz="2500" dirty="0"/>
          </a:p>
        </p:txBody>
      </p:sp>
      <p:pic>
        <p:nvPicPr>
          <p:cNvPr id="6" name="brP_39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9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class story (TPRS)</a:t>
            </a:r>
            <a:endParaRPr lang="en-US" sz="800" dirty="0"/>
          </a:p>
        </p:txBody>
      </p:sp>
      <p:sp>
        <p:nvSpPr>
          <p:cNvPr id="12" name="pf_402"/>
          <p:cNvSpPr/>
          <p:nvPr/>
        </p:nvSpPr>
        <p:spPr>
          <a:xfrm rot="-90000">
            <a:off x="755076" y="1417320"/>
            <a:ext cx="1873128"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03" descr="/home/claude/lls-course/v2/cache/1a2_tasting_soup_jpg_429x286_31.png">    </p:cNvPr>
          <p:cNvPicPr>
            <a:picLocks noChangeAspect="1"/>
          </p:cNvPicPr>
          <p:nvPr/>
        </p:nvPicPr>
        <p:blipFill>
          <a:blip r:embed="rId5"/>
          <a:stretch>
            <a:fillRect/>
          </a:stretch>
        </p:blipFill>
        <p:spPr>
          <a:xfrm rot="-90000">
            <a:off x="800796" y="1463040"/>
            <a:ext cx="1781688" cy="1188720"/>
          </a:xfrm>
          <a:prstGeom prst="rect">
            <a:avLst/>
          </a:prstGeom>
        </p:spPr>
      </p:pic>
      <p:sp>
        <p:nvSpPr>
          <p:cNvPr id="14" name="cd_404"/>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05"/>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6"/>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07"/>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usually cooks</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cucina di solito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is making (this week)</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sta preparando (in questi giorni)</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tastes / smells</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ha sapore / ha odore</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needs</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ha bisogno di</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is having lunch</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sta pranzando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knows</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sa, conosce</a:t>
            </a:r>
            <a:endParaRPr lang="en-US" sz="750" dirty="0"/>
          </a:p>
        </p:txBody>
      </p:sp>
      <p:sp>
        <p:nvSpPr>
          <p:cNvPr id="18" name="R1_sb408"/>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09"/>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This is Nino. He's a chef in Bagheria. 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usually cooks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fish.</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Nino usually cook fish or pizza? · Where does he work?</a:t>
            </a:r>
            <a:endParaRPr lang="en-US" sz="1150" dirty="0"/>
          </a:p>
        </p:txBody>
      </p:sp>
      <p:sp>
        <p:nvSpPr>
          <p:cNvPr id="20" name="R2_sb410"/>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11"/>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But this week he</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 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new dessert for a big competition.</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making a dessert or a salad? · Why? (you decide!)</a:t>
            </a:r>
            <a:endParaRPr lang="en-US" sz="1150" dirty="0"/>
          </a:p>
        </p:txBody>
      </p:sp>
      <p:sp>
        <p:nvSpPr>
          <p:cNvPr id="22" name="R3_sb412"/>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13"/>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it. Oh no! It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tastes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terrible – like fish!</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it taste good or terrible? · What does it taste like?</a:t>
            </a:r>
            <a:endParaRPr lang="en-US" sz="1150" dirty="0"/>
          </a:p>
        </p:txBody>
      </p:sp>
      <p:sp>
        <p:nvSpPr>
          <p:cNvPr id="24" name="R4_sb414"/>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15"/>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needs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help, so he phones his nonna. She</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 having lunch</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does he phone? · Is nonna having lunch or sleeping?</a:t>
            </a:r>
            <a:endParaRPr lang="en-US" sz="1150" dirty="0"/>
          </a:p>
        </p:txBody>
      </p:sp>
      <p:sp>
        <p:nvSpPr>
          <p:cNvPr id="26" name="R5_sb416"/>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17"/>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knows</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secret: 'You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don't need</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fish, you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need</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pistachios!'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Nino need fish? · What does he need?</a:t>
            </a:r>
            <a:endParaRPr lang="en-US" sz="1100" dirty="0"/>
          </a:p>
        </p:txBody>
      </p:sp>
      <p:sp>
        <p:nvSpPr>
          <p:cNvPr id="28" name="R6_sb418"/>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19"/>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Now the dessert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smells</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amazing, and Nino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is winning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competition!</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it smell good now? · And you – what are you learning to do these days?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2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400" dirty="0"/>
          </a:p>
        </p:txBody>
      </p:sp>
      <p:pic>
        <p:nvPicPr>
          <p:cNvPr id="6" name="brP_42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2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con il verbo. Poi clicca!</a:t>
            </a:r>
            <a:endParaRPr lang="en-US" sz="950" dirty="0"/>
          </a:p>
        </p:txBody>
      </p:sp>
      <p:sp>
        <p:nvSpPr>
          <p:cNvPr id="9" name="note_42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TPRS · reading</a:t>
            </a:r>
            <a:endParaRPr lang="en-US" sz="1150" dirty="0"/>
          </a:p>
        </p:txBody>
      </p:sp>
      <p:pic>
        <p:nvPicPr>
          <p:cNvPr id="10" name="logo_4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 controlled practice   ·   📖 Grammar Bank 1A p.132 · b 1–5 (6–10 = homework)</a:t>
            </a:r>
            <a:endParaRPr lang="en-US" sz="800" dirty="0"/>
          </a:p>
        </p:txBody>
      </p:sp>
      <p:sp>
        <p:nvSpPr>
          <p:cNvPr id="12" name="cd_429"/>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4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4" name="ln_431"/>
          <p:cNvSpPr/>
          <p:nvPr/>
        </p:nvSpPr>
        <p:spPr>
          <a:xfrm>
            <a:off x="548640" y="1920240"/>
            <a:ext cx="5349240" cy="57231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5" name="R1_lnA432"/>
          <p:cNvSpPr/>
          <p:nvPr/>
        </p:nvSpPr>
        <p:spPr>
          <a:xfrm>
            <a:off x="548640" y="1920240"/>
            <a:ext cx="5349240" cy="57231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6" name="ln_433"/>
          <p:cNvSpPr/>
          <p:nvPr/>
        </p:nvSpPr>
        <p:spPr>
          <a:xfrm>
            <a:off x="548640" y="2492559"/>
            <a:ext cx="5349240" cy="554150"/>
          </a:xfrm>
          <a:prstGeom prst="rect">
            <a:avLst/>
          </a:prstGeom>
          <a:noFill/>
          <a:ln/>
        </p:spPr>
        <p:txBody>
          <a:bodyPr wrap="square" lIns="0" tIns="0" rIns="0" bIns="0" rtlCol="0" anchor="t"/>
          <a:lstStyle/>
          <a:p>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17" name="R2_lnA434"/>
          <p:cNvSpPr/>
          <p:nvPr/>
        </p:nvSpPr>
        <p:spPr>
          <a:xfrm>
            <a:off x="548640" y="2492559"/>
            <a:ext cx="5349240" cy="554150"/>
          </a:xfrm>
          <a:prstGeom prst="rect">
            <a:avLst/>
          </a:prstGeom>
          <a:solidFill>
            <a:srgbClr val="FFFFFF"/>
          </a:solidFill>
          <a:ln/>
        </p:spPr>
        <p:txBody>
          <a:bodyPr wrap="square" lIns="0" tIns="0" rIns="0" bIns="0" rtlCol="0" anchor="t"/>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18" name="ln_435"/>
          <p:cNvSpPr/>
          <p:nvPr/>
        </p:nvSpPr>
        <p:spPr>
          <a:xfrm>
            <a:off x="548640" y="3046709"/>
            <a:ext cx="5349240" cy="54506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19" name="R3_lnA436"/>
          <p:cNvSpPr/>
          <p:nvPr/>
        </p:nvSpPr>
        <p:spPr>
          <a:xfrm>
            <a:off x="548640" y="3046709"/>
            <a:ext cx="5349240" cy="54506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0" name="ln_437"/>
          <p:cNvSpPr/>
          <p:nvPr/>
        </p:nvSpPr>
        <p:spPr>
          <a:xfrm>
            <a:off x="548640" y="3591775"/>
            <a:ext cx="5349240" cy="654079"/>
          </a:xfrm>
          <a:prstGeom prst="rect">
            <a:avLst/>
          </a:prstGeom>
          <a:noFill/>
          <a:ln/>
        </p:spPr>
        <p:txBody>
          <a:bodyPr wrap="square" lIns="0" tIns="0" rIns="0" bIns="0" rtlCol="0" anchor="t"/>
          <a:lstStyle/>
          <a:p>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1" name="R4_lnA438"/>
          <p:cNvSpPr/>
          <p:nvPr/>
        </p:nvSpPr>
        <p:spPr>
          <a:xfrm>
            <a:off x="548640" y="3591775"/>
            <a:ext cx="5349240" cy="654079"/>
          </a:xfrm>
          <a:prstGeom prst="rect">
            <a:avLst/>
          </a:prstGeom>
          <a:solidFill>
            <a:srgbClr val="FFFFFF"/>
          </a:solidFill>
          <a:ln/>
        </p:spPr>
        <p:txBody>
          <a:bodyPr wrap="square" lIns="0" tIns="0" rIns="0" bIns="0" rtlCol="0" anchor="t"/>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2" name="ln_439"/>
          <p:cNvSpPr/>
          <p:nvPr/>
        </p:nvSpPr>
        <p:spPr>
          <a:xfrm>
            <a:off x="548640" y="4245854"/>
            <a:ext cx="5349240" cy="46330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3" name="R5_lnA440"/>
          <p:cNvSpPr/>
          <p:nvPr/>
        </p:nvSpPr>
        <p:spPr>
          <a:xfrm>
            <a:off x="548640" y="4245854"/>
            <a:ext cx="5349240" cy="46330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4" name="pf_441"/>
          <p:cNvSpPr/>
          <p:nvPr/>
        </p:nvSpPr>
        <p:spPr>
          <a:xfrm rot="120000">
            <a:off x="6810393" y="1417320"/>
            <a:ext cx="1558254"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42" descr="/home/claude/lls-course/v2/cache/spare_1a2_food_preferences_jpg_353x341_31.png">    </p:cNvPr>
          <p:cNvPicPr>
            <a:picLocks noChangeAspect="1"/>
          </p:cNvPicPr>
          <p:nvPr/>
        </p:nvPicPr>
        <p:blipFill>
          <a:blip r:embed="rId5"/>
          <a:stretch>
            <a:fillRect/>
          </a:stretch>
        </p:blipFill>
        <p:spPr>
          <a:xfrm rot="120000">
            <a:off x="6856113" y="1463040"/>
            <a:ext cx="1466814" cy="1417320"/>
          </a:xfrm>
          <a:prstGeom prst="rect">
            <a:avLst/>
          </a:prstGeom>
        </p:spPr>
      </p:pic>
      <p:sp>
        <p:nvSpPr>
          <p:cNvPr id="26" name="cd_44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44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44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44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never, once a week → simple</a:t>
            </a:r>
            <a:endParaRPr lang="en-US" sz="750" dirty="0"/>
          </a:p>
          <a:p>
            <a:pPr marL="152400" indent="-152400">
              <a:spcBef>
                <a:spcPts val="6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at the moment → -ing (if it's an action!)</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4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4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5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5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Giusto o sbagliato? Correggi gli errori!</a:t>
            </a:r>
            <a:endParaRPr lang="en-US" sz="950" dirty="0"/>
          </a:p>
        </p:txBody>
      </p:sp>
      <p:sp>
        <p:nvSpPr>
          <p:cNvPr id="9" name="note_45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4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a:t>
            </a:r>
            <a:endParaRPr lang="en-US" sz="800" dirty="0"/>
          </a:p>
        </p:txBody>
      </p:sp>
      <p:sp>
        <p:nvSpPr>
          <p:cNvPr id="12" name="cd_456"/>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5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5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59"/>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sentence.</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la frase.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Right answer = 1 point. Correct fix = +1.</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Risposta giusta = 1 punto. Correzione giusta = +1.</a:t>
            </a:r>
            <a:endParaRPr lang="en-US" sz="1200" dirty="0"/>
          </a:p>
        </p:txBody>
      </p:sp>
      <p:sp>
        <p:nvSpPr>
          <p:cNvPr id="16" name="st_460"/>
          <p:cNvSpPr/>
          <p:nvPr/>
        </p:nvSpPr>
        <p:spPr>
          <a:xfrm rot="-180000">
            <a:off x="502920" y="3831336"/>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461"/>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462"/>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I'm needing a new phone.</a:t>
            </a:r>
            <a:endParaRPr lang="en-US" sz="1250" dirty="0"/>
          </a:p>
        </p:txBody>
      </p:sp>
      <p:sp>
        <p:nvSpPr>
          <p:cNvPr id="19" name="chip_463"/>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200" dirty="0"/>
          </a:p>
        </p:txBody>
      </p:sp>
      <p:sp>
        <p:nvSpPr>
          <p:cNvPr id="20" name="bd_464"/>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65"/>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My dad cooks every Sunday.</a:t>
            </a:r>
            <a:endParaRPr lang="en-US" sz="1250" dirty="0"/>
          </a:p>
        </p:txBody>
      </p:sp>
      <p:sp>
        <p:nvSpPr>
          <p:cNvPr id="22" name="R1_chip466"/>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right! (habit)</a:t>
            </a:r>
            <a:endParaRPr lang="en-US" sz="1200" dirty="0"/>
          </a:p>
        </p:txBody>
      </p:sp>
      <p:sp>
        <p:nvSpPr>
          <p:cNvPr id="23" name="bd_467"/>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68"/>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Where's Marco? – He has lunch.</a:t>
            </a:r>
            <a:endParaRPr lang="en-US" sz="1250" dirty="0"/>
          </a:p>
        </p:txBody>
      </p:sp>
      <p:sp>
        <p:nvSpPr>
          <p:cNvPr id="25" name="R2_chip469"/>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He's having lunch. (now)</a:t>
            </a:r>
            <a:endParaRPr lang="en-US" sz="1200" dirty="0"/>
          </a:p>
        </p:txBody>
      </p:sp>
      <p:sp>
        <p:nvSpPr>
          <p:cNvPr id="26" name="bd_470"/>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71"/>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250" dirty="0"/>
          </a:p>
        </p:txBody>
      </p:sp>
      <p:sp>
        <p:nvSpPr>
          <p:cNvPr id="28" name="R3_chip472"/>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200" dirty="0"/>
          </a:p>
        </p:txBody>
      </p:sp>
      <p:sp>
        <p:nvSpPr>
          <p:cNvPr id="29" name="bd_473"/>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74"/>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250" dirty="0"/>
          </a:p>
        </p:txBody>
      </p:sp>
      <p:sp>
        <p:nvSpPr>
          <p:cNvPr id="31" name="R4_chip475"/>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right! (enjoy = action)</a:t>
            </a:r>
            <a:endParaRPr lang="en-US" sz="1200" dirty="0"/>
          </a:p>
        </p:txBody>
      </p:sp>
      <p:sp>
        <p:nvSpPr>
          <p:cNvPr id="32" name="bd_476"/>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77"/>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250" dirty="0"/>
          </a:p>
        </p:txBody>
      </p:sp>
      <p:sp>
        <p:nvSpPr>
          <p:cNvPr id="34" name="R5_chip478"/>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 What are you cooking?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48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8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4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Vince la squadra più veloce!</a:t>
            </a:r>
            <a:endParaRPr lang="en-US" sz="950" dirty="0"/>
          </a:p>
        </p:txBody>
      </p:sp>
      <p:sp>
        <p:nvSpPr>
          <p:cNvPr id="9" name="note_48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REORDER</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150" dirty="0"/>
          </a:p>
        </p:txBody>
      </p:sp>
      <p:pic>
        <p:nvPicPr>
          <p:cNvPr id="10" name="logo_4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Grammar game · questions   ·   📖 SB p.9 · 6d</a:t>
            </a:r>
            <a:endParaRPr lang="en-US" sz="800" dirty="0"/>
          </a:p>
        </p:txBody>
      </p:sp>
      <p:sp>
        <p:nvSpPr>
          <p:cNvPr id="12" name="cd_488"/>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8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9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91"/>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Read the prompt.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Leggi lo spunto.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Teams: say the full question.</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Squadre: dite la domanda completa.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Right question = 1 point.</a:t>
            </a:r>
            <a:endParaRPr lang="en-US" sz="1150" dirty="0"/>
          </a:p>
          <a:p>
            <a:pPr marL="152400" indent="-152400">
              <a:spcAft>
                <a:spcPts val="200"/>
              </a:spcAft>
              <a:buSzPct val="100000"/>
              <a:buChar char=" "/>
            </a:pPr>
            <a:r>
              <a:rPr lang="en-US" sz="1150" dirty="0">
                <a:solidFill>
                  <a:srgbClr val="5B6785"/>
                </a:solidFill>
                <a:latin typeface="Segoe UI Semibold" pitchFamily="34" charset="0"/>
                <a:ea typeface="Segoe UI Semibold" pitchFamily="34" charset="-122"/>
                <a:cs typeface="Segoe UI Semibold" pitchFamily="34" charset="-120"/>
              </a:rPr>
              <a:t>Domanda giusta = 1 punto.</a:t>
            </a:r>
            <a:endParaRPr lang="en-US" sz="1150" dirty="0"/>
          </a:p>
        </p:txBody>
      </p:sp>
      <p:sp>
        <p:nvSpPr>
          <p:cNvPr id="16" name="pf_492"/>
          <p:cNvSpPr/>
          <p:nvPr/>
        </p:nvSpPr>
        <p:spPr>
          <a:xfrm rot="-120000">
            <a:off x="808437" y="4069080"/>
            <a:ext cx="167496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93" descr="/home/claude/lls-course/v2/cache/1a2_breakfast_table_jpg_381x253_31.png">    </p:cNvPr>
          <p:cNvPicPr>
            <a:picLocks noChangeAspect="1"/>
          </p:cNvPicPr>
          <p:nvPr/>
        </p:nvPicPr>
        <p:blipFill>
          <a:blip r:embed="rId5"/>
          <a:stretch>
            <a:fillRect/>
          </a:stretch>
        </p:blipFill>
        <p:spPr>
          <a:xfrm rot="-120000">
            <a:off x="854157" y="4114800"/>
            <a:ext cx="1583526" cy="1051560"/>
          </a:xfrm>
          <a:prstGeom prst="rect">
            <a:avLst/>
          </a:prstGeom>
        </p:spPr>
      </p:pic>
      <p:sp>
        <p:nvSpPr>
          <p:cNvPr id="18" name="bd_494"/>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95"/>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250" dirty="0"/>
          </a:p>
        </p:txBody>
      </p:sp>
      <p:sp>
        <p:nvSpPr>
          <p:cNvPr id="20" name="chip_496"/>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50" dirty="0"/>
          </a:p>
        </p:txBody>
      </p:sp>
      <p:sp>
        <p:nvSpPr>
          <p:cNvPr id="21" name="bd_497"/>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98"/>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ever cook? What / make?</a:t>
            </a:r>
            <a:endParaRPr lang="en-US" sz="1250" dirty="0"/>
          </a:p>
        </p:txBody>
      </p:sp>
      <p:sp>
        <p:nvSpPr>
          <p:cNvPr id="23" name="R1_chip499"/>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50" dirty="0"/>
          </a:p>
        </p:txBody>
      </p:sp>
      <p:sp>
        <p:nvSpPr>
          <p:cNvPr id="24" name="bd_500"/>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01"/>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250" dirty="0"/>
          </a:p>
        </p:txBody>
      </p:sp>
      <p:sp>
        <p:nvSpPr>
          <p:cNvPr id="26" name="R2_chip502"/>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50" dirty="0"/>
          </a:p>
        </p:txBody>
      </p:sp>
      <p:sp>
        <p:nvSpPr>
          <p:cNvPr id="27" name="bd_503"/>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04"/>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250" dirty="0"/>
          </a:p>
        </p:txBody>
      </p:sp>
      <p:sp>
        <p:nvSpPr>
          <p:cNvPr id="29" name="R3_chip505"/>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50" dirty="0"/>
          </a:p>
        </p:txBody>
      </p:sp>
      <p:sp>
        <p:nvSpPr>
          <p:cNvPr id="30" name="bd_506"/>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07"/>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250" dirty="0"/>
          </a:p>
        </p:txBody>
      </p:sp>
      <p:sp>
        <p:nvSpPr>
          <p:cNvPr id="32" name="R4_chip508"/>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50" dirty="0"/>
          </a:p>
        </p:txBody>
      </p:sp>
      <p:sp>
        <p:nvSpPr>
          <p:cNvPr id="33" name="bd_509"/>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10"/>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250" dirty="0"/>
          </a:p>
        </p:txBody>
      </p:sp>
      <p:sp>
        <p:nvSpPr>
          <p:cNvPr id="35" name="R5_chip511"/>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1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15"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16"/>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Forma la domanda. Falla. Poi fanne 1 in più!</a:t>
            </a:r>
            <a:endParaRPr lang="en-US" sz="950" dirty="0"/>
          </a:p>
        </p:txBody>
      </p:sp>
      <p:sp>
        <p:nvSpPr>
          <p:cNvPr id="9" name="note_51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your diet   ·   📖 SB p.9 · 6d</a:t>
            </a:r>
            <a:endParaRPr lang="en-US" sz="800" dirty="0"/>
          </a:p>
        </p:txBody>
      </p:sp>
      <p:sp>
        <p:nvSpPr>
          <p:cNvPr id="12" name="pf_521"/>
          <p:cNvSpPr/>
          <p:nvPr/>
        </p:nvSpPr>
        <p:spPr>
          <a:xfrm rot="-120000">
            <a:off x="1025295" y="1371600"/>
            <a:ext cx="1378409"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22" descr="/home/claude/lls-course/v2/cache/spare_1a2_diet_jpg_310x297_31.png">    </p:cNvPr>
          <p:cNvPicPr>
            <a:picLocks noChangeAspect="1"/>
          </p:cNvPicPr>
          <p:nvPr/>
        </p:nvPicPr>
        <p:blipFill>
          <a:blip r:embed="rId5"/>
          <a:stretch>
            <a:fillRect/>
          </a:stretch>
        </p:blipFill>
        <p:spPr>
          <a:xfrm rot="-120000">
            <a:off x="1071015" y="1417320"/>
            <a:ext cx="1286969" cy="1234440"/>
          </a:xfrm>
          <a:prstGeom prst="rect">
            <a:avLst/>
          </a:prstGeom>
        </p:spPr>
      </p:pic>
      <p:sp>
        <p:nvSpPr>
          <p:cNvPr id="14" name="cd_52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2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2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What kind?  How often?  Why?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Me too!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Is that healthy?!</a:t>
            </a:r>
            <a:endParaRPr lang="en-US" sz="1150" dirty="0"/>
          </a:p>
        </p:txBody>
      </p:sp>
      <p:sp>
        <p:nvSpPr>
          <p:cNvPr id="18" name="R1_qb52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2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Where / normally have lunch?</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Where do you normally have lunch? – At school, at about 1.30.</a:t>
            </a:r>
            <a:endParaRPr lang="en-US" sz="950" dirty="0"/>
          </a:p>
        </p:txBody>
      </p:sp>
      <p:sp>
        <p:nvSpPr>
          <p:cNvPr id="20" name="R2_qb52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3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What do you usually have for lunch…? – A panino and some fruit.</a:t>
            </a:r>
            <a:endParaRPr lang="en-US" sz="950" dirty="0"/>
          </a:p>
        </p:txBody>
      </p:sp>
      <p:sp>
        <p:nvSpPr>
          <p:cNvPr id="22" name="R3_qb53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3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Do you drink fizzy drinks? How many glasses do you drink a day? – One.</a:t>
            </a:r>
            <a:endParaRPr lang="en-US" sz="950" dirty="0"/>
          </a:p>
        </p:txBody>
      </p:sp>
      <p:sp>
        <p:nvSpPr>
          <p:cNvPr id="24" name="R4_qb53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53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Are you taking vitamins at the moment? – Yes, vitamin C – it's winter!</a:t>
            </a:r>
            <a:endParaRPr lang="en-US" sz="950" dirty="0"/>
          </a:p>
        </p:txBody>
      </p:sp>
      <p:sp>
        <p:nvSpPr>
          <p:cNvPr id="26" name="R5_qb53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536"/>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9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Is the diet in your country getting better or worse? – Worse – too much fast food!</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3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4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4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4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Sei d'accordo o no? Dai dei motivi!</a:t>
            </a:r>
            <a:endParaRPr lang="en-US" sz="950" dirty="0"/>
          </a:p>
        </p:txBody>
      </p:sp>
      <p:sp>
        <p:nvSpPr>
          <p:cNvPr id="9" name="note_54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Speaking · agreeing and disagreeing   ·   📖 SB p.9 · 7a, 7b</a:t>
            </a:r>
            <a:endParaRPr lang="en-US" sz="800" dirty="0"/>
          </a:p>
        </p:txBody>
      </p:sp>
      <p:sp>
        <p:nvSpPr>
          <p:cNvPr id="12" name="pf_546"/>
          <p:cNvSpPr/>
          <p:nvPr/>
        </p:nvSpPr>
        <p:spPr>
          <a:xfrm rot="-120000">
            <a:off x="686411" y="1371600"/>
            <a:ext cx="2056178"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47" descr="/home/claude/lls-course/v2/cache/spare_1a2_restaurant_jpg_473x297_31.png">    </p:cNvPr>
          <p:cNvPicPr>
            <a:picLocks noChangeAspect="1"/>
          </p:cNvPicPr>
          <p:nvPr/>
        </p:nvPicPr>
        <p:blipFill>
          <a:blip r:embed="rId5"/>
          <a:stretch>
            <a:fillRect/>
          </a:stretch>
        </p:blipFill>
        <p:spPr>
          <a:xfrm rot="-120000">
            <a:off x="732131" y="1417320"/>
            <a:ext cx="1964738" cy="1234440"/>
          </a:xfrm>
          <a:prstGeom prst="rect">
            <a:avLst/>
          </a:prstGeom>
        </p:spPr>
      </p:pic>
      <p:sp>
        <p:nvSpPr>
          <p:cNvPr id="14" name="cd_548"/>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49"/>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50"/>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51"/>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agree / I don't agree / I disagree with that.</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think / I don't think that's true.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think you're right.</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 think it depends.</a:t>
            </a:r>
            <a:endParaRPr lang="en-US" sz="1000" dirty="0"/>
          </a:p>
        </p:txBody>
      </p:sp>
      <p:sp>
        <p:nvSpPr>
          <p:cNvPr id="18" name="R1_qb552"/>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53"/>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disagree. If the food is bad, I never go back!</a:t>
            </a:r>
            <a:endParaRPr lang="en-US" sz="1000" dirty="0"/>
          </a:p>
        </p:txBody>
      </p:sp>
      <p:sp>
        <p:nvSpPr>
          <p:cNvPr id="20" name="R2_qb554"/>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55"/>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that's true. My nonna is the best cook I know!</a:t>
            </a:r>
            <a:endParaRPr lang="en-US" sz="1000" dirty="0"/>
          </a:p>
        </p:txBody>
      </p:sp>
      <p:sp>
        <p:nvSpPr>
          <p:cNvPr id="22" name="R3_qb556"/>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57"/>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with that. Then we don't need takeaways!</a:t>
            </a:r>
            <a:endParaRPr lang="en-US" sz="1000" dirty="0"/>
          </a:p>
        </p:txBody>
      </p:sp>
      <p:pic>
        <p:nvPicPr>
          <p:cNvPr id="24" name="R3_th558" descr="/home/claude/lls-course/v2/cache/1a2_school_cooking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5" name="R4_qb559"/>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60"/>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agree – the best panelle in Bagheria are cheap!</a:t>
            </a:r>
            <a:endParaRPr lang="en-US" sz="1000" dirty="0"/>
          </a:p>
        </p:txBody>
      </p:sp>
      <p:sp>
        <p:nvSpPr>
          <p:cNvPr id="27" name="R5_qb561"/>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62"/>
          <p:cNvSpPr/>
          <p:nvPr/>
        </p:nvSpPr>
        <p:spPr>
          <a:xfrm>
            <a:off x="3675888" y="364236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think it depends. A tip is a nice way to say thank you.</a:t>
            </a:r>
            <a:endParaRPr lang="en-US" sz="1000" dirty="0"/>
          </a:p>
        </p:txBody>
      </p:sp>
      <p:pic>
        <p:nvPicPr>
          <p:cNvPr id="29" name="R5_th563" descr="/home/claude/lls-course/v2/cache/1a2_waiter_tip_jpg_154x107_18.png">    </p:cNvPr>
          <p:cNvPicPr>
            <a:picLocks noChangeAspect="1"/>
          </p:cNvPicPr>
          <p:nvPr/>
        </p:nvPicPr>
        <p:blipFill>
          <a:blip r:embed="rId7"/>
          <a:stretch>
            <a:fillRect/>
          </a:stretch>
        </p:blipFill>
        <p:spPr>
          <a:xfrm>
            <a:off x="8257032" y="3660648"/>
            <a:ext cx="640080" cy="446532"/>
          </a:xfrm>
          <a:prstGeom prst="rect">
            <a:avLst/>
          </a:prstGeom>
        </p:spPr>
      </p:pic>
      <p:sp>
        <p:nvSpPr>
          <p:cNvPr id="30" name="R6_qb564"/>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65"/>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agree with you! But Sicilian food is even better.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par>
                                <p:cTn id="54" presetID="10" presetClass="entr" presetSubtype="0" fill="hold"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6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6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6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7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Exit · what can you remember?</a:t>
            </a:r>
            <a:endParaRPr lang="en-US" sz="800" dirty="0"/>
          </a:p>
        </p:txBody>
      </p:sp>
      <p:sp>
        <p:nvSpPr>
          <p:cNvPr id="12" name="bd_575"/>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76"/>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facts about Marianna's life</a:t>
            </a:r>
            <a:endParaRPr lang="en-US" sz="1400" dirty="0"/>
          </a:p>
        </p:txBody>
      </p:sp>
      <p:sp>
        <p:nvSpPr>
          <p:cNvPr id="14" name="bd_577"/>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78"/>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verbs that never take -ing</a:t>
            </a:r>
            <a:endParaRPr lang="en-US" sz="1400" dirty="0"/>
          </a:p>
        </p:txBody>
      </p:sp>
      <p:sp>
        <p:nvSpPr>
          <p:cNvPr id="16" name="bd_579"/>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80"/>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sentence: I usually… but this week I'm…</a:t>
            </a:r>
            <a:endParaRPr lang="en-US" sz="1400" dirty="0"/>
          </a:p>
        </p:txBody>
      </p:sp>
      <p:sp>
        <p:nvSpPr>
          <p:cNvPr id="18" name="cd_581"/>
          <p:cNvSpPr/>
          <p:nvPr/>
        </p:nvSpPr>
        <p:spPr>
          <a:xfrm>
            <a:off x="5669280" y="1417320"/>
            <a:ext cx="320040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8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8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84"/>
          <p:cNvSpPr/>
          <p:nvPr/>
        </p:nvSpPr>
        <p:spPr>
          <a:xfrm>
            <a:off x="6236208" y="1911096"/>
            <a:ext cx="254203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Workbook 1A: 3a–3e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Grammar Bank 1A: a 6–10, b 6–10</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Homework sheet 1A-2 in the LLS app</a:t>
            </a:r>
            <a:endParaRPr lang="en-US" sz="1100" dirty="0"/>
          </a:p>
        </p:txBody>
      </p:sp>
      <p:sp>
        <p:nvSpPr>
          <p:cNvPr id="22" name="st_585"/>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8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8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8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9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9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Review · what did you do today?</a:t>
            </a:r>
            <a:endParaRPr lang="en-US" sz="800" dirty="0"/>
          </a:p>
        </p:txBody>
      </p:sp>
      <p:sp>
        <p:nvSpPr>
          <p:cNvPr id="12" name="cd_595"/>
          <p:cNvSpPr/>
          <p:nvPr/>
        </p:nvSpPr>
        <p:spPr>
          <a:xfrm>
            <a:off x="548640" y="141732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96"/>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97"/>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chef's story</a:t>
            </a:r>
            <a:endParaRPr lang="en-US" sz="1350" dirty="0"/>
          </a:p>
        </p:txBody>
      </p:sp>
      <p:sp>
        <p:nvSpPr>
          <p:cNvPr id="15" name="R1_tk598"/>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99"/>
          <p:cNvSpPr/>
          <p:nvPr/>
        </p:nvSpPr>
        <p:spPr>
          <a:xfrm>
            <a:off x="548640" y="196596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00"/>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01"/>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you usually do – and what you're doing now</a:t>
            </a:r>
            <a:endParaRPr lang="en-US" sz="1350" dirty="0"/>
          </a:p>
        </p:txBody>
      </p:sp>
      <p:sp>
        <p:nvSpPr>
          <p:cNvPr id="19" name="R2_tk602"/>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03"/>
          <p:cNvSpPr/>
          <p:nvPr/>
        </p:nvSpPr>
        <p:spPr>
          <a:xfrm>
            <a:off x="548640" y="2514600"/>
            <a:ext cx="6035040" cy="475488"/>
          </a:xfrm>
          <a:prstGeom prst="roundRect">
            <a:avLst>
              <a:gd name="adj" fmla="val 26923"/>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04"/>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05"/>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Found the verbs that never take -ing</a:t>
            </a:r>
            <a:endParaRPr lang="en-US" sz="1350" dirty="0"/>
          </a:p>
        </p:txBody>
      </p:sp>
      <p:sp>
        <p:nvSpPr>
          <p:cNvPr id="23" name="R3_tk606"/>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07"/>
          <p:cNvSpPr/>
          <p:nvPr/>
        </p:nvSpPr>
        <p:spPr>
          <a:xfrm>
            <a:off x="548640" y="3063240"/>
            <a:ext cx="6035040" cy="475488"/>
          </a:xfrm>
          <a:prstGeom prst="roundRect">
            <a:avLst>
              <a:gd name="adj" fmla="val 26923"/>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08"/>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09"/>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Interviewed a partner about your diet</a:t>
            </a:r>
            <a:endParaRPr lang="en-US" sz="1350" dirty="0"/>
          </a:p>
        </p:txBody>
      </p:sp>
      <p:sp>
        <p:nvSpPr>
          <p:cNvPr id="27" name="R4_tk610"/>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11"/>
          <p:cNvSpPr/>
          <p:nvPr/>
        </p:nvSpPr>
        <p:spPr>
          <a:xfrm>
            <a:off x="548640" y="3611880"/>
            <a:ext cx="6035040" cy="475488"/>
          </a:xfrm>
          <a:prstGeom prst="roundRect">
            <a:avLst>
              <a:gd name="adj" fmla="val 2692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12"/>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13"/>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1" name="R5_tk614"/>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cd_615"/>
          <p:cNvSpPr/>
          <p:nvPr/>
        </p:nvSpPr>
        <p:spPr>
          <a:xfrm>
            <a:off x="548640" y="4160520"/>
            <a:ext cx="6035040" cy="475488"/>
          </a:xfrm>
          <a:prstGeom prst="roundRect">
            <a:avLst>
              <a:gd name="adj" fmla="val 2692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te_616"/>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tt_617"/>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Agreed and disagree about food</a:t>
            </a:r>
            <a:endParaRPr lang="en-US" sz="1350" dirty="0"/>
          </a:p>
        </p:txBody>
      </p:sp>
      <p:sp>
        <p:nvSpPr>
          <p:cNvPr id="35" name="R6_tk618"/>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st_61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20"/>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21"/>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22"/>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23"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25"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26"/>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627"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628"/>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6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 giornalista. B = chef famoso. Scambiatevi!</a:t>
            </a:r>
            <a:endParaRPr lang="en-US" sz="950" dirty="0"/>
          </a:p>
        </p:txBody>
      </p:sp>
      <p:sp>
        <p:nvSpPr>
          <p:cNvPr id="9" name="note_63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1A-2 · Extra · role play</a:t>
            </a:r>
            <a:endParaRPr lang="en-US" sz="800" dirty="0"/>
          </a:p>
        </p:txBody>
      </p:sp>
      <p:sp>
        <p:nvSpPr>
          <p:cNvPr id="12" name="ext_633"/>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34"/>
          <p:cNvSpPr/>
          <p:nvPr/>
        </p:nvSpPr>
        <p:spPr>
          <a:xfrm rot="-120000">
            <a:off x="739319" y="1371600"/>
            <a:ext cx="1950361"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35" descr="/home/claude/lls-course/v2/cache/1a2_chef_interview_jpg_447x297_31.png">    </p:cNvPr>
          <p:cNvPicPr>
            <a:picLocks noChangeAspect="1"/>
          </p:cNvPicPr>
          <p:nvPr/>
        </p:nvPicPr>
        <p:blipFill>
          <a:blip r:embed="rId5"/>
          <a:stretch>
            <a:fillRect/>
          </a:stretch>
        </p:blipFill>
        <p:spPr>
          <a:xfrm rot="-120000">
            <a:off x="785039" y="1417320"/>
            <a:ext cx="1858921" cy="1234440"/>
          </a:xfrm>
          <a:prstGeom prst="rect">
            <a:avLst/>
          </a:prstGeom>
        </p:spPr>
      </p:pic>
      <p:sp>
        <p:nvSpPr>
          <p:cNvPr id="15" name="cd_636"/>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3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39"/>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My restaurant is called… It's in…</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 usually… / At the moment I'm…</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100" dirty="0"/>
          </a:p>
        </p:txBody>
      </p:sp>
      <p:sp>
        <p:nvSpPr>
          <p:cNvPr id="19" name="R1_qb64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41"/>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It's called 'Il Pescatore'. It's in Aspra, by the sea.</a:t>
            </a:r>
            <a:endParaRPr lang="en-US" sz="1100" dirty="0"/>
          </a:p>
        </p:txBody>
      </p:sp>
      <p:sp>
        <p:nvSpPr>
          <p:cNvPr id="21" name="R2_qb642"/>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43"/>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 I wanted to be a footballer!</a:t>
            </a:r>
            <a:endParaRPr lang="en-US" sz="1100" dirty="0"/>
          </a:p>
        </p:txBody>
      </p:sp>
      <p:sp>
        <p:nvSpPr>
          <p:cNvPr id="23" name="R3_qb644"/>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45"/>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cook?</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usually cook fish – my dad catches it every morning.</a:t>
            </a:r>
            <a:endParaRPr lang="en-US" sz="1100" dirty="0"/>
          </a:p>
        </p:txBody>
      </p:sp>
      <p:sp>
        <p:nvSpPr>
          <p:cNvPr id="25" name="R4_qb646"/>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47"/>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This week I'm making a new pistachio pesto.</a:t>
            </a:r>
            <a:endParaRPr lang="en-US" sz="1100" dirty="0"/>
          </a:p>
        </p:txBody>
      </p:sp>
      <p:sp>
        <p:nvSpPr>
          <p:cNvPr id="27" name="R5_qb648"/>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49"/>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Once a year – and I always eat in other people's restaurants!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2026-10-21T09:54:43Z</dcterms:created>
  <dcterms:modified xsi:type="dcterms:W3CDTF">2026-10-21T09:54:43Z</dcterms:modified>
</cp:coreProperties>
</file>