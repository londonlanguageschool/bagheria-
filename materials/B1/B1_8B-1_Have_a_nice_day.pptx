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class story (TPRS) (4 min)
TPRS CLASS STORY (4 min) – after the rule, the practice and the shopping words, and just before 'Report it!': students hear reported statements and questions (asked her if… · asked her where she lived · said she was · told him) together with today's shopping words (try on, fit, receipt, refund) many times before they have to produce them in the game. Click once per line. For each line: 1) say it, 2) ask the questions round the class (yes/no → either/or → who/what), 3) let the CLASS change details: 'Did she try on jeans? No? What did she try on?' – accept their idea and use it in later lines. Students answer with one word or a short phrase – that's fine, but push for a reported answer where it's easy ('What did he ask her?' → 'He asked her where she lived.'). Finish: 'What happens next?' – one or two ideas, then play 'Report it!'. Watch for ✗ said me · ✗ asked her where did she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VERY helpful shop assistant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report what people said and asked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🛍️  learn shopping words: receipt, refund, bargain…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shopping habits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QUESTION.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squadre scrivono la DOMANDA.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Domanda corretta = 1 punto.</a:t>
            </a:r>
            <a:endParaRPr lang="en-US" sz="115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05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8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4" name="cd_9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9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"Can I help you?" → SA</a:t>
            </a:r>
            <a:endParaRPr lang="en-US" sz="1050" dirty="0"/>
          </a:p>
        </p:txBody>
      </p:sp>
      <p:sp>
        <p:nvSpPr>
          <p:cNvPr id="18" name="pf_9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7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9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9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2" name="R1_chip10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3" name="bd_10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0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5" name="R2_chip10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6" name="bd_10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0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00" dirty="0"/>
          </a:p>
        </p:txBody>
      </p:sp>
      <p:sp>
        <p:nvSpPr>
          <p:cNvPr id="28" name="R3_chip10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9" name="bd_10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0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1" name="R4_chip10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2" name="bd_11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1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050" dirty="0"/>
          </a:p>
        </p:txBody>
      </p:sp>
      <p:sp>
        <p:nvSpPr>
          <p:cNvPr id="34" name="R5_chip11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5" name="bd_11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1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7" name="R6_chip11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8" name="bd_11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1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050" dirty="0"/>
          </a:p>
        </p:txBody>
      </p:sp>
      <p:sp>
        <p:nvSpPr>
          <p:cNvPr id="40" name="R7_chip11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1" name="bd_11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2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050" dirty="0"/>
          </a:p>
        </p:txBody>
      </p:sp>
      <p:sp>
        <p:nvSpPr>
          <p:cNvPr id="43" name="R8_chip12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26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2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cmd_12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12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13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1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4" name="cd_13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3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6" name="ln_135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7" name="ln_136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8" name="ln_137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9" name="ln_13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20" name="ln_13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1" name="ln_14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2" name="pf_141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142" descr="/home/claude/lls-course/v2/cache/4a1_public_transport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4" name="cd_143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144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145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146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appropriate = right for the situation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 = portafoglio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49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1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cmd_1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cmd_1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5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15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1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5" name="cd_15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6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He asked me if I needed any help. → 'Do you need any help?'</a:t>
            </a:r>
            <a:endParaRPr lang="en-US" sz="1050" dirty="0"/>
          </a:p>
        </p:txBody>
      </p:sp>
      <p:sp>
        <p:nvSpPr>
          <p:cNvPr id="19" name="pf_16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64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16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16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3" name="R1_chip16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4" name="bd_16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16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6" name="R2_chip17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7" name="bd_17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17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9" name="R3_chip17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30" name="bd_17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17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32" name="R4_chip17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3" name="bd_1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17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5" name="R5_chip17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6" name="bd_18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18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8" name="R6_chip18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87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cmd_1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19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4" name="ap_194"/>
          <p:cNvSpPr/>
          <p:nvPr/>
        </p:nvSpPr>
        <p:spPr>
          <a:xfrm>
            <a:off x="6583680" y="914400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</a:t>
            </a:r>
            <a:endParaRPr lang="en-US" sz="1100" dirty="0"/>
          </a:p>
        </p:txBody>
      </p:sp>
      <p:sp>
        <p:nvSpPr>
          <p:cNvPr id="15" name="aw_195"/>
          <p:cNvSpPr/>
          <p:nvPr/>
        </p:nvSpPr>
        <p:spPr>
          <a:xfrm>
            <a:off x="6583680" y="133502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6" name="cd_196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197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8" name="pf_198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99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20" name="ru_200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1" name="R1_rx201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2" name="R1_ri202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3" name="cd_20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20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5" name="pf_205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206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7" name="ru_207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8" name="R2_rx208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9" name="R2_ri209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30" name="cd_210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211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2" name="pf_212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13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4" name="ru_214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5" name="R3_rx215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6" name="R3_ri216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7" name="R4_wc217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R4_w218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23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cmd_2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meta_2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22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2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4" name="cd_23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3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3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'I'm selling all my books.' → Tim said he was selling all his books.</a:t>
            </a:r>
            <a:endParaRPr lang="en-US" sz="1050" dirty="0"/>
          </a:p>
        </p:txBody>
      </p:sp>
      <p:sp>
        <p:nvSpPr>
          <p:cNvPr id="18" name="pf_23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35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3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3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2" name="R1_chip23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3" name="bd_23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4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5" name="R2_chip24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6" name="bd_24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4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8" name="R3_chip24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9" name="bd_24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4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50" dirty="0"/>
          </a:p>
        </p:txBody>
      </p:sp>
      <p:sp>
        <p:nvSpPr>
          <p:cNvPr id="31" name="R4_chip24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2" name="bd_24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4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4" name="R5_chip25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5" name="bd_25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5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00" dirty="0"/>
          </a:p>
        </p:txBody>
      </p:sp>
      <p:sp>
        <p:nvSpPr>
          <p:cNvPr id="37" name="R6_chip25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6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6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26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5" name="ap_26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6" name="aw_267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268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69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27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7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7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273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27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4" name="R1_chip27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5" name="gq_27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6" name="R2_chip27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7" name="gq_27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8" name="R3_chip27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9" name="gq_280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30" name="R4_chip281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1" name="gq_282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2" name="R5_chip283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3" name="gq_284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4" name="R6_chip285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9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4" name="cd_297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9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0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basket / trolley → small, you carry it / big, on wheels</a:t>
            </a:r>
            <a:endParaRPr lang="en-US" sz="1050" dirty="0"/>
          </a:p>
        </p:txBody>
      </p:sp>
      <p:sp>
        <p:nvSpPr>
          <p:cNvPr id="18" name="pf_301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02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03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04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2" name="R1_chip305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3" name="bd_306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07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5" name="R2_chip308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6" name="bd_309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0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8" name="R3_chip311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9" name="bd_312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13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1" name="R4_chip314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2" name="bd_315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16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4" name="R5_chip317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5" name="bd_318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19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7" name="R6_chip320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8" name="bd_321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22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40" name="R7_chip323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3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3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3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4" name="cd_33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33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6" name="en_33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7" name="R1_it33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8" name="cd_33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34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20" name="en_34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1" name="R2_it34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2" name="cd_34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34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4" name="en_34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5" name="R3_it34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6" name="cd_34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34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8" name="en_34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9" name="R4_it35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30" name="cd_35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35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2" name="en_35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3" name="R5_it35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4" name="cd_35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35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6" name="en_35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7" name="R6_it35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8" name="cd_35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36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40" name="en_36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1" name="R7_it36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2" name="cd_36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36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4" name="en_36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5" name="R8_it36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6" name="cd_36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36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8" name="en_36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9" name="R9_it37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50" name="cd_37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37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2" name="en_37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3" name="R10_it37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4" name="cd_37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37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6" name="en_37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7" name="R11_it37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8" name="cd_37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38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60" name="en_38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1" name="R12_it38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2" name="R13_wc38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38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8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Sara and the jeans</a:t>
            </a:r>
            <a:endParaRPr lang="en-US" sz="2500" dirty="0"/>
          </a:p>
        </p:txBody>
      </p:sp>
      <p:pic>
        <p:nvPicPr>
          <p:cNvPr id="6" name="brP_3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8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9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94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story</a:t>
            </a:r>
            <a:endParaRPr lang="en-US" sz="850" dirty="0"/>
          </a:p>
        </p:txBody>
      </p:sp>
      <p:pic>
        <p:nvPicPr>
          <p:cNvPr id="13" name="logo_3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Speaking · class story (TPRS)</a:t>
            </a:r>
            <a:endParaRPr lang="en-US" sz="800" dirty="0"/>
          </a:p>
        </p:txBody>
      </p:sp>
      <p:sp>
        <p:nvSpPr>
          <p:cNvPr id="15" name="cd_397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9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400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 asked her if…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ha chiesto se…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 asked her where…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ha chiesto dove…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 told him (that)…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Gli ha detto che…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on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provare (un vestito)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fit.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è della taglia giusta.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receipt / refund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scontrino / rimborso</a:t>
            </a:r>
            <a:endParaRPr lang="en-US" sz="1000" dirty="0"/>
          </a:p>
        </p:txBody>
      </p:sp>
      <p:sp>
        <p:nvSpPr>
          <p:cNvPr id="19" name="R1_sb401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402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went into a shop in Palermo to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jeans.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Did Sara go to a shop or a bank? · What did she want to try on?</a:t>
            </a:r>
            <a:endParaRPr lang="en-US" sz="1250" dirty="0"/>
          </a:p>
        </p:txBody>
      </p:sp>
      <p:sp>
        <p:nvSpPr>
          <p:cNvPr id="21" name="R2_sb403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404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assistant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 help. She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she was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just looking.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Did he ask about help or money? · What did Sara say?</a:t>
            </a:r>
            <a:endParaRPr lang="en-US" sz="950" dirty="0"/>
          </a:p>
        </p:txBody>
      </p:sp>
      <p:sp>
        <p:nvSpPr>
          <p:cNvPr id="23" name="R3_sb405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406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she liked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football!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Did he ask where she lived or worked? · What else did he ask?</a:t>
            </a:r>
            <a:endParaRPr lang="en-US" sz="1250" dirty="0"/>
          </a:p>
        </p:txBody>
      </p:sp>
      <p:sp>
        <p:nvSpPr>
          <p:cNvPr id="25" name="R4_sb407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408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after work. She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him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was private!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What did he ask? · What did Sara tell him?</a:t>
            </a:r>
            <a:endParaRPr lang="en-US" sz="1000" dirty="0"/>
          </a:p>
        </p:txBody>
      </p:sp>
      <p:sp>
        <p:nvSpPr>
          <p:cNvPr id="27" name="R5_sb409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410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home the jeans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She went back with the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refund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Did the jeans fit? · What did she take back? · What did she want?</a:t>
            </a:r>
            <a:endParaRPr lang="en-US" sz="1000" dirty="0"/>
          </a:p>
        </p:txBody>
      </p:sp>
      <p:sp>
        <p:nvSpPr>
          <p:cNvPr id="29" name="R6_sb411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412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assistant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free on Friday… Sara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 – again!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What did he ask her? · And you – what did a shop assistant last ask you?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1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4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417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4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cmd_41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2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sp>
        <p:nvSpPr>
          <p:cNvPr id="11" name="tag_42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4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4" name="cd_42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2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2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2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partner 3 questions.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3 domande al compagno.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partners. Report: "Luca asked me if… I told him…"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Cambia compagno. Riferisci: "Luca mi ha chiesto se…"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reported sentence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Frase corretta = 1 punto.</a:t>
            </a:r>
            <a:endParaRPr lang="en-US" sz="1000" dirty="0"/>
          </a:p>
        </p:txBody>
      </p:sp>
      <p:sp>
        <p:nvSpPr>
          <p:cNvPr id="18" name="st_428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29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30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1" name="R1_chip431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2" name="bd_432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33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4" name="R2_chip434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5" name="bd_435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36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7" name="R3_chip437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8" name="bd_438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39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30" name="R4_chip440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1" name="bd_441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42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100" dirty="0"/>
          </a:p>
        </p:txBody>
      </p:sp>
      <p:sp>
        <p:nvSpPr>
          <p:cNvPr id="33" name="R5_chip443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00" dirty="0"/>
          </a:p>
        </p:txBody>
      </p:sp>
      <p:sp>
        <p:nvSpPr>
          <p:cNvPr id="34" name="bd_444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445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6" name="R6_chip446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4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5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4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4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45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Reflection</a:t>
            </a:r>
            <a:endParaRPr lang="en-US" sz="850" dirty="0"/>
          </a:p>
        </p:txBody>
      </p:sp>
      <p:pic>
        <p:nvPicPr>
          <p:cNvPr id="12" name="logo_4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Review · what did you do today?</a:t>
            </a:r>
            <a:endParaRPr lang="en-US" sz="800" dirty="0"/>
          </a:p>
        </p:txBody>
      </p:sp>
      <p:sp>
        <p:nvSpPr>
          <p:cNvPr id="14" name="cd_45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45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16" name="tt_46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VERY helpful shop assistant</a:t>
            </a:r>
            <a:endParaRPr lang="en-US" sz="1350" dirty="0"/>
          </a:p>
        </p:txBody>
      </p:sp>
      <p:sp>
        <p:nvSpPr>
          <p:cNvPr id="17" name="R1_tk46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46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46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46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Reported what people said and asked</a:t>
            </a:r>
            <a:endParaRPr lang="en-US" sz="1350" dirty="0"/>
          </a:p>
        </p:txBody>
      </p:sp>
      <p:sp>
        <p:nvSpPr>
          <p:cNvPr id="21" name="R2_tk46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46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46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24" name="tt_46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shopping words: receipt, refund, bargain…</a:t>
            </a:r>
            <a:endParaRPr lang="en-US" sz="1350" dirty="0"/>
          </a:p>
        </p:txBody>
      </p:sp>
      <p:sp>
        <p:nvSpPr>
          <p:cNvPr id="25" name="R3_tk46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47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47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47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47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47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47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47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shopping habits</a:t>
            </a:r>
            <a:endParaRPr lang="en-US" sz="1350" dirty="0"/>
          </a:p>
        </p:txBody>
      </p:sp>
      <p:sp>
        <p:nvSpPr>
          <p:cNvPr id="33" name="R5_tk47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47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8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8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8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85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486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4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3" name="bd_48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9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5" name="bd_49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9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7" name="bd_49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9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9" name="cd_49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9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9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9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49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2026-10-12T10:15:56Z</dcterms:created>
  <dcterms:modified xsi:type="dcterms:W3CDTF">2026-10-12T10:15:56Z</dcterms:modified>
</cp:coreProperties>
</file>