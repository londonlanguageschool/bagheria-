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OPENING (2 min)
Show the photo. Act out an over-friendly shop assistant: 'Hello! Do you need any help? Are you going anywhere nice?' Ask the THINK question; take 3–4 answers. Click: the example. Read 'Today you're going to…'.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2. Revision · last lesson (3 min)
REVISION (2 min). Read the examples. Ask 2 students: 'Would you like to be on Dragons' Den? What product would you present?' Then the warmer game uses this language.
HOW TO RUN IT (active recap): pairs. Words: A points at a word, B says what it means (⭐); then a sentence with it (⭐⭐); strong students make it negative or a question (⭐⭐⭐). Grammar: pairs make their own example for each use (offer, plan…) BEFORE you click – then click to show the model answers.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3. Look back · 8A-2 Dragons' Den (1 min)
LOOK BACK (1 min) before the warmer. Students read the 6 lines silently (the summary of 8A-2: the reading and the Joe and Jake listening). Then hide the slide and play 'Answers first!' – every answer in the game is in these 6 lines. If the class didn't finish 8A-2, use this slide to fill the gap (2 minutes: read and ask 'Would you invest?').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4. Warmer · last lesson (4 min)
RETRIEVAL WARMER (4 min). Two teams, 30 seconds per answer. Click to show a model question; accept any correct question. Facts (TG 8A): Slappie = invested, successful · Tingatang = invested, failure · Tangle Teezer = not invested, very successful · the car came at 5.30 a.m.; Peter offered them a job; they never regretted saying no. Warms up question forms for today's reported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5. Reading · lead-in (3 min)
LEAD-IN (3 min). Pairs decide C or SA; click once per line. Answers (TG): the book's 10 phrases – here 8 of them. Teach changing rooms (= fitting rooms). Quick question: in Bagheria, do shop assistants usually say 'Can I help you?' or leave you alone?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6. Reading · When 'happy to help' becomes a problem (6 min)
READING (5 min). The slide is a short adapted version – students can read the full article on p.80. 1b: Did the second assistant help? (TG: No – he talked too much and kept asking questions.) 1c: underline his questions – which are NOT appropriate? (TG: seven different questions, one repeated; many people think only the first is appropriate.) 'Are you going anywhere nice?' – because the shop is in a train station. 1d: are the assistants in your shops helpful or unhelpful?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7. Grammar · noticing (5 min)
NOTICING (5 min). Pairs rebuild the direct speech BEFORE seeing the rule. Click once per line (TG key). Then ask: What happens to the verb when we report? (goes back: work → worked, am having → was having). And to questions? (no do, normal word order: where I worked; yes/no → if).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8. Grammar · reported speech (5 min)
RULE (5 min). Elicit each column before clicking. Play 8.13/8.14 if available (listen and repeat). TG notes: tenses move back; mustn't stays the same; 'that' optional; tell needs a person; questions: no auxiliary, subject + verb, if/whether for yes/no. Typical mistakes: He said me… · She asked him what was his name.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9. Grammar · practice (6 min)
PRACTICE (6 min). Alone, then compare. Click once per answer (TG key). Read full sentences aloud. Homework: Grammar Bank a 5–7, b 5–7.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10. Grammar · oral practice (4 min)
ORAL PRACTICE (4 min). If 8.15 isn't available, READ the questions yourself; the class reports chorally, then individuals. Click once per item (audio script). Reported answers (script): she lived in the city centre · he was going to the cinema · she was going out · she'd bought it online · he'd seen it twice · the changing rooms were over there.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11. Vocabulary · shopping (5 min)
VOCABULARY (5 min). Elicit first: pairs explain each pair, then click once per line (TG). False friends for Italians: library ≠ libreria (= bookshop!), discount, fit vs suit.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12. Vocabulary · in Italian (2 min)
CONSOLIDATION (2 min). Class says the Italian, then click once per word to show its Italian.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13. Speaking · class story (TPRS) (4 min)
TPRS CLASS STORY (4 min) – after the rule, the practice and the shopping words, and just before 'Report it!': students hear reported statements and questions (asked her if… · asked her where she lived · said she was · told him) together with today's shopping words (try on, fit, receipt, refund) many times before they have to produce them in the game. Click once per line. For each line: 1) say it, 2) ask the questions round the class (yes/no → either/or → who/what), 3) let the CLASS change details: 'Did she try on jeans? No? What did she try on?' – accept their idea and use it in later lines. Students answer with one word or a short phrase – that's fine, but push for a reported answer where it's easy ('What did he ask her?' → 'He asked her where she lived.'). Finish: 'What happens next?' – one or two ideas, then play 'Report it!'. Watch for ✗ said me · ✗ asked her where did she 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14. Speaking game · reported speech (9 min)
FREER PRACTICE + GAME (8 min). Model first: a student asks YOU two questions, then report: 'Luca asked me if I liked shopping. I told him I hated it!' Pairs ask 3 questions each (3 min), change partners and report (3 min). Click to show the model reported question. Listener gives a point for each correct reported sentence (tense back, said/told, question word order). Monitor for 'said me', 'asked me where did you buy', missing 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15. Exit · what can you remember? (2 min)
RETRIEVAL EXIT (2 min). Books closed. Set homework.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16. Review · what did you do today? (1 min)
TODAY YOU… (1 min). Read each line (one per click: the tick appears). Students show thumbs up / middle / down: can they do it now? Note any thumbs down for the next lesson's recap.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jpe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jpe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rs_1"/>
          <p:cNvSpPr/>
          <p:nvPr/>
        </p:nvSpPr>
        <p:spPr>
          <a:xfrm>
            <a:off x="411480" y="29260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English File B1 · SB pp.80–81</a:t>
            </a:r>
            <a:endParaRPr lang="en-US" sz="1000" dirty="0"/>
          </a:p>
        </p:txBody>
      </p:sp>
      <p:sp>
        <p:nvSpPr>
          <p:cNvPr id="4" name="bd_2"/>
          <p:cNvSpPr/>
          <p:nvPr/>
        </p:nvSpPr>
        <p:spPr>
          <a:xfrm>
            <a:off x="365760" y="640080"/>
            <a:ext cx="1051560" cy="1051560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8B-1</a:t>
            </a:r>
            <a:endParaRPr lang="en-US" sz="1600" dirty="0"/>
          </a:p>
        </p:txBody>
      </p:sp>
      <p:pic>
        <p:nvPicPr>
          <p:cNvPr id="5" name="bry_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713232"/>
            <a:ext cx="3566160" cy="868680"/>
          </a:xfrm>
          <a:prstGeom prst="rect">
            <a:avLst/>
          </a:prstGeom>
        </p:spPr>
      </p:pic>
      <p:sp>
        <p:nvSpPr>
          <p:cNvPr id="6" name="t_4"/>
          <p:cNvSpPr/>
          <p:nvPr/>
        </p:nvSpPr>
        <p:spPr>
          <a:xfrm>
            <a:off x="1645920" y="73152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Have a nice day!</a:t>
            </a:r>
            <a:endParaRPr lang="en-US" sz="2100" dirty="0"/>
          </a:p>
        </p:txBody>
      </p:sp>
      <p:pic>
        <p:nvPicPr>
          <p:cNvPr id="7" name="brp_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480" y="1517904"/>
            <a:ext cx="3017520" cy="384048"/>
          </a:xfrm>
          <a:prstGeom prst="rect">
            <a:avLst/>
          </a:prstGeom>
        </p:spPr>
      </p:pic>
      <p:sp>
        <p:nvSpPr>
          <p:cNvPr id="8" name="st_6"/>
          <p:cNvSpPr/>
          <p:nvPr/>
        </p:nvSpPr>
        <p:spPr>
          <a:xfrm>
            <a:off x="1691640" y="1517904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Shopping and reported speech</a:t>
            </a:r>
            <a:endParaRPr lang="en-US" sz="1250" dirty="0"/>
          </a:p>
        </p:txBody>
      </p:sp>
      <p:sp>
        <p:nvSpPr>
          <p:cNvPr id="9" name="cd_7"/>
          <p:cNvSpPr/>
          <p:nvPr/>
        </p:nvSpPr>
        <p:spPr>
          <a:xfrm>
            <a:off x="365760" y="2148840"/>
            <a:ext cx="4206240" cy="1691640"/>
          </a:xfrm>
          <a:prstGeom prst="roundRect">
            <a:avLst>
              <a:gd name="adj" fmla="val 7568"/>
            </a:avLst>
          </a:prstGeom>
          <a:solidFill>
            <a:srgbClr val="E3F1FD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0" name="ii_8"/>
          <p:cNvSpPr/>
          <p:nvPr/>
        </p:nvSpPr>
        <p:spPr>
          <a:xfrm>
            <a:off x="457200" y="22219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🎯</a:t>
            </a:r>
            <a:endParaRPr lang="en-US" sz="2200" dirty="0"/>
          </a:p>
        </p:txBody>
      </p:sp>
      <p:sp>
        <p:nvSpPr>
          <p:cNvPr id="11" name="ih_9"/>
          <p:cNvSpPr/>
          <p:nvPr/>
        </p:nvSpPr>
        <p:spPr>
          <a:xfrm>
            <a:off x="932688" y="22402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Today you're going to…</a:t>
            </a:r>
            <a:endParaRPr lang="en-US" sz="1600" dirty="0"/>
          </a:p>
        </p:txBody>
      </p:sp>
      <p:sp>
        <p:nvSpPr>
          <p:cNvPr id="12" name="il_10"/>
          <p:cNvSpPr/>
          <p:nvPr/>
        </p:nvSpPr>
        <p:spPr>
          <a:xfrm>
            <a:off x="932688" y="2642616"/>
            <a:ext cx="3547872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👀  read about a VERY helpful shop assistant</a:t>
            </a:r>
            <a:endParaRPr lang="en-US" sz="85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✏️  report what people said and asked</a:t>
            </a:r>
            <a:endParaRPr lang="en-US" sz="85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🛍️  learn shopping words: receipt, refund, bargain…</a:t>
            </a:r>
            <a:endParaRPr lang="en-US" sz="85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📖  listen to a class story and answer questions</a:t>
            </a:r>
            <a:endParaRPr lang="en-US" sz="85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💬  talk about your shopping habits</a:t>
            </a:r>
            <a:endParaRPr lang="en-US" sz="850" dirty="0"/>
          </a:p>
        </p:txBody>
      </p:sp>
      <p:sp>
        <p:nvSpPr>
          <p:cNvPr id="13" name="R1_ex11"/>
          <p:cNvSpPr/>
          <p:nvPr/>
        </p:nvSpPr>
        <p:spPr>
          <a:xfrm>
            <a:off x="365760" y="3950208"/>
            <a:ext cx="4206240" cy="603504"/>
          </a:xfrm>
          <a:prstGeom prst="roundRect">
            <a:avLst>
              <a:gd name="adj" fmla="val 18182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52400" tIns="25400" rIns="1524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E8508F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EXAMPLE  </a:t>
            </a:r>
            <a:pPr indent="0" marL="0">
              <a:buNone/>
            </a:pPr>
            <a:r>
              <a:rPr lang="en-US" sz="130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Not really – I prefer to look in peace! I only ask if I need help.</a:t>
            </a:r>
            <a:endParaRPr lang="en-US" sz="1000" dirty="0"/>
          </a:p>
        </p:txBody>
      </p:sp>
      <p:sp>
        <p:nvSpPr>
          <p:cNvPr id="14" name="pf_12"/>
          <p:cNvSpPr/>
          <p:nvPr/>
        </p:nvSpPr>
        <p:spPr>
          <a:xfrm rot="90000">
            <a:off x="4846320" y="777240"/>
            <a:ext cx="3977640" cy="3200400"/>
          </a:xfrm>
          <a:prstGeom prst="roundRect">
            <a:avLst>
              <a:gd name="adj" fmla="val 48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13" descr="/home/claude/lls-course/v2/cache/2a1_waste_jpg_935x748_3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90000">
            <a:off x="4892040" y="822960"/>
            <a:ext cx="3886200" cy="3108960"/>
          </a:xfrm>
          <a:prstGeom prst="rect">
            <a:avLst/>
          </a:prstGeom>
        </p:spPr>
      </p:pic>
      <p:sp>
        <p:nvSpPr>
          <p:cNvPr id="16" name="bb_14"/>
          <p:cNvSpPr/>
          <p:nvPr/>
        </p:nvSpPr>
        <p:spPr>
          <a:xfrm>
            <a:off x="5120640" y="3611880"/>
            <a:ext cx="3566160" cy="822960"/>
          </a:xfrm>
          <a:prstGeom prst="wedgeRoundRectCallout">
            <a:avLst/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lIns="127000" tIns="50800" rIns="1270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Do you like it when shop assistants talk to you?</a:t>
            </a:r>
            <a:endParaRPr lang="en-US" sz="1600" dirty="0"/>
          </a:p>
        </p:txBody>
      </p:sp>
      <p:sp>
        <p:nvSpPr>
          <p:cNvPr id="17" name="st_15"/>
          <p:cNvSpPr/>
          <p:nvPr/>
        </p:nvSpPr>
        <p:spPr>
          <a:xfrm rot="360000">
            <a:off x="7543800" y="502920"/>
            <a:ext cx="1325880" cy="38404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💡 THINK · PENSA</a:t>
            </a:r>
            <a:endParaRPr lang="en-US" sz="950" dirty="0"/>
          </a:p>
        </p:txBody>
      </p:sp>
      <p:pic>
        <p:nvPicPr>
          <p:cNvPr id="18" name="logo_16" descr="/home/claude/lls-course/v2/img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85632" y="4526280"/>
            <a:ext cx="502920" cy="50292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2800" dirty="0"/>
          </a:p>
        </p:txBody>
      </p:sp>
      <p:pic>
        <p:nvPicPr>
          <p:cNvPr id="4" name="brY_1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034333" cy="621792"/>
          </a:xfrm>
          <a:prstGeom prst="rect">
            <a:avLst/>
          </a:prstGeom>
        </p:spPr>
      </p:pic>
      <p:sp>
        <p:nvSpPr>
          <p:cNvPr id="5" name="title_19"/>
          <p:cNvSpPr/>
          <p:nvPr/>
        </p:nvSpPr>
        <p:spPr>
          <a:xfrm>
            <a:off x="1261872" y="164592"/>
            <a:ext cx="376001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 last lesson?</a:t>
            </a:r>
            <a:endParaRPr lang="en-US" sz="2400" dirty="0"/>
          </a:p>
        </p:txBody>
      </p:sp>
      <p:pic>
        <p:nvPicPr>
          <p:cNvPr id="6" name="brP_2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57800" cy="402336"/>
          </a:xfrm>
          <a:prstGeom prst="rect">
            <a:avLst/>
          </a:prstGeom>
        </p:spPr>
      </p:pic>
      <p:sp>
        <p:nvSpPr>
          <p:cNvPr id="7" name="ins_21"/>
          <p:cNvSpPr/>
          <p:nvPr/>
        </p:nvSpPr>
        <p:spPr>
          <a:xfrm>
            <a:off x="1353312" y="731520"/>
            <a:ext cx="5001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 you remember? Say it – then use it in a sentence!</a:t>
            </a:r>
            <a:endParaRPr lang="en-US" sz="1250" dirty="0"/>
          </a:p>
        </p:txBody>
      </p:sp>
      <p:sp>
        <p:nvSpPr>
          <p:cNvPr id="8" name="insIT_22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Ti ricordi? Dillo – poi usalo in una frase!</a:t>
            </a:r>
            <a:endParaRPr lang="en-US" sz="950" dirty="0"/>
          </a:p>
        </p:txBody>
      </p:sp>
      <p:sp>
        <p:nvSpPr>
          <p:cNvPr id="9" name="note_23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💡 THINK</a:t>
            </a:r>
            <a:pPr algn="ctr" indent="0" marL="0">
              <a:buNone/>
            </a:pPr>
            <a:r>
              <a:rPr lang="en-US" sz="1200" dirty="0">
                <a:solidFill>
                  <a:srgbClr val="5B6785"/>
                </a:solidFill>
              </a:rPr>
              <a:t> → </a:t>
            </a:r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💬 TALK</a:t>
            </a:r>
            <a:endParaRPr lang="en-US" sz="11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11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 · Retrieval</a:t>
            </a:r>
            <a:endParaRPr lang="en-US" sz="1150" dirty="0"/>
          </a:p>
        </p:txBody>
      </p:sp>
      <p:pic>
        <p:nvPicPr>
          <p:cNvPr id="10" name="logo_2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2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8B-1 · Revision · last lesson</a:t>
            </a:r>
            <a:endParaRPr lang="en-US" sz="800" dirty="0"/>
          </a:p>
        </p:txBody>
      </p:sp>
      <p:sp>
        <p:nvSpPr>
          <p:cNvPr id="12" name="pf_26"/>
          <p:cNvSpPr/>
          <p:nvPr/>
        </p:nvSpPr>
        <p:spPr>
          <a:xfrm rot="-120000">
            <a:off x="365760" y="1371600"/>
            <a:ext cx="2651760" cy="1645920"/>
          </a:xfrm>
          <a:prstGeom prst="roundRect">
            <a:avLst>
              <a:gd name="adj" fmla="val 944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3" name="ph_27" descr="/home/claude/lls-course/v2/cache/2a1_afford_jpg_616x374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411480" y="1417320"/>
            <a:ext cx="2560320" cy="1554480"/>
          </a:xfrm>
          <a:prstGeom prst="rect">
            <a:avLst/>
          </a:prstGeom>
        </p:spPr>
      </p:pic>
      <p:sp>
        <p:nvSpPr>
          <p:cNvPr id="14" name="cd_28"/>
          <p:cNvSpPr/>
          <p:nvPr/>
        </p:nvSpPr>
        <p:spPr>
          <a:xfrm>
            <a:off x="320040" y="3200400"/>
            <a:ext cx="2743200" cy="1402080"/>
          </a:xfrm>
          <a:prstGeom prst="roundRect">
            <a:avLst>
              <a:gd name="adj" fmla="val 9130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29"/>
          <p:cNvSpPr/>
          <p:nvPr/>
        </p:nvSpPr>
        <p:spPr>
          <a:xfrm>
            <a:off x="411480" y="32735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📅</a:t>
            </a:r>
            <a:endParaRPr lang="en-US" sz="2200" dirty="0"/>
          </a:p>
        </p:txBody>
      </p:sp>
      <p:sp>
        <p:nvSpPr>
          <p:cNvPr id="16" name="ih_30"/>
          <p:cNvSpPr/>
          <p:nvPr/>
        </p:nvSpPr>
        <p:spPr>
          <a:xfrm>
            <a:off x="886968" y="32918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Last lesson…</a:t>
            </a:r>
            <a:endParaRPr lang="en-US" sz="1300" dirty="0"/>
          </a:p>
        </p:txBody>
      </p:sp>
      <p:sp>
        <p:nvSpPr>
          <p:cNvPr id="17" name="il_31"/>
          <p:cNvSpPr/>
          <p:nvPr/>
        </p:nvSpPr>
        <p:spPr>
          <a:xfrm>
            <a:off x="886968" y="3694176"/>
            <a:ext cx="2084832" cy="8351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8A: The right job for you</a:t>
            </a:r>
            <a:endParaRPr lang="en-US" sz="11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Dragons' Den · gerunds and infinitives</a:t>
            </a:r>
            <a:endParaRPr lang="en-US" sz="1100" dirty="0"/>
          </a:p>
        </p:txBody>
      </p:sp>
      <p:sp>
        <p:nvSpPr>
          <p:cNvPr id="18" name="kw_32"/>
          <p:cNvSpPr/>
          <p:nvPr/>
        </p:nvSpPr>
        <p:spPr>
          <a:xfrm>
            <a:off x="3246120" y="1417320"/>
            <a:ext cx="5623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🔤 Can you remember these words? What do they mean?</a:t>
            </a:r>
            <a:endParaRPr lang="en-US" sz="1200" dirty="0"/>
          </a:p>
        </p:txBody>
      </p:sp>
      <p:sp>
        <p:nvSpPr>
          <p:cNvPr id="19" name="w_33"/>
          <p:cNvSpPr/>
          <p:nvPr/>
        </p:nvSpPr>
        <p:spPr>
          <a:xfrm>
            <a:off x="3246120" y="1783080"/>
            <a:ext cx="932688" cy="347472"/>
          </a:xfrm>
          <a:prstGeom prst="roundRect">
            <a:avLst>
              <a:gd name="adj" fmla="val 50000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invest</a:t>
            </a:r>
            <a:endParaRPr lang="en-US" sz="1200" dirty="0"/>
          </a:p>
        </p:txBody>
      </p:sp>
      <p:sp>
        <p:nvSpPr>
          <p:cNvPr id="20" name="w_34"/>
          <p:cNvSpPr/>
          <p:nvPr/>
        </p:nvSpPr>
        <p:spPr>
          <a:xfrm>
            <a:off x="4270248" y="1783080"/>
            <a:ext cx="845820" cy="347472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28575">
            <a:solidFill>
              <a:srgbClr val="A9D3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pitch</a:t>
            </a:r>
            <a:endParaRPr lang="en-US" sz="1200" dirty="0"/>
          </a:p>
        </p:txBody>
      </p:sp>
      <p:sp>
        <p:nvSpPr>
          <p:cNvPr id="21" name="w_35"/>
          <p:cNvSpPr/>
          <p:nvPr/>
        </p:nvSpPr>
        <p:spPr>
          <a:xfrm>
            <a:off x="5207508" y="1783080"/>
            <a:ext cx="1019556" cy="347472"/>
          </a:xfrm>
          <a:prstGeom prst="roundRect">
            <a:avLst>
              <a:gd name="adj" fmla="val 5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product</a:t>
            </a:r>
            <a:endParaRPr lang="en-US" sz="1200" dirty="0"/>
          </a:p>
        </p:txBody>
      </p:sp>
      <p:sp>
        <p:nvSpPr>
          <p:cNvPr id="22" name="w_36"/>
          <p:cNvSpPr/>
          <p:nvPr/>
        </p:nvSpPr>
        <p:spPr>
          <a:xfrm>
            <a:off x="6318504" y="1783080"/>
            <a:ext cx="1453896" cy="347472"/>
          </a:xfrm>
          <a:prstGeom prst="roundRect">
            <a:avLst>
              <a:gd name="adj" fmla="val 50000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entrepreneur</a:t>
            </a:r>
            <a:endParaRPr lang="en-US" sz="1200" dirty="0"/>
          </a:p>
        </p:txBody>
      </p:sp>
      <p:sp>
        <p:nvSpPr>
          <p:cNvPr id="23" name="w_37"/>
          <p:cNvSpPr/>
          <p:nvPr/>
        </p:nvSpPr>
        <p:spPr>
          <a:xfrm>
            <a:off x="3246120" y="2185416"/>
            <a:ext cx="1019556" cy="347472"/>
          </a:xfrm>
          <a:prstGeom prst="roundRect">
            <a:avLst>
              <a:gd name="adj" fmla="val 50000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I'm out</a:t>
            </a:r>
            <a:endParaRPr lang="en-US" sz="1200" dirty="0"/>
          </a:p>
        </p:txBody>
      </p:sp>
      <p:sp>
        <p:nvSpPr>
          <p:cNvPr id="24" name="w_38"/>
          <p:cNvSpPr/>
          <p:nvPr/>
        </p:nvSpPr>
        <p:spPr>
          <a:xfrm>
            <a:off x="4357116" y="2185416"/>
            <a:ext cx="932688" cy="347472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28575">
            <a:solidFill>
              <a:srgbClr val="A9D3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regret</a:t>
            </a:r>
            <a:endParaRPr lang="en-US" sz="1200" dirty="0"/>
          </a:p>
        </p:txBody>
      </p:sp>
      <p:sp>
        <p:nvSpPr>
          <p:cNvPr id="25" name="lv_39"/>
          <p:cNvSpPr/>
          <p:nvPr/>
        </p:nvSpPr>
        <p:spPr>
          <a:xfrm>
            <a:off x="3246120" y="2642616"/>
            <a:ext cx="1813560" cy="384048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28575">
            <a:solidFill>
              <a:srgbClr val="CDBFF3"/>
            </a:solidFill>
          </a:ln>
        </p:spPr>
        <p:txBody>
          <a:bodyPr wrap="square" lIns="50800" tIns="0" rIns="508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⭐ </a:t>
            </a:r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does it mean?</a:t>
            </a:r>
            <a:endParaRPr lang="en-US" sz="1000" dirty="0"/>
          </a:p>
        </p:txBody>
      </p:sp>
      <p:sp>
        <p:nvSpPr>
          <p:cNvPr id="26" name="lv_40"/>
          <p:cNvSpPr/>
          <p:nvPr/>
        </p:nvSpPr>
        <p:spPr>
          <a:xfrm>
            <a:off x="5151120" y="2642616"/>
            <a:ext cx="1813560" cy="384048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28575">
            <a:solidFill>
              <a:srgbClr val="CDBFF3"/>
            </a:solidFill>
          </a:ln>
        </p:spPr>
        <p:txBody>
          <a:bodyPr wrap="square" lIns="50800" tIns="0" rIns="508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⭐⭐ </a:t>
            </a:r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Use it in a sentence.</a:t>
            </a:r>
            <a:endParaRPr lang="en-US" sz="1000" dirty="0"/>
          </a:p>
        </p:txBody>
      </p:sp>
      <p:sp>
        <p:nvSpPr>
          <p:cNvPr id="27" name="lv_41"/>
          <p:cNvSpPr/>
          <p:nvPr/>
        </p:nvSpPr>
        <p:spPr>
          <a:xfrm>
            <a:off x="7056120" y="2642616"/>
            <a:ext cx="1813560" cy="384048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28575">
            <a:solidFill>
              <a:srgbClr val="CDBFF3"/>
            </a:solidFill>
          </a:ln>
        </p:spPr>
        <p:txBody>
          <a:bodyPr wrap="square" lIns="50800" tIns="0" rIns="508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⭐⭐⭐ 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Make it negative or a question!</a:t>
            </a:r>
            <a:endParaRPr lang="en-US" sz="950" dirty="0"/>
          </a:p>
        </p:txBody>
      </p:sp>
      <p:sp>
        <p:nvSpPr>
          <p:cNvPr id="28" name="cd_42"/>
          <p:cNvSpPr/>
          <p:nvPr/>
        </p:nvSpPr>
        <p:spPr>
          <a:xfrm>
            <a:off x="3246120" y="3172968"/>
            <a:ext cx="2756916" cy="1581912"/>
          </a:xfrm>
          <a:prstGeom prst="roundRect">
            <a:avLst>
              <a:gd name="adj" fmla="val 8092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9" name="rh_43"/>
          <p:cNvSpPr/>
          <p:nvPr/>
        </p:nvSpPr>
        <p:spPr>
          <a:xfrm>
            <a:off x="3337560" y="3246120"/>
            <a:ext cx="2574036" cy="310896"/>
          </a:xfrm>
          <a:prstGeom prst="roundRect">
            <a:avLst>
              <a:gd name="adj" fmla="val 50000"/>
            </a:avLst>
          </a:prstGeom>
          <a:solidFill>
            <a:srgbClr val="E8508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Your turn: </a:t>
            </a:r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Dragons' Den</a:t>
            </a:r>
            <a:endParaRPr lang="en-US" sz="1100" dirty="0"/>
          </a:p>
        </p:txBody>
      </p:sp>
      <p:sp>
        <p:nvSpPr>
          <p:cNvPr id="30" name="R1_rl44"/>
          <p:cNvSpPr/>
          <p:nvPr/>
        </p:nvSpPr>
        <p:spPr>
          <a:xfrm>
            <a:off x="3383280" y="3630168"/>
            <a:ext cx="2482596" cy="105156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Entrepreneurs present a product to 'Dragons'.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'I'm out.' = I won't invest.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Slappie watches = success · Tangle Teezer = success without them!</a:t>
            </a:r>
            <a:endParaRPr lang="en-US" sz="1000" dirty="0"/>
          </a:p>
        </p:txBody>
      </p:sp>
      <p:sp>
        <p:nvSpPr>
          <p:cNvPr id="31" name="cd_45"/>
          <p:cNvSpPr/>
          <p:nvPr/>
        </p:nvSpPr>
        <p:spPr>
          <a:xfrm>
            <a:off x="6112764" y="3172968"/>
            <a:ext cx="2756916" cy="1581912"/>
          </a:xfrm>
          <a:prstGeom prst="roundRect">
            <a:avLst>
              <a:gd name="adj" fmla="val 8092"/>
            </a:avLst>
          </a:prstGeom>
          <a:solidFill>
            <a:srgbClr val="FFFFFF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2" name="rh_46"/>
          <p:cNvSpPr/>
          <p:nvPr/>
        </p:nvSpPr>
        <p:spPr>
          <a:xfrm>
            <a:off x="6204204" y="3246120"/>
            <a:ext cx="2574036" cy="310896"/>
          </a:xfrm>
          <a:prstGeom prst="roundRect">
            <a:avLst>
              <a:gd name="adj" fmla="val 50000"/>
            </a:avLst>
          </a:prstGeom>
          <a:solidFill>
            <a:srgbClr val="2F8DE4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Your turn: </a:t>
            </a:r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Gerund or infinitive?</a:t>
            </a:r>
            <a:endParaRPr lang="en-US" sz="1100" dirty="0"/>
          </a:p>
        </p:txBody>
      </p:sp>
      <p:sp>
        <p:nvSpPr>
          <p:cNvPr id="33" name="R2_rl47"/>
          <p:cNvSpPr/>
          <p:nvPr/>
        </p:nvSpPr>
        <p:spPr>
          <a:xfrm>
            <a:off x="6249924" y="3630168"/>
            <a:ext cx="2482596" cy="105156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enjoy working with people.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I'd like to start my own business.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It's hard to find a good job.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8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2800" dirty="0"/>
          </a:p>
        </p:txBody>
      </p:sp>
      <p:pic>
        <p:nvPicPr>
          <p:cNvPr id="4" name="brY_49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405226" cy="621792"/>
          </a:xfrm>
          <a:prstGeom prst="rect">
            <a:avLst/>
          </a:prstGeom>
        </p:spPr>
      </p:pic>
      <p:sp>
        <p:nvSpPr>
          <p:cNvPr id="5" name="title_50"/>
          <p:cNvSpPr/>
          <p:nvPr/>
        </p:nvSpPr>
        <p:spPr>
          <a:xfrm>
            <a:off x="1261872" y="164592"/>
            <a:ext cx="31309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 the Den?</a:t>
            </a:r>
            <a:endParaRPr lang="en-US" sz="2250" dirty="0"/>
          </a:p>
        </p:txBody>
      </p:sp>
      <p:pic>
        <p:nvPicPr>
          <p:cNvPr id="6" name="brP_51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161788" cy="402336"/>
          </a:xfrm>
          <a:prstGeom prst="rect">
            <a:avLst/>
          </a:prstGeom>
        </p:spPr>
      </p:pic>
      <p:sp>
        <p:nvSpPr>
          <p:cNvPr id="7" name="ins_52"/>
          <p:cNvSpPr/>
          <p:nvPr/>
        </p:nvSpPr>
        <p:spPr>
          <a:xfrm>
            <a:off x="1353312" y="731520"/>
            <a:ext cx="49057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Read: last lesson in 6 lines. Then close your eyes!</a:t>
            </a:r>
            <a:endParaRPr lang="en-US" sz="1250" dirty="0"/>
          </a:p>
        </p:txBody>
      </p:sp>
      <p:sp>
        <p:nvSpPr>
          <p:cNvPr id="8" name="insIT_53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Leggi: la lezione scorsa in 6 righe. Poi chiudi gli occhi!</a:t>
            </a:r>
            <a:endParaRPr lang="en-US" sz="950" dirty="0"/>
          </a:p>
        </p:txBody>
      </p:sp>
      <p:sp>
        <p:nvSpPr>
          <p:cNvPr id="9" name="note_54"/>
          <p:cNvSpPr/>
          <p:nvPr/>
        </p:nvSpPr>
        <p:spPr>
          <a:xfrm rot="180000">
            <a:off x="6382512" y="128016"/>
            <a:ext cx="2029968" cy="74980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👀 READ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LEGGI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1 min   👤 alone</a:t>
            </a:r>
            <a:endParaRPr lang="en-US" sz="1250" dirty="0"/>
          </a:p>
        </p:txBody>
      </p:sp>
      <p:pic>
        <p:nvPicPr>
          <p:cNvPr id="10" name="logo_55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56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8B-1 · Look back · 8A-2 Dragons' Den</a:t>
            </a:r>
            <a:endParaRPr lang="en-US" sz="800" dirty="0"/>
          </a:p>
        </p:txBody>
      </p:sp>
      <p:sp>
        <p:nvSpPr>
          <p:cNvPr id="12" name="cd_57"/>
          <p:cNvSpPr/>
          <p:nvPr/>
        </p:nvSpPr>
        <p:spPr>
          <a:xfrm>
            <a:off x="320040" y="1417320"/>
            <a:ext cx="5715000" cy="3337560"/>
          </a:xfrm>
          <a:prstGeom prst="roundRect">
            <a:avLst>
              <a:gd name="adj" fmla="val 3836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sh_58"/>
          <p:cNvSpPr/>
          <p:nvPr/>
        </p:nvSpPr>
        <p:spPr>
          <a:xfrm>
            <a:off x="320040" y="1417320"/>
            <a:ext cx="5715000" cy="438912"/>
          </a:xfrm>
          <a:prstGeom prst="rect">
            <a:avLst/>
          </a:prstGeom>
          <a:solidFill>
            <a:srgbClr val="E3F7EA"/>
          </a:solidFill>
          <a:ln/>
        </p:spPr>
        <p:txBody>
          <a:bodyPr wrap="square" lIns="203200" tIns="0" rIns="20320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🐉 Last lesson: Dragons' Den</a:t>
            </a:r>
            <a:endParaRPr lang="en-US" sz="1700" dirty="0"/>
          </a:p>
        </p:txBody>
      </p:sp>
      <p:sp>
        <p:nvSpPr>
          <p:cNvPr id="14" name="ln_59"/>
          <p:cNvSpPr/>
          <p:nvPr/>
        </p:nvSpPr>
        <p:spPr>
          <a:xfrm>
            <a:off x="548640" y="1920240"/>
            <a:ext cx="5349240" cy="5807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Dragons' Den is a TV show: people have 3 minutes to pitch a product to five rich investors, 'the Dragons'.</a:t>
            </a:r>
            <a:endParaRPr lang="en-US" sz="1250" dirty="0"/>
          </a:p>
        </p:txBody>
      </p:sp>
      <p:sp>
        <p:nvSpPr>
          <p:cNvPr id="15" name="ln_60"/>
          <p:cNvSpPr/>
          <p:nvPr/>
        </p:nvSpPr>
        <p:spPr>
          <a:xfrm>
            <a:off x="548640" y="2501037"/>
            <a:ext cx="5349240" cy="31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When a Dragon doesn't want to invest, they say: "I'm out."</a:t>
            </a:r>
            <a:endParaRPr lang="en-US" sz="1250" dirty="0"/>
          </a:p>
        </p:txBody>
      </p:sp>
      <p:sp>
        <p:nvSpPr>
          <p:cNvPr id="16" name="ln_61"/>
          <p:cNvSpPr/>
          <p:nvPr/>
        </p:nvSpPr>
        <p:spPr>
          <a:xfrm>
            <a:off x="548640" y="2818831"/>
            <a:ext cx="5349240" cy="416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Slappie watches (cheap, colourful straps): the Dragons invested – a success.</a:t>
            </a:r>
            <a:endParaRPr lang="en-US" sz="1250" dirty="0"/>
          </a:p>
        </p:txBody>
      </p:sp>
      <p:sp>
        <p:nvSpPr>
          <p:cNvPr id="17" name="ln_62"/>
          <p:cNvSpPr/>
          <p:nvPr/>
        </p:nvSpPr>
        <p:spPr>
          <a:xfrm>
            <a:off x="548640" y="3235251"/>
            <a:ext cx="5349240" cy="449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Tangle Teezer (hairbrushes): the Dragons didn't invest – but it was a BIG success!</a:t>
            </a:r>
            <a:endParaRPr lang="en-US" sz="1250" dirty="0"/>
          </a:p>
        </p:txBody>
      </p:sp>
      <p:sp>
        <p:nvSpPr>
          <p:cNvPr id="18" name="ln_63"/>
          <p:cNvSpPr/>
          <p:nvPr/>
        </p:nvSpPr>
        <p:spPr>
          <a:xfrm>
            <a:off x="548640" y="3684547"/>
            <a:ext cx="5349240" cy="449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Joe and Jake (Frame Again): a car picked them up at half past five in the morning.</a:t>
            </a:r>
            <a:endParaRPr lang="en-US" sz="1250" dirty="0"/>
          </a:p>
        </p:txBody>
      </p:sp>
      <p:sp>
        <p:nvSpPr>
          <p:cNvPr id="19" name="ln_64"/>
          <p:cNvSpPr/>
          <p:nvPr/>
        </p:nvSpPr>
        <p:spPr>
          <a:xfrm>
            <a:off x="548640" y="4133843"/>
            <a:ext cx="5349240" cy="5753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Peter didn't invest – he offered them a job! They said no and never regretted it: "No, not for a second."</a:t>
            </a:r>
            <a:endParaRPr lang="en-US" sz="1250" dirty="0"/>
          </a:p>
        </p:txBody>
      </p:sp>
      <p:sp>
        <p:nvSpPr>
          <p:cNvPr id="20" name="pf_65"/>
          <p:cNvSpPr/>
          <p:nvPr/>
        </p:nvSpPr>
        <p:spPr>
          <a:xfrm rot="120000">
            <a:off x="6598920" y="1417320"/>
            <a:ext cx="1981200" cy="1508760"/>
          </a:xfrm>
          <a:prstGeom prst="roundRect">
            <a:avLst>
              <a:gd name="adj" fmla="val 1030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1" name="ph_66" descr="/home/claude/lls-course/v2/cache/8a2_investors_jpg_455x34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20000">
            <a:off x="6644640" y="1463040"/>
            <a:ext cx="1889760" cy="1417320"/>
          </a:xfrm>
          <a:prstGeom prst="rect">
            <a:avLst/>
          </a:prstGeom>
        </p:spPr>
      </p:pic>
      <p:sp>
        <p:nvSpPr>
          <p:cNvPr id="22" name="cd_67"/>
          <p:cNvSpPr/>
          <p:nvPr/>
        </p:nvSpPr>
        <p:spPr>
          <a:xfrm>
            <a:off x="6263640" y="3794760"/>
            <a:ext cx="2651760" cy="960120"/>
          </a:xfrm>
          <a:prstGeom prst="roundRect">
            <a:avLst>
              <a:gd name="adj" fmla="val 13333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3" name="ii_68"/>
          <p:cNvSpPr/>
          <p:nvPr/>
        </p:nvSpPr>
        <p:spPr>
          <a:xfrm>
            <a:off x="6355080" y="3867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24" name="ih_69"/>
          <p:cNvSpPr/>
          <p:nvPr/>
        </p:nvSpPr>
        <p:spPr>
          <a:xfrm>
            <a:off x="6830568" y="3886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</a:t>
            </a:r>
            <a:endParaRPr lang="en-US" sz="1200" dirty="0"/>
          </a:p>
        </p:txBody>
      </p:sp>
      <p:sp>
        <p:nvSpPr>
          <p:cNvPr id="25" name="il_70"/>
          <p:cNvSpPr/>
          <p:nvPr/>
        </p:nvSpPr>
        <p:spPr>
          <a:xfrm>
            <a:off x="6830568" y="4288536"/>
            <a:ext cx="199339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pitch = presentare un'idea</a:t>
            </a:r>
            <a:endParaRPr lang="en-US" sz="9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invest = investire</a:t>
            </a:r>
            <a:endParaRPr lang="en-US" sz="900" dirty="0"/>
          </a:p>
        </p:txBody>
      </p:sp>
    </p:spTree>
  </p:cSld>
  <p:clrMapOvr>
    <a:masterClrMapping/>
  </p:clrMapOvr>
  <p:transition spd="med">
    <p:push dir="l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71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2800" dirty="0"/>
          </a:p>
        </p:txBody>
      </p:sp>
      <p:pic>
        <p:nvPicPr>
          <p:cNvPr id="4" name="brY_72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933395" cy="621792"/>
          </a:xfrm>
          <a:prstGeom prst="rect">
            <a:avLst/>
          </a:prstGeom>
        </p:spPr>
      </p:pic>
      <p:sp>
        <p:nvSpPr>
          <p:cNvPr id="5" name="title_73"/>
          <p:cNvSpPr/>
          <p:nvPr/>
        </p:nvSpPr>
        <p:spPr>
          <a:xfrm>
            <a:off x="1261872" y="164592"/>
            <a:ext cx="26590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Answers first!</a:t>
            </a:r>
            <a:endParaRPr lang="en-US" sz="2500" dirty="0"/>
          </a:p>
        </p:txBody>
      </p:sp>
      <p:pic>
        <p:nvPicPr>
          <p:cNvPr id="6" name="brP_74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858768" cy="402336"/>
          </a:xfrm>
          <a:prstGeom prst="rect">
            <a:avLst/>
          </a:prstGeom>
        </p:spPr>
      </p:pic>
      <p:sp>
        <p:nvSpPr>
          <p:cNvPr id="7" name="ins_75"/>
          <p:cNvSpPr/>
          <p:nvPr/>
        </p:nvSpPr>
        <p:spPr>
          <a:xfrm>
            <a:off x="1353312" y="731520"/>
            <a:ext cx="3602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answer. Write the question!</a:t>
            </a:r>
            <a:endParaRPr lang="en-US" sz="1250" dirty="0"/>
          </a:p>
        </p:txBody>
      </p:sp>
      <p:sp>
        <p:nvSpPr>
          <p:cNvPr id="8" name="insIT_76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Leggi la risposta. Scrivi la domanda!</a:t>
            </a:r>
            <a:endParaRPr lang="en-US" sz="950" dirty="0"/>
          </a:p>
        </p:txBody>
      </p:sp>
      <p:sp>
        <p:nvSpPr>
          <p:cNvPr id="9" name="note_77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🎲 PLAY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GIOCA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🏆 teams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 · Communicative game</a:t>
            </a:r>
            <a:endParaRPr lang="en-US" sz="1250" dirty="0"/>
          </a:p>
        </p:txBody>
      </p:sp>
      <p:pic>
        <p:nvPicPr>
          <p:cNvPr id="10" name="logo_78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79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8B-1 · Warmer · last lesson   ·   📖 Recycles 8A part 2 · audio 8.9–8.11</a:t>
            </a:r>
            <a:endParaRPr lang="en-US" sz="800" dirty="0"/>
          </a:p>
        </p:txBody>
      </p:sp>
      <p:sp>
        <p:nvSpPr>
          <p:cNvPr id="12" name="cd_80"/>
          <p:cNvSpPr/>
          <p:nvPr/>
        </p:nvSpPr>
        <p:spPr>
          <a:xfrm>
            <a:off x="320040" y="1417320"/>
            <a:ext cx="2697480" cy="1569720"/>
          </a:xfrm>
          <a:prstGeom prst="roundRect">
            <a:avLst>
              <a:gd name="adj" fmla="val 8155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ii_81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4" name="ih_82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400" dirty="0"/>
          </a:p>
        </p:txBody>
      </p:sp>
      <p:sp>
        <p:nvSpPr>
          <p:cNvPr id="15" name="il_83"/>
          <p:cNvSpPr/>
          <p:nvPr/>
        </p:nvSpPr>
        <p:spPr>
          <a:xfrm>
            <a:off x="886968" y="1911096"/>
            <a:ext cx="2039112" cy="1002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Correct question = 1 point.</a:t>
            </a:r>
            <a:endParaRPr lang="en-US" sz="12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12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Domanda corretta = 1 punto.</a:t>
            </a:r>
            <a:endParaRPr lang="en-US" sz="1200" dirty="0"/>
          </a:p>
        </p:txBody>
      </p:sp>
      <p:sp>
        <p:nvSpPr>
          <p:cNvPr id="16" name="st_84"/>
          <p:cNvSpPr/>
          <p:nvPr/>
        </p:nvSpPr>
        <p:spPr>
          <a:xfrm rot="-180000">
            <a:off x="502920" y="3169920"/>
            <a:ext cx="2286000" cy="77724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A  ☆☆☆☆☆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B  ☆☆☆☆☆</a:t>
            </a:r>
            <a:endParaRPr lang="en-US" sz="1250" dirty="0"/>
          </a:p>
        </p:txBody>
      </p:sp>
      <p:sp>
        <p:nvSpPr>
          <p:cNvPr id="17" name="bd_85"/>
          <p:cNvSpPr/>
          <p:nvPr/>
        </p:nvSpPr>
        <p:spPr>
          <a:xfrm>
            <a:off x="3246120" y="1491234"/>
            <a:ext cx="329184" cy="329184"/>
          </a:xfrm>
          <a:prstGeom prst="ellipse">
            <a:avLst/>
          </a:prstGeom>
          <a:solidFill>
            <a:srgbClr val="7B5CD6"/>
          </a:solidFill>
          <a:ln w="28575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e.g.</a:t>
            </a:r>
            <a:endParaRPr lang="en-US" sz="500" dirty="0"/>
          </a:p>
        </p:txBody>
      </p:sp>
      <p:sp>
        <p:nvSpPr>
          <p:cNvPr id="18" name="gq_86"/>
          <p:cNvSpPr/>
          <p:nvPr/>
        </p:nvSpPr>
        <p:spPr>
          <a:xfrm>
            <a:off x="3657600" y="14173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EEE8FB"/>
          </a:solidFill>
          <a:ln w="28575">
            <a:solidFill>
              <a:srgbClr val="CDBFF3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"I'm out."</a:t>
            </a:r>
            <a:endParaRPr lang="en-US" sz="1250" dirty="0"/>
          </a:p>
        </p:txBody>
      </p:sp>
      <p:sp>
        <p:nvSpPr>
          <p:cNvPr id="19" name="chip_87"/>
          <p:cNvSpPr/>
          <p:nvPr/>
        </p:nvSpPr>
        <p:spPr>
          <a:xfrm>
            <a:off x="6263640" y="14173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EEE8FB"/>
          </a:solidFill>
          <a:ln w="28575">
            <a:solidFill>
              <a:srgbClr val="CDBFF3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What do the Dragons say when they don't want to invest?</a:t>
            </a:r>
            <a:endParaRPr lang="en-US" sz="1050" dirty="0"/>
          </a:p>
        </p:txBody>
      </p:sp>
      <p:sp>
        <p:nvSpPr>
          <p:cNvPr id="20" name="bd_88"/>
          <p:cNvSpPr/>
          <p:nvPr/>
        </p:nvSpPr>
        <p:spPr>
          <a:xfrm>
            <a:off x="3246120" y="2032254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gq_89"/>
          <p:cNvSpPr/>
          <p:nvPr/>
        </p:nvSpPr>
        <p:spPr>
          <a:xfrm>
            <a:off x="3657600" y="195834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Slappie watches</a:t>
            </a:r>
            <a:endParaRPr lang="en-US" sz="1250" dirty="0"/>
          </a:p>
        </p:txBody>
      </p:sp>
      <p:sp>
        <p:nvSpPr>
          <p:cNvPr id="22" name="R1_chip90"/>
          <p:cNvSpPr/>
          <p:nvPr/>
        </p:nvSpPr>
        <p:spPr>
          <a:xfrm>
            <a:off x="6263640" y="195834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Which product did they invest in (a success)?</a:t>
            </a:r>
            <a:endParaRPr lang="en-US" sz="1100" dirty="0"/>
          </a:p>
        </p:txBody>
      </p:sp>
      <p:sp>
        <p:nvSpPr>
          <p:cNvPr id="23" name="bd_91"/>
          <p:cNvSpPr/>
          <p:nvPr/>
        </p:nvSpPr>
        <p:spPr>
          <a:xfrm>
            <a:off x="3246120" y="2573274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gq_92"/>
          <p:cNvSpPr/>
          <p:nvPr/>
        </p:nvSpPr>
        <p:spPr>
          <a:xfrm>
            <a:off x="3657600" y="249936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Tangle Teezer</a:t>
            </a:r>
            <a:endParaRPr lang="en-US" sz="1250" dirty="0"/>
          </a:p>
        </p:txBody>
      </p:sp>
      <p:sp>
        <p:nvSpPr>
          <p:cNvPr id="25" name="R2_chip93"/>
          <p:cNvSpPr/>
          <p:nvPr/>
        </p:nvSpPr>
        <p:spPr>
          <a:xfrm>
            <a:off x="6263640" y="249936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Which product did they NOT invest in – but was a success?</a:t>
            </a:r>
            <a:endParaRPr lang="en-US" sz="1100" dirty="0"/>
          </a:p>
        </p:txBody>
      </p:sp>
      <p:sp>
        <p:nvSpPr>
          <p:cNvPr id="26" name="bd_94"/>
          <p:cNvSpPr/>
          <p:nvPr/>
        </p:nvSpPr>
        <p:spPr>
          <a:xfrm>
            <a:off x="3246120" y="3114294"/>
            <a:ext cx="329184" cy="329184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gq_95"/>
          <p:cNvSpPr/>
          <p:nvPr/>
        </p:nvSpPr>
        <p:spPr>
          <a:xfrm>
            <a:off x="3657600" y="304038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At half past five in the morning</a:t>
            </a:r>
            <a:endParaRPr lang="en-US" sz="1250" dirty="0"/>
          </a:p>
        </p:txBody>
      </p:sp>
      <p:sp>
        <p:nvSpPr>
          <p:cNvPr id="28" name="R3_chip96"/>
          <p:cNvSpPr/>
          <p:nvPr/>
        </p:nvSpPr>
        <p:spPr>
          <a:xfrm>
            <a:off x="6263640" y="304038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What time did the car pick Joe and Jake up?</a:t>
            </a:r>
            <a:endParaRPr lang="en-US" sz="1100" dirty="0"/>
          </a:p>
        </p:txBody>
      </p:sp>
      <p:sp>
        <p:nvSpPr>
          <p:cNvPr id="29" name="bd_97"/>
          <p:cNvSpPr/>
          <p:nvPr/>
        </p:nvSpPr>
        <p:spPr>
          <a:xfrm>
            <a:off x="3246120" y="3655314"/>
            <a:ext cx="329184" cy="329184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gq_98"/>
          <p:cNvSpPr/>
          <p:nvPr/>
        </p:nvSpPr>
        <p:spPr>
          <a:xfrm>
            <a:off x="3657600" y="358140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job</a:t>
            </a:r>
            <a:endParaRPr lang="en-US" sz="1250" dirty="0"/>
          </a:p>
        </p:txBody>
      </p:sp>
      <p:sp>
        <p:nvSpPr>
          <p:cNvPr id="31" name="R4_chip99"/>
          <p:cNvSpPr/>
          <p:nvPr/>
        </p:nvSpPr>
        <p:spPr>
          <a:xfrm>
            <a:off x="6263640" y="358140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What did Peter offer them?</a:t>
            </a:r>
            <a:endParaRPr lang="en-US" sz="1100" dirty="0"/>
          </a:p>
        </p:txBody>
      </p:sp>
      <p:sp>
        <p:nvSpPr>
          <p:cNvPr id="32" name="bd_100"/>
          <p:cNvSpPr/>
          <p:nvPr/>
        </p:nvSpPr>
        <p:spPr>
          <a:xfrm>
            <a:off x="3246120" y="4196334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gq_101"/>
          <p:cNvSpPr/>
          <p:nvPr/>
        </p:nvSpPr>
        <p:spPr>
          <a:xfrm>
            <a:off x="3657600" y="41224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"No, not for a second."</a:t>
            </a:r>
            <a:endParaRPr lang="en-US" sz="1250" dirty="0"/>
          </a:p>
        </p:txBody>
      </p:sp>
      <p:sp>
        <p:nvSpPr>
          <p:cNvPr id="34" name="R5_chip102"/>
          <p:cNvSpPr/>
          <p:nvPr/>
        </p:nvSpPr>
        <p:spPr>
          <a:xfrm>
            <a:off x="6263640" y="41224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Have you ever regretted saying no?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03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2800" dirty="0"/>
          </a:p>
        </p:txBody>
      </p:sp>
      <p:pic>
        <p:nvPicPr>
          <p:cNvPr id="4" name="brY_104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618842" cy="621792"/>
          </a:xfrm>
          <a:prstGeom prst="rect">
            <a:avLst/>
          </a:prstGeom>
        </p:spPr>
      </p:pic>
      <p:sp>
        <p:nvSpPr>
          <p:cNvPr id="5" name="title_105"/>
          <p:cNvSpPr/>
          <p:nvPr/>
        </p:nvSpPr>
        <p:spPr>
          <a:xfrm>
            <a:off x="1261872" y="164592"/>
            <a:ext cx="23445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Who says it?</a:t>
            </a:r>
            <a:endParaRPr lang="en-US" sz="2500" dirty="0"/>
          </a:p>
        </p:txBody>
      </p:sp>
      <p:pic>
        <p:nvPicPr>
          <p:cNvPr id="6" name="brP_106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858768" cy="402336"/>
          </a:xfrm>
          <a:prstGeom prst="rect">
            <a:avLst/>
          </a:prstGeom>
        </p:spPr>
      </p:pic>
      <p:sp>
        <p:nvSpPr>
          <p:cNvPr id="7" name="ins_107"/>
          <p:cNvSpPr/>
          <p:nvPr/>
        </p:nvSpPr>
        <p:spPr>
          <a:xfrm>
            <a:off x="1353312" y="731520"/>
            <a:ext cx="3602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Customer (C) or shop assistant (SA)?</a:t>
            </a:r>
            <a:endParaRPr lang="en-US" sz="1250" dirty="0"/>
          </a:p>
        </p:txBody>
      </p:sp>
      <p:sp>
        <p:nvSpPr>
          <p:cNvPr id="8" name="insIT_108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Cliente (C) o commesso (SA)?</a:t>
            </a:r>
            <a:endParaRPr lang="en-US" sz="950" dirty="0"/>
          </a:p>
        </p:txBody>
      </p:sp>
      <p:sp>
        <p:nvSpPr>
          <p:cNvPr id="9" name="note_109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💡 THINK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PENSA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Reading · Controlled practice</a:t>
            </a:r>
            <a:endParaRPr lang="en-US" sz="1250" dirty="0"/>
          </a:p>
        </p:txBody>
      </p:sp>
      <p:pic>
        <p:nvPicPr>
          <p:cNvPr id="10" name="logo_110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111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8B-1 · Reading · lead-in   ·   📖 SB p.80 · 1a</a:t>
            </a:r>
            <a:endParaRPr lang="en-US" sz="800" dirty="0"/>
          </a:p>
        </p:txBody>
      </p:sp>
      <p:sp>
        <p:nvSpPr>
          <p:cNvPr id="12" name="cd_112"/>
          <p:cNvSpPr/>
          <p:nvPr/>
        </p:nvSpPr>
        <p:spPr>
          <a:xfrm>
            <a:off x="320040" y="1417320"/>
            <a:ext cx="2697480" cy="768096"/>
          </a:xfrm>
          <a:prstGeom prst="roundRect">
            <a:avLst>
              <a:gd name="adj" fmla="val 16667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ii_113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4" name="ih_114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5" name="il_115"/>
          <p:cNvSpPr/>
          <p:nvPr/>
        </p:nvSpPr>
        <p:spPr>
          <a:xfrm>
            <a:off x="886968" y="1911096"/>
            <a:ext cx="20391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"Can I help you?" → SA</a:t>
            </a:r>
            <a:endParaRPr lang="en-US" sz="1050" dirty="0"/>
          </a:p>
        </p:txBody>
      </p:sp>
      <p:sp>
        <p:nvSpPr>
          <p:cNvPr id="16" name="pf_116"/>
          <p:cNvSpPr/>
          <p:nvPr/>
        </p:nvSpPr>
        <p:spPr>
          <a:xfrm rot="-90000">
            <a:off x="365760" y="2681023"/>
            <a:ext cx="2606040" cy="1669690"/>
          </a:xfrm>
          <a:prstGeom prst="roundRect">
            <a:avLst>
              <a:gd name="adj" fmla="val 931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7" name="ph_117" descr="/home/claude/lls-course/v2/cache/4a1_queue_jpg_605x380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726743"/>
            <a:ext cx="2514600" cy="1578250"/>
          </a:xfrm>
          <a:prstGeom prst="rect">
            <a:avLst/>
          </a:prstGeom>
        </p:spPr>
      </p:pic>
      <p:sp>
        <p:nvSpPr>
          <p:cNvPr id="18" name="bd_118"/>
          <p:cNvSpPr/>
          <p:nvPr/>
        </p:nvSpPr>
        <p:spPr>
          <a:xfrm>
            <a:off x="3246120" y="1444752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19" name="q_119"/>
          <p:cNvSpPr/>
          <p:nvPr/>
        </p:nvSpPr>
        <p:spPr>
          <a:xfrm>
            <a:off x="3630168" y="141732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 you need any help?</a:t>
            </a:r>
            <a:endParaRPr lang="en-US" sz="950" dirty="0"/>
          </a:p>
        </p:txBody>
      </p:sp>
      <p:sp>
        <p:nvSpPr>
          <p:cNvPr id="20" name="R1_chip120"/>
          <p:cNvSpPr/>
          <p:nvPr/>
        </p:nvSpPr>
        <p:spPr>
          <a:xfrm>
            <a:off x="5806440" y="141732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</a:t>
            </a:r>
            <a:endParaRPr lang="en-US" sz="1050" dirty="0"/>
          </a:p>
        </p:txBody>
      </p:sp>
      <p:sp>
        <p:nvSpPr>
          <p:cNvPr id="21" name="bd_121"/>
          <p:cNvSpPr/>
          <p:nvPr/>
        </p:nvSpPr>
        <p:spPr>
          <a:xfrm>
            <a:off x="3246120" y="1856232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2" name="q_122"/>
          <p:cNvSpPr/>
          <p:nvPr/>
        </p:nvSpPr>
        <p:spPr>
          <a:xfrm>
            <a:off x="3630168" y="182880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size are you?</a:t>
            </a:r>
            <a:endParaRPr lang="en-US" sz="950" dirty="0"/>
          </a:p>
        </p:txBody>
      </p:sp>
      <p:sp>
        <p:nvSpPr>
          <p:cNvPr id="23" name="R2_chip123"/>
          <p:cNvSpPr/>
          <p:nvPr/>
        </p:nvSpPr>
        <p:spPr>
          <a:xfrm>
            <a:off x="5806440" y="182880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</a:t>
            </a:r>
            <a:endParaRPr lang="en-US" sz="1050" dirty="0"/>
          </a:p>
        </p:txBody>
      </p:sp>
      <p:sp>
        <p:nvSpPr>
          <p:cNvPr id="24" name="bd_124"/>
          <p:cNvSpPr/>
          <p:nvPr/>
        </p:nvSpPr>
        <p:spPr>
          <a:xfrm>
            <a:off x="3246120" y="2267712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q_125"/>
          <p:cNvSpPr/>
          <p:nvPr/>
        </p:nvSpPr>
        <p:spPr>
          <a:xfrm>
            <a:off x="3630168" y="224028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 you have this in blue?</a:t>
            </a:r>
            <a:endParaRPr lang="en-US" sz="950" dirty="0"/>
          </a:p>
        </p:txBody>
      </p:sp>
      <p:sp>
        <p:nvSpPr>
          <p:cNvPr id="26" name="R3_chip126"/>
          <p:cNvSpPr/>
          <p:nvPr/>
        </p:nvSpPr>
        <p:spPr>
          <a:xfrm>
            <a:off x="5806440" y="224028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</a:t>
            </a:r>
            <a:endParaRPr lang="en-US" sz="1050" dirty="0"/>
          </a:p>
        </p:txBody>
      </p:sp>
      <p:sp>
        <p:nvSpPr>
          <p:cNvPr id="27" name="bd_127"/>
          <p:cNvSpPr/>
          <p:nvPr/>
        </p:nvSpPr>
        <p:spPr>
          <a:xfrm>
            <a:off x="3246120" y="2679192"/>
            <a:ext cx="310896" cy="310896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28" name="q_128"/>
          <p:cNvSpPr/>
          <p:nvPr/>
        </p:nvSpPr>
        <p:spPr>
          <a:xfrm>
            <a:off x="3630168" y="265176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Have a nice day!</a:t>
            </a:r>
            <a:endParaRPr lang="en-US" sz="950" dirty="0"/>
          </a:p>
        </p:txBody>
      </p:sp>
      <p:sp>
        <p:nvSpPr>
          <p:cNvPr id="29" name="R4_chip129"/>
          <p:cNvSpPr/>
          <p:nvPr/>
        </p:nvSpPr>
        <p:spPr>
          <a:xfrm>
            <a:off x="5806440" y="265176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</a:t>
            </a:r>
            <a:endParaRPr lang="en-US" sz="1050" dirty="0"/>
          </a:p>
        </p:txBody>
      </p:sp>
      <p:sp>
        <p:nvSpPr>
          <p:cNvPr id="30" name="bd_130"/>
          <p:cNvSpPr/>
          <p:nvPr/>
        </p:nvSpPr>
        <p:spPr>
          <a:xfrm>
            <a:off x="3246120" y="3090672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1" name="q_131"/>
          <p:cNvSpPr/>
          <p:nvPr/>
        </p:nvSpPr>
        <p:spPr>
          <a:xfrm>
            <a:off x="3630168" y="306324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No, thanks, I'm just looking.</a:t>
            </a:r>
            <a:endParaRPr lang="en-US" sz="950" dirty="0"/>
          </a:p>
        </p:txBody>
      </p:sp>
      <p:sp>
        <p:nvSpPr>
          <p:cNvPr id="32" name="R5_chip132"/>
          <p:cNvSpPr/>
          <p:nvPr/>
        </p:nvSpPr>
        <p:spPr>
          <a:xfrm>
            <a:off x="5806440" y="306324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</a:t>
            </a:r>
            <a:endParaRPr lang="en-US" sz="1050" dirty="0"/>
          </a:p>
        </p:txBody>
      </p:sp>
      <p:sp>
        <p:nvSpPr>
          <p:cNvPr id="33" name="bd_133"/>
          <p:cNvSpPr/>
          <p:nvPr/>
        </p:nvSpPr>
        <p:spPr>
          <a:xfrm>
            <a:off x="3246120" y="3502152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4" name="q_134"/>
          <p:cNvSpPr/>
          <p:nvPr/>
        </p:nvSpPr>
        <p:spPr>
          <a:xfrm>
            <a:off x="3630168" y="347472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 I try these on?</a:t>
            </a:r>
            <a:endParaRPr lang="en-US" sz="950" dirty="0"/>
          </a:p>
        </p:txBody>
      </p:sp>
      <p:sp>
        <p:nvSpPr>
          <p:cNvPr id="35" name="R6_chip135"/>
          <p:cNvSpPr/>
          <p:nvPr/>
        </p:nvSpPr>
        <p:spPr>
          <a:xfrm>
            <a:off x="5806440" y="347472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</a:t>
            </a:r>
            <a:endParaRPr lang="en-US" sz="1050" dirty="0"/>
          </a:p>
        </p:txBody>
      </p:sp>
      <p:sp>
        <p:nvSpPr>
          <p:cNvPr id="36" name="bd_136"/>
          <p:cNvSpPr/>
          <p:nvPr/>
        </p:nvSpPr>
        <p:spPr>
          <a:xfrm>
            <a:off x="3246120" y="3913632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1000" dirty="0"/>
          </a:p>
        </p:txBody>
      </p:sp>
      <p:sp>
        <p:nvSpPr>
          <p:cNvPr id="37" name="q_137"/>
          <p:cNvSpPr/>
          <p:nvPr/>
        </p:nvSpPr>
        <p:spPr>
          <a:xfrm>
            <a:off x="3630168" y="388620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Shall I put your receipt in the bag?</a:t>
            </a:r>
            <a:endParaRPr lang="en-US" sz="950" dirty="0"/>
          </a:p>
        </p:txBody>
      </p:sp>
      <p:sp>
        <p:nvSpPr>
          <p:cNvPr id="38" name="R7_chip138"/>
          <p:cNvSpPr/>
          <p:nvPr/>
        </p:nvSpPr>
        <p:spPr>
          <a:xfrm>
            <a:off x="5806440" y="388620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</a:t>
            </a:r>
            <a:endParaRPr lang="en-US" sz="1050" dirty="0"/>
          </a:p>
        </p:txBody>
      </p:sp>
      <p:sp>
        <p:nvSpPr>
          <p:cNvPr id="39" name="bd_139"/>
          <p:cNvSpPr/>
          <p:nvPr/>
        </p:nvSpPr>
        <p:spPr>
          <a:xfrm>
            <a:off x="3246120" y="4325112"/>
            <a:ext cx="310896" cy="310896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</a:t>
            </a:r>
            <a:endParaRPr lang="en-US" sz="1000" dirty="0"/>
          </a:p>
        </p:txBody>
      </p:sp>
      <p:sp>
        <p:nvSpPr>
          <p:cNvPr id="40" name="q_140"/>
          <p:cNvSpPr/>
          <p:nvPr/>
        </p:nvSpPr>
        <p:spPr>
          <a:xfrm>
            <a:off x="3630168" y="429768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changing rooms are over there.</a:t>
            </a:r>
            <a:endParaRPr lang="en-US" sz="950" dirty="0"/>
          </a:p>
        </p:txBody>
      </p:sp>
      <p:sp>
        <p:nvSpPr>
          <p:cNvPr id="41" name="R8_chip141"/>
          <p:cNvSpPr/>
          <p:nvPr/>
        </p:nvSpPr>
        <p:spPr>
          <a:xfrm>
            <a:off x="5806440" y="429768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</a:t>
            </a:r>
            <a:endParaRPr lang="en-US" sz="10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42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2800" dirty="0"/>
          </a:p>
        </p:txBody>
      </p:sp>
      <p:pic>
        <p:nvPicPr>
          <p:cNvPr id="4" name="brY_14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191610" cy="621792"/>
          </a:xfrm>
          <a:prstGeom prst="rect">
            <a:avLst/>
          </a:prstGeom>
        </p:spPr>
      </p:pic>
      <p:sp>
        <p:nvSpPr>
          <p:cNvPr id="5" name="title_144"/>
          <p:cNvSpPr/>
          <p:nvPr/>
        </p:nvSpPr>
        <p:spPr>
          <a:xfrm>
            <a:off x="1261872" y="164592"/>
            <a:ext cx="391729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Too helpful? (adapted)</a:t>
            </a:r>
            <a:endParaRPr lang="en-US" sz="2500" dirty="0"/>
          </a:p>
        </p:txBody>
      </p:sp>
      <p:pic>
        <p:nvPicPr>
          <p:cNvPr id="6" name="brP_14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640580" cy="402336"/>
          </a:xfrm>
          <a:prstGeom prst="rect">
            <a:avLst/>
          </a:prstGeom>
        </p:spPr>
      </p:pic>
      <p:sp>
        <p:nvSpPr>
          <p:cNvPr id="7" name="ins_146"/>
          <p:cNvSpPr/>
          <p:nvPr/>
        </p:nvSpPr>
        <p:spPr>
          <a:xfrm>
            <a:off x="1353312" y="731520"/>
            <a:ext cx="43845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Read. Did the second assistant help Jonathan?</a:t>
            </a:r>
            <a:endParaRPr lang="en-US" sz="1250" dirty="0"/>
          </a:p>
        </p:txBody>
      </p:sp>
      <p:sp>
        <p:nvSpPr>
          <p:cNvPr id="8" name="insIT_147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Leggi. Il secondo commesso ha aiutato Jonathan?</a:t>
            </a:r>
            <a:endParaRPr lang="en-US" sz="950" dirty="0"/>
          </a:p>
        </p:txBody>
      </p:sp>
      <p:sp>
        <p:nvSpPr>
          <p:cNvPr id="9" name="note_148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👀 READ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LEGGI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6 min   👤 alone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Reading · TPRS · reading</a:t>
            </a:r>
            <a:endParaRPr lang="en-US" sz="1250" dirty="0"/>
          </a:p>
        </p:txBody>
      </p:sp>
      <p:pic>
        <p:nvPicPr>
          <p:cNvPr id="10" name="logo_149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150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8B-1 · Reading · When 'happy to help' becomes a problem   ·   📖 SB p.80 · 1b, 1c (full article in the book)</a:t>
            </a:r>
            <a:endParaRPr lang="en-US" sz="800" dirty="0"/>
          </a:p>
        </p:txBody>
      </p:sp>
      <p:sp>
        <p:nvSpPr>
          <p:cNvPr id="12" name="cd_151"/>
          <p:cNvSpPr/>
          <p:nvPr/>
        </p:nvSpPr>
        <p:spPr>
          <a:xfrm>
            <a:off x="320040" y="1417320"/>
            <a:ext cx="5715000" cy="3337560"/>
          </a:xfrm>
          <a:prstGeom prst="roundRect">
            <a:avLst>
              <a:gd name="adj" fmla="val 3836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sh_152"/>
          <p:cNvSpPr/>
          <p:nvPr/>
        </p:nvSpPr>
        <p:spPr>
          <a:xfrm>
            <a:off x="320040" y="1417320"/>
            <a:ext cx="5715000" cy="438912"/>
          </a:xfrm>
          <a:prstGeom prst="rect">
            <a:avLst/>
          </a:prstGeom>
          <a:solidFill>
            <a:srgbClr val="E3F7EA"/>
          </a:solidFill>
          <a:ln/>
        </p:spPr>
        <p:txBody>
          <a:bodyPr wrap="square" lIns="203200" tIns="0" rIns="20320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When 'happy to help' becomes a problem</a:t>
            </a:r>
            <a:endParaRPr lang="en-US" sz="1700" dirty="0"/>
          </a:p>
        </p:txBody>
      </p:sp>
      <p:sp>
        <p:nvSpPr>
          <p:cNvPr id="14" name="ln_153"/>
          <p:cNvSpPr/>
          <p:nvPr/>
        </p:nvSpPr>
        <p:spPr>
          <a:xfrm>
            <a:off x="548640" y="1920240"/>
            <a:ext cx="5349240" cy="3519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Jonathan goes into a shop at King's Cross station to buy a wallet.</a:t>
            </a:r>
            <a:endParaRPr lang="en-US" sz="1200" dirty="0"/>
          </a:p>
        </p:txBody>
      </p:sp>
      <p:sp>
        <p:nvSpPr>
          <p:cNvPr id="15" name="ln_154"/>
          <p:cNvSpPr/>
          <p:nvPr/>
        </p:nvSpPr>
        <p:spPr>
          <a:xfrm>
            <a:off x="548640" y="2272188"/>
            <a:ext cx="5349240" cy="399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Assistant 1: 'Do you need any help?'  Jonathan: 'I'm just looking, thanks.'</a:t>
            </a:r>
            <a:endParaRPr lang="en-US" sz="1200" dirty="0"/>
          </a:p>
        </p:txBody>
      </p:sp>
      <p:sp>
        <p:nvSpPr>
          <p:cNvPr id="16" name="ln_155"/>
          <p:cNvSpPr/>
          <p:nvPr/>
        </p:nvSpPr>
        <p:spPr>
          <a:xfrm>
            <a:off x="548640" y="2672129"/>
            <a:ext cx="5349240" cy="501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Then a second assistant arrives: 'Hello, do you need any help? … Are you going anywhere nice?'</a:t>
            </a:r>
            <a:endParaRPr lang="en-US" sz="1200" dirty="0"/>
          </a:p>
        </p:txBody>
      </p:sp>
      <p:sp>
        <p:nvSpPr>
          <p:cNvPr id="17" name="ln_156"/>
          <p:cNvSpPr/>
          <p:nvPr/>
        </p:nvSpPr>
        <p:spPr>
          <a:xfrm>
            <a:off x="548640" y="3173388"/>
            <a:ext cx="5349240" cy="618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'No. I work near here.' 'Where do you work?' … 'Do you like football?' … 'Are you going to watch the England match?'</a:t>
            </a:r>
            <a:endParaRPr lang="en-US" sz="1200" dirty="0"/>
          </a:p>
        </p:txBody>
      </p:sp>
      <p:sp>
        <p:nvSpPr>
          <p:cNvPr id="18" name="ln_157"/>
          <p:cNvSpPr/>
          <p:nvPr/>
        </p:nvSpPr>
        <p:spPr>
          <a:xfrm>
            <a:off x="548640" y="3791963"/>
            <a:ext cx="5349240" cy="45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… 'What are you doing after work?' … 'Are you doing anything for the rest of the day?'</a:t>
            </a:r>
            <a:endParaRPr lang="en-US" sz="1200" dirty="0"/>
          </a:p>
        </p:txBody>
      </p:sp>
      <p:sp>
        <p:nvSpPr>
          <p:cNvPr id="19" name="ln_158"/>
          <p:cNvSpPr/>
          <p:nvPr/>
        </p:nvSpPr>
        <p:spPr>
          <a:xfrm>
            <a:off x="548640" y="4250561"/>
            <a:ext cx="5349240" cy="45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Jonathan runs away – without a wallet. 'His never-ending questions lost him the sale.'</a:t>
            </a:r>
            <a:endParaRPr lang="en-US" sz="1200" dirty="0"/>
          </a:p>
        </p:txBody>
      </p:sp>
      <p:sp>
        <p:nvSpPr>
          <p:cNvPr id="20" name="pf_159"/>
          <p:cNvSpPr/>
          <p:nvPr/>
        </p:nvSpPr>
        <p:spPr>
          <a:xfrm rot="120000">
            <a:off x="6737104" y="1417320"/>
            <a:ext cx="1704832" cy="1508760"/>
          </a:xfrm>
          <a:prstGeom prst="roundRect">
            <a:avLst>
              <a:gd name="adj" fmla="val 1030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1" name="ph_160" descr="/home/claude/lls-course/v2/cache/4a1_public_transport_jpg_388x34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20000">
            <a:off x="6782824" y="1463040"/>
            <a:ext cx="1613392" cy="1417320"/>
          </a:xfrm>
          <a:prstGeom prst="rect">
            <a:avLst/>
          </a:prstGeom>
        </p:spPr>
      </p:pic>
      <p:sp>
        <p:nvSpPr>
          <p:cNvPr id="22" name="cd_161"/>
          <p:cNvSpPr/>
          <p:nvPr/>
        </p:nvSpPr>
        <p:spPr>
          <a:xfrm>
            <a:off x="6263640" y="3794760"/>
            <a:ext cx="2651760" cy="960120"/>
          </a:xfrm>
          <a:prstGeom prst="roundRect">
            <a:avLst>
              <a:gd name="adj" fmla="val 13333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3" name="ii_162"/>
          <p:cNvSpPr/>
          <p:nvPr/>
        </p:nvSpPr>
        <p:spPr>
          <a:xfrm>
            <a:off x="6355080" y="3867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24" name="ih_163"/>
          <p:cNvSpPr/>
          <p:nvPr/>
        </p:nvSpPr>
        <p:spPr>
          <a:xfrm>
            <a:off x="6830568" y="3886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</a:t>
            </a:r>
            <a:endParaRPr lang="en-US" sz="1200" dirty="0"/>
          </a:p>
        </p:txBody>
      </p:sp>
      <p:sp>
        <p:nvSpPr>
          <p:cNvPr id="25" name="il_164"/>
          <p:cNvSpPr/>
          <p:nvPr/>
        </p:nvSpPr>
        <p:spPr>
          <a:xfrm>
            <a:off x="6830568" y="4288536"/>
            <a:ext cx="199339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appropriate = right for the situation</a:t>
            </a:r>
            <a:endParaRPr lang="en-US" sz="8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wallet = portafoglio</a:t>
            </a:r>
            <a:endParaRPr lang="en-US" sz="800" dirty="0"/>
          </a:p>
        </p:txBody>
      </p:sp>
    </p:spTree>
  </p:cSld>
  <p:clrMapOvr>
    <a:masterClrMapping/>
  </p:clrMapOvr>
  <p:transition spd="med">
    <p:push dir="l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65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2800" dirty="0"/>
          </a:p>
        </p:txBody>
      </p:sp>
      <p:pic>
        <p:nvPicPr>
          <p:cNvPr id="4" name="brY_166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820717" cy="621792"/>
          </a:xfrm>
          <a:prstGeom prst="rect">
            <a:avLst/>
          </a:prstGeom>
        </p:spPr>
      </p:pic>
      <p:sp>
        <p:nvSpPr>
          <p:cNvPr id="5" name="title_167"/>
          <p:cNvSpPr/>
          <p:nvPr/>
        </p:nvSpPr>
        <p:spPr>
          <a:xfrm>
            <a:off x="1261872" y="164592"/>
            <a:ext cx="454639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Rewind! What did they say?</a:t>
            </a:r>
            <a:endParaRPr lang="en-US" sz="2400" dirty="0"/>
          </a:p>
        </p:txBody>
      </p:sp>
      <p:pic>
        <p:nvPicPr>
          <p:cNvPr id="6" name="brP_168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250692" cy="402336"/>
          </a:xfrm>
          <a:prstGeom prst="rect">
            <a:avLst/>
          </a:prstGeom>
        </p:spPr>
      </p:pic>
      <p:sp>
        <p:nvSpPr>
          <p:cNvPr id="7" name="ins_169"/>
          <p:cNvSpPr/>
          <p:nvPr/>
        </p:nvSpPr>
        <p:spPr>
          <a:xfrm>
            <a:off x="1353312" y="731520"/>
            <a:ext cx="29946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Write the REAL words he said.</a:t>
            </a:r>
            <a:endParaRPr lang="en-US" sz="1250" dirty="0"/>
          </a:p>
        </p:txBody>
      </p:sp>
      <p:sp>
        <p:nvSpPr>
          <p:cNvPr id="8" name="insIT_170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Scrivi le parole ESATTE.</a:t>
            </a:r>
            <a:endParaRPr lang="en-US" sz="950" dirty="0"/>
          </a:p>
        </p:txBody>
      </p:sp>
      <p:sp>
        <p:nvSpPr>
          <p:cNvPr id="9" name="note_171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🔍 FIND</a:t>
            </a:r>
            <a:pPr algn="ctr" indent="0" marL="0">
              <a:buNone/>
            </a:pPr>
            <a:r>
              <a:rPr lang="en-US" sz="1200" dirty="0">
                <a:solidFill>
                  <a:srgbClr val="5B6785"/>
                </a:solidFill>
              </a:rPr>
              <a:t> → </a:t>
            </a:r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✍️ WRITE</a:t>
            </a:r>
            <a:endParaRPr lang="en-US" sz="11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👥 pairs</a:t>
            </a:r>
            <a:endParaRPr lang="en-US" sz="11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Grammar · Controlled practice</a:t>
            </a:r>
            <a:endParaRPr lang="en-US" sz="1150" dirty="0"/>
          </a:p>
        </p:txBody>
      </p:sp>
      <p:pic>
        <p:nvPicPr>
          <p:cNvPr id="10" name="logo_172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173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8B-1 · Grammar · noticing   ·   📖 SB p.81 · 2a</a:t>
            </a:r>
            <a:endParaRPr lang="en-US" sz="800" dirty="0"/>
          </a:p>
        </p:txBody>
      </p:sp>
      <p:sp>
        <p:nvSpPr>
          <p:cNvPr id="12" name="cd_174"/>
          <p:cNvSpPr/>
          <p:nvPr/>
        </p:nvSpPr>
        <p:spPr>
          <a:xfrm>
            <a:off x="320040" y="1417320"/>
            <a:ext cx="2697480" cy="969264"/>
          </a:xfrm>
          <a:prstGeom prst="roundRect">
            <a:avLst>
              <a:gd name="adj" fmla="val 13208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ii_175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4" name="ih_176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5" name="il_177"/>
          <p:cNvSpPr/>
          <p:nvPr/>
        </p:nvSpPr>
        <p:spPr>
          <a:xfrm>
            <a:off x="886968" y="1911096"/>
            <a:ext cx="20391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asked me if I needed any help. → 'Do you need any help?'</a:t>
            </a:r>
            <a:endParaRPr lang="en-US" sz="900" dirty="0"/>
          </a:p>
        </p:txBody>
      </p:sp>
      <p:sp>
        <p:nvSpPr>
          <p:cNvPr id="16" name="pf_178"/>
          <p:cNvSpPr/>
          <p:nvPr/>
        </p:nvSpPr>
        <p:spPr>
          <a:xfrm rot="-90000">
            <a:off x="365760" y="2904810"/>
            <a:ext cx="2606040" cy="1423283"/>
          </a:xfrm>
          <a:prstGeom prst="roundRect">
            <a:avLst>
              <a:gd name="adj" fmla="val 109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7" name="ph_179" descr="/home/claude/lls-course/v2/cache/4a1_polite_jpg_605x320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950530"/>
            <a:ext cx="2514600" cy="1331843"/>
          </a:xfrm>
          <a:prstGeom prst="rect">
            <a:avLst/>
          </a:prstGeom>
        </p:spPr>
      </p:pic>
      <p:sp>
        <p:nvSpPr>
          <p:cNvPr id="18" name="bd_180"/>
          <p:cNvSpPr/>
          <p:nvPr/>
        </p:nvSpPr>
        <p:spPr>
          <a:xfrm>
            <a:off x="3246120" y="1490472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19" name="q_181"/>
          <p:cNvSpPr/>
          <p:nvPr/>
        </p:nvSpPr>
        <p:spPr>
          <a:xfrm>
            <a:off x="3630168" y="14173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asked me where I worked.</a:t>
            </a:r>
            <a:endParaRPr lang="en-US" sz="1150" dirty="0"/>
          </a:p>
        </p:txBody>
      </p:sp>
      <p:sp>
        <p:nvSpPr>
          <p:cNvPr id="20" name="R1_chip182"/>
          <p:cNvSpPr/>
          <p:nvPr/>
        </p:nvSpPr>
        <p:spPr>
          <a:xfrm>
            <a:off x="5806440" y="14173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'Where do you work?'</a:t>
            </a:r>
            <a:endParaRPr lang="en-US" sz="1050" dirty="0"/>
          </a:p>
        </p:txBody>
      </p:sp>
      <p:sp>
        <p:nvSpPr>
          <p:cNvPr id="21" name="bd_183"/>
          <p:cNvSpPr/>
          <p:nvPr/>
        </p:nvSpPr>
        <p:spPr>
          <a:xfrm>
            <a:off x="3246120" y="1993392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2" name="q_184"/>
          <p:cNvSpPr/>
          <p:nvPr/>
        </p:nvSpPr>
        <p:spPr>
          <a:xfrm>
            <a:off x="3630168" y="192024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said I worked in an office round the corner.</a:t>
            </a:r>
            <a:endParaRPr lang="en-US" sz="1150" dirty="0"/>
          </a:p>
        </p:txBody>
      </p:sp>
      <p:sp>
        <p:nvSpPr>
          <p:cNvPr id="23" name="R2_chip185"/>
          <p:cNvSpPr/>
          <p:nvPr/>
        </p:nvSpPr>
        <p:spPr>
          <a:xfrm>
            <a:off x="5806440" y="192024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'I work in an office round the corner.'</a:t>
            </a:r>
            <a:endParaRPr lang="en-US" sz="1050" dirty="0"/>
          </a:p>
        </p:txBody>
      </p:sp>
      <p:sp>
        <p:nvSpPr>
          <p:cNvPr id="24" name="bd_186"/>
          <p:cNvSpPr/>
          <p:nvPr/>
        </p:nvSpPr>
        <p:spPr>
          <a:xfrm>
            <a:off x="3246120" y="2496312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q_187"/>
          <p:cNvSpPr/>
          <p:nvPr/>
        </p:nvSpPr>
        <p:spPr>
          <a:xfrm>
            <a:off x="3630168" y="242316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asked me if I liked football.</a:t>
            </a:r>
            <a:endParaRPr lang="en-US" sz="1150" dirty="0"/>
          </a:p>
        </p:txBody>
      </p:sp>
      <p:sp>
        <p:nvSpPr>
          <p:cNvPr id="26" name="R3_chip188"/>
          <p:cNvSpPr/>
          <p:nvPr/>
        </p:nvSpPr>
        <p:spPr>
          <a:xfrm>
            <a:off x="5806440" y="242316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'Do you like football?'</a:t>
            </a:r>
            <a:endParaRPr lang="en-US" sz="1050" dirty="0"/>
          </a:p>
        </p:txBody>
      </p:sp>
      <p:sp>
        <p:nvSpPr>
          <p:cNvPr id="27" name="bd_189"/>
          <p:cNvSpPr/>
          <p:nvPr/>
        </p:nvSpPr>
        <p:spPr>
          <a:xfrm>
            <a:off x="3246120" y="2999232"/>
            <a:ext cx="310896" cy="310896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28" name="q_190"/>
          <p:cNvSpPr/>
          <p:nvPr/>
        </p:nvSpPr>
        <p:spPr>
          <a:xfrm>
            <a:off x="3630168" y="292608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asked me if I was going to watch the match.</a:t>
            </a:r>
            <a:endParaRPr lang="en-US" sz="1050" dirty="0"/>
          </a:p>
        </p:txBody>
      </p:sp>
      <p:sp>
        <p:nvSpPr>
          <p:cNvPr id="29" name="R4_chip191"/>
          <p:cNvSpPr/>
          <p:nvPr/>
        </p:nvSpPr>
        <p:spPr>
          <a:xfrm>
            <a:off x="5806440" y="292608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'Are you going to watch the England match?'</a:t>
            </a:r>
            <a:endParaRPr lang="en-US" sz="1050" dirty="0"/>
          </a:p>
        </p:txBody>
      </p:sp>
      <p:sp>
        <p:nvSpPr>
          <p:cNvPr id="30" name="bd_192"/>
          <p:cNvSpPr/>
          <p:nvPr/>
        </p:nvSpPr>
        <p:spPr>
          <a:xfrm>
            <a:off x="3246120" y="3502152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1" name="q_193"/>
          <p:cNvSpPr/>
          <p:nvPr/>
        </p:nvSpPr>
        <p:spPr>
          <a:xfrm>
            <a:off x="3630168" y="34290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asked me what I was doing after work.</a:t>
            </a:r>
            <a:endParaRPr lang="en-US" sz="1150" dirty="0"/>
          </a:p>
        </p:txBody>
      </p:sp>
      <p:sp>
        <p:nvSpPr>
          <p:cNvPr id="32" name="R5_chip194"/>
          <p:cNvSpPr/>
          <p:nvPr/>
        </p:nvSpPr>
        <p:spPr>
          <a:xfrm>
            <a:off x="5806440" y="342900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'What are you doing after work?'</a:t>
            </a:r>
            <a:endParaRPr lang="en-US" sz="1050" dirty="0"/>
          </a:p>
        </p:txBody>
      </p:sp>
      <p:sp>
        <p:nvSpPr>
          <p:cNvPr id="33" name="bd_195"/>
          <p:cNvSpPr/>
          <p:nvPr/>
        </p:nvSpPr>
        <p:spPr>
          <a:xfrm>
            <a:off x="3246120" y="4005072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4" name="q_196"/>
          <p:cNvSpPr/>
          <p:nvPr/>
        </p:nvSpPr>
        <p:spPr>
          <a:xfrm>
            <a:off x="3630168" y="39319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told him I was having dinner with a friend.</a:t>
            </a:r>
            <a:endParaRPr lang="en-US" sz="1150" dirty="0"/>
          </a:p>
        </p:txBody>
      </p:sp>
      <p:sp>
        <p:nvSpPr>
          <p:cNvPr id="35" name="R6_chip197"/>
          <p:cNvSpPr/>
          <p:nvPr/>
        </p:nvSpPr>
        <p:spPr>
          <a:xfrm>
            <a:off x="5806440" y="39319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'I'm having dinner with a friend.'</a:t>
            </a:r>
            <a:endParaRPr lang="en-US" sz="10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98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</a:t>
            </a:r>
            <a:endParaRPr lang="en-US" sz="2800" dirty="0"/>
          </a:p>
        </p:txBody>
      </p:sp>
      <p:pic>
        <p:nvPicPr>
          <p:cNvPr id="4" name="brY_199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090672" cy="621792"/>
          </a:xfrm>
          <a:prstGeom prst="rect">
            <a:avLst/>
          </a:prstGeom>
        </p:spPr>
      </p:pic>
      <p:sp>
        <p:nvSpPr>
          <p:cNvPr id="5" name="title_200"/>
          <p:cNvSpPr/>
          <p:nvPr/>
        </p:nvSpPr>
        <p:spPr>
          <a:xfrm>
            <a:off x="1261872" y="164592"/>
            <a:ext cx="2816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Reported speech</a:t>
            </a:r>
            <a:endParaRPr lang="en-US" sz="2500" dirty="0"/>
          </a:p>
        </p:txBody>
      </p:sp>
      <p:pic>
        <p:nvPicPr>
          <p:cNvPr id="6" name="brP_201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2903220" cy="402336"/>
          </a:xfrm>
          <a:prstGeom prst="rect">
            <a:avLst/>
          </a:prstGeom>
        </p:spPr>
      </p:pic>
      <p:sp>
        <p:nvSpPr>
          <p:cNvPr id="7" name="ins_202"/>
          <p:cNvSpPr/>
          <p:nvPr/>
        </p:nvSpPr>
        <p:spPr>
          <a:xfrm>
            <a:off x="1353312" y="731520"/>
            <a:ext cx="26471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How does the verb change?</a:t>
            </a:r>
            <a:endParaRPr lang="en-US" sz="1250" dirty="0"/>
          </a:p>
        </p:txBody>
      </p:sp>
      <p:sp>
        <p:nvSpPr>
          <p:cNvPr id="8" name="insIT_203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Come cambia il verbo?</a:t>
            </a:r>
            <a:endParaRPr lang="en-US" sz="950" dirty="0"/>
          </a:p>
        </p:txBody>
      </p:sp>
      <p:sp>
        <p:nvSpPr>
          <p:cNvPr id="9" name="note_204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👀 LOOK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GUARDA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🙋 whole class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Grammar · Guided discovery</a:t>
            </a:r>
            <a:endParaRPr lang="en-US" sz="1250" dirty="0"/>
          </a:p>
        </p:txBody>
      </p:sp>
      <p:pic>
        <p:nvPicPr>
          <p:cNvPr id="10" name="logo_205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206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8B-1 · Grammar · reported speech   ·   📖 Grammar Bank 8B p.147 · audio 8.13, 8.14</a:t>
            </a:r>
            <a:endParaRPr lang="en-US" sz="800" dirty="0"/>
          </a:p>
        </p:txBody>
      </p:sp>
      <p:sp>
        <p:nvSpPr>
          <p:cNvPr id="12" name="cd_207"/>
          <p:cNvSpPr/>
          <p:nvPr/>
        </p:nvSpPr>
        <p:spPr>
          <a:xfrm>
            <a:off x="320040" y="1417320"/>
            <a:ext cx="2758440" cy="3017520"/>
          </a:xfrm>
          <a:prstGeom prst="roundRect">
            <a:avLst>
              <a:gd name="adj" fmla="val 4641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rh_208"/>
          <p:cNvSpPr/>
          <p:nvPr/>
        </p:nvSpPr>
        <p:spPr>
          <a:xfrm>
            <a:off x="429768" y="1508760"/>
            <a:ext cx="2538984" cy="365760"/>
          </a:xfrm>
          <a:prstGeom prst="roundRect">
            <a:avLst>
              <a:gd name="adj" fmla="val 50000"/>
            </a:avLst>
          </a:prstGeom>
          <a:solidFill>
            <a:srgbClr val="E8508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Sentences</a:t>
            </a:r>
            <a:endParaRPr lang="en-US" sz="1250" dirty="0"/>
          </a:p>
        </p:txBody>
      </p:sp>
      <p:sp>
        <p:nvSpPr>
          <p:cNvPr id="14" name="pf_209"/>
          <p:cNvSpPr/>
          <p:nvPr/>
        </p:nvSpPr>
        <p:spPr>
          <a:xfrm>
            <a:off x="1024631" y="1938528"/>
            <a:ext cx="1349257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210" descr="/home/claude/lls-course/v2/cache/3b1_jokes_jpg_303x209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0351" y="1984248"/>
            <a:ext cx="1257817" cy="868680"/>
          </a:xfrm>
          <a:prstGeom prst="rect">
            <a:avLst/>
          </a:prstGeom>
        </p:spPr>
      </p:pic>
      <p:sp>
        <p:nvSpPr>
          <p:cNvPr id="16" name="ru_211"/>
          <p:cNvSpPr/>
          <p:nvPr/>
        </p:nvSpPr>
        <p:spPr>
          <a:xfrm>
            <a:off x="411480" y="2926080"/>
            <a:ext cx="2575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say (that) · tell + person</a:t>
            </a:r>
            <a:endParaRPr lang="en-US" sz="1050" dirty="0"/>
          </a:p>
        </p:txBody>
      </p:sp>
      <p:sp>
        <p:nvSpPr>
          <p:cNvPr id="17" name="R1_rx212"/>
          <p:cNvSpPr/>
          <p:nvPr/>
        </p:nvSpPr>
        <p:spPr>
          <a:xfrm>
            <a:off x="411480" y="3319272"/>
            <a:ext cx="2575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'I like shopping.' → She said she liked shopping.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'I've forgotten my keys.' → He told me he had forgotten his keys.</a:t>
            </a:r>
            <a:endParaRPr lang="en-US" sz="1050" dirty="0"/>
          </a:p>
        </p:txBody>
      </p:sp>
      <p:sp>
        <p:nvSpPr>
          <p:cNvPr id="18" name="R1_ri213"/>
          <p:cNvSpPr/>
          <p:nvPr/>
        </p:nvSpPr>
        <p:spPr>
          <a:xfrm>
            <a:off x="411480" y="4087368"/>
            <a:ext cx="2575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 detto che…</a:t>
            </a:r>
            <a:endParaRPr lang="en-US" sz="900" dirty="0"/>
          </a:p>
        </p:txBody>
      </p:sp>
      <p:sp>
        <p:nvSpPr>
          <p:cNvPr id="19" name="cd_214"/>
          <p:cNvSpPr/>
          <p:nvPr/>
        </p:nvSpPr>
        <p:spPr>
          <a:xfrm>
            <a:off x="3215640" y="1417320"/>
            <a:ext cx="2758440" cy="3017520"/>
          </a:xfrm>
          <a:prstGeom prst="roundRect">
            <a:avLst>
              <a:gd name="adj" fmla="val 4641"/>
            </a:avLst>
          </a:prstGeom>
          <a:solidFill>
            <a:srgbClr val="FFFFFF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0" name="rh_215"/>
          <p:cNvSpPr/>
          <p:nvPr/>
        </p:nvSpPr>
        <p:spPr>
          <a:xfrm>
            <a:off x="3325368" y="1508760"/>
            <a:ext cx="2538984" cy="365760"/>
          </a:xfrm>
          <a:prstGeom prst="roundRect">
            <a:avLst>
              <a:gd name="adj" fmla="val 50000"/>
            </a:avLst>
          </a:prstGeom>
          <a:solidFill>
            <a:srgbClr val="2F8DE4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Tense goes back</a:t>
            </a:r>
            <a:endParaRPr lang="en-US" sz="1250" dirty="0"/>
          </a:p>
        </p:txBody>
      </p:sp>
      <p:sp>
        <p:nvSpPr>
          <p:cNvPr id="21" name="pf_216"/>
          <p:cNvSpPr/>
          <p:nvPr/>
        </p:nvSpPr>
        <p:spPr>
          <a:xfrm>
            <a:off x="3970020" y="1938528"/>
            <a:ext cx="1249680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2" name="ph_217" descr="/home/claude/lls-course/v2/cache/2a1_coins_jpg_279x209_31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15740" y="1984248"/>
            <a:ext cx="1158240" cy="868680"/>
          </a:xfrm>
          <a:prstGeom prst="rect">
            <a:avLst/>
          </a:prstGeom>
        </p:spPr>
      </p:pic>
      <p:sp>
        <p:nvSpPr>
          <p:cNvPr id="23" name="ru_218"/>
          <p:cNvSpPr/>
          <p:nvPr/>
        </p:nvSpPr>
        <p:spPr>
          <a:xfrm>
            <a:off x="3307080" y="2926080"/>
            <a:ext cx="2575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one step into the past</a:t>
            </a:r>
            <a:endParaRPr lang="en-US" sz="1050" dirty="0"/>
          </a:p>
        </p:txBody>
      </p:sp>
      <p:sp>
        <p:nvSpPr>
          <p:cNvPr id="24" name="R2_rx219"/>
          <p:cNvSpPr/>
          <p:nvPr/>
        </p:nvSpPr>
        <p:spPr>
          <a:xfrm>
            <a:off x="3307080" y="3319272"/>
            <a:ext cx="2575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am / is → was · will → would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 → could · must → had to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past / pres. perfect → had + p.p.</a:t>
            </a:r>
            <a:endParaRPr lang="en-US" sz="1050" dirty="0"/>
          </a:p>
        </p:txBody>
      </p:sp>
      <p:sp>
        <p:nvSpPr>
          <p:cNvPr id="25" name="R2_ri220"/>
          <p:cNvSpPr/>
          <p:nvPr/>
        </p:nvSpPr>
        <p:spPr>
          <a:xfrm>
            <a:off x="3307080" y="4087368"/>
            <a:ext cx="2575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tomorrow → the next day</a:t>
            </a:r>
            <a:endParaRPr lang="en-US" sz="900" dirty="0"/>
          </a:p>
        </p:txBody>
      </p:sp>
      <p:sp>
        <p:nvSpPr>
          <p:cNvPr id="26" name="cd_221"/>
          <p:cNvSpPr/>
          <p:nvPr/>
        </p:nvSpPr>
        <p:spPr>
          <a:xfrm>
            <a:off x="6111240" y="1417320"/>
            <a:ext cx="2758440" cy="3017520"/>
          </a:xfrm>
          <a:prstGeom prst="roundRect">
            <a:avLst>
              <a:gd name="adj" fmla="val 4641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7" name="rh_222"/>
          <p:cNvSpPr/>
          <p:nvPr/>
        </p:nvSpPr>
        <p:spPr>
          <a:xfrm>
            <a:off x="6220968" y="1508760"/>
            <a:ext cx="2538984" cy="365760"/>
          </a:xfrm>
          <a:prstGeom prst="roundRect">
            <a:avLst>
              <a:gd name="adj" fmla="val 50000"/>
            </a:avLst>
          </a:prstGeom>
          <a:solidFill>
            <a:srgbClr val="2EB872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Questions</a:t>
            </a:r>
            <a:endParaRPr lang="en-US" sz="1250" dirty="0"/>
          </a:p>
        </p:txBody>
      </p:sp>
      <p:sp>
        <p:nvSpPr>
          <p:cNvPr id="28" name="pf_223"/>
          <p:cNvSpPr/>
          <p:nvPr/>
        </p:nvSpPr>
        <p:spPr>
          <a:xfrm>
            <a:off x="6752713" y="1938528"/>
            <a:ext cx="1475494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9" name="ph_224" descr="/home/claude/lls-course/v2/cache/4a1_queue_jpg_333x209_31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98433" y="1984248"/>
            <a:ext cx="1384054" cy="868680"/>
          </a:xfrm>
          <a:prstGeom prst="rect">
            <a:avLst/>
          </a:prstGeom>
        </p:spPr>
      </p:pic>
      <p:sp>
        <p:nvSpPr>
          <p:cNvPr id="30" name="ru_225"/>
          <p:cNvSpPr/>
          <p:nvPr/>
        </p:nvSpPr>
        <p:spPr>
          <a:xfrm>
            <a:off x="6202680" y="2926080"/>
            <a:ext cx="2575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no do / did · normal word order</a:t>
            </a:r>
            <a:endParaRPr lang="en-US" sz="1050" dirty="0"/>
          </a:p>
        </p:txBody>
      </p:sp>
      <p:sp>
        <p:nvSpPr>
          <p:cNvPr id="31" name="R3_rx226"/>
          <p:cNvSpPr/>
          <p:nvPr/>
        </p:nvSpPr>
        <p:spPr>
          <a:xfrm>
            <a:off x="6202680" y="3319272"/>
            <a:ext cx="2575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'Where do you live?' → She asked me where I lived.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'Are you married?' → She asked him if he was married.</a:t>
            </a:r>
            <a:endParaRPr lang="en-US" sz="1050" dirty="0"/>
          </a:p>
        </p:txBody>
      </p:sp>
      <p:sp>
        <p:nvSpPr>
          <p:cNvPr id="32" name="R3_ri227"/>
          <p:cNvSpPr/>
          <p:nvPr/>
        </p:nvSpPr>
        <p:spPr>
          <a:xfrm>
            <a:off x="6202680" y="4087368"/>
            <a:ext cx="2575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yes/no → if / whether</a:t>
            </a:r>
            <a:endParaRPr lang="en-US" sz="900" dirty="0"/>
          </a:p>
        </p:txBody>
      </p:sp>
      <p:sp>
        <p:nvSpPr>
          <p:cNvPr id="33" name="R4_wc228"/>
          <p:cNvSpPr/>
          <p:nvPr/>
        </p:nvSpPr>
        <p:spPr>
          <a:xfrm>
            <a:off x="320040" y="4544568"/>
            <a:ext cx="8412480" cy="329184"/>
          </a:xfrm>
          <a:prstGeom prst="roundRect">
            <a:avLst>
              <a:gd name="adj" fmla="val 38889"/>
            </a:avLst>
          </a:prstGeom>
          <a:solidFill>
            <a:srgbClr val="FFE3EE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4" name="R4_w229"/>
          <p:cNvSpPr/>
          <p:nvPr/>
        </p:nvSpPr>
        <p:spPr>
          <a:xfrm>
            <a:off x="457200" y="4544568"/>
            <a:ext cx="8183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⚠ ✗ He said me → ✓ He told me / He said   ✗ She asked me where did I live → ✓ where I lived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30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9</a:t>
            </a:r>
            <a:endParaRPr lang="en-US" sz="2800" dirty="0"/>
          </a:p>
        </p:txBody>
      </p:sp>
      <p:pic>
        <p:nvPicPr>
          <p:cNvPr id="4" name="brY_231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719779" cy="621792"/>
          </a:xfrm>
          <a:prstGeom prst="rect">
            <a:avLst/>
          </a:prstGeom>
        </p:spPr>
      </p:pic>
      <p:sp>
        <p:nvSpPr>
          <p:cNvPr id="5" name="title_232"/>
          <p:cNvSpPr/>
          <p:nvPr/>
        </p:nvSpPr>
        <p:spPr>
          <a:xfrm>
            <a:off x="1261872" y="164592"/>
            <a:ext cx="34454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Report it correctly</a:t>
            </a:r>
            <a:endParaRPr lang="en-US" sz="2500" dirty="0"/>
          </a:p>
        </p:txBody>
      </p:sp>
      <p:pic>
        <p:nvPicPr>
          <p:cNvPr id="6" name="brP_233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2642616" cy="402336"/>
          </a:xfrm>
          <a:prstGeom prst="rect">
            <a:avLst/>
          </a:prstGeom>
        </p:spPr>
      </p:pic>
      <p:sp>
        <p:nvSpPr>
          <p:cNvPr id="7" name="ins_234"/>
          <p:cNvSpPr/>
          <p:nvPr/>
        </p:nvSpPr>
        <p:spPr>
          <a:xfrm>
            <a:off x="1353312" y="731520"/>
            <a:ext cx="23865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Report it! Then check.</a:t>
            </a:r>
            <a:endParaRPr lang="en-US" sz="1250" dirty="0"/>
          </a:p>
        </p:txBody>
      </p:sp>
      <p:sp>
        <p:nvSpPr>
          <p:cNvPr id="8" name="insIT_235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Riportalo! Poi controlla.</a:t>
            </a:r>
            <a:endParaRPr lang="en-US" sz="950" dirty="0"/>
          </a:p>
        </p:txBody>
      </p:sp>
      <p:sp>
        <p:nvSpPr>
          <p:cNvPr id="9" name="note_236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✍️ WRITE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SCRIVI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6 min   👤 alone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Grammar · Controlled practice</a:t>
            </a:r>
            <a:endParaRPr lang="en-US" sz="1250" dirty="0"/>
          </a:p>
        </p:txBody>
      </p:sp>
      <p:pic>
        <p:nvPicPr>
          <p:cNvPr id="10" name="logo_237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238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8B-1 · Grammar · practice   ·   📖 Grammar Bank 8B p.147 · a 2–4, b 1–3</a:t>
            </a:r>
            <a:endParaRPr lang="en-US" sz="800" dirty="0"/>
          </a:p>
        </p:txBody>
      </p:sp>
      <p:sp>
        <p:nvSpPr>
          <p:cNvPr id="12" name="cd_239"/>
          <p:cNvSpPr/>
          <p:nvPr/>
        </p:nvSpPr>
        <p:spPr>
          <a:xfrm>
            <a:off x="320040" y="1417320"/>
            <a:ext cx="2697480" cy="1170432"/>
          </a:xfrm>
          <a:prstGeom prst="roundRect">
            <a:avLst>
              <a:gd name="adj" fmla="val 10938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ii_240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4" name="ih_241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5" name="il_242"/>
          <p:cNvSpPr/>
          <p:nvPr/>
        </p:nvSpPr>
        <p:spPr>
          <a:xfrm>
            <a:off x="886968" y="1911096"/>
            <a:ext cx="2039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'I'm selling all my books.' → Tim said he was selling all his books.</a:t>
            </a:r>
            <a:endParaRPr lang="en-US" sz="1050" dirty="0"/>
          </a:p>
        </p:txBody>
      </p:sp>
      <p:sp>
        <p:nvSpPr>
          <p:cNvPr id="16" name="pf_243"/>
          <p:cNvSpPr/>
          <p:nvPr/>
        </p:nvSpPr>
        <p:spPr>
          <a:xfrm rot="-90000">
            <a:off x="365760" y="3077037"/>
            <a:ext cx="2606040" cy="1279999"/>
          </a:xfrm>
          <a:prstGeom prst="roundRect">
            <a:avLst>
              <a:gd name="adj" fmla="val 1214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7" name="ph_244" descr="/home/claude/lls-course/v2/cache/4a1_library_jpg_605x286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3122757"/>
            <a:ext cx="2514600" cy="1188559"/>
          </a:xfrm>
          <a:prstGeom prst="rect">
            <a:avLst/>
          </a:prstGeom>
        </p:spPr>
      </p:pic>
      <p:sp>
        <p:nvSpPr>
          <p:cNvPr id="18" name="bd_245"/>
          <p:cNvSpPr/>
          <p:nvPr/>
        </p:nvSpPr>
        <p:spPr>
          <a:xfrm>
            <a:off x="3246120" y="1490472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19" name="q_246"/>
          <p:cNvSpPr/>
          <p:nvPr/>
        </p:nvSpPr>
        <p:spPr>
          <a:xfrm>
            <a:off x="3630168" y="14173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'I've booked the flights.' → Emma told me she…</a:t>
            </a:r>
            <a:endParaRPr lang="en-US" sz="1000" dirty="0"/>
          </a:p>
        </p:txBody>
      </p:sp>
      <p:sp>
        <p:nvSpPr>
          <p:cNvPr id="20" name="R1_chip247"/>
          <p:cNvSpPr/>
          <p:nvPr/>
        </p:nvSpPr>
        <p:spPr>
          <a:xfrm>
            <a:off x="5806440" y="14173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had booked the flights</a:t>
            </a:r>
            <a:endParaRPr lang="en-US" sz="1050" dirty="0"/>
          </a:p>
        </p:txBody>
      </p:sp>
      <p:sp>
        <p:nvSpPr>
          <p:cNvPr id="21" name="bd_248"/>
          <p:cNvSpPr/>
          <p:nvPr/>
        </p:nvSpPr>
        <p:spPr>
          <a:xfrm>
            <a:off x="3246120" y="1993392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2" name="q_249"/>
          <p:cNvSpPr/>
          <p:nvPr/>
        </p:nvSpPr>
        <p:spPr>
          <a:xfrm>
            <a:off x="3630168" y="192024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'Your new dress doesn't suit you.' → My mum told me…</a:t>
            </a:r>
            <a:endParaRPr lang="en-US" sz="950" dirty="0"/>
          </a:p>
        </p:txBody>
      </p:sp>
      <p:sp>
        <p:nvSpPr>
          <p:cNvPr id="23" name="R2_chip250"/>
          <p:cNvSpPr/>
          <p:nvPr/>
        </p:nvSpPr>
        <p:spPr>
          <a:xfrm>
            <a:off x="5806440" y="192024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my new dress didn't suit me</a:t>
            </a:r>
            <a:endParaRPr lang="en-US" sz="1050" dirty="0"/>
          </a:p>
        </p:txBody>
      </p:sp>
      <p:sp>
        <p:nvSpPr>
          <p:cNvPr id="24" name="bd_251"/>
          <p:cNvSpPr/>
          <p:nvPr/>
        </p:nvSpPr>
        <p:spPr>
          <a:xfrm>
            <a:off x="3246120" y="2496312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q_252"/>
          <p:cNvSpPr/>
          <p:nvPr/>
        </p:nvSpPr>
        <p:spPr>
          <a:xfrm>
            <a:off x="3630168" y="242316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'I might not be able to go.' → Matt said he…</a:t>
            </a:r>
            <a:endParaRPr lang="en-US" sz="1000" dirty="0"/>
          </a:p>
        </p:txBody>
      </p:sp>
      <p:sp>
        <p:nvSpPr>
          <p:cNvPr id="26" name="R3_chip253"/>
          <p:cNvSpPr/>
          <p:nvPr/>
        </p:nvSpPr>
        <p:spPr>
          <a:xfrm>
            <a:off x="5806440" y="242316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might not be able to go</a:t>
            </a:r>
            <a:endParaRPr lang="en-US" sz="1050" dirty="0"/>
          </a:p>
        </p:txBody>
      </p:sp>
      <p:sp>
        <p:nvSpPr>
          <p:cNvPr id="27" name="bd_254"/>
          <p:cNvSpPr/>
          <p:nvPr/>
        </p:nvSpPr>
        <p:spPr>
          <a:xfrm>
            <a:off x="3246120" y="2999232"/>
            <a:ext cx="310896" cy="310896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28" name="q_255"/>
          <p:cNvSpPr/>
          <p:nvPr/>
        </p:nvSpPr>
        <p:spPr>
          <a:xfrm>
            <a:off x="3630168" y="292608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'When are you leaving?' → My parents asked me…</a:t>
            </a:r>
            <a:endParaRPr lang="en-US" sz="1000" dirty="0"/>
          </a:p>
        </p:txBody>
      </p:sp>
      <p:sp>
        <p:nvSpPr>
          <p:cNvPr id="29" name="R4_chip256"/>
          <p:cNvSpPr/>
          <p:nvPr/>
        </p:nvSpPr>
        <p:spPr>
          <a:xfrm>
            <a:off x="5806440" y="292608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when I was leaving</a:t>
            </a:r>
            <a:endParaRPr lang="en-US" sz="1050" dirty="0"/>
          </a:p>
        </p:txBody>
      </p:sp>
      <p:sp>
        <p:nvSpPr>
          <p:cNvPr id="30" name="bd_257"/>
          <p:cNvSpPr/>
          <p:nvPr/>
        </p:nvSpPr>
        <p:spPr>
          <a:xfrm>
            <a:off x="3246120" y="3502152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1" name="q_258"/>
          <p:cNvSpPr/>
          <p:nvPr/>
        </p:nvSpPr>
        <p:spPr>
          <a:xfrm>
            <a:off x="3630168" y="34290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'Have you ever been married?' → She asked him…</a:t>
            </a:r>
            <a:endParaRPr lang="en-US" sz="900" dirty="0"/>
          </a:p>
        </p:txBody>
      </p:sp>
      <p:sp>
        <p:nvSpPr>
          <p:cNvPr id="32" name="R5_chip259"/>
          <p:cNvSpPr/>
          <p:nvPr/>
        </p:nvSpPr>
        <p:spPr>
          <a:xfrm>
            <a:off x="5806440" y="342900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if / whether he had ever been married</a:t>
            </a:r>
            <a:endParaRPr lang="en-US" sz="1050" dirty="0"/>
          </a:p>
        </p:txBody>
      </p:sp>
      <p:sp>
        <p:nvSpPr>
          <p:cNvPr id="33" name="bd_260"/>
          <p:cNvSpPr/>
          <p:nvPr/>
        </p:nvSpPr>
        <p:spPr>
          <a:xfrm>
            <a:off x="3246120" y="4005072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4" name="q_261"/>
          <p:cNvSpPr/>
          <p:nvPr/>
        </p:nvSpPr>
        <p:spPr>
          <a:xfrm>
            <a:off x="3630168" y="39319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'Will you be home early?' → Anna asked Robert…</a:t>
            </a:r>
            <a:endParaRPr lang="en-US" sz="1000" dirty="0"/>
          </a:p>
        </p:txBody>
      </p:sp>
      <p:sp>
        <p:nvSpPr>
          <p:cNvPr id="35" name="R6_chip262"/>
          <p:cNvSpPr/>
          <p:nvPr/>
        </p:nvSpPr>
        <p:spPr>
          <a:xfrm>
            <a:off x="5806440" y="39319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if / whether he would be home early</a:t>
            </a:r>
            <a:endParaRPr lang="en-US" sz="10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63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10</a:t>
            </a:r>
            <a:endParaRPr lang="en-US" sz="2200" dirty="0"/>
          </a:p>
        </p:txBody>
      </p:sp>
      <p:pic>
        <p:nvPicPr>
          <p:cNvPr id="4" name="brY_264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776118" cy="621792"/>
          </a:xfrm>
          <a:prstGeom prst="rect">
            <a:avLst/>
          </a:prstGeom>
        </p:spPr>
      </p:pic>
      <p:sp>
        <p:nvSpPr>
          <p:cNvPr id="5" name="title_265"/>
          <p:cNvSpPr/>
          <p:nvPr/>
        </p:nvSpPr>
        <p:spPr>
          <a:xfrm>
            <a:off x="1261872" y="164592"/>
            <a:ext cx="25017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He asked her…</a:t>
            </a:r>
            <a:endParaRPr lang="en-US" sz="2500" dirty="0"/>
          </a:p>
        </p:txBody>
      </p:sp>
      <p:pic>
        <p:nvPicPr>
          <p:cNvPr id="6" name="brP_266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901184" cy="402336"/>
          </a:xfrm>
          <a:prstGeom prst="rect">
            <a:avLst/>
          </a:prstGeom>
        </p:spPr>
      </p:pic>
      <p:sp>
        <p:nvSpPr>
          <p:cNvPr id="7" name="ins_267"/>
          <p:cNvSpPr/>
          <p:nvPr/>
        </p:nvSpPr>
        <p:spPr>
          <a:xfrm>
            <a:off x="1353312" y="731520"/>
            <a:ext cx="46451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Listen. Report the question before the narrator!</a:t>
            </a:r>
            <a:endParaRPr lang="en-US" sz="1250" dirty="0"/>
          </a:p>
        </p:txBody>
      </p:sp>
      <p:sp>
        <p:nvSpPr>
          <p:cNvPr id="8" name="insIT_268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Ascolta. Riporta la domanda prima del narratore!</a:t>
            </a:r>
            <a:endParaRPr lang="en-US" sz="950" dirty="0"/>
          </a:p>
        </p:txBody>
      </p:sp>
      <p:sp>
        <p:nvSpPr>
          <p:cNvPr id="9" name="note_269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🎧 LISTEN</a:t>
            </a:r>
            <a:pPr algn="ctr" indent="0" marL="0">
              <a:buNone/>
            </a:pPr>
            <a:r>
              <a:rPr lang="en-US" sz="1200" dirty="0">
                <a:solidFill>
                  <a:srgbClr val="5B6785"/>
                </a:solidFill>
              </a:rPr>
              <a:t> → </a:t>
            </a:r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🔊 SAY IT</a:t>
            </a:r>
            <a:endParaRPr lang="en-US" sz="11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🙋 whole class</a:t>
            </a:r>
            <a:endParaRPr lang="en-US" sz="11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Grammar · Listening for detail</a:t>
            </a:r>
            <a:endParaRPr lang="en-US" sz="1150" dirty="0"/>
          </a:p>
        </p:txBody>
      </p:sp>
      <p:pic>
        <p:nvPicPr>
          <p:cNvPr id="10" name="logo_270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271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8B-1 · Grammar · oral practice   ·   📖 SB p.81 · 2c · audio 8.15</a:t>
            </a:r>
            <a:endParaRPr lang="en-US" sz="800" dirty="0"/>
          </a:p>
        </p:txBody>
      </p:sp>
      <p:sp>
        <p:nvSpPr>
          <p:cNvPr id="12" name="ap_272"/>
          <p:cNvSpPr/>
          <p:nvPr/>
        </p:nvSpPr>
        <p:spPr>
          <a:xfrm>
            <a:off x="365760" y="1417320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28575">
            <a:solidFill>
              <a:srgbClr val="A9D3F5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8.15  ·  pause after each question</a:t>
            </a:r>
            <a:endParaRPr lang="en-US" sz="1100" dirty="0"/>
          </a:p>
        </p:txBody>
      </p:sp>
      <p:sp>
        <p:nvSpPr>
          <p:cNvPr id="13" name="pf_273"/>
          <p:cNvSpPr/>
          <p:nvPr/>
        </p:nvSpPr>
        <p:spPr>
          <a:xfrm rot="-90000">
            <a:off x="411480" y="2057400"/>
            <a:ext cx="2697480" cy="1783080"/>
          </a:xfrm>
          <a:prstGeom prst="roundRect">
            <a:avLst>
              <a:gd name="adj" fmla="val 87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4" name="ph_274" descr="/home/claude/lls-course/v2/cache/2a1_waste_jpg_627x407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57200" y="2103120"/>
            <a:ext cx="2606040" cy="1691640"/>
          </a:xfrm>
          <a:prstGeom prst="rect">
            <a:avLst/>
          </a:prstGeom>
        </p:spPr>
      </p:pic>
      <p:sp>
        <p:nvSpPr>
          <p:cNvPr id="15" name="cd_275"/>
          <p:cNvSpPr/>
          <p:nvPr/>
        </p:nvSpPr>
        <p:spPr>
          <a:xfrm>
            <a:off x="320040" y="4023360"/>
            <a:ext cx="2788920" cy="731520"/>
          </a:xfrm>
          <a:prstGeom prst="roundRect">
            <a:avLst>
              <a:gd name="adj" fmla="val 17500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276"/>
          <p:cNvSpPr/>
          <p:nvPr/>
        </p:nvSpPr>
        <p:spPr>
          <a:xfrm>
            <a:off x="411480" y="4096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17" name="ih_277"/>
          <p:cNvSpPr/>
          <p:nvPr/>
        </p:nvSpPr>
        <p:spPr>
          <a:xfrm>
            <a:off x="886968" y="41148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Guess first, then listen!</a:t>
            </a:r>
            <a:endParaRPr lang="en-US" sz="1200" dirty="0"/>
          </a:p>
        </p:txBody>
      </p:sp>
      <p:sp>
        <p:nvSpPr>
          <p:cNvPr id="18" name="gq_278"/>
          <p:cNvSpPr/>
          <p:nvPr/>
        </p:nvSpPr>
        <p:spPr>
          <a:xfrm>
            <a:off x="3383280" y="1417320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'Where do you live?'</a:t>
            </a:r>
            <a:endParaRPr lang="en-US" sz="1200" dirty="0"/>
          </a:p>
        </p:txBody>
      </p:sp>
      <p:sp>
        <p:nvSpPr>
          <p:cNvPr id="19" name="R1_chip279"/>
          <p:cNvSpPr/>
          <p:nvPr/>
        </p:nvSpPr>
        <p:spPr>
          <a:xfrm>
            <a:off x="6812280" y="1417320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asked her where she lived.</a:t>
            </a:r>
            <a:endParaRPr lang="en-US" sz="1200" dirty="0"/>
          </a:p>
        </p:txBody>
      </p:sp>
      <p:sp>
        <p:nvSpPr>
          <p:cNvPr id="20" name="gq_280"/>
          <p:cNvSpPr/>
          <p:nvPr/>
        </p:nvSpPr>
        <p:spPr>
          <a:xfrm>
            <a:off x="3383280" y="1938528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'What are you doing in the evening?'</a:t>
            </a:r>
            <a:endParaRPr lang="en-US" sz="1200" dirty="0"/>
          </a:p>
        </p:txBody>
      </p:sp>
      <p:sp>
        <p:nvSpPr>
          <p:cNvPr id="21" name="R2_chip281"/>
          <p:cNvSpPr/>
          <p:nvPr/>
        </p:nvSpPr>
        <p:spPr>
          <a:xfrm>
            <a:off x="6812280" y="1938528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 asked him what he was doing in the evening.</a:t>
            </a:r>
            <a:endParaRPr lang="en-US" sz="1000" dirty="0"/>
          </a:p>
        </p:txBody>
      </p:sp>
      <p:sp>
        <p:nvSpPr>
          <p:cNvPr id="22" name="gq_282"/>
          <p:cNvSpPr/>
          <p:nvPr/>
        </p:nvSpPr>
        <p:spPr>
          <a:xfrm>
            <a:off x="3383280" y="2459736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'Will you be at home at eight?'</a:t>
            </a:r>
            <a:endParaRPr lang="en-US" sz="1200" dirty="0"/>
          </a:p>
        </p:txBody>
      </p:sp>
      <p:sp>
        <p:nvSpPr>
          <p:cNvPr id="23" name="R3_chip283"/>
          <p:cNvSpPr/>
          <p:nvPr/>
        </p:nvSpPr>
        <p:spPr>
          <a:xfrm>
            <a:off x="6812280" y="2459736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asked if she would be at home at eight.</a:t>
            </a:r>
            <a:endParaRPr lang="en-US" sz="1200" dirty="0"/>
          </a:p>
        </p:txBody>
      </p:sp>
      <p:sp>
        <p:nvSpPr>
          <p:cNvPr id="24" name="gq_284"/>
          <p:cNvSpPr/>
          <p:nvPr/>
        </p:nvSpPr>
        <p:spPr>
          <a:xfrm>
            <a:off x="3383280" y="2980944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'Where did you buy your bag?'</a:t>
            </a:r>
            <a:endParaRPr lang="en-US" sz="1200" dirty="0"/>
          </a:p>
        </p:txBody>
      </p:sp>
      <p:sp>
        <p:nvSpPr>
          <p:cNvPr id="25" name="R4_chip285"/>
          <p:cNvSpPr/>
          <p:nvPr/>
        </p:nvSpPr>
        <p:spPr>
          <a:xfrm>
            <a:off x="6812280" y="2980944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asked her where she'd bought her bag.</a:t>
            </a:r>
            <a:endParaRPr lang="en-US" sz="1200" dirty="0"/>
          </a:p>
        </p:txBody>
      </p:sp>
      <p:sp>
        <p:nvSpPr>
          <p:cNvPr id="26" name="gq_286"/>
          <p:cNvSpPr/>
          <p:nvPr/>
        </p:nvSpPr>
        <p:spPr>
          <a:xfrm>
            <a:off x="3383280" y="3502152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'Have you seen the new Bond film?'</a:t>
            </a:r>
            <a:endParaRPr lang="en-US" sz="1200" dirty="0"/>
          </a:p>
        </p:txBody>
      </p:sp>
      <p:sp>
        <p:nvSpPr>
          <p:cNvPr id="27" name="R5_chip287"/>
          <p:cNvSpPr/>
          <p:nvPr/>
        </p:nvSpPr>
        <p:spPr>
          <a:xfrm>
            <a:off x="6812280" y="3502152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 asked him if he'd seen it.</a:t>
            </a:r>
            <a:endParaRPr lang="en-US" sz="1200" dirty="0"/>
          </a:p>
        </p:txBody>
      </p:sp>
      <p:sp>
        <p:nvSpPr>
          <p:cNvPr id="28" name="gq_288"/>
          <p:cNvSpPr/>
          <p:nvPr/>
        </p:nvSpPr>
        <p:spPr>
          <a:xfrm>
            <a:off x="3383280" y="4023360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'Can I try on the jacket?'</a:t>
            </a:r>
            <a:endParaRPr lang="en-US" sz="1200" dirty="0"/>
          </a:p>
        </p:txBody>
      </p:sp>
      <p:sp>
        <p:nvSpPr>
          <p:cNvPr id="29" name="R6_chip289"/>
          <p:cNvSpPr/>
          <p:nvPr/>
        </p:nvSpPr>
        <p:spPr>
          <a:xfrm>
            <a:off x="6812280" y="4023360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asked her if he could try it on.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90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11</a:t>
            </a:r>
            <a:endParaRPr lang="en-US" sz="2200" dirty="0"/>
          </a:p>
        </p:txBody>
      </p:sp>
      <p:pic>
        <p:nvPicPr>
          <p:cNvPr id="4" name="brY_291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191610" cy="621792"/>
          </a:xfrm>
          <a:prstGeom prst="rect">
            <a:avLst/>
          </a:prstGeom>
        </p:spPr>
      </p:pic>
      <p:sp>
        <p:nvSpPr>
          <p:cNvPr id="5" name="title_292"/>
          <p:cNvSpPr/>
          <p:nvPr/>
        </p:nvSpPr>
        <p:spPr>
          <a:xfrm>
            <a:off x="1261872" y="164592"/>
            <a:ext cx="391729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What's the difference?</a:t>
            </a:r>
            <a:endParaRPr lang="en-US" sz="2500" dirty="0"/>
          </a:p>
        </p:txBody>
      </p:sp>
      <p:pic>
        <p:nvPicPr>
          <p:cNvPr id="6" name="brP_293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119372" cy="402336"/>
          </a:xfrm>
          <a:prstGeom prst="rect">
            <a:avLst/>
          </a:prstGeom>
        </p:spPr>
      </p:pic>
      <p:sp>
        <p:nvSpPr>
          <p:cNvPr id="7" name="ins_294"/>
          <p:cNvSpPr/>
          <p:nvPr/>
        </p:nvSpPr>
        <p:spPr>
          <a:xfrm>
            <a:off x="1353312" y="731520"/>
            <a:ext cx="38633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Explain the difference to your partner.</a:t>
            </a:r>
            <a:endParaRPr lang="en-US" sz="1250" dirty="0"/>
          </a:p>
        </p:txBody>
      </p:sp>
      <p:sp>
        <p:nvSpPr>
          <p:cNvPr id="8" name="insIT_295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Spiega la differenza al compagno.</a:t>
            </a:r>
            <a:endParaRPr lang="en-US" sz="950" dirty="0"/>
          </a:p>
        </p:txBody>
      </p:sp>
      <p:sp>
        <p:nvSpPr>
          <p:cNvPr id="9" name="note_296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💬 TALK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PARLA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👥 pairs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Vocabulary · Controlled practice</a:t>
            </a:r>
            <a:endParaRPr lang="en-US" sz="1250" dirty="0"/>
          </a:p>
        </p:txBody>
      </p:sp>
      <p:pic>
        <p:nvPicPr>
          <p:cNvPr id="10" name="logo_297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298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8B-1 · Vocabulary · shopping   ·   📖 SB p.81 · 3a</a:t>
            </a:r>
            <a:endParaRPr lang="en-US" sz="800" dirty="0"/>
          </a:p>
        </p:txBody>
      </p:sp>
      <p:sp>
        <p:nvSpPr>
          <p:cNvPr id="12" name="cd_299"/>
          <p:cNvSpPr/>
          <p:nvPr/>
        </p:nvSpPr>
        <p:spPr>
          <a:xfrm>
            <a:off x="320040" y="1417320"/>
            <a:ext cx="2697480" cy="969264"/>
          </a:xfrm>
          <a:prstGeom prst="roundRect">
            <a:avLst>
              <a:gd name="adj" fmla="val 13208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ii_300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4" name="ih_301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5" name="il_302"/>
          <p:cNvSpPr/>
          <p:nvPr/>
        </p:nvSpPr>
        <p:spPr>
          <a:xfrm>
            <a:off x="886968" y="1911096"/>
            <a:ext cx="20391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basket / trolley → small, you carry it / big, on wheels</a:t>
            </a:r>
            <a:endParaRPr lang="en-US" sz="1050" dirty="0"/>
          </a:p>
        </p:txBody>
      </p:sp>
      <p:sp>
        <p:nvSpPr>
          <p:cNvPr id="16" name="pf_303"/>
          <p:cNvSpPr/>
          <p:nvPr/>
        </p:nvSpPr>
        <p:spPr>
          <a:xfrm rot="-90000">
            <a:off x="365760" y="2821263"/>
            <a:ext cx="2606040" cy="1590377"/>
          </a:xfrm>
          <a:prstGeom prst="roundRect">
            <a:avLst>
              <a:gd name="adj" fmla="val 977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7" name="ph_304" descr="/home/claude/lls-course/v2/cache/2a2_saver_spender_jpg_605x36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866983"/>
            <a:ext cx="2514600" cy="1498937"/>
          </a:xfrm>
          <a:prstGeom prst="rect">
            <a:avLst/>
          </a:prstGeom>
        </p:spPr>
      </p:pic>
      <p:sp>
        <p:nvSpPr>
          <p:cNvPr id="18" name="bd_305"/>
          <p:cNvSpPr/>
          <p:nvPr/>
        </p:nvSpPr>
        <p:spPr>
          <a:xfrm>
            <a:off x="3246120" y="1474143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19" name="q_306"/>
          <p:cNvSpPr/>
          <p:nvPr/>
        </p:nvSpPr>
        <p:spPr>
          <a:xfrm>
            <a:off x="3630168" y="1417320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credit card / debit card</a:t>
            </a:r>
            <a:endParaRPr lang="en-US" sz="1150" dirty="0"/>
          </a:p>
        </p:txBody>
      </p:sp>
      <p:sp>
        <p:nvSpPr>
          <p:cNvPr id="20" name="R1_chip307"/>
          <p:cNvSpPr/>
          <p:nvPr/>
        </p:nvSpPr>
        <p:spPr>
          <a:xfrm>
            <a:off x="5806440" y="1417320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pay later / the money goes immediately</a:t>
            </a:r>
            <a:endParaRPr lang="en-US" sz="1050" dirty="0"/>
          </a:p>
        </p:txBody>
      </p:sp>
      <p:sp>
        <p:nvSpPr>
          <p:cNvPr id="21" name="bd_308"/>
          <p:cNvSpPr/>
          <p:nvPr/>
        </p:nvSpPr>
        <p:spPr>
          <a:xfrm>
            <a:off x="3246120" y="1944406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2" name="q_309"/>
          <p:cNvSpPr/>
          <p:nvPr/>
        </p:nvSpPr>
        <p:spPr>
          <a:xfrm>
            <a:off x="3630168" y="1887583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receipt / refund</a:t>
            </a:r>
            <a:endParaRPr lang="en-US" sz="1150" dirty="0"/>
          </a:p>
        </p:txBody>
      </p:sp>
      <p:sp>
        <p:nvSpPr>
          <p:cNvPr id="23" name="R2_chip310"/>
          <p:cNvSpPr/>
          <p:nvPr/>
        </p:nvSpPr>
        <p:spPr>
          <a:xfrm>
            <a:off x="5806440" y="1887583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paper that proves you paid / money back</a:t>
            </a:r>
            <a:endParaRPr lang="en-US" sz="1050" dirty="0"/>
          </a:p>
        </p:txBody>
      </p:sp>
      <p:sp>
        <p:nvSpPr>
          <p:cNvPr id="24" name="bd_311"/>
          <p:cNvSpPr/>
          <p:nvPr/>
        </p:nvSpPr>
        <p:spPr>
          <a:xfrm>
            <a:off x="3246120" y="2414669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q_312"/>
          <p:cNvSpPr/>
          <p:nvPr/>
        </p:nvSpPr>
        <p:spPr>
          <a:xfrm>
            <a:off x="3630168" y="2357846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discount / bargain</a:t>
            </a:r>
            <a:endParaRPr lang="en-US" sz="1150" dirty="0"/>
          </a:p>
        </p:txBody>
      </p:sp>
      <p:sp>
        <p:nvSpPr>
          <p:cNvPr id="26" name="R3_chip313"/>
          <p:cNvSpPr/>
          <p:nvPr/>
        </p:nvSpPr>
        <p:spPr>
          <a:xfrm>
            <a:off x="5806440" y="2357846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money off the price / a very cheap thing</a:t>
            </a:r>
            <a:endParaRPr lang="en-US" sz="1050" dirty="0"/>
          </a:p>
        </p:txBody>
      </p:sp>
      <p:sp>
        <p:nvSpPr>
          <p:cNvPr id="27" name="bd_314"/>
          <p:cNvSpPr/>
          <p:nvPr/>
        </p:nvSpPr>
        <p:spPr>
          <a:xfrm>
            <a:off x="3246120" y="2884932"/>
            <a:ext cx="310896" cy="310896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28" name="q_315"/>
          <p:cNvSpPr/>
          <p:nvPr/>
        </p:nvSpPr>
        <p:spPr>
          <a:xfrm>
            <a:off x="3630168" y="2828109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chain store / department store</a:t>
            </a:r>
            <a:endParaRPr lang="en-US" sz="1150" dirty="0"/>
          </a:p>
        </p:txBody>
      </p:sp>
      <p:sp>
        <p:nvSpPr>
          <p:cNvPr id="29" name="R4_chip316"/>
          <p:cNvSpPr/>
          <p:nvPr/>
        </p:nvSpPr>
        <p:spPr>
          <a:xfrm>
            <a:off x="5806440" y="2828109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one of many similar shops / big shop, many sections</a:t>
            </a:r>
            <a:endParaRPr lang="en-US" sz="1050" dirty="0"/>
          </a:p>
        </p:txBody>
      </p:sp>
      <p:sp>
        <p:nvSpPr>
          <p:cNvPr id="30" name="bd_317"/>
          <p:cNvSpPr/>
          <p:nvPr/>
        </p:nvSpPr>
        <p:spPr>
          <a:xfrm>
            <a:off x="3246120" y="3355195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1" name="q_318"/>
          <p:cNvSpPr/>
          <p:nvPr/>
        </p:nvSpPr>
        <p:spPr>
          <a:xfrm>
            <a:off x="3630168" y="3298371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library / bookshop</a:t>
            </a:r>
            <a:endParaRPr lang="en-US" sz="1150" dirty="0"/>
          </a:p>
        </p:txBody>
      </p:sp>
      <p:sp>
        <p:nvSpPr>
          <p:cNvPr id="32" name="R5_chip319"/>
          <p:cNvSpPr/>
          <p:nvPr/>
        </p:nvSpPr>
        <p:spPr>
          <a:xfrm>
            <a:off x="5806440" y="3298371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borrow books / buy books</a:t>
            </a:r>
            <a:endParaRPr lang="en-US" sz="1050" dirty="0"/>
          </a:p>
        </p:txBody>
      </p:sp>
      <p:sp>
        <p:nvSpPr>
          <p:cNvPr id="33" name="bd_320"/>
          <p:cNvSpPr/>
          <p:nvPr/>
        </p:nvSpPr>
        <p:spPr>
          <a:xfrm>
            <a:off x="3246120" y="3825458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4" name="q_321"/>
          <p:cNvSpPr/>
          <p:nvPr/>
        </p:nvSpPr>
        <p:spPr>
          <a:xfrm>
            <a:off x="3630168" y="3768634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put on / try on</a:t>
            </a:r>
            <a:endParaRPr lang="en-US" sz="1150" dirty="0"/>
          </a:p>
        </p:txBody>
      </p:sp>
      <p:sp>
        <p:nvSpPr>
          <p:cNvPr id="35" name="R6_chip322"/>
          <p:cNvSpPr/>
          <p:nvPr/>
        </p:nvSpPr>
        <p:spPr>
          <a:xfrm>
            <a:off x="5806440" y="3768634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get dressed / put on before you buy</a:t>
            </a:r>
            <a:endParaRPr lang="en-US" sz="1050" dirty="0"/>
          </a:p>
        </p:txBody>
      </p:sp>
      <p:sp>
        <p:nvSpPr>
          <p:cNvPr id="36" name="bd_323"/>
          <p:cNvSpPr/>
          <p:nvPr/>
        </p:nvSpPr>
        <p:spPr>
          <a:xfrm>
            <a:off x="3246120" y="4295721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1000" dirty="0"/>
          </a:p>
        </p:txBody>
      </p:sp>
      <p:sp>
        <p:nvSpPr>
          <p:cNvPr id="37" name="q_324"/>
          <p:cNvSpPr/>
          <p:nvPr/>
        </p:nvSpPr>
        <p:spPr>
          <a:xfrm>
            <a:off x="3630168" y="4238897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 fits you / It suits you</a:t>
            </a:r>
            <a:endParaRPr lang="en-US" sz="1150" dirty="0"/>
          </a:p>
        </p:txBody>
      </p:sp>
      <p:sp>
        <p:nvSpPr>
          <p:cNvPr id="38" name="R7_chip325"/>
          <p:cNvSpPr/>
          <p:nvPr/>
        </p:nvSpPr>
        <p:spPr>
          <a:xfrm>
            <a:off x="5806440" y="4238897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right size / looks good on you</a:t>
            </a:r>
            <a:endParaRPr lang="en-US" sz="10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26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12</a:t>
            </a:r>
            <a:endParaRPr lang="en-US" sz="2200" dirty="0"/>
          </a:p>
        </p:txBody>
      </p:sp>
      <p:pic>
        <p:nvPicPr>
          <p:cNvPr id="4" name="brY_327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663440" cy="621792"/>
          </a:xfrm>
          <a:prstGeom prst="rect">
            <a:avLst/>
          </a:prstGeom>
        </p:spPr>
      </p:pic>
      <p:sp>
        <p:nvSpPr>
          <p:cNvPr id="5" name="title_328"/>
          <p:cNvSpPr/>
          <p:nvPr/>
        </p:nvSpPr>
        <p:spPr>
          <a:xfrm>
            <a:off x="1261872" y="164592"/>
            <a:ext cx="4389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Shopping words in Italian</a:t>
            </a:r>
            <a:endParaRPr lang="en-US" sz="2500" dirty="0"/>
          </a:p>
        </p:txBody>
      </p:sp>
      <p:pic>
        <p:nvPicPr>
          <p:cNvPr id="6" name="brP_329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337560" cy="402336"/>
          </a:xfrm>
          <a:prstGeom prst="rect">
            <a:avLst/>
          </a:prstGeom>
        </p:spPr>
      </p:pic>
      <p:sp>
        <p:nvSpPr>
          <p:cNvPr id="7" name="ins_330"/>
          <p:cNvSpPr/>
          <p:nvPr/>
        </p:nvSpPr>
        <p:spPr>
          <a:xfrm>
            <a:off x="1353312" y="731520"/>
            <a:ext cx="30815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Say it in Italian. Then click!</a:t>
            </a:r>
            <a:endParaRPr lang="en-US" sz="1250" dirty="0"/>
          </a:p>
        </p:txBody>
      </p:sp>
      <p:sp>
        <p:nvSpPr>
          <p:cNvPr id="8" name="insIT_331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Dillo in italiano. Poi clicca!</a:t>
            </a:r>
            <a:endParaRPr lang="en-US" sz="950" dirty="0"/>
          </a:p>
        </p:txBody>
      </p:sp>
      <p:sp>
        <p:nvSpPr>
          <p:cNvPr id="9" name="note_332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✅ CHECK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CONTROLLA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🙋 whole class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Vocabulary · TPRS · meaning</a:t>
            </a:r>
            <a:endParaRPr lang="en-US" sz="1250" dirty="0"/>
          </a:p>
        </p:txBody>
      </p:sp>
      <p:pic>
        <p:nvPicPr>
          <p:cNvPr id="10" name="logo_333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334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8B-1 · Vocabulary · in Italian</a:t>
            </a:r>
            <a:endParaRPr lang="en-US" sz="800" dirty="0"/>
          </a:p>
        </p:txBody>
      </p:sp>
      <p:sp>
        <p:nvSpPr>
          <p:cNvPr id="12" name="cd_335"/>
          <p:cNvSpPr/>
          <p:nvPr/>
        </p:nvSpPr>
        <p:spPr>
          <a:xfrm>
            <a:off x="320040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e_336"/>
          <p:cNvSpPr/>
          <p:nvPr/>
        </p:nvSpPr>
        <p:spPr>
          <a:xfrm>
            <a:off x="393192" y="152704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🧾</a:t>
            </a:r>
            <a:endParaRPr lang="en-US" sz="2000" dirty="0"/>
          </a:p>
        </p:txBody>
      </p:sp>
      <p:sp>
        <p:nvSpPr>
          <p:cNvPr id="14" name="en_337"/>
          <p:cNvSpPr/>
          <p:nvPr/>
        </p:nvSpPr>
        <p:spPr>
          <a:xfrm>
            <a:off x="978408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receipt</a:t>
            </a:r>
            <a:endParaRPr lang="en-US" sz="1200" dirty="0"/>
          </a:p>
        </p:txBody>
      </p:sp>
      <p:sp>
        <p:nvSpPr>
          <p:cNvPr id="15" name="R1_it338"/>
          <p:cNvSpPr/>
          <p:nvPr/>
        </p:nvSpPr>
        <p:spPr>
          <a:xfrm>
            <a:off x="978408" y="18013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scontrino / ricevuta</a:t>
            </a:r>
            <a:endParaRPr lang="en-US" sz="1000" dirty="0"/>
          </a:p>
        </p:txBody>
      </p:sp>
      <p:sp>
        <p:nvSpPr>
          <p:cNvPr id="16" name="cd_339"/>
          <p:cNvSpPr/>
          <p:nvPr/>
        </p:nvSpPr>
        <p:spPr>
          <a:xfrm>
            <a:off x="2487168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e_340"/>
          <p:cNvSpPr/>
          <p:nvPr/>
        </p:nvSpPr>
        <p:spPr>
          <a:xfrm>
            <a:off x="2560320" y="152704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💶</a:t>
            </a:r>
            <a:endParaRPr lang="en-US" sz="2000" dirty="0"/>
          </a:p>
        </p:txBody>
      </p:sp>
      <p:sp>
        <p:nvSpPr>
          <p:cNvPr id="18" name="en_341"/>
          <p:cNvSpPr/>
          <p:nvPr/>
        </p:nvSpPr>
        <p:spPr>
          <a:xfrm>
            <a:off x="3145536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refund</a:t>
            </a:r>
            <a:endParaRPr lang="en-US" sz="1200" dirty="0"/>
          </a:p>
        </p:txBody>
      </p:sp>
      <p:sp>
        <p:nvSpPr>
          <p:cNvPr id="19" name="R2_it342"/>
          <p:cNvSpPr/>
          <p:nvPr/>
        </p:nvSpPr>
        <p:spPr>
          <a:xfrm>
            <a:off x="3145536" y="18013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rimborso</a:t>
            </a:r>
            <a:endParaRPr lang="en-US" sz="1000" dirty="0"/>
          </a:p>
        </p:txBody>
      </p:sp>
      <p:sp>
        <p:nvSpPr>
          <p:cNvPr id="20" name="cd_343"/>
          <p:cNvSpPr/>
          <p:nvPr/>
        </p:nvSpPr>
        <p:spPr>
          <a:xfrm>
            <a:off x="4654296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1" name="e_344"/>
          <p:cNvSpPr/>
          <p:nvPr/>
        </p:nvSpPr>
        <p:spPr>
          <a:xfrm>
            <a:off x="4727448" y="152704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🏷️</a:t>
            </a:r>
            <a:endParaRPr lang="en-US" sz="2000" dirty="0"/>
          </a:p>
        </p:txBody>
      </p:sp>
      <p:sp>
        <p:nvSpPr>
          <p:cNvPr id="22" name="en_345"/>
          <p:cNvSpPr/>
          <p:nvPr/>
        </p:nvSpPr>
        <p:spPr>
          <a:xfrm>
            <a:off x="5312664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discount</a:t>
            </a:r>
            <a:endParaRPr lang="en-US" sz="1200" dirty="0"/>
          </a:p>
        </p:txBody>
      </p:sp>
      <p:sp>
        <p:nvSpPr>
          <p:cNvPr id="23" name="R3_it346"/>
          <p:cNvSpPr/>
          <p:nvPr/>
        </p:nvSpPr>
        <p:spPr>
          <a:xfrm>
            <a:off x="5312664" y="18013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sconto</a:t>
            </a:r>
            <a:endParaRPr lang="en-US" sz="1000" dirty="0"/>
          </a:p>
        </p:txBody>
      </p:sp>
      <p:sp>
        <p:nvSpPr>
          <p:cNvPr id="24" name="cd_347"/>
          <p:cNvSpPr/>
          <p:nvPr/>
        </p:nvSpPr>
        <p:spPr>
          <a:xfrm>
            <a:off x="6821424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5" name="e_348"/>
          <p:cNvSpPr/>
          <p:nvPr/>
        </p:nvSpPr>
        <p:spPr>
          <a:xfrm>
            <a:off x="6894576" y="152704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🤑</a:t>
            </a:r>
            <a:endParaRPr lang="en-US" sz="2000" dirty="0"/>
          </a:p>
        </p:txBody>
      </p:sp>
      <p:sp>
        <p:nvSpPr>
          <p:cNvPr id="26" name="en_349"/>
          <p:cNvSpPr/>
          <p:nvPr/>
        </p:nvSpPr>
        <p:spPr>
          <a:xfrm>
            <a:off x="7479792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bargain</a:t>
            </a:r>
            <a:endParaRPr lang="en-US" sz="1200" dirty="0"/>
          </a:p>
        </p:txBody>
      </p:sp>
      <p:sp>
        <p:nvSpPr>
          <p:cNvPr id="27" name="R4_it350"/>
          <p:cNvSpPr/>
          <p:nvPr/>
        </p:nvSpPr>
        <p:spPr>
          <a:xfrm>
            <a:off x="7479792" y="18013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affare</a:t>
            </a:r>
            <a:endParaRPr lang="en-US" sz="1000" dirty="0"/>
          </a:p>
        </p:txBody>
      </p:sp>
      <p:sp>
        <p:nvSpPr>
          <p:cNvPr id="28" name="cd_351"/>
          <p:cNvSpPr/>
          <p:nvPr/>
        </p:nvSpPr>
        <p:spPr>
          <a:xfrm>
            <a:off x="320040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9" name="e_352"/>
          <p:cNvSpPr/>
          <p:nvPr/>
        </p:nvSpPr>
        <p:spPr>
          <a:xfrm>
            <a:off x="393192" y="235000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🛒</a:t>
            </a:r>
            <a:endParaRPr lang="en-US" sz="2000" dirty="0"/>
          </a:p>
        </p:txBody>
      </p:sp>
      <p:sp>
        <p:nvSpPr>
          <p:cNvPr id="30" name="en_353"/>
          <p:cNvSpPr/>
          <p:nvPr/>
        </p:nvSpPr>
        <p:spPr>
          <a:xfrm>
            <a:off x="978408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trolley</a:t>
            </a:r>
            <a:endParaRPr lang="en-US" sz="1200" dirty="0"/>
          </a:p>
        </p:txBody>
      </p:sp>
      <p:sp>
        <p:nvSpPr>
          <p:cNvPr id="31" name="R5_it354"/>
          <p:cNvSpPr/>
          <p:nvPr/>
        </p:nvSpPr>
        <p:spPr>
          <a:xfrm>
            <a:off x="978408" y="262432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carrello</a:t>
            </a:r>
            <a:endParaRPr lang="en-US" sz="1000" dirty="0"/>
          </a:p>
        </p:txBody>
      </p:sp>
      <p:sp>
        <p:nvSpPr>
          <p:cNvPr id="32" name="cd_355"/>
          <p:cNvSpPr/>
          <p:nvPr/>
        </p:nvSpPr>
        <p:spPr>
          <a:xfrm>
            <a:off x="2487168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3" name="e_356"/>
          <p:cNvSpPr/>
          <p:nvPr/>
        </p:nvSpPr>
        <p:spPr>
          <a:xfrm>
            <a:off x="2560320" y="235000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🧺</a:t>
            </a:r>
            <a:endParaRPr lang="en-US" sz="2000" dirty="0"/>
          </a:p>
        </p:txBody>
      </p:sp>
      <p:sp>
        <p:nvSpPr>
          <p:cNvPr id="34" name="en_357"/>
          <p:cNvSpPr/>
          <p:nvPr/>
        </p:nvSpPr>
        <p:spPr>
          <a:xfrm>
            <a:off x="3145536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basket</a:t>
            </a:r>
            <a:endParaRPr lang="en-US" sz="1200" dirty="0"/>
          </a:p>
        </p:txBody>
      </p:sp>
      <p:sp>
        <p:nvSpPr>
          <p:cNvPr id="35" name="R6_it358"/>
          <p:cNvSpPr/>
          <p:nvPr/>
        </p:nvSpPr>
        <p:spPr>
          <a:xfrm>
            <a:off x="3145536" y="262432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cestino</a:t>
            </a:r>
            <a:endParaRPr lang="en-US" sz="1000" dirty="0"/>
          </a:p>
        </p:txBody>
      </p:sp>
      <p:sp>
        <p:nvSpPr>
          <p:cNvPr id="36" name="cd_359"/>
          <p:cNvSpPr/>
          <p:nvPr/>
        </p:nvSpPr>
        <p:spPr>
          <a:xfrm>
            <a:off x="4654296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7" name="e_360"/>
          <p:cNvSpPr/>
          <p:nvPr/>
        </p:nvSpPr>
        <p:spPr>
          <a:xfrm>
            <a:off x="4727448" y="235000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📚</a:t>
            </a:r>
            <a:endParaRPr lang="en-US" sz="2000" dirty="0"/>
          </a:p>
        </p:txBody>
      </p:sp>
      <p:sp>
        <p:nvSpPr>
          <p:cNvPr id="38" name="en_361"/>
          <p:cNvSpPr/>
          <p:nvPr/>
        </p:nvSpPr>
        <p:spPr>
          <a:xfrm>
            <a:off x="5312664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library</a:t>
            </a:r>
            <a:endParaRPr lang="en-US" sz="1200" dirty="0"/>
          </a:p>
        </p:txBody>
      </p:sp>
      <p:sp>
        <p:nvSpPr>
          <p:cNvPr id="39" name="R7_it362"/>
          <p:cNvSpPr/>
          <p:nvPr/>
        </p:nvSpPr>
        <p:spPr>
          <a:xfrm>
            <a:off x="5312664" y="262432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biblioteca</a:t>
            </a:r>
            <a:endParaRPr lang="en-US" sz="1000" dirty="0"/>
          </a:p>
        </p:txBody>
      </p:sp>
      <p:sp>
        <p:nvSpPr>
          <p:cNvPr id="40" name="cd_363"/>
          <p:cNvSpPr/>
          <p:nvPr/>
        </p:nvSpPr>
        <p:spPr>
          <a:xfrm>
            <a:off x="6821424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1" name="e_364"/>
          <p:cNvSpPr/>
          <p:nvPr/>
        </p:nvSpPr>
        <p:spPr>
          <a:xfrm>
            <a:off x="6894576" y="235000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📖</a:t>
            </a:r>
            <a:endParaRPr lang="en-US" sz="2000" dirty="0"/>
          </a:p>
        </p:txBody>
      </p:sp>
      <p:sp>
        <p:nvSpPr>
          <p:cNvPr id="42" name="en_365"/>
          <p:cNvSpPr/>
          <p:nvPr/>
        </p:nvSpPr>
        <p:spPr>
          <a:xfrm>
            <a:off x="7479792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bookshop</a:t>
            </a:r>
            <a:endParaRPr lang="en-US" sz="1200" dirty="0"/>
          </a:p>
        </p:txBody>
      </p:sp>
      <p:sp>
        <p:nvSpPr>
          <p:cNvPr id="43" name="R8_it366"/>
          <p:cNvSpPr/>
          <p:nvPr/>
        </p:nvSpPr>
        <p:spPr>
          <a:xfrm>
            <a:off x="7479792" y="262432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libreria</a:t>
            </a:r>
            <a:endParaRPr lang="en-US" sz="1000" dirty="0"/>
          </a:p>
        </p:txBody>
      </p:sp>
      <p:sp>
        <p:nvSpPr>
          <p:cNvPr id="44" name="cd_367"/>
          <p:cNvSpPr/>
          <p:nvPr/>
        </p:nvSpPr>
        <p:spPr>
          <a:xfrm>
            <a:off x="320040" y="306324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5" name="e_368"/>
          <p:cNvSpPr/>
          <p:nvPr/>
        </p:nvSpPr>
        <p:spPr>
          <a:xfrm>
            <a:off x="393192" y="317296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👗</a:t>
            </a:r>
            <a:endParaRPr lang="en-US" sz="2000" dirty="0"/>
          </a:p>
        </p:txBody>
      </p:sp>
      <p:sp>
        <p:nvSpPr>
          <p:cNvPr id="46" name="en_369"/>
          <p:cNvSpPr/>
          <p:nvPr/>
        </p:nvSpPr>
        <p:spPr>
          <a:xfrm>
            <a:off x="978408" y="311810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changing room</a:t>
            </a:r>
            <a:endParaRPr lang="en-US" sz="1200" dirty="0"/>
          </a:p>
        </p:txBody>
      </p:sp>
      <p:sp>
        <p:nvSpPr>
          <p:cNvPr id="47" name="R9_it370"/>
          <p:cNvSpPr/>
          <p:nvPr/>
        </p:nvSpPr>
        <p:spPr>
          <a:xfrm>
            <a:off x="978408" y="344728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camerino</a:t>
            </a:r>
            <a:endParaRPr lang="en-US" sz="1000" dirty="0"/>
          </a:p>
        </p:txBody>
      </p:sp>
      <p:sp>
        <p:nvSpPr>
          <p:cNvPr id="48" name="cd_371"/>
          <p:cNvSpPr/>
          <p:nvPr/>
        </p:nvSpPr>
        <p:spPr>
          <a:xfrm>
            <a:off x="2487168" y="306324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9" name="e_372"/>
          <p:cNvSpPr/>
          <p:nvPr/>
        </p:nvSpPr>
        <p:spPr>
          <a:xfrm>
            <a:off x="2560320" y="317296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🏬</a:t>
            </a:r>
            <a:endParaRPr lang="en-US" sz="2000" dirty="0"/>
          </a:p>
        </p:txBody>
      </p:sp>
      <p:sp>
        <p:nvSpPr>
          <p:cNvPr id="50" name="en_373"/>
          <p:cNvSpPr/>
          <p:nvPr/>
        </p:nvSpPr>
        <p:spPr>
          <a:xfrm>
            <a:off x="3145536" y="311810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department store</a:t>
            </a:r>
            <a:endParaRPr lang="en-US" sz="1200" dirty="0"/>
          </a:p>
        </p:txBody>
      </p:sp>
      <p:sp>
        <p:nvSpPr>
          <p:cNvPr id="51" name="R10_it374"/>
          <p:cNvSpPr/>
          <p:nvPr/>
        </p:nvSpPr>
        <p:spPr>
          <a:xfrm>
            <a:off x="3145536" y="344728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grande magazzino</a:t>
            </a:r>
            <a:endParaRPr lang="en-US" sz="1000" dirty="0"/>
          </a:p>
        </p:txBody>
      </p:sp>
      <p:sp>
        <p:nvSpPr>
          <p:cNvPr id="52" name="cd_375"/>
          <p:cNvSpPr/>
          <p:nvPr/>
        </p:nvSpPr>
        <p:spPr>
          <a:xfrm>
            <a:off x="4654296" y="306324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53" name="e_376"/>
          <p:cNvSpPr/>
          <p:nvPr/>
        </p:nvSpPr>
        <p:spPr>
          <a:xfrm>
            <a:off x="4727448" y="317296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👔</a:t>
            </a:r>
            <a:endParaRPr lang="en-US" sz="2000" dirty="0"/>
          </a:p>
        </p:txBody>
      </p:sp>
      <p:sp>
        <p:nvSpPr>
          <p:cNvPr id="54" name="en_377"/>
          <p:cNvSpPr/>
          <p:nvPr/>
        </p:nvSpPr>
        <p:spPr>
          <a:xfrm>
            <a:off x="5312664" y="311810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It suits you</a:t>
            </a:r>
            <a:endParaRPr lang="en-US" sz="1200" dirty="0"/>
          </a:p>
        </p:txBody>
      </p:sp>
      <p:sp>
        <p:nvSpPr>
          <p:cNvPr id="55" name="R11_it378"/>
          <p:cNvSpPr/>
          <p:nvPr/>
        </p:nvSpPr>
        <p:spPr>
          <a:xfrm>
            <a:off x="5312664" y="344728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ti sta bene</a:t>
            </a:r>
            <a:endParaRPr lang="en-US" sz="1000" dirty="0"/>
          </a:p>
        </p:txBody>
      </p:sp>
      <p:sp>
        <p:nvSpPr>
          <p:cNvPr id="56" name="cd_379"/>
          <p:cNvSpPr/>
          <p:nvPr/>
        </p:nvSpPr>
        <p:spPr>
          <a:xfrm>
            <a:off x="6821424" y="306324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57" name="e_380"/>
          <p:cNvSpPr/>
          <p:nvPr/>
        </p:nvSpPr>
        <p:spPr>
          <a:xfrm>
            <a:off x="6894576" y="317296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📏</a:t>
            </a:r>
            <a:endParaRPr lang="en-US" sz="2000" dirty="0"/>
          </a:p>
        </p:txBody>
      </p:sp>
      <p:sp>
        <p:nvSpPr>
          <p:cNvPr id="58" name="en_381"/>
          <p:cNvSpPr/>
          <p:nvPr/>
        </p:nvSpPr>
        <p:spPr>
          <a:xfrm>
            <a:off x="7479792" y="311810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It fits</a:t>
            </a:r>
            <a:endParaRPr lang="en-US" sz="1200" dirty="0"/>
          </a:p>
        </p:txBody>
      </p:sp>
      <p:sp>
        <p:nvSpPr>
          <p:cNvPr id="59" name="R12_it382"/>
          <p:cNvSpPr/>
          <p:nvPr/>
        </p:nvSpPr>
        <p:spPr>
          <a:xfrm>
            <a:off x="7479792" y="344728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è della taglia giusta</a:t>
            </a:r>
            <a:endParaRPr lang="en-US" sz="1000" dirty="0"/>
          </a:p>
        </p:txBody>
      </p:sp>
      <p:sp>
        <p:nvSpPr>
          <p:cNvPr id="60" name="R13_wc383"/>
          <p:cNvSpPr/>
          <p:nvPr/>
        </p:nvSpPr>
        <p:spPr>
          <a:xfrm>
            <a:off x="320040" y="3931920"/>
            <a:ext cx="8549640" cy="457200"/>
          </a:xfrm>
          <a:prstGeom prst="roundRect">
            <a:avLst>
              <a:gd name="adj" fmla="val 28000"/>
            </a:avLst>
          </a:prstGeom>
          <a:solidFill>
            <a:srgbClr val="FFE3EE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61" name="R13_w384"/>
          <p:cNvSpPr/>
          <p:nvPr/>
        </p:nvSpPr>
        <p:spPr>
          <a:xfrm>
            <a:off x="457200" y="393192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⚠ Watch out!  library = biblioteca (NOT libreria!)  ·  He told me / He said (✗ said me)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85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7B5CD6"/>
          </a:solidFill>
          <a:ln w="28575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13</a:t>
            </a:r>
            <a:endParaRPr lang="en-US" sz="2200" dirty="0"/>
          </a:p>
        </p:txBody>
      </p:sp>
      <p:pic>
        <p:nvPicPr>
          <p:cNvPr id="4" name="brY_386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562502" cy="621792"/>
          </a:xfrm>
          <a:prstGeom prst="rect">
            <a:avLst/>
          </a:prstGeom>
        </p:spPr>
      </p:pic>
      <p:sp>
        <p:nvSpPr>
          <p:cNvPr id="5" name="title_387"/>
          <p:cNvSpPr/>
          <p:nvPr/>
        </p:nvSpPr>
        <p:spPr>
          <a:xfrm>
            <a:off x="1261872" y="164592"/>
            <a:ext cx="328818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Sara and the jeans</a:t>
            </a:r>
            <a:endParaRPr lang="en-US" sz="2500" dirty="0"/>
          </a:p>
        </p:txBody>
      </p:sp>
      <p:pic>
        <p:nvPicPr>
          <p:cNvPr id="6" name="brP_388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379976" cy="402336"/>
          </a:xfrm>
          <a:prstGeom prst="rect">
            <a:avLst/>
          </a:prstGeom>
        </p:spPr>
      </p:pic>
      <p:sp>
        <p:nvSpPr>
          <p:cNvPr id="7" name="ins_389"/>
          <p:cNvSpPr/>
          <p:nvPr/>
        </p:nvSpPr>
        <p:spPr>
          <a:xfrm>
            <a:off x="1353312" y="731520"/>
            <a:ext cx="41239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 to the story. Answer the questions!</a:t>
            </a:r>
            <a:endParaRPr lang="en-US" sz="1250" dirty="0"/>
          </a:p>
        </p:txBody>
      </p:sp>
      <p:sp>
        <p:nvSpPr>
          <p:cNvPr id="8" name="insIT_390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Ascolta la storia. Rispondi alle domande!</a:t>
            </a:r>
            <a:endParaRPr lang="en-US" sz="950" dirty="0"/>
          </a:p>
        </p:txBody>
      </p:sp>
      <p:sp>
        <p:nvSpPr>
          <p:cNvPr id="9" name="note_391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👀 READ</a:t>
            </a:r>
            <a:pPr algn="ctr" indent="0" marL="0">
              <a:buNone/>
            </a:pPr>
            <a:r>
              <a:rPr lang="en-US" sz="1200" dirty="0">
                <a:solidFill>
                  <a:srgbClr val="5B6785"/>
                </a:solidFill>
              </a:rPr>
              <a:t> → </a:t>
            </a:r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💬 TALK</a:t>
            </a:r>
            <a:endParaRPr lang="en-US" sz="11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🙋 whole class</a:t>
            </a:r>
            <a:endParaRPr lang="en-US" sz="11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 · TPRS · story</a:t>
            </a:r>
            <a:endParaRPr lang="en-US" sz="1150" dirty="0"/>
          </a:p>
        </p:txBody>
      </p:sp>
      <p:pic>
        <p:nvPicPr>
          <p:cNvPr id="10" name="logo_392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393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8B-1 · Speaking · class story (TPRS)</a:t>
            </a:r>
            <a:endParaRPr lang="en-US" sz="800" dirty="0"/>
          </a:p>
        </p:txBody>
      </p:sp>
      <p:sp>
        <p:nvSpPr>
          <p:cNvPr id="12" name="pf_394"/>
          <p:cNvSpPr/>
          <p:nvPr/>
        </p:nvSpPr>
        <p:spPr>
          <a:xfrm rot="-90000">
            <a:off x="854265" y="1417320"/>
            <a:ext cx="1674751" cy="1280160"/>
          </a:xfrm>
          <a:prstGeom prst="roundRect">
            <a:avLst>
              <a:gd name="adj" fmla="val 1214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3" name="ph_395" descr="/home/claude/lls-course/v2/cache/2a2_receipt_jpg_381x286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899985" y="1463040"/>
            <a:ext cx="1583311" cy="1188720"/>
          </a:xfrm>
          <a:prstGeom prst="rect">
            <a:avLst/>
          </a:prstGeom>
        </p:spPr>
      </p:pic>
      <p:sp>
        <p:nvSpPr>
          <p:cNvPr id="14" name="cd_396"/>
          <p:cNvSpPr/>
          <p:nvPr/>
        </p:nvSpPr>
        <p:spPr>
          <a:xfrm>
            <a:off x="320040" y="2834640"/>
            <a:ext cx="2697480" cy="1920240"/>
          </a:xfrm>
          <a:prstGeom prst="roundRect">
            <a:avLst>
              <a:gd name="adj" fmla="val 6667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397"/>
          <p:cNvSpPr/>
          <p:nvPr/>
        </p:nvSpPr>
        <p:spPr>
          <a:xfrm>
            <a:off x="411480" y="2907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🔑</a:t>
            </a:r>
            <a:endParaRPr lang="en-US" sz="2200" dirty="0"/>
          </a:p>
        </p:txBody>
      </p:sp>
      <p:sp>
        <p:nvSpPr>
          <p:cNvPr id="16" name="ih_398"/>
          <p:cNvSpPr/>
          <p:nvPr/>
        </p:nvSpPr>
        <p:spPr>
          <a:xfrm>
            <a:off x="886968" y="292608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Story phrases</a:t>
            </a:r>
            <a:endParaRPr lang="en-US" sz="1300" dirty="0"/>
          </a:p>
        </p:txBody>
      </p:sp>
      <p:sp>
        <p:nvSpPr>
          <p:cNvPr id="17" name="il_399"/>
          <p:cNvSpPr/>
          <p:nvPr/>
        </p:nvSpPr>
        <p:spPr>
          <a:xfrm>
            <a:off x="886968" y="3328416"/>
            <a:ext cx="2039112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7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asked her if…</a:t>
            </a:r>
            <a:pPr indent="0" marL="0">
              <a:spcAft>
                <a:spcPts val="200"/>
              </a:spcAft>
              <a:buNone/>
            </a:pPr>
            <a:r>
              <a:rPr lang="en-US" sz="7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– Le ha chiesto se…</a:t>
            </a:r>
            <a:endParaRPr lang="en-US" sz="70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7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asked her where…</a:t>
            </a:r>
            <a:pPr indent="0" marL="0">
              <a:spcAft>
                <a:spcPts val="200"/>
              </a:spcAft>
              <a:buNone/>
            </a:pPr>
            <a:r>
              <a:rPr lang="en-US" sz="7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– Le ha chiesto dove…</a:t>
            </a:r>
            <a:endParaRPr lang="en-US" sz="70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7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 told him (that)…</a:t>
            </a:r>
            <a:pPr indent="0" marL="0">
              <a:spcAft>
                <a:spcPts val="200"/>
              </a:spcAft>
              <a:buNone/>
            </a:pPr>
            <a:r>
              <a:rPr lang="en-US" sz="7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– Gli ha detto che…</a:t>
            </a:r>
            <a:endParaRPr lang="en-US" sz="70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7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try on</a:t>
            </a:r>
            <a:pPr indent="0" marL="0">
              <a:spcAft>
                <a:spcPts val="200"/>
              </a:spcAft>
              <a:buNone/>
            </a:pPr>
            <a:r>
              <a:rPr lang="en-US" sz="7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– provare (un vestito)</a:t>
            </a:r>
            <a:endParaRPr lang="en-US" sz="70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7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 doesn't fit.</a:t>
            </a:r>
            <a:pPr indent="0" marL="0">
              <a:spcAft>
                <a:spcPts val="200"/>
              </a:spcAft>
              <a:buNone/>
            </a:pPr>
            <a:r>
              <a:rPr lang="en-US" sz="7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– Non è della taglia giusta.</a:t>
            </a:r>
            <a:endParaRPr lang="en-US" sz="70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7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receipt / refund</a:t>
            </a:r>
            <a:pPr indent="0" marL="0">
              <a:spcAft>
                <a:spcPts val="200"/>
              </a:spcAft>
              <a:buNone/>
            </a:pPr>
            <a:r>
              <a:rPr lang="en-US" sz="7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– scontrino / rimborso</a:t>
            </a:r>
            <a:endParaRPr lang="en-US" sz="700" dirty="0"/>
          </a:p>
        </p:txBody>
      </p:sp>
      <p:sp>
        <p:nvSpPr>
          <p:cNvPr id="18" name="R1_sb400"/>
          <p:cNvSpPr/>
          <p:nvPr/>
        </p:nvSpPr>
        <p:spPr>
          <a:xfrm>
            <a:off x="3200400" y="1453896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19" name="R1_sl401"/>
          <p:cNvSpPr/>
          <p:nvPr/>
        </p:nvSpPr>
        <p:spPr>
          <a:xfrm>
            <a:off x="3584448" y="141732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Sara went into a shop in Palermo to </a:t>
            </a:r>
            <a:pPr indent="0" marL="0">
              <a:buNone/>
            </a:pPr>
            <a:r>
              <a:rPr lang="en-US" sz="11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try on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some jeans.</a:t>
            </a:r>
            <a:endParaRPr lang="en-US" sz="115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Did Sara go to a shop or a bank? · What did she want to try on?</a:t>
            </a:r>
            <a:endParaRPr lang="en-US" sz="1150" dirty="0"/>
          </a:p>
        </p:txBody>
      </p:sp>
      <p:sp>
        <p:nvSpPr>
          <p:cNvPr id="20" name="R2_sb402"/>
          <p:cNvSpPr/>
          <p:nvPr/>
        </p:nvSpPr>
        <p:spPr>
          <a:xfrm>
            <a:off x="3200400" y="2017776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1" name="R2_sl403"/>
          <p:cNvSpPr/>
          <p:nvPr/>
        </p:nvSpPr>
        <p:spPr>
          <a:xfrm>
            <a:off x="3584448" y="198120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assistant </a:t>
            </a:r>
            <a:pPr indent="0" marL="0">
              <a:buNone/>
            </a:pPr>
            <a:r>
              <a:rPr lang="en-US" sz="9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asked her if she needed</a:t>
            </a:r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any help. She </a:t>
            </a:r>
            <a:pPr indent="0" marL="0">
              <a:buNone/>
            </a:pPr>
            <a:r>
              <a:rPr lang="en-US" sz="9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said she was</a:t>
            </a:r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just looking.</a:t>
            </a:r>
            <a:endParaRPr lang="en-US" sz="900" dirty="0"/>
          </a:p>
          <a:p>
            <a:pPr indent="0" marL="0">
              <a:buNone/>
            </a:pPr>
            <a:r>
              <a:rPr lang="en-US" sz="7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Did he ask about help or money? · What did Sara say?</a:t>
            </a:r>
            <a:endParaRPr lang="en-US" sz="900" dirty="0"/>
          </a:p>
        </p:txBody>
      </p:sp>
      <p:sp>
        <p:nvSpPr>
          <p:cNvPr id="22" name="R3_sb404"/>
          <p:cNvSpPr/>
          <p:nvPr/>
        </p:nvSpPr>
        <p:spPr>
          <a:xfrm>
            <a:off x="3200400" y="2581656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3" name="R3_sl405"/>
          <p:cNvSpPr/>
          <p:nvPr/>
        </p:nvSpPr>
        <p:spPr>
          <a:xfrm>
            <a:off x="3584448" y="254508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Then he </a:t>
            </a:r>
            <a:pPr indent="0" marL="0">
              <a:buNone/>
            </a:pPr>
            <a:r>
              <a:rPr lang="en-US" sz="11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asked her where she lived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and </a:t>
            </a:r>
            <a:pPr indent="0" marL="0">
              <a:buNone/>
            </a:pPr>
            <a:r>
              <a:rPr lang="en-US" sz="11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if she liked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football!</a:t>
            </a:r>
            <a:endParaRPr lang="en-US" sz="115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Did he ask where she lived or worked? · What else did he ask?</a:t>
            </a:r>
            <a:endParaRPr lang="en-US" sz="1150" dirty="0"/>
          </a:p>
        </p:txBody>
      </p:sp>
      <p:sp>
        <p:nvSpPr>
          <p:cNvPr id="24" name="R4_sb406"/>
          <p:cNvSpPr/>
          <p:nvPr/>
        </p:nvSpPr>
        <p:spPr>
          <a:xfrm>
            <a:off x="3200400" y="3145536"/>
            <a:ext cx="310896" cy="310896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25" name="R4_sl407"/>
          <p:cNvSpPr/>
          <p:nvPr/>
        </p:nvSpPr>
        <p:spPr>
          <a:xfrm>
            <a:off x="3584448" y="310896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</a:t>
            </a:r>
            <a:pPr indent="0" marL="0">
              <a:buNone/>
            </a:pPr>
            <a:r>
              <a:rPr lang="en-US" sz="10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asked her what she was doing</a:t>
            </a:r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after work. She </a:t>
            </a:r>
            <a:pPr indent="0" marL="0">
              <a:buNone/>
            </a:pPr>
            <a:r>
              <a:rPr lang="en-US" sz="10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told him</a:t>
            </a:r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it was private!</a:t>
            </a:r>
            <a:endParaRPr lang="en-US" sz="1000" dirty="0"/>
          </a:p>
          <a:p>
            <a:pPr indent="0" marL="0">
              <a:buNone/>
            </a:pPr>
            <a:r>
              <a:rPr lang="en-US" sz="7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What did he ask? · What did Sara tell him?</a:t>
            </a:r>
            <a:endParaRPr lang="en-US" sz="1000" dirty="0"/>
          </a:p>
        </p:txBody>
      </p:sp>
      <p:sp>
        <p:nvSpPr>
          <p:cNvPr id="26" name="R5_sb408"/>
          <p:cNvSpPr/>
          <p:nvPr/>
        </p:nvSpPr>
        <p:spPr>
          <a:xfrm>
            <a:off x="3200400" y="3709416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27" name="R5_sl409"/>
          <p:cNvSpPr/>
          <p:nvPr/>
        </p:nvSpPr>
        <p:spPr>
          <a:xfrm>
            <a:off x="3584448" y="367284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At home the jeans </a:t>
            </a:r>
            <a:pPr indent="0" marL="0">
              <a:buNone/>
            </a:pPr>
            <a:r>
              <a:rPr lang="en-US" sz="10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didn't fit</a:t>
            </a:r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. She went back with the </a:t>
            </a:r>
            <a:pPr indent="0" marL="0">
              <a:buNone/>
            </a:pPr>
            <a:r>
              <a:rPr lang="en-US" sz="10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receipt</a:t>
            </a:r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for a </a:t>
            </a:r>
            <a:pPr indent="0" marL="0">
              <a:buNone/>
            </a:pPr>
            <a:r>
              <a:rPr lang="en-US" sz="10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refund</a:t>
            </a:r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.</a:t>
            </a:r>
            <a:endParaRPr lang="en-US" sz="1000" dirty="0"/>
          </a:p>
          <a:p>
            <a:pPr indent="0" marL="0">
              <a:buNone/>
            </a:pPr>
            <a:r>
              <a:rPr lang="en-US" sz="7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Did the jeans fit? · What did she take back? · What did she want?</a:t>
            </a:r>
            <a:endParaRPr lang="en-US" sz="1000" dirty="0"/>
          </a:p>
        </p:txBody>
      </p:sp>
      <p:sp>
        <p:nvSpPr>
          <p:cNvPr id="28" name="R6_sb410"/>
          <p:cNvSpPr/>
          <p:nvPr/>
        </p:nvSpPr>
        <p:spPr>
          <a:xfrm>
            <a:off x="3200400" y="4273296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29" name="R6_sl411"/>
          <p:cNvSpPr/>
          <p:nvPr/>
        </p:nvSpPr>
        <p:spPr>
          <a:xfrm>
            <a:off x="3584448" y="423672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same assistant </a:t>
            </a:r>
            <a:pPr indent="0" marL="0">
              <a:buNone/>
            </a:pPr>
            <a:r>
              <a:rPr lang="en-US" sz="9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asked her if she was</a:t>
            </a:r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free on Friday… Sara </a:t>
            </a:r>
            <a:pPr indent="0" marL="0">
              <a:buNone/>
            </a:pPr>
            <a:r>
              <a:rPr lang="en-US" sz="9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said</a:t>
            </a:r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no – again!</a:t>
            </a:r>
            <a:endParaRPr lang="en-US" sz="900" dirty="0"/>
          </a:p>
          <a:p>
            <a:pPr indent="0" marL="0">
              <a:buNone/>
            </a:pPr>
            <a:r>
              <a:rPr lang="en-US" sz="7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What did he ask her? · And you – what did a shop assistant last ask you?</a:t>
            </a:r>
            <a:endParaRPr lang="en-US" sz="9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12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14</a:t>
            </a:r>
            <a:endParaRPr lang="en-US" sz="2200" dirty="0"/>
          </a:p>
        </p:txBody>
      </p:sp>
      <p:pic>
        <p:nvPicPr>
          <p:cNvPr id="4" name="brY_41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304288" cy="621792"/>
          </a:xfrm>
          <a:prstGeom prst="rect">
            <a:avLst/>
          </a:prstGeom>
        </p:spPr>
      </p:pic>
      <p:sp>
        <p:nvSpPr>
          <p:cNvPr id="5" name="title_414"/>
          <p:cNvSpPr/>
          <p:nvPr/>
        </p:nvSpPr>
        <p:spPr>
          <a:xfrm>
            <a:off x="1261872" y="164592"/>
            <a:ext cx="2029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Report it!</a:t>
            </a:r>
            <a:endParaRPr lang="en-US" sz="2500" dirty="0"/>
          </a:p>
        </p:txBody>
      </p:sp>
      <p:pic>
        <p:nvPicPr>
          <p:cNvPr id="6" name="brP_41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814316" cy="402336"/>
          </a:xfrm>
          <a:prstGeom prst="rect">
            <a:avLst/>
          </a:prstGeom>
        </p:spPr>
      </p:pic>
      <p:sp>
        <p:nvSpPr>
          <p:cNvPr id="7" name="ins_416"/>
          <p:cNvSpPr/>
          <p:nvPr/>
        </p:nvSpPr>
        <p:spPr>
          <a:xfrm>
            <a:off x="1353312" y="731520"/>
            <a:ext cx="45582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Ask your partner. Then report to a new partner!</a:t>
            </a:r>
            <a:endParaRPr lang="en-US" sz="1250" dirty="0"/>
          </a:p>
        </p:txBody>
      </p:sp>
      <p:sp>
        <p:nvSpPr>
          <p:cNvPr id="8" name="insIT_417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Chiedi al compagno. Poi riferisci a un altro!</a:t>
            </a:r>
            <a:endParaRPr lang="en-US" sz="950" dirty="0"/>
          </a:p>
        </p:txBody>
      </p:sp>
      <p:sp>
        <p:nvSpPr>
          <p:cNvPr id="9" name="note_418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🎲 PLAY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GIOCA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9 min   👥 pairs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 · Communicative game</a:t>
            </a:r>
            <a:endParaRPr lang="en-US" sz="1250" dirty="0"/>
          </a:p>
        </p:txBody>
      </p:sp>
      <p:pic>
        <p:nvPicPr>
          <p:cNvPr id="10" name="logo_419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420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8B-1 · Speaking game · reported speech   ·   📖 SB p.81 · 3b questionnaire</a:t>
            </a:r>
            <a:endParaRPr lang="en-US" sz="800" dirty="0"/>
          </a:p>
        </p:txBody>
      </p:sp>
      <p:sp>
        <p:nvSpPr>
          <p:cNvPr id="12" name="cd_421"/>
          <p:cNvSpPr/>
          <p:nvPr/>
        </p:nvSpPr>
        <p:spPr>
          <a:xfrm>
            <a:off x="320040" y="1417320"/>
            <a:ext cx="2697480" cy="2514600"/>
          </a:xfrm>
          <a:prstGeom prst="roundRect">
            <a:avLst>
              <a:gd name="adj" fmla="val 5091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ii_422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4" name="ih_423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400" dirty="0"/>
          </a:p>
        </p:txBody>
      </p:sp>
      <p:sp>
        <p:nvSpPr>
          <p:cNvPr id="15" name="il_424"/>
          <p:cNvSpPr/>
          <p:nvPr/>
        </p:nvSpPr>
        <p:spPr>
          <a:xfrm>
            <a:off x="886968" y="1911096"/>
            <a:ext cx="2039112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Change partners. Report: "Luca asked me if… I told him…"</a:t>
            </a:r>
            <a:endParaRPr lang="en-US" sz="12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12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Cambia compagno. Riferisci: "Luca mi ha chiesto se…"</a:t>
            </a:r>
            <a:endParaRPr lang="en-US" sz="12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Correct reported sentence = 1 point.</a:t>
            </a:r>
            <a:endParaRPr lang="en-US" sz="12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12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Frase corretta = 1 punto.</a:t>
            </a:r>
            <a:endParaRPr lang="en-US" sz="1200" dirty="0"/>
          </a:p>
        </p:txBody>
      </p:sp>
      <p:sp>
        <p:nvSpPr>
          <p:cNvPr id="16" name="bd_425"/>
          <p:cNvSpPr/>
          <p:nvPr/>
        </p:nvSpPr>
        <p:spPr>
          <a:xfrm>
            <a:off x="3246120" y="1491234"/>
            <a:ext cx="329184" cy="329184"/>
          </a:xfrm>
          <a:prstGeom prst="ellipse">
            <a:avLst/>
          </a:prstGeom>
          <a:solidFill>
            <a:srgbClr val="7B5CD6"/>
          </a:solidFill>
          <a:ln w="28575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e.g.</a:t>
            </a:r>
            <a:endParaRPr lang="en-US" sz="500" dirty="0"/>
          </a:p>
        </p:txBody>
      </p:sp>
      <p:sp>
        <p:nvSpPr>
          <p:cNvPr id="17" name="gq_426"/>
          <p:cNvSpPr/>
          <p:nvPr/>
        </p:nvSpPr>
        <p:spPr>
          <a:xfrm>
            <a:off x="3657600" y="14173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EEE8FB"/>
          </a:solidFill>
          <a:ln w="28575">
            <a:solidFill>
              <a:srgbClr val="CDBFF3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Where do you usually buy clothes?</a:t>
            </a:r>
            <a:endParaRPr lang="en-US" sz="1250" dirty="0"/>
          </a:p>
        </p:txBody>
      </p:sp>
      <p:sp>
        <p:nvSpPr>
          <p:cNvPr id="18" name="chip_427"/>
          <p:cNvSpPr/>
          <p:nvPr/>
        </p:nvSpPr>
        <p:spPr>
          <a:xfrm>
            <a:off x="6263640" y="14173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EEE8FB"/>
          </a:solidFill>
          <a:ln w="28575">
            <a:solidFill>
              <a:srgbClr val="CDBFF3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She asked me where I usually bought clothes.</a:t>
            </a:r>
            <a:endParaRPr lang="en-US" sz="1150" dirty="0"/>
          </a:p>
        </p:txBody>
      </p:sp>
      <p:sp>
        <p:nvSpPr>
          <p:cNvPr id="19" name="bd_428"/>
          <p:cNvSpPr/>
          <p:nvPr/>
        </p:nvSpPr>
        <p:spPr>
          <a:xfrm>
            <a:off x="3246120" y="2032254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0" name="gq_429"/>
          <p:cNvSpPr/>
          <p:nvPr/>
        </p:nvSpPr>
        <p:spPr>
          <a:xfrm>
            <a:off x="3657600" y="195834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 you enjoy shopping?</a:t>
            </a:r>
            <a:endParaRPr lang="en-US" sz="1250" dirty="0"/>
          </a:p>
        </p:txBody>
      </p:sp>
      <p:sp>
        <p:nvSpPr>
          <p:cNvPr id="21" name="R1_chip430"/>
          <p:cNvSpPr/>
          <p:nvPr/>
        </p:nvSpPr>
        <p:spPr>
          <a:xfrm>
            <a:off x="6263640" y="195834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He asked me if I enjoyed shopping.</a:t>
            </a:r>
            <a:endParaRPr lang="en-US" sz="1150" dirty="0"/>
          </a:p>
        </p:txBody>
      </p:sp>
      <p:sp>
        <p:nvSpPr>
          <p:cNvPr id="22" name="bd_431"/>
          <p:cNvSpPr/>
          <p:nvPr/>
        </p:nvSpPr>
        <p:spPr>
          <a:xfrm>
            <a:off x="3246120" y="2573274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3" name="gq_432"/>
          <p:cNvSpPr/>
          <p:nvPr/>
        </p:nvSpPr>
        <p:spPr>
          <a:xfrm>
            <a:off x="3657600" y="249936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What's your favourite shop?</a:t>
            </a:r>
            <a:endParaRPr lang="en-US" sz="1250" dirty="0"/>
          </a:p>
        </p:txBody>
      </p:sp>
      <p:sp>
        <p:nvSpPr>
          <p:cNvPr id="24" name="R2_chip433"/>
          <p:cNvSpPr/>
          <p:nvPr/>
        </p:nvSpPr>
        <p:spPr>
          <a:xfrm>
            <a:off x="6263640" y="249936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She asked me what my favourite shop was.</a:t>
            </a:r>
            <a:endParaRPr lang="en-US" sz="1150" dirty="0"/>
          </a:p>
        </p:txBody>
      </p:sp>
      <p:sp>
        <p:nvSpPr>
          <p:cNvPr id="25" name="bd_434"/>
          <p:cNvSpPr/>
          <p:nvPr/>
        </p:nvSpPr>
        <p:spPr>
          <a:xfrm>
            <a:off x="3246120" y="3114294"/>
            <a:ext cx="329184" cy="329184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6" name="gq_435"/>
          <p:cNvSpPr/>
          <p:nvPr/>
        </p:nvSpPr>
        <p:spPr>
          <a:xfrm>
            <a:off x="3657600" y="304038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Have you ever returned something?</a:t>
            </a:r>
            <a:endParaRPr lang="en-US" sz="1250" dirty="0"/>
          </a:p>
        </p:txBody>
      </p:sp>
      <p:sp>
        <p:nvSpPr>
          <p:cNvPr id="27" name="R3_chip436"/>
          <p:cNvSpPr/>
          <p:nvPr/>
        </p:nvSpPr>
        <p:spPr>
          <a:xfrm>
            <a:off x="6263640" y="304038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He asked me if I had ever returned something.</a:t>
            </a:r>
            <a:endParaRPr lang="en-US" sz="1150" dirty="0"/>
          </a:p>
        </p:txBody>
      </p:sp>
      <p:sp>
        <p:nvSpPr>
          <p:cNvPr id="28" name="bd_437"/>
          <p:cNvSpPr/>
          <p:nvPr/>
        </p:nvSpPr>
        <p:spPr>
          <a:xfrm>
            <a:off x="3246120" y="3655314"/>
            <a:ext cx="329184" cy="329184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9" name="gq_438"/>
          <p:cNvSpPr/>
          <p:nvPr/>
        </p:nvSpPr>
        <p:spPr>
          <a:xfrm>
            <a:off x="3657600" y="358140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 you prefer shopping online or in shops?</a:t>
            </a:r>
            <a:endParaRPr lang="en-US" sz="1250" dirty="0"/>
          </a:p>
        </p:txBody>
      </p:sp>
      <p:sp>
        <p:nvSpPr>
          <p:cNvPr id="30" name="R4_chip439"/>
          <p:cNvSpPr/>
          <p:nvPr/>
        </p:nvSpPr>
        <p:spPr>
          <a:xfrm>
            <a:off x="6263640" y="358140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She asked me if I preferred shopping online or in shops.</a:t>
            </a:r>
            <a:endParaRPr lang="en-US" sz="1150" dirty="0"/>
          </a:p>
        </p:txBody>
      </p:sp>
      <p:sp>
        <p:nvSpPr>
          <p:cNvPr id="31" name="bd_440"/>
          <p:cNvSpPr/>
          <p:nvPr/>
        </p:nvSpPr>
        <p:spPr>
          <a:xfrm>
            <a:off x="3246120" y="4196334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2" name="gq_441"/>
          <p:cNvSpPr/>
          <p:nvPr/>
        </p:nvSpPr>
        <p:spPr>
          <a:xfrm>
            <a:off x="3657600" y="41224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did you buy last week?</a:t>
            </a:r>
            <a:endParaRPr lang="en-US" sz="1250" dirty="0"/>
          </a:p>
        </p:txBody>
      </p:sp>
      <p:sp>
        <p:nvSpPr>
          <p:cNvPr id="33" name="R5_chip442"/>
          <p:cNvSpPr/>
          <p:nvPr/>
        </p:nvSpPr>
        <p:spPr>
          <a:xfrm>
            <a:off x="6263640" y="41224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He asked me what I had bought the week before.</a:t>
            </a:r>
            <a:endParaRPr lang="en-US" sz="11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43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15</a:t>
            </a:r>
            <a:endParaRPr lang="en-US" sz="2200" dirty="0"/>
          </a:p>
        </p:txBody>
      </p:sp>
      <p:pic>
        <p:nvPicPr>
          <p:cNvPr id="4" name="brY_444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147011" cy="621792"/>
          </a:xfrm>
          <a:prstGeom prst="rect">
            <a:avLst/>
          </a:prstGeom>
        </p:spPr>
      </p:pic>
      <p:sp>
        <p:nvSpPr>
          <p:cNvPr id="5" name="title_445"/>
          <p:cNvSpPr/>
          <p:nvPr/>
        </p:nvSpPr>
        <p:spPr>
          <a:xfrm>
            <a:off x="1261872" y="164592"/>
            <a:ext cx="187269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 · 2 · 1</a:t>
            </a:r>
            <a:endParaRPr lang="en-US" sz="2500" dirty="0"/>
          </a:p>
        </p:txBody>
      </p:sp>
      <p:pic>
        <p:nvPicPr>
          <p:cNvPr id="6" name="brP_446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858768" cy="402336"/>
          </a:xfrm>
          <a:prstGeom prst="rect">
            <a:avLst/>
          </a:prstGeom>
        </p:spPr>
      </p:pic>
      <p:sp>
        <p:nvSpPr>
          <p:cNvPr id="7" name="ins_447"/>
          <p:cNvSpPr/>
          <p:nvPr/>
        </p:nvSpPr>
        <p:spPr>
          <a:xfrm>
            <a:off x="1353312" y="731520"/>
            <a:ext cx="3602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Books closed! What can you remember?</a:t>
            </a:r>
            <a:endParaRPr lang="en-US" sz="1250" dirty="0"/>
          </a:p>
        </p:txBody>
      </p:sp>
      <p:sp>
        <p:nvSpPr>
          <p:cNvPr id="8" name="insIT_448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Libri chiusi! Cosa ricordi?</a:t>
            </a:r>
            <a:endParaRPr lang="en-US" sz="950" dirty="0"/>
          </a:p>
        </p:txBody>
      </p:sp>
      <p:sp>
        <p:nvSpPr>
          <p:cNvPr id="9" name="note_449"/>
          <p:cNvSpPr/>
          <p:nvPr/>
        </p:nvSpPr>
        <p:spPr>
          <a:xfrm rot="180000">
            <a:off x="6382512" y="128016"/>
            <a:ext cx="2029968" cy="74980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👥 pairs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 · Retrieval</a:t>
            </a:r>
            <a:endParaRPr lang="en-US" sz="1100" dirty="0"/>
          </a:p>
        </p:txBody>
      </p:sp>
      <p:pic>
        <p:nvPicPr>
          <p:cNvPr id="10" name="logo_450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451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8B-1 · Exit · what can you remember?</a:t>
            </a:r>
            <a:endParaRPr lang="en-US" sz="800" dirty="0"/>
          </a:p>
        </p:txBody>
      </p:sp>
      <p:sp>
        <p:nvSpPr>
          <p:cNvPr id="12" name="bd_452"/>
          <p:cNvSpPr/>
          <p:nvPr/>
        </p:nvSpPr>
        <p:spPr>
          <a:xfrm>
            <a:off x="457200" y="1508760"/>
            <a:ext cx="777240" cy="777240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2600" dirty="0"/>
          </a:p>
        </p:txBody>
      </p:sp>
      <p:sp>
        <p:nvSpPr>
          <p:cNvPr id="13" name="rt_453"/>
          <p:cNvSpPr/>
          <p:nvPr/>
        </p:nvSpPr>
        <p:spPr>
          <a:xfrm>
            <a:off x="1417320" y="158191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Tell me 3 shopping words (receipt…)</a:t>
            </a:r>
            <a:endParaRPr lang="en-US" sz="1400" dirty="0"/>
          </a:p>
        </p:txBody>
      </p:sp>
      <p:sp>
        <p:nvSpPr>
          <p:cNvPr id="14" name="bd_454"/>
          <p:cNvSpPr/>
          <p:nvPr/>
        </p:nvSpPr>
        <p:spPr>
          <a:xfrm>
            <a:off x="457200" y="2468880"/>
            <a:ext cx="777240" cy="777240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2600" dirty="0"/>
          </a:p>
        </p:txBody>
      </p:sp>
      <p:sp>
        <p:nvSpPr>
          <p:cNvPr id="15" name="rt_455"/>
          <p:cNvSpPr/>
          <p:nvPr/>
        </p:nvSpPr>
        <p:spPr>
          <a:xfrm>
            <a:off x="1417320" y="254203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Tell me 2 things your partner told you – reported!</a:t>
            </a:r>
            <a:endParaRPr lang="en-US" sz="1400" dirty="0"/>
          </a:p>
        </p:txBody>
      </p:sp>
      <p:sp>
        <p:nvSpPr>
          <p:cNvPr id="16" name="bd_456"/>
          <p:cNvSpPr/>
          <p:nvPr/>
        </p:nvSpPr>
        <p:spPr>
          <a:xfrm>
            <a:off x="457200" y="3429000"/>
            <a:ext cx="777240" cy="777240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2600" dirty="0"/>
          </a:p>
        </p:txBody>
      </p:sp>
      <p:sp>
        <p:nvSpPr>
          <p:cNvPr id="17" name="rt_457"/>
          <p:cNvSpPr/>
          <p:nvPr/>
        </p:nvSpPr>
        <p:spPr>
          <a:xfrm>
            <a:off x="1417320" y="350215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Tell me 1 rule: how do reported questions change?</a:t>
            </a:r>
            <a:endParaRPr lang="en-US" sz="1400" dirty="0"/>
          </a:p>
        </p:txBody>
      </p:sp>
      <p:sp>
        <p:nvSpPr>
          <p:cNvPr id="18" name="cd_458"/>
          <p:cNvSpPr/>
          <p:nvPr/>
        </p:nvSpPr>
        <p:spPr>
          <a:xfrm>
            <a:off x="5669280" y="1417320"/>
            <a:ext cx="3200400" cy="1502664"/>
          </a:xfrm>
          <a:prstGeom prst="roundRect">
            <a:avLst>
              <a:gd name="adj" fmla="val 8519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9" name="ii_459"/>
          <p:cNvSpPr/>
          <p:nvPr/>
        </p:nvSpPr>
        <p:spPr>
          <a:xfrm>
            <a:off x="576072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📝</a:t>
            </a:r>
            <a:endParaRPr lang="en-US" sz="2200" dirty="0"/>
          </a:p>
        </p:txBody>
      </p:sp>
      <p:sp>
        <p:nvSpPr>
          <p:cNvPr id="20" name="ih_460"/>
          <p:cNvSpPr/>
          <p:nvPr/>
        </p:nvSpPr>
        <p:spPr>
          <a:xfrm>
            <a:off x="6236208" y="150876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Homework · Compiti</a:t>
            </a:r>
            <a:endParaRPr lang="en-US" sz="1400" dirty="0"/>
          </a:p>
        </p:txBody>
      </p:sp>
      <p:sp>
        <p:nvSpPr>
          <p:cNvPr id="21" name="il_461"/>
          <p:cNvSpPr/>
          <p:nvPr/>
        </p:nvSpPr>
        <p:spPr>
          <a:xfrm>
            <a:off x="6236208" y="1911096"/>
            <a:ext cx="2542032" cy="9357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Workbook 8B: 1a, 1b, 1c, 2a</a:t>
            </a:r>
            <a:endParaRPr lang="en-US" sz="11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Grammar Bank 8B: a 5–7, b 5–7</a:t>
            </a:r>
            <a:endParaRPr lang="en-US" sz="11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Homework sheet in the LLS app</a:t>
            </a:r>
            <a:endParaRPr lang="en-US" sz="1150" dirty="0"/>
          </a:p>
        </p:txBody>
      </p:sp>
      <p:sp>
        <p:nvSpPr>
          <p:cNvPr id="22" name="st_462"/>
          <p:cNvSpPr/>
          <p:nvPr/>
        </p:nvSpPr>
        <p:spPr>
          <a:xfrm rot="-180000">
            <a:off x="5806440" y="3483864"/>
            <a:ext cx="2926080" cy="68580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Next lesson: 8B part 2 · Going the extra mile · complaining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63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16</a:t>
            </a:r>
            <a:endParaRPr lang="en-US" sz="2200" dirty="0"/>
          </a:p>
        </p:txBody>
      </p:sp>
      <p:pic>
        <p:nvPicPr>
          <p:cNvPr id="4" name="brY_464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304288" cy="621792"/>
          </a:xfrm>
          <a:prstGeom prst="rect">
            <a:avLst/>
          </a:prstGeom>
        </p:spPr>
      </p:pic>
      <p:sp>
        <p:nvSpPr>
          <p:cNvPr id="5" name="title_465"/>
          <p:cNvSpPr/>
          <p:nvPr/>
        </p:nvSpPr>
        <p:spPr>
          <a:xfrm>
            <a:off x="1261872" y="164592"/>
            <a:ext cx="2029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Today you…</a:t>
            </a:r>
            <a:endParaRPr lang="en-US" sz="2400" dirty="0"/>
          </a:p>
        </p:txBody>
      </p:sp>
      <p:pic>
        <p:nvPicPr>
          <p:cNvPr id="6" name="brP_466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553712" cy="402336"/>
          </a:xfrm>
          <a:prstGeom prst="rect">
            <a:avLst/>
          </a:prstGeom>
        </p:spPr>
      </p:pic>
      <p:sp>
        <p:nvSpPr>
          <p:cNvPr id="7" name="ins_467"/>
          <p:cNvSpPr/>
          <p:nvPr/>
        </p:nvSpPr>
        <p:spPr>
          <a:xfrm>
            <a:off x="1353312" y="731520"/>
            <a:ext cx="4297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 you do it now? Thumbs up or thumbs down!</a:t>
            </a:r>
            <a:endParaRPr lang="en-US" sz="1250" dirty="0"/>
          </a:p>
        </p:txBody>
      </p:sp>
      <p:sp>
        <p:nvSpPr>
          <p:cNvPr id="8" name="insIT_468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Ora sai farlo? Pollice su o pollice giù!</a:t>
            </a:r>
            <a:endParaRPr lang="en-US" sz="950" dirty="0"/>
          </a:p>
        </p:txBody>
      </p:sp>
      <p:sp>
        <p:nvSpPr>
          <p:cNvPr id="9" name="note_469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💡 THINK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PENSA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1 min   🙋 whole class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 · Reflection</a:t>
            </a:r>
            <a:endParaRPr lang="en-US" sz="1250" dirty="0"/>
          </a:p>
        </p:txBody>
      </p:sp>
      <p:pic>
        <p:nvPicPr>
          <p:cNvPr id="10" name="logo_470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471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8B-1 · Review · what did you do today?</a:t>
            </a:r>
            <a:endParaRPr lang="en-US" sz="800" dirty="0"/>
          </a:p>
        </p:txBody>
      </p:sp>
      <p:sp>
        <p:nvSpPr>
          <p:cNvPr id="12" name="cd_472"/>
          <p:cNvSpPr/>
          <p:nvPr/>
        </p:nvSpPr>
        <p:spPr>
          <a:xfrm>
            <a:off x="548640" y="1417320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te_473"/>
          <p:cNvSpPr/>
          <p:nvPr/>
        </p:nvSpPr>
        <p:spPr>
          <a:xfrm>
            <a:off x="640080" y="14538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👀</a:t>
            </a:r>
            <a:endParaRPr lang="en-US" sz="1800" dirty="0"/>
          </a:p>
        </p:txBody>
      </p:sp>
      <p:sp>
        <p:nvSpPr>
          <p:cNvPr id="14" name="tt_474"/>
          <p:cNvSpPr/>
          <p:nvPr/>
        </p:nvSpPr>
        <p:spPr>
          <a:xfrm>
            <a:off x="1188720" y="1417320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about a VERY helpful shop assistant</a:t>
            </a:r>
            <a:endParaRPr lang="en-US" sz="1350" dirty="0"/>
          </a:p>
        </p:txBody>
      </p:sp>
      <p:sp>
        <p:nvSpPr>
          <p:cNvPr id="15" name="R1_tk475"/>
          <p:cNvSpPr/>
          <p:nvPr/>
        </p:nvSpPr>
        <p:spPr>
          <a:xfrm>
            <a:off x="5989320" y="1453896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16" name="cd_476"/>
          <p:cNvSpPr/>
          <p:nvPr/>
        </p:nvSpPr>
        <p:spPr>
          <a:xfrm>
            <a:off x="548640" y="2020824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te_477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✏️</a:t>
            </a:r>
            <a:endParaRPr lang="en-US" sz="1800" dirty="0"/>
          </a:p>
        </p:txBody>
      </p:sp>
      <p:sp>
        <p:nvSpPr>
          <p:cNvPr id="18" name="tt_478"/>
          <p:cNvSpPr/>
          <p:nvPr/>
        </p:nvSpPr>
        <p:spPr>
          <a:xfrm>
            <a:off x="1188720" y="2020824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Reported what people said and asked</a:t>
            </a:r>
            <a:endParaRPr lang="en-US" sz="1350" dirty="0"/>
          </a:p>
        </p:txBody>
      </p:sp>
      <p:sp>
        <p:nvSpPr>
          <p:cNvPr id="19" name="R2_tk479"/>
          <p:cNvSpPr/>
          <p:nvPr/>
        </p:nvSpPr>
        <p:spPr>
          <a:xfrm>
            <a:off x="5989320" y="205740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0" name="cd_480"/>
          <p:cNvSpPr/>
          <p:nvPr/>
        </p:nvSpPr>
        <p:spPr>
          <a:xfrm>
            <a:off x="548640" y="2624328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1" name="te_481"/>
          <p:cNvSpPr/>
          <p:nvPr/>
        </p:nvSpPr>
        <p:spPr>
          <a:xfrm>
            <a:off x="640080" y="26609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🛍️</a:t>
            </a:r>
            <a:endParaRPr lang="en-US" sz="1800" dirty="0"/>
          </a:p>
        </p:txBody>
      </p:sp>
      <p:sp>
        <p:nvSpPr>
          <p:cNvPr id="22" name="tt_482"/>
          <p:cNvSpPr/>
          <p:nvPr/>
        </p:nvSpPr>
        <p:spPr>
          <a:xfrm>
            <a:off x="1188720" y="2624328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Learnt shopping words: receipt, refund, bargain…</a:t>
            </a:r>
            <a:endParaRPr lang="en-US" sz="1350" dirty="0"/>
          </a:p>
        </p:txBody>
      </p:sp>
      <p:sp>
        <p:nvSpPr>
          <p:cNvPr id="23" name="R3_tk483"/>
          <p:cNvSpPr/>
          <p:nvPr/>
        </p:nvSpPr>
        <p:spPr>
          <a:xfrm>
            <a:off x="5989320" y="2660904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4" name="cd_484"/>
          <p:cNvSpPr/>
          <p:nvPr/>
        </p:nvSpPr>
        <p:spPr>
          <a:xfrm>
            <a:off x="548640" y="3227832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28575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5" name="te_485"/>
          <p:cNvSpPr/>
          <p:nvPr/>
        </p:nvSpPr>
        <p:spPr>
          <a:xfrm>
            <a:off x="640080" y="32644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📖</a:t>
            </a:r>
            <a:endParaRPr lang="en-US" sz="1800" dirty="0"/>
          </a:p>
        </p:txBody>
      </p:sp>
      <p:sp>
        <p:nvSpPr>
          <p:cNvPr id="26" name="tt_486"/>
          <p:cNvSpPr/>
          <p:nvPr/>
        </p:nvSpPr>
        <p:spPr>
          <a:xfrm>
            <a:off x="1188720" y="3227832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Listened to a class story and answered questions</a:t>
            </a:r>
            <a:endParaRPr lang="en-US" sz="1350" dirty="0"/>
          </a:p>
        </p:txBody>
      </p:sp>
      <p:sp>
        <p:nvSpPr>
          <p:cNvPr id="27" name="R4_tk487"/>
          <p:cNvSpPr/>
          <p:nvPr/>
        </p:nvSpPr>
        <p:spPr>
          <a:xfrm>
            <a:off x="5989320" y="3264408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8" name="cd_488"/>
          <p:cNvSpPr/>
          <p:nvPr/>
        </p:nvSpPr>
        <p:spPr>
          <a:xfrm>
            <a:off x="548640" y="3831336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9" name="te_489"/>
          <p:cNvSpPr/>
          <p:nvPr/>
        </p:nvSpPr>
        <p:spPr>
          <a:xfrm>
            <a:off x="640080" y="3867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💬</a:t>
            </a:r>
            <a:endParaRPr lang="en-US" sz="1800" dirty="0"/>
          </a:p>
        </p:txBody>
      </p:sp>
      <p:sp>
        <p:nvSpPr>
          <p:cNvPr id="30" name="tt_490"/>
          <p:cNvSpPr/>
          <p:nvPr/>
        </p:nvSpPr>
        <p:spPr>
          <a:xfrm>
            <a:off x="1188720" y="3831336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Talked about your shopping habits</a:t>
            </a:r>
            <a:endParaRPr lang="en-US" sz="1350" dirty="0"/>
          </a:p>
        </p:txBody>
      </p:sp>
      <p:sp>
        <p:nvSpPr>
          <p:cNvPr id="31" name="R5_tk491"/>
          <p:cNvSpPr/>
          <p:nvPr/>
        </p:nvSpPr>
        <p:spPr>
          <a:xfrm>
            <a:off x="5989320" y="3867912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32" name="st_492"/>
          <p:cNvSpPr/>
          <p:nvPr/>
        </p:nvSpPr>
        <p:spPr>
          <a:xfrm rot="180000">
            <a:off x="6949440" y="1691640"/>
            <a:ext cx="1828800" cy="1188720"/>
          </a:xfrm>
          <a:prstGeom prst="rect">
            <a:avLst/>
          </a:prstGeom>
          <a:solidFill>
            <a:srgbClr val="FFE07A"/>
          </a:solidFill>
          <a:ln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👍  👌  👎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Can you do it now?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Ora sai farlo?</a:t>
            </a:r>
            <a:endParaRPr lang="en-US" sz="13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8B-1 Have a nice day!</dc:title>
  <dc:subject>PptxGenJS Presentation</dc:subject>
  <dc:creator>PptxGenJS</dc:creator>
  <cp:lastModifiedBy>PptxGenJS</cp:lastModifiedBy>
  <cp:revision>1</cp:revision>
  <dcterms:created xsi:type="dcterms:W3CDTF">2026-10-21T09:55:46Z</dcterms:created>
  <dcterms:modified xsi:type="dcterms:W3CDTF">2026-10-21T09:55:46Z</dcterms:modified>
</cp:coreProperties>
</file>