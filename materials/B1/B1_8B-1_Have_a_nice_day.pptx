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Act out an over-friendly shop assistant: 'Hello! Do you need any help? Are you going anywhere nice?' Ask the THINK question; take 3–4 answers. Click: the example.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(2 min). Read the examples. Ask 2 students: 'Would you like to be on Dragons' Den? What product would you present?' Then the warmer game uses this language.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Reading · lead-in (3 min)
LEAD-IN (3 min). Pairs decide C or SA; click once per line. Answers (TG): the book's 10 phrases – here 8 of them. Teach changing rooms (= fitting rooms). Quick question: in Bagheria, do shop assistants usually say 'Can I help you?' or leave you alone?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Reading · When 'happy to help' becomes a problem (4 min)
READING PART 1 (4 min). The FULL article from SB p.80 (no book needed), in two parts. Gist questions on the right; click: answers + the proof lights up. Teach wallet (portafoglio), colleague, I'm just looking.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When 'happy to help' becomes a problem (5 min)
READING PART 2 (5 min). SB 1b–1c: teach appropriate /əˈprəʊpriət/. TG: many people think only 'Hello, do you need any help?' is appropriate. 1d (speaking): Are sales assistants in Italy helpful or unhelpful? In what way?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noticing (5 min)
NOTICING (5 min). Pairs rebuild the direct speech BEFORE seeing the rule. Click once per line (TG key). Then ask: What happens to the verb when we report? (goes back: work → worked, am having → was having). And to questions? (no do, normal word order: where I worked; yes/no → 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reported speech (5 min)
RULE (5 min). Elicit each column before clicking. Play 8.13/8.14 if available (listen and repeat). TG notes: tenses move back; mustn't stays the same; 'that' optional; tell needs a person; questions: no auxiliary, subject + verb, if/whether for yes/no. Typical mistakes: He said me… · She asked him what was his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Bank 8B · verb forms (4 min)
VERB FORMS (4 min) – the Grammar Bank 8B examples as a chart (owner's model). Read the direct sentence, students say the reported one, then click: the tense label and the sentence appear. Play 8.13 for listen and repeat. TG: mustn't stays the same; could, might, should don't change; that is optional; tomorrow → the next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choose the right option (4 min)
CHOOSE (4 min). The first is the example. All from the Grammar Bank boxes and the TG's 'typical mistakes'. Extra point for the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practice (4 min)
PRACTICE (6 min). Alone, then compare. Click once per answer (TG key). Read full sentences aloud. Homework: Grammar Bank a 5–7, b 5–7.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Grammar Bank 8B p.147 · a 5–7, b 4–7 (4 min)
GRAMMAR BANK (5 min). The rest of the Grammar Bank exercises (a 1–4 and b 1–3 were on the last slide). Alone, then click once per answer (TG key). Watch: these → those, pronouns change, no do/did in reported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· oral practice (4 min)
ORAL PRACTICE (4 min). If 8.15 isn't available, READ the questions yourself; the class reports chorally, then individuals. Click once per item (audio script). Reported answers (script): she lived in the city centre · he was going to the cinema · she was going out · she'd bought it online · he'd seen it twice · the changing rooms were over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Vocabulary · shopping (5 min)
VOCABULARY (5 min). Elicit first: pairs explain each pair, then click once per line (TG). False friends for Italians: library ≠ libreria (= bookshop!), discount, fit vs suit.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· class story (TPRS) (4 min)
TPRS CLASS STORY (4 min) – after the rule, the practice and the shopping words, and just before 'Report it!': students hear reported statements and questions (asked her if… · asked her where she lived · said she was · told him) together with today's shopping words (try on, fit, receipt, refund) many times before they have to produce them in the game. Click once per line. For each line: 1) say it, 2) ask the questions round the class (yes/no → either/or → who/what), 3) let the CLASS change details: 'Did she try on jeans? No? What did she try on?' – accept their idea and use it in later lines. Students answer with one word or a short phrase – that's fine, but push for a reported answer where it's easy ('What did he ask her?' → 'He asked her where she lived.'). Finish: 'What happens next?' – one or two ideas, then play 'Report it!'. Watch for ✗ said me · ✗ asked her where did she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Speaking · retell (TPRS) (3 min)
RETELL (3 min, automatic after every class story). A tells lines 1–3, B the rest, then swap. Only the prompts – no reading! Last line: change two things (place, person, ending). Listen for today's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Video · reported speech in action (7 min)
VIDEO (7 min). 'How to complain' Part 2 (7 min) – play the first scenes (chambermaid, reception, breakfast, check-out), pausing after each. Students report what was said BEFORE you click. Next lesson (8B part 2) uses the whole video for the complaining tips, so don't do the tips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Exit · what can you remember? (2 min)
RETRIEVAL EXIT (2 min). Books closed. Set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Speaking game · reported speech (8 min)
FREER PRACTICE + GAME (8 min). Model first: a student asks YOU two questions, then report: 'Luca asked me if I liked shopping. I told him I hated it!' Pairs ask 3 questions each (3 min), change partners and report (3 min). Click to show the model reported question. Listener gives a point for each correct reported sentence (tense back, said/told, question word order). Monitor for 'said me', 'asked me where did you buy', missing 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Vocabulary · in Italian (2 min)
CONSOLIDATION (2 min). Class says the Italian, then click once per word to show its Italian.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audio" Target="../media/media-7-11.mp3"/><Relationship Id="rId12" Type="http://schemas.microsoft.com/office/2007/relationships/media" Target="../media/media-7-11.mp3"/><Relationship Id="rId13" Type="http://schemas.openxmlformats.org/officeDocument/2006/relationships/image" Target="../media/image-7-13.png"/><Relationship Id="rId14" Type="http://schemas.openxmlformats.org/officeDocument/2006/relationships/audio" Target="../media/media-7-14.mp3"/><Relationship Id="rId15" Type="http://schemas.microsoft.com/office/2007/relationships/media" Target="../media/media-7-14.mp3"/><Relationship Id="rId16" Type="http://schemas.openxmlformats.org/officeDocument/2006/relationships/image" Target="../media/image-7-16.png"/><Relationship Id="rId17" Type="http://schemas.openxmlformats.org/officeDocument/2006/relationships/image" Target="../media/image-7-17.png"/><Relationship Id="rId18" Type="http://schemas.openxmlformats.org/officeDocument/2006/relationships/image" Target="../media/image-7-18.png"/><Relationship Id="rId19" Type="http://schemas.openxmlformats.org/officeDocument/2006/relationships/image" Target="../media/image-7-1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audio" Target="../media/media-12-5.mp3"/><Relationship Id="rId6" Type="http://schemas.microsoft.com/office/2007/relationships/media" Target="../media/media-12-5.mp3"/><Relationship Id="rId7" Type="http://schemas.openxmlformats.org/officeDocument/2006/relationships/image" Target="../media/image-12-7.png"/><Relationship Id="rId8" Type="http://schemas.openxmlformats.org/officeDocument/2006/relationships/audio" Target="../media/media-12-8.mp3"/><Relationship Id="rId9" Type="http://schemas.microsoft.com/office/2007/relationships/media" Target="../media/media-12-8.mp3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video" Target="../media/media-16-5.mp4"/><Relationship Id="rId6" Type="http://schemas.microsoft.com/office/2007/relationships/media" Target="../media/media-16-5.mp4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pp.80–81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a nice day!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and reported speech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👀  read about a VERY helpful shop assistant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report what people said and asked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🛍️  learn shopping words: receipt, refund, bargain…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your shopping habits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really – I prefer to look in peace! I only ask if I need help.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waste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you like it when shop assistants talk to you?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Revision · last lesson</a:t>
            </a:r>
            <a:endParaRPr lang="en-US" sz="800" dirty="0"/>
          </a:p>
        </p:txBody>
      </p:sp>
      <p:sp>
        <p:nvSpPr>
          <p:cNvPr id="12" name="pf_26"/>
          <p:cNvSpPr/>
          <p:nvPr/>
        </p:nvSpPr>
        <p:spPr>
          <a:xfrm rot="-120000">
            <a:off x="365760" y="1371600"/>
            <a:ext cx="2651760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7" descr="/home/claude/lls-course/v2/cache/2a1_afford_jpg_616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554480"/>
          </a:xfrm>
          <a:prstGeom prst="rect">
            <a:avLst/>
          </a:prstGeom>
        </p:spPr>
      </p:pic>
      <p:sp>
        <p:nvSpPr>
          <p:cNvPr id="14" name="cd_28"/>
          <p:cNvSpPr/>
          <p:nvPr/>
        </p:nvSpPr>
        <p:spPr>
          <a:xfrm>
            <a:off x="320040" y="3200400"/>
            <a:ext cx="2743200" cy="1402080"/>
          </a:xfrm>
          <a:prstGeom prst="roundRect">
            <a:avLst>
              <a:gd name="adj" fmla="val 913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6" name="ih_30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7" name="il_31"/>
          <p:cNvSpPr/>
          <p:nvPr/>
        </p:nvSpPr>
        <p:spPr>
          <a:xfrm>
            <a:off x="886968" y="3694176"/>
            <a:ext cx="208483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8A: The right job for you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Dragons' Den · gerunds and infinitives</a:t>
            </a:r>
            <a:endParaRPr lang="en-US" sz="1100" dirty="0"/>
          </a:p>
        </p:txBody>
      </p:sp>
      <p:sp>
        <p:nvSpPr>
          <p:cNvPr id="18" name="kw_32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19" name="w_33"/>
          <p:cNvSpPr/>
          <p:nvPr/>
        </p:nvSpPr>
        <p:spPr>
          <a:xfrm>
            <a:off x="3246120" y="1783080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</a:t>
            </a:r>
            <a:endParaRPr lang="en-US" sz="1200" dirty="0"/>
          </a:p>
        </p:txBody>
      </p:sp>
      <p:sp>
        <p:nvSpPr>
          <p:cNvPr id="20" name="w_34"/>
          <p:cNvSpPr/>
          <p:nvPr/>
        </p:nvSpPr>
        <p:spPr>
          <a:xfrm>
            <a:off x="4270248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pitch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5207508" y="1783080"/>
            <a:ext cx="1019556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6318504" y="1783080"/>
            <a:ext cx="1453896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3246120" y="2185416"/>
            <a:ext cx="1019556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out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4357116" y="2185416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regret</a:t>
            </a:r>
            <a:endParaRPr lang="en-US" sz="1200" dirty="0"/>
          </a:p>
        </p:txBody>
      </p:sp>
      <p:sp>
        <p:nvSpPr>
          <p:cNvPr id="25" name="lv_39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6" name="lv_40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7" name="lv_41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28" name="cd_42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43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Dragons' Den</a:t>
            </a:r>
            <a:endParaRPr lang="en-US" sz="1100" dirty="0"/>
          </a:p>
        </p:txBody>
      </p:sp>
      <p:sp>
        <p:nvSpPr>
          <p:cNvPr id="30" name="R1_rl44"/>
          <p:cNvSpPr/>
          <p:nvPr/>
        </p:nvSpPr>
        <p:spPr>
          <a:xfrm>
            <a:off x="3383280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Entrepreneurs present a product to 'Dragons'.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out.' = I won't invest.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 = success · Tangle Teezer = success without them!</a:t>
            </a:r>
            <a:endParaRPr lang="en-US" sz="1000" dirty="0"/>
          </a:p>
        </p:txBody>
      </p:sp>
      <p:sp>
        <p:nvSpPr>
          <p:cNvPr id="31" name="cd_45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rh_46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Gerund or infinitive?</a:t>
            </a:r>
            <a:endParaRPr lang="en-US" sz="1100" dirty="0"/>
          </a:p>
        </p:txBody>
      </p:sp>
      <p:sp>
        <p:nvSpPr>
          <p:cNvPr id="33" name="R2_rl47"/>
          <p:cNvSpPr/>
          <p:nvPr/>
        </p:nvSpPr>
        <p:spPr>
          <a:xfrm>
            <a:off x="6249924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enjoy working with people.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like to start my own business.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hard to find a good job.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says it?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Customer (C) or shop assistant (SA)?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Cliente (C) o commesso (SA)?</a:t>
            </a:r>
            <a:endParaRPr lang="en-US" sz="950" dirty="0"/>
          </a:p>
        </p:txBody>
      </p:sp>
      <p:sp>
        <p:nvSpPr>
          <p:cNvPr id="9" name="note_5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Controlled practice</a:t>
            </a:r>
            <a:endParaRPr lang="en-US" sz="1250" dirty="0"/>
          </a:p>
        </p:txBody>
      </p:sp>
      <p:pic>
        <p:nvPicPr>
          <p:cNvPr id="10" name="logo_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Reading · lead-in   ·   📖 SB p.80 · 1a</a:t>
            </a:r>
            <a:endParaRPr lang="en-US" sz="800" dirty="0"/>
          </a:p>
        </p:txBody>
      </p:sp>
      <p:sp>
        <p:nvSpPr>
          <p:cNvPr id="12" name="cd_57"/>
          <p:cNvSpPr/>
          <p:nvPr/>
        </p:nvSpPr>
        <p:spPr>
          <a:xfrm>
            <a:off x="320040" y="1417320"/>
            <a:ext cx="2697480" cy="768096"/>
          </a:xfrm>
          <a:prstGeom prst="roundRect">
            <a:avLst>
              <a:gd name="adj" fmla="val 1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5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5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60"/>
          <p:cNvSpPr/>
          <p:nvPr/>
        </p:nvSpPr>
        <p:spPr>
          <a:xfrm>
            <a:off x="886968" y="191109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I help you?" → SA</a:t>
            </a:r>
            <a:endParaRPr lang="en-US" sz="1050" dirty="0"/>
          </a:p>
        </p:txBody>
      </p:sp>
      <p:sp>
        <p:nvSpPr>
          <p:cNvPr id="16" name="pf_61"/>
          <p:cNvSpPr/>
          <p:nvPr/>
        </p:nvSpPr>
        <p:spPr>
          <a:xfrm rot="-90000">
            <a:off x="365760" y="2681023"/>
            <a:ext cx="2606040" cy="1669690"/>
          </a:xfrm>
          <a:prstGeom prst="roundRect">
            <a:avLst>
              <a:gd name="adj" fmla="val 93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62" descr="/home/claude/lls-course/v2/cache/4a1_queue_jpg_605x38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26743"/>
            <a:ext cx="2514600" cy="1578250"/>
          </a:xfrm>
          <a:prstGeom prst="rect">
            <a:avLst/>
          </a:prstGeom>
        </p:spPr>
      </p:pic>
      <p:sp>
        <p:nvSpPr>
          <p:cNvPr id="18" name="bd_63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64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need any help?</a:t>
            </a:r>
            <a:endParaRPr lang="en-US" sz="950" dirty="0"/>
          </a:p>
        </p:txBody>
      </p:sp>
      <p:sp>
        <p:nvSpPr>
          <p:cNvPr id="20" name="R1_chip65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  <p:sp>
        <p:nvSpPr>
          <p:cNvPr id="21" name="bd_66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67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size are you?</a:t>
            </a:r>
            <a:endParaRPr lang="en-US" sz="950" dirty="0"/>
          </a:p>
        </p:txBody>
      </p:sp>
      <p:sp>
        <p:nvSpPr>
          <p:cNvPr id="23" name="R2_chip68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  <p:sp>
        <p:nvSpPr>
          <p:cNvPr id="24" name="bd_69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70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this in blue?</a:t>
            </a:r>
            <a:endParaRPr lang="en-US" sz="950" dirty="0"/>
          </a:p>
        </p:txBody>
      </p:sp>
      <p:sp>
        <p:nvSpPr>
          <p:cNvPr id="26" name="R3_chip71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50" dirty="0"/>
          </a:p>
        </p:txBody>
      </p:sp>
      <p:sp>
        <p:nvSpPr>
          <p:cNvPr id="27" name="bd_72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73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nice day!</a:t>
            </a:r>
            <a:endParaRPr lang="en-US" sz="950" dirty="0"/>
          </a:p>
        </p:txBody>
      </p:sp>
      <p:sp>
        <p:nvSpPr>
          <p:cNvPr id="29" name="R4_chip74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  <p:sp>
        <p:nvSpPr>
          <p:cNvPr id="30" name="bd_75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76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thanks, I'm just looking.</a:t>
            </a:r>
            <a:endParaRPr lang="en-US" sz="950" dirty="0"/>
          </a:p>
        </p:txBody>
      </p:sp>
      <p:sp>
        <p:nvSpPr>
          <p:cNvPr id="32" name="R5_chip77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50" dirty="0"/>
          </a:p>
        </p:txBody>
      </p:sp>
      <p:sp>
        <p:nvSpPr>
          <p:cNvPr id="33" name="bd_78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79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try these on?</a:t>
            </a:r>
            <a:endParaRPr lang="en-US" sz="950" dirty="0"/>
          </a:p>
        </p:txBody>
      </p:sp>
      <p:sp>
        <p:nvSpPr>
          <p:cNvPr id="35" name="R6_chip80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50" dirty="0"/>
          </a:p>
        </p:txBody>
      </p:sp>
      <p:sp>
        <p:nvSpPr>
          <p:cNvPr id="36" name="bd_81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7" name="q_82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put your receipt in the bag?</a:t>
            </a:r>
            <a:endParaRPr lang="en-US" sz="950" dirty="0"/>
          </a:p>
        </p:txBody>
      </p:sp>
      <p:sp>
        <p:nvSpPr>
          <p:cNvPr id="38" name="R7_chip83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  <p:sp>
        <p:nvSpPr>
          <p:cNvPr id="39" name="bd_84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0" name="q_85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changing rooms are over there.</a:t>
            </a:r>
            <a:endParaRPr lang="en-US" sz="950" dirty="0"/>
          </a:p>
        </p:txBody>
      </p:sp>
      <p:sp>
        <p:nvSpPr>
          <p:cNvPr id="41" name="R8_chip86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89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Happy to help? (1)</a:t>
            </a:r>
            <a:endParaRPr lang="en-US" sz="2500" dirty="0"/>
          </a:p>
        </p:txBody>
      </p:sp>
      <p:pic>
        <p:nvPicPr>
          <p:cNvPr id="6" name="brP_9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48656" cy="402336"/>
          </a:xfrm>
          <a:prstGeom prst="rect">
            <a:avLst/>
          </a:prstGeom>
        </p:spPr>
      </p:pic>
      <p:sp>
        <p:nvSpPr>
          <p:cNvPr id="7" name="ins_91"/>
          <p:cNvSpPr/>
          <p:nvPr/>
        </p:nvSpPr>
        <p:spPr>
          <a:xfrm>
            <a:off x="1353312" y="73152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part 1. Did the second assistant help Jonathan?</a:t>
            </a:r>
            <a:endParaRPr lang="en-US" sz="1250" dirty="0"/>
          </a:p>
        </p:txBody>
      </p:sp>
      <p:sp>
        <p:nvSpPr>
          <p:cNvPr id="8" name="insIT_9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parte 1. Il secondo commesso ha aiutato Jonathan?</a:t>
            </a:r>
            <a:endParaRPr lang="en-US" sz="950" dirty="0"/>
          </a:p>
        </p:txBody>
      </p:sp>
      <p:sp>
        <p:nvSpPr>
          <p:cNvPr id="9" name="note_9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LEGGI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for gist</a:t>
            </a:r>
            <a:endParaRPr lang="en-US" sz="1250" dirty="0"/>
          </a:p>
        </p:txBody>
      </p:sp>
      <p:pic>
        <p:nvPicPr>
          <p:cNvPr id="10" name="logo_9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9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Reading · When 'happy to help' becomes a problem   ·   📖 SB p.80 · 1b (the full article, word for word)</a:t>
            </a:r>
            <a:endParaRPr lang="en-US" sz="800" dirty="0"/>
          </a:p>
        </p:txBody>
      </p:sp>
      <p:sp>
        <p:nvSpPr>
          <p:cNvPr id="12" name="cd_96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97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 – Jonathan Haynes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my lunch break. I work near King's Cross, a major London train station, and I've gone to the shopping mall there to buy a new wallet. It's a very simple shopping trip. At least, I think it's simple, but five minutes later, I'm not so sure.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I enter the shop, a sales assistant at the far end shouts at me: 'Hi, how are you doing today? Do you need any help?' I answer: 'I'm fine. I'm just looking, thanks.' That should be the end of the conversation, and I go to look at the wallets.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'Hello, do you need any help?' Here is another sales assistant, who I will call SA2. Me: 'I'm fine, thanks. I'm just looking.' I don't know why he needed to ask me this, as I'm certain he heard me tell his colleague.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SA2: 'Are you going anywhere nice?' This seems a strange question. I expected, 'Are you looking for anything in particular today?' As I don't answer, he repeats the question. SA2: 'Are you going anywhere nice?'</a:t>
            </a:r>
            <a:endParaRPr lang="en-US" sz="1000" dirty="0"/>
          </a:p>
        </p:txBody>
      </p:sp>
      <p:sp>
        <p:nvSpPr>
          <p:cNvPr id="14" name="R1_rdE98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 – Jonathan Haynes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my lunch break. I work near King's Cross, a major London train station, and I've gone to the shopping mall there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buy a new wallet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It's a very simple shopping trip. At least, I think it's simple, but five minutes later, I'm not so sure.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I enter the shop, a sales assistant at the far end shouts at me: 'Hi, how are you doing today? Do you need any help?' I answer: 'I'm fine. I'm just looking, thanks.' That should be the end of the conversation, and I go to look at the wallets.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'Hello, do you need any help?'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Here is another sales assistant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who I will call SA2. Me: 'I'm fine, thanks. I'm just looking.' I don't know why he needed to ask me this, as I'm certain he heard me tell his colleague.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SA2: 'Are you going anywhere nice?' This seems a strange question.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expected, 'Are you looking for anything in particular today?'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As I don't answer, he repeats the question. SA2: 'Are you going anywhere nice?'</a:t>
            </a:r>
            <a:endParaRPr lang="en-US" sz="1000" dirty="0"/>
          </a:p>
        </p:txBody>
      </p:sp>
      <p:sp>
        <p:nvSpPr>
          <p:cNvPr id="15" name="cd_99"/>
          <p:cNvSpPr/>
          <p:nvPr/>
        </p:nvSpPr>
        <p:spPr>
          <a:xfrm>
            <a:off x="6263640" y="1417320"/>
            <a:ext cx="2606040" cy="2063496"/>
          </a:xfrm>
          <a:prstGeom prst="roundRect">
            <a:avLst>
              <a:gd name="adj" fmla="val 6204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00"/>
          <p:cNvSpPr/>
          <p:nvPr/>
        </p:nvSpPr>
        <p:spPr>
          <a:xfrm>
            <a:off x="63550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🤔</a:t>
            </a:r>
            <a:endParaRPr lang="en-US" sz="2200" dirty="0"/>
          </a:p>
        </p:txBody>
      </p:sp>
      <p:sp>
        <p:nvSpPr>
          <p:cNvPr id="17" name="ih_101"/>
          <p:cNvSpPr/>
          <p:nvPr/>
        </p:nvSpPr>
        <p:spPr>
          <a:xfrm>
            <a:off x="6830568" y="1508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il_102"/>
          <p:cNvSpPr/>
          <p:nvPr/>
        </p:nvSpPr>
        <p:spPr>
          <a:xfrm>
            <a:off x="6830568" y="1911096"/>
            <a:ext cx="1947672" cy="1496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many assistants talk to Jonathan?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he want to buy?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is 'Are you going anywhere nice?' strange?</a:t>
            </a:r>
            <a:endParaRPr lang="en-US" sz="1100" dirty="0"/>
          </a:p>
        </p:txBody>
      </p:sp>
      <p:sp>
        <p:nvSpPr>
          <p:cNvPr id="19" name="R1_chip103"/>
          <p:cNvSpPr/>
          <p:nvPr/>
        </p:nvSpPr>
        <p:spPr>
          <a:xfrm>
            <a:off x="6263640" y="3590544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assistants · a wallet · he expected 'Are you looking for anything in particular?'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06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Happy to help? (2)</a:t>
            </a:r>
            <a:endParaRPr lang="en-US" sz="2500" dirty="0"/>
          </a:p>
        </p:txBody>
      </p:sp>
      <p:pic>
        <p:nvPicPr>
          <p:cNvPr id="6" name="brP_1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108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part 2. Answer the questions.</a:t>
            </a:r>
            <a:endParaRPr lang="en-US" sz="1250" dirty="0"/>
          </a:p>
        </p:txBody>
      </p:sp>
      <p:sp>
        <p:nvSpPr>
          <p:cNvPr id="8" name="insIT_1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parte 2. Rispondi alle domande.</a:t>
            </a:r>
            <a:endParaRPr lang="en-US" sz="950" dirty="0"/>
          </a:p>
        </p:txBody>
      </p:sp>
      <p:sp>
        <p:nvSpPr>
          <p:cNvPr id="9" name="note_11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🔍 FIND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for detail</a:t>
            </a:r>
            <a:endParaRPr lang="en-US" sz="1150" dirty="0"/>
          </a:p>
        </p:txBody>
      </p:sp>
      <p:pic>
        <p:nvPicPr>
          <p:cNvPr id="10" name="logo_11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1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Reading · When 'happy to help' becomes a problem   ·   📖 SB p.80 · 1b, 1c, 1d (TG key)</a:t>
            </a:r>
            <a:endParaRPr lang="en-US" sz="800" dirty="0"/>
          </a:p>
        </p:txBody>
      </p:sp>
      <p:sp>
        <p:nvSpPr>
          <p:cNvPr id="12" name="cd_113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114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 (2)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remember that I'm in a shop in a train station and I now understand his question. Me: 'No. I work near here. I just came in to look for a new wallet.' SA2: 'Where do you work?' Me: 'Oh, er, I work in an office round the corner.' I try to look at wallets, and hope he goes away.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SA2: 'Do you like football?' It's a simple question, but I know that if I say yes, he will ask me questions about 'your team'. I'm not sure how this helps me to buy a wallet. Me: 'Er, it's OK.' SA2: 'Are you going to watch the England match?' I want him to stop. Me: 'No, I'm not.'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walk to another part of the shop. The sales assistant follows me. SA2: 'What are you doing after work?' Me: 'I'm having dinner with a friend.' SA2: 'Are you doing anything for the rest of the day?' Me: 'Um, thank you for your help!'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run away without a wallet. His never-ending questions lost him the sale. Shopping didn't use to be like this. In the USA, perhaps, but not in the UK. It is a big improvement that sales assistants nowadays acknowledge your existence and are sometimes actually helpful. But there's a difference between being helpful and trying to pretend you're a shopper's best friend.</a:t>
            </a:r>
            <a:endParaRPr lang="en-US" sz="950" dirty="0"/>
          </a:p>
        </p:txBody>
      </p:sp>
      <p:sp>
        <p:nvSpPr>
          <p:cNvPr id="14" name="R1_rdE115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 (2)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remember that I'm in a shop in a train station and I now understand his question. Me: 'No. I work near here. I just came in to look for a new wallet.' SA2: 'Where do you work?' Me: 'Oh, er, I work in an office round the corner.' I try to look at wallets, and hope he goes away.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SA2: 'Do you like football?' It's a simple question, but I know that if I say yes, he will ask me questions about 'your team'. I'm not sure how this helps me to buy a wallet. Me: 'Er, it's OK.' SA2: 'Are you going to watch the England match?' I want him to stop. Me: 'No, I'm not.'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walk to another part of the shop. The sales assistant follows me. SA2: 'What are you doing after work?' Me: 'I'm having dinner with a friend.' SA2: 'Are you doing anything for the rest of the day?' Me: 'Um, thank you for your help!'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run away without a wallet.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His never-ending questions lost him the sale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Shopping didn't use to be like this. In the USA, perhaps, but not in the UK. It is a big improvement that sales assistants nowadays acknowledge your existence and are sometimes actually helpful. But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there's a difference between being helpful and trying to pretend you're a shopper's best friend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950" dirty="0"/>
          </a:p>
        </p:txBody>
      </p:sp>
      <p:sp>
        <p:nvSpPr>
          <p:cNvPr id="15" name="bd_116"/>
          <p:cNvSpPr/>
          <p:nvPr/>
        </p:nvSpPr>
        <p:spPr>
          <a:xfrm>
            <a:off x="6172200" y="1541526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rq_117"/>
          <p:cNvSpPr/>
          <p:nvPr/>
        </p:nvSpPr>
        <p:spPr>
          <a:xfrm>
            <a:off x="6492240" y="1417320"/>
            <a:ext cx="2423160" cy="522732"/>
          </a:xfrm>
          <a:prstGeom prst="roundRect">
            <a:avLst>
              <a:gd name="adj" fmla="val 1399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1b Did the second sales assistant help him? Why (not)?</a:t>
            </a:r>
            <a:endParaRPr lang="en-US" sz="950" dirty="0"/>
          </a:p>
        </p:txBody>
      </p:sp>
      <p:sp>
        <p:nvSpPr>
          <p:cNvPr id="17" name="R1_chip118"/>
          <p:cNvSpPr/>
          <p:nvPr/>
        </p:nvSpPr>
        <p:spPr>
          <a:xfrm>
            <a:off x="6492240" y="1967484"/>
            <a:ext cx="2423160" cy="495300"/>
          </a:xfrm>
          <a:prstGeom prst="roundRect">
            <a:avLst>
              <a:gd name="adj" fmla="val 184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– he talked too much and kept asking questions: 'His never-ending questions lost him the sale.'</a:t>
            </a:r>
            <a:endParaRPr lang="en-US" sz="900" dirty="0"/>
          </a:p>
        </p:txBody>
      </p:sp>
      <p:sp>
        <p:nvSpPr>
          <p:cNvPr id="18" name="bd_119"/>
          <p:cNvSpPr/>
          <p:nvPr/>
        </p:nvSpPr>
        <p:spPr>
          <a:xfrm>
            <a:off x="6172200" y="2678430"/>
            <a:ext cx="274320" cy="27432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rq_120"/>
          <p:cNvSpPr/>
          <p:nvPr/>
        </p:nvSpPr>
        <p:spPr>
          <a:xfrm>
            <a:off x="6492240" y="2554224"/>
            <a:ext cx="2423160" cy="522732"/>
          </a:xfrm>
          <a:prstGeom prst="roundRect">
            <a:avLst>
              <a:gd name="adj" fmla="val 1399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1c Find the assistant's questions. Which are NOT appropriate?</a:t>
            </a:r>
            <a:endParaRPr lang="en-US" sz="950" dirty="0"/>
          </a:p>
        </p:txBody>
      </p:sp>
      <p:sp>
        <p:nvSpPr>
          <p:cNvPr id="20" name="R2_chip121"/>
          <p:cNvSpPr/>
          <p:nvPr/>
        </p:nvSpPr>
        <p:spPr>
          <a:xfrm>
            <a:off x="6492240" y="3104388"/>
            <a:ext cx="2423160" cy="495300"/>
          </a:xfrm>
          <a:prstGeom prst="roundRect">
            <a:avLst>
              <a:gd name="adj" fmla="val 184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do you work? · Do you like football? · Are you going to watch the England match? · What are you doing after work? · Are you doing anything for the rest of the day?</a:t>
            </a:r>
            <a:endParaRPr lang="en-US" sz="700" dirty="0"/>
          </a:p>
        </p:txBody>
      </p:sp>
      <p:sp>
        <p:nvSpPr>
          <p:cNvPr id="21" name="bd_122"/>
          <p:cNvSpPr/>
          <p:nvPr/>
        </p:nvSpPr>
        <p:spPr>
          <a:xfrm>
            <a:off x="6172200" y="3815334"/>
            <a:ext cx="274320" cy="27432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rq_123"/>
          <p:cNvSpPr/>
          <p:nvPr/>
        </p:nvSpPr>
        <p:spPr>
          <a:xfrm>
            <a:off x="6492240" y="3691128"/>
            <a:ext cx="2423160" cy="522732"/>
          </a:xfrm>
          <a:prstGeom prst="roundRect">
            <a:avLst>
              <a:gd name="adj" fmla="val 13994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the difference, says Jonathan?</a:t>
            </a:r>
            <a:endParaRPr lang="en-US" sz="950" dirty="0"/>
          </a:p>
        </p:txBody>
      </p:sp>
      <p:sp>
        <p:nvSpPr>
          <p:cNvPr id="23" name="R3_chip124"/>
          <p:cNvSpPr/>
          <p:nvPr/>
        </p:nvSpPr>
        <p:spPr>
          <a:xfrm>
            <a:off x="6492240" y="4241292"/>
            <a:ext cx="2423160" cy="495300"/>
          </a:xfrm>
          <a:prstGeom prst="roundRect">
            <a:avLst>
              <a:gd name="adj" fmla="val 184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'between being helpful and trying to pretend you're a shopper's best friend'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2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27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Rewind! What did they say?</a:t>
            </a:r>
            <a:endParaRPr lang="en-US" sz="2400" dirty="0"/>
          </a:p>
        </p:txBody>
      </p:sp>
      <p:pic>
        <p:nvPicPr>
          <p:cNvPr id="6" name="brP_12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29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REAL words he said.</a:t>
            </a:r>
            <a:endParaRPr lang="en-US" sz="1250" dirty="0"/>
          </a:p>
        </p:txBody>
      </p:sp>
      <p:sp>
        <p:nvSpPr>
          <p:cNvPr id="8" name="insIT_13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le parole ESATTE.</a:t>
            </a:r>
            <a:endParaRPr lang="en-US" sz="950" dirty="0"/>
          </a:p>
        </p:txBody>
      </p:sp>
      <p:sp>
        <p:nvSpPr>
          <p:cNvPr id="9" name="note_13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🔍 FIND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150" dirty="0"/>
          </a:p>
        </p:txBody>
      </p:sp>
      <p:pic>
        <p:nvPicPr>
          <p:cNvPr id="10" name="logo_13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3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noticing   ·   📖 SB p.81 · 2a</a:t>
            </a:r>
            <a:endParaRPr lang="en-US" sz="800" dirty="0"/>
          </a:p>
        </p:txBody>
      </p:sp>
      <p:sp>
        <p:nvSpPr>
          <p:cNvPr id="12" name="cd_134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13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13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137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needed any help. → 'Do you need any help?'</a:t>
            </a:r>
            <a:endParaRPr lang="en-US" sz="900" dirty="0"/>
          </a:p>
        </p:txBody>
      </p:sp>
      <p:sp>
        <p:nvSpPr>
          <p:cNvPr id="16" name="pf_138"/>
          <p:cNvSpPr/>
          <p:nvPr/>
        </p:nvSpPr>
        <p:spPr>
          <a:xfrm rot="-90000">
            <a:off x="365760" y="2904810"/>
            <a:ext cx="2606040" cy="1423283"/>
          </a:xfrm>
          <a:prstGeom prst="roundRect">
            <a:avLst>
              <a:gd name="adj" fmla="val 109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139" descr="/home/claude/lls-course/v2/cache/4a1_polite_jpg_605x3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950530"/>
            <a:ext cx="2514600" cy="1331843"/>
          </a:xfrm>
          <a:prstGeom prst="rect">
            <a:avLst/>
          </a:prstGeom>
        </p:spPr>
      </p:pic>
      <p:sp>
        <p:nvSpPr>
          <p:cNvPr id="18" name="bd_14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14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where I worked.</a:t>
            </a:r>
            <a:endParaRPr lang="en-US" sz="1150" dirty="0"/>
          </a:p>
        </p:txBody>
      </p:sp>
      <p:sp>
        <p:nvSpPr>
          <p:cNvPr id="20" name="R1_chip14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work?'</a:t>
            </a:r>
            <a:endParaRPr lang="en-US" sz="1050" dirty="0"/>
          </a:p>
        </p:txBody>
      </p:sp>
      <p:sp>
        <p:nvSpPr>
          <p:cNvPr id="21" name="bd_14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14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said I worked in an office round the corner.</a:t>
            </a:r>
            <a:endParaRPr lang="en-US" sz="1150" dirty="0"/>
          </a:p>
        </p:txBody>
      </p:sp>
      <p:sp>
        <p:nvSpPr>
          <p:cNvPr id="23" name="R2_chip14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work in an office round the corner.'</a:t>
            </a:r>
            <a:endParaRPr lang="en-US" sz="1050" dirty="0"/>
          </a:p>
        </p:txBody>
      </p:sp>
      <p:sp>
        <p:nvSpPr>
          <p:cNvPr id="24" name="bd_14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14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liked football.</a:t>
            </a:r>
            <a:endParaRPr lang="en-US" sz="1150" dirty="0"/>
          </a:p>
        </p:txBody>
      </p:sp>
      <p:sp>
        <p:nvSpPr>
          <p:cNvPr id="26" name="R3_chip14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'Do you like football?'</a:t>
            </a:r>
            <a:endParaRPr lang="en-US" sz="1050" dirty="0"/>
          </a:p>
        </p:txBody>
      </p:sp>
      <p:sp>
        <p:nvSpPr>
          <p:cNvPr id="27" name="bd_14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15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was going to watch the match.</a:t>
            </a:r>
            <a:endParaRPr lang="en-US" sz="1050" dirty="0"/>
          </a:p>
        </p:txBody>
      </p:sp>
      <p:sp>
        <p:nvSpPr>
          <p:cNvPr id="29" name="R4_chip15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going to watch the England match?'</a:t>
            </a:r>
            <a:endParaRPr lang="en-US" sz="1050" dirty="0"/>
          </a:p>
        </p:txBody>
      </p:sp>
      <p:sp>
        <p:nvSpPr>
          <p:cNvPr id="30" name="bd_15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15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what I was doing after work.</a:t>
            </a:r>
            <a:endParaRPr lang="en-US" sz="1150" dirty="0"/>
          </a:p>
        </p:txBody>
      </p:sp>
      <p:sp>
        <p:nvSpPr>
          <p:cNvPr id="32" name="R5_chip15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after work?'</a:t>
            </a:r>
            <a:endParaRPr lang="en-US" sz="1050" dirty="0"/>
          </a:p>
        </p:txBody>
      </p:sp>
      <p:sp>
        <p:nvSpPr>
          <p:cNvPr id="33" name="bd_155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156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told him I was having dinner with a friend.</a:t>
            </a:r>
            <a:endParaRPr lang="en-US" sz="1150" dirty="0"/>
          </a:p>
        </p:txBody>
      </p:sp>
      <p:sp>
        <p:nvSpPr>
          <p:cNvPr id="35" name="R6_chip157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having dinner with a friend.'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5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16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Reported speech</a:t>
            </a:r>
            <a:endParaRPr lang="en-US" sz="2500" dirty="0"/>
          </a:p>
        </p:txBody>
      </p:sp>
      <p:pic>
        <p:nvPicPr>
          <p:cNvPr id="6" name="brP_16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903220" cy="402336"/>
          </a:xfrm>
          <a:prstGeom prst="rect">
            <a:avLst/>
          </a:prstGeom>
        </p:spPr>
      </p:pic>
      <p:sp>
        <p:nvSpPr>
          <p:cNvPr id="7" name="ins_162"/>
          <p:cNvSpPr/>
          <p:nvPr/>
        </p:nvSpPr>
        <p:spPr>
          <a:xfrm>
            <a:off x="1353312" y="731520"/>
            <a:ext cx="2647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does the verb change?</a:t>
            </a:r>
            <a:endParaRPr lang="en-US" sz="1250" dirty="0"/>
          </a:p>
        </p:txBody>
      </p:sp>
      <p:sp>
        <p:nvSpPr>
          <p:cNvPr id="8" name="insIT_16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cambia il verbo?</a:t>
            </a:r>
            <a:endParaRPr lang="en-US" sz="950" dirty="0"/>
          </a:p>
        </p:txBody>
      </p:sp>
      <p:sp>
        <p:nvSpPr>
          <p:cNvPr id="9" name="note_16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250" dirty="0"/>
          </a:p>
        </p:txBody>
      </p:sp>
      <p:pic>
        <p:nvPicPr>
          <p:cNvPr id="10" name="logo_16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6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reported speech   ·   📖 Grammar Bank 8B p.147 · audio 8.13, 8.14</a:t>
            </a:r>
            <a:endParaRPr lang="en-US" sz="800" dirty="0"/>
          </a:p>
        </p:txBody>
      </p:sp>
      <p:sp>
        <p:nvSpPr>
          <p:cNvPr id="12" name="ah_167"/>
          <p:cNvSpPr/>
          <p:nvPr/>
        </p:nvSpPr>
        <p:spPr>
          <a:xfrm>
            <a:off x="2670048" y="457200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8.13 + 8.14   ▶ normal</a:t>
            </a:r>
            <a:endParaRPr lang="en-US" sz="1000" dirty="0"/>
          </a:p>
        </p:txBody>
      </p:sp>
      <p:pic>
        <p:nvPicPr>
          <p:cNvPr id="13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14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15" name="ah_168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17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8" name="cd_169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rh_170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</a:t>
            </a:r>
            <a:endParaRPr lang="en-US" sz="1250" dirty="0"/>
          </a:p>
        </p:txBody>
      </p:sp>
      <p:sp>
        <p:nvSpPr>
          <p:cNvPr id="20" name="pf_171"/>
          <p:cNvSpPr/>
          <p:nvPr/>
        </p:nvSpPr>
        <p:spPr>
          <a:xfrm>
            <a:off x="1024631" y="1938528"/>
            <a:ext cx="1349257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172" descr="/home/claude/lls-course/v2/cache/3b1_jokes_jpg_303x209_3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70351" y="1984248"/>
            <a:ext cx="1257817" cy="868680"/>
          </a:xfrm>
          <a:prstGeom prst="rect">
            <a:avLst/>
          </a:prstGeom>
        </p:spPr>
      </p:pic>
      <p:sp>
        <p:nvSpPr>
          <p:cNvPr id="22" name="ru_173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(that) · tell + person</a:t>
            </a:r>
            <a:endParaRPr lang="en-US" sz="1050" dirty="0"/>
          </a:p>
        </p:txBody>
      </p:sp>
      <p:sp>
        <p:nvSpPr>
          <p:cNvPr id="23" name="R1_rx174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like shopping.' → She said she liked shopping.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forgotten my keys.' → He told me he had forgotten his keys.</a:t>
            </a:r>
            <a:endParaRPr lang="en-US" sz="1050" dirty="0"/>
          </a:p>
        </p:txBody>
      </p:sp>
      <p:sp>
        <p:nvSpPr>
          <p:cNvPr id="24" name="R1_ri175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 detto che…</a:t>
            </a:r>
            <a:endParaRPr lang="en-US" sz="900" dirty="0"/>
          </a:p>
        </p:txBody>
      </p:sp>
      <p:sp>
        <p:nvSpPr>
          <p:cNvPr id="25" name="cd_176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rh_177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Tense goes back</a:t>
            </a:r>
            <a:endParaRPr lang="en-US" sz="1250" dirty="0"/>
          </a:p>
        </p:txBody>
      </p:sp>
      <p:sp>
        <p:nvSpPr>
          <p:cNvPr id="27" name="pf_178"/>
          <p:cNvSpPr/>
          <p:nvPr/>
        </p:nvSpPr>
        <p:spPr>
          <a:xfrm>
            <a:off x="3970020" y="1938528"/>
            <a:ext cx="1249680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179" descr="/home/claude/lls-course/v2/cache/2a1_coins_jpg_279x209_31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15740" y="1984248"/>
            <a:ext cx="1158240" cy="868680"/>
          </a:xfrm>
          <a:prstGeom prst="rect">
            <a:avLst/>
          </a:prstGeom>
        </p:spPr>
      </p:pic>
      <p:sp>
        <p:nvSpPr>
          <p:cNvPr id="29" name="ru_180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step into the past</a:t>
            </a:r>
            <a:endParaRPr lang="en-US" sz="1050" dirty="0"/>
          </a:p>
        </p:txBody>
      </p:sp>
      <p:sp>
        <p:nvSpPr>
          <p:cNvPr id="30" name="R2_rx181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 / is → was · will → would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→ could · must → had to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/ pres. perfect → had + p.p.</a:t>
            </a:r>
            <a:endParaRPr lang="en-US" sz="1050" dirty="0"/>
          </a:p>
        </p:txBody>
      </p:sp>
      <p:sp>
        <p:nvSpPr>
          <p:cNvPr id="31" name="R2_ri182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tomorrow → the next day</a:t>
            </a:r>
            <a:endParaRPr lang="en-US" sz="900" dirty="0"/>
          </a:p>
        </p:txBody>
      </p:sp>
      <p:sp>
        <p:nvSpPr>
          <p:cNvPr id="32" name="cd_183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rh_184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Questions</a:t>
            </a:r>
            <a:endParaRPr lang="en-US" sz="1250" dirty="0"/>
          </a:p>
        </p:txBody>
      </p:sp>
      <p:sp>
        <p:nvSpPr>
          <p:cNvPr id="34" name="pf_185"/>
          <p:cNvSpPr/>
          <p:nvPr/>
        </p:nvSpPr>
        <p:spPr>
          <a:xfrm>
            <a:off x="6752713" y="1938528"/>
            <a:ext cx="147549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5" name="ph_186" descr="/home/claude/lls-course/v2/cache/4a1_queue_jpg_333x209_31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98433" y="1984248"/>
            <a:ext cx="1384054" cy="868680"/>
          </a:xfrm>
          <a:prstGeom prst="rect">
            <a:avLst/>
          </a:prstGeom>
        </p:spPr>
      </p:pic>
      <p:sp>
        <p:nvSpPr>
          <p:cNvPr id="36" name="ru_187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do / did · normal word order</a:t>
            </a:r>
            <a:endParaRPr lang="en-US" sz="1050" dirty="0"/>
          </a:p>
        </p:txBody>
      </p:sp>
      <p:sp>
        <p:nvSpPr>
          <p:cNvPr id="37" name="R3_rx188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 → She asked me where I lived.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married?' → She asked him if he was married.</a:t>
            </a:r>
            <a:endParaRPr lang="en-US" sz="1050" dirty="0"/>
          </a:p>
        </p:txBody>
      </p:sp>
      <p:sp>
        <p:nvSpPr>
          <p:cNvPr id="38" name="R3_ri189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yes/no → if / whether</a:t>
            </a:r>
            <a:endParaRPr lang="en-US" sz="900" dirty="0"/>
          </a:p>
        </p:txBody>
      </p:sp>
      <p:sp>
        <p:nvSpPr>
          <p:cNvPr id="39" name="R4_wc190"/>
          <p:cNvSpPr/>
          <p:nvPr/>
        </p:nvSpPr>
        <p:spPr>
          <a:xfrm>
            <a:off x="320040" y="4544568"/>
            <a:ext cx="2167128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R4_w191"/>
          <p:cNvSpPr/>
          <p:nvPr/>
        </p:nvSpPr>
        <p:spPr>
          <a:xfrm>
            <a:off x="457200" y="4544568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He said me → ✓ He told me / He said   ✗ She asked me where did I live → ✓ where I lived</a:t>
            </a:r>
            <a:endParaRPr lang="en-US" sz="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4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9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4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5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5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9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194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step back!</a:t>
            </a:r>
            <a:endParaRPr lang="en-US" sz="2500" dirty="0"/>
          </a:p>
        </p:txBody>
      </p:sp>
      <p:pic>
        <p:nvPicPr>
          <p:cNvPr id="6" name="brP_19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196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reported sentence. Then click!</a:t>
            </a:r>
            <a:endParaRPr lang="en-US" sz="1250" dirty="0"/>
          </a:p>
        </p:txBody>
      </p:sp>
      <p:sp>
        <p:nvSpPr>
          <p:cNvPr id="8" name="insIT_19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frase riportata. Poi clicca!</a:t>
            </a:r>
            <a:endParaRPr lang="en-US" sz="950" dirty="0"/>
          </a:p>
        </p:txBody>
      </p:sp>
      <p:sp>
        <p:nvSpPr>
          <p:cNvPr id="9" name="note_19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Communicative</a:t>
            </a:r>
            <a:endParaRPr lang="en-US" sz="1150" dirty="0"/>
          </a:p>
        </p:txBody>
      </p:sp>
      <p:pic>
        <p:nvPicPr>
          <p:cNvPr id="10" name="logo_19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0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Bank 8B · verb forms   ·   📖 Grammar Bank 8B p.147 · audio 8.13</a:t>
            </a:r>
            <a:endParaRPr lang="en-US" sz="800" dirty="0"/>
          </a:p>
        </p:txBody>
      </p:sp>
      <p:sp>
        <p:nvSpPr>
          <p:cNvPr id="12" name="cvl_201"/>
          <p:cNvSpPr/>
          <p:nvPr/>
        </p:nvSpPr>
        <p:spPr>
          <a:xfrm>
            <a:off x="320040" y="1417320"/>
            <a:ext cx="2971800" cy="372618"/>
          </a:xfrm>
          <a:prstGeom prst="leftArrow">
            <a:avLst/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778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</a:t>
            </a:r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like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shopping.'</a:t>
            </a:r>
            <a:endParaRPr lang="en-US" sz="1000" dirty="0"/>
          </a:p>
        </p:txBody>
      </p:sp>
      <p:sp>
        <p:nvSpPr>
          <p:cNvPr id="13" name="cva_202"/>
          <p:cNvSpPr/>
          <p:nvPr/>
        </p:nvSpPr>
        <p:spPr>
          <a:xfrm>
            <a:off x="3364992" y="1417320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simple</a:t>
            </a:r>
            <a:endParaRPr lang="en-US" sz="1000" dirty="0"/>
          </a:p>
        </p:txBody>
      </p:sp>
      <p:sp>
        <p:nvSpPr>
          <p:cNvPr id="14" name="R1_cvb203"/>
          <p:cNvSpPr/>
          <p:nvPr/>
        </p:nvSpPr>
        <p:spPr>
          <a:xfrm>
            <a:off x="4443984" y="1417320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simple</a:t>
            </a:r>
            <a:endParaRPr lang="en-US" sz="1000" dirty="0"/>
          </a:p>
        </p:txBody>
      </p:sp>
      <p:sp>
        <p:nvSpPr>
          <p:cNvPr id="15" name="R1_cvr204"/>
          <p:cNvSpPr/>
          <p:nvPr/>
        </p:nvSpPr>
        <p:spPr>
          <a:xfrm>
            <a:off x="5541264" y="1417320"/>
            <a:ext cx="3328416" cy="372618"/>
          </a:xfrm>
          <a:prstGeom prst="rightArrow">
            <a:avLst/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76200" tIns="0" rIns="177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said (that) she </a:t>
            </a:r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liked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shopping.</a:t>
            </a:r>
            <a:endParaRPr lang="en-US" sz="1000" dirty="0"/>
          </a:p>
        </p:txBody>
      </p:sp>
      <p:sp>
        <p:nvSpPr>
          <p:cNvPr id="16" name="cvl_205"/>
          <p:cNvSpPr/>
          <p:nvPr/>
        </p:nvSpPr>
        <p:spPr>
          <a:xfrm>
            <a:off x="320040" y="1835658"/>
            <a:ext cx="2971800" cy="372618"/>
          </a:xfrm>
          <a:prstGeom prst="leftArrow">
            <a:avLst/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778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</a:t>
            </a:r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'm leaving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tomorrow.'</a:t>
            </a:r>
            <a:endParaRPr lang="en-US" sz="1000" dirty="0"/>
          </a:p>
        </p:txBody>
      </p:sp>
      <p:sp>
        <p:nvSpPr>
          <p:cNvPr id="17" name="cva_206"/>
          <p:cNvSpPr/>
          <p:nvPr/>
        </p:nvSpPr>
        <p:spPr>
          <a:xfrm>
            <a:off x="3364992" y="1835658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cont.</a:t>
            </a:r>
            <a:endParaRPr lang="en-US" sz="1000" dirty="0"/>
          </a:p>
        </p:txBody>
      </p:sp>
      <p:sp>
        <p:nvSpPr>
          <p:cNvPr id="18" name="R2_cvb207"/>
          <p:cNvSpPr/>
          <p:nvPr/>
        </p:nvSpPr>
        <p:spPr>
          <a:xfrm>
            <a:off x="4443984" y="1835658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cont.</a:t>
            </a:r>
            <a:endParaRPr lang="en-US" sz="1000" dirty="0"/>
          </a:p>
        </p:txBody>
      </p:sp>
      <p:sp>
        <p:nvSpPr>
          <p:cNvPr id="19" name="R2_cvr208"/>
          <p:cNvSpPr/>
          <p:nvPr/>
        </p:nvSpPr>
        <p:spPr>
          <a:xfrm>
            <a:off x="5541264" y="1835658"/>
            <a:ext cx="3328416" cy="372618"/>
          </a:xfrm>
          <a:prstGeom prst="rightArrow">
            <a:avLst/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76200" tIns="0" rIns="177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told her he </a:t>
            </a:r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leaving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next day.</a:t>
            </a:r>
            <a:endParaRPr lang="en-US" sz="1000" dirty="0"/>
          </a:p>
        </p:txBody>
      </p:sp>
      <p:sp>
        <p:nvSpPr>
          <p:cNvPr id="20" name="cvl_209"/>
          <p:cNvSpPr/>
          <p:nvPr/>
        </p:nvSpPr>
        <p:spPr>
          <a:xfrm>
            <a:off x="320040" y="2253996"/>
            <a:ext cx="2971800" cy="372618"/>
          </a:xfrm>
          <a:prstGeom prst="leftArrow">
            <a:avLst/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778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</a:t>
            </a:r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'll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always love you.'</a:t>
            </a:r>
            <a:endParaRPr lang="en-US" sz="1000" dirty="0"/>
          </a:p>
        </p:txBody>
      </p:sp>
      <p:sp>
        <p:nvSpPr>
          <p:cNvPr id="21" name="cva_210"/>
          <p:cNvSpPr/>
          <p:nvPr/>
        </p:nvSpPr>
        <p:spPr>
          <a:xfrm>
            <a:off x="3364992" y="2253996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will</a:t>
            </a:r>
            <a:endParaRPr lang="en-US" sz="1000" dirty="0"/>
          </a:p>
        </p:txBody>
      </p:sp>
      <p:sp>
        <p:nvSpPr>
          <p:cNvPr id="22" name="R3_cvb211"/>
          <p:cNvSpPr/>
          <p:nvPr/>
        </p:nvSpPr>
        <p:spPr>
          <a:xfrm>
            <a:off x="4443984" y="2253996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would</a:t>
            </a:r>
            <a:endParaRPr lang="en-US" sz="1000" dirty="0"/>
          </a:p>
        </p:txBody>
      </p:sp>
      <p:sp>
        <p:nvSpPr>
          <p:cNvPr id="23" name="R3_cvr212"/>
          <p:cNvSpPr/>
          <p:nvPr/>
        </p:nvSpPr>
        <p:spPr>
          <a:xfrm>
            <a:off x="5541264" y="2253996"/>
            <a:ext cx="3328416" cy="372618"/>
          </a:xfrm>
          <a:prstGeom prst="rightArrow">
            <a:avLst/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76200" tIns="0" rIns="177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said he </a:t>
            </a:r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always love me.</a:t>
            </a:r>
            <a:endParaRPr lang="en-US" sz="1000" dirty="0"/>
          </a:p>
        </p:txBody>
      </p:sp>
      <p:sp>
        <p:nvSpPr>
          <p:cNvPr id="24" name="cvl_213"/>
          <p:cNvSpPr/>
          <p:nvPr/>
        </p:nvSpPr>
        <p:spPr>
          <a:xfrm>
            <a:off x="320040" y="2672334"/>
            <a:ext cx="2971800" cy="372618"/>
          </a:xfrm>
          <a:prstGeom prst="leftArrow">
            <a:avLst/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778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</a:t>
            </a:r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passed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exam!'</a:t>
            </a:r>
            <a:endParaRPr lang="en-US" sz="1000" dirty="0"/>
          </a:p>
        </p:txBody>
      </p:sp>
      <p:sp>
        <p:nvSpPr>
          <p:cNvPr id="25" name="cva_214"/>
          <p:cNvSpPr/>
          <p:nvPr/>
        </p:nvSpPr>
        <p:spPr>
          <a:xfrm>
            <a:off x="3364992" y="2672334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simple</a:t>
            </a:r>
            <a:endParaRPr lang="en-US" sz="1000" dirty="0"/>
          </a:p>
        </p:txBody>
      </p:sp>
      <p:sp>
        <p:nvSpPr>
          <p:cNvPr id="26" name="R4_cvb215"/>
          <p:cNvSpPr/>
          <p:nvPr/>
        </p:nvSpPr>
        <p:spPr>
          <a:xfrm>
            <a:off x="4443984" y="2672334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perfect</a:t>
            </a:r>
            <a:endParaRPr lang="en-US" sz="1000" dirty="0"/>
          </a:p>
        </p:txBody>
      </p:sp>
      <p:sp>
        <p:nvSpPr>
          <p:cNvPr id="27" name="R4_cvr216"/>
          <p:cNvSpPr/>
          <p:nvPr/>
        </p:nvSpPr>
        <p:spPr>
          <a:xfrm>
            <a:off x="5541264" y="2672334"/>
            <a:ext cx="3328416" cy="372618"/>
          </a:xfrm>
          <a:prstGeom prst="rightArrow">
            <a:avLst/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76200" tIns="0" rIns="177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told me she </a:t>
            </a:r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passed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exam.</a:t>
            </a:r>
            <a:endParaRPr lang="en-US" sz="1000" dirty="0"/>
          </a:p>
        </p:txBody>
      </p:sp>
      <p:sp>
        <p:nvSpPr>
          <p:cNvPr id="28" name="cvl_217"/>
          <p:cNvSpPr/>
          <p:nvPr/>
        </p:nvSpPr>
        <p:spPr>
          <a:xfrm>
            <a:off x="320040" y="3090672"/>
            <a:ext cx="2971800" cy="372618"/>
          </a:xfrm>
          <a:prstGeom prst="leftArrow">
            <a:avLst/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778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</a:t>
            </a:r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've forgotten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my keys.'</a:t>
            </a:r>
            <a:endParaRPr lang="en-US" sz="1000" dirty="0"/>
          </a:p>
        </p:txBody>
      </p:sp>
      <p:sp>
        <p:nvSpPr>
          <p:cNvPr id="29" name="cva_218"/>
          <p:cNvSpPr/>
          <p:nvPr/>
        </p:nvSpPr>
        <p:spPr>
          <a:xfrm>
            <a:off x="3364992" y="3090672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perfect</a:t>
            </a:r>
            <a:endParaRPr lang="en-US" sz="1000" dirty="0"/>
          </a:p>
        </p:txBody>
      </p:sp>
      <p:sp>
        <p:nvSpPr>
          <p:cNvPr id="30" name="R5_cvb219"/>
          <p:cNvSpPr/>
          <p:nvPr/>
        </p:nvSpPr>
        <p:spPr>
          <a:xfrm>
            <a:off x="4443984" y="3090672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perfect</a:t>
            </a:r>
            <a:endParaRPr lang="en-US" sz="1000" dirty="0"/>
          </a:p>
        </p:txBody>
      </p:sp>
      <p:sp>
        <p:nvSpPr>
          <p:cNvPr id="31" name="R5_cvr220"/>
          <p:cNvSpPr/>
          <p:nvPr/>
        </p:nvSpPr>
        <p:spPr>
          <a:xfrm>
            <a:off x="5541264" y="3090672"/>
            <a:ext cx="3328416" cy="372618"/>
          </a:xfrm>
          <a:prstGeom prst="rightArrow">
            <a:avLst/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76200" tIns="0" rIns="177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said he </a:t>
            </a:r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forgotten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keys.</a:t>
            </a:r>
            <a:endParaRPr lang="en-US" sz="1000" dirty="0"/>
          </a:p>
        </p:txBody>
      </p:sp>
      <p:sp>
        <p:nvSpPr>
          <p:cNvPr id="32" name="cvl_221"/>
          <p:cNvSpPr/>
          <p:nvPr/>
        </p:nvSpPr>
        <p:spPr>
          <a:xfrm>
            <a:off x="320040" y="3509010"/>
            <a:ext cx="2971800" cy="372618"/>
          </a:xfrm>
          <a:prstGeom prst="leftArrow">
            <a:avLst/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778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</a:t>
            </a:r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come.'</a:t>
            </a:r>
            <a:endParaRPr lang="en-US" sz="1000" dirty="0"/>
          </a:p>
        </p:txBody>
      </p:sp>
      <p:sp>
        <p:nvSpPr>
          <p:cNvPr id="33" name="cva_222"/>
          <p:cNvSpPr/>
          <p:nvPr/>
        </p:nvSpPr>
        <p:spPr>
          <a:xfrm>
            <a:off x="3364992" y="3509010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</a:t>
            </a:r>
            <a:endParaRPr lang="en-US" sz="1000" dirty="0"/>
          </a:p>
        </p:txBody>
      </p:sp>
      <p:sp>
        <p:nvSpPr>
          <p:cNvPr id="34" name="R6_cvb223"/>
          <p:cNvSpPr/>
          <p:nvPr/>
        </p:nvSpPr>
        <p:spPr>
          <a:xfrm>
            <a:off x="4443984" y="3509010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could</a:t>
            </a:r>
            <a:endParaRPr lang="en-US" sz="1000" dirty="0"/>
          </a:p>
        </p:txBody>
      </p:sp>
      <p:sp>
        <p:nvSpPr>
          <p:cNvPr id="35" name="R6_cvr224"/>
          <p:cNvSpPr/>
          <p:nvPr/>
        </p:nvSpPr>
        <p:spPr>
          <a:xfrm>
            <a:off x="5541264" y="3509010"/>
            <a:ext cx="3328416" cy="372618"/>
          </a:xfrm>
          <a:prstGeom prst="rightArrow">
            <a:avLst/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76200" tIns="0" rIns="177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said she </a:t>
            </a:r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couldn't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come.</a:t>
            </a:r>
            <a:endParaRPr lang="en-US" sz="1000" dirty="0"/>
          </a:p>
        </p:txBody>
      </p:sp>
      <p:sp>
        <p:nvSpPr>
          <p:cNvPr id="36" name="cvl_225"/>
          <p:cNvSpPr/>
          <p:nvPr/>
        </p:nvSpPr>
        <p:spPr>
          <a:xfrm>
            <a:off x="320040" y="3927348"/>
            <a:ext cx="2971800" cy="372618"/>
          </a:xfrm>
          <a:prstGeom prst="leftArrow">
            <a:avLst/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778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</a:t>
            </a:r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late.'</a:t>
            </a:r>
            <a:endParaRPr lang="en-US" sz="1000" dirty="0"/>
          </a:p>
        </p:txBody>
      </p:sp>
      <p:sp>
        <p:nvSpPr>
          <p:cNvPr id="37" name="cva_226"/>
          <p:cNvSpPr/>
          <p:nvPr/>
        </p:nvSpPr>
        <p:spPr>
          <a:xfrm>
            <a:off x="3364992" y="3927348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may</a:t>
            </a:r>
            <a:endParaRPr lang="en-US" sz="1000" dirty="0"/>
          </a:p>
        </p:txBody>
      </p:sp>
      <p:sp>
        <p:nvSpPr>
          <p:cNvPr id="38" name="R7_cvb227"/>
          <p:cNvSpPr/>
          <p:nvPr/>
        </p:nvSpPr>
        <p:spPr>
          <a:xfrm>
            <a:off x="4443984" y="3927348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might</a:t>
            </a:r>
            <a:endParaRPr lang="en-US" sz="1000" dirty="0"/>
          </a:p>
        </p:txBody>
      </p:sp>
      <p:sp>
        <p:nvSpPr>
          <p:cNvPr id="39" name="R7_cvr228"/>
          <p:cNvSpPr/>
          <p:nvPr/>
        </p:nvSpPr>
        <p:spPr>
          <a:xfrm>
            <a:off x="5541264" y="3927348"/>
            <a:ext cx="3328416" cy="372618"/>
          </a:xfrm>
          <a:prstGeom prst="rightArrow">
            <a:avLst/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76200" tIns="0" rIns="177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said he </a:t>
            </a:r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late.</a:t>
            </a:r>
            <a:endParaRPr lang="en-US" sz="1000" dirty="0"/>
          </a:p>
        </p:txBody>
      </p:sp>
      <p:sp>
        <p:nvSpPr>
          <p:cNvPr id="40" name="cvl_229"/>
          <p:cNvSpPr/>
          <p:nvPr/>
        </p:nvSpPr>
        <p:spPr>
          <a:xfrm>
            <a:off x="320040" y="4345686"/>
            <a:ext cx="2971800" cy="372618"/>
          </a:xfrm>
          <a:prstGeom prst="leftArrow">
            <a:avLst/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778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</a:t>
            </a:r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go.'</a:t>
            </a:r>
            <a:endParaRPr lang="en-US" sz="1000" dirty="0"/>
          </a:p>
        </p:txBody>
      </p:sp>
      <p:sp>
        <p:nvSpPr>
          <p:cNvPr id="41" name="cva_230"/>
          <p:cNvSpPr/>
          <p:nvPr/>
        </p:nvSpPr>
        <p:spPr>
          <a:xfrm>
            <a:off x="3364992" y="4345686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must</a:t>
            </a:r>
            <a:endParaRPr lang="en-US" sz="1000" dirty="0"/>
          </a:p>
        </p:txBody>
      </p:sp>
      <p:sp>
        <p:nvSpPr>
          <p:cNvPr id="42" name="R8_cvb231"/>
          <p:cNvSpPr/>
          <p:nvPr/>
        </p:nvSpPr>
        <p:spPr>
          <a:xfrm>
            <a:off x="4443984" y="4345686"/>
            <a:ext cx="1024128" cy="372618"/>
          </a:xfrm>
          <a:prstGeom prst="roundRect">
            <a:avLst>
              <a:gd name="adj" fmla="val 1472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had to</a:t>
            </a:r>
            <a:endParaRPr lang="en-US" sz="1000" dirty="0"/>
          </a:p>
        </p:txBody>
      </p:sp>
      <p:sp>
        <p:nvSpPr>
          <p:cNvPr id="43" name="R8_cvr232"/>
          <p:cNvSpPr/>
          <p:nvPr/>
        </p:nvSpPr>
        <p:spPr>
          <a:xfrm>
            <a:off x="5541264" y="4345686"/>
            <a:ext cx="3328416" cy="372618"/>
          </a:xfrm>
          <a:prstGeom prst="rightArrow">
            <a:avLst/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76200" tIns="0" rIns="177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said she </a:t>
            </a:r>
            <a:pPr algn="ctr" indent="0" marL="0">
              <a:buNone/>
            </a:pPr>
            <a:r>
              <a:rPr lang="en-US" sz="10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to</a:t>
            </a:r>
            <a:pPr algn="ctr"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go.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3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292547" cy="621792"/>
          </a:xfrm>
          <a:prstGeom prst="rect">
            <a:avLst/>
          </a:prstGeom>
        </p:spPr>
      </p:pic>
      <p:sp>
        <p:nvSpPr>
          <p:cNvPr id="5" name="title_235"/>
          <p:cNvSpPr/>
          <p:nvPr/>
        </p:nvSpPr>
        <p:spPr>
          <a:xfrm>
            <a:off x="1261872" y="164592"/>
            <a:ext cx="50182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Said or told? Right or wrong?</a:t>
            </a:r>
            <a:endParaRPr lang="en-US" sz="2500" dirty="0"/>
          </a:p>
        </p:txBody>
      </p:sp>
      <p:pic>
        <p:nvPicPr>
          <p:cNvPr id="6" name="brP_23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237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choose the correct option. Say WHY!</a:t>
            </a:r>
            <a:endParaRPr lang="en-US" sz="1250" dirty="0"/>
          </a:p>
        </p:txBody>
      </p:sp>
      <p:sp>
        <p:nvSpPr>
          <p:cNvPr id="8" name="insIT_23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scegliete l'opzione giusta. Dite PERCHÉ!</a:t>
            </a:r>
            <a:endParaRPr lang="en-US" sz="950" dirty="0"/>
          </a:p>
        </p:txBody>
      </p:sp>
      <p:sp>
        <p:nvSpPr>
          <p:cNvPr id="9" name="note_23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Communicative game</a:t>
            </a:r>
            <a:endParaRPr lang="en-US" sz="1250" dirty="0"/>
          </a:p>
        </p:txBody>
      </p:sp>
      <p:pic>
        <p:nvPicPr>
          <p:cNvPr id="10" name="logo_24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4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choose the right option   ·   📖 Grammar Bank 8B p.147 · say and tell box · TG typical mistakes</a:t>
            </a:r>
            <a:endParaRPr lang="en-US" sz="800" dirty="0"/>
          </a:p>
        </p:txBody>
      </p:sp>
      <p:sp>
        <p:nvSpPr>
          <p:cNvPr id="12" name="cd_242"/>
          <p:cNvSpPr/>
          <p:nvPr/>
        </p:nvSpPr>
        <p:spPr>
          <a:xfrm>
            <a:off x="320040" y="1417320"/>
            <a:ext cx="2697480" cy="1917192"/>
          </a:xfrm>
          <a:prstGeom prst="roundRect">
            <a:avLst>
              <a:gd name="adj" fmla="val 66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4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24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245"/>
          <p:cNvSpPr/>
          <p:nvPr/>
        </p:nvSpPr>
        <p:spPr>
          <a:xfrm>
            <a:off x="886968" y="1911096"/>
            <a:ext cx="2039112" cy="1350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sentence. Choose A or B.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= 1 point.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rule = 1 more point!</a:t>
            </a:r>
            <a:endParaRPr lang="en-US" sz="1200" dirty="0"/>
          </a:p>
        </p:txBody>
      </p:sp>
      <p:sp>
        <p:nvSpPr>
          <p:cNvPr id="16" name="st_246"/>
          <p:cNvSpPr/>
          <p:nvPr/>
        </p:nvSpPr>
        <p:spPr>
          <a:xfrm rot="-180000">
            <a:off x="502920" y="3517392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7" name="bd_247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248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Sarah said / told me that she was tired.</a:t>
            </a:r>
            <a:endParaRPr lang="en-US" sz="900" dirty="0"/>
          </a:p>
        </p:txBody>
      </p:sp>
      <p:sp>
        <p:nvSpPr>
          <p:cNvPr id="19" name="chip_249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told me (tell + person)</a:t>
            </a:r>
            <a:endParaRPr lang="en-US" sz="950" dirty="0"/>
          </a:p>
        </p:txBody>
      </p:sp>
      <p:sp>
        <p:nvSpPr>
          <p:cNvPr id="20" name="bd_250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251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Sarah said / told that she was tired.</a:t>
            </a:r>
            <a:endParaRPr lang="en-US" sz="900" dirty="0"/>
          </a:p>
        </p:txBody>
      </p:sp>
      <p:sp>
        <p:nvSpPr>
          <p:cNvPr id="22" name="R1_chip252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said (no person after said)</a:t>
            </a:r>
            <a:endParaRPr lang="en-US" sz="950" dirty="0"/>
          </a:p>
        </p:txBody>
      </p:sp>
      <p:sp>
        <p:nvSpPr>
          <p:cNvPr id="23" name="bd_253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254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me where did I live / where I lived.</a:t>
            </a:r>
            <a:endParaRPr lang="en-US" sz="900" dirty="0"/>
          </a:p>
        </p:txBody>
      </p:sp>
      <p:sp>
        <p:nvSpPr>
          <p:cNvPr id="25" name="R2_chip255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where I lived (normal word order)</a:t>
            </a:r>
            <a:endParaRPr lang="en-US" sz="950" dirty="0"/>
          </a:p>
        </p:txBody>
      </p:sp>
      <p:sp>
        <p:nvSpPr>
          <p:cNvPr id="26" name="bd_256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257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 / that she was married.</a:t>
            </a:r>
            <a:endParaRPr lang="en-US" sz="900" dirty="0"/>
          </a:p>
        </p:txBody>
      </p:sp>
      <p:sp>
        <p:nvSpPr>
          <p:cNvPr id="28" name="R3_chip258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if (yes/no question)</a:t>
            </a:r>
            <a:endParaRPr lang="en-US" sz="950" dirty="0"/>
          </a:p>
        </p:txBody>
      </p:sp>
      <p:sp>
        <p:nvSpPr>
          <p:cNvPr id="29" name="bd_259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260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waiter said he will / would call the manager.</a:t>
            </a:r>
            <a:endParaRPr lang="en-US" sz="900" dirty="0"/>
          </a:p>
        </p:txBody>
      </p:sp>
      <p:sp>
        <p:nvSpPr>
          <p:cNvPr id="31" name="R4_chip261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would (will → would)</a:t>
            </a:r>
            <a:endParaRPr lang="en-US" sz="950" dirty="0"/>
          </a:p>
        </p:txBody>
      </p:sp>
      <p:sp>
        <p:nvSpPr>
          <p:cNvPr id="32" name="bd_262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263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asked me where I lived / did live.</a:t>
            </a:r>
            <a:endParaRPr lang="en-US" sz="900" dirty="0"/>
          </a:p>
        </p:txBody>
      </p:sp>
      <p:sp>
        <p:nvSpPr>
          <p:cNvPr id="34" name="R5_chip264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where I lived (no did)</a:t>
            </a:r>
            <a:endParaRPr lang="en-US" sz="950" dirty="0"/>
          </a:p>
        </p:txBody>
      </p:sp>
      <p:sp>
        <p:nvSpPr>
          <p:cNvPr id="35" name="bd_265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266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said she can't / couldn't come.</a:t>
            </a:r>
            <a:endParaRPr lang="en-US" sz="900" dirty="0"/>
          </a:p>
        </p:txBody>
      </p:sp>
      <p:sp>
        <p:nvSpPr>
          <p:cNvPr id="37" name="R6_chip267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couldn't (can → could)</a:t>
            </a:r>
            <a:endParaRPr lang="en-US" sz="950" dirty="0"/>
          </a:p>
        </p:txBody>
      </p:sp>
      <p:sp>
        <p:nvSpPr>
          <p:cNvPr id="38" name="bd_268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269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told me I mustn't / didn't must touch it.</a:t>
            </a:r>
            <a:endParaRPr lang="en-US" sz="900" dirty="0"/>
          </a:p>
        </p:txBody>
      </p:sp>
      <p:sp>
        <p:nvSpPr>
          <p:cNvPr id="40" name="R7_chip270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mustn't (stays the same)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73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 correctly</a:t>
            </a:r>
            <a:endParaRPr lang="en-US" sz="2500" dirty="0"/>
          </a:p>
        </p:txBody>
      </p:sp>
      <p:pic>
        <p:nvPicPr>
          <p:cNvPr id="6" name="brP_2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642616" cy="402336"/>
          </a:xfrm>
          <a:prstGeom prst="rect">
            <a:avLst/>
          </a:prstGeom>
        </p:spPr>
      </p:pic>
      <p:sp>
        <p:nvSpPr>
          <p:cNvPr id="7" name="ins_275"/>
          <p:cNvSpPr/>
          <p:nvPr/>
        </p:nvSpPr>
        <p:spPr>
          <a:xfrm>
            <a:off x="1353312" y="731520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 it! Then check.</a:t>
            </a:r>
            <a:endParaRPr lang="en-US" sz="1250" dirty="0"/>
          </a:p>
        </p:txBody>
      </p:sp>
      <p:sp>
        <p:nvSpPr>
          <p:cNvPr id="8" name="insIT_27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Riportalo! Poi controlla.</a:t>
            </a:r>
            <a:endParaRPr lang="en-US" sz="950" dirty="0"/>
          </a:p>
        </p:txBody>
      </p:sp>
      <p:sp>
        <p:nvSpPr>
          <p:cNvPr id="9" name="note_27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SCRIVI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250" dirty="0"/>
          </a:p>
        </p:txBody>
      </p:sp>
      <p:pic>
        <p:nvPicPr>
          <p:cNvPr id="10" name="logo_2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practice   ·   📖 Grammar Bank 8B p.147 · a 2–4, b 1–3</a:t>
            </a:r>
            <a:endParaRPr lang="en-US" sz="800" dirty="0"/>
          </a:p>
        </p:txBody>
      </p:sp>
      <p:sp>
        <p:nvSpPr>
          <p:cNvPr id="12" name="cd_280"/>
          <p:cNvSpPr/>
          <p:nvPr/>
        </p:nvSpPr>
        <p:spPr>
          <a:xfrm>
            <a:off x="320040" y="1417320"/>
            <a:ext cx="2697480" cy="1170432"/>
          </a:xfrm>
          <a:prstGeom prst="roundRect">
            <a:avLst>
              <a:gd name="adj" fmla="val 1093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8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28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283"/>
          <p:cNvSpPr/>
          <p:nvPr/>
        </p:nvSpPr>
        <p:spPr>
          <a:xfrm>
            <a:off x="886968" y="1911096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selling all my books.' → Tim said he was selling all his books.</a:t>
            </a:r>
            <a:endParaRPr lang="en-US" sz="1050" dirty="0"/>
          </a:p>
        </p:txBody>
      </p:sp>
      <p:sp>
        <p:nvSpPr>
          <p:cNvPr id="16" name="pf_284"/>
          <p:cNvSpPr/>
          <p:nvPr/>
        </p:nvSpPr>
        <p:spPr>
          <a:xfrm rot="-90000">
            <a:off x="365760" y="3077037"/>
            <a:ext cx="2606040" cy="1279999"/>
          </a:xfrm>
          <a:prstGeom prst="roundRect">
            <a:avLst>
              <a:gd name="adj" fmla="val 121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85" descr="/home/claude/lls-course/v2/cache/4a1_library_jpg_605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3122757"/>
            <a:ext cx="2514600" cy="1188559"/>
          </a:xfrm>
          <a:prstGeom prst="rect">
            <a:avLst/>
          </a:prstGeom>
        </p:spPr>
      </p:pic>
      <p:sp>
        <p:nvSpPr>
          <p:cNvPr id="18" name="bd_28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28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booked the flights.' → Emma told me she…</a:t>
            </a:r>
            <a:endParaRPr lang="en-US" sz="1000" dirty="0"/>
          </a:p>
        </p:txBody>
      </p:sp>
      <p:sp>
        <p:nvSpPr>
          <p:cNvPr id="20" name="R1_chip28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booked the flights</a:t>
            </a:r>
            <a:endParaRPr lang="en-US" sz="1050" dirty="0"/>
          </a:p>
        </p:txBody>
      </p:sp>
      <p:sp>
        <p:nvSpPr>
          <p:cNvPr id="21" name="bd_28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29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'Your new dress doesn't suit you.' → My mum told me…</a:t>
            </a:r>
            <a:endParaRPr lang="en-US" sz="950" dirty="0"/>
          </a:p>
        </p:txBody>
      </p:sp>
      <p:sp>
        <p:nvSpPr>
          <p:cNvPr id="23" name="R2_chip29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new dress didn't suit me</a:t>
            </a:r>
            <a:endParaRPr lang="en-US" sz="1050" dirty="0"/>
          </a:p>
        </p:txBody>
      </p:sp>
      <p:sp>
        <p:nvSpPr>
          <p:cNvPr id="24" name="bd_29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29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might not be able to go.' → Matt said he…</a:t>
            </a:r>
            <a:endParaRPr lang="en-US" sz="1000" dirty="0"/>
          </a:p>
        </p:txBody>
      </p:sp>
      <p:sp>
        <p:nvSpPr>
          <p:cNvPr id="26" name="R3_chip29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not be able to go</a:t>
            </a:r>
            <a:endParaRPr lang="en-US" sz="1050" dirty="0"/>
          </a:p>
        </p:txBody>
      </p:sp>
      <p:sp>
        <p:nvSpPr>
          <p:cNvPr id="27" name="bd_29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29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'When are you leaving?' → My parents asked me…</a:t>
            </a:r>
            <a:endParaRPr lang="en-US" sz="1000" dirty="0"/>
          </a:p>
        </p:txBody>
      </p:sp>
      <p:sp>
        <p:nvSpPr>
          <p:cNvPr id="29" name="R4_chip29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 was leaving</a:t>
            </a:r>
            <a:endParaRPr lang="en-US" sz="1050" dirty="0"/>
          </a:p>
        </p:txBody>
      </p:sp>
      <p:sp>
        <p:nvSpPr>
          <p:cNvPr id="30" name="bd_298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299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ever been married?' → She asked him…</a:t>
            </a:r>
            <a:endParaRPr lang="en-US" sz="900" dirty="0"/>
          </a:p>
        </p:txBody>
      </p:sp>
      <p:sp>
        <p:nvSpPr>
          <p:cNvPr id="32" name="R5_chip300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had ever been married</a:t>
            </a:r>
            <a:endParaRPr lang="en-US" sz="1050" dirty="0"/>
          </a:p>
        </p:txBody>
      </p:sp>
      <p:sp>
        <p:nvSpPr>
          <p:cNvPr id="33" name="bd_301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302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home early?' → Anna asked Robert…</a:t>
            </a:r>
            <a:endParaRPr lang="en-US" sz="1000" dirty="0"/>
          </a:p>
        </p:txBody>
      </p:sp>
      <p:sp>
        <p:nvSpPr>
          <p:cNvPr id="35" name="R6_chip303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would be home early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306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Grammar Bank practice</a:t>
            </a:r>
            <a:endParaRPr lang="en-US" sz="2400" dirty="0"/>
          </a:p>
        </p:txBody>
      </p:sp>
      <p:pic>
        <p:nvPicPr>
          <p:cNvPr id="6" name="brP_3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308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8B: complete with reported speech.</a:t>
            </a:r>
            <a:endParaRPr lang="en-US" sz="1250" dirty="0"/>
          </a:p>
        </p:txBody>
      </p:sp>
      <p:sp>
        <p:nvSpPr>
          <p:cNvPr id="8" name="insIT_3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8B: completa con il discorso indiretto.</a:t>
            </a:r>
            <a:endParaRPr lang="en-US" sz="950" dirty="0"/>
          </a:p>
        </p:txBody>
      </p:sp>
      <p:sp>
        <p:nvSpPr>
          <p:cNvPr id="9" name="note_31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TPRS · reading</a:t>
            </a:r>
            <a:endParaRPr lang="en-US" sz="1150" dirty="0"/>
          </a:p>
        </p:txBody>
      </p:sp>
      <p:pic>
        <p:nvPicPr>
          <p:cNvPr id="10" name="logo_31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1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Bank 8B p.147 · a 5–7, b 4–7   ·   📖 Grammar Bank 8B p.147 · a 5–7, b 4–7 (TG key)</a:t>
            </a:r>
            <a:endParaRPr lang="en-US" sz="800" dirty="0"/>
          </a:p>
        </p:txBody>
      </p:sp>
      <p:sp>
        <p:nvSpPr>
          <p:cNvPr id="12" name="cd_313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314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the reported sentence</a:t>
            </a:r>
            <a:endParaRPr lang="en-US" sz="1700" dirty="0"/>
          </a:p>
        </p:txBody>
      </p:sp>
      <p:sp>
        <p:nvSpPr>
          <p:cNvPr id="14" name="ln_315"/>
          <p:cNvSpPr/>
          <p:nvPr/>
        </p:nvSpPr>
        <p:spPr>
          <a:xfrm>
            <a:off x="548640" y="1920240"/>
            <a:ext cx="5349240" cy="38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'I won't wear these shoes again.' → Jenny said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15" name="R1_lnA316"/>
          <p:cNvSpPr/>
          <p:nvPr/>
        </p:nvSpPr>
        <p:spPr>
          <a:xfrm>
            <a:off x="548640" y="1920240"/>
            <a:ext cx="5349240" cy="38778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'I won't wear these shoes again.' → Jenny said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(that) she wouldn't wear those shoes again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16" name="ln_317"/>
          <p:cNvSpPr/>
          <p:nvPr/>
        </p:nvSpPr>
        <p:spPr>
          <a:xfrm>
            <a:off x="548640" y="2308025"/>
            <a:ext cx="5349240" cy="379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'I didn't buy you a present.' → My brother </a:t>
            </a:r>
            <a:pPr indent="0" marL="0"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told me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17" name="R2_lnA318"/>
          <p:cNvSpPr/>
          <p:nvPr/>
        </p:nvSpPr>
        <p:spPr>
          <a:xfrm>
            <a:off x="548640" y="2308025"/>
            <a:ext cx="5349240" cy="37995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'I didn't buy you a present.' → My brother </a:t>
            </a:r>
            <a:pPr indent="0" marL="0"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told me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(that) he hadn't bought me a present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ln_319"/>
          <p:cNvSpPr/>
          <p:nvPr/>
        </p:nvSpPr>
        <p:spPr>
          <a:xfrm>
            <a:off x="548640" y="2687976"/>
            <a:ext cx="5349240" cy="383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'I can't find anywhere to park.' → Luke </a:t>
            </a:r>
            <a:pPr indent="0" marL="0"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told me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R3_lnA320"/>
          <p:cNvSpPr/>
          <p:nvPr/>
        </p:nvSpPr>
        <p:spPr>
          <a:xfrm>
            <a:off x="548640" y="2687976"/>
            <a:ext cx="5349240" cy="3838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'I can't find anywhere to park.' → Luke </a:t>
            </a:r>
            <a:pPr indent="0" marL="0"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told me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(that) he couldn't find anywhere to park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0" name="ln_321"/>
          <p:cNvSpPr/>
          <p:nvPr/>
        </p:nvSpPr>
        <p:spPr>
          <a:xfrm>
            <a:off x="548640" y="3071845"/>
            <a:ext cx="5349240" cy="415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b4  'Where do you usually buy your clothes?' → My sister </a:t>
            </a:r>
            <a:pPr indent="0" marL="0"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asked me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1" name="R4_lnA322"/>
          <p:cNvSpPr/>
          <p:nvPr/>
        </p:nvSpPr>
        <p:spPr>
          <a:xfrm>
            <a:off x="548640" y="3071845"/>
            <a:ext cx="5349240" cy="4152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b4  'Where do you usually buy your clothes?' → My sister </a:t>
            </a:r>
            <a:pPr indent="0" marL="0"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asked me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where I usually bought my clothes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2" name="ln_323"/>
          <p:cNvSpPr/>
          <p:nvPr/>
        </p:nvSpPr>
        <p:spPr>
          <a:xfrm>
            <a:off x="548640" y="3487049"/>
            <a:ext cx="5349240" cy="4778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b5  'Did you wear a suit to the job interview?' → We </a:t>
            </a:r>
            <a:pPr indent="0" marL="0"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asked him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R5_lnA324"/>
          <p:cNvSpPr/>
          <p:nvPr/>
        </p:nvSpPr>
        <p:spPr>
          <a:xfrm>
            <a:off x="548640" y="3487049"/>
            <a:ext cx="5349240" cy="47787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b5  'Did you wear a suit to the job interview?' → We </a:t>
            </a:r>
            <a:pPr indent="0" marL="0">
              <a:buNone/>
            </a:pPr>
            <a:r>
              <a:rPr lang="en-US" sz="1050" b="1" u="sng" dirty="0">
                <a:solidFill>
                  <a:srgbClr val="7B5C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asked him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if / whether he had worn a suit to the job interview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4" name="ln_325"/>
          <p:cNvSpPr/>
          <p:nvPr/>
        </p:nvSpPr>
        <p:spPr>
          <a:xfrm>
            <a:off x="548640" y="3964926"/>
            <a:ext cx="5349240" cy="395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b6  'Do you ever go to the theatre?' → I asked Lisa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R6_lnA326"/>
          <p:cNvSpPr/>
          <p:nvPr/>
        </p:nvSpPr>
        <p:spPr>
          <a:xfrm>
            <a:off x="548640" y="3964926"/>
            <a:ext cx="5349240" cy="395619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b6  'Do you ever go to the theatre?' → I asked Lisa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if / whether she ever went to the theatre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6" name="ln_327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b7  'Can you help me?' → Sally asked the policeman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7" name="R7_lnA328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b7  'Can you help me?' → Sally asked the policeman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if / whether he could help her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8" name="pf_329"/>
          <p:cNvSpPr/>
          <p:nvPr/>
        </p:nvSpPr>
        <p:spPr>
          <a:xfrm rot="120000">
            <a:off x="6835140" y="1417320"/>
            <a:ext cx="150876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9" name="ph_330" descr="/home/claude/lls-course/v2/cache/8b1_happy_to_help_jpg_341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880860" y="1463040"/>
            <a:ext cx="1417320" cy="1417320"/>
          </a:xfrm>
          <a:prstGeom prst="rect">
            <a:avLst/>
          </a:prstGeom>
        </p:spPr>
      </p:pic>
      <p:sp>
        <p:nvSpPr>
          <p:cNvPr id="30" name="cd_331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ii_332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2" name="ih_333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3" name="il_334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these → those · me → her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Questions: no do / did!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3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337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 asked her…</a:t>
            </a:r>
            <a:endParaRPr lang="en-US" sz="2500" dirty="0"/>
          </a:p>
        </p:txBody>
      </p:sp>
      <p:pic>
        <p:nvPicPr>
          <p:cNvPr id="6" name="brP_33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339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Report the question before the narrator!</a:t>
            </a:r>
            <a:endParaRPr lang="en-US" sz="1250" dirty="0"/>
          </a:p>
        </p:txBody>
      </p:sp>
      <p:sp>
        <p:nvSpPr>
          <p:cNvPr id="8" name="insIT_34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Riporta la domanda prima del narratore!</a:t>
            </a:r>
            <a:endParaRPr lang="en-US" sz="950" dirty="0"/>
          </a:p>
        </p:txBody>
      </p:sp>
      <p:sp>
        <p:nvSpPr>
          <p:cNvPr id="9" name="note_34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Listening for detail</a:t>
            </a:r>
            <a:endParaRPr lang="en-US" sz="1150" dirty="0"/>
          </a:p>
        </p:txBody>
      </p:sp>
      <p:pic>
        <p:nvPicPr>
          <p:cNvPr id="10" name="logo_34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4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oral practice   ·   📖 SB p.81 · 2c · audio 8.15</a:t>
            </a:r>
            <a:endParaRPr lang="en-US" sz="800" dirty="0"/>
          </a:p>
        </p:txBody>
      </p:sp>
      <p:sp>
        <p:nvSpPr>
          <p:cNvPr id="12" name="ap_344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8.15  ·  pause after each question</a:t>
            </a:r>
            <a:endParaRPr lang="en-US" sz="1100" dirty="0"/>
          </a:p>
        </p:txBody>
      </p:sp>
      <p:sp>
        <p:nvSpPr>
          <p:cNvPr id="13" name="ah_345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5" name="ah_346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7" name="pf_347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348" descr="/home/claude/lls-course/v2/cache/2a1_waste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349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350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351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gq_352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</a:t>
            </a:r>
            <a:endParaRPr lang="en-US" sz="1200" dirty="0"/>
          </a:p>
        </p:txBody>
      </p:sp>
      <p:sp>
        <p:nvSpPr>
          <p:cNvPr id="23" name="R1_chip353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 lived.</a:t>
            </a:r>
            <a:endParaRPr lang="en-US" sz="1200" dirty="0"/>
          </a:p>
        </p:txBody>
      </p:sp>
      <p:sp>
        <p:nvSpPr>
          <p:cNvPr id="24" name="gq_354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in the evening?'</a:t>
            </a:r>
            <a:endParaRPr lang="en-US" sz="1200" dirty="0"/>
          </a:p>
        </p:txBody>
      </p:sp>
      <p:sp>
        <p:nvSpPr>
          <p:cNvPr id="25" name="R2_chip355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what he was doing in the evening.</a:t>
            </a:r>
            <a:endParaRPr lang="en-US" sz="1000" dirty="0"/>
          </a:p>
        </p:txBody>
      </p:sp>
      <p:sp>
        <p:nvSpPr>
          <p:cNvPr id="26" name="gq_356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at home at eight?'</a:t>
            </a:r>
            <a:endParaRPr lang="en-US" sz="1200" dirty="0"/>
          </a:p>
        </p:txBody>
      </p:sp>
      <p:sp>
        <p:nvSpPr>
          <p:cNvPr id="27" name="R3_chip357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if she would be at home at eight.</a:t>
            </a:r>
            <a:endParaRPr lang="en-US" sz="1200" dirty="0"/>
          </a:p>
        </p:txBody>
      </p:sp>
      <p:sp>
        <p:nvSpPr>
          <p:cNvPr id="28" name="gq_358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did you buy your bag?'</a:t>
            </a:r>
            <a:endParaRPr lang="en-US" sz="1200" dirty="0"/>
          </a:p>
        </p:txBody>
      </p:sp>
      <p:sp>
        <p:nvSpPr>
          <p:cNvPr id="29" name="R4_chip359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she'd bought her bag.</a:t>
            </a:r>
            <a:endParaRPr lang="en-US" sz="1200" dirty="0"/>
          </a:p>
        </p:txBody>
      </p:sp>
      <p:sp>
        <p:nvSpPr>
          <p:cNvPr id="30" name="gq_360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seen the new Bond film?'</a:t>
            </a:r>
            <a:endParaRPr lang="en-US" sz="1200" dirty="0"/>
          </a:p>
        </p:txBody>
      </p:sp>
      <p:sp>
        <p:nvSpPr>
          <p:cNvPr id="31" name="R5_chip361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if he'd seen it.</a:t>
            </a:r>
            <a:endParaRPr lang="en-US" sz="1200" dirty="0"/>
          </a:p>
        </p:txBody>
      </p:sp>
      <p:sp>
        <p:nvSpPr>
          <p:cNvPr id="32" name="gq_362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'Can I try on the jacket?'</a:t>
            </a:r>
            <a:endParaRPr lang="en-US" sz="1200" dirty="0"/>
          </a:p>
        </p:txBody>
      </p:sp>
      <p:sp>
        <p:nvSpPr>
          <p:cNvPr id="33" name="R6_chip363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 he could try it on.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6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66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36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6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36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note_37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250" dirty="0"/>
          </a:p>
        </p:txBody>
      </p:sp>
      <p:pic>
        <p:nvPicPr>
          <p:cNvPr id="10" name="logo_37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7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Vocabulary · shopping   ·   📖 SB p.81 · 3a</a:t>
            </a:r>
            <a:endParaRPr lang="en-US" sz="800" dirty="0"/>
          </a:p>
        </p:txBody>
      </p:sp>
      <p:sp>
        <p:nvSpPr>
          <p:cNvPr id="12" name="cd_373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7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37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376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basket / trolley → small, you carry it / big, on wheels</a:t>
            </a:r>
            <a:endParaRPr lang="en-US" sz="1050" dirty="0"/>
          </a:p>
        </p:txBody>
      </p:sp>
      <p:sp>
        <p:nvSpPr>
          <p:cNvPr id="16" name="pf_377"/>
          <p:cNvSpPr/>
          <p:nvPr/>
        </p:nvSpPr>
        <p:spPr>
          <a:xfrm rot="-90000">
            <a:off x="365760" y="2821263"/>
            <a:ext cx="2606040" cy="1590377"/>
          </a:xfrm>
          <a:prstGeom prst="roundRect">
            <a:avLst>
              <a:gd name="adj" fmla="val 97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378" descr="/home/claude/lls-course/v2/cache/2a2_saver_spender_jpg_605x36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866983"/>
            <a:ext cx="2514600" cy="1498937"/>
          </a:xfrm>
          <a:prstGeom prst="rect">
            <a:avLst/>
          </a:prstGeom>
        </p:spPr>
      </p:pic>
      <p:sp>
        <p:nvSpPr>
          <p:cNvPr id="18" name="bd_379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380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credit card / debit card</a:t>
            </a:r>
            <a:endParaRPr lang="en-US" sz="1150" dirty="0"/>
          </a:p>
        </p:txBody>
      </p:sp>
      <p:sp>
        <p:nvSpPr>
          <p:cNvPr id="20" name="R1_chip381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later / the money goes immediately</a:t>
            </a:r>
            <a:endParaRPr lang="en-US" sz="1050" dirty="0"/>
          </a:p>
        </p:txBody>
      </p:sp>
      <p:sp>
        <p:nvSpPr>
          <p:cNvPr id="21" name="bd_382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383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endParaRPr lang="en-US" sz="1150" dirty="0"/>
          </a:p>
        </p:txBody>
      </p:sp>
      <p:sp>
        <p:nvSpPr>
          <p:cNvPr id="23" name="R2_chip384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paper that proves you paid / money back</a:t>
            </a:r>
            <a:endParaRPr lang="en-US" sz="1050" dirty="0"/>
          </a:p>
        </p:txBody>
      </p:sp>
      <p:sp>
        <p:nvSpPr>
          <p:cNvPr id="24" name="bd_385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386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discount / bargain</a:t>
            </a:r>
            <a:endParaRPr lang="en-US" sz="1150" dirty="0"/>
          </a:p>
        </p:txBody>
      </p:sp>
      <p:sp>
        <p:nvSpPr>
          <p:cNvPr id="26" name="R3_chip387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off the price / a very cheap thing</a:t>
            </a:r>
            <a:endParaRPr lang="en-US" sz="1050" dirty="0"/>
          </a:p>
        </p:txBody>
      </p:sp>
      <p:sp>
        <p:nvSpPr>
          <p:cNvPr id="27" name="bd_388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389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chain store / department store</a:t>
            </a:r>
            <a:endParaRPr lang="en-US" sz="1150" dirty="0"/>
          </a:p>
        </p:txBody>
      </p:sp>
      <p:sp>
        <p:nvSpPr>
          <p:cNvPr id="29" name="R4_chip390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of many similar shops / big shop, many sections</a:t>
            </a:r>
            <a:endParaRPr lang="en-US" sz="1050" dirty="0"/>
          </a:p>
        </p:txBody>
      </p:sp>
      <p:sp>
        <p:nvSpPr>
          <p:cNvPr id="30" name="bd_391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392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library / bookshop</a:t>
            </a:r>
            <a:endParaRPr lang="en-US" sz="1150" dirty="0"/>
          </a:p>
        </p:txBody>
      </p:sp>
      <p:sp>
        <p:nvSpPr>
          <p:cNvPr id="32" name="R5_chip393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books / buy books</a:t>
            </a:r>
            <a:endParaRPr lang="en-US" sz="1050" dirty="0"/>
          </a:p>
        </p:txBody>
      </p:sp>
      <p:sp>
        <p:nvSpPr>
          <p:cNvPr id="33" name="bd_394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395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on / try on</a:t>
            </a:r>
            <a:endParaRPr lang="en-US" sz="1150" dirty="0"/>
          </a:p>
        </p:txBody>
      </p:sp>
      <p:sp>
        <p:nvSpPr>
          <p:cNvPr id="35" name="R6_chip396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dressed / put on before you buy</a:t>
            </a:r>
            <a:endParaRPr lang="en-US" sz="1050" dirty="0"/>
          </a:p>
        </p:txBody>
      </p:sp>
      <p:sp>
        <p:nvSpPr>
          <p:cNvPr id="36" name="bd_397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7" name="q_398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fits you / It suits you</a:t>
            </a:r>
            <a:endParaRPr lang="en-US" sz="1150" dirty="0"/>
          </a:p>
        </p:txBody>
      </p:sp>
      <p:sp>
        <p:nvSpPr>
          <p:cNvPr id="38" name="R7_chip399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size / looks good on you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0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02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Sara and the jeans</a:t>
            </a:r>
            <a:endParaRPr lang="en-US" sz="2500" dirty="0"/>
          </a:p>
        </p:txBody>
      </p:sp>
      <p:pic>
        <p:nvPicPr>
          <p:cNvPr id="6" name="brP_40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404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story. Answer the questions!</a:t>
            </a:r>
            <a:endParaRPr lang="en-US" sz="1250" dirty="0"/>
          </a:p>
        </p:txBody>
      </p:sp>
      <p:sp>
        <p:nvSpPr>
          <p:cNvPr id="8" name="insIT_40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storia. Rispondi alle domande!</a:t>
            </a:r>
            <a:endParaRPr lang="en-US" sz="950" dirty="0"/>
          </a:p>
        </p:txBody>
      </p:sp>
      <p:sp>
        <p:nvSpPr>
          <p:cNvPr id="9" name="note_40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TPRS · story</a:t>
            </a:r>
            <a:endParaRPr lang="en-US" sz="1150" dirty="0"/>
          </a:p>
        </p:txBody>
      </p:sp>
      <p:pic>
        <p:nvPicPr>
          <p:cNvPr id="10" name="logo_40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0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Speaking · class story (TPRS)</a:t>
            </a:r>
            <a:endParaRPr lang="en-US" sz="800" dirty="0"/>
          </a:p>
        </p:txBody>
      </p:sp>
      <p:sp>
        <p:nvSpPr>
          <p:cNvPr id="12" name="pf_409"/>
          <p:cNvSpPr/>
          <p:nvPr/>
        </p:nvSpPr>
        <p:spPr>
          <a:xfrm rot="-90000">
            <a:off x="1051560" y="1417320"/>
            <a:ext cx="1280160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410" descr="/home/claude/lls-course/v2/cache/8b1_happy_to_help_jpg_286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1097280" y="1463040"/>
            <a:ext cx="1188720" cy="1188720"/>
          </a:xfrm>
          <a:prstGeom prst="rect">
            <a:avLst/>
          </a:prstGeom>
        </p:spPr>
      </p:pic>
      <p:sp>
        <p:nvSpPr>
          <p:cNvPr id="14" name="cd_411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12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6" name="ih_413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7" name="il_414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if…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Le ha chiesto se…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where…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Le ha chiesto dove…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told him (that)…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Gli ha detto che…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on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provare (un vestito)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doesn't fit.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Non è della taglia giusta.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scontrino / rimborso</a:t>
            </a:r>
            <a:endParaRPr lang="en-US" sz="700" dirty="0"/>
          </a:p>
        </p:txBody>
      </p:sp>
      <p:sp>
        <p:nvSpPr>
          <p:cNvPr id="18" name="R1_sb415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R1_sl416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Sara went into a shop in Palermo to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on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some jeans.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Sara go to a shop or a bank? · What did she want to try on?</a:t>
            </a:r>
            <a:endParaRPr lang="en-US" sz="1150" dirty="0"/>
          </a:p>
        </p:txBody>
      </p:sp>
      <p:sp>
        <p:nvSpPr>
          <p:cNvPr id="20" name="R2_sb417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R2_sl418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assistant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needed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any help. She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she was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just looking.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ask about help or money? · What did Sara say?</a:t>
            </a:r>
            <a:endParaRPr lang="en-US" sz="900" dirty="0"/>
          </a:p>
        </p:txBody>
      </p:sp>
      <p:sp>
        <p:nvSpPr>
          <p:cNvPr id="22" name="R3_sb419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R3_sl420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 he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where she lived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she liked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football!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ask where she lived or worked? · What else did he ask?</a:t>
            </a:r>
            <a:endParaRPr lang="en-US" sz="1150" dirty="0"/>
          </a:p>
        </p:txBody>
      </p:sp>
      <p:sp>
        <p:nvSpPr>
          <p:cNvPr id="24" name="R4_sb421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R4_sl422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what she was doing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after work. She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told him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was private!</a:t>
            </a:r>
            <a:endParaRPr lang="en-US" sz="100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did he ask? · What did Sara tell him?</a:t>
            </a:r>
            <a:endParaRPr lang="en-US" sz="1000" dirty="0"/>
          </a:p>
        </p:txBody>
      </p:sp>
      <p:sp>
        <p:nvSpPr>
          <p:cNvPr id="26" name="R5_sb423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R5_sl424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home the jeans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 fit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 She went back with the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a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refund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0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the jeans fit? · What did she take back? · What did she want?</a:t>
            </a:r>
            <a:endParaRPr lang="en-US" sz="1000" dirty="0"/>
          </a:p>
        </p:txBody>
      </p:sp>
      <p:sp>
        <p:nvSpPr>
          <p:cNvPr id="28" name="R6_sb425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R6_sl426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same assistant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was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free on Friday… Sara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no – again!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did he ask her? · And you – what did a shop assistant last ask you?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2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2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Retell it!</a:t>
            </a:r>
            <a:endParaRPr lang="en-US" sz="2500" dirty="0"/>
          </a:p>
        </p:txBody>
      </p:sp>
      <p:pic>
        <p:nvPicPr>
          <p:cNvPr id="6" name="brP_43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431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Retell the story to your partner. Use the prompts!</a:t>
            </a:r>
            <a:endParaRPr lang="en-US" sz="1250" dirty="0"/>
          </a:p>
        </p:txBody>
      </p:sp>
      <p:sp>
        <p:nvSpPr>
          <p:cNvPr id="8" name="insIT_43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Racconta di nuovo la storia al compagno. Usa gli spunti!</a:t>
            </a:r>
            <a:endParaRPr lang="en-US" sz="950" dirty="0"/>
          </a:p>
        </p:txBody>
      </p:sp>
      <p:sp>
        <p:nvSpPr>
          <p:cNvPr id="9" name="note_43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TPRS · retell</a:t>
            </a:r>
            <a:endParaRPr lang="en-US" sz="1250" dirty="0"/>
          </a:p>
        </p:txBody>
      </p:sp>
      <p:pic>
        <p:nvPicPr>
          <p:cNvPr id="10" name="logo_43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3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Speaking · retell (TPRS)</a:t>
            </a:r>
            <a:endParaRPr lang="en-US" sz="800" dirty="0"/>
          </a:p>
        </p:txBody>
      </p:sp>
      <p:sp>
        <p:nvSpPr>
          <p:cNvPr id="12" name="R1_sb436"/>
          <p:cNvSpPr/>
          <p:nvPr/>
        </p:nvSpPr>
        <p:spPr>
          <a:xfrm>
            <a:off x="4572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R1_sl437"/>
          <p:cNvSpPr/>
          <p:nvPr/>
        </p:nvSpPr>
        <p:spPr>
          <a:xfrm>
            <a:off x="841248" y="1417320"/>
            <a:ext cx="8046720" cy="419318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on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Sara went into…</a:t>
            </a:r>
            <a:endParaRPr lang="en-US" sz="1250" dirty="0"/>
          </a:p>
        </p:txBody>
      </p:sp>
      <p:sp>
        <p:nvSpPr>
          <p:cNvPr id="14" name="R2_sb438"/>
          <p:cNvSpPr/>
          <p:nvPr/>
        </p:nvSpPr>
        <p:spPr>
          <a:xfrm>
            <a:off x="457200" y="193722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R2_sl439"/>
          <p:cNvSpPr/>
          <p:nvPr/>
        </p:nvSpPr>
        <p:spPr>
          <a:xfrm>
            <a:off x="841248" y="1900646"/>
            <a:ext cx="8046720" cy="419318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needed · said she was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The assistant asked…</a:t>
            </a:r>
            <a:endParaRPr lang="en-US" sz="1250" dirty="0"/>
          </a:p>
        </p:txBody>
      </p:sp>
      <p:sp>
        <p:nvSpPr>
          <p:cNvPr id="16" name="R3_sb440"/>
          <p:cNvSpPr/>
          <p:nvPr/>
        </p:nvSpPr>
        <p:spPr>
          <a:xfrm>
            <a:off x="457200" y="2420547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R3_sl441"/>
          <p:cNvSpPr/>
          <p:nvPr/>
        </p:nvSpPr>
        <p:spPr>
          <a:xfrm>
            <a:off x="841248" y="2383971"/>
            <a:ext cx="8046720" cy="419318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where she lived · if she liked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Then he asked…</a:t>
            </a:r>
            <a:endParaRPr lang="en-US" sz="1250" dirty="0"/>
          </a:p>
        </p:txBody>
      </p:sp>
      <p:sp>
        <p:nvSpPr>
          <p:cNvPr id="18" name="R4_sb442"/>
          <p:cNvSpPr/>
          <p:nvPr/>
        </p:nvSpPr>
        <p:spPr>
          <a:xfrm>
            <a:off x="457200" y="2903873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R4_sl443"/>
          <p:cNvSpPr/>
          <p:nvPr/>
        </p:nvSpPr>
        <p:spPr>
          <a:xfrm>
            <a:off x="841248" y="2867297"/>
            <a:ext cx="8046720" cy="419318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what she was doing · told him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He asked her…</a:t>
            </a:r>
            <a:endParaRPr lang="en-US" sz="1250" dirty="0"/>
          </a:p>
        </p:txBody>
      </p:sp>
      <p:sp>
        <p:nvSpPr>
          <p:cNvPr id="20" name="R5_sb444"/>
          <p:cNvSpPr/>
          <p:nvPr/>
        </p:nvSpPr>
        <p:spPr>
          <a:xfrm>
            <a:off x="457200" y="3387199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R5_sl445"/>
          <p:cNvSpPr/>
          <p:nvPr/>
        </p:nvSpPr>
        <p:spPr>
          <a:xfrm>
            <a:off x="841248" y="3350623"/>
            <a:ext cx="8046720" cy="419318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 fit · receipt · refund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At home the…</a:t>
            </a:r>
            <a:endParaRPr lang="en-US" sz="1250" dirty="0"/>
          </a:p>
        </p:txBody>
      </p:sp>
      <p:sp>
        <p:nvSpPr>
          <p:cNvPr id="22" name="R6_sb446"/>
          <p:cNvSpPr/>
          <p:nvPr/>
        </p:nvSpPr>
        <p:spPr>
          <a:xfrm>
            <a:off x="457200" y="3870525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R6_sl447"/>
          <p:cNvSpPr/>
          <p:nvPr/>
        </p:nvSpPr>
        <p:spPr>
          <a:xfrm>
            <a:off x="841248" y="3833949"/>
            <a:ext cx="8046720" cy="419318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was · said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The same assistant…</a:t>
            </a:r>
            <a:endParaRPr lang="en-US" sz="1250" dirty="0"/>
          </a:p>
        </p:txBody>
      </p:sp>
      <p:sp>
        <p:nvSpPr>
          <p:cNvPr id="24" name="R7_sb448"/>
          <p:cNvSpPr/>
          <p:nvPr/>
        </p:nvSpPr>
        <p:spPr>
          <a:xfrm>
            <a:off x="457200" y="4353850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25" name="R7_sl449"/>
          <p:cNvSpPr/>
          <p:nvPr/>
        </p:nvSpPr>
        <p:spPr>
          <a:xfrm>
            <a:off x="841248" y="4317274"/>
            <a:ext cx="8046720" cy="419318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Change 2 things in the story!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In my story…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5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52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Phil complains</a:t>
            </a:r>
            <a:endParaRPr lang="en-US" sz="2500" dirty="0"/>
          </a:p>
        </p:txBody>
      </p:sp>
      <p:pic>
        <p:nvPicPr>
          <p:cNvPr id="6" name="brP_45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48656" cy="402336"/>
          </a:xfrm>
          <a:prstGeom prst="rect">
            <a:avLst/>
          </a:prstGeom>
        </p:spPr>
      </p:pic>
      <p:sp>
        <p:nvSpPr>
          <p:cNvPr id="7" name="ins_454"/>
          <p:cNvSpPr/>
          <p:nvPr/>
        </p:nvSpPr>
        <p:spPr>
          <a:xfrm>
            <a:off x="1353312" y="73152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Phil at the hotel. Then report what they said!</a:t>
            </a:r>
            <a:endParaRPr lang="en-US" sz="1250" dirty="0"/>
          </a:p>
        </p:txBody>
      </p:sp>
      <p:sp>
        <p:nvSpPr>
          <p:cNvPr id="8" name="insIT_45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Phil in hotel. Poi riferisci cosa hanno detto!</a:t>
            </a:r>
            <a:endParaRPr lang="en-US" sz="950" dirty="0"/>
          </a:p>
        </p:txBody>
      </p:sp>
      <p:sp>
        <p:nvSpPr>
          <p:cNvPr id="9" name="note_45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WATCH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Authentic video</a:t>
            </a:r>
            <a:endParaRPr lang="en-US" sz="1150" dirty="0"/>
          </a:p>
        </p:txBody>
      </p:sp>
      <p:pic>
        <p:nvPicPr>
          <p:cNvPr id="10" name="logo_4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Video · reported speech in action   ·   📖 Video Listening 8B 'How to complain' Part 2 (SB p.83) – used here for reported speech</a:t>
            </a:r>
            <a:endParaRPr lang="en-US" sz="750" dirty="0"/>
          </a:p>
        </p:txBody>
      </p:sp>
      <p:pic>
        <p:nvPicPr>
          <p:cNvPr id="12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3" name="cd_459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460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5" name="ih_461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16" name="il_462"/>
          <p:cNvSpPr/>
          <p:nvPr/>
        </p:nvSpPr>
        <p:spPr>
          <a:xfrm>
            <a:off x="886968" y="4562856"/>
            <a:ext cx="3913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after each scene. Report it: 'Phil told the… that…' / 'The waiter asked him if…'</a:t>
            </a:r>
            <a:endParaRPr lang="en-US" sz="700" dirty="0"/>
          </a:p>
        </p:txBody>
      </p:sp>
      <p:sp>
        <p:nvSpPr>
          <p:cNvPr id="17" name="vq_463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Phil → chambermaid: 'I can't get the air-conditioning to work.'</a:t>
            </a:r>
            <a:endParaRPr lang="en-US" sz="1100" dirty="0"/>
          </a:p>
        </p:txBody>
      </p:sp>
      <p:sp>
        <p:nvSpPr>
          <p:cNvPr id="18" name="R1_chip464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Phil told her (that) he couldn't get the air-conditioning to work.</a:t>
            </a:r>
            <a:endParaRPr lang="en-US" sz="800" dirty="0"/>
          </a:p>
        </p:txBody>
      </p:sp>
      <p:sp>
        <p:nvSpPr>
          <p:cNvPr id="19" name="vq_465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Chambermaid: 'I'll tell reception later.'</a:t>
            </a:r>
            <a:endParaRPr lang="en-US" sz="1100" dirty="0"/>
          </a:p>
        </p:txBody>
      </p:sp>
      <p:sp>
        <p:nvSpPr>
          <p:cNvPr id="20" name="R2_chip466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said (that) she would tell reception later.</a:t>
            </a:r>
            <a:endParaRPr lang="en-US" sz="1000" dirty="0"/>
          </a:p>
        </p:txBody>
      </p:sp>
      <p:sp>
        <p:nvSpPr>
          <p:cNvPr id="21" name="vq_467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Phil → receptionist: 'Could you ask someone to have a look at it?'</a:t>
            </a:r>
            <a:endParaRPr lang="en-US" sz="1100" dirty="0"/>
          </a:p>
        </p:txBody>
      </p:sp>
      <p:sp>
        <p:nvSpPr>
          <p:cNvPr id="22" name="R3_chip468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 she could ask someone to look at it.</a:t>
            </a:r>
            <a:endParaRPr lang="en-US" sz="1000" dirty="0"/>
          </a:p>
        </p:txBody>
      </p:sp>
      <p:sp>
        <p:nvSpPr>
          <p:cNvPr id="23" name="vq_469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Phil → waiter: 'I asked for brown toast.'</a:t>
            </a:r>
            <a:endParaRPr lang="en-US" sz="1100" dirty="0"/>
          </a:p>
        </p:txBody>
      </p:sp>
      <p:sp>
        <p:nvSpPr>
          <p:cNvPr id="24" name="R4_chip470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told the waiter (that) he had asked for brown toast.</a:t>
            </a:r>
            <a:endParaRPr lang="en-US" sz="1000" dirty="0"/>
          </a:p>
        </p:txBody>
      </p:sp>
      <p:sp>
        <p:nvSpPr>
          <p:cNvPr id="25" name="vq_471"/>
          <p:cNvSpPr/>
          <p:nvPr/>
        </p:nvSpPr>
        <p:spPr>
          <a:xfrm>
            <a:off x="5074920" y="4050792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Receptionist: 'I hope you enjoyed your stay.'</a:t>
            </a:r>
            <a:endParaRPr lang="en-US" sz="1100" dirty="0"/>
          </a:p>
        </p:txBody>
      </p:sp>
      <p:sp>
        <p:nvSpPr>
          <p:cNvPr id="26" name="R5_chip472"/>
          <p:cNvSpPr/>
          <p:nvPr/>
        </p:nvSpPr>
        <p:spPr>
          <a:xfrm>
            <a:off x="7269480" y="4050792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said (that) she hoped he had enjoyed his stay.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video>
              <p:cMediaNode vol="80000">
                <p:cTn id="33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47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75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7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77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47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note_479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4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Exit · what can you remember?</a:t>
            </a:r>
            <a:endParaRPr lang="en-US" sz="800" dirty="0"/>
          </a:p>
        </p:txBody>
      </p:sp>
      <p:sp>
        <p:nvSpPr>
          <p:cNvPr id="12" name="bd_482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483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shopping words: receipt, refund…</a:t>
            </a:r>
            <a:endParaRPr lang="en-US" sz="1400" dirty="0"/>
          </a:p>
        </p:txBody>
      </p:sp>
      <p:sp>
        <p:nvSpPr>
          <p:cNvPr id="14" name="bd_484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485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things your partner told you – in reported speech.</a:t>
            </a:r>
            <a:endParaRPr lang="en-US" sz="1400" dirty="0"/>
          </a:p>
        </p:txBody>
      </p:sp>
      <p:sp>
        <p:nvSpPr>
          <p:cNvPr id="16" name="bd_486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487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rule: how do reported questions change?</a:t>
            </a:r>
            <a:endParaRPr lang="en-US" sz="1400" dirty="0"/>
          </a:p>
        </p:txBody>
      </p:sp>
      <p:sp>
        <p:nvSpPr>
          <p:cNvPr id="18" name="cd_488"/>
          <p:cNvSpPr/>
          <p:nvPr/>
        </p:nvSpPr>
        <p:spPr>
          <a:xfrm>
            <a:off x="5669280" y="1417320"/>
            <a:ext cx="3200400" cy="1502664"/>
          </a:xfrm>
          <a:prstGeom prst="roundRect">
            <a:avLst>
              <a:gd name="adj" fmla="val 851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489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490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491"/>
          <p:cNvSpPr/>
          <p:nvPr/>
        </p:nvSpPr>
        <p:spPr>
          <a:xfrm>
            <a:off x="6236208" y="1911096"/>
            <a:ext cx="2542032" cy="935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8B: 1a, 1b, 1c, 2a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8B: a 5–7, b 5–7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2" name="st_492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8B part 2 · Going the extra mile · complaining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49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95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49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97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49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49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5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Review · what did you do today?</a:t>
            </a:r>
            <a:endParaRPr lang="en-US" sz="800" dirty="0"/>
          </a:p>
        </p:txBody>
      </p:sp>
      <p:sp>
        <p:nvSpPr>
          <p:cNvPr id="12" name="cd_502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503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14" name="tt_504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about a VERY helpful shop assistant</a:t>
            </a:r>
            <a:endParaRPr lang="en-US" sz="1350" dirty="0"/>
          </a:p>
        </p:txBody>
      </p:sp>
      <p:sp>
        <p:nvSpPr>
          <p:cNvPr id="15" name="R1_tk505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506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507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18" name="tt_508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Reported what people said and asked</a:t>
            </a:r>
            <a:endParaRPr lang="en-US" sz="1350" dirty="0"/>
          </a:p>
        </p:txBody>
      </p:sp>
      <p:sp>
        <p:nvSpPr>
          <p:cNvPr id="19" name="R2_tk509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510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511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🛍️</a:t>
            </a:r>
            <a:endParaRPr lang="en-US" sz="1800" dirty="0"/>
          </a:p>
        </p:txBody>
      </p:sp>
      <p:sp>
        <p:nvSpPr>
          <p:cNvPr id="22" name="tt_512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shopping words: receipt, refund, bargain…</a:t>
            </a:r>
            <a:endParaRPr lang="en-US" sz="1350" dirty="0"/>
          </a:p>
        </p:txBody>
      </p:sp>
      <p:sp>
        <p:nvSpPr>
          <p:cNvPr id="23" name="R3_tk513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cd_514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te_515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6" name="tt_516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7" name="R4_tk517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8" name="cd_518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te_519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0" name="tt_520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your shopping habits</a:t>
            </a:r>
            <a:endParaRPr lang="en-US" sz="1350" dirty="0"/>
          </a:p>
        </p:txBody>
      </p:sp>
      <p:sp>
        <p:nvSpPr>
          <p:cNvPr id="31" name="R5_tk521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2" name="st_522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523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524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525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526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2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52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2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it!</a:t>
            </a:r>
            <a:endParaRPr lang="en-US" sz="2500" dirty="0"/>
          </a:p>
        </p:txBody>
      </p:sp>
      <p:pic>
        <p:nvPicPr>
          <p:cNvPr id="6" name="brP_53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531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report to a new partner!</a:t>
            </a:r>
            <a:endParaRPr lang="en-US" sz="1250" dirty="0"/>
          </a:p>
        </p:txBody>
      </p:sp>
      <p:sp>
        <p:nvSpPr>
          <p:cNvPr id="8" name="insIT_53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al compagno. Poi riferisci a un altro!</a:t>
            </a:r>
            <a:endParaRPr lang="en-US" sz="950" dirty="0"/>
          </a:p>
        </p:txBody>
      </p:sp>
      <p:sp>
        <p:nvSpPr>
          <p:cNvPr id="9" name="note_53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 game</a:t>
            </a:r>
            <a:endParaRPr lang="en-US" sz="1250" dirty="0"/>
          </a:p>
        </p:txBody>
      </p:sp>
      <p:pic>
        <p:nvPicPr>
          <p:cNvPr id="10" name="logo_53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3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Speaking game · reported speech   ·   📖 SB p.81 · 3b questionnaire</a:t>
            </a:r>
            <a:endParaRPr lang="en-US" sz="800" dirty="0"/>
          </a:p>
        </p:txBody>
      </p:sp>
      <p:sp>
        <p:nvSpPr>
          <p:cNvPr id="12" name="ext_536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537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3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53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6" name="il_540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Change partners. Report: "Luca asked me if… I told him…"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Cambia compagno. Riferisci: "Luca mi ha chiesto se…"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reported sentence = 1 point.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Frase corretta = 1 punto.</a:t>
            </a:r>
            <a:endParaRPr lang="en-US" sz="1200" dirty="0"/>
          </a:p>
        </p:txBody>
      </p:sp>
      <p:sp>
        <p:nvSpPr>
          <p:cNvPr id="17" name="bd_541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542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do you usually buy clothes?</a:t>
            </a:r>
            <a:endParaRPr lang="en-US" sz="1250" dirty="0"/>
          </a:p>
        </p:txBody>
      </p:sp>
      <p:sp>
        <p:nvSpPr>
          <p:cNvPr id="19" name="chip_543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where I usually bought clothes.</a:t>
            </a:r>
            <a:endParaRPr lang="en-US" sz="1150" dirty="0"/>
          </a:p>
        </p:txBody>
      </p:sp>
      <p:sp>
        <p:nvSpPr>
          <p:cNvPr id="20" name="bd_544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545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enjoy shopping?</a:t>
            </a:r>
            <a:endParaRPr lang="en-US" sz="1250" dirty="0"/>
          </a:p>
        </p:txBody>
      </p:sp>
      <p:sp>
        <p:nvSpPr>
          <p:cNvPr id="22" name="R1_chip546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enjoyed shopping.</a:t>
            </a:r>
            <a:endParaRPr lang="en-US" sz="1150" dirty="0"/>
          </a:p>
        </p:txBody>
      </p:sp>
      <p:sp>
        <p:nvSpPr>
          <p:cNvPr id="23" name="bd_547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548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your favourite shop?</a:t>
            </a:r>
            <a:endParaRPr lang="en-US" sz="1250" dirty="0"/>
          </a:p>
        </p:txBody>
      </p:sp>
      <p:sp>
        <p:nvSpPr>
          <p:cNvPr id="25" name="R2_chip549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what my favourite shop was.</a:t>
            </a:r>
            <a:endParaRPr lang="en-US" sz="1150" dirty="0"/>
          </a:p>
        </p:txBody>
      </p:sp>
      <p:sp>
        <p:nvSpPr>
          <p:cNvPr id="26" name="bd_550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551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returned something?</a:t>
            </a:r>
            <a:endParaRPr lang="en-US" sz="1250" dirty="0"/>
          </a:p>
        </p:txBody>
      </p:sp>
      <p:sp>
        <p:nvSpPr>
          <p:cNvPr id="28" name="R3_chip552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had ever returned something.</a:t>
            </a:r>
            <a:endParaRPr lang="en-US" sz="1150" dirty="0"/>
          </a:p>
        </p:txBody>
      </p:sp>
      <p:sp>
        <p:nvSpPr>
          <p:cNvPr id="29" name="bd_553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554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shopping online or in shops?</a:t>
            </a:r>
            <a:endParaRPr lang="en-US" sz="1250" dirty="0"/>
          </a:p>
        </p:txBody>
      </p:sp>
      <p:sp>
        <p:nvSpPr>
          <p:cNvPr id="31" name="R4_chip555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if I preferred shopping online or in shops.</a:t>
            </a:r>
            <a:endParaRPr lang="en-US" sz="1150" dirty="0"/>
          </a:p>
        </p:txBody>
      </p:sp>
      <p:sp>
        <p:nvSpPr>
          <p:cNvPr id="32" name="bd_556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557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you buy last week?</a:t>
            </a:r>
            <a:endParaRPr lang="en-US" sz="1250" dirty="0"/>
          </a:p>
        </p:txBody>
      </p:sp>
      <p:sp>
        <p:nvSpPr>
          <p:cNvPr id="34" name="R5_chip558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what I had bought the week before.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5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561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in Italian</a:t>
            </a:r>
            <a:endParaRPr lang="en-US" sz="2500" dirty="0"/>
          </a:p>
        </p:txBody>
      </p:sp>
      <p:pic>
        <p:nvPicPr>
          <p:cNvPr id="6" name="brP_5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563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56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note_56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CONTROLLA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TPRS · meaning</a:t>
            </a:r>
            <a:endParaRPr lang="en-US" sz="1250" dirty="0"/>
          </a:p>
        </p:txBody>
      </p:sp>
      <p:pic>
        <p:nvPicPr>
          <p:cNvPr id="10" name="logo_56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6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Vocabulary · in Italian</a:t>
            </a:r>
            <a:endParaRPr lang="en-US" sz="800" dirty="0"/>
          </a:p>
        </p:txBody>
      </p:sp>
      <p:sp>
        <p:nvSpPr>
          <p:cNvPr id="12" name="ext_568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569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e_570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15" name="en_571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receipt</a:t>
            </a:r>
            <a:endParaRPr lang="en-US" sz="1200" dirty="0"/>
          </a:p>
        </p:txBody>
      </p:sp>
      <p:sp>
        <p:nvSpPr>
          <p:cNvPr id="16" name="R1_it572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scontrino / ricevuta</a:t>
            </a:r>
            <a:endParaRPr lang="en-US" sz="1000" dirty="0"/>
          </a:p>
        </p:txBody>
      </p:sp>
      <p:sp>
        <p:nvSpPr>
          <p:cNvPr id="17" name="cd_573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e_574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💶</a:t>
            </a:r>
            <a:endParaRPr lang="en-US" sz="2000" dirty="0"/>
          </a:p>
        </p:txBody>
      </p:sp>
      <p:sp>
        <p:nvSpPr>
          <p:cNvPr id="19" name="en_575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refund</a:t>
            </a:r>
            <a:endParaRPr lang="en-US" sz="1200" dirty="0"/>
          </a:p>
        </p:txBody>
      </p:sp>
      <p:sp>
        <p:nvSpPr>
          <p:cNvPr id="20" name="R2_it576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rimborso</a:t>
            </a:r>
            <a:endParaRPr lang="en-US" sz="1000" dirty="0"/>
          </a:p>
        </p:txBody>
      </p:sp>
      <p:sp>
        <p:nvSpPr>
          <p:cNvPr id="21" name="cd_577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e_578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🏷️</a:t>
            </a:r>
            <a:endParaRPr lang="en-US" sz="2000" dirty="0"/>
          </a:p>
        </p:txBody>
      </p:sp>
      <p:sp>
        <p:nvSpPr>
          <p:cNvPr id="23" name="en_579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discount</a:t>
            </a:r>
            <a:endParaRPr lang="en-US" sz="1200" dirty="0"/>
          </a:p>
        </p:txBody>
      </p:sp>
      <p:sp>
        <p:nvSpPr>
          <p:cNvPr id="24" name="R3_it580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sconto</a:t>
            </a:r>
            <a:endParaRPr lang="en-US" sz="1000" dirty="0"/>
          </a:p>
        </p:txBody>
      </p:sp>
      <p:sp>
        <p:nvSpPr>
          <p:cNvPr id="25" name="cd_581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582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🤑</a:t>
            </a:r>
            <a:endParaRPr lang="en-US" sz="2000" dirty="0"/>
          </a:p>
        </p:txBody>
      </p:sp>
      <p:sp>
        <p:nvSpPr>
          <p:cNvPr id="27" name="en_583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bargain</a:t>
            </a:r>
            <a:endParaRPr lang="en-US" sz="1200" dirty="0"/>
          </a:p>
        </p:txBody>
      </p:sp>
      <p:sp>
        <p:nvSpPr>
          <p:cNvPr id="28" name="R4_it584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affare</a:t>
            </a:r>
            <a:endParaRPr lang="en-US" sz="1000" dirty="0"/>
          </a:p>
        </p:txBody>
      </p:sp>
      <p:sp>
        <p:nvSpPr>
          <p:cNvPr id="29" name="cd_585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586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🛒</a:t>
            </a:r>
            <a:endParaRPr lang="en-US" sz="2000" dirty="0"/>
          </a:p>
        </p:txBody>
      </p:sp>
      <p:sp>
        <p:nvSpPr>
          <p:cNvPr id="31" name="en_587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trolley</a:t>
            </a:r>
            <a:endParaRPr lang="en-US" sz="1200" dirty="0"/>
          </a:p>
        </p:txBody>
      </p:sp>
      <p:sp>
        <p:nvSpPr>
          <p:cNvPr id="32" name="R5_it588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carrello</a:t>
            </a:r>
            <a:endParaRPr lang="en-US" sz="1000" dirty="0"/>
          </a:p>
        </p:txBody>
      </p:sp>
      <p:sp>
        <p:nvSpPr>
          <p:cNvPr id="33" name="cd_589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e_590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🧺</a:t>
            </a:r>
            <a:endParaRPr lang="en-US" sz="2000" dirty="0"/>
          </a:p>
        </p:txBody>
      </p:sp>
      <p:sp>
        <p:nvSpPr>
          <p:cNvPr id="35" name="en_591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basket</a:t>
            </a:r>
            <a:endParaRPr lang="en-US" sz="1200" dirty="0"/>
          </a:p>
        </p:txBody>
      </p:sp>
      <p:sp>
        <p:nvSpPr>
          <p:cNvPr id="36" name="R6_it592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cestino</a:t>
            </a:r>
            <a:endParaRPr lang="en-US" sz="1000" dirty="0"/>
          </a:p>
        </p:txBody>
      </p:sp>
      <p:sp>
        <p:nvSpPr>
          <p:cNvPr id="37" name="cd_593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e_594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39" name="en_595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library</a:t>
            </a:r>
            <a:endParaRPr lang="en-US" sz="1200" dirty="0"/>
          </a:p>
        </p:txBody>
      </p:sp>
      <p:sp>
        <p:nvSpPr>
          <p:cNvPr id="40" name="R7_it596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biblioteca</a:t>
            </a:r>
            <a:endParaRPr lang="en-US" sz="1000" dirty="0"/>
          </a:p>
        </p:txBody>
      </p:sp>
      <p:sp>
        <p:nvSpPr>
          <p:cNvPr id="41" name="cd_597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e_598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43" name="en_599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bookshop</a:t>
            </a:r>
            <a:endParaRPr lang="en-US" sz="1200" dirty="0"/>
          </a:p>
        </p:txBody>
      </p:sp>
      <p:sp>
        <p:nvSpPr>
          <p:cNvPr id="44" name="R8_it600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libreria</a:t>
            </a:r>
            <a:endParaRPr lang="en-US" sz="1000" dirty="0"/>
          </a:p>
        </p:txBody>
      </p:sp>
      <p:sp>
        <p:nvSpPr>
          <p:cNvPr id="45" name="cd_601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602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👗</a:t>
            </a:r>
            <a:endParaRPr lang="en-US" sz="2000" dirty="0"/>
          </a:p>
        </p:txBody>
      </p:sp>
      <p:sp>
        <p:nvSpPr>
          <p:cNvPr id="47" name="en_603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changing room</a:t>
            </a:r>
            <a:endParaRPr lang="en-US" sz="1200" dirty="0"/>
          </a:p>
        </p:txBody>
      </p:sp>
      <p:sp>
        <p:nvSpPr>
          <p:cNvPr id="48" name="R9_it604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camerino</a:t>
            </a:r>
            <a:endParaRPr lang="en-US" sz="1000" dirty="0"/>
          </a:p>
        </p:txBody>
      </p:sp>
      <p:sp>
        <p:nvSpPr>
          <p:cNvPr id="49" name="cd_605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606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🏬</a:t>
            </a:r>
            <a:endParaRPr lang="en-US" sz="2000" dirty="0"/>
          </a:p>
        </p:txBody>
      </p:sp>
      <p:sp>
        <p:nvSpPr>
          <p:cNvPr id="51" name="en_607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department store</a:t>
            </a:r>
            <a:endParaRPr lang="en-US" sz="1200" dirty="0"/>
          </a:p>
        </p:txBody>
      </p:sp>
      <p:sp>
        <p:nvSpPr>
          <p:cNvPr id="52" name="R10_it608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grande magazzino</a:t>
            </a:r>
            <a:endParaRPr lang="en-US" sz="1000" dirty="0"/>
          </a:p>
        </p:txBody>
      </p:sp>
      <p:sp>
        <p:nvSpPr>
          <p:cNvPr id="53" name="cd_609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4" name="e_610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55" name="en_611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suits you</a:t>
            </a:r>
            <a:endParaRPr lang="en-US" sz="1200" dirty="0"/>
          </a:p>
        </p:txBody>
      </p:sp>
      <p:sp>
        <p:nvSpPr>
          <p:cNvPr id="56" name="R11_it612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sta bene</a:t>
            </a:r>
            <a:endParaRPr lang="en-US" sz="1000" dirty="0"/>
          </a:p>
        </p:txBody>
      </p:sp>
      <p:sp>
        <p:nvSpPr>
          <p:cNvPr id="57" name="cd_613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8" name="e_614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📏</a:t>
            </a:r>
            <a:endParaRPr lang="en-US" sz="2000" dirty="0"/>
          </a:p>
        </p:txBody>
      </p:sp>
      <p:sp>
        <p:nvSpPr>
          <p:cNvPr id="59" name="en_615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fits</a:t>
            </a:r>
            <a:endParaRPr lang="en-US" sz="1200" dirty="0"/>
          </a:p>
        </p:txBody>
      </p:sp>
      <p:sp>
        <p:nvSpPr>
          <p:cNvPr id="60" name="R12_it616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è della taglia giusta</a:t>
            </a:r>
            <a:endParaRPr lang="en-US" sz="1000" dirty="0"/>
          </a:p>
        </p:txBody>
      </p:sp>
      <p:sp>
        <p:nvSpPr>
          <p:cNvPr id="61" name="R13_wc617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2" name="R13_w618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library = biblioteca (NOT libreria!)  ·  He told me / He said (✗ said me)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8B-1 Have a nice day!</dc:title>
  <dc:subject>PptxGenJS Presentation</dc:subject>
  <dc:creator>PptxGenJS</dc:creator>
  <cp:lastModifiedBy>PptxGenJS</cp:lastModifiedBy>
  <cp:revision>1</cp:revision>
  <dcterms:created xsi:type="dcterms:W3CDTF">2026-10-22T09:53:37Z</dcterms:created>
  <dcterms:modified xsi:type="dcterms:W3CDTF">2026-10-22T09:53:37Z</dcterms:modified>
</cp:coreProperties>
</file>