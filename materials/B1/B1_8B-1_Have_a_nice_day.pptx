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Act out an over-friendly shop assistant: 'Hello! Do you need any help? Are you going anywhere nice?' Ask the THINK question; take 3–4 answers. Click: the example.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(3 min)
REVISION (2 min). Read the examples. Ask 2 students: 'Would you like to be on Dragons' Den? What product would you present?' Then the warmer game uses this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(4 min)
RETRIEVAL WARMER (4 min). Two teams, 30 seconds per answer. Click to show a model question; accept any correct question. Facts (TG 8A): Slappie = invested, successful · Tingatang = invested, failure · Tangle Teezer = not invested, very successful · the car came at 5.30 a.m.; Peter offered them a job; they never regretted saying no. Warms up question forms for today's reported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Reading · lead-in (3 min)
LEAD-IN (3 min). Pairs decide C or SA; click once per line. Answers (TG): the book's 10 phrases – here 8 of them. Teach changing rooms (= fitting rooms). Quick question: in Bagheria, do shop assistants usually say 'Can I help you?' or leave you alone?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Reading · When 'happy to help' becomes a problem (6 min)
READING (5 min). The slide is a short adapted version – students can read the full article on p.80. 1b: Did the second assistant help? (TG: No – he talked too much and kept asking questions.) 1c: underline his questions – which are NOT appropriate? (TG: seven different questions, one repeated; many people think only the first is appropriate.) 'Are you going anywhere nice?' – because the shop is in a train station. 1d: are the assistants in your shops helpful or unhelpful?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noticing (5 min)
NOTICING (5 min). Pairs rebuild the direct speech BEFORE seeing the rule. Click once per line (TG key). Then ask: What happens to the verb when we report? (goes back: work → worked, am having → was having). And to questions? (no do, normal word order: where I worked; yes/no → 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reported speech (5 min)
RULE (5 min). Elicit each column before clicking. Play 8.13/8.14 if available (listen and repeat). TG notes: tenses move back; mustn't stays the same; 'that' optional; tell needs a person; questions: no auxiliary, subject + verb, if/whether for yes/no. Typical mistakes: He said me… · She asked him what was his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Grammar · practice (6 min)
PRACTICE (6 min). Alone, then compare. Click once per answer (TG key). Read full sentences aloud. Homework: Grammar Bank a 5–7, b 5–7.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Grammar · oral practice (4 min)
ORAL PRACTICE (4 min). If 8.15 isn't available, READ the questions yourself; the class reports chorally, then individuals. Click once per item (audio script). Reported answers (script): she lived in the city centre · he was going to the cinema · she was going out · she'd bought it online · he'd seen it twice · the changing rooms were over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Vocabulary · shopping (5 min)
VOCABULARY (5 min). Elicit first: pairs explain each pair, then click once per line (TG). False friends for Italians: library ≠ libreria (= bookshop!), discount, fit vs suit.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Vocabulary · in Italian (2 min)
CONSOLIDATION (2 min). Class says the Italian, one click shows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game · reported speech (9 min)
FREER PRACTICE + GAME (8 min). Model first: a student asks YOU two questions, then report: 'Luca asked me if I liked shopping. I told him I hated it!' Pairs ask 3 questions each (3 min), change partners and report (3 min). Click to show the model reported question. Listener gives a point for each correct reported sentence (tense back, said/told, question word order). Monitor for 'said me', 'asked me where did you buy', missing 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Exit · what can you remember? (2 min)
RETRIEVAL EXIT (2 min). Books closed. Set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pp.80–81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Have a nice day!</a:t>
            </a:r>
            <a:endParaRPr lang="en-US" sz="21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and reported speech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👀  read about a VERY helpful shop assistant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✏️  report what people said and asked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🛍️  learn shopping words: receipt, refund, bargain…</a:t>
            </a:r>
            <a:endParaRPr lang="en-US" sz="12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talk about your shopping habits</a:t>
            </a:r>
            <a:endParaRPr lang="en-US" sz="12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25400" tIns="152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Not really – I prefer to look in peace! I only ask if I need help.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1_waste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50800" tIns="1270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 you like it when shop assistants talk to you?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110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do?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fatto?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3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pic>
        <p:nvPicPr>
          <p:cNvPr id="11" name="logo_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Revision · last lesson</a:t>
            </a:r>
            <a:endParaRPr lang="en-US" sz="800" dirty="0"/>
          </a:p>
        </p:txBody>
      </p:sp>
      <p:sp>
        <p:nvSpPr>
          <p:cNvPr id="13" name="pf_27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4" name="ph_28" descr="/home/claude/lls-course/v2/cache/2a1_afford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5" name="cd_29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0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7" name="ih_31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8" name="il_32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8A: The right job for you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Dragons' Den · gerunds and infinitives</a:t>
            </a:r>
            <a:endParaRPr lang="en-US" sz="1100" dirty="0"/>
          </a:p>
        </p:txBody>
      </p:sp>
      <p:sp>
        <p:nvSpPr>
          <p:cNvPr id="19" name="cd_33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rh_34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Dragons' Den</a:t>
            </a:r>
            <a:endParaRPr lang="en-US" sz="1200" dirty="0"/>
          </a:p>
        </p:txBody>
      </p:sp>
      <p:sp>
        <p:nvSpPr>
          <p:cNvPr id="21" name="rl_35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Entrepreneurs present a product to 'Dragons'.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out.' = I won't invest.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 = success · Tangle Teezer = success without them!</a:t>
            </a:r>
            <a:endParaRPr lang="en-US" sz="1150" dirty="0"/>
          </a:p>
        </p:txBody>
      </p:sp>
      <p:sp>
        <p:nvSpPr>
          <p:cNvPr id="22" name="cd_36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rh_37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Gerund or infinitive?</a:t>
            </a:r>
            <a:endParaRPr lang="en-US" sz="1200" dirty="0"/>
          </a:p>
        </p:txBody>
      </p:sp>
      <p:sp>
        <p:nvSpPr>
          <p:cNvPr id="24" name="rl_38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enjoy working with people.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like to start my own business.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hard to find a good job.</a:t>
            </a:r>
            <a:endParaRPr lang="en-US" sz="1150" dirty="0"/>
          </a:p>
        </p:txBody>
      </p:sp>
      <p:sp>
        <p:nvSpPr>
          <p:cNvPr id="25" name="kw_39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6" name="w_40"/>
          <p:cNvSpPr/>
          <p:nvPr/>
        </p:nvSpPr>
        <p:spPr>
          <a:xfrm>
            <a:off x="3246120" y="417880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</a:t>
            </a:r>
            <a:endParaRPr lang="en-US" sz="1050" dirty="0"/>
          </a:p>
        </p:txBody>
      </p:sp>
      <p:sp>
        <p:nvSpPr>
          <p:cNvPr id="27" name="w_41"/>
          <p:cNvSpPr/>
          <p:nvPr/>
        </p:nvSpPr>
        <p:spPr>
          <a:xfrm>
            <a:off x="410565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pitch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88746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product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824728" y="4178808"/>
            <a:ext cx="1252728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entrepreneur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7150608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out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3246120" y="454456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regret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8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Answers first!</a:t>
            </a:r>
            <a:endParaRPr lang="en-US" sz="2500" dirty="0"/>
          </a:p>
        </p:txBody>
      </p:sp>
      <p:pic>
        <p:nvPicPr>
          <p:cNvPr id="6" name="brP_4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0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answer. Write the question!</a:t>
            </a:r>
            <a:endParaRPr lang="en-US" sz="1250" dirty="0"/>
          </a:p>
        </p:txBody>
      </p:sp>
      <p:sp>
        <p:nvSpPr>
          <p:cNvPr id="8" name="insIT_5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risposta. Scrivi la domanda!</a:t>
            </a:r>
            <a:endParaRPr lang="en-US" sz="950" dirty="0"/>
          </a:p>
        </p:txBody>
      </p:sp>
      <p:sp>
        <p:nvSpPr>
          <p:cNvPr id="9" name="cmd_52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5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pic>
        <p:nvPicPr>
          <p:cNvPr id="11" name="logo_5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Warmer · last lesson   ·   📖 Recycles 8A part 2 · audio 8.9–8.11</a:t>
            </a:r>
            <a:endParaRPr lang="en-US" sz="800" dirty="0"/>
          </a:p>
        </p:txBody>
      </p:sp>
      <p:sp>
        <p:nvSpPr>
          <p:cNvPr id="13" name="cd_56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5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5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59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ANSWER.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write the QUESTION.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question = 1 point.</a:t>
            </a:r>
            <a:endParaRPr lang="en-US" sz="1150" dirty="0"/>
          </a:p>
        </p:txBody>
      </p:sp>
      <p:sp>
        <p:nvSpPr>
          <p:cNvPr id="17" name="st_60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300" dirty="0"/>
          </a:p>
        </p:txBody>
      </p:sp>
      <p:sp>
        <p:nvSpPr>
          <p:cNvPr id="18" name="bd_61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gq_62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out."</a:t>
            </a:r>
            <a:endParaRPr lang="en-US" sz="1100" dirty="0"/>
          </a:p>
        </p:txBody>
      </p:sp>
      <p:sp>
        <p:nvSpPr>
          <p:cNvPr id="20" name="R1_chip63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do the Dragons say when they don't want to invest?</a:t>
            </a:r>
            <a:endParaRPr lang="en-US" sz="1100" dirty="0"/>
          </a:p>
        </p:txBody>
      </p:sp>
      <p:sp>
        <p:nvSpPr>
          <p:cNvPr id="21" name="bd_64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gq_65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Slappie watches</a:t>
            </a:r>
            <a:endParaRPr lang="en-US" sz="1100" dirty="0"/>
          </a:p>
        </p:txBody>
      </p:sp>
      <p:sp>
        <p:nvSpPr>
          <p:cNvPr id="23" name="R2_chip66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invest in (a success)?</a:t>
            </a:r>
            <a:endParaRPr lang="en-US" sz="1100" dirty="0"/>
          </a:p>
        </p:txBody>
      </p:sp>
      <p:sp>
        <p:nvSpPr>
          <p:cNvPr id="24" name="bd_67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gq_68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Tangle Teezer</a:t>
            </a:r>
            <a:endParaRPr lang="en-US" sz="1100" dirty="0"/>
          </a:p>
        </p:txBody>
      </p:sp>
      <p:sp>
        <p:nvSpPr>
          <p:cNvPr id="26" name="R3_chip69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Which product did they NOT invest in – but was a success?</a:t>
            </a:r>
            <a:endParaRPr lang="en-US" sz="1100" dirty="0"/>
          </a:p>
        </p:txBody>
      </p:sp>
      <p:sp>
        <p:nvSpPr>
          <p:cNvPr id="27" name="bd_70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gq_71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half past five in the morning</a:t>
            </a:r>
            <a:endParaRPr lang="en-US" sz="1100" dirty="0"/>
          </a:p>
        </p:txBody>
      </p:sp>
      <p:sp>
        <p:nvSpPr>
          <p:cNvPr id="29" name="R4_chip72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time did the car pick Joe and Jake up?</a:t>
            </a:r>
            <a:endParaRPr lang="en-US" sz="1100" dirty="0"/>
          </a:p>
        </p:txBody>
      </p:sp>
      <p:sp>
        <p:nvSpPr>
          <p:cNvPr id="30" name="bd_73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gq_74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job</a:t>
            </a:r>
            <a:endParaRPr lang="en-US" sz="1100" dirty="0"/>
          </a:p>
        </p:txBody>
      </p:sp>
      <p:sp>
        <p:nvSpPr>
          <p:cNvPr id="32" name="R5_chip75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What did Peter offer them?</a:t>
            </a:r>
            <a:endParaRPr lang="en-US" sz="1100" dirty="0"/>
          </a:p>
        </p:txBody>
      </p:sp>
      <p:sp>
        <p:nvSpPr>
          <p:cNvPr id="33" name="bd_76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gq_77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"No, not for a second."</a:t>
            </a:r>
            <a:endParaRPr lang="en-US" sz="1100" dirty="0"/>
          </a:p>
        </p:txBody>
      </p:sp>
      <p:sp>
        <p:nvSpPr>
          <p:cNvPr id="35" name="R6_chip78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Have you ever regretted saying no?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81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says it?</a:t>
            </a:r>
            <a:endParaRPr lang="en-US" sz="2500" dirty="0"/>
          </a:p>
        </p:txBody>
      </p:sp>
      <p:pic>
        <p:nvPicPr>
          <p:cNvPr id="6" name="brP_8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8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Customer (C) or shop assistant (SA)?</a:t>
            </a:r>
            <a:endParaRPr lang="en-US" sz="1250" dirty="0"/>
          </a:p>
        </p:txBody>
      </p:sp>
      <p:sp>
        <p:nvSpPr>
          <p:cNvPr id="8" name="insIT_8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Cliente (C) o commesso (SA)?</a:t>
            </a:r>
            <a:endParaRPr lang="en-US" sz="950" dirty="0"/>
          </a:p>
        </p:txBody>
      </p:sp>
      <p:sp>
        <p:nvSpPr>
          <p:cNvPr id="9" name="cmd_85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300" dirty="0"/>
          </a:p>
        </p:txBody>
      </p:sp>
      <p:sp>
        <p:nvSpPr>
          <p:cNvPr id="10" name="meta_8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pic>
        <p:nvPicPr>
          <p:cNvPr id="11" name="logo_8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8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Reading · lead-in   ·   📖 SB p.80 · 1a</a:t>
            </a:r>
            <a:endParaRPr lang="en-US" sz="800" dirty="0"/>
          </a:p>
        </p:txBody>
      </p:sp>
      <p:sp>
        <p:nvSpPr>
          <p:cNvPr id="13" name="cd_89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9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9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92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"Can I help you?" → SA</a:t>
            </a:r>
            <a:endParaRPr lang="en-US" sz="1050" dirty="0"/>
          </a:p>
        </p:txBody>
      </p:sp>
      <p:sp>
        <p:nvSpPr>
          <p:cNvPr id="17" name="pf_93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94" descr="/home/claude/lls-course/v2/cache/4a1_queu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19" name="bd_95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96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need any help?</a:t>
            </a:r>
            <a:endParaRPr lang="en-US" sz="1150" dirty="0"/>
          </a:p>
        </p:txBody>
      </p:sp>
      <p:sp>
        <p:nvSpPr>
          <p:cNvPr id="21" name="R1_chip97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22" name="bd_98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99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size are you?</a:t>
            </a:r>
            <a:endParaRPr lang="en-US" sz="1150" dirty="0"/>
          </a:p>
        </p:txBody>
      </p:sp>
      <p:sp>
        <p:nvSpPr>
          <p:cNvPr id="24" name="R2_chip100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25" name="bd_101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102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have this in blue?</a:t>
            </a:r>
            <a:endParaRPr lang="en-US" sz="1150" dirty="0"/>
          </a:p>
        </p:txBody>
      </p:sp>
      <p:sp>
        <p:nvSpPr>
          <p:cNvPr id="27" name="R3_chip103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bd_104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105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a nice day!</a:t>
            </a:r>
            <a:endParaRPr lang="en-US" sz="1150" dirty="0"/>
          </a:p>
        </p:txBody>
      </p:sp>
      <p:sp>
        <p:nvSpPr>
          <p:cNvPr id="30" name="R4_chip106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31" name="bd_107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108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No, thanks, I'm just looking.</a:t>
            </a:r>
            <a:endParaRPr lang="en-US" sz="1150" dirty="0"/>
          </a:p>
        </p:txBody>
      </p:sp>
      <p:sp>
        <p:nvSpPr>
          <p:cNvPr id="33" name="R5_chip109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34" name="bd_11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111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try these on?</a:t>
            </a:r>
            <a:endParaRPr lang="en-US" sz="1150" dirty="0"/>
          </a:p>
        </p:txBody>
      </p:sp>
      <p:sp>
        <p:nvSpPr>
          <p:cNvPr id="36" name="R6_chip112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37" name="bd_113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8" name="q_114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Shall I put your receipt in the bag?</a:t>
            </a:r>
            <a:endParaRPr lang="en-US" sz="1150" dirty="0"/>
          </a:p>
        </p:txBody>
      </p:sp>
      <p:sp>
        <p:nvSpPr>
          <p:cNvPr id="39" name="R7_chip115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  <p:sp>
        <p:nvSpPr>
          <p:cNvPr id="40" name="bd_116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1" name="q_117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changing rooms are over there.</a:t>
            </a:r>
            <a:endParaRPr lang="en-US" sz="1150" dirty="0"/>
          </a:p>
        </p:txBody>
      </p:sp>
      <p:sp>
        <p:nvSpPr>
          <p:cNvPr id="42" name="R8_chip118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21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Too helpful? (adapted)</a:t>
            </a:r>
            <a:endParaRPr lang="en-US" sz="2500" dirty="0"/>
          </a:p>
        </p:txBody>
      </p:sp>
      <p:pic>
        <p:nvPicPr>
          <p:cNvPr id="6" name="brP_1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123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Did the second assistant help Jonathan?</a:t>
            </a:r>
            <a:endParaRPr lang="en-US" sz="1250" dirty="0"/>
          </a:p>
        </p:txBody>
      </p:sp>
      <p:sp>
        <p:nvSpPr>
          <p:cNvPr id="8" name="insIT_12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Il secondo commesso ha aiutato Jonathan?</a:t>
            </a:r>
            <a:endParaRPr lang="en-US" sz="950" dirty="0"/>
          </a:p>
        </p:txBody>
      </p:sp>
      <p:sp>
        <p:nvSpPr>
          <p:cNvPr id="9" name="cmd_125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300" dirty="0"/>
          </a:p>
        </p:txBody>
      </p:sp>
      <p:sp>
        <p:nvSpPr>
          <p:cNvPr id="10" name="meta_12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pic>
        <p:nvPicPr>
          <p:cNvPr id="11" name="logo_1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Reading · When 'happy to help' becomes a problem   ·   📖 SB p.80 · 1b, 1c (full article in the book)</a:t>
            </a:r>
            <a:endParaRPr lang="en-US" sz="800" dirty="0"/>
          </a:p>
        </p:txBody>
      </p:sp>
      <p:sp>
        <p:nvSpPr>
          <p:cNvPr id="13" name="cd_129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sh_130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0" tIns="20320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'happy to help' becomes a problem</a:t>
            </a:r>
            <a:endParaRPr lang="en-US" sz="1700" dirty="0"/>
          </a:p>
        </p:txBody>
      </p:sp>
      <p:sp>
        <p:nvSpPr>
          <p:cNvPr id="15" name="ln_131"/>
          <p:cNvSpPr/>
          <p:nvPr/>
        </p:nvSpPr>
        <p:spPr>
          <a:xfrm>
            <a:off x="548640" y="19202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goes into a shop at King's Cross station to buy a wallet.</a:t>
            </a:r>
            <a:endParaRPr lang="en-US" sz="1150" dirty="0"/>
          </a:p>
        </p:txBody>
      </p:sp>
      <p:sp>
        <p:nvSpPr>
          <p:cNvPr id="16" name="ln_132"/>
          <p:cNvSpPr/>
          <p:nvPr/>
        </p:nvSpPr>
        <p:spPr>
          <a:xfrm>
            <a:off x="548640" y="238506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Assistant 1: 'Do you need any help?'  Jonathan: 'I'm just looking, thanks.'</a:t>
            </a:r>
            <a:endParaRPr lang="en-US" sz="1150" dirty="0"/>
          </a:p>
        </p:txBody>
      </p:sp>
      <p:sp>
        <p:nvSpPr>
          <p:cNvPr id="17" name="ln_133"/>
          <p:cNvSpPr/>
          <p:nvPr/>
        </p:nvSpPr>
        <p:spPr>
          <a:xfrm>
            <a:off x="548640" y="284988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a second assistant arrives: 'Hello, do you need any help? … Are you going anywhere nice?'</a:t>
            </a:r>
            <a:endParaRPr lang="en-US" sz="1150" dirty="0"/>
          </a:p>
        </p:txBody>
      </p:sp>
      <p:sp>
        <p:nvSpPr>
          <p:cNvPr id="18" name="ln_134"/>
          <p:cNvSpPr/>
          <p:nvPr/>
        </p:nvSpPr>
        <p:spPr>
          <a:xfrm>
            <a:off x="548640" y="331470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'No. I work near here.' 'Where do you work?' … 'Do you like football?' … 'Are you going to watch the England match?'</a:t>
            </a:r>
            <a:endParaRPr lang="en-US" sz="1150" dirty="0"/>
          </a:p>
        </p:txBody>
      </p:sp>
      <p:sp>
        <p:nvSpPr>
          <p:cNvPr id="19" name="ln_135"/>
          <p:cNvSpPr/>
          <p:nvPr/>
        </p:nvSpPr>
        <p:spPr>
          <a:xfrm>
            <a:off x="548640" y="377952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 'What are you doing after work?' … 'Are you doing anything for the rest of the day?'</a:t>
            </a:r>
            <a:endParaRPr lang="en-US" sz="1150" dirty="0"/>
          </a:p>
        </p:txBody>
      </p:sp>
      <p:sp>
        <p:nvSpPr>
          <p:cNvPr id="20" name="ln_136"/>
          <p:cNvSpPr/>
          <p:nvPr/>
        </p:nvSpPr>
        <p:spPr>
          <a:xfrm>
            <a:off x="548640" y="4244340"/>
            <a:ext cx="5349240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Jonathan runs away – without a wallet. 'His never-ending questions lost him the sale.'</a:t>
            </a:r>
            <a:endParaRPr lang="en-US" sz="1150" dirty="0"/>
          </a:p>
        </p:txBody>
      </p:sp>
      <p:sp>
        <p:nvSpPr>
          <p:cNvPr id="21" name="pf_137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2" name="ph_138" descr="/home/claude/lls-course/v2/cache/4a1_public_transport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3" name="cd_139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ii_140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5" name="ih_141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6" name="il_142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appropriate = right for the situation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wallet = portafoglio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45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Rewind! What did they say?</a:t>
            </a:r>
            <a:endParaRPr lang="en-US" sz="2500" dirty="0"/>
          </a:p>
        </p:txBody>
      </p:sp>
      <p:pic>
        <p:nvPicPr>
          <p:cNvPr id="6" name="brP_1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147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REAL words he said.</a:t>
            </a:r>
            <a:endParaRPr lang="en-US" sz="1250" dirty="0"/>
          </a:p>
        </p:txBody>
      </p:sp>
      <p:sp>
        <p:nvSpPr>
          <p:cNvPr id="8" name="insIT_14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le parole ESATTE.</a:t>
            </a:r>
            <a:endParaRPr lang="en-US" sz="950" dirty="0"/>
          </a:p>
        </p:txBody>
      </p:sp>
      <p:sp>
        <p:nvSpPr>
          <p:cNvPr id="9" name="cmd_14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300" dirty="0"/>
          </a:p>
        </p:txBody>
      </p:sp>
      <p:sp>
        <p:nvSpPr>
          <p:cNvPr id="10" name="cmd_150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300" dirty="0"/>
          </a:p>
        </p:txBody>
      </p:sp>
      <p:sp>
        <p:nvSpPr>
          <p:cNvPr id="11" name="meta_151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pic>
        <p:nvPicPr>
          <p:cNvPr id="12" name="logo_15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5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noticing   ·   📖 SB p.81 · 2a</a:t>
            </a:r>
            <a:endParaRPr lang="en-US" sz="800" dirty="0"/>
          </a:p>
        </p:txBody>
      </p:sp>
      <p:sp>
        <p:nvSpPr>
          <p:cNvPr id="14" name="cd_154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5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5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57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He asked me if I needed any help. → 'Do you need any help?'</a:t>
            </a:r>
            <a:endParaRPr lang="en-US" sz="1050" dirty="0"/>
          </a:p>
        </p:txBody>
      </p:sp>
      <p:sp>
        <p:nvSpPr>
          <p:cNvPr id="18" name="pf_158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59" descr="/home/claude/lls-course/v2/cache/4a1_polite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160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161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where I worked.</a:t>
            </a:r>
            <a:endParaRPr lang="en-US" sz="1150" dirty="0"/>
          </a:p>
        </p:txBody>
      </p:sp>
      <p:sp>
        <p:nvSpPr>
          <p:cNvPr id="22" name="R1_chip162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work?'</a:t>
            </a:r>
            <a:endParaRPr lang="en-US" sz="1000" dirty="0"/>
          </a:p>
        </p:txBody>
      </p:sp>
      <p:sp>
        <p:nvSpPr>
          <p:cNvPr id="23" name="bd_163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64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said I worked in an office round the corner.</a:t>
            </a:r>
            <a:endParaRPr lang="en-US" sz="1150" dirty="0"/>
          </a:p>
        </p:txBody>
      </p:sp>
      <p:sp>
        <p:nvSpPr>
          <p:cNvPr id="25" name="R2_chip165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work in an office round the corner.'</a:t>
            </a:r>
            <a:endParaRPr lang="en-US" sz="1000" dirty="0"/>
          </a:p>
        </p:txBody>
      </p:sp>
      <p:sp>
        <p:nvSpPr>
          <p:cNvPr id="26" name="bd_166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67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liked football.</a:t>
            </a:r>
            <a:endParaRPr lang="en-US" sz="1150" dirty="0"/>
          </a:p>
        </p:txBody>
      </p:sp>
      <p:sp>
        <p:nvSpPr>
          <p:cNvPr id="28" name="R3_chip168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'Do you like football?'</a:t>
            </a:r>
            <a:endParaRPr lang="en-US" sz="1000" dirty="0"/>
          </a:p>
        </p:txBody>
      </p:sp>
      <p:sp>
        <p:nvSpPr>
          <p:cNvPr id="29" name="bd_169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70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if I was going to watch the match.</a:t>
            </a:r>
            <a:endParaRPr lang="en-US" sz="1150" dirty="0"/>
          </a:p>
        </p:txBody>
      </p:sp>
      <p:sp>
        <p:nvSpPr>
          <p:cNvPr id="31" name="R4_chip171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going to watch the England match?'</a:t>
            </a:r>
            <a:endParaRPr lang="en-US" sz="1000" dirty="0"/>
          </a:p>
        </p:txBody>
      </p:sp>
      <p:sp>
        <p:nvSpPr>
          <p:cNvPr id="32" name="bd_172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73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me what I was doing after work.</a:t>
            </a:r>
            <a:endParaRPr lang="en-US" sz="1150" dirty="0"/>
          </a:p>
        </p:txBody>
      </p:sp>
      <p:sp>
        <p:nvSpPr>
          <p:cNvPr id="34" name="R5_chip174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after work?'</a:t>
            </a:r>
            <a:endParaRPr lang="en-US" sz="1000" dirty="0"/>
          </a:p>
        </p:txBody>
      </p:sp>
      <p:sp>
        <p:nvSpPr>
          <p:cNvPr id="35" name="bd_175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76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told him I was having dinner with a friend.</a:t>
            </a:r>
            <a:endParaRPr lang="en-US" sz="1150" dirty="0"/>
          </a:p>
        </p:txBody>
      </p:sp>
      <p:sp>
        <p:nvSpPr>
          <p:cNvPr id="37" name="R6_chip177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'I'm having dinner with a friend.'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180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Reported speech</a:t>
            </a:r>
            <a:endParaRPr lang="en-US" sz="2500" dirty="0"/>
          </a:p>
        </p:txBody>
      </p:sp>
      <p:pic>
        <p:nvPicPr>
          <p:cNvPr id="6" name="brP_1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903220" cy="402336"/>
          </a:xfrm>
          <a:prstGeom prst="rect">
            <a:avLst/>
          </a:prstGeom>
        </p:spPr>
      </p:pic>
      <p:sp>
        <p:nvSpPr>
          <p:cNvPr id="7" name="ins_182"/>
          <p:cNvSpPr/>
          <p:nvPr/>
        </p:nvSpPr>
        <p:spPr>
          <a:xfrm>
            <a:off x="1353312" y="731520"/>
            <a:ext cx="26471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does the verb change?</a:t>
            </a:r>
            <a:endParaRPr lang="en-US" sz="1250" dirty="0"/>
          </a:p>
        </p:txBody>
      </p:sp>
      <p:sp>
        <p:nvSpPr>
          <p:cNvPr id="8" name="insIT_18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Come cambia il verbo?</a:t>
            </a:r>
            <a:endParaRPr lang="en-US" sz="950" dirty="0"/>
          </a:p>
        </p:txBody>
      </p:sp>
      <p:sp>
        <p:nvSpPr>
          <p:cNvPr id="9" name="cmd_184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300" dirty="0"/>
          </a:p>
        </p:txBody>
      </p:sp>
      <p:sp>
        <p:nvSpPr>
          <p:cNvPr id="10" name="meta_18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pic>
        <p:nvPicPr>
          <p:cNvPr id="11" name="logo_18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18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reported speech   ·   📖 Grammar Bank 8B p.147 · audio 8.13, 8.14</a:t>
            </a:r>
            <a:endParaRPr lang="en-US" sz="800" dirty="0"/>
          </a:p>
        </p:txBody>
      </p:sp>
      <p:sp>
        <p:nvSpPr>
          <p:cNvPr id="13" name="ap_188"/>
          <p:cNvSpPr/>
          <p:nvPr/>
        </p:nvSpPr>
        <p:spPr>
          <a:xfrm>
            <a:off x="4526280" y="786384"/>
            <a:ext cx="16916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8.13 + 8.14</a:t>
            </a:r>
            <a:endParaRPr lang="en-US" sz="1100" dirty="0"/>
          </a:p>
        </p:txBody>
      </p:sp>
      <p:sp>
        <p:nvSpPr>
          <p:cNvPr id="14" name="aw_189"/>
          <p:cNvSpPr/>
          <p:nvPr/>
        </p:nvSpPr>
        <p:spPr>
          <a:xfrm>
            <a:off x="4526280" y="120700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5" name="cd_190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rh_191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Sentences</a:t>
            </a:r>
            <a:endParaRPr lang="en-US" sz="1250" dirty="0"/>
          </a:p>
        </p:txBody>
      </p:sp>
      <p:sp>
        <p:nvSpPr>
          <p:cNvPr id="17" name="pf_192"/>
          <p:cNvSpPr/>
          <p:nvPr/>
        </p:nvSpPr>
        <p:spPr>
          <a:xfrm>
            <a:off x="4297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193" descr="/home/claude/lls-course/v2/cache/3b1_jokes_jpg_589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2447544" cy="868680"/>
          </a:xfrm>
          <a:prstGeom prst="rect">
            <a:avLst/>
          </a:prstGeom>
        </p:spPr>
      </p:pic>
      <p:sp>
        <p:nvSpPr>
          <p:cNvPr id="19" name="ru_194"/>
          <p:cNvSpPr/>
          <p:nvPr/>
        </p:nvSpPr>
        <p:spPr>
          <a:xfrm>
            <a:off x="4114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(that) · tell + person</a:t>
            </a:r>
            <a:endParaRPr lang="en-US" sz="1050" dirty="0"/>
          </a:p>
        </p:txBody>
      </p:sp>
      <p:sp>
        <p:nvSpPr>
          <p:cNvPr id="20" name="R1_rx195"/>
          <p:cNvSpPr/>
          <p:nvPr/>
        </p:nvSpPr>
        <p:spPr>
          <a:xfrm>
            <a:off x="4114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like shopping.' → She said she liked shopping.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forgotten my keys.' → He told me he had forgotten his keys.</a:t>
            </a:r>
            <a:endParaRPr lang="en-US" sz="1050" dirty="0"/>
          </a:p>
        </p:txBody>
      </p:sp>
      <p:sp>
        <p:nvSpPr>
          <p:cNvPr id="21" name="R1_ri196"/>
          <p:cNvSpPr/>
          <p:nvPr/>
        </p:nvSpPr>
        <p:spPr>
          <a:xfrm>
            <a:off x="4114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 detto che…</a:t>
            </a:r>
            <a:endParaRPr lang="en-US" sz="900" dirty="0"/>
          </a:p>
        </p:txBody>
      </p:sp>
      <p:sp>
        <p:nvSpPr>
          <p:cNvPr id="22" name="cd_197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rh_198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Tense goes back</a:t>
            </a:r>
            <a:endParaRPr lang="en-US" sz="1250" dirty="0"/>
          </a:p>
        </p:txBody>
      </p:sp>
      <p:sp>
        <p:nvSpPr>
          <p:cNvPr id="24" name="pf_199"/>
          <p:cNvSpPr/>
          <p:nvPr/>
        </p:nvSpPr>
        <p:spPr>
          <a:xfrm>
            <a:off x="33253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200" descr="/home/claude/lls-course/v2/cache/2a1_coins_jpg_589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1088" y="1984248"/>
            <a:ext cx="2447544" cy="868680"/>
          </a:xfrm>
          <a:prstGeom prst="rect">
            <a:avLst/>
          </a:prstGeom>
        </p:spPr>
      </p:pic>
      <p:sp>
        <p:nvSpPr>
          <p:cNvPr id="26" name="ru_201"/>
          <p:cNvSpPr/>
          <p:nvPr/>
        </p:nvSpPr>
        <p:spPr>
          <a:xfrm>
            <a:off x="33070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step into the past</a:t>
            </a:r>
            <a:endParaRPr lang="en-US" sz="1050" dirty="0"/>
          </a:p>
        </p:txBody>
      </p:sp>
      <p:sp>
        <p:nvSpPr>
          <p:cNvPr id="27" name="R2_rx202"/>
          <p:cNvSpPr/>
          <p:nvPr/>
        </p:nvSpPr>
        <p:spPr>
          <a:xfrm>
            <a:off x="33070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am / is → was · will → would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→ could · must → had to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past / pres. perfect → had + p.p.</a:t>
            </a:r>
            <a:endParaRPr lang="en-US" sz="1050" dirty="0"/>
          </a:p>
        </p:txBody>
      </p:sp>
      <p:sp>
        <p:nvSpPr>
          <p:cNvPr id="28" name="R2_ri203"/>
          <p:cNvSpPr/>
          <p:nvPr/>
        </p:nvSpPr>
        <p:spPr>
          <a:xfrm>
            <a:off x="33070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tomorrow → the next day</a:t>
            </a:r>
            <a:endParaRPr lang="en-US" sz="900" dirty="0"/>
          </a:p>
        </p:txBody>
      </p:sp>
      <p:sp>
        <p:nvSpPr>
          <p:cNvPr id="29" name="cd_204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rh_205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Questions</a:t>
            </a:r>
            <a:endParaRPr lang="en-US" sz="1250" dirty="0"/>
          </a:p>
        </p:txBody>
      </p:sp>
      <p:sp>
        <p:nvSpPr>
          <p:cNvPr id="31" name="pf_206"/>
          <p:cNvSpPr/>
          <p:nvPr/>
        </p:nvSpPr>
        <p:spPr>
          <a:xfrm>
            <a:off x="6220968" y="1938528"/>
            <a:ext cx="25389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2" name="ph_207" descr="/home/claude/lls-course/v2/cache/4a1_queue_jpg_589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6688" y="1984248"/>
            <a:ext cx="2447544" cy="868680"/>
          </a:xfrm>
          <a:prstGeom prst="rect">
            <a:avLst/>
          </a:prstGeom>
        </p:spPr>
      </p:pic>
      <p:sp>
        <p:nvSpPr>
          <p:cNvPr id="33" name="ru_208"/>
          <p:cNvSpPr/>
          <p:nvPr/>
        </p:nvSpPr>
        <p:spPr>
          <a:xfrm>
            <a:off x="6202680" y="2926080"/>
            <a:ext cx="2575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 do / did · normal word order</a:t>
            </a:r>
            <a:endParaRPr lang="en-US" sz="1050" dirty="0"/>
          </a:p>
        </p:txBody>
      </p:sp>
      <p:sp>
        <p:nvSpPr>
          <p:cNvPr id="34" name="R3_rx209"/>
          <p:cNvSpPr/>
          <p:nvPr/>
        </p:nvSpPr>
        <p:spPr>
          <a:xfrm>
            <a:off x="6202680" y="3319272"/>
            <a:ext cx="2575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 → She asked me where I lived.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'Are you married?' → She asked him if he was married.</a:t>
            </a:r>
            <a:endParaRPr lang="en-US" sz="1050" dirty="0"/>
          </a:p>
        </p:txBody>
      </p:sp>
      <p:sp>
        <p:nvSpPr>
          <p:cNvPr id="35" name="R3_ri210"/>
          <p:cNvSpPr/>
          <p:nvPr/>
        </p:nvSpPr>
        <p:spPr>
          <a:xfrm>
            <a:off x="6202680" y="4087368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yes/no → if / whether</a:t>
            </a:r>
            <a:endParaRPr lang="en-US" sz="900" dirty="0"/>
          </a:p>
        </p:txBody>
      </p:sp>
      <p:sp>
        <p:nvSpPr>
          <p:cNvPr id="36" name="R4_wc211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7" name="R4_w212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He said me → ✓ He told me / He said   ✗ She asked me where did I live → ✓ where I lived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1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15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 correctly</a:t>
            </a:r>
            <a:endParaRPr lang="en-US" sz="2500" dirty="0"/>
          </a:p>
        </p:txBody>
      </p:sp>
      <p:pic>
        <p:nvPicPr>
          <p:cNvPr id="6" name="brP_21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642616" cy="402336"/>
          </a:xfrm>
          <a:prstGeom prst="rect">
            <a:avLst/>
          </a:prstGeom>
        </p:spPr>
      </p:pic>
      <p:sp>
        <p:nvSpPr>
          <p:cNvPr id="7" name="ins_217"/>
          <p:cNvSpPr/>
          <p:nvPr/>
        </p:nvSpPr>
        <p:spPr>
          <a:xfrm>
            <a:off x="1353312" y="731520"/>
            <a:ext cx="2386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Report it! Then check.</a:t>
            </a:r>
            <a:endParaRPr lang="en-US" sz="1250" dirty="0"/>
          </a:p>
        </p:txBody>
      </p:sp>
      <p:sp>
        <p:nvSpPr>
          <p:cNvPr id="8" name="insIT_21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Riportalo! Poi controlla.</a:t>
            </a:r>
            <a:endParaRPr lang="en-US" sz="950" dirty="0"/>
          </a:p>
        </p:txBody>
      </p:sp>
      <p:sp>
        <p:nvSpPr>
          <p:cNvPr id="9" name="cmd_219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300" dirty="0"/>
          </a:p>
        </p:txBody>
      </p:sp>
      <p:sp>
        <p:nvSpPr>
          <p:cNvPr id="10" name="meta_22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pic>
        <p:nvPicPr>
          <p:cNvPr id="11" name="logo_22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2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practice   ·   📖 Grammar Bank 8B p.147 · a 2–4, b 1–3</a:t>
            </a:r>
            <a:endParaRPr lang="en-US" sz="800" dirty="0"/>
          </a:p>
        </p:txBody>
      </p:sp>
      <p:sp>
        <p:nvSpPr>
          <p:cNvPr id="13" name="cd_223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2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22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226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'I'm selling all my books.' → Tim said he was selling all his books.</a:t>
            </a:r>
            <a:endParaRPr lang="en-US" sz="1050" dirty="0"/>
          </a:p>
        </p:txBody>
      </p:sp>
      <p:sp>
        <p:nvSpPr>
          <p:cNvPr id="17" name="pf_227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28" descr="/home/claude/lls-course/v2/cache/4a1_librar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19" name="bd_22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23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'I've booked the flights.' → Emma told me she…</a:t>
            </a:r>
            <a:endParaRPr lang="en-US" sz="1150" dirty="0"/>
          </a:p>
        </p:txBody>
      </p:sp>
      <p:sp>
        <p:nvSpPr>
          <p:cNvPr id="21" name="R1_chip23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had booked the flights</a:t>
            </a:r>
            <a:endParaRPr lang="en-US" sz="1000" dirty="0"/>
          </a:p>
        </p:txBody>
      </p:sp>
      <p:sp>
        <p:nvSpPr>
          <p:cNvPr id="22" name="bd_23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23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'Your new dress doesn't suit you.' → My mum told me…</a:t>
            </a:r>
            <a:endParaRPr lang="en-US" sz="1150" dirty="0"/>
          </a:p>
        </p:txBody>
      </p:sp>
      <p:sp>
        <p:nvSpPr>
          <p:cNvPr id="24" name="R2_chip23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new dress didn't suit me</a:t>
            </a:r>
            <a:endParaRPr lang="en-US" sz="1000" dirty="0"/>
          </a:p>
        </p:txBody>
      </p:sp>
      <p:sp>
        <p:nvSpPr>
          <p:cNvPr id="25" name="bd_23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23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'I might not be able to go.' → Matt said he…</a:t>
            </a:r>
            <a:endParaRPr lang="en-US" sz="1150" dirty="0"/>
          </a:p>
        </p:txBody>
      </p:sp>
      <p:sp>
        <p:nvSpPr>
          <p:cNvPr id="27" name="R3_chip23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not be able to go</a:t>
            </a:r>
            <a:endParaRPr lang="en-US" sz="1000" dirty="0"/>
          </a:p>
        </p:txBody>
      </p:sp>
      <p:sp>
        <p:nvSpPr>
          <p:cNvPr id="28" name="bd_23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23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'When are you leaving?' → My parents asked me…</a:t>
            </a:r>
            <a:endParaRPr lang="en-US" sz="1150" dirty="0"/>
          </a:p>
        </p:txBody>
      </p:sp>
      <p:sp>
        <p:nvSpPr>
          <p:cNvPr id="30" name="R4_chip24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 was leaving</a:t>
            </a:r>
            <a:endParaRPr lang="en-US" sz="1000" dirty="0"/>
          </a:p>
        </p:txBody>
      </p:sp>
      <p:sp>
        <p:nvSpPr>
          <p:cNvPr id="31" name="bd_24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242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ever been married?' → She asked him…</a:t>
            </a:r>
            <a:endParaRPr lang="en-US" sz="1150" dirty="0"/>
          </a:p>
        </p:txBody>
      </p:sp>
      <p:sp>
        <p:nvSpPr>
          <p:cNvPr id="33" name="R5_chip243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had ever been married</a:t>
            </a:r>
            <a:endParaRPr lang="en-US" sz="1000" dirty="0"/>
          </a:p>
        </p:txBody>
      </p:sp>
      <p:sp>
        <p:nvSpPr>
          <p:cNvPr id="34" name="bd_244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245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home early?' → Anna asked Robert…</a:t>
            </a:r>
            <a:endParaRPr lang="en-US" sz="1150" dirty="0"/>
          </a:p>
        </p:txBody>
      </p:sp>
      <p:sp>
        <p:nvSpPr>
          <p:cNvPr id="36" name="R6_chip246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/ whether he would be home early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49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 asked her…</a:t>
            </a:r>
            <a:endParaRPr lang="en-US" sz="2500" dirty="0"/>
          </a:p>
        </p:txBody>
      </p:sp>
      <p:pic>
        <p:nvPicPr>
          <p:cNvPr id="6" name="brP_2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251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Report the question before the narrator!</a:t>
            </a:r>
            <a:endParaRPr lang="en-US" sz="1250" dirty="0"/>
          </a:p>
        </p:txBody>
      </p:sp>
      <p:sp>
        <p:nvSpPr>
          <p:cNvPr id="8" name="insIT_2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Riporta la domanda prima del narratore!</a:t>
            </a:r>
            <a:endParaRPr lang="en-US" sz="950" dirty="0"/>
          </a:p>
        </p:txBody>
      </p:sp>
      <p:sp>
        <p:nvSpPr>
          <p:cNvPr id="9" name="cmd_253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300" dirty="0"/>
          </a:p>
        </p:txBody>
      </p:sp>
      <p:sp>
        <p:nvSpPr>
          <p:cNvPr id="10" name="cmd_254"/>
          <p:cNvSpPr/>
          <p:nvPr/>
        </p:nvSpPr>
        <p:spPr>
          <a:xfrm>
            <a:off x="6583680" y="56692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300" dirty="0"/>
          </a:p>
        </p:txBody>
      </p:sp>
      <p:sp>
        <p:nvSpPr>
          <p:cNvPr id="11" name="meta_255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pic>
        <p:nvPicPr>
          <p:cNvPr id="12" name="logo_2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Grammar · oral practice   ·   📖 SB p.81 · 2c · audio 8.15</a:t>
            </a:r>
            <a:endParaRPr lang="en-US" sz="800" dirty="0"/>
          </a:p>
        </p:txBody>
      </p:sp>
      <p:sp>
        <p:nvSpPr>
          <p:cNvPr id="14" name="ap_258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0" tIns="12700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8.15  ·  pause after each question</a:t>
            </a:r>
            <a:endParaRPr lang="en-US" sz="1100" dirty="0"/>
          </a:p>
        </p:txBody>
      </p:sp>
      <p:sp>
        <p:nvSpPr>
          <p:cNvPr id="15" name="aw_259"/>
          <p:cNvSpPr/>
          <p:nvPr/>
        </p:nvSpPr>
        <p:spPr>
          <a:xfrm>
            <a:off x="365760" y="183794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2410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Play it from the book audio</a:t>
            </a:r>
            <a:endParaRPr lang="en-US" sz="900" dirty="0"/>
          </a:p>
        </p:txBody>
      </p:sp>
      <p:sp>
        <p:nvSpPr>
          <p:cNvPr id="16" name="pf_260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261" descr="/home/claude/lls-course/v2/cache/2a1_waste_jpg_627x40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18" name="cd_262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263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0" name="ih_264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1" name="il_265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2" name="gq_266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do you live?'</a:t>
            </a:r>
            <a:endParaRPr lang="en-US" sz="1200" dirty="0"/>
          </a:p>
        </p:txBody>
      </p:sp>
      <p:sp>
        <p:nvSpPr>
          <p:cNvPr id="23" name="R1_chip267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 lived.</a:t>
            </a:r>
            <a:endParaRPr lang="en-US" sz="1200" dirty="0"/>
          </a:p>
        </p:txBody>
      </p:sp>
      <p:sp>
        <p:nvSpPr>
          <p:cNvPr id="24" name="gq_268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'What are you doing in the evening?'</a:t>
            </a:r>
            <a:endParaRPr lang="en-US" sz="1200" dirty="0"/>
          </a:p>
        </p:txBody>
      </p:sp>
      <p:sp>
        <p:nvSpPr>
          <p:cNvPr id="25" name="R2_chip269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what he was doing in the evening.</a:t>
            </a:r>
            <a:endParaRPr lang="en-US" sz="1200" dirty="0"/>
          </a:p>
        </p:txBody>
      </p:sp>
      <p:sp>
        <p:nvSpPr>
          <p:cNvPr id="26" name="gq_270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'Will you be at home at eight?'</a:t>
            </a:r>
            <a:endParaRPr lang="en-US" sz="1200" dirty="0"/>
          </a:p>
        </p:txBody>
      </p:sp>
      <p:sp>
        <p:nvSpPr>
          <p:cNvPr id="27" name="R3_chip271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if she would be at home at eight.</a:t>
            </a:r>
            <a:endParaRPr lang="en-US" sz="1200" dirty="0"/>
          </a:p>
        </p:txBody>
      </p:sp>
      <p:sp>
        <p:nvSpPr>
          <p:cNvPr id="28" name="gq_272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'Where did you buy your bag?'</a:t>
            </a:r>
            <a:endParaRPr lang="en-US" sz="1200" dirty="0"/>
          </a:p>
        </p:txBody>
      </p:sp>
      <p:sp>
        <p:nvSpPr>
          <p:cNvPr id="29" name="R4_chip273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where she'd bought her bag.</a:t>
            </a:r>
            <a:endParaRPr lang="en-US" sz="1200" dirty="0"/>
          </a:p>
        </p:txBody>
      </p:sp>
      <p:sp>
        <p:nvSpPr>
          <p:cNvPr id="30" name="gq_274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'Have you seen the new Bond film?'</a:t>
            </a:r>
            <a:endParaRPr lang="en-US" sz="1200" dirty="0"/>
          </a:p>
        </p:txBody>
      </p:sp>
      <p:sp>
        <p:nvSpPr>
          <p:cNvPr id="31" name="R5_chip275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asked him if he'd seen it.</a:t>
            </a:r>
            <a:endParaRPr lang="en-US" sz="1200" dirty="0"/>
          </a:p>
        </p:txBody>
      </p:sp>
      <p:sp>
        <p:nvSpPr>
          <p:cNvPr id="32" name="gq_276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'Can I try on the jacket?'</a:t>
            </a:r>
            <a:endParaRPr lang="en-US" sz="1200" dirty="0"/>
          </a:p>
        </p:txBody>
      </p:sp>
      <p:sp>
        <p:nvSpPr>
          <p:cNvPr id="33" name="R6_chip277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asked her if he could try it on.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7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7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280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28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82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28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cmd_284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300" dirty="0"/>
          </a:p>
        </p:txBody>
      </p:sp>
      <p:sp>
        <p:nvSpPr>
          <p:cNvPr id="10" name="meta_28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pic>
        <p:nvPicPr>
          <p:cNvPr id="11" name="logo_28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8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Vocabulary · shopping   ·   📖 SB p.81 · 3a</a:t>
            </a:r>
            <a:endParaRPr lang="en-US" sz="800" dirty="0"/>
          </a:p>
        </p:txBody>
      </p:sp>
      <p:sp>
        <p:nvSpPr>
          <p:cNvPr id="13" name="cd_288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28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ih_29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6" name="il_291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basket / trolley → small, you carry it / big, on wheels</a:t>
            </a:r>
            <a:endParaRPr lang="en-US" sz="1050" dirty="0"/>
          </a:p>
        </p:txBody>
      </p:sp>
      <p:sp>
        <p:nvSpPr>
          <p:cNvPr id="17" name="pf_292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8" name="ph_293" descr="/home/claude/lls-course/v2/cache/2a2_saver_spender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19" name="bd_294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q_295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credit card / debit card</a:t>
            </a:r>
            <a:endParaRPr lang="en-US" sz="1150" dirty="0"/>
          </a:p>
        </p:txBody>
      </p:sp>
      <p:sp>
        <p:nvSpPr>
          <p:cNvPr id="21" name="R1_chip296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later / the money goes immediately</a:t>
            </a:r>
            <a:endParaRPr lang="en-US" sz="1000" dirty="0"/>
          </a:p>
        </p:txBody>
      </p:sp>
      <p:sp>
        <p:nvSpPr>
          <p:cNvPr id="22" name="bd_297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q_298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receipt / refund</a:t>
            </a:r>
            <a:endParaRPr lang="en-US" sz="1150" dirty="0"/>
          </a:p>
        </p:txBody>
      </p:sp>
      <p:sp>
        <p:nvSpPr>
          <p:cNvPr id="24" name="R2_chip299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paper that proves you paid / money back</a:t>
            </a:r>
            <a:endParaRPr lang="en-US" sz="1000" dirty="0"/>
          </a:p>
        </p:txBody>
      </p:sp>
      <p:sp>
        <p:nvSpPr>
          <p:cNvPr id="25" name="bd_300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q_301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discount / bargain</a:t>
            </a:r>
            <a:endParaRPr lang="en-US" sz="1150" dirty="0"/>
          </a:p>
        </p:txBody>
      </p:sp>
      <p:sp>
        <p:nvSpPr>
          <p:cNvPr id="27" name="R3_chip302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off the price / a very cheap thing</a:t>
            </a:r>
            <a:endParaRPr lang="en-US" sz="1000" dirty="0"/>
          </a:p>
        </p:txBody>
      </p:sp>
      <p:sp>
        <p:nvSpPr>
          <p:cNvPr id="28" name="bd_303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q_304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chain store / department store</a:t>
            </a:r>
            <a:endParaRPr lang="en-US" sz="1150" dirty="0"/>
          </a:p>
        </p:txBody>
      </p:sp>
      <p:sp>
        <p:nvSpPr>
          <p:cNvPr id="30" name="R4_chip305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of many similar shops / big shop, many sections</a:t>
            </a:r>
            <a:endParaRPr lang="en-US" sz="1000" dirty="0"/>
          </a:p>
        </p:txBody>
      </p:sp>
      <p:sp>
        <p:nvSpPr>
          <p:cNvPr id="31" name="bd_306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2" name="q_307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library / bookshop</a:t>
            </a:r>
            <a:endParaRPr lang="en-US" sz="1150" dirty="0"/>
          </a:p>
        </p:txBody>
      </p:sp>
      <p:sp>
        <p:nvSpPr>
          <p:cNvPr id="33" name="R5_chip308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books / buy books</a:t>
            </a:r>
            <a:endParaRPr lang="en-US" sz="1000" dirty="0"/>
          </a:p>
        </p:txBody>
      </p:sp>
      <p:sp>
        <p:nvSpPr>
          <p:cNvPr id="34" name="bd_309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q_310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put on / try on</a:t>
            </a:r>
            <a:endParaRPr lang="en-US" sz="1150" dirty="0"/>
          </a:p>
        </p:txBody>
      </p:sp>
      <p:sp>
        <p:nvSpPr>
          <p:cNvPr id="36" name="R6_chip311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 dressed / put on before you buy</a:t>
            </a:r>
            <a:endParaRPr lang="en-US" sz="1000" dirty="0"/>
          </a:p>
        </p:txBody>
      </p:sp>
      <p:sp>
        <p:nvSpPr>
          <p:cNvPr id="37" name="bd_312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8" name="q_313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fits you / It suits you</a:t>
            </a:r>
            <a:endParaRPr lang="en-US" sz="1150" dirty="0"/>
          </a:p>
        </p:txBody>
      </p:sp>
      <p:sp>
        <p:nvSpPr>
          <p:cNvPr id="39" name="R7_chip314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right size / looks good on you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1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663440" cy="621792"/>
          </a:xfrm>
          <a:prstGeom prst="rect">
            <a:avLst/>
          </a:prstGeom>
        </p:spPr>
      </p:pic>
      <p:sp>
        <p:nvSpPr>
          <p:cNvPr id="5" name="title_317"/>
          <p:cNvSpPr/>
          <p:nvPr/>
        </p:nvSpPr>
        <p:spPr>
          <a:xfrm>
            <a:off x="1261872" y="16459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in Italian</a:t>
            </a:r>
            <a:endParaRPr lang="en-US" sz="2500" dirty="0"/>
          </a:p>
        </p:txBody>
      </p:sp>
      <p:pic>
        <p:nvPicPr>
          <p:cNvPr id="6" name="brP_31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319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32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cmd_32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300" dirty="0"/>
          </a:p>
        </p:txBody>
      </p:sp>
      <p:sp>
        <p:nvSpPr>
          <p:cNvPr id="10" name="meta_32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pic>
        <p:nvPicPr>
          <p:cNvPr id="11" name="logo_32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2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Vocabulary · in Italian</a:t>
            </a:r>
            <a:endParaRPr lang="en-US" sz="800" dirty="0"/>
          </a:p>
        </p:txBody>
      </p:sp>
      <p:sp>
        <p:nvSpPr>
          <p:cNvPr id="13" name="cd_325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e_326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15" name="en_327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receipt</a:t>
            </a:r>
            <a:endParaRPr lang="en-US" sz="1200" dirty="0"/>
          </a:p>
        </p:txBody>
      </p:sp>
      <p:sp>
        <p:nvSpPr>
          <p:cNvPr id="16" name="R1_it328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scontrino / ricevuta</a:t>
            </a:r>
            <a:endParaRPr lang="en-US" sz="1000" dirty="0"/>
          </a:p>
        </p:txBody>
      </p:sp>
      <p:sp>
        <p:nvSpPr>
          <p:cNvPr id="17" name="cd_329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e_330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💶</a:t>
            </a:r>
            <a:endParaRPr lang="en-US" sz="2000" dirty="0"/>
          </a:p>
        </p:txBody>
      </p:sp>
      <p:sp>
        <p:nvSpPr>
          <p:cNvPr id="19" name="en_331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refund</a:t>
            </a:r>
            <a:endParaRPr lang="en-US" sz="1200" dirty="0"/>
          </a:p>
        </p:txBody>
      </p:sp>
      <p:sp>
        <p:nvSpPr>
          <p:cNvPr id="20" name="R1_it332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rimborso</a:t>
            </a:r>
            <a:endParaRPr lang="en-US" sz="1000" dirty="0"/>
          </a:p>
        </p:txBody>
      </p:sp>
      <p:sp>
        <p:nvSpPr>
          <p:cNvPr id="21" name="cd_333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e_33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🏷️</a:t>
            </a:r>
            <a:endParaRPr lang="en-US" sz="2000" dirty="0"/>
          </a:p>
        </p:txBody>
      </p:sp>
      <p:sp>
        <p:nvSpPr>
          <p:cNvPr id="23" name="en_33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discount</a:t>
            </a:r>
            <a:endParaRPr lang="en-US" sz="1200" dirty="0"/>
          </a:p>
        </p:txBody>
      </p:sp>
      <p:sp>
        <p:nvSpPr>
          <p:cNvPr id="24" name="R1_it336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sconto</a:t>
            </a:r>
            <a:endParaRPr lang="en-US" sz="1000" dirty="0"/>
          </a:p>
        </p:txBody>
      </p:sp>
      <p:sp>
        <p:nvSpPr>
          <p:cNvPr id="25" name="cd_337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338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🤑</a:t>
            </a:r>
            <a:endParaRPr lang="en-US" sz="2000" dirty="0"/>
          </a:p>
        </p:txBody>
      </p:sp>
      <p:sp>
        <p:nvSpPr>
          <p:cNvPr id="27" name="en_339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bargain</a:t>
            </a:r>
            <a:endParaRPr lang="en-US" sz="1200" dirty="0"/>
          </a:p>
        </p:txBody>
      </p:sp>
      <p:sp>
        <p:nvSpPr>
          <p:cNvPr id="28" name="R1_it340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affare</a:t>
            </a:r>
            <a:endParaRPr lang="en-US" sz="1000" dirty="0"/>
          </a:p>
        </p:txBody>
      </p:sp>
      <p:sp>
        <p:nvSpPr>
          <p:cNvPr id="29" name="cd_341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342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🛒</a:t>
            </a:r>
            <a:endParaRPr lang="en-US" sz="2000" dirty="0"/>
          </a:p>
        </p:txBody>
      </p:sp>
      <p:sp>
        <p:nvSpPr>
          <p:cNvPr id="31" name="en_343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trolley</a:t>
            </a:r>
            <a:endParaRPr lang="en-US" sz="1200" dirty="0"/>
          </a:p>
        </p:txBody>
      </p:sp>
      <p:sp>
        <p:nvSpPr>
          <p:cNvPr id="32" name="R1_it344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carrello</a:t>
            </a:r>
            <a:endParaRPr lang="en-US" sz="1000" dirty="0"/>
          </a:p>
        </p:txBody>
      </p:sp>
      <p:sp>
        <p:nvSpPr>
          <p:cNvPr id="33" name="cd_345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e_346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🧺</a:t>
            </a:r>
            <a:endParaRPr lang="en-US" sz="2000" dirty="0"/>
          </a:p>
        </p:txBody>
      </p:sp>
      <p:sp>
        <p:nvSpPr>
          <p:cNvPr id="35" name="en_347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basket</a:t>
            </a:r>
            <a:endParaRPr lang="en-US" sz="1200" dirty="0"/>
          </a:p>
        </p:txBody>
      </p:sp>
      <p:sp>
        <p:nvSpPr>
          <p:cNvPr id="36" name="R1_it348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cestino</a:t>
            </a:r>
            <a:endParaRPr lang="en-US" sz="1000" dirty="0"/>
          </a:p>
        </p:txBody>
      </p:sp>
      <p:sp>
        <p:nvSpPr>
          <p:cNvPr id="37" name="cd_349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8" name="e_350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39" name="en_351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library</a:t>
            </a:r>
            <a:endParaRPr lang="en-US" sz="1200" dirty="0"/>
          </a:p>
        </p:txBody>
      </p:sp>
      <p:sp>
        <p:nvSpPr>
          <p:cNvPr id="40" name="R1_it352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biblioteca</a:t>
            </a:r>
            <a:endParaRPr lang="en-US" sz="1000" dirty="0"/>
          </a:p>
        </p:txBody>
      </p:sp>
      <p:sp>
        <p:nvSpPr>
          <p:cNvPr id="41" name="cd_353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e_354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📖</a:t>
            </a:r>
            <a:endParaRPr lang="en-US" sz="2000" dirty="0"/>
          </a:p>
        </p:txBody>
      </p:sp>
      <p:sp>
        <p:nvSpPr>
          <p:cNvPr id="43" name="en_355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bookshop</a:t>
            </a:r>
            <a:endParaRPr lang="en-US" sz="1200" dirty="0"/>
          </a:p>
        </p:txBody>
      </p:sp>
      <p:sp>
        <p:nvSpPr>
          <p:cNvPr id="44" name="R1_it356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libreria</a:t>
            </a:r>
            <a:endParaRPr lang="en-US" sz="1000" dirty="0"/>
          </a:p>
        </p:txBody>
      </p:sp>
      <p:sp>
        <p:nvSpPr>
          <p:cNvPr id="45" name="cd_357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358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👗</a:t>
            </a:r>
            <a:endParaRPr lang="en-US" sz="2000" dirty="0"/>
          </a:p>
        </p:txBody>
      </p:sp>
      <p:sp>
        <p:nvSpPr>
          <p:cNvPr id="47" name="en_359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changing room</a:t>
            </a:r>
            <a:endParaRPr lang="en-US" sz="1200" dirty="0"/>
          </a:p>
        </p:txBody>
      </p:sp>
      <p:sp>
        <p:nvSpPr>
          <p:cNvPr id="48" name="R1_it360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camerino</a:t>
            </a:r>
            <a:endParaRPr lang="en-US" sz="1000" dirty="0"/>
          </a:p>
        </p:txBody>
      </p:sp>
      <p:sp>
        <p:nvSpPr>
          <p:cNvPr id="49" name="cd_361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362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🏬</a:t>
            </a:r>
            <a:endParaRPr lang="en-US" sz="2000" dirty="0"/>
          </a:p>
        </p:txBody>
      </p:sp>
      <p:sp>
        <p:nvSpPr>
          <p:cNvPr id="51" name="en_363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department store</a:t>
            </a:r>
            <a:endParaRPr lang="en-US" sz="1200" dirty="0"/>
          </a:p>
        </p:txBody>
      </p:sp>
      <p:sp>
        <p:nvSpPr>
          <p:cNvPr id="52" name="R1_it364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grande magazzino</a:t>
            </a:r>
            <a:endParaRPr lang="en-US" sz="1000" dirty="0"/>
          </a:p>
        </p:txBody>
      </p:sp>
      <p:sp>
        <p:nvSpPr>
          <p:cNvPr id="53" name="cd_365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4" name="e_366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👔</a:t>
            </a:r>
            <a:endParaRPr lang="en-US" sz="2000" dirty="0"/>
          </a:p>
        </p:txBody>
      </p:sp>
      <p:sp>
        <p:nvSpPr>
          <p:cNvPr id="55" name="en_367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suits you</a:t>
            </a:r>
            <a:endParaRPr lang="en-US" sz="1200" dirty="0"/>
          </a:p>
        </p:txBody>
      </p:sp>
      <p:sp>
        <p:nvSpPr>
          <p:cNvPr id="56" name="R1_it368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sta bene</a:t>
            </a:r>
            <a:endParaRPr lang="en-US" sz="1000" dirty="0"/>
          </a:p>
        </p:txBody>
      </p:sp>
      <p:sp>
        <p:nvSpPr>
          <p:cNvPr id="57" name="cd_369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8" name="e_370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📏</a:t>
            </a:r>
            <a:endParaRPr lang="en-US" sz="2000" dirty="0"/>
          </a:p>
        </p:txBody>
      </p:sp>
      <p:sp>
        <p:nvSpPr>
          <p:cNvPr id="59" name="en_371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 fits</a:t>
            </a:r>
            <a:endParaRPr lang="en-US" sz="1200" dirty="0"/>
          </a:p>
        </p:txBody>
      </p:sp>
      <p:sp>
        <p:nvSpPr>
          <p:cNvPr id="60" name="R1_it372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è della taglia giusta</a:t>
            </a:r>
            <a:endParaRPr lang="en-US" sz="1000" dirty="0"/>
          </a:p>
        </p:txBody>
      </p:sp>
      <p:sp>
        <p:nvSpPr>
          <p:cNvPr id="61" name="R1_wc373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2" name="R1_w374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library = biblioteca (NOT libreria!)  ·  He told me / He said (✗ said me)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7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377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 it!</a:t>
            </a:r>
            <a:endParaRPr lang="en-US" sz="2500" dirty="0"/>
          </a:p>
        </p:txBody>
      </p:sp>
      <p:pic>
        <p:nvPicPr>
          <p:cNvPr id="6" name="brP_37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379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Then report to a new partner!</a:t>
            </a:r>
            <a:endParaRPr lang="en-US" sz="1250" dirty="0"/>
          </a:p>
        </p:txBody>
      </p:sp>
      <p:sp>
        <p:nvSpPr>
          <p:cNvPr id="8" name="insIT_38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Chiedi al compagno. Poi riferisci a un altro!</a:t>
            </a:r>
            <a:endParaRPr lang="en-US" sz="950" dirty="0"/>
          </a:p>
        </p:txBody>
      </p:sp>
      <p:sp>
        <p:nvSpPr>
          <p:cNvPr id="9" name="cmd_381"/>
          <p:cNvSpPr/>
          <p:nvPr/>
        </p:nvSpPr>
        <p:spPr>
          <a:xfrm>
            <a:off x="6583680" y="182880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300" dirty="0"/>
          </a:p>
        </p:txBody>
      </p:sp>
      <p:sp>
        <p:nvSpPr>
          <p:cNvPr id="10" name="meta_38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9 min   👥 pairs</a:t>
            </a:r>
            <a:endParaRPr lang="en-US" sz="950" dirty="0"/>
          </a:p>
        </p:txBody>
      </p:sp>
      <p:pic>
        <p:nvPicPr>
          <p:cNvPr id="11" name="logo_38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8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Speaking game · reported speech   ·   📖 SB p.81 · 3b questionnaire</a:t>
            </a:r>
            <a:endParaRPr lang="en-US" sz="800" dirty="0"/>
          </a:p>
        </p:txBody>
      </p:sp>
      <p:sp>
        <p:nvSpPr>
          <p:cNvPr id="13" name="cd_385"/>
          <p:cNvSpPr/>
          <p:nvPr/>
        </p:nvSpPr>
        <p:spPr>
          <a:xfrm>
            <a:off x="320040" y="1417320"/>
            <a:ext cx="2697480" cy="2057400"/>
          </a:xfrm>
          <a:prstGeom prst="roundRect">
            <a:avLst>
              <a:gd name="adj" fmla="val 6222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4" name="ii_38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5" name="ih_38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500" dirty="0"/>
          </a:p>
        </p:txBody>
      </p:sp>
      <p:sp>
        <p:nvSpPr>
          <p:cNvPr id="16" name="il_388"/>
          <p:cNvSpPr/>
          <p:nvPr/>
        </p:nvSpPr>
        <p:spPr>
          <a:xfrm>
            <a:off x="886968" y="1892808"/>
            <a:ext cx="20391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partner 3 questions.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partners. Report: "Luca asked me if… I told him…"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Font typeface="+mj-lt"/>
              <a:buAutoNum type="arabicPeriod" startAt="1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reported sentence = 1 point.</a:t>
            </a:r>
            <a:endParaRPr lang="en-US" sz="1150" dirty="0"/>
          </a:p>
        </p:txBody>
      </p:sp>
      <p:sp>
        <p:nvSpPr>
          <p:cNvPr id="17" name="st_389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300" dirty="0"/>
          </a:p>
        </p:txBody>
      </p:sp>
      <p:sp>
        <p:nvSpPr>
          <p:cNvPr id="18" name="bd_390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gq_391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do you usually buy clothes?</a:t>
            </a:r>
            <a:endParaRPr lang="en-US" sz="1100" dirty="0"/>
          </a:p>
        </p:txBody>
      </p:sp>
      <p:sp>
        <p:nvSpPr>
          <p:cNvPr id="20" name="R1_chip392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where I usually bought clothes.</a:t>
            </a:r>
            <a:endParaRPr lang="en-US" sz="1100" dirty="0"/>
          </a:p>
        </p:txBody>
      </p:sp>
      <p:sp>
        <p:nvSpPr>
          <p:cNvPr id="21" name="bd_393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gq_394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enjoy shopping?</a:t>
            </a:r>
            <a:endParaRPr lang="en-US" sz="1100" dirty="0"/>
          </a:p>
        </p:txBody>
      </p:sp>
      <p:sp>
        <p:nvSpPr>
          <p:cNvPr id="23" name="R2_chip395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enjoyed shopping.</a:t>
            </a:r>
            <a:endParaRPr lang="en-US" sz="1100" dirty="0"/>
          </a:p>
        </p:txBody>
      </p:sp>
      <p:sp>
        <p:nvSpPr>
          <p:cNvPr id="24" name="bd_396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gq_397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your favourite shop?</a:t>
            </a:r>
            <a:endParaRPr lang="en-US" sz="1100" dirty="0"/>
          </a:p>
        </p:txBody>
      </p:sp>
      <p:sp>
        <p:nvSpPr>
          <p:cNvPr id="26" name="R3_chip398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what my favourite shop was.</a:t>
            </a:r>
            <a:endParaRPr lang="en-US" sz="1100" dirty="0"/>
          </a:p>
        </p:txBody>
      </p:sp>
      <p:sp>
        <p:nvSpPr>
          <p:cNvPr id="27" name="bd_399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gq_400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Have you ever returned something?</a:t>
            </a:r>
            <a:endParaRPr lang="en-US" sz="1100" dirty="0"/>
          </a:p>
        </p:txBody>
      </p:sp>
      <p:sp>
        <p:nvSpPr>
          <p:cNvPr id="29" name="R4_chip401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if I had ever returned something.</a:t>
            </a:r>
            <a:endParaRPr lang="en-US" sz="1100" dirty="0"/>
          </a:p>
        </p:txBody>
      </p:sp>
      <p:sp>
        <p:nvSpPr>
          <p:cNvPr id="30" name="bd_402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1" name="gq_403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online or in shops?</a:t>
            </a:r>
            <a:endParaRPr lang="en-US" sz="1100" dirty="0"/>
          </a:p>
        </p:txBody>
      </p:sp>
      <p:sp>
        <p:nvSpPr>
          <p:cNvPr id="32" name="R5_chip404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asked me if I preferred buying online.</a:t>
            </a:r>
            <a:endParaRPr lang="en-US" sz="1100" dirty="0"/>
          </a:p>
        </p:txBody>
      </p:sp>
      <p:sp>
        <p:nvSpPr>
          <p:cNvPr id="33" name="bd_405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gq_406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you buy last week?</a:t>
            </a:r>
            <a:endParaRPr lang="en-US" sz="1100" dirty="0"/>
          </a:p>
        </p:txBody>
      </p:sp>
      <p:sp>
        <p:nvSpPr>
          <p:cNvPr id="35" name="R6_chip407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0" tIns="10160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asked me what I had bought the week before.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0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10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41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12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41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414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pic>
        <p:nvPicPr>
          <p:cNvPr id="10" name="logo_41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1" name="foot_41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8B-1 · Exit · what can you remember?</a:t>
            </a:r>
            <a:endParaRPr lang="en-US" sz="800" dirty="0"/>
          </a:p>
        </p:txBody>
      </p:sp>
      <p:sp>
        <p:nvSpPr>
          <p:cNvPr id="12" name="bd_417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rt_418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shopping words (receipt…)</a:t>
            </a:r>
            <a:endParaRPr lang="en-US" sz="1400" dirty="0"/>
          </a:p>
        </p:txBody>
      </p:sp>
      <p:sp>
        <p:nvSpPr>
          <p:cNvPr id="14" name="bd_419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rt_420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things your partner told you – reported!</a:t>
            </a:r>
            <a:endParaRPr lang="en-US" sz="1400" dirty="0"/>
          </a:p>
        </p:txBody>
      </p:sp>
      <p:sp>
        <p:nvSpPr>
          <p:cNvPr id="16" name="bd_421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7" name="rt_422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0" tIns="15240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rule: how do reported questions change?</a:t>
            </a:r>
            <a:endParaRPr lang="en-US" sz="1400" dirty="0"/>
          </a:p>
        </p:txBody>
      </p:sp>
      <p:sp>
        <p:nvSpPr>
          <p:cNvPr id="18" name="cd_423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ii_424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0" name="ih_425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1" name="il_426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8B: 1a, 1b, 1c, 2a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Grammar Bank 8B: a 5–7, b 5–7</a:t>
            </a:r>
            <a:endParaRPr lang="en-US" sz="11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2" name="st_427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8B part 2 · Going the extra mile · complaining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8B-1 Have a nice day!</dc:title>
  <dc:subject>PptxGenJS Presentation</dc:subject>
  <dc:creator>PptxGenJS</dc:creator>
  <cp:lastModifiedBy>PptxGenJS</cp:lastModifiedBy>
  <cp:revision>1</cp:revision>
  <dcterms:created xsi:type="dcterms:W3CDTF">2026-10-09T09:56:09Z</dcterms:created>
  <dcterms:modified xsi:type="dcterms:W3CDTF">2026-10-09T09:56:09Z</dcterms:modified>
</cp:coreProperties>
</file>