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OPENING (2 min)
Show the photo. Act out an over-friendly shop assistant: 'Hello! Do you need any help? Are you going anywhere nice?' Ask the THINK question; take 3–4 answers. Click: the example. Read 'Today you're going to…'.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Revision · last lesson (3 min)
REVISION (2 min). Read the examples. Ask 2 students: 'Would you like to be on Dragons' Den? What product would you present?' Then the warmer game uses this language.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Warmer · last lesson (4 min)
RETRIEVAL WARMER (4 min). Two teams, 30 seconds per answer. Click to show a model question; accept any correct question. Facts (TG 8A): Slappie = invested, successful · Tingatang = invested, failure · Tangle Teezer = not invested, very successful · the car came at 5.30 a.m.; Peter offered them a job; they never regretted saying no. Warms up question forms for today's reported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4. Reading · lead-in (3 min)
LEAD-IN (3 min). Pairs decide C or SA; click once per line. Answers (TG): the book's 10 phrases – here 8 of them. Teach changing rooms (= fitting rooms). Quick question: in Bagheria, do shop assistants usually say 'Can I help you?' or leave you alone?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5. Reading · When 'happy to help' becomes a problem (6 min)
READING (5 min). The slide is a short adapted version – students can read the full article on p.80. 1b: Did the second assistant help? (TG: No – he talked too much and kept asking questions.) 1c: underline his questions – which are NOT appropriate? (TG: seven different questions, one repeated; many people think only the first is appropriate.) 'Are you going anywhere nice?' – because the shop is in a train station. 1d: are the assistants in your shops helpful or unhelpful?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6. Grammar · noticing (5 min)
NOTICING (5 min). Pairs rebuild the direct speech BEFORE seeing the rule. Click once per line (TG key). Then ask: What happens to the verb when we report? (goes back: work → worked, am having → was having). And to questions? (no do, normal word order: where I worked; yes/no → if).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7. Grammar · reported speech (5 min)
RULE (5 min). Elicit each column before clicking. Play 8.13/8.14 if available (listen and repeat). TG notes: tenses move back; mustn't stays the same; 'that' optional; tell needs a person; questions: no auxiliary, subject + verb, if/whether for yes/no. Typical mistakes: He said me… · She asked him what was his name.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8. Grammar · practice (6 min)
PRACTICE (6 min). Alone, then compare. Click once per answer (TG key). Read full sentences aloud. Homework: Grammar Bank a 5–7, b 5–7.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9. Grammar · oral practice (4 min)
ORAL PRACTICE (4 min). If 8.15 isn't available, READ the questions yourself; the class reports chorally, then individuals. Click once per item (audio script). Reported answers (script): she lived in the city centre · he was going to the cinema · she was going out · she'd bought it online · he'd seen it twice · the changing rooms were over there.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10. Vocabulary · shopping (5 min)
VOCABULARY (5 min). Elicit first: pairs explain each pair, then click once per line (TG). False friends for Italians: library ≠ libreria (= bookshop!), discount, fit vs suit.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11. Vocabulary · in Italian (2 min)
CONSOLIDATION (2 min). Class says the Italian, then click once per word to show its Italian.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12. Speaking · class story (TPRS) (4 min)
TPRS CLASS STORY (4 min) – after the rule, the practice and the shopping words, and just before 'Report it!': students hear reported statements and questions (asked her if… · asked her where she lived · said she was · told him) together with today's shopping words (try on, fit, receipt, refund) many times before they have to produce them in the game. Click once per line. For each line: 1) say it, 2) ask the questions round the class (yes/no → either/or → who/what), 3) let the CLASS change details: 'Did she try on jeans? No? What did she try on?' – accept their idea and use it in later lines. Students answer with one word or a short phrase – that's fine, but push for a reported answer where it's easy ('What did he ask her?' → 'He asked her where she lived.'). Finish: 'What happens next?' – one or two ideas, then play 'Report it!'. Watch for ✗ said me · ✗ asked her where did she 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13. Speaking game · reported speech (9 min)
FREER PRACTICE + GAME (8 min). Model first: a student asks YOU two questions, then report: 'Luca asked me if I liked shopping. I told him I hated it!' Pairs ask 3 questions each (3 min), change partners and report (3 min). Click to show the model reported question. Listener gives a point for each correct reported sentence (tense back, said/told, question word order). Monitor for 'said me', 'asked me where did you buy', missing 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14. Exit · what can you remember? (2 min)
RETRIEVAL EXIT (2 min). Books closed. Set homework.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15. Review · what did you do today? (1 min)
TODAY YOU… (1 min). Read each line (one per click: the tick appears). Students show thumbs up / middle / down: can they do it now? Note any thumbs down for the next lesson's recap.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rs_1"/>
          <p:cNvSpPr/>
          <p:nvPr/>
        </p:nvSpPr>
        <p:spPr>
          <a:xfrm>
            <a:off x="411480" y="29260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English File B1 · SB pp.80–81</a:t>
            </a:r>
            <a:endParaRPr lang="en-US" sz="1000" dirty="0"/>
          </a:p>
        </p:txBody>
      </p:sp>
      <p:sp>
        <p:nvSpPr>
          <p:cNvPr id="4" name="bd_2"/>
          <p:cNvSpPr/>
          <p:nvPr/>
        </p:nvSpPr>
        <p:spPr>
          <a:xfrm>
            <a:off x="365760" y="640080"/>
            <a:ext cx="1051560" cy="1051560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8B-1</a:t>
            </a:r>
            <a:endParaRPr lang="en-US" sz="1600" dirty="0"/>
          </a:p>
        </p:txBody>
      </p:sp>
      <p:pic>
        <p:nvPicPr>
          <p:cNvPr id="5" name="bry_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713232"/>
            <a:ext cx="3566160" cy="868680"/>
          </a:xfrm>
          <a:prstGeom prst="rect">
            <a:avLst/>
          </a:prstGeom>
        </p:spPr>
      </p:pic>
      <p:sp>
        <p:nvSpPr>
          <p:cNvPr id="6" name="t_4"/>
          <p:cNvSpPr/>
          <p:nvPr/>
        </p:nvSpPr>
        <p:spPr>
          <a:xfrm>
            <a:off x="1645920" y="7315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Have a nice day!</a:t>
            </a:r>
            <a:endParaRPr lang="en-US" sz="2100" dirty="0"/>
          </a:p>
        </p:txBody>
      </p:sp>
      <p:pic>
        <p:nvPicPr>
          <p:cNvPr id="7" name="brp_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" y="1517904"/>
            <a:ext cx="3017520" cy="384048"/>
          </a:xfrm>
          <a:prstGeom prst="rect">
            <a:avLst/>
          </a:prstGeom>
        </p:spPr>
      </p:pic>
      <p:sp>
        <p:nvSpPr>
          <p:cNvPr id="8" name="st_6"/>
          <p:cNvSpPr/>
          <p:nvPr/>
        </p:nvSpPr>
        <p:spPr>
          <a:xfrm>
            <a:off x="1691640" y="1517904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Shopping and reported speech</a:t>
            </a:r>
            <a:endParaRPr lang="en-US" sz="1250" dirty="0"/>
          </a:p>
        </p:txBody>
      </p:sp>
      <p:sp>
        <p:nvSpPr>
          <p:cNvPr id="9" name="cd_7"/>
          <p:cNvSpPr/>
          <p:nvPr/>
        </p:nvSpPr>
        <p:spPr>
          <a:xfrm>
            <a:off x="365760" y="2148840"/>
            <a:ext cx="4206240" cy="1691640"/>
          </a:xfrm>
          <a:prstGeom prst="roundRect">
            <a:avLst>
              <a:gd name="adj" fmla="val 7568"/>
            </a:avLst>
          </a:prstGeom>
          <a:solidFill>
            <a:srgbClr val="E3F1FD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0" name="ii_8"/>
          <p:cNvSpPr/>
          <p:nvPr/>
        </p:nvSpPr>
        <p:spPr>
          <a:xfrm>
            <a:off x="457200" y="22219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11" name="ih_9"/>
          <p:cNvSpPr/>
          <p:nvPr/>
        </p:nvSpPr>
        <p:spPr>
          <a:xfrm>
            <a:off x="932688" y="22402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you're going to…</a:t>
            </a:r>
            <a:endParaRPr lang="en-US" sz="1600" dirty="0"/>
          </a:p>
        </p:txBody>
      </p:sp>
      <p:sp>
        <p:nvSpPr>
          <p:cNvPr id="12" name="il_10"/>
          <p:cNvSpPr/>
          <p:nvPr/>
        </p:nvSpPr>
        <p:spPr>
          <a:xfrm>
            <a:off x="932688" y="2624328"/>
            <a:ext cx="35478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👀  read about a VERY helpful shop assistant</a:t>
            </a:r>
            <a:endParaRPr lang="en-US" sz="950" dirty="0"/>
          </a:p>
          <a:p>
            <a:pPr indent="0" marL="0">
              <a:spcBef>
                <a:spcPts val="500"/>
              </a:spcBef>
              <a:spcAft>
                <a:spcPts val="2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✏️  report what people said and asked</a:t>
            </a:r>
            <a:endParaRPr lang="en-US" sz="950" dirty="0"/>
          </a:p>
          <a:p>
            <a:pPr indent="0" marL="0">
              <a:spcBef>
                <a:spcPts val="500"/>
              </a:spcBef>
              <a:spcAft>
                <a:spcPts val="2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🛍️  learn shopping words: receipt, refund, bargain…</a:t>
            </a:r>
            <a:endParaRPr lang="en-US" sz="950" dirty="0"/>
          </a:p>
          <a:p>
            <a:pPr indent="0" marL="0">
              <a:spcBef>
                <a:spcPts val="500"/>
              </a:spcBef>
              <a:spcAft>
                <a:spcPts val="2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📖  listen to a class story and answer questions</a:t>
            </a:r>
            <a:endParaRPr lang="en-US" sz="950" dirty="0"/>
          </a:p>
          <a:p>
            <a:pPr indent="0" marL="0">
              <a:spcBef>
                <a:spcPts val="500"/>
              </a:spcBef>
              <a:spcAft>
                <a:spcPts val="200"/>
              </a:spcAft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💬  talk about your shopping habits</a:t>
            </a:r>
            <a:endParaRPr lang="en-US" sz="950" dirty="0"/>
          </a:p>
        </p:txBody>
      </p:sp>
      <p:sp>
        <p:nvSpPr>
          <p:cNvPr id="13" name="R1_ex11"/>
          <p:cNvSpPr/>
          <p:nvPr/>
        </p:nvSpPr>
        <p:spPr>
          <a:xfrm>
            <a:off x="365760" y="3950208"/>
            <a:ext cx="4206240" cy="603504"/>
          </a:xfrm>
          <a:prstGeom prst="roundRect">
            <a:avLst>
              <a:gd name="adj" fmla="val 18182"/>
            </a:avLst>
          </a:prstGeom>
          <a:solidFill>
            <a:srgbClr val="FFF6CC"/>
          </a:solidFill>
          <a:ln w="19050">
            <a:solidFill>
              <a:srgbClr val="FFE07A"/>
            </a:solidFill>
          </a:ln>
        </p:spPr>
        <p:txBody>
          <a:bodyPr wrap="square" lIns="152400" tIns="25400" rIns="1524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E8508F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EXAMPLE  </a:t>
            </a:r>
            <a:pPr indent="0" marL="0">
              <a:buNone/>
            </a:pPr>
            <a:r>
              <a:rPr lang="en-US" sz="13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Not really – I prefer to look in peace! I only ask if I need help.</a:t>
            </a:r>
            <a:endParaRPr lang="en-US" sz="1000" dirty="0"/>
          </a:p>
        </p:txBody>
      </p:sp>
      <p:sp>
        <p:nvSpPr>
          <p:cNvPr id="14" name="pf_12"/>
          <p:cNvSpPr/>
          <p:nvPr/>
        </p:nvSpPr>
        <p:spPr>
          <a:xfrm rot="90000">
            <a:off x="4846320" y="777240"/>
            <a:ext cx="3977640" cy="3200400"/>
          </a:xfrm>
          <a:prstGeom prst="roundRect">
            <a:avLst>
              <a:gd name="adj" fmla="val 4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13" descr="/home/claude/lls-course/v2/cache/2a1_waste_jpg_935x748_3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90000">
            <a:off x="4892040" y="822960"/>
            <a:ext cx="3886200" cy="3108960"/>
          </a:xfrm>
          <a:prstGeom prst="rect">
            <a:avLst/>
          </a:prstGeom>
        </p:spPr>
      </p:pic>
      <p:sp>
        <p:nvSpPr>
          <p:cNvPr id="16" name="bb_14"/>
          <p:cNvSpPr/>
          <p:nvPr/>
        </p:nvSpPr>
        <p:spPr>
          <a:xfrm>
            <a:off x="5120640" y="3611880"/>
            <a:ext cx="3566160" cy="822960"/>
          </a:xfrm>
          <a:prstGeom prst="wedgeRoundRectCallout">
            <a:avLst/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lIns="127000" tIns="50800" rIns="1270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Do you like it when shop assistants talk to you?</a:t>
            </a:r>
            <a:endParaRPr lang="en-US" sz="1600" dirty="0"/>
          </a:p>
        </p:txBody>
      </p:sp>
      <p:sp>
        <p:nvSpPr>
          <p:cNvPr id="17" name="st_15"/>
          <p:cNvSpPr/>
          <p:nvPr/>
        </p:nvSpPr>
        <p:spPr>
          <a:xfrm rot="360000">
            <a:off x="7543800" y="502920"/>
            <a:ext cx="1325880" cy="38404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 · PENSA</a:t>
            </a:r>
            <a:endParaRPr lang="en-US" sz="950" dirty="0"/>
          </a:p>
        </p:txBody>
      </p:sp>
      <p:pic>
        <p:nvPicPr>
          <p:cNvPr id="18" name="logo_16" descr="/home/claude/lls-course/v2/img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5632" y="4526280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800" dirty="0"/>
          </a:p>
        </p:txBody>
      </p:sp>
      <p:pic>
        <p:nvPicPr>
          <p:cNvPr id="4" name="brY_1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034333" cy="621792"/>
          </a:xfrm>
          <a:prstGeom prst="rect">
            <a:avLst/>
          </a:prstGeom>
        </p:spPr>
      </p:pic>
      <p:sp>
        <p:nvSpPr>
          <p:cNvPr id="5" name="title_19"/>
          <p:cNvSpPr/>
          <p:nvPr/>
        </p:nvSpPr>
        <p:spPr>
          <a:xfrm>
            <a:off x="1261872" y="164592"/>
            <a:ext cx="376001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 last lesson?</a:t>
            </a:r>
            <a:endParaRPr lang="en-US" sz="2400" dirty="0"/>
          </a:p>
        </p:txBody>
      </p:sp>
      <p:pic>
        <p:nvPicPr>
          <p:cNvPr id="6" name="brP_2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685032" cy="402336"/>
          </a:xfrm>
          <a:prstGeom prst="rect">
            <a:avLst/>
          </a:prstGeom>
        </p:spPr>
      </p:pic>
      <p:sp>
        <p:nvSpPr>
          <p:cNvPr id="7" name="ins_21"/>
          <p:cNvSpPr/>
          <p:nvPr/>
        </p:nvSpPr>
        <p:spPr>
          <a:xfrm>
            <a:off x="1353312" y="731520"/>
            <a:ext cx="3429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did we do? Read the examples.</a:t>
            </a:r>
            <a:endParaRPr lang="en-US" sz="1250" dirty="0"/>
          </a:p>
        </p:txBody>
      </p:sp>
      <p:sp>
        <p:nvSpPr>
          <p:cNvPr id="8" name="insIT_2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Cosa abbiamo fatto? Leggi gli esempi.</a:t>
            </a:r>
            <a:endParaRPr lang="en-US" sz="950" dirty="0"/>
          </a:p>
        </p:txBody>
      </p:sp>
      <p:sp>
        <p:nvSpPr>
          <p:cNvPr id="9" name="cmd_23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💡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1100" dirty="0"/>
          </a:p>
        </p:txBody>
      </p:sp>
      <p:sp>
        <p:nvSpPr>
          <p:cNvPr id="10" name="meta_24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🙋 whole class</a:t>
            </a:r>
            <a:endParaRPr lang="en-US" sz="950" dirty="0"/>
          </a:p>
        </p:txBody>
      </p:sp>
      <p:sp>
        <p:nvSpPr>
          <p:cNvPr id="11" name="tag_25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Retrieval</a:t>
            </a:r>
            <a:endParaRPr lang="en-US" sz="850" dirty="0"/>
          </a:p>
        </p:txBody>
      </p:sp>
      <p:pic>
        <p:nvPicPr>
          <p:cNvPr id="12" name="logo_2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2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8B-1 · Revision · last lesson</a:t>
            </a:r>
            <a:endParaRPr lang="en-US" sz="800" dirty="0"/>
          </a:p>
        </p:txBody>
      </p:sp>
      <p:sp>
        <p:nvSpPr>
          <p:cNvPr id="14" name="pf_28"/>
          <p:cNvSpPr/>
          <p:nvPr/>
        </p:nvSpPr>
        <p:spPr>
          <a:xfrm rot="-120000">
            <a:off x="365760" y="1371600"/>
            <a:ext cx="2651760" cy="1828800"/>
          </a:xfrm>
          <a:prstGeom prst="roundRect">
            <a:avLst>
              <a:gd name="adj" fmla="val 8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29" descr="/home/claude/lls-course/v2/cache/2a1_afford_jpg_616x418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11480" y="1417320"/>
            <a:ext cx="2560320" cy="1737360"/>
          </a:xfrm>
          <a:prstGeom prst="rect">
            <a:avLst/>
          </a:prstGeom>
        </p:spPr>
      </p:pic>
      <p:sp>
        <p:nvSpPr>
          <p:cNvPr id="16" name="cd_30"/>
          <p:cNvSpPr/>
          <p:nvPr/>
        </p:nvSpPr>
        <p:spPr>
          <a:xfrm>
            <a:off x="320040" y="3383280"/>
            <a:ext cx="2743200" cy="1325880"/>
          </a:xfrm>
          <a:prstGeom prst="roundRect">
            <a:avLst>
              <a:gd name="adj" fmla="val 9655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ii_31"/>
          <p:cNvSpPr/>
          <p:nvPr/>
        </p:nvSpPr>
        <p:spPr>
          <a:xfrm>
            <a:off x="411480" y="34564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📅</a:t>
            </a:r>
            <a:endParaRPr lang="en-US" sz="2200" dirty="0"/>
          </a:p>
        </p:txBody>
      </p:sp>
      <p:sp>
        <p:nvSpPr>
          <p:cNvPr id="18" name="ih_32"/>
          <p:cNvSpPr/>
          <p:nvPr/>
        </p:nvSpPr>
        <p:spPr>
          <a:xfrm>
            <a:off x="886968" y="34747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Last lesson…</a:t>
            </a:r>
            <a:endParaRPr lang="en-US" sz="1300" dirty="0"/>
          </a:p>
        </p:txBody>
      </p:sp>
      <p:sp>
        <p:nvSpPr>
          <p:cNvPr id="19" name="il_33"/>
          <p:cNvSpPr/>
          <p:nvPr/>
        </p:nvSpPr>
        <p:spPr>
          <a:xfrm>
            <a:off x="886968" y="3858768"/>
            <a:ext cx="20848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8A: The right job for you</a:t>
            </a:r>
            <a:endParaRPr lang="en-US" sz="11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Dragons' Den · gerunds and infinitives</a:t>
            </a:r>
            <a:endParaRPr lang="en-US" sz="1100" dirty="0"/>
          </a:p>
        </p:txBody>
      </p:sp>
      <p:sp>
        <p:nvSpPr>
          <p:cNvPr id="20" name="cd_34"/>
          <p:cNvSpPr/>
          <p:nvPr/>
        </p:nvSpPr>
        <p:spPr>
          <a:xfrm>
            <a:off x="3246120" y="1417320"/>
            <a:ext cx="278892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2540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1" name="rh_35"/>
          <p:cNvSpPr/>
          <p:nvPr/>
        </p:nvSpPr>
        <p:spPr>
          <a:xfrm>
            <a:off x="3355848" y="1508760"/>
            <a:ext cx="2569464" cy="347472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Dragons' Den</a:t>
            </a:r>
            <a:endParaRPr lang="en-US" sz="1200" dirty="0"/>
          </a:p>
        </p:txBody>
      </p:sp>
      <p:sp>
        <p:nvSpPr>
          <p:cNvPr id="22" name="rl_36"/>
          <p:cNvSpPr/>
          <p:nvPr/>
        </p:nvSpPr>
        <p:spPr>
          <a:xfrm>
            <a:off x="3383280" y="1920240"/>
            <a:ext cx="2514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Entrepreneurs present a product to 'Dragons'.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'I'm out.' = I won't invest.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Slappie watches = success · Tangle Teezer = success without them!</a:t>
            </a:r>
            <a:endParaRPr lang="en-US" sz="1150" dirty="0"/>
          </a:p>
        </p:txBody>
      </p:sp>
      <p:sp>
        <p:nvSpPr>
          <p:cNvPr id="23" name="cd_37"/>
          <p:cNvSpPr/>
          <p:nvPr/>
        </p:nvSpPr>
        <p:spPr>
          <a:xfrm>
            <a:off x="6126480" y="1417320"/>
            <a:ext cx="278892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2540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4" name="rh_38"/>
          <p:cNvSpPr/>
          <p:nvPr/>
        </p:nvSpPr>
        <p:spPr>
          <a:xfrm>
            <a:off x="6236208" y="1508760"/>
            <a:ext cx="2569464" cy="347472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Gerund or infinitive?</a:t>
            </a:r>
            <a:endParaRPr lang="en-US" sz="1200" dirty="0"/>
          </a:p>
        </p:txBody>
      </p:sp>
      <p:sp>
        <p:nvSpPr>
          <p:cNvPr id="25" name="rl_39"/>
          <p:cNvSpPr/>
          <p:nvPr/>
        </p:nvSpPr>
        <p:spPr>
          <a:xfrm>
            <a:off x="6263640" y="1920240"/>
            <a:ext cx="2514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enjoy working with people.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I'd like to start my own business.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It's hard to find a good job.</a:t>
            </a:r>
            <a:endParaRPr lang="en-US" sz="1150" dirty="0"/>
          </a:p>
        </p:txBody>
      </p:sp>
      <p:sp>
        <p:nvSpPr>
          <p:cNvPr id="26" name="kw_40"/>
          <p:cNvSpPr/>
          <p:nvPr/>
        </p:nvSpPr>
        <p:spPr>
          <a:xfrm>
            <a:off x="3246120" y="38679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🔤 KEY WORDS</a:t>
            </a:r>
            <a:endParaRPr lang="en-US" sz="1100" dirty="0"/>
          </a:p>
        </p:txBody>
      </p:sp>
      <p:sp>
        <p:nvSpPr>
          <p:cNvPr id="27" name="w_41"/>
          <p:cNvSpPr/>
          <p:nvPr/>
        </p:nvSpPr>
        <p:spPr>
          <a:xfrm>
            <a:off x="3246120" y="4178808"/>
            <a:ext cx="786384" cy="310896"/>
          </a:xfrm>
          <a:prstGeom prst="roundRect">
            <a:avLst>
              <a:gd name="adj" fmla="val 50000"/>
            </a:avLst>
          </a:prstGeom>
          <a:solidFill>
            <a:srgbClr val="FFE3EE"/>
          </a:solidFill>
          <a:ln>
            <a:solidFill>
              <a:srgbClr val="F7A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invest</a:t>
            </a:r>
            <a:endParaRPr lang="en-US" sz="1050" dirty="0"/>
          </a:p>
        </p:txBody>
      </p:sp>
      <p:sp>
        <p:nvSpPr>
          <p:cNvPr id="28" name="w_42"/>
          <p:cNvSpPr/>
          <p:nvPr/>
        </p:nvSpPr>
        <p:spPr>
          <a:xfrm>
            <a:off x="4105656" y="4178808"/>
            <a:ext cx="708660" cy="31089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>
            <a:solidFill>
              <a:srgbClr val="A9D3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pitch</a:t>
            </a:r>
            <a:endParaRPr lang="en-US" sz="1050" dirty="0"/>
          </a:p>
        </p:txBody>
      </p:sp>
      <p:sp>
        <p:nvSpPr>
          <p:cNvPr id="29" name="w_43"/>
          <p:cNvSpPr/>
          <p:nvPr/>
        </p:nvSpPr>
        <p:spPr>
          <a:xfrm>
            <a:off x="4887468" y="4178808"/>
            <a:ext cx="864108" cy="310896"/>
          </a:xfrm>
          <a:prstGeom prst="roundRect">
            <a:avLst>
              <a:gd name="adj" fmla="val 50000"/>
            </a:avLst>
          </a:prstGeom>
          <a:solidFill>
            <a:srgbClr val="E3F7EA"/>
          </a:solidFill>
          <a:ln>
            <a:solidFill>
              <a:srgbClr val="A8E5B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product</a:t>
            </a:r>
            <a:endParaRPr lang="en-US" sz="1050" dirty="0"/>
          </a:p>
        </p:txBody>
      </p:sp>
      <p:sp>
        <p:nvSpPr>
          <p:cNvPr id="30" name="w_44"/>
          <p:cNvSpPr/>
          <p:nvPr/>
        </p:nvSpPr>
        <p:spPr>
          <a:xfrm>
            <a:off x="5824728" y="4178808"/>
            <a:ext cx="1252728" cy="310896"/>
          </a:xfrm>
          <a:prstGeom prst="roundRect">
            <a:avLst>
              <a:gd name="adj" fmla="val 50000"/>
            </a:avLst>
          </a:prstGeom>
          <a:solidFill>
            <a:srgbClr val="FFF6CC"/>
          </a:solidFill>
          <a:ln>
            <a:solidFill>
              <a:srgbClr val="FFE07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entrepreneur</a:t>
            </a:r>
            <a:endParaRPr lang="en-US" sz="1050" dirty="0"/>
          </a:p>
        </p:txBody>
      </p:sp>
      <p:sp>
        <p:nvSpPr>
          <p:cNvPr id="31" name="w_45"/>
          <p:cNvSpPr/>
          <p:nvPr/>
        </p:nvSpPr>
        <p:spPr>
          <a:xfrm>
            <a:off x="7150608" y="4178808"/>
            <a:ext cx="864108" cy="310896"/>
          </a:xfrm>
          <a:prstGeom prst="roundRect">
            <a:avLst>
              <a:gd name="adj" fmla="val 50000"/>
            </a:avLst>
          </a:prstGeom>
          <a:solidFill>
            <a:srgbClr val="FFE3EE"/>
          </a:solidFill>
          <a:ln>
            <a:solidFill>
              <a:srgbClr val="F7A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I'm out</a:t>
            </a:r>
            <a:endParaRPr lang="en-US" sz="1050" dirty="0"/>
          </a:p>
        </p:txBody>
      </p:sp>
      <p:sp>
        <p:nvSpPr>
          <p:cNvPr id="32" name="w_46"/>
          <p:cNvSpPr/>
          <p:nvPr/>
        </p:nvSpPr>
        <p:spPr>
          <a:xfrm>
            <a:off x="3246120" y="4544568"/>
            <a:ext cx="786384" cy="31089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>
            <a:solidFill>
              <a:srgbClr val="A9D3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regret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800" dirty="0"/>
          </a:p>
        </p:txBody>
      </p:sp>
      <p:pic>
        <p:nvPicPr>
          <p:cNvPr id="4" name="brY_4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933395" cy="621792"/>
          </a:xfrm>
          <a:prstGeom prst="rect">
            <a:avLst/>
          </a:prstGeom>
        </p:spPr>
      </p:pic>
      <p:sp>
        <p:nvSpPr>
          <p:cNvPr id="5" name="title_49"/>
          <p:cNvSpPr/>
          <p:nvPr/>
        </p:nvSpPr>
        <p:spPr>
          <a:xfrm>
            <a:off x="1261872" y="164592"/>
            <a:ext cx="26590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Answers first!</a:t>
            </a:r>
            <a:endParaRPr lang="en-US" sz="2500" dirty="0"/>
          </a:p>
        </p:txBody>
      </p:sp>
      <p:pic>
        <p:nvPicPr>
          <p:cNvPr id="6" name="brP_5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858768" cy="402336"/>
          </a:xfrm>
          <a:prstGeom prst="rect">
            <a:avLst/>
          </a:prstGeom>
        </p:spPr>
      </p:pic>
      <p:sp>
        <p:nvSpPr>
          <p:cNvPr id="7" name="ins_51"/>
          <p:cNvSpPr/>
          <p:nvPr/>
        </p:nvSpPr>
        <p:spPr>
          <a:xfrm>
            <a:off x="1353312" y="731520"/>
            <a:ext cx="3602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answer. Write the question!</a:t>
            </a:r>
            <a:endParaRPr lang="en-US" sz="1250" dirty="0"/>
          </a:p>
        </p:txBody>
      </p:sp>
      <p:sp>
        <p:nvSpPr>
          <p:cNvPr id="8" name="insIT_5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 la risposta. Scrivi la domanda!</a:t>
            </a:r>
            <a:endParaRPr lang="en-US" sz="950" dirty="0"/>
          </a:p>
        </p:txBody>
      </p:sp>
      <p:sp>
        <p:nvSpPr>
          <p:cNvPr id="9" name="cmd_53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100" dirty="0"/>
          </a:p>
        </p:txBody>
      </p:sp>
      <p:sp>
        <p:nvSpPr>
          <p:cNvPr id="10" name="meta_54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🏆 teams</a:t>
            </a:r>
            <a:endParaRPr lang="en-US" sz="950" dirty="0"/>
          </a:p>
        </p:txBody>
      </p:sp>
      <p:sp>
        <p:nvSpPr>
          <p:cNvPr id="11" name="tag_55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 game</a:t>
            </a:r>
            <a:endParaRPr lang="en-US" sz="700" dirty="0"/>
          </a:p>
        </p:txBody>
      </p:sp>
      <p:pic>
        <p:nvPicPr>
          <p:cNvPr id="12" name="logo_5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5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8B-1 · Warmer · last lesson   ·   📖 Recycles 8A part 2 · audio 8.9–8.11</a:t>
            </a:r>
            <a:endParaRPr lang="en-US" sz="800" dirty="0"/>
          </a:p>
        </p:txBody>
      </p:sp>
      <p:sp>
        <p:nvSpPr>
          <p:cNvPr id="14" name="cd_58"/>
          <p:cNvSpPr/>
          <p:nvPr/>
        </p:nvSpPr>
        <p:spPr>
          <a:xfrm>
            <a:off x="320040" y="1417320"/>
            <a:ext cx="2697480" cy="2194560"/>
          </a:xfrm>
          <a:prstGeom prst="roundRect">
            <a:avLst>
              <a:gd name="adj" fmla="val 58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59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6" name="ih_60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7" name="il_61"/>
          <p:cNvSpPr/>
          <p:nvPr/>
        </p:nvSpPr>
        <p:spPr>
          <a:xfrm>
            <a:off x="886968" y="1892808"/>
            <a:ext cx="203911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90500" indent="-190500">
              <a:spcAft>
                <a:spcPts val="200"/>
              </a:spcAft>
              <a:buSzPct val="100000"/>
              <a:buChar char="1"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ANSWER.</a:t>
            </a:r>
            <a:endParaRPr lang="en-US" sz="110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 la RISPOSTA.</a:t>
            </a:r>
            <a:endParaRPr lang="en-US" sz="110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2"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Teams write the QUESTION.</a:t>
            </a:r>
            <a:endParaRPr lang="en-US" sz="110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 squadre scrivono la DOMANDA.</a:t>
            </a:r>
            <a:endParaRPr lang="en-US" sz="110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3"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Correct question = 1 point.</a:t>
            </a:r>
            <a:endParaRPr lang="en-US" sz="110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Domanda corretta = 1 punto.</a:t>
            </a:r>
            <a:endParaRPr lang="en-US" sz="1100" dirty="0"/>
          </a:p>
        </p:txBody>
      </p:sp>
      <p:sp>
        <p:nvSpPr>
          <p:cNvPr id="18" name="st_62"/>
          <p:cNvSpPr/>
          <p:nvPr/>
        </p:nvSpPr>
        <p:spPr>
          <a:xfrm rot="-180000">
            <a:off x="502920" y="3703320"/>
            <a:ext cx="2286000" cy="77724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A  ☆☆☆☆☆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B  ☆☆☆☆☆</a:t>
            </a:r>
            <a:endParaRPr lang="en-US" sz="1250" dirty="0"/>
          </a:p>
        </p:txBody>
      </p:sp>
      <p:sp>
        <p:nvSpPr>
          <p:cNvPr id="19" name="bd_63"/>
          <p:cNvSpPr/>
          <p:nvPr/>
        </p:nvSpPr>
        <p:spPr>
          <a:xfrm>
            <a:off x="3246120" y="149123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0" name="gq_64"/>
          <p:cNvSpPr/>
          <p:nvPr/>
        </p:nvSpPr>
        <p:spPr>
          <a:xfrm>
            <a:off x="3657600" y="14173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"I'm out."</a:t>
            </a:r>
            <a:endParaRPr lang="en-US" sz="1100" dirty="0"/>
          </a:p>
        </p:txBody>
      </p:sp>
      <p:sp>
        <p:nvSpPr>
          <p:cNvPr id="21" name="R1_chip65"/>
          <p:cNvSpPr/>
          <p:nvPr/>
        </p:nvSpPr>
        <p:spPr>
          <a:xfrm>
            <a:off x="6263640" y="14173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What do the Dragons say when they don't want to invest?</a:t>
            </a:r>
            <a:endParaRPr lang="en-US" sz="1050" dirty="0"/>
          </a:p>
        </p:txBody>
      </p:sp>
      <p:sp>
        <p:nvSpPr>
          <p:cNvPr id="22" name="bd_66"/>
          <p:cNvSpPr/>
          <p:nvPr/>
        </p:nvSpPr>
        <p:spPr>
          <a:xfrm>
            <a:off x="3246120" y="203225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gq_67"/>
          <p:cNvSpPr/>
          <p:nvPr/>
        </p:nvSpPr>
        <p:spPr>
          <a:xfrm>
            <a:off x="3657600" y="195834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Slappie watches</a:t>
            </a:r>
            <a:endParaRPr lang="en-US" sz="1100" dirty="0"/>
          </a:p>
        </p:txBody>
      </p:sp>
      <p:sp>
        <p:nvSpPr>
          <p:cNvPr id="24" name="R2_chip68"/>
          <p:cNvSpPr/>
          <p:nvPr/>
        </p:nvSpPr>
        <p:spPr>
          <a:xfrm>
            <a:off x="6263640" y="195834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Which product did they invest in (a success)?</a:t>
            </a:r>
            <a:endParaRPr lang="en-US" sz="1100" dirty="0"/>
          </a:p>
        </p:txBody>
      </p:sp>
      <p:sp>
        <p:nvSpPr>
          <p:cNvPr id="25" name="bd_69"/>
          <p:cNvSpPr/>
          <p:nvPr/>
        </p:nvSpPr>
        <p:spPr>
          <a:xfrm>
            <a:off x="3246120" y="257327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6" name="gq_70"/>
          <p:cNvSpPr/>
          <p:nvPr/>
        </p:nvSpPr>
        <p:spPr>
          <a:xfrm>
            <a:off x="3657600" y="249936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Tangle Teezer</a:t>
            </a:r>
            <a:endParaRPr lang="en-US" sz="1100" dirty="0"/>
          </a:p>
        </p:txBody>
      </p:sp>
      <p:sp>
        <p:nvSpPr>
          <p:cNvPr id="27" name="R3_chip71"/>
          <p:cNvSpPr/>
          <p:nvPr/>
        </p:nvSpPr>
        <p:spPr>
          <a:xfrm>
            <a:off x="6263640" y="249936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Which product did they NOT invest in – but was a success?</a:t>
            </a:r>
            <a:endParaRPr lang="en-US" sz="1100" dirty="0"/>
          </a:p>
        </p:txBody>
      </p:sp>
      <p:sp>
        <p:nvSpPr>
          <p:cNvPr id="28" name="bd_72"/>
          <p:cNvSpPr/>
          <p:nvPr/>
        </p:nvSpPr>
        <p:spPr>
          <a:xfrm>
            <a:off x="3246120" y="3114294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9" name="gq_73"/>
          <p:cNvSpPr/>
          <p:nvPr/>
        </p:nvSpPr>
        <p:spPr>
          <a:xfrm>
            <a:off x="3657600" y="304038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At half past five in the morning</a:t>
            </a:r>
            <a:endParaRPr lang="en-US" sz="1100" dirty="0"/>
          </a:p>
        </p:txBody>
      </p:sp>
      <p:sp>
        <p:nvSpPr>
          <p:cNvPr id="30" name="R4_chip74"/>
          <p:cNvSpPr/>
          <p:nvPr/>
        </p:nvSpPr>
        <p:spPr>
          <a:xfrm>
            <a:off x="6263640" y="304038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What time did the car pick Joe and Jake up?</a:t>
            </a:r>
            <a:endParaRPr lang="en-US" sz="1100" dirty="0"/>
          </a:p>
        </p:txBody>
      </p:sp>
      <p:sp>
        <p:nvSpPr>
          <p:cNvPr id="31" name="bd_75"/>
          <p:cNvSpPr/>
          <p:nvPr/>
        </p:nvSpPr>
        <p:spPr>
          <a:xfrm>
            <a:off x="3246120" y="365531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2" name="gq_76"/>
          <p:cNvSpPr/>
          <p:nvPr/>
        </p:nvSpPr>
        <p:spPr>
          <a:xfrm>
            <a:off x="3657600" y="358140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job</a:t>
            </a:r>
            <a:endParaRPr lang="en-US" sz="1100" dirty="0"/>
          </a:p>
        </p:txBody>
      </p:sp>
      <p:sp>
        <p:nvSpPr>
          <p:cNvPr id="33" name="R5_chip77"/>
          <p:cNvSpPr/>
          <p:nvPr/>
        </p:nvSpPr>
        <p:spPr>
          <a:xfrm>
            <a:off x="6263640" y="358140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What did Peter offer them?</a:t>
            </a:r>
            <a:endParaRPr lang="en-US" sz="1100" dirty="0"/>
          </a:p>
        </p:txBody>
      </p:sp>
      <p:sp>
        <p:nvSpPr>
          <p:cNvPr id="34" name="bd_78"/>
          <p:cNvSpPr/>
          <p:nvPr/>
        </p:nvSpPr>
        <p:spPr>
          <a:xfrm>
            <a:off x="3246120" y="419633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5" name="gq_79"/>
          <p:cNvSpPr/>
          <p:nvPr/>
        </p:nvSpPr>
        <p:spPr>
          <a:xfrm>
            <a:off x="3657600" y="41224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"No, not for a second."</a:t>
            </a:r>
            <a:endParaRPr lang="en-US" sz="1100" dirty="0"/>
          </a:p>
        </p:txBody>
      </p:sp>
      <p:sp>
        <p:nvSpPr>
          <p:cNvPr id="36" name="R6_chip80"/>
          <p:cNvSpPr/>
          <p:nvPr/>
        </p:nvSpPr>
        <p:spPr>
          <a:xfrm>
            <a:off x="6263640" y="41224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Have you ever regretted saying no?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81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2800" dirty="0"/>
          </a:p>
        </p:txBody>
      </p:sp>
      <p:pic>
        <p:nvPicPr>
          <p:cNvPr id="4" name="brY_82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618842" cy="621792"/>
          </a:xfrm>
          <a:prstGeom prst="rect">
            <a:avLst/>
          </a:prstGeom>
        </p:spPr>
      </p:pic>
      <p:sp>
        <p:nvSpPr>
          <p:cNvPr id="5" name="title_83"/>
          <p:cNvSpPr/>
          <p:nvPr/>
        </p:nvSpPr>
        <p:spPr>
          <a:xfrm>
            <a:off x="1261872" y="164592"/>
            <a:ext cx="23445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Who says it?</a:t>
            </a:r>
            <a:endParaRPr lang="en-US" sz="2500" dirty="0"/>
          </a:p>
        </p:txBody>
      </p:sp>
      <p:pic>
        <p:nvPicPr>
          <p:cNvPr id="6" name="brP_84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858768" cy="402336"/>
          </a:xfrm>
          <a:prstGeom prst="rect">
            <a:avLst/>
          </a:prstGeom>
        </p:spPr>
      </p:pic>
      <p:sp>
        <p:nvSpPr>
          <p:cNvPr id="7" name="ins_85"/>
          <p:cNvSpPr/>
          <p:nvPr/>
        </p:nvSpPr>
        <p:spPr>
          <a:xfrm>
            <a:off x="1353312" y="731520"/>
            <a:ext cx="3602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Customer (C) or shop assistant (SA)?</a:t>
            </a:r>
            <a:endParaRPr lang="en-US" sz="1250" dirty="0"/>
          </a:p>
        </p:txBody>
      </p:sp>
      <p:sp>
        <p:nvSpPr>
          <p:cNvPr id="8" name="insIT_86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Cliente (C) o commesso (SA)?</a:t>
            </a:r>
            <a:endParaRPr lang="en-US" sz="950" dirty="0"/>
          </a:p>
        </p:txBody>
      </p:sp>
      <p:sp>
        <p:nvSpPr>
          <p:cNvPr id="9" name="cmd_87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💡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1100" dirty="0"/>
          </a:p>
        </p:txBody>
      </p:sp>
      <p:sp>
        <p:nvSpPr>
          <p:cNvPr id="10" name="meta_88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sp>
        <p:nvSpPr>
          <p:cNvPr id="11" name="tag_89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Reading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Controlled practice</a:t>
            </a:r>
            <a:endParaRPr lang="en-US" sz="700" dirty="0"/>
          </a:p>
        </p:txBody>
      </p:sp>
      <p:pic>
        <p:nvPicPr>
          <p:cNvPr id="12" name="logo_90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91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8B-1 · Reading · lead-in   ·   📖 SB p.80 · 1a</a:t>
            </a:r>
            <a:endParaRPr lang="en-US" sz="800" dirty="0"/>
          </a:p>
        </p:txBody>
      </p:sp>
      <p:sp>
        <p:nvSpPr>
          <p:cNvPr id="14" name="cd_92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93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6" name="ih_94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7" name="il_95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"Can I help you?" → SA</a:t>
            </a:r>
            <a:endParaRPr lang="en-US" sz="1050" dirty="0"/>
          </a:p>
        </p:txBody>
      </p:sp>
      <p:sp>
        <p:nvSpPr>
          <p:cNvPr id="18" name="pf_96"/>
          <p:cNvSpPr/>
          <p:nvPr/>
        </p:nvSpPr>
        <p:spPr>
          <a:xfrm rot="-90000">
            <a:off x="365760" y="2697480"/>
            <a:ext cx="2606040" cy="1965960"/>
          </a:xfrm>
          <a:prstGeom prst="roundRect">
            <a:avLst>
              <a:gd name="adj" fmla="val 79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9" name="ph_97" descr="/home/claude/lls-course/v2/cache/4a1_queue_jpg_605x45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874520"/>
          </a:xfrm>
          <a:prstGeom prst="rect">
            <a:avLst/>
          </a:prstGeom>
        </p:spPr>
      </p:pic>
      <p:sp>
        <p:nvSpPr>
          <p:cNvPr id="20" name="bd_98"/>
          <p:cNvSpPr/>
          <p:nvPr/>
        </p:nvSpPr>
        <p:spPr>
          <a:xfrm>
            <a:off x="3246120" y="144475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1" name="q_99"/>
          <p:cNvSpPr/>
          <p:nvPr/>
        </p:nvSpPr>
        <p:spPr>
          <a:xfrm>
            <a:off x="3630168" y="141732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you need any help?</a:t>
            </a:r>
            <a:endParaRPr lang="en-US" sz="1150" dirty="0"/>
          </a:p>
        </p:txBody>
      </p:sp>
      <p:sp>
        <p:nvSpPr>
          <p:cNvPr id="22" name="R1_chip100"/>
          <p:cNvSpPr/>
          <p:nvPr/>
        </p:nvSpPr>
        <p:spPr>
          <a:xfrm>
            <a:off x="5806440" y="141732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</a:t>
            </a:r>
            <a:endParaRPr lang="en-US" sz="1000" dirty="0"/>
          </a:p>
        </p:txBody>
      </p:sp>
      <p:sp>
        <p:nvSpPr>
          <p:cNvPr id="23" name="bd_101"/>
          <p:cNvSpPr/>
          <p:nvPr/>
        </p:nvSpPr>
        <p:spPr>
          <a:xfrm>
            <a:off x="3246120" y="185623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4" name="q_102"/>
          <p:cNvSpPr/>
          <p:nvPr/>
        </p:nvSpPr>
        <p:spPr>
          <a:xfrm>
            <a:off x="3630168" y="182880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size are you?</a:t>
            </a:r>
            <a:endParaRPr lang="en-US" sz="1150" dirty="0"/>
          </a:p>
        </p:txBody>
      </p:sp>
      <p:sp>
        <p:nvSpPr>
          <p:cNvPr id="25" name="R2_chip103"/>
          <p:cNvSpPr/>
          <p:nvPr/>
        </p:nvSpPr>
        <p:spPr>
          <a:xfrm>
            <a:off x="5806440" y="182880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</a:t>
            </a:r>
            <a:endParaRPr lang="en-US" sz="1000" dirty="0"/>
          </a:p>
        </p:txBody>
      </p:sp>
      <p:sp>
        <p:nvSpPr>
          <p:cNvPr id="26" name="bd_104"/>
          <p:cNvSpPr/>
          <p:nvPr/>
        </p:nvSpPr>
        <p:spPr>
          <a:xfrm>
            <a:off x="3246120" y="226771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7" name="q_105"/>
          <p:cNvSpPr/>
          <p:nvPr/>
        </p:nvSpPr>
        <p:spPr>
          <a:xfrm>
            <a:off x="3630168" y="224028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you have this in blue?</a:t>
            </a:r>
            <a:endParaRPr lang="en-US" sz="1100" dirty="0"/>
          </a:p>
        </p:txBody>
      </p:sp>
      <p:sp>
        <p:nvSpPr>
          <p:cNvPr id="28" name="R3_chip106"/>
          <p:cNvSpPr/>
          <p:nvPr/>
        </p:nvSpPr>
        <p:spPr>
          <a:xfrm>
            <a:off x="5806440" y="224028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</a:t>
            </a:r>
            <a:endParaRPr lang="en-US" sz="1000" dirty="0"/>
          </a:p>
        </p:txBody>
      </p:sp>
      <p:sp>
        <p:nvSpPr>
          <p:cNvPr id="29" name="bd_107"/>
          <p:cNvSpPr/>
          <p:nvPr/>
        </p:nvSpPr>
        <p:spPr>
          <a:xfrm>
            <a:off x="3246120" y="267919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q_108"/>
          <p:cNvSpPr/>
          <p:nvPr/>
        </p:nvSpPr>
        <p:spPr>
          <a:xfrm>
            <a:off x="3630168" y="265176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 a nice day!</a:t>
            </a:r>
            <a:endParaRPr lang="en-US" sz="1150" dirty="0"/>
          </a:p>
        </p:txBody>
      </p:sp>
      <p:sp>
        <p:nvSpPr>
          <p:cNvPr id="31" name="R4_chip109"/>
          <p:cNvSpPr/>
          <p:nvPr/>
        </p:nvSpPr>
        <p:spPr>
          <a:xfrm>
            <a:off x="5806440" y="265176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</a:t>
            </a:r>
            <a:endParaRPr lang="en-US" sz="1000" dirty="0"/>
          </a:p>
        </p:txBody>
      </p:sp>
      <p:sp>
        <p:nvSpPr>
          <p:cNvPr id="32" name="bd_110"/>
          <p:cNvSpPr/>
          <p:nvPr/>
        </p:nvSpPr>
        <p:spPr>
          <a:xfrm>
            <a:off x="3246120" y="309067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q_111"/>
          <p:cNvSpPr/>
          <p:nvPr/>
        </p:nvSpPr>
        <p:spPr>
          <a:xfrm>
            <a:off x="3630168" y="306324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No, thanks, I'm just looking.</a:t>
            </a:r>
            <a:endParaRPr lang="en-US" sz="1050" dirty="0"/>
          </a:p>
        </p:txBody>
      </p:sp>
      <p:sp>
        <p:nvSpPr>
          <p:cNvPr id="34" name="R5_chip112"/>
          <p:cNvSpPr/>
          <p:nvPr/>
        </p:nvSpPr>
        <p:spPr>
          <a:xfrm>
            <a:off x="5806440" y="306324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</a:t>
            </a:r>
            <a:endParaRPr lang="en-US" sz="1000" dirty="0"/>
          </a:p>
        </p:txBody>
      </p:sp>
      <p:sp>
        <p:nvSpPr>
          <p:cNvPr id="35" name="bd_113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6" name="q_114"/>
          <p:cNvSpPr/>
          <p:nvPr/>
        </p:nvSpPr>
        <p:spPr>
          <a:xfrm>
            <a:off x="3630168" y="347472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I try these on?</a:t>
            </a:r>
            <a:endParaRPr lang="en-US" sz="1150" dirty="0"/>
          </a:p>
        </p:txBody>
      </p:sp>
      <p:sp>
        <p:nvSpPr>
          <p:cNvPr id="37" name="R6_chip115"/>
          <p:cNvSpPr/>
          <p:nvPr/>
        </p:nvSpPr>
        <p:spPr>
          <a:xfrm>
            <a:off x="5806440" y="347472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</a:t>
            </a:r>
            <a:endParaRPr lang="en-US" sz="1000" dirty="0"/>
          </a:p>
        </p:txBody>
      </p:sp>
      <p:sp>
        <p:nvSpPr>
          <p:cNvPr id="38" name="bd_116"/>
          <p:cNvSpPr/>
          <p:nvPr/>
        </p:nvSpPr>
        <p:spPr>
          <a:xfrm>
            <a:off x="3246120" y="391363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1000" dirty="0"/>
          </a:p>
        </p:txBody>
      </p:sp>
      <p:sp>
        <p:nvSpPr>
          <p:cNvPr id="39" name="q_117"/>
          <p:cNvSpPr/>
          <p:nvPr/>
        </p:nvSpPr>
        <p:spPr>
          <a:xfrm>
            <a:off x="3630168" y="388620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Shall I put your receipt in the bag?</a:t>
            </a:r>
            <a:endParaRPr lang="en-US" sz="1050" dirty="0"/>
          </a:p>
        </p:txBody>
      </p:sp>
      <p:sp>
        <p:nvSpPr>
          <p:cNvPr id="40" name="R7_chip118"/>
          <p:cNvSpPr/>
          <p:nvPr/>
        </p:nvSpPr>
        <p:spPr>
          <a:xfrm>
            <a:off x="5806440" y="388620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</a:t>
            </a:r>
            <a:endParaRPr lang="en-US" sz="1000" dirty="0"/>
          </a:p>
        </p:txBody>
      </p:sp>
      <p:sp>
        <p:nvSpPr>
          <p:cNvPr id="41" name="bd_119"/>
          <p:cNvSpPr/>
          <p:nvPr/>
        </p:nvSpPr>
        <p:spPr>
          <a:xfrm>
            <a:off x="3246120" y="432511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1000" dirty="0"/>
          </a:p>
        </p:txBody>
      </p:sp>
      <p:sp>
        <p:nvSpPr>
          <p:cNvPr id="42" name="q_120"/>
          <p:cNvSpPr/>
          <p:nvPr/>
        </p:nvSpPr>
        <p:spPr>
          <a:xfrm>
            <a:off x="3630168" y="429768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changing rooms are over there.</a:t>
            </a:r>
            <a:endParaRPr lang="en-US" sz="1050" dirty="0"/>
          </a:p>
        </p:txBody>
      </p:sp>
      <p:sp>
        <p:nvSpPr>
          <p:cNvPr id="43" name="R8_chip121"/>
          <p:cNvSpPr/>
          <p:nvPr/>
        </p:nvSpPr>
        <p:spPr>
          <a:xfrm>
            <a:off x="5806440" y="429768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22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2800" dirty="0"/>
          </a:p>
        </p:txBody>
      </p:sp>
      <p:pic>
        <p:nvPicPr>
          <p:cNvPr id="4" name="brY_12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191610" cy="621792"/>
          </a:xfrm>
          <a:prstGeom prst="rect">
            <a:avLst/>
          </a:prstGeom>
        </p:spPr>
      </p:pic>
      <p:sp>
        <p:nvSpPr>
          <p:cNvPr id="5" name="title_124"/>
          <p:cNvSpPr/>
          <p:nvPr/>
        </p:nvSpPr>
        <p:spPr>
          <a:xfrm>
            <a:off x="1261872" y="164592"/>
            <a:ext cx="391729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Too helpful? (adapted)</a:t>
            </a:r>
            <a:endParaRPr lang="en-US" sz="2500" dirty="0"/>
          </a:p>
        </p:txBody>
      </p:sp>
      <p:pic>
        <p:nvPicPr>
          <p:cNvPr id="6" name="brP_12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640580" cy="402336"/>
          </a:xfrm>
          <a:prstGeom prst="rect">
            <a:avLst/>
          </a:prstGeom>
        </p:spPr>
      </p:pic>
      <p:sp>
        <p:nvSpPr>
          <p:cNvPr id="7" name="ins_126"/>
          <p:cNvSpPr/>
          <p:nvPr/>
        </p:nvSpPr>
        <p:spPr>
          <a:xfrm>
            <a:off x="1353312" y="731520"/>
            <a:ext cx="43845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Read. Did the second assistant help Jonathan?</a:t>
            </a:r>
            <a:endParaRPr lang="en-US" sz="1250" dirty="0"/>
          </a:p>
        </p:txBody>
      </p:sp>
      <p:sp>
        <p:nvSpPr>
          <p:cNvPr id="8" name="insIT_127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Leggi. Il secondo commesso ha aiutato Jonathan?</a:t>
            </a:r>
            <a:endParaRPr lang="en-US" sz="950" dirty="0"/>
          </a:p>
        </p:txBody>
      </p:sp>
      <p:sp>
        <p:nvSpPr>
          <p:cNvPr id="9" name="cmd_128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LEGGI</a:t>
            </a:r>
            <a:endParaRPr lang="en-US" sz="1100" dirty="0"/>
          </a:p>
        </p:txBody>
      </p:sp>
      <p:sp>
        <p:nvSpPr>
          <p:cNvPr id="10" name="meta_129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6 min   👤 alone</a:t>
            </a:r>
            <a:endParaRPr lang="en-US" sz="950" dirty="0"/>
          </a:p>
        </p:txBody>
      </p:sp>
      <p:sp>
        <p:nvSpPr>
          <p:cNvPr id="11" name="tag_130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Reading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TPRS · reading</a:t>
            </a:r>
            <a:endParaRPr lang="en-US" sz="850" dirty="0"/>
          </a:p>
        </p:txBody>
      </p:sp>
      <p:pic>
        <p:nvPicPr>
          <p:cNvPr id="12" name="logo_131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132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8B-1 · Reading · When 'happy to help' becomes a problem   ·   📖 SB p.80 · 1b, 1c (full article in the book)</a:t>
            </a:r>
            <a:endParaRPr lang="en-US" sz="800" dirty="0"/>
          </a:p>
        </p:txBody>
      </p:sp>
      <p:sp>
        <p:nvSpPr>
          <p:cNvPr id="14" name="cd_133"/>
          <p:cNvSpPr/>
          <p:nvPr/>
        </p:nvSpPr>
        <p:spPr>
          <a:xfrm>
            <a:off x="320040" y="1417320"/>
            <a:ext cx="5715000" cy="3337560"/>
          </a:xfrm>
          <a:prstGeom prst="roundRect">
            <a:avLst>
              <a:gd name="adj" fmla="val 3836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sh_134"/>
          <p:cNvSpPr/>
          <p:nvPr/>
        </p:nvSpPr>
        <p:spPr>
          <a:xfrm>
            <a:off x="320040" y="1417320"/>
            <a:ext cx="5715000" cy="438912"/>
          </a:xfrm>
          <a:prstGeom prst="rect">
            <a:avLst/>
          </a:prstGeom>
          <a:solidFill>
            <a:srgbClr val="E3F7EA"/>
          </a:solidFill>
          <a:ln/>
        </p:spPr>
        <p:txBody>
          <a:bodyPr wrap="square" lIns="203200" tIns="0" rIns="20320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When 'happy to help' becomes a problem</a:t>
            </a:r>
            <a:endParaRPr lang="en-US" sz="1700" dirty="0"/>
          </a:p>
        </p:txBody>
      </p:sp>
      <p:sp>
        <p:nvSpPr>
          <p:cNvPr id="16" name="ln_135"/>
          <p:cNvSpPr/>
          <p:nvPr/>
        </p:nvSpPr>
        <p:spPr>
          <a:xfrm>
            <a:off x="548640" y="1920240"/>
            <a:ext cx="5349240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Jonathan goes into a shop at King's Cross station to buy a wallet.</a:t>
            </a:r>
            <a:endParaRPr lang="en-US" sz="1150" dirty="0"/>
          </a:p>
        </p:txBody>
      </p:sp>
      <p:sp>
        <p:nvSpPr>
          <p:cNvPr id="17" name="ln_136"/>
          <p:cNvSpPr/>
          <p:nvPr/>
        </p:nvSpPr>
        <p:spPr>
          <a:xfrm>
            <a:off x="548640" y="2385060"/>
            <a:ext cx="5349240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Assistant 1: 'Do you need any help?'  Jonathan: 'I'm just looking, thanks.'</a:t>
            </a:r>
            <a:endParaRPr lang="en-US" sz="1150" dirty="0"/>
          </a:p>
        </p:txBody>
      </p:sp>
      <p:sp>
        <p:nvSpPr>
          <p:cNvPr id="18" name="ln_137"/>
          <p:cNvSpPr/>
          <p:nvPr/>
        </p:nvSpPr>
        <p:spPr>
          <a:xfrm>
            <a:off x="548640" y="2849880"/>
            <a:ext cx="5349240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Then a second assistant arrives: 'Hello, do you need any help? … Are you going anywhere nice?'</a:t>
            </a:r>
            <a:endParaRPr lang="en-US" sz="1150" dirty="0"/>
          </a:p>
        </p:txBody>
      </p:sp>
      <p:sp>
        <p:nvSpPr>
          <p:cNvPr id="19" name="ln_138"/>
          <p:cNvSpPr/>
          <p:nvPr/>
        </p:nvSpPr>
        <p:spPr>
          <a:xfrm>
            <a:off x="548640" y="3314700"/>
            <a:ext cx="5349240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'No. I work near here.' 'Where do you work?' … 'Do you like football?' … 'Are you going to watch the England match?'</a:t>
            </a:r>
            <a:endParaRPr lang="en-US" sz="1150" dirty="0"/>
          </a:p>
        </p:txBody>
      </p:sp>
      <p:sp>
        <p:nvSpPr>
          <p:cNvPr id="20" name="ln_139"/>
          <p:cNvSpPr/>
          <p:nvPr/>
        </p:nvSpPr>
        <p:spPr>
          <a:xfrm>
            <a:off x="548640" y="3779520"/>
            <a:ext cx="5349240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… 'What are you doing after work?' … 'Are you doing anything for the rest of the day?'</a:t>
            </a:r>
            <a:endParaRPr lang="en-US" sz="1150" dirty="0"/>
          </a:p>
        </p:txBody>
      </p:sp>
      <p:sp>
        <p:nvSpPr>
          <p:cNvPr id="21" name="ln_140"/>
          <p:cNvSpPr/>
          <p:nvPr/>
        </p:nvSpPr>
        <p:spPr>
          <a:xfrm>
            <a:off x="548640" y="4244340"/>
            <a:ext cx="5349240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Jonathan runs away – without a wallet. 'His never-ending questions lost him the sale.'</a:t>
            </a:r>
            <a:endParaRPr lang="en-US" sz="1150" dirty="0"/>
          </a:p>
        </p:txBody>
      </p:sp>
      <p:sp>
        <p:nvSpPr>
          <p:cNvPr id="22" name="pf_141"/>
          <p:cNvSpPr/>
          <p:nvPr/>
        </p:nvSpPr>
        <p:spPr>
          <a:xfrm rot="120000">
            <a:off x="6309360" y="1417320"/>
            <a:ext cx="2560320" cy="1508760"/>
          </a:xfrm>
          <a:prstGeom prst="roundRect">
            <a:avLst>
              <a:gd name="adj" fmla="val 1030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3" name="ph_142" descr="/home/claude/lls-course/v2/cache/4a1_public_transport_jpg_594x34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20000">
            <a:off x="6355080" y="1463040"/>
            <a:ext cx="2468880" cy="1417320"/>
          </a:xfrm>
          <a:prstGeom prst="rect">
            <a:avLst/>
          </a:prstGeom>
        </p:spPr>
      </p:pic>
      <p:sp>
        <p:nvSpPr>
          <p:cNvPr id="24" name="cd_143"/>
          <p:cNvSpPr/>
          <p:nvPr/>
        </p:nvSpPr>
        <p:spPr>
          <a:xfrm>
            <a:off x="6263640" y="3794760"/>
            <a:ext cx="2651760" cy="960120"/>
          </a:xfrm>
          <a:prstGeom prst="roundRect">
            <a:avLst>
              <a:gd name="adj" fmla="val 133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5" name="ii_144"/>
          <p:cNvSpPr/>
          <p:nvPr/>
        </p:nvSpPr>
        <p:spPr>
          <a:xfrm>
            <a:off x="6355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26" name="ih_145"/>
          <p:cNvSpPr/>
          <p:nvPr/>
        </p:nvSpPr>
        <p:spPr>
          <a:xfrm>
            <a:off x="6830568" y="3886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</a:t>
            </a:r>
            <a:endParaRPr lang="en-US" sz="1200" dirty="0"/>
          </a:p>
        </p:txBody>
      </p:sp>
      <p:sp>
        <p:nvSpPr>
          <p:cNvPr id="27" name="il_146"/>
          <p:cNvSpPr/>
          <p:nvPr/>
        </p:nvSpPr>
        <p:spPr>
          <a:xfrm>
            <a:off x="6830568" y="4270248"/>
            <a:ext cx="1993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appropriate = right for the situation</a:t>
            </a:r>
            <a:endParaRPr lang="en-US" sz="8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wallet = portafoglio</a:t>
            </a:r>
            <a:endParaRPr lang="en-US" sz="800" dirty="0"/>
          </a:p>
        </p:txBody>
      </p:sp>
    </p:spTree>
  </p:cSld>
  <p:clrMapOvr>
    <a:masterClrMapping/>
  </p:clrMapOvr>
  <p:transition spd="med">
    <p:push dir="l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4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2800" dirty="0"/>
          </a:p>
        </p:txBody>
      </p:sp>
      <p:pic>
        <p:nvPicPr>
          <p:cNvPr id="4" name="brY_14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820717" cy="621792"/>
          </a:xfrm>
          <a:prstGeom prst="rect">
            <a:avLst/>
          </a:prstGeom>
        </p:spPr>
      </p:pic>
      <p:sp>
        <p:nvSpPr>
          <p:cNvPr id="5" name="title_149"/>
          <p:cNvSpPr/>
          <p:nvPr/>
        </p:nvSpPr>
        <p:spPr>
          <a:xfrm>
            <a:off x="1261872" y="164592"/>
            <a:ext cx="454639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Rewind! What did they say?</a:t>
            </a:r>
            <a:endParaRPr lang="en-US" sz="2400" dirty="0"/>
          </a:p>
        </p:txBody>
      </p:sp>
      <p:pic>
        <p:nvPicPr>
          <p:cNvPr id="6" name="brP_15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250692" cy="402336"/>
          </a:xfrm>
          <a:prstGeom prst="rect">
            <a:avLst/>
          </a:prstGeom>
        </p:spPr>
      </p:pic>
      <p:sp>
        <p:nvSpPr>
          <p:cNvPr id="7" name="ins_151"/>
          <p:cNvSpPr/>
          <p:nvPr/>
        </p:nvSpPr>
        <p:spPr>
          <a:xfrm>
            <a:off x="1353312" y="731520"/>
            <a:ext cx="29946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Write the REAL words he said.</a:t>
            </a:r>
            <a:endParaRPr lang="en-US" sz="1250" dirty="0"/>
          </a:p>
        </p:txBody>
      </p:sp>
      <p:sp>
        <p:nvSpPr>
          <p:cNvPr id="8" name="insIT_15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Scrivi le parole ESATTE.</a:t>
            </a:r>
            <a:endParaRPr lang="en-US" sz="950" dirty="0"/>
          </a:p>
        </p:txBody>
      </p:sp>
      <p:sp>
        <p:nvSpPr>
          <p:cNvPr id="9" name="cmd_153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🔍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FIND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TROVA</a:t>
            </a:r>
            <a:endParaRPr lang="en-US" sz="1100" dirty="0"/>
          </a:p>
        </p:txBody>
      </p:sp>
      <p:sp>
        <p:nvSpPr>
          <p:cNvPr id="10" name="cmd_154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✍️ </a:t>
            </a:r>
            <a:pPr indent="0" marL="0">
              <a:buNone/>
            </a:pPr>
            <a:r>
              <a:rPr lang="en-US" sz="120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WRITE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SCRIVI</a:t>
            </a:r>
            <a:endParaRPr lang="en-US" sz="1100" dirty="0"/>
          </a:p>
        </p:txBody>
      </p:sp>
      <p:sp>
        <p:nvSpPr>
          <p:cNvPr id="11" name="meta_155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👥 pairs</a:t>
            </a:r>
            <a:endParaRPr lang="en-US" sz="950" dirty="0"/>
          </a:p>
        </p:txBody>
      </p:sp>
      <p:sp>
        <p:nvSpPr>
          <p:cNvPr id="12" name="tag_156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Controlled practice</a:t>
            </a:r>
            <a:endParaRPr lang="en-US" sz="700" dirty="0"/>
          </a:p>
        </p:txBody>
      </p:sp>
      <p:pic>
        <p:nvPicPr>
          <p:cNvPr id="13" name="logo_15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15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8B-1 · Grammar · noticing   ·   📖 SB p.81 · 2a</a:t>
            </a:r>
            <a:endParaRPr lang="en-US" sz="800" dirty="0"/>
          </a:p>
        </p:txBody>
      </p:sp>
      <p:sp>
        <p:nvSpPr>
          <p:cNvPr id="15" name="cd_159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160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7" name="ih_161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8" name="il_162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asked me if I needed any help. → 'Do you need any help?'</a:t>
            </a:r>
            <a:endParaRPr lang="en-US" sz="1050" dirty="0"/>
          </a:p>
        </p:txBody>
      </p:sp>
      <p:sp>
        <p:nvSpPr>
          <p:cNvPr id="19" name="pf_163"/>
          <p:cNvSpPr/>
          <p:nvPr/>
        </p:nvSpPr>
        <p:spPr>
          <a:xfrm rot="-90000">
            <a:off x="365760" y="2697480"/>
            <a:ext cx="2606040" cy="1965960"/>
          </a:xfrm>
          <a:prstGeom prst="roundRect">
            <a:avLst>
              <a:gd name="adj" fmla="val 79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0" name="ph_164" descr="/home/claude/lls-course/v2/cache/4a1_polite_jpg_605x45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874520"/>
          </a:xfrm>
          <a:prstGeom prst="rect">
            <a:avLst/>
          </a:prstGeom>
        </p:spPr>
      </p:pic>
      <p:sp>
        <p:nvSpPr>
          <p:cNvPr id="21" name="bd_165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2" name="q_166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asked me where I worked.</a:t>
            </a:r>
            <a:endParaRPr lang="en-US" sz="1150" dirty="0"/>
          </a:p>
        </p:txBody>
      </p:sp>
      <p:sp>
        <p:nvSpPr>
          <p:cNvPr id="23" name="R1_chip167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'Where do you work?'</a:t>
            </a:r>
            <a:endParaRPr lang="en-US" sz="1000" dirty="0"/>
          </a:p>
        </p:txBody>
      </p:sp>
      <p:sp>
        <p:nvSpPr>
          <p:cNvPr id="24" name="bd_168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5" name="q_169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said I worked in an office round the corner.</a:t>
            </a:r>
            <a:endParaRPr lang="en-US" sz="1150" dirty="0"/>
          </a:p>
        </p:txBody>
      </p:sp>
      <p:sp>
        <p:nvSpPr>
          <p:cNvPr id="26" name="R2_chip170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'I work in an office round the corner.'</a:t>
            </a:r>
            <a:endParaRPr lang="en-US" sz="1000" dirty="0"/>
          </a:p>
        </p:txBody>
      </p:sp>
      <p:sp>
        <p:nvSpPr>
          <p:cNvPr id="27" name="bd_171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8" name="q_172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asked me if I liked football.</a:t>
            </a:r>
            <a:endParaRPr lang="en-US" sz="1150" dirty="0"/>
          </a:p>
        </p:txBody>
      </p:sp>
      <p:sp>
        <p:nvSpPr>
          <p:cNvPr id="29" name="R3_chip173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'Do you like football?'</a:t>
            </a:r>
            <a:endParaRPr lang="en-US" sz="1000" dirty="0"/>
          </a:p>
        </p:txBody>
      </p:sp>
      <p:sp>
        <p:nvSpPr>
          <p:cNvPr id="30" name="bd_174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1" name="q_175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asked me if I was going to watch the match.</a:t>
            </a:r>
            <a:endParaRPr lang="en-US" sz="1050" dirty="0"/>
          </a:p>
        </p:txBody>
      </p:sp>
      <p:sp>
        <p:nvSpPr>
          <p:cNvPr id="32" name="R4_chip176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'Are you going to watch the England match?'</a:t>
            </a:r>
            <a:endParaRPr lang="en-US" sz="1000" dirty="0"/>
          </a:p>
        </p:txBody>
      </p:sp>
      <p:sp>
        <p:nvSpPr>
          <p:cNvPr id="33" name="bd_177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4" name="q_178"/>
          <p:cNvSpPr/>
          <p:nvPr/>
        </p:nvSpPr>
        <p:spPr>
          <a:xfrm>
            <a:off x="3630168" y="34290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asked me what I was doing after work.</a:t>
            </a:r>
            <a:endParaRPr lang="en-US" sz="1150" dirty="0"/>
          </a:p>
        </p:txBody>
      </p:sp>
      <p:sp>
        <p:nvSpPr>
          <p:cNvPr id="35" name="R5_chip179"/>
          <p:cNvSpPr/>
          <p:nvPr/>
        </p:nvSpPr>
        <p:spPr>
          <a:xfrm>
            <a:off x="5806440" y="342900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'What are you doing after work?'</a:t>
            </a:r>
            <a:endParaRPr lang="en-US" sz="1000" dirty="0"/>
          </a:p>
        </p:txBody>
      </p:sp>
      <p:sp>
        <p:nvSpPr>
          <p:cNvPr id="36" name="bd_180"/>
          <p:cNvSpPr/>
          <p:nvPr/>
        </p:nvSpPr>
        <p:spPr>
          <a:xfrm>
            <a:off x="3246120" y="400507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7" name="q_181"/>
          <p:cNvSpPr/>
          <p:nvPr/>
        </p:nvSpPr>
        <p:spPr>
          <a:xfrm>
            <a:off x="3630168" y="39319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told him I was having dinner with a friend.</a:t>
            </a:r>
            <a:endParaRPr lang="en-US" sz="1150" dirty="0"/>
          </a:p>
        </p:txBody>
      </p:sp>
      <p:sp>
        <p:nvSpPr>
          <p:cNvPr id="38" name="R6_chip182"/>
          <p:cNvSpPr/>
          <p:nvPr/>
        </p:nvSpPr>
        <p:spPr>
          <a:xfrm>
            <a:off x="5806440" y="39319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'I'm having dinner with a friend.'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8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2800" dirty="0"/>
          </a:p>
        </p:txBody>
      </p:sp>
      <p:pic>
        <p:nvPicPr>
          <p:cNvPr id="4" name="brY_18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090672" cy="621792"/>
          </a:xfrm>
          <a:prstGeom prst="rect">
            <a:avLst/>
          </a:prstGeom>
        </p:spPr>
      </p:pic>
      <p:sp>
        <p:nvSpPr>
          <p:cNvPr id="5" name="title_185"/>
          <p:cNvSpPr/>
          <p:nvPr/>
        </p:nvSpPr>
        <p:spPr>
          <a:xfrm>
            <a:off x="1261872" y="164592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Reported speech</a:t>
            </a:r>
            <a:endParaRPr lang="en-US" sz="2500" dirty="0"/>
          </a:p>
        </p:txBody>
      </p:sp>
      <p:pic>
        <p:nvPicPr>
          <p:cNvPr id="6" name="brP_18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2903220" cy="402336"/>
          </a:xfrm>
          <a:prstGeom prst="rect">
            <a:avLst/>
          </a:prstGeom>
        </p:spPr>
      </p:pic>
      <p:sp>
        <p:nvSpPr>
          <p:cNvPr id="7" name="ins_187"/>
          <p:cNvSpPr/>
          <p:nvPr/>
        </p:nvSpPr>
        <p:spPr>
          <a:xfrm>
            <a:off x="1353312" y="731520"/>
            <a:ext cx="26471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does the verb change?</a:t>
            </a:r>
            <a:endParaRPr lang="en-US" sz="1250" dirty="0"/>
          </a:p>
        </p:txBody>
      </p:sp>
      <p:sp>
        <p:nvSpPr>
          <p:cNvPr id="8" name="insIT_188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Come cambia il verbo?</a:t>
            </a:r>
            <a:endParaRPr lang="en-US" sz="950" dirty="0"/>
          </a:p>
        </p:txBody>
      </p:sp>
      <p:sp>
        <p:nvSpPr>
          <p:cNvPr id="9" name="cmd_189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LOOK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GUARDA</a:t>
            </a:r>
            <a:endParaRPr lang="en-US" sz="1100" dirty="0"/>
          </a:p>
        </p:txBody>
      </p:sp>
      <p:sp>
        <p:nvSpPr>
          <p:cNvPr id="10" name="meta_190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🙋 whole class</a:t>
            </a:r>
            <a:endParaRPr lang="en-US" sz="950" dirty="0"/>
          </a:p>
        </p:txBody>
      </p:sp>
      <p:sp>
        <p:nvSpPr>
          <p:cNvPr id="11" name="tag_191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Guided discovery</a:t>
            </a:r>
            <a:endParaRPr lang="en-US" sz="700" dirty="0"/>
          </a:p>
        </p:txBody>
      </p:sp>
      <p:pic>
        <p:nvPicPr>
          <p:cNvPr id="12" name="logo_192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193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8B-1 · Grammar · reported speech   ·   📖 Grammar Bank 8B p.147 · audio 8.13, 8.14</a:t>
            </a:r>
            <a:endParaRPr lang="en-US" sz="800" dirty="0"/>
          </a:p>
        </p:txBody>
      </p:sp>
      <p:sp>
        <p:nvSpPr>
          <p:cNvPr id="14" name="aw_194"/>
          <p:cNvSpPr/>
          <p:nvPr/>
        </p:nvSpPr>
        <p:spPr>
          <a:xfrm>
            <a:off x="0" y="42062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2410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Play it from the book audio</a:t>
            </a:r>
            <a:endParaRPr lang="en-US" sz="900" dirty="0"/>
          </a:p>
        </p:txBody>
      </p:sp>
      <p:sp>
        <p:nvSpPr>
          <p:cNvPr id="15" name="cd_195"/>
          <p:cNvSpPr/>
          <p:nvPr/>
        </p:nvSpPr>
        <p:spPr>
          <a:xfrm>
            <a:off x="320040" y="1417320"/>
            <a:ext cx="2758440" cy="3017520"/>
          </a:xfrm>
          <a:prstGeom prst="roundRect">
            <a:avLst>
              <a:gd name="adj" fmla="val 4641"/>
            </a:avLst>
          </a:prstGeom>
          <a:solidFill>
            <a:srgbClr val="FFFFFF"/>
          </a:solidFill>
          <a:ln w="2540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rh_196"/>
          <p:cNvSpPr/>
          <p:nvPr/>
        </p:nvSpPr>
        <p:spPr>
          <a:xfrm>
            <a:off x="429768" y="1508760"/>
            <a:ext cx="2538984" cy="365760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Sentences</a:t>
            </a:r>
            <a:endParaRPr lang="en-US" sz="1250" dirty="0"/>
          </a:p>
        </p:txBody>
      </p:sp>
      <p:sp>
        <p:nvSpPr>
          <p:cNvPr id="17" name="pf_197"/>
          <p:cNvSpPr/>
          <p:nvPr/>
        </p:nvSpPr>
        <p:spPr>
          <a:xfrm>
            <a:off x="429768" y="1938528"/>
            <a:ext cx="25389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8" name="ph_198" descr="/home/claude/lls-course/v2/cache/3b1_jokes_jpg_589x20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488" y="1984248"/>
            <a:ext cx="2447544" cy="868680"/>
          </a:xfrm>
          <a:prstGeom prst="rect">
            <a:avLst/>
          </a:prstGeom>
        </p:spPr>
      </p:pic>
      <p:sp>
        <p:nvSpPr>
          <p:cNvPr id="19" name="ru_199"/>
          <p:cNvSpPr/>
          <p:nvPr/>
        </p:nvSpPr>
        <p:spPr>
          <a:xfrm>
            <a:off x="411480" y="2926080"/>
            <a:ext cx="2575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say (that) · tell + person</a:t>
            </a:r>
            <a:endParaRPr lang="en-US" sz="1050" dirty="0"/>
          </a:p>
        </p:txBody>
      </p:sp>
      <p:sp>
        <p:nvSpPr>
          <p:cNvPr id="20" name="R1_rx200"/>
          <p:cNvSpPr/>
          <p:nvPr/>
        </p:nvSpPr>
        <p:spPr>
          <a:xfrm>
            <a:off x="411480" y="3319272"/>
            <a:ext cx="2575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'I like shopping.' → She said she liked shopping.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'I've forgotten my keys.' → He told me he had forgotten his keys.</a:t>
            </a:r>
            <a:endParaRPr lang="en-US" sz="1050" dirty="0"/>
          </a:p>
        </p:txBody>
      </p:sp>
      <p:sp>
        <p:nvSpPr>
          <p:cNvPr id="21" name="R1_ri201"/>
          <p:cNvSpPr/>
          <p:nvPr/>
        </p:nvSpPr>
        <p:spPr>
          <a:xfrm>
            <a:off x="411480" y="4087368"/>
            <a:ext cx="2575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 detto che…</a:t>
            </a:r>
            <a:endParaRPr lang="en-US" sz="900" dirty="0"/>
          </a:p>
        </p:txBody>
      </p:sp>
      <p:sp>
        <p:nvSpPr>
          <p:cNvPr id="22" name="cd_202"/>
          <p:cNvSpPr/>
          <p:nvPr/>
        </p:nvSpPr>
        <p:spPr>
          <a:xfrm>
            <a:off x="3215640" y="1417320"/>
            <a:ext cx="2758440" cy="3017520"/>
          </a:xfrm>
          <a:prstGeom prst="roundRect">
            <a:avLst>
              <a:gd name="adj" fmla="val 4641"/>
            </a:avLst>
          </a:prstGeom>
          <a:solidFill>
            <a:srgbClr val="FFFFFF"/>
          </a:solidFill>
          <a:ln w="2540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3" name="rh_203"/>
          <p:cNvSpPr/>
          <p:nvPr/>
        </p:nvSpPr>
        <p:spPr>
          <a:xfrm>
            <a:off x="3325368" y="1508760"/>
            <a:ext cx="2538984" cy="365760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Tense goes back</a:t>
            </a:r>
            <a:endParaRPr lang="en-US" sz="1250" dirty="0"/>
          </a:p>
        </p:txBody>
      </p:sp>
      <p:sp>
        <p:nvSpPr>
          <p:cNvPr id="24" name="pf_204"/>
          <p:cNvSpPr/>
          <p:nvPr/>
        </p:nvSpPr>
        <p:spPr>
          <a:xfrm>
            <a:off x="3325368" y="1938528"/>
            <a:ext cx="25389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5" name="ph_205" descr="/home/claude/lls-course/v2/cache/2a1_coins_jpg_589x209_31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71088" y="1984248"/>
            <a:ext cx="2447544" cy="868680"/>
          </a:xfrm>
          <a:prstGeom prst="rect">
            <a:avLst/>
          </a:prstGeom>
        </p:spPr>
      </p:pic>
      <p:sp>
        <p:nvSpPr>
          <p:cNvPr id="26" name="ru_206"/>
          <p:cNvSpPr/>
          <p:nvPr/>
        </p:nvSpPr>
        <p:spPr>
          <a:xfrm>
            <a:off x="3307080" y="2926080"/>
            <a:ext cx="2575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one step into the past</a:t>
            </a:r>
            <a:endParaRPr lang="en-US" sz="1050" dirty="0"/>
          </a:p>
        </p:txBody>
      </p:sp>
      <p:sp>
        <p:nvSpPr>
          <p:cNvPr id="27" name="R2_rx207"/>
          <p:cNvSpPr/>
          <p:nvPr/>
        </p:nvSpPr>
        <p:spPr>
          <a:xfrm>
            <a:off x="3307080" y="3319272"/>
            <a:ext cx="2575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am / is → was · will → would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→ could · must → had to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past / pres. perfect → had + p.p.</a:t>
            </a:r>
            <a:endParaRPr lang="en-US" sz="1050" dirty="0"/>
          </a:p>
        </p:txBody>
      </p:sp>
      <p:sp>
        <p:nvSpPr>
          <p:cNvPr id="28" name="R2_ri208"/>
          <p:cNvSpPr/>
          <p:nvPr/>
        </p:nvSpPr>
        <p:spPr>
          <a:xfrm>
            <a:off x="3307080" y="4087368"/>
            <a:ext cx="2575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tomorrow → the next day</a:t>
            </a:r>
            <a:endParaRPr lang="en-US" sz="900" dirty="0"/>
          </a:p>
        </p:txBody>
      </p:sp>
      <p:sp>
        <p:nvSpPr>
          <p:cNvPr id="29" name="cd_209"/>
          <p:cNvSpPr/>
          <p:nvPr/>
        </p:nvSpPr>
        <p:spPr>
          <a:xfrm>
            <a:off x="6111240" y="1417320"/>
            <a:ext cx="2758440" cy="3017520"/>
          </a:xfrm>
          <a:prstGeom prst="roundRect">
            <a:avLst>
              <a:gd name="adj" fmla="val 4641"/>
            </a:avLst>
          </a:prstGeom>
          <a:solidFill>
            <a:srgbClr val="FFFFFF"/>
          </a:solidFill>
          <a:ln w="2540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0" name="rh_210"/>
          <p:cNvSpPr/>
          <p:nvPr/>
        </p:nvSpPr>
        <p:spPr>
          <a:xfrm>
            <a:off x="6220968" y="1508760"/>
            <a:ext cx="2538984" cy="365760"/>
          </a:xfrm>
          <a:prstGeom prst="roundRect">
            <a:avLst>
              <a:gd name="adj" fmla="val 50000"/>
            </a:avLst>
          </a:prstGeom>
          <a:solidFill>
            <a:srgbClr val="2EB872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Questions</a:t>
            </a:r>
            <a:endParaRPr lang="en-US" sz="1250" dirty="0"/>
          </a:p>
        </p:txBody>
      </p:sp>
      <p:sp>
        <p:nvSpPr>
          <p:cNvPr id="31" name="pf_211"/>
          <p:cNvSpPr/>
          <p:nvPr/>
        </p:nvSpPr>
        <p:spPr>
          <a:xfrm>
            <a:off x="6220968" y="1938528"/>
            <a:ext cx="25389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32" name="ph_212" descr="/home/claude/lls-course/v2/cache/4a1_queue_jpg_589x209_31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66688" y="1984248"/>
            <a:ext cx="2447544" cy="868680"/>
          </a:xfrm>
          <a:prstGeom prst="rect">
            <a:avLst/>
          </a:prstGeom>
        </p:spPr>
      </p:pic>
      <p:sp>
        <p:nvSpPr>
          <p:cNvPr id="33" name="ru_213"/>
          <p:cNvSpPr/>
          <p:nvPr/>
        </p:nvSpPr>
        <p:spPr>
          <a:xfrm>
            <a:off x="6202680" y="2926080"/>
            <a:ext cx="2575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no do / did · normal word order</a:t>
            </a:r>
            <a:endParaRPr lang="en-US" sz="1050" dirty="0"/>
          </a:p>
        </p:txBody>
      </p:sp>
      <p:sp>
        <p:nvSpPr>
          <p:cNvPr id="34" name="R3_rx214"/>
          <p:cNvSpPr/>
          <p:nvPr/>
        </p:nvSpPr>
        <p:spPr>
          <a:xfrm>
            <a:off x="6202680" y="3319272"/>
            <a:ext cx="2575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'Where do you live?' → She asked me where I lived.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'Are you married?' → She asked him if he was married.</a:t>
            </a:r>
            <a:endParaRPr lang="en-US" sz="1050" dirty="0"/>
          </a:p>
        </p:txBody>
      </p:sp>
      <p:sp>
        <p:nvSpPr>
          <p:cNvPr id="35" name="R3_ri215"/>
          <p:cNvSpPr/>
          <p:nvPr/>
        </p:nvSpPr>
        <p:spPr>
          <a:xfrm>
            <a:off x="6202680" y="4087368"/>
            <a:ext cx="2575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yes/no → if / whether</a:t>
            </a:r>
            <a:endParaRPr lang="en-US" sz="900" dirty="0"/>
          </a:p>
        </p:txBody>
      </p:sp>
      <p:sp>
        <p:nvSpPr>
          <p:cNvPr id="36" name="R4_wc216"/>
          <p:cNvSpPr/>
          <p:nvPr/>
        </p:nvSpPr>
        <p:spPr>
          <a:xfrm>
            <a:off x="320040" y="4544568"/>
            <a:ext cx="8412480" cy="329184"/>
          </a:xfrm>
          <a:prstGeom prst="roundRect">
            <a:avLst>
              <a:gd name="adj" fmla="val 38889"/>
            </a:avLst>
          </a:prstGeom>
          <a:solidFill>
            <a:srgbClr val="FFE3EE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7" name="R4_w217"/>
          <p:cNvSpPr/>
          <p:nvPr/>
        </p:nvSpPr>
        <p:spPr>
          <a:xfrm>
            <a:off x="457200" y="4544568"/>
            <a:ext cx="8183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✗ He said me → ✓ He told me / He said   ✗ She asked me where did I live → ✓ where I lived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1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2800" dirty="0"/>
          </a:p>
        </p:txBody>
      </p:sp>
      <p:pic>
        <p:nvPicPr>
          <p:cNvPr id="4" name="brY_21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719779" cy="621792"/>
          </a:xfrm>
          <a:prstGeom prst="rect">
            <a:avLst/>
          </a:prstGeom>
        </p:spPr>
      </p:pic>
      <p:sp>
        <p:nvSpPr>
          <p:cNvPr id="5" name="title_220"/>
          <p:cNvSpPr/>
          <p:nvPr/>
        </p:nvSpPr>
        <p:spPr>
          <a:xfrm>
            <a:off x="1261872" y="164592"/>
            <a:ext cx="34454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Report it correctly</a:t>
            </a:r>
            <a:endParaRPr lang="en-US" sz="2500" dirty="0"/>
          </a:p>
        </p:txBody>
      </p:sp>
      <p:pic>
        <p:nvPicPr>
          <p:cNvPr id="6" name="brP_22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2642616" cy="402336"/>
          </a:xfrm>
          <a:prstGeom prst="rect">
            <a:avLst/>
          </a:prstGeom>
        </p:spPr>
      </p:pic>
      <p:sp>
        <p:nvSpPr>
          <p:cNvPr id="7" name="ins_222"/>
          <p:cNvSpPr/>
          <p:nvPr/>
        </p:nvSpPr>
        <p:spPr>
          <a:xfrm>
            <a:off x="1353312" y="731520"/>
            <a:ext cx="23865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Report it! Then check.</a:t>
            </a:r>
            <a:endParaRPr lang="en-US" sz="1250" dirty="0"/>
          </a:p>
        </p:txBody>
      </p:sp>
      <p:sp>
        <p:nvSpPr>
          <p:cNvPr id="8" name="insIT_223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Riportalo! Poi controlla.</a:t>
            </a:r>
            <a:endParaRPr lang="en-US" sz="950" dirty="0"/>
          </a:p>
        </p:txBody>
      </p:sp>
      <p:sp>
        <p:nvSpPr>
          <p:cNvPr id="9" name="cmd_224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✍️ </a:t>
            </a:r>
            <a:pPr indent="0" marL="0">
              <a:buNone/>
            </a:pPr>
            <a:r>
              <a:rPr lang="en-US" sz="120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WRITE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SCRIVI</a:t>
            </a:r>
            <a:endParaRPr lang="en-US" sz="1100" dirty="0"/>
          </a:p>
        </p:txBody>
      </p:sp>
      <p:sp>
        <p:nvSpPr>
          <p:cNvPr id="10" name="meta_225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6 min   👤 alone</a:t>
            </a:r>
            <a:endParaRPr lang="en-US" sz="950" dirty="0"/>
          </a:p>
        </p:txBody>
      </p:sp>
      <p:sp>
        <p:nvSpPr>
          <p:cNvPr id="11" name="tag_226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Controlled practice</a:t>
            </a:r>
            <a:endParaRPr lang="en-US" sz="700" dirty="0"/>
          </a:p>
        </p:txBody>
      </p:sp>
      <p:pic>
        <p:nvPicPr>
          <p:cNvPr id="12" name="logo_22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22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8B-1 · Grammar · practice   ·   📖 Grammar Bank 8B p.147 · a 2–4, b 1–3</a:t>
            </a:r>
            <a:endParaRPr lang="en-US" sz="800" dirty="0"/>
          </a:p>
        </p:txBody>
      </p:sp>
      <p:sp>
        <p:nvSpPr>
          <p:cNvPr id="14" name="cd_229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230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6" name="ih_231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7" name="il_232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'I'm selling all my books.' → Tim said he was selling all his books.</a:t>
            </a:r>
            <a:endParaRPr lang="en-US" sz="1050" dirty="0"/>
          </a:p>
        </p:txBody>
      </p:sp>
      <p:sp>
        <p:nvSpPr>
          <p:cNvPr id="18" name="pf_233"/>
          <p:cNvSpPr/>
          <p:nvPr/>
        </p:nvSpPr>
        <p:spPr>
          <a:xfrm rot="-90000">
            <a:off x="365760" y="2697480"/>
            <a:ext cx="2606040" cy="1965960"/>
          </a:xfrm>
          <a:prstGeom prst="roundRect">
            <a:avLst>
              <a:gd name="adj" fmla="val 79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9" name="ph_234" descr="/home/claude/lls-course/v2/cache/4a1_library_jpg_605x45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874520"/>
          </a:xfrm>
          <a:prstGeom prst="rect">
            <a:avLst/>
          </a:prstGeom>
        </p:spPr>
      </p:pic>
      <p:sp>
        <p:nvSpPr>
          <p:cNvPr id="20" name="bd_235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1" name="q_236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'I've booked the flights.' → Emma told me she…</a:t>
            </a:r>
            <a:endParaRPr lang="en-US" sz="1150" dirty="0"/>
          </a:p>
        </p:txBody>
      </p:sp>
      <p:sp>
        <p:nvSpPr>
          <p:cNvPr id="22" name="R1_chip237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had booked the flights</a:t>
            </a:r>
            <a:endParaRPr lang="en-US" sz="1000" dirty="0"/>
          </a:p>
        </p:txBody>
      </p:sp>
      <p:sp>
        <p:nvSpPr>
          <p:cNvPr id="23" name="bd_238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4" name="q_239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'Your new dress doesn't suit you.' → My mum told me…</a:t>
            </a:r>
            <a:endParaRPr lang="en-US" sz="950" dirty="0"/>
          </a:p>
        </p:txBody>
      </p:sp>
      <p:sp>
        <p:nvSpPr>
          <p:cNvPr id="25" name="R2_chip240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my new dress didn't suit me</a:t>
            </a:r>
            <a:endParaRPr lang="en-US" sz="1000" dirty="0"/>
          </a:p>
        </p:txBody>
      </p:sp>
      <p:sp>
        <p:nvSpPr>
          <p:cNvPr id="26" name="bd_241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7" name="q_242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'I might not be able to go.' → Matt said he…</a:t>
            </a:r>
            <a:endParaRPr lang="en-US" sz="1150" dirty="0"/>
          </a:p>
        </p:txBody>
      </p:sp>
      <p:sp>
        <p:nvSpPr>
          <p:cNvPr id="28" name="R3_chip243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might not be able to go</a:t>
            </a:r>
            <a:endParaRPr lang="en-US" sz="1000" dirty="0"/>
          </a:p>
        </p:txBody>
      </p:sp>
      <p:sp>
        <p:nvSpPr>
          <p:cNvPr id="29" name="bd_244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q_245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'When are you leaving?' → My parents asked me…</a:t>
            </a:r>
            <a:endParaRPr lang="en-US" sz="1050" dirty="0"/>
          </a:p>
        </p:txBody>
      </p:sp>
      <p:sp>
        <p:nvSpPr>
          <p:cNvPr id="31" name="R4_chip246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when I was leaving</a:t>
            </a:r>
            <a:endParaRPr lang="en-US" sz="1000" dirty="0"/>
          </a:p>
        </p:txBody>
      </p:sp>
      <p:sp>
        <p:nvSpPr>
          <p:cNvPr id="32" name="bd_247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q_248"/>
          <p:cNvSpPr/>
          <p:nvPr/>
        </p:nvSpPr>
        <p:spPr>
          <a:xfrm>
            <a:off x="3630168" y="34290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'Have you ever been married?' → She asked him…</a:t>
            </a:r>
            <a:endParaRPr lang="en-US" sz="900" dirty="0"/>
          </a:p>
        </p:txBody>
      </p:sp>
      <p:sp>
        <p:nvSpPr>
          <p:cNvPr id="34" name="R5_chip249"/>
          <p:cNvSpPr/>
          <p:nvPr/>
        </p:nvSpPr>
        <p:spPr>
          <a:xfrm>
            <a:off x="5806440" y="342900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if / whether he had ever been married</a:t>
            </a:r>
            <a:endParaRPr lang="en-US" sz="1000" dirty="0"/>
          </a:p>
        </p:txBody>
      </p:sp>
      <p:sp>
        <p:nvSpPr>
          <p:cNvPr id="35" name="bd_250"/>
          <p:cNvSpPr/>
          <p:nvPr/>
        </p:nvSpPr>
        <p:spPr>
          <a:xfrm>
            <a:off x="3246120" y="400507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6" name="q_251"/>
          <p:cNvSpPr/>
          <p:nvPr/>
        </p:nvSpPr>
        <p:spPr>
          <a:xfrm>
            <a:off x="3630168" y="39319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'Will you be home early?' → Anna asked Robert…</a:t>
            </a:r>
            <a:endParaRPr lang="en-US" sz="1100" dirty="0"/>
          </a:p>
        </p:txBody>
      </p:sp>
      <p:sp>
        <p:nvSpPr>
          <p:cNvPr id="37" name="R6_chip252"/>
          <p:cNvSpPr/>
          <p:nvPr/>
        </p:nvSpPr>
        <p:spPr>
          <a:xfrm>
            <a:off x="5806440" y="39319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if / whether he would be home early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5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9</a:t>
            </a:r>
            <a:endParaRPr lang="en-US" sz="2800" dirty="0"/>
          </a:p>
        </p:txBody>
      </p:sp>
      <p:pic>
        <p:nvPicPr>
          <p:cNvPr id="4" name="brY_25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776118" cy="621792"/>
          </a:xfrm>
          <a:prstGeom prst="rect">
            <a:avLst/>
          </a:prstGeom>
        </p:spPr>
      </p:pic>
      <p:sp>
        <p:nvSpPr>
          <p:cNvPr id="5" name="title_255"/>
          <p:cNvSpPr/>
          <p:nvPr/>
        </p:nvSpPr>
        <p:spPr>
          <a:xfrm>
            <a:off x="1261872" y="164592"/>
            <a:ext cx="25017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He asked her…</a:t>
            </a:r>
            <a:endParaRPr lang="en-US" sz="2500" dirty="0"/>
          </a:p>
        </p:txBody>
      </p:sp>
      <p:pic>
        <p:nvPicPr>
          <p:cNvPr id="6" name="brP_25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901184" cy="402336"/>
          </a:xfrm>
          <a:prstGeom prst="rect">
            <a:avLst/>
          </a:prstGeom>
        </p:spPr>
      </p:pic>
      <p:sp>
        <p:nvSpPr>
          <p:cNvPr id="7" name="ins_257"/>
          <p:cNvSpPr/>
          <p:nvPr/>
        </p:nvSpPr>
        <p:spPr>
          <a:xfrm>
            <a:off x="1353312" y="731520"/>
            <a:ext cx="46451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Listen. Report the question before the narrator!</a:t>
            </a:r>
            <a:endParaRPr lang="en-US" sz="1250" dirty="0"/>
          </a:p>
        </p:txBody>
      </p:sp>
      <p:sp>
        <p:nvSpPr>
          <p:cNvPr id="8" name="insIT_258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Ascolta. Riporta la domanda prima del narratore!</a:t>
            </a:r>
            <a:endParaRPr lang="en-US" sz="950" dirty="0"/>
          </a:p>
        </p:txBody>
      </p:sp>
      <p:sp>
        <p:nvSpPr>
          <p:cNvPr id="9" name="cmd_259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100" dirty="0"/>
          </a:p>
        </p:txBody>
      </p:sp>
      <p:sp>
        <p:nvSpPr>
          <p:cNvPr id="10" name="cmd_260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🔊 </a:t>
            </a:r>
            <a:pPr indent="0" marL="0">
              <a:buNone/>
            </a:pPr>
            <a:r>
              <a:rPr lang="en-US" sz="120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SAY IT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PRONUNCIA</a:t>
            </a:r>
            <a:endParaRPr lang="en-US" sz="1100" dirty="0"/>
          </a:p>
        </p:txBody>
      </p:sp>
      <p:sp>
        <p:nvSpPr>
          <p:cNvPr id="11" name="meta_261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🙋 whole class</a:t>
            </a:r>
            <a:endParaRPr lang="en-US" sz="950" dirty="0"/>
          </a:p>
        </p:txBody>
      </p:sp>
      <p:sp>
        <p:nvSpPr>
          <p:cNvPr id="12" name="tag_262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Listening for detail</a:t>
            </a:r>
            <a:endParaRPr lang="en-US" sz="700" dirty="0"/>
          </a:p>
        </p:txBody>
      </p:sp>
      <p:pic>
        <p:nvPicPr>
          <p:cNvPr id="13" name="logo_263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264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8B-1 · Grammar · oral practice   ·   📖 SB p.81 · 2c · audio 8.15</a:t>
            </a:r>
            <a:endParaRPr lang="en-US" sz="800" dirty="0"/>
          </a:p>
        </p:txBody>
      </p:sp>
      <p:sp>
        <p:nvSpPr>
          <p:cNvPr id="15" name="ap_265"/>
          <p:cNvSpPr/>
          <p:nvPr/>
        </p:nvSpPr>
        <p:spPr>
          <a:xfrm>
            <a:off x="365760" y="141732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8.15  ·  pause after each question</a:t>
            </a:r>
            <a:endParaRPr lang="en-US" sz="1100" dirty="0"/>
          </a:p>
        </p:txBody>
      </p:sp>
      <p:sp>
        <p:nvSpPr>
          <p:cNvPr id="16" name="aw_266"/>
          <p:cNvSpPr/>
          <p:nvPr/>
        </p:nvSpPr>
        <p:spPr>
          <a:xfrm>
            <a:off x="365760" y="1837944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2410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Play it from the book audio</a:t>
            </a:r>
            <a:endParaRPr lang="en-US" sz="900" dirty="0"/>
          </a:p>
        </p:txBody>
      </p:sp>
      <p:sp>
        <p:nvSpPr>
          <p:cNvPr id="17" name="pf_267"/>
          <p:cNvSpPr/>
          <p:nvPr/>
        </p:nvSpPr>
        <p:spPr>
          <a:xfrm rot="-90000">
            <a:off x="411480" y="2057400"/>
            <a:ext cx="2697480" cy="1783080"/>
          </a:xfrm>
          <a:prstGeom prst="roundRect">
            <a:avLst>
              <a:gd name="adj" fmla="val 87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8" name="ph_268" descr="/home/claude/lls-course/v2/cache/2a1_waste_jpg_627x407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57200" y="2103120"/>
            <a:ext cx="2606040" cy="1691640"/>
          </a:xfrm>
          <a:prstGeom prst="rect">
            <a:avLst/>
          </a:prstGeom>
        </p:spPr>
      </p:pic>
      <p:sp>
        <p:nvSpPr>
          <p:cNvPr id="19" name="cd_269"/>
          <p:cNvSpPr/>
          <p:nvPr/>
        </p:nvSpPr>
        <p:spPr>
          <a:xfrm>
            <a:off x="320040" y="4023360"/>
            <a:ext cx="2788920" cy="731520"/>
          </a:xfrm>
          <a:prstGeom prst="roundRect">
            <a:avLst>
              <a:gd name="adj" fmla="val 17500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0" name="ii_270"/>
          <p:cNvSpPr/>
          <p:nvPr/>
        </p:nvSpPr>
        <p:spPr>
          <a:xfrm>
            <a:off x="411480" y="4096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21" name="ih_271"/>
          <p:cNvSpPr/>
          <p:nvPr/>
        </p:nvSpPr>
        <p:spPr>
          <a:xfrm>
            <a:off x="886968" y="41148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Guess first, then listen!</a:t>
            </a:r>
            <a:endParaRPr lang="en-US" sz="1200" dirty="0"/>
          </a:p>
        </p:txBody>
      </p:sp>
      <p:sp>
        <p:nvSpPr>
          <p:cNvPr id="22" name="il_272"/>
          <p:cNvSpPr/>
          <p:nvPr/>
        </p:nvSpPr>
        <p:spPr>
          <a:xfrm>
            <a:off x="886968" y="4498848"/>
            <a:ext cx="2130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</p:txBody>
      </p:sp>
      <p:sp>
        <p:nvSpPr>
          <p:cNvPr id="23" name="gq_273"/>
          <p:cNvSpPr/>
          <p:nvPr/>
        </p:nvSpPr>
        <p:spPr>
          <a:xfrm>
            <a:off x="3383280" y="1417320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'Where do you live?'</a:t>
            </a:r>
            <a:endParaRPr lang="en-US" sz="1200" dirty="0"/>
          </a:p>
        </p:txBody>
      </p:sp>
      <p:sp>
        <p:nvSpPr>
          <p:cNvPr id="24" name="R1_chip274"/>
          <p:cNvSpPr/>
          <p:nvPr/>
        </p:nvSpPr>
        <p:spPr>
          <a:xfrm>
            <a:off x="6812280" y="1417320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asked her where she lived.</a:t>
            </a:r>
            <a:endParaRPr lang="en-US" sz="1200" dirty="0"/>
          </a:p>
        </p:txBody>
      </p:sp>
      <p:sp>
        <p:nvSpPr>
          <p:cNvPr id="25" name="gq_275"/>
          <p:cNvSpPr/>
          <p:nvPr/>
        </p:nvSpPr>
        <p:spPr>
          <a:xfrm>
            <a:off x="3383280" y="1938528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'What are you doing in the evening?'</a:t>
            </a:r>
            <a:endParaRPr lang="en-US" sz="1200" dirty="0"/>
          </a:p>
        </p:txBody>
      </p:sp>
      <p:sp>
        <p:nvSpPr>
          <p:cNvPr id="26" name="R2_chip276"/>
          <p:cNvSpPr/>
          <p:nvPr/>
        </p:nvSpPr>
        <p:spPr>
          <a:xfrm>
            <a:off x="6812280" y="1938528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asked him what he was doing in the evening.</a:t>
            </a:r>
            <a:endParaRPr lang="en-US" sz="1000" dirty="0"/>
          </a:p>
        </p:txBody>
      </p:sp>
      <p:sp>
        <p:nvSpPr>
          <p:cNvPr id="27" name="gq_277"/>
          <p:cNvSpPr/>
          <p:nvPr/>
        </p:nvSpPr>
        <p:spPr>
          <a:xfrm>
            <a:off x="3383280" y="2459736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'Will you be at home at eight?'</a:t>
            </a:r>
            <a:endParaRPr lang="en-US" sz="1200" dirty="0"/>
          </a:p>
        </p:txBody>
      </p:sp>
      <p:sp>
        <p:nvSpPr>
          <p:cNvPr id="28" name="R3_chip278"/>
          <p:cNvSpPr/>
          <p:nvPr/>
        </p:nvSpPr>
        <p:spPr>
          <a:xfrm>
            <a:off x="6812280" y="2459736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asked if she would be at home at eight.</a:t>
            </a:r>
            <a:endParaRPr lang="en-US" sz="1200" dirty="0"/>
          </a:p>
        </p:txBody>
      </p:sp>
      <p:sp>
        <p:nvSpPr>
          <p:cNvPr id="29" name="gq_279"/>
          <p:cNvSpPr/>
          <p:nvPr/>
        </p:nvSpPr>
        <p:spPr>
          <a:xfrm>
            <a:off x="3383280" y="2980944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'Where did you buy your bag?'</a:t>
            </a:r>
            <a:endParaRPr lang="en-US" sz="1200" dirty="0"/>
          </a:p>
        </p:txBody>
      </p:sp>
      <p:sp>
        <p:nvSpPr>
          <p:cNvPr id="30" name="R4_chip280"/>
          <p:cNvSpPr/>
          <p:nvPr/>
        </p:nvSpPr>
        <p:spPr>
          <a:xfrm>
            <a:off x="6812280" y="2980944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asked her where she'd bought her bag.</a:t>
            </a:r>
            <a:endParaRPr lang="en-US" sz="1200" dirty="0"/>
          </a:p>
        </p:txBody>
      </p:sp>
      <p:sp>
        <p:nvSpPr>
          <p:cNvPr id="31" name="gq_281"/>
          <p:cNvSpPr/>
          <p:nvPr/>
        </p:nvSpPr>
        <p:spPr>
          <a:xfrm>
            <a:off x="3383280" y="3502152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'Have you seen the new Bond film?'</a:t>
            </a:r>
            <a:endParaRPr lang="en-US" sz="1200" dirty="0"/>
          </a:p>
        </p:txBody>
      </p:sp>
      <p:sp>
        <p:nvSpPr>
          <p:cNvPr id="32" name="R5_chip282"/>
          <p:cNvSpPr/>
          <p:nvPr/>
        </p:nvSpPr>
        <p:spPr>
          <a:xfrm>
            <a:off x="6812280" y="3502152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asked him if he'd seen it.</a:t>
            </a:r>
            <a:endParaRPr lang="en-US" sz="1200" dirty="0"/>
          </a:p>
        </p:txBody>
      </p:sp>
      <p:sp>
        <p:nvSpPr>
          <p:cNvPr id="33" name="gq_283"/>
          <p:cNvSpPr/>
          <p:nvPr/>
        </p:nvSpPr>
        <p:spPr>
          <a:xfrm>
            <a:off x="3383280" y="4023360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'Can I try on the jacket?'</a:t>
            </a:r>
            <a:endParaRPr lang="en-US" sz="1200" dirty="0"/>
          </a:p>
        </p:txBody>
      </p:sp>
      <p:sp>
        <p:nvSpPr>
          <p:cNvPr id="34" name="R6_chip284"/>
          <p:cNvSpPr/>
          <p:nvPr/>
        </p:nvSpPr>
        <p:spPr>
          <a:xfrm>
            <a:off x="6812280" y="4023360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asked her if he could try it on.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85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10</a:t>
            </a:r>
            <a:endParaRPr lang="en-US" sz="2200" dirty="0"/>
          </a:p>
        </p:txBody>
      </p:sp>
      <p:pic>
        <p:nvPicPr>
          <p:cNvPr id="4" name="brY_286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191610" cy="621792"/>
          </a:xfrm>
          <a:prstGeom prst="rect">
            <a:avLst/>
          </a:prstGeom>
        </p:spPr>
      </p:pic>
      <p:sp>
        <p:nvSpPr>
          <p:cNvPr id="5" name="title_287"/>
          <p:cNvSpPr/>
          <p:nvPr/>
        </p:nvSpPr>
        <p:spPr>
          <a:xfrm>
            <a:off x="1261872" y="164592"/>
            <a:ext cx="391729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What's the difference?</a:t>
            </a:r>
            <a:endParaRPr lang="en-US" sz="2500" dirty="0"/>
          </a:p>
        </p:txBody>
      </p:sp>
      <p:pic>
        <p:nvPicPr>
          <p:cNvPr id="6" name="brP_288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119372" cy="402336"/>
          </a:xfrm>
          <a:prstGeom prst="rect">
            <a:avLst/>
          </a:prstGeom>
        </p:spPr>
      </p:pic>
      <p:sp>
        <p:nvSpPr>
          <p:cNvPr id="7" name="ins_289"/>
          <p:cNvSpPr/>
          <p:nvPr/>
        </p:nvSpPr>
        <p:spPr>
          <a:xfrm>
            <a:off x="1353312" y="731520"/>
            <a:ext cx="38633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Explain the difference to your partner.</a:t>
            </a:r>
            <a:endParaRPr lang="en-US" sz="1250" dirty="0"/>
          </a:p>
        </p:txBody>
      </p:sp>
      <p:sp>
        <p:nvSpPr>
          <p:cNvPr id="8" name="insIT_290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Spiega la differenza al compagno.</a:t>
            </a:r>
            <a:endParaRPr lang="en-US" sz="950" dirty="0"/>
          </a:p>
        </p:txBody>
      </p:sp>
      <p:sp>
        <p:nvSpPr>
          <p:cNvPr id="9" name="cmd_291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100" dirty="0"/>
          </a:p>
        </p:txBody>
      </p:sp>
      <p:sp>
        <p:nvSpPr>
          <p:cNvPr id="10" name="meta_292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👥 pairs</a:t>
            </a:r>
            <a:endParaRPr lang="en-US" sz="950" dirty="0"/>
          </a:p>
        </p:txBody>
      </p:sp>
      <p:sp>
        <p:nvSpPr>
          <p:cNvPr id="11" name="tag_293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Vocabulary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Controlled practice</a:t>
            </a:r>
            <a:endParaRPr lang="en-US" sz="700" dirty="0"/>
          </a:p>
        </p:txBody>
      </p:sp>
      <p:pic>
        <p:nvPicPr>
          <p:cNvPr id="12" name="logo_29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29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8B-1 · Vocabulary · shopping   ·   📖 SB p.81 · 3a</a:t>
            </a:r>
            <a:endParaRPr lang="en-US" sz="800" dirty="0"/>
          </a:p>
        </p:txBody>
      </p:sp>
      <p:sp>
        <p:nvSpPr>
          <p:cNvPr id="14" name="cd_296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297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6" name="ih_298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7" name="il_299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basket / trolley → small, you carry it / big, on wheels</a:t>
            </a:r>
            <a:endParaRPr lang="en-US" sz="1050" dirty="0"/>
          </a:p>
        </p:txBody>
      </p:sp>
      <p:sp>
        <p:nvSpPr>
          <p:cNvPr id="18" name="pf_300"/>
          <p:cNvSpPr/>
          <p:nvPr/>
        </p:nvSpPr>
        <p:spPr>
          <a:xfrm rot="-90000">
            <a:off x="365760" y="2697480"/>
            <a:ext cx="2606040" cy="1965960"/>
          </a:xfrm>
          <a:prstGeom prst="roundRect">
            <a:avLst>
              <a:gd name="adj" fmla="val 79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9" name="ph_301" descr="/home/claude/lls-course/v2/cache/2a2_saver_spender_jpg_605x45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874520"/>
          </a:xfrm>
          <a:prstGeom prst="rect">
            <a:avLst/>
          </a:prstGeom>
        </p:spPr>
      </p:pic>
      <p:sp>
        <p:nvSpPr>
          <p:cNvPr id="20" name="bd_302"/>
          <p:cNvSpPr/>
          <p:nvPr/>
        </p:nvSpPr>
        <p:spPr>
          <a:xfrm>
            <a:off x="3246120" y="1474143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1" name="q_303"/>
          <p:cNvSpPr/>
          <p:nvPr/>
        </p:nvSpPr>
        <p:spPr>
          <a:xfrm>
            <a:off x="3630168" y="1417320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credit card / debit card</a:t>
            </a:r>
            <a:endParaRPr lang="en-US" sz="1150" dirty="0"/>
          </a:p>
        </p:txBody>
      </p:sp>
      <p:sp>
        <p:nvSpPr>
          <p:cNvPr id="22" name="R1_chip304"/>
          <p:cNvSpPr/>
          <p:nvPr/>
        </p:nvSpPr>
        <p:spPr>
          <a:xfrm>
            <a:off x="5806440" y="1417320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pay later / the money goes immediately</a:t>
            </a:r>
            <a:endParaRPr lang="en-US" sz="1000" dirty="0"/>
          </a:p>
        </p:txBody>
      </p:sp>
      <p:sp>
        <p:nvSpPr>
          <p:cNvPr id="23" name="bd_305"/>
          <p:cNvSpPr/>
          <p:nvPr/>
        </p:nvSpPr>
        <p:spPr>
          <a:xfrm>
            <a:off x="3246120" y="1944406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4" name="q_306"/>
          <p:cNvSpPr/>
          <p:nvPr/>
        </p:nvSpPr>
        <p:spPr>
          <a:xfrm>
            <a:off x="3630168" y="1887583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receipt / refund</a:t>
            </a:r>
            <a:endParaRPr lang="en-US" sz="1150" dirty="0"/>
          </a:p>
        </p:txBody>
      </p:sp>
      <p:sp>
        <p:nvSpPr>
          <p:cNvPr id="25" name="R2_chip307"/>
          <p:cNvSpPr/>
          <p:nvPr/>
        </p:nvSpPr>
        <p:spPr>
          <a:xfrm>
            <a:off x="5806440" y="1887583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paper that proves you paid / money back</a:t>
            </a:r>
            <a:endParaRPr lang="en-US" sz="1000" dirty="0"/>
          </a:p>
        </p:txBody>
      </p:sp>
      <p:sp>
        <p:nvSpPr>
          <p:cNvPr id="26" name="bd_308"/>
          <p:cNvSpPr/>
          <p:nvPr/>
        </p:nvSpPr>
        <p:spPr>
          <a:xfrm>
            <a:off x="3246120" y="2414669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7" name="q_309"/>
          <p:cNvSpPr/>
          <p:nvPr/>
        </p:nvSpPr>
        <p:spPr>
          <a:xfrm>
            <a:off x="3630168" y="2357846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discount / bargain</a:t>
            </a:r>
            <a:endParaRPr lang="en-US" sz="1150" dirty="0"/>
          </a:p>
        </p:txBody>
      </p:sp>
      <p:sp>
        <p:nvSpPr>
          <p:cNvPr id="28" name="R3_chip310"/>
          <p:cNvSpPr/>
          <p:nvPr/>
        </p:nvSpPr>
        <p:spPr>
          <a:xfrm>
            <a:off x="5806440" y="2357846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money off the price / a very cheap thing</a:t>
            </a:r>
            <a:endParaRPr lang="en-US" sz="1000" dirty="0"/>
          </a:p>
        </p:txBody>
      </p:sp>
      <p:sp>
        <p:nvSpPr>
          <p:cNvPr id="29" name="bd_311"/>
          <p:cNvSpPr/>
          <p:nvPr/>
        </p:nvSpPr>
        <p:spPr>
          <a:xfrm>
            <a:off x="3246120" y="288493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q_312"/>
          <p:cNvSpPr/>
          <p:nvPr/>
        </p:nvSpPr>
        <p:spPr>
          <a:xfrm>
            <a:off x="3630168" y="2828109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chain store / department store</a:t>
            </a:r>
            <a:endParaRPr lang="en-US" sz="1150" dirty="0"/>
          </a:p>
        </p:txBody>
      </p:sp>
      <p:sp>
        <p:nvSpPr>
          <p:cNvPr id="31" name="R4_chip313"/>
          <p:cNvSpPr/>
          <p:nvPr/>
        </p:nvSpPr>
        <p:spPr>
          <a:xfrm>
            <a:off x="5806440" y="2828109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of many similar shops / big shop, many sections</a:t>
            </a:r>
            <a:endParaRPr lang="en-US" sz="1000" dirty="0"/>
          </a:p>
        </p:txBody>
      </p:sp>
      <p:sp>
        <p:nvSpPr>
          <p:cNvPr id="32" name="bd_314"/>
          <p:cNvSpPr/>
          <p:nvPr/>
        </p:nvSpPr>
        <p:spPr>
          <a:xfrm>
            <a:off x="3246120" y="3355195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q_315"/>
          <p:cNvSpPr/>
          <p:nvPr/>
        </p:nvSpPr>
        <p:spPr>
          <a:xfrm>
            <a:off x="3630168" y="3298371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library / bookshop</a:t>
            </a:r>
            <a:endParaRPr lang="en-US" sz="1150" dirty="0"/>
          </a:p>
        </p:txBody>
      </p:sp>
      <p:sp>
        <p:nvSpPr>
          <p:cNvPr id="34" name="R5_chip316"/>
          <p:cNvSpPr/>
          <p:nvPr/>
        </p:nvSpPr>
        <p:spPr>
          <a:xfrm>
            <a:off x="5806440" y="3298371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borrow books / buy books</a:t>
            </a:r>
            <a:endParaRPr lang="en-US" sz="1000" dirty="0"/>
          </a:p>
        </p:txBody>
      </p:sp>
      <p:sp>
        <p:nvSpPr>
          <p:cNvPr id="35" name="bd_317"/>
          <p:cNvSpPr/>
          <p:nvPr/>
        </p:nvSpPr>
        <p:spPr>
          <a:xfrm>
            <a:off x="3246120" y="3825458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6" name="q_318"/>
          <p:cNvSpPr/>
          <p:nvPr/>
        </p:nvSpPr>
        <p:spPr>
          <a:xfrm>
            <a:off x="3630168" y="3768634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put on / try on</a:t>
            </a:r>
            <a:endParaRPr lang="en-US" sz="1150" dirty="0"/>
          </a:p>
        </p:txBody>
      </p:sp>
      <p:sp>
        <p:nvSpPr>
          <p:cNvPr id="37" name="R6_chip319"/>
          <p:cNvSpPr/>
          <p:nvPr/>
        </p:nvSpPr>
        <p:spPr>
          <a:xfrm>
            <a:off x="5806440" y="3768634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get dressed / put on before you buy</a:t>
            </a:r>
            <a:endParaRPr lang="en-US" sz="1000" dirty="0"/>
          </a:p>
        </p:txBody>
      </p:sp>
      <p:sp>
        <p:nvSpPr>
          <p:cNvPr id="38" name="bd_320"/>
          <p:cNvSpPr/>
          <p:nvPr/>
        </p:nvSpPr>
        <p:spPr>
          <a:xfrm>
            <a:off x="3246120" y="4295721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1000" dirty="0"/>
          </a:p>
        </p:txBody>
      </p:sp>
      <p:sp>
        <p:nvSpPr>
          <p:cNvPr id="39" name="q_321"/>
          <p:cNvSpPr/>
          <p:nvPr/>
        </p:nvSpPr>
        <p:spPr>
          <a:xfrm>
            <a:off x="3630168" y="4238897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 fits you / It suits you</a:t>
            </a:r>
            <a:endParaRPr lang="en-US" sz="1150" dirty="0"/>
          </a:p>
        </p:txBody>
      </p:sp>
      <p:sp>
        <p:nvSpPr>
          <p:cNvPr id="40" name="R7_chip322"/>
          <p:cNvSpPr/>
          <p:nvPr/>
        </p:nvSpPr>
        <p:spPr>
          <a:xfrm>
            <a:off x="5806440" y="4238897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right size / looks good on you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2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11</a:t>
            </a:r>
            <a:endParaRPr lang="en-US" sz="2200" dirty="0"/>
          </a:p>
        </p:txBody>
      </p:sp>
      <p:pic>
        <p:nvPicPr>
          <p:cNvPr id="4" name="brY_32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663440" cy="621792"/>
          </a:xfrm>
          <a:prstGeom prst="rect">
            <a:avLst/>
          </a:prstGeom>
        </p:spPr>
      </p:pic>
      <p:sp>
        <p:nvSpPr>
          <p:cNvPr id="5" name="title_325"/>
          <p:cNvSpPr/>
          <p:nvPr/>
        </p:nvSpPr>
        <p:spPr>
          <a:xfrm>
            <a:off x="1261872" y="164592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Shopping words in Italian</a:t>
            </a:r>
            <a:endParaRPr lang="en-US" sz="2500" dirty="0"/>
          </a:p>
        </p:txBody>
      </p:sp>
      <p:pic>
        <p:nvPicPr>
          <p:cNvPr id="6" name="brP_32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337560" cy="402336"/>
          </a:xfrm>
          <a:prstGeom prst="rect">
            <a:avLst/>
          </a:prstGeom>
        </p:spPr>
      </p:pic>
      <p:sp>
        <p:nvSpPr>
          <p:cNvPr id="7" name="ins_327"/>
          <p:cNvSpPr/>
          <p:nvPr/>
        </p:nvSpPr>
        <p:spPr>
          <a:xfrm>
            <a:off x="1353312" y="731520"/>
            <a:ext cx="3081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Say it in Italian. Then click!</a:t>
            </a:r>
            <a:endParaRPr lang="en-US" sz="1250" dirty="0"/>
          </a:p>
        </p:txBody>
      </p:sp>
      <p:sp>
        <p:nvSpPr>
          <p:cNvPr id="8" name="insIT_328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Dillo in italiano. Poi clicca!</a:t>
            </a:r>
            <a:endParaRPr lang="en-US" sz="950" dirty="0"/>
          </a:p>
        </p:txBody>
      </p:sp>
      <p:sp>
        <p:nvSpPr>
          <p:cNvPr id="9" name="cmd_329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✅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CHECK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CONTROLLA</a:t>
            </a:r>
            <a:endParaRPr lang="en-US" sz="1100" dirty="0"/>
          </a:p>
        </p:txBody>
      </p:sp>
      <p:sp>
        <p:nvSpPr>
          <p:cNvPr id="10" name="meta_330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🙋 whole class</a:t>
            </a:r>
            <a:endParaRPr lang="en-US" sz="950" dirty="0"/>
          </a:p>
        </p:txBody>
      </p:sp>
      <p:sp>
        <p:nvSpPr>
          <p:cNvPr id="11" name="tag_331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Vocabulary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TPRS · meaning</a:t>
            </a:r>
            <a:endParaRPr lang="en-US" sz="700" dirty="0"/>
          </a:p>
        </p:txBody>
      </p:sp>
      <p:pic>
        <p:nvPicPr>
          <p:cNvPr id="12" name="logo_332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333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8B-1 · Vocabulary · in Italian</a:t>
            </a:r>
            <a:endParaRPr lang="en-US" sz="800" dirty="0"/>
          </a:p>
        </p:txBody>
      </p:sp>
      <p:sp>
        <p:nvSpPr>
          <p:cNvPr id="14" name="cd_334"/>
          <p:cNvSpPr/>
          <p:nvPr/>
        </p:nvSpPr>
        <p:spPr>
          <a:xfrm>
            <a:off x="320040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e_335"/>
          <p:cNvSpPr/>
          <p:nvPr/>
        </p:nvSpPr>
        <p:spPr>
          <a:xfrm>
            <a:off x="393192" y="152704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🧾</a:t>
            </a:r>
            <a:endParaRPr lang="en-US" sz="2000" dirty="0"/>
          </a:p>
        </p:txBody>
      </p:sp>
      <p:sp>
        <p:nvSpPr>
          <p:cNvPr id="16" name="en_336"/>
          <p:cNvSpPr/>
          <p:nvPr/>
        </p:nvSpPr>
        <p:spPr>
          <a:xfrm>
            <a:off x="978408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receipt</a:t>
            </a:r>
            <a:endParaRPr lang="en-US" sz="1200" dirty="0"/>
          </a:p>
        </p:txBody>
      </p:sp>
      <p:sp>
        <p:nvSpPr>
          <p:cNvPr id="17" name="R1_it337"/>
          <p:cNvSpPr/>
          <p:nvPr/>
        </p:nvSpPr>
        <p:spPr>
          <a:xfrm>
            <a:off x="978408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scontrino / ricevuta</a:t>
            </a:r>
            <a:endParaRPr lang="en-US" sz="1000" dirty="0"/>
          </a:p>
        </p:txBody>
      </p:sp>
      <p:sp>
        <p:nvSpPr>
          <p:cNvPr id="18" name="cd_338"/>
          <p:cNvSpPr/>
          <p:nvPr/>
        </p:nvSpPr>
        <p:spPr>
          <a:xfrm>
            <a:off x="2487168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9" name="e_339"/>
          <p:cNvSpPr/>
          <p:nvPr/>
        </p:nvSpPr>
        <p:spPr>
          <a:xfrm>
            <a:off x="2560320" y="152704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💶</a:t>
            </a:r>
            <a:endParaRPr lang="en-US" sz="2000" dirty="0"/>
          </a:p>
        </p:txBody>
      </p:sp>
      <p:sp>
        <p:nvSpPr>
          <p:cNvPr id="20" name="en_340"/>
          <p:cNvSpPr/>
          <p:nvPr/>
        </p:nvSpPr>
        <p:spPr>
          <a:xfrm>
            <a:off x="3145536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refund</a:t>
            </a:r>
            <a:endParaRPr lang="en-US" sz="1200" dirty="0"/>
          </a:p>
        </p:txBody>
      </p:sp>
      <p:sp>
        <p:nvSpPr>
          <p:cNvPr id="21" name="R2_it341"/>
          <p:cNvSpPr/>
          <p:nvPr/>
        </p:nvSpPr>
        <p:spPr>
          <a:xfrm>
            <a:off x="3145536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rimborso</a:t>
            </a:r>
            <a:endParaRPr lang="en-US" sz="1000" dirty="0"/>
          </a:p>
        </p:txBody>
      </p:sp>
      <p:sp>
        <p:nvSpPr>
          <p:cNvPr id="22" name="cd_342"/>
          <p:cNvSpPr/>
          <p:nvPr/>
        </p:nvSpPr>
        <p:spPr>
          <a:xfrm>
            <a:off x="4654296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3" name="e_343"/>
          <p:cNvSpPr/>
          <p:nvPr/>
        </p:nvSpPr>
        <p:spPr>
          <a:xfrm>
            <a:off x="4727448" y="152704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🏷️</a:t>
            </a:r>
            <a:endParaRPr lang="en-US" sz="2000" dirty="0"/>
          </a:p>
        </p:txBody>
      </p:sp>
      <p:sp>
        <p:nvSpPr>
          <p:cNvPr id="24" name="en_344"/>
          <p:cNvSpPr/>
          <p:nvPr/>
        </p:nvSpPr>
        <p:spPr>
          <a:xfrm>
            <a:off x="5312664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discount</a:t>
            </a:r>
            <a:endParaRPr lang="en-US" sz="1200" dirty="0"/>
          </a:p>
        </p:txBody>
      </p:sp>
      <p:sp>
        <p:nvSpPr>
          <p:cNvPr id="25" name="R3_it345"/>
          <p:cNvSpPr/>
          <p:nvPr/>
        </p:nvSpPr>
        <p:spPr>
          <a:xfrm>
            <a:off x="5312664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sconto</a:t>
            </a:r>
            <a:endParaRPr lang="en-US" sz="1000" dirty="0"/>
          </a:p>
        </p:txBody>
      </p:sp>
      <p:sp>
        <p:nvSpPr>
          <p:cNvPr id="26" name="cd_346"/>
          <p:cNvSpPr/>
          <p:nvPr/>
        </p:nvSpPr>
        <p:spPr>
          <a:xfrm>
            <a:off x="6821424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7" name="e_347"/>
          <p:cNvSpPr/>
          <p:nvPr/>
        </p:nvSpPr>
        <p:spPr>
          <a:xfrm>
            <a:off x="6894576" y="152704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🤑</a:t>
            </a:r>
            <a:endParaRPr lang="en-US" sz="2000" dirty="0"/>
          </a:p>
        </p:txBody>
      </p:sp>
      <p:sp>
        <p:nvSpPr>
          <p:cNvPr id="28" name="en_348"/>
          <p:cNvSpPr/>
          <p:nvPr/>
        </p:nvSpPr>
        <p:spPr>
          <a:xfrm>
            <a:off x="7479792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bargain</a:t>
            </a:r>
            <a:endParaRPr lang="en-US" sz="1200" dirty="0"/>
          </a:p>
        </p:txBody>
      </p:sp>
      <p:sp>
        <p:nvSpPr>
          <p:cNvPr id="29" name="R4_it349"/>
          <p:cNvSpPr/>
          <p:nvPr/>
        </p:nvSpPr>
        <p:spPr>
          <a:xfrm>
            <a:off x="7479792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affare</a:t>
            </a:r>
            <a:endParaRPr lang="en-US" sz="1000" dirty="0"/>
          </a:p>
        </p:txBody>
      </p:sp>
      <p:sp>
        <p:nvSpPr>
          <p:cNvPr id="30" name="cd_350"/>
          <p:cNvSpPr/>
          <p:nvPr/>
        </p:nvSpPr>
        <p:spPr>
          <a:xfrm>
            <a:off x="320040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1" name="e_351"/>
          <p:cNvSpPr/>
          <p:nvPr/>
        </p:nvSpPr>
        <p:spPr>
          <a:xfrm>
            <a:off x="393192" y="235000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🛒</a:t>
            </a:r>
            <a:endParaRPr lang="en-US" sz="2000" dirty="0"/>
          </a:p>
        </p:txBody>
      </p:sp>
      <p:sp>
        <p:nvSpPr>
          <p:cNvPr id="32" name="en_352"/>
          <p:cNvSpPr/>
          <p:nvPr/>
        </p:nvSpPr>
        <p:spPr>
          <a:xfrm>
            <a:off x="978408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trolley</a:t>
            </a:r>
            <a:endParaRPr lang="en-US" sz="1200" dirty="0"/>
          </a:p>
        </p:txBody>
      </p:sp>
      <p:sp>
        <p:nvSpPr>
          <p:cNvPr id="33" name="R5_it353"/>
          <p:cNvSpPr/>
          <p:nvPr/>
        </p:nvSpPr>
        <p:spPr>
          <a:xfrm>
            <a:off x="978408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carrello</a:t>
            </a:r>
            <a:endParaRPr lang="en-US" sz="1000" dirty="0"/>
          </a:p>
        </p:txBody>
      </p:sp>
      <p:sp>
        <p:nvSpPr>
          <p:cNvPr id="34" name="cd_354"/>
          <p:cNvSpPr/>
          <p:nvPr/>
        </p:nvSpPr>
        <p:spPr>
          <a:xfrm>
            <a:off x="2487168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5" name="e_355"/>
          <p:cNvSpPr/>
          <p:nvPr/>
        </p:nvSpPr>
        <p:spPr>
          <a:xfrm>
            <a:off x="2560320" y="235000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🧺</a:t>
            </a:r>
            <a:endParaRPr lang="en-US" sz="2000" dirty="0"/>
          </a:p>
        </p:txBody>
      </p:sp>
      <p:sp>
        <p:nvSpPr>
          <p:cNvPr id="36" name="en_356"/>
          <p:cNvSpPr/>
          <p:nvPr/>
        </p:nvSpPr>
        <p:spPr>
          <a:xfrm>
            <a:off x="3145536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basket</a:t>
            </a:r>
            <a:endParaRPr lang="en-US" sz="1200" dirty="0"/>
          </a:p>
        </p:txBody>
      </p:sp>
      <p:sp>
        <p:nvSpPr>
          <p:cNvPr id="37" name="R6_it357"/>
          <p:cNvSpPr/>
          <p:nvPr/>
        </p:nvSpPr>
        <p:spPr>
          <a:xfrm>
            <a:off x="3145536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cestino</a:t>
            </a:r>
            <a:endParaRPr lang="en-US" sz="1000" dirty="0"/>
          </a:p>
        </p:txBody>
      </p:sp>
      <p:sp>
        <p:nvSpPr>
          <p:cNvPr id="38" name="cd_358"/>
          <p:cNvSpPr/>
          <p:nvPr/>
        </p:nvSpPr>
        <p:spPr>
          <a:xfrm>
            <a:off x="4654296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9" name="e_359"/>
          <p:cNvSpPr/>
          <p:nvPr/>
        </p:nvSpPr>
        <p:spPr>
          <a:xfrm>
            <a:off x="4727448" y="235000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📚</a:t>
            </a:r>
            <a:endParaRPr lang="en-US" sz="2000" dirty="0"/>
          </a:p>
        </p:txBody>
      </p:sp>
      <p:sp>
        <p:nvSpPr>
          <p:cNvPr id="40" name="en_360"/>
          <p:cNvSpPr/>
          <p:nvPr/>
        </p:nvSpPr>
        <p:spPr>
          <a:xfrm>
            <a:off x="5312664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library</a:t>
            </a:r>
            <a:endParaRPr lang="en-US" sz="1200" dirty="0"/>
          </a:p>
        </p:txBody>
      </p:sp>
      <p:sp>
        <p:nvSpPr>
          <p:cNvPr id="41" name="R7_it361"/>
          <p:cNvSpPr/>
          <p:nvPr/>
        </p:nvSpPr>
        <p:spPr>
          <a:xfrm>
            <a:off x="5312664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biblioteca</a:t>
            </a:r>
            <a:endParaRPr lang="en-US" sz="1000" dirty="0"/>
          </a:p>
        </p:txBody>
      </p:sp>
      <p:sp>
        <p:nvSpPr>
          <p:cNvPr id="42" name="cd_362"/>
          <p:cNvSpPr/>
          <p:nvPr/>
        </p:nvSpPr>
        <p:spPr>
          <a:xfrm>
            <a:off x="6821424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3" name="e_363"/>
          <p:cNvSpPr/>
          <p:nvPr/>
        </p:nvSpPr>
        <p:spPr>
          <a:xfrm>
            <a:off x="6894576" y="235000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📖</a:t>
            </a:r>
            <a:endParaRPr lang="en-US" sz="2000" dirty="0"/>
          </a:p>
        </p:txBody>
      </p:sp>
      <p:sp>
        <p:nvSpPr>
          <p:cNvPr id="44" name="en_364"/>
          <p:cNvSpPr/>
          <p:nvPr/>
        </p:nvSpPr>
        <p:spPr>
          <a:xfrm>
            <a:off x="7479792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bookshop</a:t>
            </a:r>
            <a:endParaRPr lang="en-US" sz="1200" dirty="0"/>
          </a:p>
        </p:txBody>
      </p:sp>
      <p:sp>
        <p:nvSpPr>
          <p:cNvPr id="45" name="R8_it365"/>
          <p:cNvSpPr/>
          <p:nvPr/>
        </p:nvSpPr>
        <p:spPr>
          <a:xfrm>
            <a:off x="7479792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libreria</a:t>
            </a:r>
            <a:endParaRPr lang="en-US" sz="1000" dirty="0"/>
          </a:p>
        </p:txBody>
      </p:sp>
      <p:sp>
        <p:nvSpPr>
          <p:cNvPr id="46" name="cd_366"/>
          <p:cNvSpPr/>
          <p:nvPr/>
        </p:nvSpPr>
        <p:spPr>
          <a:xfrm>
            <a:off x="320040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7" name="e_367"/>
          <p:cNvSpPr/>
          <p:nvPr/>
        </p:nvSpPr>
        <p:spPr>
          <a:xfrm>
            <a:off x="393192" y="317296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👗</a:t>
            </a:r>
            <a:endParaRPr lang="en-US" sz="2000" dirty="0"/>
          </a:p>
        </p:txBody>
      </p:sp>
      <p:sp>
        <p:nvSpPr>
          <p:cNvPr id="48" name="en_368"/>
          <p:cNvSpPr/>
          <p:nvPr/>
        </p:nvSpPr>
        <p:spPr>
          <a:xfrm>
            <a:off x="978408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changing room</a:t>
            </a:r>
            <a:endParaRPr lang="en-US" sz="1200" dirty="0"/>
          </a:p>
        </p:txBody>
      </p:sp>
      <p:sp>
        <p:nvSpPr>
          <p:cNvPr id="49" name="R9_it369"/>
          <p:cNvSpPr/>
          <p:nvPr/>
        </p:nvSpPr>
        <p:spPr>
          <a:xfrm>
            <a:off x="978408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camerino</a:t>
            </a:r>
            <a:endParaRPr lang="en-US" sz="1000" dirty="0"/>
          </a:p>
        </p:txBody>
      </p:sp>
      <p:sp>
        <p:nvSpPr>
          <p:cNvPr id="50" name="cd_370"/>
          <p:cNvSpPr/>
          <p:nvPr/>
        </p:nvSpPr>
        <p:spPr>
          <a:xfrm>
            <a:off x="2487168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51" name="e_371"/>
          <p:cNvSpPr/>
          <p:nvPr/>
        </p:nvSpPr>
        <p:spPr>
          <a:xfrm>
            <a:off x="2560320" y="317296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🏬</a:t>
            </a:r>
            <a:endParaRPr lang="en-US" sz="2000" dirty="0"/>
          </a:p>
        </p:txBody>
      </p:sp>
      <p:sp>
        <p:nvSpPr>
          <p:cNvPr id="52" name="en_372"/>
          <p:cNvSpPr/>
          <p:nvPr/>
        </p:nvSpPr>
        <p:spPr>
          <a:xfrm>
            <a:off x="3145536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department store</a:t>
            </a:r>
            <a:endParaRPr lang="en-US" sz="1200" dirty="0"/>
          </a:p>
        </p:txBody>
      </p:sp>
      <p:sp>
        <p:nvSpPr>
          <p:cNvPr id="53" name="R10_it373"/>
          <p:cNvSpPr/>
          <p:nvPr/>
        </p:nvSpPr>
        <p:spPr>
          <a:xfrm>
            <a:off x="3145536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grande magazzino</a:t>
            </a:r>
            <a:endParaRPr lang="en-US" sz="1000" dirty="0"/>
          </a:p>
        </p:txBody>
      </p:sp>
      <p:sp>
        <p:nvSpPr>
          <p:cNvPr id="54" name="cd_374"/>
          <p:cNvSpPr/>
          <p:nvPr/>
        </p:nvSpPr>
        <p:spPr>
          <a:xfrm>
            <a:off x="4654296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55" name="e_375"/>
          <p:cNvSpPr/>
          <p:nvPr/>
        </p:nvSpPr>
        <p:spPr>
          <a:xfrm>
            <a:off x="4727448" y="317296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👔</a:t>
            </a:r>
            <a:endParaRPr lang="en-US" sz="2000" dirty="0"/>
          </a:p>
        </p:txBody>
      </p:sp>
      <p:sp>
        <p:nvSpPr>
          <p:cNvPr id="56" name="en_376"/>
          <p:cNvSpPr/>
          <p:nvPr/>
        </p:nvSpPr>
        <p:spPr>
          <a:xfrm>
            <a:off x="5312664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It suits you</a:t>
            </a:r>
            <a:endParaRPr lang="en-US" sz="1200" dirty="0"/>
          </a:p>
        </p:txBody>
      </p:sp>
      <p:sp>
        <p:nvSpPr>
          <p:cNvPr id="57" name="R11_it377"/>
          <p:cNvSpPr/>
          <p:nvPr/>
        </p:nvSpPr>
        <p:spPr>
          <a:xfrm>
            <a:off x="5312664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ti sta bene</a:t>
            </a:r>
            <a:endParaRPr lang="en-US" sz="1000" dirty="0"/>
          </a:p>
        </p:txBody>
      </p:sp>
      <p:sp>
        <p:nvSpPr>
          <p:cNvPr id="58" name="cd_378"/>
          <p:cNvSpPr/>
          <p:nvPr/>
        </p:nvSpPr>
        <p:spPr>
          <a:xfrm>
            <a:off x="6821424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59" name="e_379"/>
          <p:cNvSpPr/>
          <p:nvPr/>
        </p:nvSpPr>
        <p:spPr>
          <a:xfrm>
            <a:off x="6894576" y="317296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📏</a:t>
            </a:r>
            <a:endParaRPr lang="en-US" sz="2000" dirty="0"/>
          </a:p>
        </p:txBody>
      </p:sp>
      <p:sp>
        <p:nvSpPr>
          <p:cNvPr id="60" name="en_380"/>
          <p:cNvSpPr/>
          <p:nvPr/>
        </p:nvSpPr>
        <p:spPr>
          <a:xfrm>
            <a:off x="7479792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It fits</a:t>
            </a:r>
            <a:endParaRPr lang="en-US" sz="1200" dirty="0"/>
          </a:p>
        </p:txBody>
      </p:sp>
      <p:sp>
        <p:nvSpPr>
          <p:cNvPr id="61" name="R12_it381"/>
          <p:cNvSpPr/>
          <p:nvPr/>
        </p:nvSpPr>
        <p:spPr>
          <a:xfrm>
            <a:off x="7479792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è della taglia giusta</a:t>
            </a:r>
            <a:endParaRPr lang="en-US" sz="1000" dirty="0"/>
          </a:p>
        </p:txBody>
      </p:sp>
      <p:sp>
        <p:nvSpPr>
          <p:cNvPr id="62" name="R13_wc382"/>
          <p:cNvSpPr/>
          <p:nvPr/>
        </p:nvSpPr>
        <p:spPr>
          <a:xfrm>
            <a:off x="320040" y="3931920"/>
            <a:ext cx="8549640" cy="457200"/>
          </a:xfrm>
          <a:prstGeom prst="roundRect">
            <a:avLst>
              <a:gd name="adj" fmla="val 28000"/>
            </a:avLst>
          </a:prstGeom>
          <a:solidFill>
            <a:srgbClr val="FFE3EE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63" name="R13_w383"/>
          <p:cNvSpPr/>
          <p:nvPr/>
        </p:nvSpPr>
        <p:spPr>
          <a:xfrm>
            <a:off x="457200" y="393192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Watch out!  library = biblioteca (NOT libreria!)  ·  He told me / He said (✗ said me)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84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7B5CD6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12</a:t>
            </a:r>
            <a:endParaRPr lang="en-US" sz="2200" dirty="0"/>
          </a:p>
        </p:txBody>
      </p:sp>
      <p:pic>
        <p:nvPicPr>
          <p:cNvPr id="4" name="brY_385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562502" cy="621792"/>
          </a:xfrm>
          <a:prstGeom prst="rect">
            <a:avLst/>
          </a:prstGeom>
        </p:spPr>
      </p:pic>
      <p:sp>
        <p:nvSpPr>
          <p:cNvPr id="5" name="title_386"/>
          <p:cNvSpPr/>
          <p:nvPr/>
        </p:nvSpPr>
        <p:spPr>
          <a:xfrm>
            <a:off x="1261872" y="164592"/>
            <a:ext cx="328818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Sara and the jeans</a:t>
            </a:r>
            <a:endParaRPr lang="en-US" sz="2500" dirty="0"/>
          </a:p>
        </p:txBody>
      </p:sp>
      <p:pic>
        <p:nvPicPr>
          <p:cNvPr id="6" name="brP_387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379976" cy="402336"/>
          </a:xfrm>
          <a:prstGeom prst="rect">
            <a:avLst/>
          </a:prstGeom>
        </p:spPr>
      </p:pic>
      <p:sp>
        <p:nvSpPr>
          <p:cNvPr id="7" name="ins_388"/>
          <p:cNvSpPr/>
          <p:nvPr/>
        </p:nvSpPr>
        <p:spPr>
          <a:xfrm>
            <a:off x="1353312" y="731520"/>
            <a:ext cx="41239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 to the story. Answer the questions!</a:t>
            </a:r>
            <a:endParaRPr lang="en-US" sz="1250" dirty="0"/>
          </a:p>
        </p:txBody>
      </p:sp>
      <p:sp>
        <p:nvSpPr>
          <p:cNvPr id="8" name="insIT_389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Ascolta la storia. Rispondi alle domande!</a:t>
            </a:r>
            <a:endParaRPr lang="en-US" sz="950" dirty="0"/>
          </a:p>
        </p:txBody>
      </p:sp>
      <p:sp>
        <p:nvSpPr>
          <p:cNvPr id="9" name="cmd_390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100" dirty="0"/>
          </a:p>
        </p:txBody>
      </p:sp>
      <p:sp>
        <p:nvSpPr>
          <p:cNvPr id="10" name="cmd_391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100" dirty="0"/>
          </a:p>
        </p:txBody>
      </p:sp>
      <p:sp>
        <p:nvSpPr>
          <p:cNvPr id="11" name="meta_392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🙋 whole class</a:t>
            </a:r>
            <a:endParaRPr lang="en-US" sz="950" dirty="0"/>
          </a:p>
        </p:txBody>
      </p:sp>
      <p:sp>
        <p:nvSpPr>
          <p:cNvPr id="12" name="tag_393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TPRS · story</a:t>
            </a:r>
            <a:endParaRPr lang="en-US" sz="850" dirty="0"/>
          </a:p>
        </p:txBody>
      </p:sp>
      <p:pic>
        <p:nvPicPr>
          <p:cNvPr id="13" name="logo_39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39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8B-1 · Speaking · class story (TPRS)</a:t>
            </a:r>
            <a:endParaRPr lang="en-US" sz="800" dirty="0"/>
          </a:p>
        </p:txBody>
      </p:sp>
      <p:sp>
        <p:nvSpPr>
          <p:cNvPr id="15" name="cd_396"/>
          <p:cNvSpPr/>
          <p:nvPr/>
        </p:nvSpPr>
        <p:spPr>
          <a:xfrm>
            <a:off x="320040" y="1417320"/>
            <a:ext cx="2697480" cy="2852928"/>
          </a:xfrm>
          <a:prstGeom prst="roundRect">
            <a:avLst>
              <a:gd name="adj" fmla="val 4746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397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🔑</a:t>
            </a:r>
            <a:endParaRPr lang="en-US" sz="2200" dirty="0"/>
          </a:p>
        </p:txBody>
      </p:sp>
      <p:sp>
        <p:nvSpPr>
          <p:cNvPr id="17" name="ih_398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Story phrases</a:t>
            </a:r>
            <a:endParaRPr lang="en-US" sz="1300" dirty="0"/>
          </a:p>
        </p:txBody>
      </p:sp>
      <p:sp>
        <p:nvSpPr>
          <p:cNvPr id="18" name="il_399"/>
          <p:cNvSpPr/>
          <p:nvPr/>
        </p:nvSpPr>
        <p:spPr>
          <a:xfrm>
            <a:off x="886968" y="1892808"/>
            <a:ext cx="2039112" cy="23042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asked her if…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 ha chiesto se…</a:t>
            </a:r>
            <a:endParaRPr lang="en-US" sz="10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asked her where…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 ha chiesto dove…</a:t>
            </a:r>
            <a:endParaRPr lang="en-US" sz="10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told him (that)…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Gli ha detto che…</a:t>
            </a:r>
            <a:endParaRPr lang="en-US" sz="10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try on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provare (un vestito)</a:t>
            </a:r>
            <a:endParaRPr lang="en-US" sz="10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 doesn't fit.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Non è della taglia giusta.</a:t>
            </a:r>
            <a:endParaRPr lang="en-US" sz="10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receipt / refund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scontrino / rimborso</a:t>
            </a:r>
            <a:endParaRPr lang="en-US" sz="1000" dirty="0"/>
          </a:p>
        </p:txBody>
      </p:sp>
      <p:sp>
        <p:nvSpPr>
          <p:cNvPr id="19" name="R1_sb400"/>
          <p:cNvSpPr/>
          <p:nvPr/>
        </p:nvSpPr>
        <p:spPr>
          <a:xfrm>
            <a:off x="3200400" y="1453896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0" name="R1_sl401"/>
          <p:cNvSpPr/>
          <p:nvPr/>
        </p:nvSpPr>
        <p:spPr>
          <a:xfrm>
            <a:off x="3584448" y="141732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Sara went into a shop in Palermo to </a:t>
            </a:r>
            <a:pPr indent="0" marL="0">
              <a:buNone/>
            </a:pPr>
            <a:r>
              <a:rPr lang="en-US" sz="12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try on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some jeans.</a:t>
            </a:r>
            <a:endParaRPr lang="en-US" sz="12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Did Sara go to a shop or a bank? · What did she want to try on?</a:t>
            </a:r>
            <a:endParaRPr lang="en-US" sz="1250" dirty="0"/>
          </a:p>
        </p:txBody>
      </p:sp>
      <p:sp>
        <p:nvSpPr>
          <p:cNvPr id="21" name="R2_sb402"/>
          <p:cNvSpPr/>
          <p:nvPr/>
        </p:nvSpPr>
        <p:spPr>
          <a:xfrm>
            <a:off x="3200400" y="2017776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2" name="R2_sl403"/>
          <p:cNvSpPr/>
          <p:nvPr/>
        </p:nvSpPr>
        <p:spPr>
          <a:xfrm>
            <a:off x="3584448" y="198120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assistant </a:t>
            </a:r>
            <a:pPr indent="0" marL="0">
              <a:buNone/>
            </a:pPr>
            <a:r>
              <a:rPr lang="en-US" sz="9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asked her if she needed</a:t>
            </a:r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any help. She </a:t>
            </a:r>
            <a:pPr indent="0" marL="0">
              <a:buNone/>
            </a:pPr>
            <a:r>
              <a:rPr lang="en-US" sz="9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said she was</a:t>
            </a:r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just looking.</a:t>
            </a:r>
            <a:endParaRPr lang="en-US" sz="950" dirty="0"/>
          </a:p>
          <a:p>
            <a:pPr indent="0" marL="0">
              <a:buNone/>
            </a:pPr>
            <a:r>
              <a:rPr lang="en-US" sz="7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Did he ask about help or money? · What did Sara say?</a:t>
            </a:r>
            <a:endParaRPr lang="en-US" sz="950" dirty="0"/>
          </a:p>
        </p:txBody>
      </p:sp>
      <p:sp>
        <p:nvSpPr>
          <p:cNvPr id="23" name="R3_sb404"/>
          <p:cNvSpPr/>
          <p:nvPr/>
        </p:nvSpPr>
        <p:spPr>
          <a:xfrm>
            <a:off x="3200400" y="2581656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4" name="R3_sl405"/>
          <p:cNvSpPr/>
          <p:nvPr/>
        </p:nvSpPr>
        <p:spPr>
          <a:xfrm>
            <a:off x="3584448" y="254508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Then he </a:t>
            </a:r>
            <a:pPr indent="0" marL="0">
              <a:buNone/>
            </a:pPr>
            <a:r>
              <a:rPr lang="en-US" sz="12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asked her where she lived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and </a:t>
            </a:r>
            <a:pPr indent="0" marL="0">
              <a:buNone/>
            </a:pPr>
            <a:r>
              <a:rPr lang="en-US" sz="12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if she liked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football!</a:t>
            </a:r>
            <a:endParaRPr lang="en-US" sz="12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Did he ask where she lived or worked? · What else did he ask?</a:t>
            </a:r>
            <a:endParaRPr lang="en-US" sz="1250" dirty="0"/>
          </a:p>
        </p:txBody>
      </p:sp>
      <p:sp>
        <p:nvSpPr>
          <p:cNvPr id="25" name="R4_sb406"/>
          <p:cNvSpPr/>
          <p:nvPr/>
        </p:nvSpPr>
        <p:spPr>
          <a:xfrm>
            <a:off x="3200400" y="3145536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6" name="R4_sl407"/>
          <p:cNvSpPr/>
          <p:nvPr/>
        </p:nvSpPr>
        <p:spPr>
          <a:xfrm>
            <a:off x="3584448" y="310896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</a:t>
            </a:r>
            <a:pPr indent="0" marL="0">
              <a:buNone/>
            </a:pPr>
            <a:r>
              <a:rPr lang="en-US" sz="10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asked her what she was doing</a:t>
            </a:r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after work. She </a:t>
            </a:r>
            <a:pPr indent="0" marL="0">
              <a:buNone/>
            </a:pPr>
            <a:r>
              <a:rPr lang="en-US" sz="10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told him</a:t>
            </a:r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it was private!</a:t>
            </a:r>
            <a:endParaRPr lang="en-US" sz="1000" dirty="0"/>
          </a:p>
          <a:p>
            <a:pPr indent="0" marL="0">
              <a:buNone/>
            </a:pPr>
            <a:r>
              <a:rPr lang="en-US" sz="7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What did he ask? · What did Sara tell him?</a:t>
            </a:r>
            <a:endParaRPr lang="en-US" sz="1000" dirty="0"/>
          </a:p>
        </p:txBody>
      </p:sp>
      <p:sp>
        <p:nvSpPr>
          <p:cNvPr id="27" name="R5_sb408"/>
          <p:cNvSpPr/>
          <p:nvPr/>
        </p:nvSpPr>
        <p:spPr>
          <a:xfrm>
            <a:off x="3200400" y="3709416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28" name="R5_sl409"/>
          <p:cNvSpPr/>
          <p:nvPr/>
        </p:nvSpPr>
        <p:spPr>
          <a:xfrm>
            <a:off x="3584448" y="367284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At home the jeans </a:t>
            </a:r>
            <a:pPr indent="0" marL="0">
              <a:buNone/>
            </a:pPr>
            <a:r>
              <a:rPr lang="en-US" sz="10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didn't fit</a:t>
            </a:r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. She went back with the </a:t>
            </a:r>
            <a:pPr indent="0" marL="0">
              <a:buNone/>
            </a:pPr>
            <a:r>
              <a:rPr lang="en-US" sz="10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receipt</a:t>
            </a:r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for a </a:t>
            </a:r>
            <a:pPr indent="0" marL="0">
              <a:buNone/>
            </a:pPr>
            <a:r>
              <a:rPr lang="en-US" sz="10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refund</a:t>
            </a:r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.</a:t>
            </a:r>
            <a:endParaRPr lang="en-US" sz="1000" dirty="0"/>
          </a:p>
          <a:p>
            <a:pPr indent="0" marL="0">
              <a:buNone/>
            </a:pPr>
            <a:r>
              <a:rPr lang="en-US" sz="7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Did the jeans fit? · What did she take back? · What did she want?</a:t>
            </a:r>
            <a:endParaRPr lang="en-US" sz="1000" dirty="0"/>
          </a:p>
        </p:txBody>
      </p:sp>
      <p:sp>
        <p:nvSpPr>
          <p:cNvPr id="29" name="R6_sb410"/>
          <p:cNvSpPr/>
          <p:nvPr/>
        </p:nvSpPr>
        <p:spPr>
          <a:xfrm>
            <a:off x="3200400" y="4273296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R6_sl411"/>
          <p:cNvSpPr/>
          <p:nvPr/>
        </p:nvSpPr>
        <p:spPr>
          <a:xfrm>
            <a:off x="3584448" y="423672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same assistant </a:t>
            </a:r>
            <a:pPr indent="0" marL="0">
              <a:buNone/>
            </a:pPr>
            <a:r>
              <a:rPr lang="en-US" sz="9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asked her if she was</a:t>
            </a:r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free on Friday… Sara </a:t>
            </a:r>
            <a:pPr indent="0" marL="0">
              <a:buNone/>
            </a:pPr>
            <a:r>
              <a:rPr lang="en-US" sz="9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said</a:t>
            </a:r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no – again!</a:t>
            </a:r>
            <a:endParaRPr lang="en-US" sz="950" dirty="0"/>
          </a:p>
          <a:p>
            <a:pPr indent="0" marL="0">
              <a:buNone/>
            </a:pPr>
            <a:r>
              <a:rPr lang="en-US" sz="7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What did he ask her? · And you – what did a shop assistant last ask you?</a:t>
            </a:r>
            <a:endParaRPr lang="en-US" sz="9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12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13</a:t>
            </a:r>
            <a:endParaRPr lang="en-US" sz="2200" dirty="0"/>
          </a:p>
        </p:txBody>
      </p:sp>
      <p:pic>
        <p:nvPicPr>
          <p:cNvPr id="4" name="brY_41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304288" cy="621792"/>
          </a:xfrm>
          <a:prstGeom prst="rect">
            <a:avLst/>
          </a:prstGeom>
        </p:spPr>
      </p:pic>
      <p:sp>
        <p:nvSpPr>
          <p:cNvPr id="5" name="title_414"/>
          <p:cNvSpPr/>
          <p:nvPr/>
        </p:nvSpPr>
        <p:spPr>
          <a:xfrm>
            <a:off x="1261872" y="164592"/>
            <a:ext cx="2029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Report it!</a:t>
            </a:r>
            <a:endParaRPr lang="en-US" sz="2500" dirty="0"/>
          </a:p>
        </p:txBody>
      </p:sp>
      <p:pic>
        <p:nvPicPr>
          <p:cNvPr id="6" name="brP_41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814316" cy="402336"/>
          </a:xfrm>
          <a:prstGeom prst="rect">
            <a:avLst/>
          </a:prstGeom>
        </p:spPr>
      </p:pic>
      <p:sp>
        <p:nvSpPr>
          <p:cNvPr id="7" name="ins_416"/>
          <p:cNvSpPr/>
          <p:nvPr/>
        </p:nvSpPr>
        <p:spPr>
          <a:xfrm>
            <a:off x="1353312" y="731520"/>
            <a:ext cx="45582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Ask your partner. Then report to a new partner!</a:t>
            </a:r>
            <a:endParaRPr lang="en-US" sz="1250" dirty="0"/>
          </a:p>
        </p:txBody>
      </p:sp>
      <p:sp>
        <p:nvSpPr>
          <p:cNvPr id="8" name="insIT_417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Chiedi al compagno. Poi riferisci a un altro!</a:t>
            </a:r>
            <a:endParaRPr lang="en-US" sz="950" dirty="0"/>
          </a:p>
        </p:txBody>
      </p:sp>
      <p:sp>
        <p:nvSpPr>
          <p:cNvPr id="9" name="cmd_418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100" dirty="0"/>
          </a:p>
        </p:txBody>
      </p:sp>
      <p:sp>
        <p:nvSpPr>
          <p:cNvPr id="10" name="meta_419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9 min   👥 pairs</a:t>
            </a:r>
            <a:endParaRPr lang="en-US" sz="950" dirty="0"/>
          </a:p>
        </p:txBody>
      </p:sp>
      <p:sp>
        <p:nvSpPr>
          <p:cNvPr id="11" name="tag_420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 game</a:t>
            </a:r>
            <a:endParaRPr lang="en-US" sz="700" dirty="0"/>
          </a:p>
        </p:txBody>
      </p:sp>
      <p:pic>
        <p:nvPicPr>
          <p:cNvPr id="12" name="logo_421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422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8B-1 · Speaking game · reported speech   ·   📖 SB p.81 · 3b questionnaire</a:t>
            </a:r>
            <a:endParaRPr lang="en-US" sz="800" dirty="0"/>
          </a:p>
        </p:txBody>
      </p:sp>
      <p:sp>
        <p:nvSpPr>
          <p:cNvPr id="14" name="cd_423"/>
          <p:cNvSpPr/>
          <p:nvPr/>
        </p:nvSpPr>
        <p:spPr>
          <a:xfrm>
            <a:off x="320040" y="1417320"/>
            <a:ext cx="2697480" cy="2194560"/>
          </a:xfrm>
          <a:prstGeom prst="roundRect">
            <a:avLst>
              <a:gd name="adj" fmla="val 58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424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6" name="ih_425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7" name="il_426"/>
          <p:cNvSpPr/>
          <p:nvPr/>
        </p:nvSpPr>
        <p:spPr>
          <a:xfrm>
            <a:off x="886968" y="1892808"/>
            <a:ext cx="203911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90500" indent="-190500">
              <a:spcAft>
                <a:spcPts val="200"/>
              </a:spcAft>
              <a:buSzPct val="100000"/>
              <a:buChar char="1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Ask your partner 3 questions.</a:t>
            </a:r>
            <a:endParaRPr lang="en-US" sz="90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8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Fai 3 domande al compagno.</a:t>
            </a:r>
            <a:endParaRPr lang="en-US" sz="90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2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Change partners. Report: "Luca asked me if… I told him…"</a:t>
            </a:r>
            <a:endParaRPr lang="en-US" sz="90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8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Cambia compagno. Riferisci: "Luca mi ha chiesto se…"</a:t>
            </a:r>
            <a:endParaRPr lang="en-US" sz="90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3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Correct reported sentence = 1 point.</a:t>
            </a:r>
            <a:endParaRPr lang="en-US" sz="90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8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Frase corretta = 1 punto.</a:t>
            </a:r>
            <a:endParaRPr lang="en-US" sz="900" dirty="0"/>
          </a:p>
        </p:txBody>
      </p:sp>
      <p:sp>
        <p:nvSpPr>
          <p:cNvPr id="18" name="st_427"/>
          <p:cNvSpPr/>
          <p:nvPr/>
        </p:nvSpPr>
        <p:spPr>
          <a:xfrm rot="-180000">
            <a:off x="502920" y="3703320"/>
            <a:ext cx="2286000" cy="77724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A  ☆☆☆☆☆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B  ☆☆☆☆☆</a:t>
            </a:r>
            <a:endParaRPr lang="en-US" sz="1250" dirty="0"/>
          </a:p>
        </p:txBody>
      </p:sp>
      <p:sp>
        <p:nvSpPr>
          <p:cNvPr id="19" name="bd_428"/>
          <p:cNvSpPr/>
          <p:nvPr/>
        </p:nvSpPr>
        <p:spPr>
          <a:xfrm>
            <a:off x="3246120" y="149123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0" name="gq_429"/>
          <p:cNvSpPr/>
          <p:nvPr/>
        </p:nvSpPr>
        <p:spPr>
          <a:xfrm>
            <a:off x="3657600" y="14173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Where do you usually buy clothes?</a:t>
            </a:r>
            <a:endParaRPr lang="en-US" sz="1100" dirty="0"/>
          </a:p>
        </p:txBody>
      </p:sp>
      <p:sp>
        <p:nvSpPr>
          <p:cNvPr id="21" name="R1_chip430"/>
          <p:cNvSpPr/>
          <p:nvPr/>
        </p:nvSpPr>
        <p:spPr>
          <a:xfrm>
            <a:off x="6263640" y="14173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She asked me where I usually bought clothes.</a:t>
            </a:r>
            <a:endParaRPr lang="en-US" sz="1100" dirty="0"/>
          </a:p>
        </p:txBody>
      </p:sp>
      <p:sp>
        <p:nvSpPr>
          <p:cNvPr id="22" name="bd_431"/>
          <p:cNvSpPr/>
          <p:nvPr/>
        </p:nvSpPr>
        <p:spPr>
          <a:xfrm>
            <a:off x="3246120" y="203225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gq_432"/>
          <p:cNvSpPr/>
          <p:nvPr/>
        </p:nvSpPr>
        <p:spPr>
          <a:xfrm>
            <a:off x="3657600" y="195834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you enjoy shopping?</a:t>
            </a:r>
            <a:endParaRPr lang="en-US" sz="1100" dirty="0"/>
          </a:p>
        </p:txBody>
      </p:sp>
      <p:sp>
        <p:nvSpPr>
          <p:cNvPr id="24" name="R2_chip433"/>
          <p:cNvSpPr/>
          <p:nvPr/>
        </p:nvSpPr>
        <p:spPr>
          <a:xfrm>
            <a:off x="6263640" y="195834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He asked me if I enjoyed shopping.</a:t>
            </a:r>
            <a:endParaRPr lang="en-US" sz="1100" dirty="0"/>
          </a:p>
        </p:txBody>
      </p:sp>
      <p:sp>
        <p:nvSpPr>
          <p:cNvPr id="25" name="bd_434"/>
          <p:cNvSpPr/>
          <p:nvPr/>
        </p:nvSpPr>
        <p:spPr>
          <a:xfrm>
            <a:off x="3246120" y="257327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6" name="gq_435"/>
          <p:cNvSpPr/>
          <p:nvPr/>
        </p:nvSpPr>
        <p:spPr>
          <a:xfrm>
            <a:off x="3657600" y="249936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What's your favourite shop?</a:t>
            </a:r>
            <a:endParaRPr lang="en-US" sz="1100" dirty="0"/>
          </a:p>
        </p:txBody>
      </p:sp>
      <p:sp>
        <p:nvSpPr>
          <p:cNvPr id="27" name="R3_chip436"/>
          <p:cNvSpPr/>
          <p:nvPr/>
        </p:nvSpPr>
        <p:spPr>
          <a:xfrm>
            <a:off x="6263640" y="249936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She asked me what my favourite shop was.</a:t>
            </a:r>
            <a:endParaRPr lang="en-US" sz="1100" dirty="0"/>
          </a:p>
        </p:txBody>
      </p:sp>
      <p:sp>
        <p:nvSpPr>
          <p:cNvPr id="28" name="bd_437"/>
          <p:cNvSpPr/>
          <p:nvPr/>
        </p:nvSpPr>
        <p:spPr>
          <a:xfrm>
            <a:off x="3246120" y="3114294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9" name="gq_438"/>
          <p:cNvSpPr/>
          <p:nvPr/>
        </p:nvSpPr>
        <p:spPr>
          <a:xfrm>
            <a:off x="3657600" y="304038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 you ever returned something?</a:t>
            </a:r>
            <a:endParaRPr lang="en-US" sz="1100" dirty="0"/>
          </a:p>
        </p:txBody>
      </p:sp>
      <p:sp>
        <p:nvSpPr>
          <p:cNvPr id="30" name="R4_chip439"/>
          <p:cNvSpPr/>
          <p:nvPr/>
        </p:nvSpPr>
        <p:spPr>
          <a:xfrm>
            <a:off x="6263640" y="304038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He asked me if I had ever returned something.</a:t>
            </a:r>
            <a:endParaRPr lang="en-US" sz="1100" dirty="0"/>
          </a:p>
        </p:txBody>
      </p:sp>
      <p:sp>
        <p:nvSpPr>
          <p:cNvPr id="31" name="bd_440"/>
          <p:cNvSpPr/>
          <p:nvPr/>
        </p:nvSpPr>
        <p:spPr>
          <a:xfrm>
            <a:off x="3246120" y="365531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2" name="gq_441"/>
          <p:cNvSpPr/>
          <p:nvPr/>
        </p:nvSpPr>
        <p:spPr>
          <a:xfrm>
            <a:off x="3657600" y="358140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you prefer shopping online or in shops?</a:t>
            </a:r>
            <a:endParaRPr lang="en-US" sz="1100" dirty="0"/>
          </a:p>
        </p:txBody>
      </p:sp>
      <p:sp>
        <p:nvSpPr>
          <p:cNvPr id="33" name="R5_chip442"/>
          <p:cNvSpPr/>
          <p:nvPr/>
        </p:nvSpPr>
        <p:spPr>
          <a:xfrm>
            <a:off x="6263640" y="358140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She asked me if I preferred shopping online or in shops.</a:t>
            </a:r>
            <a:endParaRPr lang="en-US" sz="1100" dirty="0"/>
          </a:p>
        </p:txBody>
      </p:sp>
      <p:sp>
        <p:nvSpPr>
          <p:cNvPr id="34" name="bd_443"/>
          <p:cNvSpPr/>
          <p:nvPr/>
        </p:nvSpPr>
        <p:spPr>
          <a:xfrm>
            <a:off x="3246120" y="419633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5" name="gq_444"/>
          <p:cNvSpPr/>
          <p:nvPr/>
        </p:nvSpPr>
        <p:spPr>
          <a:xfrm>
            <a:off x="3657600" y="41224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did you buy last week?</a:t>
            </a:r>
            <a:endParaRPr lang="en-US" sz="1100" dirty="0"/>
          </a:p>
        </p:txBody>
      </p:sp>
      <p:sp>
        <p:nvSpPr>
          <p:cNvPr id="36" name="R6_chip445"/>
          <p:cNvSpPr/>
          <p:nvPr/>
        </p:nvSpPr>
        <p:spPr>
          <a:xfrm>
            <a:off x="6263640" y="41224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He asked me what I had bought the week before.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46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14</a:t>
            </a:r>
            <a:endParaRPr lang="en-US" sz="2200" dirty="0"/>
          </a:p>
        </p:txBody>
      </p:sp>
      <p:pic>
        <p:nvPicPr>
          <p:cNvPr id="4" name="brY_447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147011" cy="621792"/>
          </a:xfrm>
          <a:prstGeom prst="rect">
            <a:avLst/>
          </a:prstGeom>
        </p:spPr>
      </p:pic>
      <p:sp>
        <p:nvSpPr>
          <p:cNvPr id="5" name="title_448"/>
          <p:cNvSpPr/>
          <p:nvPr/>
        </p:nvSpPr>
        <p:spPr>
          <a:xfrm>
            <a:off x="1261872" y="164592"/>
            <a:ext cx="187269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 · 2 · 1</a:t>
            </a:r>
            <a:endParaRPr lang="en-US" sz="2500" dirty="0"/>
          </a:p>
        </p:txBody>
      </p:sp>
      <p:pic>
        <p:nvPicPr>
          <p:cNvPr id="6" name="brP_449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858768" cy="402336"/>
          </a:xfrm>
          <a:prstGeom prst="rect">
            <a:avLst/>
          </a:prstGeom>
        </p:spPr>
      </p:pic>
      <p:sp>
        <p:nvSpPr>
          <p:cNvPr id="7" name="ins_450"/>
          <p:cNvSpPr/>
          <p:nvPr/>
        </p:nvSpPr>
        <p:spPr>
          <a:xfrm>
            <a:off x="1353312" y="731520"/>
            <a:ext cx="3602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Books closed! What can you remember?</a:t>
            </a:r>
            <a:endParaRPr lang="en-US" sz="1250" dirty="0"/>
          </a:p>
        </p:txBody>
      </p:sp>
      <p:sp>
        <p:nvSpPr>
          <p:cNvPr id="8" name="insIT_451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Libri chiusi! Cosa ricordi?</a:t>
            </a:r>
            <a:endParaRPr lang="en-US" sz="950" dirty="0"/>
          </a:p>
        </p:txBody>
      </p:sp>
      <p:sp>
        <p:nvSpPr>
          <p:cNvPr id="9" name="meta_452"/>
          <p:cNvSpPr/>
          <p:nvPr/>
        </p:nvSpPr>
        <p:spPr>
          <a:xfrm>
            <a:off x="6510528" y="182880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950" dirty="0"/>
          </a:p>
        </p:txBody>
      </p:sp>
      <p:sp>
        <p:nvSpPr>
          <p:cNvPr id="10" name="tag_453"/>
          <p:cNvSpPr/>
          <p:nvPr/>
        </p:nvSpPr>
        <p:spPr>
          <a:xfrm>
            <a:off x="6510528" y="420624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Retrieval</a:t>
            </a:r>
            <a:endParaRPr lang="en-US" sz="850" dirty="0"/>
          </a:p>
        </p:txBody>
      </p:sp>
      <p:pic>
        <p:nvPicPr>
          <p:cNvPr id="11" name="logo_45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45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8B-1 · Exit · what can you remember?</a:t>
            </a:r>
            <a:endParaRPr lang="en-US" sz="800" dirty="0"/>
          </a:p>
        </p:txBody>
      </p:sp>
      <p:sp>
        <p:nvSpPr>
          <p:cNvPr id="13" name="bd_456"/>
          <p:cNvSpPr/>
          <p:nvPr/>
        </p:nvSpPr>
        <p:spPr>
          <a:xfrm>
            <a:off x="457200" y="1508760"/>
            <a:ext cx="777240" cy="777240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rt_457"/>
          <p:cNvSpPr/>
          <p:nvPr/>
        </p:nvSpPr>
        <p:spPr>
          <a:xfrm>
            <a:off x="1417320" y="158191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shopping words (receipt…)</a:t>
            </a:r>
            <a:endParaRPr lang="en-US" sz="1400" dirty="0"/>
          </a:p>
        </p:txBody>
      </p:sp>
      <p:sp>
        <p:nvSpPr>
          <p:cNvPr id="15" name="bd_458"/>
          <p:cNvSpPr/>
          <p:nvPr/>
        </p:nvSpPr>
        <p:spPr>
          <a:xfrm>
            <a:off x="457200" y="2468880"/>
            <a:ext cx="777240" cy="777240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600" dirty="0"/>
          </a:p>
        </p:txBody>
      </p:sp>
      <p:sp>
        <p:nvSpPr>
          <p:cNvPr id="16" name="rt_459"/>
          <p:cNvSpPr/>
          <p:nvPr/>
        </p:nvSpPr>
        <p:spPr>
          <a:xfrm>
            <a:off x="1417320" y="254203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things your partner told you – reported!</a:t>
            </a:r>
            <a:endParaRPr lang="en-US" sz="1400" dirty="0"/>
          </a:p>
        </p:txBody>
      </p:sp>
      <p:sp>
        <p:nvSpPr>
          <p:cNvPr id="17" name="bd_460"/>
          <p:cNvSpPr/>
          <p:nvPr/>
        </p:nvSpPr>
        <p:spPr>
          <a:xfrm>
            <a:off x="457200" y="3429000"/>
            <a:ext cx="777240" cy="777240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2600" dirty="0"/>
          </a:p>
        </p:txBody>
      </p:sp>
      <p:sp>
        <p:nvSpPr>
          <p:cNvPr id="18" name="rt_461"/>
          <p:cNvSpPr/>
          <p:nvPr/>
        </p:nvSpPr>
        <p:spPr>
          <a:xfrm>
            <a:off x="1417320" y="350215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rule: how do reported questions change?</a:t>
            </a:r>
            <a:endParaRPr lang="en-US" sz="1400" dirty="0"/>
          </a:p>
        </p:txBody>
      </p:sp>
      <p:sp>
        <p:nvSpPr>
          <p:cNvPr id="19" name="cd_462"/>
          <p:cNvSpPr/>
          <p:nvPr/>
        </p:nvSpPr>
        <p:spPr>
          <a:xfrm>
            <a:off x="5669280" y="1417320"/>
            <a:ext cx="3200400" cy="2286000"/>
          </a:xfrm>
          <a:prstGeom prst="roundRect">
            <a:avLst>
              <a:gd name="adj" fmla="val 5600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0" name="ii_463"/>
          <p:cNvSpPr/>
          <p:nvPr/>
        </p:nvSpPr>
        <p:spPr>
          <a:xfrm>
            <a:off x="576072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📝</a:t>
            </a:r>
            <a:endParaRPr lang="en-US" sz="2200" dirty="0"/>
          </a:p>
        </p:txBody>
      </p:sp>
      <p:sp>
        <p:nvSpPr>
          <p:cNvPr id="21" name="ih_464"/>
          <p:cNvSpPr/>
          <p:nvPr/>
        </p:nvSpPr>
        <p:spPr>
          <a:xfrm>
            <a:off x="6236208" y="15087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Homework · Compiti</a:t>
            </a:r>
            <a:endParaRPr lang="en-US" sz="1400" dirty="0"/>
          </a:p>
        </p:txBody>
      </p:sp>
      <p:sp>
        <p:nvSpPr>
          <p:cNvPr id="22" name="il_465"/>
          <p:cNvSpPr/>
          <p:nvPr/>
        </p:nvSpPr>
        <p:spPr>
          <a:xfrm>
            <a:off x="6236208" y="1892808"/>
            <a:ext cx="254203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Workbook 8B: 1a, 1b, 1c, 2a</a:t>
            </a:r>
            <a:endParaRPr lang="en-US" sz="115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Grammar Bank 8B: a 5–7, b 5–7</a:t>
            </a:r>
            <a:endParaRPr lang="en-US" sz="115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Homework sheet in the LLS app</a:t>
            </a:r>
            <a:endParaRPr lang="en-US" sz="1150" dirty="0"/>
          </a:p>
        </p:txBody>
      </p:sp>
      <p:sp>
        <p:nvSpPr>
          <p:cNvPr id="23" name="st_466"/>
          <p:cNvSpPr/>
          <p:nvPr/>
        </p:nvSpPr>
        <p:spPr>
          <a:xfrm rot="-180000">
            <a:off x="5806440" y="3931920"/>
            <a:ext cx="2926080" cy="68580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Next lesson: 8B part 2 · Going the extra mile · complaining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6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15</a:t>
            </a:r>
            <a:endParaRPr lang="en-US" sz="2200" dirty="0"/>
          </a:p>
        </p:txBody>
      </p:sp>
      <p:pic>
        <p:nvPicPr>
          <p:cNvPr id="4" name="brY_46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304288" cy="621792"/>
          </a:xfrm>
          <a:prstGeom prst="rect">
            <a:avLst/>
          </a:prstGeom>
        </p:spPr>
      </p:pic>
      <p:sp>
        <p:nvSpPr>
          <p:cNvPr id="5" name="title_469"/>
          <p:cNvSpPr/>
          <p:nvPr/>
        </p:nvSpPr>
        <p:spPr>
          <a:xfrm>
            <a:off x="1261872" y="164592"/>
            <a:ext cx="2029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you…</a:t>
            </a:r>
            <a:endParaRPr lang="en-US" sz="2400" dirty="0"/>
          </a:p>
        </p:txBody>
      </p:sp>
      <p:pic>
        <p:nvPicPr>
          <p:cNvPr id="6" name="brP_47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553712" cy="402336"/>
          </a:xfrm>
          <a:prstGeom prst="rect">
            <a:avLst/>
          </a:prstGeom>
        </p:spPr>
      </p:pic>
      <p:sp>
        <p:nvSpPr>
          <p:cNvPr id="7" name="ins_471"/>
          <p:cNvSpPr/>
          <p:nvPr/>
        </p:nvSpPr>
        <p:spPr>
          <a:xfrm>
            <a:off x="1353312" y="731520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you do it now? Thumbs up or thumbs down!</a:t>
            </a:r>
            <a:endParaRPr lang="en-US" sz="1250" dirty="0"/>
          </a:p>
        </p:txBody>
      </p:sp>
      <p:sp>
        <p:nvSpPr>
          <p:cNvPr id="8" name="insIT_47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Ora sai farlo? Pollice su o pollice giù!</a:t>
            </a:r>
            <a:endParaRPr lang="en-US" sz="950" dirty="0"/>
          </a:p>
        </p:txBody>
      </p:sp>
      <p:sp>
        <p:nvSpPr>
          <p:cNvPr id="9" name="cmd_473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💡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1100" dirty="0"/>
          </a:p>
        </p:txBody>
      </p:sp>
      <p:sp>
        <p:nvSpPr>
          <p:cNvPr id="10" name="meta_474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1 min   🙋 whole class</a:t>
            </a:r>
            <a:endParaRPr lang="en-US" sz="950" dirty="0"/>
          </a:p>
        </p:txBody>
      </p:sp>
      <p:sp>
        <p:nvSpPr>
          <p:cNvPr id="11" name="tag_475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Reflection</a:t>
            </a:r>
            <a:endParaRPr lang="en-US" sz="850" dirty="0"/>
          </a:p>
        </p:txBody>
      </p:sp>
      <p:pic>
        <p:nvPicPr>
          <p:cNvPr id="12" name="logo_47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47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8B-1 · Review · what did you do today?</a:t>
            </a:r>
            <a:endParaRPr lang="en-US" sz="800" dirty="0"/>
          </a:p>
        </p:txBody>
      </p:sp>
      <p:sp>
        <p:nvSpPr>
          <p:cNvPr id="14" name="cd_478"/>
          <p:cNvSpPr/>
          <p:nvPr/>
        </p:nvSpPr>
        <p:spPr>
          <a:xfrm>
            <a:off x="548640" y="1417320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te_479"/>
          <p:cNvSpPr/>
          <p:nvPr/>
        </p:nvSpPr>
        <p:spPr>
          <a:xfrm>
            <a:off x="640080" y="14538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👀</a:t>
            </a:r>
            <a:endParaRPr lang="en-US" sz="1800" dirty="0"/>
          </a:p>
        </p:txBody>
      </p:sp>
      <p:sp>
        <p:nvSpPr>
          <p:cNvPr id="16" name="tt_480"/>
          <p:cNvSpPr/>
          <p:nvPr/>
        </p:nvSpPr>
        <p:spPr>
          <a:xfrm>
            <a:off x="1188720" y="1417320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about a VERY helpful shop assistant</a:t>
            </a:r>
            <a:endParaRPr lang="en-US" sz="1350" dirty="0"/>
          </a:p>
        </p:txBody>
      </p:sp>
      <p:sp>
        <p:nvSpPr>
          <p:cNvPr id="17" name="R1_tk481"/>
          <p:cNvSpPr/>
          <p:nvPr/>
        </p:nvSpPr>
        <p:spPr>
          <a:xfrm>
            <a:off x="5989320" y="1453896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18" name="cd_482"/>
          <p:cNvSpPr/>
          <p:nvPr/>
        </p:nvSpPr>
        <p:spPr>
          <a:xfrm>
            <a:off x="548640" y="2020824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9" name="te_48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✏️</a:t>
            </a:r>
            <a:endParaRPr lang="en-US" sz="1800" dirty="0"/>
          </a:p>
        </p:txBody>
      </p:sp>
      <p:sp>
        <p:nvSpPr>
          <p:cNvPr id="20" name="tt_484"/>
          <p:cNvSpPr/>
          <p:nvPr/>
        </p:nvSpPr>
        <p:spPr>
          <a:xfrm>
            <a:off x="1188720" y="2020824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Reported what people said and asked</a:t>
            </a:r>
            <a:endParaRPr lang="en-US" sz="1350" dirty="0"/>
          </a:p>
        </p:txBody>
      </p:sp>
      <p:sp>
        <p:nvSpPr>
          <p:cNvPr id="21" name="R2_tk485"/>
          <p:cNvSpPr/>
          <p:nvPr/>
        </p:nvSpPr>
        <p:spPr>
          <a:xfrm>
            <a:off x="5989320" y="205740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2" name="cd_486"/>
          <p:cNvSpPr/>
          <p:nvPr/>
        </p:nvSpPr>
        <p:spPr>
          <a:xfrm>
            <a:off x="548640" y="2624328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3" name="te_487"/>
          <p:cNvSpPr/>
          <p:nvPr/>
        </p:nvSpPr>
        <p:spPr>
          <a:xfrm>
            <a:off x="640080" y="26609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🛍️</a:t>
            </a:r>
            <a:endParaRPr lang="en-US" sz="1800" dirty="0"/>
          </a:p>
        </p:txBody>
      </p:sp>
      <p:sp>
        <p:nvSpPr>
          <p:cNvPr id="24" name="tt_488"/>
          <p:cNvSpPr/>
          <p:nvPr/>
        </p:nvSpPr>
        <p:spPr>
          <a:xfrm>
            <a:off x="1188720" y="2624328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Learnt shopping words: receipt, refund, bargain…</a:t>
            </a:r>
            <a:endParaRPr lang="en-US" sz="1350" dirty="0"/>
          </a:p>
        </p:txBody>
      </p:sp>
      <p:sp>
        <p:nvSpPr>
          <p:cNvPr id="25" name="R3_tk489"/>
          <p:cNvSpPr/>
          <p:nvPr/>
        </p:nvSpPr>
        <p:spPr>
          <a:xfrm>
            <a:off x="5989320" y="2660904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6" name="cd_490"/>
          <p:cNvSpPr/>
          <p:nvPr/>
        </p:nvSpPr>
        <p:spPr>
          <a:xfrm>
            <a:off x="548640" y="3227832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7" name="te_491"/>
          <p:cNvSpPr/>
          <p:nvPr/>
        </p:nvSpPr>
        <p:spPr>
          <a:xfrm>
            <a:off x="640080" y="32644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📖</a:t>
            </a:r>
            <a:endParaRPr lang="en-US" sz="1800" dirty="0"/>
          </a:p>
        </p:txBody>
      </p:sp>
      <p:sp>
        <p:nvSpPr>
          <p:cNvPr id="28" name="tt_492"/>
          <p:cNvSpPr/>
          <p:nvPr/>
        </p:nvSpPr>
        <p:spPr>
          <a:xfrm>
            <a:off x="1188720" y="3227832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Listened to a class story and answered questions</a:t>
            </a:r>
            <a:endParaRPr lang="en-US" sz="1350" dirty="0"/>
          </a:p>
        </p:txBody>
      </p:sp>
      <p:sp>
        <p:nvSpPr>
          <p:cNvPr id="29" name="R4_tk493"/>
          <p:cNvSpPr/>
          <p:nvPr/>
        </p:nvSpPr>
        <p:spPr>
          <a:xfrm>
            <a:off x="5989320" y="3264408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30" name="cd_494"/>
          <p:cNvSpPr/>
          <p:nvPr/>
        </p:nvSpPr>
        <p:spPr>
          <a:xfrm>
            <a:off x="548640" y="3831336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1" name="te_495"/>
          <p:cNvSpPr/>
          <p:nvPr/>
        </p:nvSpPr>
        <p:spPr>
          <a:xfrm>
            <a:off x="640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💬</a:t>
            </a:r>
            <a:endParaRPr lang="en-US" sz="1800" dirty="0"/>
          </a:p>
        </p:txBody>
      </p:sp>
      <p:sp>
        <p:nvSpPr>
          <p:cNvPr id="32" name="tt_496"/>
          <p:cNvSpPr/>
          <p:nvPr/>
        </p:nvSpPr>
        <p:spPr>
          <a:xfrm>
            <a:off x="1188720" y="3831336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Talked about your shopping habits</a:t>
            </a:r>
            <a:endParaRPr lang="en-US" sz="1350" dirty="0"/>
          </a:p>
        </p:txBody>
      </p:sp>
      <p:sp>
        <p:nvSpPr>
          <p:cNvPr id="33" name="R5_tk497"/>
          <p:cNvSpPr/>
          <p:nvPr/>
        </p:nvSpPr>
        <p:spPr>
          <a:xfrm>
            <a:off x="5989320" y="3867912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34" name="st_498"/>
          <p:cNvSpPr/>
          <p:nvPr/>
        </p:nvSpPr>
        <p:spPr>
          <a:xfrm rot="180000">
            <a:off x="6949440" y="1691640"/>
            <a:ext cx="1828800" cy="1188720"/>
          </a:xfrm>
          <a:prstGeom prst="rect">
            <a:avLst/>
          </a:prstGeom>
          <a:solidFill>
            <a:srgbClr val="FFE07A"/>
          </a:solidFill>
          <a:ln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👍  👌  👎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Can you do it now?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Ora sai farlo?</a:t>
            </a:r>
            <a:endParaRPr lang="en-US" sz="13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8B-1 Have a nice day!</dc:title>
  <dc:subject>PptxGenJS Presentation</dc:subject>
  <dc:creator>PptxGenJS</dc:creator>
  <cp:lastModifiedBy>PptxGenJS</cp:lastModifiedBy>
  <cp:revision>1</cp:revision>
  <dcterms:created xsi:type="dcterms:W3CDTF">2026-10-12T17:11:46Z</dcterms:created>
  <dcterms:modified xsi:type="dcterms:W3CDTF">2026-10-12T17:11:46Z</dcterms:modified>
</cp:coreProperties>
</file>