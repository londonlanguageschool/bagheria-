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When 'happy to help' becomes a problem (4 min)
READING PART 1 (4 min). The FULL article from SB p.80 (no book needed), in two parts. Gist questions on the right; click: answers + the proof lights up. Teach wallet (portafoglio), colleague, I'm just looking.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(5 min)
READING PART 2 (5 min). SB 1b–1c: teach appropriate /əˈprəʊpriət/. TG: many people think only 'Hello, do you need any help?' is appropriate. 1d (speaking): Are sales assistants in Italy helpful or unhelpful? In what way?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Bank 8B · verb forms (4 min)
VERB FORMS (4 min) – the Grammar Bank 8B examples as a chart (owner's model). Read the direct sentence, students say the reported one, then click: the tense label and the sentence appear. Play 8.13 for listen and repeat. TG: mustn't stays the same; could, might, should don't change; that is optional; tomorrow → the next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choose the right option (4 min)
CHOOSE (4 min). The first is the example. All from the Grammar Bank boxes and the TG's 'typical mistakes'. Extra point for the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practice (4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Bank 8B p.147 · a 5–7, b 4–7 (4 min)
GRAMMAR BANK (5 min). The rest of the Grammar Bank exercises (a 1–4 and b 1–3 were on the last slide). Alone, then click once per answer (TG key). Watch: these → those, pronouns change, no do/did in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retell (TPRS) (3 min)
RETELL (3 min, automatic after every class story). A tells lines 1–3, B the rest, then swap. Only the prompts – no reading! Last line: change two things (place, person, ending). Listen for today's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Video · reported speech in action (7 min)
VIDEO (7 min). 'How to complain' Part 2 (7 min) – play the first scenes (chambermaid, reception, breakfast, check-out), pausing after each. Students report what was said BEFORE you click. Next lesson (8B part 2) uses the whole video for the complaining tips, so don't do the tips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Speaking game · reported speech (8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audio" Target="../media/media-12-8.mp3"/><Relationship Id="rId9" Type="http://schemas.microsoft.com/office/2007/relationships/media" Target="../media/media-12-8.mp3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video" Target="../media/media-16-5.mp4"/><Relationship Id="rId6" Type="http://schemas.microsoft.com/office/2007/relationships/media" Target="../media/media-16-5.mp4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a1_afford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270248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207508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318504" y="1783080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357116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200" dirty="0"/>
          </a:p>
        </p:txBody>
      </p:sp>
      <p:sp>
        <p:nvSpPr>
          <p:cNvPr id="25" name="lv_39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8" name="cd_42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3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100" dirty="0"/>
          </a:p>
        </p:txBody>
      </p:sp>
      <p:sp>
        <p:nvSpPr>
          <p:cNvPr id="30" name="R1_rl44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000" dirty="0"/>
          </a:p>
        </p:txBody>
      </p:sp>
      <p:sp>
        <p:nvSpPr>
          <p:cNvPr id="31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100" dirty="0"/>
          </a:p>
        </p:txBody>
      </p:sp>
      <p:sp>
        <p:nvSpPr>
          <p:cNvPr id="33" name="R2_rl47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60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6" name="pf_61"/>
          <p:cNvSpPr/>
          <p:nvPr/>
        </p:nvSpPr>
        <p:spPr>
          <a:xfrm rot="-90000">
            <a:off x="365760" y="2681023"/>
            <a:ext cx="2606040" cy="1669690"/>
          </a:xfrm>
          <a:prstGeom prst="roundRect">
            <a:avLst>
              <a:gd name="adj" fmla="val 93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2" descr="/home/claude/lls-course/v2/cache/4a1_queue_jpg_605x38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26743"/>
            <a:ext cx="2514600" cy="1578250"/>
          </a:xfrm>
          <a:prstGeom prst="rect">
            <a:avLst/>
          </a:prstGeom>
        </p:spPr>
      </p:pic>
      <p:sp>
        <p:nvSpPr>
          <p:cNvPr id="18" name="bd_63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64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950" dirty="0"/>
          </a:p>
        </p:txBody>
      </p:sp>
      <p:sp>
        <p:nvSpPr>
          <p:cNvPr id="20" name="R1_chip65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1" name="bd_66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67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950" dirty="0"/>
          </a:p>
        </p:txBody>
      </p:sp>
      <p:sp>
        <p:nvSpPr>
          <p:cNvPr id="23" name="R2_chip68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4" name="bd_69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70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950" dirty="0"/>
          </a:p>
        </p:txBody>
      </p:sp>
      <p:sp>
        <p:nvSpPr>
          <p:cNvPr id="26" name="R3_chip71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27" name="bd_72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73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950" dirty="0"/>
          </a:p>
        </p:txBody>
      </p:sp>
      <p:sp>
        <p:nvSpPr>
          <p:cNvPr id="29" name="R4_chip74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0" name="bd_75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76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950" dirty="0"/>
          </a:p>
        </p:txBody>
      </p:sp>
      <p:sp>
        <p:nvSpPr>
          <p:cNvPr id="32" name="R5_chip77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3" name="bd_7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79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950" dirty="0"/>
          </a:p>
        </p:txBody>
      </p:sp>
      <p:sp>
        <p:nvSpPr>
          <p:cNvPr id="35" name="R6_chip80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6" name="bd_81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82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950" dirty="0"/>
          </a:p>
        </p:txBody>
      </p:sp>
      <p:sp>
        <p:nvSpPr>
          <p:cNvPr id="38" name="R7_chip83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9" name="bd_84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0" name="q_85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950" dirty="0"/>
          </a:p>
        </p:txBody>
      </p:sp>
      <p:sp>
        <p:nvSpPr>
          <p:cNvPr id="41" name="R8_chip86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8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 to help? (1)</a:t>
            </a:r>
            <a:endParaRPr lang="en-US" sz="2500" dirty="0"/>
          </a:p>
        </p:txBody>
      </p:sp>
      <p:pic>
        <p:nvPicPr>
          <p:cNvPr id="6" name="brP_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91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1. Did the second assistant help Jonathan?</a:t>
            </a:r>
            <a:endParaRPr lang="en-US" sz="1250" dirty="0"/>
          </a:p>
        </p:txBody>
      </p:sp>
      <p:sp>
        <p:nvSpPr>
          <p:cNvPr id="8" name="insIT_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1. Il secondo commesso ha aiutato Jonathan?</a:t>
            </a:r>
            <a:endParaRPr lang="en-US" sz="950" dirty="0"/>
          </a:p>
        </p:txBody>
      </p:sp>
      <p:sp>
        <p:nvSpPr>
          <p:cNvPr id="9" name="note_9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for gist</a:t>
            </a:r>
            <a:endParaRPr lang="en-US" sz="1250" dirty="0"/>
          </a:p>
        </p:txBody>
      </p:sp>
      <p:pic>
        <p:nvPicPr>
          <p:cNvPr id="10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 (the full article, word for word)</a:t>
            </a:r>
            <a:endParaRPr lang="en-US" sz="800" dirty="0"/>
          </a:p>
        </p:txBody>
      </p:sp>
      <p:sp>
        <p:nvSpPr>
          <p:cNvPr id="12" name="cd_9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9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– Jonathan Haynes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my lunch break. I work near King's Cross, a major London train station, and I've gone to the shopping mall there to buy a new wallet. It's a very simple shopping trip. At least, I think it's simple, but five minutes later, I'm not so sure.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 enter the shop, a sales assistant at the far end shouts at me: 'Hi, how are you doing today? Do you need any help?' I answer: 'I'm fine. I'm just looking, thanks.' That should be the end of the conversation, and I go to look at the wallets.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'Hello, do you need any help?' Here is another sales assistant, who I will call SA2. Me: 'I'm fine, thanks. I'm just looking.' I don't know why he needed to ask me this, as I'm certain he heard me tell his colleague.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'Are you going anywhere nice?' This seems a strange question. I expected, 'Are you looking for anything in particular today?' As I don't answer, he repeats the question. SA2: 'Are you going anywhere nice?'</a:t>
            </a:r>
            <a:endParaRPr lang="en-US" sz="1000" dirty="0"/>
          </a:p>
        </p:txBody>
      </p:sp>
      <p:sp>
        <p:nvSpPr>
          <p:cNvPr id="14" name="R1_rdE9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– Jonathan Haynes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my lunch break. I work near King's Cross, a major London train station, and I've gone to the shopping mall there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buy a new wallet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a very simple shopping trip. At least, I think it's simple, but five minutes later, I'm not so sure.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 enter the shop, a sales assistant at the far end shouts at me: 'Hi, how are you doing today? Do you need any help?' I answer: 'I'm fine. I'm just looking, thanks.' That should be the end of the conversation, and I go to look at the wallets.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'Hello, do you need any help?'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Here is another sales assistant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who I will call SA2. Me: 'I'm fine, thanks. I'm just looking.' I don't know why he needed to ask me this, as I'm certain he heard me tell his colleague.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'Are you going anywhere nice?' This seems a strange question.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expected, 'Are you looking for anything in particular today?'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I don't answer, he repeats the question. SA2: 'Are you going anywhere nice?'</a:t>
            </a:r>
            <a:endParaRPr lang="en-US" sz="1000" dirty="0"/>
          </a:p>
        </p:txBody>
      </p:sp>
      <p:sp>
        <p:nvSpPr>
          <p:cNvPr id="15" name="cd_99"/>
          <p:cNvSpPr/>
          <p:nvPr/>
        </p:nvSpPr>
        <p:spPr>
          <a:xfrm>
            <a:off x="6263640" y="1417320"/>
            <a:ext cx="260604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00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🤔</a:t>
            </a:r>
            <a:endParaRPr lang="en-US" sz="2200" dirty="0"/>
          </a:p>
        </p:txBody>
      </p:sp>
      <p:sp>
        <p:nvSpPr>
          <p:cNvPr id="17" name="ih_101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il_102"/>
          <p:cNvSpPr/>
          <p:nvPr/>
        </p:nvSpPr>
        <p:spPr>
          <a:xfrm>
            <a:off x="6830568" y="1911096"/>
            <a:ext cx="194767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assistants talk to Jonathan?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want to buy?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'Are you going anywhere nice?' strange?</a:t>
            </a:r>
            <a:endParaRPr lang="en-US" sz="1100" dirty="0"/>
          </a:p>
        </p:txBody>
      </p:sp>
      <p:sp>
        <p:nvSpPr>
          <p:cNvPr id="19" name="R1_chip103"/>
          <p:cNvSpPr/>
          <p:nvPr/>
        </p:nvSpPr>
        <p:spPr>
          <a:xfrm>
            <a:off x="6263640" y="3590544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assistants · a wallet · he expected 'Are you looking for anything in particular?'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0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 to help? (2)</a:t>
            </a:r>
            <a:endParaRPr lang="en-US" sz="2500" dirty="0"/>
          </a:p>
        </p:txBody>
      </p:sp>
      <p:pic>
        <p:nvPicPr>
          <p:cNvPr id="6" name="brP_1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0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2. Answer the questions.</a:t>
            </a:r>
            <a:endParaRPr lang="en-US" sz="1250" dirty="0"/>
          </a:p>
        </p:txBody>
      </p:sp>
      <p:sp>
        <p:nvSpPr>
          <p:cNvPr id="8" name="insIT_1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2. Rispondi alle domande.</a:t>
            </a:r>
            <a:endParaRPr lang="en-US" sz="950" dirty="0"/>
          </a:p>
        </p:txBody>
      </p:sp>
      <p:sp>
        <p:nvSpPr>
          <p:cNvPr id="9" name="note_1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for detail</a:t>
            </a:r>
            <a:endParaRPr lang="en-US" sz="1150" dirty="0"/>
          </a:p>
        </p:txBody>
      </p:sp>
      <p:pic>
        <p:nvPicPr>
          <p:cNvPr id="10" name="logo_1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1c, 1d (TG key)</a:t>
            </a:r>
            <a:endParaRPr lang="en-US" sz="800" dirty="0"/>
          </a:p>
        </p:txBody>
      </p:sp>
      <p:sp>
        <p:nvSpPr>
          <p:cNvPr id="12" name="cd_113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14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(2)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remember that I'm in a shop in a train station and I now understand his question. Me: 'No. I work near here. I just came in to look for a new wallet.' SA2: 'Where do you work?' Me: 'Oh, er, I work in an office round the corner.' I try to look at wallets, and hope he goes away.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'Do you like football?' It's a simple question, but I know that if I say yes, he will ask me questions about 'your team'. I'm not sure how this helps me to buy a wallet. Me: 'Er, it's OK.' SA2: 'Are you going to watch the England match?' I want him to stop. Me: 'No, I'm not.'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walk to another part of the shop. The sales assistant follows me. SA2: 'What are you doing after work?' Me: 'I'm having dinner with a friend.' SA2: 'Are you doing anything for the rest of the day?' Me: 'Um, thank you for your help!'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run away without a wallet. His never-ending questions lost him the sale. Shopping didn't use to be like this. In the USA, perhaps, but not in the UK. It is a big improvement that sales assistants nowadays acknowledge your existence and are sometimes actually helpful. But there's a difference between being helpful and trying to pretend you're a shopper's best friend.</a:t>
            </a:r>
            <a:endParaRPr lang="en-US" sz="950" dirty="0"/>
          </a:p>
        </p:txBody>
      </p:sp>
      <p:sp>
        <p:nvSpPr>
          <p:cNvPr id="14" name="R1_rdE115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(2)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remember that I'm in a shop in a train station and I now understand his question. Me: 'No. I work near here. I just came in to look for a new wallet.' SA2: 'Where do you work?' Me: 'Oh, er, I work in an office round the corner.' I try to look at wallets, and hope he goes away.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'Do you like football?' It's a simple question, but I know that if I say yes, he will ask me questions about 'your team'. I'm not sure how this helps me to buy a wallet. Me: 'Er, it's OK.' SA2: 'Are you going to watch the England match?' I want him to stop. Me: 'No, I'm not.'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walk to another part of the shop. The sales assistant follows me. SA2: 'What are you doing after work?' Me: 'I'm having dinner with a friend.' SA2: 'Are you doing anything for the rest of the day?' Me: 'Um, thank you for your help!'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run away without a wallet.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His never-ending questions lost him the sale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Shopping didn't use to be like this. In the USA, perhaps, but not in the UK. It is a big improvement that sales assistants nowadays acknowledge your existence and are sometimes actually helpful.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there's a difference between being helpful and trying to pretend you're a shopper's best friend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</p:txBody>
      </p:sp>
      <p:sp>
        <p:nvSpPr>
          <p:cNvPr id="15" name="bd_116"/>
          <p:cNvSpPr/>
          <p:nvPr/>
        </p:nvSpPr>
        <p:spPr>
          <a:xfrm>
            <a:off x="6172200" y="154152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rq_117"/>
          <p:cNvSpPr/>
          <p:nvPr/>
        </p:nvSpPr>
        <p:spPr>
          <a:xfrm>
            <a:off x="6492240" y="1417320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1b Did the second sales assistant help him? Why (not)?</a:t>
            </a:r>
            <a:endParaRPr lang="en-US" sz="950" dirty="0"/>
          </a:p>
        </p:txBody>
      </p:sp>
      <p:sp>
        <p:nvSpPr>
          <p:cNvPr id="17" name="R1_chip118"/>
          <p:cNvSpPr/>
          <p:nvPr/>
        </p:nvSpPr>
        <p:spPr>
          <a:xfrm>
            <a:off x="6492240" y="1967484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– he talked too much and kept asking questions: 'His never-ending questions lost him the sale.'</a:t>
            </a:r>
            <a:endParaRPr lang="en-US" sz="900" dirty="0"/>
          </a:p>
        </p:txBody>
      </p:sp>
      <p:sp>
        <p:nvSpPr>
          <p:cNvPr id="18" name="bd_119"/>
          <p:cNvSpPr/>
          <p:nvPr/>
        </p:nvSpPr>
        <p:spPr>
          <a:xfrm>
            <a:off x="6172200" y="2678430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rq_120"/>
          <p:cNvSpPr/>
          <p:nvPr/>
        </p:nvSpPr>
        <p:spPr>
          <a:xfrm>
            <a:off x="6492240" y="2554224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1c Find the assistant's questions. Which are NOT appropriate?</a:t>
            </a:r>
            <a:endParaRPr lang="en-US" sz="950" dirty="0"/>
          </a:p>
        </p:txBody>
      </p:sp>
      <p:sp>
        <p:nvSpPr>
          <p:cNvPr id="20" name="R2_chip121"/>
          <p:cNvSpPr/>
          <p:nvPr/>
        </p:nvSpPr>
        <p:spPr>
          <a:xfrm>
            <a:off x="6492240" y="3104388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work? · Do you like football? · Are you going to watch the England match? · What are you doing after work? · Are you doing anything for the rest of the day?</a:t>
            </a:r>
            <a:endParaRPr lang="en-US" sz="700" dirty="0"/>
          </a:p>
        </p:txBody>
      </p:sp>
      <p:sp>
        <p:nvSpPr>
          <p:cNvPr id="21" name="bd_122"/>
          <p:cNvSpPr/>
          <p:nvPr/>
        </p:nvSpPr>
        <p:spPr>
          <a:xfrm>
            <a:off x="6172200" y="3815334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rq_123"/>
          <p:cNvSpPr/>
          <p:nvPr/>
        </p:nvSpPr>
        <p:spPr>
          <a:xfrm>
            <a:off x="6492240" y="3691128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difference, says Jonathan?</a:t>
            </a:r>
            <a:endParaRPr lang="en-US" sz="950" dirty="0"/>
          </a:p>
        </p:txBody>
      </p:sp>
      <p:sp>
        <p:nvSpPr>
          <p:cNvPr id="23" name="R3_chip124"/>
          <p:cNvSpPr/>
          <p:nvPr/>
        </p:nvSpPr>
        <p:spPr>
          <a:xfrm>
            <a:off x="6492240" y="4241292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'between being helpful and trying to pretend you're a shopper's best friend'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27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2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note_13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1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2" name="cd_134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3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3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37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900" dirty="0"/>
          </a:p>
        </p:txBody>
      </p:sp>
      <p:sp>
        <p:nvSpPr>
          <p:cNvPr id="16" name="pf_138"/>
          <p:cNvSpPr/>
          <p:nvPr/>
        </p:nvSpPr>
        <p:spPr>
          <a:xfrm rot="-90000">
            <a:off x="365760" y="2904810"/>
            <a:ext cx="2606040" cy="1423283"/>
          </a:xfrm>
          <a:prstGeom prst="roundRect">
            <a:avLst>
              <a:gd name="adj" fmla="val 109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39" descr="/home/claude/lls-course/v2/cache/4a1_polite_jpg_605x3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950530"/>
            <a:ext cx="2514600" cy="1331843"/>
          </a:xfrm>
          <a:prstGeom prst="rect">
            <a:avLst/>
          </a:prstGeom>
        </p:spPr>
      </p:pic>
      <p:sp>
        <p:nvSpPr>
          <p:cNvPr id="18" name="bd_14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4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0" name="R1_chip14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50" dirty="0"/>
          </a:p>
        </p:txBody>
      </p:sp>
      <p:sp>
        <p:nvSpPr>
          <p:cNvPr id="21" name="bd_14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4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3" name="R2_chip14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50" dirty="0"/>
          </a:p>
        </p:txBody>
      </p:sp>
      <p:sp>
        <p:nvSpPr>
          <p:cNvPr id="24" name="bd_14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4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6" name="R3_chip14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50" dirty="0"/>
          </a:p>
        </p:txBody>
      </p:sp>
      <p:sp>
        <p:nvSpPr>
          <p:cNvPr id="27" name="bd_14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5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29" name="R4_chip15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50" dirty="0"/>
          </a:p>
        </p:txBody>
      </p:sp>
      <p:sp>
        <p:nvSpPr>
          <p:cNvPr id="30" name="bd_15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5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2" name="R5_chip15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50" dirty="0"/>
          </a:p>
        </p:txBody>
      </p:sp>
      <p:sp>
        <p:nvSpPr>
          <p:cNvPr id="33" name="bd_15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5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5" name="R6_chip15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6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6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note_16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2" name="ah_167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5" name="ah_168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7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169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170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20" name="pf_171"/>
          <p:cNvSpPr/>
          <p:nvPr/>
        </p:nvSpPr>
        <p:spPr>
          <a:xfrm>
            <a:off x="1024631" y="1938528"/>
            <a:ext cx="134925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72" descr="/home/claude/lls-course/v2/cache/3b1_jokes_jpg_303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0351" y="1984248"/>
            <a:ext cx="1257817" cy="868680"/>
          </a:xfrm>
          <a:prstGeom prst="rect">
            <a:avLst/>
          </a:prstGeom>
        </p:spPr>
      </p:pic>
      <p:sp>
        <p:nvSpPr>
          <p:cNvPr id="22" name="ru_173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3" name="R1_rx174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4" name="R1_ri175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5" name="cd_17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17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7" name="pf_178"/>
          <p:cNvSpPr/>
          <p:nvPr/>
        </p:nvSpPr>
        <p:spPr>
          <a:xfrm>
            <a:off x="3970020" y="1938528"/>
            <a:ext cx="12496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79" descr="/home/claude/lls-course/v2/cache/2a1_coins_jpg_279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15740" y="1984248"/>
            <a:ext cx="1158240" cy="868680"/>
          </a:xfrm>
          <a:prstGeom prst="rect">
            <a:avLst/>
          </a:prstGeom>
        </p:spPr>
      </p:pic>
      <p:sp>
        <p:nvSpPr>
          <p:cNvPr id="29" name="ru_180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30" name="R2_rx181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31" name="R2_ri182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2" name="cd_18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18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4" name="pf_185"/>
          <p:cNvSpPr/>
          <p:nvPr/>
        </p:nvSpPr>
        <p:spPr>
          <a:xfrm>
            <a:off x="6752713" y="1938528"/>
            <a:ext cx="147549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186" descr="/home/claude/lls-course/v2/cache/4a1_queue_jpg_333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98433" y="1984248"/>
            <a:ext cx="1384054" cy="868680"/>
          </a:xfrm>
          <a:prstGeom prst="rect">
            <a:avLst/>
          </a:prstGeom>
        </p:spPr>
      </p:pic>
      <p:sp>
        <p:nvSpPr>
          <p:cNvPr id="36" name="ru_187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7" name="R3_rx188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8" name="R3_ri189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9" name="R4_wc190"/>
          <p:cNvSpPr/>
          <p:nvPr/>
        </p:nvSpPr>
        <p:spPr>
          <a:xfrm>
            <a:off x="320040" y="4544568"/>
            <a:ext cx="216712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191"/>
          <p:cNvSpPr/>
          <p:nvPr/>
        </p:nvSpPr>
        <p:spPr>
          <a:xfrm>
            <a:off x="457200" y="4544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back!</a:t>
            </a:r>
            <a:endParaRPr lang="en-US" sz="2500" dirty="0"/>
          </a:p>
        </p:txBody>
      </p:sp>
      <p:pic>
        <p:nvPicPr>
          <p:cNvPr id="6" name="brP_1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19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reported sentence. Then click!</a:t>
            </a:r>
            <a:endParaRPr lang="en-US" sz="1250" dirty="0"/>
          </a:p>
        </p:txBody>
      </p:sp>
      <p:sp>
        <p:nvSpPr>
          <p:cNvPr id="8" name="insIT_1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frase riportata. Poi clicca!</a:t>
            </a:r>
            <a:endParaRPr lang="en-US" sz="950" dirty="0"/>
          </a:p>
        </p:txBody>
      </p:sp>
      <p:sp>
        <p:nvSpPr>
          <p:cNvPr id="9" name="note_19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</a:t>
            </a:r>
            <a:endParaRPr lang="en-US" sz="1150" dirty="0"/>
          </a:p>
        </p:txBody>
      </p:sp>
      <p:pic>
        <p:nvPicPr>
          <p:cNvPr id="10" name="logo_1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Bank 8B · verb forms   ·   📖 Grammar Bank 8B p.147 · audio 8.13</a:t>
            </a:r>
            <a:endParaRPr lang="en-US" sz="800" dirty="0"/>
          </a:p>
        </p:txBody>
      </p:sp>
      <p:sp>
        <p:nvSpPr>
          <p:cNvPr id="12" name="cvl_201"/>
          <p:cNvSpPr/>
          <p:nvPr/>
        </p:nvSpPr>
        <p:spPr>
          <a:xfrm>
            <a:off x="320040" y="1417320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like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shopping.'</a:t>
            </a:r>
            <a:endParaRPr lang="en-US" sz="1000" dirty="0"/>
          </a:p>
        </p:txBody>
      </p:sp>
      <p:sp>
        <p:nvSpPr>
          <p:cNvPr id="13" name="cva_202"/>
          <p:cNvSpPr/>
          <p:nvPr/>
        </p:nvSpPr>
        <p:spPr>
          <a:xfrm>
            <a:off x="3364992" y="141732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simple</a:t>
            </a:r>
            <a:endParaRPr lang="en-US" sz="1000" dirty="0"/>
          </a:p>
        </p:txBody>
      </p:sp>
      <p:sp>
        <p:nvSpPr>
          <p:cNvPr id="14" name="R1_cvb203"/>
          <p:cNvSpPr/>
          <p:nvPr/>
        </p:nvSpPr>
        <p:spPr>
          <a:xfrm>
            <a:off x="4443984" y="141732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000" dirty="0"/>
          </a:p>
        </p:txBody>
      </p:sp>
      <p:sp>
        <p:nvSpPr>
          <p:cNvPr id="15" name="R1_cvr204"/>
          <p:cNvSpPr/>
          <p:nvPr/>
        </p:nvSpPr>
        <p:spPr>
          <a:xfrm>
            <a:off x="5541264" y="1417320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liked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shopping.</a:t>
            </a:r>
            <a:endParaRPr lang="en-US" sz="1000" dirty="0"/>
          </a:p>
        </p:txBody>
      </p:sp>
      <p:sp>
        <p:nvSpPr>
          <p:cNvPr id="16" name="cvl_205"/>
          <p:cNvSpPr/>
          <p:nvPr/>
        </p:nvSpPr>
        <p:spPr>
          <a:xfrm>
            <a:off x="320040" y="1835658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leaving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tomorrow.'</a:t>
            </a:r>
            <a:endParaRPr lang="en-US" sz="1000" dirty="0"/>
          </a:p>
        </p:txBody>
      </p:sp>
      <p:sp>
        <p:nvSpPr>
          <p:cNvPr id="17" name="cva_206"/>
          <p:cNvSpPr/>
          <p:nvPr/>
        </p:nvSpPr>
        <p:spPr>
          <a:xfrm>
            <a:off x="3364992" y="183565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cont.</a:t>
            </a:r>
            <a:endParaRPr lang="en-US" sz="1000" dirty="0"/>
          </a:p>
        </p:txBody>
      </p:sp>
      <p:sp>
        <p:nvSpPr>
          <p:cNvPr id="18" name="R2_cvb207"/>
          <p:cNvSpPr/>
          <p:nvPr/>
        </p:nvSpPr>
        <p:spPr>
          <a:xfrm>
            <a:off x="4443984" y="183565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cont.</a:t>
            </a:r>
            <a:endParaRPr lang="en-US" sz="1000" dirty="0"/>
          </a:p>
        </p:txBody>
      </p:sp>
      <p:sp>
        <p:nvSpPr>
          <p:cNvPr id="19" name="R2_cvr208"/>
          <p:cNvSpPr/>
          <p:nvPr/>
        </p:nvSpPr>
        <p:spPr>
          <a:xfrm>
            <a:off x="5541264" y="1835658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her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leaving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next day.</a:t>
            </a:r>
            <a:endParaRPr lang="en-US" sz="1000" dirty="0"/>
          </a:p>
        </p:txBody>
      </p:sp>
      <p:sp>
        <p:nvSpPr>
          <p:cNvPr id="20" name="cvl_209"/>
          <p:cNvSpPr/>
          <p:nvPr/>
        </p:nvSpPr>
        <p:spPr>
          <a:xfrm>
            <a:off x="320040" y="2253996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always love you.'</a:t>
            </a:r>
            <a:endParaRPr lang="en-US" sz="1000" dirty="0"/>
          </a:p>
        </p:txBody>
      </p:sp>
      <p:sp>
        <p:nvSpPr>
          <p:cNvPr id="21" name="cva_210"/>
          <p:cNvSpPr/>
          <p:nvPr/>
        </p:nvSpPr>
        <p:spPr>
          <a:xfrm>
            <a:off x="3364992" y="225399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will</a:t>
            </a:r>
            <a:endParaRPr lang="en-US" sz="1000" dirty="0"/>
          </a:p>
        </p:txBody>
      </p:sp>
      <p:sp>
        <p:nvSpPr>
          <p:cNvPr id="22" name="R3_cvb211"/>
          <p:cNvSpPr/>
          <p:nvPr/>
        </p:nvSpPr>
        <p:spPr>
          <a:xfrm>
            <a:off x="4443984" y="225399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would</a:t>
            </a:r>
            <a:endParaRPr lang="en-US" sz="1000" dirty="0"/>
          </a:p>
        </p:txBody>
      </p:sp>
      <p:sp>
        <p:nvSpPr>
          <p:cNvPr id="23" name="R3_cvr212"/>
          <p:cNvSpPr/>
          <p:nvPr/>
        </p:nvSpPr>
        <p:spPr>
          <a:xfrm>
            <a:off x="5541264" y="2253996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always love me.</a:t>
            </a:r>
            <a:endParaRPr lang="en-US" sz="1000" dirty="0"/>
          </a:p>
        </p:txBody>
      </p:sp>
      <p:sp>
        <p:nvSpPr>
          <p:cNvPr id="24" name="cvl_213"/>
          <p:cNvSpPr/>
          <p:nvPr/>
        </p:nvSpPr>
        <p:spPr>
          <a:xfrm>
            <a:off x="320040" y="2672334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exam!'</a:t>
            </a:r>
            <a:endParaRPr lang="en-US" sz="1000" dirty="0"/>
          </a:p>
        </p:txBody>
      </p:sp>
      <p:sp>
        <p:nvSpPr>
          <p:cNvPr id="25" name="cva_214"/>
          <p:cNvSpPr/>
          <p:nvPr/>
        </p:nvSpPr>
        <p:spPr>
          <a:xfrm>
            <a:off x="3364992" y="2672334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000" dirty="0"/>
          </a:p>
        </p:txBody>
      </p:sp>
      <p:sp>
        <p:nvSpPr>
          <p:cNvPr id="26" name="R4_cvb215"/>
          <p:cNvSpPr/>
          <p:nvPr/>
        </p:nvSpPr>
        <p:spPr>
          <a:xfrm>
            <a:off x="4443984" y="2672334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perfect</a:t>
            </a:r>
            <a:endParaRPr lang="en-US" sz="1000" dirty="0"/>
          </a:p>
        </p:txBody>
      </p:sp>
      <p:sp>
        <p:nvSpPr>
          <p:cNvPr id="27" name="R4_cvr216"/>
          <p:cNvSpPr/>
          <p:nvPr/>
        </p:nvSpPr>
        <p:spPr>
          <a:xfrm>
            <a:off x="5541264" y="2672334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me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passed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exam.</a:t>
            </a:r>
            <a:endParaRPr lang="en-US" sz="1000" dirty="0"/>
          </a:p>
        </p:txBody>
      </p:sp>
      <p:sp>
        <p:nvSpPr>
          <p:cNvPr id="28" name="cvl_217"/>
          <p:cNvSpPr/>
          <p:nvPr/>
        </p:nvSpPr>
        <p:spPr>
          <a:xfrm>
            <a:off x="320040" y="3090672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forgotten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keys.'</a:t>
            </a:r>
            <a:endParaRPr lang="en-US" sz="1000" dirty="0"/>
          </a:p>
        </p:txBody>
      </p:sp>
      <p:sp>
        <p:nvSpPr>
          <p:cNvPr id="29" name="cva_218"/>
          <p:cNvSpPr/>
          <p:nvPr/>
        </p:nvSpPr>
        <p:spPr>
          <a:xfrm>
            <a:off x="3364992" y="3090672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000" dirty="0"/>
          </a:p>
        </p:txBody>
      </p:sp>
      <p:sp>
        <p:nvSpPr>
          <p:cNvPr id="30" name="R5_cvb219"/>
          <p:cNvSpPr/>
          <p:nvPr/>
        </p:nvSpPr>
        <p:spPr>
          <a:xfrm>
            <a:off x="4443984" y="3090672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perfect</a:t>
            </a:r>
            <a:endParaRPr lang="en-US" sz="1000" dirty="0"/>
          </a:p>
        </p:txBody>
      </p:sp>
      <p:sp>
        <p:nvSpPr>
          <p:cNvPr id="31" name="R5_cvr220"/>
          <p:cNvSpPr/>
          <p:nvPr/>
        </p:nvSpPr>
        <p:spPr>
          <a:xfrm>
            <a:off x="5541264" y="3090672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forgotten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keys.</a:t>
            </a:r>
            <a:endParaRPr lang="en-US" sz="1000" dirty="0"/>
          </a:p>
        </p:txBody>
      </p:sp>
      <p:sp>
        <p:nvSpPr>
          <p:cNvPr id="32" name="cvl_221"/>
          <p:cNvSpPr/>
          <p:nvPr/>
        </p:nvSpPr>
        <p:spPr>
          <a:xfrm>
            <a:off x="320040" y="3509010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come.'</a:t>
            </a:r>
            <a:endParaRPr lang="en-US" sz="1000" dirty="0"/>
          </a:p>
        </p:txBody>
      </p:sp>
      <p:sp>
        <p:nvSpPr>
          <p:cNvPr id="33" name="cva_222"/>
          <p:cNvSpPr/>
          <p:nvPr/>
        </p:nvSpPr>
        <p:spPr>
          <a:xfrm>
            <a:off x="3364992" y="350901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</a:t>
            </a:r>
            <a:endParaRPr lang="en-US" sz="1000" dirty="0"/>
          </a:p>
        </p:txBody>
      </p:sp>
      <p:sp>
        <p:nvSpPr>
          <p:cNvPr id="34" name="R6_cvb223"/>
          <p:cNvSpPr/>
          <p:nvPr/>
        </p:nvSpPr>
        <p:spPr>
          <a:xfrm>
            <a:off x="4443984" y="350901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</a:t>
            </a:r>
            <a:endParaRPr lang="en-US" sz="1000" dirty="0"/>
          </a:p>
        </p:txBody>
      </p:sp>
      <p:sp>
        <p:nvSpPr>
          <p:cNvPr id="35" name="R6_cvr224"/>
          <p:cNvSpPr/>
          <p:nvPr/>
        </p:nvSpPr>
        <p:spPr>
          <a:xfrm>
            <a:off x="5541264" y="3509010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couldn't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come.</a:t>
            </a:r>
            <a:endParaRPr lang="en-US" sz="1000" dirty="0"/>
          </a:p>
        </p:txBody>
      </p:sp>
      <p:sp>
        <p:nvSpPr>
          <p:cNvPr id="36" name="cvl_225"/>
          <p:cNvSpPr/>
          <p:nvPr/>
        </p:nvSpPr>
        <p:spPr>
          <a:xfrm>
            <a:off x="320040" y="3927348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late.'</a:t>
            </a:r>
            <a:endParaRPr lang="en-US" sz="1000" dirty="0"/>
          </a:p>
        </p:txBody>
      </p:sp>
      <p:sp>
        <p:nvSpPr>
          <p:cNvPr id="37" name="cva_226"/>
          <p:cNvSpPr/>
          <p:nvPr/>
        </p:nvSpPr>
        <p:spPr>
          <a:xfrm>
            <a:off x="3364992" y="392734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</a:t>
            </a:r>
            <a:endParaRPr lang="en-US" sz="1000" dirty="0"/>
          </a:p>
        </p:txBody>
      </p:sp>
      <p:sp>
        <p:nvSpPr>
          <p:cNvPr id="38" name="R7_cvb227"/>
          <p:cNvSpPr/>
          <p:nvPr/>
        </p:nvSpPr>
        <p:spPr>
          <a:xfrm>
            <a:off x="4443984" y="392734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might</a:t>
            </a:r>
            <a:endParaRPr lang="en-US" sz="1000" dirty="0"/>
          </a:p>
        </p:txBody>
      </p:sp>
      <p:sp>
        <p:nvSpPr>
          <p:cNvPr id="39" name="R7_cvr228"/>
          <p:cNvSpPr/>
          <p:nvPr/>
        </p:nvSpPr>
        <p:spPr>
          <a:xfrm>
            <a:off x="5541264" y="3927348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late.</a:t>
            </a:r>
            <a:endParaRPr lang="en-US" sz="1000" dirty="0"/>
          </a:p>
        </p:txBody>
      </p:sp>
      <p:sp>
        <p:nvSpPr>
          <p:cNvPr id="40" name="cvl_229"/>
          <p:cNvSpPr/>
          <p:nvPr/>
        </p:nvSpPr>
        <p:spPr>
          <a:xfrm>
            <a:off x="320040" y="4345686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go.'</a:t>
            </a:r>
            <a:endParaRPr lang="en-US" sz="1000" dirty="0"/>
          </a:p>
        </p:txBody>
      </p:sp>
      <p:sp>
        <p:nvSpPr>
          <p:cNvPr id="41" name="cva_230"/>
          <p:cNvSpPr/>
          <p:nvPr/>
        </p:nvSpPr>
        <p:spPr>
          <a:xfrm>
            <a:off x="3364992" y="434568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must</a:t>
            </a:r>
            <a:endParaRPr lang="en-US" sz="1000" dirty="0"/>
          </a:p>
        </p:txBody>
      </p:sp>
      <p:sp>
        <p:nvSpPr>
          <p:cNvPr id="42" name="R8_cvb231"/>
          <p:cNvSpPr/>
          <p:nvPr/>
        </p:nvSpPr>
        <p:spPr>
          <a:xfrm>
            <a:off x="4443984" y="434568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had to</a:t>
            </a:r>
            <a:endParaRPr lang="en-US" sz="1000" dirty="0"/>
          </a:p>
        </p:txBody>
      </p:sp>
      <p:sp>
        <p:nvSpPr>
          <p:cNvPr id="43" name="R8_cvr232"/>
          <p:cNvSpPr/>
          <p:nvPr/>
        </p:nvSpPr>
        <p:spPr>
          <a:xfrm>
            <a:off x="5541264" y="4345686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to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235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Said or told? Right or wrong?</a:t>
            </a:r>
            <a:endParaRPr lang="en-US" sz="2500" dirty="0"/>
          </a:p>
        </p:txBody>
      </p:sp>
      <p:pic>
        <p:nvPicPr>
          <p:cNvPr id="6" name="brP_2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3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choose the correct option. Say WHY!</a:t>
            </a:r>
            <a:endParaRPr lang="en-US" sz="1250" dirty="0"/>
          </a:p>
        </p:txBody>
      </p:sp>
      <p:sp>
        <p:nvSpPr>
          <p:cNvPr id="8" name="insIT_2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scegliete l'opzione giusta. Dite PERCHÉ!</a:t>
            </a:r>
            <a:endParaRPr lang="en-US" sz="950" dirty="0"/>
          </a:p>
        </p:txBody>
      </p:sp>
      <p:sp>
        <p:nvSpPr>
          <p:cNvPr id="9" name="note_23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4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choose the right option   ·   📖 Grammar Bank 8B p.147 · say and tell box · TG typical mistakes</a:t>
            </a:r>
            <a:endParaRPr lang="en-US" sz="800" dirty="0"/>
          </a:p>
        </p:txBody>
      </p:sp>
      <p:sp>
        <p:nvSpPr>
          <p:cNvPr id="12" name="cd_242"/>
          <p:cNvSpPr/>
          <p:nvPr/>
        </p:nvSpPr>
        <p:spPr>
          <a:xfrm>
            <a:off x="320040" y="1417320"/>
            <a:ext cx="2697480" cy="1917192"/>
          </a:xfrm>
          <a:prstGeom prst="roundRect">
            <a:avLst>
              <a:gd name="adj" fmla="val 66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4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45"/>
          <p:cNvSpPr/>
          <p:nvPr/>
        </p:nvSpPr>
        <p:spPr>
          <a:xfrm>
            <a:off x="886968" y="1911096"/>
            <a:ext cx="2039112" cy="1350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Choose A or B.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rule = 1 more point!</a:t>
            </a:r>
            <a:endParaRPr lang="en-US" sz="1200" dirty="0"/>
          </a:p>
        </p:txBody>
      </p:sp>
      <p:sp>
        <p:nvSpPr>
          <p:cNvPr id="16" name="st_246"/>
          <p:cNvSpPr/>
          <p:nvPr/>
        </p:nvSpPr>
        <p:spPr>
          <a:xfrm rot="-180000">
            <a:off x="502920" y="35173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247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248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Sarah said / told me that she was tired.</a:t>
            </a:r>
            <a:endParaRPr lang="en-US" sz="900" dirty="0"/>
          </a:p>
        </p:txBody>
      </p:sp>
      <p:sp>
        <p:nvSpPr>
          <p:cNvPr id="19" name="chip_249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told me (tell + person)</a:t>
            </a:r>
            <a:endParaRPr lang="en-US" sz="950" dirty="0"/>
          </a:p>
        </p:txBody>
      </p:sp>
      <p:sp>
        <p:nvSpPr>
          <p:cNvPr id="20" name="bd_250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51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Sarah said / told that she was tired.</a:t>
            </a:r>
            <a:endParaRPr lang="en-US" sz="900" dirty="0"/>
          </a:p>
        </p:txBody>
      </p:sp>
      <p:sp>
        <p:nvSpPr>
          <p:cNvPr id="22" name="R1_chip252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said (no person after said)</a:t>
            </a:r>
            <a:endParaRPr lang="en-US" sz="950" dirty="0"/>
          </a:p>
        </p:txBody>
      </p:sp>
      <p:sp>
        <p:nvSpPr>
          <p:cNvPr id="23" name="bd_253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54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me where did I live / where I lived.</a:t>
            </a:r>
            <a:endParaRPr lang="en-US" sz="900" dirty="0"/>
          </a:p>
        </p:txBody>
      </p:sp>
      <p:sp>
        <p:nvSpPr>
          <p:cNvPr id="25" name="R2_chip255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I lived (normal word order)</a:t>
            </a:r>
            <a:endParaRPr lang="en-US" sz="950" dirty="0"/>
          </a:p>
        </p:txBody>
      </p:sp>
      <p:sp>
        <p:nvSpPr>
          <p:cNvPr id="26" name="bd_256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57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/ that she was married.</a:t>
            </a:r>
            <a:endParaRPr lang="en-US" sz="900" dirty="0"/>
          </a:p>
        </p:txBody>
      </p:sp>
      <p:sp>
        <p:nvSpPr>
          <p:cNvPr id="28" name="R3_chip258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if (yes/no question)</a:t>
            </a:r>
            <a:endParaRPr lang="en-US" sz="950" dirty="0"/>
          </a:p>
        </p:txBody>
      </p:sp>
      <p:sp>
        <p:nvSpPr>
          <p:cNvPr id="29" name="bd_259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60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waiter said he will / would call the manager.</a:t>
            </a:r>
            <a:endParaRPr lang="en-US" sz="900" dirty="0"/>
          </a:p>
        </p:txBody>
      </p:sp>
      <p:sp>
        <p:nvSpPr>
          <p:cNvPr id="31" name="R4_chip261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would (will → would)</a:t>
            </a:r>
            <a:endParaRPr lang="en-US" sz="950" dirty="0"/>
          </a:p>
        </p:txBody>
      </p:sp>
      <p:sp>
        <p:nvSpPr>
          <p:cNvPr id="32" name="bd_262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63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asked me where I lived / did live.</a:t>
            </a:r>
            <a:endParaRPr lang="en-US" sz="900" dirty="0"/>
          </a:p>
        </p:txBody>
      </p:sp>
      <p:sp>
        <p:nvSpPr>
          <p:cNvPr id="34" name="R5_chip264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I lived (no did)</a:t>
            </a:r>
            <a:endParaRPr lang="en-US" sz="950" dirty="0"/>
          </a:p>
        </p:txBody>
      </p:sp>
      <p:sp>
        <p:nvSpPr>
          <p:cNvPr id="35" name="bd_265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66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can't / couldn't come.</a:t>
            </a:r>
            <a:endParaRPr lang="en-US" sz="900" dirty="0"/>
          </a:p>
        </p:txBody>
      </p:sp>
      <p:sp>
        <p:nvSpPr>
          <p:cNvPr id="37" name="R6_chip267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couldn't (can → could)</a:t>
            </a:r>
            <a:endParaRPr lang="en-US" sz="950" dirty="0"/>
          </a:p>
        </p:txBody>
      </p:sp>
      <p:sp>
        <p:nvSpPr>
          <p:cNvPr id="38" name="bd_268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69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me I mustn't / didn't must touch it.</a:t>
            </a:r>
            <a:endParaRPr lang="en-US" sz="900" dirty="0"/>
          </a:p>
        </p:txBody>
      </p:sp>
      <p:sp>
        <p:nvSpPr>
          <p:cNvPr id="40" name="R7_chip270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mustn't (stays the same)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7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75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note_2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2" name="cd_280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83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6" name="pf_284"/>
          <p:cNvSpPr/>
          <p:nvPr/>
        </p:nvSpPr>
        <p:spPr>
          <a:xfrm rot="-90000">
            <a:off x="365760" y="3077037"/>
            <a:ext cx="2606040" cy="1279999"/>
          </a:xfrm>
          <a:prstGeom prst="roundRect">
            <a:avLst>
              <a:gd name="adj" fmla="val 121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85" descr="/home/claude/lls-course/v2/cache/4a1_library_jpg_605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22757"/>
            <a:ext cx="2514600" cy="1188559"/>
          </a:xfrm>
          <a:prstGeom prst="rect">
            <a:avLst/>
          </a:prstGeom>
        </p:spPr>
      </p:pic>
      <p:sp>
        <p:nvSpPr>
          <p:cNvPr id="18" name="bd_28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8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000" dirty="0"/>
          </a:p>
        </p:txBody>
      </p:sp>
      <p:sp>
        <p:nvSpPr>
          <p:cNvPr id="20" name="R1_chip28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50" dirty="0"/>
          </a:p>
        </p:txBody>
      </p:sp>
      <p:sp>
        <p:nvSpPr>
          <p:cNvPr id="21" name="bd_28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9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3" name="R2_chip29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50" dirty="0"/>
          </a:p>
        </p:txBody>
      </p:sp>
      <p:sp>
        <p:nvSpPr>
          <p:cNvPr id="24" name="bd_29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9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000" dirty="0"/>
          </a:p>
        </p:txBody>
      </p:sp>
      <p:sp>
        <p:nvSpPr>
          <p:cNvPr id="26" name="R3_chip29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50" dirty="0"/>
          </a:p>
        </p:txBody>
      </p:sp>
      <p:sp>
        <p:nvSpPr>
          <p:cNvPr id="27" name="bd_29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9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00" dirty="0"/>
          </a:p>
        </p:txBody>
      </p:sp>
      <p:sp>
        <p:nvSpPr>
          <p:cNvPr id="29" name="R4_chip29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50" dirty="0"/>
          </a:p>
        </p:txBody>
      </p:sp>
      <p:sp>
        <p:nvSpPr>
          <p:cNvPr id="30" name="bd_29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9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2" name="R5_chip30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50" dirty="0"/>
          </a:p>
        </p:txBody>
      </p:sp>
      <p:sp>
        <p:nvSpPr>
          <p:cNvPr id="33" name="bd_30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0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000" dirty="0"/>
          </a:p>
        </p:txBody>
      </p:sp>
      <p:sp>
        <p:nvSpPr>
          <p:cNvPr id="35" name="R6_chip30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Bank practice</a:t>
            </a:r>
            <a:endParaRPr lang="en-US" sz="24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complete with reported speech.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completa con il discorso indiretto.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Bank 8B p.147 · a 5–7, b 4–7   ·   📖 Grammar Bank 8B p.147 · a 5–7, b 4–7 (TG key)</a:t>
            </a:r>
            <a:endParaRPr lang="en-US" sz="800" dirty="0"/>
          </a:p>
        </p:txBody>
      </p:sp>
      <p:sp>
        <p:nvSpPr>
          <p:cNvPr id="12" name="cd_31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1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reported sentence</a:t>
            </a:r>
            <a:endParaRPr lang="en-US" sz="1700" dirty="0"/>
          </a:p>
        </p:txBody>
      </p:sp>
      <p:sp>
        <p:nvSpPr>
          <p:cNvPr id="14" name="ln_315"/>
          <p:cNvSpPr/>
          <p:nvPr/>
        </p:nvSpPr>
        <p:spPr>
          <a:xfrm>
            <a:off x="548640" y="1920240"/>
            <a:ext cx="5349240" cy="38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'I won't wear these shoes again.' → Jenny said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R1_lnA316"/>
          <p:cNvSpPr/>
          <p:nvPr/>
        </p:nvSpPr>
        <p:spPr>
          <a:xfrm>
            <a:off x="548640" y="1920240"/>
            <a:ext cx="5349240" cy="3877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'I won't wear these shoes again.' → Jenny said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she wouldn't wear those shoes again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6" name="ln_317"/>
          <p:cNvSpPr/>
          <p:nvPr/>
        </p:nvSpPr>
        <p:spPr>
          <a:xfrm>
            <a:off x="548640" y="2308025"/>
            <a:ext cx="5349240" cy="379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'I didn't buy you a present.' → My brother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7" name="R2_lnA318"/>
          <p:cNvSpPr/>
          <p:nvPr/>
        </p:nvSpPr>
        <p:spPr>
          <a:xfrm>
            <a:off x="548640" y="2308025"/>
            <a:ext cx="5349240" cy="3799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'I didn't buy you a present.' → My brother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he hadn't bought me a present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ln_319"/>
          <p:cNvSpPr/>
          <p:nvPr/>
        </p:nvSpPr>
        <p:spPr>
          <a:xfrm>
            <a:off x="548640" y="2687976"/>
            <a:ext cx="5349240" cy="383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'I can't find anywhere to park.' → Luke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R3_lnA320"/>
          <p:cNvSpPr/>
          <p:nvPr/>
        </p:nvSpPr>
        <p:spPr>
          <a:xfrm>
            <a:off x="548640" y="2687976"/>
            <a:ext cx="5349240" cy="3838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'I can't find anywhere to park.' → Luke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he couldn't find anywhere to park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ln_321"/>
          <p:cNvSpPr/>
          <p:nvPr/>
        </p:nvSpPr>
        <p:spPr>
          <a:xfrm>
            <a:off x="548640" y="3071845"/>
            <a:ext cx="5349240" cy="415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b4  'Where do you usually buy your clothes?' → My sister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1" name="R4_lnA322"/>
          <p:cNvSpPr/>
          <p:nvPr/>
        </p:nvSpPr>
        <p:spPr>
          <a:xfrm>
            <a:off x="548640" y="3071845"/>
            <a:ext cx="5349240" cy="4152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b4  'Where do you usually buy your clothes?' → My sister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where I usually bought my clothes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ln_323"/>
          <p:cNvSpPr/>
          <p:nvPr/>
        </p:nvSpPr>
        <p:spPr>
          <a:xfrm>
            <a:off x="548640" y="3487049"/>
            <a:ext cx="5349240" cy="4778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b5  'Did you wear a suit to the job interview?' → We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him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5_lnA324"/>
          <p:cNvSpPr/>
          <p:nvPr/>
        </p:nvSpPr>
        <p:spPr>
          <a:xfrm>
            <a:off x="548640" y="3487049"/>
            <a:ext cx="5349240" cy="477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b5  'Did you wear a suit to the job interview?' → We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him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he had worn a suit to the job interview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325"/>
          <p:cNvSpPr/>
          <p:nvPr/>
        </p:nvSpPr>
        <p:spPr>
          <a:xfrm>
            <a:off x="548640" y="3964926"/>
            <a:ext cx="5349240" cy="395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b6  'Do you ever go to the theatre?' → I asked Lisa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R6_lnA326"/>
          <p:cNvSpPr/>
          <p:nvPr/>
        </p:nvSpPr>
        <p:spPr>
          <a:xfrm>
            <a:off x="548640" y="3964926"/>
            <a:ext cx="5349240" cy="39561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b6  'Do you ever go to the theatre?' → I asked Lisa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she ever went to the theatre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6" name="ln_32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b7  'Can you help me?' → Sally asked the policeman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7_lnA32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b7  'Can you help me?' → Sally asked the policeman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he could help her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pf_329"/>
          <p:cNvSpPr/>
          <p:nvPr/>
        </p:nvSpPr>
        <p:spPr>
          <a:xfrm rot="120000">
            <a:off x="6835140" y="1417320"/>
            <a:ext cx="150876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330" descr="/home/claude/lls-course/v2/cache/8b1_happy_to_help_jpg_34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80860" y="1463040"/>
            <a:ext cx="1417320" cy="1417320"/>
          </a:xfrm>
          <a:prstGeom prst="rect">
            <a:avLst/>
          </a:prstGeom>
        </p:spPr>
      </p:pic>
      <p:sp>
        <p:nvSpPr>
          <p:cNvPr id="30" name="cd_33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ii_33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2" name="ih_33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3" name="il_33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→ those · me → her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Questions: no do / did!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37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3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39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3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note_34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detail</a:t>
            </a:r>
            <a:endParaRPr lang="en-US" sz="1150" dirty="0"/>
          </a:p>
        </p:txBody>
      </p:sp>
      <p:pic>
        <p:nvPicPr>
          <p:cNvPr id="10" name="logo_3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2" name="ap_34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3" name="ah_34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34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34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48" descr="/home/claude/lls-course/v2/cache/2a1_wast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34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5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5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35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35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35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35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6" name="gq_35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35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35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35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36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36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36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36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6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3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6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3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note_37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3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2" name="cd_37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7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6" name="pf_377"/>
          <p:cNvSpPr/>
          <p:nvPr/>
        </p:nvSpPr>
        <p:spPr>
          <a:xfrm rot="-90000">
            <a:off x="365760" y="2821263"/>
            <a:ext cx="2606040" cy="1590377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78" descr="/home/claude/lls-course/v2/cache/2a2_saver_spender_jpg_605x36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66983"/>
            <a:ext cx="2514600" cy="1498937"/>
          </a:xfrm>
          <a:prstGeom prst="rect">
            <a:avLst/>
          </a:prstGeom>
        </p:spPr>
      </p:pic>
      <p:sp>
        <p:nvSpPr>
          <p:cNvPr id="18" name="bd_379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80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0" name="R1_chip381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50" dirty="0"/>
          </a:p>
        </p:txBody>
      </p:sp>
      <p:sp>
        <p:nvSpPr>
          <p:cNvPr id="21" name="bd_382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83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3" name="R2_chip384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50" dirty="0"/>
          </a:p>
        </p:txBody>
      </p:sp>
      <p:sp>
        <p:nvSpPr>
          <p:cNvPr id="24" name="bd_385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86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6" name="R3_chip387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50" dirty="0"/>
          </a:p>
        </p:txBody>
      </p:sp>
      <p:sp>
        <p:nvSpPr>
          <p:cNvPr id="27" name="bd_388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89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29" name="R4_chip390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50" dirty="0"/>
          </a:p>
        </p:txBody>
      </p:sp>
      <p:sp>
        <p:nvSpPr>
          <p:cNvPr id="30" name="bd_391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92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2" name="R5_chip393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50" dirty="0"/>
          </a:p>
        </p:txBody>
      </p:sp>
      <p:sp>
        <p:nvSpPr>
          <p:cNvPr id="33" name="bd_394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95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5" name="R6_chip396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50" dirty="0"/>
          </a:p>
        </p:txBody>
      </p:sp>
      <p:sp>
        <p:nvSpPr>
          <p:cNvPr id="36" name="bd_397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398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8" name="R7_chip399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0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4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404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story. Answer the questions!</a:t>
            </a:r>
            <a:endParaRPr lang="en-US" sz="1250" dirty="0"/>
          </a:p>
        </p:txBody>
      </p:sp>
      <p:sp>
        <p:nvSpPr>
          <p:cNvPr id="8" name="insIT_4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storia. Rispondi alle domande!</a:t>
            </a:r>
            <a:endParaRPr lang="en-US" sz="950" dirty="0"/>
          </a:p>
        </p:txBody>
      </p:sp>
      <p:sp>
        <p:nvSpPr>
          <p:cNvPr id="9" name="note_40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4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2" name="pf_409"/>
          <p:cNvSpPr/>
          <p:nvPr/>
        </p:nvSpPr>
        <p:spPr>
          <a:xfrm rot="-90000">
            <a:off x="1051560" y="1417320"/>
            <a:ext cx="128016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10" descr="/home/claude/lls-course/v2/cache/8b1_happy_to_help_jpg_286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097280" y="1463040"/>
            <a:ext cx="1188720" cy="1188720"/>
          </a:xfrm>
          <a:prstGeom prst="rect">
            <a:avLst/>
          </a:prstGeom>
        </p:spPr>
      </p:pic>
      <p:sp>
        <p:nvSpPr>
          <p:cNvPr id="14" name="cd_411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2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413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414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se…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dove…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Gli ha detto che…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provare (un vestito)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è della taglia giusta.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scontrino / rimborso</a:t>
            </a:r>
            <a:endParaRPr lang="en-US" sz="700" dirty="0"/>
          </a:p>
        </p:txBody>
      </p:sp>
      <p:sp>
        <p:nvSpPr>
          <p:cNvPr id="18" name="R1_sb415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416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150" dirty="0"/>
          </a:p>
        </p:txBody>
      </p:sp>
      <p:sp>
        <p:nvSpPr>
          <p:cNvPr id="20" name="R2_sb417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418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00" dirty="0"/>
          </a:p>
        </p:txBody>
      </p:sp>
      <p:sp>
        <p:nvSpPr>
          <p:cNvPr id="22" name="R3_sb419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420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150" dirty="0"/>
          </a:p>
        </p:txBody>
      </p:sp>
      <p:sp>
        <p:nvSpPr>
          <p:cNvPr id="24" name="R4_sb421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422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6" name="R5_sb423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424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8" name="R6_sb425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426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2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Retell it!</a:t>
            </a:r>
            <a:endParaRPr lang="en-US" sz="2500" dirty="0"/>
          </a:p>
        </p:txBody>
      </p:sp>
      <p:pic>
        <p:nvPicPr>
          <p:cNvPr id="6" name="brP_4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31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Retell the story to your partner. Use the prompts!</a:t>
            </a:r>
            <a:endParaRPr lang="en-US" sz="1250" dirty="0"/>
          </a:p>
        </p:txBody>
      </p:sp>
      <p:sp>
        <p:nvSpPr>
          <p:cNvPr id="8" name="insIT_4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di nuovo la storia al compagno. Usa gli spunti!</a:t>
            </a:r>
            <a:endParaRPr lang="en-US" sz="950" dirty="0"/>
          </a:p>
        </p:txBody>
      </p:sp>
      <p:sp>
        <p:nvSpPr>
          <p:cNvPr id="9" name="note_4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retell</a:t>
            </a:r>
            <a:endParaRPr lang="en-US" sz="1250" dirty="0"/>
          </a:p>
        </p:txBody>
      </p:sp>
      <p:pic>
        <p:nvPicPr>
          <p:cNvPr id="10" name="logo_4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retell (TPRS)</a:t>
            </a:r>
            <a:endParaRPr lang="en-US" sz="800" dirty="0"/>
          </a:p>
        </p:txBody>
      </p:sp>
      <p:sp>
        <p:nvSpPr>
          <p:cNvPr id="12" name="R1_sb436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R1_sl437"/>
          <p:cNvSpPr/>
          <p:nvPr/>
        </p:nvSpPr>
        <p:spPr>
          <a:xfrm>
            <a:off x="841248" y="1417320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Sara went into…</a:t>
            </a:r>
            <a:endParaRPr lang="en-US" sz="1250" dirty="0"/>
          </a:p>
        </p:txBody>
      </p:sp>
      <p:sp>
        <p:nvSpPr>
          <p:cNvPr id="14" name="R2_sb438"/>
          <p:cNvSpPr/>
          <p:nvPr/>
        </p:nvSpPr>
        <p:spPr>
          <a:xfrm>
            <a:off x="457200" y="193722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R2_sl439"/>
          <p:cNvSpPr/>
          <p:nvPr/>
        </p:nvSpPr>
        <p:spPr>
          <a:xfrm>
            <a:off x="841248" y="1900646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 · said she was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 assistant asked…</a:t>
            </a:r>
            <a:endParaRPr lang="en-US" sz="1250" dirty="0"/>
          </a:p>
        </p:txBody>
      </p:sp>
      <p:sp>
        <p:nvSpPr>
          <p:cNvPr id="16" name="R3_sb440"/>
          <p:cNvSpPr/>
          <p:nvPr/>
        </p:nvSpPr>
        <p:spPr>
          <a:xfrm>
            <a:off x="457200" y="2420547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R3_sl441"/>
          <p:cNvSpPr/>
          <p:nvPr/>
        </p:nvSpPr>
        <p:spPr>
          <a:xfrm>
            <a:off x="841248" y="2383971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 · if she liked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Then he asked…</a:t>
            </a:r>
            <a:endParaRPr lang="en-US" sz="1250" dirty="0"/>
          </a:p>
        </p:txBody>
      </p:sp>
      <p:sp>
        <p:nvSpPr>
          <p:cNvPr id="18" name="R4_sb442"/>
          <p:cNvSpPr/>
          <p:nvPr/>
        </p:nvSpPr>
        <p:spPr>
          <a:xfrm>
            <a:off x="457200" y="2903873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R4_sl443"/>
          <p:cNvSpPr/>
          <p:nvPr/>
        </p:nvSpPr>
        <p:spPr>
          <a:xfrm>
            <a:off x="841248" y="2867297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 · told him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He asked her…</a:t>
            </a:r>
            <a:endParaRPr lang="en-US" sz="1250" dirty="0"/>
          </a:p>
        </p:txBody>
      </p:sp>
      <p:sp>
        <p:nvSpPr>
          <p:cNvPr id="20" name="R5_sb444"/>
          <p:cNvSpPr/>
          <p:nvPr/>
        </p:nvSpPr>
        <p:spPr>
          <a:xfrm>
            <a:off x="457200" y="3387199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R5_sl445"/>
          <p:cNvSpPr/>
          <p:nvPr/>
        </p:nvSpPr>
        <p:spPr>
          <a:xfrm>
            <a:off x="841248" y="3350623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 · receipt · refund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At home the…</a:t>
            </a:r>
            <a:endParaRPr lang="en-US" sz="1250" dirty="0"/>
          </a:p>
        </p:txBody>
      </p:sp>
      <p:sp>
        <p:nvSpPr>
          <p:cNvPr id="22" name="R6_sb446"/>
          <p:cNvSpPr/>
          <p:nvPr/>
        </p:nvSpPr>
        <p:spPr>
          <a:xfrm>
            <a:off x="457200" y="3870525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R6_sl447"/>
          <p:cNvSpPr/>
          <p:nvPr/>
        </p:nvSpPr>
        <p:spPr>
          <a:xfrm>
            <a:off x="841248" y="3833949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 · said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 same assistant…</a:t>
            </a:r>
            <a:endParaRPr lang="en-US" sz="1250" dirty="0"/>
          </a:p>
        </p:txBody>
      </p:sp>
      <p:sp>
        <p:nvSpPr>
          <p:cNvPr id="24" name="R7_sb448"/>
          <p:cNvSpPr/>
          <p:nvPr/>
        </p:nvSpPr>
        <p:spPr>
          <a:xfrm>
            <a:off x="457200" y="43538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R7_sl449"/>
          <p:cNvSpPr/>
          <p:nvPr/>
        </p:nvSpPr>
        <p:spPr>
          <a:xfrm>
            <a:off x="841248" y="4317274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2 things in the story!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In my story…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5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Phil complains</a:t>
            </a:r>
            <a:endParaRPr lang="en-US" sz="2500" dirty="0"/>
          </a:p>
        </p:txBody>
      </p:sp>
      <p:pic>
        <p:nvPicPr>
          <p:cNvPr id="6" name="brP_4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454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Phil at the hotel. Then report what they said!</a:t>
            </a:r>
            <a:endParaRPr lang="en-US" sz="1250" dirty="0"/>
          </a:p>
        </p:txBody>
      </p:sp>
      <p:sp>
        <p:nvSpPr>
          <p:cNvPr id="8" name="insIT_4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Phil in hotel. Poi riferisci cosa hanno detto!</a:t>
            </a:r>
            <a:endParaRPr lang="en-US" sz="950" dirty="0"/>
          </a:p>
        </p:txBody>
      </p:sp>
      <p:sp>
        <p:nvSpPr>
          <p:cNvPr id="9" name="note_45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WATCH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Authentic video</a:t>
            </a:r>
            <a:endParaRPr lang="en-US" sz="1150" dirty="0"/>
          </a:p>
        </p:txBody>
      </p:sp>
      <p:pic>
        <p:nvPicPr>
          <p:cNvPr id="10" name="logo_4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Video · reported speech in action   ·   📖 Video Listening 8B 'How to complain' Part 2 (SB p.83) – used here for reported speech</a:t>
            </a:r>
            <a:endParaRPr lang="en-US" sz="750" dirty="0"/>
          </a:p>
        </p:txBody>
      </p:sp>
      <p:pic>
        <p:nvPicPr>
          <p:cNvPr id="12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3" name="cd_459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60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ih_461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6" name="il_462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after each scene. Report it: 'Phil told the… that…' / 'The waiter asked him if…'</a:t>
            </a:r>
            <a:endParaRPr lang="en-US" sz="700" dirty="0"/>
          </a:p>
        </p:txBody>
      </p:sp>
      <p:sp>
        <p:nvSpPr>
          <p:cNvPr id="17" name="vq_463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chambermaid: 'I can't get the air-conditioning to work.'</a:t>
            </a:r>
            <a:endParaRPr lang="en-US" sz="1100" dirty="0"/>
          </a:p>
        </p:txBody>
      </p:sp>
      <p:sp>
        <p:nvSpPr>
          <p:cNvPr id="18" name="R1_chip464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told her (that) he couldn't get the air-conditioning to work.</a:t>
            </a:r>
            <a:endParaRPr lang="en-US" sz="800" dirty="0"/>
          </a:p>
        </p:txBody>
      </p:sp>
      <p:sp>
        <p:nvSpPr>
          <p:cNvPr id="19" name="vq_465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Chambermaid: 'I'll tell reception later.'</a:t>
            </a:r>
            <a:endParaRPr lang="en-US" sz="1100" dirty="0"/>
          </a:p>
        </p:txBody>
      </p:sp>
      <p:sp>
        <p:nvSpPr>
          <p:cNvPr id="20" name="R2_chip466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would tell reception later.</a:t>
            </a:r>
            <a:endParaRPr lang="en-US" sz="1000" dirty="0"/>
          </a:p>
        </p:txBody>
      </p:sp>
      <p:sp>
        <p:nvSpPr>
          <p:cNvPr id="21" name="vq_467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receptionist: 'Could you ask someone to have a look at it?'</a:t>
            </a:r>
            <a:endParaRPr lang="en-US" sz="1100" dirty="0"/>
          </a:p>
        </p:txBody>
      </p:sp>
      <p:sp>
        <p:nvSpPr>
          <p:cNvPr id="22" name="R3_chip468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she could ask someone to look at it.</a:t>
            </a:r>
            <a:endParaRPr lang="en-US" sz="1000" dirty="0"/>
          </a:p>
        </p:txBody>
      </p:sp>
      <p:sp>
        <p:nvSpPr>
          <p:cNvPr id="23" name="vq_469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waiter: 'I asked for brown toast.'</a:t>
            </a:r>
            <a:endParaRPr lang="en-US" sz="1100" dirty="0"/>
          </a:p>
        </p:txBody>
      </p:sp>
      <p:sp>
        <p:nvSpPr>
          <p:cNvPr id="24" name="R4_chip470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the waiter (that) he had asked for brown toast.</a:t>
            </a:r>
            <a:endParaRPr lang="en-US" sz="1000" dirty="0"/>
          </a:p>
        </p:txBody>
      </p:sp>
      <p:sp>
        <p:nvSpPr>
          <p:cNvPr id="25" name="vq_471"/>
          <p:cNvSpPr/>
          <p:nvPr/>
        </p:nvSpPr>
        <p:spPr>
          <a:xfrm>
            <a:off x="5074920" y="4050792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Receptionist: 'I hope you enjoyed your stay.'</a:t>
            </a:r>
            <a:endParaRPr lang="en-US" sz="1100" dirty="0"/>
          </a:p>
        </p:txBody>
      </p:sp>
      <p:sp>
        <p:nvSpPr>
          <p:cNvPr id="26" name="R5_chip472"/>
          <p:cNvSpPr/>
          <p:nvPr/>
        </p:nvSpPr>
        <p:spPr>
          <a:xfrm>
            <a:off x="7269480" y="4050792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hoped he had enjoyed his stay.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>
              <p:cMediaNode vol="80000">
                <p:cTn id="33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7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7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47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8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8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shopping words: receipt, refund…</a:t>
            </a:r>
            <a:endParaRPr lang="en-US" sz="1400" dirty="0"/>
          </a:p>
        </p:txBody>
      </p:sp>
      <p:sp>
        <p:nvSpPr>
          <p:cNvPr id="14" name="bd_48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8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your partner told you – in reported speech.</a:t>
            </a:r>
            <a:endParaRPr lang="en-US" sz="1400" dirty="0"/>
          </a:p>
        </p:txBody>
      </p:sp>
      <p:sp>
        <p:nvSpPr>
          <p:cNvPr id="16" name="bd_48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8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rule: how do reported questions change?</a:t>
            </a:r>
            <a:endParaRPr lang="en-US" sz="1400" dirty="0"/>
          </a:p>
        </p:txBody>
      </p:sp>
      <p:sp>
        <p:nvSpPr>
          <p:cNvPr id="18" name="cd_488"/>
          <p:cNvSpPr/>
          <p:nvPr/>
        </p:nvSpPr>
        <p:spPr>
          <a:xfrm>
            <a:off x="5669280" y="1417320"/>
            <a:ext cx="320040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8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9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91"/>
          <p:cNvSpPr/>
          <p:nvPr/>
        </p:nvSpPr>
        <p:spPr>
          <a:xfrm>
            <a:off x="6236208" y="1911096"/>
            <a:ext cx="254203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92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4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9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9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9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2" name="cd_50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0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4" name="tt_50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5" name="R1_tk50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0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0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50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19" name="R2_tk50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1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1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2" name="tt_51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3" name="R3_tk51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1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1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51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51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1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1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t_52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1" name="R5_tk52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2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23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2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25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26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2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5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531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5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note_5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5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2" name="ext_53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37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540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200" dirty="0"/>
          </a:p>
        </p:txBody>
      </p:sp>
      <p:sp>
        <p:nvSpPr>
          <p:cNvPr id="17" name="bd_54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54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250" dirty="0"/>
          </a:p>
        </p:txBody>
      </p:sp>
      <p:sp>
        <p:nvSpPr>
          <p:cNvPr id="19" name="chip_54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50" dirty="0"/>
          </a:p>
        </p:txBody>
      </p:sp>
      <p:sp>
        <p:nvSpPr>
          <p:cNvPr id="20" name="bd_54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54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250" dirty="0"/>
          </a:p>
        </p:txBody>
      </p:sp>
      <p:sp>
        <p:nvSpPr>
          <p:cNvPr id="22" name="R1_chip54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50" dirty="0"/>
          </a:p>
        </p:txBody>
      </p:sp>
      <p:sp>
        <p:nvSpPr>
          <p:cNvPr id="23" name="bd_54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54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250" dirty="0"/>
          </a:p>
        </p:txBody>
      </p:sp>
      <p:sp>
        <p:nvSpPr>
          <p:cNvPr id="25" name="R2_chip54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50" dirty="0"/>
          </a:p>
        </p:txBody>
      </p:sp>
      <p:sp>
        <p:nvSpPr>
          <p:cNvPr id="26" name="bd_55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55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250" dirty="0"/>
          </a:p>
        </p:txBody>
      </p:sp>
      <p:sp>
        <p:nvSpPr>
          <p:cNvPr id="28" name="R3_chip55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50" dirty="0"/>
          </a:p>
        </p:txBody>
      </p:sp>
      <p:sp>
        <p:nvSpPr>
          <p:cNvPr id="29" name="bd_55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55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250" dirty="0"/>
          </a:p>
        </p:txBody>
      </p:sp>
      <p:sp>
        <p:nvSpPr>
          <p:cNvPr id="31" name="R4_chip55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50" dirty="0"/>
          </a:p>
        </p:txBody>
      </p:sp>
      <p:sp>
        <p:nvSpPr>
          <p:cNvPr id="32" name="bd_55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55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250" dirty="0"/>
          </a:p>
        </p:txBody>
      </p:sp>
      <p:sp>
        <p:nvSpPr>
          <p:cNvPr id="34" name="R5_chip55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5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561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5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63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5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note_56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5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2" name="ext_56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6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57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5" name="en_57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6" name="R1_it57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7" name="cd_57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57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57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0" name="R2_it57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1" name="cd_57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57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3" name="en_57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4" name="R3_it58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5" name="cd_58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58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7" name="en_58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8" name="R4_it58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9" name="cd_58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8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1" name="en_58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2" name="R5_it58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3" name="cd_58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59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5" name="en_59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6" name="R6_it59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7" name="cd_59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59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9" name="en_59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0" name="R7_it59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1" name="cd_59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59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3" name="en_59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4" name="R8_it60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5" name="cd_60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60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7" name="en_60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8" name="R9_it60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9" name="cd_60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60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1" name="en_60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2" name="R10_it60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3" name="cd_60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61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5" name="en_61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6" name="R11_it61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7" name="cd_61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61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9" name="en_61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0" name="R12_it61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1" name="R13_wc617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3_w618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2026-10-22T09:55:15Z</dcterms:created>
  <dcterms:modified xsi:type="dcterms:W3CDTF">2026-10-22T09:55:15Z</dcterms:modified>
</cp:coreProperties>
</file>