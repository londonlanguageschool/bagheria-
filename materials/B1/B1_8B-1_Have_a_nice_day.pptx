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Act out an over-friendly shop assistant: 'Hello! Do you need any help? Are you going anywhere nice?' Ask the THINK question; take 3–4 answers. Click: the example.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(2 min). Read the examples. Ask 2 students: 'Would you like to be on Dragons' Den? What product would you present?' Then the warmer game uses this language.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Look back · 8A-2 Dragons' Den (1 min)
LOOK BACK (1 min) before the warmer. Students read the 6 lines silently (the summary of 8A-2: the reading and the Joe and Jake listening). Then hide the slide and play 'Answers first!' – every answer in the game is in these 6 lines. If the class didn't finish 8A-2, use this slide to fill the gap (2 minutes: read and ask 'Would you invest?').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Warmer · last lesson (4 min)
RETRIEVAL WARMER (4 min). Two teams, 30 seconds per answer. Click to show a model question; accept any correct question. Facts (TG 8A): Slappie = invested, successful · Tingatang = invested, failure · Tangle Teezer = not invested, very successful · the car came at 5.30 a.m.; Peter offered them a job; they never regretted saying no. Warms up question forms for today's reported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lead-in (3 min)
LEAD-IN (3 min). Pairs decide C or SA; click once per line. Answers (TG): the book's 10 phrases – here 8 of them. Teach changing rooms (= fitting rooms). Quick question: in Bagheria, do shop assistants usually say 'Can I help you?' or leave you alone?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Reading · When 'happy to help' becomes a problem (6 min)
READING (5 min). The slide is a short adapted version – students can read the full article on p.80. 1b: Did the second assistant help? (TG: No – he talked too much and kept asking questions.) 1c: underline his questions – which are NOT appropriate? (TG: seven different questions, one repeated; many people think only the first is appropriate.) 'Are you going anywhere nice?' – because the shop is in a train station. 1d: are the assistants in your shops helpful or unhelpful?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noticing (5 min)
NOTICING (5 min). Pairs rebuild the direct speech BEFORE seeing the rule. Click once per line (TG key). Then ask: What happens to the verb when we report? (goes back: work → worked, am having → was having). And to questions? (no do, normal word order: where I worked; yes/no → 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reported speech (5 min)
RULE (5 min). Elicit each column before clicking. Play 8.13/8.14 if available (listen and repeat). TG notes: tenses move back; mustn't stays the same; 'that' optional; tell needs a person; questions: no auxiliary, subject + verb, if/whether for yes/no. Typical mistakes: He said me… · She asked him what was his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practice (6 min)
PRACTICE (6 min). Alone, then compare. Click once per answer (TG key). Read full sentences aloud. Homework: Grammar Bank a 5–7, b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oral practice (4 min)
ORAL PRACTICE (4 min). If 8.15 isn't available, READ the questions yourself; the class reports chorally, then individuals. Click once per item (audio script). Reported answers (script): she lived in the city centre · he was going to the cinema · she was going out · she'd bought it online · he'd seen it twice · the changing rooms were over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Vocabulary · shopping (5 min)
VOCABULARY (5 min). Elicit first: pairs explain each pair, then click once per line (TG). False friends for Italians: library ≠ libreria (= bookshop!), discount, fit vs suit.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Vocabulary · in Italian (2 min)
CONSOLIDATION (2 min). Class says the Italian, then click once per word to show its Italian.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class story (TPRS) (4 min)
TPRS CLASS STORY (4 min) – after the rule, the practice and the shopping words, and just before 'Report it!': students hear reported statements and questions (asked her if… · asked her where she lived · said she was · told him) together with today's shopping words (try on, fit, receipt, refund) many times before they have to produce them in the game. Click once per line. For each line: 1) say it, 2) ask the questions round the class (yes/no → either/or → who/what), 3) let the CLASS change details: 'Did she try on jeans? No? What did she try on?' – accept their idea and use it in later lines. Students answer with one word or a short phrase – that's fine, but push for a reported answer where it's easy ('What did he ask her?' → 'He asked her where she lived.'). Finish: 'What happens next?' – one or two ideas, then play 'Report it!'. Watch for ✗ said me · ✗ asked her where did she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game · reported speech (9 min)
FREER PRACTICE + GAME (8 min). Model first: a student asks YOU two questions, then report: 'Luca asked me if I liked shopping. I told him I hated it!' Pairs ask 3 questions each (3 min), change partners and report (3 min). Click to show the model reported question. Listener gives a point for each correct reported sentence (tense back, said/told, question word order). Monitor for 'said me', 'asked me where did you buy', missing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Exit · what can you remember? (2 min)
RETRIEVAL EXIT (2 min). Books closed. Set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audio" Target="../media/media-8-11.mp3"/><Relationship Id="rId12" Type="http://schemas.microsoft.com/office/2007/relationships/media" Target="../media/media-8-11.mp3"/><Relationship Id="rId13" Type="http://schemas.openxmlformats.org/officeDocument/2006/relationships/image" Target="../media/image-8-13.png"/><Relationship Id="rId14" Type="http://schemas.openxmlformats.org/officeDocument/2006/relationships/audio" Target="../media/media-8-14.mp3"/><Relationship Id="rId15" Type="http://schemas.microsoft.com/office/2007/relationships/media" Target="../media/media-8-14.mp3"/><Relationship Id="rId16" Type="http://schemas.openxmlformats.org/officeDocument/2006/relationships/image" Target="../media/image-8-16.png"/><Relationship Id="rId17" Type="http://schemas.openxmlformats.org/officeDocument/2006/relationships/image" Target="../media/image-8-17.png"/><Relationship Id="rId18" Type="http://schemas.openxmlformats.org/officeDocument/2006/relationships/image" Target="../media/image-8-18.png"/><Relationship Id="rId19" Type="http://schemas.openxmlformats.org/officeDocument/2006/relationships/image" Target="../media/image-8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audio" Target="../media/media-10-5.mp3"/><Relationship Id="rId6" Type="http://schemas.microsoft.com/office/2007/relationships/media" Target="../media/media-10-5.mp3"/><Relationship Id="rId7" Type="http://schemas.openxmlformats.org/officeDocument/2006/relationships/image" Target="../media/image-10-7.png"/><Relationship Id="rId8" Type="http://schemas.openxmlformats.org/officeDocument/2006/relationships/audio" Target="../media/media-10-8.mp3"/><Relationship Id="rId9" Type="http://schemas.microsoft.com/office/2007/relationships/media" Target="../media/media-10-8.mp3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pp.80–81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nice day!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and reported speech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read about a VERY helpful shop assistant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report what people said and asked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🛍️  learn shopping words: receipt, refund, bargain…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your shopping habits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 – I prefer to look in peace! I only ask if I need help.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wast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like it when shop assistants talk to you?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Revision · last lesson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2a1_afford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402080"/>
          </a:xfrm>
          <a:prstGeom prst="roundRect">
            <a:avLst>
              <a:gd name="adj" fmla="val 913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8A: The right job for you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Dragons' Den · gerunds and infinitives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270248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5207508" y="1783080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6318504" y="1783080"/>
            <a:ext cx="1453896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3246120" y="2185416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out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4357116" y="2185416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regret</a:t>
            </a:r>
            <a:endParaRPr lang="en-US" sz="1200" dirty="0"/>
          </a:p>
        </p:txBody>
      </p:sp>
      <p:sp>
        <p:nvSpPr>
          <p:cNvPr id="25" name="lv_39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6" name="lv_40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7" name="lv_41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28" name="cd_42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43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Dragons' Den</a:t>
            </a:r>
            <a:endParaRPr lang="en-US" sz="1100" dirty="0"/>
          </a:p>
        </p:txBody>
      </p:sp>
      <p:sp>
        <p:nvSpPr>
          <p:cNvPr id="30" name="R1_rl44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Entrepreneurs present a product to 'Dragons'.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out.' = I won't invest.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 = success · Tangle Teezer = success without them!</a:t>
            </a:r>
            <a:endParaRPr lang="en-US" sz="1000" dirty="0"/>
          </a:p>
        </p:txBody>
      </p:sp>
      <p:sp>
        <p:nvSpPr>
          <p:cNvPr id="31" name="cd_45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rh_46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Gerund or infinitive?</a:t>
            </a:r>
            <a:endParaRPr lang="en-US" sz="1100" dirty="0"/>
          </a:p>
        </p:txBody>
      </p:sp>
      <p:sp>
        <p:nvSpPr>
          <p:cNvPr id="33" name="R2_rl47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working with people.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like to start my own business.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hard to find a good job.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the Den?</a:t>
            </a:r>
            <a:endParaRPr lang="en-US" sz="225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Read: last lesson in 6 lines. Then close your eyes!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Leggi: la lezione scorsa in 6 righe. Poi chiudi gli occhi!</a:t>
            </a:r>
            <a:endParaRPr lang="en-US" sz="950" dirty="0"/>
          </a:p>
        </p:txBody>
      </p:sp>
      <p:sp>
        <p:nvSpPr>
          <p:cNvPr id="9" name="note_54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👤 alone</a:t>
            </a:r>
            <a:endParaRPr lang="en-US" sz="1250" dirty="0"/>
          </a:p>
        </p:txBody>
      </p:sp>
      <p:pic>
        <p:nvPicPr>
          <p:cNvPr id="10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Look back · 8A-2 Dragons' Den</a:t>
            </a:r>
            <a:endParaRPr lang="en-US" sz="800" dirty="0"/>
          </a:p>
        </p:txBody>
      </p:sp>
      <p:sp>
        <p:nvSpPr>
          <p:cNvPr id="12" name="cd_57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58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🐉 Last lesson: Dragons' Den</a:t>
            </a:r>
            <a:endParaRPr lang="en-US" sz="1700" dirty="0"/>
          </a:p>
        </p:txBody>
      </p:sp>
      <p:sp>
        <p:nvSpPr>
          <p:cNvPr id="14" name="ln_59"/>
          <p:cNvSpPr/>
          <p:nvPr/>
        </p:nvSpPr>
        <p:spPr>
          <a:xfrm>
            <a:off x="548640" y="1920240"/>
            <a:ext cx="5349240" cy="580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Dragons' Den is a TV show: people have 3 minutes to pitch a product to five rich investors, 'the Dragons'.</a:t>
            </a:r>
            <a:endParaRPr lang="en-US" sz="1250" dirty="0"/>
          </a:p>
        </p:txBody>
      </p:sp>
      <p:sp>
        <p:nvSpPr>
          <p:cNvPr id="15" name="ln_60"/>
          <p:cNvSpPr/>
          <p:nvPr/>
        </p:nvSpPr>
        <p:spPr>
          <a:xfrm>
            <a:off x="548640" y="2501037"/>
            <a:ext cx="5349240" cy="31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a Dragon doesn't want to invest, they say: "I'm out."</a:t>
            </a:r>
            <a:endParaRPr lang="en-US" sz="1250" dirty="0"/>
          </a:p>
        </p:txBody>
      </p:sp>
      <p:sp>
        <p:nvSpPr>
          <p:cNvPr id="16" name="ln_61"/>
          <p:cNvSpPr/>
          <p:nvPr/>
        </p:nvSpPr>
        <p:spPr>
          <a:xfrm>
            <a:off x="548640" y="2818831"/>
            <a:ext cx="5349240" cy="416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Slappie watches (cheap, colourful straps): the Dragons invested – a success.</a:t>
            </a:r>
            <a:endParaRPr lang="en-US" sz="1250" dirty="0"/>
          </a:p>
        </p:txBody>
      </p:sp>
      <p:sp>
        <p:nvSpPr>
          <p:cNvPr id="17" name="ln_62"/>
          <p:cNvSpPr/>
          <p:nvPr/>
        </p:nvSpPr>
        <p:spPr>
          <a:xfrm>
            <a:off x="548640" y="3235251"/>
            <a:ext cx="5349240" cy="449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Tangle Teezer (hairbrushes): the Dragons didn't invest – but it was a BIG success!</a:t>
            </a:r>
            <a:endParaRPr lang="en-US" sz="1250" dirty="0"/>
          </a:p>
        </p:txBody>
      </p:sp>
      <p:sp>
        <p:nvSpPr>
          <p:cNvPr id="18" name="ln_63"/>
          <p:cNvSpPr/>
          <p:nvPr/>
        </p:nvSpPr>
        <p:spPr>
          <a:xfrm>
            <a:off x="548640" y="3684547"/>
            <a:ext cx="5349240" cy="449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Joe and Jake (Frame Again): a car picked them up at half past five in the morning.</a:t>
            </a:r>
            <a:endParaRPr lang="en-US" sz="1250" dirty="0"/>
          </a:p>
        </p:txBody>
      </p:sp>
      <p:sp>
        <p:nvSpPr>
          <p:cNvPr id="19" name="ln_64"/>
          <p:cNvSpPr/>
          <p:nvPr/>
        </p:nvSpPr>
        <p:spPr>
          <a:xfrm>
            <a:off x="548640" y="4133843"/>
            <a:ext cx="5349240" cy="575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Peter didn't invest – he offered them a job! They said no and never regretted it: "No, not for a second."</a:t>
            </a:r>
            <a:endParaRPr lang="en-US" sz="1250" dirty="0"/>
          </a:p>
        </p:txBody>
      </p:sp>
      <p:sp>
        <p:nvSpPr>
          <p:cNvPr id="20" name="pf_65"/>
          <p:cNvSpPr/>
          <p:nvPr/>
        </p:nvSpPr>
        <p:spPr>
          <a:xfrm rot="120000">
            <a:off x="6598920" y="1417320"/>
            <a:ext cx="198120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66" descr="/home/claude/lls-course/v2/cache/8a2_investors_jpg_455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644640" y="1463040"/>
            <a:ext cx="1889760" cy="1417320"/>
          </a:xfrm>
          <a:prstGeom prst="rect">
            <a:avLst/>
          </a:prstGeom>
        </p:spPr>
      </p:pic>
      <p:sp>
        <p:nvSpPr>
          <p:cNvPr id="22" name="cd_6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6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6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5" name="il_70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 = presentare un'idea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 = investire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7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6" name="brP_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75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 Write the question!</a:t>
            </a:r>
            <a:endParaRPr lang="en-US" sz="1250" dirty="0"/>
          </a:p>
        </p:txBody>
      </p:sp>
      <p:sp>
        <p:nvSpPr>
          <p:cNvPr id="8" name="insIT_7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risposta. Scrivi la domanda!</a:t>
            </a:r>
            <a:endParaRPr lang="en-US" sz="950" dirty="0"/>
          </a:p>
        </p:txBody>
      </p:sp>
      <p:sp>
        <p:nvSpPr>
          <p:cNvPr id="9" name="note_7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Communicative game</a:t>
            </a:r>
            <a:endParaRPr lang="en-US" sz="1250" dirty="0"/>
          </a:p>
        </p:txBody>
      </p:sp>
      <p:pic>
        <p:nvPicPr>
          <p:cNvPr id="10" name="logo_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Warmer · last lesson   ·   📖 Recycles 8A part 2 · audio 8.9–8.11</a:t>
            </a:r>
            <a:endParaRPr lang="en-US" sz="800" dirty="0"/>
          </a:p>
        </p:txBody>
      </p:sp>
      <p:sp>
        <p:nvSpPr>
          <p:cNvPr id="12" name="cd_80"/>
          <p:cNvSpPr/>
          <p:nvPr/>
        </p:nvSpPr>
        <p:spPr>
          <a:xfrm>
            <a:off x="320040" y="1417320"/>
            <a:ext cx="2697480" cy="1569720"/>
          </a:xfrm>
          <a:prstGeom prst="roundRect">
            <a:avLst>
              <a:gd name="adj" fmla="val 815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8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8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83"/>
          <p:cNvSpPr/>
          <p:nvPr/>
        </p:nvSpPr>
        <p:spPr>
          <a:xfrm>
            <a:off x="886968" y="1911096"/>
            <a:ext cx="2039112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question = 1 point.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Domanda corretta = 1 punto.</a:t>
            </a:r>
            <a:endParaRPr lang="en-US" sz="1200" dirty="0"/>
          </a:p>
        </p:txBody>
      </p:sp>
      <p:sp>
        <p:nvSpPr>
          <p:cNvPr id="16" name="st_84"/>
          <p:cNvSpPr/>
          <p:nvPr/>
        </p:nvSpPr>
        <p:spPr>
          <a:xfrm rot="-180000">
            <a:off x="502920" y="31699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8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8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out."</a:t>
            </a:r>
            <a:endParaRPr lang="en-US" sz="1250" dirty="0"/>
          </a:p>
        </p:txBody>
      </p:sp>
      <p:sp>
        <p:nvSpPr>
          <p:cNvPr id="19" name="chip_8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do the Dragons say when they don't want to invest?</a:t>
            </a:r>
            <a:endParaRPr lang="en-US" sz="1050" dirty="0"/>
          </a:p>
        </p:txBody>
      </p:sp>
      <p:sp>
        <p:nvSpPr>
          <p:cNvPr id="20" name="bd_8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8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</a:t>
            </a:r>
            <a:endParaRPr lang="en-US" sz="1250" dirty="0"/>
          </a:p>
        </p:txBody>
      </p:sp>
      <p:sp>
        <p:nvSpPr>
          <p:cNvPr id="22" name="R1_chip9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invest in (a success)?</a:t>
            </a:r>
            <a:endParaRPr lang="en-US" sz="1100" dirty="0"/>
          </a:p>
        </p:txBody>
      </p:sp>
      <p:sp>
        <p:nvSpPr>
          <p:cNvPr id="23" name="bd_9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9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Tangle Teezer</a:t>
            </a:r>
            <a:endParaRPr lang="en-US" sz="1250" dirty="0"/>
          </a:p>
        </p:txBody>
      </p:sp>
      <p:sp>
        <p:nvSpPr>
          <p:cNvPr id="25" name="R2_chip9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NOT invest in – but was a success?</a:t>
            </a:r>
            <a:endParaRPr lang="en-US" sz="1100" dirty="0"/>
          </a:p>
        </p:txBody>
      </p:sp>
      <p:sp>
        <p:nvSpPr>
          <p:cNvPr id="26" name="bd_9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9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half past five in the morning</a:t>
            </a:r>
            <a:endParaRPr lang="en-US" sz="1250" dirty="0"/>
          </a:p>
        </p:txBody>
      </p:sp>
      <p:sp>
        <p:nvSpPr>
          <p:cNvPr id="28" name="R3_chip9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time did the car pick Joe and Jake up?</a:t>
            </a:r>
            <a:endParaRPr lang="en-US" sz="1100" dirty="0"/>
          </a:p>
        </p:txBody>
      </p:sp>
      <p:sp>
        <p:nvSpPr>
          <p:cNvPr id="29" name="bd_9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9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</a:t>
            </a:r>
            <a:endParaRPr lang="en-US" sz="1250" dirty="0"/>
          </a:p>
        </p:txBody>
      </p:sp>
      <p:sp>
        <p:nvSpPr>
          <p:cNvPr id="31" name="R4_chip9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did Peter offer them?</a:t>
            </a:r>
            <a:endParaRPr lang="en-US" sz="1100" dirty="0"/>
          </a:p>
        </p:txBody>
      </p:sp>
      <p:sp>
        <p:nvSpPr>
          <p:cNvPr id="32" name="bd_10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10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not for a second."</a:t>
            </a:r>
            <a:endParaRPr lang="en-US" sz="1250" dirty="0"/>
          </a:p>
        </p:txBody>
      </p:sp>
      <p:sp>
        <p:nvSpPr>
          <p:cNvPr id="34" name="R5_chip10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regretted saying no?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105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says it?</a:t>
            </a:r>
            <a:endParaRPr lang="en-US" sz="2500" dirty="0"/>
          </a:p>
        </p:txBody>
      </p:sp>
      <p:pic>
        <p:nvPicPr>
          <p:cNvPr id="6" name="brP_10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107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(C) or shop assistant (SA)?</a:t>
            </a:r>
            <a:endParaRPr lang="en-US" sz="1250" dirty="0"/>
          </a:p>
        </p:txBody>
      </p:sp>
      <p:sp>
        <p:nvSpPr>
          <p:cNvPr id="8" name="insIT_10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Cliente (C) o commesso (SA)?</a:t>
            </a:r>
            <a:endParaRPr lang="en-US" sz="950" dirty="0"/>
          </a:p>
        </p:txBody>
      </p:sp>
      <p:sp>
        <p:nvSpPr>
          <p:cNvPr id="9" name="note_10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Controlled practice</a:t>
            </a:r>
            <a:endParaRPr lang="en-US" sz="1250" dirty="0"/>
          </a:p>
        </p:txBody>
      </p:sp>
      <p:pic>
        <p:nvPicPr>
          <p:cNvPr id="10" name="logo_11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1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lead-in   ·   📖 SB p.80 · 1a</a:t>
            </a:r>
            <a:endParaRPr lang="en-US" sz="800" dirty="0"/>
          </a:p>
        </p:txBody>
      </p:sp>
      <p:sp>
        <p:nvSpPr>
          <p:cNvPr id="12" name="cd_112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1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11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115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I help you?" → SA</a:t>
            </a:r>
            <a:endParaRPr lang="en-US" sz="1050" dirty="0"/>
          </a:p>
        </p:txBody>
      </p:sp>
      <p:sp>
        <p:nvSpPr>
          <p:cNvPr id="16" name="pf_116"/>
          <p:cNvSpPr/>
          <p:nvPr/>
        </p:nvSpPr>
        <p:spPr>
          <a:xfrm rot="-90000">
            <a:off x="365760" y="2681023"/>
            <a:ext cx="2606040" cy="1669690"/>
          </a:xfrm>
          <a:prstGeom prst="roundRect">
            <a:avLst>
              <a:gd name="adj" fmla="val 93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117" descr="/home/claude/lls-course/v2/cache/4a1_queue_jpg_605x38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26743"/>
            <a:ext cx="2514600" cy="1578250"/>
          </a:xfrm>
          <a:prstGeom prst="rect">
            <a:avLst/>
          </a:prstGeom>
        </p:spPr>
      </p:pic>
      <p:sp>
        <p:nvSpPr>
          <p:cNvPr id="18" name="bd_118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119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need any help?</a:t>
            </a:r>
            <a:endParaRPr lang="en-US" sz="950" dirty="0"/>
          </a:p>
        </p:txBody>
      </p:sp>
      <p:sp>
        <p:nvSpPr>
          <p:cNvPr id="20" name="R1_chip120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21" name="bd_121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122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size are you?</a:t>
            </a:r>
            <a:endParaRPr lang="en-US" sz="950" dirty="0"/>
          </a:p>
        </p:txBody>
      </p:sp>
      <p:sp>
        <p:nvSpPr>
          <p:cNvPr id="23" name="R2_chip123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24" name="bd_124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125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this in blue?</a:t>
            </a:r>
            <a:endParaRPr lang="en-US" sz="950" dirty="0"/>
          </a:p>
        </p:txBody>
      </p:sp>
      <p:sp>
        <p:nvSpPr>
          <p:cNvPr id="26" name="R3_chip126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50" dirty="0"/>
          </a:p>
        </p:txBody>
      </p:sp>
      <p:sp>
        <p:nvSpPr>
          <p:cNvPr id="27" name="bd_127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128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nice day!</a:t>
            </a:r>
            <a:endParaRPr lang="en-US" sz="950" dirty="0"/>
          </a:p>
        </p:txBody>
      </p:sp>
      <p:sp>
        <p:nvSpPr>
          <p:cNvPr id="29" name="R4_chip129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30" name="bd_130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131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thanks, I'm just looking.</a:t>
            </a:r>
            <a:endParaRPr lang="en-US" sz="950" dirty="0"/>
          </a:p>
        </p:txBody>
      </p:sp>
      <p:sp>
        <p:nvSpPr>
          <p:cNvPr id="32" name="R5_chip132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50" dirty="0"/>
          </a:p>
        </p:txBody>
      </p:sp>
      <p:sp>
        <p:nvSpPr>
          <p:cNvPr id="33" name="bd_13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134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try these on?</a:t>
            </a:r>
            <a:endParaRPr lang="en-US" sz="950" dirty="0"/>
          </a:p>
        </p:txBody>
      </p:sp>
      <p:sp>
        <p:nvSpPr>
          <p:cNvPr id="35" name="R6_chip135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50" dirty="0"/>
          </a:p>
        </p:txBody>
      </p:sp>
      <p:sp>
        <p:nvSpPr>
          <p:cNvPr id="36" name="bd_136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q_137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put your receipt in the bag?</a:t>
            </a:r>
            <a:endParaRPr lang="en-US" sz="950" dirty="0"/>
          </a:p>
        </p:txBody>
      </p:sp>
      <p:sp>
        <p:nvSpPr>
          <p:cNvPr id="38" name="R7_chip138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  <p:sp>
        <p:nvSpPr>
          <p:cNvPr id="39" name="bd_139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0" name="q_140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changing rooms are over there.</a:t>
            </a:r>
            <a:endParaRPr lang="en-US" sz="950" dirty="0"/>
          </a:p>
        </p:txBody>
      </p:sp>
      <p:sp>
        <p:nvSpPr>
          <p:cNvPr id="41" name="R8_chip141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4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Too helpful? (adapted)</a:t>
            </a:r>
            <a:endParaRPr lang="en-US" sz="2500" dirty="0"/>
          </a:p>
        </p:txBody>
      </p:sp>
      <p:pic>
        <p:nvPicPr>
          <p:cNvPr id="6" name="brP_14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146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Did the second assistant help Jonathan?</a:t>
            </a:r>
            <a:endParaRPr lang="en-US" sz="1250" dirty="0"/>
          </a:p>
        </p:txBody>
      </p:sp>
      <p:sp>
        <p:nvSpPr>
          <p:cNvPr id="8" name="insIT_14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Il secondo commesso ha aiutato Jonathan?</a:t>
            </a:r>
            <a:endParaRPr lang="en-US" sz="950" dirty="0"/>
          </a:p>
        </p:txBody>
      </p:sp>
      <p:sp>
        <p:nvSpPr>
          <p:cNvPr id="9" name="note_14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TPRS · reading</a:t>
            </a:r>
            <a:endParaRPr lang="en-US" sz="1250" dirty="0"/>
          </a:p>
        </p:txBody>
      </p:sp>
      <p:pic>
        <p:nvPicPr>
          <p:cNvPr id="10" name="logo_1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When 'happy to help' becomes a problem   ·   📖 SB p.80 · 1b, 1c (full article in the book)</a:t>
            </a:r>
            <a:endParaRPr lang="en-US" sz="800" dirty="0"/>
          </a:p>
        </p:txBody>
      </p:sp>
      <p:sp>
        <p:nvSpPr>
          <p:cNvPr id="12" name="cd_15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15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</a:t>
            </a:r>
            <a:endParaRPr lang="en-US" sz="1700" dirty="0"/>
          </a:p>
        </p:txBody>
      </p:sp>
      <p:sp>
        <p:nvSpPr>
          <p:cNvPr id="14" name="ln_153"/>
          <p:cNvSpPr/>
          <p:nvPr/>
        </p:nvSpPr>
        <p:spPr>
          <a:xfrm>
            <a:off x="548640" y="1920240"/>
            <a:ext cx="5349240" cy="351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goes into a shop at King's Cross station to buy a wallet.</a:t>
            </a:r>
            <a:endParaRPr lang="en-US" sz="1200" dirty="0"/>
          </a:p>
        </p:txBody>
      </p:sp>
      <p:sp>
        <p:nvSpPr>
          <p:cNvPr id="15" name="ln_154"/>
          <p:cNvSpPr/>
          <p:nvPr/>
        </p:nvSpPr>
        <p:spPr>
          <a:xfrm>
            <a:off x="548640" y="2272188"/>
            <a:ext cx="5349240" cy="39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1: 'Do you need any help?'  Jonathan: 'I'm just looking, thanks.'</a:t>
            </a:r>
            <a:endParaRPr lang="en-US" sz="1200" dirty="0"/>
          </a:p>
        </p:txBody>
      </p:sp>
      <p:sp>
        <p:nvSpPr>
          <p:cNvPr id="16" name="ln_155"/>
          <p:cNvSpPr/>
          <p:nvPr/>
        </p:nvSpPr>
        <p:spPr>
          <a:xfrm>
            <a:off x="548640" y="2672129"/>
            <a:ext cx="5349240" cy="501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second assistant arrives: 'Hello, do you need any help? … Are you going anywhere nice?'</a:t>
            </a:r>
            <a:endParaRPr lang="en-US" sz="1200" dirty="0"/>
          </a:p>
        </p:txBody>
      </p:sp>
      <p:sp>
        <p:nvSpPr>
          <p:cNvPr id="17" name="ln_156"/>
          <p:cNvSpPr/>
          <p:nvPr/>
        </p:nvSpPr>
        <p:spPr>
          <a:xfrm>
            <a:off x="548640" y="3173388"/>
            <a:ext cx="5349240" cy="61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'No. I work near here.' 'Where do you work?' … 'Do you like football?' … 'Are you going to watch the England match?'</a:t>
            </a:r>
            <a:endParaRPr lang="en-US" sz="1200" dirty="0"/>
          </a:p>
        </p:txBody>
      </p:sp>
      <p:sp>
        <p:nvSpPr>
          <p:cNvPr id="18" name="ln_157"/>
          <p:cNvSpPr/>
          <p:nvPr/>
        </p:nvSpPr>
        <p:spPr>
          <a:xfrm>
            <a:off x="548640" y="3791963"/>
            <a:ext cx="5349240" cy="45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'What are you doing after work?' … 'Are you doing anything for the rest of the day?'</a:t>
            </a:r>
            <a:endParaRPr lang="en-US" sz="1200" dirty="0"/>
          </a:p>
        </p:txBody>
      </p:sp>
      <p:sp>
        <p:nvSpPr>
          <p:cNvPr id="19" name="ln_158"/>
          <p:cNvSpPr/>
          <p:nvPr/>
        </p:nvSpPr>
        <p:spPr>
          <a:xfrm>
            <a:off x="548640" y="4250561"/>
            <a:ext cx="5349240" cy="45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runs away – without a wallet. 'His never-ending questions lost him the sale.'</a:t>
            </a:r>
            <a:endParaRPr lang="en-US" sz="1200" dirty="0"/>
          </a:p>
        </p:txBody>
      </p:sp>
      <p:sp>
        <p:nvSpPr>
          <p:cNvPr id="20" name="pf_159"/>
          <p:cNvSpPr/>
          <p:nvPr/>
        </p:nvSpPr>
        <p:spPr>
          <a:xfrm rot="120000">
            <a:off x="6737104" y="1417320"/>
            <a:ext cx="1704832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160" descr="/home/claude/lls-course/v2/cache/4a1_public_transport_jpg_388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782824" y="1463040"/>
            <a:ext cx="1613392" cy="1417320"/>
          </a:xfrm>
          <a:prstGeom prst="rect">
            <a:avLst/>
          </a:prstGeom>
        </p:spPr>
      </p:pic>
      <p:sp>
        <p:nvSpPr>
          <p:cNvPr id="22" name="cd_16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16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16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5" name="il_164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appropriate = right for the situation</a:t>
            </a:r>
            <a:endParaRPr lang="en-US" sz="8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wallet = portafoglio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67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Rewind! What did they say?</a:t>
            </a:r>
            <a:endParaRPr lang="en-US" sz="2400" dirty="0"/>
          </a:p>
        </p:txBody>
      </p:sp>
      <p:pic>
        <p:nvPicPr>
          <p:cNvPr id="6" name="brP_1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69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REAL words he said.</a:t>
            </a:r>
            <a:endParaRPr lang="en-US" sz="1250" dirty="0"/>
          </a:p>
        </p:txBody>
      </p:sp>
      <p:sp>
        <p:nvSpPr>
          <p:cNvPr id="8" name="insIT_1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le parole ESATTE.</a:t>
            </a:r>
            <a:endParaRPr lang="en-US" sz="950" dirty="0"/>
          </a:p>
        </p:txBody>
      </p:sp>
      <p:sp>
        <p:nvSpPr>
          <p:cNvPr id="9" name="note_17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🔍 FIND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150" dirty="0"/>
          </a:p>
        </p:txBody>
      </p:sp>
      <p:pic>
        <p:nvPicPr>
          <p:cNvPr id="10" name="logo_1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noticing   ·   📖 SB p.81 · 2a</a:t>
            </a:r>
            <a:endParaRPr lang="en-US" sz="800" dirty="0"/>
          </a:p>
        </p:txBody>
      </p:sp>
      <p:sp>
        <p:nvSpPr>
          <p:cNvPr id="12" name="cd_174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7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17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177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needed any help. → 'Do you need any help?'</a:t>
            </a:r>
            <a:endParaRPr lang="en-US" sz="900" dirty="0"/>
          </a:p>
        </p:txBody>
      </p:sp>
      <p:sp>
        <p:nvSpPr>
          <p:cNvPr id="16" name="pf_178"/>
          <p:cNvSpPr/>
          <p:nvPr/>
        </p:nvSpPr>
        <p:spPr>
          <a:xfrm rot="-90000">
            <a:off x="365760" y="2904810"/>
            <a:ext cx="2606040" cy="1423283"/>
          </a:xfrm>
          <a:prstGeom prst="roundRect">
            <a:avLst>
              <a:gd name="adj" fmla="val 109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179" descr="/home/claude/lls-course/v2/cache/4a1_polite_jpg_605x3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950530"/>
            <a:ext cx="2514600" cy="1331843"/>
          </a:xfrm>
          <a:prstGeom prst="rect">
            <a:avLst/>
          </a:prstGeom>
        </p:spPr>
      </p:pic>
      <p:sp>
        <p:nvSpPr>
          <p:cNvPr id="18" name="bd_18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18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where I worked.</a:t>
            </a:r>
            <a:endParaRPr lang="en-US" sz="1150" dirty="0"/>
          </a:p>
        </p:txBody>
      </p:sp>
      <p:sp>
        <p:nvSpPr>
          <p:cNvPr id="20" name="R1_chip18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work?'</a:t>
            </a:r>
            <a:endParaRPr lang="en-US" sz="1050" dirty="0"/>
          </a:p>
        </p:txBody>
      </p:sp>
      <p:sp>
        <p:nvSpPr>
          <p:cNvPr id="21" name="bd_18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18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said I worked in an office round the corner.</a:t>
            </a:r>
            <a:endParaRPr lang="en-US" sz="1150" dirty="0"/>
          </a:p>
        </p:txBody>
      </p:sp>
      <p:sp>
        <p:nvSpPr>
          <p:cNvPr id="23" name="R2_chip18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work in an office round the corner.'</a:t>
            </a:r>
            <a:endParaRPr lang="en-US" sz="1050" dirty="0"/>
          </a:p>
        </p:txBody>
      </p:sp>
      <p:sp>
        <p:nvSpPr>
          <p:cNvPr id="24" name="bd_18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18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liked football.</a:t>
            </a:r>
            <a:endParaRPr lang="en-US" sz="1150" dirty="0"/>
          </a:p>
        </p:txBody>
      </p:sp>
      <p:sp>
        <p:nvSpPr>
          <p:cNvPr id="26" name="R3_chip18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'Do you like football?'</a:t>
            </a:r>
            <a:endParaRPr lang="en-US" sz="1050" dirty="0"/>
          </a:p>
        </p:txBody>
      </p:sp>
      <p:sp>
        <p:nvSpPr>
          <p:cNvPr id="27" name="bd_18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19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was going to watch the match.</a:t>
            </a:r>
            <a:endParaRPr lang="en-US" sz="1050" dirty="0"/>
          </a:p>
        </p:txBody>
      </p:sp>
      <p:sp>
        <p:nvSpPr>
          <p:cNvPr id="29" name="R4_chip19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going to watch the England match?'</a:t>
            </a:r>
            <a:endParaRPr lang="en-US" sz="1050" dirty="0"/>
          </a:p>
        </p:txBody>
      </p:sp>
      <p:sp>
        <p:nvSpPr>
          <p:cNvPr id="30" name="bd_19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19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what I was doing after work.</a:t>
            </a:r>
            <a:endParaRPr lang="en-US" sz="1150" dirty="0"/>
          </a:p>
        </p:txBody>
      </p:sp>
      <p:sp>
        <p:nvSpPr>
          <p:cNvPr id="32" name="R5_chip19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after work?'</a:t>
            </a:r>
            <a:endParaRPr lang="en-US" sz="1050" dirty="0"/>
          </a:p>
        </p:txBody>
      </p:sp>
      <p:sp>
        <p:nvSpPr>
          <p:cNvPr id="33" name="bd_19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19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told him I was having dinner with a friend.</a:t>
            </a:r>
            <a:endParaRPr lang="en-US" sz="1150" dirty="0"/>
          </a:p>
        </p:txBody>
      </p:sp>
      <p:sp>
        <p:nvSpPr>
          <p:cNvPr id="35" name="R6_chip19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having dinner with a friend.'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0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Reported speech</a:t>
            </a:r>
            <a:endParaRPr lang="en-US" sz="2500" dirty="0"/>
          </a:p>
        </p:txBody>
      </p:sp>
      <p:pic>
        <p:nvPicPr>
          <p:cNvPr id="6" name="brP_2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903220" cy="402336"/>
          </a:xfrm>
          <a:prstGeom prst="rect">
            <a:avLst/>
          </a:prstGeom>
        </p:spPr>
      </p:pic>
      <p:sp>
        <p:nvSpPr>
          <p:cNvPr id="7" name="ins_202"/>
          <p:cNvSpPr/>
          <p:nvPr/>
        </p:nvSpPr>
        <p:spPr>
          <a:xfrm>
            <a:off x="1353312" y="731520"/>
            <a:ext cx="2647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does the verb change?</a:t>
            </a:r>
            <a:endParaRPr lang="en-US" sz="1250" dirty="0"/>
          </a:p>
        </p:txBody>
      </p:sp>
      <p:sp>
        <p:nvSpPr>
          <p:cNvPr id="8" name="insIT_2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cambia il verbo?</a:t>
            </a:r>
            <a:endParaRPr lang="en-US" sz="950" dirty="0"/>
          </a:p>
        </p:txBody>
      </p:sp>
      <p:sp>
        <p:nvSpPr>
          <p:cNvPr id="9" name="note_20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20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0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reported speech   ·   📖 Grammar Bank 8B p.147 · audio 8.13, 8.14</a:t>
            </a:r>
            <a:endParaRPr lang="en-US" sz="800" dirty="0"/>
          </a:p>
        </p:txBody>
      </p:sp>
      <p:sp>
        <p:nvSpPr>
          <p:cNvPr id="12" name="ah_207"/>
          <p:cNvSpPr/>
          <p:nvPr/>
        </p:nvSpPr>
        <p:spPr>
          <a:xfrm>
            <a:off x="2670048" y="457200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8.13 + 8.14   ▶ normal</a:t>
            </a:r>
            <a:endParaRPr lang="en-US" sz="1000" dirty="0"/>
          </a:p>
        </p:txBody>
      </p:sp>
      <p:pic>
        <p:nvPicPr>
          <p:cNvPr id="13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14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15" name="ah_208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17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8" name="cd_209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rh_210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</a:t>
            </a:r>
            <a:endParaRPr lang="en-US" sz="1250" dirty="0"/>
          </a:p>
        </p:txBody>
      </p:sp>
      <p:sp>
        <p:nvSpPr>
          <p:cNvPr id="20" name="pf_211"/>
          <p:cNvSpPr/>
          <p:nvPr/>
        </p:nvSpPr>
        <p:spPr>
          <a:xfrm>
            <a:off x="1024631" y="1938528"/>
            <a:ext cx="1349257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212" descr="/home/claude/lls-course/v2/cache/3b1_jokes_jpg_303x209_3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70351" y="1984248"/>
            <a:ext cx="1257817" cy="868680"/>
          </a:xfrm>
          <a:prstGeom prst="rect">
            <a:avLst/>
          </a:prstGeom>
        </p:spPr>
      </p:pic>
      <p:sp>
        <p:nvSpPr>
          <p:cNvPr id="22" name="ru_213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(that) · tell + person</a:t>
            </a:r>
            <a:endParaRPr lang="en-US" sz="1050" dirty="0"/>
          </a:p>
        </p:txBody>
      </p:sp>
      <p:sp>
        <p:nvSpPr>
          <p:cNvPr id="23" name="R1_rx214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like shopping.' → She said she liked shopping.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forgotten my keys.' → He told me he had forgotten his keys.</a:t>
            </a:r>
            <a:endParaRPr lang="en-US" sz="1050" dirty="0"/>
          </a:p>
        </p:txBody>
      </p:sp>
      <p:sp>
        <p:nvSpPr>
          <p:cNvPr id="24" name="R1_ri215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 detto che…</a:t>
            </a:r>
            <a:endParaRPr lang="en-US" sz="900" dirty="0"/>
          </a:p>
        </p:txBody>
      </p:sp>
      <p:sp>
        <p:nvSpPr>
          <p:cNvPr id="25" name="cd_216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rh_217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Tense goes back</a:t>
            </a:r>
            <a:endParaRPr lang="en-US" sz="1250" dirty="0"/>
          </a:p>
        </p:txBody>
      </p:sp>
      <p:sp>
        <p:nvSpPr>
          <p:cNvPr id="27" name="pf_218"/>
          <p:cNvSpPr/>
          <p:nvPr/>
        </p:nvSpPr>
        <p:spPr>
          <a:xfrm>
            <a:off x="3970020" y="1938528"/>
            <a:ext cx="1249680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219" descr="/home/claude/lls-course/v2/cache/2a1_coins_jpg_279x209_3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15740" y="1984248"/>
            <a:ext cx="1158240" cy="868680"/>
          </a:xfrm>
          <a:prstGeom prst="rect">
            <a:avLst/>
          </a:prstGeom>
        </p:spPr>
      </p:pic>
      <p:sp>
        <p:nvSpPr>
          <p:cNvPr id="29" name="ru_220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into the past</a:t>
            </a:r>
            <a:endParaRPr lang="en-US" sz="1050" dirty="0"/>
          </a:p>
        </p:txBody>
      </p:sp>
      <p:sp>
        <p:nvSpPr>
          <p:cNvPr id="30" name="R2_rx221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 / is → was · will → would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→ could · must → had to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/ pres. perfect → had + p.p.</a:t>
            </a:r>
            <a:endParaRPr lang="en-US" sz="1050" dirty="0"/>
          </a:p>
        </p:txBody>
      </p:sp>
      <p:sp>
        <p:nvSpPr>
          <p:cNvPr id="31" name="R2_ri222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tomorrow → the next day</a:t>
            </a:r>
            <a:endParaRPr lang="en-US" sz="900" dirty="0"/>
          </a:p>
        </p:txBody>
      </p:sp>
      <p:sp>
        <p:nvSpPr>
          <p:cNvPr id="32" name="cd_223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rh_224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34" name="pf_225"/>
          <p:cNvSpPr/>
          <p:nvPr/>
        </p:nvSpPr>
        <p:spPr>
          <a:xfrm>
            <a:off x="6752713" y="1938528"/>
            <a:ext cx="147549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5" name="ph_226" descr="/home/claude/lls-course/v2/cache/4a1_queue_jpg_333x209_31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98433" y="1984248"/>
            <a:ext cx="1384054" cy="868680"/>
          </a:xfrm>
          <a:prstGeom prst="rect">
            <a:avLst/>
          </a:prstGeom>
        </p:spPr>
      </p:pic>
      <p:sp>
        <p:nvSpPr>
          <p:cNvPr id="36" name="ru_227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do / did · normal word order</a:t>
            </a:r>
            <a:endParaRPr lang="en-US" sz="1050" dirty="0"/>
          </a:p>
        </p:txBody>
      </p:sp>
      <p:sp>
        <p:nvSpPr>
          <p:cNvPr id="37" name="R3_rx228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 → She asked me where I lived.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married?' → She asked him if he was married.</a:t>
            </a:r>
            <a:endParaRPr lang="en-US" sz="1050" dirty="0"/>
          </a:p>
        </p:txBody>
      </p:sp>
      <p:sp>
        <p:nvSpPr>
          <p:cNvPr id="38" name="R3_ri229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yes/no → if / whether</a:t>
            </a:r>
            <a:endParaRPr lang="en-US" sz="900" dirty="0"/>
          </a:p>
        </p:txBody>
      </p:sp>
      <p:sp>
        <p:nvSpPr>
          <p:cNvPr id="39" name="R4_wc230"/>
          <p:cNvSpPr/>
          <p:nvPr/>
        </p:nvSpPr>
        <p:spPr>
          <a:xfrm>
            <a:off x="320040" y="4544568"/>
            <a:ext cx="2167128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R4_w231"/>
          <p:cNvSpPr/>
          <p:nvPr/>
        </p:nvSpPr>
        <p:spPr>
          <a:xfrm>
            <a:off x="457200" y="4544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He said me → ✓ He told me / He said   ✗ She asked me where did I live → ✓ where I lived</a:t>
            </a:r>
            <a:endParaRPr lang="en-US" sz="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9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4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5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5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3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34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 correctly</a:t>
            </a:r>
            <a:endParaRPr lang="en-US" sz="2500" dirty="0"/>
          </a:p>
        </p:txBody>
      </p:sp>
      <p:pic>
        <p:nvPicPr>
          <p:cNvPr id="6" name="brP_23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642616" cy="402336"/>
          </a:xfrm>
          <a:prstGeom prst="rect">
            <a:avLst/>
          </a:prstGeom>
        </p:spPr>
      </p:pic>
      <p:sp>
        <p:nvSpPr>
          <p:cNvPr id="7" name="ins_236"/>
          <p:cNvSpPr/>
          <p:nvPr/>
        </p:nvSpPr>
        <p:spPr>
          <a:xfrm>
            <a:off x="1353312" y="73152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it! Then check.</a:t>
            </a:r>
            <a:endParaRPr lang="en-US" sz="1250" dirty="0"/>
          </a:p>
        </p:txBody>
      </p:sp>
      <p:sp>
        <p:nvSpPr>
          <p:cNvPr id="8" name="insIT_23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Riportalo! Poi controlla.</a:t>
            </a:r>
            <a:endParaRPr lang="en-US" sz="950" dirty="0"/>
          </a:p>
        </p:txBody>
      </p:sp>
      <p:sp>
        <p:nvSpPr>
          <p:cNvPr id="9" name="note_23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SCRIVI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250" dirty="0"/>
          </a:p>
        </p:txBody>
      </p:sp>
      <p:pic>
        <p:nvPicPr>
          <p:cNvPr id="10" name="logo_23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4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practice   ·   📖 Grammar Bank 8B p.147 · a 2–4, b 1–3</a:t>
            </a:r>
            <a:endParaRPr lang="en-US" sz="800" dirty="0"/>
          </a:p>
        </p:txBody>
      </p:sp>
      <p:sp>
        <p:nvSpPr>
          <p:cNvPr id="12" name="cd_241"/>
          <p:cNvSpPr/>
          <p:nvPr/>
        </p:nvSpPr>
        <p:spPr>
          <a:xfrm>
            <a:off x="320040" y="1417320"/>
            <a:ext cx="2697480" cy="1170432"/>
          </a:xfrm>
          <a:prstGeom prst="roundRect">
            <a:avLst>
              <a:gd name="adj" fmla="val 1093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4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24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244"/>
          <p:cNvSpPr/>
          <p:nvPr/>
        </p:nvSpPr>
        <p:spPr>
          <a:xfrm>
            <a:off x="886968" y="1911096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selling all my books.' → Tim said he was selling all his books.</a:t>
            </a:r>
            <a:endParaRPr lang="en-US" sz="1050" dirty="0"/>
          </a:p>
        </p:txBody>
      </p:sp>
      <p:sp>
        <p:nvSpPr>
          <p:cNvPr id="16" name="pf_245"/>
          <p:cNvSpPr/>
          <p:nvPr/>
        </p:nvSpPr>
        <p:spPr>
          <a:xfrm rot="-90000">
            <a:off x="365760" y="3077037"/>
            <a:ext cx="2606040" cy="1279999"/>
          </a:xfrm>
          <a:prstGeom prst="roundRect">
            <a:avLst>
              <a:gd name="adj" fmla="val 121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46" descr="/home/claude/lls-course/v2/cache/4a1_library_jpg_605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3122757"/>
            <a:ext cx="2514600" cy="1188559"/>
          </a:xfrm>
          <a:prstGeom prst="rect">
            <a:avLst/>
          </a:prstGeom>
        </p:spPr>
      </p:pic>
      <p:sp>
        <p:nvSpPr>
          <p:cNvPr id="18" name="bd_24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24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booked the flights.' → Emma told me she…</a:t>
            </a:r>
            <a:endParaRPr lang="en-US" sz="1000" dirty="0"/>
          </a:p>
        </p:txBody>
      </p:sp>
      <p:sp>
        <p:nvSpPr>
          <p:cNvPr id="20" name="R1_chip24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booked the flights</a:t>
            </a:r>
            <a:endParaRPr lang="en-US" sz="1050" dirty="0"/>
          </a:p>
        </p:txBody>
      </p:sp>
      <p:sp>
        <p:nvSpPr>
          <p:cNvPr id="21" name="bd_25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25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'Your new dress doesn't suit you.' → My mum told me…</a:t>
            </a:r>
            <a:endParaRPr lang="en-US" sz="950" dirty="0"/>
          </a:p>
        </p:txBody>
      </p:sp>
      <p:sp>
        <p:nvSpPr>
          <p:cNvPr id="23" name="R2_chip25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new dress didn't suit me</a:t>
            </a:r>
            <a:endParaRPr lang="en-US" sz="1050" dirty="0"/>
          </a:p>
        </p:txBody>
      </p:sp>
      <p:sp>
        <p:nvSpPr>
          <p:cNvPr id="24" name="bd_25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25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might not be able to go.' → Matt said he…</a:t>
            </a:r>
            <a:endParaRPr lang="en-US" sz="1000" dirty="0"/>
          </a:p>
        </p:txBody>
      </p:sp>
      <p:sp>
        <p:nvSpPr>
          <p:cNvPr id="26" name="R3_chip25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not be able to go</a:t>
            </a:r>
            <a:endParaRPr lang="en-US" sz="1050" dirty="0"/>
          </a:p>
        </p:txBody>
      </p:sp>
      <p:sp>
        <p:nvSpPr>
          <p:cNvPr id="27" name="bd_25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25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'When are you leaving?' → My parents asked me…</a:t>
            </a:r>
            <a:endParaRPr lang="en-US" sz="1000" dirty="0"/>
          </a:p>
        </p:txBody>
      </p:sp>
      <p:sp>
        <p:nvSpPr>
          <p:cNvPr id="29" name="R4_chip25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 was leaving</a:t>
            </a:r>
            <a:endParaRPr lang="en-US" sz="1050" dirty="0"/>
          </a:p>
        </p:txBody>
      </p:sp>
      <p:sp>
        <p:nvSpPr>
          <p:cNvPr id="30" name="bd_25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26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ever been married?' → She asked him…</a:t>
            </a:r>
            <a:endParaRPr lang="en-US" sz="900" dirty="0"/>
          </a:p>
        </p:txBody>
      </p:sp>
      <p:sp>
        <p:nvSpPr>
          <p:cNvPr id="32" name="R5_chip26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had ever been married</a:t>
            </a:r>
            <a:endParaRPr lang="en-US" sz="1050" dirty="0"/>
          </a:p>
        </p:txBody>
      </p:sp>
      <p:sp>
        <p:nvSpPr>
          <p:cNvPr id="33" name="bd_262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263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home early?' → Anna asked Robert…</a:t>
            </a:r>
            <a:endParaRPr lang="en-US" sz="1000" dirty="0"/>
          </a:p>
        </p:txBody>
      </p:sp>
      <p:sp>
        <p:nvSpPr>
          <p:cNvPr id="35" name="R6_chip264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would be home early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67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 asked her…</a:t>
            </a:r>
            <a:endParaRPr lang="en-US" sz="2500" dirty="0"/>
          </a:p>
        </p:txBody>
      </p:sp>
      <p:pic>
        <p:nvPicPr>
          <p:cNvPr id="6" name="brP_2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269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Report the question before the narrator!</a:t>
            </a:r>
            <a:endParaRPr lang="en-US" sz="1250" dirty="0"/>
          </a:p>
        </p:txBody>
      </p:sp>
      <p:sp>
        <p:nvSpPr>
          <p:cNvPr id="8" name="insIT_2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Riporta la domanda prima del narratore!</a:t>
            </a:r>
            <a:endParaRPr lang="en-US" sz="950" dirty="0"/>
          </a:p>
        </p:txBody>
      </p:sp>
      <p:sp>
        <p:nvSpPr>
          <p:cNvPr id="9" name="note_27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Listening for detail</a:t>
            </a:r>
            <a:endParaRPr lang="en-US" sz="1150" dirty="0"/>
          </a:p>
        </p:txBody>
      </p:sp>
      <p:pic>
        <p:nvPicPr>
          <p:cNvPr id="10" name="logo_2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oral practice   ·   📖 SB p.81 · 2c · audio 8.15</a:t>
            </a:r>
            <a:endParaRPr lang="en-US" sz="800" dirty="0"/>
          </a:p>
        </p:txBody>
      </p:sp>
      <p:sp>
        <p:nvSpPr>
          <p:cNvPr id="12" name="ap_274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8.15  ·  pause after each question</a:t>
            </a:r>
            <a:endParaRPr lang="en-US" sz="1100" dirty="0"/>
          </a:p>
        </p:txBody>
      </p:sp>
      <p:sp>
        <p:nvSpPr>
          <p:cNvPr id="13" name="ah_275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276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pf_277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78" descr="/home/claude/lls-course/v2/cache/2a1_wast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279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80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281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gq_282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</a:t>
            </a:r>
            <a:endParaRPr lang="en-US" sz="1200" dirty="0"/>
          </a:p>
        </p:txBody>
      </p:sp>
      <p:sp>
        <p:nvSpPr>
          <p:cNvPr id="23" name="R1_chip283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 lived.</a:t>
            </a:r>
            <a:endParaRPr lang="en-US" sz="1200" dirty="0"/>
          </a:p>
        </p:txBody>
      </p:sp>
      <p:sp>
        <p:nvSpPr>
          <p:cNvPr id="24" name="gq_284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in the evening?'</a:t>
            </a:r>
            <a:endParaRPr lang="en-US" sz="1200" dirty="0"/>
          </a:p>
        </p:txBody>
      </p:sp>
      <p:sp>
        <p:nvSpPr>
          <p:cNvPr id="25" name="R2_chip285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what he was doing in the evening.</a:t>
            </a:r>
            <a:endParaRPr lang="en-US" sz="1000" dirty="0"/>
          </a:p>
        </p:txBody>
      </p:sp>
      <p:sp>
        <p:nvSpPr>
          <p:cNvPr id="26" name="gq_286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at home at eight?'</a:t>
            </a:r>
            <a:endParaRPr lang="en-US" sz="1200" dirty="0"/>
          </a:p>
        </p:txBody>
      </p:sp>
      <p:sp>
        <p:nvSpPr>
          <p:cNvPr id="27" name="R3_chip287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if she would be at home at eight.</a:t>
            </a:r>
            <a:endParaRPr lang="en-US" sz="1200" dirty="0"/>
          </a:p>
        </p:txBody>
      </p:sp>
      <p:sp>
        <p:nvSpPr>
          <p:cNvPr id="28" name="gq_288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did you buy your bag?'</a:t>
            </a:r>
            <a:endParaRPr lang="en-US" sz="1200" dirty="0"/>
          </a:p>
        </p:txBody>
      </p:sp>
      <p:sp>
        <p:nvSpPr>
          <p:cNvPr id="29" name="R4_chip289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she'd bought her bag.</a:t>
            </a:r>
            <a:endParaRPr lang="en-US" sz="1200" dirty="0"/>
          </a:p>
        </p:txBody>
      </p:sp>
      <p:sp>
        <p:nvSpPr>
          <p:cNvPr id="30" name="gq_290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seen the new Bond film?'</a:t>
            </a:r>
            <a:endParaRPr lang="en-US" sz="1200" dirty="0"/>
          </a:p>
        </p:txBody>
      </p:sp>
      <p:sp>
        <p:nvSpPr>
          <p:cNvPr id="31" name="R5_chip291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if he'd seen it.</a:t>
            </a:r>
            <a:endParaRPr lang="en-US" sz="1200" dirty="0"/>
          </a:p>
        </p:txBody>
      </p:sp>
      <p:sp>
        <p:nvSpPr>
          <p:cNvPr id="32" name="gq_292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'Can I try on the jacket?'</a:t>
            </a:r>
            <a:endParaRPr lang="en-US" sz="1200" dirty="0"/>
          </a:p>
        </p:txBody>
      </p:sp>
      <p:sp>
        <p:nvSpPr>
          <p:cNvPr id="33" name="R6_chip293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he could try it on.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296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2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9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29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note_30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30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0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Vocabulary · shopping   ·   📖 SB p.81 · 3a</a:t>
            </a:r>
            <a:endParaRPr lang="en-US" sz="800" dirty="0"/>
          </a:p>
        </p:txBody>
      </p:sp>
      <p:sp>
        <p:nvSpPr>
          <p:cNvPr id="12" name="cd_303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0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30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306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basket / trolley → small, you carry it / big, on wheels</a:t>
            </a:r>
            <a:endParaRPr lang="en-US" sz="1050" dirty="0"/>
          </a:p>
        </p:txBody>
      </p:sp>
      <p:sp>
        <p:nvSpPr>
          <p:cNvPr id="16" name="pf_307"/>
          <p:cNvSpPr/>
          <p:nvPr/>
        </p:nvSpPr>
        <p:spPr>
          <a:xfrm rot="-90000">
            <a:off x="365760" y="2821263"/>
            <a:ext cx="2606040" cy="1590377"/>
          </a:xfrm>
          <a:prstGeom prst="roundRect">
            <a:avLst>
              <a:gd name="adj" fmla="val 97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308" descr="/home/claude/lls-course/v2/cache/2a2_saver_spender_jpg_605x36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866983"/>
            <a:ext cx="2514600" cy="1498937"/>
          </a:xfrm>
          <a:prstGeom prst="rect">
            <a:avLst/>
          </a:prstGeom>
        </p:spPr>
      </p:pic>
      <p:sp>
        <p:nvSpPr>
          <p:cNvPr id="18" name="bd_309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310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credit card / debit card</a:t>
            </a:r>
            <a:endParaRPr lang="en-US" sz="1150" dirty="0"/>
          </a:p>
        </p:txBody>
      </p:sp>
      <p:sp>
        <p:nvSpPr>
          <p:cNvPr id="20" name="R1_chip311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later / the money goes immediately</a:t>
            </a:r>
            <a:endParaRPr lang="en-US" sz="1050" dirty="0"/>
          </a:p>
        </p:txBody>
      </p:sp>
      <p:sp>
        <p:nvSpPr>
          <p:cNvPr id="21" name="bd_312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313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150" dirty="0"/>
          </a:p>
        </p:txBody>
      </p:sp>
      <p:sp>
        <p:nvSpPr>
          <p:cNvPr id="23" name="R2_chip314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paper that proves you paid / money back</a:t>
            </a:r>
            <a:endParaRPr lang="en-US" sz="1050" dirty="0"/>
          </a:p>
        </p:txBody>
      </p:sp>
      <p:sp>
        <p:nvSpPr>
          <p:cNvPr id="24" name="bd_315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316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discount / bargain</a:t>
            </a:r>
            <a:endParaRPr lang="en-US" sz="1150" dirty="0"/>
          </a:p>
        </p:txBody>
      </p:sp>
      <p:sp>
        <p:nvSpPr>
          <p:cNvPr id="26" name="R3_chip317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off the price / a very cheap thing</a:t>
            </a:r>
            <a:endParaRPr lang="en-US" sz="1050" dirty="0"/>
          </a:p>
        </p:txBody>
      </p:sp>
      <p:sp>
        <p:nvSpPr>
          <p:cNvPr id="27" name="bd_318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319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chain store / department store</a:t>
            </a:r>
            <a:endParaRPr lang="en-US" sz="1150" dirty="0"/>
          </a:p>
        </p:txBody>
      </p:sp>
      <p:sp>
        <p:nvSpPr>
          <p:cNvPr id="29" name="R4_chip320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of many similar shops / big shop, many sections</a:t>
            </a:r>
            <a:endParaRPr lang="en-US" sz="1050" dirty="0"/>
          </a:p>
        </p:txBody>
      </p:sp>
      <p:sp>
        <p:nvSpPr>
          <p:cNvPr id="30" name="bd_321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322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library / bookshop</a:t>
            </a:r>
            <a:endParaRPr lang="en-US" sz="1150" dirty="0"/>
          </a:p>
        </p:txBody>
      </p:sp>
      <p:sp>
        <p:nvSpPr>
          <p:cNvPr id="32" name="R5_chip323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books / buy books</a:t>
            </a:r>
            <a:endParaRPr lang="en-US" sz="1050" dirty="0"/>
          </a:p>
        </p:txBody>
      </p:sp>
      <p:sp>
        <p:nvSpPr>
          <p:cNvPr id="33" name="bd_324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325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on / try on</a:t>
            </a:r>
            <a:endParaRPr lang="en-US" sz="1150" dirty="0"/>
          </a:p>
        </p:txBody>
      </p:sp>
      <p:sp>
        <p:nvSpPr>
          <p:cNvPr id="35" name="R6_chip326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dressed / put on before you buy</a:t>
            </a:r>
            <a:endParaRPr lang="en-US" sz="1050" dirty="0"/>
          </a:p>
        </p:txBody>
      </p:sp>
      <p:sp>
        <p:nvSpPr>
          <p:cNvPr id="36" name="bd_327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q_328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fits you / It suits you</a:t>
            </a:r>
            <a:endParaRPr lang="en-US" sz="1150" dirty="0"/>
          </a:p>
        </p:txBody>
      </p:sp>
      <p:sp>
        <p:nvSpPr>
          <p:cNvPr id="38" name="R7_chip329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size / looks good on you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3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32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in Italian</a:t>
            </a:r>
            <a:endParaRPr lang="en-US" sz="2500" dirty="0"/>
          </a:p>
        </p:txBody>
      </p:sp>
      <p:pic>
        <p:nvPicPr>
          <p:cNvPr id="6" name="brP_33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34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33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note_33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250" dirty="0"/>
          </a:p>
        </p:txBody>
      </p:sp>
      <p:pic>
        <p:nvPicPr>
          <p:cNvPr id="10" name="logo_33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3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Vocabulary · in Italian</a:t>
            </a:r>
            <a:endParaRPr lang="en-US" sz="800" dirty="0"/>
          </a:p>
        </p:txBody>
      </p:sp>
      <p:sp>
        <p:nvSpPr>
          <p:cNvPr id="12" name="cd_339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340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14" name="en_341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receipt</a:t>
            </a:r>
            <a:endParaRPr lang="en-US" sz="1200" dirty="0"/>
          </a:p>
        </p:txBody>
      </p:sp>
      <p:sp>
        <p:nvSpPr>
          <p:cNvPr id="15" name="R1_it342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ricevuta</a:t>
            </a:r>
            <a:endParaRPr lang="en-US" sz="1000" dirty="0"/>
          </a:p>
        </p:txBody>
      </p:sp>
      <p:sp>
        <p:nvSpPr>
          <p:cNvPr id="16" name="cd_343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e_344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18" name="en_345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refund</a:t>
            </a:r>
            <a:endParaRPr lang="en-US" sz="1200" dirty="0"/>
          </a:p>
        </p:txBody>
      </p:sp>
      <p:sp>
        <p:nvSpPr>
          <p:cNvPr id="19" name="R2_it346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rimborso</a:t>
            </a:r>
            <a:endParaRPr lang="en-US" sz="1000" dirty="0"/>
          </a:p>
        </p:txBody>
      </p:sp>
      <p:sp>
        <p:nvSpPr>
          <p:cNvPr id="20" name="cd_347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348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22" name="en_349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3" name="R3_it350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sconto</a:t>
            </a:r>
            <a:endParaRPr lang="en-US" sz="1000" dirty="0"/>
          </a:p>
        </p:txBody>
      </p:sp>
      <p:sp>
        <p:nvSpPr>
          <p:cNvPr id="24" name="cd_351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352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🤑</a:t>
            </a:r>
            <a:endParaRPr lang="en-US" sz="2000" dirty="0"/>
          </a:p>
        </p:txBody>
      </p:sp>
      <p:sp>
        <p:nvSpPr>
          <p:cNvPr id="26" name="en_353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bargain</a:t>
            </a:r>
            <a:endParaRPr lang="en-US" sz="1200" dirty="0"/>
          </a:p>
        </p:txBody>
      </p:sp>
      <p:sp>
        <p:nvSpPr>
          <p:cNvPr id="27" name="R4_it354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affare</a:t>
            </a:r>
            <a:endParaRPr lang="en-US" sz="1000" dirty="0"/>
          </a:p>
        </p:txBody>
      </p:sp>
      <p:sp>
        <p:nvSpPr>
          <p:cNvPr id="28" name="cd_355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356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🛒</a:t>
            </a:r>
            <a:endParaRPr lang="en-US" sz="2000" dirty="0"/>
          </a:p>
        </p:txBody>
      </p:sp>
      <p:sp>
        <p:nvSpPr>
          <p:cNvPr id="30" name="en_357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trolley</a:t>
            </a:r>
            <a:endParaRPr lang="en-US" sz="1200" dirty="0"/>
          </a:p>
        </p:txBody>
      </p:sp>
      <p:sp>
        <p:nvSpPr>
          <p:cNvPr id="31" name="R5_it358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carrello</a:t>
            </a:r>
            <a:endParaRPr lang="en-US" sz="1000" dirty="0"/>
          </a:p>
        </p:txBody>
      </p:sp>
      <p:sp>
        <p:nvSpPr>
          <p:cNvPr id="32" name="cd_359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360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🧺</a:t>
            </a:r>
            <a:endParaRPr lang="en-US" sz="2000" dirty="0"/>
          </a:p>
        </p:txBody>
      </p:sp>
      <p:sp>
        <p:nvSpPr>
          <p:cNvPr id="34" name="en_361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basket</a:t>
            </a:r>
            <a:endParaRPr lang="en-US" sz="1200" dirty="0"/>
          </a:p>
        </p:txBody>
      </p:sp>
      <p:sp>
        <p:nvSpPr>
          <p:cNvPr id="35" name="R6_it362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cestino</a:t>
            </a:r>
            <a:endParaRPr lang="en-US" sz="1000" dirty="0"/>
          </a:p>
        </p:txBody>
      </p:sp>
      <p:sp>
        <p:nvSpPr>
          <p:cNvPr id="36" name="cd_363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e_364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38" name="en_365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library</a:t>
            </a:r>
            <a:endParaRPr lang="en-US" sz="1200" dirty="0"/>
          </a:p>
        </p:txBody>
      </p:sp>
      <p:sp>
        <p:nvSpPr>
          <p:cNvPr id="39" name="R7_it366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biblioteca</a:t>
            </a:r>
            <a:endParaRPr lang="en-US" sz="1000" dirty="0"/>
          </a:p>
        </p:txBody>
      </p:sp>
      <p:sp>
        <p:nvSpPr>
          <p:cNvPr id="40" name="cd_367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368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42" name="en_369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bookshop</a:t>
            </a:r>
            <a:endParaRPr lang="en-US" sz="1200" dirty="0"/>
          </a:p>
        </p:txBody>
      </p:sp>
      <p:sp>
        <p:nvSpPr>
          <p:cNvPr id="43" name="R8_it370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libreria</a:t>
            </a:r>
            <a:endParaRPr lang="en-US" sz="1000" dirty="0"/>
          </a:p>
        </p:txBody>
      </p:sp>
      <p:sp>
        <p:nvSpPr>
          <p:cNvPr id="44" name="cd_371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372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👗</a:t>
            </a:r>
            <a:endParaRPr lang="en-US" sz="2000" dirty="0"/>
          </a:p>
        </p:txBody>
      </p:sp>
      <p:sp>
        <p:nvSpPr>
          <p:cNvPr id="46" name="en_373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changing room</a:t>
            </a:r>
            <a:endParaRPr lang="en-US" sz="1200" dirty="0"/>
          </a:p>
        </p:txBody>
      </p:sp>
      <p:sp>
        <p:nvSpPr>
          <p:cNvPr id="47" name="R9_it374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camerino</a:t>
            </a:r>
            <a:endParaRPr lang="en-US" sz="1000" dirty="0"/>
          </a:p>
        </p:txBody>
      </p:sp>
      <p:sp>
        <p:nvSpPr>
          <p:cNvPr id="48" name="cd_375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376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🏬</a:t>
            </a:r>
            <a:endParaRPr lang="en-US" sz="2000" dirty="0"/>
          </a:p>
        </p:txBody>
      </p:sp>
      <p:sp>
        <p:nvSpPr>
          <p:cNvPr id="50" name="en_377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department store</a:t>
            </a:r>
            <a:endParaRPr lang="en-US" sz="1200" dirty="0"/>
          </a:p>
        </p:txBody>
      </p:sp>
      <p:sp>
        <p:nvSpPr>
          <p:cNvPr id="51" name="R10_it378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magazzino</a:t>
            </a:r>
            <a:endParaRPr lang="en-US" sz="1000" dirty="0"/>
          </a:p>
        </p:txBody>
      </p:sp>
      <p:sp>
        <p:nvSpPr>
          <p:cNvPr id="52" name="cd_379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3" name="e_380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54" name="en_381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suits you</a:t>
            </a:r>
            <a:endParaRPr lang="en-US" sz="1200" dirty="0"/>
          </a:p>
        </p:txBody>
      </p:sp>
      <p:sp>
        <p:nvSpPr>
          <p:cNvPr id="55" name="R11_it382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sta bene</a:t>
            </a:r>
            <a:endParaRPr lang="en-US" sz="1000" dirty="0"/>
          </a:p>
        </p:txBody>
      </p:sp>
      <p:sp>
        <p:nvSpPr>
          <p:cNvPr id="56" name="cd_383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7" name="e_384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58" name="en_385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fits</a:t>
            </a:r>
            <a:endParaRPr lang="en-US" sz="1200" dirty="0"/>
          </a:p>
        </p:txBody>
      </p:sp>
      <p:sp>
        <p:nvSpPr>
          <p:cNvPr id="59" name="R12_it386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della taglia giusta</a:t>
            </a:r>
            <a:endParaRPr lang="en-US" sz="1000" dirty="0"/>
          </a:p>
        </p:txBody>
      </p:sp>
      <p:sp>
        <p:nvSpPr>
          <p:cNvPr id="60" name="R13_wc387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1" name="R13_w388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library = biblioteca (NOT libreria!)  ·  He told me / He said (✗ said me)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91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Sara and the jeans</a:t>
            </a:r>
            <a:endParaRPr lang="en-US" sz="2500" dirty="0"/>
          </a:p>
        </p:txBody>
      </p:sp>
      <p:pic>
        <p:nvPicPr>
          <p:cNvPr id="6" name="brP_3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93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9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note_39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story</a:t>
            </a:r>
            <a:endParaRPr lang="en-US" sz="1150" dirty="0"/>
          </a:p>
        </p:txBody>
      </p:sp>
      <p:pic>
        <p:nvPicPr>
          <p:cNvPr id="10" name="logo_3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· class story (TPRS)</a:t>
            </a:r>
            <a:endParaRPr lang="en-US" sz="800" dirty="0"/>
          </a:p>
        </p:txBody>
      </p:sp>
      <p:sp>
        <p:nvSpPr>
          <p:cNvPr id="12" name="pf_398"/>
          <p:cNvSpPr/>
          <p:nvPr/>
        </p:nvSpPr>
        <p:spPr>
          <a:xfrm rot="-90000">
            <a:off x="854265" y="1417320"/>
            <a:ext cx="1674751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99" descr="/home/claude/lls-course/v2/cache/2a2_receipt_jpg_381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899985" y="1463040"/>
            <a:ext cx="1583311" cy="1188720"/>
          </a:xfrm>
          <a:prstGeom prst="rect">
            <a:avLst/>
          </a:prstGeom>
        </p:spPr>
      </p:pic>
      <p:sp>
        <p:nvSpPr>
          <p:cNvPr id="14" name="cd_400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01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402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403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Le ha chiesto se…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Le ha chiesto dove…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told him (that)…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Gli ha detto che…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provare (un vestito)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doesn't fit.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Non è della taglia giusta.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scontrino / rimborso</a:t>
            </a:r>
            <a:endParaRPr lang="en-US" sz="700" dirty="0"/>
          </a:p>
        </p:txBody>
      </p:sp>
      <p:sp>
        <p:nvSpPr>
          <p:cNvPr id="18" name="R1_sb404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405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 went into a shop in Palermo to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some jeans.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Sara go to a shop or a bank? · What did she want to try on?</a:t>
            </a:r>
            <a:endParaRPr lang="en-US" sz="1150" dirty="0"/>
          </a:p>
        </p:txBody>
      </p:sp>
      <p:sp>
        <p:nvSpPr>
          <p:cNvPr id="20" name="R2_sb406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407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assistant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needed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any help. She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she was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just looking.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ask about help or money? · What did Sara say?</a:t>
            </a:r>
            <a:endParaRPr lang="en-US" sz="900" dirty="0"/>
          </a:p>
        </p:txBody>
      </p:sp>
      <p:sp>
        <p:nvSpPr>
          <p:cNvPr id="22" name="R3_sb408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409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where she lived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she liked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football!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ask where she lived or worked? · What else did he ask?</a:t>
            </a:r>
            <a:endParaRPr lang="en-US" sz="1150" dirty="0"/>
          </a:p>
        </p:txBody>
      </p:sp>
      <p:sp>
        <p:nvSpPr>
          <p:cNvPr id="24" name="R4_sb410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411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what she was doing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after work. She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told him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was private!</a:t>
            </a:r>
            <a:endParaRPr lang="en-US" sz="100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he ask? · What did Sara tell him?</a:t>
            </a:r>
            <a:endParaRPr lang="en-US" sz="1000" dirty="0"/>
          </a:p>
        </p:txBody>
      </p:sp>
      <p:sp>
        <p:nvSpPr>
          <p:cNvPr id="26" name="R5_sb412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413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home the jeans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 fit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She went back with the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refund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0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the jeans fit? · What did she take back? · What did she want?</a:t>
            </a:r>
            <a:endParaRPr lang="en-US" sz="1000" dirty="0"/>
          </a:p>
        </p:txBody>
      </p:sp>
      <p:sp>
        <p:nvSpPr>
          <p:cNvPr id="28" name="R6_sb414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415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same assistant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was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free on Friday… Sara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no – again!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he ask her? · And you – what did a shop assistant last ask you?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1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18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it!</a:t>
            </a:r>
            <a:endParaRPr lang="en-US" sz="2500" dirty="0"/>
          </a:p>
        </p:txBody>
      </p:sp>
      <p:pic>
        <p:nvPicPr>
          <p:cNvPr id="6" name="brP_41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420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report to a new partner!</a:t>
            </a:r>
            <a:endParaRPr lang="en-US" sz="1250" dirty="0"/>
          </a:p>
        </p:txBody>
      </p:sp>
      <p:sp>
        <p:nvSpPr>
          <p:cNvPr id="8" name="insIT_42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compagno. Poi riferisci a un altro!</a:t>
            </a:r>
            <a:endParaRPr lang="en-US" sz="950" dirty="0"/>
          </a:p>
        </p:txBody>
      </p:sp>
      <p:sp>
        <p:nvSpPr>
          <p:cNvPr id="9" name="note_42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9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250" dirty="0"/>
          </a:p>
        </p:txBody>
      </p:sp>
      <p:pic>
        <p:nvPicPr>
          <p:cNvPr id="10" name="logo_42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2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game · reported speech   ·   📖 SB p.81 · 3b questionnaire</a:t>
            </a:r>
            <a:endParaRPr lang="en-US" sz="800" dirty="0"/>
          </a:p>
        </p:txBody>
      </p:sp>
      <p:sp>
        <p:nvSpPr>
          <p:cNvPr id="12" name="cd_425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42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42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428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partners. Report: "Luca asked me if… I told him…"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Cambia compagno. Riferisci: "Luca mi ha chiesto se…"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reported sentence = 1 point.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2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corretta = 1 punto.</a:t>
            </a:r>
            <a:endParaRPr lang="en-US" sz="1200" dirty="0"/>
          </a:p>
        </p:txBody>
      </p:sp>
      <p:sp>
        <p:nvSpPr>
          <p:cNvPr id="16" name="bd_429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7" name="gq_430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usually buy clothes?</a:t>
            </a:r>
            <a:endParaRPr lang="en-US" sz="1250" dirty="0"/>
          </a:p>
        </p:txBody>
      </p:sp>
      <p:sp>
        <p:nvSpPr>
          <p:cNvPr id="18" name="chip_431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where I usually bought clothes.</a:t>
            </a:r>
            <a:endParaRPr lang="en-US" sz="1150" dirty="0"/>
          </a:p>
        </p:txBody>
      </p:sp>
      <p:sp>
        <p:nvSpPr>
          <p:cNvPr id="19" name="bd_432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33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enjoy shopping?</a:t>
            </a:r>
            <a:endParaRPr lang="en-US" sz="1250" dirty="0"/>
          </a:p>
        </p:txBody>
      </p:sp>
      <p:sp>
        <p:nvSpPr>
          <p:cNvPr id="21" name="R1_chip434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enjoyed shopping.</a:t>
            </a:r>
            <a:endParaRPr lang="en-US" sz="1150" dirty="0"/>
          </a:p>
        </p:txBody>
      </p:sp>
      <p:sp>
        <p:nvSpPr>
          <p:cNvPr id="22" name="bd_435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436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favourite shop?</a:t>
            </a:r>
            <a:endParaRPr lang="en-US" sz="1250" dirty="0"/>
          </a:p>
        </p:txBody>
      </p:sp>
      <p:sp>
        <p:nvSpPr>
          <p:cNvPr id="24" name="R2_chip437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what my favourite shop was.</a:t>
            </a:r>
            <a:endParaRPr lang="en-US" sz="1150" dirty="0"/>
          </a:p>
        </p:txBody>
      </p:sp>
      <p:sp>
        <p:nvSpPr>
          <p:cNvPr id="25" name="bd_438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439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returned something?</a:t>
            </a:r>
            <a:endParaRPr lang="en-US" sz="1250" dirty="0"/>
          </a:p>
        </p:txBody>
      </p:sp>
      <p:sp>
        <p:nvSpPr>
          <p:cNvPr id="27" name="R3_chip440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had ever returned something.</a:t>
            </a:r>
            <a:endParaRPr lang="en-US" sz="1150" dirty="0"/>
          </a:p>
        </p:txBody>
      </p:sp>
      <p:sp>
        <p:nvSpPr>
          <p:cNvPr id="28" name="bd_441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442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shopping online or in shops?</a:t>
            </a:r>
            <a:endParaRPr lang="en-US" sz="1250" dirty="0"/>
          </a:p>
        </p:txBody>
      </p:sp>
      <p:sp>
        <p:nvSpPr>
          <p:cNvPr id="30" name="R4_chip443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if I preferred shopping online or in shops.</a:t>
            </a:r>
            <a:endParaRPr lang="en-US" sz="1150" dirty="0"/>
          </a:p>
        </p:txBody>
      </p:sp>
      <p:sp>
        <p:nvSpPr>
          <p:cNvPr id="31" name="bd_444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445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you buy last week?</a:t>
            </a:r>
            <a:endParaRPr lang="en-US" sz="1250" dirty="0"/>
          </a:p>
        </p:txBody>
      </p:sp>
      <p:sp>
        <p:nvSpPr>
          <p:cNvPr id="33" name="R5_chip446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what I had bought the week before.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4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5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note_453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4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Exit · what can you remember?</a:t>
            </a:r>
            <a:endParaRPr lang="en-US" sz="800" dirty="0"/>
          </a:p>
        </p:txBody>
      </p:sp>
      <p:sp>
        <p:nvSpPr>
          <p:cNvPr id="12" name="bd_456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57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shopping words (receipt…)</a:t>
            </a:r>
            <a:endParaRPr lang="en-US" sz="1400" dirty="0"/>
          </a:p>
        </p:txBody>
      </p:sp>
      <p:sp>
        <p:nvSpPr>
          <p:cNvPr id="14" name="bd_458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59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things your partner told you – reported!</a:t>
            </a:r>
            <a:endParaRPr lang="en-US" sz="1400" dirty="0"/>
          </a:p>
        </p:txBody>
      </p:sp>
      <p:sp>
        <p:nvSpPr>
          <p:cNvPr id="16" name="bd_460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61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rule: how do reported questions change?</a:t>
            </a:r>
            <a:endParaRPr lang="en-US" sz="1400" dirty="0"/>
          </a:p>
        </p:txBody>
      </p:sp>
      <p:sp>
        <p:nvSpPr>
          <p:cNvPr id="18" name="cd_462"/>
          <p:cNvSpPr/>
          <p:nvPr/>
        </p:nvSpPr>
        <p:spPr>
          <a:xfrm>
            <a:off x="5669280" y="1417320"/>
            <a:ext cx="3200400" cy="1502664"/>
          </a:xfrm>
          <a:prstGeom prst="roundRect">
            <a:avLst>
              <a:gd name="adj" fmla="val 851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63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64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65"/>
          <p:cNvSpPr/>
          <p:nvPr/>
        </p:nvSpPr>
        <p:spPr>
          <a:xfrm>
            <a:off x="6236208" y="1911096"/>
            <a:ext cx="2542032" cy="935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8B: 1a, 1b, 1c, 2a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8B: a 5–7, b 5–7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2" name="st_466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8B part 2 · Going the extra mile · complaining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6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6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7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7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7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47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4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Review · what did you do today?</a:t>
            </a:r>
            <a:endParaRPr lang="en-US" sz="800" dirty="0"/>
          </a:p>
        </p:txBody>
      </p:sp>
      <p:sp>
        <p:nvSpPr>
          <p:cNvPr id="12" name="cd_476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477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14" name="tt_478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a VERY helpful shop assistant</a:t>
            </a:r>
            <a:endParaRPr lang="en-US" sz="1350" dirty="0"/>
          </a:p>
        </p:txBody>
      </p:sp>
      <p:sp>
        <p:nvSpPr>
          <p:cNvPr id="15" name="R1_tk479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480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481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18" name="tt_482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Reported what people said and asked</a:t>
            </a:r>
            <a:endParaRPr lang="en-US" sz="1350" dirty="0"/>
          </a:p>
        </p:txBody>
      </p:sp>
      <p:sp>
        <p:nvSpPr>
          <p:cNvPr id="19" name="R2_tk483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484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485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🛍️</a:t>
            </a:r>
            <a:endParaRPr lang="en-US" sz="1800" dirty="0"/>
          </a:p>
        </p:txBody>
      </p:sp>
      <p:sp>
        <p:nvSpPr>
          <p:cNvPr id="22" name="tt_486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shopping words: receipt, refund, bargain…</a:t>
            </a:r>
            <a:endParaRPr lang="en-US" sz="1350" dirty="0"/>
          </a:p>
        </p:txBody>
      </p:sp>
      <p:sp>
        <p:nvSpPr>
          <p:cNvPr id="23" name="R3_tk487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488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489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6" name="tt_490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7" name="R4_tk491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492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493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0" name="tt_494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your shopping habits</a:t>
            </a:r>
            <a:endParaRPr lang="en-US" sz="1350" dirty="0"/>
          </a:p>
        </p:txBody>
      </p:sp>
      <p:sp>
        <p:nvSpPr>
          <p:cNvPr id="31" name="R5_tk495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st_496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8B-1 Have a nice day!</dc:title>
  <dc:subject>PptxGenJS Presentation</dc:subject>
  <dc:creator>PptxGenJS</dc:creator>
  <cp:lastModifiedBy>PptxGenJS</cp:lastModifiedBy>
  <cp:revision>1</cp:revision>
  <dcterms:created xsi:type="dcterms:W3CDTF">2026-10-22T09:24:05Z</dcterms:created>
  <dcterms:modified xsi:type="dcterms:W3CDTF">2026-10-22T09:24:05Z</dcterms:modified>
</cp:coreProperties>
</file>