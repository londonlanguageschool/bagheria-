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Show the photo. Act out an over-friendly shop assistant: 'Hello! Do you need any help? Are you going anywhere nice?' Ask the THINK question; take 3–4 answers. Click: the example. Read 'Today you're going to…'.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REVISION (2 min). Read the examples. Ask 2 students: 'Would you like to be on Dragons' Den? What product would you present?' Then the warmer game uses this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Warmer · last lesson (4 min)
RETRIEVAL WARMER (4 min). Two teams, 30 seconds per answer. Click to show a model question; accept any correct question. Facts (TG 8A): Slappie = invested, successful · Tingatang = invested, failure · Tangle Teezer = not invested, very successful · the car came at 5.30 a.m.; Peter offered them a job; they never regretted saying no. Warms up question forms for today's reported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Reading · lead-in (3 min)
LEAD-IN (3 min). Pairs decide C or SA; click once per line. Answers (TG): the book's 10 phrases – here 8 of them. Teach changing rooms (= fitting rooms). Quick question: in Bagheria, do shop assistants usually say 'Can I help you?' or leave you alone?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Reading · When 'happy to help' becomes a problem (6 min)
READING (5 min). The slide is a short adapted version – students can read the full article on p.80. 1b: Did the second assistant help? (TG: No – he talked too much and kept asking questions.) 1c: underline his questions – which are NOT appropriate? (TG: seven different questions, one repeated; many people think only the first is appropriate.) 'Are you going anywhere nice?' – because the shop is in a train station. 1d: are the assistants in your shops helpful or unhelpful?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· noticing (5 min)
NOTICING (5 min). Pairs rebuild the direct speech BEFORE seeing the rule. Click once per line (TG key). Then ask: What happens to the verb when we report? (goes back: work → worked, am having → was having). And to questions? (no do, normal word order: where I worked; yes/no → if).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· reported speech (5 min)
RULE (5 min). Elicit each column before clicking. Play 8.13/8.14 if available (listen and repeat). TG notes: tenses move back; mustn't stays the same; 'that' optional; tell needs a person; questions: no auxiliary, subject + verb, if/whether for yes/no. Typical mistakes: He said me… · She asked him what was his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Grammar · practice (6 min)
PRACTICE (6 min). Alone, then compare. Click once per answer (TG key). Read full sentences aloud. Homework: Grammar Bank a 5–7, b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oral practice (4 min)
ORAL PRACTICE (4 min). If 8.15 isn't available, READ the questions yourself; the class reports chorally, then individuals. Click once per item (audio script). Reported answers (script): she lived in the city centre · he was going to the cinema · she was going out · she'd bought it online · he'd seen it twice · the changing rooms were over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Vocabulary · shopping (5 min)
VOCABULARY (5 min). Elicit first: pairs explain each pair, then click once per line (TG). False friends for Italians: library ≠ libreria (= bookshop!), discount, fit vs 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Vocabulary · in Italian (2 min)
CONSOLIDATION (2 min). Class says the Italian, then click once per word to show its Italian.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Speaking · class story (TPRS) (4 min)
TPRS CLASS STORY (4 min) – after the rule, the practice and the shopping words, and just before 'Report it!': students hear reported statements and questions (asked her if… · asked her where she lived · said she was · told him) together with today's shopping words (try on, fit, receipt, refund) many times before they have to produce them in the game. Click once per line. For each line: 1) say it, 2) ask the questions round the class (yes/no → either/or → who/what), 3) let the CLASS change details: 'Did she try on jeans? No? What did she try on?' – accept their idea and use it in later lines. Students answer with one word or a short phrase – that's fine, but push for a reported answer where it's easy ('What did he ask her?' → 'He asked her where she lived.'). Finish: 'What happens next?' – one or two ideas, then play 'Report it!'. Watch for ✗ said me · ✗ asked her where did she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Speaking game · reported speech (9 min)
FREER PRACTICE + GAME (8 min). Model first: a student asks YOU two questions, then report: 'Luca asked me if I liked shopping. I told him I hated it!' Pairs ask 3 questions each (3 min), change partners and report (3 min). Click to show the model reported question. Listener gives a point for each correct reported sentence (tense back, said/told, question word order). Monitor for 'said me', 'asked me where did you buy', missing 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Exit · what can you remember? (2 min)
RETRIEVAL EXIT (2 min). Books closed. Set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B1 · SB pp.80–81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8B-1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nice day!</a:t>
            </a:r>
            <a:endParaRPr lang="en-US" sz="21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Shopping and reported speech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243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👀  read about a VERY helpful shop assistant</a:t>
            </a:r>
            <a:endParaRPr lang="en-US" sz="9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✏️  report what people said and asked</a:t>
            </a:r>
            <a:endParaRPr lang="en-US" sz="9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🛍️  learn shopping words: receipt, refund, bargain…</a:t>
            </a:r>
            <a:endParaRPr lang="en-US" sz="9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listen to a class story and answer questions</a:t>
            </a:r>
            <a:endParaRPr lang="en-US" sz="9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 talk about your shopping habits</a:t>
            </a:r>
            <a:endParaRPr lang="en-US" sz="9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19050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really – I prefer to look in peace! I only ask if I need help.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2a1_waste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like it when shop assistants talk to you?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we do? Read the examples.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Cosa abbiamo fatto? Leggi gli esempi.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24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8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Revision · last lesson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2a1_afford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8A: The right job for you</a:t>
            </a:r>
            <a:endParaRPr lang="en-US" sz="11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Dragons' Den · gerunds and infinitives</a:t>
            </a:r>
            <a:endParaRPr lang="en-US" sz="1100" dirty="0"/>
          </a:p>
        </p:txBody>
      </p:sp>
      <p:sp>
        <p:nvSpPr>
          <p:cNvPr id="20" name="cd_34"/>
          <p:cNvSpPr/>
          <p:nvPr/>
        </p:nvSpPr>
        <p:spPr>
          <a:xfrm>
            <a:off x="324612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35"/>
          <p:cNvSpPr/>
          <p:nvPr/>
        </p:nvSpPr>
        <p:spPr>
          <a:xfrm>
            <a:off x="335584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Dragons' Den</a:t>
            </a:r>
            <a:endParaRPr lang="en-US" sz="1200" dirty="0"/>
          </a:p>
        </p:txBody>
      </p:sp>
      <p:sp>
        <p:nvSpPr>
          <p:cNvPr id="22" name="rl_36"/>
          <p:cNvSpPr/>
          <p:nvPr/>
        </p:nvSpPr>
        <p:spPr>
          <a:xfrm>
            <a:off x="33832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Entrepreneurs present a product to 'Dragons'.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'I'm out.' = I won't invest.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Slappie watches = success · Tangle Teezer = success without them!</a:t>
            </a:r>
            <a:endParaRPr lang="en-US" sz="1150" dirty="0"/>
          </a:p>
        </p:txBody>
      </p:sp>
      <p:sp>
        <p:nvSpPr>
          <p:cNvPr id="23" name="cd_37"/>
          <p:cNvSpPr/>
          <p:nvPr/>
        </p:nvSpPr>
        <p:spPr>
          <a:xfrm>
            <a:off x="612648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rh_38"/>
          <p:cNvSpPr/>
          <p:nvPr/>
        </p:nvSpPr>
        <p:spPr>
          <a:xfrm>
            <a:off x="623620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Gerund or infinitive?</a:t>
            </a:r>
            <a:endParaRPr lang="en-US" sz="1200" dirty="0"/>
          </a:p>
        </p:txBody>
      </p:sp>
      <p:sp>
        <p:nvSpPr>
          <p:cNvPr id="25" name="rl_39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enjoy working with people.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I'd like to start my own business.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hard to find a good job.</a:t>
            </a:r>
            <a:endParaRPr lang="en-US" sz="1150" dirty="0"/>
          </a:p>
        </p:txBody>
      </p:sp>
      <p:sp>
        <p:nvSpPr>
          <p:cNvPr id="26" name="kw_40"/>
          <p:cNvSpPr/>
          <p:nvPr/>
        </p:nvSpPr>
        <p:spPr>
          <a:xfrm>
            <a:off x="32461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KEY WORDS</a:t>
            </a:r>
            <a:endParaRPr lang="en-US" sz="1100" dirty="0"/>
          </a:p>
        </p:txBody>
      </p:sp>
      <p:sp>
        <p:nvSpPr>
          <p:cNvPr id="27" name="w_41"/>
          <p:cNvSpPr/>
          <p:nvPr/>
        </p:nvSpPr>
        <p:spPr>
          <a:xfrm>
            <a:off x="3246120" y="417880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</a:t>
            </a:r>
            <a:endParaRPr lang="en-US" sz="1050" dirty="0"/>
          </a:p>
        </p:txBody>
      </p:sp>
      <p:sp>
        <p:nvSpPr>
          <p:cNvPr id="28" name="w_42"/>
          <p:cNvSpPr/>
          <p:nvPr/>
        </p:nvSpPr>
        <p:spPr>
          <a:xfrm>
            <a:off x="4105656" y="4178808"/>
            <a:ext cx="708660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pitch</a:t>
            </a:r>
            <a:endParaRPr lang="en-US" sz="1050" dirty="0"/>
          </a:p>
        </p:txBody>
      </p:sp>
      <p:sp>
        <p:nvSpPr>
          <p:cNvPr id="29" name="w_43"/>
          <p:cNvSpPr/>
          <p:nvPr/>
        </p:nvSpPr>
        <p:spPr>
          <a:xfrm>
            <a:off x="4887468" y="4178808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</a:t>
            </a:r>
            <a:endParaRPr lang="en-US" sz="1050" dirty="0"/>
          </a:p>
        </p:txBody>
      </p:sp>
      <p:sp>
        <p:nvSpPr>
          <p:cNvPr id="30" name="w_44"/>
          <p:cNvSpPr/>
          <p:nvPr/>
        </p:nvSpPr>
        <p:spPr>
          <a:xfrm>
            <a:off x="5824728" y="4178808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entrepreneur</a:t>
            </a:r>
            <a:endParaRPr lang="en-US" sz="1050" dirty="0"/>
          </a:p>
        </p:txBody>
      </p:sp>
      <p:sp>
        <p:nvSpPr>
          <p:cNvPr id="31" name="w_45"/>
          <p:cNvSpPr/>
          <p:nvPr/>
        </p:nvSpPr>
        <p:spPr>
          <a:xfrm>
            <a:off x="7150608" y="4178808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out</a:t>
            </a:r>
            <a:endParaRPr lang="en-US" sz="1050" dirty="0"/>
          </a:p>
        </p:txBody>
      </p:sp>
      <p:sp>
        <p:nvSpPr>
          <p:cNvPr id="32" name="w_46"/>
          <p:cNvSpPr/>
          <p:nvPr/>
        </p:nvSpPr>
        <p:spPr>
          <a:xfrm>
            <a:off x="3246120" y="454456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regret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49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Answers first!</a:t>
            </a:r>
            <a:endParaRPr lang="en-US" sz="2500" dirty="0"/>
          </a:p>
        </p:txBody>
      </p:sp>
      <p:pic>
        <p:nvPicPr>
          <p:cNvPr id="6" name="brP_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5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answer. Write the question!</a:t>
            </a:r>
            <a:endParaRPr lang="en-US" sz="1250" dirty="0"/>
          </a:p>
        </p:txBody>
      </p:sp>
      <p:sp>
        <p:nvSpPr>
          <p:cNvPr id="8" name="insIT_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risposta. Scrivi la domanda!</a:t>
            </a:r>
            <a:endParaRPr lang="en-US" sz="950" dirty="0"/>
          </a:p>
        </p:txBody>
      </p:sp>
      <p:sp>
        <p:nvSpPr>
          <p:cNvPr id="9" name="cmd_5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54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950" dirty="0"/>
          </a:p>
        </p:txBody>
      </p:sp>
      <p:sp>
        <p:nvSpPr>
          <p:cNvPr id="11" name="tag_55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 game</a:t>
            </a:r>
            <a:endParaRPr lang="en-US" sz="700" dirty="0"/>
          </a:p>
        </p:txBody>
      </p:sp>
      <p:pic>
        <p:nvPicPr>
          <p:cNvPr id="12" name="logo_5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Warmer · last lesson   ·   📖 Recycles 8A part 2 · audio 8.9–8.11</a:t>
            </a:r>
            <a:endParaRPr lang="en-US" sz="800" dirty="0"/>
          </a:p>
        </p:txBody>
      </p:sp>
      <p:sp>
        <p:nvSpPr>
          <p:cNvPr id="14" name="cd_58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5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6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61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ANSWER.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RISPOSTA.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 write the QUESTION.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squadre scrivono la DOMANDA.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question = 1 point.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Domanda corretta = 1 punto.</a:t>
            </a:r>
            <a:endParaRPr lang="en-US" sz="1100" dirty="0"/>
          </a:p>
        </p:txBody>
      </p:sp>
      <p:sp>
        <p:nvSpPr>
          <p:cNvPr id="18" name="st_62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9" name="bd_63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gq_64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"I'm out."</a:t>
            </a:r>
            <a:endParaRPr lang="en-US" sz="1100" dirty="0"/>
          </a:p>
        </p:txBody>
      </p:sp>
      <p:sp>
        <p:nvSpPr>
          <p:cNvPr id="21" name="R1_chip65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What do the Dragons say when they don't want to invest?</a:t>
            </a:r>
            <a:endParaRPr lang="en-US" sz="1050" dirty="0"/>
          </a:p>
        </p:txBody>
      </p:sp>
      <p:sp>
        <p:nvSpPr>
          <p:cNvPr id="22" name="bd_66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gq_67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Slappie watches</a:t>
            </a:r>
            <a:endParaRPr lang="en-US" sz="1100" dirty="0"/>
          </a:p>
        </p:txBody>
      </p:sp>
      <p:sp>
        <p:nvSpPr>
          <p:cNvPr id="24" name="R2_chip68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Which product did they invest in (a success)?</a:t>
            </a:r>
            <a:endParaRPr lang="en-US" sz="1100" dirty="0"/>
          </a:p>
        </p:txBody>
      </p:sp>
      <p:sp>
        <p:nvSpPr>
          <p:cNvPr id="25" name="bd_69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gq_70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Tangle Teezer</a:t>
            </a:r>
            <a:endParaRPr lang="en-US" sz="1100" dirty="0"/>
          </a:p>
        </p:txBody>
      </p:sp>
      <p:sp>
        <p:nvSpPr>
          <p:cNvPr id="27" name="R3_chip71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Which product did they NOT invest in – but was a success?</a:t>
            </a:r>
            <a:endParaRPr lang="en-US" sz="1100" dirty="0"/>
          </a:p>
        </p:txBody>
      </p:sp>
      <p:sp>
        <p:nvSpPr>
          <p:cNvPr id="28" name="bd_72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gq_73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half past five in the morning</a:t>
            </a:r>
            <a:endParaRPr lang="en-US" sz="1100" dirty="0"/>
          </a:p>
        </p:txBody>
      </p:sp>
      <p:sp>
        <p:nvSpPr>
          <p:cNvPr id="30" name="R4_chip74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What time did the car pick Joe and Jake up?</a:t>
            </a:r>
            <a:endParaRPr lang="en-US" sz="1100" dirty="0"/>
          </a:p>
        </p:txBody>
      </p:sp>
      <p:sp>
        <p:nvSpPr>
          <p:cNvPr id="31" name="bd_75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gq_76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job</a:t>
            </a:r>
            <a:endParaRPr lang="en-US" sz="1100" dirty="0"/>
          </a:p>
        </p:txBody>
      </p:sp>
      <p:sp>
        <p:nvSpPr>
          <p:cNvPr id="33" name="R5_chip77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What did Peter offer them?</a:t>
            </a:r>
            <a:endParaRPr lang="en-US" sz="1100" dirty="0"/>
          </a:p>
        </p:txBody>
      </p:sp>
      <p:sp>
        <p:nvSpPr>
          <p:cNvPr id="34" name="bd_78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gq_79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"No, not for a second."</a:t>
            </a:r>
            <a:endParaRPr lang="en-US" sz="1100" dirty="0"/>
          </a:p>
        </p:txBody>
      </p:sp>
      <p:sp>
        <p:nvSpPr>
          <p:cNvPr id="36" name="R6_chip80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Have you ever regretted saying no?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83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says it?</a:t>
            </a:r>
            <a:endParaRPr lang="en-US" sz="2500" dirty="0"/>
          </a:p>
        </p:txBody>
      </p:sp>
      <p:pic>
        <p:nvPicPr>
          <p:cNvPr id="6" name="brP_8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85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(C) or shop assistant (SA)?</a:t>
            </a:r>
            <a:endParaRPr lang="en-US" sz="1250" dirty="0"/>
          </a:p>
        </p:txBody>
      </p:sp>
      <p:sp>
        <p:nvSpPr>
          <p:cNvPr id="8" name="insIT_8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Cliente (C) o commesso (SA)?</a:t>
            </a:r>
            <a:endParaRPr lang="en-US" sz="950" dirty="0"/>
          </a:p>
        </p:txBody>
      </p:sp>
      <p:sp>
        <p:nvSpPr>
          <p:cNvPr id="9" name="cmd_8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88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89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2" name="logo_9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9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Reading · lead-in   ·   📖 SB p.80 · 1a</a:t>
            </a:r>
            <a:endParaRPr lang="en-US" sz="800" dirty="0"/>
          </a:p>
        </p:txBody>
      </p:sp>
      <p:sp>
        <p:nvSpPr>
          <p:cNvPr id="14" name="cd_92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9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9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95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"Can I help you?" → SA</a:t>
            </a:r>
            <a:endParaRPr lang="en-US" sz="1050" dirty="0"/>
          </a:p>
        </p:txBody>
      </p:sp>
      <p:sp>
        <p:nvSpPr>
          <p:cNvPr id="18" name="pf_96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97" descr="/home/claude/lls-course/v2/cache/4a1_queue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98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99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need any help?</a:t>
            </a:r>
            <a:endParaRPr lang="en-US" sz="1150" dirty="0"/>
          </a:p>
        </p:txBody>
      </p:sp>
      <p:sp>
        <p:nvSpPr>
          <p:cNvPr id="22" name="R1_chip100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</a:t>
            </a:r>
            <a:endParaRPr lang="en-US" sz="1000" dirty="0"/>
          </a:p>
        </p:txBody>
      </p:sp>
      <p:sp>
        <p:nvSpPr>
          <p:cNvPr id="23" name="bd_101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102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size are you?</a:t>
            </a:r>
            <a:endParaRPr lang="en-US" sz="1150" dirty="0"/>
          </a:p>
        </p:txBody>
      </p:sp>
      <p:sp>
        <p:nvSpPr>
          <p:cNvPr id="25" name="R2_chip103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</a:t>
            </a:r>
            <a:endParaRPr lang="en-US" sz="1000" dirty="0"/>
          </a:p>
        </p:txBody>
      </p:sp>
      <p:sp>
        <p:nvSpPr>
          <p:cNvPr id="26" name="bd_104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105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this in blue?</a:t>
            </a:r>
            <a:endParaRPr lang="en-US" sz="1100" dirty="0"/>
          </a:p>
        </p:txBody>
      </p:sp>
      <p:sp>
        <p:nvSpPr>
          <p:cNvPr id="28" name="R3_chip106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endParaRPr lang="en-US" sz="1000" dirty="0"/>
          </a:p>
        </p:txBody>
      </p:sp>
      <p:sp>
        <p:nvSpPr>
          <p:cNvPr id="29" name="bd_107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108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a nice day!</a:t>
            </a:r>
            <a:endParaRPr lang="en-US" sz="1150" dirty="0"/>
          </a:p>
        </p:txBody>
      </p:sp>
      <p:sp>
        <p:nvSpPr>
          <p:cNvPr id="31" name="R4_chip109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</a:t>
            </a:r>
            <a:endParaRPr lang="en-US" sz="1000" dirty="0"/>
          </a:p>
        </p:txBody>
      </p:sp>
      <p:sp>
        <p:nvSpPr>
          <p:cNvPr id="32" name="bd_110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111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No, thanks, I'm just looking.</a:t>
            </a:r>
            <a:endParaRPr lang="en-US" sz="1050" dirty="0"/>
          </a:p>
        </p:txBody>
      </p:sp>
      <p:sp>
        <p:nvSpPr>
          <p:cNvPr id="34" name="R5_chip112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endParaRPr lang="en-US" sz="1000" dirty="0"/>
          </a:p>
        </p:txBody>
      </p:sp>
      <p:sp>
        <p:nvSpPr>
          <p:cNvPr id="35" name="bd_113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114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try these on?</a:t>
            </a:r>
            <a:endParaRPr lang="en-US" sz="1150" dirty="0"/>
          </a:p>
        </p:txBody>
      </p:sp>
      <p:sp>
        <p:nvSpPr>
          <p:cNvPr id="37" name="R6_chip115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endParaRPr lang="en-US" sz="1000" dirty="0"/>
          </a:p>
        </p:txBody>
      </p:sp>
      <p:sp>
        <p:nvSpPr>
          <p:cNvPr id="38" name="bd_116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q_117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Shall I put your receipt in the bag?</a:t>
            </a:r>
            <a:endParaRPr lang="en-US" sz="1050" dirty="0"/>
          </a:p>
        </p:txBody>
      </p:sp>
      <p:sp>
        <p:nvSpPr>
          <p:cNvPr id="40" name="R7_chip118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</a:t>
            </a:r>
            <a:endParaRPr lang="en-US" sz="1000" dirty="0"/>
          </a:p>
        </p:txBody>
      </p:sp>
      <p:sp>
        <p:nvSpPr>
          <p:cNvPr id="41" name="bd_119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q_120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changing rooms are over there.</a:t>
            </a:r>
            <a:endParaRPr lang="en-US" sz="1050" dirty="0"/>
          </a:p>
        </p:txBody>
      </p:sp>
      <p:sp>
        <p:nvSpPr>
          <p:cNvPr id="43" name="R8_chip121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2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124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Too helpful? (adapted)</a:t>
            </a:r>
            <a:endParaRPr lang="en-US" sz="2500" dirty="0"/>
          </a:p>
        </p:txBody>
      </p:sp>
      <p:pic>
        <p:nvPicPr>
          <p:cNvPr id="6" name="brP_12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126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Did the second assistant help Jonathan?</a:t>
            </a:r>
            <a:endParaRPr lang="en-US" sz="1250" dirty="0"/>
          </a:p>
        </p:txBody>
      </p:sp>
      <p:sp>
        <p:nvSpPr>
          <p:cNvPr id="8" name="insIT_12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Leggi. Il secondo commesso ha aiutato Jonathan?</a:t>
            </a:r>
            <a:endParaRPr lang="en-US" sz="950" dirty="0"/>
          </a:p>
        </p:txBody>
      </p:sp>
      <p:sp>
        <p:nvSpPr>
          <p:cNvPr id="9" name="cmd_12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meta_129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950" dirty="0"/>
          </a:p>
        </p:txBody>
      </p:sp>
      <p:sp>
        <p:nvSpPr>
          <p:cNvPr id="11" name="tag_130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reading</a:t>
            </a:r>
            <a:endParaRPr lang="en-US" sz="850" dirty="0"/>
          </a:p>
        </p:txBody>
      </p:sp>
      <p:pic>
        <p:nvPicPr>
          <p:cNvPr id="12" name="logo_13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3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Reading · When 'happy to help' becomes a problem   ·   📖 SB p.80 · 1b, 1c (full article in the book)</a:t>
            </a:r>
            <a:endParaRPr lang="en-US" sz="800" dirty="0"/>
          </a:p>
        </p:txBody>
      </p:sp>
      <p:sp>
        <p:nvSpPr>
          <p:cNvPr id="14" name="cd_133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sh_134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'happy to help' becomes a problem</a:t>
            </a:r>
            <a:endParaRPr lang="en-US" sz="1700" dirty="0"/>
          </a:p>
        </p:txBody>
      </p:sp>
      <p:sp>
        <p:nvSpPr>
          <p:cNvPr id="16" name="ln_135"/>
          <p:cNvSpPr/>
          <p:nvPr/>
        </p:nvSpPr>
        <p:spPr>
          <a:xfrm>
            <a:off x="548640" y="192024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Jonathan goes into a shop at King's Cross station to buy a wallet.</a:t>
            </a:r>
            <a:endParaRPr lang="en-US" sz="1150" dirty="0"/>
          </a:p>
        </p:txBody>
      </p:sp>
      <p:sp>
        <p:nvSpPr>
          <p:cNvPr id="17" name="ln_136"/>
          <p:cNvSpPr/>
          <p:nvPr/>
        </p:nvSpPr>
        <p:spPr>
          <a:xfrm>
            <a:off x="548640" y="238506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 1: 'Do you need any help?'  Jonathan: 'I'm just looking, thanks.'</a:t>
            </a:r>
            <a:endParaRPr lang="en-US" sz="1150" dirty="0"/>
          </a:p>
        </p:txBody>
      </p:sp>
      <p:sp>
        <p:nvSpPr>
          <p:cNvPr id="18" name="ln_137"/>
          <p:cNvSpPr/>
          <p:nvPr/>
        </p:nvSpPr>
        <p:spPr>
          <a:xfrm>
            <a:off x="548640" y="284988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second assistant arrives: 'Hello, do you need any help? … Are you going anywhere nice?'</a:t>
            </a:r>
            <a:endParaRPr lang="en-US" sz="1150" dirty="0"/>
          </a:p>
        </p:txBody>
      </p:sp>
      <p:sp>
        <p:nvSpPr>
          <p:cNvPr id="19" name="ln_138"/>
          <p:cNvSpPr/>
          <p:nvPr/>
        </p:nvSpPr>
        <p:spPr>
          <a:xfrm>
            <a:off x="548640" y="331470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'No. I work near here.' 'Where do you work?' … 'Do you like football?' … 'Are you going to watch the England match?'</a:t>
            </a:r>
            <a:endParaRPr lang="en-US" sz="1150" dirty="0"/>
          </a:p>
        </p:txBody>
      </p:sp>
      <p:sp>
        <p:nvSpPr>
          <p:cNvPr id="20" name="ln_139"/>
          <p:cNvSpPr/>
          <p:nvPr/>
        </p:nvSpPr>
        <p:spPr>
          <a:xfrm>
            <a:off x="548640" y="377952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 'What are you doing after work?' … 'Are you doing anything for the rest of the day?'</a:t>
            </a:r>
            <a:endParaRPr lang="en-US" sz="1150" dirty="0"/>
          </a:p>
        </p:txBody>
      </p:sp>
      <p:sp>
        <p:nvSpPr>
          <p:cNvPr id="21" name="ln_140"/>
          <p:cNvSpPr/>
          <p:nvPr/>
        </p:nvSpPr>
        <p:spPr>
          <a:xfrm>
            <a:off x="548640" y="424434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Jonathan runs away – without a wallet. 'His never-ending questions lost him the sale.'</a:t>
            </a:r>
            <a:endParaRPr lang="en-US" sz="1150" dirty="0"/>
          </a:p>
        </p:txBody>
      </p:sp>
      <p:sp>
        <p:nvSpPr>
          <p:cNvPr id="22" name="pf_141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3" name="ph_142" descr="/home/claude/lls-course/v2/cache/4a1_public_transport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24" name="cd_143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ii_144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6" name="ih_145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27" name="il_146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appropriate = right for the situation</a:t>
            </a:r>
            <a:endParaRPr lang="en-US" sz="8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wallet = portafoglio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820717" cy="621792"/>
          </a:xfrm>
          <a:prstGeom prst="rect">
            <a:avLst/>
          </a:prstGeom>
        </p:spPr>
      </p:pic>
      <p:sp>
        <p:nvSpPr>
          <p:cNvPr id="5" name="title_149"/>
          <p:cNvSpPr/>
          <p:nvPr/>
        </p:nvSpPr>
        <p:spPr>
          <a:xfrm>
            <a:off x="1261872" y="164592"/>
            <a:ext cx="45463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Rewind! What did they say?</a:t>
            </a:r>
            <a:endParaRPr lang="en-US" sz="2400" dirty="0"/>
          </a:p>
        </p:txBody>
      </p:sp>
      <p:pic>
        <p:nvPicPr>
          <p:cNvPr id="6" name="brP_1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250692" cy="402336"/>
          </a:xfrm>
          <a:prstGeom prst="rect">
            <a:avLst/>
          </a:prstGeom>
        </p:spPr>
      </p:pic>
      <p:sp>
        <p:nvSpPr>
          <p:cNvPr id="7" name="ins_151"/>
          <p:cNvSpPr/>
          <p:nvPr/>
        </p:nvSpPr>
        <p:spPr>
          <a:xfrm>
            <a:off x="1353312" y="731520"/>
            <a:ext cx="29946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the REAL words he said.</a:t>
            </a:r>
            <a:endParaRPr lang="en-US" sz="1250" dirty="0"/>
          </a:p>
        </p:txBody>
      </p:sp>
      <p:sp>
        <p:nvSpPr>
          <p:cNvPr id="8" name="insIT_1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le parole ESATTE.</a:t>
            </a:r>
            <a:endParaRPr lang="en-US" sz="950" dirty="0"/>
          </a:p>
        </p:txBody>
      </p:sp>
      <p:sp>
        <p:nvSpPr>
          <p:cNvPr id="9" name="cmd_15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TROVA</a:t>
            </a:r>
            <a:endParaRPr lang="en-US" sz="1100" dirty="0"/>
          </a:p>
        </p:txBody>
      </p:sp>
      <p:sp>
        <p:nvSpPr>
          <p:cNvPr id="10" name="cmd_154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1" name="meta_155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2" name="tag_156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3" name="logo_1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1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Grammar · noticing   ·   📖 SB p.81 · 2a</a:t>
            </a:r>
            <a:endParaRPr lang="en-US" sz="800" dirty="0"/>
          </a:p>
        </p:txBody>
      </p:sp>
      <p:sp>
        <p:nvSpPr>
          <p:cNvPr id="15" name="cd_159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16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16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162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me if I needed any help. → 'Do you need any help?'</a:t>
            </a:r>
            <a:endParaRPr lang="en-US" sz="1050" dirty="0"/>
          </a:p>
        </p:txBody>
      </p:sp>
      <p:sp>
        <p:nvSpPr>
          <p:cNvPr id="19" name="pf_163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164" descr="/home/claude/lls-course/v2/cache/4a1_polite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165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166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me where I worked.</a:t>
            </a:r>
            <a:endParaRPr lang="en-US" sz="1150" dirty="0"/>
          </a:p>
        </p:txBody>
      </p:sp>
      <p:sp>
        <p:nvSpPr>
          <p:cNvPr id="23" name="R1_chip167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'Where do you work?'</a:t>
            </a:r>
            <a:endParaRPr lang="en-US" sz="1000" dirty="0"/>
          </a:p>
        </p:txBody>
      </p:sp>
      <p:sp>
        <p:nvSpPr>
          <p:cNvPr id="24" name="bd_168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169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said I worked in an office round the corner.</a:t>
            </a:r>
            <a:endParaRPr lang="en-US" sz="1150" dirty="0"/>
          </a:p>
        </p:txBody>
      </p:sp>
      <p:sp>
        <p:nvSpPr>
          <p:cNvPr id="26" name="R2_chip170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'I work in an office round the corner.'</a:t>
            </a:r>
            <a:endParaRPr lang="en-US" sz="1000" dirty="0"/>
          </a:p>
        </p:txBody>
      </p:sp>
      <p:sp>
        <p:nvSpPr>
          <p:cNvPr id="27" name="bd_171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172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me if I liked football.</a:t>
            </a:r>
            <a:endParaRPr lang="en-US" sz="1150" dirty="0"/>
          </a:p>
        </p:txBody>
      </p:sp>
      <p:sp>
        <p:nvSpPr>
          <p:cNvPr id="29" name="R3_chip173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'Do you like football?'</a:t>
            </a:r>
            <a:endParaRPr lang="en-US" sz="1000" dirty="0"/>
          </a:p>
        </p:txBody>
      </p:sp>
      <p:sp>
        <p:nvSpPr>
          <p:cNvPr id="30" name="bd_174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175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me if I was going to watch the match.</a:t>
            </a:r>
            <a:endParaRPr lang="en-US" sz="1050" dirty="0"/>
          </a:p>
        </p:txBody>
      </p:sp>
      <p:sp>
        <p:nvSpPr>
          <p:cNvPr id="32" name="R4_chip176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'Are you going to watch the England match?'</a:t>
            </a:r>
            <a:endParaRPr lang="en-US" sz="1000" dirty="0"/>
          </a:p>
        </p:txBody>
      </p:sp>
      <p:sp>
        <p:nvSpPr>
          <p:cNvPr id="33" name="bd_17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178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me what I was doing after work.</a:t>
            </a:r>
            <a:endParaRPr lang="en-US" sz="1150" dirty="0"/>
          </a:p>
        </p:txBody>
      </p:sp>
      <p:sp>
        <p:nvSpPr>
          <p:cNvPr id="35" name="R5_chip179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'What are you doing after work?'</a:t>
            </a:r>
            <a:endParaRPr lang="en-US" sz="1000" dirty="0"/>
          </a:p>
        </p:txBody>
      </p:sp>
      <p:sp>
        <p:nvSpPr>
          <p:cNvPr id="36" name="bd_180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181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told him I was having dinner with a friend.</a:t>
            </a:r>
            <a:endParaRPr lang="en-US" sz="1150" dirty="0"/>
          </a:p>
        </p:txBody>
      </p:sp>
      <p:sp>
        <p:nvSpPr>
          <p:cNvPr id="38" name="R6_chip182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'I'm having dinner with a friend.'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8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8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185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Reported speech</a:t>
            </a:r>
            <a:endParaRPr lang="en-US" sz="2500" dirty="0"/>
          </a:p>
        </p:txBody>
      </p:sp>
      <p:pic>
        <p:nvPicPr>
          <p:cNvPr id="6" name="brP_18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2903220" cy="402336"/>
          </a:xfrm>
          <a:prstGeom prst="rect">
            <a:avLst/>
          </a:prstGeom>
        </p:spPr>
      </p:pic>
      <p:sp>
        <p:nvSpPr>
          <p:cNvPr id="7" name="ins_187"/>
          <p:cNvSpPr/>
          <p:nvPr/>
        </p:nvSpPr>
        <p:spPr>
          <a:xfrm>
            <a:off x="1353312" y="731520"/>
            <a:ext cx="2647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does the verb change?</a:t>
            </a:r>
            <a:endParaRPr lang="en-US" sz="1250" dirty="0"/>
          </a:p>
        </p:txBody>
      </p:sp>
      <p:sp>
        <p:nvSpPr>
          <p:cNvPr id="8" name="insIT_18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Come cambia il verbo?</a:t>
            </a:r>
            <a:endParaRPr lang="en-US" sz="950" dirty="0"/>
          </a:p>
        </p:txBody>
      </p:sp>
      <p:sp>
        <p:nvSpPr>
          <p:cNvPr id="9" name="cmd_18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meta_190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950" dirty="0"/>
          </a:p>
        </p:txBody>
      </p:sp>
      <p:sp>
        <p:nvSpPr>
          <p:cNvPr id="11" name="tag_191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00" dirty="0"/>
          </a:p>
        </p:txBody>
      </p:sp>
      <p:pic>
        <p:nvPicPr>
          <p:cNvPr id="12" name="logo_19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9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Grammar · reported speech   ·   📖 Grammar Bank 8B p.147 · audio 8.13, 8.14</a:t>
            </a:r>
            <a:endParaRPr lang="en-US" sz="800" dirty="0"/>
          </a:p>
        </p:txBody>
      </p:sp>
      <p:sp>
        <p:nvSpPr>
          <p:cNvPr id="14" name="aw_194"/>
          <p:cNvSpPr/>
          <p:nvPr/>
        </p:nvSpPr>
        <p:spPr>
          <a:xfrm>
            <a:off x="0" y="420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Play it from the book audio</a:t>
            </a:r>
            <a:endParaRPr lang="en-US" sz="900" dirty="0"/>
          </a:p>
        </p:txBody>
      </p:sp>
      <p:sp>
        <p:nvSpPr>
          <p:cNvPr id="15" name="cd_195"/>
          <p:cNvSpPr/>
          <p:nvPr/>
        </p:nvSpPr>
        <p:spPr>
          <a:xfrm>
            <a:off x="3200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rh_196"/>
          <p:cNvSpPr/>
          <p:nvPr/>
        </p:nvSpPr>
        <p:spPr>
          <a:xfrm>
            <a:off x="4297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Sentences</a:t>
            </a:r>
            <a:endParaRPr lang="en-US" sz="1250" dirty="0"/>
          </a:p>
        </p:txBody>
      </p:sp>
      <p:sp>
        <p:nvSpPr>
          <p:cNvPr id="17" name="pf_197"/>
          <p:cNvSpPr/>
          <p:nvPr/>
        </p:nvSpPr>
        <p:spPr>
          <a:xfrm>
            <a:off x="4297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198" descr="/home/claude/lls-course/v2/cache/3b1_jokes_jpg_589x20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984248"/>
            <a:ext cx="2447544" cy="868680"/>
          </a:xfrm>
          <a:prstGeom prst="rect">
            <a:avLst/>
          </a:prstGeom>
        </p:spPr>
      </p:pic>
      <p:sp>
        <p:nvSpPr>
          <p:cNvPr id="19" name="ru_199"/>
          <p:cNvSpPr/>
          <p:nvPr/>
        </p:nvSpPr>
        <p:spPr>
          <a:xfrm>
            <a:off x="4114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(that) · tell + person</a:t>
            </a:r>
            <a:endParaRPr lang="en-US" sz="1050" dirty="0"/>
          </a:p>
        </p:txBody>
      </p:sp>
      <p:sp>
        <p:nvSpPr>
          <p:cNvPr id="20" name="R1_rx200"/>
          <p:cNvSpPr/>
          <p:nvPr/>
        </p:nvSpPr>
        <p:spPr>
          <a:xfrm>
            <a:off x="4114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'I like shopping.' → She said she liked shopping.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'I've forgotten my keys.' → He told me he had forgotten his keys.</a:t>
            </a:r>
            <a:endParaRPr lang="en-US" sz="1050" dirty="0"/>
          </a:p>
        </p:txBody>
      </p:sp>
      <p:sp>
        <p:nvSpPr>
          <p:cNvPr id="21" name="R1_ri201"/>
          <p:cNvSpPr/>
          <p:nvPr/>
        </p:nvSpPr>
        <p:spPr>
          <a:xfrm>
            <a:off x="4114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 detto che…</a:t>
            </a:r>
            <a:endParaRPr lang="en-US" sz="900" dirty="0"/>
          </a:p>
        </p:txBody>
      </p:sp>
      <p:sp>
        <p:nvSpPr>
          <p:cNvPr id="22" name="cd_202"/>
          <p:cNvSpPr/>
          <p:nvPr/>
        </p:nvSpPr>
        <p:spPr>
          <a:xfrm>
            <a:off x="32156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rh_203"/>
          <p:cNvSpPr/>
          <p:nvPr/>
        </p:nvSpPr>
        <p:spPr>
          <a:xfrm>
            <a:off x="33253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Tense goes back</a:t>
            </a:r>
            <a:endParaRPr lang="en-US" sz="1250" dirty="0"/>
          </a:p>
        </p:txBody>
      </p:sp>
      <p:sp>
        <p:nvSpPr>
          <p:cNvPr id="24" name="pf_204"/>
          <p:cNvSpPr/>
          <p:nvPr/>
        </p:nvSpPr>
        <p:spPr>
          <a:xfrm>
            <a:off x="33253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5" name="ph_205" descr="/home/claude/lls-course/v2/cache/2a1_coins_jpg_589x209_3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088" y="1984248"/>
            <a:ext cx="2447544" cy="868680"/>
          </a:xfrm>
          <a:prstGeom prst="rect">
            <a:avLst/>
          </a:prstGeom>
        </p:spPr>
      </p:pic>
      <p:sp>
        <p:nvSpPr>
          <p:cNvPr id="26" name="ru_206"/>
          <p:cNvSpPr/>
          <p:nvPr/>
        </p:nvSpPr>
        <p:spPr>
          <a:xfrm>
            <a:off x="33070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one step into the past</a:t>
            </a:r>
            <a:endParaRPr lang="en-US" sz="1050" dirty="0"/>
          </a:p>
        </p:txBody>
      </p:sp>
      <p:sp>
        <p:nvSpPr>
          <p:cNvPr id="27" name="R2_rx207"/>
          <p:cNvSpPr/>
          <p:nvPr/>
        </p:nvSpPr>
        <p:spPr>
          <a:xfrm>
            <a:off x="33070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 / is → was · will → would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→ could · must → had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past / pres. perfect → had + p.p.</a:t>
            </a:r>
            <a:endParaRPr lang="en-US" sz="1050" dirty="0"/>
          </a:p>
        </p:txBody>
      </p:sp>
      <p:sp>
        <p:nvSpPr>
          <p:cNvPr id="28" name="R2_ri208"/>
          <p:cNvSpPr/>
          <p:nvPr/>
        </p:nvSpPr>
        <p:spPr>
          <a:xfrm>
            <a:off x="33070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tomorrow → the next day</a:t>
            </a:r>
            <a:endParaRPr lang="en-US" sz="900" dirty="0"/>
          </a:p>
        </p:txBody>
      </p:sp>
      <p:sp>
        <p:nvSpPr>
          <p:cNvPr id="29" name="cd_209"/>
          <p:cNvSpPr/>
          <p:nvPr/>
        </p:nvSpPr>
        <p:spPr>
          <a:xfrm>
            <a:off x="61112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0" name="rh_210"/>
          <p:cNvSpPr/>
          <p:nvPr/>
        </p:nvSpPr>
        <p:spPr>
          <a:xfrm>
            <a:off x="62209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Questions</a:t>
            </a:r>
            <a:endParaRPr lang="en-US" sz="1250" dirty="0"/>
          </a:p>
        </p:txBody>
      </p:sp>
      <p:sp>
        <p:nvSpPr>
          <p:cNvPr id="31" name="pf_211"/>
          <p:cNvSpPr/>
          <p:nvPr/>
        </p:nvSpPr>
        <p:spPr>
          <a:xfrm>
            <a:off x="62209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2" name="ph_212" descr="/home/claude/lls-course/v2/cache/4a1_queue_jpg_589x209_3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688" y="1984248"/>
            <a:ext cx="2447544" cy="868680"/>
          </a:xfrm>
          <a:prstGeom prst="rect">
            <a:avLst/>
          </a:prstGeom>
        </p:spPr>
      </p:pic>
      <p:sp>
        <p:nvSpPr>
          <p:cNvPr id="33" name="ru_213"/>
          <p:cNvSpPr/>
          <p:nvPr/>
        </p:nvSpPr>
        <p:spPr>
          <a:xfrm>
            <a:off x="62026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do / did · normal word order</a:t>
            </a:r>
            <a:endParaRPr lang="en-US" sz="1050" dirty="0"/>
          </a:p>
        </p:txBody>
      </p:sp>
      <p:sp>
        <p:nvSpPr>
          <p:cNvPr id="34" name="R3_rx214"/>
          <p:cNvSpPr/>
          <p:nvPr/>
        </p:nvSpPr>
        <p:spPr>
          <a:xfrm>
            <a:off x="62026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'Where do you live?' → She asked me where I lived.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'Are you married?' → She asked him if he was married.</a:t>
            </a:r>
            <a:endParaRPr lang="en-US" sz="1050" dirty="0"/>
          </a:p>
        </p:txBody>
      </p:sp>
      <p:sp>
        <p:nvSpPr>
          <p:cNvPr id="35" name="R3_ri215"/>
          <p:cNvSpPr/>
          <p:nvPr/>
        </p:nvSpPr>
        <p:spPr>
          <a:xfrm>
            <a:off x="62026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yes/no → if / whether</a:t>
            </a:r>
            <a:endParaRPr lang="en-US" sz="900" dirty="0"/>
          </a:p>
        </p:txBody>
      </p:sp>
      <p:sp>
        <p:nvSpPr>
          <p:cNvPr id="36" name="R4_wc216"/>
          <p:cNvSpPr/>
          <p:nvPr/>
        </p:nvSpPr>
        <p:spPr>
          <a:xfrm>
            <a:off x="320040" y="4544568"/>
            <a:ext cx="841248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R4_w217"/>
          <p:cNvSpPr/>
          <p:nvPr/>
        </p:nvSpPr>
        <p:spPr>
          <a:xfrm>
            <a:off x="457200" y="454456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He said me → ✓ He told me / He said   ✗ She asked me where did I live → ✓ where I lived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1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1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220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Report it correctly</a:t>
            </a:r>
            <a:endParaRPr lang="en-US" sz="2500" dirty="0"/>
          </a:p>
        </p:txBody>
      </p:sp>
      <p:pic>
        <p:nvPicPr>
          <p:cNvPr id="6" name="brP_22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2642616" cy="402336"/>
          </a:xfrm>
          <a:prstGeom prst="rect">
            <a:avLst/>
          </a:prstGeom>
        </p:spPr>
      </p:pic>
      <p:sp>
        <p:nvSpPr>
          <p:cNvPr id="7" name="ins_222"/>
          <p:cNvSpPr/>
          <p:nvPr/>
        </p:nvSpPr>
        <p:spPr>
          <a:xfrm>
            <a:off x="1353312" y="731520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it! Then check.</a:t>
            </a:r>
            <a:endParaRPr lang="en-US" sz="1250" dirty="0"/>
          </a:p>
        </p:txBody>
      </p:sp>
      <p:sp>
        <p:nvSpPr>
          <p:cNvPr id="8" name="insIT_22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Riportalo! Poi controlla.</a:t>
            </a:r>
            <a:endParaRPr lang="en-US" sz="950" dirty="0"/>
          </a:p>
        </p:txBody>
      </p:sp>
      <p:sp>
        <p:nvSpPr>
          <p:cNvPr id="9" name="cmd_22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0" name="meta_225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950" dirty="0"/>
          </a:p>
        </p:txBody>
      </p:sp>
      <p:sp>
        <p:nvSpPr>
          <p:cNvPr id="11" name="tag_226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2" name="logo_22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2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Grammar · practice   ·   📖 Grammar Bank 8B p.147 · a 2–4, b 1–3</a:t>
            </a:r>
            <a:endParaRPr lang="en-US" sz="800" dirty="0"/>
          </a:p>
        </p:txBody>
      </p:sp>
      <p:sp>
        <p:nvSpPr>
          <p:cNvPr id="14" name="cd_229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3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23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232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'I'm selling all my books.' → Tim said he was selling all his books.</a:t>
            </a:r>
            <a:endParaRPr lang="en-US" sz="1050" dirty="0"/>
          </a:p>
        </p:txBody>
      </p:sp>
      <p:sp>
        <p:nvSpPr>
          <p:cNvPr id="18" name="pf_233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234" descr="/home/claude/lls-course/v2/cache/4a1_library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235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236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'I've booked the flights.' → Emma told me she…</a:t>
            </a:r>
            <a:endParaRPr lang="en-US" sz="1150" dirty="0"/>
          </a:p>
        </p:txBody>
      </p:sp>
      <p:sp>
        <p:nvSpPr>
          <p:cNvPr id="22" name="R1_chip237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had booked the flights</a:t>
            </a:r>
            <a:endParaRPr lang="en-US" sz="1000" dirty="0"/>
          </a:p>
        </p:txBody>
      </p:sp>
      <p:sp>
        <p:nvSpPr>
          <p:cNvPr id="23" name="bd_238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239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'Your new dress doesn't suit you.' → My mum told me…</a:t>
            </a:r>
            <a:endParaRPr lang="en-US" sz="950" dirty="0"/>
          </a:p>
        </p:txBody>
      </p:sp>
      <p:sp>
        <p:nvSpPr>
          <p:cNvPr id="25" name="R2_chip240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new dress didn't suit me</a:t>
            </a:r>
            <a:endParaRPr lang="en-US" sz="1000" dirty="0"/>
          </a:p>
        </p:txBody>
      </p:sp>
      <p:sp>
        <p:nvSpPr>
          <p:cNvPr id="26" name="bd_241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242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'I might not be able to go.' → Matt said he…</a:t>
            </a:r>
            <a:endParaRPr lang="en-US" sz="1150" dirty="0"/>
          </a:p>
        </p:txBody>
      </p:sp>
      <p:sp>
        <p:nvSpPr>
          <p:cNvPr id="28" name="R3_chip243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might not be able to go</a:t>
            </a:r>
            <a:endParaRPr lang="en-US" sz="1000" dirty="0"/>
          </a:p>
        </p:txBody>
      </p:sp>
      <p:sp>
        <p:nvSpPr>
          <p:cNvPr id="29" name="bd_244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245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'When are you leaving?' → My parents asked me…</a:t>
            </a:r>
            <a:endParaRPr lang="en-US" sz="1050" dirty="0"/>
          </a:p>
        </p:txBody>
      </p:sp>
      <p:sp>
        <p:nvSpPr>
          <p:cNvPr id="31" name="R4_chip246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I was leaving</a:t>
            </a:r>
            <a:endParaRPr lang="en-US" sz="1000" dirty="0"/>
          </a:p>
        </p:txBody>
      </p:sp>
      <p:sp>
        <p:nvSpPr>
          <p:cNvPr id="32" name="bd_24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248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'Have you ever been married?' → She asked him…</a:t>
            </a:r>
            <a:endParaRPr lang="en-US" sz="900" dirty="0"/>
          </a:p>
        </p:txBody>
      </p:sp>
      <p:sp>
        <p:nvSpPr>
          <p:cNvPr id="34" name="R5_chip249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/ whether he had ever been married</a:t>
            </a:r>
            <a:endParaRPr lang="en-US" sz="1000" dirty="0"/>
          </a:p>
        </p:txBody>
      </p:sp>
      <p:sp>
        <p:nvSpPr>
          <p:cNvPr id="35" name="bd_250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251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'Will you be home early?' → Anna asked Robert…</a:t>
            </a:r>
            <a:endParaRPr lang="en-US" sz="1100" dirty="0"/>
          </a:p>
        </p:txBody>
      </p:sp>
      <p:sp>
        <p:nvSpPr>
          <p:cNvPr id="37" name="R6_chip252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/ whether he would be home early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5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255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asked her…</a:t>
            </a:r>
            <a:endParaRPr lang="en-US" sz="2500" dirty="0"/>
          </a:p>
        </p:txBody>
      </p:sp>
      <p:pic>
        <p:nvPicPr>
          <p:cNvPr id="6" name="brP_25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257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Report the question before the narrator!</a:t>
            </a:r>
            <a:endParaRPr lang="en-US" sz="1250" dirty="0"/>
          </a:p>
        </p:txBody>
      </p:sp>
      <p:sp>
        <p:nvSpPr>
          <p:cNvPr id="8" name="insIT_25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Ascolta. Riporta la domanda prima del narratore!</a:t>
            </a:r>
            <a:endParaRPr lang="en-US" sz="950" dirty="0"/>
          </a:p>
        </p:txBody>
      </p:sp>
      <p:sp>
        <p:nvSpPr>
          <p:cNvPr id="9" name="cmd_25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260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1" name="meta_261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2" name="tag_262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Listening for detail</a:t>
            </a:r>
            <a:endParaRPr lang="en-US" sz="700" dirty="0"/>
          </a:p>
        </p:txBody>
      </p:sp>
      <p:pic>
        <p:nvPicPr>
          <p:cNvPr id="13" name="logo_26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6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Grammar · oral practice   ·   📖 SB p.81 · 2c · audio 8.15</a:t>
            </a:r>
            <a:endParaRPr lang="en-US" sz="800" dirty="0"/>
          </a:p>
        </p:txBody>
      </p:sp>
      <p:sp>
        <p:nvSpPr>
          <p:cNvPr id="15" name="ap_265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8.15  ·  pause after each question</a:t>
            </a:r>
            <a:endParaRPr lang="en-US" sz="1100" dirty="0"/>
          </a:p>
        </p:txBody>
      </p:sp>
      <p:sp>
        <p:nvSpPr>
          <p:cNvPr id="16" name="aw_266"/>
          <p:cNvSpPr/>
          <p:nvPr/>
        </p:nvSpPr>
        <p:spPr>
          <a:xfrm>
            <a:off x="365760" y="18379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Play it from the book audio</a:t>
            </a:r>
            <a:endParaRPr lang="en-US" sz="900" dirty="0"/>
          </a:p>
        </p:txBody>
      </p:sp>
      <p:sp>
        <p:nvSpPr>
          <p:cNvPr id="17" name="pf_267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268" descr="/home/claude/lls-course/v2/cache/2a1_waste_jpg_627x40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19" name="cd_269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270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271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2" name="il_272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3" name="gq_273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'Where do you live?'</a:t>
            </a:r>
            <a:endParaRPr lang="en-US" sz="1200" dirty="0"/>
          </a:p>
        </p:txBody>
      </p:sp>
      <p:sp>
        <p:nvSpPr>
          <p:cNvPr id="24" name="R1_chip274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her where she lived.</a:t>
            </a:r>
            <a:endParaRPr lang="en-US" sz="1200" dirty="0"/>
          </a:p>
        </p:txBody>
      </p:sp>
      <p:sp>
        <p:nvSpPr>
          <p:cNvPr id="25" name="gq_275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'What are you doing in the evening?'</a:t>
            </a:r>
            <a:endParaRPr lang="en-US" sz="1200" dirty="0"/>
          </a:p>
        </p:txBody>
      </p:sp>
      <p:sp>
        <p:nvSpPr>
          <p:cNvPr id="26" name="R2_chip276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asked him what he was doing in the evening.</a:t>
            </a:r>
            <a:endParaRPr lang="en-US" sz="1000" dirty="0"/>
          </a:p>
        </p:txBody>
      </p:sp>
      <p:sp>
        <p:nvSpPr>
          <p:cNvPr id="27" name="gq_277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'Will you be at home at eight?'</a:t>
            </a:r>
            <a:endParaRPr lang="en-US" sz="1200" dirty="0"/>
          </a:p>
        </p:txBody>
      </p:sp>
      <p:sp>
        <p:nvSpPr>
          <p:cNvPr id="28" name="R3_chip278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if she would be at home at eight.</a:t>
            </a:r>
            <a:endParaRPr lang="en-US" sz="1200" dirty="0"/>
          </a:p>
        </p:txBody>
      </p:sp>
      <p:sp>
        <p:nvSpPr>
          <p:cNvPr id="29" name="gq_279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'Where did you buy your bag?'</a:t>
            </a:r>
            <a:endParaRPr lang="en-US" sz="1200" dirty="0"/>
          </a:p>
        </p:txBody>
      </p:sp>
      <p:sp>
        <p:nvSpPr>
          <p:cNvPr id="30" name="R4_chip280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her where she'd bought her bag.</a:t>
            </a:r>
            <a:endParaRPr lang="en-US" sz="1200" dirty="0"/>
          </a:p>
        </p:txBody>
      </p:sp>
      <p:sp>
        <p:nvSpPr>
          <p:cNvPr id="31" name="gq_281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'Have you seen the new Bond film?'</a:t>
            </a:r>
            <a:endParaRPr lang="en-US" sz="1200" dirty="0"/>
          </a:p>
        </p:txBody>
      </p:sp>
      <p:sp>
        <p:nvSpPr>
          <p:cNvPr id="32" name="R5_chip282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asked him if he'd seen it.</a:t>
            </a:r>
            <a:endParaRPr lang="en-US" sz="1200" dirty="0"/>
          </a:p>
        </p:txBody>
      </p:sp>
      <p:sp>
        <p:nvSpPr>
          <p:cNvPr id="33" name="gq_283"/>
          <p:cNvSpPr/>
          <p:nvPr/>
        </p:nvSpPr>
        <p:spPr>
          <a:xfrm>
            <a:off x="3383280" y="40233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'Can I try on the jacket?'</a:t>
            </a:r>
            <a:endParaRPr lang="en-US" sz="1200" dirty="0"/>
          </a:p>
        </p:txBody>
      </p:sp>
      <p:sp>
        <p:nvSpPr>
          <p:cNvPr id="34" name="R6_chip284"/>
          <p:cNvSpPr/>
          <p:nvPr/>
        </p:nvSpPr>
        <p:spPr>
          <a:xfrm>
            <a:off x="6812280" y="402336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her if he could try it on.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8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8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287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the difference?</a:t>
            </a:r>
            <a:endParaRPr lang="en-US" sz="2500" dirty="0"/>
          </a:p>
        </p:txBody>
      </p:sp>
      <p:pic>
        <p:nvPicPr>
          <p:cNvPr id="6" name="brP_28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289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the difference to your partner.</a:t>
            </a:r>
            <a:endParaRPr lang="en-US" sz="1250" dirty="0"/>
          </a:p>
        </p:txBody>
      </p:sp>
      <p:sp>
        <p:nvSpPr>
          <p:cNvPr id="8" name="insIT_29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Spiega la differenza al compagno.</a:t>
            </a:r>
            <a:endParaRPr lang="en-US" sz="950" dirty="0"/>
          </a:p>
        </p:txBody>
      </p:sp>
      <p:sp>
        <p:nvSpPr>
          <p:cNvPr id="9" name="cmd_29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292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293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2" name="logo_29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9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Vocabulary · shopping   ·   📖 SB p.81 · 3a</a:t>
            </a:r>
            <a:endParaRPr lang="en-US" sz="800" dirty="0"/>
          </a:p>
        </p:txBody>
      </p:sp>
      <p:sp>
        <p:nvSpPr>
          <p:cNvPr id="14" name="cd_296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29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299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basket / trolley → small, you carry it / big, on wheels</a:t>
            </a:r>
            <a:endParaRPr lang="en-US" sz="1050" dirty="0"/>
          </a:p>
        </p:txBody>
      </p:sp>
      <p:sp>
        <p:nvSpPr>
          <p:cNvPr id="18" name="pf_300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301" descr="/home/claude/lls-course/v2/cache/2a2_saver_spender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302"/>
          <p:cNvSpPr/>
          <p:nvPr/>
        </p:nvSpPr>
        <p:spPr>
          <a:xfrm>
            <a:off x="3246120" y="1474143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303"/>
          <p:cNvSpPr/>
          <p:nvPr/>
        </p:nvSpPr>
        <p:spPr>
          <a:xfrm>
            <a:off x="3630168" y="1417320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credit card / debit card</a:t>
            </a:r>
            <a:endParaRPr lang="en-US" sz="1150" dirty="0"/>
          </a:p>
        </p:txBody>
      </p:sp>
      <p:sp>
        <p:nvSpPr>
          <p:cNvPr id="22" name="R1_chip304"/>
          <p:cNvSpPr/>
          <p:nvPr/>
        </p:nvSpPr>
        <p:spPr>
          <a:xfrm>
            <a:off x="5806440" y="1417320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 later / the money goes immediately</a:t>
            </a:r>
            <a:endParaRPr lang="en-US" sz="1000" dirty="0"/>
          </a:p>
        </p:txBody>
      </p:sp>
      <p:sp>
        <p:nvSpPr>
          <p:cNvPr id="23" name="bd_305"/>
          <p:cNvSpPr/>
          <p:nvPr/>
        </p:nvSpPr>
        <p:spPr>
          <a:xfrm>
            <a:off x="3246120" y="194440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306"/>
          <p:cNvSpPr/>
          <p:nvPr/>
        </p:nvSpPr>
        <p:spPr>
          <a:xfrm>
            <a:off x="3630168" y="1887583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receipt / refund</a:t>
            </a:r>
            <a:endParaRPr lang="en-US" sz="1150" dirty="0"/>
          </a:p>
        </p:txBody>
      </p:sp>
      <p:sp>
        <p:nvSpPr>
          <p:cNvPr id="25" name="R2_chip307"/>
          <p:cNvSpPr/>
          <p:nvPr/>
        </p:nvSpPr>
        <p:spPr>
          <a:xfrm>
            <a:off x="5806440" y="1887583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paper that proves you paid / money back</a:t>
            </a:r>
            <a:endParaRPr lang="en-US" sz="1000" dirty="0"/>
          </a:p>
        </p:txBody>
      </p:sp>
      <p:sp>
        <p:nvSpPr>
          <p:cNvPr id="26" name="bd_308"/>
          <p:cNvSpPr/>
          <p:nvPr/>
        </p:nvSpPr>
        <p:spPr>
          <a:xfrm>
            <a:off x="3246120" y="2414669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309"/>
          <p:cNvSpPr/>
          <p:nvPr/>
        </p:nvSpPr>
        <p:spPr>
          <a:xfrm>
            <a:off x="3630168" y="2357846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discount / bargain</a:t>
            </a:r>
            <a:endParaRPr lang="en-US" sz="1150" dirty="0"/>
          </a:p>
        </p:txBody>
      </p:sp>
      <p:sp>
        <p:nvSpPr>
          <p:cNvPr id="28" name="R3_chip310"/>
          <p:cNvSpPr/>
          <p:nvPr/>
        </p:nvSpPr>
        <p:spPr>
          <a:xfrm>
            <a:off x="5806440" y="2357846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money off the price / a very cheap thing</a:t>
            </a:r>
            <a:endParaRPr lang="en-US" sz="1000" dirty="0"/>
          </a:p>
        </p:txBody>
      </p:sp>
      <p:sp>
        <p:nvSpPr>
          <p:cNvPr id="29" name="bd_311"/>
          <p:cNvSpPr/>
          <p:nvPr/>
        </p:nvSpPr>
        <p:spPr>
          <a:xfrm>
            <a:off x="3246120" y="28849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312"/>
          <p:cNvSpPr/>
          <p:nvPr/>
        </p:nvSpPr>
        <p:spPr>
          <a:xfrm>
            <a:off x="3630168" y="2828109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chain store / department store</a:t>
            </a:r>
            <a:endParaRPr lang="en-US" sz="1150" dirty="0"/>
          </a:p>
        </p:txBody>
      </p:sp>
      <p:sp>
        <p:nvSpPr>
          <p:cNvPr id="31" name="R4_chip313"/>
          <p:cNvSpPr/>
          <p:nvPr/>
        </p:nvSpPr>
        <p:spPr>
          <a:xfrm>
            <a:off x="5806440" y="2828109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of many similar shops / big shop, many sections</a:t>
            </a:r>
            <a:endParaRPr lang="en-US" sz="1000" dirty="0"/>
          </a:p>
        </p:txBody>
      </p:sp>
      <p:sp>
        <p:nvSpPr>
          <p:cNvPr id="32" name="bd_314"/>
          <p:cNvSpPr/>
          <p:nvPr/>
        </p:nvSpPr>
        <p:spPr>
          <a:xfrm>
            <a:off x="3246120" y="3355195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315"/>
          <p:cNvSpPr/>
          <p:nvPr/>
        </p:nvSpPr>
        <p:spPr>
          <a:xfrm>
            <a:off x="3630168" y="3298371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library / bookshop</a:t>
            </a:r>
            <a:endParaRPr lang="en-US" sz="1150" dirty="0"/>
          </a:p>
        </p:txBody>
      </p:sp>
      <p:sp>
        <p:nvSpPr>
          <p:cNvPr id="34" name="R5_chip316"/>
          <p:cNvSpPr/>
          <p:nvPr/>
        </p:nvSpPr>
        <p:spPr>
          <a:xfrm>
            <a:off x="5806440" y="3298371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borrow books / buy books</a:t>
            </a:r>
            <a:endParaRPr lang="en-US" sz="1000" dirty="0"/>
          </a:p>
        </p:txBody>
      </p:sp>
      <p:sp>
        <p:nvSpPr>
          <p:cNvPr id="35" name="bd_317"/>
          <p:cNvSpPr/>
          <p:nvPr/>
        </p:nvSpPr>
        <p:spPr>
          <a:xfrm>
            <a:off x="3246120" y="3825458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318"/>
          <p:cNvSpPr/>
          <p:nvPr/>
        </p:nvSpPr>
        <p:spPr>
          <a:xfrm>
            <a:off x="3630168" y="3768634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put on / try on</a:t>
            </a:r>
            <a:endParaRPr lang="en-US" sz="1150" dirty="0"/>
          </a:p>
        </p:txBody>
      </p:sp>
      <p:sp>
        <p:nvSpPr>
          <p:cNvPr id="37" name="R6_chip319"/>
          <p:cNvSpPr/>
          <p:nvPr/>
        </p:nvSpPr>
        <p:spPr>
          <a:xfrm>
            <a:off x="5806440" y="3768634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dressed / put on before you buy</a:t>
            </a:r>
            <a:endParaRPr lang="en-US" sz="1000" dirty="0"/>
          </a:p>
        </p:txBody>
      </p:sp>
      <p:sp>
        <p:nvSpPr>
          <p:cNvPr id="38" name="bd_320"/>
          <p:cNvSpPr/>
          <p:nvPr/>
        </p:nvSpPr>
        <p:spPr>
          <a:xfrm>
            <a:off x="3246120" y="4295721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q_321"/>
          <p:cNvSpPr/>
          <p:nvPr/>
        </p:nvSpPr>
        <p:spPr>
          <a:xfrm>
            <a:off x="3630168" y="4238897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fits you / It suits you</a:t>
            </a:r>
            <a:endParaRPr lang="en-US" sz="1150" dirty="0"/>
          </a:p>
        </p:txBody>
      </p:sp>
      <p:sp>
        <p:nvSpPr>
          <p:cNvPr id="40" name="R7_chip322"/>
          <p:cNvSpPr/>
          <p:nvPr/>
        </p:nvSpPr>
        <p:spPr>
          <a:xfrm>
            <a:off x="5806440" y="4238897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 size / looks good on you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2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2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325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Shopping words in Italian</a:t>
            </a:r>
            <a:endParaRPr lang="en-US" sz="2500" dirty="0"/>
          </a:p>
        </p:txBody>
      </p:sp>
      <p:pic>
        <p:nvPicPr>
          <p:cNvPr id="6" name="brP_32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327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it in Italian. Then click!</a:t>
            </a:r>
            <a:endParaRPr lang="en-US" sz="1250" dirty="0"/>
          </a:p>
        </p:txBody>
      </p:sp>
      <p:sp>
        <p:nvSpPr>
          <p:cNvPr id="8" name="insIT_32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Dillo in italiano. Poi clicca!</a:t>
            </a:r>
            <a:endParaRPr lang="en-US" sz="950" dirty="0"/>
          </a:p>
        </p:txBody>
      </p:sp>
      <p:sp>
        <p:nvSpPr>
          <p:cNvPr id="9" name="cmd_32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0" name="meta_330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🙋 whole class</a:t>
            </a:r>
            <a:endParaRPr lang="en-US" sz="950" dirty="0"/>
          </a:p>
        </p:txBody>
      </p:sp>
      <p:sp>
        <p:nvSpPr>
          <p:cNvPr id="11" name="tag_331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meaning</a:t>
            </a:r>
            <a:endParaRPr lang="en-US" sz="700" dirty="0"/>
          </a:p>
        </p:txBody>
      </p:sp>
      <p:pic>
        <p:nvPicPr>
          <p:cNvPr id="12" name="logo_33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3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Vocabulary · in Italian</a:t>
            </a:r>
            <a:endParaRPr lang="en-US" sz="800" dirty="0"/>
          </a:p>
        </p:txBody>
      </p:sp>
      <p:sp>
        <p:nvSpPr>
          <p:cNvPr id="14" name="cd_334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e_335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16" name="en_336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receipt</a:t>
            </a:r>
            <a:endParaRPr lang="en-US" sz="1200" dirty="0"/>
          </a:p>
        </p:txBody>
      </p:sp>
      <p:sp>
        <p:nvSpPr>
          <p:cNvPr id="17" name="R1_it337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scontrino / ricevuta</a:t>
            </a:r>
            <a:endParaRPr lang="en-US" sz="1000" dirty="0"/>
          </a:p>
        </p:txBody>
      </p:sp>
      <p:sp>
        <p:nvSpPr>
          <p:cNvPr id="18" name="cd_338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e_339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💶</a:t>
            </a:r>
            <a:endParaRPr lang="en-US" sz="2000" dirty="0"/>
          </a:p>
        </p:txBody>
      </p:sp>
      <p:sp>
        <p:nvSpPr>
          <p:cNvPr id="20" name="en_340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refund</a:t>
            </a:r>
            <a:endParaRPr lang="en-US" sz="1200" dirty="0"/>
          </a:p>
        </p:txBody>
      </p:sp>
      <p:sp>
        <p:nvSpPr>
          <p:cNvPr id="21" name="R2_it341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rimborso</a:t>
            </a:r>
            <a:endParaRPr lang="en-US" sz="1000" dirty="0"/>
          </a:p>
        </p:txBody>
      </p:sp>
      <p:sp>
        <p:nvSpPr>
          <p:cNvPr id="22" name="cd_342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e_343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4" name="en_344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discount</a:t>
            </a:r>
            <a:endParaRPr lang="en-US" sz="1200" dirty="0"/>
          </a:p>
        </p:txBody>
      </p:sp>
      <p:sp>
        <p:nvSpPr>
          <p:cNvPr id="25" name="R3_it345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sconto</a:t>
            </a:r>
            <a:endParaRPr lang="en-US" sz="1000" dirty="0"/>
          </a:p>
        </p:txBody>
      </p:sp>
      <p:sp>
        <p:nvSpPr>
          <p:cNvPr id="26" name="cd_346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e_347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🤑</a:t>
            </a:r>
            <a:endParaRPr lang="en-US" sz="2000" dirty="0"/>
          </a:p>
        </p:txBody>
      </p:sp>
      <p:sp>
        <p:nvSpPr>
          <p:cNvPr id="28" name="en_348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bargain</a:t>
            </a:r>
            <a:endParaRPr lang="en-US" sz="1200" dirty="0"/>
          </a:p>
        </p:txBody>
      </p:sp>
      <p:sp>
        <p:nvSpPr>
          <p:cNvPr id="29" name="R4_it349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affare</a:t>
            </a:r>
            <a:endParaRPr lang="en-US" sz="1000" dirty="0"/>
          </a:p>
        </p:txBody>
      </p:sp>
      <p:sp>
        <p:nvSpPr>
          <p:cNvPr id="30" name="cd_350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e_351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32" name="en_352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trolley</a:t>
            </a:r>
            <a:endParaRPr lang="en-US" sz="1200" dirty="0"/>
          </a:p>
        </p:txBody>
      </p:sp>
      <p:sp>
        <p:nvSpPr>
          <p:cNvPr id="33" name="R5_it353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carrello</a:t>
            </a:r>
            <a:endParaRPr lang="en-US" sz="1000" dirty="0"/>
          </a:p>
        </p:txBody>
      </p:sp>
      <p:sp>
        <p:nvSpPr>
          <p:cNvPr id="34" name="cd_354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e_355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🧺</a:t>
            </a:r>
            <a:endParaRPr lang="en-US" sz="2000" dirty="0"/>
          </a:p>
        </p:txBody>
      </p:sp>
      <p:sp>
        <p:nvSpPr>
          <p:cNvPr id="36" name="en_356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basket</a:t>
            </a:r>
            <a:endParaRPr lang="en-US" sz="1200" dirty="0"/>
          </a:p>
        </p:txBody>
      </p:sp>
      <p:sp>
        <p:nvSpPr>
          <p:cNvPr id="37" name="R6_it357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cestino</a:t>
            </a:r>
            <a:endParaRPr lang="en-US" sz="1000" dirty="0"/>
          </a:p>
        </p:txBody>
      </p:sp>
      <p:sp>
        <p:nvSpPr>
          <p:cNvPr id="38" name="cd_358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9" name="e_359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40" name="en_360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library</a:t>
            </a:r>
            <a:endParaRPr lang="en-US" sz="1200" dirty="0"/>
          </a:p>
        </p:txBody>
      </p:sp>
      <p:sp>
        <p:nvSpPr>
          <p:cNvPr id="41" name="R7_it361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biblioteca</a:t>
            </a:r>
            <a:endParaRPr lang="en-US" sz="1000" dirty="0"/>
          </a:p>
        </p:txBody>
      </p:sp>
      <p:sp>
        <p:nvSpPr>
          <p:cNvPr id="42" name="cd_362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3" name="e_363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44" name="en_364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bookshop</a:t>
            </a:r>
            <a:endParaRPr lang="en-US" sz="1200" dirty="0"/>
          </a:p>
        </p:txBody>
      </p:sp>
      <p:sp>
        <p:nvSpPr>
          <p:cNvPr id="45" name="R8_it365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libreria</a:t>
            </a:r>
            <a:endParaRPr lang="en-US" sz="1000" dirty="0"/>
          </a:p>
        </p:txBody>
      </p:sp>
      <p:sp>
        <p:nvSpPr>
          <p:cNvPr id="46" name="cd_366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7" name="e_367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👗</a:t>
            </a:r>
            <a:endParaRPr lang="en-US" sz="2000" dirty="0"/>
          </a:p>
        </p:txBody>
      </p:sp>
      <p:sp>
        <p:nvSpPr>
          <p:cNvPr id="48" name="en_368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changing room</a:t>
            </a:r>
            <a:endParaRPr lang="en-US" sz="1200" dirty="0"/>
          </a:p>
        </p:txBody>
      </p:sp>
      <p:sp>
        <p:nvSpPr>
          <p:cNvPr id="49" name="R9_it369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camerino</a:t>
            </a:r>
            <a:endParaRPr lang="en-US" sz="1000" dirty="0"/>
          </a:p>
        </p:txBody>
      </p:sp>
      <p:sp>
        <p:nvSpPr>
          <p:cNvPr id="50" name="cd_370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1" name="e_371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🏬</a:t>
            </a:r>
            <a:endParaRPr lang="en-US" sz="2000" dirty="0"/>
          </a:p>
        </p:txBody>
      </p:sp>
      <p:sp>
        <p:nvSpPr>
          <p:cNvPr id="52" name="en_372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department store</a:t>
            </a:r>
            <a:endParaRPr lang="en-US" sz="1200" dirty="0"/>
          </a:p>
        </p:txBody>
      </p:sp>
      <p:sp>
        <p:nvSpPr>
          <p:cNvPr id="53" name="R10_it373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grande magazzino</a:t>
            </a:r>
            <a:endParaRPr lang="en-US" sz="1000" dirty="0"/>
          </a:p>
        </p:txBody>
      </p:sp>
      <p:sp>
        <p:nvSpPr>
          <p:cNvPr id="54" name="cd_374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5" name="e_375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56" name="en_376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 suits you</a:t>
            </a:r>
            <a:endParaRPr lang="en-US" sz="1200" dirty="0"/>
          </a:p>
        </p:txBody>
      </p:sp>
      <p:sp>
        <p:nvSpPr>
          <p:cNvPr id="57" name="R11_it377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sta bene</a:t>
            </a:r>
            <a:endParaRPr lang="en-US" sz="1000" dirty="0"/>
          </a:p>
        </p:txBody>
      </p:sp>
      <p:sp>
        <p:nvSpPr>
          <p:cNvPr id="58" name="cd_378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9" name="e_379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60" name="en_380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 fits</a:t>
            </a:r>
            <a:endParaRPr lang="en-US" sz="1200" dirty="0"/>
          </a:p>
        </p:txBody>
      </p:sp>
      <p:sp>
        <p:nvSpPr>
          <p:cNvPr id="61" name="R12_it381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è della taglia giusta</a:t>
            </a:r>
            <a:endParaRPr lang="en-US" sz="1000" dirty="0"/>
          </a:p>
        </p:txBody>
      </p:sp>
      <p:sp>
        <p:nvSpPr>
          <p:cNvPr id="62" name="R13_wc382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3" name="R13_w383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library = biblioteca (NOT libreria!)  ·  He told me / He said (✗ said me)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8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386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Sara and the jeans</a:t>
            </a:r>
            <a:endParaRPr lang="en-US" sz="2500" dirty="0"/>
          </a:p>
        </p:txBody>
      </p:sp>
      <p:pic>
        <p:nvPicPr>
          <p:cNvPr id="6" name="brP_38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88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38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cmd_39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39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392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2" name="tag_393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story</a:t>
            </a:r>
            <a:endParaRPr lang="en-US" sz="850" dirty="0"/>
          </a:p>
        </p:txBody>
      </p:sp>
      <p:pic>
        <p:nvPicPr>
          <p:cNvPr id="13" name="logo_39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9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Speaking · class story (TPRS)</a:t>
            </a:r>
            <a:endParaRPr lang="en-US" sz="800" dirty="0"/>
          </a:p>
        </p:txBody>
      </p:sp>
      <p:sp>
        <p:nvSpPr>
          <p:cNvPr id="15" name="cd_396"/>
          <p:cNvSpPr/>
          <p:nvPr/>
        </p:nvSpPr>
        <p:spPr>
          <a:xfrm>
            <a:off x="320040" y="1417320"/>
            <a:ext cx="2697480" cy="2852928"/>
          </a:xfrm>
          <a:prstGeom prst="roundRect">
            <a:avLst>
              <a:gd name="adj" fmla="val 4746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9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7" name="ih_39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8" name="il_399"/>
          <p:cNvSpPr/>
          <p:nvPr/>
        </p:nvSpPr>
        <p:spPr>
          <a:xfrm>
            <a:off x="886968" y="1892808"/>
            <a:ext cx="203911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her if…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ha chiesto se…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asked her where…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ha chiesto dove…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told him (that)…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Gli ha detto che…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try on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provare (un vestito)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doesn't fit.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 è della taglia giusta.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receipt / refund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scontrino / rimborso</a:t>
            </a:r>
            <a:endParaRPr lang="en-US" sz="1000" dirty="0"/>
          </a:p>
        </p:txBody>
      </p:sp>
      <p:sp>
        <p:nvSpPr>
          <p:cNvPr id="19" name="R1_sb400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R1_sl401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Sara went into a shop in Palermo to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try on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some jeans.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Did Sara go to a shop or a bank? · What did she want to try on?</a:t>
            </a:r>
            <a:endParaRPr lang="en-US" sz="1250" dirty="0"/>
          </a:p>
        </p:txBody>
      </p:sp>
      <p:sp>
        <p:nvSpPr>
          <p:cNvPr id="21" name="R2_sb402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R2_sl403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assistant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asked her if she needed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any help. She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she was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just looking.</a:t>
            </a:r>
            <a:endParaRPr lang="en-US" sz="95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Did he ask about help or money? · What did Sara say?</a:t>
            </a:r>
            <a:endParaRPr lang="en-US" sz="950" dirty="0"/>
          </a:p>
        </p:txBody>
      </p:sp>
      <p:sp>
        <p:nvSpPr>
          <p:cNvPr id="23" name="R3_sb404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R3_sl405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he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asked her where she lived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and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she liked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football!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Did he ask where she lived or worked? · What else did he ask?</a:t>
            </a:r>
            <a:endParaRPr lang="en-US" sz="1250" dirty="0"/>
          </a:p>
        </p:txBody>
      </p:sp>
      <p:sp>
        <p:nvSpPr>
          <p:cNvPr id="25" name="R4_sb406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R4_sl407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asked her what she was doing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after work. She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told him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 was private!</a:t>
            </a:r>
            <a:endParaRPr lang="en-US" sz="10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What did he ask? · What did Sara tell him?</a:t>
            </a:r>
            <a:endParaRPr lang="en-US" sz="1000" dirty="0"/>
          </a:p>
        </p:txBody>
      </p:sp>
      <p:sp>
        <p:nvSpPr>
          <p:cNvPr id="27" name="R5_sb408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R5_sl409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home the jeans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didn't fit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She went back with the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receipt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for a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refund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Did the jeans fit? · What did she take back? · What did she want?</a:t>
            </a:r>
            <a:endParaRPr lang="en-US" sz="1000" dirty="0"/>
          </a:p>
        </p:txBody>
      </p:sp>
      <p:sp>
        <p:nvSpPr>
          <p:cNvPr id="29" name="R6_sb410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R6_sl411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assistant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asked her if she was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free on Friday… Sara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no – again!</a:t>
            </a:r>
            <a:endParaRPr lang="en-US" sz="95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What did he ask her? · And you – what did a shop assistant last ask you?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41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14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Report it!</a:t>
            </a:r>
            <a:endParaRPr lang="en-US" sz="2500" dirty="0"/>
          </a:p>
        </p:txBody>
      </p:sp>
      <p:pic>
        <p:nvPicPr>
          <p:cNvPr id="6" name="brP_41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416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your partner. Then report to a new partner!</a:t>
            </a:r>
            <a:endParaRPr lang="en-US" sz="1250" dirty="0"/>
          </a:p>
        </p:txBody>
      </p:sp>
      <p:sp>
        <p:nvSpPr>
          <p:cNvPr id="8" name="insIT_41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Chiedi al compagno. Poi riferisci a un altro!</a:t>
            </a:r>
            <a:endParaRPr lang="en-US" sz="950" dirty="0"/>
          </a:p>
        </p:txBody>
      </p:sp>
      <p:sp>
        <p:nvSpPr>
          <p:cNvPr id="9" name="cmd_41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419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9 min   👥 pairs</a:t>
            </a:r>
            <a:endParaRPr lang="en-US" sz="950" dirty="0"/>
          </a:p>
        </p:txBody>
      </p:sp>
      <p:sp>
        <p:nvSpPr>
          <p:cNvPr id="11" name="tag_420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 game</a:t>
            </a:r>
            <a:endParaRPr lang="en-US" sz="700" dirty="0"/>
          </a:p>
        </p:txBody>
      </p:sp>
      <p:pic>
        <p:nvPicPr>
          <p:cNvPr id="12" name="logo_42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2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Speaking game · reported speech   ·   📖 SB p.81 · 3b questionnaire</a:t>
            </a:r>
            <a:endParaRPr lang="en-US" sz="800" dirty="0"/>
          </a:p>
        </p:txBody>
      </p:sp>
      <p:sp>
        <p:nvSpPr>
          <p:cNvPr id="14" name="cd_423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2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42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426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your partner 3 questions.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3 domande al compagno.</a:t>
            </a:r>
            <a:endParaRPr lang="en-US" sz="9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partners. Report: "Luca asked me if… I told him…"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Cambia compagno. Riferisci: "Luca mi ha chiesto se…"</a:t>
            </a:r>
            <a:endParaRPr lang="en-US" sz="9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reported sentence = 1 point.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Frase corretta = 1 punto.</a:t>
            </a:r>
            <a:endParaRPr lang="en-US" sz="900" dirty="0"/>
          </a:p>
        </p:txBody>
      </p:sp>
      <p:sp>
        <p:nvSpPr>
          <p:cNvPr id="18" name="st_427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9" name="bd_428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gq_429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usually buy clothes?</a:t>
            </a:r>
            <a:endParaRPr lang="en-US" sz="1100" dirty="0"/>
          </a:p>
        </p:txBody>
      </p:sp>
      <p:sp>
        <p:nvSpPr>
          <p:cNvPr id="21" name="R1_chip430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asked me where I usually bought clothes.</a:t>
            </a:r>
            <a:endParaRPr lang="en-US" sz="1100" dirty="0"/>
          </a:p>
        </p:txBody>
      </p:sp>
      <p:sp>
        <p:nvSpPr>
          <p:cNvPr id="22" name="bd_431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gq_432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enjoy shopping?</a:t>
            </a:r>
            <a:endParaRPr lang="en-US" sz="1100" dirty="0"/>
          </a:p>
        </p:txBody>
      </p:sp>
      <p:sp>
        <p:nvSpPr>
          <p:cNvPr id="24" name="R2_chip433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asked me if I enjoyed shopping.</a:t>
            </a:r>
            <a:endParaRPr lang="en-US" sz="1100" dirty="0"/>
          </a:p>
        </p:txBody>
      </p:sp>
      <p:sp>
        <p:nvSpPr>
          <p:cNvPr id="25" name="bd_434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gq_435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your favourite shop?</a:t>
            </a:r>
            <a:endParaRPr lang="en-US" sz="1100" dirty="0"/>
          </a:p>
        </p:txBody>
      </p:sp>
      <p:sp>
        <p:nvSpPr>
          <p:cNvPr id="27" name="R3_chip436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asked me what my favourite shop was.</a:t>
            </a:r>
            <a:endParaRPr lang="en-US" sz="1100" dirty="0"/>
          </a:p>
        </p:txBody>
      </p:sp>
      <p:sp>
        <p:nvSpPr>
          <p:cNvPr id="28" name="bd_437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gq_438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returned something?</a:t>
            </a:r>
            <a:endParaRPr lang="en-US" sz="1100" dirty="0"/>
          </a:p>
        </p:txBody>
      </p:sp>
      <p:sp>
        <p:nvSpPr>
          <p:cNvPr id="30" name="R4_chip439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asked me if I had ever returned something.</a:t>
            </a:r>
            <a:endParaRPr lang="en-US" sz="1100" dirty="0"/>
          </a:p>
        </p:txBody>
      </p:sp>
      <p:sp>
        <p:nvSpPr>
          <p:cNvPr id="31" name="bd_440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gq_441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prefer shopping online or in shops?</a:t>
            </a:r>
            <a:endParaRPr lang="en-US" sz="1100" dirty="0"/>
          </a:p>
        </p:txBody>
      </p:sp>
      <p:sp>
        <p:nvSpPr>
          <p:cNvPr id="33" name="R5_chip442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asked me if I preferred shopping online or in shops.</a:t>
            </a:r>
            <a:endParaRPr lang="en-US" sz="1100" dirty="0"/>
          </a:p>
        </p:txBody>
      </p:sp>
      <p:sp>
        <p:nvSpPr>
          <p:cNvPr id="34" name="bd_443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gq_444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you buy last week?</a:t>
            </a:r>
            <a:endParaRPr lang="en-US" sz="1100" dirty="0"/>
          </a:p>
        </p:txBody>
      </p:sp>
      <p:sp>
        <p:nvSpPr>
          <p:cNvPr id="36" name="R6_chip445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asked me what I had bought the week before.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4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4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48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4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450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45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meta_452"/>
          <p:cNvSpPr/>
          <p:nvPr/>
        </p:nvSpPr>
        <p:spPr>
          <a:xfrm>
            <a:off x="6510528" y="18288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0" name="tag_453"/>
          <p:cNvSpPr/>
          <p:nvPr/>
        </p:nvSpPr>
        <p:spPr>
          <a:xfrm>
            <a:off x="6510528" y="420624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850" dirty="0"/>
          </a:p>
        </p:txBody>
      </p:sp>
      <p:pic>
        <p:nvPicPr>
          <p:cNvPr id="11" name="logo_45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45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Exit · what can you remember?</a:t>
            </a:r>
            <a:endParaRPr lang="en-US" sz="800" dirty="0"/>
          </a:p>
        </p:txBody>
      </p:sp>
      <p:sp>
        <p:nvSpPr>
          <p:cNvPr id="13" name="bd_456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457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shopping words (receipt…)</a:t>
            </a:r>
            <a:endParaRPr lang="en-US" sz="1400" dirty="0"/>
          </a:p>
        </p:txBody>
      </p:sp>
      <p:sp>
        <p:nvSpPr>
          <p:cNvPr id="15" name="bd_458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459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things your partner told you – reported!</a:t>
            </a:r>
            <a:endParaRPr lang="en-US" sz="1400" dirty="0"/>
          </a:p>
        </p:txBody>
      </p:sp>
      <p:sp>
        <p:nvSpPr>
          <p:cNvPr id="17" name="bd_460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461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rule: how do reported questions change?</a:t>
            </a:r>
            <a:endParaRPr lang="en-US" sz="1400" dirty="0"/>
          </a:p>
        </p:txBody>
      </p:sp>
      <p:sp>
        <p:nvSpPr>
          <p:cNvPr id="19" name="cd_462"/>
          <p:cNvSpPr/>
          <p:nvPr/>
        </p:nvSpPr>
        <p:spPr>
          <a:xfrm>
            <a:off x="5669280" y="14173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463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464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465"/>
          <p:cNvSpPr/>
          <p:nvPr/>
        </p:nvSpPr>
        <p:spPr>
          <a:xfrm>
            <a:off x="6236208" y="1892808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8B: 1a, 1b, 1c, 2a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8B: a 5–7, b 5–7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Homework sheet in the LLS app</a:t>
            </a:r>
            <a:endParaRPr lang="en-US" sz="1150" dirty="0"/>
          </a:p>
        </p:txBody>
      </p:sp>
      <p:sp>
        <p:nvSpPr>
          <p:cNvPr id="23" name="st_466"/>
          <p:cNvSpPr/>
          <p:nvPr/>
        </p:nvSpPr>
        <p:spPr>
          <a:xfrm rot="-180000">
            <a:off x="5806440" y="3931920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8B part 2 · Going the extra mile · complaining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6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69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7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71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7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47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474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475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Reflection</a:t>
            </a:r>
            <a:endParaRPr lang="en-US" sz="850" dirty="0"/>
          </a:p>
        </p:txBody>
      </p:sp>
      <p:pic>
        <p:nvPicPr>
          <p:cNvPr id="12" name="logo_47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7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8B-1 · Review · what did you do today?</a:t>
            </a:r>
            <a:endParaRPr lang="en-US" sz="800" dirty="0"/>
          </a:p>
        </p:txBody>
      </p:sp>
      <p:sp>
        <p:nvSpPr>
          <p:cNvPr id="14" name="cd_478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479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16" name="tt_480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about a VERY helpful shop assistant</a:t>
            </a:r>
            <a:endParaRPr lang="en-US" sz="1350" dirty="0"/>
          </a:p>
        </p:txBody>
      </p:sp>
      <p:sp>
        <p:nvSpPr>
          <p:cNvPr id="17" name="R1_tk481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482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48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0" name="tt_484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Reported what people said and asked</a:t>
            </a:r>
            <a:endParaRPr lang="en-US" sz="1350" dirty="0"/>
          </a:p>
        </p:txBody>
      </p:sp>
      <p:sp>
        <p:nvSpPr>
          <p:cNvPr id="21" name="R2_tk485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486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487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24" name="tt_488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shopping words: receipt, refund, bargain…</a:t>
            </a:r>
            <a:endParaRPr lang="en-US" sz="1350" dirty="0"/>
          </a:p>
        </p:txBody>
      </p:sp>
      <p:sp>
        <p:nvSpPr>
          <p:cNvPr id="25" name="R3_tk489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cd_490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te_491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8" name="tt_492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29" name="R4_tk493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cd_494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te_495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2" name="tt_496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your shopping habits</a:t>
            </a:r>
            <a:endParaRPr lang="en-US" sz="1350" dirty="0"/>
          </a:p>
        </p:txBody>
      </p:sp>
      <p:sp>
        <p:nvSpPr>
          <p:cNvPr id="33" name="R5_tk497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st_498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8B-1 Have a nice day!</dc:title>
  <dc:subject>PptxGenJS Presentation</dc:subject>
  <dc:creator>PptxGenJS</dc:creator>
  <cp:lastModifiedBy>PptxGenJS</cp:lastModifiedBy>
  <cp:revision>1</cp:revision>
  <dcterms:created xsi:type="dcterms:W3CDTF">2026-10-15T08:40:38Z</dcterms:created>
  <dcterms:modified xsi:type="dcterms:W3CDTF">2026-10-15T08:40:38Z</dcterms:modified>
</cp:coreProperties>
</file>