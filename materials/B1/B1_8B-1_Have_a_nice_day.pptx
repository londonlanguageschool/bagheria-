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Show the photo. Act out an over-friendly shop assistant: 'Hello! Do you need any help? Are you going anywhere nice?' Ask the THINK question; take 3–4 answers. Click: the example. Read 'Today you're going to…'.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(3 min)
REVISION (2 min). Read the examples. Ask 2 students: 'Would you like to be on Dragons' Den? What product would you present?' Then the warmer game uses this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Look back · 8A-2 Dragons' Den (1 min)
LOOK BACK (1 min) before the warmer. Students read the 6 lines silently (the summary of 8A-2: the reading and the Joe and Jake listening). Then hide the slide and play 'Answers first!' – every answer in the game is in these 6 lines. If the class didn't finish 8A-2, use this slide to fill the gap (2 minutes: read and ask 'Would you invest?').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Warmer · last lesson (4 min)
RETRIEVAL WARMER (4 min). Two teams, 30 seconds per answer. Click to show a model question; accept any correct question. Facts (TG 8A): Slappie = invested, successful · Tingatang = invested, failure · Tangle Teezer = not invested, very successful · the car came at 5.30 a.m.; Peter offered them a job; they never regretted saying no. Warms up question forms for today's reported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Reading · lead-in (3 min)
LEAD-IN (3 min). Pairs decide C or SA; click once per line. Answers (TG): the book's 10 phrases – here 8 of them. Teach changing rooms (= fitting rooms). Quick question: in Bagheria, do shop assistants usually say 'Can I help you?' or leave you alone?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Reading · When 'happy to help' becomes a problem (6 min)
READING (5 min). The slide is a short adapted version – students can read the full article on p.80. 1b: Did the second assistant help? (TG: No – he talked too much and kept asking questions.) 1c: underline his questions – which are NOT appropriate? (TG: seven different questions, one repeated; many people think only the first is appropriate.) 'Are you going anywhere nice?' – because the shop is in a train station. 1d: are the assistants in your shops helpful or unhelpful?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Grammar · noticing (5 min)
NOTICING (5 min). Pairs rebuild the direct speech BEFORE seeing the rule. Click once per line (TG key). Then ask: What happens to the verb when we report? (goes back: work → worked, am having → was having). And to questions? (no do, normal word order: where I worked; yes/no → if).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Grammar · reported speech (5 min)
RULE (5 min). Elicit each column before clicking. Play 8.13/8.14 if available (listen and repeat). TG notes: tenses move back; mustn't stays the same; 'that' optional; tell needs a person; questions: no auxiliary, subject + verb, if/whether for yes/no. Typical mistakes: He said me… · She asked him what was his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Grammar · practice (6 min)
PRACTICE (6 min). Alone, then compare. Click once per answer (TG key). Read full sentences aloud. Homework: Grammar Bank a 5–7, b 5–7.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Grammar · oral practice (4 min)
ORAL PRACTICE (4 min). If 8.15 isn't available, READ the questions yourself; the class reports chorally, then individuals. Click once per item (audio script). Reported answers (script): she lived in the city centre · he was going to the cinema · she was going out · she'd bought it online · he'd seen it twice · the changing rooms were over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Vocabulary · shopping (5 min)
VOCABULARY (5 min). Elicit first: pairs explain each pair, then click once per line (TG). False friends for Italians: library ≠ libreria (= bookshop!), discount, fit vs suit.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Vocabulary · in Italian (2 min)
CONSOLIDATION (2 min). Class says the Italian, then click once per word to show its Italian.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Speaking · class story (TPRS) (4 min)
TPRS CLASS STORY (4 min) – after the rule, the practice and the shopping words, and just before 'Report it!': students hear reported statements and questions (asked her if… · asked her where she lived · said she was · told him) together with today's shopping words (try on, fit, receipt, refund) many times before they have to produce them in the game. Click once per line. For each line: 1) say it, 2) ask the questions round the class (yes/no → either/or → who/what), 3) let the CLASS change details: 'Did she try on jeans? No? What did she try on?' – accept their idea and use it in later lines. Students answer with one word or a short phrase – that's fine, but push for a reported answer where it's easy ('What did he ask her?' → 'He asked her where she lived.'). Finish: 'What happens next?' – one or two ideas, then play 'Report it!'. Watch for ✗ said me · ✗ asked her where did she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Speaking game · reported speech (9 min)
FREER PRACTICE + GAME (8 min). Model first: a student asks YOU two questions, then report: 'Luca asked me if I liked shopping. I told him I hated it!' Pairs ask 3 questions each (3 min), change partners and report (3 min). Click to show the model reported question. Listener gives a point for each correct reported sentence (tense back, said/told, question word order). Monitor for 'said me', 'asked me where did you buy', missing 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Exit · what can you remember? (2 min)
RETRIEVAL EXIT (2 min). Books closed. Set homework.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B1 · SB pp.80–81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8B-1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Have a nice day!</a:t>
            </a:r>
            <a:endParaRPr lang="en-US" sz="21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Shopping and reported speech</a:t>
            </a:r>
            <a:endParaRPr lang="en-US" sz="12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24328"/>
            <a:ext cx="3547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👀  read about a VERY helpful shop assistant</a:t>
            </a:r>
            <a:endParaRPr lang="en-US" sz="95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✏️  report what people said and asked</a:t>
            </a:r>
            <a:endParaRPr lang="en-US" sz="95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🛍️  learn shopping words: receipt, refund, bargain…</a:t>
            </a:r>
            <a:endParaRPr lang="en-US" sz="95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📖  listen to a class story and answer questions</a:t>
            </a:r>
            <a:endParaRPr lang="en-US" sz="95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 talk about your shopping habits</a:t>
            </a:r>
            <a:endParaRPr lang="en-US" sz="95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19050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Not really – I prefer to look in peace! I only ask if I need help.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2a1_waste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 you like it when shop assistants talk to you?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685032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we do? Read the examples.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Cosa abbiamo fatto? Leggi gli esempi.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24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🙋 whole class</a:t>
            </a:r>
            <a:endParaRPr lang="en-US" sz="950" dirty="0"/>
          </a:p>
        </p:txBody>
      </p:sp>
      <p:sp>
        <p:nvSpPr>
          <p:cNvPr id="11" name="tag_25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850" dirty="0"/>
          </a:p>
        </p:txBody>
      </p:sp>
      <p:pic>
        <p:nvPicPr>
          <p:cNvPr id="12" name="logo_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Revision · last lesson</a:t>
            </a:r>
            <a:endParaRPr lang="en-US" sz="800" dirty="0"/>
          </a:p>
        </p:txBody>
      </p:sp>
      <p:sp>
        <p:nvSpPr>
          <p:cNvPr id="14" name="pf_28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29" descr="/home/claude/lls-course/v2/cache/2a1_afford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6" name="cd_30"/>
          <p:cNvSpPr/>
          <p:nvPr/>
        </p:nvSpPr>
        <p:spPr>
          <a:xfrm>
            <a:off x="320040" y="3383280"/>
            <a:ext cx="2743200" cy="1325880"/>
          </a:xfrm>
          <a:prstGeom prst="roundRect">
            <a:avLst>
              <a:gd name="adj" fmla="val 965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1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8" name="ih_32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9" name="il_33"/>
          <p:cNvSpPr/>
          <p:nvPr/>
        </p:nvSpPr>
        <p:spPr>
          <a:xfrm>
            <a:off x="886968" y="3858768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8A: The right job for you</a:t>
            </a:r>
            <a:endParaRPr lang="en-US" sz="11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Dragons' Den · gerunds and infinitives</a:t>
            </a:r>
            <a:endParaRPr lang="en-US" sz="1100" dirty="0"/>
          </a:p>
        </p:txBody>
      </p:sp>
      <p:sp>
        <p:nvSpPr>
          <p:cNvPr id="20" name="cd_34"/>
          <p:cNvSpPr/>
          <p:nvPr/>
        </p:nvSpPr>
        <p:spPr>
          <a:xfrm>
            <a:off x="324612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h_35"/>
          <p:cNvSpPr/>
          <p:nvPr/>
        </p:nvSpPr>
        <p:spPr>
          <a:xfrm>
            <a:off x="335584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Dragons' Den</a:t>
            </a:r>
            <a:endParaRPr lang="en-US" sz="1200" dirty="0"/>
          </a:p>
        </p:txBody>
      </p:sp>
      <p:sp>
        <p:nvSpPr>
          <p:cNvPr id="22" name="rl_36"/>
          <p:cNvSpPr/>
          <p:nvPr/>
        </p:nvSpPr>
        <p:spPr>
          <a:xfrm>
            <a:off x="338328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Entrepreneurs present a product to 'Dragons'.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'I'm out.' = I won't invest.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Slappie watches = success · Tangle Teezer = success without them!</a:t>
            </a:r>
            <a:endParaRPr lang="en-US" sz="1150" dirty="0"/>
          </a:p>
        </p:txBody>
      </p:sp>
      <p:sp>
        <p:nvSpPr>
          <p:cNvPr id="23" name="cd_37"/>
          <p:cNvSpPr/>
          <p:nvPr/>
        </p:nvSpPr>
        <p:spPr>
          <a:xfrm>
            <a:off x="612648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rh_38"/>
          <p:cNvSpPr/>
          <p:nvPr/>
        </p:nvSpPr>
        <p:spPr>
          <a:xfrm>
            <a:off x="623620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Gerund or infinitive?</a:t>
            </a:r>
            <a:endParaRPr lang="en-US" sz="1200" dirty="0"/>
          </a:p>
        </p:txBody>
      </p:sp>
      <p:sp>
        <p:nvSpPr>
          <p:cNvPr id="25" name="rl_39"/>
          <p:cNvSpPr/>
          <p:nvPr/>
        </p:nvSpPr>
        <p:spPr>
          <a:xfrm>
            <a:off x="626364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enjoy working with people.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I'd like to start my own business.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hard to find a good job.</a:t>
            </a:r>
            <a:endParaRPr lang="en-US" sz="1150" dirty="0"/>
          </a:p>
        </p:txBody>
      </p:sp>
      <p:sp>
        <p:nvSpPr>
          <p:cNvPr id="26" name="kw_40"/>
          <p:cNvSpPr/>
          <p:nvPr/>
        </p:nvSpPr>
        <p:spPr>
          <a:xfrm>
            <a:off x="324612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KEY WORDS</a:t>
            </a:r>
            <a:endParaRPr lang="en-US" sz="1100" dirty="0"/>
          </a:p>
        </p:txBody>
      </p:sp>
      <p:sp>
        <p:nvSpPr>
          <p:cNvPr id="27" name="w_41"/>
          <p:cNvSpPr/>
          <p:nvPr/>
        </p:nvSpPr>
        <p:spPr>
          <a:xfrm>
            <a:off x="3246120" y="4178808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invest</a:t>
            </a:r>
            <a:endParaRPr lang="en-US" sz="1050" dirty="0"/>
          </a:p>
        </p:txBody>
      </p:sp>
      <p:sp>
        <p:nvSpPr>
          <p:cNvPr id="28" name="w_42"/>
          <p:cNvSpPr/>
          <p:nvPr/>
        </p:nvSpPr>
        <p:spPr>
          <a:xfrm>
            <a:off x="4105656" y="4178808"/>
            <a:ext cx="708660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pitch</a:t>
            </a:r>
            <a:endParaRPr lang="en-US" sz="1050" dirty="0"/>
          </a:p>
        </p:txBody>
      </p:sp>
      <p:sp>
        <p:nvSpPr>
          <p:cNvPr id="29" name="w_43"/>
          <p:cNvSpPr/>
          <p:nvPr/>
        </p:nvSpPr>
        <p:spPr>
          <a:xfrm>
            <a:off x="4887468" y="4178808"/>
            <a:ext cx="864108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product</a:t>
            </a:r>
            <a:endParaRPr lang="en-US" sz="1050" dirty="0"/>
          </a:p>
        </p:txBody>
      </p:sp>
      <p:sp>
        <p:nvSpPr>
          <p:cNvPr id="30" name="w_44"/>
          <p:cNvSpPr/>
          <p:nvPr/>
        </p:nvSpPr>
        <p:spPr>
          <a:xfrm>
            <a:off x="5824728" y="4178808"/>
            <a:ext cx="1252728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entrepreneur</a:t>
            </a:r>
            <a:endParaRPr lang="en-US" sz="1050" dirty="0"/>
          </a:p>
        </p:txBody>
      </p:sp>
      <p:sp>
        <p:nvSpPr>
          <p:cNvPr id="31" name="w_45"/>
          <p:cNvSpPr/>
          <p:nvPr/>
        </p:nvSpPr>
        <p:spPr>
          <a:xfrm>
            <a:off x="7150608" y="4178808"/>
            <a:ext cx="864108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out</a:t>
            </a:r>
            <a:endParaRPr lang="en-US" sz="1050" dirty="0"/>
          </a:p>
        </p:txBody>
      </p:sp>
      <p:sp>
        <p:nvSpPr>
          <p:cNvPr id="32" name="w_46"/>
          <p:cNvSpPr/>
          <p:nvPr/>
        </p:nvSpPr>
        <p:spPr>
          <a:xfrm>
            <a:off x="3246120" y="4544568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regret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4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49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the Den?</a:t>
            </a:r>
            <a:endParaRPr lang="en-US" sz="2250" dirty="0"/>
          </a:p>
        </p:txBody>
      </p:sp>
      <p:pic>
        <p:nvPicPr>
          <p:cNvPr id="6" name="brP_5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161788" cy="402336"/>
          </a:xfrm>
          <a:prstGeom prst="rect">
            <a:avLst/>
          </a:prstGeom>
        </p:spPr>
      </p:pic>
      <p:sp>
        <p:nvSpPr>
          <p:cNvPr id="7" name="ins_51"/>
          <p:cNvSpPr/>
          <p:nvPr/>
        </p:nvSpPr>
        <p:spPr>
          <a:xfrm>
            <a:off x="1353312" y="731520"/>
            <a:ext cx="49057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Read: last lesson in 6 lines. Then close your eyes!</a:t>
            </a:r>
            <a:endParaRPr lang="en-US" sz="1250" dirty="0"/>
          </a:p>
        </p:txBody>
      </p:sp>
      <p:sp>
        <p:nvSpPr>
          <p:cNvPr id="8" name="insIT_5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Leggi: la lezione scorsa in 6 righe. Poi chiudi gli occhi!</a:t>
            </a:r>
            <a:endParaRPr lang="en-US" sz="950" dirty="0"/>
          </a:p>
        </p:txBody>
      </p:sp>
      <p:sp>
        <p:nvSpPr>
          <p:cNvPr id="9" name="cmd_5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meta_54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👤 alone</a:t>
            </a:r>
            <a:endParaRPr lang="en-US" sz="950" dirty="0"/>
          </a:p>
        </p:txBody>
      </p:sp>
      <p:pic>
        <p:nvPicPr>
          <p:cNvPr id="11" name="logo_5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5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Look back · 8A-2 Dragons' Den</a:t>
            </a:r>
            <a:endParaRPr lang="en-US" sz="800" dirty="0"/>
          </a:p>
        </p:txBody>
      </p:sp>
      <p:sp>
        <p:nvSpPr>
          <p:cNvPr id="13" name="cd_57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sh_58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🐉 Last lesson: Dragons' Den</a:t>
            </a:r>
            <a:endParaRPr lang="en-US" sz="1700" dirty="0"/>
          </a:p>
        </p:txBody>
      </p:sp>
      <p:sp>
        <p:nvSpPr>
          <p:cNvPr id="15" name="ln_59"/>
          <p:cNvSpPr/>
          <p:nvPr/>
        </p:nvSpPr>
        <p:spPr>
          <a:xfrm>
            <a:off x="548640" y="192024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Dragons' Den is a TV show: people have 3 minutes to pitch a product to five rich investors, 'the Dragons'.</a:t>
            </a:r>
            <a:endParaRPr lang="en-US" sz="1200" dirty="0"/>
          </a:p>
        </p:txBody>
      </p:sp>
      <p:sp>
        <p:nvSpPr>
          <p:cNvPr id="16" name="ln_60"/>
          <p:cNvSpPr/>
          <p:nvPr/>
        </p:nvSpPr>
        <p:spPr>
          <a:xfrm>
            <a:off x="548640" y="238506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a Dragon doesn't want to invest, they say: "I'm out."</a:t>
            </a:r>
            <a:endParaRPr lang="en-US" sz="1200" dirty="0"/>
          </a:p>
        </p:txBody>
      </p:sp>
      <p:sp>
        <p:nvSpPr>
          <p:cNvPr id="17" name="ln_61"/>
          <p:cNvSpPr/>
          <p:nvPr/>
        </p:nvSpPr>
        <p:spPr>
          <a:xfrm>
            <a:off x="548640" y="284988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Slappie watches (cheap, colourful straps): the Dragons invested – a success.</a:t>
            </a:r>
            <a:endParaRPr lang="en-US" sz="1200" dirty="0"/>
          </a:p>
        </p:txBody>
      </p:sp>
      <p:sp>
        <p:nvSpPr>
          <p:cNvPr id="18" name="ln_62"/>
          <p:cNvSpPr/>
          <p:nvPr/>
        </p:nvSpPr>
        <p:spPr>
          <a:xfrm>
            <a:off x="548640" y="331470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Tangle Teezer (hairbrushes): the Dragons didn't invest – but it was a BIG success!</a:t>
            </a:r>
            <a:endParaRPr lang="en-US" sz="1200" dirty="0"/>
          </a:p>
        </p:txBody>
      </p:sp>
      <p:sp>
        <p:nvSpPr>
          <p:cNvPr id="19" name="ln_63"/>
          <p:cNvSpPr/>
          <p:nvPr/>
        </p:nvSpPr>
        <p:spPr>
          <a:xfrm>
            <a:off x="548640" y="377952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Joe and Jake (Frame Again): a car picked them up at half past five in the morning.</a:t>
            </a:r>
            <a:endParaRPr lang="en-US" sz="1200" dirty="0"/>
          </a:p>
        </p:txBody>
      </p:sp>
      <p:sp>
        <p:nvSpPr>
          <p:cNvPr id="20" name="ln_64"/>
          <p:cNvSpPr/>
          <p:nvPr/>
        </p:nvSpPr>
        <p:spPr>
          <a:xfrm>
            <a:off x="548640" y="424434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Peter didn't invest – he offered them a job! They said no and never regretted it: "No, not for a second."</a:t>
            </a:r>
            <a:endParaRPr lang="en-US" sz="1200" dirty="0"/>
          </a:p>
        </p:txBody>
      </p:sp>
      <p:sp>
        <p:nvSpPr>
          <p:cNvPr id="21" name="pf_65"/>
          <p:cNvSpPr/>
          <p:nvPr/>
        </p:nvSpPr>
        <p:spPr>
          <a:xfrm rot="120000">
            <a:off x="6309360" y="1417320"/>
            <a:ext cx="2560320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2" name="ph_66" descr="/home/claude/lls-course/v2/cache/8a2_investors_jpg_594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1463040"/>
            <a:ext cx="2468880" cy="1417320"/>
          </a:xfrm>
          <a:prstGeom prst="rect">
            <a:avLst/>
          </a:prstGeom>
        </p:spPr>
      </p:pic>
      <p:sp>
        <p:nvSpPr>
          <p:cNvPr id="23" name="cd_67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ii_68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5" name="ih_69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26" name="il_70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pitch = presentare un'idea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invest = investire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7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7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73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Answers first!</a:t>
            </a:r>
            <a:endParaRPr lang="en-US" sz="2500" dirty="0"/>
          </a:p>
        </p:txBody>
      </p:sp>
      <p:pic>
        <p:nvPicPr>
          <p:cNvPr id="6" name="brP_7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75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answer. Write the question!</a:t>
            </a:r>
            <a:endParaRPr lang="en-US" sz="1250" dirty="0"/>
          </a:p>
        </p:txBody>
      </p:sp>
      <p:sp>
        <p:nvSpPr>
          <p:cNvPr id="8" name="insIT_7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la risposta. Scrivi la domanda!</a:t>
            </a:r>
            <a:endParaRPr lang="en-US" sz="950" dirty="0"/>
          </a:p>
        </p:txBody>
      </p:sp>
      <p:sp>
        <p:nvSpPr>
          <p:cNvPr id="9" name="cmd_7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78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🏆 teams</a:t>
            </a:r>
            <a:endParaRPr lang="en-US" sz="950" dirty="0"/>
          </a:p>
        </p:txBody>
      </p:sp>
      <p:sp>
        <p:nvSpPr>
          <p:cNvPr id="11" name="tag_79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2" name="logo_8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8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Warmer · last lesson   ·   📖 Recycles 8A part 2 · audio 8.9–8.11</a:t>
            </a:r>
            <a:endParaRPr lang="en-US" sz="800" dirty="0"/>
          </a:p>
        </p:txBody>
      </p:sp>
      <p:sp>
        <p:nvSpPr>
          <p:cNvPr id="14" name="cd_82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8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8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85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ANSWER.</a:t>
            </a:r>
            <a:endParaRPr lang="en-US" sz="11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la RISPOSTA.</a:t>
            </a:r>
            <a:endParaRPr lang="en-US" sz="11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Teams write the QUESTION.</a:t>
            </a:r>
            <a:endParaRPr lang="en-US" sz="11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 squadre scrivono la DOMANDA.</a:t>
            </a:r>
            <a:endParaRPr lang="en-US" sz="11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Correct question = 1 point.</a:t>
            </a:r>
            <a:endParaRPr lang="en-US" sz="11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Domanda corretta = 1 punto.</a:t>
            </a:r>
            <a:endParaRPr lang="en-US" sz="1100" dirty="0"/>
          </a:p>
        </p:txBody>
      </p:sp>
      <p:sp>
        <p:nvSpPr>
          <p:cNvPr id="18" name="st_86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bd_87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88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"I'm out."</a:t>
            </a:r>
            <a:endParaRPr lang="en-US" sz="1100" dirty="0"/>
          </a:p>
        </p:txBody>
      </p:sp>
      <p:sp>
        <p:nvSpPr>
          <p:cNvPr id="21" name="R1_chip89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What do the Dragons say when they don't want to invest?</a:t>
            </a:r>
            <a:endParaRPr lang="en-US" sz="1050" dirty="0"/>
          </a:p>
        </p:txBody>
      </p:sp>
      <p:sp>
        <p:nvSpPr>
          <p:cNvPr id="22" name="bd_90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91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Slappie watches</a:t>
            </a:r>
            <a:endParaRPr lang="en-US" sz="1100" dirty="0"/>
          </a:p>
        </p:txBody>
      </p:sp>
      <p:sp>
        <p:nvSpPr>
          <p:cNvPr id="24" name="R2_chip92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Which product did they invest in (a success)?</a:t>
            </a:r>
            <a:endParaRPr lang="en-US" sz="1100" dirty="0"/>
          </a:p>
        </p:txBody>
      </p:sp>
      <p:sp>
        <p:nvSpPr>
          <p:cNvPr id="25" name="bd_93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94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Tangle Teezer</a:t>
            </a:r>
            <a:endParaRPr lang="en-US" sz="1100" dirty="0"/>
          </a:p>
        </p:txBody>
      </p:sp>
      <p:sp>
        <p:nvSpPr>
          <p:cNvPr id="27" name="R3_chip95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Which product did they NOT invest in – but was a success?</a:t>
            </a:r>
            <a:endParaRPr lang="en-US" sz="1100" dirty="0"/>
          </a:p>
        </p:txBody>
      </p:sp>
      <p:sp>
        <p:nvSpPr>
          <p:cNvPr id="28" name="bd_96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97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 half past five in the morning</a:t>
            </a:r>
            <a:endParaRPr lang="en-US" sz="1100" dirty="0"/>
          </a:p>
        </p:txBody>
      </p:sp>
      <p:sp>
        <p:nvSpPr>
          <p:cNvPr id="30" name="R4_chip98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What time did the car pick Joe and Jake up?</a:t>
            </a:r>
            <a:endParaRPr lang="en-US" sz="1100" dirty="0"/>
          </a:p>
        </p:txBody>
      </p:sp>
      <p:sp>
        <p:nvSpPr>
          <p:cNvPr id="31" name="bd_99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100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job</a:t>
            </a:r>
            <a:endParaRPr lang="en-US" sz="1100" dirty="0"/>
          </a:p>
        </p:txBody>
      </p:sp>
      <p:sp>
        <p:nvSpPr>
          <p:cNvPr id="33" name="R5_chip101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What did Peter offer them?</a:t>
            </a:r>
            <a:endParaRPr lang="en-US" sz="1100" dirty="0"/>
          </a:p>
        </p:txBody>
      </p:sp>
      <p:sp>
        <p:nvSpPr>
          <p:cNvPr id="34" name="bd_102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gq_103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"No, not for a second."</a:t>
            </a:r>
            <a:endParaRPr lang="en-US" sz="1100" dirty="0"/>
          </a:p>
        </p:txBody>
      </p:sp>
      <p:sp>
        <p:nvSpPr>
          <p:cNvPr id="36" name="R6_chip104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Have you ever regretted saying no?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0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0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618842" cy="621792"/>
          </a:xfrm>
          <a:prstGeom prst="rect">
            <a:avLst/>
          </a:prstGeom>
        </p:spPr>
      </p:pic>
      <p:sp>
        <p:nvSpPr>
          <p:cNvPr id="5" name="title_107"/>
          <p:cNvSpPr/>
          <p:nvPr/>
        </p:nvSpPr>
        <p:spPr>
          <a:xfrm>
            <a:off x="1261872" y="164592"/>
            <a:ext cx="23445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Who says it?</a:t>
            </a:r>
            <a:endParaRPr lang="en-US" sz="2500" dirty="0"/>
          </a:p>
        </p:txBody>
      </p:sp>
      <p:pic>
        <p:nvPicPr>
          <p:cNvPr id="6" name="brP_10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109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Customer (C) or shop assistant (SA)?</a:t>
            </a:r>
            <a:endParaRPr lang="en-US" sz="1250" dirty="0"/>
          </a:p>
        </p:txBody>
      </p:sp>
      <p:sp>
        <p:nvSpPr>
          <p:cNvPr id="8" name="insIT_11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Cliente (C) o commesso (SA)?</a:t>
            </a:r>
            <a:endParaRPr lang="en-US" sz="950" dirty="0"/>
          </a:p>
        </p:txBody>
      </p:sp>
      <p:sp>
        <p:nvSpPr>
          <p:cNvPr id="9" name="cmd_11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112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113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2" name="logo_11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1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Reading · lead-in   ·   📖 SB p.80 · 1a</a:t>
            </a:r>
            <a:endParaRPr lang="en-US" sz="800" dirty="0"/>
          </a:p>
        </p:txBody>
      </p:sp>
      <p:sp>
        <p:nvSpPr>
          <p:cNvPr id="14" name="cd_116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11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11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119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"Can I help you?" → SA</a:t>
            </a:r>
            <a:endParaRPr lang="en-US" sz="1050" dirty="0"/>
          </a:p>
        </p:txBody>
      </p:sp>
      <p:sp>
        <p:nvSpPr>
          <p:cNvPr id="18" name="pf_120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121" descr="/home/claude/lls-course/v2/cache/4a1_queue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122"/>
          <p:cNvSpPr/>
          <p:nvPr/>
        </p:nvSpPr>
        <p:spPr>
          <a:xfrm>
            <a:off x="3246120" y="14447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123"/>
          <p:cNvSpPr/>
          <p:nvPr/>
        </p:nvSpPr>
        <p:spPr>
          <a:xfrm>
            <a:off x="3630168" y="14173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need any help?</a:t>
            </a:r>
            <a:endParaRPr lang="en-US" sz="1150" dirty="0"/>
          </a:p>
        </p:txBody>
      </p:sp>
      <p:sp>
        <p:nvSpPr>
          <p:cNvPr id="22" name="R1_chip124"/>
          <p:cNvSpPr/>
          <p:nvPr/>
        </p:nvSpPr>
        <p:spPr>
          <a:xfrm>
            <a:off x="5806440" y="14173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00" dirty="0"/>
          </a:p>
        </p:txBody>
      </p:sp>
      <p:sp>
        <p:nvSpPr>
          <p:cNvPr id="23" name="bd_125"/>
          <p:cNvSpPr/>
          <p:nvPr/>
        </p:nvSpPr>
        <p:spPr>
          <a:xfrm>
            <a:off x="3246120" y="185623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126"/>
          <p:cNvSpPr/>
          <p:nvPr/>
        </p:nvSpPr>
        <p:spPr>
          <a:xfrm>
            <a:off x="3630168" y="18288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size are you?</a:t>
            </a:r>
            <a:endParaRPr lang="en-US" sz="1150" dirty="0"/>
          </a:p>
        </p:txBody>
      </p:sp>
      <p:sp>
        <p:nvSpPr>
          <p:cNvPr id="25" name="R2_chip127"/>
          <p:cNvSpPr/>
          <p:nvPr/>
        </p:nvSpPr>
        <p:spPr>
          <a:xfrm>
            <a:off x="5806440" y="18288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00" dirty="0"/>
          </a:p>
        </p:txBody>
      </p:sp>
      <p:sp>
        <p:nvSpPr>
          <p:cNvPr id="26" name="bd_128"/>
          <p:cNvSpPr/>
          <p:nvPr/>
        </p:nvSpPr>
        <p:spPr>
          <a:xfrm>
            <a:off x="3246120" y="22677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129"/>
          <p:cNvSpPr/>
          <p:nvPr/>
        </p:nvSpPr>
        <p:spPr>
          <a:xfrm>
            <a:off x="3630168" y="22402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have this in blue?</a:t>
            </a:r>
            <a:endParaRPr lang="en-US" sz="1100" dirty="0"/>
          </a:p>
        </p:txBody>
      </p:sp>
      <p:sp>
        <p:nvSpPr>
          <p:cNvPr id="28" name="R3_chip130"/>
          <p:cNvSpPr/>
          <p:nvPr/>
        </p:nvSpPr>
        <p:spPr>
          <a:xfrm>
            <a:off x="5806440" y="22402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endParaRPr lang="en-US" sz="1000" dirty="0"/>
          </a:p>
        </p:txBody>
      </p:sp>
      <p:sp>
        <p:nvSpPr>
          <p:cNvPr id="29" name="bd_131"/>
          <p:cNvSpPr/>
          <p:nvPr/>
        </p:nvSpPr>
        <p:spPr>
          <a:xfrm>
            <a:off x="3246120" y="267919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132"/>
          <p:cNvSpPr/>
          <p:nvPr/>
        </p:nvSpPr>
        <p:spPr>
          <a:xfrm>
            <a:off x="3630168" y="265176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a nice day!</a:t>
            </a:r>
            <a:endParaRPr lang="en-US" sz="1150" dirty="0"/>
          </a:p>
        </p:txBody>
      </p:sp>
      <p:sp>
        <p:nvSpPr>
          <p:cNvPr id="31" name="R4_chip133"/>
          <p:cNvSpPr/>
          <p:nvPr/>
        </p:nvSpPr>
        <p:spPr>
          <a:xfrm>
            <a:off x="5806440" y="265176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00" dirty="0"/>
          </a:p>
        </p:txBody>
      </p:sp>
      <p:sp>
        <p:nvSpPr>
          <p:cNvPr id="32" name="bd_134"/>
          <p:cNvSpPr/>
          <p:nvPr/>
        </p:nvSpPr>
        <p:spPr>
          <a:xfrm>
            <a:off x="3246120" y="30906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135"/>
          <p:cNvSpPr/>
          <p:nvPr/>
        </p:nvSpPr>
        <p:spPr>
          <a:xfrm>
            <a:off x="3630168" y="306324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No, thanks, I'm just looking.</a:t>
            </a:r>
            <a:endParaRPr lang="en-US" sz="1050" dirty="0"/>
          </a:p>
        </p:txBody>
      </p:sp>
      <p:sp>
        <p:nvSpPr>
          <p:cNvPr id="34" name="R5_chip136"/>
          <p:cNvSpPr/>
          <p:nvPr/>
        </p:nvSpPr>
        <p:spPr>
          <a:xfrm>
            <a:off x="5806440" y="306324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endParaRPr lang="en-US" sz="1000" dirty="0"/>
          </a:p>
        </p:txBody>
      </p:sp>
      <p:sp>
        <p:nvSpPr>
          <p:cNvPr id="35" name="bd_137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q_138"/>
          <p:cNvSpPr/>
          <p:nvPr/>
        </p:nvSpPr>
        <p:spPr>
          <a:xfrm>
            <a:off x="3630168" y="34747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I try these on?</a:t>
            </a:r>
            <a:endParaRPr lang="en-US" sz="1150" dirty="0"/>
          </a:p>
        </p:txBody>
      </p:sp>
      <p:sp>
        <p:nvSpPr>
          <p:cNvPr id="37" name="R6_chip139"/>
          <p:cNvSpPr/>
          <p:nvPr/>
        </p:nvSpPr>
        <p:spPr>
          <a:xfrm>
            <a:off x="5806440" y="34747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endParaRPr lang="en-US" sz="1000" dirty="0"/>
          </a:p>
        </p:txBody>
      </p:sp>
      <p:sp>
        <p:nvSpPr>
          <p:cNvPr id="38" name="bd_140"/>
          <p:cNvSpPr/>
          <p:nvPr/>
        </p:nvSpPr>
        <p:spPr>
          <a:xfrm>
            <a:off x="3246120" y="391363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9" name="q_141"/>
          <p:cNvSpPr/>
          <p:nvPr/>
        </p:nvSpPr>
        <p:spPr>
          <a:xfrm>
            <a:off x="3630168" y="38862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Shall I put your receipt in the bag?</a:t>
            </a:r>
            <a:endParaRPr lang="en-US" sz="1050" dirty="0"/>
          </a:p>
        </p:txBody>
      </p:sp>
      <p:sp>
        <p:nvSpPr>
          <p:cNvPr id="40" name="R7_chip142"/>
          <p:cNvSpPr/>
          <p:nvPr/>
        </p:nvSpPr>
        <p:spPr>
          <a:xfrm>
            <a:off x="5806440" y="38862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00" dirty="0"/>
          </a:p>
        </p:txBody>
      </p:sp>
      <p:sp>
        <p:nvSpPr>
          <p:cNvPr id="41" name="bd_143"/>
          <p:cNvSpPr/>
          <p:nvPr/>
        </p:nvSpPr>
        <p:spPr>
          <a:xfrm>
            <a:off x="3246120" y="432511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000" dirty="0"/>
          </a:p>
        </p:txBody>
      </p:sp>
      <p:sp>
        <p:nvSpPr>
          <p:cNvPr id="42" name="q_144"/>
          <p:cNvSpPr/>
          <p:nvPr/>
        </p:nvSpPr>
        <p:spPr>
          <a:xfrm>
            <a:off x="3630168" y="42976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changing rooms are over there.</a:t>
            </a:r>
            <a:endParaRPr lang="en-US" sz="1050" dirty="0"/>
          </a:p>
        </p:txBody>
      </p:sp>
      <p:sp>
        <p:nvSpPr>
          <p:cNvPr id="43" name="R8_chip145"/>
          <p:cNvSpPr/>
          <p:nvPr/>
        </p:nvSpPr>
        <p:spPr>
          <a:xfrm>
            <a:off x="5806440" y="42976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4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4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148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Too helpful? (adapted)</a:t>
            </a:r>
            <a:endParaRPr lang="en-US" sz="2500" dirty="0"/>
          </a:p>
        </p:txBody>
      </p:sp>
      <p:pic>
        <p:nvPicPr>
          <p:cNvPr id="6" name="brP_14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640580" cy="402336"/>
          </a:xfrm>
          <a:prstGeom prst="rect">
            <a:avLst/>
          </a:prstGeom>
        </p:spPr>
      </p:pic>
      <p:sp>
        <p:nvSpPr>
          <p:cNvPr id="7" name="ins_150"/>
          <p:cNvSpPr/>
          <p:nvPr/>
        </p:nvSpPr>
        <p:spPr>
          <a:xfrm>
            <a:off x="1353312" y="731520"/>
            <a:ext cx="43845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Did the second assistant help Jonathan?</a:t>
            </a:r>
            <a:endParaRPr lang="en-US" sz="1250" dirty="0"/>
          </a:p>
        </p:txBody>
      </p:sp>
      <p:sp>
        <p:nvSpPr>
          <p:cNvPr id="8" name="insIT_15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Leggi. Il secondo commesso ha aiutato Jonathan?</a:t>
            </a:r>
            <a:endParaRPr lang="en-US" sz="950" dirty="0"/>
          </a:p>
        </p:txBody>
      </p:sp>
      <p:sp>
        <p:nvSpPr>
          <p:cNvPr id="9" name="cmd_15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meta_153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👤 alone</a:t>
            </a:r>
            <a:endParaRPr lang="en-US" sz="950" dirty="0"/>
          </a:p>
        </p:txBody>
      </p:sp>
      <p:sp>
        <p:nvSpPr>
          <p:cNvPr id="11" name="tag_154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reading</a:t>
            </a:r>
            <a:endParaRPr lang="en-US" sz="850" dirty="0"/>
          </a:p>
        </p:txBody>
      </p:sp>
      <p:pic>
        <p:nvPicPr>
          <p:cNvPr id="12" name="logo_15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5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Reading · When 'happy to help' becomes a problem   ·   📖 SB p.80 · 1b, 1c (full article in the book)</a:t>
            </a:r>
            <a:endParaRPr lang="en-US" sz="800" dirty="0"/>
          </a:p>
        </p:txBody>
      </p:sp>
      <p:sp>
        <p:nvSpPr>
          <p:cNvPr id="14" name="cd_157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sh_158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'happy to help' becomes a problem</a:t>
            </a:r>
            <a:endParaRPr lang="en-US" sz="1700" dirty="0"/>
          </a:p>
        </p:txBody>
      </p:sp>
      <p:sp>
        <p:nvSpPr>
          <p:cNvPr id="16" name="ln_159"/>
          <p:cNvSpPr/>
          <p:nvPr/>
        </p:nvSpPr>
        <p:spPr>
          <a:xfrm>
            <a:off x="548640" y="192024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Jonathan goes into a shop at King's Cross station to buy a wallet.</a:t>
            </a:r>
            <a:endParaRPr lang="en-US" sz="1150" dirty="0"/>
          </a:p>
        </p:txBody>
      </p:sp>
      <p:sp>
        <p:nvSpPr>
          <p:cNvPr id="17" name="ln_160"/>
          <p:cNvSpPr/>
          <p:nvPr/>
        </p:nvSpPr>
        <p:spPr>
          <a:xfrm>
            <a:off x="548640" y="238506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Assistant 1: 'Do you need any help?'  Jonathan: 'I'm just looking, thanks.'</a:t>
            </a:r>
            <a:endParaRPr lang="en-US" sz="1150" dirty="0"/>
          </a:p>
        </p:txBody>
      </p:sp>
      <p:sp>
        <p:nvSpPr>
          <p:cNvPr id="18" name="ln_161"/>
          <p:cNvSpPr/>
          <p:nvPr/>
        </p:nvSpPr>
        <p:spPr>
          <a:xfrm>
            <a:off x="548640" y="284988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Then a second assistant arrives: 'Hello, do you need any help? … Are you going anywhere nice?'</a:t>
            </a:r>
            <a:endParaRPr lang="en-US" sz="1150" dirty="0"/>
          </a:p>
        </p:txBody>
      </p:sp>
      <p:sp>
        <p:nvSpPr>
          <p:cNvPr id="19" name="ln_162"/>
          <p:cNvSpPr/>
          <p:nvPr/>
        </p:nvSpPr>
        <p:spPr>
          <a:xfrm>
            <a:off x="548640" y="331470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'No. I work near here.' 'Where do you work?' … 'Do you like football?' … 'Are you going to watch the England match?'</a:t>
            </a:r>
            <a:endParaRPr lang="en-US" sz="1150" dirty="0"/>
          </a:p>
        </p:txBody>
      </p:sp>
      <p:sp>
        <p:nvSpPr>
          <p:cNvPr id="20" name="ln_163"/>
          <p:cNvSpPr/>
          <p:nvPr/>
        </p:nvSpPr>
        <p:spPr>
          <a:xfrm>
            <a:off x="548640" y="377952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… 'What are you doing after work?' … 'Are you doing anything for the rest of the day?'</a:t>
            </a:r>
            <a:endParaRPr lang="en-US" sz="1150" dirty="0"/>
          </a:p>
        </p:txBody>
      </p:sp>
      <p:sp>
        <p:nvSpPr>
          <p:cNvPr id="21" name="ln_164"/>
          <p:cNvSpPr/>
          <p:nvPr/>
        </p:nvSpPr>
        <p:spPr>
          <a:xfrm>
            <a:off x="548640" y="424434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Jonathan runs away – without a wallet. 'His never-ending questions lost him the sale.'</a:t>
            </a:r>
            <a:endParaRPr lang="en-US" sz="1150" dirty="0"/>
          </a:p>
        </p:txBody>
      </p:sp>
      <p:sp>
        <p:nvSpPr>
          <p:cNvPr id="22" name="pf_165"/>
          <p:cNvSpPr/>
          <p:nvPr/>
        </p:nvSpPr>
        <p:spPr>
          <a:xfrm rot="120000">
            <a:off x="6309360" y="1417320"/>
            <a:ext cx="2560320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3" name="ph_166" descr="/home/claude/lls-course/v2/cache/4a1_public_transport_jpg_594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1463040"/>
            <a:ext cx="2468880" cy="1417320"/>
          </a:xfrm>
          <a:prstGeom prst="rect">
            <a:avLst/>
          </a:prstGeom>
        </p:spPr>
      </p:pic>
      <p:sp>
        <p:nvSpPr>
          <p:cNvPr id="24" name="cd_167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ii_168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6" name="ih_169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27" name="il_170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appropriate = right for the situation</a:t>
            </a:r>
            <a:endParaRPr lang="en-US" sz="8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wallet = portafoglio</a:t>
            </a:r>
            <a:endParaRPr lang="en-US" sz="800" dirty="0"/>
          </a:p>
        </p:txBody>
      </p:sp>
    </p:spTree>
  </p:cSld>
  <p:clrMapOvr>
    <a:masterClrMapping/>
  </p:clrMapOvr>
  <p:transition spd="med">
    <p:push dir="l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17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820717" cy="621792"/>
          </a:xfrm>
          <a:prstGeom prst="rect">
            <a:avLst/>
          </a:prstGeom>
        </p:spPr>
      </p:pic>
      <p:sp>
        <p:nvSpPr>
          <p:cNvPr id="5" name="title_173"/>
          <p:cNvSpPr/>
          <p:nvPr/>
        </p:nvSpPr>
        <p:spPr>
          <a:xfrm>
            <a:off x="1261872" y="164592"/>
            <a:ext cx="454639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Rewind! What did they say?</a:t>
            </a:r>
            <a:endParaRPr lang="en-US" sz="2400" dirty="0"/>
          </a:p>
        </p:txBody>
      </p:sp>
      <p:pic>
        <p:nvPicPr>
          <p:cNvPr id="6" name="brP_17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250692" cy="402336"/>
          </a:xfrm>
          <a:prstGeom prst="rect">
            <a:avLst/>
          </a:prstGeom>
        </p:spPr>
      </p:pic>
      <p:sp>
        <p:nvSpPr>
          <p:cNvPr id="7" name="ins_175"/>
          <p:cNvSpPr/>
          <p:nvPr/>
        </p:nvSpPr>
        <p:spPr>
          <a:xfrm>
            <a:off x="1353312" y="731520"/>
            <a:ext cx="29946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the REAL words he said.</a:t>
            </a:r>
            <a:endParaRPr lang="en-US" sz="1250" dirty="0"/>
          </a:p>
        </p:txBody>
      </p:sp>
      <p:sp>
        <p:nvSpPr>
          <p:cNvPr id="8" name="insIT_17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Scrivi le parole ESATTE.</a:t>
            </a:r>
            <a:endParaRPr lang="en-US" sz="950" dirty="0"/>
          </a:p>
        </p:txBody>
      </p:sp>
      <p:sp>
        <p:nvSpPr>
          <p:cNvPr id="9" name="cmd_17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🔍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FIND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TROVA</a:t>
            </a:r>
            <a:endParaRPr lang="en-US" sz="1100" dirty="0"/>
          </a:p>
        </p:txBody>
      </p:sp>
      <p:sp>
        <p:nvSpPr>
          <p:cNvPr id="10" name="cmd_178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✍️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1100" dirty="0"/>
          </a:p>
        </p:txBody>
      </p:sp>
      <p:sp>
        <p:nvSpPr>
          <p:cNvPr id="11" name="meta_179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2" name="tag_180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3" name="logo_18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18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Grammar · noticing   ·   📖 SB p.81 · 2a</a:t>
            </a:r>
            <a:endParaRPr lang="en-US" sz="800" dirty="0"/>
          </a:p>
        </p:txBody>
      </p:sp>
      <p:sp>
        <p:nvSpPr>
          <p:cNvPr id="15" name="cd_183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18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18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186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if I needed any help. → 'Do you need any help?'</a:t>
            </a:r>
            <a:endParaRPr lang="en-US" sz="1050" dirty="0"/>
          </a:p>
        </p:txBody>
      </p:sp>
      <p:sp>
        <p:nvSpPr>
          <p:cNvPr id="19" name="pf_187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188" descr="/home/claude/lls-course/v2/cache/4a1_polite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1" name="bd_189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q_190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where I worked.</a:t>
            </a:r>
            <a:endParaRPr lang="en-US" sz="1150" dirty="0"/>
          </a:p>
        </p:txBody>
      </p:sp>
      <p:sp>
        <p:nvSpPr>
          <p:cNvPr id="23" name="R1_chip191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'Where do you work?'</a:t>
            </a:r>
            <a:endParaRPr lang="en-US" sz="1000" dirty="0"/>
          </a:p>
        </p:txBody>
      </p:sp>
      <p:sp>
        <p:nvSpPr>
          <p:cNvPr id="24" name="bd_192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q_193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said I worked in an office round the corner.</a:t>
            </a:r>
            <a:endParaRPr lang="en-US" sz="1150" dirty="0"/>
          </a:p>
        </p:txBody>
      </p:sp>
      <p:sp>
        <p:nvSpPr>
          <p:cNvPr id="26" name="R2_chip194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 work in an office round the corner.'</a:t>
            </a:r>
            <a:endParaRPr lang="en-US" sz="1000" dirty="0"/>
          </a:p>
        </p:txBody>
      </p:sp>
      <p:sp>
        <p:nvSpPr>
          <p:cNvPr id="27" name="bd_195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q_196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if I liked football.</a:t>
            </a:r>
            <a:endParaRPr lang="en-US" sz="1150" dirty="0"/>
          </a:p>
        </p:txBody>
      </p:sp>
      <p:sp>
        <p:nvSpPr>
          <p:cNvPr id="29" name="R3_chip197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'Do you like football?'</a:t>
            </a:r>
            <a:endParaRPr lang="en-US" sz="1000" dirty="0"/>
          </a:p>
        </p:txBody>
      </p:sp>
      <p:sp>
        <p:nvSpPr>
          <p:cNvPr id="30" name="bd_198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q_199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if I was going to watch the match.</a:t>
            </a:r>
            <a:endParaRPr lang="en-US" sz="1050" dirty="0"/>
          </a:p>
        </p:txBody>
      </p:sp>
      <p:sp>
        <p:nvSpPr>
          <p:cNvPr id="32" name="R4_chip200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'Are you going to watch the England match?'</a:t>
            </a:r>
            <a:endParaRPr lang="en-US" sz="1000" dirty="0"/>
          </a:p>
        </p:txBody>
      </p:sp>
      <p:sp>
        <p:nvSpPr>
          <p:cNvPr id="33" name="bd_201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q_202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what I was doing after work.</a:t>
            </a:r>
            <a:endParaRPr lang="en-US" sz="1150" dirty="0"/>
          </a:p>
        </p:txBody>
      </p:sp>
      <p:sp>
        <p:nvSpPr>
          <p:cNvPr id="35" name="R5_chip203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'What are you doing after work?'</a:t>
            </a:r>
            <a:endParaRPr lang="en-US" sz="1000" dirty="0"/>
          </a:p>
        </p:txBody>
      </p:sp>
      <p:sp>
        <p:nvSpPr>
          <p:cNvPr id="36" name="bd_204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q_205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told him I was having dinner with a friend.</a:t>
            </a:r>
            <a:endParaRPr lang="en-US" sz="1150" dirty="0"/>
          </a:p>
        </p:txBody>
      </p:sp>
      <p:sp>
        <p:nvSpPr>
          <p:cNvPr id="38" name="R6_chip206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'I'm having dinner with a friend.'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0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0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209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Reported speech</a:t>
            </a:r>
            <a:endParaRPr lang="en-US" sz="2500" dirty="0"/>
          </a:p>
        </p:txBody>
      </p:sp>
      <p:pic>
        <p:nvPicPr>
          <p:cNvPr id="6" name="brP_21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2903220" cy="402336"/>
          </a:xfrm>
          <a:prstGeom prst="rect">
            <a:avLst/>
          </a:prstGeom>
        </p:spPr>
      </p:pic>
      <p:sp>
        <p:nvSpPr>
          <p:cNvPr id="7" name="ins_211"/>
          <p:cNvSpPr/>
          <p:nvPr/>
        </p:nvSpPr>
        <p:spPr>
          <a:xfrm>
            <a:off x="1353312" y="731520"/>
            <a:ext cx="26471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does the verb change?</a:t>
            </a:r>
            <a:endParaRPr lang="en-US" sz="1250" dirty="0"/>
          </a:p>
        </p:txBody>
      </p:sp>
      <p:sp>
        <p:nvSpPr>
          <p:cNvPr id="8" name="insIT_21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Come cambia il verbo?</a:t>
            </a:r>
            <a:endParaRPr lang="en-US" sz="950" dirty="0"/>
          </a:p>
        </p:txBody>
      </p:sp>
      <p:sp>
        <p:nvSpPr>
          <p:cNvPr id="9" name="cmd_21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100" dirty="0"/>
          </a:p>
        </p:txBody>
      </p:sp>
      <p:sp>
        <p:nvSpPr>
          <p:cNvPr id="10" name="meta_214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🙋 whole class</a:t>
            </a:r>
            <a:endParaRPr lang="en-US" sz="950" dirty="0"/>
          </a:p>
        </p:txBody>
      </p:sp>
      <p:sp>
        <p:nvSpPr>
          <p:cNvPr id="11" name="tag_215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00" dirty="0"/>
          </a:p>
        </p:txBody>
      </p:sp>
      <p:pic>
        <p:nvPicPr>
          <p:cNvPr id="12" name="logo_21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1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Grammar · reported speech   ·   📖 Grammar Bank 8B p.147 · audio 8.13, 8.14</a:t>
            </a:r>
            <a:endParaRPr lang="en-US" sz="800" dirty="0"/>
          </a:p>
        </p:txBody>
      </p:sp>
      <p:sp>
        <p:nvSpPr>
          <p:cNvPr id="14" name="aw_218"/>
          <p:cNvSpPr/>
          <p:nvPr/>
        </p:nvSpPr>
        <p:spPr>
          <a:xfrm>
            <a:off x="0" y="42062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2410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Play it from the book audio</a:t>
            </a:r>
            <a:endParaRPr lang="en-US" sz="900" dirty="0"/>
          </a:p>
        </p:txBody>
      </p:sp>
      <p:sp>
        <p:nvSpPr>
          <p:cNvPr id="15" name="cd_219"/>
          <p:cNvSpPr/>
          <p:nvPr/>
        </p:nvSpPr>
        <p:spPr>
          <a:xfrm>
            <a:off x="3200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rh_220"/>
          <p:cNvSpPr/>
          <p:nvPr/>
        </p:nvSpPr>
        <p:spPr>
          <a:xfrm>
            <a:off x="4297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Sentences</a:t>
            </a:r>
            <a:endParaRPr lang="en-US" sz="1250" dirty="0"/>
          </a:p>
        </p:txBody>
      </p:sp>
      <p:sp>
        <p:nvSpPr>
          <p:cNvPr id="17" name="pf_221"/>
          <p:cNvSpPr/>
          <p:nvPr/>
        </p:nvSpPr>
        <p:spPr>
          <a:xfrm>
            <a:off x="4297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222" descr="/home/claude/lls-course/v2/cache/3b1_jokes_jpg_589x20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" y="1984248"/>
            <a:ext cx="2447544" cy="868680"/>
          </a:xfrm>
          <a:prstGeom prst="rect">
            <a:avLst/>
          </a:prstGeom>
        </p:spPr>
      </p:pic>
      <p:sp>
        <p:nvSpPr>
          <p:cNvPr id="19" name="ru_223"/>
          <p:cNvSpPr/>
          <p:nvPr/>
        </p:nvSpPr>
        <p:spPr>
          <a:xfrm>
            <a:off x="4114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(that) · tell + person</a:t>
            </a:r>
            <a:endParaRPr lang="en-US" sz="1050" dirty="0"/>
          </a:p>
        </p:txBody>
      </p:sp>
      <p:sp>
        <p:nvSpPr>
          <p:cNvPr id="20" name="R1_rx224"/>
          <p:cNvSpPr/>
          <p:nvPr/>
        </p:nvSpPr>
        <p:spPr>
          <a:xfrm>
            <a:off x="4114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 like shopping.' → She said she liked shopping.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'I've forgotten my keys.' → He told me he had forgotten his keys.</a:t>
            </a:r>
            <a:endParaRPr lang="en-US" sz="1050" dirty="0"/>
          </a:p>
        </p:txBody>
      </p:sp>
      <p:sp>
        <p:nvSpPr>
          <p:cNvPr id="21" name="R1_ri225"/>
          <p:cNvSpPr/>
          <p:nvPr/>
        </p:nvSpPr>
        <p:spPr>
          <a:xfrm>
            <a:off x="4114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 detto che…</a:t>
            </a:r>
            <a:endParaRPr lang="en-US" sz="900" dirty="0"/>
          </a:p>
        </p:txBody>
      </p:sp>
      <p:sp>
        <p:nvSpPr>
          <p:cNvPr id="22" name="cd_226"/>
          <p:cNvSpPr/>
          <p:nvPr/>
        </p:nvSpPr>
        <p:spPr>
          <a:xfrm>
            <a:off x="32156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rh_227"/>
          <p:cNvSpPr/>
          <p:nvPr/>
        </p:nvSpPr>
        <p:spPr>
          <a:xfrm>
            <a:off x="33253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Tense goes back</a:t>
            </a:r>
            <a:endParaRPr lang="en-US" sz="1250" dirty="0"/>
          </a:p>
        </p:txBody>
      </p:sp>
      <p:sp>
        <p:nvSpPr>
          <p:cNvPr id="24" name="pf_228"/>
          <p:cNvSpPr/>
          <p:nvPr/>
        </p:nvSpPr>
        <p:spPr>
          <a:xfrm>
            <a:off x="33253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5" name="ph_229" descr="/home/claude/lls-course/v2/cache/2a1_coins_jpg_589x209_3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71088" y="1984248"/>
            <a:ext cx="2447544" cy="868680"/>
          </a:xfrm>
          <a:prstGeom prst="rect">
            <a:avLst/>
          </a:prstGeom>
        </p:spPr>
      </p:pic>
      <p:sp>
        <p:nvSpPr>
          <p:cNvPr id="26" name="ru_230"/>
          <p:cNvSpPr/>
          <p:nvPr/>
        </p:nvSpPr>
        <p:spPr>
          <a:xfrm>
            <a:off x="33070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one step into the past</a:t>
            </a:r>
            <a:endParaRPr lang="en-US" sz="1050" dirty="0"/>
          </a:p>
        </p:txBody>
      </p:sp>
      <p:sp>
        <p:nvSpPr>
          <p:cNvPr id="27" name="R2_rx231"/>
          <p:cNvSpPr/>
          <p:nvPr/>
        </p:nvSpPr>
        <p:spPr>
          <a:xfrm>
            <a:off x="33070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am / is → was · will → would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→ could · must → had to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past / pres. perfect → had + p.p.</a:t>
            </a:r>
            <a:endParaRPr lang="en-US" sz="1050" dirty="0"/>
          </a:p>
        </p:txBody>
      </p:sp>
      <p:sp>
        <p:nvSpPr>
          <p:cNvPr id="28" name="R2_ri232"/>
          <p:cNvSpPr/>
          <p:nvPr/>
        </p:nvSpPr>
        <p:spPr>
          <a:xfrm>
            <a:off x="33070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tomorrow → the next day</a:t>
            </a:r>
            <a:endParaRPr lang="en-US" sz="900" dirty="0"/>
          </a:p>
        </p:txBody>
      </p:sp>
      <p:sp>
        <p:nvSpPr>
          <p:cNvPr id="29" name="cd_233"/>
          <p:cNvSpPr/>
          <p:nvPr/>
        </p:nvSpPr>
        <p:spPr>
          <a:xfrm>
            <a:off x="61112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0" name="rh_234"/>
          <p:cNvSpPr/>
          <p:nvPr/>
        </p:nvSpPr>
        <p:spPr>
          <a:xfrm>
            <a:off x="62209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Questions</a:t>
            </a:r>
            <a:endParaRPr lang="en-US" sz="1250" dirty="0"/>
          </a:p>
        </p:txBody>
      </p:sp>
      <p:sp>
        <p:nvSpPr>
          <p:cNvPr id="31" name="pf_235"/>
          <p:cNvSpPr/>
          <p:nvPr/>
        </p:nvSpPr>
        <p:spPr>
          <a:xfrm>
            <a:off x="62209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2" name="ph_236" descr="/home/claude/lls-course/v2/cache/4a1_queue_jpg_589x209_3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6688" y="1984248"/>
            <a:ext cx="2447544" cy="868680"/>
          </a:xfrm>
          <a:prstGeom prst="rect">
            <a:avLst/>
          </a:prstGeom>
        </p:spPr>
      </p:pic>
      <p:sp>
        <p:nvSpPr>
          <p:cNvPr id="33" name="ru_237"/>
          <p:cNvSpPr/>
          <p:nvPr/>
        </p:nvSpPr>
        <p:spPr>
          <a:xfrm>
            <a:off x="62026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no do / did · normal word order</a:t>
            </a:r>
            <a:endParaRPr lang="en-US" sz="1050" dirty="0"/>
          </a:p>
        </p:txBody>
      </p:sp>
      <p:sp>
        <p:nvSpPr>
          <p:cNvPr id="34" name="R3_rx238"/>
          <p:cNvSpPr/>
          <p:nvPr/>
        </p:nvSpPr>
        <p:spPr>
          <a:xfrm>
            <a:off x="62026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'Where do you live?' → She asked me where I lived.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'Are you married?' → She asked him if he was married.</a:t>
            </a:r>
            <a:endParaRPr lang="en-US" sz="1050" dirty="0"/>
          </a:p>
        </p:txBody>
      </p:sp>
      <p:sp>
        <p:nvSpPr>
          <p:cNvPr id="35" name="R3_ri239"/>
          <p:cNvSpPr/>
          <p:nvPr/>
        </p:nvSpPr>
        <p:spPr>
          <a:xfrm>
            <a:off x="62026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yes/no → if / whether</a:t>
            </a:r>
            <a:endParaRPr lang="en-US" sz="900" dirty="0"/>
          </a:p>
        </p:txBody>
      </p:sp>
      <p:sp>
        <p:nvSpPr>
          <p:cNvPr id="36" name="R4_wc240"/>
          <p:cNvSpPr/>
          <p:nvPr/>
        </p:nvSpPr>
        <p:spPr>
          <a:xfrm>
            <a:off x="320040" y="4544568"/>
            <a:ext cx="841248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7" name="R4_w241"/>
          <p:cNvSpPr/>
          <p:nvPr/>
        </p:nvSpPr>
        <p:spPr>
          <a:xfrm>
            <a:off x="457200" y="4544568"/>
            <a:ext cx="8183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✗ He said me → ✓ He told me / He said   ✗ She asked me where did I live → ✓ where I lived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4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4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44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Report it correctly</a:t>
            </a:r>
            <a:endParaRPr lang="en-US" sz="2500" dirty="0"/>
          </a:p>
        </p:txBody>
      </p:sp>
      <p:pic>
        <p:nvPicPr>
          <p:cNvPr id="6" name="brP_24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2642616" cy="402336"/>
          </a:xfrm>
          <a:prstGeom prst="rect">
            <a:avLst/>
          </a:prstGeom>
        </p:spPr>
      </p:pic>
      <p:sp>
        <p:nvSpPr>
          <p:cNvPr id="7" name="ins_246"/>
          <p:cNvSpPr/>
          <p:nvPr/>
        </p:nvSpPr>
        <p:spPr>
          <a:xfrm>
            <a:off x="1353312" y="731520"/>
            <a:ext cx="2386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Report it! Then check.</a:t>
            </a:r>
            <a:endParaRPr lang="en-US" sz="1250" dirty="0"/>
          </a:p>
        </p:txBody>
      </p:sp>
      <p:sp>
        <p:nvSpPr>
          <p:cNvPr id="8" name="insIT_24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Riportalo! Poi controlla.</a:t>
            </a:r>
            <a:endParaRPr lang="en-US" sz="950" dirty="0"/>
          </a:p>
        </p:txBody>
      </p:sp>
      <p:sp>
        <p:nvSpPr>
          <p:cNvPr id="9" name="cmd_248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✍️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1100" dirty="0"/>
          </a:p>
        </p:txBody>
      </p:sp>
      <p:sp>
        <p:nvSpPr>
          <p:cNvPr id="10" name="meta_249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👤 alone</a:t>
            </a:r>
            <a:endParaRPr lang="en-US" sz="950" dirty="0"/>
          </a:p>
        </p:txBody>
      </p:sp>
      <p:sp>
        <p:nvSpPr>
          <p:cNvPr id="11" name="tag_250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2" name="logo_25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5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Grammar · practice   ·   📖 Grammar Bank 8B p.147 · a 2–4, b 1–3</a:t>
            </a:r>
            <a:endParaRPr lang="en-US" sz="800" dirty="0"/>
          </a:p>
        </p:txBody>
      </p:sp>
      <p:sp>
        <p:nvSpPr>
          <p:cNvPr id="14" name="cd_253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5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25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256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'I'm selling all my books.' → Tim said he was selling all his books.</a:t>
            </a:r>
            <a:endParaRPr lang="en-US" sz="1050" dirty="0"/>
          </a:p>
        </p:txBody>
      </p:sp>
      <p:sp>
        <p:nvSpPr>
          <p:cNvPr id="18" name="pf_257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258" descr="/home/claude/lls-course/v2/cache/4a1_library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259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260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'I've booked the flights.' → Emma told me she…</a:t>
            </a:r>
            <a:endParaRPr lang="en-US" sz="1150" dirty="0"/>
          </a:p>
        </p:txBody>
      </p:sp>
      <p:sp>
        <p:nvSpPr>
          <p:cNvPr id="22" name="R1_chip261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had booked the flights</a:t>
            </a:r>
            <a:endParaRPr lang="en-US" sz="1000" dirty="0"/>
          </a:p>
        </p:txBody>
      </p:sp>
      <p:sp>
        <p:nvSpPr>
          <p:cNvPr id="23" name="bd_262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263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'Your new dress doesn't suit you.' → My mum told me…</a:t>
            </a:r>
            <a:endParaRPr lang="en-US" sz="950" dirty="0"/>
          </a:p>
        </p:txBody>
      </p:sp>
      <p:sp>
        <p:nvSpPr>
          <p:cNvPr id="25" name="R2_chip264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new dress didn't suit me</a:t>
            </a:r>
            <a:endParaRPr lang="en-US" sz="1000" dirty="0"/>
          </a:p>
        </p:txBody>
      </p:sp>
      <p:sp>
        <p:nvSpPr>
          <p:cNvPr id="26" name="bd_265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266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 might not be able to go.' → Matt said he…</a:t>
            </a:r>
            <a:endParaRPr lang="en-US" sz="1150" dirty="0"/>
          </a:p>
        </p:txBody>
      </p:sp>
      <p:sp>
        <p:nvSpPr>
          <p:cNvPr id="28" name="R3_chip267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might not be able to go</a:t>
            </a:r>
            <a:endParaRPr lang="en-US" sz="1000" dirty="0"/>
          </a:p>
        </p:txBody>
      </p:sp>
      <p:sp>
        <p:nvSpPr>
          <p:cNvPr id="29" name="bd_268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269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'When are you leaving?' → My parents asked me…</a:t>
            </a:r>
            <a:endParaRPr lang="en-US" sz="1050" dirty="0"/>
          </a:p>
        </p:txBody>
      </p:sp>
      <p:sp>
        <p:nvSpPr>
          <p:cNvPr id="31" name="R4_chip270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I was leaving</a:t>
            </a:r>
            <a:endParaRPr lang="en-US" sz="1000" dirty="0"/>
          </a:p>
        </p:txBody>
      </p:sp>
      <p:sp>
        <p:nvSpPr>
          <p:cNvPr id="32" name="bd_271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272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'Have you ever been married?' → She asked him…</a:t>
            </a:r>
            <a:endParaRPr lang="en-US" sz="900" dirty="0"/>
          </a:p>
        </p:txBody>
      </p:sp>
      <p:sp>
        <p:nvSpPr>
          <p:cNvPr id="34" name="R5_chip273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if / whether he had ever been married</a:t>
            </a:r>
            <a:endParaRPr lang="en-US" sz="1000" dirty="0"/>
          </a:p>
        </p:txBody>
      </p:sp>
      <p:sp>
        <p:nvSpPr>
          <p:cNvPr id="35" name="bd_274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q_275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'Will you be home early?' → Anna asked Robert…</a:t>
            </a:r>
            <a:endParaRPr lang="en-US" sz="1100" dirty="0"/>
          </a:p>
        </p:txBody>
      </p:sp>
      <p:sp>
        <p:nvSpPr>
          <p:cNvPr id="37" name="R6_chip276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if / whether he would be home early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7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27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279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He asked her…</a:t>
            </a:r>
            <a:endParaRPr lang="en-US" sz="2500" dirty="0"/>
          </a:p>
        </p:txBody>
      </p:sp>
      <p:pic>
        <p:nvPicPr>
          <p:cNvPr id="6" name="brP_28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901184" cy="402336"/>
          </a:xfrm>
          <a:prstGeom prst="rect">
            <a:avLst/>
          </a:prstGeom>
        </p:spPr>
      </p:pic>
      <p:sp>
        <p:nvSpPr>
          <p:cNvPr id="7" name="ins_281"/>
          <p:cNvSpPr/>
          <p:nvPr/>
        </p:nvSpPr>
        <p:spPr>
          <a:xfrm>
            <a:off x="1353312" y="731520"/>
            <a:ext cx="4645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Listen. Report the question before the narrator!</a:t>
            </a:r>
            <a:endParaRPr lang="en-US" sz="1250" dirty="0"/>
          </a:p>
        </p:txBody>
      </p:sp>
      <p:sp>
        <p:nvSpPr>
          <p:cNvPr id="8" name="insIT_28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Ascolta. Riporta la domanda prima del narratore!</a:t>
            </a:r>
            <a:endParaRPr lang="en-US" sz="950" dirty="0"/>
          </a:p>
        </p:txBody>
      </p:sp>
      <p:sp>
        <p:nvSpPr>
          <p:cNvPr id="9" name="cmd_28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284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100" dirty="0"/>
          </a:p>
        </p:txBody>
      </p:sp>
      <p:sp>
        <p:nvSpPr>
          <p:cNvPr id="11" name="meta_285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2" name="tag_286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Listening for detail</a:t>
            </a:r>
            <a:endParaRPr lang="en-US" sz="700" dirty="0"/>
          </a:p>
        </p:txBody>
      </p:sp>
      <p:pic>
        <p:nvPicPr>
          <p:cNvPr id="13" name="logo_28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28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Grammar · oral practice   ·   📖 SB p.81 · 2c · audio 8.15</a:t>
            </a:r>
            <a:endParaRPr lang="en-US" sz="800" dirty="0"/>
          </a:p>
        </p:txBody>
      </p:sp>
      <p:sp>
        <p:nvSpPr>
          <p:cNvPr id="15" name="ap_289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8.15  ·  pause after each question</a:t>
            </a:r>
            <a:endParaRPr lang="en-US" sz="1100" dirty="0"/>
          </a:p>
        </p:txBody>
      </p:sp>
      <p:sp>
        <p:nvSpPr>
          <p:cNvPr id="16" name="aw_290"/>
          <p:cNvSpPr/>
          <p:nvPr/>
        </p:nvSpPr>
        <p:spPr>
          <a:xfrm>
            <a:off x="365760" y="183794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2410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Play it from the book audio</a:t>
            </a:r>
            <a:endParaRPr lang="en-US" sz="900" dirty="0"/>
          </a:p>
        </p:txBody>
      </p:sp>
      <p:sp>
        <p:nvSpPr>
          <p:cNvPr id="17" name="pf_291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292" descr="/home/claude/lls-course/v2/cache/2a1_waste_jpg_627x407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19" name="cd_293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294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1" name="ih_295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2" name="il_296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3" name="gq_297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'Where do you live?'</a:t>
            </a:r>
            <a:endParaRPr lang="en-US" sz="1200" dirty="0"/>
          </a:p>
        </p:txBody>
      </p:sp>
      <p:sp>
        <p:nvSpPr>
          <p:cNvPr id="24" name="R1_chip298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her where she lived.</a:t>
            </a:r>
            <a:endParaRPr lang="en-US" sz="1200" dirty="0"/>
          </a:p>
        </p:txBody>
      </p:sp>
      <p:sp>
        <p:nvSpPr>
          <p:cNvPr id="25" name="gq_299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'What are you doing in the evening?'</a:t>
            </a:r>
            <a:endParaRPr lang="en-US" sz="1200" dirty="0"/>
          </a:p>
        </p:txBody>
      </p:sp>
      <p:sp>
        <p:nvSpPr>
          <p:cNvPr id="26" name="R2_chip300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asked him what he was doing in the evening.</a:t>
            </a:r>
            <a:endParaRPr lang="en-US" sz="1000" dirty="0"/>
          </a:p>
        </p:txBody>
      </p:sp>
      <p:sp>
        <p:nvSpPr>
          <p:cNvPr id="27" name="gq_301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'Will you be at home at eight?'</a:t>
            </a:r>
            <a:endParaRPr lang="en-US" sz="1200" dirty="0"/>
          </a:p>
        </p:txBody>
      </p:sp>
      <p:sp>
        <p:nvSpPr>
          <p:cNvPr id="28" name="R3_chip302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if she would be at home at eight.</a:t>
            </a:r>
            <a:endParaRPr lang="en-US" sz="1200" dirty="0"/>
          </a:p>
        </p:txBody>
      </p:sp>
      <p:sp>
        <p:nvSpPr>
          <p:cNvPr id="29" name="gq_303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'Where did you buy your bag?'</a:t>
            </a:r>
            <a:endParaRPr lang="en-US" sz="1200" dirty="0"/>
          </a:p>
        </p:txBody>
      </p:sp>
      <p:sp>
        <p:nvSpPr>
          <p:cNvPr id="30" name="R4_chip304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her where she'd bought her bag.</a:t>
            </a:r>
            <a:endParaRPr lang="en-US" sz="1200" dirty="0"/>
          </a:p>
        </p:txBody>
      </p:sp>
      <p:sp>
        <p:nvSpPr>
          <p:cNvPr id="31" name="gq_305"/>
          <p:cNvSpPr/>
          <p:nvPr/>
        </p:nvSpPr>
        <p:spPr>
          <a:xfrm>
            <a:off x="3383280" y="3502152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'Have you seen the new Bond film?'</a:t>
            </a:r>
            <a:endParaRPr lang="en-US" sz="1200" dirty="0"/>
          </a:p>
        </p:txBody>
      </p:sp>
      <p:sp>
        <p:nvSpPr>
          <p:cNvPr id="32" name="R5_chip306"/>
          <p:cNvSpPr/>
          <p:nvPr/>
        </p:nvSpPr>
        <p:spPr>
          <a:xfrm>
            <a:off x="6812280" y="3502152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asked him if he'd seen it.</a:t>
            </a:r>
            <a:endParaRPr lang="en-US" sz="1200" dirty="0"/>
          </a:p>
        </p:txBody>
      </p:sp>
      <p:sp>
        <p:nvSpPr>
          <p:cNvPr id="33" name="gq_307"/>
          <p:cNvSpPr/>
          <p:nvPr/>
        </p:nvSpPr>
        <p:spPr>
          <a:xfrm>
            <a:off x="3383280" y="402336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'Can I try on the jacket?'</a:t>
            </a:r>
            <a:endParaRPr lang="en-US" sz="1200" dirty="0"/>
          </a:p>
        </p:txBody>
      </p:sp>
      <p:sp>
        <p:nvSpPr>
          <p:cNvPr id="34" name="R6_chip308"/>
          <p:cNvSpPr/>
          <p:nvPr/>
        </p:nvSpPr>
        <p:spPr>
          <a:xfrm>
            <a:off x="6812280" y="402336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her if he could try it on.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0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1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311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What's the difference?</a:t>
            </a:r>
            <a:endParaRPr lang="en-US" sz="2500" dirty="0"/>
          </a:p>
        </p:txBody>
      </p:sp>
      <p:pic>
        <p:nvPicPr>
          <p:cNvPr id="6" name="brP_31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313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Explain the difference to your partner.</a:t>
            </a:r>
            <a:endParaRPr lang="en-US" sz="1250" dirty="0"/>
          </a:p>
        </p:txBody>
      </p:sp>
      <p:sp>
        <p:nvSpPr>
          <p:cNvPr id="8" name="insIT_31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Spiega la differenza al compagno.</a:t>
            </a:r>
            <a:endParaRPr lang="en-US" sz="950" dirty="0"/>
          </a:p>
        </p:txBody>
      </p:sp>
      <p:sp>
        <p:nvSpPr>
          <p:cNvPr id="9" name="cmd_31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316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1" name="tag_317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2" name="logo_31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1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Vocabulary · shopping   ·   📖 SB p.81 · 3a</a:t>
            </a:r>
            <a:endParaRPr lang="en-US" sz="800" dirty="0"/>
          </a:p>
        </p:txBody>
      </p:sp>
      <p:sp>
        <p:nvSpPr>
          <p:cNvPr id="14" name="cd_320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32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32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323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basket / trolley → small, you carry it / big, on wheels</a:t>
            </a:r>
            <a:endParaRPr lang="en-US" sz="1050" dirty="0"/>
          </a:p>
        </p:txBody>
      </p:sp>
      <p:sp>
        <p:nvSpPr>
          <p:cNvPr id="18" name="pf_324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325" descr="/home/claude/lls-course/v2/cache/2a2_saver_spender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326"/>
          <p:cNvSpPr/>
          <p:nvPr/>
        </p:nvSpPr>
        <p:spPr>
          <a:xfrm>
            <a:off x="3246120" y="1474143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327"/>
          <p:cNvSpPr/>
          <p:nvPr/>
        </p:nvSpPr>
        <p:spPr>
          <a:xfrm>
            <a:off x="3630168" y="1417320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credit card / debit card</a:t>
            </a:r>
            <a:endParaRPr lang="en-US" sz="1150" dirty="0"/>
          </a:p>
        </p:txBody>
      </p:sp>
      <p:sp>
        <p:nvSpPr>
          <p:cNvPr id="22" name="R1_chip328"/>
          <p:cNvSpPr/>
          <p:nvPr/>
        </p:nvSpPr>
        <p:spPr>
          <a:xfrm>
            <a:off x="5806440" y="1417320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pay later / the money goes immediately</a:t>
            </a:r>
            <a:endParaRPr lang="en-US" sz="1000" dirty="0"/>
          </a:p>
        </p:txBody>
      </p:sp>
      <p:sp>
        <p:nvSpPr>
          <p:cNvPr id="23" name="bd_329"/>
          <p:cNvSpPr/>
          <p:nvPr/>
        </p:nvSpPr>
        <p:spPr>
          <a:xfrm>
            <a:off x="3246120" y="194440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330"/>
          <p:cNvSpPr/>
          <p:nvPr/>
        </p:nvSpPr>
        <p:spPr>
          <a:xfrm>
            <a:off x="3630168" y="1887583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receipt / refund</a:t>
            </a:r>
            <a:endParaRPr lang="en-US" sz="1150" dirty="0"/>
          </a:p>
        </p:txBody>
      </p:sp>
      <p:sp>
        <p:nvSpPr>
          <p:cNvPr id="25" name="R2_chip331"/>
          <p:cNvSpPr/>
          <p:nvPr/>
        </p:nvSpPr>
        <p:spPr>
          <a:xfrm>
            <a:off x="5806440" y="1887583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paper that proves you paid / money back</a:t>
            </a:r>
            <a:endParaRPr lang="en-US" sz="1000" dirty="0"/>
          </a:p>
        </p:txBody>
      </p:sp>
      <p:sp>
        <p:nvSpPr>
          <p:cNvPr id="26" name="bd_332"/>
          <p:cNvSpPr/>
          <p:nvPr/>
        </p:nvSpPr>
        <p:spPr>
          <a:xfrm>
            <a:off x="3246120" y="2414669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333"/>
          <p:cNvSpPr/>
          <p:nvPr/>
        </p:nvSpPr>
        <p:spPr>
          <a:xfrm>
            <a:off x="3630168" y="2357846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discount / bargain</a:t>
            </a:r>
            <a:endParaRPr lang="en-US" sz="1150" dirty="0"/>
          </a:p>
        </p:txBody>
      </p:sp>
      <p:sp>
        <p:nvSpPr>
          <p:cNvPr id="28" name="R3_chip334"/>
          <p:cNvSpPr/>
          <p:nvPr/>
        </p:nvSpPr>
        <p:spPr>
          <a:xfrm>
            <a:off x="5806440" y="2357846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money off the price / a very cheap thing</a:t>
            </a:r>
            <a:endParaRPr lang="en-US" sz="1000" dirty="0"/>
          </a:p>
        </p:txBody>
      </p:sp>
      <p:sp>
        <p:nvSpPr>
          <p:cNvPr id="29" name="bd_335"/>
          <p:cNvSpPr/>
          <p:nvPr/>
        </p:nvSpPr>
        <p:spPr>
          <a:xfrm>
            <a:off x="3246120" y="28849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336"/>
          <p:cNvSpPr/>
          <p:nvPr/>
        </p:nvSpPr>
        <p:spPr>
          <a:xfrm>
            <a:off x="3630168" y="2828109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chain store / department store</a:t>
            </a:r>
            <a:endParaRPr lang="en-US" sz="1150" dirty="0"/>
          </a:p>
        </p:txBody>
      </p:sp>
      <p:sp>
        <p:nvSpPr>
          <p:cNvPr id="31" name="R4_chip337"/>
          <p:cNvSpPr/>
          <p:nvPr/>
        </p:nvSpPr>
        <p:spPr>
          <a:xfrm>
            <a:off x="5806440" y="2828109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of many similar shops / big shop, many sections</a:t>
            </a:r>
            <a:endParaRPr lang="en-US" sz="1000" dirty="0"/>
          </a:p>
        </p:txBody>
      </p:sp>
      <p:sp>
        <p:nvSpPr>
          <p:cNvPr id="32" name="bd_338"/>
          <p:cNvSpPr/>
          <p:nvPr/>
        </p:nvSpPr>
        <p:spPr>
          <a:xfrm>
            <a:off x="3246120" y="3355195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339"/>
          <p:cNvSpPr/>
          <p:nvPr/>
        </p:nvSpPr>
        <p:spPr>
          <a:xfrm>
            <a:off x="3630168" y="3298371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library / bookshop</a:t>
            </a:r>
            <a:endParaRPr lang="en-US" sz="1150" dirty="0"/>
          </a:p>
        </p:txBody>
      </p:sp>
      <p:sp>
        <p:nvSpPr>
          <p:cNvPr id="34" name="R5_chip340"/>
          <p:cNvSpPr/>
          <p:nvPr/>
        </p:nvSpPr>
        <p:spPr>
          <a:xfrm>
            <a:off x="5806440" y="3298371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borrow books / buy books</a:t>
            </a:r>
            <a:endParaRPr lang="en-US" sz="1000" dirty="0"/>
          </a:p>
        </p:txBody>
      </p:sp>
      <p:sp>
        <p:nvSpPr>
          <p:cNvPr id="35" name="bd_341"/>
          <p:cNvSpPr/>
          <p:nvPr/>
        </p:nvSpPr>
        <p:spPr>
          <a:xfrm>
            <a:off x="3246120" y="3825458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q_342"/>
          <p:cNvSpPr/>
          <p:nvPr/>
        </p:nvSpPr>
        <p:spPr>
          <a:xfrm>
            <a:off x="3630168" y="3768634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put on / try on</a:t>
            </a:r>
            <a:endParaRPr lang="en-US" sz="1150" dirty="0"/>
          </a:p>
        </p:txBody>
      </p:sp>
      <p:sp>
        <p:nvSpPr>
          <p:cNvPr id="37" name="R6_chip343"/>
          <p:cNvSpPr/>
          <p:nvPr/>
        </p:nvSpPr>
        <p:spPr>
          <a:xfrm>
            <a:off x="5806440" y="3768634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get dressed / put on before you buy</a:t>
            </a:r>
            <a:endParaRPr lang="en-US" sz="1000" dirty="0"/>
          </a:p>
        </p:txBody>
      </p:sp>
      <p:sp>
        <p:nvSpPr>
          <p:cNvPr id="38" name="bd_344"/>
          <p:cNvSpPr/>
          <p:nvPr/>
        </p:nvSpPr>
        <p:spPr>
          <a:xfrm>
            <a:off x="3246120" y="4295721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9" name="q_345"/>
          <p:cNvSpPr/>
          <p:nvPr/>
        </p:nvSpPr>
        <p:spPr>
          <a:xfrm>
            <a:off x="3630168" y="4238897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fits you / It suits you</a:t>
            </a:r>
            <a:endParaRPr lang="en-US" sz="1150" dirty="0"/>
          </a:p>
        </p:txBody>
      </p:sp>
      <p:sp>
        <p:nvSpPr>
          <p:cNvPr id="40" name="R7_chip346"/>
          <p:cNvSpPr/>
          <p:nvPr/>
        </p:nvSpPr>
        <p:spPr>
          <a:xfrm>
            <a:off x="5806440" y="4238897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right size / looks good on you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4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4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663440" cy="621792"/>
          </a:xfrm>
          <a:prstGeom prst="rect">
            <a:avLst/>
          </a:prstGeom>
        </p:spPr>
      </p:pic>
      <p:sp>
        <p:nvSpPr>
          <p:cNvPr id="5" name="title_349"/>
          <p:cNvSpPr/>
          <p:nvPr/>
        </p:nvSpPr>
        <p:spPr>
          <a:xfrm>
            <a:off x="1261872" y="16459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Shopping words in Italian</a:t>
            </a:r>
            <a:endParaRPr lang="en-US" sz="2500" dirty="0"/>
          </a:p>
        </p:txBody>
      </p:sp>
      <p:pic>
        <p:nvPicPr>
          <p:cNvPr id="6" name="brP_35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337560" cy="402336"/>
          </a:xfrm>
          <a:prstGeom prst="rect">
            <a:avLst/>
          </a:prstGeom>
        </p:spPr>
      </p:pic>
      <p:sp>
        <p:nvSpPr>
          <p:cNvPr id="7" name="ins_351"/>
          <p:cNvSpPr/>
          <p:nvPr/>
        </p:nvSpPr>
        <p:spPr>
          <a:xfrm>
            <a:off x="1353312" y="731520"/>
            <a:ext cx="3081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it in Italian. Then click!</a:t>
            </a:r>
            <a:endParaRPr lang="en-US" sz="1250" dirty="0"/>
          </a:p>
        </p:txBody>
      </p:sp>
      <p:sp>
        <p:nvSpPr>
          <p:cNvPr id="8" name="insIT_35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Dillo in italiano. Poi clicca!</a:t>
            </a:r>
            <a:endParaRPr lang="en-US" sz="950" dirty="0"/>
          </a:p>
        </p:txBody>
      </p:sp>
      <p:sp>
        <p:nvSpPr>
          <p:cNvPr id="9" name="cmd_35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0" name="meta_354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🙋 whole class</a:t>
            </a:r>
            <a:endParaRPr lang="en-US" sz="950" dirty="0"/>
          </a:p>
        </p:txBody>
      </p:sp>
      <p:sp>
        <p:nvSpPr>
          <p:cNvPr id="11" name="tag_355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meaning</a:t>
            </a:r>
            <a:endParaRPr lang="en-US" sz="700" dirty="0"/>
          </a:p>
        </p:txBody>
      </p:sp>
      <p:pic>
        <p:nvPicPr>
          <p:cNvPr id="12" name="logo_35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5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Vocabulary · in Italian</a:t>
            </a:r>
            <a:endParaRPr lang="en-US" sz="800" dirty="0"/>
          </a:p>
        </p:txBody>
      </p:sp>
      <p:sp>
        <p:nvSpPr>
          <p:cNvPr id="14" name="cd_358"/>
          <p:cNvSpPr/>
          <p:nvPr/>
        </p:nvSpPr>
        <p:spPr>
          <a:xfrm>
            <a:off x="320040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e_359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🧾</a:t>
            </a:r>
            <a:endParaRPr lang="en-US" sz="2000" dirty="0"/>
          </a:p>
        </p:txBody>
      </p:sp>
      <p:sp>
        <p:nvSpPr>
          <p:cNvPr id="16" name="en_360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receipt</a:t>
            </a:r>
            <a:endParaRPr lang="en-US" sz="1200" dirty="0"/>
          </a:p>
        </p:txBody>
      </p:sp>
      <p:sp>
        <p:nvSpPr>
          <p:cNvPr id="17" name="R1_it361"/>
          <p:cNvSpPr/>
          <p:nvPr/>
        </p:nvSpPr>
        <p:spPr>
          <a:xfrm>
            <a:off x="978408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scontrino / ricevuta</a:t>
            </a:r>
            <a:endParaRPr lang="en-US" sz="1000" dirty="0"/>
          </a:p>
        </p:txBody>
      </p:sp>
      <p:sp>
        <p:nvSpPr>
          <p:cNvPr id="18" name="cd_362"/>
          <p:cNvSpPr/>
          <p:nvPr/>
        </p:nvSpPr>
        <p:spPr>
          <a:xfrm>
            <a:off x="2487168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e_363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💶</a:t>
            </a:r>
            <a:endParaRPr lang="en-US" sz="2000" dirty="0"/>
          </a:p>
        </p:txBody>
      </p:sp>
      <p:sp>
        <p:nvSpPr>
          <p:cNvPr id="20" name="en_364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refund</a:t>
            </a:r>
            <a:endParaRPr lang="en-US" sz="1200" dirty="0"/>
          </a:p>
        </p:txBody>
      </p:sp>
      <p:sp>
        <p:nvSpPr>
          <p:cNvPr id="21" name="R2_it365"/>
          <p:cNvSpPr/>
          <p:nvPr/>
        </p:nvSpPr>
        <p:spPr>
          <a:xfrm>
            <a:off x="3145536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rimborso</a:t>
            </a:r>
            <a:endParaRPr lang="en-US" sz="1000" dirty="0"/>
          </a:p>
        </p:txBody>
      </p:sp>
      <p:sp>
        <p:nvSpPr>
          <p:cNvPr id="22" name="cd_366"/>
          <p:cNvSpPr/>
          <p:nvPr/>
        </p:nvSpPr>
        <p:spPr>
          <a:xfrm>
            <a:off x="4654296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e_367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🏷️</a:t>
            </a:r>
            <a:endParaRPr lang="en-US" sz="2000" dirty="0"/>
          </a:p>
        </p:txBody>
      </p:sp>
      <p:sp>
        <p:nvSpPr>
          <p:cNvPr id="24" name="en_368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discount</a:t>
            </a:r>
            <a:endParaRPr lang="en-US" sz="1200" dirty="0"/>
          </a:p>
        </p:txBody>
      </p:sp>
      <p:sp>
        <p:nvSpPr>
          <p:cNvPr id="25" name="R3_it369"/>
          <p:cNvSpPr/>
          <p:nvPr/>
        </p:nvSpPr>
        <p:spPr>
          <a:xfrm>
            <a:off x="5312664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sconto</a:t>
            </a:r>
            <a:endParaRPr lang="en-US" sz="1000" dirty="0"/>
          </a:p>
        </p:txBody>
      </p:sp>
      <p:sp>
        <p:nvSpPr>
          <p:cNvPr id="26" name="cd_370"/>
          <p:cNvSpPr/>
          <p:nvPr/>
        </p:nvSpPr>
        <p:spPr>
          <a:xfrm>
            <a:off x="6821424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e_371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🤑</a:t>
            </a:r>
            <a:endParaRPr lang="en-US" sz="2000" dirty="0"/>
          </a:p>
        </p:txBody>
      </p:sp>
      <p:sp>
        <p:nvSpPr>
          <p:cNvPr id="28" name="en_372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bargain</a:t>
            </a:r>
            <a:endParaRPr lang="en-US" sz="1200" dirty="0"/>
          </a:p>
        </p:txBody>
      </p:sp>
      <p:sp>
        <p:nvSpPr>
          <p:cNvPr id="29" name="R4_it373"/>
          <p:cNvSpPr/>
          <p:nvPr/>
        </p:nvSpPr>
        <p:spPr>
          <a:xfrm>
            <a:off x="7479792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affare</a:t>
            </a:r>
            <a:endParaRPr lang="en-US" sz="1000" dirty="0"/>
          </a:p>
        </p:txBody>
      </p:sp>
      <p:sp>
        <p:nvSpPr>
          <p:cNvPr id="30" name="cd_374"/>
          <p:cNvSpPr/>
          <p:nvPr/>
        </p:nvSpPr>
        <p:spPr>
          <a:xfrm>
            <a:off x="320040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e_375"/>
          <p:cNvSpPr/>
          <p:nvPr/>
        </p:nvSpPr>
        <p:spPr>
          <a:xfrm>
            <a:off x="393192" y="235000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🛒</a:t>
            </a:r>
            <a:endParaRPr lang="en-US" sz="2000" dirty="0"/>
          </a:p>
        </p:txBody>
      </p:sp>
      <p:sp>
        <p:nvSpPr>
          <p:cNvPr id="32" name="en_376"/>
          <p:cNvSpPr/>
          <p:nvPr/>
        </p:nvSpPr>
        <p:spPr>
          <a:xfrm>
            <a:off x="978408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trolley</a:t>
            </a:r>
            <a:endParaRPr lang="en-US" sz="1200" dirty="0"/>
          </a:p>
        </p:txBody>
      </p:sp>
      <p:sp>
        <p:nvSpPr>
          <p:cNvPr id="33" name="R5_it377"/>
          <p:cNvSpPr/>
          <p:nvPr/>
        </p:nvSpPr>
        <p:spPr>
          <a:xfrm>
            <a:off x="978408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carrello</a:t>
            </a:r>
            <a:endParaRPr lang="en-US" sz="1000" dirty="0"/>
          </a:p>
        </p:txBody>
      </p:sp>
      <p:sp>
        <p:nvSpPr>
          <p:cNvPr id="34" name="cd_378"/>
          <p:cNvSpPr/>
          <p:nvPr/>
        </p:nvSpPr>
        <p:spPr>
          <a:xfrm>
            <a:off x="2487168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5" name="e_379"/>
          <p:cNvSpPr/>
          <p:nvPr/>
        </p:nvSpPr>
        <p:spPr>
          <a:xfrm>
            <a:off x="2560320" y="235000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🧺</a:t>
            </a:r>
            <a:endParaRPr lang="en-US" sz="2000" dirty="0"/>
          </a:p>
        </p:txBody>
      </p:sp>
      <p:sp>
        <p:nvSpPr>
          <p:cNvPr id="36" name="en_380"/>
          <p:cNvSpPr/>
          <p:nvPr/>
        </p:nvSpPr>
        <p:spPr>
          <a:xfrm>
            <a:off x="3145536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basket</a:t>
            </a:r>
            <a:endParaRPr lang="en-US" sz="1200" dirty="0"/>
          </a:p>
        </p:txBody>
      </p:sp>
      <p:sp>
        <p:nvSpPr>
          <p:cNvPr id="37" name="R6_it381"/>
          <p:cNvSpPr/>
          <p:nvPr/>
        </p:nvSpPr>
        <p:spPr>
          <a:xfrm>
            <a:off x="3145536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cestino</a:t>
            </a:r>
            <a:endParaRPr lang="en-US" sz="1000" dirty="0"/>
          </a:p>
        </p:txBody>
      </p:sp>
      <p:sp>
        <p:nvSpPr>
          <p:cNvPr id="38" name="cd_382"/>
          <p:cNvSpPr/>
          <p:nvPr/>
        </p:nvSpPr>
        <p:spPr>
          <a:xfrm>
            <a:off x="4654296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9" name="e_383"/>
          <p:cNvSpPr/>
          <p:nvPr/>
        </p:nvSpPr>
        <p:spPr>
          <a:xfrm>
            <a:off x="4727448" y="235000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📚</a:t>
            </a:r>
            <a:endParaRPr lang="en-US" sz="2000" dirty="0"/>
          </a:p>
        </p:txBody>
      </p:sp>
      <p:sp>
        <p:nvSpPr>
          <p:cNvPr id="40" name="en_384"/>
          <p:cNvSpPr/>
          <p:nvPr/>
        </p:nvSpPr>
        <p:spPr>
          <a:xfrm>
            <a:off x="5312664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library</a:t>
            </a:r>
            <a:endParaRPr lang="en-US" sz="1200" dirty="0"/>
          </a:p>
        </p:txBody>
      </p:sp>
      <p:sp>
        <p:nvSpPr>
          <p:cNvPr id="41" name="R7_it385"/>
          <p:cNvSpPr/>
          <p:nvPr/>
        </p:nvSpPr>
        <p:spPr>
          <a:xfrm>
            <a:off x="5312664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biblioteca</a:t>
            </a:r>
            <a:endParaRPr lang="en-US" sz="1000" dirty="0"/>
          </a:p>
        </p:txBody>
      </p:sp>
      <p:sp>
        <p:nvSpPr>
          <p:cNvPr id="42" name="cd_386"/>
          <p:cNvSpPr/>
          <p:nvPr/>
        </p:nvSpPr>
        <p:spPr>
          <a:xfrm>
            <a:off x="6821424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3" name="e_387"/>
          <p:cNvSpPr/>
          <p:nvPr/>
        </p:nvSpPr>
        <p:spPr>
          <a:xfrm>
            <a:off x="6894576" y="235000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📖</a:t>
            </a:r>
            <a:endParaRPr lang="en-US" sz="2000" dirty="0"/>
          </a:p>
        </p:txBody>
      </p:sp>
      <p:sp>
        <p:nvSpPr>
          <p:cNvPr id="44" name="en_388"/>
          <p:cNvSpPr/>
          <p:nvPr/>
        </p:nvSpPr>
        <p:spPr>
          <a:xfrm>
            <a:off x="7479792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bookshop</a:t>
            </a:r>
            <a:endParaRPr lang="en-US" sz="1200" dirty="0"/>
          </a:p>
        </p:txBody>
      </p:sp>
      <p:sp>
        <p:nvSpPr>
          <p:cNvPr id="45" name="R8_it389"/>
          <p:cNvSpPr/>
          <p:nvPr/>
        </p:nvSpPr>
        <p:spPr>
          <a:xfrm>
            <a:off x="7479792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libreria</a:t>
            </a:r>
            <a:endParaRPr lang="en-US" sz="1000" dirty="0"/>
          </a:p>
        </p:txBody>
      </p:sp>
      <p:sp>
        <p:nvSpPr>
          <p:cNvPr id="46" name="cd_390"/>
          <p:cNvSpPr/>
          <p:nvPr/>
        </p:nvSpPr>
        <p:spPr>
          <a:xfrm>
            <a:off x="320040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7" name="e_391"/>
          <p:cNvSpPr/>
          <p:nvPr/>
        </p:nvSpPr>
        <p:spPr>
          <a:xfrm>
            <a:off x="393192" y="317296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👗</a:t>
            </a:r>
            <a:endParaRPr lang="en-US" sz="2000" dirty="0"/>
          </a:p>
        </p:txBody>
      </p:sp>
      <p:sp>
        <p:nvSpPr>
          <p:cNvPr id="48" name="en_392"/>
          <p:cNvSpPr/>
          <p:nvPr/>
        </p:nvSpPr>
        <p:spPr>
          <a:xfrm>
            <a:off x="978408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changing room</a:t>
            </a:r>
            <a:endParaRPr lang="en-US" sz="1200" dirty="0"/>
          </a:p>
        </p:txBody>
      </p:sp>
      <p:sp>
        <p:nvSpPr>
          <p:cNvPr id="49" name="R9_it393"/>
          <p:cNvSpPr/>
          <p:nvPr/>
        </p:nvSpPr>
        <p:spPr>
          <a:xfrm>
            <a:off x="978408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camerino</a:t>
            </a:r>
            <a:endParaRPr lang="en-US" sz="1000" dirty="0"/>
          </a:p>
        </p:txBody>
      </p:sp>
      <p:sp>
        <p:nvSpPr>
          <p:cNvPr id="50" name="cd_394"/>
          <p:cNvSpPr/>
          <p:nvPr/>
        </p:nvSpPr>
        <p:spPr>
          <a:xfrm>
            <a:off x="2487168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1" name="e_395"/>
          <p:cNvSpPr/>
          <p:nvPr/>
        </p:nvSpPr>
        <p:spPr>
          <a:xfrm>
            <a:off x="2560320" y="317296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🏬</a:t>
            </a:r>
            <a:endParaRPr lang="en-US" sz="2000" dirty="0"/>
          </a:p>
        </p:txBody>
      </p:sp>
      <p:sp>
        <p:nvSpPr>
          <p:cNvPr id="52" name="en_396"/>
          <p:cNvSpPr/>
          <p:nvPr/>
        </p:nvSpPr>
        <p:spPr>
          <a:xfrm>
            <a:off x="3145536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department store</a:t>
            </a:r>
            <a:endParaRPr lang="en-US" sz="1200" dirty="0"/>
          </a:p>
        </p:txBody>
      </p:sp>
      <p:sp>
        <p:nvSpPr>
          <p:cNvPr id="53" name="R10_it397"/>
          <p:cNvSpPr/>
          <p:nvPr/>
        </p:nvSpPr>
        <p:spPr>
          <a:xfrm>
            <a:off x="3145536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grande magazzino</a:t>
            </a:r>
            <a:endParaRPr lang="en-US" sz="1000" dirty="0"/>
          </a:p>
        </p:txBody>
      </p:sp>
      <p:sp>
        <p:nvSpPr>
          <p:cNvPr id="54" name="cd_398"/>
          <p:cNvSpPr/>
          <p:nvPr/>
        </p:nvSpPr>
        <p:spPr>
          <a:xfrm>
            <a:off x="4654296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5" name="e_399"/>
          <p:cNvSpPr/>
          <p:nvPr/>
        </p:nvSpPr>
        <p:spPr>
          <a:xfrm>
            <a:off x="4727448" y="317296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👔</a:t>
            </a:r>
            <a:endParaRPr lang="en-US" sz="2000" dirty="0"/>
          </a:p>
        </p:txBody>
      </p:sp>
      <p:sp>
        <p:nvSpPr>
          <p:cNvPr id="56" name="en_400"/>
          <p:cNvSpPr/>
          <p:nvPr/>
        </p:nvSpPr>
        <p:spPr>
          <a:xfrm>
            <a:off x="5312664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It suits you</a:t>
            </a:r>
            <a:endParaRPr lang="en-US" sz="1200" dirty="0"/>
          </a:p>
        </p:txBody>
      </p:sp>
      <p:sp>
        <p:nvSpPr>
          <p:cNvPr id="57" name="R11_it401"/>
          <p:cNvSpPr/>
          <p:nvPr/>
        </p:nvSpPr>
        <p:spPr>
          <a:xfrm>
            <a:off x="5312664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 sta bene</a:t>
            </a:r>
            <a:endParaRPr lang="en-US" sz="1000" dirty="0"/>
          </a:p>
        </p:txBody>
      </p:sp>
      <p:sp>
        <p:nvSpPr>
          <p:cNvPr id="58" name="cd_402"/>
          <p:cNvSpPr/>
          <p:nvPr/>
        </p:nvSpPr>
        <p:spPr>
          <a:xfrm>
            <a:off x="6821424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9" name="e_403"/>
          <p:cNvSpPr/>
          <p:nvPr/>
        </p:nvSpPr>
        <p:spPr>
          <a:xfrm>
            <a:off x="6894576" y="317296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📏</a:t>
            </a:r>
            <a:endParaRPr lang="en-US" sz="2000" dirty="0"/>
          </a:p>
        </p:txBody>
      </p:sp>
      <p:sp>
        <p:nvSpPr>
          <p:cNvPr id="60" name="en_404"/>
          <p:cNvSpPr/>
          <p:nvPr/>
        </p:nvSpPr>
        <p:spPr>
          <a:xfrm>
            <a:off x="7479792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It fits</a:t>
            </a:r>
            <a:endParaRPr lang="en-US" sz="1200" dirty="0"/>
          </a:p>
        </p:txBody>
      </p:sp>
      <p:sp>
        <p:nvSpPr>
          <p:cNvPr id="61" name="R12_it405"/>
          <p:cNvSpPr/>
          <p:nvPr/>
        </p:nvSpPr>
        <p:spPr>
          <a:xfrm>
            <a:off x="7479792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è della taglia giusta</a:t>
            </a:r>
            <a:endParaRPr lang="en-US" sz="1000" dirty="0"/>
          </a:p>
        </p:txBody>
      </p:sp>
      <p:sp>
        <p:nvSpPr>
          <p:cNvPr id="62" name="R13_wc406"/>
          <p:cNvSpPr/>
          <p:nvPr/>
        </p:nvSpPr>
        <p:spPr>
          <a:xfrm>
            <a:off x="320040" y="3931920"/>
            <a:ext cx="8549640" cy="457200"/>
          </a:xfrm>
          <a:prstGeom prst="roundRect">
            <a:avLst>
              <a:gd name="adj" fmla="val 28000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3" name="R13_w407"/>
          <p:cNvSpPr/>
          <p:nvPr/>
        </p:nvSpPr>
        <p:spPr>
          <a:xfrm>
            <a:off x="457200" y="393192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Watch out!  library = biblioteca (NOT libreria!)  ·  He told me / He said (✗ said me)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0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40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410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Sara and the jeans</a:t>
            </a:r>
            <a:endParaRPr lang="en-US" sz="2500" dirty="0"/>
          </a:p>
        </p:txBody>
      </p:sp>
      <p:pic>
        <p:nvPicPr>
          <p:cNvPr id="6" name="brP_41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412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story. Answer the questions!</a:t>
            </a:r>
            <a:endParaRPr lang="en-US" sz="1250" dirty="0"/>
          </a:p>
        </p:txBody>
      </p:sp>
      <p:sp>
        <p:nvSpPr>
          <p:cNvPr id="8" name="insIT_41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la storia. Rispondi alle domande!</a:t>
            </a:r>
            <a:endParaRPr lang="en-US" sz="950" dirty="0"/>
          </a:p>
        </p:txBody>
      </p:sp>
      <p:sp>
        <p:nvSpPr>
          <p:cNvPr id="9" name="cmd_41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415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416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2" name="tag_417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story</a:t>
            </a:r>
            <a:endParaRPr lang="en-US" sz="850" dirty="0"/>
          </a:p>
        </p:txBody>
      </p:sp>
      <p:pic>
        <p:nvPicPr>
          <p:cNvPr id="13" name="logo_41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41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Speaking · class story (TPRS)</a:t>
            </a:r>
            <a:endParaRPr lang="en-US" sz="800" dirty="0"/>
          </a:p>
        </p:txBody>
      </p:sp>
      <p:sp>
        <p:nvSpPr>
          <p:cNvPr id="15" name="cd_420"/>
          <p:cNvSpPr/>
          <p:nvPr/>
        </p:nvSpPr>
        <p:spPr>
          <a:xfrm>
            <a:off x="320040" y="1417320"/>
            <a:ext cx="2697480" cy="2852928"/>
          </a:xfrm>
          <a:prstGeom prst="roundRect">
            <a:avLst>
              <a:gd name="adj" fmla="val 4746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42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17" name="ih_42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Story phrases</a:t>
            </a:r>
            <a:endParaRPr lang="en-US" sz="1300" dirty="0"/>
          </a:p>
        </p:txBody>
      </p:sp>
      <p:sp>
        <p:nvSpPr>
          <p:cNvPr id="18" name="il_423"/>
          <p:cNvSpPr/>
          <p:nvPr/>
        </p:nvSpPr>
        <p:spPr>
          <a:xfrm>
            <a:off x="886968" y="1892808"/>
            <a:ext cx="203911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her if…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 ha chiesto se…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her where…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 ha chiesto dove…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told him (that)…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Gli ha detto che…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try on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provare (un vestito)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doesn't fit.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Non è della taglia giusta.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receipt / refund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scontrino / rimborso</a:t>
            </a:r>
            <a:endParaRPr lang="en-US" sz="1000" dirty="0"/>
          </a:p>
        </p:txBody>
      </p:sp>
      <p:sp>
        <p:nvSpPr>
          <p:cNvPr id="19" name="R1_sb424"/>
          <p:cNvSpPr/>
          <p:nvPr/>
        </p:nvSpPr>
        <p:spPr>
          <a:xfrm>
            <a:off x="3200400" y="1453896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R1_sl425"/>
          <p:cNvSpPr/>
          <p:nvPr/>
        </p:nvSpPr>
        <p:spPr>
          <a:xfrm>
            <a:off x="3584448" y="14173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Sara went into a shop in Palermo to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try on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some jeans.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Did Sara go to a shop or a bank? · What did she want to try on?</a:t>
            </a:r>
            <a:endParaRPr lang="en-US" sz="1250" dirty="0"/>
          </a:p>
        </p:txBody>
      </p:sp>
      <p:sp>
        <p:nvSpPr>
          <p:cNvPr id="21" name="R2_sb426"/>
          <p:cNvSpPr/>
          <p:nvPr/>
        </p:nvSpPr>
        <p:spPr>
          <a:xfrm>
            <a:off x="3200400" y="201777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R2_sl427"/>
          <p:cNvSpPr/>
          <p:nvPr/>
        </p:nvSpPr>
        <p:spPr>
          <a:xfrm>
            <a:off x="3584448" y="198120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assistant 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asked her if she needed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any help. She 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said she was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just looking.</a:t>
            </a:r>
            <a:endParaRPr lang="en-US" sz="95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Did he ask about help or money? · What did Sara say?</a:t>
            </a:r>
            <a:endParaRPr lang="en-US" sz="950" dirty="0"/>
          </a:p>
        </p:txBody>
      </p:sp>
      <p:sp>
        <p:nvSpPr>
          <p:cNvPr id="23" name="R3_sb428"/>
          <p:cNvSpPr/>
          <p:nvPr/>
        </p:nvSpPr>
        <p:spPr>
          <a:xfrm>
            <a:off x="3200400" y="2581656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R3_sl429"/>
          <p:cNvSpPr/>
          <p:nvPr/>
        </p:nvSpPr>
        <p:spPr>
          <a:xfrm>
            <a:off x="3584448" y="254508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Then he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asked her where she lived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and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if she liked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football!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Did he ask where she lived or worked? · What else did he ask?</a:t>
            </a:r>
            <a:endParaRPr lang="en-US" sz="1250" dirty="0"/>
          </a:p>
        </p:txBody>
      </p:sp>
      <p:sp>
        <p:nvSpPr>
          <p:cNvPr id="25" name="R4_sb430"/>
          <p:cNvSpPr/>
          <p:nvPr/>
        </p:nvSpPr>
        <p:spPr>
          <a:xfrm>
            <a:off x="3200400" y="3145536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R4_sl431"/>
          <p:cNvSpPr/>
          <p:nvPr/>
        </p:nvSpPr>
        <p:spPr>
          <a:xfrm>
            <a:off x="3584448" y="310896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asked her what she was doing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after work. She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told him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it was private!</a:t>
            </a:r>
            <a:endParaRPr lang="en-US" sz="100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What did he ask? · What did Sara tell him?</a:t>
            </a:r>
            <a:endParaRPr lang="en-US" sz="1000" dirty="0"/>
          </a:p>
        </p:txBody>
      </p:sp>
      <p:sp>
        <p:nvSpPr>
          <p:cNvPr id="27" name="R5_sb432"/>
          <p:cNvSpPr/>
          <p:nvPr/>
        </p:nvSpPr>
        <p:spPr>
          <a:xfrm>
            <a:off x="3200400" y="3709416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8" name="R5_sl433"/>
          <p:cNvSpPr/>
          <p:nvPr/>
        </p:nvSpPr>
        <p:spPr>
          <a:xfrm>
            <a:off x="3584448" y="367284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 home the jeans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didn't fit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 She went back with the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receipt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for a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refund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0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Did the jeans fit? · What did she take back? · What did she want?</a:t>
            </a:r>
            <a:endParaRPr lang="en-US" sz="1000" dirty="0"/>
          </a:p>
        </p:txBody>
      </p:sp>
      <p:sp>
        <p:nvSpPr>
          <p:cNvPr id="29" name="R6_sb434"/>
          <p:cNvSpPr/>
          <p:nvPr/>
        </p:nvSpPr>
        <p:spPr>
          <a:xfrm>
            <a:off x="3200400" y="427329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R6_sl435"/>
          <p:cNvSpPr/>
          <p:nvPr/>
        </p:nvSpPr>
        <p:spPr>
          <a:xfrm>
            <a:off x="3584448" y="42367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same assistant 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asked her if she was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free on Friday… Sara 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said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no – again!</a:t>
            </a:r>
            <a:endParaRPr lang="en-US" sz="95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What did he ask her? · And you – what did a shop assistant last ask you?</a:t>
            </a:r>
            <a:endParaRPr lang="en-US" sz="9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3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3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438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Report it!</a:t>
            </a:r>
            <a:endParaRPr lang="en-US" sz="2500" dirty="0"/>
          </a:p>
        </p:txBody>
      </p:sp>
      <p:pic>
        <p:nvPicPr>
          <p:cNvPr id="6" name="brP_43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814316" cy="402336"/>
          </a:xfrm>
          <a:prstGeom prst="rect">
            <a:avLst/>
          </a:prstGeom>
        </p:spPr>
      </p:pic>
      <p:sp>
        <p:nvSpPr>
          <p:cNvPr id="7" name="ins_440"/>
          <p:cNvSpPr/>
          <p:nvPr/>
        </p:nvSpPr>
        <p:spPr>
          <a:xfrm>
            <a:off x="1353312" y="731520"/>
            <a:ext cx="45582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your partner. Then report to a new partner!</a:t>
            </a:r>
            <a:endParaRPr lang="en-US" sz="1250" dirty="0"/>
          </a:p>
        </p:txBody>
      </p:sp>
      <p:sp>
        <p:nvSpPr>
          <p:cNvPr id="8" name="insIT_44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Chiedi al compagno. Poi riferisci a un altro!</a:t>
            </a:r>
            <a:endParaRPr lang="en-US" sz="950" dirty="0"/>
          </a:p>
        </p:txBody>
      </p:sp>
      <p:sp>
        <p:nvSpPr>
          <p:cNvPr id="9" name="cmd_44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443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9 min   👥 pairs</a:t>
            </a:r>
            <a:endParaRPr lang="en-US" sz="950" dirty="0"/>
          </a:p>
        </p:txBody>
      </p:sp>
      <p:sp>
        <p:nvSpPr>
          <p:cNvPr id="11" name="tag_444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2" name="logo_44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4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Speaking game · reported speech   ·   📖 SB p.81 · 3b questionnaire</a:t>
            </a:r>
            <a:endParaRPr lang="en-US" sz="800" dirty="0"/>
          </a:p>
        </p:txBody>
      </p:sp>
      <p:sp>
        <p:nvSpPr>
          <p:cNvPr id="14" name="cd_447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448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449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450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your partner 3 questions.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 3 domande al compagno.</a:t>
            </a:r>
            <a:endParaRPr lang="en-US" sz="9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Change partners. Report: "Luca asked me if… I told him…"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Cambia compagno. Riferisci: "Luca mi ha chiesto se…"</a:t>
            </a:r>
            <a:endParaRPr lang="en-US" sz="9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Correct reported sentence = 1 point.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Frase corretta = 1 punto.</a:t>
            </a:r>
            <a:endParaRPr lang="en-US" sz="900" dirty="0"/>
          </a:p>
        </p:txBody>
      </p:sp>
      <p:sp>
        <p:nvSpPr>
          <p:cNvPr id="18" name="st_451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bd_452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453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do you usually buy clothes?</a:t>
            </a:r>
            <a:endParaRPr lang="en-US" sz="1100" dirty="0"/>
          </a:p>
        </p:txBody>
      </p:sp>
      <p:sp>
        <p:nvSpPr>
          <p:cNvPr id="21" name="R1_chip454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asked me where I usually bought clothes.</a:t>
            </a:r>
            <a:endParaRPr lang="en-US" sz="1100" dirty="0"/>
          </a:p>
        </p:txBody>
      </p:sp>
      <p:sp>
        <p:nvSpPr>
          <p:cNvPr id="22" name="bd_455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456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enjoy shopping?</a:t>
            </a:r>
            <a:endParaRPr lang="en-US" sz="1100" dirty="0"/>
          </a:p>
        </p:txBody>
      </p:sp>
      <p:sp>
        <p:nvSpPr>
          <p:cNvPr id="24" name="R2_chip457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asked me if I enjoyed shopping.</a:t>
            </a:r>
            <a:endParaRPr lang="en-US" sz="1100" dirty="0"/>
          </a:p>
        </p:txBody>
      </p:sp>
      <p:sp>
        <p:nvSpPr>
          <p:cNvPr id="25" name="bd_458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459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your favourite shop?</a:t>
            </a:r>
            <a:endParaRPr lang="en-US" sz="1100" dirty="0"/>
          </a:p>
        </p:txBody>
      </p:sp>
      <p:sp>
        <p:nvSpPr>
          <p:cNvPr id="27" name="R3_chip460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asked me what my favourite shop was.</a:t>
            </a:r>
            <a:endParaRPr lang="en-US" sz="1100" dirty="0"/>
          </a:p>
        </p:txBody>
      </p:sp>
      <p:sp>
        <p:nvSpPr>
          <p:cNvPr id="28" name="bd_461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462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returned something?</a:t>
            </a:r>
            <a:endParaRPr lang="en-US" sz="1100" dirty="0"/>
          </a:p>
        </p:txBody>
      </p:sp>
      <p:sp>
        <p:nvSpPr>
          <p:cNvPr id="30" name="R4_chip463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asked me if I had ever returned something.</a:t>
            </a:r>
            <a:endParaRPr lang="en-US" sz="1100" dirty="0"/>
          </a:p>
        </p:txBody>
      </p:sp>
      <p:sp>
        <p:nvSpPr>
          <p:cNvPr id="31" name="bd_464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465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prefer shopping online or in shops?</a:t>
            </a:r>
            <a:endParaRPr lang="en-US" sz="1100" dirty="0"/>
          </a:p>
        </p:txBody>
      </p:sp>
      <p:sp>
        <p:nvSpPr>
          <p:cNvPr id="33" name="R5_chip466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asked me if I preferred shopping online or in shops.</a:t>
            </a:r>
            <a:endParaRPr lang="en-US" sz="1100" dirty="0"/>
          </a:p>
        </p:txBody>
      </p:sp>
      <p:sp>
        <p:nvSpPr>
          <p:cNvPr id="34" name="bd_467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gq_468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you buy last week?</a:t>
            </a:r>
            <a:endParaRPr lang="en-US" sz="1100" dirty="0"/>
          </a:p>
        </p:txBody>
      </p:sp>
      <p:sp>
        <p:nvSpPr>
          <p:cNvPr id="36" name="R6_chip469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asked me what I had bought the week before.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7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7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472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47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474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47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meta_476"/>
          <p:cNvSpPr/>
          <p:nvPr/>
        </p:nvSpPr>
        <p:spPr>
          <a:xfrm>
            <a:off x="6510528" y="182880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0" name="tag_477"/>
          <p:cNvSpPr/>
          <p:nvPr/>
        </p:nvSpPr>
        <p:spPr>
          <a:xfrm>
            <a:off x="6510528" y="420624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850" dirty="0"/>
          </a:p>
        </p:txBody>
      </p:sp>
      <p:pic>
        <p:nvPicPr>
          <p:cNvPr id="11" name="logo_47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47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Exit · what can you remember?</a:t>
            </a:r>
            <a:endParaRPr lang="en-US" sz="800" dirty="0"/>
          </a:p>
        </p:txBody>
      </p:sp>
      <p:sp>
        <p:nvSpPr>
          <p:cNvPr id="13" name="bd_480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rt_481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shopping words (receipt…)</a:t>
            </a:r>
            <a:endParaRPr lang="en-US" sz="1400" dirty="0"/>
          </a:p>
        </p:txBody>
      </p:sp>
      <p:sp>
        <p:nvSpPr>
          <p:cNvPr id="15" name="bd_482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rt_483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things your partner told you – reported!</a:t>
            </a:r>
            <a:endParaRPr lang="en-US" sz="1400" dirty="0"/>
          </a:p>
        </p:txBody>
      </p:sp>
      <p:sp>
        <p:nvSpPr>
          <p:cNvPr id="17" name="bd_484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8" name="rt_485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rule: how do reported questions change?</a:t>
            </a:r>
            <a:endParaRPr lang="en-US" sz="1400" dirty="0"/>
          </a:p>
        </p:txBody>
      </p:sp>
      <p:sp>
        <p:nvSpPr>
          <p:cNvPr id="19" name="cd_486"/>
          <p:cNvSpPr/>
          <p:nvPr/>
        </p:nvSpPr>
        <p:spPr>
          <a:xfrm>
            <a:off x="5669280" y="1417320"/>
            <a:ext cx="3200400" cy="2286000"/>
          </a:xfrm>
          <a:prstGeom prst="roundRect">
            <a:avLst>
              <a:gd name="adj" fmla="val 56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487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1" name="ih_488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2" name="il_489"/>
          <p:cNvSpPr/>
          <p:nvPr/>
        </p:nvSpPr>
        <p:spPr>
          <a:xfrm>
            <a:off x="6236208" y="1892808"/>
            <a:ext cx="2542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Workbook 8B: 1a, 1b, 1c, 2a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 Bank 8B: a 5–7, b 5–7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Homework sheet in the LLS app</a:t>
            </a:r>
            <a:endParaRPr lang="en-US" sz="1150" dirty="0"/>
          </a:p>
        </p:txBody>
      </p:sp>
      <p:sp>
        <p:nvSpPr>
          <p:cNvPr id="23" name="st_490"/>
          <p:cNvSpPr/>
          <p:nvPr/>
        </p:nvSpPr>
        <p:spPr>
          <a:xfrm rot="-180000">
            <a:off x="5806440" y="3931920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8B part 2 · Going the extra mile · complaining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9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49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493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49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495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49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cmd_49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498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950" dirty="0"/>
          </a:p>
        </p:txBody>
      </p:sp>
      <p:sp>
        <p:nvSpPr>
          <p:cNvPr id="11" name="tag_499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Reflection</a:t>
            </a:r>
            <a:endParaRPr lang="en-US" sz="850" dirty="0"/>
          </a:p>
        </p:txBody>
      </p:sp>
      <p:pic>
        <p:nvPicPr>
          <p:cNvPr id="12" name="logo_50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0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Review · what did you do today?</a:t>
            </a:r>
            <a:endParaRPr lang="en-US" sz="800" dirty="0"/>
          </a:p>
        </p:txBody>
      </p:sp>
      <p:sp>
        <p:nvSpPr>
          <p:cNvPr id="14" name="cd_502"/>
          <p:cNvSpPr/>
          <p:nvPr/>
        </p:nvSpPr>
        <p:spPr>
          <a:xfrm>
            <a:off x="548640" y="1417320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te_503"/>
          <p:cNvSpPr/>
          <p:nvPr/>
        </p:nvSpPr>
        <p:spPr>
          <a:xfrm>
            <a:off x="640080" y="1453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👀</a:t>
            </a:r>
            <a:endParaRPr lang="en-US" sz="1800" dirty="0"/>
          </a:p>
        </p:txBody>
      </p:sp>
      <p:sp>
        <p:nvSpPr>
          <p:cNvPr id="16" name="tt_504"/>
          <p:cNvSpPr/>
          <p:nvPr/>
        </p:nvSpPr>
        <p:spPr>
          <a:xfrm>
            <a:off x="1188720" y="14173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about a VERY helpful shop assistant</a:t>
            </a:r>
            <a:endParaRPr lang="en-US" sz="1350" dirty="0"/>
          </a:p>
        </p:txBody>
      </p:sp>
      <p:sp>
        <p:nvSpPr>
          <p:cNvPr id="17" name="R1_tk505"/>
          <p:cNvSpPr/>
          <p:nvPr/>
        </p:nvSpPr>
        <p:spPr>
          <a:xfrm>
            <a:off x="5989320" y="145389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8" name="cd_506"/>
          <p:cNvSpPr/>
          <p:nvPr/>
        </p:nvSpPr>
        <p:spPr>
          <a:xfrm>
            <a:off x="548640" y="2020824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te_507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✏️</a:t>
            </a:r>
            <a:endParaRPr lang="en-US" sz="1800" dirty="0"/>
          </a:p>
        </p:txBody>
      </p:sp>
      <p:sp>
        <p:nvSpPr>
          <p:cNvPr id="20" name="tt_508"/>
          <p:cNvSpPr/>
          <p:nvPr/>
        </p:nvSpPr>
        <p:spPr>
          <a:xfrm>
            <a:off x="1188720" y="202082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Reported what people said and asked</a:t>
            </a:r>
            <a:endParaRPr lang="en-US" sz="1350" dirty="0"/>
          </a:p>
        </p:txBody>
      </p:sp>
      <p:sp>
        <p:nvSpPr>
          <p:cNvPr id="21" name="R2_tk509"/>
          <p:cNvSpPr/>
          <p:nvPr/>
        </p:nvSpPr>
        <p:spPr>
          <a:xfrm>
            <a:off x="5989320" y="2057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2" name="cd_510"/>
          <p:cNvSpPr/>
          <p:nvPr/>
        </p:nvSpPr>
        <p:spPr>
          <a:xfrm>
            <a:off x="548640" y="2624328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te_511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🛍️</a:t>
            </a:r>
            <a:endParaRPr lang="en-US" sz="1800" dirty="0"/>
          </a:p>
        </p:txBody>
      </p:sp>
      <p:sp>
        <p:nvSpPr>
          <p:cNvPr id="24" name="tt_512"/>
          <p:cNvSpPr/>
          <p:nvPr/>
        </p:nvSpPr>
        <p:spPr>
          <a:xfrm>
            <a:off x="1188720" y="262432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Learnt shopping words: receipt, refund, bargain…</a:t>
            </a:r>
            <a:endParaRPr lang="en-US" sz="1350" dirty="0"/>
          </a:p>
        </p:txBody>
      </p:sp>
      <p:sp>
        <p:nvSpPr>
          <p:cNvPr id="25" name="R3_tk513"/>
          <p:cNvSpPr/>
          <p:nvPr/>
        </p:nvSpPr>
        <p:spPr>
          <a:xfrm>
            <a:off x="5989320" y="26609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6" name="cd_514"/>
          <p:cNvSpPr/>
          <p:nvPr/>
        </p:nvSpPr>
        <p:spPr>
          <a:xfrm>
            <a:off x="548640" y="3227832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te_515"/>
          <p:cNvSpPr/>
          <p:nvPr/>
        </p:nvSpPr>
        <p:spPr>
          <a:xfrm>
            <a:off x="640080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28" name="tt_516"/>
          <p:cNvSpPr/>
          <p:nvPr/>
        </p:nvSpPr>
        <p:spPr>
          <a:xfrm>
            <a:off x="1188720" y="322783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a class story and answered questions</a:t>
            </a:r>
            <a:endParaRPr lang="en-US" sz="1350" dirty="0"/>
          </a:p>
        </p:txBody>
      </p:sp>
      <p:sp>
        <p:nvSpPr>
          <p:cNvPr id="29" name="R4_tk517"/>
          <p:cNvSpPr/>
          <p:nvPr/>
        </p:nvSpPr>
        <p:spPr>
          <a:xfrm>
            <a:off x="5989320" y="326440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0" name="cd_518"/>
          <p:cNvSpPr/>
          <p:nvPr/>
        </p:nvSpPr>
        <p:spPr>
          <a:xfrm>
            <a:off x="548640" y="3831336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te_519"/>
          <p:cNvSpPr/>
          <p:nvPr/>
        </p:nvSpPr>
        <p:spPr>
          <a:xfrm>
            <a:off x="640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32" name="tt_520"/>
          <p:cNvSpPr/>
          <p:nvPr/>
        </p:nvSpPr>
        <p:spPr>
          <a:xfrm>
            <a:off x="1188720" y="3831336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Talked about your shopping habits</a:t>
            </a:r>
            <a:endParaRPr lang="en-US" sz="1350" dirty="0"/>
          </a:p>
        </p:txBody>
      </p:sp>
      <p:sp>
        <p:nvSpPr>
          <p:cNvPr id="33" name="R5_tk521"/>
          <p:cNvSpPr/>
          <p:nvPr/>
        </p:nvSpPr>
        <p:spPr>
          <a:xfrm>
            <a:off x="5989320" y="38679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st_522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8B-1 Have a nice day!</dc:title>
  <dc:subject>PptxGenJS Presentation</dc:subject>
  <dc:creator>PptxGenJS</dc:creator>
  <cp:lastModifiedBy>PptxGenJS</cp:lastModifiedBy>
  <cp:revision>1</cp:revision>
  <dcterms:created xsi:type="dcterms:W3CDTF">2026-10-15T09:30:10Z</dcterms:created>
  <dcterms:modified xsi:type="dcterms:W3CDTF">2026-10-15T09:30:10Z</dcterms:modified>
</cp:coreProperties>
</file>