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61 min including a 4-minute TPRS class story ('Gino meets the parents') after the intonation slide. Timings are a guide: if you don't finish, note the slide you reached and start from there next lesson. If short of time, cut 'Social English in Italian' to 1 min and 'Have you heard my news?'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click once per word to show its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after the reactions chart, the How / What rule and the intonation practice, and before the game 'React!': students hear (and the class SAYS, with big interested music) the reactions for good, bad, surprising and interesting news many times before they have to choose them under pressure. Same situation as the video (meeting a partner's parents), but a new, local story. Click once per line. For each line: 1) say it, 2) ask the questions round the class (yes/no → either/or → who/what), 3) let the CLASS change details: 'Does Gino bring cannoli? No? What does he bring?' – accept their idea and use it in later lines. Make the class say the parents' reactions in chorus with exaggerated intonation. Students answer with one word or a short phrase – that's fine. Finish: 'What happens next?' – one or two ideas, then play 'React!'. Watch for ✗ What fantastic! · ✗ How a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in Italian (2 min)
CONSOLIDATION for slower students (2 min). Class says the Italian, then click once per word to show its Italian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14 and 20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watch Jenny and Rob meet her parents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react to good, bad and surprising news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sound interested: copy the music!</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use Social English: I mean…, Not really…</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role-play meeting the parents</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bb_12"/>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5" name="st_13"/>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6" name="logo_14"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1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Revision · last lesson</a:t>
            </a:r>
            <a:endParaRPr lang="en-US" sz="800" dirty="0"/>
          </a:p>
        </p:txBody>
      </p:sp>
      <p:sp>
        <p:nvSpPr>
          <p:cNvPr id="12" name="pf_24"/>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5" descr="/home/claude/lls-course/v2/cache/1b2_bossy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6"/>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29"/>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personality and birth order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 File 1: food and family words</a:t>
            </a:r>
            <a:endParaRPr lang="en-US" sz="1100" dirty="0"/>
          </a:p>
        </p:txBody>
      </p:sp>
      <p:sp>
        <p:nvSpPr>
          <p:cNvPr id="18" name="kw_30"/>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1"/>
          <p:cNvSpPr/>
          <p:nvPr/>
        </p:nvSpPr>
        <p:spPr>
          <a:xfrm>
            <a:off x="3246120" y="1783080"/>
            <a:ext cx="1106424"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reliable</a:t>
            </a:r>
            <a:endParaRPr lang="en-US" sz="1200" dirty="0"/>
          </a:p>
        </p:txBody>
      </p:sp>
      <p:sp>
        <p:nvSpPr>
          <p:cNvPr id="20" name="w_32"/>
          <p:cNvSpPr/>
          <p:nvPr/>
        </p:nvSpPr>
        <p:spPr>
          <a:xfrm>
            <a:off x="4443984" y="1783080"/>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stubborn</a:t>
            </a:r>
            <a:endParaRPr lang="en-US" sz="1200" dirty="0"/>
          </a:p>
        </p:txBody>
      </p:sp>
      <p:sp>
        <p:nvSpPr>
          <p:cNvPr id="21" name="w_33"/>
          <p:cNvSpPr/>
          <p:nvPr/>
        </p:nvSpPr>
        <p:spPr>
          <a:xfrm>
            <a:off x="5641848" y="1783080"/>
            <a:ext cx="84582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bossy</a:t>
            </a:r>
            <a:endParaRPr lang="en-US" sz="1200" dirty="0"/>
          </a:p>
        </p:txBody>
      </p:sp>
      <p:sp>
        <p:nvSpPr>
          <p:cNvPr id="22" name="w_34"/>
          <p:cNvSpPr/>
          <p:nvPr/>
        </p:nvSpPr>
        <p:spPr>
          <a:xfrm>
            <a:off x="6579108" y="1783080"/>
            <a:ext cx="1280160"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3" name="w_35"/>
          <p:cNvSpPr/>
          <p:nvPr/>
        </p:nvSpPr>
        <p:spPr>
          <a:xfrm>
            <a:off x="3246120" y="2185416"/>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4" name="w_36"/>
          <p:cNvSpPr/>
          <p:nvPr/>
        </p:nvSpPr>
        <p:spPr>
          <a:xfrm>
            <a:off x="4965192" y="2185416"/>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5" name="w_37"/>
          <p:cNvSpPr/>
          <p:nvPr/>
        </p:nvSpPr>
        <p:spPr>
          <a:xfrm>
            <a:off x="6336792" y="2185416"/>
            <a:ext cx="119329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aubergine</a:t>
            </a:r>
            <a:endParaRPr lang="en-US" sz="1200" dirty="0"/>
          </a:p>
        </p:txBody>
      </p:sp>
      <p:sp>
        <p:nvSpPr>
          <p:cNvPr id="26" name="w_38"/>
          <p:cNvSpPr/>
          <p:nvPr/>
        </p:nvSpPr>
        <p:spPr>
          <a:xfrm>
            <a:off x="7621524" y="2185416"/>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lamb</a:t>
            </a:r>
            <a:endParaRPr lang="en-US" sz="1200" dirty="0"/>
          </a:p>
        </p:txBody>
      </p:sp>
      <p:sp>
        <p:nvSpPr>
          <p:cNvPr id="27" name="lv_39"/>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0"/>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1"/>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2"/>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3"/>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100" dirty="0"/>
          </a:p>
        </p:txBody>
      </p:sp>
      <p:sp>
        <p:nvSpPr>
          <p:cNvPr id="32" name="rf_44"/>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opposites: un- · a dis- · an im- · an in-</a:t>
            </a:r>
            <a:endParaRPr lang="en-US" sz="850" dirty="0"/>
          </a:p>
        </p:txBody>
      </p:sp>
      <p:sp>
        <p:nvSpPr>
          <p:cNvPr id="33" name="R1_rl45"/>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050" dirty="0"/>
          </a:p>
        </p:txBody>
      </p:sp>
      <p:sp>
        <p:nvSpPr>
          <p:cNvPr id="34" name="cd_46"/>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7"/>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100" dirty="0"/>
          </a:p>
        </p:txBody>
      </p:sp>
      <p:sp>
        <p:nvSpPr>
          <p:cNvPr id="36" name="rf_48"/>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Make a step- · a half- · a -in-law · a great-</a:t>
            </a:r>
            <a:endParaRPr lang="en-US" sz="900" dirty="0"/>
          </a:p>
        </p:txBody>
      </p:sp>
      <p:sp>
        <p:nvSpPr>
          <p:cNvPr id="37" name="R2_rl49"/>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900" dirty="0"/>
          </a:p>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900" dirty="0"/>
          </a:p>
          <a:p>
            <a:pPr indent="0" marL="0">
              <a:spcAft>
                <a:spcPts val="300"/>
              </a:spcAft>
              <a:buNone/>
            </a:pPr>
            <a:r>
              <a:rPr lang="en-US" sz="90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3"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4"/>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note_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Warmer · File 1 · food and family   ·   📖 Recycles File 1: 1A food and cooking · 1B family · 1B personality</a:t>
            </a:r>
            <a:endParaRPr lang="en-US" sz="800" dirty="0"/>
          </a:p>
        </p:txBody>
      </p:sp>
      <p:sp>
        <p:nvSpPr>
          <p:cNvPr id="12" name="cd_59"/>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say the word – 10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dite la parola – 10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word = 1 point. Spelling = +1.</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Parola giusta = 1 punto. Spelling = +1.</a:t>
            </a:r>
            <a:endParaRPr lang="en-US" sz="1200" dirty="0"/>
          </a:p>
        </p:txBody>
      </p:sp>
      <p:sp>
        <p:nvSpPr>
          <p:cNvPr id="16" name="pf_63"/>
          <p:cNvSpPr/>
          <p:nvPr/>
        </p:nvSpPr>
        <p:spPr>
          <a:xfrm rot="-120000">
            <a:off x="411480" y="3980688"/>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4" descr="/home/claude/lls-course/v2/cache/spare_1a1_supper_jpg_572x253_31.png">    </p:cNvPr>
          <p:cNvPicPr>
            <a:picLocks noChangeAspect="1"/>
          </p:cNvPicPr>
          <p:nvPr/>
        </p:nvPicPr>
        <p:blipFill>
          <a:blip r:embed="rId5"/>
          <a:stretch>
            <a:fillRect/>
          </a:stretch>
        </p:blipFill>
        <p:spPr>
          <a:xfrm rot="-120000">
            <a:off x="457200" y="4026408"/>
            <a:ext cx="2377440" cy="1051560"/>
          </a:xfrm>
          <a:prstGeom prst="rect">
            <a:avLst/>
          </a:prstGeom>
        </p:spPr>
      </p:pic>
      <p:sp>
        <p:nvSpPr>
          <p:cNvPr id="18" name="bd_65"/>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6"/>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sister's husband</a:t>
            </a:r>
            <a:endParaRPr lang="en-US" sz="900" dirty="0"/>
          </a:p>
        </p:txBody>
      </p:sp>
      <p:sp>
        <p:nvSpPr>
          <p:cNvPr id="20" name="chip_67"/>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brother-in-law</a:t>
            </a:r>
            <a:endParaRPr lang="en-US" sz="1200" dirty="0"/>
          </a:p>
        </p:txBody>
      </p:sp>
      <p:sp>
        <p:nvSpPr>
          <p:cNvPr id="21" name="bd_68"/>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9"/>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00" dirty="0"/>
          </a:p>
        </p:txBody>
      </p:sp>
      <p:sp>
        <p:nvSpPr>
          <p:cNvPr id="23" name="R1_chip70"/>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lamb</a:t>
            </a:r>
            <a:endParaRPr lang="en-US" sz="1200" dirty="0"/>
          </a:p>
        </p:txBody>
      </p:sp>
      <p:sp>
        <p:nvSpPr>
          <p:cNvPr id="24" name="bd_71"/>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2"/>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00" dirty="0"/>
          </a:p>
        </p:txBody>
      </p:sp>
      <p:sp>
        <p:nvSpPr>
          <p:cNvPr id="26" name="R2_chip73"/>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stepmother</a:t>
            </a:r>
            <a:endParaRPr lang="en-US" sz="1200" dirty="0"/>
          </a:p>
        </p:txBody>
      </p:sp>
      <p:sp>
        <p:nvSpPr>
          <p:cNvPr id="27" name="bd_74"/>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5"/>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00" dirty="0"/>
          </a:p>
        </p:txBody>
      </p:sp>
      <p:sp>
        <p:nvSpPr>
          <p:cNvPr id="29" name="R3_chip76"/>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raw</a:t>
            </a:r>
            <a:endParaRPr lang="en-US" sz="1200" dirty="0"/>
          </a:p>
        </p:txBody>
      </p:sp>
      <p:sp>
        <p:nvSpPr>
          <p:cNvPr id="30" name="bd_77"/>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8"/>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900" dirty="0"/>
          </a:p>
        </p:txBody>
      </p:sp>
      <p:sp>
        <p:nvSpPr>
          <p:cNvPr id="32" name="R4_chip79"/>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an only child</a:t>
            </a:r>
            <a:endParaRPr lang="en-US" sz="1200" dirty="0"/>
          </a:p>
        </p:txBody>
      </p:sp>
      <p:sp>
        <p:nvSpPr>
          <p:cNvPr id="33" name="bd_80"/>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1"/>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900" dirty="0"/>
          </a:p>
        </p:txBody>
      </p:sp>
      <p:sp>
        <p:nvSpPr>
          <p:cNvPr id="35" name="R5_chip82"/>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aubergine</a:t>
            </a:r>
            <a:endParaRPr lang="en-US" sz="1200" dirty="0"/>
          </a:p>
        </p:txBody>
      </p:sp>
      <p:sp>
        <p:nvSpPr>
          <p:cNvPr id="36" name="bd_83"/>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4"/>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Your grandmother's mother</a:t>
            </a:r>
            <a:endParaRPr lang="en-US" sz="900" dirty="0"/>
          </a:p>
        </p:txBody>
      </p:sp>
      <p:sp>
        <p:nvSpPr>
          <p:cNvPr id="38" name="R6_chip85"/>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great-grandmother</a:t>
            </a:r>
            <a:endParaRPr lang="en-US" sz="1200" dirty="0"/>
          </a:p>
        </p:txBody>
      </p:sp>
      <p:sp>
        <p:nvSpPr>
          <p:cNvPr id="39" name="bd_86"/>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7"/>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900" dirty="0"/>
          </a:p>
        </p:txBody>
      </p:sp>
      <p:sp>
        <p:nvSpPr>
          <p:cNvPr id="41" name="R7_chip88"/>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2"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3"/>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Chi sono Jenny e Rob?</a:t>
            </a:r>
            <a:endParaRPr lang="en-US" sz="950" dirty="0"/>
          </a:p>
        </p:txBody>
      </p:sp>
      <p:sp>
        <p:nvSpPr>
          <p:cNvPr id="9" name="note_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Episode 1 · Introduction   ·   📖 SB p.14 · 1a, 1b · video Episode 1 Introduction / audio 1.26</a:t>
            </a:r>
            <a:endParaRPr lang="en-US" sz="800" dirty="0"/>
          </a:p>
        </p:txBody>
      </p:sp>
      <p:sp>
        <p:nvSpPr>
          <p:cNvPr id="12" name="ap_98"/>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3" name="ah_9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0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0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102"/>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10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10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105"/>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photos A and B. Describe Jenny and Rob.</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le foto A e B. Descrivi Jenny e Rob.</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22" name="lq_106"/>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23" name="R1_chip107"/>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24" name="lq_108"/>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25" name="R2_chip109"/>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26" name="lq_110"/>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27" name="R3_chip111"/>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28" name="lq_112"/>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29" name="R4_chip113"/>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1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1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1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riguarda.</a:t>
            </a:r>
            <a:endParaRPr lang="en-US" sz="950" dirty="0"/>
          </a:p>
        </p:txBody>
      </p:sp>
      <p:sp>
        <p:nvSpPr>
          <p:cNvPr id="9" name="note_1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TPRS · reading</a:t>
            </a:r>
            <a:endParaRPr lang="en-US" sz="1150" dirty="0"/>
          </a:p>
        </p:txBody>
      </p:sp>
      <p:pic>
        <p:nvPicPr>
          <p:cNvPr id="10" name="logo_1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detail · gap fill   ·   📖 SB p.14 · 1b · video Introduction / audio 1.26</a:t>
            </a:r>
            <a:endParaRPr lang="en-US" sz="800" dirty="0"/>
          </a:p>
        </p:txBody>
      </p:sp>
      <p:sp>
        <p:nvSpPr>
          <p:cNvPr id="12" name="cd_12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2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4" name="ln_125"/>
          <p:cNvSpPr/>
          <p:nvPr/>
        </p:nvSpPr>
        <p:spPr>
          <a:xfrm>
            <a:off x="548640" y="1920240"/>
            <a:ext cx="5349240" cy="47860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called New York 24seven.</a:t>
            </a:r>
            <a:endParaRPr lang="en-US" sz="1300" dirty="0"/>
          </a:p>
        </p:txBody>
      </p:sp>
      <p:sp>
        <p:nvSpPr>
          <p:cNvPr id="15" name="R1_lnA126"/>
          <p:cNvSpPr/>
          <p:nvPr/>
        </p:nvSpPr>
        <p:spPr>
          <a:xfrm>
            <a:off x="548640" y="1920240"/>
            <a:ext cx="5349240" cy="47860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300" dirty="0">
                <a:solidFill>
                  <a:srgbClr val="1B2559"/>
                </a:solidFill>
                <a:latin typeface="Georgia" pitchFamily="34" charset="0"/>
                <a:ea typeface="Georgia" pitchFamily="34" charset="-122"/>
                <a:cs typeface="Georgia" pitchFamily="34" charset="-120"/>
              </a:rPr>
              <a:t> called New York 24seven.</a:t>
            </a:r>
            <a:endParaRPr lang="en-US" sz="1300" dirty="0"/>
          </a:p>
        </p:txBody>
      </p:sp>
      <p:sp>
        <p:nvSpPr>
          <p:cNvPr id="16" name="ln_127"/>
          <p:cNvSpPr/>
          <p:nvPr/>
        </p:nvSpPr>
        <p:spPr>
          <a:xfrm>
            <a:off x="548640" y="2398847"/>
            <a:ext cx="5349240" cy="23634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She's American and he's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R2_lnA128"/>
          <p:cNvSpPr/>
          <p:nvPr/>
        </p:nvSpPr>
        <p:spPr>
          <a:xfrm>
            <a:off x="548640" y="2398847"/>
            <a:ext cx="5349240" cy="23634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She's American and he's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ln_129"/>
          <p:cNvSpPr/>
          <p:nvPr/>
        </p:nvSpPr>
        <p:spPr>
          <a:xfrm>
            <a:off x="548640" y="2635196"/>
            <a:ext cx="5349240" cy="2599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Rob came to New York a few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ago.</a:t>
            </a:r>
            <a:endParaRPr lang="en-US" sz="1300" dirty="0"/>
          </a:p>
        </p:txBody>
      </p:sp>
      <p:sp>
        <p:nvSpPr>
          <p:cNvPr id="19" name="R3_lnA130"/>
          <p:cNvSpPr/>
          <p:nvPr/>
        </p:nvSpPr>
        <p:spPr>
          <a:xfrm>
            <a:off x="548640" y="2635196"/>
            <a:ext cx="5349240" cy="2599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Rob came to New York a few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300" dirty="0">
                <a:solidFill>
                  <a:srgbClr val="1B2559"/>
                </a:solidFill>
                <a:latin typeface="Georgia" pitchFamily="34" charset="0"/>
                <a:ea typeface="Georgia" pitchFamily="34" charset="-122"/>
                <a:cs typeface="Georgia" pitchFamily="34" charset="-120"/>
              </a:rPr>
              <a:t> ago.</a:t>
            </a:r>
            <a:endParaRPr lang="en-US" sz="1300" dirty="0"/>
          </a:p>
        </p:txBody>
      </p:sp>
      <p:sp>
        <p:nvSpPr>
          <p:cNvPr id="20" name="ln_131"/>
          <p:cNvSpPr/>
          <p:nvPr/>
        </p:nvSpPr>
        <p:spPr>
          <a:xfrm>
            <a:off x="548640" y="2895180"/>
            <a:ext cx="5349240" cy="36634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on a work trip.</a:t>
            </a:r>
            <a:endParaRPr lang="en-US" sz="1300" dirty="0"/>
          </a:p>
        </p:txBody>
      </p:sp>
      <p:sp>
        <p:nvSpPr>
          <p:cNvPr id="21" name="R4_lnA132"/>
          <p:cNvSpPr/>
          <p:nvPr/>
        </p:nvSpPr>
        <p:spPr>
          <a:xfrm>
            <a:off x="548640" y="2895180"/>
            <a:ext cx="5349240" cy="36634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300" dirty="0">
                <a:solidFill>
                  <a:srgbClr val="1B2559"/>
                </a:solidFill>
                <a:latin typeface="Georgia" pitchFamily="34" charset="0"/>
                <a:ea typeface="Georgia" pitchFamily="34" charset="-122"/>
                <a:cs typeface="Georgia" pitchFamily="34" charset="-120"/>
              </a:rPr>
              <a:t> on a work trip.</a:t>
            </a:r>
            <a:endParaRPr lang="en-US" sz="1300" dirty="0"/>
          </a:p>
        </p:txBody>
      </p:sp>
      <p:sp>
        <p:nvSpPr>
          <p:cNvPr id="22" name="ln_133"/>
          <p:cNvSpPr/>
          <p:nvPr/>
        </p:nvSpPr>
        <p:spPr>
          <a:xfrm>
            <a:off x="548640" y="3261521"/>
            <a:ext cx="5349240" cy="45497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R5_lnA134"/>
          <p:cNvSpPr/>
          <p:nvPr/>
        </p:nvSpPr>
        <p:spPr>
          <a:xfrm>
            <a:off x="548640" y="3261521"/>
            <a:ext cx="5349240" cy="454972"/>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4" name="ln_135"/>
          <p:cNvSpPr/>
          <p:nvPr/>
        </p:nvSpPr>
        <p:spPr>
          <a:xfrm>
            <a:off x="548640" y="3716494"/>
            <a:ext cx="5349240" cy="2599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Later, he was offered a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job.</a:t>
            </a:r>
            <a:endParaRPr lang="en-US" sz="1300" dirty="0"/>
          </a:p>
        </p:txBody>
      </p:sp>
      <p:sp>
        <p:nvSpPr>
          <p:cNvPr id="25" name="R6_lnA136"/>
          <p:cNvSpPr/>
          <p:nvPr/>
        </p:nvSpPr>
        <p:spPr>
          <a:xfrm>
            <a:off x="548640" y="3716494"/>
            <a:ext cx="5349240" cy="2599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Later, he was offered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300" dirty="0">
                <a:solidFill>
                  <a:srgbClr val="1B2559"/>
                </a:solidFill>
                <a:latin typeface="Georgia" pitchFamily="34" charset="0"/>
                <a:ea typeface="Georgia" pitchFamily="34" charset="-122"/>
                <a:cs typeface="Georgia" pitchFamily="34" charset="-120"/>
              </a:rPr>
              <a:t> job.</a:t>
            </a:r>
            <a:endParaRPr lang="en-US" sz="1300" dirty="0"/>
          </a:p>
        </p:txBody>
      </p:sp>
      <p:sp>
        <p:nvSpPr>
          <p:cNvPr id="26" name="ln_137"/>
          <p:cNvSpPr/>
          <p:nvPr/>
        </p:nvSpPr>
        <p:spPr>
          <a:xfrm>
            <a:off x="548640" y="3976478"/>
            <a:ext cx="5349240" cy="24225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helped Rob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an apartment.</a:t>
            </a:r>
            <a:endParaRPr lang="en-US" sz="1300" dirty="0"/>
          </a:p>
        </p:txBody>
      </p:sp>
      <p:sp>
        <p:nvSpPr>
          <p:cNvPr id="27" name="R7_lnA138"/>
          <p:cNvSpPr/>
          <p:nvPr/>
        </p:nvSpPr>
        <p:spPr>
          <a:xfrm>
            <a:off x="548640" y="3976478"/>
            <a:ext cx="5349240" cy="24225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helped Rob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300" dirty="0">
                <a:solidFill>
                  <a:srgbClr val="1B2559"/>
                </a:solidFill>
                <a:latin typeface="Georgia" pitchFamily="34" charset="0"/>
                <a:ea typeface="Georgia" pitchFamily="34" charset="-122"/>
                <a:cs typeface="Georgia" pitchFamily="34" charset="-120"/>
              </a:rPr>
              <a:t> an apartment.</a:t>
            </a:r>
            <a:endParaRPr lang="en-US" sz="1300" dirty="0"/>
          </a:p>
        </p:txBody>
      </p:sp>
      <p:sp>
        <p:nvSpPr>
          <p:cNvPr id="28" name="ln_139"/>
          <p:cNvSpPr/>
          <p:nvPr/>
        </p:nvSpPr>
        <p:spPr>
          <a:xfrm>
            <a:off x="548640" y="4218736"/>
            <a:ext cx="5349240" cy="49042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300" b="1" dirty="0">
                <a:solidFill>
                  <a:srgbClr val="2EB872"/>
                </a:solidFill>
                <a:latin typeface="Georgia" pitchFamily="34" charset="0"/>
                <a:ea typeface="Georgia" pitchFamily="34" charset="-122"/>
                <a:cs typeface="Georgia" pitchFamily="34" charset="-120"/>
              </a:rPr>
              <a:t> (8)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9" name="R8_lnA140"/>
          <p:cNvSpPr/>
          <p:nvPr/>
        </p:nvSpPr>
        <p:spPr>
          <a:xfrm>
            <a:off x="548640" y="4218736"/>
            <a:ext cx="5349240" cy="49042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30" name="ap_141"/>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1" name="ah_1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2"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3" name="ah_1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5" name="cd_14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6" name="ii_14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7" name="ih_14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8" name="il_14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apartment = American English</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flat = British English</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2"/>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2"/>
                                        </p:tgtEl>
                                      </p:cBhvr>
                                    </p:cmd>
                                  </p:childTnLst>
                                </p:cTn>
                              </p:par>
                            </p:childTnLst>
                          </p:cTn>
                        </p:par>
                      </p:childTnLst>
                    </p:cTn>
                  </p:par>
                </p:childTnLst>
              </p:cTn>
              <p:nextCondLst>
                <p:cond evt="onClick" delay="0">
                  <p:tgtEl>
                    <p:spTgt spid="32"/>
                  </p:tgtEl>
                </p:cond>
              </p:nextCondLst>
            </p:seq>
            <p:seq concurrent="1" nextAc="seek">
              <p:cTn id="48" restart="whenNotActive" fill="hold" evtFilter="cancelBubble" nodeType="interactiveSeq">
                <p:stCondLst>
                  <p:cond evt="onClick" delay="0">
                    <p:tgtEl>
                      <p:spTgt spid="3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4"/>
                                        </p:tgtEl>
                                      </p:cBhvr>
                                    </p:cmd>
                                  </p:childTnLst>
                                </p:cTn>
                              </p:par>
                            </p:childTnLst>
                          </p:cTn>
                        </p:par>
                      </p:childTnLst>
                    </p:cTn>
                  </p:par>
                </p:childTnLst>
              </p:cTn>
              <p:nextCondLst>
                <p:cond evt="onClick" delay="0">
                  <p:tgtEl>
                    <p:spTgt spid="34"/>
                  </p:tgtEl>
                </p:cond>
              </p:nextCondLst>
            </p:seq>
            <p:audio>
              <p:cMediaNode vol="80000">
                <p:cTn id="53" fill="hold" display="0">
                  <p:stCondLst>
                    <p:cond delay="indefinite"/>
                  </p:stCondLst>
                  <p:endCondLst>
                    <p:cond evt="onStopAudio" delay="0">
                      <p:tgtEl>
                        <p:sldTgt/>
                      </p:tgtEl>
                    </p:cond>
                  </p:endCondLst>
                </p:cTn>
                <p:tgtEl>
                  <p:spTgt spid="32"/>
                </p:tgtEl>
              </p:cMediaNode>
            </p:audio>
            <p:audio>
              <p:cMediaNode vol="80000">
                <p:cTn id="54" fill="hold" display="0">
                  <p:stCondLst>
                    <p:cond delay="indefinite"/>
                  </p:stCondLst>
                  <p:endCondLst>
                    <p:cond evt="onStopAudio" delay="0">
                      <p:tgtEl>
                        <p:sldTgt/>
                      </p:tgtEl>
                    </p:cond>
                  </p:endCondLst>
                </p:cTn>
                <p:tgtEl>
                  <p:spTgt spid="34"/>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Qual è la notizia brutta e quella bella?</a:t>
            </a:r>
            <a:endParaRPr lang="en-US" sz="950" dirty="0"/>
          </a:p>
        </p:txBody>
      </p:sp>
      <p:sp>
        <p:nvSpPr>
          <p:cNvPr id="9" name="note_1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gist   ·   📖 SB p.14 · 2a · video Scene 1 / audio 1.27</a:t>
            </a:r>
            <a:endParaRPr lang="en-US" sz="800" dirty="0"/>
          </a:p>
        </p:txBody>
      </p:sp>
      <p:sp>
        <p:nvSpPr>
          <p:cNvPr id="12" name="ap_15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3" name="ah_15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5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6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161"/>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16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16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164"/>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What's the problem?</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Qual è il problema?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22" name="lq_165"/>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23" name="R1_chip166"/>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24" name="lq_167"/>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25" name="R2_chip168"/>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26" name="lq_169"/>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27" name="R3_chip170"/>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7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note_1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detail   ·   📖 SB p.14 · 2b · video Scene 1 / audio 1.27</a:t>
            </a:r>
            <a:endParaRPr lang="en-US" sz="800" dirty="0"/>
          </a:p>
        </p:txBody>
      </p:sp>
      <p:sp>
        <p:nvSpPr>
          <p:cNvPr id="12" name="ap_180"/>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3" name="ah_18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8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18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8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8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186"/>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1" name="R1_chip187"/>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2" name="gq_188"/>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3" name="R2_chip189"/>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24" name="gq_190"/>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25" name="R3_chip191"/>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26" name="gq_192"/>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27" name="R4_chip193"/>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28" name="gq_194"/>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29" name="R5_chip195"/>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0" name="gq_196"/>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1" name="R6_chip197"/>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0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0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Poi ascolta.</a:t>
            </a:r>
            <a:endParaRPr lang="en-US" sz="950" dirty="0"/>
          </a:p>
        </p:txBody>
      </p:sp>
      <p:sp>
        <p:nvSpPr>
          <p:cNvPr id="9" name="note_20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reacting to what people say   ·   📖 SB p.14 · 2c · video listen and check / audio 1.28</a:t>
            </a:r>
            <a:endParaRPr lang="en-US" sz="800" dirty="0"/>
          </a:p>
        </p:txBody>
      </p:sp>
      <p:sp>
        <p:nvSpPr>
          <p:cNvPr id="12" name="ap_20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3" name="ah_2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21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213"/>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1" name="R1_chip214"/>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2" name="gq_215"/>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3" name="R2_chip216"/>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4" name="gq_217"/>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25" name="R3_chip218"/>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26" name="gq_219"/>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27" name="R4_chip220"/>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28" name="gq_221"/>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29" name="R5_chip222"/>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0" name="gq_223"/>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1" name="R6_chip224"/>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2" name="gq_225"/>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3" name="R7_chip226"/>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3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Sorprendente, bella o brutta notizia? Abbina.</a:t>
            </a:r>
            <a:endParaRPr lang="en-US" sz="950" dirty="0"/>
          </a:p>
        </p:txBody>
      </p:sp>
      <p:sp>
        <p:nvSpPr>
          <p:cNvPr id="9" name="note_23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2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the reactions chart   ·   📖 SB p.15 · 2d · chart 'Reacting to what people say'</a:t>
            </a:r>
            <a:endParaRPr lang="en-US" sz="800" dirty="0"/>
          </a:p>
        </p:txBody>
      </p:sp>
      <p:sp>
        <p:nvSpPr>
          <p:cNvPr id="12" name="cd_236"/>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23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6" name="lg_24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7" name="lg_241"/>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18" name="lg_242"/>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19" name="sq_243"/>
          <p:cNvSpPr/>
          <p:nvPr/>
        </p:nvSpPr>
        <p:spPr>
          <a:xfrm>
            <a:off x="3246120" y="141732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0" name="R1_tag244"/>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1" name="sq_245"/>
          <p:cNvSpPr/>
          <p:nvPr/>
        </p:nvSpPr>
        <p:spPr>
          <a:xfrm>
            <a:off x="3246120" y="178308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2" name="R2_tag246"/>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47"/>
          <p:cNvSpPr/>
          <p:nvPr/>
        </p:nvSpPr>
        <p:spPr>
          <a:xfrm>
            <a:off x="3246120" y="214884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4" name="R3_tag248"/>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5" name="sq_249"/>
          <p:cNvSpPr/>
          <p:nvPr/>
        </p:nvSpPr>
        <p:spPr>
          <a:xfrm>
            <a:off x="3246120" y="251460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6" name="R4_tag250"/>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7" name="sq_251"/>
          <p:cNvSpPr/>
          <p:nvPr/>
        </p:nvSpPr>
        <p:spPr>
          <a:xfrm>
            <a:off x="3246120" y="288036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28" name="R5_tag252"/>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53"/>
          <p:cNvSpPr/>
          <p:nvPr/>
        </p:nvSpPr>
        <p:spPr>
          <a:xfrm>
            <a:off x="3246120" y="324612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0" name="R6_tag254"/>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55"/>
          <p:cNvSpPr/>
          <p:nvPr/>
        </p:nvSpPr>
        <p:spPr>
          <a:xfrm>
            <a:off x="3246120" y="361188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2" name="R7_tag256"/>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3" name="sq_257"/>
          <p:cNvSpPr/>
          <p:nvPr/>
        </p:nvSpPr>
        <p:spPr>
          <a:xfrm>
            <a:off x="3246120" y="397764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4" name="R8_tag258"/>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59"/>
          <p:cNvSpPr/>
          <p:nvPr/>
        </p:nvSpPr>
        <p:spPr>
          <a:xfrm>
            <a:off x="3246120" y="434340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6" name="R9_tag260"/>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6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6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6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2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in Italian</a:t>
            </a:r>
            <a:endParaRPr lang="en-US" sz="800" dirty="0"/>
          </a:p>
        </p:txBody>
      </p:sp>
      <p:sp>
        <p:nvSpPr>
          <p:cNvPr id="12" name="cd_27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7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7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5" name="R1_it27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6" name="cd_27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7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7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19" name="R2_it27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0" name="cd_27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7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8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3" name="R3_it28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4" name="cd_28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8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8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7" name="R4_it28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8" name="cd_28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8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8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1" name="R5_it28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2" name="cd_29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9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9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5" name="R6_it29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6" name="cd_29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9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9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39" name="R7_it29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0" name="cd_29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9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0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3" name="R8_it30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4" name="cd_30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0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0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7" name="R9_it30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8" name="cd_30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0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0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1" name="R10_it30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2" name="cd_31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1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1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5" name="R11_it31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6" name="cd_31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1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1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59" name="R12_it31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0" name="R13_wc31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1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2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2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2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How o What? Guarda gli esempi.</a:t>
            </a:r>
            <a:endParaRPr lang="en-US" sz="950" dirty="0"/>
          </a:p>
        </p:txBody>
      </p:sp>
      <p:sp>
        <p:nvSpPr>
          <p:cNvPr id="9" name="note_32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3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How + adjective, What + noun   ·   📖 SB p.15 · box 'How + adjective, What + noun'</a:t>
            </a:r>
            <a:endParaRPr lang="en-US" sz="800" dirty="0"/>
          </a:p>
        </p:txBody>
      </p:sp>
      <p:sp>
        <p:nvSpPr>
          <p:cNvPr id="12" name="cd_329"/>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33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4" name="pf_331"/>
          <p:cNvSpPr/>
          <p:nvPr/>
        </p:nvSpPr>
        <p:spPr>
          <a:xfrm>
            <a:off x="1118422" y="1938528"/>
            <a:ext cx="1161676"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32" descr="/home/claude/lls-course/v2/cache/spare_work_success_jpg_257x209_31.png">    </p:cNvPr>
          <p:cNvPicPr>
            <a:picLocks noChangeAspect="1"/>
          </p:cNvPicPr>
          <p:nvPr/>
        </p:nvPicPr>
        <p:blipFill>
          <a:blip r:embed="rId5"/>
          <a:stretch>
            <a:fillRect/>
          </a:stretch>
        </p:blipFill>
        <p:spPr>
          <a:xfrm>
            <a:off x="1164142" y="1984248"/>
            <a:ext cx="1070236" cy="868680"/>
          </a:xfrm>
          <a:prstGeom prst="rect">
            <a:avLst/>
          </a:prstGeom>
        </p:spPr>
      </p:pic>
      <p:sp>
        <p:nvSpPr>
          <p:cNvPr id="16" name="ru_33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7" name="R1_rx33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8" name="R1_ri33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bello! · Che interessante!</a:t>
            </a:r>
            <a:endParaRPr lang="en-US" sz="900" dirty="0"/>
          </a:p>
        </p:txBody>
      </p:sp>
      <p:sp>
        <p:nvSpPr>
          <p:cNvPr id="19" name="cd_336"/>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33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1" name="ru_338"/>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2" name="R2_rx339"/>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3" name="R2_ri340"/>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peccato! · Che disastro!</a:t>
            </a:r>
            <a:endParaRPr lang="en-US" sz="900" dirty="0"/>
          </a:p>
        </p:txBody>
      </p:sp>
      <p:sp>
        <p:nvSpPr>
          <p:cNvPr id="24" name="cd_341"/>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rh_342"/>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6" name="pf_343"/>
          <p:cNvSpPr/>
          <p:nvPr/>
        </p:nvSpPr>
        <p:spPr>
          <a:xfrm>
            <a:off x="6902225" y="1938528"/>
            <a:ext cx="117647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44" descr="/home/claude/lls-course/v2/cache/spare_life_celebrations_jpg_261x209_31.png">    </p:cNvPr>
          <p:cNvPicPr>
            <a:picLocks noChangeAspect="1"/>
          </p:cNvPicPr>
          <p:nvPr/>
        </p:nvPicPr>
        <p:blipFill>
          <a:blip r:embed="rId6"/>
          <a:stretch>
            <a:fillRect/>
          </a:stretch>
        </p:blipFill>
        <p:spPr>
          <a:xfrm>
            <a:off x="6947945" y="1984248"/>
            <a:ext cx="1085030" cy="868680"/>
          </a:xfrm>
          <a:prstGeom prst="rect">
            <a:avLst/>
          </a:prstGeom>
        </p:spPr>
      </p:pic>
      <p:sp>
        <p:nvSpPr>
          <p:cNvPr id="28" name="ru_345"/>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29" name="R3_rx346"/>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0" name="R3_ri347"/>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news = notizie: no 'a'!</a:t>
            </a:r>
            <a:endParaRPr lang="en-US" sz="900" dirty="0"/>
          </a:p>
        </p:txBody>
      </p:sp>
      <p:sp>
        <p:nvSpPr>
          <p:cNvPr id="31" name="R4_wc348"/>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2" name="R4_w34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0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5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la musica: su e giù!</a:t>
            </a:r>
            <a:endParaRPr lang="en-US" sz="950" dirty="0"/>
          </a:p>
        </p:txBody>
      </p:sp>
      <p:sp>
        <p:nvSpPr>
          <p:cNvPr id="9" name="note_3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3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Pronunciation · sounding interested   ·   📖 SB p.15 · 2d, 2e · video listen and repeat / audio 1.29</a:t>
            </a:r>
            <a:endParaRPr lang="en-US" sz="800" dirty="0"/>
          </a:p>
        </p:txBody>
      </p:sp>
      <p:sp>
        <p:nvSpPr>
          <p:cNvPr id="12" name="ap_359"/>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3" name="ah_36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6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362"/>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36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64"/>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65"/>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1" name="bd_366"/>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w367"/>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3" name="R2_sf36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4" name="bd_369"/>
          <p:cNvSpPr/>
          <p:nvPr/>
        </p:nvSpPr>
        <p:spPr>
          <a:xfrm>
            <a:off x="3291840" y="211226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R3_sw370"/>
          <p:cNvSpPr/>
          <p:nvPr/>
        </p:nvSpPr>
        <p:spPr>
          <a:xfrm>
            <a:off x="3749040" y="2084832"/>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26" name="R4_sf371"/>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27" name="bd_372"/>
          <p:cNvSpPr/>
          <p:nvPr/>
        </p:nvSpPr>
        <p:spPr>
          <a:xfrm>
            <a:off x="3291840" y="277977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R5_sw373"/>
          <p:cNvSpPr/>
          <p:nvPr/>
        </p:nvSpPr>
        <p:spPr>
          <a:xfrm>
            <a:off x="3749040" y="2752344"/>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29" name="R6_sf374"/>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0" name="bd_375"/>
          <p:cNvSpPr/>
          <p:nvPr/>
        </p:nvSpPr>
        <p:spPr>
          <a:xfrm>
            <a:off x="3291840" y="344728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R7_sw376"/>
          <p:cNvSpPr/>
          <p:nvPr/>
        </p:nvSpPr>
        <p:spPr>
          <a:xfrm>
            <a:off x="3749040"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2" name="R8_sf377"/>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3" name="bd_378"/>
          <p:cNvSpPr/>
          <p:nvPr/>
        </p:nvSpPr>
        <p:spPr>
          <a:xfrm>
            <a:off x="3291840" y="411480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R9_sw379"/>
          <p:cNvSpPr/>
          <p:nvPr/>
        </p:nvSpPr>
        <p:spPr>
          <a:xfrm>
            <a:off x="3749040"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35" name="R9_sw380"/>
          <p:cNvSpPr/>
          <p:nvPr/>
        </p:nvSpPr>
        <p:spPr>
          <a:xfrm>
            <a:off x="4773168"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36" name="R9_sw381"/>
          <p:cNvSpPr/>
          <p:nvPr/>
        </p:nvSpPr>
        <p:spPr>
          <a:xfrm>
            <a:off x="5797296"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37" name="R10_sf382"/>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4"/>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4"/>
                                        </p:tgtEl>
                                      </p:cBhvr>
                                    </p:cmd>
                                  </p:childTnLst>
                                </p:cTn>
                              </p:par>
                            </p:childTnLst>
                          </p:cTn>
                        </p:par>
                      </p:childTnLst>
                    </p:cTn>
                  </p:par>
                </p:childTnLst>
              </p:cTn>
              <p:nextCondLst>
                <p:cond evt="onClick" delay="0">
                  <p:tgtEl>
                    <p:spTgt spid="14"/>
                  </p:tgtEl>
                </p:cond>
              </p:nextCondLst>
            </p:seq>
            <p:seq concurrent="1" nextAc="seek">
              <p:cTn id="64" restart="whenNotActive" fill="hold" evtFilter="cancelBubble" nodeType="interactiveSeq">
                <p:stCondLst>
                  <p:cond evt="onClick" delay="0">
                    <p:tgtEl>
                      <p:spTgt spid="16"/>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6"/>
                                        </p:tgtEl>
                                      </p:cBhvr>
                                    </p:cmd>
                                  </p:childTnLst>
                                </p:cTn>
                              </p:par>
                            </p:childTnLst>
                          </p:cTn>
                        </p:par>
                      </p:childTnLst>
                    </p:cTn>
                  </p:par>
                </p:childTnLst>
              </p:cTn>
              <p:nextCondLst>
                <p:cond evt="onClick" delay="0">
                  <p:tgtEl>
                    <p:spTgt spid="16"/>
                  </p:tgtEl>
                </p:cond>
              </p:nextCondLst>
            </p:seq>
            <p:audio>
              <p:cMediaNode vol="80000">
                <p:cTn id="69" fill="hold" display="0">
                  <p:stCondLst>
                    <p:cond delay="indefinite"/>
                  </p:stCondLst>
                  <p:endCondLst>
                    <p:cond evt="onStopAudio" delay="0">
                      <p:tgtEl>
                        <p:sldTgt/>
                      </p:tgtEl>
                    </p:cond>
                  </p:endCondLst>
                </p:cTn>
                <p:tgtEl>
                  <p:spTgt spid="14"/>
                </p:tgtEl>
              </p:cMediaNode>
            </p:audio>
            <p:audio>
              <p:cMediaNode vol="80000">
                <p:cTn id="70"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8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Gino meets the parents</a:t>
            </a:r>
            <a:endParaRPr lang="en-US" sz="2500" dirty="0"/>
          </a:p>
        </p:txBody>
      </p:sp>
      <p:pic>
        <p:nvPicPr>
          <p:cNvPr id="6" name="brP_38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8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8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class story (TPRS)</a:t>
            </a:r>
            <a:endParaRPr lang="en-US" sz="800" dirty="0"/>
          </a:p>
        </p:txBody>
      </p:sp>
      <p:sp>
        <p:nvSpPr>
          <p:cNvPr id="12" name="pf_392"/>
          <p:cNvSpPr/>
          <p:nvPr/>
        </p:nvSpPr>
        <p:spPr>
          <a:xfrm rot="-90000">
            <a:off x="899045" y="1417320"/>
            <a:ext cx="158519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93" descr="/home/claude/lls-course/v2/cache/spare_future_parents_jpg_359x286_31.png">    </p:cNvPr>
          <p:cNvPicPr>
            <a:picLocks noChangeAspect="1"/>
          </p:cNvPicPr>
          <p:nvPr/>
        </p:nvPicPr>
        <p:blipFill>
          <a:blip r:embed="rId5"/>
          <a:stretch>
            <a:fillRect/>
          </a:stretch>
        </p:blipFill>
        <p:spPr>
          <a:xfrm rot="-90000">
            <a:off x="944765" y="1463040"/>
            <a:ext cx="1493750" cy="1188720"/>
          </a:xfrm>
          <a:prstGeom prst="rect">
            <a:avLst/>
          </a:prstGeom>
        </p:spPr>
      </p:pic>
      <p:sp>
        <p:nvSpPr>
          <p:cNvPr id="14" name="cd_394"/>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95"/>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6"/>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97"/>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How fantastic!</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Fantastico! / Che bello!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What a pity. Never mind.</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Che peccato. Pazienza.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Really? How interesting!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Davvero? Che interessante!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You're kidding!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Stai scherzando!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Oh no!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Oh no!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What a great idea!</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Che bella idea!</a:t>
            </a:r>
            <a:endParaRPr lang="en-US" sz="700" dirty="0"/>
          </a:p>
        </p:txBody>
      </p:sp>
      <p:sp>
        <p:nvSpPr>
          <p:cNvPr id="18" name="R1_sb398"/>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99"/>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Gino meets his girlfriend's parents. He brings cannoli. Her mum says,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How fantastic!</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Gino bring cannoli or flowers? · What does Mum say?</a:t>
            </a:r>
            <a:endParaRPr lang="en-US" sz="900" dirty="0"/>
          </a:p>
        </p:txBody>
      </p:sp>
      <p:sp>
        <p:nvSpPr>
          <p:cNvPr id="20" name="R2_sb400"/>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01"/>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Oh no! Gino sits on the cannoli. Mum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What a pity. Never mind.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Where does Gino sit? · Good or bad news? · What does Mum say?</a:t>
            </a:r>
            <a:endParaRPr lang="en-US" sz="1050" dirty="0"/>
          </a:p>
        </p:txBody>
      </p:sp>
      <p:sp>
        <p:nvSpPr>
          <p:cNvPr id="22" name="R3_sb402"/>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03"/>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Gino says, 'I've got some news. I'm a chef!' Dad says,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Really? How interesting!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Gino a chef or a teacher? · What does Dad say?</a:t>
            </a:r>
            <a:endParaRPr lang="en-US" sz="900" dirty="0"/>
          </a:p>
        </p:txBody>
      </p:sp>
      <p:sp>
        <p:nvSpPr>
          <p:cNvPr id="24" name="R4_sb404"/>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05"/>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make fifty arancine in ten minutes!' Dad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You're kidding!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How many arancine? · Does Dad believe him?</a:t>
            </a:r>
            <a:endParaRPr lang="en-US" sz="1050" dirty="0"/>
          </a:p>
        </p:txBody>
      </p:sp>
      <p:sp>
        <p:nvSpPr>
          <p:cNvPr id="26" name="R5_sb406"/>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07"/>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Gino cooks the arancine. They're black! Everybody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Oh no!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Are the arancine golden or black? · What does everybody say?</a:t>
            </a:r>
            <a:endParaRPr lang="en-US" sz="1100" dirty="0"/>
          </a:p>
        </p:txBody>
      </p:sp>
      <p:sp>
        <p:nvSpPr>
          <p:cNvPr id="28" name="R6_sb408"/>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09"/>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Dad says, 'Let's order a pizza!' Mum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What a great idea!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does Dad want? · And you – what do you take when you meet new people?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1"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12"/>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1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1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notizia. Reagisci in 5 secondi!</a:t>
            </a:r>
            <a:endParaRPr lang="en-US" sz="950" dirty="0"/>
          </a:p>
        </p:txBody>
      </p:sp>
      <p:sp>
        <p:nvSpPr>
          <p:cNvPr id="9" name="note_41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game</a:t>
            </a:r>
            <a:endParaRPr lang="en-US" sz="800" dirty="0"/>
          </a:p>
        </p:txBody>
      </p:sp>
      <p:sp>
        <p:nvSpPr>
          <p:cNvPr id="12" name="cd_419"/>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2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22"/>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react + ask a question – 5 seconds!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reagite + fate una domanda – 5 secondi!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Right reaction + right music = 2 points.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Reazione giusta + intonazione = 2 punti.</a:t>
            </a:r>
            <a:endParaRPr lang="en-US" sz="1100" dirty="0"/>
          </a:p>
        </p:txBody>
      </p:sp>
      <p:sp>
        <p:nvSpPr>
          <p:cNvPr id="16" name="pf_423"/>
          <p:cNvSpPr/>
          <p:nvPr/>
        </p:nvSpPr>
        <p:spPr>
          <a:xfrm rot="-120000">
            <a:off x="943471" y="3980688"/>
            <a:ext cx="140489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24" descr="/home/claude/lls-course/v2/cache/spare_life_celebrations_jpg_316x253_31.png">    </p:cNvPr>
          <p:cNvPicPr>
            <a:picLocks noChangeAspect="1"/>
          </p:cNvPicPr>
          <p:nvPr/>
        </p:nvPicPr>
        <p:blipFill>
          <a:blip r:embed="rId5"/>
          <a:stretch>
            <a:fillRect/>
          </a:stretch>
        </p:blipFill>
        <p:spPr>
          <a:xfrm rot="-120000">
            <a:off x="989191" y="4026408"/>
            <a:ext cx="1313458" cy="1051560"/>
          </a:xfrm>
          <a:prstGeom prst="rect">
            <a:avLst/>
          </a:prstGeom>
        </p:spPr>
      </p:pic>
      <p:sp>
        <p:nvSpPr>
          <p:cNvPr id="18" name="bd_425"/>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26"/>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250" dirty="0"/>
          </a:p>
        </p:txBody>
      </p:sp>
      <p:sp>
        <p:nvSpPr>
          <p:cNvPr id="20" name="chip_427"/>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200" dirty="0"/>
          </a:p>
        </p:txBody>
      </p:sp>
      <p:sp>
        <p:nvSpPr>
          <p:cNvPr id="21" name="bd_428"/>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29"/>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missed the last bus home."</a:t>
            </a:r>
            <a:endParaRPr lang="en-US" sz="1250" dirty="0"/>
          </a:p>
        </p:txBody>
      </p:sp>
      <p:sp>
        <p:nvSpPr>
          <p:cNvPr id="23" name="R1_chip430"/>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200" dirty="0"/>
          </a:p>
        </p:txBody>
      </p:sp>
      <p:sp>
        <p:nvSpPr>
          <p:cNvPr id="24" name="bd_431"/>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32"/>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250" dirty="0"/>
          </a:p>
        </p:txBody>
      </p:sp>
      <p:sp>
        <p:nvSpPr>
          <p:cNvPr id="26" name="R2_chip433"/>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200" dirty="0"/>
          </a:p>
        </p:txBody>
      </p:sp>
      <p:sp>
        <p:nvSpPr>
          <p:cNvPr id="27" name="bd_434"/>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35"/>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250" dirty="0"/>
          </a:p>
        </p:txBody>
      </p:sp>
      <p:sp>
        <p:nvSpPr>
          <p:cNvPr id="29" name="R3_chip436"/>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a great idea!</a:t>
            </a:r>
            <a:endParaRPr lang="en-US" sz="1200" dirty="0"/>
          </a:p>
        </p:txBody>
      </p:sp>
      <p:sp>
        <p:nvSpPr>
          <p:cNvPr id="30" name="bd_437"/>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38"/>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"Sorry, I forgot my homework!"</a:t>
            </a:r>
            <a:endParaRPr lang="en-US" sz="1250" dirty="0"/>
          </a:p>
        </p:txBody>
      </p:sp>
      <p:sp>
        <p:nvSpPr>
          <p:cNvPr id="32" name="R4_chip439"/>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200" dirty="0"/>
          </a:p>
        </p:txBody>
      </p:sp>
      <p:sp>
        <p:nvSpPr>
          <p:cNvPr id="33" name="bd_440"/>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41"/>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250" dirty="0"/>
          </a:p>
        </p:txBody>
      </p:sp>
      <p:sp>
        <p:nvSpPr>
          <p:cNvPr id="35" name="R5_chip442"/>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4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notizia. Il compagno reagisce!</a:t>
            </a:r>
            <a:endParaRPr lang="en-US" sz="950" dirty="0"/>
          </a:p>
        </p:txBody>
      </p:sp>
      <p:sp>
        <p:nvSpPr>
          <p:cNvPr id="9" name="note_4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telling news and reacting   ·   📖 SB p.15 · 2f · Communication How awful! How fantastic! (A p.106, B p.111)</a:t>
            </a:r>
            <a:endParaRPr lang="en-US" sz="800" dirty="0"/>
          </a:p>
        </p:txBody>
      </p:sp>
      <p:sp>
        <p:nvSpPr>
          <p:cNvPr id="12" name="cd_452"/>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455"/>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When / Where / Who…?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it happen?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Tell me more!</a:t>
            </a:r>
            <a:endParaRPr lang="en-US" sz="1150" dirty="0"/>
          </a:p>
        </p:txBody>
      </p:sp>
      <p:sp>
        <p:nvSpPr>
          <p:cNvPr id="16" name="R1_qb45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45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GOOD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I've passed my driving test! – How fantastic! When?</a:t>
            </a:r>
            <a:endParaRPr lang="en-US" sz="1400" dirty="0"/>
          </a:p>
        </p:txBody>
      </p:sp>
      <p:sp>
        <p:nvSpPr>
          <p:cNvPr id="18" name="R2_qb45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45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small BAD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I've lost my house keys. – Oh no! What a pity. Where?</a:t>
            </a:r>
            <a:endParaRPr lang="en-US" sz="1400" dirty="0"/>
          </a:p>
        </p:txBody>
      </p:sp>
      <p:sp>
        <p:nvSpPr>
          <p:cNvPr id="20" name="R3_qb46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46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SURPRISING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My little brother speaks Chinese! – You're kidding! Really?</a:t>
            </a:r>
            <a:endParaRPr lang="en-US" sz="1400" dirty="0"/>
          </a:p>
        </p:txBody>
      </p:sp>
      <p:sp>
        <p:nvSpPr>
          <p:cNvPr id="22" name="R4_qb46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46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Some INTERESTING news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I'm learning to make cannoli. – Really? How interesting!</a:t>
            </a:r>
            <a:endParaRPr lang="en-US" sz="1400" dirty="0"/>
          </a:p>
        </p:txBody>
      </p:sp>
      <p:sp>
        <p:nvSpPr>
          <p:cNvPr id="24" name="R5_qb464"/>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465"/>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A SUGGESTION</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Shall we eat out on Friday? – What a great idea! Where?</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6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7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4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serata finisce bene?</a:t>
            </a:r>
            <a:endParaRPr lang="en-US" sz="950" dirty="0"/>
          </a:p>
        </p:txBody>
      </p:sp>
      <p:sp>
        <p:nvSpPr>
          <p:cNvPr id="9" name="note_47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4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gist   ·   📖 SB p.15 · 3a · video Scene 2 / audio 1.30</a:t>
            </a:r>
            <a:endParaRPr lang="en-US" sz="800" dirty="0"/>
          </a:p>
        </p:txBody>
      </p:sp>
      <p:sp>
        <p:nvSpPr>
          <p:cNvPr id="12" name="ap_475"/>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3" name="ah_47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7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47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479"/>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480"/>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81"/>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482"/>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 are they talking about?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Di cosa parlano?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Well or badly?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Bene o male?</a:t>
            </a:r>
            <a:endParaRPr lang="en-US" sz="700" dirty="0"/>
          </a:p>
        </p:txBody>
      </p:sp>
      <p:sp>
        <p:nvSpPr>
          <p:cNvPr id="22" name="lq_483"/>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23" name="R1_chip484"/>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24" name="lq_485"/>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25" name="R2_chip486"/>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26" name="lq_487"/>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27" name="R3_chip488"/>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28" name="lq_489"/>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29" name="R4_chip490"/>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9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49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49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4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1–6. Poi riguarda.</a:t>
            </a:r>
            <a:endParaRPr lang="en-US" sz="950" dirty="0"/>
          </a:p>
        </p:txBody>
      </p:sp>
      <p:sp>
        <p:nvSpPr>
          <p:cNvPr id="9" name="note_4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4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detail   ·   📖 SB p.15 · 3b · video Scene 2 / audio 1.30</a:t>
            </a:r>
            <a:endParaRPr lang="en-US" sz="800" dirty="0"/>
          </a:p>
        </p:txBody>
      </p:sp>
      <p:sp>
        <p:nvSpPr>
          <p:cNvPr id="12" name="ap_500"/>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3" name="ah_5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0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0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0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506"/>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1" name="R1_chip507"/>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2" name="gq_508"/>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3" name="R2_chip509"/>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24" name="gq_510"/>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25" name="R3_chip511"/>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26" name="gq_512"/>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27" name="R4_chip513"/>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28" name="gq_514"/>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29" name="R5_chip515"/>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0" name="gq_516"/>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1" name="R6_chip517"/>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2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2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note_52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5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phrases   ·   📖 SB p.15 · 3c, 3d · video Social English / audio 1.31</a:t>
            </a:r>
            <a:endParaRPr lang="en-US" sz="800" dirty="0"/>
          </a:p>
        </p:txBody>
      </p:sp>
      <p:sp>
        <p:nvSpPr>
          <p:cNvPr id="12" name="ap_52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3" name="cd_52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52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3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6" name="gq_531"/>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17" name="R1_chip532"/>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18" name="gq_533"/>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19" name="R2_chip534"/>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0" name="gq_535"/>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1" name="R3_chip536"/>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2" name="gq_537"/>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3" name="R4_chip538"/>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539"/>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25" name="R5_chip540"/>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26" name="gq_541"/>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27" name="R6_chip542"/>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28" name="gq_543"/>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29" name="R7_chip544"/>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0" name="gq_545"/>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1" name="R8_chip546"/>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4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5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55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5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in Italian</a:t>
            </a:r>
            <a:endParaRPr lang="en-US" sz="800" dirty="0"/>
          </a:p>
        </p:txBody>
      </p:sp>
      <p:sp>
        <p:nvSpPr>
          <p:cNvPr id="12" name="cd_556"/>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5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5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5" name="R1_it55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6" name="cd_560"/>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56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56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19" name="R2_it56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0" name="cd_564"/>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56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56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3" name="R3_it56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4" name="cd_568"/>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56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57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7" name="R4_it57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8" name="cd_572"/>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57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57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1" name="R5_it57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2" name="cd_576"/>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57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57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5" name="R6_it57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6" name="cd_580"/>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58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58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39" name="R7_it58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0" name="cd_584"/>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58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58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3" name="R8_it58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4" name="cd_588"/>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58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59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7" name="R9_it59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8" name="cd_592"/>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59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59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1" name="R10_it59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2" name="cd_596"/>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59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59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5" name="R11_it59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6" name="cd_600"/>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60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60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59" name="R12_it60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0" name="R13_wc604"/>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60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0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Vince la squadra più veloce!</a:t>
            </a:r>
            <a:endParaRPr lang="en-US" sz="950" dirty="0"/>
          </a:p>
        </p:txBody>
      </p:sp>
      <p:sp>
        <p:nvSpPr>
          <p:cNvPr id="9" name="note_61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game   ·   📖 SB p.15 · 3e</a:t>
            </a:r>
            <a:endParaRPr lang="en-US" sz="800" dirty="0"/>
          </a:p>
        </p:txBody>
      </p:sp>
      <p:sp>
        <p:nvSpPr>
          <p:cNvPr id="12" name="cd_61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1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6" name="bd_619"/>
          <p:cNvSpPr/>
          <p:nvPr/>
        </p:nvSpPr>
        <p:spPr>
          <a:xfrm>
            <a:off x="3246120" y="1452590"/>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7" name="gq_620"/>
          <p:cNvSpPr/>
          <p:nvPr/>
        </p:nvSpPr>
        <p:spPr>
          <a:xfrm>
            <a:off x="3657600" y="1417320"/>
            <a:ext cx="251460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050" dirty="0"/>
          </a:p>
        </p:txBody>
      </p:sp>
      <p:sp>
        <p:nvSpPr>
          <p:cNvPr id="18" name="chip_621"/>
          <p:cNvSpPr/>
          <p:nvPr/>
        </p:nvSpPr>
        <p:spPr>
          <a:xfrm>
            <a:off x="6263640" y="1417320"/>
            <a:ext cx="256032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Go ahead.</a:t>
            </a:r>
            <a:endParaRPr lang="en-US" sz="1200" dirty="0"/>
          </a:p>
        </p:txBody>
      </p:sp>
      <p:sp>
        <p:nvSpPr>
          <p:cNvPr id="19" name="bd_622"/>
          <p:cNvSpPr/>
          <p:nvPr/>
        </p:nvSpPr>
        <p:spPr>
          <a:xfrm>
            <a:off x="3246120" y="1916321"/>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23"/>
          <p:cNvSpPr/>
          <p:nvPr/>
        </p:nvSpPr>
        <p:spPr>
          <a:xfrm>
            <a:off x="3657600" y="1881051"/>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1" name="R1_chip624"/>
          <p:cNvSpPr/>
          <p:nvPr/>
        </p:nvSpPr>
        <p:spPr>
          <a:xfrm>
            <a:off x="6263640" y="1881051"/>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That's because</a:t>
            </a:r>
            <a:endParaRPr lang="en-US" sz="1200" dirty="0"/>
          </a:p>
        </p:txBody>
      </p:sp>
      <p:sp>
        <p:nvSpPr>
          <p:cNvPr id="22" name="bd_625"/>
          <p:cNvSpPr/>
          <p:nvPr/>
        </p:nvSpPr>
        <p:spPr>
          <a:xfrm>
            <a:off x="3246120" y="2380053"/>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26"/>
          <p:cNvSpPr/>
          <p:nvPr/>
        </p:nvSpPr>
        <p:spPr>
          <a:xfrm>
            <a:off x="3657600" y="2344783"/>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050" dirty="0"/>
          </a:p>
        </p:txBody>
      </p:sp>
      <p:sp>
        <p:nvSpPr>
          <p:cNvPr id="24" name="R2_chip627"/>
          <p:cNvSpPr/>
          <p:nvPr/>
        </p:nvSpPr>
        <p:spPr>
          <a:xfrm>
            <a:off x="6263640" y="2344783"/>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Not really.</a:t>
            </a:r>
            <a:endParaRPr lang="en-US" sz="1200" dirty="0"/>
          </a:p>
        </p:txBody>
      </p:sp>
      <p:sp>
        <p:nvSpPr>
          <p:cNvPr id="25" name="bd_628"/>
          <p:cNvSpPr/>
          <p:nvPr/>
        </p:nvSpPr>
        <p:spPr>
          <a:xfrm>
            <a:off x="3246120" y="284378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629"/>
          <p:cNvSpPr/>
          <p:nvPr/>
        </p:nvSpPr>
        <p:spPr>
          <a:xfrm>
            <a:off x="3657600" y="2808514"/>
            <a:ext cx="2514600" cy="399723"/>
          </a:xfrm>
          <a:prstGeom prst="roundRect">
            <a:avLst>
              <a:gd name="adj" fmla="val 2287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050" dirty="0"/>
          </a:p>
        </p:txBody>
      </p:sp>
      <p:sp>
        <p:nvSpPr>
          <p:cNvPr id="27" name="R3_chip630"/>
          <p:cNvSpPr/>
          <p:nvPr/>
        </p:nvSpPr>
        <p:spPr>
          <a:xfrm>
            <a:off x="6263640" y="2808514"/>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things like that</a:t>
            </a:r>
            <a:endParaRPr lang="en-US" sz="1200" dirty="0"/>
          </a:p>
        </p:txBody>
      </p:sp>
      <p:sp>
        <p:nvSpPr>
          <p:cNvPr id="28" name="bd_631"/>
          <p:cNvSpPr/>
          <p:nvPr/>
        </p:nvSpPr>
        <p:spPr>
          <a:xfrm>
            <a:off x="3246120" y="3307515"/>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632"/>
          <p:cNvSpPr/>
          <p:nvPr/>
        </p:nvSpPr>
        <p:spPr>
          <a:xfrm>
            <a:off x="3657600" y="3272246"/>
            <a:ext cx="2514600" cy="399723"/>
          </a:xfrm>
          <a:prstGeom prst="roundRect">
            <a:avLst>
              <a:gd name="adj" fmla="val 2287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050" dirty="0"/>
          </a:p>
        </p:txBody>
      </p:sp>
      <p:sp>
        <p:nvSpPr>
          <p:cNvPr id="30" name="R4_chip633"/>
          <p:cNvSpPr/>
          <p:nvPr/>
        </p:nvSpPr>
        <p:spPr>
          <a:xfrm>
            <a:off x="6263640" y="3272246"/>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do you see</a:t>
            </a:r>
            <a:endParaRPr lang="en-US" sz="1200" dirty="0"/>
          </a:p>
        </p:txBody>
      </p:sp>
      <p:sp>
        <p:nvSpPr>
          <p:cNvPr id="31" name="bd_634"/>
          <p:cNvSpPr/>
          <p:nvPr/>
        </p:nvSpPr>
        <p:spPr>
          <a:xfrm>
            <a:off x="3246120" y="3771247"/>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635"/>
          <p:cNvSpPr/>
          <p:nvPr/>
        </p:nvSpPr>
        <p:spPr>
          <a:xfrm>
            <a:off x="3657600" y="3735977"/>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050" dirty="0"/>
          </a:p>
        </p:txBody>
      </p:sp>
      <p:sp>
        <p:nvSpPr>
          <p:cNvPr id="33" name="R5_chip636"/>
          <p:cNvSpPr/>
          <p:nvPr/>
        </p:nvSpPr>
        <p:spPr>
          <a:xfrm>
            <a:off x="6263640" y="3735977"/>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incredible!</a:t>
            </a:r>
            <a:endParaRPr lang="en-US" sz="1200" dirty="0"/>
          </a:p>
        </p:txBody>
      </p:sp>
      <p:sp>
        <p:nvSpPr>
          <p:cNvPr id="34" name="bd_637"/>
          <p:cNvSpPr/>
          <p:nvPr/>
        </p:nvSpPr>
        <p:spPr>
          <a:xfrm>
            <a:off x="3246120" y="4234978"/>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638"/>
          <p:cNvSpPr/>
          <p:nvPr/>
        </p:nvSpPr>
        <p:spPr>
          <a:xfrm>
            <a:off x="3657600" y="4199709"/>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050" dirty="0"/>
          </a:p>
        </p:txBody>
      </p:sp>
      <p:sp>
        <p:nvSpPr>
          <p:cNvPr id="36" name="R6_chip639"/>
          <p:cNvSpPr/>
          <p:nvPr/>
        </p:nvSpPr>
        <p:spPr>
          <a:xfrm>
            <a:off x="6263640" y="4199709"/>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mean · guy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4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643"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644"/>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6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3: recitate la scena!</a:t>
            </a:r>
            <a:endParaRPr lang="en-US" sz="950" dirty="0"/>
          </a:p>
        </p:txBody>
      </p:sp>
      <p:sp>
        <p:nvSpPr>
          <p:cNvPr id="9" name="note_6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role play   ·   📖 SB pp.14–15 · Can you…? · role play adapted from the episode</a:t>
            </a:r>
            <a:endParaRPr lang="en-US" sz="800" dirty="0"/>
          </a:p>
        </p:txBody>
      </p:sp>
      <p:sp>
        <p:nvSpPr>
          <p:cNvPr id="12" name="pf_649"/>
          <p:cNvSpPr/>
          <p:nvPr/>
        </p:nvSpPr>
        <p:spPr>
          <a:xfrm rot="-120000">
            <a:off x="893179" y="1371600"/>
            <a:ext cx="16426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650" descr="/home/claude/lls-course/v2/cache/spare_future_parents_jpg_373x297_31.png">    </p:cNvPr>
          <p:cNvPicPr>
            <a:picLocks noChangeAspect="1"/>
          </p:cNvPicPr>
          <p:nvPr/>
        </p:nvPicPr>
        <p:blipFill>
          <a:blip r:embed="rId5"/>
          <a:stretch>
            <a:fillRect/>
          </a:stretch>
        </p:blipFill>
        <p:spPr>
          <a:xfrm rot="-120000">
            <a:off x="938899" y="1417320"/>
            <a:ext cx="1551202" cy="1234440"/>
          </a:xfrm>
          <a:prstGeom prst="rect">
            <a:avLst/>
          </a:prstGeom>
        </p:spPr>
      </p:pic>
      <p:sp>
        <p:nvSpPr>
          <p:cNvPr id="14" name="cd_65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Mum, this is… · It's so nice to meet you at last!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Sorry we're late! · Never mind.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Not really. · I mean… · Go ahead!</a:t>
            </a:r>
            <a:endParaRPr lang="en-US" sz="1100" dirty="0"/>
          </a:p>
        </p:txBody>
      </p:sp>
      <p:sp>
        <p:nvSpPr>
          <p:cNvPr id="18" name="R1_qb65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5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Mum, this is Luca. – It's so nice to meet you at last!</a:t>
            </a:r>
            <a:endParaRPr lang="en-US" sz="1050" dirty="0"/>
          </a:p>
        </p:txBody>
      </p:sp>
      <p:sp>
        <p:nvSpPr>
          <p:cNvPr id="20" name="R2_qb65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5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We left your cannoli on the bus! – What a pity. Never mind.</a:t>
            </a:r>
            <a:endParaRPr lang="en-US" sz="1050" dirty="0"/>
          </a:p>
        </p:txBody>
      </p:sp>
      <p:sp>
        <p:nvSpPr>
          <p:cNvPr id="22" name="R3_qb65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6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got a new job! – Really? How fantastic!</a:t>
            </a:r>
            <a:endParaRPr lang="en-US" sz="1050" dirty="0"/>
          </a:p>
        </p:txBody>
      </p:sp>
      <p:sp>
        <p:nvSpPr>
          <p:cNvPr id="24" name="R4_qb66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6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How do you see your future? – Not sure. I mean, I like cooking…</a:t>
            </a:r>
            <a:endParaRPr lang="en-US" sz="1050" dirty="0"/>
          </a:p>
        </p:txBody>
      </p:sp>
      <p:sp>
        <p:nvSpPr>
          <p:cNvPr id="26" name="R5_qb663"/>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664"/>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 ahead – have an arancina! – I'm a chef, you know. – Really?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6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6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6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7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Exit · what can you remember?</a:t>
            </a:r>
            <a:endParaRPr lang="en-US" sz="800" dirty="0"/>
          </a:p>
        </p:txBody>
      </p:sp>
      <p:sp>
        <p:nvSpPr>
          <p:cNvPr id="12" name="bd_674"/>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75"/>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reactions: good news, bad news, surprising</a:t>
            </a:r>
            <a:endParaRPr lang="en-US" sz="1400" dirty="0"/>
          </a:p>
        </p:txBody>
      </p:sp>
      <p:sp>
        <p:nvSpPr>
          <p:cNvPr id="14" name="bd_676"/>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77"/>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Social English phrases (I mean…)</a:t>
            </a:r>
            <a:endParaRPr lang="en-US" sz="1400" dirty="0"/>
          </a:p>
        </p:txBody>
      </p:sp>
      <p:sp>
        <p:nvSpPr>
          <p:cNvPr id="16" name="bd_678"/>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79"/>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piece of news – your partner reacts!</a:t>
            </a:r>
            <a:endParaRPr lang="en-US" sz="1400" dirty="0"/>
          </a:p>
        </p:txBody>
      </p:sp>
      <p:sp>
        <p:nvSpPr>
          <p:cNvPr id="18" name="cd_680"/>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8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8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83"/>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1: 1a, 1b, 2, 3</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 (File 1 revision)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84"/>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8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8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8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8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Review · what did you do today?</a:t>
            </a:r>
            <a:endParaRPr lang="en-US" sz="800" dirty="0"/>
          </a:p>
        </p:txBody>
      </p:sp>
      <p:sp>
        <p:nvSpPr>
          <p:cNvPr id="12" name="cd_694"/>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95"/>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96"/>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Jenny and Rob meet her parents</a:t>
            </a:r>
            <a:endParaRPr lang="en-US" sz="1350" dirty="0"/>
          </a:p>
        </p:txBody>
      </p:sp>
      <p:sp>
        <p:nvSpPr>
          <p:cNvPr id="15" name="R1_tk697"/>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98"/>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99"/>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700"/>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Reacted to good, bad and surprising news</a:t>
            </a:r>
            <a:endParaRPr lang="en-US" sz="1350" dirty="0"/>
          </a:p>
        </p:txBody>
      </p:sp>
      <p:sp>
        <p:nvSpPr>
          <p:cNvPr id="19" name="R2_tk701"/>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702"/>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703"/>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704"/>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Sounded interested: copy the music!</a:t>
            </a:r>
            <a:endParaRPr lang="en-US" sz="1350" dirty="0"/>
          </a:p>
        </p:txBody>
      </p:sp>
      <p:sp>
        <p:nvSpPr>
          <p:cNvPr id="23" name="R3_tk705"/>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706"/>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707"/>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708"/>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Social English: I mean…, Not really…</a:t>
            </a:r>
            <a:endParaRPr lang="en-US" sz="1350" dirty="0"/>
          </a:p>
        </p:txBody>
      </p:sp>
      <p:sp>
        <p:nvSpPr>
          <p:cNvPr id="27" name="R4_tk709"/>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710"/>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711"/>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712"/>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713"/>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714"/>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715"/>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716"/>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meeting the parents</a:t>
            </a:r>
            <a:endParaRPr lang="en-US" sz="1350" dirty="0"/>
          </a:p>
        </p:txBody>
      </p:sp>
      <p:sp>
        <p:nvSpPr>
          <p:cNvPr id="35" name="R6_tk717"/>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71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19"/>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20"/>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21"/>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22"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24"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725"/>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72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2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7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Poi aggiungi: Per fortuna / Purtroppo…</a:t>
            </a:r>
            <a:endParaRPr lang="en-US" sz="950" dirty="0"/>
          </a:p>
        </p:txBody>
      </p:sp>
      <p:sp>
        <p:nvSpPr>
          <p:cNvPr id="9" name="note_72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7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Extra game · chain story</a:t>
            </a:r>
            <a:endParaRPr lang="en-US" sz="800" dirty="0"/>
          </a:p>
        </p:txBody>
      </p:sp>
      <p:sp>
        <p:nvSpPr>
          <p:cNvPr id="12" name="ext_73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33"/>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36"/>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Listen to the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Ascolta la frase.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React – a DIFFERENT phrase each time!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Reagisci – ogni volta una frase DIVERSA!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Add: Fortunately… / Unfortunately…</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Aggiungi: Per fortuna… / Purtroppo…</a:t>
            </a:r>
            <a:endParaRPr lang="en-US" sz="1000" dirty="0"/>
          </a:p>
        </p:txBody>
      </p:sp>
      <p:sp>
        <p:nvSpPr>
          <p:cNvPr id="17" name="bd_737"/>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738"/>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250" dirty="0"/>
          </a:p>
        </p:txBody>
      </p:sp>
      <p:sp>
        <p:nvSpPr>
          <p:cNvPr id="19" name="chip_739"/>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200" dirty="0"/>
          </a:p>
        </p:txBody>
      </p:sp>
      <p:sp>
        <p:nvSpPr>
          <p:cNvPr id="20" name="bd_740"/>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41"/>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concert was in Rome.</a:t>
            </a:r>
            <a:endParaRPr lang="en-US" sz="1250" dirty="0"/>
          </a:p>
        </p:txBody>
      </p:sp>
      <p:sp>
        <p:nvSpPr>
          <p:cNvPr id="22" name="R1_chip742"/>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200" dirty="0"/>
          </a:p>
        </p:txBody>
      </p:sp>
      <p:sp>
        <p:nvSpPr>
          <p:cNvPr id="23" name="bd_743"/>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44"/>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uncle had a car.</a:t>
            </a:r>
            <a:endParaRPr lang="en-US" sz="1250" dirty="0"/>
          </a:p>
        </p:txBody>
      </p:sp>
      <p:sp>
        <p:nvSpPr>
          <p:cNvPr id="25" name="R2_chip745"/>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1200" dirty="0"/>
          </a:p>
        </p:txBody>
      </p:sp>
      <p:sp>
        <p:nvSpPr>
          <p:cNvPr id="26" name="bd_746"/>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47"/>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broke down in Messina.</a:t>
            </a:r>
            <a:endParaRPr lang="en-US" sz="1250" dirty="0"/>
          </a:p>
        </p:txBody>
      </p:sp>
      <p:sp>
        <p:nvSpPr>
          <p:cNvPr id="28" name="R3_chip748"/>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2026-10-21T10:14:47Z</dcterms:created>
  <dcterms:modified xsi:type="dcterms:W3CDTF">2026-10-21T10:14:47Z</dcterms:modified>
</cp:coreProperties>
</file>